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6">
  <p:sldMasterIdLst>
    <p:sldMasterId id="2147483648" r:id="rId1"/>
  </p:sldMasterIdLst>
  <p:notesMasterIdLst>
    <p:notesMasterId r:id="rId25"/>
  </p:notesMasterIdLst>
  <p:sldIdLst>
    <p:sldId id="283" r:id="rId2"/>
    <p:sldId id="285" r:id="rId3"/>
    <p:sldId id="267" r:id="rId4"/>
    <p:sldId id="296" r:id="rId5"/>
    <p:sldId id="287" r:id="rId6"/>
    <p:sldId id="319" r:id="rId7"/>
    <p:sldId id="297" r:id="rId8"/>
    <p:sldId id="298" r:id="rId9"/>
    <p:sldId id="299" r:id="rId10"/>
    <p:sldId id="301" r:id="rId11"/>
    <p:sldId id="302" r:id="rId12"/>
    <p:sldId id="300" r:id="rId13"/>
    <p:sldId id="320" r:id="rId14"/>
    <p:sldId id="321" r:id="rId15"/>
    <p:sldId id="323" r:id="rId16"/>
    <p:sldId id="322" r:id="rId17"/>
    <p:sldId id="324" r:id="rId18"/>
    <p:sldId id="325" r:id="rId19"/>
    <p:sldId id="326" r:id="rId20"/>
    <p:sldId id="303" r:id="rId21"/>
    <p:sldId id="304" r:id="rId22"/>
    <p:sldId id="308" r:id="rId23"/>
    <p:sldId id="284" r:id="rId2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69" userDrawn="1">
          <p15:clr>
            <a:srgbClr val="A4A3A4"/>
          </p15:clr>
        </p15:guide>
        <p15:guide id="2" pos="438" userDrawn="1">
          <p15:clr>
            <a:srgbClr val="A4A3A4"/>
          </p15:clr>
        </p15:guide>
        <p15:guide id="3" pos="724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CC"/>
    <a:srgbClr val="F3FBFF"/>
    <a:srgbClr val="E1F4FF"/>
    <a:srgbClr val="CCECFF"/>
    <a:srgbClr val="AC4243"/>
    <a:srgbClr val="AB1E21"/>
    <a:srgbClr val="308ACA"/>
    <a:srgbClr val="EEF0EF"/>
    <a:srgbClr val="E6E6E6"/>
    <a:srgbClr val="C4271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9012ECD-51FC-41F1-AA8D-1B2483CD663E}" styleName="浅色样式 2 - 强调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144" autoAdjust="0"/>
    <p:restoredTop sz="92905" autoAdjust="0"/>
  </p:normalViewPr>
  <p:slideViewPr>
    <p:cSldViewPr snapToGrid="0" showGuides="1">
      <p:cViewPr varScale="1">
        <p:scale>
          <a:sx n="80" d="100"/>
          <a:sy n="80" d="100"/>
        </p:scale>
        <p:origin x="72" y="1228"/>
      </p:cViewPr>
      <p:guideLst>
        <p:guide orient="horz" pos="2069"/>
        <p:guide pos="438"/>
        <p:guide pos="7242"/>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8.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33.wmf"/><Relationship Id="rId1" Type="http://schemas.openxmlformats.org/officeDocument/2006/relationships/image" Target="../media/image32.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7749E12-936C-4168-A750-6B81F73359E3}" type="datetimeFigureOut">
              <a:rPr lang="zh-CN" altLang="en-US" smtClean="0"/>
              <a:t>2026/6/3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EBF934A-2A99-4710-800F-F319DDB5C6D0}" type="slidenum">
              <a:rPr lang="zh-CN" altLang="en-US" smtClean="0"/>
              <a:t>‹#›</a:t>
            </a:fld>
            <a:endParaRPr lang="zh-CN" altLang="en-US"/>
          </a:p>
        </p:txBody>
      </p:sp>
    </p:spTree>
    <p:extLst>
      <p:ext uri="{BB962C8B-B14F-4D97-AF65-F5344CB8AC3E}">
        <p14:creationId xmlns:p14="http://schemas.microsoft.com/office/powerpoint/2010/main" val="10685851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EBF934A-2A99-4710-800F-F319DDB5C6D0}" type="slidenum">
              <a:rPr lang="zh-CN" altLang="en-US" smtClean="0"/>
              <a:t>10</a:t>
            </a:fld>
            <a:endParaRPr lang="zh-CN" altLang="en-US"/>
          </a:p>
        </p:txBody>
      </p:sp>
    </p:spTree>
    <p:extLst>
      <p:ext uri="{BB962C8B-B14F-4D97-AF65-F5344CB8AC3E}">
        <p14:creationId xmlns:p14="http://schemas.microsoft.com/office/powerpoint/2010/main" val="19319535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EBF934A-2A99-4710-800F-F319DDB5C6D0}" type="slidenum">
              <a:rPr lang="zh-CN" altLang="en-US" smtClean="0"/>
              <a:t>13</a:t>
            </a:fld>
            <a:endParaRPr lang="zh-CN" altLang="en-US"/>
          </a:p>
        </p:txBody>
      </p:sp>
    </p:spTree>
    <p:extLst>
      <p:ext uri="{BB962C8B-B14F-4D97-AF65-F5344CB8AC3E}">
        <p14:creationId xmlns:p14="http://schemas.microsoft.com/office/powerpoint/2010/main" val="28335993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EBF934A-2A99-4710-800F-F319DDB5C6D0}" type="slidenum">
              <a:rPr lang="zh-CN" altLang="en-US" smtClean="0"/>
              <a:t>14</a:t>
            </a:fld>
            <a:endParaRPr lang="zh-CN" altLang="en-US"/>
          </a:p>
        </p:txBody>
      </p:sp>
    </p:spTree>
    <p:extLst>
      <p:ext uri="{BB962C8B-B14F-4D97-AF65-F5344CB8AC3E}">
        <p14:creationId xmlns:p14="http://schemas.microsoft.com/office/powerpoint/2010/main" val="16493087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EBF934A-2A99-4710-800F-F319DDB5C6D0}" type="slidenum">
              <a:rPr lang="zh-CN" altLang="en-US" smtClean="0"/>
              <a:t>15</a:t>
            </a:fld>
            <a:endParaRPr lang="zh-CN" altLang="en-US"/>
          </a:p>
        </p:txBody>
      </p:sp>
    </p:spTree>
    <p:extLst>
      <p:ext uri="{BB962C8B-B14F-4D97-AF65-F5344CB8AC3E}">
        <p14:creationId xmlns:p14="http://schemas.microsoft.com/office/powerpoint/2010/main" val="5920208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EBF934A-2A99-4710-800F-F319DDB5C6D0}" type="slidenum">
              <a:rPr lang="zh-CN" altLang="en-US" smtClean="0"/>
              <a:t>16</a:t>
            </a:fld>
            <a:endParaRPr lang="zh-CN" altLang="en-US"/>
          </a:p>
        </p:txBody>
      </p:sp>
    </p:spTree>
    <p:extLst>
      <p:ext uri="{BB962C8B-B14F-4D97-AF65-F5344CB8AC3E}">
        <p14:creationId xmlns:p14="http://schemas.microsoft.com/office/powerpoint/2010/main" val="2647417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EBF934A-2A99-4710-800F-F319DDB5C6D0}" type="slidenum">
              <a:rPr lang="zh-CN" altLang="en-US" smtClean="0"/>
              <a:t>17</a:t>
            </a:fld>
            <a:endParaRPr lang="zh-CN" altLang="en-US"/>
          </a:p>
        </p:txBody>
      </p:sp>
    </p:spTree>
    <p:extLst>
      <p:ext uri="{BB962C8B-B14F-4D97-AF65-F5344CB8AC3E}">
        <p14:creationId xmlns:p14="http://schemas.microsoft.com/office/powerpoint/2010/main" val="33994019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EBF934A-2A99-4710-800F-F319DDB5C6D0}" type="slidenum">
              <a:rPr lang="zh-CN" altLang="en-US" smtClean="0"/>
              <a:t>18</a:t>
            </a:fld>
            <a:endParaRPr lang="zh-CN" altLang="en-US"/>
          </a:p>
        </p:txBody>
      </p:sp>
    </p:spTree>
    <p:extLst>
      <p:ext uri="{BB962C8B-B14F-4D97-AF65-F5344CB8AC3E}">
        <p14:creationId xmlns:p14="http://schemas.microsoft.com/office/powerpoint/2010/main" val="30559417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EBF934A-2A99-4710-800F-F319DDB5C6D0}" type="slidenum">
              <a:rPr lang="zh-CN" altLang="en-US" smtClean="0"/>
              <a:t>19</a:t>
            </a:fld>
            <a:endParaRPr lang="zh-CN" altLang="en-US"/>
          </a:p>
        </p:txBody>
      </p:sp>
    </p:spTree>
    <p:extLst>
      <p:ext uri="{BB962C8B-B14F-4D97-AF65-F5344CB8AC3E}">
        <p14:creationId xmlns:p14="http://schemas.microsoft.com/office/powerpoint/2010/main" val="20590858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46560696"/>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6E5CE6B-FF6A-471E-9C4A-73362186D6C7}" type="datetimeFigureOut">
              <a:rPr lang="zh-CN" altLang="en-US" smtClean="0"/>
              <a:t>2026/6/3</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3A22F73-3844-4250-B3F7-C596D703A3B6}" type="slidenum">
              <a:rPr lang="zh-CN" altLang="en-US" smtClean="0"/>
              <a:t>‹#›</a:t>
            </a:fld>
            <a:endParaRPr lang="zh-CN" altLang="en-US"/>
          </a:p>
        </p:txBody>
      </p:sp>
    </p:spTree>
    <p:extLst>
      <p:ext uri="{BB962C8B-B14F-4D97-AF65-F5344CB8AC3E}">
        <p14:creationId xmlns:p14="http://schemas.microsoft.com/office/powerpoint/2010/main" val="2380123926"/>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9.emf"/><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wmf"/><Relationship Id="rId10" Type="http://schemas.openxmlformats.org/officeDocument/2006/relationships/image" Target="../media/image11.emf"/><Relationship Id="rId4" Type="http://schemas.openxmlformats.org/officeDocument/2006/relationships/image" Target="../media/image5.jpg"/><Relationship Id="rId9" Type="http://schemas.openxmlformats.org/officeDocument/2006/relationships/image" Target="../media/image10.emf"/></Relationships>
</file>

<file path=ppt/slides/_rels/slide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13.jpeg"/></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16.emf"/><Relationship Id="rId5" Type="http://schemas.openxmlformats.org/officeDocument/2006/relationships/image" Target="../media/image15.png"/><Relationship Id="rId4" Type="http://schemas.openxmlformats.org/officeDocument/2006/relationships/image" Target="../media/image14.emf"/></Relationships>
</file>

<file path=ppt/slides/_rels/slide11.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3.png"/><Relationship Id="rId1" Type="http://schemas.openxmlformats.org/officeDocument/2006/relationships/slideLayout" Target="../slideLayouts/slideLayout1.xml"/><Relationship Id="rId5" Type="http://schemas.openxmlformats.org/officeDocument/2006/relationships/image" Target="../media/image19.pn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3.png"/><Relationship Id="rId1" Type="http://schemas.openxmlformats.org/officeDocument/2006/relationships/slideLayout" Target="../slideLayouts/slideLayout1.xml"/><Relationship Id="rId5" Type="http://schemas.openxmlformats.org/officeDocument/2006/relationships/image" Target="../media/image22.jpeg"/><Relationship Id="rId4" Type="http://schemas.openxmlformats.org/officeDocument/2006/relationships/image" Target="../media/image21.jpe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3.emf"/></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25.png"/><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27.png"/><Relationship Id="rId4" Type="http://schemas.openxmlformats.org/officeDocument/2006/relationships/image" Target="../media/image26.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5.xml"/><Relationship Id="rId7" Type="http://schemas.openxmlformats.org/officeDocument/2006/relationships/image" Target="../media/image28.wmf"/><Relationship Id="rId2" Type="http://schemas.openxmlformats.org/officeDocument/2006/relationships/slideLayout" Target="../slideLayouts/slideLayout1.xml"/><Relationship Id="rId1" Type="http://schemas.openxmlformats.org/officeDocument/2006/relationships/vmlDrawing" Target="../drawings/vmlDrawing1.vml"/><Relationship Id="rId6" Type="http://schemas.openxmlformats.org/officeDocument/2006/relationships/oleObject" Target="../embeddings/oleObject1.bin"/><Relationship Id="rId5" Type="http://schemas.openxmlformats.org/officeDocument/2006/relationships/image" Target="../media/image29.png"/><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31.png"/><Relationship Id="rId4" Type="http://schemas.openxmlformats.org/officeDocument/2006/relationships/image" Target="../media/image30.png"/></Relationships>
</file>

<file path=ppt/slides/_rels/slide19.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notesSlide" Target="../notesSlides/notesSlide8.xml"/><Relationship Id="rId7" Type="http://schemas.openxmlformats.org/officeDocument/2006/relationships/image" Target="../media/image32.wmf"/><Relationship Id="rId2" Type="http://schemas.openxmlformats.org/officeDocument/2006/relationships/slideLayout" Target="../slideLayouts/slideLayout1.xml"/><Relationship Id="rId1" Type="http://schemas.openxmlformats.org/officeDocument/2006/relationships/vmlDrawing" Target="../drawings/vmlDrawing2.vml"/><Relationship Id="rId6" Type="http://schemas.openxmlformats.org/officeDocument/2006/relationships/oleObject" Target="../embeddings/oleObject2.bin"/><Relationship Id="rId5" Type="http://schemas.openxmlformats.org/officeDocument/2006/relationships/image" Target="../media/image34.jpeg"/><Relationship Id="rId4" Type="http://schemas.openxmlformats.org/officeDocument/2006/relationships/image" Target="../media/image3.png"/><Relationship Id="rId9" Type="http://schemas.openxmlformats.org/officeDocument/2006/relationships/image" Target="../media/image33.wmf"/></Relationships>
</file>

<file path=ppt/slides/_rels/slide20.xml.rels><?xml version="1.0" encoding="UTF-8" standalone="yes"?>
<Relationships xmlns="http://schemas.openxmlformats.org/package/2006/relationships"><Relationship Id="rId3" Type="http://schemas.openxmlformats.org/officeDocument/2006/relationships/image" Target="../media/image200.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椭圆 30">
            <a:extLst>
              <a:ext uri="{FF2B5EF4-FFF2-40B4-BE49-F238E27FC236}">
                <a16:creationId xmlns:a16="http://schemas.microsoft.com/office/drawing/2014/main" id="{D1855566-79A6-4312-BD41-24E289E3854A}"/>
              </a:ext>
            </a:extLst>
          </p:cNvPr>
          <p:cNvSpPr/>
          <p:nvPr/>
        </p:nvSpPr>
        <p:spPr>
          <a:xfrm>
            <a:off x="10761323" y="1202532"/>
            <a:ext cx="389278" cy="389278"/>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文本框 31">
            <a:extLst>
              <a:ext uri="{FF2B5EF4-FFF2-40B4-BE49-F238E27FC236}">
                <a16:creationId xmlns:a16="http://schemas.microsoft.com/office/drawing/2014/main" id="{5F02ECD8-1CDD-49F7-8817-02AA363DE2C0}"/>
              </a:ext>
            </a:extLst>
          </p:cNvPr>
          <p:cNvSpPr txBox="1"/>
          <p:nvPr/>
        </p:nvSpPr>
        <p:spPr>
          <a:xfrm>
            <a:off x="2686018" y="2576650"/>
            <a:ext cx="7688802" cy="830997"/>
          </a:xfrm>
          <a:prstGeom prst="rect">
            <a:avLst/>
          </a:prstGeom>
          <a:noFill/>
        </p:spPr>
        <p:txBody>
          <a:bodyPr wrap="square">
            <a:spAutoFit/>
          </a:bodyPr>
          <a:lstStyle/>
          <a:p>
            <a:pPr algn="ctr"/>
            <a:r>
              <a:rPr lang="zh-CN" altLang="en-US" sz="4800" b="1" dirty="0">
                <a:solidFill>
                  <a:schemeClr val="tx1">
                    <a:lumMod val="65000"/>
                    <a:lumOff val="35000"/>
                  </a:schemeClr>
                </a:solidFill>
                <a:latin typeface="思源黑体 CN Medium" panose="020B0600000000000000" pitchFamily="34" charset="-122"/>
                <a:ea typeface="思源黑体 CN Medium" panose="020B0600000000000000" pitchFamily="34" charset="-122"/>
              </a:rPr>
              <a:t>实验</a:t>
            </a:r>
            <a:r>
              <a:rPr lang="en-US" altLang="zh-CN" sz="4800" b="1" dirty="0">
                <a:solidFill>
                  <a:schemeClr val="tx1">
                    <a:lumMod val="65000"/>
                    <a:lumOff val="35000"/>
                  </a:schemeClr>
                </a:solidFill>
                <a:latin typeface="思源黑体 CN Medium" panose="020B0600000000000000" pitchFamily="34" charset="-122"/>
                <a:ea typeface="思源黑体 CN Medium" panose="020B0600000000000000" pitchFamily="34" charset="-122"/>
              </a:rPr>
              <a:t>5 </a:t>
            </a:r>
            <a:r>
              <a:rPr lang="zh-CN" altLang="en-US" sz="4800" b="1" dirty="0">
                <a:solidFill>
                  <a:schemeClr val="tx1">
                    <a:lumMod val="65000"/>
                    <a:lumOff val="35000"/>
                  </a:schemeClr>
                </a:solidFill>
                <a:latin typeface="思源黑体 CN Medium" panose="020B0600000000000000" pitchFamily="34" charset="-122"/>
                <a:ea typeface="思源黑体 CN Medium" panose="020B0600000000000000" pitchFamily="34" charset="-122"/>
              </a:rPr>
              <a:t>涡流效应的仿真研究</a:t>
            </a:r>
          </a:p>
        </p:txBody>
      </p:sp>
      <p:sp>
        <p:nvSpPr>
          <p:cNvPr id="35" name="椭圆 34">
            <a:extLst>
              <a:ext uri="{FF2B5EF4-FFF2-40B4-BE49-F238E27FC236}">
                <a16:creationId xmlns:a16="http://schemas.microsoft.com/office/drawing/2014/main" id="{FEB7351D-7F7E-4FF2-8A69-0E8B9A1F17A5}"/>
              </a:ext>
            </a:extLst>
          </p:cNvPr>
          <p:cNvSpPr/>
          <p:nvPr/>
        </p:nvSpPr>
        <p:spPr>
          <a:xfrm>
            <a:off x="2694741" y="3233939"/>
            <a:ext cx="194120" cy="194120"/>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椭圆 35">
            <a:extLst>
              <a:ext uri="{FF2B5EF4-FFF2-40B4-BE49-F238E27FC236}">
                <a16:creationId xmlns:a16="http://schemas.microsoft.com/office/drawing/2014/main" id="{4FC7D185-F10B-4FFE-ADB0-B95FDFBD8ED1}"/>
              </a:ext>
            </a:extLst>
          </p:cNvPr>
          <p:cNvSpPr/>
          <p:nvPr/>
        </p:nvSpPr>
        <p:spPr>
          <a:xfrm>
            <a:off x="2501709" y="3286582"/>
            <a:ext cx="94318" cy="94318"/>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椭圆 36">
            <a:extLst>
              <a:ext uri="{FF2B5EF4-FFF2-40B4-BE49-F238E27FC236}">
                <a16:creationId xmlns:a16="http://schemas.microsoft.com/office/drawing/2014/main" id="{BDC64EB7-F399-4246-AC69-D6B4DF8E98BA}"/>
              </a:ext>
            </a:extLst>
          </p:cNvPr>
          <p:cNvSpPr/>
          <p:nvPr/>
        </p:nvSpPr>
        <p:spPr>
          <a:xfrm>
            <a:off x="9311862" y="3222590"/>
            <a:ext cx="194120" cy="194120"/>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a:extLst>
              <a:ext uri="{FF2B5EF4-FFF2-40B4-BE49-F238E27FC236}">
                <a16:creationId xmlns:a16="http://schemas.microsoft.com/office/drawing/2014/main" id="{2880FAED-30B8-4F42-B4C3-D1FF6DD36147}"/>
              </a:ext>
            </a:extLst>
          </p:cNvPr>
          <p:cNvSpPr/>
          <p:nvPr/>
        </p:nvSpPr>
        <p:spPr>
          <a:xfrm>
            <a:off x="9595972" y="3275233"/>
            <a:ext cx="94318" cy="94318"/>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椭圆 39">
            <a:extLst>
              <a:ext uri="{FF2B5EF4-FFF2-40B4-BE49-F238E27FC236}">
                <a16:creationId xmlns:a16="http://schemas.microsoft.com/office/drawing/2014/main" id="{42FBCE2A-BFA1-4D45-A4C9-6DD9684121C2}"/>
              </a:ext>
            </a:extLst>
          </p:cNvPr>
          <p:cNvSpPr/>
          <p:nvPr/>
        </p:nvSpPr>
        <p:spPr>
          <a:xfrm>
            <a:off x="3344523" y="817902"/>
            <a:ext cx="356620" cy="356620"/>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椭圆 40">
            <a:extLst>
              <a:ext uri="{FF2B5EF4-FFF2-40B4-BE49-F238E27FC236}">
                <a16:creationId xmlns:a16="http://schemas.microsoft.com/office/drawing/2014/main" id="{5B7DB4B8-F068-4B8B-9600-9BA228B86118}"/>
              </a:ext>
            </a:extLst>
          </p:cNvPr>
          <p:cNvSpPr/>
          <p:nvPr/>
        </p:nvSpPr>
        <p:spPr>
          <a:xfrm>
            <a:off x="1646350" y="5476986"/>
            <a:ext cx="603363" cy="603363"/>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椭圆 41">
            <a:extLst>
              <a:ext uri="{FF2B5EF4-FFF2-40B4-BE49-F238E27FC236}">
                <a16:creationId xmlns:a16="http://schemas.microsoft.com/office/drawing/2014/main" id="{4A6B4266-D68E-470E-8EEF-D74E4A390ED9}"/>
              </a:ext>
            </a:extLst>
          </p:cNvPr>
          <p:cNvSpPr/>
          <p:nvPr/>
        </p:nvSpPr>
        <p:spPr>
          <a:xfrm>
            <a:off x="10333151" y="3059454"/>
            <a:ext cx="452100" cy="452100"/>
          </a:xfrm>
          <a:prstGeom prst="ellipse">
            <a:avLst/>
          </a:prstGeom>
          <a:solidFill>
            <a:schemeClr val="bg1"/>
          </a:solidFill>
          <a:ln>
            <a:solidFill>
              <a:srgbClr val="AC424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椭圆 42">
            <a:extLst>
              <a:ext uri="{FF2B5EF4-FFF2-40B4-BE49-F238E27FC236}">
                <a16:creationId xmlns:a16="http://schemas.microsoft.com/office/drawing/2014/main" id="{CA748C71-19DF-41E5-B6AE-E0B257E27C52}"/>
              </a:ext>
            </a:extLst>
          </p:cNvPr>
          <p:cNvSpPr/>
          <p:nvPr/>
        </p:nvSpPr>
        <p:spPr>
          <a:xfrm>
            <a:off x="2190637" y="1558131"/>
            <a:ext cx="153420" cy="153420"/>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椭圆 43">
            <a:extLst>
              <a:ext uri="{FF2B5EF4-FFF2-40B4-BE49-F238E27FC236}">
                <a16:creationId xmlns:a16="http://schemas.microsoft.com/office/drawing/2014/main" id="{8DB3E662-86A0-46CE-B0A3-54E1D688D893}"/>
              </a:ext>
            </a:extLst>
          </p:cNvPr>
          <p:cNvSpPr/>
          <p:nvPr/>
        </p:nvSpPr>
        <p:spPr>
          <a:xfrm>
            <a:off x="8787379" y="1478302"/>
            <a:ext cx="153420" cy="153420"/>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任意多边形: 形状 47">
            <a:extLst>
              <a:ext uri="{FF2B5EF4-FFF2-40B4-BE49-F238E27FC236}">
                <a16:creationId xmlns:a16="http://schemas.microsoft.com/office/drawing/2014/main" id="{6E0147FC-0DBC-4925-97E5-C31159065717}"/>
              </a:ext>
            </a:extLst>
          </p:cNvPr>
          <p:cNvSpPr/>
          <p:nvPr/>
        </p:nvSpPr>
        <p:spPr>
          <a:xfrm rot="2001767">
            <a:off x="10705817" y="1962311"/>
            <a:ext cx="979224" cy="985205"/>
          </a:xfrm>
          <a:custGeom>
            <a:avLst/>
            <a:gdLst>
              <a:gd name="connsiteX0" fmla="*/ 447971 w 1442460"/>
              <a:gd name="connsiteY0" fmla="*/ 1397101 h 1451272"/>
              <a:gd name="connsiteX1" fmla="*/ 994490 w 1442460"/>
              <a:gd name="connsiteY1" fmla="*/ 1397101 h 1451272"/>
              <a:gd name="connsiteX2" fmla="*/ 867471 w 1442460"/>
              <a:gd name="connsiteY2" fmla="*/ 1436530 h 1451272"/>
              <a:gd name="connsiteX3" fmla="*/ 721230 w 1442460"/>
              <a:gd name="connsiteY3" fmla="*/ 1451272 h 1451272"/>
              <a:gd name="connsiteX4" fmla="*/ 574989 w 1442460"/>
              <a:gd name="connsiteY4" fmla="*/ 1436530 h 1451272"/>
              <a:gd name="connsiteX5" fmla="*/ 209854 w 1442460"/>
              <a:gd name="connsiteY5" fmla="*/ 1240162 h 1451272"/>
              <a:gd name="connsiteX6" fmla="*/ 1232607 w 1442460"/>
              <a:gd name="connsiteY6" fmla="*/ 1240162 h 1451272"/>
              <a:gd name="connsiteX7" fmla="*/ 1166640 w 1442460"/>
              <a:gd name="connsiteY7" fmla="*/ 1294590 h 1451272"/>
              <a:gd name="connsiteX8" fmla="*/ 275821 w 1442460"/>
              <a:gd name="connsiteY8" fmla="*/ 1294590 h 1451272"/>
              <a:gd name="connsiteX9" fmla="*/ 93401 w 1442460"/>
              <a:gd name="connsiteY9" fmla="*/ 1083223 h 1451272"/>
              <a:gd name="connsiteX10" fmla="*/ 1349059 w 1442460"/>
              <a:gd name="connsiteY10" fmla="*/ 1083223 h 1451272"/>
              <a:gd name="connsiteX11" fmla="*/ 1322939 w 1442460"/>
              <a:gd name="connsiteY11" fmla="*/ 1131346 h 1451272"/>
              <a:gd name="connsiteX12" fmla="*/ 1317737 w 1442460"/>
              <a:gd name="connsiteY12" fmla="*/ 1137651 h 1451272"/>
              <a:gd name="connsiteX13" fmla="*/ 124723 w 1442460"/>
              <a:gd name="connsiteY13" fmla="*/ 1137651 h 1451272"/>
              <a:gd name="connsiteX14" fmla="*/ 119521 w 1442460"/>
              <a:gd name="connsiteY14" fmla="*/ 1131346 h 1451272"/>
              <a:gd name="connsiteX15" fmla="*/ 27225 w 1442460"/>
              <a:gd name="connsiteY15" fmla="*/ 926284 h 1451272"/>
              <a:gd name="connsiteX16" fmla="*/ 1415235 w 1442460"/>
              <a:gd name="connsiteY16" fmla="*/ 926284 h 1451272"/>
              <a:gd name="connsiteX17" fmla="*/ 1398340 w 1442460"/>
              <a:gd name="connsiteY17" fmla="*/ 980712 h 1451272"/>
              <a:gd name="connsiteX18" fmla="*/ 44121 w 1442460"/>
              <a:gd name="connsiteY18" fmla="*/ 980712 h 1451272"/>
              <a:gd name="connsiteX19" fmla="*/ 0 w 1442460"/>
              <a:gd name="connsiteY19" fmla="*/ 769345 h 1451272"/>
              <a:gd name="connsiteX20" fmla="*/ 1442460 w 1442460"/>
              <a:gd name="connsiteY20" fmla="*/ 769345 h 1451272"/>
              <a:gd name="connsiteX21" fmla="*/ 1436973 w 1442460"/>
              <a:gd name="connsiteY21" fmla="*/ 823773 h 1451272"/>
              <a:gd name="connsiteX22" fmla="*/ 5487 w 1442460"/>
              <a:gd name="connsiteY22" fmla="*/ 823773 h 1451272"/>
              <a:gd name="connsiteX23" fmla="*/ 7009 w 1442460"/>
              <a:gd name="connsiteY23" fmla="*/ 612406 h 1451272"/>
              <a:gd name="connsiteX24" fmla="*/ 1435452 w 1442460"/>
              <a:gd name="connsiteY24" fmla="*/ 612406 h 1451272"/>
              <a:gd name="connsiteX25" fmla="*/ 1440939 w 1442460"/>
              <a:gd name="connsiteY25" fmla="*/ 666834 h 1451272"/>
              <a:gd name="connsiteX26" fmla="*/ 1522 w 1442460"/>
              <a:gd name="connsiteY26" fmla="*/ 666834 h 1451272"/>
              <a:gd name="connsiteX27" fmla="*/ 48806 w 1442460"/>
              <a:gd name="connsiteY27" fmla="*/ 455467 h 1451272"/>
              <a:gd name="connsiteX28" fmla="*/ 1393655 w 1442460"/>
              <a:gd name="connsiteY28" fmla="*/ 455467 h 1451272"/>
              <a:gd name="connsiteX29" fmla="*/ 1410550 w 1442460"/>
              <a:gd name="connsiteY29" fmla="*/ 509895 h 1451272"/>
              <a:gd name="connsiteX30" fmla="*/ 31911 w 1442460"/>
              <a:gd name="connsiteY30" fmla="*/ 509895 h 1451272"/>
              <a:gd name="connsiteX31" fmla="*/ 137176 w 1442460"/>
              <a:gd name="connsiteY31" fmla="*/ 298528 h 1451272"/>
              <a:gd name="connsiteX32" fmla="*/ 1305284 w 1442460"/>
              <a:gd name="connsiteY32" fmla="*/ 298528 h 1451272"/>
              <a:gd name="connsiteX33" fmla="*/ 1322939 w 1442460"/>
              <a:gd name="connsiteY33" fmla="*/ 319926 h 1451272"/>
              <a:gd name="connsiteX34" fmla="*/ 1340867 w 1442460"/>
              <a:gd name="connsiteY34" fmla="*/ 352956 h 1451272"/>
              <a:gd name="connsiteX35" fmla="*/ 101593 w 1442460"/>
              <a:gd name="connsiteY35" fmla="*/ 352956 h 1451272"/>
              <a:gd name="connsiteX36" fmla="*/ 119521 w 1442460"/>
              <a:gd name="connsiteY36" fmla="*/ 319926 h 1451272"/>
              <a:gd name="connsiteX37" fmla="*/ 294114 w 1442460"/>
              <a:gd name="connsiteY37" fmla="*/ 141589 h 1451272"/>
              <a:gd name="connsiteX38" fmla="*/ 1148347 w 1442460"/>
              <a:gd name="connsiteY38" fmla="*/ 141589 h 1451272"/>
              <a:gd name="connsiteX39" fmla="*/ 1214314 w 1442460"/>
              <a:gd name="connsiteY39" fmla="*/ 196017 h 1451272"/>
              <a:gd name="connsiteX40" fmla="*/ 228147 w 1442460"/>
              <a:gd name="connsiteY40" fmla="*/ 196017 h 1451272"/>
              <a:gd name="connsiteX41" fmla="*/ 721230 w 1442460"/>
              <a:gd name="connsiteY41" fmla="*/ 0 h 1451272"/>
              <a:gd name="connsiteX42" fmla="*/ 867471 w 1442460"/>
              <a:gd name="connsiteY42" fmla="*/ 14742 h 1451272"/>
              <a:gd name="connsiteX43" fmla="*/ 945868 w 1442460"/>
              <a:gd name="connsiteY43" fmla="*/ 39078 h 1451272"/>
              <a:gd name="connsiteX44" fmla="*/ 496593 w 1442460"/>
              <a:gd name="connsiteY44" fmla="*/ 39078 h 1451272"/>
              <a:gd name="connsiteX45" fmla="*/ 574989 w 1442460"/>
              <a:gd name="connsiteY45" fmla="*/ 14742 h 1451272"/>
              <a:gd name="connsiteX46" fmla="*/ 721230 w 1442460"/>
              <a:gd name="connsiteY46" fmla="*/ 0 h 1451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442460" h="1451272">
                <a:moveTo>
                  <a:pt x="447971" y="1397101"/>
                </a:moveTo>
                <a:lnTo>
                  <a:pt x="994490" y="1397101"/>
                </a:lnTo>
                <a:lnTo>
                  <a:pt x="867471" y="1436530"/>
                </a:lnTo>
                <a:cubicBezTo>
                  <a:pt x="820234" y="1446196"/>
                  <a:pt x="771325" y="1451272"/>
                  <a:pt x="721230" y="1451272"/>
                </a:cubicBezTo>
                <a:cubicBezTo>
                  <a:pt x="671136" y="1451272"/>
                  <a:pt x="622226" y="1446196"/>
                  <a:pt x="574989" y="1436530"/>
                </a:cubicBezTo>
                <a:close/>
                <a:moveTo>
                  <a:pt x="209854" y="1240162"/>
                </a:moveTo>
                <a:lnTo>
                  <a:pt x="1232607" y="1240162"/>
                </a:lnTo>
                <a:lnTo>
                  <a:pt x="1166640" y="1294590"/>
                </a:lnTo>
                <a:lnTo>
                  <a:pt x="275821" y="1294590"/>
                </a:lnTo>
                <a:close/>
                <a:moveTo>
                  <a:pt x="93401" y="1083223"/>
                </a:moveTo>
                <a:lnTo>
                  <a:pt x="1349059" y="1083223"/>
                </a:lnTo>
                <a:lnTo>
                  <a:pt x="1322939" y="1131346"/>
                </a:lnTo>
                <a:lnTo>
                  <a:pt x="1317737" y="1137651"/>
                </a:lnTo>
                <a:lnTo>
                  <a:pt x="124723" y="1137651"/>
                </a:lnTo>
                <a:lnTo>
                  <a:pt x="119521" y="1131346"/>
                </a:lnTo>
                <a:close/>
                <a:moveTo>
                  <a:pt x="27225" y="926284"/>
                </a:moveTo>
                <a:lnTo>
                  <a:pt x="1415235" y="926284"/>
                </a:lnTo>
                <a:lnTo>
                  <a:pt x="1398340" y="980712"/>
                </a:lnTo>
                <a:lnTo>
                  <a:pt x="44121" y="980712"/>
                </a:lnTo>
                <a:close/>
                <a:moveTo>
                  <a:pt x="0" y="769345"/>
                </a:moveTo>
                <a:lnTo>
                  <a:pt x="1442460" y="769345"/>
                </a:lnTo>
                <a:lnTo>
                  <a:pt x="1436973" y="823773"/>
                </a:lnTo>
                <a:lnTo>
                  <a:pt x="5487" y="823773"/>
                </a:lnTo>
                <a:close/>
                <a:moveTo>
                  <a:pt x="7009" y="612406"/>
                </a:moveTo>
                <a:lnTo>
                  <a:pt x="1435452" y="612406"/>
                </a:lnTo>
                <a:lnTo>
                  <a:pt x="1440939" y="666834"/>
                </a:lnTo>
                <a:lnTo>
                  <a:pt x="1522" y="666834"/>
                </a:lnTo>
                <a:close/>
                <a:moveTo>
                  <a:pt x="48806" y="455467"/>
                </a:moveTo>
                <a:lnTo>
                  <a:pt x="1393655" y="455467"/>
                </a:lnTo>
                <a:lnTo>
                  <a:pt x="1410550" y="509895"/>
                </a:lnTo>
                <a:lnTo>
                  <a:pt x="31911" y="509895"/>
                </a:lnTo>
                <a:close/>
                <a:moveTo>
                  <a:pt x="137176" y="298528"/>
                </a:moveTo>
                <a:lnTo>
                  <a:pt x="1305284" y="298528"/>
                </a:lnTo>
                <a:lnTo>
                  <a:pt x="1322939" y="319926"/>
                </a:lnTo>
                <a:lnTo>
                  <a:pt x="1340867" y="352956"/>
                </a:lnTo>
                <a:lnTo>
                  <a:pt x="101593" y="352956"/>
                </a:lnTo>
                <a:lnTo>
                  <a:pt x="119521" y="319926"/>
                </a:lnTo>
                <a:close/>
                <a:moveTo>
                  <a:pt x="294114" y="141589"/>
                </a:moveTo>
                <a:lnTo>
                  <a:pt x="1148347" y="141589"/>
                </a:lnTo>
                <a:lnTo>
                  <a:pt x="1214314" y="196017"/>
                </a:lnTo>
                <a:lnTo>
                  <a:pt x="228147" y="196017"/>
                </a:lnTo>
                <a:close/>
                <a:moveTo>
                  <a:pt x="721230" y="0"/>
                </a:moveTo>
                <a:cubicBezTo>
                  <a:pt x="771325" y="0"/>
                  <a:pt x="820234" y="5076"/>
                  <a:pt x="867471" y="14742"/>
                </a:cubicBezTo>
                <a:lnTo>
                  <a:pt x="945868" y="39078"/>
                </a:lnTo>
                <a:lnTo>
                  <a:pt x="496593" y="39078"/>
                </a:lnTo>
                <a:lnTo>
                  <a:pt x="574989" y="14742"/>
                </a:lnTo>
                <a:cubicBezTo>
                  <a:pt x="622226" y="5076"/>
                  <a:pt x="671136" y="0"/>
                  <a:pt x="721230" y="0"/>
                </a:cubicBezTo>
                <a:close/>
              </a:path>
            </a:pathLst>
          </a:cu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46" name="任意多边形: 形状 49">
            <a:extLst>
              <a:ext uri="{FF2B5EF4-FFF2-40B4-BE49-F238E27FC236}">
                <a16:creationId xmlns:a16="http://schemas.microsoft.com/office/drawing/2014/main" id="{F4598BCA-BE01-4298-BA23-E659916D01B7}"/>
              </a:ext>
            </a:extLst>
          </p:cNvPr>
          <p:cNvSpPr/>
          <p:nvPr/>
        </p:nvSpPr>
        <p:spPr>
          <a:xfrm rot="2001767">
            <a:off x="8342563" y="399356"/>
            <a:ext cx="471236" cy="474114"/>
          </a:xfrm>
          <a:custGeom>
            <a:avLst/>
            <a:gdLst>
              <a:gd name="connsiteX0" fmla="*/ 447971 w 1442460"/>
              <a:gd name="connsiteY0" fmla="*/ 1397101 h 1451272"/>
              <a:gd name="connsiteX1" fmla="*/ 994490 w 1442460"/>
              <a:gd name="connsiteY1" fmla="*/ 1397101 h 1451272"/>
              <a:gd name="connsiteX2" fmla="*/ 867471 w 1442460"/>
              <a:gd name="connsiteY2" fmla="*/ 1436530 h 1451272"/>
              <a:gd name="connsiteX3" fmla="*/ 721230 w 1442460"/>
              <a:gd name="connsiteY3" fmla="*/ 1451272 h 1451272"/>
              <a:gd name="connsiteX4" fmla="*/ 574989 w 1442460"/>
              <a:gd name="connsiteY4" fmla="*/ 1436530 h 1451272"/>
              <a:gd name="connsiteX5" fmla="*/ 209854 w 1442460"/>
              <a:gd name="connsiteY5" fmla="*/ 1240162 h 1451272"/>
              <a:gd name="connsiteX6" fmla="*/ 1232607 w 1442460"/>
              <a:gd name="connsiteY6" fmla="*/ 1240162 h 1451272"/>
              <a:gd name="connsiteX7" fmla="*/ 1166640 w 1442460"/>
              <a:gd name="connsiteY7" fmla="*/ 1294590 h 1451272"/>
              <a:gd name="connsiteX8" fmla="*/ 275821 w 1442460"/>
              <a:gd name="connsiteY8" fmla="*/ 1294590 h 1451272"/>
              <a:gd name="connsiteX9" fmla="*/ 93401 w 1442460"/>
              <a:gd name="connsiteY9" fmla="*/ 1083223 h 1451272"/>
              <a:gd name="connsiteX10" fmla="*/ 1349059 w 1442460"/>
              <a:gd name="connsiteY10" fmla="*/ 1083223 h 1451272"/>
              <a:gd name="connsiteX11" fmla="*/ 1322939 w 1442460"/>
              <a:gd name="connsiteY11" fmla="*/ 1131346 h 1451272"/>
              <a:gd name="connsiteX12" fmla="*/ 1317737 w 1442460"/>
              <a:gd name="connsiteY12" fmla="*/ 1137651 h 1451272"/>
              <a:gd name="connsiteX13" fmla="*/ 124723 w 1442460"/>
              <a:gd name="connsiteY13" fmla="*/ 1137651 h 1451272"/>
              <a:gd name="connsiteX14" fmla="*/ 119521 w 1442460"/>
              <a:gd name="connsiteY14" fmla="*/ 1131346 h 1451272"/>
              <a:gd name="connsiteX15" fmla="*/ 27225 w 1442460"/>
              <a:gd name="connsiteY15" fmla="*/ 926284 h 1451272"/>
              <a:gd name="connsiteX16" fmla="*/ 1415235 w 1442460"/>
              <a:gd name="connsiteY16" fmla="*/ 926284 h 1451272"/>
              <a:gd name="connsiteX17" fmla="*/ 1398340 w 1442460"/>
              <a:gd name="connsiteY17" fmla="*/ 980712 h 1451272"/>
              <a:gd name="connsiteX18" fmla="*/ 44121 w 1442460"/>
              <a:gd name="connsiteY18" fmla="*/ 980712 h 1451272"/>
              <a:gd name="connsiteX19" fmla="*/ 0 w 1442460"/>
              <a:gd name="connsiteY19" fmla="*/ 769345 h 1451272"/>
              <a:gd name="connsiteX20" fmla="*/ 1442460 w 1442460"/>
              <a:gd name="connsiteY20" fmla="*/ 769345 h 1451272"/>
              <a:gd name="connsiteX21" fmla="*/ 1436973 w 1442460"/>
              <a:gd name="connsiteY21" fmla="*/ 823773 h 1451272"/>
              <a:gd name="connsiteX22" fmla="*/ 5487 w 1442460"/>
              <a:gd name="connsiteY22" fmla="*/ 823773 h 1451272"/>
              <a:gd name="connsiteX23" fmla="*/ 7009 w 1442460"/>
              <a:gd name="connsiteY23" fmla="*/ 612406 h 1451272"/>
              <a:gd name="connsiteX24" fmla="*/ 1435452 w 1442460"/>
              <a:gd name="connsiteY24" fmla="*/ 612406 h 1451272"/>
              <a:gd name="connsiteX25" fmla="*/ 1440939 w 1442460"/>
              <a:gd name="connsiteY25" fmla="*/ 666834 h 1451272"/>
              <a:gd name="connsiteX26" fmla="*/ 1522 w 1442460"/>
              <a:gd name="connsiteY26" fmla="*/ 666834 h 1451272"/>
              <a:gd name="connsiteX27" fmla="*/ 48806 w 1442460"/>
              <a:gd name="connsiteY27" fmla="*/ 455467 h 1451272"/>
              <a:gd name="connsiteX28" fmla="*/ 1393655 w 1442460"/>
              <a:gd name="connsiteY28" fmla="*/ 455467 h 1451272"/>
              <a:gd name="connsiteX29" fmla="*/ 1410550 w 1442460"/>
              <a:gd name="connsiteY29" fmla="*/ 509895 h 1451272"/>
              <a:gd name="connsiteX30" fmla="*/ 31911 w 1442460"/>
              <a:gd name="connsiteY30" fmla="*/ 509895 h 1451272"/>
              <a:gd name="connsiteX31" fmla="*/ 137176 w 1442460"/>
              <a:gd name="connsiteY31" fmla="*/ 298528 h 1451272"/>
              <a:gd name="connsiteX32" fmla="*/ 1305284 w 1442460"/>
              <a:gd name="connsiteY32" fmla="*/ 298528 h 1451272"/>
              <a:gd name="connsiteX33" fmla="*/ 1322939 w 1442460"/>
              <a:gd name="connsiteY33" fmla="*/ 319926 h 1451272"/>
              <a:gd name="connsiteX34" fmla="*/ 1340867 w 1442460"/>
              <a:gd name="connsiteY34" fmla="*/ 352956 h 1451272"/>
              <a:gd name="connsiteX35" fmla="*/ 101593 w 1442460"/>
              <a:gd name="connsiteY35" fmla="*/ 352956 h 1451272"/>
              <a:gd name="connsiteX36" fmla="*/ 119521 w 1442460"/>
              <a:gd name="connsiteY36" fmla="*/ 319926 h 1451272"/>
              <a:gd name="connsiteX37" fmla="*/ 294114 w 1442460"/>
              <a:gd name="connsiteY37" fmla="*/ 141589 h 1451272"/>
              <a:gd name="connsiteX38" fmla="*/ 1148347 w 1442460"/>
              <a:gd name="connsiteY38" fmla="*/ 141589 h 1451272"/>
              <a:gd name="connsiteX39" fmla="*/ 1214314 w 1442460"/>
              <a:gd name="connsiteY39" fmla="*/ 196017 h 1451272"/>
              <a:gd name="connsiteX40" fmla="*/ 228147 w 1442460"/>
              <a:gd name="connsiteY40" fmla="*/ 196017 h 1451272"/>
              <a:gd name="connsiteX41" fmla="*/ 721230 w 1442460"/>
              <a:gd name="connsiteY41" fmla="*/ 0 h 1451272"/>
              <a:gd name="connsiteX42" fmla="*/ 867471 w 1442460"/>
              <a:gd name="connsiteY42" fmla="*/ 14742 h 1451272"/>
              <a:gd name="connsiteX43" fmla="*/ 945868 w 1442460"/>
              <a:gd name="connsiteY43" fmla="*/ 39078 h 1451272"/>
              <a:gd name="connsiteX44" fmla="*/ 496593 w 1442460"/>
              <a:gd name="connsiteY44" fmla="*/ 39078 h 1451272"/>
              <a:gd name="connsiteX45" fmla="*/ 574989 w 1442460"/>
              <a:gd name="connsiteY45" fmla="*/ 14742 h 1451272"/>
              <a:gd name="connsiteX46" fmla="*/ 721230 w 1442460"/>
              <a:gd name="connsiteY46" fmla="*/ 0 h 1451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442460" h="1451272">
                <a:moveTo>
                  <a:pt x="447971" y="1397101"/>
                </a:moveTo>
                <a:lnTo>
                  <a:pt x="994490" y="1397101"/>
                </a:lnTo>
                <a:lnTo>
                  <a:pt x="867471" y="1436530"/>
                </a:lnTo>
                <a:cubicBezTo>
                  <a:pt x="820234" y="1446196"/>
                  <a:pt x="771325" y="1451272"/>
                  <a:pt x="721230" y="1451272"/>
                </a:cubicBezTo>
                <a:cubicBezTo>
                  <a:pt x="671136" y="1451272"/>
                  <a:pt x="622226" y="1446196"/>
                  <a:pt x="574989" y="1436530"/>
                </a:cubicBezTo>
                <a:close/>
                <a:moveTo>
                  <a:pt x="209854" y="1240162"/>
                </a:moveTo>
                <a:lnTo>
                  <a:pt x="1232607" y="1240162"/>
                </a:lnTo>
                <a:lnTo>
                  <a:pt x="1166640" y="1294590"/>
                </a:lnTo>
                <a:lnTo>
                  <a:pt x="275821" y="1294590"/>
                </a:lnTo>
                <a:close/>
                <a:moveTo>
                  <a:pt x="93401" y="1083223"/>
                </a:moveTo>
                <a:lnTo>
                  <a:pt x="1349059" y="1083223"/>
                </a:lnTo>
                <a:lnTo>
                  <a:pt x="1322939" y="1131346"/>
                </a:lnTo>
                <a:lnTo>
                  <a:pt x="1317737" y="1137651"/>
                </a:lnTo>
                <a:lnTo>
                  <a:pt x="124723" y="1137651"/>
                </a:lnTo>
                <a:lnTo>
                  <a:pt x="119521" y="1131346"/>
                </a:lnTo>
                <a:close/>
                <a:moveTo>
                  <a:pt x="27225" y="926284"/>
                </a:moveTo>
                <a:lnTo>
                  <a:pt x="1415235" y="926284"/>
                </a:lnTo>
                <a:lnTo>
                  <a:pt x="1398340" y="980712"/>
                </a:lnTo>
                <a:lnTo>
                  <a:pt x="44121" y="980712"/>
                </a:lnTo>
                <a:close/>
                <a:moveTo>
                  <a:pt x="0" y="769345"/>
                </a:moveTo>
                <a:lnTo>
                  <a:pt x="1442460" y="769345"/>
                </a:lnTo>
                <a:lnTo>
                  <a:pt x="1436973" y="823773"/>
                </a:lnTo>
                <a:lnTo>
                  <a:pt x="5487" y="823773"/>
                </a:lnTo>
                <a:close/>
                <a:moveTo>
                  <a:pt x="7009" y="612406"/>
                </a:moveTo>
                <a:lnTo>
                  <a:pt x="1435452" y="612406"/>
                </a:lnTo>
                <a:lnTo>
                  <a:pt x="1440939" y="666834"/>
                </a:lnTo>
                <a:lnTo>
                  <a:pt x="1522" y="666834"/>
                </a:lnTo>
                <a:close/>
                <a:moveTo>
                  <a:pt x="48806" y="455467"/>
                </a:moveTo>
                <a:lnTo>
                  <a:pt x="1393655" y="455467"/>
                </a:lnTo>
                <a:lnTo>
                  <a:pt x="1410550" y="509895"/>
                </a:lnTo>
                <a:lnTo>
                  <a:pt x="31911" y="509895"/>
                </a:lnTo>
                <a:close/>
                <a:moveTo>
                  <a:pt x="137176" y="298528"/>
                </a:moveTo>
                <a:lnTo>
                  <a:pt x="1305284" y="298528"/>
                </a:lnTo>
                <a:lnTo>
                  <a:pt x="1322939" y="319926"/>
                </a:lnTo>
                <a:lnTo>
                  <a:pt x="1340867" y="352956"/>
                </a:lnTo>
                <a:lnTo>
                  <a:pt x="101593" y="352956"/>
                </a:lnTo>
                <a:lnTo>
                  <a:pt x="119521" y="319926"/>
                </a:lnTo>
                <a:close/>
                <a:moveTo>
                  <a:pt x="294114" y="141589"/>
                </a:moveTo>
                <a:lnTo>
                  <a:pt x="1148347" y="141589"/>
                </a:lnTo>
                <a:lnTo>
                  <a:pt x="1214314" y="196017"/>
                </a:lnTo>
                <a:lnTo>
                  <a:pt x="228147" y="196017"/>
                </a:lnTo>
                <a:close/>
                <a:moveTo>
                  <a:pt x="721230" y="0"/>
                </a:moveTo>
                <a:cubicBezTo>
                  <a:pt x="771325" y="0"/>
                  <a:pt x="820234" y="5076"/>
                  <a:pt x="867471" y="14742"/>
                </a:cubicBezTo>
                <a:lnTo>
                  <a:pt x="945868" y="39078"/>
                </a:lnTo>
                <a:lnTo>
                  <a:pt x="496593" y="39078"/>
                </a:lnTo>
                <a:lnTo>
                  <a:pt x="574989" y="14742"/>
                </a:lnTo>
                <a:cubicBezTo>
                  <a:pt x="622226" y="5076"/>
                  <a:pt x="671136" y="0"/>
                  <a:pt x="721230" y="0"/>
                </a:cubicBezTo>
                <a:close/>
              </a:path>
            </a:pathLst>
          </a:cu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pic>
        <p:nvPicPr>
          <p:cNvPr id="47" name="图片 4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523866" y="1653394"/>
            <a:ext cx="3144268" cy="842042"/>
          </a:xfrm>
          <a:prstGeom prst="rect">
            <a:avLst/>
          </a:prstGeom>
        </p:spPr>
      </p:pic>
      <p:sp>
        <p:nvSpPr>
          <p:cNvPr id="48" name="矩形 47">
            <a:extLst>
              <a:ext uri="{FF2B5EF4-FFF2-40B4-BE49-F238E27FC236}">
                <a16:creationId xmlns:a16="http://schemas.microsoft.com/office/drawing/2014/main" id="{90ECC85D-4571-40C3-A14C-5CE84A2DA5AF}"/>
              </a:ext>
            </a:extLst>
          </p:cNvPr>
          <p:cNvSpPr/>
          <p:nvPr/>
        </p:nvSpPr>
        <p:spPr>
          <a:xfrm flipH="1">
            <a:off x="6362463" y="5188145"/>
            <a:ext cx="5242162" cy="400110"/>
          </a:xfrm>
          <a:prstGeom prst="rect">
            <a:avLst/>
          </a:prstGeom>
        </p:spPr>
        <p:txBody>
          <a:bodyPr wrap="square">
            <a:spAutoFit/>
          </a:bodyPr>
          <a:lstStyle/>
          <a:p>
            <a:r>
              <a:rPr lang="zh-CN" altLang="en-US" sz="20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mn-ea"/>
                <a:sym typeface="+mn-lt"/>
              </a:rPr>
              <a:t>电工电子教学实验中心</a:t>
            </a:r>
          </a:p>
        </p:txBody>
      </p:sp>
      <p:sp>
        <p:nvSpPr>
          <p:cNvPr id="21" name="任意多边形: 形状 2">
            <a:extLst>
              <a:ext uri="{FF2B5EF4-FFF2-40B4-BE49-F238E27FC236}">
                <a16:creationId xmlns:a16="http://schemas.microsoft.com/office/drawing/2014/main" id="{E4027533-6DF8-4400-B33B-0C89C9D737D9}"/>
              </a:ext>
            </a:extLst>
          </p:cNvPr>
          <p:cNvSpPr/>
          <p:nvPr/>
        </p:nvSpPr>
        <p:spPr>
          <a:xfrm>
            <a:off x="-1422399" y="4104616"/>
            <a:ext cx="17613085" cy="1444704"/>
          </a:xfrm>
          <a:custGeom>
            <a:avLst/>
            <a:gdLst>
              <a:gd name="connsiteX0" fmla="*/ 0 w 15210971"/>
              <a:gd name="connsiteY0" fmla="*/ 72097 h 1444704"/>
              <a:gd name="connsiteX1" fmla="*/ 1748971 w 15210971"/>
              <a:gd name="connsiteY1" fmla="*/ 761526 h 1444704"/>
              <a:gd name="connsiteX2" fmla="*/ 3969657 w 15210971"/>
              <a:gd name="connsiteY2" fmla="*/ 188211 h 1444704"/>
              <a:gd name="connsiteX3" fmla="*/ 6328228 w 15210971"/>
              <a:gd name="connsiteY3" fmla="*/ 863126 h 1444704"/>
              <a:gd name="connsiteX4" fmla="*/ 9296400 w 15210971"/>
              <a:gd name="connsiteY4" fmla="*/ 6783 h 1444704"/>
              <a:gd name="connsiteX5" fmla="*/ 11560628 w 15210971"/>
              <a:gd name="connsiteY5" fmla="*/ 1429183 h 1444704"/>
              <a:gd name="connsiteX6" fmla="*/ 15210971 w 15210971"/>
              <a:gd name="connsiteY6" fmla="*/ 638154 h 1444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210971" h="1444704">
                <a:moveTo>
                  <a:pt x="0" y="72097"/>
                </a:moveTo>
                <a:cubicBezTo>
                  <a:pt x="543681" y="407135"/>
                  <a:pt x="1087362" y="742174"/>
                  <a:pt x="1748971" y="761526"/>
                </a:cubicBezTo>
                <a:cubicBezTo>
                  <a:pt x="2410580" y="780878"/>
                  <a:pt x="3206448" y="171278"/>
                  <a:pt x="3969657" y="188211"/>
                </a:cubicBezTo>
                <a:cubicBezTo>
                  <a:pt x="4732866" y="205144"/>
                  <a:pt x="5440438" y="893364"/>
                  <a:pt x="6328228" y="863126"/>
                </a:cubicBezTo>
                <a:cubicBezTo>
                  <a:pt x="7216018" y="832888"/>
                  <a:pt x="8424333" y="-87560"/>
                  <a:pt x="9296400" y="6783"/>
                </a:cubicBezTo>
                <a:cubicBezTo>
                  <a:pt x="10168467" y="101126"/>
                  <a:pt x="10574866" y="1323955"/>
                  <a:pt x="11560628" y="1429183"/>
                </a:cubicBezTo>
                <a:cubicBezTo>
                  <a:pt x="12546390" y="1534411"/>
                  <a:pt x="13878680" y="1086282"/>
                  <a:pt x="15210971" y="638154"/>
                </a:cubicBezTo>
              </a:path>
            </a:pathLst>
          </a:cu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任意多边形: 形状 3">
            <a:extLst>
              <a:ext uri="{FF2B5EF4-FFF2-40B4-BE49-F238E27FC236}">
                <a16:creationId xmlns:a16="http://schemas.microsoft.com/office/drawing/2014/main" id="{AB4D2B92-F8DB-4A34-807D-B0E131EFA660}"/>
              </a:ext>
            </a:extLst>
          </p:cNvPr>
          <p:cNvSpPr/>
          <p:nvPr/>
        </p:nvSpPr>
        <p:spPr>
          <a:xfrm>
            <a:off x="-3047999" y="4133645"/>
            <a:ext cx="17613085" cy="1444704"/>
          </a:xfrm>
          <a:custGeom>
            <a:avLst/>
            <a:gdLst>
              <a:gd name="connsiteX0" fmla="*/ 0 w 15210971"/>
              <a:gd name="connsiteY0" fmla="*/ 72097 h 1444704"/>
              <a:gd name="connsiteX1" fmla="*/ 1748971 w 15210971"/>
              <a:gd name="connsiteY1" fmla="*/ 761526 h 1444704"/>
              <a:gd name="connsiteX2" fmla="*/ 3969657 w 15210971"/>
              <a:gd name="connsiteY2" fmla="*/ 188211 h 1444704"/>
              <a:gd name="connsiteX3" fmla="*/ 6328228 w 15210971"/>
              <a:gd name="connsiteY3" fmla="*/ 863126 h 1444704"/>
              <a:gd name="connsiteX4" fmla="*/ 9296400 w 15210971"/>
              <a:gd name="connsiteY4" fmla="*/ 6783 h 1444704"/>
              <a:gd name="connsiteX5" fmla="*/ 11560628 w 15210971"/>
              <a:gd name="connsiteY5" fmla="*/ 1429183 h 1444704"/>
              <a:gd name="connsiteX6" fmla="*/ 15210971 w 15210971"/>
              <a:gd name="connsiteY6" fmla="*/ 638154 h 1444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210971" h="1444704">
                <a:moveTo>
                  <a:pt x="0" y="72097"/>
                </a:moveTo>
                <a:cubicBezTo>
                  <a:pt x="543681" y="407135"/>
                  <a:pt x="1087362" y="742174"/>
                  <a:pt x="1748971" y="761526"/>
                </a:cubicBezTo>
                <a:cubicBezTo>
                  <a:pt x="2410580" y="780878"/>
                  <a:pt x="3206448" y="171278"/>
                  <a:pt x="3969657" y="188211"/>
                </a:cubicBezTo>
                <a:cubicBezTo>
                  <a:pt x="4732866" y="205144"/>
                  <a:pt x="5440438" y="893364"/>
                  <a:pt x="6328228" y="863126"/>
                </a:cubicBezTo>
                <a:cubicBezTo>
                  <a:pt x="7216018" y="832888"/>
                  <a:pt x="8424333" y="-87560"/>
                  <a:pt x="9296400" y="6783"/>
                </a:cubicBezTo>
                <a:cubicBezTo>
                  <a:pt x="10168467" y="101126"/>
                  <a:pt x="10574866" y="1323955"/>
                  <a:pt x="11560628" y="1429183"/>
                </a:cubicBezTo>
                <a:cubicBezTo>
                  <a:pt x="12546390" y="1534411"/>
                  <a:pt x="13878680" y="1086282"/>
                  <a:pt x="15210971" y="638154"/>
                </a:cubicBezTo>
              </a:path>
            </a:pathLst>
          </a:cu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椭圆 38">
            <a:extLst>
              <a:ext uri="{FF2B5EF4-FFF2-40B4-BE49-F238E27FC236}">
                <a16:creationId xmlns:a16="http://schemas.microsoft.com/office/drawing/2014/main" id="{4CAC9629-B983-41F4-A031-41E10DCAC179}"/>
              </a:ext>
            </a:extLst>
          </p:cNvPr>
          <p:cNvSpPr/>
          <p:nvPr/>
        </p:nvSpPr>
        <p:spPr>
          <a:xfrm>
            <a:off x="-871877" y="2044360"/>
            <a:ext cx="2976448" cy="2976448"/>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椭圆 48">
            <a:extLst>
              <a:ext uri="{FF2B5EF4-FFF2-40B4-BE49-F238E27FC236}">
                <a16:creationId xmlns:a16="http://schemas.microsoft.com/office/drawing/2014/main" id="{4CAC9629-B983-41F4-A031-41E10DCAC179}"/>
              </a:ext>
            </a:extLst>
          </p:cNvPr>
          <p:cNvSpPr/>
          <p:nvPr/>
        </p:nvSpPr>
        <p:spPr>
          <a:xfrm>
            <a:off x="10785251" y="4148461"/>
            <a:ext cx="2976448" cy="2976448"/>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3489481" y="4424051"/>
            <a:ext cx="6153650" cy="369332"/>
          </a:xfrm>
          <a:prstGeom prst="rect">
            <a:avLst/>
          </a:prstGeom>
          <a:noFill/>
        </p:spPr>
        <p:txBody>
          <a:bodyPr wrap="square" rtlCol="0">
            <a:spAutoFit/>
          </a:bodyPr>
          <a:lstStyle/>
          <a:p>
            <a:pPr algn="dist"/>
            <a:r>
              <a:rPr lang="en-US" altLang="zh-CN" dirty="0">
                <a:solidFill>
                  <a:schemeClr val="tx1">
                    <a:lumMod val="50000"/>
                    <a:lumOff val="50000"/>
                  </a:schemeClr>
                </a:solidFill>
              </a:rPr>
              <a:t>XI'AN JIAOTONG UNIVERSITY</a:t>
            </a:r>
          </a:p>
        </p:txBody>
      </p:sp>
    </p:spTree>
    <p:extLst>
      <p:ext uri="{BB962C8B-B14F-4D97-AF65-F5344CB8AC3E}">
        <p14:creationId xmlns:p14="http://schemas.microsoft.com/office/powerpoint/2010/main" val="37934133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8"/>
                                        </p:tgtEl>
                                        <p:attrNameLst>
                                          <p:attrName>style.visibility</p:attrName>
                                        </p:attrNameLst>
                                      </p:cBhvr>
                                      <p:to>
                                        <p:strVal val="visible"/>
                                      </p:to>
                                    </p:set>
                                    <p:animEffect transition="in" filter="wipe(down)">
                                      <p:cBhvr>
                                        <p:cTn id="7" dur="500"/>
                                        <p:tgtEl>
                                          <p:spTgt spid="48"/>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32"/>
                                        </p:tgtEl>
                                        <p:attrNameLst>
                                          <p:attrName>style.visibility</p:attrName>
                                        </p:attrNameLst>
                                      </p:cBhvr>
                                      <p:to>
                                        <p:strVal val="visible"/>
                                      </p:to>
                                    </p:set>
                                    <p:anim calcmode="lin" valueType="num">
                                      <p:cBhvr additive="base">
                                        <p:cTn id="12" dur="500" fill="hold"/>
                                        <p:tgtEl>
                                          <p:spTgt spid="32"/>
                                        </p:tgtEl>
                                        <p:attrNameLst>
                                          <p:attrName>ppt_x</p:attrName>
                                        </p:attrNameLst>
                                      </p:cBhvr>
                                      <p:tavLst>
                                        <p:tav tm="0">
                                          <p:val>
                                            <p:strVal val="#ppt_x"/>
                                          </p:val>
                                        </p:tav>
                                        <p:tav tm="100000">
                                          <p:val>
                                            <p:strVal val="#ppt_x"/>
                                          </p:val>
                                        </p:tav>
                                      </p:tavLst>
                                    </p:anim>
                                    <p:anim calcmode="lin" valueType="num">
                                      <p:cBhvr additive="base">
                                        <p:cTn id="13" dur="500" fill="hold"/>
                                        <p:tgtEl>
                                          <p:spTgt spid="3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48"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任意多边形: 形状 120">
            <a:extLst>
              <a:ext uri="{FF2B5EF4-FFF2-40B4-BE49-F238E27FC236}">
                <a16:creationId xmlns:a16="http://schemas.microsoft.com/office/drawing/2014/main" id="{3395D360-A0CB-45C5-9976-551EDF9480FE}"/>
              </a:ext>
            </a:extLst>
          </p:cNvPr>
          <p:cNvSpPr/>
          <p:nvPr/>
        </p:nvSpPr>
        <p:spPr>
          <a:xfrm rot="2001767">
            <a:off x="10937689" y="471902"/>
            <a:ext cx="979224" cy="985205"/>
          </a:xfrm>
          <a:custGeom>
            <a:avLst/>
            <a:gdLst>
              <a:gd name="connsiteX0" fmla="*/ 447971 w 1442460"/>
              <a:gd name="connsiteY0" fmla="*/ 1397101 h 1451272"/>
              <a:gd name="connsiteX1" fmla="*/ 994490 w 1442460"/>
              <a:gd name="connsiteY1" fmla="*/ 1397101 h 1451272"/>
              <a:gd name="connsiteX2" fmla="*/ 867471 w 1442460"/>
              <a:gd name="connsiteY2" fmla="*/ 1436530 h 1451272"/>
              <a:gd name="connsiteX3" fmla="*/ 721230 w 1442460"/>
              <a:gd name="connsiteY3" fmla="*/ 1451272 h 1451272"/>
              <a:gd name="connsiteX4" fmla="*/ 574989 w 1442460"/>
              <a:gd name="connsiteY4" fmla="*/ 1436530 h 1451272"/>
              <a:gd name="connsiteX5" fmla="*/ 209854 w 1442460"/>
              <a:gd name="connsiteY5" fmla="*/ 1240162 h 1451272"/>
              <a:gd name="connsiteX6" fmla="*/ 1232607 w 1442460"/>
              <a:gd name="connsiteY6" fmla="*/ 1240162 h 1451272"/>
              <a:gd name="connsiteX7" fmla="*/ 1166640 w 1442460"/>
              <a:gd name="connsiteY7" fmla="*/ 1294590 h 1451272"/>
              <a:gd name="connsiteX8" fmla="*/ 275821 w 1442460"/>
              <a:gd name="connsiteY8" fmla="*/ 1294590 h 1451272"/>
              <a:gd name="connsiteX9" fmla="*/ 93401 w 1442460"/>
              <a:gd name="connsiteY9" fmla="*/ 1083223 h 1451272"/>
              <a:gd name="connsiteX10" fmla="*/ 1349059 w 1442460"/>
              <a:gd name="connsiteY10" fmla="*/ 1083223 h 1451272"/>
              <a:gd name="connsiteX11" fmla="*/ 1322939 w 1442460"/>
              <a:gd name="connsiteY11" fmla="*/ 1131346 h 1451272"/>
              <a:gd name="connsiteX12" fmla="*/ 1317737 w 1442460"/>
              <a:gd name="connsiteY12" fmla="*/ 1137651 h 1451272"/>
              <a:gd name="connsiteX13" fmla="*/ 124723 w 1442460"/>
              <a:gd name="connsiteY13" fmla="*/ 1137651 h 1451272"/>
              <a:gd name="connsiteX14" fmla="*/ 119521 w 1442460"/>
              <a:gd name="connsiteY14" fmla="*/ 1131346 h 1451272"/>
              <a:gd name="connsiteX15" fmla="*/ 27225 w 1442460"/>
              <a:gd name="connsiteY15" fmla="*/ 926284 h 1451272"/>
              <a:gd name="connsiteX16" fmla="*/ 1415235 w 1442460"/>
              <a:gd name="connsiteY16" fmla="*/ 926284 h 1451272"/>
              <a:gd name="connsiteX17" fmla="*/ 1398340 w 1442460"/>
              <a:gd name="connsiteY17" fmla="*/ 980712 h 1451272"/>
              <a:gd name="connsiteX18" fmla="*/ 44121 w 1442460"/>
              <a:gd name="connsiteY18" fmla="*/ 980712 h 1451272"/>
              <a:gd name="connsiteX19" fmla="*/ 0 w 1442460"/>
              <a:gd name="connsiteY19" fmla="*/ 769345 h 1451272"/>
              <a:gd name="connsiteX20" fmla="*/ 1442460 w 1442460"/>
              <a:gd name="connsiteY20" fmla="*/ 769345 h 1451272"/>
              <a:gd name="connsiteX21" fmla="*/ 1436973 w 1442460"/>
              <a:gd name="connsiteY21" fmla="*/ 823773 h 1451272"/>
              <a:gd name="connsiteX22" fmla="*/ 5487 w 1442460"/>
              <a:gd name="connsiteY22" fmla="*/ 823773 h 1451272"/>
              <a:gd name="connsiteX23" fmla="*/ 7009 w 1442460"/>
              <a:gd name="connsiteY23" fmla="*/ 612406 h 1451272"/>
              <a:gd name="connsiteX24" fmla="*/ 1435452 w 1442460"/>
              <a:gd name="connsiteY24" fmla="*/ 612406 h 1451272"/>
              <a:gd name="connsiteX25" fmla="*/ 1440939 w 1442460"/>
              <a:gd name="connsiteY25" fmla="*/ 666834 h 1451272"/>
              <a:gd name="connsiteX26" fmla="*/ 1522 w 1442460"/>
              <a:gd name="connsiteY26" fmla="*/ 666834 h 1451272"/>
              <a:gd name="connsiteX27" fmla="*/ 48806 w 1442460"/>
              <a:gd name="connsiteY27" fmla="*/ 455467 h 1451272"/>
              <a:gd name="connsiteX28" fmla="*/ 1393655 w 1442460"/>
              <a:gd name="connsiteY28" fmla="*/ 455467 h 1451272"/>
              <a:gd name="connsiteX29" fmla="*/ 1410550 w 1442460"/>
              <a:gd name="connsiteY29" fmla="*/ 509895 h 1451272"/>
              <a:gd name="connsiteX30" fmla="*/ 31911 w 1442460"/>
              <a:gd name="connsiteY30" fmla="*/ 509895 h 1451272"/>
              <a:gd name="connsiteX31" fmla="*/ 137176 w 1442460"/>
              <a:gd name="connsiteY31" fmla="*/ 298528 h 1451272"/>
              <a:gd name="connsiteX32" fmla="*/ 1305284 w 1442460"/>
              <a:gd name="connsiteY32" fmla="*/ 298528 h 1451272"/>
              <a:gd name="connsiteX33" fmla="*/ 1322939 w 1442460"/>
              <a:gd name="connsiteY33" fmla="*/ 319926 h 1451272"/>
              <a:gd name="connsiteX34" fmla="*/ 1340867 w 1442460"/>
              <a:gd name="connsiteY34" fmla="*/ 352956 h 1451272"/>
              <a:gd name="connsiteX35" fmla="*/ 101593 w 1442460"/>
              <a:gd name="connsiteY35" fmla="*/ 352956 h 1451272"/>
              <a:gd name="connsiteX36" fmla="*/ 119521 w 1442460"/>
              <a:gd name="connsiteY36" fmla="*/ 319926 h 1451272"/>
              <a:gd name="connsiteX37" fmla="*/ 294114 w 1442460"/>
              <a:gd name="connsiteY37" fmla="*/ 141589 h 1451272"/>
              <a:gd name="connsiteX38" fmla="*/ 1148347 w 1442460"/>
              <a:gd name="connsiteY38" fmla="*/ 141589 h 1451272"/>
              <a:gd name="connsiteX39" fmla="*/ 1214314 w 1442460"/>
              <a:gd name="connsiteY39" fmla="*/ 196017 h 1451272"/>
              <a:gd name="connsiteX40" fmla="*/ 228147 w 1442460"/>
              <a:gd name="connsiteY40" fmla="*/ 196017 h 1451272"/>
              <a:gd name="connsiteX41" fmla="*/ 721230 w 1442460"/>
              <a:gd name="connsiteY41" fmla="*/ 0 h 1451272"/>
              <a:gd name="connsiteX42" fmla="*/ 867471 w 1442460"/>
              <a:gd name="connsiteY42" fmla="*/ 14742 h 1451272"/>
              <a:gd name="connsiteX43" fmla="*/ 945868 w 1442460"/>
              <a:gd name="connsiteY43" fmla="*/ 39078 h 1451272"/>
              <a:gd name="connsiteX44" fmla="*/ 496593 w 1442460"/>
              <a:gd name="connsiteY44" fmla="*/ 39078 h 1451272"/>
              <a:gd name="connsiteX45" fmla="*/ 574989 w 1442460"/>
              <a:gd name="connsiteY45" fmla="*/ 14742 h 1451272"/>
              <a:gd name="connsiteX46" fmla="*/ 721230 w 1442460"/>
              <a:gd name="connsiteY46" fmla="*/ 0 h 1451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442460" h="1451272">
                <a:moveTo>
                  <a:pt x="447971" y="1397101"/>
                </a:moveTo>
                <a:lnTo>
                  <a:pt x="994490" y="1397101"/>
                </a:lnTo>
                <a:lnTo>
                  <a:pt x="867471" y="1436530"/>
                </a:lnTo>
                <a:cubicBezTo>
                  <a:pt x="820234" y="1446196"/>
                  <a:pt x="771325" y="1451272"/>
                  <a:pt x="721230" y="1451272"/>
                </a:cubicBezTo>
                <a:cubicBezTo>
                  <a:pt x="671136" y="1451272"/>
                  <a:pt x="622226" y="1446196"/>
                  <a:pt x="574989" y="1436530"/>
                </a:cubicBezTo>
                <a:close/>
                <a:moveTo>
                  <a:pt x="209854" y="1240162"/>
                </a:moveTo>
                <a:lnTo>
                  <a:pt x="1232607" y="1240162"/>
                </a:lnTo>
                <a:lnTo>
                  <a:pt x="1166640" y="1294590"/>
                </a:lnTo>
                <a:lnTo>
                  <a:pt x="275821" y="1294590"/>
                </a:lnTo>
                <a:close/>
                <a:moveTo>
                  <a:pt x="93401" y="1083223"/>
                </a:moveTo>
                <a:lnTo>
                  <a:pt x="1349059" y="1083223"/>
                </a:lnTo>
                <a:lnTo>
                  <a:pt x="1322939" y="1131346"/>
                </a:lnTo>
                <a:lnTo>
                  <a:pt x="1317737" y="1137651"/>
                </a:lnTo>
                <a:lnTo>
                  <a:pt x="124723" y="1137651"/>
                </a:lnTo>
                <a:lnTo>
                  <a:pt x="119521" y="1131346"/>
                </a:lnTo>
                <a:close/>
                <a:moveTo>
                  <a:pt x="27225" y="926284"/>
                </a:moveTo>
                <a:lnTo>
                  <a:pt x="1415235" y="926284"/>
                </a:lnTo>
                <a:lnTo>
                  <a:pt x="1398340" y="980712"/>
                </a:lnTo>
                <a:lnTo>
                  <a:pt x="44121" y="980712"/>
                </a:lnTo>
                <a:close/>
                <a:moveTo>
                  <a:pt x="0" y="769345"/>
                </a:moveTo>
                <a:lnTo>
                  <a:pt x="1442460" y="769345"/>
                </a:lnTo>
                <a:lnTo>
                  <a:pt x="1436973" y="823773"/>
                </a:lnTo>
                <a:lnTo>
                  <a:pt x="5487" y="823773"/>
                </a:lnTo>
                <a:close/>
                <a:moveTo>
                  <a:pt x="7009" y="612406"/>
                </a:moveTo>
                <a:lnTo>
                  <a:pt x="1435452" y="612406"/>
                </a:lnTo>
                <a:lnTo>
                  <a:pt x="1440939" y="666834"/>
                </a:lnTo>
                <a:lnTo>
                  <a:pt x="1522" y="666834"/>
                </a:lnTo>
                <a:close/>
                <a:moveTo>
                  <a:pt x="48806" y="455467"/>
                </a:moveTo>
                <a:lnTo>
                  <a:pt x="1393655" y="455467"/>
                </a:lnTo>
                <a:lnTo>
                  <a:pt x="1410550" y="509895"/>
                </a:lnTo>
                <a:lnTo>
                  <a:pt x="31911" y="509895"/>
                </a:lnTo>
                <a:close/>
                <a:moveTo>
                  <a:pt x="137176" y="298528"/>
                </a:moveTo>
                <a:lnTo>
                  <a:pt x="1305284" y="298528"/>
                </a:lnTo>
                <a:lnTo>
                  <a:pt x="1322939" y="319926"/>
                </a:lnTo>
                <a:lnTo>
                  <a:pt x="1340867" y="352956"/>
                </a:lnTo>
                <a:lnTo>
                  <a:pt x="101593" y="352956"/>
                </a:lnTo>
                <a:lnTo>
                  <a:pt x="119521" y="319926"/>
                </a:lnTo>
                <a:close/>
                <a:moveTo>
                  <a:pt x="294114" y="141589"/>
                </a:moveTo>
                <a:lnTo>
                  <a:pt x="1148347" y="141589"/>
                </a:lnTo>
                <a:lnTo>
                  <a:pt x="1214314" y="196017"/>
                </a:lnTo>
                <a:lnTo>
                  <a:pt x="228147" y="196017"/>
                </a:lnTo>
                <a:close/>
                <a:moveTo>
                  <a:pt x="721230" y="0"/>
                </a:moveTo>
                <a:cubicBezTo>
                  <a:pt x="771325" y="0"/>
                  <a:pt x="820234" y="5076"/>
                  <a:pt x="867471" y="14742"/>
                </a:cubicBezTo>
                <a:lnTo>
                  <a:pt x="945868" y="39078"/>
                </a:lnTo>
                <a:lnTo>
                  <a:pt x="496593" y="39078"/>
                </a:lnTo>
                <a:lnTo>
                  <a:pt x="574989" y="14742"/>
                </a:lnTo>
                <a:cubicBezTo>
                  <a:pt x="622226" y="5076"/>
                  <a:pt x="671136" y="0"/>
                  <a:pt x="721230" y="0"/>
                </a:cubicBezTo>
                <a:close/>
              </a:path>
            </a:pathLst>
          </a:cu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7" name="椭圆 6">
            <a:extLst>
              <a:ext uri="{FF2B5EF4-FFF2-40B4-BE49-F238E27FC236}">
                <a16:creationId xmlns:a16="http://schemas.microsoft.com/office/drawing/2014/main" id="{AFCB4D92-E7C9-456F-8BE0-5293892F04FC}"/>
              </a:ext>
            </a:extLst>
          </p:cNvPr>
          <p:cNvSpPr/>
          <p:nvPr/>
        </p:nvSpPr>
        <p:spPr>
          <a:xfrm>
            <a:off x="1128186" y="3375818"/>
            <a:ext cx="153420" cy="153420"/>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latin typeface="思源黑体 CN Medium" panose="020B0600000000000000" pitchFamily="34" charset="-122"/>
              <a:ea typeface="思源黑体 CN Medium" panose="020B0600000000000000" pitchFamily="34" charset="-122"/>
            </a:endParaRPr>
          </a:p>
        </p:txBody>
      </p:sp>
      <p:sp>
        <p:nvSpPr>
          <p:cNvPr id="8" name="椭圆 7">
            <a:extLst>
              <a:ext uri="{FF2B5EF4-FFF2-40B4-BE49-F238E27FC236}">
                <a16:creationId xmlns:a16="http://schemas.microsoft.com/office/drawing/2014/main" id="{A7CA9DE4-1E68-4808-8DC1-A20F9E810155}"/>
              </a:ext>
            </a:extLst>
          </p:cNvPr>
          <p:cNvSpPr/>
          <p:nvPr/>
        </p:nvSpPr>
        <p:spPr>
          <a:xfrm>
            <a:off x="8787379" y="1478302"/>
            <a:ext cx="153420" cy="153420"/>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任意多边形: 形状 185">
            <a:extLst>
              <a:ext uri="{FF2B5EF4-FFF2-40B4-BE49-F238E27FC236}">
                <a16:creationId xmlns:a16="http://schemas.microsoft.com/office/drawing/2014/main" id="{C9D37591-45DF-4190-948A-D8AC41B4033A}"/>
              </a:ext>
            </a:extLst>
          </p:cNvPr>
          <p:cNvSpPr/>
          <p:nvPr/>
        </p:nvSpPr>
        <p:spPr>
          <a:xfrm>
            <a:off x="3805093" y="1"/>
            <a:ext cx="3968423" cy="1933574"/>
          </a:xfrm>
          <a:custGeom>
            <a:avLst/>
            <a:gdLst>
              <a:gd name="connsiteX0" fmla="*/ 0 w 3968423"/>
              <a:gd name="connsiteY0" fmla="*/ 0 h 1933574"/>
              <a:gd name="connsiteX1" fmla="*/ 3968423 w 3968423"/>
              <a:gd name="connsiteY1" fmla="*/ 0 h 1933574"/>
              <a:gd name="connsiteX2" fmla="*/ 3946431 w 3968423"/>
              <a:gd name="connsiteY2" fmla="*/ 161996 h 1933574"/>
              <a:gd name="connsiteX3" fmla="*/ 1984212 w 3968423"/>
              <a:gd name="connsiteY3" fmla="*/ 1933574 h 1933574"/>
              <a:gd name="connsiteX4" fmla="*/ 21992 w 3968423"/>
              <a:gd name="connsiteY4" fmla="*/ 161996 h 1933574"/>
              <a:gd name="connsiteX0" fmla="*/ 0 w 3968423"/>
              <a:gd name="connsiteY0" fmla="*/ 19051 h 1952625"/>
              <a:gd name="connsiteX1" fmla="*/ 304945 w 3968423"/>
              <a:gd name="connsiteY1" fmla="*/ 0 h 1952625"/>
              <a:gd name="connsiteX2" fmla="*/ 3968423 w 3968423"/>
              <a:gd name="connsiteY2" fmla="*/ 19051 h 1952625"/>
              <a:gd name="connsiteX3" fmla="*/ 3946431 w 3968423"/>
              <a:gd name="connsiteY3" fmla="*/ 181047 h 1952625"/>
              <a:gd name="connsiteX4" fmla="*/ 1984212 w 3968423"/>
              <a:gd name="connsiteY4" fmla="*/ 1952625 h 1952625"/>
              <a:gd name="connsiteX5" fmla="*/ 21992 w 3968423"/>
              <a:gd name="connsiteY5" fmla="*/ 181047 h 1952625"/>
              <a:gd name="connsiteX6" fmla="*/ 0 w 3968423"/>
              <a:gd name="connsiteY6" fmla="*/ 19051 h 1952625"/>
              <a:gd name="connsiteX0" fmla="*/ 0 w 3968423"/>
              <a:gd name="connsiteY0" fmla="*/ 0 h 1933574"/>
              <a:gd name="connsiteX1" fmla="*/ 3968423 w 3968423"/>
              <a:gd name="connsiteY1" fmla="*/ 0 h 1933574"/>
              <a:gd name="connsiteX2" fmla="*/ 3946431 w 3968423"/>
              <a:gd name="connsiteY2" fmla="*/ 161996 h 1933574"/>
              <a:gd name="connsiteX3" fmla="*/ 1984212 w 3968423"/>
              <a:gd name="connsiteY3" fmla="*/ 1933574 h 1933574"/>
              <a:gd name="connsiteX4" fmla="*/ 21992 w 3968423"/>
              <a:gd name="connsiteY4" fmla="*/ 161996 h 1933574"/>
              <a:gd name="connsiteX5" fmla="*/ 0 w 3968423"/>
              <a:gd name="connsiteY5" fmla="*/ 0 h 1933574"/>
              <a:gd name="connsiteX0" fmla="*/ 0 w 3968423"/>
              <a:gd name="connsiteY0" fmla="*/ 14289 h 1947863"/>
              <a:gd name="connsiteX1" fmla="*/ 328757 w 3968423"/>
              <a:gd name="connsiteY1" fmla="*/ 0 h 1947863"/>
              <a:gd name="connsiteX2" fmla="*/ 3968423 w 3968423"/>
              <a:gd name="connsiteY2" fmla="*/ 14289 h 1947863"/>
              <a:gd name="connsiteX3" fmla="*/ 3946431 w 3968423"/>
              <a:gd name="connsiteY3" fmla="*/ 176285 h 1947863"/>
              <a:gd name="connsiteX4" fmla="*/ 1984212 w 3968423"/>
              <a:gd name="connsiteY4" fmla="*/ 1947863 h 1947863"/>
              <a:gd name="connsiteX5" fmla="*/ 21992 w 3968423"/>
              <a:gd name="connsiteY5" fmla="*/ 176285 h 1947863"/>
              <a:gd name="connsiteX6" fmla="*/ 0 w 3968423"/>
              <a:gd name="connsiteY6" fmla="*/ 14289 h 1947863"/>
              <a:gd name="connsiteX0" fmla="*/ 328757 w 3968423"/>
              <a:gd name="connsiteY0" fmla="*/ 0 h 1947863"/>
              <a:gd name="connsiteX1" fmla="*/ 3968423 w 3968423"/>
              <a:gd name="connsiteY1" fmla="*/ 14289 h 1947863"/>
              <a:gd name="connsiteX2" fmla="*/ 3946431 w 3968423"/>
              <a:gd name="connsiteY2" fmla="*/ 176285 h 1947863"/>
              <a:gd name="connsiteX3" fmla="*/ 1984212 w 3968423"/>
              <a:gd name="connsiteY3" fmla="*/ 1947863 h 1947863"/>
              <a:gd name="connsiteX4" fmla="*/ 21992 w 3968423"/>
              <a:gd name="connsiteY4" fmla="*/ 176285 h 1947863"/>
              <a:gd name="connsiteX5" fmla="*/ 0 w 3968423"/>
              <a:gd name="connsiteY5" fmla="*/ 14289 h 1947863"/>
              <a:gd name="connsiteX6" fmla="*/ 420197 w 3968423"/>
              <a:gd name="connsiteY6" fmla="*/ 91440 h 1947863"/>
              <a:gd name="connsiteX0" fmla="*/ 328757 w 3968423"/>
              <a:gd name="connsiteY0" fmla="*/ 0 h 1947863"/>
              <a:gd name="connsiteX1" fmla="*/ 3968423 w 3968423"/>
              <a:gd name="connsiteY1" fmla="*/ 14289 h 1947863"/>
              <a:gd name="connsiteX2" fmla="*/ 3946431 w 3968423"/>
              <a:gd name="connsiteY2" fmla="*/ 176285 h 1947863"/>
              <a:gd name="connsiteX3" fmla="*/ 1984212 w 3968423"/>
              <a:gd name="connsiteY3" fmla="*/ 1947863 h 1947863"/>
              <a:gd name="connsiteX4" fmla="*/ 21992 w 3968423"/>
              <a:gd name="connsiteY4" fmla="*/ 176285 h 1947863"/>
              <a:gd name="connsiteX5" fmla="*/ 0 w 3968423"/>
              <a:gd name="connsiteY5" fmla="*/ 14289 h 1947863"/>
              <a:gd name="connsiteX0" fmla="*/ 3968423 w 3968423"/>
              <a:gd name="connsiteY0" fmla="*/ 0 h 1933574"/>
              <a:gd name="connsiteX1" fmla="*/ 3946431 w 3968423"/>
              <a:gd name="connsiteY1" fmla="*/ 161996 h 1933574"/>
              <a:gd name="connsiteX2" fmla="*/ 1984212 w 3968423"/>
              <a:gd name="connsiteY2" fmla="*/ 1933574 h 1933574"/>
              <a:gd name="connsiteX3" fmla="*/ 21992 w 3968423"/>
              <a:gd name="connsiteY3" fmla="*/ 161996 h 1933574"/>
              <a:gd name="connsiteX4" fmla="*/ 0 w 3968423"/>
              <a:gd name="connsiteY4" fmla="*/ 0 h 19335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68423" h="1933574">
                <a:moveTo>
                  <a:pt x="3968423" y="0"/>
                </a:moveTo>
                <a:lnTo>
                  <a:pt x="3946431" y="161996"/>
                </a:lnTo>
                <a:cubicBezTo>
                  <a:pt x="3764638" y="1172055"/>
                  <a:pt x="2955217" y="1933574"/>
                  <a:pt x="1984212" y="1933574"/>
                </a:cubicBezTo>
                <a:cubicBezTo>
                  <a:pt x="1013203" y="1933574"/>
                  <a:pt x="203783" y="1172055"/>
                  <a:pt x="21992" y="161996"/>
                </a:cubicBezTo>
                <a:lnTo>
                  <a:pt x="0" y="0"/>
                </a:lnTo>
              </a:path>
            </a:pathLst>
          </a:cu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0" name="任意多边形: 形状 186">
            <a:extLst>
              <a:ext uri="{FF2B5EF4-FFF2-40B4-BE49-F238E27FC236}">
                <a16:creationId xmlns:a16="http://schemas.microsoft.com/office/drawing/2014/main" id="{0429A552-44AB-4E69-ABE3-1E38283A99AB}"/>
              </a:ext>
            </a:extLst>
          </p:cNvPr>
          <p:cNvSpPr/>
          <p:nvPr/>
        </p:nvSpPr>
        <p:spPr>
          <a:xfrm>
            <a:off x="4414949" y="1"/>
            <a:ext cx="3901235" cy="1719263"/>
          </a:xfrm>
          <a:custGeom>
            <a:avLst/>
            <a:gdLst>
              <a:gd name="connsiteX0" fmla="*/ 0 w 3901235"/>
              <a:gd name="connsiteY0" fmla="*/ 0 h 1719263"/>
              <a:gd name="connsiteX1" fmla="*/ 3901235 w 3901235"/>
              <a:gd name="connsiteY1" fmla="*/ 0 h 1719263"/>
              <a:gd name="connsiteX2" fmla="*/ 3871510 w 3901235"/>
              <a:gd name="connsiteY2" fmla="*/ 134033 h 1719263"/>
              <a:gd name="connsiteX3" fmla="*/ 1950618 w 3901235"/>
              <a:gd name="connsiteY3" fmla="*/ 1719263 h 1719263"/>
              <a:gd name="connsiteX4" fmla="*/ 29725 w 3901235"/>
              <a:gd name="connsiteY4" fmla="*/ 134033 h 1719263"/>
              <a:gd name="connsiteX0" fmla="*/ 0 w 3901235"/>
              <a:gd name="connsiteY0" fmla="*/ 4764 h 1724027"/>
              <a:gd name="connsiteX1" fmla="*/ 971439 w 3901235"/>
              <a:gd name="connsiteY1" fmla="*/ 0 h 1724027"/>
              <a:gd name="connsiteX2" fmla="*/ 3901235 w 3901235"/>
              <a:gd name="connsiteY2" fmla="*/ 4764 h 1724027"/>
              <a:gd name="connsiteX3" fmla="*/ 3871510 w 3901235"/>
              <a:gd name="connsiteY3" fmla="*/ 138797 h 1724027"/>
              <a:gd name="connsiteX4" fmla="*/ 1950618 w 3901235"/>
              <a:gd name="connsiteY4" fmla="*/ 1724027 h 1724027"/>
              <a:gd name="connsiteX5" fmla="*/ 29725 w 3901235"/>
              <a:gd name="connsiteY5" fmla="*/ 138797 h 1724027"/>
              <a:gd name="connsiteX6" fmla="*/ 0 w 3901235"/>
              <a:gd name="connsiteY6" fmla="*/ 4764 h 1724027"/>
              <a:gd name="connsiteX0" fmla="*/ 971439 w 3901235"/>
              <a:gd name="connsiteY0" fmla="*/ 0 h 1724027"/>
              <a:gd name="connsiteX1" fmla="*/ 3901235 w 3901235"/>
              <a:gd name="connsiteY1" fmla="*/ 4764 h 1724027"/>
              <a:gd name="connsiteX2" fmla="*/ 3871510 w 3901235"/>
              <a:gd name="connsiteY2" fmla="*/ 138797 h 1724027"/>
              <a:gd name="connsiteX3" fmla="*/ 1950618 w 3901235"/>
              <a:gd name="connsiteY3" fmla="*/ 1724027 h 1724027"/>
              <a:gd name="connsiteX4" fmla="*/ 29725 w 3901235"/>
              <a:gd name="connsiteY4" fmla="*/ 138797 h 1724027"/>
              <a:gd name="connsiteX5" fmla="*/ 0 w 3901235"/>
              <a:gd name="connsiteY5" fmla="*/ 4764 h 1724027"/>
              <a:gd name="connsiteX6" fmla="*/ 1062879 w 3901235"/>
              <a:gd name="connsiteY6" fmla="*/ 91440 h 1724027"/>
              <a:gd name="connsiteX0" fmla="*/ 971439 w 3901235"/>
              <a:gd name="connsiteY0" fmla="*/ 0 h 1724027"/>
              <a:gd name="connsiteX1" fmla="*/ 3901235 w 3901235"/>
              <a:gd name="connsiteY1" fmla="*/ 4764 h 1724027"/>
              <a:gd name="connsiteX2" fmla="*/ 3871510 w 3901235"/>
              <a:gd name="connsiteY2" fmla="*/ 138797 h 1724027"/>
              <a:gd name="connsiteX3" fmla="*/ 1950618 w 3901235"/>
              <a:gd name="connsiteY3" fmla="*/ 1724027 h 1724027"/>
              <a:gd name="connsiteX4" fmla="*/ 29725 w 3901235"/>
              <a:gd name="connsiteY4" fmla="*/ 138797 h 1724027"/>
              <a:gd name="connsiteX5" fmla="*/ 0 w 3901235"/>
              <a:gd name="connsiteY5" fmla="*/ 4764 h 1724027"/>
              <a:gd name="connsiteX0" fmla="*/ 3901235 w 3901235"/>
              <a:gd name="connsiteY0" fmla="*/ 0 h 1719263"/>
              <a:gd name="connsiteX1" fmla="*/ 3871510 w 3901235"/>
              <a:gd name="connsiteY1" fmla="*/ 134033 h 1719263"/>
              <a:gd name="connsiteX2" fmla="*/ 1950618 w 3901235"/>
              <a:gd name="connsiteY2" fmla="*/ 1719263 h 1719263"/>
              <a:gd name="connsiteX3" fmla="*/ 29725 w 3901235"/>
              <a:gd name="connsiteY3" fmla="*/ 134033 h 1719263"/>
              <a:gd name="connsiteX4" fmla="*/ 0 w 3901235"/>
              <a:gd name="connsiteY4" fmla="*/ 0 h 17192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01235" h="1719263">
                <a:moveTo>
                  <a:pt x="3901235" y="0"/>
                </a:moveTo>
                <a:lnTo>
                  <a:pt x="3871510" y="134033"/>
                </a:lnTo>
                <a:cubicBezTo>
                  <a:pt x="3629235" y="1049959"/>
                  <a:pt x="2860935" y="1719263"/>
                  <a:pt x="1950618" y="1719263"/>
                </a:cubicBezTo>
                <a:cubicBezTo>
                  <a:pt x="1040298" y="1719263"/>
                  <a:pt x="271998" y="1049959"/>
                  <a:pt x="29725" y="134033"/>
                </a:cubicBezTo>
                <a:lnTo>
                  <a:pt x="0" y="0"/>
                </a:lnTo>
              </a:path>
            </a:pathLst>
          </a:custGeom>
          <a:noFill/>
          <a:ln>
            <a:solidFill>
              <a:srgbClr val="AC4243"/>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1" name="任意多边形: 形状 187">
            <a:extLst>
              <a:ext uri="{FF2B5EF4-FFF2-40B4-BE49-F238E27FC236}">
                <a16:creationId xmlns:a16="http://schemas.microsoft.com/office/drawing/2014/main" id="{A6B88863-8231-419D-A14F-902DA0F3B505}"/>
              </a:ext>
            </a:extLst>
          </p:cNvPr>
          <p:cNvSpPr/>
          <p:nvPr/>
        </p:nvSpPr>
        <p:spPr>
          <a:xfrm>
            <a:off x="4294786" y="0"/>
            <a:ext cx="3592905" cy="1725984"/>
          </a:xfrm>
          <a:custGeom>
            <a:avLst/>
            <a:gdLst>
              <a:gd name="connsiteX0" fmla="*/ 0 w 3592905"/>
              <a:gd name="connsiteY0" fmla="*/ 0 h 1725984"/>
              <a:gd name="connsiteX1" fmla="*/ 3592905 w 3592905"/>
              <a:gd name="connsiteY1" fmla="*/ 0 h 1725984"/>
              <a:gd name="connsiteX2" fmla="*/ 3587358 w 3592905"/>
              <a:gd name="connsiteY2" fmla="*/ 109844 h 1725984"/>
              <a:gd name="connsiteX3" fmla="*/ 1796452 w 3592905"/>
              <a:gd name="connsiteY3" fmla="*/ 1725984 h 1725984"/>
              <a:gd name="connsiteX4" fmla="*/ 5547 w 3592905"/>
              <a:gd name="connsiteY4" fmla="*/ 109844 h 17259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92905" h="1725984">
                <a:moveTo>
                  <a:pt x="0" y="0"/>
                </a:moveTo>
                <a:lnTo>
                  <a:pt x="3592905" y="0"/>
                </a:lnTo>
                <a:lnTo>
                  <a:pt x="3587358" y="109844"/>
                </a:lnTo>
                <a:cubicBezTo>
                  <a:pt x="3495170" y="1017606"/>
                  <a:pt x="2728536" y="1725984"/>
                  <a:pt x="1796452" y="1725984"/>
                </a:cubicBezTo>
                <a:cubicBezTo>
                  <a:pt x="864368" y="1725984"/>
                  <a:pt x="97735" y="1017606"/>
                  <a:pt x="5547" y="109844"/>
                </a:cubicBezTo>
                <a:close/>
              </a:path>
            </a:pathLst>
          </a:cu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12" name="组合 11">
            <a:extLst>
              <a:ext uri="{FF2B5EF4-FFF2-40B4-BE49-F238E27FC236}">
                <a16:creationId xmlns:a16="http://schemas.microsoft.com/office/drawing/2014/main" id="{20E1EF72-8F97-40BB-B42A-4A5D67ED88EB}"/>
              </a:ext>
            </a:extLst>
          </p:cNvPr>
          <p:cNvGrpSpPr/>
          <p:nvPr/>
        </p:nvGrpSpPr>
        <p:grpSpPr>
          <a:xfrm>
            <a:off x="5423012" y="298047"/>
            <a:ext cx="1336454" cy="1005661"/>
            <a:chOff x="5378243" y="298047"/>
            <a:chExt cx="1336454" cy="1005661"/>
          </a:xfrm>
        </p:grpSpPr>
        <p:sp>
          <p:nvSpPr>
            <p:cNvPr id="13" name="矩形 12">
              <a:extLst>
                <a:ext uri="{FF2B5EF4-FFF2-40B4-BE49-F238E27FC236}">
                  <a16:creationId xmlns:a16="http://schemas.microsoft.com/office/drawing/2014/main" id="{1B5178F2-2D4A-410B-BE91-04F25A3587B0}"/>
                </a:ext>
              </a:extLst>
            </p:cNvPr>
            <p:cNvSpPr/>
            <p:nvPr/>
          </p:nvSpPr>
          <p:spPr>
            <a:xfrm>
              <a:off x="5378243" y="298047"/>
              <a:ext cx="764954" cy="769441"/>
            </a:xfrm>
            <a:prstGeom prst="rect">
              <a:avLst/>
            </a:prstGeom>
          </p:spPr>
          <p:txBody>
            <a:bodyPr wrap="none">
              <a:spAutoFit/>
            </a:bodyPr>
            <a:lstStyle/>
            <a:p>
              <a:pPr algn="ctr" defTabSz="914377">
                <a:defRPr/>
              </a:pPr>
              <a:r>
                <a:rPr lang="zh-CN" altLang="en-US" sz="4400" b="1" dirty="0">
                  <a:solidFill>
                    <a:schemeClr val="bg1"/>
                  </a:solidFill>
                  <a:latin typeface="思源黑体 CN Medium" panose="020B0600000000000000" pitchFamily="34" charset="-122"/>
                  <a:ea typeface="思源黑体 CN Medium" panose="020B0600000000000000" pitchFamily="34" charset="-122"/>
                </a:rPr>
                <a:t>目</a:t>
              </a:r>
            </a:p>
          </p:txBody>
        </p:sp>
        <p:sp>
          <p:nvSpPr>
            <p:cNvPr id="14" name="矩形 13">
              <a:extLst>
                <a:ext uri="{FF2B5EF4-FFF2-40B4-BE49-F238E27FC236}">
                  <a16:creationId xmlns:a16="http://schemas.microsoft.com/office/drawing/2014/main" id="{1026D04B-BFBA-4969-A62F-400DB9371C1A}"/>
                </a:ext>
              </a:extLst>
            </p:cNvPr>
            <p:cNvSpPr/>
            <p:nvPr/>
          </p:nvSpPr>
          <p:spPr>
            <a:xfrm>
              <a:off x="5949743" y="534267"/>
              <a:ext cx="764954" cy="769441"/>
            </a:xfrm>
            <a:prstGeom prst="rect">
              <a:avLst/>
            </a:prstGeom>
          </p:spPr>
          <p:txBody>
            <a:bodyPr wrap="none">
              <a:spAutoFit/>
            </a:bodyPr>
            <a:lstStyle/>
            <a:p>
              <a:pPr algn="ctr" defTabSz="914377">
                <a:defRPr/>
              </a:pPr>
              <a:r>
                <a:rPr lang="zh-CN" altLang="en-US" sz="4400" b="1" dirty="0">
                  <a:solidFill>
                    <a:schemeClr val="bg1"/>
                  </a:solidFill>
                  <a:latin typeface="思源黑体 CN Medium" panose="020B0600000000000000" pitchFamily="34" charset="-122"/>
                  <a:ea typeface="思源黑体 CN Medium" panose="020B0600000000000000" pitchFamily="34" charset="-122"/>
                </a:rPr>
                <a:t>录</a:t>
              </a:r>
            </a:p>
          </p:txBody>
        </p:sp>
        <p:cxnSp>
          <p:nvCxnSpPr>
            <p:cNvPr id="15" name="直接连接符 14">
              <a:extLst>
                <a:ext uri="{FF2B5EF4-FFF2-40B4-BE49-F238E27FC236}">
                  <a16:creationId xmlns:a16="http://schemas.microsoft.com/office/drawing/2014/main" id="{0617B5AE-EFD2-4359-925B-B0D12536022A}"/>
                </a:ext>
              </a:extLst>
            </p:cNvPr>
            <p:cNvCxnSpPr>
              <a:cxnSpLocks/>
            </p:cNvCxnSpPr>
            <p:nvPr/>
          </p:nvCxnSpPr>
          <p:spPr>
            <a:xfrm flipV="1">
              <a:off x="5603081" y="1001316"/>
              <a:ext cx="279797" cy="21550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80AC7947-DD52-45AF-9696-26B4A97F0743}"/>
                </a:ext>
              </a:extLst>
            </p:cNvPr>
            <p:cNvCxnSpPr>
              <a:cxnSpLocks/>
            </p:cNvCxnSpPr>
            <p:nvPr/>
          </p:nvCxnSpPr>
          <p:spPr>
            <a:xfrm flipV="1">
              <a:off x="6210300" y="379810"/>
              <a:ext cx="279797" cy="21550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17" name="椭圆 16">
            <a:extLst>
              <a:ext uri="{FF2B5EF4-FFF2-40B4-BE49-F238E27FC236}">
                <a16:creationId xmlns:a16="http://schemas.microsoft.com/office/drawing/2014/main" id="{B988493C-DB58-4CB5-AC42-17AF86122B35}"/>
              </a:ext>
            </a:extLst>
          </p:cNvPr>
          <p:cNvSpPr/>
          <p:nvPr/>
        </p:nvSpPr>
        <p:spPr>
          <a:xfrm>
            <a:off x="4218102" y="1144930"/>
            <a:ext cx="140946" cy="140946"/>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a:extLst>
              <a:ext uri="{FF2B5EF4-FFF2-40B4-BE49-F238E27FC236}">
                <a16:creationId xmlns:a16="http://schemas.microsoft.com/office/drawing/2014/main" id="{400BD8A7-5ED5-4258-B2FA-8F2BCFF1984D}"/>
              </a:ext>
            </a:extLst>
          </p:cNvPr>
          <p:cNvSpPr/>
          <p:nvPr/>
        </p:nvSpPr>
        <p:spPr>
          <a:xfrm>
            <a:off x="2661711" y="3885405"/>
            <a:ext cx="153420" cy="153420"/>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latin typeface="思源黑体 CN Medium" panose="020B0600000000000000" pitchFamily="34" charset="-122"/>
              <a:ea typeface="思源黑体 CN Medium" panose="020B0600000000000000" pitchFamily="34" charset="-122"/>
            </a:endParaRPr>
          </a:p>
        </p:txBody>
      </p:sp>
      <p:sp>
        <p:nvSpPr>
          <p:cNvPr id="24" name="椭圆 23">
            <a:extLst>
              <a:ext uri="{FF2B5EF4-FFF2-40B4-BE49-F238E27FC236}">
                <a16:creationId xmlns:a16="http://schemas.microsoft.com/office/drawing/2014/main" id="{947FCE82-E682-48A6-8159-B361DE182A4F}"/>
              </a:ext>
            </a:extLst>
          </p:cNvPr>
          <p:cNvSpPr/>
          <p:nvPr/>
        </p:nvSpPr>
        <p:spPr>
          <a:xfrm>
            <a:off x="5205739" y="3831611"/>
            <a:ext cx="153420" cy="153420"/>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latin typeface="思源黑体 CN Medium" panose="020B0600000000000000" pitchFamily="34" charset="-122"/>
              <a:ea typeface="思源黑体 CN Medium" panose="020B0600000000000000" pitchFamily="34" charset="-122"/>
            </a:endParaRPr>
          </a:p>
        </p:txBody>
      </p:sp>
      <p:sp>
        <p:nvSpPr>
          <p:cNvPr id="26" name="椭圆 25">
            <a:extLst>
              <a:ext uri="{FF2B5EF4-FFF2-40B4-BE49-F238E27FC236}">
                <a16:creationId xmlns:a16="http://schemas.microsoft.com/office/drawing/2014/main" id="{B58018BF-234B-4A8F-8CC2-0A6862A09A03}"/>
              </a:ext>
            </a:extLst>
          </p:cNvPr>
          <p:cNvSpPr/>
          <p:nvPr/>
        </p:nvSpPr>
        <p:spPr>
          <a:xfrm>
            <a:off x="7310764" y="3660161"/>
            <a:ext cx="153420" cy="153420"/>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latin typeface="思源黑体 CN Medium" panose="020B0600000000000000" pitchFamily="34" charset="-122"/>
              <a:ea typeface="思源黑体 CN Medium" panose="020B0600000000000000" pitchFamily="34" charset="-122"/>
            </a:endParaRPr>
          </a:p>
        </p:txBody>
      </p:sp>
      <p:sp>
        <p:nvSpPr>
          <p:cNvPr id="28" name="椭圆 27">
            <a:extLst>
              <a:ext uri="{FF2B5EF4-FFF2-40B4-BE49-F238E27FC236}">
                <a16:creationId xmlns:a16="http://schemas.microsoft.com/office/drawing/2014/main" id="{F31CB735-B88D-43D4-9302-C717AA674D24}"/>
              </a:ext>
            </a:extLst>
          </p:cNvPr>
          <p:cNvSpPr/>
          <p:nvPr/>
        </p:nvSpPr>
        <p:spPr>
          <a:xfrm>
            <a:off x="8527841" y="4241738"/>
            <a:ext cx="153420" cy="153420"/>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latin typeface="思源黑体 CN Medium" panose="020B0600000000000000" pitchFamily="34" charset="-122"/>
              <a:ea typeface="思源黑体 CN Medium" panose="020B0600000000000000" pitchFamily="34" charset="-122"/>
            </a:endParaRPr>
          </a:p>
        </p:txBody>
      </p:sp>
      <p:sp>
        <p:nvSpPr>
          <p:cNvPr id="30" name="椭圆 29">
            <a:extLst>
              <a:ext uri="{FF2B5EF4-FFF2-40B4-BE49-F238E27FC236}">
                <a16:creationId xmlns:a16="http://schemas.microsoft.com/office/drawing/2014/main" id="{22CCE3CE-6BDC-483A-B90B-97B70B2995D2}"/>
              </a:ext>
            </a:extLst>
          </p:cNvPr>
          <p:cNvSpPr/>
          <p:nvPr/>
        </p:nvSpPr>
        <p:spPr>
          <a:xfrm>
            <a:off x="9702501" y="2873716"/>
            <a:ext cx="452100" cy="452100"/>
          </a:xfrm>
          <a:prstGeom prst="ellipse">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latin typeface="思源黑体 CN Medium" panose="020B0600000000000000" pitchFamily="34" charset="-122"/>
              <a:ea typeface="思源黑体 CN Medium" panose="020B0600000000000000" pitchFamily="34" charset="-122"/>
            </a:endParaRPr>
          </a:p>
        </p:txBody>
      </p:sp>
      <p:sp>
        <p:nvSpPr>
          <p:cNvPr id="31" name="椭圆 30">
            <a:extLst>
              <a:ext uri="{FF2B5EF4-FFF2-40B4-BE49-F238E27FC236}">
                <a16:creationId xmlns:a16="http://schemas.microsoft.com/office/drawing/2014/main" id="{AFCB4D92-E7C9-456F-8BE0-5293892F04FC}"/>
              </a:ext>
            </a:extLst>
          </p:cNvPr>
          <p:cNvSpPr/>
          <p:nvPr/>
        </p:nvSpPr>
        <p:spPr>
          <a:xfrm>
            <a:off x="10594052" y="4395158"/>
            <a:ext cx="153420" cy="153420"/>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latin typeface="思源黑体 CN Medium" panose="020B0600000000000000" pitchFamily="34" charset="-122"/>
              <a:ea typeface="思源黑体 CN Medium" panose="020B0600000000000000" pitchFamily="34" charset="-122"/>
            </a:endParaRPr>
          </a:p>
        </p:txBody>
      </p:sp>
      <p:pic>
        <p:nvPicPr>
          <p:cNvPr id="3" name="图片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5085" y="5064690"/>
            <a:ext cx="1846202" cy="1855326"/>
          </a:xfrm>
          <a:prstGeom prst="rect">
            <a:avLst/>
          </a:prstGeom>
        </p:spPr>
      </p:pic>
      <p:sp>
        <p:nvSpPr>
          <p:cNvPr id="39" name="矩形 38">
            <a:extLst>
              <a:ext uri="{FF2B5EF4-FFF2-40B4-BE49-F238E27FC236}">
                <a16:creationId xmlns:a16="http://schemas.microsoft.com/office/drawing/2014/main" id="{E5E46891-05F9-4C9D-B95B-C1B05B5CCFCC}"/>
              </a:ext>
            </a:extLst>
          </p:cNvPr>
          <p:cNvSpPr/>
          <p:nvPr/>
        </p:nvSpPr>
        <p:spPr>
          <a:xfrm>
            <a:off x="5789304" y="2582157"/>
            <a:ext cx="3968423" cy="461665"/>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377">
              <a:defRPr/>
            </a:pPr>
            <a:r>
              <a:rPr lang="zh-CN" altLang="en-US" sz="2400" b="1" dirty="0"/>
              <a:t>实验目的</a:t>
            </a:r>
            <a:endParaRPr lang="zh-CN" altLang="en-US" sz="2400" spc="200" dirty="0">
              <a:latin typeface="黑体" panose="02010609060101010101" pitchFamily="49" charset="-122"/>
              <a:ea typeface="黑体" panose="02010609060101010101" pitchFamily="49" charset="-122"/>
            </a:endParaRPr>
          </a:p>
        </p:txBody>
      </p:sp>
      <p:sp>
        <p:nvSpPr>
          <p:cNvPr id="40" name="椭圆 39">
            <a:extLst>
              <a:ext uri="{FF2B5EF4-FFF2-40B4-BE49-F238E27FC236}">
                <a16:creationId xmlns:a16="http://schemas.microsoft.com/office/drawing/2014/main" id="{4A65319A-3B14-47EE-B0A3-B0413212705A}"/>
              </a:ext>
            </a:extLst>
          </p:cNvPr>
          <p:cNvSpPr/>
          <p:nvPr/>
        </p:nvSpPr>
        <p:spPr>
          <a:xfrm>
            <a:off x="4802177" y="2462998"/>
            <a:ext cx="741318" cy="719742"/>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3600" dirty="0">
                <a:solidFill>
                  <a:schemeClr val="bg1"/>
                </a:solidFill>
                <a:latin typeface="Times New Roman" panose="02020603050405020304" pitchFamily="18" charset="0"/>
                <a:ea typeface="思源黑体 CN Medium" panose="020B0600000000000000" pitchFamily="34" charset="-122"/>
                <a:cs typeface="Times New Roman" panose="02020603050405020304" pitchFamily="18" charset="0"/>
              </a:rPr>
              <a:t>1</a:t>
            </a:r>
            <a:endParaRPr lang="zh-CN" altLang="en-US" dirty="0">
              <a:solidFill>
                <a:schemeClr val="bg1"/>
              </a:solidFill>
              <a:latin typeface="Times New Roman" panose="02020603050405020304" pitchFamily="18" charset="0"/>
              <a:ea typeface="思源黑体 CN Medium" panose="020B0600000000000000" pitchFamily="34" charset="-122"/>
              <a:cs typeface="Times New Roman" panose="02020603050405020304" pitchFamily="18" charset="0"/>
            </a:endParaRPr>
          </a:p>
        </p:txBody>
      </p:sp>
      <p:sp>
        <p:nvSpPr>
          <p:cNvPr id="41" name="椭圆 40">
            <a:extLst>
              <a:ext uri="{FF2B5EF4-FFF2-40B4-BE49-F238E27FC236}">
                <a16:creationId xmlns:a16="http://schemas.microsoft.com/office/drawing/2014/main" id="{8DAD9002-307C-4069-B49B-06CC96E45DA4}"/>
              </a:ext>
            </a:extLst>
          </p:cNvPr>
          <p:cNvSpPr/>
          <p:nvPr/>
        </p:nvSpPr>
        <p:spPr>
          <a:xfrm>
            <a:off x="4802177" y="3457701"/>
            <a:ext cx="741318" cy="719742"/>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3600" dirty="0">
                <a:solidFill>
                  <a:schemeClr val="bg1"/>
                </a:solidFill>
                <a:latin typeface="Times New Roman" panose="02020603050405020304" pitchFamily="18" charset="0"/>
                <a:ea typeface="思源黑体 CN Medium" panose="020B0600000000000000" pitchFamily="34" charset="-122"/>
                <a:cs typeface="Times New Roman" panose="02020603050405020304" pitchFamily="18" charset="0"/>
              </a:rPr>
              <a:t>2</a:t>
            </a:r>
            <a:endParaRPr lang="zh-CN" altLang="en-US" dirty="0">
              <a:solidFill>
                <a:schemeClr val="bg1"/>
              </a:solidFill>
              <a:latin typeface="Times New Roman" panose="02020603050405020304" pitchFamily="18" charset="0"/>
              <a:ea typeface="思源黑体 CN Medium" panose="020B0600000000000000" pitchFamily="34" charset="-122"/>
              <a:cs typeface="Times New Roman" panose="02020603050405020304" pitchFamily="18" charset="0"/>
            </a:endParaRPr>
          </a:p>
        </p:txBody>
      </p:sp>
      <p:sp>
        <p:nvSpPr>
          <p:cNvPr id="42" name="椭圆 41">
            <a:extLst>
              <a:ext uri="{FF2B5EF4-FFF2-40B4-BE49-F238E27FC236}">
                <a16:creationId xmlns:a16="http://schemas.microsoft.com/office/drawing/2014/main" id="{BD202347-E763-4739-BD91-1BC38773A8D8}"/>
              </a:ext>
            </a:extLst>
          </p:cNvPr>
          <p:cNvSpPr/>
          <p:nvPr/>
        </p:nvSpPr>
        <p:spPr>
          <a:xfrm>
            <a:off x="4802177" y="4515456"/>
            <a:ext cx="741318" cy="719742"/>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3600" dirty="0">
                <a:solidFill>
                  <a:schemeClr val="bg1"/>
                </a:solidFill>
                <a:latin typeface="Times New Roman" panose="02020603050405020304" pitchFamily="18" charset="0"/>
                <a:ea typeface="思源黑体 CN Medium" panose="020B0600000000000000" pitchFamily="34" charset="-122"/>
                <a:cs typeface="Times New Roman" panose="02020603050405020304" pitchFamily="18" charset="0"/>
              </a:rPr>
              <a:t>3</a:t>
            </a:r>
            <a:endParaRPr lang="zh-CN" altLang="en-US" dirty="0">
              <a:solidFill>
                <a:schemeClr val="bg1"/>
              </a:solidFill>
              <a:latin typeface="Times New Roman" panose="02020603050405020304" pitchFamily="18" charset="0"/>
              <a:ea typeface="思源黑体 CN Medium" panose="020B0600000000000000" pitchFamily="34" charset="-122"/>
              <a:cs typeface="Times New Roman" panose="02020603050405020304" pitchFamily="18" charset="0"/>
            </a:endParaRPr>
          </a:p>
        </p:txBody>
      </p:sp>
      <p:sp>
        <p:nvSpPr>
          <p:cNvPr id="43" name="矩形 42">
            <a:extLst>
              <a:ext uri="{FF2B5EF4-FFF2-40B4-BE49-F238E27FC236}">
                <a16:creationId xmlns:a16="http://schemas.microsoft.com/office/drawing/2014/main" id="{B06D908A-2B70-4B6E-92B5-39BB36F74499}"/>
              </a:ext>
            </a:extLst>
          </p:cNvPr>
          <p:cNvSpPr/>
          <p:nvPr/>
        </p:nvSpPr>
        <p:spPr>
          <a:xfrm>
            <a:off x="5742869" y="4653177"/>
            <a:ext cx="1518365" cy="461665"/>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377">
              <a:defRPr/>
            </a:pPr>
            <a:r>
              <a:rPr lang="zh-CN" altLang="en-US" sz="2400" spc="200" dirty="0">
                <a:latin typeface="黑体" panose="02010609060101010101" pitchFamily="49" charset="-122"/>
                <a:ea typeface="黑体" panose="02010609060101010101" pitchFamily="49" charset="-122"/>
              </a:rPr>
              <a:t>实验内容</a:t>
            </a:r>
          </a:p>
        </p:txBody>
      </p:sp>
      <p:sp>
        <p:nvSpPr>
          <p:cNvPr id="46" name="矩形 45">
            <a:extLst>
              <a:ext uri="{FF2B5EF4-FFF2-40B4-BE49-F238E27FC236}">
                <a16:creationId xmlns:a16="http://schemas.microsoft.com/office/drawing/2014/main" id="{99616E36-87F3-42BC-8E32-B07D3486C817}"/>
              </a:ext>
            </a:extLst>
          </p:cNvPr>
          <p:cNvSpPr/>
          <p:nvPr/>
        </p:nvSpPr>
        <p:spPr>
          <a:xfrm>
            <a:off x="5738782" y="3582748"/>
            <a:ext cx="1518365" cy="461665"/>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377">
              <a:defRPr/>
            </a:pPr>
            <a:r>
              <a:rPr lang="zh-CN" altLang="en-US" sz="2400" spc="200" dirty="0">
                <a:latin typeface="黑体" panose="02010609060101010101" pitchFamily="49" charset="-122"/>
                <a:ea typeface="黑体" panose="02010609060101010101" pitchFamily="49" charset="-122"/>
              </a:rPr>
              <a:t>实验原理</a:t>
            </a:r>
          </a:p>
        </p:txBody>
      </p:sp>
    </p:spTree>
    <p:extLst>
      <p:ext uri="{BB962C8B-B14F-4D97-AF65-F5344CB8AC3E}">
        <p14:creationId xmlns:p14="http://schemas.microsoft.com/office/powerpoint/2010/main" val="24663625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2" name="组合 71">
            <a:extLst>
              <a:ext uri="{FF2B5EF4-FFF2-40B4-BE49-F238E27FC236}">
                <a16:creationId xmlns:a16="http://schemas.microsoft.com/office/drawing/2014/main" id="{B755887D-06B2-49C8-A78A-151A32DBE229}"/>
              </a:ext>
            </a:extLst>
          </p:cNvPr>
          <p:cNvGrpSpPr/>
          <p:nvPr/>
        </p:nvGrpSpPr>
        <p:grpSpPr>
          <a:xfrm>
            <a:off x="6262928" y="266844"/>
            <a:ext cx="5233747" cy="330008"/>
            <a:chOff x="5025390" y="266844"/>
            <a:chExt cx="6259830" cy="330008"/>
          </a:xfrm>
        </p:grpSpPr>
        <p:cxnSp>
          <p:nvCxnSpPr>
            <p:cNvPr id="73" name="直接连接符 72">
              <a:extLst>
                <a:ext uri="{FF2B5EF4-FFF2-40B4-BE49-F238E27FC236}">
                  <a16:creationId xmlns:a16="http://schemas.microsoft.com/office/drawing/2014/main" id="{62FE7A77-FBEB-40AD-82EE-F6D56B4FBED0}"/>
                </a:ext>
              </a:extLst>
            </p:cNvPr>
            <p:cNvCxnSpPr>
              <a:cxnSpLocks/>
            </p:cNvCxnSpPr>
            <p:nvPr/>
          </p:nvCxnSpPr>
          <p:spPr>
            <a:xfrm flipH="1">
              <a:off x="5025390" y="596852"/>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4" name="直接连接符 73">
              <a:extLst>
                <a:ext uri="{FF2B5EF4-FFF2-40B4-BE49-F238E27FC236}">
                  <a16:creationId xmlns:a16="http://schemas.microsoft.com/office/drawing/2014/main" id="{BDD67602-65B0-4D01-8429-E64EE945B436}"/>
                </a:ext>
              </a:extLst>
            </p:cNvPr>
            <p:cNvCxnSpPr>
              <a:cxnSpLocks/>
            </p:cNvCxnSpPr>
            <p:nvPr/>
          </p:nvCxnSpPr>
          <p:spPr>
            <a:xfrm flipH="1">
              <a:off x="5025390" y="514350"/>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5" name="直接连接符 74">
              <a:extLst>
                <a:ext uri="{FF2B5EF4-FFF2-40B4-BE49-F238E27FC236}">
                  <a16:creationId xmlns:a16="http://schemas.microsoft.com/office/drawing/2014/main" id="{56902EF3-DC68-477E-B624-6F39F33A5062}"/>
                </a:ext>
              </a:extLst>
            </p:cNvPr>
            <p:cNvCxnSpPr>
              <a:cxnSpLocks/>
            </p:cNvCxnSpPr>
            <p:nvPr/>
          </p:nvCxnSpPr>
          <p:spPr>
            <a:xfrm flipH="1">
              <a:off x="5025390" y="431848"/>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6" name="直接连接符 75">
              <a:extLst>
                <a:ext uri="{FF2B5EF4-FFF2-40B4-BE49-F238E27FC236}">
                  <a16:creationId xmlns:a16="http://schemas.microsoft.com/office/drawing/2014/main" id="{E5575DC5-6C14-4E47-8549-F414278D7485}"/>
                </a:ext>
              </a:extLst>
            </p:cNvPr>
            <p:cNvCxnSpPr>
              <a:cxnSpLocks/>
            </p:cNvCxnSpPr>
            <p:nvPr/>
          </p:nvCxnSpPr>
          <p:spPr>
            <a:xfrm flipH="1">
              <a:off x="5025390" y="349346"/>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7" name="直接连接符 76">
              <a:extLst>
                <a:ext uri="{FF2B5EF4-FFF2-40B4-BE49-F238E27FC236}">
                  <a16:creationId xmlns:a16="http://schemas.microsoft.com/office/drawing/2014/main" id="{BEA35CD9-8F8F-4991-8A28-0D6749A159AF}"/>
                </a:ext>
              </a:extLst>
            </p:cNvPr>
            <p:cNvCxnSpPr>
              <a:cxnSpLocks/>
            </p:cNvCxnSpPr>
            <p:nvPr/>
          </p:nvCxnSpPr>
          <p:spPr>
            <a:xfrm flipH="1">
              <a:off x="5025390" y="266844"/>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grpSp>
        <p:nvGrpSpPr>
          <p:cNvPr id="78" name="组合 77">
            <a:extLst>
              <a:ext uri="{FF2B5EF4-FFF2-40B4-BE49-F238E27FC236}">
                <a16:creationId xmlns:a16="http://schemas.microsoft.com/office/drawing/2014/main" id="{B708D5A6-F729-4A3B-AFF5-DB02E26819D1}"/>
              </a:ext>
            </a:extLst>
          </p:cNvPr>
          <p:cNvGrpSpPr/>
          <p:nvPr/>
        </p:nvGrpSpPr>
        <p:grpSpPr>
          <a:xfrm>
            <a:off x="0" y="266844"/>
            <a:ext cx="487680" cy="330008"/>
            <a:chOff x="5025390" y="266844"/>
            <a:chExt cx="6259830" cy="330008"/>
          </a:xfrm>
        </p:grpSpPr>
        <p:cxnSp>
          <p:nvCxnSpPr>
            <p:cNvPr id="79" name="直接连接符 78">
              <a:extLst>
                <a:ext uri="{FF2B5EF4-FFF2-40B4-BE49-F238E27FC236}">
                  <a16:creationId xmlns:a16="http://schemas.microsoft.com/office/drawing/2014/main" id="{B16271FF-B014-4D0E-A8FC-14016AE63AC9}"/>
                </a:ext>
              </a:extLst>
            </p:cNvPr>
            <p:cNvCxnSpPr>
              <a:cxnSpLocks/>
            </p:cNvCxnSpPr>
            <p:nvPr/>
          </p:nvCxnSpPr>
          <p:spPr>
            <a:xfrm flipH="1">
              <a:off x="5025390" y="596852"/>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0" name="直接连接符 79">
              <a:extLst>
                <a:ext uri="{FF2B5EF4-FFF2-40B4-BE49-F238E27FC236}">
                  <a16:creationId xmlns:a16="http://schemas.microsoft.com/office/drawing/2014/main" id="{54662351-B9F7-41B8-8DFD-B434997C52AF}"/>
                </a:ext>
              </a:extLst>
            </p:cNvPr>
            <p:cNvCxnSpPr>
              <a:cxnSpLocks/>
            </p:cNvCxnSpPr>
            <p:nvPr/>
          </p:nvCxnSpPr>
          <p:spPr>
            <a:xfrm flipH="1">
              <a:off x="5025390" y="514350"/>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1" name="直接连接符 80">
              <a:extLst>
                <a:ext uri="{FF2B5EF4-FFF2-40B4-BE49-F238E27FC236}">
                  <a16:creationId xmlns:a16="http://schemas.microsoft.com/office/drawing/2014/main" id="{18BB5DB3-4909-47FC-BDD8-8679FC8F7B9D}"/>
                </a:ext>
              </a:extLst>
            </p:cNvPr>
            <p:cNvCxnSpPr>
              <a:cxnSpLocks/>
            </p:cNvCxnSpPr>
            <p:nvPr/>
          </p:nvCxnSpPr>
          <p:spPr>
            <a:xfrm flipH="1">
              <a:off x="5025390" y="431848"/>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2" name="直接连接符 81">
              <a:extLst>
                <a:ext uri="{FF2B5EF4-FFF2-40B4-BE49-F238E27FC236}">
                  <a16:creationId xmlns:a16="http://schemas.microsoft.com/office/drawing/2014/main" id="{7C6A262B-8F87-4AA5-BD4A-55DE84149A06}"/>
                </a:ext>
              </a:extLst>
            </p:cNvPr>
            <p:cNvCxnSpPr>
              <a:cxnSpLocks/>
            </p:cNvCxnSpPr>
            <p:nvPr/>
          </p:nvCxnSpPr>
          <p:spPr>
            <a:xfrm flipH="1">
              <a:off x="5025390" y="349346"/>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3" name="直接连接符 82">
              <a:extLst>
                <a:ext uri="{FF2B5EF4-FFF2-40B4-BE49-F238E27FC236}">
                  <a16:creationId xmlns:a16="http://schemas.microsoft.com/office/drawing/2014/main" id="{8F8A0811-38B1-462B-8E81-76FB9965A173}"/>
                </a:ext>
              </a:extLst>
            </p:cNvPr>
            <p:cNvCxnSpPr>
              <a:cxnSpLocks/>
            </p:cNvCxnSpPr>
            <p:nvPr/>
          </p:nvCxnSpPr>
          <p:spPr>
            <a:xfrm flipH="1">
              <a:off x="5025390" y="266844"/>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pic>
        <p:nvPicPr>
          <p:cNvPr id="18" name="图片 1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604252" y="168275"/>
            <a:ext cx="520700" cy="520700"/>
          </a:xfrm>
          <a:prstGeom prst="rect">
            <a:avLst/>
          </a:prstGeom>
        </p:spPr>
      </p:pic>
      <p:sp>
        <p:nvSpPr>
          <p:cNvPr id="21" name="文本框 20">
            <a:extLst>
              <a:ext uri="{FF2B5EF4-FFF2-40B4-BE49-F238E27FC236}">
                <a16:creationId xmlns:a16="http://schemas.microsoft.com/office/drawing/2014/main" id="{D7ECBC28-490B-4424-8256-107302341845}"/>
              </a:ext>
            </a:extLst>
          </p:cNvPr>
          <p:cNvSpPr txBox="1"/>
          <p:nvPr/>
        </p:nvSpPr>
        <p:spPr>
          <a:xfrm>
            <a:off x="487680" y="105459"/>
            <a:ext cx="7575006" cy="646331"/>
          </a:xfrm>
          <a:prstGeom prst="rect">
            <a:avLst/>
          </a:prstGeom>
          <a:noFill/>
        </p:spPr>
        <p:txBody>
          <a:bodyPr wrap="square" rtlCol="0">
            <a:spAutoFit/>
          </a:bodyPr>
          <a:lstStyle/>
          <a:p>
            <a:r>
              <a:rPr lang="zh-CN" altLang="en-US" sz="3600" b="1" dirty="0"/>
              <a:t>一</a:t>
            </a:r>
            <a:r>
              <a:rPr lang="en-US" altLang="zh-CN" sz="3600" b="1" dirty="0"/>
              <a:t>.</a:t>
            </a:r>
            <a:r>
              <a:rPr lang="zh-CN" altLang="en-US" sz="3600" b="1" dirty="0"/>
              <a:t> 实验目的</a:t>
            </a:r>
          </a:p>
        </p:txBody>
      </p:sp>
      <p:sp>
        <p:nvSpPr>
          <p:cNvPr id="25" name="矩形 24">
            <a:extLst>
              <a:ext uri="{FF2B5EF4-FFF2-40B4-BE49-F238E27FC236}">
                <a16:creationId xmlns:a16="http://schemas.microsoft.com/office/drawing/2014/main" id="{0CA23389-286B-443A-B318-59DB6373057C}"/>
              </a:ext>
            </a:extLst>
          </p:cNvPr>
          <p:cNvSpPr/>
          <p:nvPr/>
        </p:nvSpPr>
        <p:spPr>
          <a:xfrm>
            <a:off x="707967" y="2021241"/>
            <a:ext cx="11129129" cy="1949508"/>
          </a:xfrm>
          <a:prstGeom prst="rect">
            <a:avLst/>
          </a:prstGeom>
        </p:spPr>
        <p:txBody>
          <a:bodyPr wrap="square">
            <a:spAutoFit/>
          </a:bodyPr>
          <a:lstStyle/>
          <a:p>
            <a:pPr>
              <a:lnSpc>
                <a:spcPct val="150000"/>
              </a:lnSpc>
              <a:buClr>
                <a:srgbClr val="30B695"/>
              </a:buClr>
            </a:pPr>
            <a:r>
              <a:rPr lang="en-US" altLang="zh-CN" sz="2800" b="1" dirty="0">
                <a:latin typeface="Times New Roman" panose="02020603050405020304" pitchFamily="18" charset="0"/>
                <a:ea typeface="宋体" panose="02010600030101010101" pitchFamily="2" charset="-122"/>
                <a:cs typeface="Times New Roman" panose="02020603050405020304" pitchFamily="18" charset="0"/>
              </a:rPr>
              <a:t>1.</a:t>
            </a:r>
            <a:r>
              <a:rPr lang="zh-CN" altLang="en-US" sz="2800" b="1" dirty="0">
                <a:latin typeface="Times New Roman" panose="02020603050405020304" pitchFamily="18" charset="0"/>
                <a:ea typeface="宋体" panose="02010600030101010101" pitchFamily="2" charset="-122"/>
                <a:cs typeface="Times New Roman" panose="02020603050405020304" pitchFamily="18" charset="0"/>
              </a:rPr>
              <a:t>学习使用</a:t>
            </a:r>
            <a:r>
              <a:rPr lang="en-US" altLang="zh-CN" sz="2800" b="1" dirty="0">
                <a:latin typeface="Times New Roman" panose="02020603050405020304" pitchFamily="18" charset="0"/>
                <a:ea typeface="宋体" panose="02010600030101010101" pitchFamily="2" charset="-122"/>
                <a:cs typeface="Times New Roman" panose="02020603050405020304" pitchFamily="18" charset="0"/>
              </a:rPr>
              <a:t>ANSYS</a:t>
            </a:r>
            <a:r>
              <a:rPr lang="zh-CN" altLang="en-US" sz="2800" b="1" dirty="0">
                <a:latin typeface="Times New Roman" panose="02020603050405020304" pitchFamily="18" charset="0"/>
                <a:ea typeface="宋体" panose="02010600030101010101" pitchFamily="2" charset="-122"/>
                <a:cs typeface="Times New Roman" panose="02020603050405020304" pitchFamily="18" charset="0"/>
              </a:rPr>
              <a:t>软件求解具有一定厚度的金属环在磁场中的涡流。</a:t>
            </a:r>
            <a:endParaRPr lang="en-US" altLang="zh-CN" sz="2800" b="1" dirty="0">
              <a:latin typeface="Times New Roman" panose="02020603050405020304" pitchFamily="18" charset="0"/>
              <a:ea typeface="宋体" panose="02010600030101010101" pitchFamily="2" charset="-122"/>
              <a:cs typeface="Times New Roman" panose="02020603050405020304" pitchFamily="18" charset="0"/>
            </a:endParaRPr>
          </a:p>
          <a:p>
            <a:pPr>
              <a:lnSpc>
                <a:spcPct val="150000"/>
              </a:lnSpc>
              <a:buClr>
                <a:srgbClr val="30B695"/>
              </a:buClr>
            </a:pPr>
            <a:r>
              <a:rPr lang="en-US" altLang="zh-CN" sz="2800" b="1" dirty="0">
                <a:latin typeface="Times New Roman" panose="02020603050405020304" pitchFamily="18" charset="0"/>
                <a:ea typeface="宋体" panose="02010600030101010101" pitchFamily="2" charset="-122"/>
                <a:cs typeface="Times New Roman" panose="02020603050405020304" pitchFamily="18" charset="0"/>
              </a:rPr>
              <a:t>2.</a:t>
            </a:r>
            <a:r>
              <a:rPr lang="zh-CN" altLang="en-US" sz="2800" b="1" dirty="0">
                <a:latin typeface="Times New Roman" panose="02020603050405020304" pitchFamily="18" charset="0"/>
                <a:ea typeface="宋体" panose="02010600030101010101" pitchFamily="2" charset="-122"/>
                <a:cs typeface="Times New Roman" panose="02020603050405020304" pitchFamily="18" charset="0"/>
              </a:rPr>
              <a:t>研究稳恒磁悬浮现象，分析铝环受力大小与悬浮高度的关系。</a:t>
            </a:r>
            <a:endParaRPr lang="en-US" altLang="zh-CN" sz="2800" b="1" dirty="0">
              <a:latin typeface="Times New Roman" panose="02020603050405020304" pitchFamily="18" charset="0"/>
              <a:ea typeface="宋体" panose="02010600030101010101" pitchFamily="2" charset="-122"/>
              <a:cs typeface="Times New Roman" panose="02020603050405020304" pitchFamily="18" charset="0"/>
            </a:endParaRPr>
          </a:p>
          <a:p>
            <a:pPr>
              <a:lnSpc>
                <a:spcPct val="150000"/>
              </a:lnSpc>
              <a:buClr>
                <a:srgbClr val="30B695"/>
              </a:buClr>
            </a:pPr>
            <a:r>
              <a:rPr lang="en-US" altLang="zh-CN" sz="2800" b="1" dirty="0">
                <a:latin typeface="Times New Roman" panose="02020603050405020304" pitchFamily="18" charset="0"/>
                <a:ea typeface="宋体" panose="02010600030101010101" pitchFamily="2" charset="-122"/>
                <a:cs typeface="Times New Roman" panose="02020603050405020304" pitchFamily="18" charset="0"/>
              </a:rPr>
              <a:t>3.</a:t>
            </a:r>
            <a:r>
              <a:rPr lang="zh-CN" altLang="en-US" sz="2800" b="1" dirty="0">
                <a:latin typeface="Times New Roman" panose="02020603050405020304" pitchFamily="18" charset="0"/>
                <a:ea typeface="宋体" panose="02010600030101010101" pitchFamily="2" charset="-122"/>
                <a:cs typeface="Times New Roman" panose="02020603050405020304" pitchFamily="18" charset="0"/>
              </a:rPr>
              <a:t>学习</a:t>
            </a:r>
            <a:r>
              <a:rPr lang="en-US" altLang="zh-CN" sz="2800" b="1" dirty="0">
                <a:latin typeface="Times New Roman" panose="02020603050405020304" pitchFamily="18" charset="0"/>
                <a:ea typeface="宋体" panose="02010600030101010101" pitchFamily="2" charset="-122"/>
                <a:cs typeface="Times New Roman" panose="02020603050405020304" pitchFamily="18" charset="0"/>
              </a:rPr>
              <a:t>ANSYS</a:t>
            </a:r>
            <a:r>
              <a:rPr lang="zh-CN" altLang="en-US" sz="2800" b="1" dirty="0">
                <a:latin typeface="Times New Roman" panose="02020603050405020304" pitchFamily="18" charset="0"/>
                <a:ea typeface="宋体" panose="02010600030101010101" pitchFamily="2" charset="-122"/>
                <a:cs typeface="Times New Roman" panose="02020603050405020304" pitchFamily="18" charset="0"/>
              </a:rPr>
              <a:t>软件二维轴对称和三维模型的建模仿真方法。</a:t>
            </a:r>
            <a:endParaRPr lang="id-ID" altLang="zh-CN" sz="2800" b="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 name="文本框 1">
            <a:extLst>
              <a:ext uri="{FF2B5EF4-FFF2-40B4-BE49-F238E27FC236}">
                <a16:creationId xmlns:a16="http://schemas.microsoft.com/office/drawing/2014/main" id="{13D77590-6856-43FF-A85F-FDAFBB35AE85}"/>
              </a:ext>
            </a:extLst>
          </p:cNvPr>
          <p:cNvSpPr txBox="1"/>
          <p:nvPr/>
        </p:nvSpPr>
        <p:spPr>
          <a:xfrm>
            <a:off x="11232715" y="6343650"/>
            <a:ext cx="832980" cy="369332"/>
          </a:xfrm>
          <a:prstGeom prst="rect">
            <a:avLst/>
          </a:prstGeom>
          <a:noFill/>
        </p:spPr>
        <p:txBody>
          <a:bodyPr wrap="square" rtlCol="0">
            <a:spAutoFit/>
          </a:bodyPr>
          <a:lstStyle/>
          <a:p>
            <a:r>
              <a:rPr lang="en-US" altLang="zh-CN" dirty="0"/>
              <a:t>3/23</a:t>
            </a:r>
            <a:endParaRPr lang="zh-CN" altLang="en-US" dirty="0"/>
          </a:p>
        </p:txBody>
      </p:sp>
    </p:spTree>
    <p:extLst>
      <p:ext uri="{BB962C8B-B14F-4D97-AF65-F5344CB8AC3E}">
        <p14:creationId xmlns:p14="http://schemas.microsoft.com/office/powerpoint/2010/main" val="22189919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2" name="组合 71">
            <a:extLst>
              <a:ext uri="{FF2B5EF4-FFF2-40B4-BE49-F238E27FC236}">
                <a16:creationId xmlns:a16="http://schemas.microsoft.com/office/drawing/2014/main" id="{B755887D-06B2-49C8-A78A-151A32DBE229}"/>
              </a:ext>
            </a:extLst>
          </p:cNvPr>
          <p:cNvGrpSpPr/>
          <p:nvPr/>
        </p:nvGrpSpPr>
        <p:grpSpPr>
          <a:xfrm>
            <a:off x="6262928" y="266844"/>
            <a:ext cx="5233747" cy="330008"/>
            <a:chOff x="5025390" y="266844"/>
            <a:chExt cx="6259830" cy="330008"/>
          </a:xfrm>
        </p:grpSpPr>
        <p:cxnSp>
          <p:nvCxnSpPr>
            <p:cNvPr id="73" name="直接连接符 72">
              <a:extLst>
                <a:ext uri="{FF2B5EF4-FFF2-40B4-BE49-F238E27FC236}">
                  <a16:creationId xmlns:a16="http://schemas.microsoft.com/office/drawing/2014/main" id="{62FE7A77-FBEB-40AD-82EE-F6D56B4FBED0}"/>
                </a:ext>
              </a:extLst>
            </p:cNvPr>
            <p:cNvCxnSpPr>
              <a:cxnSpLocks/>
            </p:cNvCxnSpPr>
            <p:nvPr/>
          </p:nvCxnSpPr>
          <p:spPr>
            <a:xfrm flipH="1">
              <a:off x="5025390" y="596852"/>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4" name="直接连接符 73">
              <a:extLst>
                <a:ext uri="{FF2B5EF4-FFF2-40B4-BE49-F238E27FC236}">
                  <a16:creationId xmlns:a16="http://schemas.microsoft.com/office/drawing/2014/main" id="{BDD67602-65B0-4D01-8429-E64EE945B436}"/>
                </a:ext>
              </a:extLst>
            </p:cNvPr>
            <p:cNvCxnSpPr>
              <a:cxnSpLocks/>
            </p:cNvCxnSpPr>
            <p:nvPr/>
          </p:nvCxnSpPr>
          <p:spPr>
            <a:xfrm flipH="1">
              <a:off x="5025390" y="514350"/>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5" name="直接连接符 74">
              <a:extLst>
                <a:ext uri="{FF2B5EF4-FFF2-40B4-BE49-F238E27FC236}">
                  <a16:creationId xmlns:a16="http://schemas.microsoft.com/office/drawing/2014/main" id="{56902EF3-DC68-477E-B624-6F39F33A5062}"/>
                </a:ext>
              </a:extLst>
            </p:cNvPr>
            <p:cNvCxnSpPr>
              <a:cxnSpLocks/>
            </p:cNvCxnSpPr>
            <p:nvPr/>
          </p:nvCxnSpPr>
          <p:spPr>
            <a:xfrm flipH="1">
              <a:off x="5025390" y="431848"/>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6" name="直接连接符 75">
              <a:extLst>
                <a:ext uri="{FF2B5EF4-FFF2-40B4-BE49-F238E27FC236}">
                  <a16:creationId xmlns:a16="http://schemas.microsoft.com/office/drawing/2014/main" id="{E5575DC5-6C14-4E47-8549-F414278D7485}"/>
                </a:ext>
              </a:extLst>
            </p:cNvPr>
            <p:cNvCxnSpPr>
              <a:cxnSpLocks/>
            </p:cNvCxnSpPr>
            <p:nvPr/>
          </p:nvCxnSpPr>
          <p:spPr>
            <a:xfrm flipH="1">
              <a:off x="5025390" y="349346"/>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7" name="直接连接符 76">
              <a:extLst>
                <a:ext uri="{FF2B5EF4-FFF2-40B4-BE49-F238E27FC236}">
                  <a16:creationId xmlns:a16="http://schemas.microsoft.com/office/drawing/2014/main" id="{BEA35CD9-8F8F-4991-8A28-0D6749A159AF}"/>
                </a:ext>
              </a:extLst>
            </p:cNvPr>
            <p:cNvCxnSpPr>
              <a:cxnSpLocks/>
            </p:cNvCxnSpPr>
            <p:nvPr/>
          </p:nvCxnSpPr>
          <p:spPr>
            <a:xfrm flipH="1">
              <a:off x="5025390" y="266844"/>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grpSp>
        <p:nvGrpSpPr>
          <p:cNvPr id="78" name="组合 77">
            <a:extLst>
              <a:ext uri="{FF2B5EF4-FFF2-40B4-BE49-F238E27FC236}">
                <a16:creationId xmlns:a16="http://schemas.microsoft.com/office/drawing/2014/main" id="{B708D5A6-F729-4A3B-AFF5-DB02E26819D1}"/>
              </a:ext>
            </a:extLst>
          </p:cNvPr>
          <p:cNvGrpSpPr/>
          <p:nvPr/>
        </p:nvGrpSpPr>
        <p:grpSpPr>
          <a:xfrm>
            <a:off x="0" y="266844"/>
            <a:ext cx="487680" cy="330008"/>
            <a:chOff x="5025390" y="266844"/>
            <a:chExt cx="6259830" cy="330008"/>
          </a:xfrm>
        </p:grpSpPr>
        <p:cxnSp>
          <p:nvCxnSpPr>
            <p:cNvPr id="79" name="直接连接符 78">
              <a:extLst>
                <a:ext uri="{FF2B5EF4-FFF2-40B4-BE49-F238E27FC236}">
                  <a16:creationId xmlns:a16="http://schemas.microsoft.com/office/drawing/2014/main" id="{B16271FF-B014-4D0E-A8FC-14016AE63AC9}"/>
                </a:ext>
              </a:extLst>
            </p:cNvPr>
            <p:cNvCxnSpPr>
              <a:cxnSpLocks/>
            </p:cNvCxnSpPr>
            <p:nvPr/>
          </p:nvCxnSpPr>
          <p:spPr>
            <a:xfrm flipH="1">
              <a:off x="5025390" y="596852"/>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0" name="直接连接符 79">
              <a:extLst>
                <a:ext uri="{FF2B5EF4-FFF2-40B4-BE49-F238E27FC236}">
                  <a16:creationId xmlns:a16="http://schemas.microsoft.com/office/drawing/2014/main" id="{54662351-B9F7-41B8-8DFD-B434997C52AF}"/>
                </a:ext>
              </a:extLst>
            </p:cNvPr>
            <p:cNvCxnSpPr>
              <a:cxnSpLocks/>
            </p:cNvCxnSpPr>
            <p:nvPr/>
          </p:nvCxnSpPr>
          <p:spPr>
            <a:xfrm flipH="1">
              <a:off x="5025390" y="514350"/>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1" name="直接连接符 80">
              <a:extLst>
                <a:ext uri="{FF2B5EF4-FFF2-40B4-BE49-F238E27FC236}">
                  <a16:creationId xmlns:a16="http://schemas.microsoft.com/office/drawing/2014/main" id="{18BB5DB3-4909-47FC-BDD8-8679FC8F7B9D}"/>
                </a:ext>
              </a:extLst>
            </p:cNvPr>
            <p:cNvCxnSpPr>
              <a:cxnSpLocks/>
            </p:cNvCxnSpPr>
            <p:nvPr/>
          </p:nvCxnSpPr>
          <p:spPr>
            <a:xfrm flipH="1">
              <a:off x="5025390" y="431848"/>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2" name="直接连接符 81">
              <a:extLst>
                <a:ext uri="{FF2B5EF4-FFF2-40B4-BE49-F238E27FC236}">
                  <a16:creationId xmlns:a16="http://schemas.microsoft.com/office/drawing/2014/main" id="{7C6A262B-8F87-4AA5-BD4A-55DE84149A06}"/>
                </a:ext>
              </a:extLst>
            </p:cNvPr>
            <p:cNvCxnSpPr>
              <a:cxnSpLocks/>
            </p:cNvCxnSpPr>
            <p:nvPr/>
          </p:nvCxnSpPr>
          <p:spPr>
            <a:xfrm flipH="1">
              <a:off x="5025390" y="349346"/>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3" name="直接连接符 82">
              <a:extLst>
                <a:ext uri="{FF2B5EF4-FFF2-40B4-BE49-F238E27FC236}">
                  <a16:creationId xmlns:a16="http://schemas.microsoft.com/office/drawing/2014/main" id="{8F8A0811-38B1-462B-8E81-76FB9965A173}"/>
                </a:ext>
              </a:extLst>
            </p:cNvPr>
            <p:cNvCxnSpPr>
              <a:cxnSpLocks/>
            </p:cNvCxnSpPr>
            <p:nvPr/>
          </p:nvCxnSpPr>
          <p:spPr>
            <a:xfrm flipH="1">
              <a:off x="5025390" y="266844"/>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pic>
        <p:nvPicPr>
          <p:cNvPr id="18" name="图片 1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604252" y="168275"/>
            <a:ext cx="520700" cy="520700"/>
          </a:xfrm>
          <a:prstGeom prst="rect">
            <a:avLst/>
          </a:prstGeom>
        </p:spPr>
      </p:pic>
      <p:sp>
        <p:nvSpPr>
          <p:cNvPr id="21" name="文本框 20">
            <a:extLst>
              <a:ext uri="{FF2B5EF4-FFF2-40B4-BE49-F238E27FC236}">
                <a16:creationId xmlns:a16="http://schemas.microsoft.com/office/drawing/2014/main" id="{D7ECBC28-490B-4424-8256-107302341845}"/>
              </a:ext>
            </a:extLst>
          </p:cNvPr>
          <p:cNvSpPr txBox="1"/>
          <p:nvPr/>
        </p:nvSpPr>
        <p:spPr>
          <a:xfrm>
            <a:off x="487680" y="105459"/>
            <a:ext cx="7575006" cy="646331"/>
          </a:xfrm>
          <a:prstGeom prst="rect">
            <a:avLst/>
          </a:prstGeom>
          <a:noFill/>
        </p:spPr>
        <p:txBody>
          <a:bodyPr wrap="square" rtlCol="0">
            <a:spAutoFit/>
          </a:bodyPr>
          <a:lstStyle/>
          <a:p>
            <a:r>
              <a:rPr lang="zh-CN" altLang="en-US" sz="3600" b="1" dirty="0"/>
              <a:t>二</a:t>
            </a:r>
            <a:r>
              <a:rPr lang="en-US" altLang="zh-CN" sz="3600" b="1" dirty="0"/>
              <a:t>.</a:t>
            </a:r>
            <a:r>
              <a:rPr lang="zh-CN" altLang="en-US" sz="3600" b="1" dirty="0"/>
              <a:t> 实验原理</a:t>
            </a:r>
          </a:p>
        </p:txBody>
      </p:sp>
      <p:sp>
        <p:nvSpPr>
          <p:cNvPr id="29" name="文本框 28">
            <a:extLst>
              <a:ext uri="{FF2B5EF4-FFF2-40B4-BE49-F238E27FC236}">
                <a16:creationId xmlns:a16="http://schemas.microsoft.com/office/drawing/2014/main" id="{4030AEA5-270E-4C9C-BC63-C328731922AF}"/>
              </a:ext>
            </a:extLst>
          </p:cNvPr>
          <p:cNvSpPr txBox="1"/>
          <p:nvPr/>
        </p:nvSpPr>
        <p:spPr>
          <a:xfrm>
            <a:off x="11232715" y="6343650"/>
            <a:ext cx="832980" cy="369332"/>
          </a:xfrm>
          <a:prstGeom prst="rect">
            <a:avLst/>
          </a:prstGeom>
          <a:noFill/>
        </p:spPr>
        <p:txBody>
          <a:bodyPr wrap="square" rtlCol="0">
            <a:spAutoFit/>
          </a:bodyPr>
          <a:lstStyle/>
          <a:p>
            <a:r>
              <a:rPr lang="en-US" altLang="zh-CN" dirty="0"/>
              <a:t>4/23</a:t>
            </a:r>
            <a:endParaRPr lang="zh-CN" altLang="en-US" dirty="0"/>
          </a:p>
        </p:txBody>
      </p:sp>
      <p:sp>
        <p:nvSpPr>
          <p:cNvPr id="31" name="矩形 30">
            <a:extLst>
              <a:ext uri="{FF2B5EF4-FFF2-40B4-BE49-F238E27FC236}">
                <a16:creationId xmlns:a16="http://schemas.microsoft.com/office/drawing/2014/main" id="{9F4D5891-E070-4D45-BCDC-5DBE63046CE1}"/>
              </a:ext>
            </a:extLst>
          </p:cNvPr>
          <p:cNvSpPr/>
          <p:nvPr/>
        </p:nvSpPr>
        <p:spPr>
          <a:xfrm>
            <a:off x="288425" y="1273151"/>
            <a:ext cx="11002069" cy="982448"/>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36550" indent="-336550" eaLnBrk="0" hangingPunct="0">
              <a:lnSpc>
                <a:spcPct val="125000"/>
              </a:lnSpc>
              <a:buSzPct val="90000"/>
              <a:buFont typeface="Wingdings" panose="05000000000000000000" pitchFamily="2" charset="2"/>
              <a:buChar char="Ø"/>
            </a:pPr>
            <a:r>
              <a:rPr lang="zh-CN" altLang="en-US" sz="2400" b="1" dirty="0">
                <a:latin typeface="+mn-ea"/>
              </a:rPr>
              <a:t>涡流：当大块金属处于变化的磁场中时，在其内部会感应出电流，这些电流在导体内部自成闭合回路，呈旋涡状流动。</a:t>
            </a:r>
            <a:endParaRPr lang="en-US" altLang="zh-CN" sz="2400" b="1" dirty="0">
              <a:latin typeface="+mn-ea"/>
            </a:endParaRPr>
          </a:p>
        </p:txBody>
      </p:sp>
      <p:grpSp>
        <p:nvGrpSpPr>
          <p:cNvPr id="32" name="组合 31">
            <a:extLst>
              <a:ext uri="{FF2B5EF4-FFF2-40B4-BE49-F238E27FC236}">
                <a16:creationId xmlns:a16="http://schemas.microsoft.com/office/drawing/2014/main" id="{4238A603-20EA-4C93-9314-E4B3F46BB7C5}"/>
              </a:ext>
            </a:extLst>
          </p:cNvPr>
          <p:cNvGrpSpPr/>
          <p:nvPr/>
        </p:nvGrpSpPr>
        <p:grpSpPr>
          <a:xfrm>
            <a:off x="3573456" y="2610155"/>
            <a:ext cx="8330119" cy="2974694"/>
            <a:chOff x="3778437" y="2489159"/>
            <a:chExt cx="8330119" cy="2974694"/>
          </a:xfrm>
        </p:grpSpPr>
        <p:sp>
          <p:nvSpPr>
            <p:cNvPr id="38" name="矩形 37">
              <a:extLst>
                <a:ext uri="{FF2B5EF4-FFF2-40B4-BE49-F238E27FC236}">
                  <a16:creationId xmlns:a16="http://schemas.microsoft.com/office/drawing/2014/main" id="{80597C05-62AC-4C1F-82B3-1660AC60D91C}"/>
                </a:ext>
              </a:extLst>
            </p:cNvPr>
            <p:cNvSpPr/>
            <p:nvPr/>
          </p:nvSpPr>
          <p:spPr>
            <a:xfrm>
              <a:off x="6522471" y="4982470"/>
              <a:ext cx="2303601" cy="449418"/>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0" hangingPunct="0">
                <a:lnSpc>
                  <a:spcPct val="125000"/>
                </a:lnSpc>
                <a:buSzPct val="90000"/>
              </a:pPr>
              <a:r>
                <a:rPr lang="zh-CN" altLang="en-US" sz="2000" dirty="0">
                  <a:latin typeface="+mn-ea"/>
                </a:rPr>
                <a:t>感应冶炼炉</a:t>
              </a:r>
              <a:endParaRPr lang="zh-CN" altLang="zh-CN" sz="2000" dirty="0">
                <a:solidFill>
                  <a:srgbClr val="FF0000"/>
                </a:solidFill>
                <a:latin typeface="+mn-ea"/>
              </a:endParaRPr>
            </a:p>
          </p:txBody>
        </p:sp>
        <p:sp>
          <p:nvSpPr>
            <p:cNvPr id="39" name="矩形 38">
              <a:extLst>
                <a:ext uri="{FF2B5EF4-FFF2-40B4-BE49-F238E27FC236}">
                  <a16:creationId xmlns:a16="http://schemas.microsoft.com/office/drawing/2014/main" id="{31FBF093-C280-4628-8BE4-FB133A80989A}"/>
                </a:ext>
              </a:extLst>
            </p:cNvPr>
            <p:cNvSpPr/>
            <p:nvPr/>
          </p:nvSpPr>
          <p:spPr>
            <a:xfrm>
              <a:off x="4403324" y="5014435"/>
              <a:ext cx="1406529" cy="449418"/>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0" hangingPunct="0">
                <a:lnSpc>
                  <a:spcPct val="125000"/>
                </a:lnSpc>
                <a:buSzPct val="90000"/>
              </a:pPr>
              <a:r>
                <a:rPr lang="zh-CN" altLang="en-US" sz="2000" dirty="0">
                  <a:latin typeface="+mn-ea"/>
                </a:rPr>
                <a:t>电磁炉</a:t>
              </a:r>
              <a:endParaRPr lang="zh-CN" altLang="zh-CN" sz="2000" dirty="0">
                <a:solidFill>
                  <a:srgbClr val="FF0000"/>
                </a:solidFill>
                <a:latin typeface="+mn-ea"/>
              </a:endParaRPr>
            </a:p>
          </p:txBody>
        </p:sp>
        <p:pic>
          <p:nvPicPr>
            <p:cNvPr id="40" name="图片 39">
              <a:extLst>
                <a:ext uri="{FF2B5EF4-FFF2-40B4-BE49-F238E27FC236}">
                  <a16:creationId xmlns:a16="http://schemas.microsoft.com/office/drawing/2014/main" id="{9DCB0EE0-1392-4602-A0FE-02206D9BFA9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70648" y="2801532"/>
              <a:ext cx="2123363" cy="2181098"/>
            </a:xfrm>
            <a:prstGeom prst="rect">
              <a:avLst/>
            </a:prstGeom>
          </p:spPr>
        </p:pic>
        <p:pic>
          <p:nvPicPr>
            <p:cNvPr id="41" name="图片 40">
              <a:extLst>
                <a:ext uri="{FF2B5EF4-FFF2-40B4-BE49-F238E27FC236}">
                  <a16:creationId xmlns:a16="http://schemas.microsoft.com/office/drawing/2014/main" id="{EE93F554-01EA-464C-AA8B-DCF25CA9EDC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778437" y="2822630"/>
              <a:ext cx="2123363" cy="2160000"/>
            </a:xfrm>
            <a:prstGeom prst="rect">
              <a:avLst/>
            </a:prstGeom>
          </p:spPr>
        </p:pic>
        <p:pic>
          <p:nvPicPr>
            <p:cNvPr id="42" name="图片 41">
              <a:extLst>
                <a:ext uri="{FF2B5EF4-FFF2-40B4-BE49-F238E27FC236}">
                  <a16:creationId xmlns:a16="http://schemas.microsoft.com/office/drawing/2014/main" id="{11DB8268-B637-4D81-9F6C-630285062AC5}"/>
                </a:ext>
              </a:extLst>
            </p:cNvPr>
            <p:cNvPicPr/>
            <p:nvPr/>
          </p:nvPicPr>
          <p:blipFill>
            <a:blip r:embed="rId5"/>
            <a:stretch>
              <a:fillRect/>
            </a:stretch>
          </p:blipFill>
          <p:spPr>
            <a:xfrm>
              <a:off x="5440360" y="2777474"/>
              <a:ext cx="114300" cy="177800"/>
            </a:xfrm>
            <a:prstGeom prst="rect">
              <a:avLst/>
            </a:prstGeom>
          </p:spPr>
        </p:pic>
        <p:pic>
          <p:nvPicPr>
            <p:cNvPr id="43" name="图片 42">
              <a:extLst>
                <a:ext uri="{FF2B5EF4-FFF2-40B4-BE49-F238E27FC236}">
                  <a16:creationId xmlns:a16="http://schemas.microsoft.com/office/drawing/2014/main" id="{0FB35AFA-604F-4463-8775-105A4FE0609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907734" y="2489159"/>
              <a:ext cx="2200822" cy="2420350"/>
            </a:xfrm>
            <a:prstGeom prst="rect">
              <a:avLst/>
            </a:prstGeom>
          </p:spPr>
        </p:pic>
        <p:pic>
          <p:nvPicPr>
            <p:cNvPr id="44" name="图片 43">
              <a:extLst>
                <a:ext uri="{FF2B5EF4-FFF2-40B4-BE49-F238E27FC236}">
                  <a16:creationId xmlns:a16="http://schemas.microsoft.com/office/drawing/2014/main" id="{8F3A87B6-75CE-4713-87CA-5D06B352987A}"/>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8276235" y="3041266"/>
              <a:ext cx="1644199" cy="1671704"/>
            </a:xfrm>
            <a:prstGeom prst="rect">
              <a:avLst/>
            </a:prstGeom>
          </p:spPr>
        </p:pic>
        <p:sp>
          <p:nvSpPr>
            <p:cNvPr id="45" name="矩形 44">
              <a:extLst>
                <a:ext uri="{FF2B5EF4-FFF2-40B4-BE49-F238E27FC236}">
                  <a16:creationId xmlns:a16="http://schemas.microsoft.com/office/drawing/2014/main" id="{16C0DE04-50E0-44C5-9880-AC219F208A40}"/>
                </a:ext>
              </a:extLst>
            </p:cNvPr>
            <p:cNvSpPr/>
            <p:nvPr/>
          </p:nvSpPr>
          <p:spPr>
            <a:xfrm>
              <a:off x="8591294" y="4982630"/>
              <a:ext cx="1406529" cy="449418"/>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0" hangingPunct="0">
                <a:lnSpc>
                  <a:spcPct val="125000"/>
                </a:lnSpc>
                <a:buSzPct val="90000"/>
              </a:pPr>
              <a:r>
                <a:rPr lang="zh-CN" altLang="en-US" sz="2000" dirty="0">
                  <a:latin typeface="+mn-ea"/>
                </a:rPr>
                <a:t>安检仪</a:t>
              </a:r>
              <a:endParaRPr lang="zh-CN" altLang="zh-CN" sz="2000" dirty="0">
                <a:latin typeface="+mn-ea"/>
              </a:endParaRPr>
            </a:p>
          </p:txBody>
        </p:sp>
        <p:sp>
          <p:nvSpPr>
            <p:cNvPr id="46" name="矩形 45">
              <a:extLst>
                <a:ext uri="{FF2B5EF4-FFF2-40B4-BE49-F238E27FC236}">
                  <a16:creationId xmlns:a16="http://schemas.microsoft.com/office/drawing/2014/main" id="{F5219B64-9396-42BB-832E-8FB0A1F9D3A1}"/>
                </a:ext>
              </a:extLst>
            </p:cNvPr>
            <p:cNvSpPr/>
            <p:nvPr/>
          </p:nvSpPr>
          <p:spPr>
            <a:xfrm>
              <a:off x="10584160" y="4982630"/>
              <a:ext cx="1406529" cy="449418"/>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0" hangingPunct="0">
                <a:lnSpc>
                  <a:spcPct val="125000"/>
                </a:lnSpc>
                <a:buSzPct val="90000"/>
              </a:pPr>
              <a:r>
                <a:rPr lang="zh-CN" altLang="en-US" sz="2000" dirty="0">
                  <a:latin typeface="+mn-ea"/>
                </a:rPr>
                <a:t>扫雷器</a:t>
              </a:r>
              <a:endParaRPr lang="zh-CN" altLang="zh-CN" sz="2000" dirty="0">
                <a:latin typeface="+mn-ea"/>
              </a:endParaRPr>
            </a:p>
          </p:txBody>
        </p:sp>
      </p:grpSp>
      <p:pic>
        <p:nvPicPr>
          <p:cNvPr id="33" name="图片 32">
            <a:extLst>
              <a:ext uri="{FF2B5EF4-FFF2-40B4-BE49-F238E27FC236}">
                <a16:creationId xmlns:a16="http://schemas.microsoft.com/office/drawing/2014/main" id="{4BCB2B59-E06B-46C0-8D36-B38027496830}"/>
              </a:ext>
            </a:extLst>
          </p:cNvPr>
          <p:cNvPicPr>
            <a:picLocks noChangeAspect="1"/>
          </p:cNvPicPr>
          <p:nvPr/>
        </p:nvPicPr>
        <p:blipFill>
          <a:blip r:embed="rId8"/>
          <a:stretch>
            <a:fillRect/>
          </a:stretch>
        </p:blipFill>
        <p:spPr>
          <a:xfrm>
            <a:off x="870208" y="3026086"/>
            <a:ext cx="1610574" cy="2023200"/>
          </a:xfrm>
          <a:prstGeom prst="rect">
            <a:avLst/>
          </a:prstGeom>
        </p:spPr>
      </p:pic>
      <p:grpSp>
        <p:nvGrpSpPr>
          <p:cNvPr id="34" name="组合 33">
            <a:extLst>
              <a:ext uri="{FF2B5EF4-FFF2-40B4-BE49-F238E27FC236}">
                <a16:creationId xmlns:a16="http://schemas.microsoft.com/office/drawing/2014/main" id="{3B1AB3FE-8205-486B-96C1-4CA9617F7C82}"/>
              </a:ext>
            </a:extLst>
          </p:cNvPr>
          <p:cNvGrpSpPr/>
          <p:nvPr/>
        </p:nvGrpSpPr>
        <p:grpSpPr>
          <a:xfrm>
            <a:off x="1097349" y="3024637"/>
            <a:ext cx="2409013" cy="2528407"/>
            <a:chOff x="1211840" y="2890290"/>
            <a:chExt cx="2409013" cy="2528407"/>
          </a:xfrm>
        </p:grpSpPr>
        <p:sp>
          <p:nvSpPr>
            <p:cNvPr id="36" name="矩形 35">
              <a:extLst>
                <a:ext uri="{FF2B5EF4-FFF2-40B4-BE49-F238E27FC236}">
                  <a16:creationId xmlns:a16="http://schemas.microsoft.com/office/drawing/2014/main" id="{80DA0451-27B8-4EC9-B36C-5C658615405A}"/>
                </a:ext>
              </a:extLst>
            </p:cNvPr>
            <p:cNvSpPr/>
            <p:nvPr/>
          </p:nvSpPr>
          <p:spPr>
            <a:xfrm>
              <a:off x="1317252" y="4969279"/>
              <a:ext cx="2303601" cy="449418"/>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0" hangingPunct="0">
                <a:lnSpc>
                  <a:spcPct val="125000"/>
                </a:lnSpc>
                <a:buSzPct val="90000"/>
              </a:pPr>
              <a:r>
                <a:rPr lang="zh-CN" altLang="en-US" sz="2000" dirty="0">
                  <a:latin typeface="+mn-ea"/>
                </a:rPr>
                <a:t>涡流</a:t>
              </a:r>
              <a:endParaRPr lang="zh-CN" altLang="zh-CN" sz="2000" dirty="0">
                <a:solidFill>
                  <a:srgbClr val="FF0000"/>
                </a:solidFill>
                <a:latin typeface="+mn-ea"/>
              </a:endParaRPr>
            </a:p>
          </p:txBody>
        </p:sp>
        <p:pic>
          <p:nvPicPr>
            <p:cNvPr id="37" name="图片 36">
              <a:extLst>
                <a:ext uri="{FF2B5EF4-FFF2-40B4-BE49-F238E27FC236}">
                  <a16:creationId xmlns:a16="http://schemas.microsoft.com/office/drawing/2014/main" id="{2516A4DB-7A9E-4104-AE5C-81A6AE4D3D8B}"/>
                </a:ext>
              </a:extLst>
            </p:cNvPr>
            <p:cNvPicPr>
              <a:picLocks noChangeAspect="1"/>
            </p:cNvPicPr>
            <p:nvPr/>
          </p:nvPicPr>
          <p:blipFill>
            <a:blip r:embed="rId9"/>
            <a:stretch>
              <a:fillRect/>
            </a:stretch>
          </p:blipFill>
          <p:spPr>
            <a:xfrm>
              <a:off x="1211840" y="2890290"/>
              <a:ext cx="1108386" cy="1976400"/>
            </a:xfrm>
            <a:prstGeom prst="rect">
              <a:avLst/>
            </a:prstGeom>
          </p:spPr>
        </p:pic>
      </p:grpSp>
      <p:pic>
        <p:nvPicPr>
          <p:cNvPr id="35" name="图片 34">
            <a:extLst>
              <a:ext uri="{FF2B5EF4-FFF2-40B4-BE49-F238E27FC236}">
                <a16:creationId xmlns:a16="http://schemas.microsoft.com/office/drawing/2014/main" id="{B4076CE7-9A74-4178-90E1-D50BAFADAE0B}"/>
              </a:ext>
            </a:extLst>
          </p:cNvPr>
          <p:cNvPicPr>
            <a:picLocks noChangeAspect="1"/>
          </p:cNvPicPr>
          <p:nvPr/>
        </p:nvPicPr>
        <p:blipFill>
          <a:blip r:embed="rId10"/>
          <a:stretch>
            <a:fillRect/>
          </a:stretch>
        </p:blipFill>
        <p:spPr>
          <a:xfrm>
            <a:off x="831434" y="3305135"/>
            <a:ext cx="2418309" cy="1296000"/>
          </a:xfrm>
          <a:prstGeom prst="rect">
            <a:avLst/>
          </a:prstGeom>
        </p:spPr>
      </p:pic>
    </p:spTree>
    <p:extLst>
      <p:ext uri="{BB962C8B-B14F-4D97-AF65-F5344CB8AC3E}">
        <p14:creationId xmlns:p14="http://schemas.microsoft.com/office/powerpoint/2010/main" val="42797865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2" name="组合 71">
            <a:extLst>
              <a:ext uri="{FF2B5EF4-FFF2-40B4-BE49-F238E27FC236}">
                <a16:creationId xmlns:a16="http://schemas.microsoft.com/office/drawing/2014/main" id="{B755887D-06B2-49C8-A78A-151A32DBE229}"/>
              </a:ext>
            </a:extLst>
          </p:cNvPr>
          <p:cNvGrpSpPr/>
          <p:nvPr/>
        </p:nvGrpSpPr>
        <p:grpSpPr>
          <a:xfrm>
            <a:off x="6262928" y="266844"/>
            <a:ext cx="5233747" cy="330008"/>
            <a:chOff x="5025390" y="266844"/>
            <a:chExt cx="6259830" cy="330008"/>
          </a:xfrm>
        </p:grpSpPr>
        <p:cxnSp>
          <p:nvCxnSpPr>
            <p:cNvPr id="73" name="直接连接符 72">
              <a:extLst>
                <a:ext uri="{FF2B5EF4-FFF2-40B4-BE49-F238E27FC236}">
                  <a16:creationId xmlns:a16="http://schemas.microsoft.com/office/drawing/2014/main" id="{62FE7A77-FBEB-40AD-82EE-F6D56B4FBED0}"/>
                </a:ext>
              </a:extLst>
            </p:cNvPr>
            <p:cNvCxnSpPr>
              <a:cxnSpLocks/>
            </p:cNvCxnSpPr>
            <p:nvPr/>
          </p:nvCxnSpPr>
          <p:spPr>
            <a:xfrm flipH="1">
              <a:off x="5025390" y="596852"/>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4" name="直接连接符 73">
              <a:extLst>
                <a:ext uri="{FF2B5EF4-FFF2-40B4-BE49-F238E27FC236}">
                  <a16:creationId xmlns:a16="http://schemas.microsoft.com/office/drawing/2014/main" id="{BDD67602-65B0-4D01-8429-E64EE945B436}"/>
                </a:ext>
              </a:extLst>
            </p:cNvPr>
            <p:cNvCxnSpPr>
              <a:cxnSpLocks/>
            </p:cNvCxnSpPr>
            <p:nvPr/>
          </p:nvCxnSpPr>
          <p:spPr>
            <a:xfrm flipH="1">
              <a:off x="5025390" y="514350"/>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5" name="直接连接符 74">
              <a:extLst>
                <a:ext uri="{FF2B5EF4-FFF2-40B4-BE49-F238E27FC236}">
                  <a16:creationId xmlns:a16="http://schemas.microsoft.com/office/drawing/2014/main" id="{56902EF3-DC68-477E-B624-6F39F33A5062}"/>
                </a:ext>
              </a:extLst>
            </p:cNvPr>
            <p:cNvCxnSpPr>
              <a:cxnSpLocks/>
            </p:cNvCxnSpPr>
            <p:nvPr/>
          </p:nvCxnSpPr>
          <p:spPr>
            <a:xfrm flipH="1">
              <a:off x="5025390" y="431848"/>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6" name="直接连接符 75">
              <a:extLst>
                <a:ext uri="{FF2B5EF4-FFF2-40B4-BE49-F238E27FC236}">
                  <a16:creationId xmlns:a16="http://schemas.microsoft.com/office/drawing/2014/main" id="{E5575DC5-6C14-4E47-8549-F414278D7485}"/>
                </a:ext>
              </a:extLst>
            </p:cNvPr>
            <p:cNvCxnSpPr>
              <a:cxnSpLocks/>
            </p:cNvCxnSpPr>
            <p:nvPr/>
          </p:nvCxnSpPr>
          <p:spPr>
            <a:xfrm flipH="1">
              <a:off x="5025390" y="349346"/>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7" name="直接连接符 76">
              <a:extLst>
                <a:ext uri="{FF2B5EF4-FFF2-40B4-BE49-F238E27FC236}">
                  <a16:creationId xmlns:a16="http://schemas.microsoft.com/office/drawing/2014/main" id="{BEA35CD9-8F8F-4991-8A28-0D6749A159AF}"/>
                </a:ext>
              </a:extLst>
            </p:cNvPr>
            <p:cNvCxnSpPr>
              <a:cxnSpLocks/>
            </p:cNvCxnSpPr>
            <p:nvPr/>
          </p:nvCxnSpPr>
          <p:spPr>
            <a:xfrm flipH="1">
              <a:off x="5025390" y="266844"/>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grpSp>
        <p:nvGrpSpPr>
          <p:cNvPr id="78" name="组合 77">
            <a:extLst>
              <a:ext uri="{FF2B5EF4-FFF2-40B4-BE49-F238E27FC236}">
                <a16:creationId xmlns:a16="http://schemas.microsoft.com/office/drawing/2014/main" id="{B708D5A6-F729-4A3B-AFF5-DB02E26819D1}"/>
              </a:ext>
            </a:extLst>
          </p:cNvPr>
          <p:cNvGrpSpPr/>
          <p:nvPr/>
        </p:nvGrpSpPr>
        <p:grpSpPr>
          <a:xfrm>
            <a:off x="0" y="266844"/>
            <a:ext cx="487680" cy="330008"/>
            <a:chOff x="5025390" y="266844"/>
            <a:chExt cx="6259830" cy="330008"/>
          </a:xfrm>
        </p:grpSpPr>
        <p:cxnSp>
          <p:nvCxnSpPr>
            <p:cNvPr id="79" name="直接连接符 78">
              <a:extLst>
                <a:ext uri="{FF2B5EF4-FFF2-40B4-BE49-F238E27FC236}">
                  <a16:creationId xmlns:a16="http://schemas.microsoft.com/office/drawing/2014/main" id="{B16271FF-B014-4D0E-A8FC-14016AE63AC9}"/>
                </a:ext>
              </a:extLst>
            </p:cNvPr>
            <p:cNvCxnSpPr>
              <a:cxnSpLocks/>
            </p:cNvCxnSpPr>
            <p:nvPr/>
          </p:nvCxnSpPr>
          <p:spPr>
            <a:xfrm flipH="1">
              <a:off x="5025390" y="596852"/>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0" name="直接连接符 79">
              <a:extLst>
                <a:ext uri="{FF2B5EF4-FFF2-40B4-BE49-F238E27FC236}">
                  <a16:creationId xmlns:a16="http://schemas.microsoft.com/office/drawing/2014/main" id="{54662351-B9F7-41B8-8DFD-B434997C52AF}"/>
                </a:ext>
              </a:extLst>
            </p:cNvPr>
            <p:cNvCxnSpPr>
              <a:cxnSpLocks/>
            </p:cNvCxnSpPr>
            <p:nvPr/>
          </p:nvCxnSpPr>
          <p:spPr>
            <a:xfrm flipH="1">
              <a:off x="5025390" y="514350"/>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1" name="直接连接符 80">
              <a:extLst>
                <a:ext uri="{FF2B5EF4-FFF2-40B4-BE49-F238E27FC236}">
                  <a16:creationId xmlns:a16="http://schemas.microsoft.com/office/drawing/2014/main" id="{18BB5DB3-4909-47FC-BDD8-8679FC8F7B9D}"/>
                </a:ext>
              </a:extLst>
            </p:cNvPr>
            <p:cNvCxnSpPr>
              <a:cxnSpLocks/>
            </p:cNvCxnSpPr>
            <p:nvPr/>
          </p:nvCxnSpPr>
          <p:spPr>
            <a:xfrm flipH="1">
              <a:off x="5025390" y="431848"/>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2" name="直接连接符 81">
              <a:extLst>
                <a:ext uri="{FF2B5EF4-FFF2-40B4-BE49-F238E27FC236}">
                  <a16:creationId xmlns:a16="http://schemas.microsoft.com/office/drawing/2014/main" id="{7C6A262B-8F87-4AA5-BD4A-55DE84149A06}"/>
                </a:ext>
              </a:extLst>
            </p:cNvPr>
            <p:cNvCxnSpPr>
              <a:cxnSpLocks/>
            </p:cNvCxnSpPr>
            <p:nvPr/>
          </p:nvCxnSpPr>
          <p:spPr>
            <a:xfrm flipH="1">
              <a:off x="5025390" y="349346"/>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3" name="直接连接符 82">
              <a:extLst>
                <a:ext uri="{FF2B5EF4-FFF2-40B4-BE49-F238E27FC236}">
                  <a16:creationId xmlns:a16="http://schemas.microsoft.com/office/drawing/2014/main" id="{8F8A0811-38B1-462B-8E81-76FB9965A173}"/>
                </a:ext>
              </a:extLst>
            </p:cNvPr>
            <p:cNvCxnSpPr>
              <a:cxnSpLocks/>
            </p:cNvCxnSpPr>
            <p:nvPr/>
          </p:nvCxnSpPr>
          <p:spPr>
            <a:xfrm flipH="1">
              <a:off x="5025390" y="266844"/>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pic>
        <p:nvPicPr>
          <p:cNvPr id="18" name="图片 1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604252" y="168275"/>
            <a:ext cx="520700" cy="520700"/>
          </a:xfrm>
          <a:prstGeom prst="rect">
            <a:avLst/>
          </a:prstGeom>
        </p:spPr>
      </p:pic>
      <p:sp>
        <p:nvSpPr>
          <p:cNvPr id="25" name="文本框 24">
            <a:extLst>
              <a:ext uri="{FF2B5EF4-FFF2-40B4-BE49-F238E27FC236}">
                <a16:creationId xmlns:a16="http://schemas.microsoft.com/office/drawing/2014/main" id="{6A93ADA9-ABD0-4AD4-8C06-F187F5AB4611}"/>
              </a:ext>
            </a:extLst>
          </p:cNvPr>
          <p:cNvSpPr txBox="1"/>
          <p:nvPr/>
        </p:nvSpPr>
        <p:spPr>
          <a:xfrm>
            <a:off x="487680" y="105459"/>
            <a:ext cx="7575006" cy="646331"/>
          </a:xfrm>
          <a:prstGeom prst="rect">
            <a:avLst/>
          </a:prstGeom>
          <a:noFill/>
        </p:spPr>
        <p:txBody>
          <a:bodyPr wrap="square" rtlCol="0">
            <a:spAutoFit/>
          </a:bodyPr>
          <a:lstStyle/>
          <a:p>
            <a:r>
              <a:rPr lang="zh-CN" altLang="en-US" sz="3600" b="1" dirty="0"/>
              <a:t>三</a:t>
            </a:r>
            <a:r>
              <a:rPr lang="en-US" altLang="zh-CN" sz="3600" b="1" dirty="0"/>
              <a:t>.</a:t>
            </a:r>
            <a:r>
              <a:rPr lang="zh-CN" altLang="en-US" sz="3600" b="1" dirty="0"/>
              <a:t> 实验内容</a:t>
            </a:r>
          </a:p>
        </p:txBody>
      </p:sp>
      <p:sp>
        <p:nvSpPr>
          <p:cNvPr id="35" name="文本框 1">
            <a:extLst>
              <a:ext uri="{FF2B5EF4-FFF2-40B4-BE49-F238E27FC236}">
                <a16:creationId xmlns:a16="http://schemas.microsoft.com/office/drawing/2014/main" id="{13D77590-6856-43FF-A85F-FDAFBB35AE85}"/>
              </a:ext>
            </a:extLst>
          </p:cNvPr>
          <p:cNvSpPr txBox="1"/>
          <p:nvPr/>
        </p:nvSpPr>
        <p:spPr>
          <a:xfrm>
            <a:off x="11291972" y="6320393"/>
            <a:ext cx="832980"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dirty="0"/>
              <a:t>5/23</a:t>
            </a:r>
            <a:endParaRPr lang="zh-CN" altLang="en-US" dirty="0"/>
          </a:p>
        </p:txBody>
      </p:sp>
      <p:sp>
        <p:nvSpPr>
          <p:cNvPr id="33" name="文本框 32">
            <a:extLst>
              <a:ext uri="{FF2B5EF4-FFF2-40B4-BE49-F238E27FC236}">
                <a16:creationId xmlns:a16="http://schemas.microsoft.com/office/drawing/2014/main" id="{02C4357E-4EDE-4CB7-A7BE-C10E3301C78A}"/>
              </a:ext>
            </a:extLst>
          </p:cNvPr>
          <p:cNvSpPr txBox="1"/>
          <p:nvPr/>
        </p:nvSpPr>
        <p:spPr>
          <a:xfrm>
            <a:off x="487680" y="1037550"/>
            <a:ext cx="11974285" cy="369332"/>
          </a:xfrm>
          <a:prstGeom prst="rect">
            <a:avLst/>
          </a:prstGeom>
          <a:noFill/>
        </p:spPr>
        <p:txBody>
          <a:bodyPr wrap="square">
            <a:spAutoFit/>
          </a:bodyPr>
          <a:lstStyle/>
          <a:p>
            <a:pPr indent="266700"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实验室提供两种线圈参数，参数分别如表</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1</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所示。图</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1</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所示为线圈</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和</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铁棒、不同尺寸的铝环</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铁环。</a:t>
            </a:r>
          </a:p>
        </p:txBody>
      </p:sp>
      <p:sp>
        <p:nvSpPr>
          <p:cNvPr id="34" name="文本框 33">
            <a:extLst>
              <a:ext uri="{FF2B5EF4-FFF2-40B4-BE49-F238E27FC236}">
                <a16:creationId xmlns:a16="http://schemas.microsoft.com/office/drawing/2014/main" id="{70326D8F-3A7D-4A1D-91D0-F5070317556D}"/>
              </a:ext>
            </a:extLst>
          </p:cNvPr>
          <p:cNvSpPr txBox="1"/>
          <p:nvPr/>
        </p:nvSpPr>
        <p:spPr>
          <a:xfrm>
            <a:off x="2527301" y="1560749"/>
            <a:ext cx="6230256" cy="369332"/>
          </a:xfrm>
          <a:prstGeom prst="rect">
            <a:avLst/>
          </a:prstGeom>
          <a:noFill/>
        </p:spPr>
        <p:txBody>
          <a:bodyPr wrap="square">
            <a:spAutoFit/>
          </a:bodyPr>
          <a:lstStyle/>
          <a:p>
            <a:pPr algn="ct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表</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1 </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线圈</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zh-CN" altLang="en-US" kern="100" dirty="0">
                <a:latin typeface="等线" panose="02010600030101010101" pitchFamily="2" charset="-122"/>
                <a:ea typeface="等线" panose="02010600030101010101" pitchFamily="2" charset="-122"/>
                <a:cs typeface="Times New Roman" panose="02020603050405020304" pitchFamily="18" charset="0"/>
              </a:rPr>
              <a:t>铁棒等</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参数</a:t>
            </a:r>
          </a:p>
        </p:txBody>
      </p:sp>
      <p:graphicFrame>
        <p:nvGraphicFramePr>
          <p:cNvPr id="4" name="表格 3">
            <a:extLst>
              <a:ext uri="{FF2B5EF4-FFF2-40B4-BE49-F238E27FC236}">
                <a16:creationId xmlns:a16="http://schemas.microsoft.com/office/drawing/2014/main" id="{39B99940-6A03-4292-9D94-C75BA18926B5}"/>
              </a:ext>
            </a:extLst>
          </p:cNvPr>
          <p:cNvGraphicFramePr>
            <a:graphicFrameLocks noGrp="1"/>
          </p:cNvGraphicFramePr>
          <p:nvPr>
            <p:extLst>
              <p:ext uri="{D42A27DB-BD31-4B8C-83A1-F6EECF244321}">
                <p14:modId xmlns:p14="http://schemas.microsoft.com/office/powerpoint/2010/main" val="2634888627"/>
              </p:ext>
            </p:extLst>
          </p:nvPr>
        </p:nvGraphicFramePr>
        <p:xfrm>
          <a:off x="1066981" y="1930081"/>
          <a:ext cx="9150895" cy="2110141"/>
        </p:xfrm>
        <a:graphic>
          <a:graphicData uri="http://schemas.openxmlformats.org/drawingml/2006/table">
            <a:tbl>
              <a:tblPr firstRow="1" firstCol="1" bandRow="1">
                <a:tableStyleId>{5C22544A-7EE6-4342-B048-85BDC9FD1C3A}</a:tableStyleId>
              </a:tblPr>
              <a:tblGrid>
                <a:gridCol w="3149205">
                  <a:extLst>
                    <a:ext uri="{9D8B030D-6E8A-4147-A177-3AD203B41FA5}">
                      <a16:colId xmlns:a16="http://schemas.microsoft.com/office/drawing/2014/main" val="1941507005"/>
                    </a:ext>
                  </a:extLst>
                </a:gridCol>
                <a:gridCol w="3150308">
                  <a:extLst>
                    <a:ext uri="{9D8B030D-6E8A-4147-A177-3AD203B41FA5}">
                      <a16:colId xmlns:a16="http://schemas.microsoft.com/office/drawing/2014/main" val="870156764"/>
                    </a:ext>
                  </a:extLst>
                </a:gridCol>
                <a:gridCol w="2851382">
                  <a:extLst>
                    <a:ext uri="{9D8B030D-6E8A-4147-A177-3AD203B41FA5}">
                      <a16:colId xmlns:a16="http://schemas.microsoft.com/office/drawing/2014/main" val="2414050377"/>
                    </a:ext>
                  </a:extLst>
                </a:gridCol>
              </a:tblGrid>
              <a:tr h="519261">
                <a:tc>
                  <a:txBody>
                    <a:bodyPr/>
                    <a:lstStyle/>
                    <a:p>
                      <a:pPr algn="ctr"/>
                      <a:r>
                        <a:rPr lang="zh-CN" sz="1800" kern="100" dirty="0">
                          <a:effectLst/>
                        </a:rPr>
                        <a:t>第一种线圈参数</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r>
                        <a:rPr lang="zh-CN" sz="1800" kern="100" dirty="0">
                          <a:effectLst/>
                        </a:rPr>
                        <a:t>第二种线圈参数</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r>
                        <a:rPr lang="zh-CN" sz="1800" kern="100" dirty="0">
                          <a:effectLst/>
                        </a:rPr>
                        <a:t>铁棒和铝环参数</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720804782"/>
                  </a:ext>
                </a:extLst>
              </a:tr>
              <a:tr h="1590880">
                <a:tc>
                  <a:txBody>
                    <a:bodyPr/>
                    <a:lstStyle/>
                    <a:p>
                      <a:pPr algn="ctr"/>
                      <a:r>
                        <a:rPr lang="zh-CN" sz="1800" b="0" kern="100" dirty="0">
                          <a:solidFill>
                            <a:schemeClr val="tx1"/>
                          </a:solidFill>
                          <a:effectLst/>
                        </a:rPr>
                        <a:t>线圈内直径：</a:t>
                      </a:r>
                      <a:r>
                        <a:rPr lang="en-US" sz="1800" b="0" kern="100" dirty="0">
                          <a:solidFill>
                            <a:schemeClr val="tx1"/>
                          </a:solidFill>
                          <a:effectLst/>
                        </a:rPr>
                        <a:t>30mm</a:t>
                      </a:r>
                      <a:endParaRPr lang="zh-CN" sz="1800" b="0" kern="100" dirty="0">
                        <a:solidFill>
                          <a:schemeClr val="tx1"/>
                        </a:solidFill>
                        <a:effectLst/>
                      </a:endParaRPr>
                    </a:p>
                    <a:p>
                      <a:pPr algn="ctr"/>
                      <a:r>
                        <a:rPr lang="zh-CN" sz="1800" b="0" kern="100" dirty="0">
                          <a:solidFill>
                            <a:schemeClr val="tx1"/>
                          </a:solidFill>
                          <a:effectLst/>
                        </a:rPr>
                        <a:t>线圈外直径：</a:t>
                      </a:r>
                      <a:r>
                        <a:rPr lang="en-US" sz="1800" b="0" kern="100" dirty="0">
                          <a:solidFill>
                            <a:schemeClr val="tx1"/>
                          </a:solidFill>
                          <a:effectLst/>
                        </a:rPr>
                        <a:t>120mm</a:t>
                      </a:r>
                      <a:endParaRPr lang="zh-CN" sz="1800" b="0" kern="100" dirty="0">
                        <a:solidFill>
                          <a:schemeClr val="tx1"/>
                        </a:solidFill>
                        <a:effectLst/>
                      </a:endParaRPr>
                    </a:p>
                    <a:p>
                      <a:pPr algn="ctr"/>
                      <a:r>
                        <a:rPr lang="zh-CN" sz="1800" b="0" kern="100" dirty="0">
                          <a:solidFill>
                            <a:schemeClr val="tx1"/>
                          </a:solidFill>
                          <a:effectLst/>
                        </a:rPr>
                        <a:t>线圈高度：</a:t>
                      </a:r>
                      <a:r>
                        <a:rPr lang="en-US" sz="1800" b="0" kern="100" dirty="0">
                          <a:solidFill>
                            <a:schemeClr val="tx1"/>
                          </a:solidFill>
                          <a:effectLst/>
                        </a:rPr>
                        <a:t>70mm</a:t>
                      </a:r>
                      <a:endParaRPr lang="zh-CN" sz="1800" b="0" kern="100" dirty="0">
                        <a:solidFill>
                          <a:schemeClr val="tx1"/>
                        </a:solidFill>
                        <a:effectLst/>
                      </a:endParaRPr>
                    </a:p>
                    <a:p>
                      <a:pPr algn="ctr"/>
                      <a:r>
                        <a:rPr lang="zh-CN" sz="1800" b="0" kern="100" dirty="0">
                          <a:solidFill>
                            <a:schemeClr val="tx1"/>
                          </a:solidFill>
                          <a:effectLst/>
                        </a:rPr>
                        <a:t>线径（直径）：</a:t>
                      </a:r>
                      <a:r>
                        <a:rPr lang="en-US" sz="1800" b="0" kern="100" dirty="0">
                          <a:solidFill>
                            <a:schemeClr val="tx1"/>
                          </a:solidFill>
                          <a:effectLst/>
                        </a:rPr>
                        <a:t>2mm</a:t>
                      </a:r>
                      <a:endParaRPr lang="zh-CN" sz="1800" b="0" kern="100" dirty="0">
                        <a:solidFill>
                          <a:schemeClr val="tx1"/>
                        </a:solidFill>
                        <a:effectLst/>
                      </a:endParaRPr>
                    </a:p>
                    <a:p>
                      <a:pPr algn="ctr"/>
                      <a:r>
                        <a:rPr lang="zh-CN" sz="1800" b="0" kern="100" dirty="0">
                          <a:solidFill>
                            <a:schemeClr val="tx1"/>
                          </a:solidFill>
                          <a:effectLst/>
                        </a:rPr>
                        <a:t>匝数：</a:t>
                      </a:r>
                      <a:r>
                        <a:rPr lang="en-US" sz="1800" b="0" kern="100" dirty="0">
                          <a:solidFill>
                            <a:schemeClr val="tx1"/>
                          </a:solidFill>
                          <a:effectLst/>
                        </a:rPr>
                        <a:t>730</a:t>
                      </a:r>
                      <a:r>
                        <a:rPr lang="zh-CN" sz="1800" b="0" kern="100" dirty="0">
                          <a:solidFill>
                            <a:schemeClr val="tx1"/>
                          </a:solidFill>
                          <a:effectLst/>
                        </a:rPr>
                        <a:t>匝</a:t>
                      </a:r>
                      <a:endParaRPr lang="zh-CN" sz="1800" b="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solidFill>
                      <a:schemeClr val="accent1">
                        <a:lumMod val="20000"/>
                        <a:lumOff val="80000"/>
                      </a:schemeClr>
                    </a:solidFill>
                  </a:tcPr>
                </a:tc>
                <a:tc>
                  <a:txBody>
                    <a:bodyPr/>
                    <a:lstStyle/>
                    <a:p>
                      <a:pPr algn="ctr"/>
                      <a:r>
                        <a:rPr lang="zh-CN" sz="1800" kern="100" dirty="0">
                          <a:effectLst/>
                        </a:rPr>
                        <a:t>线圈内直径：</a:t>
                      </a:r>
                      <a:r>
                        <a:rPr lang="en-US" sz="1800" kern="100" dirty="0">
                          <a:effectLst/>
                        </a:rPr>
                        <a:t>30mm</a:t>
                      </a:r>
                      <a:endParaRPr lang="zh-CN" sz="1800" kern="100" dirty="0">
                        <a:effectLst/>
                      </a:endParaRPr>
                    </a:p>
                    <a:p>
                      <a:pPr algn="ctr"/>
                      <a:r>
                        <a:rPr lang="zh-CN" sz="1800" kern="100" dirty="0">
                          <a:effectLst/>
                        </a:rPr>
                        <a:t>线圈外直径：</a:t>
                      </a:r>
                      <a:r>
                        <a:rPr lang="en-US" sz="1800" kern="100" dirty="0">
                          <a:effectLst/>
                        </a:rPr>
                        <a:t>136mm</a:t>
                      </a:r>
                      <a:endParaRPr lang="zh-CN" sz="1800" kern="100" dirty="0">
                        <a:effectLst/>
                      </a:endParaRPr>
                    </a:p>
                    <a:p>
                      <a:pPr algn="ctr"/>
                      <a:r>
                        <a:rPr lang="zh-CN" sz="1800" kern="100" dirty="0">
                          <a:effectLst/>
                        </a:rPr>
                        <a:t>线圈高度：</a:t>
                      </a:r>
                      <a:r>
                        <a:rPr lang="en-US" sz="1800" kern="100" dirty="0">
                          <a:effectLst/>
                        </a:rPr>
                        <a:t>70mm</a:t>
                      </a:r>
                      <a:endParaRPr lang="zh-CN" sz="1800" kern="100" dirty="0">
                        <a:effectLst/>
                      </a:endParaRPr>
                    </a:p>
                    <a:p>
                      <a:pPr algn="ctr"/>
                      <a:r>
                        <a:rPr lang="zh-CN" sz="1800" kern="100" dirty="0">
                          <a:effectLst/>
                        </a:rPr>
                        <a:t>线径（直径）：</a:t>
                      </a:r>
                      <a:r>
                        <a:rPr lang="en-US" sz="1800" kern="100" dirty="0">
                          <a:effectLst/>
                        </a:rPr>
                        <a:t>3mm</a:t>
                      </a:r>
                      <a:endParaRPr lang="zh-CN" sz="1800" kern="100" dirty="0">
                        <a:effectLst/>
                      </a:endParaRPr>
                    </a:p>
                    <a:p>
                      <a:pPr algn="ctr"/>
                      <a:r>
                        <a:rPr lang="zh-CN" sz="1800" kern="100" dirty="0">
                          <a:effectLst/>
                        </a:rPr>
                        <a:t>匝数：</a:t>
                      </a:r>
                      <a:r>
                        <a:rPr lang="en-US" sz="1800" kern="100" dirty="0">
                          <a:effectLst/>
                        </a:rPr>
                        <a:t>375</a:t>
                      </a:r>
                      <a:r>
                        <a:rPr lang="zh-CN" sz="1800" kern="100" dirty="0">
                          <a:effectLst/>
                        </a:rPr>
                        <a:t>匝</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solidFill>
                      <a:schemeClr val="accent1">
                        <a:lumMod val="20000"/>
                        <a:lumOff val="80000"/>
                      </a:schemeClr>
                    </a:solidFill>
                  </a:tcPr>
                </a:tc>
                <a:tc>
                  <a:txBody>
                    <a:bodyPr/>
                    <a:lstStyle/>
                    <a:p>
                      <a:pPr algn="just"/>
                      <a:r>
                        <a:rPr lang="zh-CN" sz="1800" kern="100" dirty="0">
                          <a:effectLst/>
                        </a:rPr>
                        <a:t>铁棒直径：</a:t>
                      </a:r>
                      <a:r>
                        <a:rPr lang="en-US" sz="1800" kern="100" dirty="0">
                          <a:effectLst/>
                        </a:rPr>
                        <a:t>24mm</a:t>
                      </a:r>
                      <a:endParaRPr lang="zh-CN" sz="1800" kern="100" dirty="0">
                        <a:effectLst/>
                      </a:endParaRPr>
                    </a:p>
                    <a:p>
                      <a:pPr algn="just"/>
                      <a:r>
                        <a:rPr lang="zh-CN" sz="1800" kern="100" dirty="0">
                          <a:effectLst/>
                        </a:rPr>
                        <a:t>铁棒高度：</a:t>
                      </a:r>
                      <a:r>
                        <a:rPr lang="en-US" sz="1800" kern="100" dirty="0">
                          <a:effectLst/>
                        </a:rPr>
                        <a:t>70mm/250mm</a:t>
                      </a:r>
                      <a:endParaRPr lang="zh-CN" sz="1800" kern="100" dirty="0">
                        <a:effectLst/>
                      </a:endParaRPr>
                    </a:p>
                    <a:p>
                      <a:pPr algn="just"/>
                      <a:r>
                        <a:rPr lang="zh-CN" sz="1800" kern="100" dirty="0">
                          <a:effectLst/>
                        </a:rPr>
                        <a:t>铝环内直径：</a:t>
                      </a:r>
                      <a:r>
                        <a:rPr lang="en-US" sz="1800" kern="100" dirty="0">
                          <a:effectLst/>
                        </a:rPr>
                        <a:t>26mm</a:t>
                      </a:r>
                      <a:endParaRPr lang="zh-CN" sz="1800" kern="100" dirty="0">
                        <a:effectLst/>
                      </a:endParaRPr>
                    </a:p>
                    <a:p>
                      <a:pPr algn="just"/>
                      <a:r>
                        <a:rPr lang="zh-CN" sz="1800" kern="100" dirty="0">
                          <a:effectLst/>
                        </a:rPr>
                        <a:t>铝环外直径：</a:t>
                      </a:r>
                      <a:r>
                        <a:rPr lang="en-US" sz="1800" kern="100" dirty="0">
                          <a:effectLst/>
                        </a:rPr>
                        <a:t>40mm</a:t>
                      </a:r>
                      <a:endParaRPr lang="zh-CN" sz="1800" kern="100" dirty="0">
                        <a:effectLst/>
                      </a:endParaRPr>
                    </a:p>
                    <a:p>
                      <a:pPr algn="just"/>
                      <a:r>
                        <a:rPr lang="zh-CN" sz="1800" kern="100" dirty="0">
                          <a:effectLst/>
                        </a:rPr>
                        <a:t>铝环高度：</a:t>
                      </a:r>
                      <a:r>
                        <a:rPr lang="en-US" sz="1800" kern="100" dirty="0">
                          <a:effectLst/>
                        </a:rPr>
                        <a:t>10mm</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solidFill>
                      <a:schemeClr val="accent1">
                        <a:lumMod val="20000"/>
                        <a:lumOff val="80000"/>
                      </a:schemeClr>
                    </a:solidFill>
                  </a:tcPr>
                </a:tc>
                <a:extLst>
                  <a:ext uri="{0D108BD9-81ED-4DB2-BD59-A6C34878D82A}">
                    <a16:rowId xmlns:a16="http://schemas.microsoft.com/office/drawing/2014/main" val="2902130806"/>
                  </a:ext>
                </a:extLst>
              </a:tr>
            </a:tbl>
          </a:graphicData>
        </a:graphic>
      </p:graphicFrame>
      <p:pic>
        <p:nvPicPr>
          <p:cNvPr id="36" name="图片 35">
            <a:extLst>
              <a:ext uri="{FF2B5EF4-FFF2-40B4-BE49-F238E27FC236}">
                <a16:creationId xmlns:a16="http://schemas.microsoft.com/office/drawing/2014/main" id="{B2389C61-1F30-4D8A-B41F-CD5019D8BE4F}"/>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730183" y="4298380"/>
            <a:ext cx="2159635" cy="1619885"/>
          </a:xfrm>
          <a:prstGeom prst="rect">
            <a:avLst/>
          </a:prstGeom>
          <a:noFill/>
          <a:ln>
            <a:noFill/>
          </a:ln>
        </p:spPr>
      </p:pic>
      <p:pic>
        <p:nvPicPr>
          <p:cNvPr id="37" name="图片 36">
            <a:extLst>
              <a:ext uri="{FF2B5EF4-FFF2-40B4-BE49-F238E27FC236}">
                <a16:creationId xmlns:a16="http://schemas.microsoft.com/office/drawing/2014/main" id="{0E59DCD8-1B78-43B4-928E-899488310EAE}"/>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096000" y="4280941"/>
            <a:ext cx="2159635" cy="1619885"/>
          </a:xfrm>
          <a:prstGeom prst="rect">
            <a:avLst/>
          </a:prstGeom>
          <a:noFill/>
          <a:ln>
            <a:noFill/>
          </a:ln>
        </p:spPr>
      </p:pic>
      <p:sp>
        <p:nvSpPr>
          <p:cNvPr id="38" name="文本框 37">
            <a:extLst>
              <a:ext uri="{FF2B5EF4-FFF2-40B4-BE49-F238E27FC236}">
                <a16:creationId xmlns:a16="http://schemas.microsoft.com/office/drawing/2014/main" id="{E0581E72-A4BC-4957-B011-85C0715196ED}"/>
              </a:ext>
            </a:extLst>
          </p:cNvPr>
          <p:cNvSpPr txBox="1"/>
          <p:nvPr/>
        </p:nvSpPr>
        <p:spPr>
          <a:xfrm>
            <a:off x="2447472" y="6158984"/>
            <a:ext cx="6230256" cy="369332"/>
          </a:xfrm>
          <a:prstGeom prst="rect">
            <a:avLst/>
          </a:prstGeom>
          <a:noFill/>
        </p:spPr>
        <p:txBody>
          <a:bodyPr wrap="square">
            <a:spAutoFit/>
          </a:bodyPr>
          <a:lstStyle/>
          <a:p>
            <a:pPr algn="ct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图</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1</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线圈及铁棒、不同尺寸的铝环和铁环</a:t>
            </a:r>
            <a:endPar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479025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文本框 32">
            <a:extLst>
              <a:ext uri="{FF2B5EF4-FFF2-40B4-BE49-F238E27FC236}">
                <a16:creationId xmlns:a16="http://schemas.microsoft.com/office/drawing/2014/main" id="{02C4357E-4EDE-4CB7-A7BE-C10E3301C78A}"/>
              </a:ext>
            </a:extLst>
          </p:cNvPr>
          <p:cNvSpPr txBox="1"/>
          <p:nvPr/>
        </p:nvSpPr>
        <p:spPr>
          <a:xfrm>
            <a:off x="430687" y="877802"/>
            <a:ext cx="11330626" cy="6463308"/>
          </a:xfrm>
          <a:prstGeom prst="rect">
            <a:avLst/>
          </a:prstGeom>
          <a:noFill/>
        </p:spPr>
        <p:txBody>
          <a:bodyPr wrap="square">
            <a:spAutoFit/>
          </a:bodyPr>
          <a:lstStyle/>
          <a:p>
            <a:pPr algn="just">
              <a:lnSpc>
                <a:spcPct val="150000"/>
              </a:lnSpc>
            </a:pPr>
            <a:r>
              <a:rPr lang="zh-CN" altLang="en-US" sz="2000" kern="100" dirty="0">
                <a:latin typeface="等线" panose="02010600030101010101" pitchFamily="2" charset="-122"/>
                <a:ea typeface="等线" panose="02010600030101010101" pitchFamily="2" charset="-122"/>
                <a:cs typeface="Times New Roman" panose="02020603050405020304" pitchFamily="18" charset="0"/>
              </a:rPr>
              <a:t>实验任务：</a:t>
            </a:r>
            <a:endParaRPr lang="en-US" altLang="zh-CN" sz="2000" kern="100" dirty="0">
              <a:effectLst/>
              <a:latin typeface="等线" panose="02010600030101010101" pitchFamily="2" charset="-122"/>
              <a:ea typeface="等线" panose="02010600030101010101" pitchFamily="2" charset="-122"/>
              <a:cs typeface="Times New Roman" panose="02020603050405020304" pitchFamily="18" charset="0"/>
            </a:endParaRPr>
          </a:p>
          <a:p>
            <a:pPr indent="266700" algn="just">
              <a:lnSpc>
                <a:spcPct val="150000"/>
              </a:lnSpc>
            </a:pPr>
            <a:r>
              <a:rPr lang="en-US" altLang="zh-CN" sz="2000" kern="100" dirty="0">
                <a:effectLst/>
                <a:latin typeface="等线" panose="02010600030101010101" pitchFamily="2" charset="-122"/>
                <a:ea typeface="等线" panose="02010600030101010101" pitchFamily="2" charset="-122"/>
                <a:cs typeface="Times New Roman" panose="02020603050405020304" pitchFamily="18" charset="0"/>
              </a:rPr>
              <a:t>(1)</a:t>
            </a:r>
            <a:r>
              <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rPr>
              <a:t>在</a:t>
            </a:r>
            <a:r>
              <a:rPr lang="en-US" altLang="zh-CN" sz="2000" kern="100" dirty="0">
                <a:effectLst/>
                <a:latin typeface="等线" panose="02010600030101010101" pitchFamily="2" charset="-122"/>
                <a:ea typeface="等线" panose="02010600030101010101" pitchFamily="2" charset="-122"/>
                <a:cs typeface="Times New Roman" panose="02020603050405020304" pitchFamily="18" charset="0"/>
              </a:rPr>
              <a:t>ANSYS</a:t>
            </a:r>
            <a:r>
              <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rPr>
              <a:t>中</a:t>
            </a:r>
            <a:r>
              <a:rPr lang="en-US" altLang="zh-CN" sz="2000" kern="100" dirty="0">
                <a:effectLst/>
                <a:latin typeface="等线" panose="02010600030101010101" pitchFamily="2" charset="-122"/>
                <a:ea typeface="等线" panose="02010600030101010101" pitchFamily="2" charset="-122"/>
                <a:cs typeface="Times New Roman" panose="02020603050405020304" pitchFamily="18" charset="0"/>
              </a:rPr>
              <a:t>,</a:t>
            </a:r>
            <a:r>
              <a:rPr lang="zh-CN" altLang="en-US" sz="2000" kern="100" dirty="0">
                <a:effectLst/>
                <a:latin typeface="等线" panose="02010600030101010101" pitchFamily="2" charset="-122"/>
                <a:ea typeface="等线" panose="02010600030101010101" pitchFamily="2" charset="-122"/>
                <a:cs typeface="Times New Roman" panose="02020603050405020304" pitchFamily="18" charset="0"/>
              </a:rPr>
              <a:t>自选一种线圈参数，</a:t>
            </a:r>
            <a:r>
              <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rPr>
              <a:t>给线圈加工频</a:t>
            </a:r>
            <a:r>
              <a:rPr lang="en-US" altLang="zh-CN" sz="2000" kern="100" dirty="0">
                <a:effectLst/>
                <a:latin typeface="等线" panose="02010600030101010101" pitchFamily="2" charset="-122"/>
                <a:ea typeface="等线" panose="02010600030101010101" pitchFamily="2" charset="-122"/>
                <a:cs typeface="Times New Roman" panose="02020603050405020304" pitchFamily="18" charset="0"/>
              </a:rPr>
              <a:t>50Hz</a:t>
            </a:r>
            <a:r>
              <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2000" kern="100" dirty="0">
                <a:effectLst/>
                <a:latin typeface="等线" panose="02010600030101010101" pitchFamily="2" charset="-122"/>
                <a:ea typeface="等线" panose="02010600030101010101" pitchFamily="2" charset="-122"/>
                <a:cs typeface="Times New Roman" panose="02020603050405020304" pitchFamily="18" charset="0"/>
              </a:rPr>
              <a:t>5A</a:t>
            </a:r>
            <a:r>
              <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rPr>
              <a:t>的交流电。</a:t>
            </a:r>
            <a:r>
              <a:rPr lang="zh-CN" altLang="en-US" sz="2000" kern="100" dirty="0">
                <a:effectLst/>
                <a:latin typeface="等线" panose="02010600030101010101" pitchFamily="2" charset="-122"/>
                <a:ea typeface="等线" panose="02010600030101010101" pitchFamily="2" charset="-122"/>
                <a:cs typeface="Times New Roman" panose="02020603050405020304" pitchFamily="18" charset="0"/>
              </a:rPr>
              <a:t>铝环参数（内直径</a:t>
            </a:r>
            <a:r>
              <a:rPr lang="en-US" altLang="zh-CN" sz="2000" kern="100" dirty="0">
                <a:effectLst/>
                <a:latin typeface="等线" panose="02010600030101010101" pitchFamily="2" charset="-122"/>
                <a:ea typeface="等线" panose="02010600030101010101" pitchFamily="2" charset="-122"/>
                <a:cs typeface="Times New Roman" panose="02020603050405020304" pitchFamily="18" charset="0"/>
              </a:rPr>
              <a:t>26</a:t>
            </a:r>
            <a:r>
              <a:rPr lang="en-US" altLang="zh-CN" sz="2000" kern="100" dirty="0">
                <a:latin typeface="等线" panose="02010600030101010101" pitchFamily="2" charset="-122"/>
                <a:ea typeface="等线" panose="02010600030101010101" pitchFamily="2" charset="-122"/>
                <a:cs typeface="Times New Roman" panose="02020603050405020304" pitchFamily="18" charset="0"/>
              </a:rPr>
              <a:t>mm</a:t>
            </a:r>
            <a:r>
              <a:rPr lang="zh-CN" altLang="en-US" sz="2000" kern="100" dirty="0">
                <a:latin typeface="等线" panose="02010600030101010101" pitchFamily="2" charset="-122"/>
                <a:ea typeface="等线" panose="02010600030101010101" pitchFamily="2" charset="-122"/>
                <a:cs typeface="Times New Roman" panose="02020603050405020304" pitchFamily="18" charset="0"/>
              </a:rPr>
              <a:t>，外直径</a:t>
            </a:r>
            <a:r>
              <a:rPr lang="en-US" altLang="zh-CN" sz="2000" kern="100" dirty="0">
                <a:latin typeface="等线" panose="02010600030101010101" pitchFamily="2" charset="-122"/>
                <a:ea typeface="等线" panose="02010600030101010101" pitchFamily="2" charset="-122"/>
                <a:cs typeface="Times New Roman" panose="02020603050405020304" pitchFamily="18" charset="0"/>
              </a:rPr>
              <a:t>40mm</a:t>
            </a:r>
            <a:r>
              <a:rPr lang="zh-CN" altLang="en-US" sz="2000" kern="100" dirty="0">
                <a:latin typeface="等线" panose="02010600030101010101" pitchFamily="2" charset="-122"/>
                <a:ea typeface="等线" panose="02010600030101010101" pitchFamily="2" charset="-122"/>
                <a:cs typeface="Times New Roman" panose="02020603050405020304" pitchFamily="18" charset="0"/>
              </a:rPr>
              <a:t>，高度</a:t>
            </a:r>
            <a:r>
              <a:rPr lang="en-US" altLang="zh-CN" sz="2000" kern="100" dirty="0">
                <a:latin typeface="等线" panose="02010600030101010101" pitchFamily="2" charset="-122"/>
                <a:ea typeface="等线" panose="02010600030101010101" pitchFamily="2" charset="-122"/>
                <a:cs typeface="Times New Roman" panose="02020603050405020304" pitchFamily="18" charset="0"/>
              </a:rPr>
              <a:t>10mm</a:t>
            </a:r>
            <a:r>
              <a:rPr lang="zh-CN" altLang="en-US" sz="2000" kern="100" dirty="0">
                <a:effectLst/>
                <a:latin typeface="等线" panose="02010600030101010101" pitchFamily="2" charset="-122"/>
                <a:ea typeface="等线" panose="02010600030101010101" pitchFamily="2" charset="-122"/>
                <a:cs typeface="Times New Roman" panose="02020603050405020304" pitchFamily="18" charset="0"/>
              </a:rPr>
              <a:t>），</a:t>
            </a:r>
            <a:r>
              <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rPr>
              <a:t>仿真计算铝环子午面的涡流密度分布及铝</a:t>
            </a:r>
            <a:r>
              <a:rPr lang="zh-CN" altLang="en-US" sz="2000" kern="100" dirty="0">
                <a:effectLst/>
                <a:latin typeface="等线" panose="02010600030101010101" pitchFamily="2" charset="-122"/>
                <a:ea typeface="等线" panose="02010600030101010101" pitchFamily="2" charset="-122"/>
                <a:cs typeface="Times New Roman" panose="02020603050405020304" pitchFamily="18" charset="0"/>
              </a:rPr>
              <a:t>环</a:t>
            </a:r>
            <a:r>
              <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rPr>
              <a:t>的受力</a:t>
            </a:r>
            <a:r>
              <a:rPr lang="zh-CN" altLang="en-US" sz="2000" kern="100" dirty="0">
                <a:effectLst/>
                <a:latin typeface="等线" panose="02010600030101010101" pitchFamily="2" charset="-122"/>
                <a:ea typeface="等线" panose="02010600030101010101" pitchFamily="2" charset="-122"/>
                <a:cs typeface="Times New Roman" panose="02020603050405020304" pitchFamily="18" charset="0"/>
              </a:rPr>
              <a:t>，分析铝环是否可以悬浮</a:t>
            </a:r>
            <a:r>
              <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rPr>
              <a:t>。</a:t>
            </a:r>
          </a:p>
          <a:p>
            <a:pPr indent="266700" algn="just">
              <a:lnSpc>
                <a:spcPct val="150000"/>
              </a:lnSpc>
            </a:pPr>
            <a:r>
              <a:rPr lang="en-US" altLang="zh-CN" sz="2000" kern="100" dirty="0">
                <a:effectLst/>
                <a:latin typeface="等线" panose="02010600030101010101" pitchFamily="2" charset="-122"/>
                <a:ea typeface="等线" panose="02010600030101010101" pitchFamily="2" charset="-122"/>
                <a:cs typeface="Times New Roman" panose="02020603050405020304" pitchFamily="18" charset="0"/>
              </a:rPr>
              <a:t>(2)</a:t>
            </a:r>
            <a:r>
              <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rPr>
              <a:t> 采用参数扫描方法分析铝环沿螺线管线圈轴向不同高度时的受力变化，确定铝环能稳恒悬浮的最高位置。</a:t>
            </a:r>
            <a:endParaRPr lang="en-US" altLang="zh-CN" sz="2000" kern="100" dirty="0">
              <a:effectLst/>
              <a:latin typeface="等线" panose="02010600030101010101" pitchFamily="2" charset="-122"/>
              <a:ea typeface="等线" panose="02010600030101010101" pitchFamily="2" charset="-122"/>
              <a:cs typeface="Times New Roman" panose="02020603050405020304" pitchFamily="18" charset="0"/>
            </a:endParaRPr>
          </a:p>
          <a:p>
            <a:pPr indent="266700" algn="just">
              <a:lnSpc>
                <a:spcPct val="150000"/>
              </a:lnSpc>
            </a:pPr>
            <a:r>
              <a:rPr lang="en-US" altLang="zh-CN" sz="2000" kern="100" dirty="0">
                <a:effectLst/>
                <a:latin typeface="等线" panose="02010600030101010101" pitchFamily="2" charset="-122"/>
                <a:ea typeface="等线" panose="02010600030101010101" pitchFamily="2" charset="-122"/>
                <a:cs typeface="Times New Roman" panose="02020603050405020304" pitchFamily="18" charset="0"/>
              </a:rPr>
              <a:t>(3)</a:t>
            </a:r>
            <a:r>
              <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rPr>
              <a:t>若将铝环置换为相同尺寸的铁环</a:t>
            </a:r>
            <a:r>
              <a:rPr lang="en-US" altLang="zh-CN" sz="2000" kern="100" dirty="0">
                <a:effectLst/>
                <a:latin typeface="等线" panose="02010600030101010101" pitchFamily="2" charset="-122"/>
                <a:ea typeface="等线" panose="02010600030101010101" pitchFamily="2" charset="-122"/>
                <a:cs typeface="Times New Roman" panose="02020603050405020304" pitchFamily="18" charset="0"/>
              </a:rPr>
              <a:t>,</a:t>
            </a:r>
            <a:r>
              <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rPr>
              <a:t>仿真分析铁环子午面的涡流密度分布，和铁环能悬浮的最高位置。</a:t>
            </a:r>
          </a:p>
          <a:p>
            <a:pPr indent="266700" algn="just">
              <a:lnSpc>
                <a:spcPct val="150000"/>
              </a:lnSpc>
            </a:pPr>
            <a:r>
              <a:rPr lang="en-US" altLang="zh-CN" sz="2000" kern="100" dirty="0">
                <a:effectLst/>
                <a:latin typeface="等线" panose="02010600030101010101" pitchFamily="2" charset="-122"/>
                <a:ea typeface="等线" panose="02010600030101010101" pitchFamily="2" charset="-122"/>
                <a:cs typeface="Times New Roman" panose="02020603050405020304" pitchFamily="18" charset="0"/>
              </a:rPr>
              <a:t>(4)</a:t>
            </a:r>
            <a:r>
              <a:rPr lang="zh-CN" altLang="en-US" sz="2000" kern="100" dirty="0">
                <a:effectLst/>
                <a:latin typeface="等线" panose="02010600030101010101" pitchFamily="2" charset="-122"/>
                <a:ea typeface="等线" panose="02010600030101010101" pitchFamily="2" charset="-122"/>
                <a:cs typeface="Times New Roman" panose="02020603050405020304" pitchFamily="18" charset="0"/>
              </a:rPr>
              <a:t>建立线圈和铝环的三维模型，并</a:t>
            </a:r>
            <a:r>
              <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rPr>
              <a:t>在铝环上沿轴向开槽，仿真分析铝</a:t>
            </a:r>
            <a:r>
              <a:rPr lang="zh-CN" altLang="en-US" sz="2000" kern="100" dirty="0">
                <a:effectLst/>
                <a:latin typeface="等线" panose="02010600030101010101" pitchFamily="2" charset="-122"/>
                <a:ea typeface="等线" panose="02010600030101010101" pitchFamily="2" charset="-122"/>
                <a:cs typeface="Times New Roman" panose="02020603050405020304" pitchFamily="18" charset="0"/>
              </a:rPr>
              <a:t>环</a:t>
            </a:r>
            <a:r>
              <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rPr>
              <a:t>的涡流密度及受力变化情况，并讨论此时铝</a:t>
            </a:r>
            <a:r>
              <a:rPr lang="zh-CN" altLang="en-US" sz="2000" kern="100" dirty="0">
                <a:effectLst/>
                <a:latin typeface="等线" panose="02010600030101010101" pitchFamily="2" charset="-122"/>
                <a:ea typeface="等线" panose="02010600030101010101" pitchFamily="2" charset="-122"/>
                <a:cs typeface="Times New Roman" panose="02020603050405020304" pitchFamily="18" charset="0"/>
              </a:rPr>
              <a:t>环</a:t>
            </a:r>
            <a:r>
              <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rPr>
              <a:t>能否</a:t>
            </a:r>
            <a:r>
              <a:rPr lang="zh-CN" altLang="en-US" sz="2000" kern="100" dirty="0">
                <a:effectLst/>
                <a:latin typeface="等线" panose="02010600030101010101" pitchFamily="2" charset="-122"/>
                <a:ea typeface="等线" panose="02010600030101010101" pitchFamily="2" charset="-122"/>
                <a:cs typeface="Times New Roman" panose="02020603050405020304" pitchFamily="18" charset="0"/>
              </a:rPr>
              <a:t>悬浮</a:t>
            </a:r>
            <a:r>
              <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rPr>
              <a:t>。</a:t>
            </a:r>
          </a:p>
          <a:p>
            <a:pPr indent="266700" algn="just">
              <a:lnSpc>
                <a:spcPct val="150000"/>
              </a:lnSpc>
            </a:pPr>
            <a:r>
              <a:rPr lang="en-US" altLang="zh-CN" sz="2000" dirty="0">
                <a:effectLst/>
                <a:latin typeface="等线" panose="02010600030101010101" pitchFamily="2" charset="-122"/>
                <a:cs typeface="Times New Roman" panose="02020603050405020304" pitchFamily="18" charset="0"/>
              </a:rPr>
              <a:t>(5)</a:t>
            </a:r>
            <a:r>
              <a:rPr lang="zh-CN" altLang="en-US" sz="2000" dirty="0">
                <a:effectLst/>
                <a:latin typeface="等线" panose="02010600030101010101" pitchFamily="2" charset="-122"/>
                <a:cs typeface="Times New Roman" panose="02020603050405020304" pitchFamily="18" charset="0"/>
              </a:rPr>
              <a:t>（选做）</a:t>
            </a:r>
            <a:r>
              <a:rPr lang="zh-CN" altLang="zh-CN" sz="2000" dirty="0">
                <a:effectLst/>
                <a:ea typeface="等线" panose="02010600030101010101" pitchFamily="2" charset="-122"/>
                <a:cs typeface="Times New Roman" panose="02020603050405020304" pitchFamily="18" charset="0"/>
              </a:rPr>
              <a:t>自行设计铝环</a:t>
            </a:r>
            <a:r>
              <a:rPr lang="en-US" altLang="zh-CN" sz="2000" dirty="0">
                <a:effectLst/>
                <a:ea typeface="等线" panose="02010600030101010101" pitchFamily="2" charset="-122"/>
                <a:cs typeface="Times New Roman" panose="02020603050405020304" pitchFamily="18" charset="0"/>
              </a:rPr>
              <a:t>/</a:t>
            </a:r>
            <a:r>
              <a:rPr lang="zh-CN" altLang="zh-CN" sz="2000" dirty="0">
                <a:effectLst/>
                <a:ea typeface="等线" panose="02010600030101010101" pitchFamily="2" charset="-122"/>
                <a:cs typeface="Times New Roman" panose="02020603050405020304" pitchFamily="18" charset="0"/>
              </a:rPr>
              <a:t>铝盘尺寸，使得铝环</a:t>
            </a:r>
            <a:r>
              <a:rPr lang="en-US" altLang="zh-CN" sz="2000" dirty="0">
                <a:effectLst/>
                <a:ea typeface="等线" panose="02010600030101010101" pitchFamily="2" charset="-122"/>
                <a:cs typeface="Times New Roman" panose="02020603050405020304" pitchFamily="18" charset="0"/>
              </a:rPr>
              <a:t>/</a:t>
            </a:r>
            <a:r>
              <a:rPr lang="zh-CN" altLang="zh-CN" sz="2000" dirty="0">
                <a:effectLst/>
                <a:ea typeface="等线" panose="02010600030101010101" pitchFamily="2" charset="-122"/>
                <a:cs typeface="Times New Roman" panose="02020603050405020304" pitchFamily="18" charset="0"/>
              </a:rPr>
              <a:t>铝盘可以悬浮高度</a:t>
            </a:r>
            <a:r>
              <a:rPr lang="en-US" altLang="zh-CN" sz="2000" dirty="0">
                <a:ea typeface="等线" panose="02010600030101010101" pitchFamily="2" charset="-122"/>
                <a:cs typeface="Times New Roman" panose="02020603050405020304" pitchFamily="18" charset="0"/>
              </a:rPr>
              <a:t>&gt;10mm,</a:t>
            </a:r>
            <a:r>
              <a:rPr lang="zh-CN" altLang="zh-CN" sz="2000" dirty="0">
                <a:effectLst/>
                <a:ea typeface="等线" panose="02010600030101010101" pitchFamily="2" charset="-122"/>
                <a:cs typeface="Times New Roman" panose="02020603050405020304" pitchFamily="18" charset="0"/>
              </a:rPr>
              <a:t> 比一比谁设计的铝环重量更大。</a:t>
            </a:r>
            <a:r>
              <a:rPr lang="zh-CN" altLang="en-US" sz="2000" kern="100" dirty="0">
                <a:latin typeface="等线" panose="02010600030101010101" pitchFamily="2" charset="-122"/>
                <a:ea typeface="等线" panose="02010600030101010101" pitchFamily="2" charset="-122"/>
                <a:cs typeface="Times New Roman" panose="02020603050405020304" pitchFamily="18" charset="0"/>
              </a:rPr>
              <a:t>思考相同重量的铝环，厚度越厚，涡流越大</a:t>
            </a:r>
            <a:r>
              <a:rPr lang="en-US" altLang="zh-CN" sz="2000" kern="100" dirty="0">
                <a:latin typeface="等线" panose="02010600030101010101" pitchFamily="2" charset="-122"/>
                <a:ea typeface="等线" panose="02010600030101010101" pitchFamily="2" charset="-122"/>
                <a:cs typeface="Times New Roman" panose="02020603050405020304" pitchFamily="18" charset="0"/>
              </a:rPr>
              <a:t>/</a:t>
            </a:r>
            <a:r>
              <a:rPr lang="zh-CN" altLang="en-US" sz="2000" kern="100" dirty="0">
                <a:latin typeface="等线" panose="02010600030101010101" pitchFamily="2" charset="-122"/>
                <a:ea typeface="等线" panose="02010600030101010101" pitchFamily="2" charset="-122"/>
                <a:cs typeface="Times New Roman" panose="02020603050405020304" pitchFamily="18" charset="0"/>
              </a:rPr>
              <a:t>小？厚度越薄，涡流越大</a:t>
            </a:r>
            <a:r>
              <a:rPr lang="en-US" altLang="zh-CN" sz="2000" kern="100" dirty="0">
                <a:latin typeface="等线" panose="02010600030101010101" pitchFamily="2" charset="-122"/>
                <a:ea typeface="等线" panose="02010600030101010101" pitchFamily="2" charset="-122"/>
                <a:cs typeface="Times New Roman" panose="02020603050405020304" pitchFamily="18" charset="0"/>
              </a:rPr>
              <a:t>/</a:t>
            </a:r>
            <a:r>
              <a:rPr lang="zh-CN" altLang="en-US" sz="2000" kern="100" dirty="0">
                <a:latin typeface="等线" panose="02010600030101010101" pitchFamily="2" charset="-122"/>
                <a:ea typeface="等线" panose="02010600030101010101" pitchFamily="2" charset="-122"/>
                <a:cs typeface="Times New Roman" panose="02020603050405020304" pitchFamily="18" charset="0"/>
              </a:rPr>
              <a:t>小？</a:t>
            </a:r>
            <a:endPar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indent="266700" algn="just"/>
            <a:endPar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indent="266700" algn="just"/>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indent="266700" algn="just"/>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grpSp>
        <p:nvGrpSpPr>
          <p:cNvPr id="72" name="组合 71">
            <a:extLst>
              <a:ext uri="{FF2B5EF4-FFF2-40B4-BE49-F238E27FC236}">
                <a16:creationId xmlns:a16="http://schemas.microsoft.com/office/drawing/2014/main" id="{B755887D-06B2-49C8-A78A-151A32DBE229}"/>
              </a:ext>
            </a:extLst>
          </p:cNvPr>
          <p:cNvGrpSpPr/>
          <p:nvPr/>
        </p:nvGrpSpPr>
        <p:grpSpPr>
          <a:xfrm>
            <a:off x="6262928" y="266844"/>
            <a:ext cx="5233747" cy="330008"/>
            <a:chOff x="5025390" y="266844"/>
            <a:chExt cx="6259830" cy="330008"/>
          </a:xfrm>
        </p:grpSpPr>
        <p:cxnSp>
          <p:nvCxnSpPr>
            <p:cNvPr id="73" name="直接连接符 72">
              <a:extLst>
                <a:ext uri="{FF2B5EF4-FFF2-40B4-BE49-F238E27FC236}">
                  <a16:creationId xmlns:a16="http://schemas.microsoft.com/office/drawing/2014/main" id="{62FE7A77-FBEB-40AD-82EE-F6D56B4FBED0}"/>
                </a:ext>
              </a:extLst>
            </p:cNvPr>
            <p:cNvCxnSpPr>
              <a:cxnSpLocks/>
            </p:cNvCxnSpPr>
            <p:nvPr/>
          </p:nvCxnSpPr>
          <p:spPr>
            <a:xfrm flipH="1">
              <a:off x="5025390" y="596852"/>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4" name="直接连接符 73">
              <a:extLst>
                <a:ext uri="{FF2B5EF4-FFF2-40B4-BE49-F238E27FC236}">
                  <a16:creationId xmlns:a16="http://schemas.microsoft.com/office/drawing/2014/main" id="{BDD67602-65B0-4D01-8429-E64EE945B436}"/>
                </a:ext>
              </a:extLst>
            </p:cNvPr>
            <p:cNvCxnSpPr>
              <a:cxnSpLocks/>
            </p:cNvCxnSpPr>
            <p:nvPr/>
          </p:nvCxnSpPr>
          <p:spPr>
            <a:xfrm flipH="1">
              <a:off x="5025390" y="514350"/>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5" name="直接连接符 74">
              <a:extLst>
                <a:ext uri="{FF2B5EF4-FFF2-40B4-BE49-F238E27FC236}">
                  <a16:creationId xmlns:a16="http://schemas.microsoft.com/office/drawing/2014/main" id="{56902EF3-DC68-477E-B624-6F39F33A5062}"/>
                </a:ext>
              </a:extLst>
            </p:cNvPr>
            <p:cNvCxnSpPr>
              <a:cxnSpLocks/>
            </p:cNvCxnSpPr>
            <p:nvPr/>
          </p:nvCxnSpPr>
          <p:spPr>
            <a:xfrm flipH="1">
              <a:off x="5025390" y="431848"/>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6" name="直接连接符 75">
              <a:extLst>
                <a:ext uri="{FF2B5EF4-FFF2-40B4-BE49-F238E27FC236}">
                  <a16:creationId xmlns:a16="http://schemas.microsoft.com/office/drawing/2014/main" id="{E5575DC5-6C14-4E47-8549-F414278D7485}"/>
                </a:ext>
              </a:extLst>
            </p:cNvPr>
            <p:cNvCxnSpPr>
              <a:cxnSpLocks/>
            </p:cNvCxnSpPr>
            <p:nvPr/>
          </p:nvCxnSpPr>
          <p:spPr>
            <a:xfrm flipH="1">
              <a:off x="5025390" y="349346"/>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7" name="直接连接符 76">
              <a:extLst>
                <a:ext uri="{FF2B5EF4-FFF2-40B4-BE49-F238E27FC236}">
                  <a16:creationId xmlns:a16="http://schemas.microsoft.com/office/drawing/2014/main" id="{BEA35CD9-8F8F-4991-8A28-0D6749A159AF}"/>
                </a:ext>
              </a:extLst>
            </p:cNvPr>
            <p:cNvCxnSpPr>
              <a:cxnSpLocks/>
            </p:cNvCxnSpPr>
            <p:nvPr/>
          </p:nvCxnSpPr>
          <p:spPr>
            <a:xfrm flipH="1">
              <a:off x="5025390" y="266844"/>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grpSp>
        <p:nvGrpSpPr>
          <p:cNvPr id="78" name="组合 77">
            <a:extLst>
              <a:ext uri="{FF2B5EF4-FFF2-40B4-BE49-F238E27FC236}">
                <a16:creationId xmlns:a16="http://schemas.microsoft.com/office/drawing/2014/main" id="{B708D5A6-F729-4A3B-AFF5-DB02E26819D1}"/>
              </a:ext>
            </a:extLst>
          </p:cNvPr>
          <p:cNvGrpSpPr/>
          <p:nvPr/>
        </p:nvGrpSpPr>
        <p:grpSpPr>
          <a:xfrm>
            <a:off x="0" y="266844"/>
            <a:ext cx="487680" cy="330008"/>
            <a:chOff x="5025390" y="266844"/>
            <a:chExt cx="6259830" cy="330008"/>
          </a:xfrm>
        </p:grpSpPr>
        <p:cxnSp>
          <p:nvCxnSpPr>
            <p:cNvPr id="79" name="直接连接符 78">
              <a:extLst>
                <a:ext uri="{FF2B5EF4-FFF2-40B4-BE49-F238E27FC236}">
                  <a16:creationId xmlns:a16="http://schemas.microsoft.com/office/drawing/2014/main" id="{B16271FF-B014-4D0E-A8FC-14016AE63AC9}"/>
                </a:ext>
              </a:extLst>
            </p:cNvPr>
            <p:cNvCxnSpPr>
              <a:cxnSpLocks/>
            </p:cNvCxnSpPr>
            <p:nvPr/>
          </p:nvCxnSpPr>
          <p:spPr>
            <a:xfrm flipH="1">
              <a:off x="5025390" y="596852"/>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0" name="直接连接符 79">
              <a:extLst>
                <a:ext uri="{FF2B5EF4-FFF2-40B4-BE49-F238E27FC236}">
                  <a16:creationId xmlns:a16="http://schemas.microsoft.com/office/drawing/2014/main" id="{54662351-B9F7-41B8-8DFD-B434997C52AF}"/>
                </a:ext>
              </a:extLst>
            </p:cNvPr>
            <p:cNvCxnSpPr>
              <a:cxnSpLocks/>
            </p:cNvCxnSpPr>
            <p:nvPr/>
          </p:nvCxnSpPr>
          <p:spPr>
            <a:xfrm flipH="1">
              <a:off x="5025390" y="514350"/>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1" name="直接连接符 80">
              <a:extLst>
                <a:ext uri="{FF2B5EF4-FFF2-40B4-BE49-F238E27FC236}">
                  <a16:creationId xmlns:a16="http://schemas.microsoft.com/office/drawing/2014/main" id="{18BB5DB3-4909-47FC-BDD8-8679FC8F7B9D}"/>
                </a:ext>
              </a:extLst>
            </p:cNvPr>
            <p:cNvCxnSpPr>
              <a:cxnSpLocks/>
            </p:cNvCxnSpPr>
            <p:nvPr/>
          </p:nvCxnSpPr>
          <p:spPr>
            <a:xfrm flipH="1">
              <a:off x="5025390" y="431848"/>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2" name="直接连接符 81">
              <a:extLst>
                <a:ext uri="{FF2B5EF4-FFF2-40B4-BE49-F238E27FC236}">
                  <a16:creationId xmlns:a16="http://schemas.microsoft.com/office/drawing/2014/main" id="{7C6A262B-8F87-4AA5-BD4A-55DE84149A06}"/>
                </a:ext>
              </a:extLst>
            </p:cNvPr>
            <p:cNvCxnSpPr>
              <a:cxnSpLocks/>
            </p:cNvCxnSpPr>
            <p:nvPr/>
          </p:nvCxnSpPr>
          <p:spPr>
            <a:xfrm flipH="1">
              <a:off x="5025390" y="349346"/>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3" name="直接连接符 82">
              <a:extLst>
                <a:ext uri="{FF2B5EF4-FFF2-40B4-BE49-F238E27FC236}">
                  <a16:creationId xmlns:a16="http://schemas.microsoft.com/office/drawing/2014/main" id="{8F8A0811-38B1-462B-8E81-76FB9965A173}"/>
                </a:ext>
              </a:extLst>
            </p:cNvPr>
            <p:cNvCxnSpPr>
              <a:cxnSpLocks/>
            </p:cNvCxnSpPr>
            <p:nvPr/>
          </p:nvCxnSpPr>
          <p:spPr>
            <a:xfrm flipH="1">
              <a:off x="5025390" y="266844"/>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pic>
        <p:nvPicPr>
          <p:cNvPr id="18" name="图片 1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604252" y="168275"/>
            <a:ext cx="520700" cy="520700"/>
          </a:xfrm>
          <a:prstGeom prst="rect">
            <a:avLst/>
          </a:prstGeom>
        </p:spPr>
      </p:pic>
      <p:sp>
        <p:nvSpPr>
          <p:cNvPr id="25" name="文本框 24">
            <a:extLst>
              <a:ext uri="{FF2B5EF4-FFF2-40B4-BE49-F238E27FC236}">
                <a16:creationId xmlns:a16="http://schemas.microsoft.com/office/drawing/2014/main" id="{6A93ADA9-ABD0-4AD4-8C06-F187F5AB4611}"/>
              </a:ext>
            </a:extLst>
          </p:cNvPr>
          <p:cNvSpPr txBox="1"/>
          <p:nvPr/>
        </p:nvSpPr>
        <p:spPr>
          <a:xfrm>
            <a:off x="487680" y="105459"/>
            <a:ext cx="7575006" cy="646331"/>
          </a:xfrm>
          <a:prstGeom prst="rect">
            <a:avLst/>
          </a:prstGeom>
          <a:noFill/>
        </p:spPr>
        <p:txBody>
          <a:bodyPr wrap="square" rtlCol="0">
            <a:spAutoFit/>
          </a:bodyPr>
          <a:lstStyle/>
          <a:p>
            <a:r>
              <a:rPr lang="zh-CN" altLang="en-US" sz="3600" b="1" dirty="0"/>
              <a:t>三</a:t>
            </a:r>
            <a:r>
              <a:rPr lang="en-US" altLang="zh-CN" sz="3600" b="1" dirty="0"/>
              <a:t>.</a:t>
            </a:r>
            <a:r>
              <a:rPr lang="zh-CN" altLang="en-US" sz="3600" b="1" dirty="0"/>
              <a:t> 实验内容</a:t>
            </a:r>
          </a:p>
        </p:txBody>
      </p:sp>
      <p:sp>
        <p:nvSpPr>
          <p:cNvPr id="35" name="文本框 1">
            <a:extLst>
              <a:ext uri="{FF2B5EF4-FFF2-40B4-BE49-F238E27FC236}">
                <a16:creationId xmlns:a16="http://schemas.microsoft.com/office/drawing/2014/main" id="{13D77590-6856-43FF-A85F-FDAFBB35AE85}"/>
              </a:ext>
            </a:extLst>
          </p:cNvPr>
          <p:cNvSpPr txBox="1"/>
          <p:nvPr/>
        </p:nvSpPr>
        <p:spPr>
          <a:xfrm>
            <a:off x="11291972" y="6320393"/>
            <a:ext cx="832980"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dirty="0"/>
              <a:t>6/23</a:t>
            </a:r>
            <a:endParaRPr lang="zh-CN" altLang="en-US" dirty="0"/>
          </a:p>
        </p:txBody>
      </p:sp>
    </p:spTree>
    <p:extLst>
      <p:ext uri="{BB962C8B-B14F-4D97-AF65-F5344CB8AC3E}">
        <p14:creationId xmlns:p14="http://schemas.microsoft.com/office/powerpoint/2010/main" val="9221000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椭圆 30">
            <a:extLst>
              <a:ext uri="{FF2B5EF4-FFF2-40B4-BE49-F238E27FC236}">
                <a16:creationId xmlns:a16="http://schemas.microsoft.com/office/drawing/2014/main" id="{D1855566-79A6-4312-BD41-24E289E3854A}"/>
              </a:ext>
            </a:extLst>
          </p:cNvPr>
          <p:cNvSpPr/>
          <p:nvPr/>
        </p:nvSpPr>
        <p:spPr>
          <a:xfrm>
            <a:off x="10761323" y="1202532"/>
            <a:ext cx="389278" cy="389278"/>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文本框 31">
            <a:extLst>
              <a:ext uri="{FF2B5EF4-FFF2-40B4-BE49-F238E27FC236}">
                <a16:creationId xmlns:a16="http://schemas.microsoft.com/office/drawing/2014/main" id="{5F02ECD8-1CDD-49F7-8817-02AA363DE2C0}"/>
              </a:ext>
            </a:extLst>
          </p:cNvPr>
          <p:cNvSpPr txBox="1"/>
          <p:nvPr/>
        </p:nvSpPr>
        <p:spPr>
          <a:xfrm>
            <a:off x="2686018" y="2576650"/>
            <a:ext cx="7688802" cy="923330"/>
          </a:xfrm>
          <a:prstGeom prst="rect">
            <a:avLst/>
          </a:prstGeom>
          <a:noFill/>
        </p:spPr>
        <p:txBody>
          <a:bodyPr wrap="square">
            <a:spAutoFit/>
          </a:bodyPr>
          <a:lstStyle/>
          <a:p>
            <a:pPr algn="ctr"/>
            <a:r>
              <a:rPr lang="zh-CN" altLang="en-US" sz="5400" b="1" dirty="0">
                <a:solidFill>
                  <a:schemeClr val="tx1">
                    <a:lumMod val="65000"/>
                    <a:lumOff val="35000"/>
                  </a:schemeClr>
                </a:solidFill>
                <a:latin typeface="思源黑体 CN Medium" panose="020B0600000000000000" pitchFamily="34" charset="-122"/>
                <a:ea typeface="思源黑体 CN Medium" panose="020B0600000000000000" pitchFamily="34" charset="-122"/>
              </a:rPr>
              <a:t>实验</a:t>
            </a:r>
            <a:r>
              <a:rPr lang="en-US" altLang="zh-CN" sz="5400" b="1" dirty="0">
                <a:solidFill>
                  <a:schemeClr val="tx1">
                    <a:lumMod val="65000"/>
                    <a:lumOff val="35000"/>
                  </a:schemeClr>
                </a:solidFill>
                <a:latin typeface="思源黑体 CN Medium" panose="020B0600000000000000" pitchFamily="34" charset="-122"/>
                <a:ea typeface="思源黑体 CN Medium" panose="020B0600000000000000" pitchFamily="34" charset="-122"/>
              </a:rPr>
              <a:t>6 </a:t>
            </a:r>
            <a:r>
              <a:rPr lang="zh-CN" altLang="en-US" sz="5400" b="1" dirty="0">
                <a:solidFill>
                  <a:schemeClr val="tx1">
                    <a:lumMod val="65000"/>
                    <a:lumOff val="35000"/>
                  </a:schemeClr>
                </a:solidFill>
                <a:latin typeface="思源黑体 CN Medium" panose="020B0600000000000000" pitchFamily="34" charset="-122"/>
                <a:ea typeface="思源黑体 CN Medium" panose="020B0600000000000000" pitchFamily="34" charset="-122"/>
              </a:rPr>
              <a:t>无损耗均匀传输线</a:t>
            </a:r>
          </a:p>
        </p:txBody>
      </p:sp>
      <p:sp>
        <p:nvSpPr>
          <p:cNvPr id="35" name="椭圆 34">
            <a:extLst>
              <a:ext uri="{FF2B5EF4-FFF2-40B4-BE49-F238E27FC236}">
                <a16:creationId xmlns:a16="http://schemas.microsoft.com/office/drawing/2014/main" id="{FEB7351D-7F7E-4FF2-8A69-0E8B9A1F17A5}"/>
              </a:ext>
            </a:extLst>
          </p:cNvPr>
          <p:cNvSpPr/>
          <p:nvPr/>
        </p:nvSpPr>
        <p:spPr>
          <a:xfrm>
            <a:off x="2694741" y="3233939"/>
            <a:ext cx="194120" cy="194120"/>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椭圆 35">
            <a:extLst>
              <a:ext uri="{FF2B5EF4-FFF2-40B4-BE49-F238E27FC236}">
                <a16:creationId xmlns:a16="http://schemas.microsoft.com/office/drawing/2014/main" id="{4FC7D185-F10B-4FFE-ADB0-B95FDFBD8ED1}"/>
              </a:ext>
            </a:extLst>
          </p:cNvPr>
          <p:cNvSpPr/>
          <p:nvPr/>
        </p:nvSpPr>
        <p:spPr>
          <a:xfrm>
            <a:off x="2501709" y="3286582"/>
            <a:ext cx="94318" cy="94318"/>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椭圆 36">
            <a:extLst>
              <a:ext uri="{FF2B5EF4-FFF2-40B4-BE49-F238E27FC236}">
                <a16:creationId xmlns:a16="http://schemas.microsoft.com/office/drawing/2014/main" id="{BDC64EB7-F399-4246-AC69-D6B4DF8E98BA}"/>
              </a:ext>
            </a:extLst>
          </p:cNvPr>
          <p:cNvSpPr/>
          <p:nvPr/>
        </p:nvSpPr>
        <p:spPr>
          <a:xfrm>
            <a:off x="9311862" y="3222590"/>
            <a:ext cx="194120" cy="194120"/>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a:extLst>
              <a:ext uri="{FF2B5EF4-FFF2-40B4-BE49-F238E27FC236}">
                <a16:creationId xmlns:a16="http://schemas.microsoft.com/office/drawing/2014/main" id="{2880FAED-30B8-4F42-B4C3-D1FF6DD36147}"/>
              </a:ext>
            </a:extLst>
          </p:cNvPr>
          <p:cNvSpPr/>
          <p:nvPr/>
        </p:nvSpPr>
        <p:spPr>
          <a:xfrm>
            <a:off x="9595972" y="3275233"/>
            <a:ext cx="94318" cy="94318"/>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椭圆 39">
            <a:extLst>
              <a:ext uri="{FF2B5EF4-FFF2-40B4-BE49-F238E27FC236}">
                <a16:creationId xmlns:a16="http://schemas.microsoft.com/office/drawing/2014/main" id="{42FBCE2A-BFA1-4D45-A4C9-6DD9684121C2}"/>
              </a:ext>
            </a:extLst>
          </p:cNvPr>
          <p:cNvSpPr/>
          <p:nvPr/>
        </p:nvSpPr>
        <p:spPr>
          <a:xfrm>
            <a:off x="3344523" y="817902"/>
            <a:ext cx="356620" cy="356620"/>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椭圆 40">
            <a:extLst>
              <a:ext uri="{FF2B5EF4-FFF2-40B4-BE49-F238E27FC236}">
                <a16:creationId xmlns:a16="http://schemas.microsoft.com/office/drawing/2014/main" id="{5B7DB4B8-F068-4B8B-9600-9BA228B86118}"/>
              </a:ext>
            </a:extLst>
          </p:cNvPr>
          <p:cNvSpPr/>
          <p:nvPr/>
        </p:nvSpPr>
        <p:spPr>
          <a:xfrm>
            <a:off x="1646350" y="5476986"/>
            <a:ext cx="603363" cy="603363"/>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椭圆 41">
            <a:extLst>
              <a:ext uri="{FF2B5EF4-FFF2-40B4-BE49-F238E27FC236}">
                <a16:creationId xmlns:a16="http://schemas.microsoft.com/office/drawing/2014/main" id="{4A6B4266-D68E-470E-8EEF-D74E4A390ED9}"/>
              </a:ext>
            </a:extLst>
          </p:cNvPr>
          <p:cNvSpPr/>
          <p:nvPr/>
        </p:nvSpPr>
        <p:spPr>
          <a:xfrm>
            <a:off x="10333151" y="3059454"/>
            <a:ext cx="452100" cy="452100"/>
          </a:xfrm>
          <a:prstGeom prst="ellipse">
            <a:avLst/>
          </a:prstGeom>
          <a:solidFill>
            <a:schemeClr val="bg1"/>
          </a:solidFill>
          <a:ln>
            <a:solidFill>
              <a:srgbClr val="AC424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椭圆 42">
            <a:extLst>
              <a:ext uri="{FF2B5EF4-FFF2-40B4-BE49-F238E27FC236}">
                <a16:creationId xmlns:a16="http://schemas.microsoft.com/office/drawing/2014/main" id="{CA748C71-19DF-41E5-B6AE-E0B257E27C52}"/>
              </a:ext>
            </a:extLst>
          </p:cNvPr>
          <p:cNvSpPr/>
          <p:nvPr/>
        </p:nvSpPr>
        <p:spPr>
          <a:xfrm>
            <a:off x="2190637" y="1558131"/>
            <a:ext cx="153420" cy="153420"/>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椭圆 43">
            <a:extLst>
              <a:ext uri="{FF2B5EF4-FFF2-40B4-BE49-F238E27FC236}">
                <a16:creationId xmlns:a16="http://schemas.microsoft.com/office/drawing/2014/main" id="{8DB3E662-86A0-46CE-B0A3-54E1D688D893}"/>
              </a:ext>
            </a:extLst>
          </p:cNvPr>
          <p:cNvSpPr/>
          <p:nvPr/>
        </p:nvSpPr>
        <p:spPr>
          <a:xfrm>
            <a:off x="8787379" y="1478302"/>
            <a:ext cx="153420" cy="153420"/>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任意多边形: 形状 47">
            <a:extLst>
              <a:ext uri="{FF2B5EF4-FFF2-40B4-BE49-F238E27FC236}">
                <a16:creationId xmlns:a16="http://schemas.microsoft.com/office/drawing/2014/main" id="{6E0147FC-0DBC-4925-97E5-C31159065717}"/>
              </a:ext>
            </a:extLst>
          </p:cNvPr>
          <p:cNvSpPr/>
          <p:nvPr/>
        </p:nvSpPr>
        <p:spPr>
          <a:xfrm rot="2001767">
            <a:off x="10705817" y="1962311"/>
            <a:ext cx="979224" cy="985205"/>
          </a:xfrm>
          <a:custGeom>
            <a:avLst/>
            <a:gdLst>
              <a:gd name="connsiteX0" fmla="*/ 447971 w 1442460"/>
              <a:gd name="connsiteY0" fmla="*/ 1397101 h 1451272"/>
              <a:gd name="connsiteX1" fmla="*/ 994490 w 1442460"/>
              <a:gd name="connsiteY1" fmla="*/ 1397101 h 1451272"/>
              <a:gd name="connsiteX2" fmla="*/ 867471 w 1442460"/>
              <a:gd name="connsiteY2" fmla="*/ 1436530 h 1451272"/>
              <a:gd name="connsiteX3" fmla="*/ 721230 w 1442460"/>
              <a:gd name="connsiteY3" fmla="*/ 1451272 h 1451272"/>
              <a:gd name="connsiteX4" fmla="*/ 574989 w 1442460"/>
              <a:gd name="connsiteY4" fmla="*/ 1436530 h 1451272"/>
              <a:gd name="connsiteX5" fmla="*/ 209854 w 1442460"/>
              <a:gd name="connsiteY5" fmla="*/ 1240162 h 1451272"/>
              <a:gd name="connsiteX6" fmla="*/ 1232607 w 1442460"/>
              <a:gd name="connsiteY6" fmla="*/ 1240162 h 1451272"/>
              <a:gd name="connsiteX7" fmla="*/ 1166640 w 1442460"/>
              <a:gd name="connsiteY7" fmla="*/ 1294590 h 1451272"/>
              <a:gd name="connsiteX8" fmla="*/ 275821 w 1442460"/>
              <a:gd name="connsiteY8" fmla="*/ 1294590 h 1451272"/>
              <a:gd name="connsiteX9" fmla="*/ 93401 w 1442460"/>
              <a:gd name="connsiteY9" fmla="*/ 1083223 h 1451272"/>
              <a:gd name="connsiteX10" fmla="*/ 1349059 w 1442460"/>
              <a:gd name="connsiteY10" fmla="*/ 1083223 h 1451272"/>
              <a:gd name="connsiteX11" fmla="*/ 1322939 w 1442460"/>
              <a:gd name="connsiteY11" fmla="*/ 1131346 h 1451272"/>
              <a:gd name="connsiteX12" fmla="*/ 1317737 w 1442460"/>
              <a:gd name="connsiteY12" fmla="*/ 1137651 h 1451272"/>
              <a:gd name="connsiteX13" fmla="*/ 124723 w 1442460"/>
              <a:gd name="connsiteY13" fmla="*/ 1137651 h 1451272"/>
              <a:gd name="connsiteX14" fmla="*/ 119521 w 1442460"/>
              <a:gd name="connsiteY14" fmla="*/ 1131346 h 1451272"/>
              <a:gd name="connsiteX15" fmla="*/ 27225 w 1442460"/>
              <a:gd name="connsiteY15" fmla="*/ 926284 h 1451272"/>
              <a:gd name="connsiteX16" fmla="*/ 1415235 w 1442460"/>
              <a:gd name="connsiteY16" fmla="*/ 926284 h 1451272"/>
              <a:gd name="connsiteX17" fmla="*/ 1398340 w 1442460"/>
              <a:gd name="connsiteY17" fmla="*/ 980712 h 1451272"/>
              <a:gd name="connsiteX18" fmla="*/ 44121 w 1442460"/>
              <a:gd name="connsiteY18" fmla="*/ 980712 h 1451272"/>
              <a:gd name="connsiteX19" fmla="*/ 0 w 1442460"/>
              <a:gd name="connsiteY19" fmla="*/ 769345 h 1451272"/>
              <a:gd name="connsiteX20" fmla="*/ 1442460 w 1442460"/>
              <a:gd name="connsiteY20" fmla="*/ 769345 h 1451272"/>
              <a:gd name="connsiteX21" fmla="*/ 1436973 w 1442460"/>
              <a:gd name="connsiteY21" fmla="*/ 823773 h 1451272"/>
              <a:gd name="connsiteX22" fmla="*/ 5487 w 1442460"/>
              <a:gd name="connsiteY22" fmla="*/ 823773 h 1451272"/>
              <a:gd name="connsiteX23" fmla="*/ 7009 w 1442460"/>
              <a:gd name="connsiteY23" fmla="*/ 612406 h 1451272"/>
              <a:gd name="connsiteX24" fmla="*/ 1435452 w 1442460"/>
              <a:gd name="connsiteY24" fmla="*/ 612406 h 1451272"/>
              <a:gd name="connsiteX25" fmla="*/ 1440939 w 1442460"/>
              <a:gd name="connsiteY25" fmla="*/ 666834 h 1451272"/>
              <a:gd name="connsiteX26" fmla="*/ 1522 w 1442460"/>
              <a:gd name="connsiteY26" fmla="*/ 666834 h 1451272"/>
              <a:gd name="connsiteX27" fmla="*/ 48806 w 1442460"/>
              <a:gd name="connsiteY27" fmla="*/ 455467 h 1451272"/>
              <a:gd name="connsiteX28" fmla="*/ 1393655 w 1442460"/>
              <a:gd name="connsiteY28" fmla="*/ 455467 h 1451272"/>
              <a:gd name="connsiteX29" fmla="*/ 1410550 w 1442460"/>
              <a:gd name="connsiteY29" fmla="*/ 509895 h 1451272"/>
              <a:gd name="connsiteX30" fmla="*/ 31911 w 1442460"/>
              <a:gd name="connsiteY30" fmla="*/ 509895 h 1451272"/>
              <a:gd name="connsiteX31" fmla="*/ 137176 w 1442460"/>
              <a:gd name="connsiteY31" fmla="*/ 298528 h 1451272"/>
              <a:gd name="connsiteX32" fmla="*/ 1305284 w 1442460"/>
              <a:gd name="connsiteY32" fmla="*/ 298528 h 1451272"/>
              <a:gd name="connsiteX33" fmla="*/ 1322939 w 1442460"/>
              <a:gd name="connsiteY33" fmla="*/ 319926 h 1451272"/>
              <a:gd name="connsiteX34" fmla="*/ 1340867 w 1442460"/>
              <a:gd name="connsiteY34" fmla="*/ 352956 h 1451272"/>
              <a:gd name="connsiteX35" fmla="*/ 101593 w 1442460"/>
              <a:gd name="connsiteY35" fmla="*/ 352956 h 1451272"/>
              <a:gd name="connsiteX36" fmla="*/ 119521 w 1442460"/>
              <a:gd name="connsiteY36" fmla="*/ 319926 h 1451272"/>
              <a:gd name="connsiteX37" fmla="*/ 294114 w 1442460"/>
              <a:gd name="connsiteY37" fmla="*/ 141589 h 1451272"/>
              <a:gd name="connsiteX38" fmla="*/ 1148347 w 1442460"/>
              <a:gd name="connsiteY38" fmla="*/ 141589 h 1451272"/>
              <a:gd name="connsiteX39" fmla="*/ 1214314 w 1442460"/>
              <a:gd name="connsiteY39" fmla="*/ 196017 h 1451272"/>
              <a:gd name="connsiteX40" fmla="*/ 228147 w 1442460"/>
              <a:gd name="connsiteY40" fmla="*/ 196017 h 1451272"/>
              <a:gd name="connsiteX41" fmla="*/ 721230 w 1442460"/>
              <a:gd name="connsiteY41" fmla="*/ 0 h 1451272"/>
              <a:gd name="connsiteX42" fmla="*/ 867471 w 1442460"/>
              <a:gd name="connsiteY42" fmla="*/ 14742 h 1451272"/>
              <a:gd name="connsiteX43" fmla="*/ 945868 w 1442460"/>
              <a:gd name="connsiteY43" fmla="*/ 39078 h 1451272"/>
              <a:gd name="connsiteX44" fmla="*/ 496593 w 1442460"/>
              <a:gd name="connsiteY44" fmla="*/ 39078 h 1451272"/>
              <a:gd name="connsiteX45" fmla="*/ 574989 w 1442460"/>
              <a:gd name="connsiteY45" fmla="*/ 14742 h 1451272"/>
              <a:gd name="connsiteX46" fmla="*/ 721230 w 1442460"/>
              <a:gd name="connsiteY46" fmla="*/ 0 h 1451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442460" h="1451272">
                <a:moveTo>
                  <a:pt x="447971" y="1397101"/>
                </a:moveTo>
                <a:lnTo>
                  <a:pt x="994490" y="1397101"/>
                </a:lnTo>
                <a:lnTo>
                  <a:pt x="867471" y="1436530"/>
                </a:lnTo>
                <a:cubicBezTo>
                  <a:pt x="820234" y="1446196"/>
                  <a:pt x="771325" y="1451272"/>
                  <a:pt x="721230" y="1451272"/>
                </a:cubicBezTo>
                <a:cubicBezTo>
                  <a:pt x="671136" y="1451272"/>
                  <a:pt x="622226" y="1446196"/>
                  <a:pt x="574989" y="1436530"/>
                </a:cubicBezTo>
                <a:close/>
                <a:moveTo>
                  <a:pt x="209854" y="1240162"/>
                </a:moveTo>
                <a:lnTo>
                  <a:pt x="1232607" y="1240162"/>
                </a:lnTo>
                <a:lnTo>
                  <a:pt x="1166640" y="1294590"/>
                </a:lnTo>
                <a:lnTo>
                  <a:pt x="275821" y="1294590"/>
                </a:lnTo>
                <a:close/>
                <a:moveTo>
                  <a:pt x="93401" y="1083223"/>
                </a:moveTo>
                <a:lnTo>
                  <a:pt x="1349059" y="1083223"/>
                </a:lnTo>
                <a:lnTo>
                  <a:pt x="1322939" y="1131346"/>
                </a:lnTo>
                <a:lnTo>
                  <a:pt x="1317737" y="1137651"/>
                </a:lnTo>
                <a:lnTo>
                  <a:pt x="124723" y="1137651"/>
                </a:lnTo>
                <a:lnTo>
                  <a:pt x="119521" y="1131346"/>
                </a:lnTo>
                <a:close/>
                <a:moveTo>
                  <a:pt x="27225" y="926284"/>
                </a:moveTo>
                <a:lnTo>
                  <a:pt x="1415235" y="926284"/>
                </a:lnTo>
                <a:lnTo>
                  <a:pt x="1398340" y="980712"/>
                </a:lnTo>
                <a:lnTo>
                  <a:pt x="44121" y="980712"/>
                </a:lnTo>
                <a:close/>
                <a:moveTo>
                  <a:pt x="0" y="769345"/>
                </a:moveTo>
                <a:lnTo>
                  <a:pt x="1442460" y="769345"/>
                </a:lnTo>
                <a:lnTo>
                  <a:pt x="1436973" y="823773"/>
                </a:lnTo>
                <a:lnTo>
                  <a:pt x="5487" y="823773"/>
                </a:lnTo>
                <a:close/>
                <a:moveTo>
                  <a:pt x="7009" y="612406"/>
                </a:moveTo>
                <a:lnTo>
                  <a:pt x="1435452" y="612406"/>
                </a:lnTo>
                <a:lnTo>
                  <a:pt x="1440939" y="666834"/>
                </a:lnTo>
                <a:lnTo>
                  <a:pt x="1522" y="666834"/>
                </a:lnTo>
                <a:close/>
                <a:moveTo>
                  <a:pt x="48806" y="455467"/>
                </a:moveTo>
                <a:lnTo>
                  <a:pt x="1393655" y="455467"/>
                </a:lnTo>
                <a:lnTo>
                  <a:pt x="1410550" y="509895"/>
                </a:lnTo>
                <a:lnTo>
                  <a:pt x="31911" y="509895"/>
                </a:lnTo>
                <a:close/>
                <a:moveTo>
                  <a:pt x="137176" y="298528"/>
                </a:moveTo>
                <a:lnTo>
                  <a:pt x="1305284" y="298528"/>
                </a:lnTo>
                <a:lnTo>
                  <a:pt x="1322939" y="319926"/>
                </a:lnTo>
                <a:lnTo>
                  <a:pt x="1340867" y="352956"/>
                </a:lnTo>
                <a:lnTo>
                  <a:pt x="101593" y="352956"/>
                </a:lnTo>
                <a:lnTo>
                  <a:pt x="119521" y="319926"/>
                </a:lnTo>
                <a:close/>
                <a:moveTo>
                  <a:pt x="294114" y="141589"/>
                </a:moveTo>
                <a:lnTo>
                  <a:pt x="1148347" y="141589"/>
                </a:lnTo>
                <a:lnTo>
                  <a:pt x="1214314" y="196017"/>
                </a:lnTo>
                <a:lnTo>
                  <a:pt x="228147" y="196017"/>
                </a:lnTo>
                <a:close/>
                <a:moveTo>
                  <a:pt x="721230" y="0"/>
                </a:moveTo>
                <a:cubicBezTo>
                  <a:pt x="771325" y="0"/>
                  <a:pt x="820234" y="5076"/>
                  <a:pt x="867471" y="14742"/>
                </a:cubicBezTo>
                <a:lnTo>
                  <a:pt x="945868" y="39078"/>
                </a:lnTo>
                <a:lnTo>
                  <a:pt x="496593" y="39078"/>
                </a:lnTo>
                <a:lnTo>
                  <a:pt x="574989" y="14742"/>
                </a:lnTo>
                <a:cubicBezTo>
                  <a:pt x="622226" y="5076"/>
                  <a:pt x="671136" y="0"/>
                  <a:pt x="721230" y="0"/>
                </a:cubicBezTo>
                <a:close/>
              </a:path>
            </a:pathLst>
          </a:cu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46" name="任意多边形: 形状 49">
            <a:extLst>
              <a:ext uri="{FF2B5EF4-FFF2-40B4-BE49-F238E27FC236}">
                <a16:creationId xmlns:a16="http://schemas.microsoft.com/office/drawing/2014/main" id="{F4598BCA-BE01-4298-BA23-E659916D01B7}"/>
              </a:ext>
            </a:extLst>
          </p:cNvPr>
          <p:cNvSpPr/>
          <p:nvPr/>
        </p:nvSpPr>
        <p:spPr>
          <a:xfrm rot="2001767">
            <a:off x="8342563" y="399356"/>
            <a:ext cx="471236" cy="474114"/>
          </a:xfrm>
          <a:custGeom>
            <a:avLst/>
            <a:gdLst>
              <a:gd name="connsiteX0" fmla="*/ 447971 w 1442460"/>
              <a:gd name="connsiteY0" fmla="*/ 1397101 h 1451272"/>
              <a:gd name="connsiteX1" fmla="*/ 994490 w 1442460"/>
              <a:gd name="connsiteY1" fmla="*/ 1397101 h 1451272"/>
              <a:gd name="connsiteX2" fmla="*/ 867471 w 1442460"/>
              <a:gd name="connsiteY2" fmla="*/ 1436530 h 1451272"/>
              <a:gd name="connsiteX3" fmla="*/ 721230 w 1442460"/>
              <a:gd name="connsiteY3" fmla="*/ 1451272 h 1451272"/>
              <a:gd name="connsiteX4" fmla="*/ 574989 w 1442460"/>
              <a:gd name="connsiteY4" fmla="*/ 1436530 h 1451272"/>
              <a:gd name="connsiteX5" fmla="*/ 209854 w 1442460"/>
              <a:gd name="connsiteY5" fmla="*/ 1240162 h 1451272"/>
              <a:gd name="connsiteX6" fmla="*/ 1232607 w 1442460"/>
              <a:gd name="connsiteY6" fmla="*/ 1240162 h 1451272"/>
              <a:gd name="connsiteX7" fmla="*/ 1166640 w 1442460"/>
              <a:gd name="connsiteY7" fmla="*/ 1294590 h 1451272"/>
              <a:gd name="connsiteX8" fmla="*/ 275821 w 1442460"/>
              <a:gd name="connsiteY8" fmla="*/ 1294590 h 1451272"/>
              <a:gd name="connsiteX9" fmla="*/ 93401 w 1442460"/>
              <a:gd name="connsiteY9" fmla="*/ 1083223 h 1451272"/>
              <a:gd name="connsiteX10" fmla="*/ 1349059 w 1442460"/>
              <a:gd name="connsiteY10" fmla="*/ 1083223 h 1451272"/>
              <a:gd name="connsiteX11" fmla="*/ 1322939 w 1442460"/>
              <a:gd name="connsiteY11" fmla="*/ 1131346 h 1451272"/>
              <a:gd name="connsiteX12" fmla="*/ 1317737 w 1442460"/>
              <a:gd name="connsiteY12" fmla="*/ 1137651 h 1451272"/>
              <a:gd name="connsiteX13" fmla="*/ 124723 w 1442460"/>
              <a:gd name="connsiteY13" fmla="*/ 1137651 h 1451272"/>
              <a:gd name="connsiteX14" fmla="*/ 119521 w 1442460"/>
              <a:gd name="connsiteY14" fmla="*/ 1131346 h 1451272"/>
              <a:gd name="connsiteX15" fmla="*/ 27225 w 1442460"/>
              <a:gd name="connsiteY15" fmla="*/ 926284 h 1451272"/>
              <a:gd name="connsiteX16" fmla="*/ 1415235 w 1442460"/>
              <a:gd name="connsiteY16" fmla="*/ 926284 h 1451272"/>
              <a:gd name="connsiteX17" fmla="*/ 1398340 w 1442460"/>
              <a:gd name="connsiteY17" fmla="*/ 980712 h 1451272"/>
              <a:gd name="connsiteX18" fmla="*/ 44121 w 1442460"/>
              <a:gd name="connsiteY18" fmla="*/ 980712 h 1451272"/>
              <a:gd name="connsiteX19" fmla="*/ 0 w 1442460"/>
              <a:gd name="connsiteY19" fmla="*/ 769345 h 1451272"/>
              <a:gd name="connsiteX20" fmla="*/ 1442460 w 1442460"/>
              <a:gd name="connsiteY20" fmla="*/ 769345 h 1451272"/>
              <a:gd name="connsiteX21" fmla="*/ 1436973 w 1442460"/>
              <a:gd name="connsiteY21" fmla="*/ 823773 h 1451272"/>
              <a:gd name="connsiteX22" fmla="*/ 5487 w 1442460"/>
              <a:gd name="connsiteY22" fmla="*/ 823773 h 1451272"/>
              <a:gd name="connsiteX23" fmla="*/ 7009 w 1442460"/>
              <a:gd name="connsiteY23" fmla="*/ 612406 h 1451272"/>
              <a:gd name="connsiteX24" fmla="*/ 1435452 w 1442460"/>
              <a:gd name="connsiteY24" fmla="*/ 612406 h 1451272"/>
              <a:gd name="connsiteX25" fmla="*/ 1440939 w 1442460"/>
              <a:gd name="connsiteY25" fmla="*/ 666834 h 1451272"/>
              <a:gd name="connsiteX26" fmla="*/ 1522 w 1442460"/>
              <a:gd name="connsiteY26" fmla="*/ 666834 h 1451272"/>
              <a:gd name="connsiteX27" fmla="*/ 48806 w 1442460"/>
              <a:gd name="connsiteY27" fmla="*/ 455467 h 1451272"/>
              <a:gd name="connsiteX28" fmla="*/ 1393655 w 1442460"/>
              <a:gd name="connsiteY28" fmla="*/ 455467 h 1451272"/>
              <a:gd name="connsiteX29" fmla="*/ 1410550 w 1442460"/>
              <a:gd name="connsiteY29" fmla="*/ 509895 h 1451272"/>
              <a:gd name="connsiteX30" fmla="*/ 31911 w 1442460"/>
              <a:gd name="connsiteY30" fmla="*/ 509895 h 1451272"/>
              <a:gd name="connsiteX31" fmla="*/ 137176 w 1442460"/>
              <a:gd name="connsiteY31" fmla="*/ 298528 h 1451272"/>
              <a:gd name="connsiteX32" fmla="*/ 1305284 w 1442460"/>
              <a:gd name="connsiteY32" fmla="*/ 298528 h 1451272"/>
              <a:gd name="connsiteX33" fmla="*/ 1322939 w 1442460"/>
              <a:gd name="connsiteY33" fmla="*/ 319926 h 1451272"/>
              <a:gd name="connsiteX34" fmla="*/ 1340867 w 1442460"/>
              <a:gd name="connsiteY34" fmla="*/ 352956 h 1451272"/>
              <a:gd name="connsiteX35" fmla="*/ 101593 w 1442460"/>
              <a:gd name="connsiteY35" fmla="*/ 352956 h 1451272"/>
              <a:gd name="connsiteX36" fmla="*/ 119521 w 1442460"/>
              <a:gd name="connsiteY36" fmla="*/ 319926 h 1451272"/>
              <a:gd name="connsiteX37" fmla="*/ 294114 w 1442460"/>
              <a:gd name="connsiteY37" fmla="*/ 141589 h 1451272"/>
              <a:gd name="connsiteX38" fmla="*/ 1148347 w 1442460"/>
              <a:gd name="connsiteY38" fmla="*/ 141589 h 1451272"/>
              <a:gd name="connsiteX39" fmla="*/ 1214314 w 1442460"/>
              <a:gd name="connsiteY39" fmla="*/ 196017 h 1451272"/>
              <a:gd name="connsiteX40" fmla="*/ 228147 w 1442460"/>
              <a:gd name="connsiteY40" fmla="*/ 196017 h 1451272"/>
              <a:gd name="connsiteX41" fmla="*/ 721230 w 1442460"/>
              <a:gd name="connsiteY41" fmla="*/ 0 h 1451272"/>
              <a:gd name="connsiteX42" fmla="*/ 867471 w 1442460"/>
              <a:gd name="connsiteY42" fmla="*/ 14742 h 1451272"/>
              <a:gd name="connsiteX43" fmla="*/ 945868 w 1442460"/>
              <a:gd name="connsiteY43" fmla="*/ 39078 h 1451272"/>
              <a:gd name="connsiteX44" fmla="*/ 496593 w 1442460"/>
              <a:gd name="connsiteY44" fmla="*/ 39078 h 1451272"/>
              <a:gd name="connsiteX45" fmla="*/ 574989 w 1442460"/>
              <a:gd name="connsiteY45" fmla="*/ 14742 h 1451272"/>
              <a:gd name="connsiteX46" fmla="*/ 721230 w 1442460"/>
              <a:gd name="connsiteY46" fmla="*/ 0 h 1451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442460" h="1451272">
                <a:moveTo>
                  <a:pt x="447971" y="1397101"/>
                </a:moveTo>
                <a:lnTo>
                  <a:pt x="994490" y="1397101"/>
                </a:lnTo>
                <a:lnTo>
                  <a:pt x="867471" y="1436530"/>
                </a:lnTo>
                <a:cubicBezTo>
                  <a:pt x="820234" y="1446196"/>
                  <a:pt x="771325" y="1451272"/>
                  <a:pt x="721230" y="1451272"/>
                </a:cubicBezTo>
                <a:cubicBezTo>
                  <a:pt x="671136" y="1451272"/>
                  <a:pt x="622226" y="1446196"/>
                  <a:pt x="574989" y="1436530"/>
                </a:cubicBezTo>
                <a:close/>
                <a:moveTo>
                  <a:pt x="209854" y="1240162"/>
                </a:moveTo>
                <a:lnTo>
                  <a:pt x="1232607" y="1240162"/>
                </a:lnTo>
                <a:lnTo>
                  <a:pt x="1166640" y="1294590"/>
                </a:lnTo>
                <a:lnTo>
                  <a:pt x="275821" y="1294590"/>
                </a:lnTo>
                <a:close/>
                <a:moveTo>
                  <a:pt x="93401" y="1083223"/>
                </a:moveTo>
                <a:lnTo>
                  <a:pt x="1349059" y="1083223"/>
                </a:lnTo>
                <a:lnTo>
                  <a:pt x="1322939" y="1131346"/>
                </a:lnTo>
                <a:lnTo>
                  <a:pt x="1317737" y="1137651"/>
                </a:lnTo>
                <a:lnTo>
                  <a:pt x="124723" y="1137651"/>
                </a:lnTo>
                <a:lnTo>
                  <a:pt x="119521" y="1131346"/>
                </a:lnTo>
                <a:close/>
                <a:moveTo>
                  <a:pt x="27225" y="926284"/>
                </a:moveTo>
                <a:lnTo>
                  <a:pt x="1415235" y="926284"/>
                </a:lnTo>
                <a:lnTo>
                  <a:pt x="1398340" y="980712"/>
                </a:lnTo>
                <a:lnTo>
                  <a:pt x="44121" y="980712"/>
                </a:lnTo>
                <a:close/>
                <a:moveTo>
                  <a:pt x="0" y="769345"/>
                </a:moveTo>
                <a:lnTo>
                  <a:pt x="1442460" y="769345"/>
                </a:lnTo>
                <a:lnTo>
                  <a:pt x="1436973" y="823773"/>
                </a:lnTo>
                <a:lnTo>
                  <a:pt x="5487" y="823773"/>
                </a:lnTo>
                <a:close/>
                <a:moveTo>
                  <a:pt x="7009" y="612406"/>
                </a:moveTo>
                <a:lnTo>
                  <a:pt x="1435452" y="612406"/>
                </a:lnTo>
                <a:lnTo>
                  <a:pt x="1440939" y="666834"/>
                </a:lnTo>
                <a:lnTo>
                  <a:pt x="1522" y="666834"/>
                </a:lnTo>
                <a:close/>
                <a:moveTo>
                  <a:pt x="48806" y="455467"/>
                </a:moveTo>
                <a:lnTo>
                  <a:pt x="1393655" y="455467"/>
                </a:lnTo>
                <a:lnTo>
                  <a:pt x="1410550" y="509895"/>
                </a:lnTo>
                <a:lnTo>
                  <a:pt x="31911" y="509895"/>
                </a:lnTo>
                <a:close/>
                <a:moveTo>
                  <a:pt x="137176" y="298528"/>
                </a:moveTo>
                <a:lnTo>
                  <a:pt x="1305284" y="298528"/>
                </a:lnTo>
                <a:lnTo>
                  <a:pt x="1322939" y="319926"/>
                </a:lnTo>
                <a:lnTo>
                  <a:pt x="1340867" y="352956"/>
                </a:lnTo>
                <a:lnTo>
                  <a:pt x="101593" y="352956"/>
                </a:lnTo>
                <a:lnTo>
                  <a:pt x="119521" y="319926"/>
                </a:lnTo>
                <a:close/>
                <a:moveTo>
                  <a:pt x="294114" y="141589"/>
                </a:moveTo>
                <a:lnTo>
                  <a:pt x="1148347" y="141589"/>
                </a:lnTo>
                <a:lnTo>
                  <a:pt x="1214314" y="196017"/>
                </a:lnTo>
                <a:lnTo>
                  <a:pt x="228147" y="196017"/>
                </a:lnTo>
                <a:close/>
                <a:moveTo>
                  <a:pt x="721230" y="0"/>
                </a:moveTo>
                <a:cubicBezTo>
                  <a:pt x="771325" y="0"/>
                  <a:pt x="820234" y="5076"/>
                  <a:pt x="867471" y="14742"/>
                </a:cubicBezTo>
                <a:lnTo>
                  <a:pt x="945868" y="39078"/>
                </a:lnTo>
                <a:lnTo>
                  <a:pt x="496593" y="39078"/>
                </a:lnTo>
                <a:lnTo>
                  <a:pt x="574989" y="14742"/>
                </a:lnTo>
                <a:cubicBezTo>
                  <a:pt x="622226" y="5076"/>
                  <a:pt x="671136" y="0"/>
                  <a:pt x="721230" y="0"/>
                </a:cubicBezTo>
                <a:close/>
              </a:path>
            </a:pathLst>
          </a:cu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pic>
        <p:nvPicPr>
          <p:cNvPr id="47" name="图片 4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523866" y="1653394"/>
            <a:ext cx="3144268" cy="842042"/>
          </a:xfrm>
          <a:prstGeom prst="rect">
            <a:avLst/>
          </a:prstGeom>
        </p:spPr>
      </p:pic>
      <p:sp>
        <p:nvSpPr>
          <p:cNvPr id="48" name="矩形 47">
            <a:extLst>
              <a:ext uri="{FF2B5EF4-FFF2-40B4-BE49-F238E27FC236}">
                <a16:creationId xmlns:a16="http://schemas.microsoft.com/office/drawing/2014/main" id="{90ECC85D-4571-40C3-A14C-5CE84A2DA5AF}"/>
              </a:ext>
            </a:extLst>
          </p:cNvPr>
          <p:cNvSpPr/>
          <p:nvPr/>
        </p:nvSpPr>
        <p:spPr>
          <a:xfrm flipH="1">
            <a:off x="6362463" y="5188145"/>
            <a:ext cx="5242162" cy="400110"/>
          </a:xfrm>
          <a:prstGeom prst="rect">
            <a:avLst/>
          </a:prstGeom>
        </p:spPr>
        <p:txBody>
          <a:bodyPr wrap="square">
            <a:spAutoFit/>
          </a:bodyPr>
          <a:lstStyle/>
          <a:p>
            <a:r>
              <a:rPr lang="zh-CN" altLang="en-US" sz="20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mn-ea"/>
                <a:sym typeface="+mn-lt"/>
              </a:rPr>
              <a:t>电工电子教学实验中心</a:t>
            </a:r>
          </a:p>
        </p:txBody>
      </p:sp>
      <p:sp>
        <p:nvSpPr>
          <p:cNvPr id="21" name="任意多边形: 形状 2">
            <a:extLst>
              <a:ext uri="{FF2B5EF4-FFF2-40B4-BE49-F238E27FC236}">
                <a16:creationId xmlns:a16="http://schemas.microsoft.com/office/drawing/2014/main" id="{E4027533-6DF8-4400-B33B-0C89C9D737D9}"/>
              </a:ext>
            </a:extLst>
          </p:cNvPr>
          <p:cNvSpPr/>
          <p:nvPr/>
        </p:nvSpPr>
        <p:spPr>
          <a:xfrm>
            <a:off x="-1422399" y="4104616"/>
            <a:ext cx="17613085" cy="1444704"/>
          </a:xfrm>
          <a:custGeom>
            <a:avLst/>
            <a:gdLst>
              <a:gd name="connsiteX0" fmla="*/ 0 w 15210971"/>
              <a:gd name="connsiteY0" fmla="*/ 72097 h 1444704"/>
              <a:gd name="connsiteX1" fmla="*/ 1748971 w 15210971"/>
              <a:gd name="connsiteY1" fmla="*/ 761526 h 1444704"/>
              <a:gd name="connsiteX2" fmla="*/ 3969657 w 15210971"/>
              <a:gd name="connsiteY2" fmla="*/ 188211 h 1444704"/>
              <a:gd name="connsiteX3" fmla="*/ 6328228 w 15210971"/>
              <a:gd name="connsiteY3" fmla="*/ 863126 h 1444704"/>
              <a:gd name="connsiteX4" fmla="*/ 9296400 w 15210971"/>
              <a:gd name="connsiteY4" fmla="*/ 6783 h 1444704"/>
              <a:gd name="connsiteX5" fmla="*/ 11560628 w 15210971"/>
              <a:gd name="connsiteY5" fmla="*/ 1429183 h 1444704"/>
              <a:gd name="connsiteX6" fmla="*/ 15210971 w 15210971"/>
              <a:gd name="connsiteY6" fmla="*/ 638154 h 1444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210971" h="1444704">
                <a:moveTo>
                  <a:pt x="0" y="72097"/>
                </a:moveTo>
                <a:cubicBezTo>
                  <a:pt x="543681" y="407135"/>
                  <a:pt x="1087362" y="742174"/>
                  <a:pt x="1748971" y="761526"/>
                </a:cubicBezTo>
                <a:cubicBezTo>
                  <a:pt x="2410580" y="780878"/>
                  <a:pt x="3206448" y="171278"/>
                  <a:pt x="3969657" y="188211"/>
                </a:cubicBezTo>
                <a:cubicBezTo>
                  <a:pt x="4732866" y="205144"/>
                  <a:pt x="5440438" y="893364"/>
                  <a:pt x="6328228" y="863126"/>
                </a:cubicBezTo>
                <a:cubicBezTo>
                  <a:pt x="7216018" y="832888"/>
                  <a:pt x="8424333" y="-87560"/>
                  <a:pt x="9296400" y="6783"/>
                </a:cubicBezTo>
                <a:cubicBezTo>
                  <a:pt x="10168467" y="101126"/>
                  <a:pt x="10574866" y="1323955"/>
                  <a:pt x="11560628" y="1429183"/>
                </a:cubicBezTo>
                <a:cubicBezTo>
                  <a:pt x="12546390" y="1534411"/>
                  <a:pt x="13878680" y="1086282"/>
                  <a:pt x="15210971" y="638154"/>
                </a:cubicBezTo>
              </a:path>
            </a:pathLst>
          </a:cu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任意多边形: 形状 3">
            <a:extLst>
              <a:ext uri="{FF2B5EF4-FFF2-40B4-BE49-F238E27FC236}">
                <a16:creationId xmlns:a16="http://schemas.microsoft.com/office/drawing/2014/main" id="{AB4D2B92-F8DB-4A34-807D-B0E131EFA660}"/>
              </a:ext>
            </a:extLst>
          </p:cNvPr>
          <p:cNvSpPr/>
          <p:nvPr/>
        </p:nvSpPr>
        <p:spPr>
          <a:xfrm>
            <a:off x="-3047999" y="4133645"/>
            <a:ext cx="17613085" cy="1444704"/>
          </a:xfrm>
          <a:custGeom>
            <a:avLst/>
            <a:gdLst>
              <a:gd name="connsiteX0" fmla="*/ 0 w 15210971"/>
              <a:gd name="connsiteY0" fmla="*/ 72097 h 1444704"/>
              <a:gd name="connsiteX1" fmla="*/ 1748971 w 15210971"/>
              <a:gd name="connsiteY1" fmla="*/ 761526 h 1444704"/>
              <a:gd name="connsiteX2" fmla="*/ 3969657 w 15210971"/>
              <a:gd name="connsiteY2" fmla="*/ 188211 h 1444704"/>
              <a:gd name="connsiteX3" fmla="*/ 6328228 w 15210971"/>
              <a:gd name="connsiteY3" fmla="*/ 863126 h 1444704"/>
              <a:gd name="connsiteX4" fmla="*/ 9296400 w 15210971"/>
              <a:gd name="connsiteY4" fmla="*/ 6783 h 1444704"/>
              <a:gd name="connsiteX5" fmla="*/ 11560628 w 15210971"/>
              <a:gd name="connsiteY5" fmla="*/ 1429183 h 1444704"/>
              <a:gd name="connsiteX6" fmla="*/ 15210971 w 15210971"/>
              <a:gd name="connsiteY6" fmla="*/ 638154 h 1444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210971" h="1444704">
                <a:moveTo>
                  <a:pt x="0" y="72097"/>
                </a:moveTo>
                <a:cubicBezTo>
                  <a:pt x="543681" y="407135"/>
                  <a:pt x="1087362" y="742174"/>
                  <a:pt x="1748971" y="761526"/>
                </a:cubicBezTo>
                <a:cubicBezTo>
                  <a:pt x="2410580" y="780878"/>
                  <a:pt x="3206448" y="171278"/>
                  <a:pt x="3969657" y="188211"/>
                </a:cubicBezTo>
                <a:cubicBezTo>
                  <a:pt x="4732866" y="205144"/>
                  <a:pt x="5440438" y="893364"/>
                  <a:pt x="6328228" y="863126"/>
                </a:cubicBezTo>
                <a:cubicBezTo>
                  <a:pt x="7216018" y="832888"/>
                  <a:pt x="8424333" y="-87560"/>
                  <a:pt x="9296400" y="6783"/>
                </a:cubicBezTo>
                <a:cubicBezTo>
                  <a:pt x="10168467" y="101126"/>
                  <a:pt x="10574866" y="1323955"/>
                  <a:pt x="11560628" y="1429183"/>
                </a:cubicBezTo>
                <a:cubicBezTo>
                  <a:pt x="12546390" y="1534411"/>
                  <a:pt x="13878680" y="1086282"/>
                  <a:pt x="15210971" y="638154"/>
                </a:cubicBezTo>
              </a:path>
            </a:pathLst>
          </a:cu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椭圆 38">
            <a:extLst>
              <a:ext uri="{FF2B5EF4-FFF2-40B4-BE49-F238E27FC236}">
                <a16:creationId xmlns:a16="http://schemas.microsoft.com/office/drawing/2014/main" id="{4CAC9629-B983-41F4-A031-41E10DCAC179}"/>
              </a:ext>
            </a:extLst>
          </p:cNvPr>
          <p:cNvSpPr/>
          <p:nvPr/>
        </p:nvSpPr>
        <p:spPr>
          <a:xfrm>
            <a:off x="-871877" y="2044360"/>
            <a:ext cx="2976448" cy="2976448"/>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椭圆 48">
            <a:extLst>
              <a:ext uri="{FF2B5EF4-FFF2-40B4-BE49-F238E27FC236}">
                <a16:creationId xmlns:a16="http://schemas.microsoft.com/office/drawing/2014/main" id="{4CAC9629-B983-41F4-A031-41E10DCAC179}"/>
              </a:ext>
            </a:extLst>
          </p:cNvPr>
          <p:cNvSpPr/>
          <p:nvPr/>
        </p:nvSpPr>
        <p:spPr>
          <a:xfrm>
            <a:off x="10785251" y="4148461"/>
            <a:ext cx="2976448" cy="2976448"/>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3489481" y="4424051"/>
            <a:ext cx="6153650" cy="369332"/>
          </a:xfrm>
          <a:prstGeom prst="rect">
            <a:avLst/>
          </a:prstGeom>
          <a:noFill/>
        </p:spPr>
        <p:txBody>
          <a:bodyPr wrap="square" rtlCol="0">
            <a:spAutoFit/>
          </a:bodyPr>
          <a:lstStyle/>
          <a:p>
            <a:pPr algn="dist"/>
            <a:r>
              <a:rPr lang="en-US" altLang="zh-CN" dirty="0">
                <a:solidFill>
                  <a:schemeClr val="tx1">
                    <a:lumMod val="50000"/>
                    <a:lumOff val="50000"/>
                  </a:schemeClr>
                </a:solidFill>
              </a:rPr>
              <a:t>XI'AN JIAOTONG UNIVERSITY</a:t>
            </a:r>
          </a:p>
        </p:txBody>
      </p:sp>
    </p:spTree>
    <p:extLst>
      <p:ext uri="{BB962C8B-B14F-4D97-AF65-F5344CB8AC3E}">
        <p14:creationId xmlns:p14="http://schemas.microsoft.com/office/powerpoint/2010/main" val="3791190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8"/>
                                        </p:tgtEl>
                                        <p:attrNameLst>
                                          <p:attrName>style.visibility</p:attrName>
                                        </p:attrNameLst>
                                      </p:cBhvr>
                                      <p:to>
                                        <p:strVal val="visible"/>
                                      </p:to>
                                    </p:set>
                                    <p:animEffect transition="in" filter="wipe(down)">
                                      <p:cBhvr>
                                        <p:cTn id="7" dur="500"/>
                                        <p:tgtEl>
                                          <p:spTgt spid="48"/>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32"/>
                                        </p:tgtEl>
                                        <p:attrNameLst>
                                          <p:attrName>style.visibility</p:attrName>
                                        </p:attrNameLst>
                                      </p:cBhvr>
                                      <p:to>
                                        <p:strVal val="visible"/>
                                      </p:to>
                                    </p:set>
                                    <p:anim calcmode="lin" valueType="num">
                                      <p:cBhvr additive="base">
                                        <p:cTn id="12" dur="500" fill="hold"/>
                                        <p:tgtEl>
                                          <p:spTgt spid="32"/>
                                        </p:tgtEl>
                                        <p:attrNameLst>
                                          <p:attrName>ppt_x</p:attrName>
                                        </p:attrNameLst>
                                      </p:cBhvr>
                                      <p:tavLst>
                                        <p:tav tm="0">
                                          <p:val>
                                            <p:strVal val="#ppt_x"/>
                                          </p:val>
                                        </p:tav>
                                        <p:tav tm="100000">
                                          <p:val>
                                            <p:strVal val="#ppt_x"/>
                                          </p:val>
                                        </p:tav>
                                      </p:tavLst>
                                    </p:anim>
                                    <p:anim calcmode="lin" valueType="num">
                                      <p:cBhvr additive="base">
                                        <p:cTn id="13" dur="500" fill="hold"/>
                                        <p:tgtEl>
                                          <p:spTgt spid="3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4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任意多边形: 形状 120">
            <a:extLst>
              <a:ext uri="{FF2B5EF4-FFF2-40B4-BE49-F238E27FC236}">
                <a16:creationId xmlns:a16="http://schemas.microsoft.com/office/drawing/2014/main" id="{3395D360-A0CB-45C5-9976-551EDF9480FE}"/>
              </a:ext>
            </a:extLst>
          </p:cNvPr>
          <p:cNvSpPr/>
          <p:nvPr/>
        </p:nvSpPr>
        <p:spPr>
          <a:xfrm rot="2001767">
            <a:off x="10937689" y="471902"/>
            <a:ext cx="979224" cy="985205"/>
          </a:xfrm>
          <a:custGeom>
            <a:avLst/>
            <a:gdLst>
              <a:gd name="connsiteX0" fmla="*/ 447971 w 1442460"/>
              <a:gd name="connsiteY0" fmla="*/ 1397101 h 1451272"/>
              <a:gd name="connsiteX1" fmla="*/ 994490 w 1442460"/>
              <a:gd name="connsiteY1" fmla="*/ 1397101 h 1451272"/>
              <a:gd name="connsiteX2" fmla="*/ 867471 w 1442460"/>
              <a:gd name="connsiteY2" fmla="*/ 1436530 h 1451272"/>
              <a:gd name="connsiteX3" fmla="*/ 721230 w 1442460"/>
              <a:gd name="connsiteY3" fmla="*/ 1451272 h 1451272"/>
              <a:gd name="connsiteX4" fmla="*/ 574989 w 1442460"/>
              <a:gd name="connsiteY4" fmla="*/ 1436530 h 1451272"/>
              <a:gd name="connsiteX5" fmla="*/ 209854 w 1442460"/>
              <a:gd name="connsiteY5" fmla="*/ 1240162 h 1451272"/>
              <a:gd name="connsiteX6" fmla="*/ 1232607 w 1442460"/>
              <a:gd name="connsiteY6" fmla="*/ 1240162 h 1451272"/>
              <a:gd name="connsiteX7" fmla="*/ 1166640 w 1442460"/>
              <a:gd name="connsiteY7" fmla="*/ 1294590 h 1451272"/>
              <a:gd name="connsiteX8" fmla="*/ 275821 w 1442460"/>
              <a:gd name="connsiteY8" fmla="*/ 1294590 h 1451272"/>
              <a:gd name="connsiteX9" fmla="*/ 93401 w 1442460"/>
              <a:gd name="connsiteY9" fmla="*/ 1083223 h 1451272"/>
              <a:gd name="connsiteX10" fmla="*/ 1349059 w 1442460"/>
              <a:gd name="connsiteY10" fmla="*/ 1083223 h 1451272"/>
              <a:gd name="connsiteX11" fmla="*/ 1322939 w 1442460"/>
              <a:gd name="connsiteY11" fmla="*/ 1131346 h 1451272"/>
              <a:gd name="connsiteX12" fmla="*/ 1317737 w 1442460"/>
              <a:gd name="connsiteY12" fmla="*/ 1137651 h 1451272"/>
              <a:gd name="connsiteX13" fmla="*/ 124723 w 1442460"/>
              <a:gd name="connsiteY13" fmla="*/ 1137651 h 1451272"/>
              <a:gd name="connsiteX14" fmla="*/ 119521 w 1442460"/>
              <a:gd name="connsiteY14" fmla="*/ 1131346 h 1451272"/>
              <a:gd name="connsiteX15" fmla="*/ 27225 w 1442460"/>
              <a:gd name="connsiteY15" fmla="*/ 926284 h 1451272"/>
              <a:gd name="connsiteX16" fmla="*/ 1415235 w 1442460"/>
              <a:gd name="connsiteY16" fmla="*/ 926284 h 1451272"/>
              <a:gd name="connsiteX17" fmla="*/ 1398340 w 1442460"/>
              <a:gd name="connsiteY17" fmla="*/ 980712 h 1451272"/>
              <a:gd name="connsiteX18" fmla="*/ 44121 w 1442460"/>
              <a:gd name="connsiteY18" fmla="*/ 980712 h 1451272"/>
              <a:gd name="connsiteX19" fmla="*/ 0 w 1442460"/>
              <a:gd name="connsiteY19" fmla="*/ 769345 h 1451272"/>
              <a:gd name="connsiteX20" fmla="*/ 1442460 w 1442460"/>
              <a:gd name="connsiteY20" fmla="*/ 769345 h 1451272"/>
              <a:gd name="connsiteX21" fmla="*/ 1436973 w 1442460"/>
              <a:gd name="connsiteY21" fmla="*/ 823773 h 1451272"/>
              <a:gd name="connsiteX22" fmla="*/ 5487 w 1442460"/>
              <a:gd name="connsiteY22" fmla="*/ 823773 h 1451272"/>
              <a:gd name="connsiteX23" fmla="*/ 7009 w 1442460"/>
              <a:gd name="connsiteY23" fmla="*/ 612406 h 1451272"/>
              <a:gd name="connsiteX24" fmla="*/ 1435452 w 1442460"/>
              <a:gd name="connsiteY24" fmla="*/ 612406 h 1451272"/>
              <a:gd name="connsiteX25" fmla="*/ 1440939 w 1442460"/>
              <a:gd name="connsiteY25" fmla="*/ 666834 h 1451272"/>
              <a:gd name="connsiteX26" fmla="*/ 1522 w 1442460"/>
              <a:gd name="connsiteY26" fmla="*/ 666834 h 1451272"/>
              <a:gd name="connsiteX27" fmla="*/ 48806 w 1442460"/>
              <a:gd name="connsiteY27" fmla="*/ 455467 h 1451272"/>
              <a:gd name="connsiteX28" fmla="*/ 1393655 w 1442460"/>
              <a:gd name="connsiteY28" fmla="*/ 455467 h 1451272"/>
              <a:gd name="connsiteX29" fmla="*/ 1410550 w 1442460"/>
              <a:gd name="connsiteY29" fmla="*/ 509895 h 1451272"/>
              <a:gd name="connsiteX30" fmla="*/ 31911 w 1442460"/>
              <a:gd name="connsiteY30" fmla="*/ 509895 h 1451272"/>
              <a:gd name="connsiteX31" fmla="*/ 137176 w 1442460"/>
              <a:gd name="connsiteY31" fmla="*/ 298528 h 1451272"/>
              <a:gd name="connsiteX32" fmla="*/ 1305284 w 1442460"/>
              <a:gd name="connsiteY32" fmla="*/ 298528 h 1451272"/>
              <a:gd name="connsiteX33" fmla="*/ 1322939 w 1442460"/>
              <a:gd name="connsiteY33" fmla="*/ 319926 h 1451272"/>
              <a:gd name="connsiteX34" fmla="*/ 1340867 w 1442460"/>
              <a:gd name="connsiteY34" fmla="*/ 352956 h 1451272"/>
              <a:gd name="connsiteX35" fmla="*/ 101593 w 1442460"/>
              <a:gd name="connsiteY35" fmla="*/ 352956 h 1451272"/>
              <a:gd name="connsiteX36" fmla="*/ 119521 w 1442460"/>
              <a:gd name="connsiteY36" fmla="*/ 319926 h 1451272"/>
              <a:gd name="connsiteX37" fmla="*/ 294114 w 1442460"/>
              <a:gd name="connsiteY37" fmla="*/ 141589 h 1451272"/>
              <a:gd name="connsiteX38" fmla="*/ 1148347 w 1442460"/>
              <a:gd name="connsiteY38" fmla="*/ 141589 h 1451272"/>
              <a:gd name="connsiteX39" fmla="*/ 1214314 w 1442460"/>
              <a:gd name="connsiteY39" fmla="*/ 196017 h 1451272"/>
              <a:gd name="connsiteX40" fmla="*/ 228147 w 1442460"/>
              <a:gd name="connsiteY40" fmla="*/ 196017 h 1451272"/>
              <a:gd name="connsiteX41" fmla="*/ 721230 w 1442460"/>
              <a:gd name="connsiteY41" fmla="*/ 0 h 1451272"/>
              <a:gd name="connsiteX42" fmla="*/ 867471 w 1442460"/>
              <a:gd name="connsiteY42" fmla="*/ 14742 h 1451272"/>
              <a:gd name="connsiteX43" fmla="*/ 945868 w 1442460"/>
              <a:gd name="connsiteY43" fmla="*/ 39078 h 1451272"/>
              <a:gd name="connsiteX44" fmla="*/ 496593 w 1442460"/>
              <a:gd name="connsiteY44" fmla="*/ 39078 h 1451272"/>
              <a:gd name="connsiteX45" fmla="*/ 574989 w 1442460"/>
              <a:gd name="connsiteY45" fmla="*/ 14742 h 1451272"/>
              <a:gd name="connsiteX46" fmla="*/ 721230 w 1442460"/>
              <a:gd name="connsiteY46" fmla="*/ 0 h 1451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442460" h="1451272">
                <a:moveTo>
                  <a:pt x="447971" y="1397101"/>
                </a:moveTo>
                <a:lnTo>
                  <a:pt x="994490" y="1397101"/>
                </a:lnTo>
                <a:lnTo>
                  <a:pt x="867471" y="1436530"/>
                </a:lnTo>
                <a:cubicBezTo>
                  <a:pt x="820234" y="1446196"/>
                  <a:pt x="771325" y="1451272"/>
                  <a:pt x="721230" y="1451272"/>
                </a:cubicBezTo>
                <a:cubicBezTo>
                  <a:pt x="671136" y="1451272"/>
                  <a:pt x="622226" y="1446196"/>
                  <a:pt x="574989" y="1436530"/>
                </a:cubicBezTo>
                <a:close/>
                <a:moveTo>
                  <a:pt x="209854" y="1240162"/>
                </a:moveTo>
                <a:lnTo>
                  <a:pt x="1232607" y="1240162"/>
                </a:lnTo>
                <a:lnTo>
                  <a:pt x="1166640" y="1294590"/>
                </a:lnTo>
                <a:lnTo>
                  <a:pt x="275821" y="1294590"/>
                </a:lnTo>
                <a:close/>
                <a:moveTo>
                  <a:pt x="93401" y="1083223"/>
                </a:moveTo>
                <a:lnTo>
                  <a:pt x="1349059" y="1083223"/>
                </a:lnTo>
                <a:lnTo>
                  <a:pt x="1322939" y="1131346"/>
                </a:lnTo>
                <a:lnTo>
                  <a:pt x="1317737" y="1137651"/>
                </a:lnTo>
                <a:lnTo>
                  <a:pt x="124723" y="1137651"/>
                </a:lnTo>
                <a:lnTo>
                  <a:pt x="119521" y="1131346"/>
                </a:lnTo>
                <a:close/>
                <a:moveTo>
                  <a:pt x="27225" y="926284"/>
                </a:moveTo>
                <a:lnTo>
                  <a:pt x="1415235" y="926284"/>
                </a:lnTo>
                <a:lnTo>
                  <a:pt x="1398340" y="980712"/>
                </a:lnTo>
                <a:lnTo>
                  <a:pt x="44121" y="980712"/>
                </a:lnTo>
                <a:close/>
                <a:moveTo>
                  <a:pt x="0" y="769345"/>
                </a:moveTo>
                <a:lnTo>
                  <a:pt x="1442460" y="769345"/>
                </a:lnTo>
                <a:lnTo>
                  <a:pt x="1436973" y="823773"/>
                </a:lnTo>
                <a:lnTo>
                  <a:pt x="5487" y="823773"/>
                </a:lnTo>
                <a:close/>
                <a:moveTo>
                  <a:pt x="7009" y="612406"/>
                </a:moveTo>
                <a:lnTo>
                  <a:pt x="1435452" y="612406"/>
                </a:lnTo>
                <a:lnTo>
                  <a:pt x="1440939" y="666834"/>
                </a:lnTo>
                <a:lnTo>
                  <a:pt x="1522" y="666834"/>
                </a:lnTo>
                <a:close/>
                <a:moveTo>
                  <a:pt x="48806" y="455467"/>
                </a:moveTo>
                <a:lnTo>
                  <a:pt x="1393655" y="455467"/>
                </a:lnTo>
                <a:lnTo>
                  <a:pt x="1410550" y="509895"/>
                </a:lnTo>
                <a:lnTo>
                  <a:pt x="31911" y="509895"/>
                </a:lnTo>
                <a:close/>
                <a:moveTo>
                  <a:pt x="137176" y="298528"/>
                </a:moveTo>
                <a:lnTo>
                  <a:pt x="1305284" y="298528"/>
                </a:lnTo>
                <a:lnTo>
                  <a:pt x="1322939" y="319926"/>
                </a:lnTo>
                <a:lnTo>
                  <a:pt x="1340867" y="352956"/>
                </a:lnTo>
                <a:lnTo>
                  <a:pt x="101593" y="352956"/>
                </a:lnTo>
                <a:lnTo>
                  <a:pt x="119521" y="319926"/>
                </a:lnTo>
                <a:close/>
                <a:moveTo>
                  <a:pt x="294114" y="141589"/>
                </a:moveTo>
                <a:lnTo>
                  <a:pt x="1148347" y="141589"/>
                </a:lnTo>
                <a:lnTo>
                  <a:pt x="1214314" y="196017"/>
                </a:lnTo>
                <a:lnTo>
                  <a:pt x="228147" y="196017"/>
                </a:lnTo>
                <a:close/>
                <a:moveTo>
                  <a:pt x="721230" y="0"/>
                </a:moveTo>
                <a:cubicBezTo>
                  <a:pt x="771325" y="0"/>
                  <a:pt x="820234" y="5076"/>
                  <a:pt x="867471" y="14742"/>
                </a:cubicBezTo>
                <a:lnTo>
                  <a:pt x="945868" y="39078"/>
                </a:lnTo>
                <a:lnTo>
                  <a:pt x="496593" y="39078"/>
                </a:lnTo>
                <a:lnTo>
                  <a:pt x="574989" y="14742"/>
                </a:lnTo>
                <a:cubicBezTo>
                  <a:pt x="622226" y="5076"/>
                  <a:pt x="671136" y="0"/>
                  <a:pt x="721230" y="0"/>
                </a:cubicBezTo>
                <a:close/>
              </a:path>
            </a:pathLst>
          </a:cu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7" name="椭圆 6">
            <a:extLst>
              <a:ext uri="{FF2B5EF4-FFF2-40B4-BE49-F238E27FC236}">
                <a16:creationId xmlns:a16="http://schemas.microsoft.com/office/drawing/2014/main" id="{AFCB4D92-E7C9-456F-8BE0-5293892F04FC}"/>
              </a:ext>
            </a:extLst>
          </p:cNvPr>
          <p:cNvSpPr/>
          <p:nvPr/>
        </p:nvSpPr>
        <p:spPr>
          <a:xfrm>
            <a:off x="1128186" y="3375818"/>
            <a:ext cx="153420" cy="153420"/>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latin typeface="思源黑体 CN Medium" panose="020B0600000000000000" pitchFamily="34" charset="-122"/>
              <a:ea typeface="思源黑体 CN Medium" panose="020B0600000000000000" pitchFamily="34" charset="-122"/>
            </a:endParaRPr>
          </a:p>
        </p:txBody>
      </p:sp>
      <p:sp>
        <p:nvSpPr>
          <p:cNvPr id="8" name="椭圆 7">
            <a:extLst>
              <a:ext uri="{FF2B5EF4-FFF2-40B4-BE49-F238E27FC236}">
                <a16:creationId xmlns:a16="http://schemas.microsoft.com/office/drawing/2014/main" id="{A7CA9DE4-1E68-4808-8DC1-A20F9E810155}"/>
              </a:ext>
            </a:extLst>
          </p:cNvPr>
          <p:cNvSpPr/>
          <p:nvPr/>
        </p:nvSpPr>
        <p:spPr>
          <a:xfrm>
            <a:off x="8787379" y="1478302"/>
            <a:ext cx="153420" cy="153420"/>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任意多边形: 形状 185">
            <a:extLst>
              <a:ext uri="{FF2B5EF4-FFF2-40B4-BE49-F238E27FC236}">
                <a16:creationId xmlns:a16="http://schemas.microsoft.com/office/drawing/2014/main" id="{C9D37591-45DF-4190-948A-D8AC41B4033A}"/>
              </a:ext>
            </a:extLst>
          </p:cNvPr>
          <p:cNvSpPr/>
          <p:nvPr/>
        </p:nvSpPr>
        <p:spPr>
          <a:xfrm>
            <a:off x="3805093" y="1"/>
            <a:ext cx="3968423" cy="1933574"/>
          </a:xfrm>
          <a:custGeom>
            <a:avLst/>
            <a:gdLst>
              <a:gd name="connsiteX0" fmla="*/ 0 w 3968423"/>
              <a:gd name="connsiteY0" fmla="*/ 0 h 1933574"/>
              <a:gd name="connsiteX1" fmla="*/ 3968423 w 3968423"/>
              <a:gd name="connsiteY1" fmla="*/ 0 h 1933574"/>
              <a:gd name="connsiteX2" fmla="*/ 3946431 w 3968423"/>
              <a:gd name="connsiteY2" fmla="*/ 161996 h 1933574"/>
              <a:gd name="connsiteX3" fmla="*/ 1984212 w 3968423"/>
              <a:gd name="connsiteY3" fmla="*/ 1933574 h 1933574"/>
              <a:gd name="connsiteX4" fmla="*/ 21992 w 3968423"/>
              <a:gd name="connsiteY4" fmla="*/ 161996 h 1933574"/>
              <a:gd name="connsiteX0" fmla="*/ 0 w 3968423"/>
              <a:gd name="connsiteY0" fmla="*/ 19051 h 1952625"/>
              <a:gd name="connsiteX1" fmla="*/ 304945 w 3968423"/>
              <a:gd name="connsiteY1" fmla="*/ 0 h 1952625"/>
              <a:gd name="connsiteX2" fmla="*/ 3968423 w 3968423"/>
              <a:gd name="connsiteY2" fmla="*/ 19051 h 1952625"/>
              <a:gd name="connsiteX3" fmla="*/ 3946431 w 3968423"/>
              <a:gd name="connsiteY3" fmla="*/ 181047 h 1952625"/>
              <a:gd name="connsiteX4" fmla="*/ 1984212 w 3968423"/>
              <a:gd name="connsiteY4" fmla="*/ 1952625 h 1952625"/>
              <a:gd name="connsiteX5" fmla="*/ 21992 w 3968423"/>
              <a:gd name="connsiteY5" fmla="*/ 181047 h 1952625"/>
              <a:gd name="connsiteX6" fmla="*/ 0 w 3968423"/>
              <a:gd name="connsiteY6" fmla="*/ 19051 h 1952625"/>
              <a:gd name="connsiteX0" fmla="*/ 0 w 3968423"/>
              <a:gd name="connsiteY0" fmla="*/ 0 h 1933574"/>
              <a:gd name="connsiteX1" fmla="*/ 3968423 w 3968423"/>
              <a:gd name="connsiteY1" fmla="*/ 0 h 1933574"/>
              <a:gd name="connsiteX2" fmla="*/ 3946431 w 3968423"/>
              <a:gd name="connsiteY2" fmla="*/ 161996 h 1933574"/>
              <a:gd name="connsiteX3" fmla="*/ 1984212 w 3968423"/>
              <a:gd name="connsiteY3" fmla="*/ 1933574 h 1933574"/>
              <a:gd name="connsiteX4" fmla="*/ 21992 w 3968423"/>
              <a:gd name="connsiteY4" fmla="*/ 161996 h 1933574"/>
              <a:gd name="connsiteX5" fmla="*/ 0 w 3968423"/>
              <a:gd name="connsiteY5" fmla="*/ 0 h 1933574"/>
              <a:gd name="connsiteX0" fmla="*/ 0 w 3968423"/>
              <a:gd name="connsiteY0" fmla="*/ 14289 h 1947863"/>
              <a:gd name="connsiteX1" fmla="*/ 328757 w 3968423"/>
              <a:gd name="connsiteY1" fmla="*/ 0 h 1947863"/>
              <a:gd name="connsiteX2" fmla="*/ 3968423 w 3968423"/>
              <a:gd name="connsiteY2" fmla="*/ 14289 h 1947863"/>
              <a:gd name="connsiteX3" fmla="*/ 3946431 w 3968423"/>
              <a:gd name="connsiteY3" fmla="*/ 176285 h 1947863"/>
              <a:gd name="connsiteX4" fmla="*/ 1984212 w 3968423"/>
              <a:gd name="connsiteY4" fmla="*/ 1947863 h 1947863"/>
              <a:gd name="connsiteX5" fmla="*/ 21992 w 3968423"/>
              <a:gd name="connsiteY5" fmla="*/ 176285 h 1947863"/>
              <a:gd name="connsiteX6" fmla="*/ 0 w 3968423"/>
              <a:gd name="connsiteY6" fmla="*/ 14289 h 1947863"/>
              <a:gd name="connsiteX0" fmla="*/ 328757 w 3968423"/>
              <a:gd name="connsiteY0" fmla="*/ 0 h 1947863"/>
              <a:gd name="connsiteX1" fmla="*/ 3968423 w 3968423"/>
              <a:gd name="connsiteY1" fmla="*/ 14289 h 1947863"/>
              <a:gd name="connsiteX2" fmla="*/ 3946431 w 3968423"/>
              <a:gd name="connsiteY2" fmla="*/ 176285 h 1947863"/>
              <a:gd name="connsiteX3" fmla="*/ 1984212 w 3968423"/>
              <a:gd name="connsiteY3" fmla="*/ 1947863 h 1947863"/>
              <a:gd name="connsiteX4" fmla="*/ 21992 w 3968423"/>
              <a:gd name="connsiteY4" fmla="*/ 176285 h 1947863"/>
              <a:gd name="connsiteX5" fmla="*/ 0 w 3968423"/>
              <a:gd name="connsiteY5" fmla="*/ 14289 h 1947863"/>
              <a:gd name="connsiteX6" fmla="*/ 420197 w 3968423"/>
              <a:gd name="connsiteY6" fmla="*/ 91440 h 1947863"/>
              <a:gd name="connsiteX0" fmla="*/ 328757 w 3968423"/>
              <a:gd name="connsiteY0" fmla="*/ 0 h 1947863"/>
              <a:gd name="connsiteX1" fmla="*/ 3968423 w 3968423"/>
              <a:gd name="connsiteY1" fmla="*/ 14289 h 1947863"/>
              <a:gd name="connsiteX2" fmla="*/ 3946431 w 3968423"/>
              <a:gd name="connsiteY2" fmla="*/ 176285 h 1947863"/>
              <a:gd name="connsiteX3" fmla="*/ 1984212 w 3968423"/>
              <a:gd name="connsiteY3" fmla="*/ 1947863 h 1947863"/>
              <a:gd name="connsiteX4" fmla="*/ 21992 w 3968423"/>
              <a:gd name="connsiteY4" fmla="*/ 176285 h 1947863"/>
              <a:gd name="connsiteX5" fmla="*/ 0 w 3968423"/>
              <a:gd name="connsiteY5" fmla="*/ 14289 h 1947863"/>
              <a:gd name="connsiteX0" fmla="*/ 3968423 w 3968423"/>
              <a:gd name="connsiteY0" fmla="*/ 0 h 1933574"/>
              <a:gd name="connsiteX1" fmla="*/ 3946431 w 3968423"/>
              <a:gd name="connsiteY1" fmla="*/ 161996 h 1933574"/>
              <a:gd name="connsiteX2" fmla="*/ 1984212 w 3968423"/>
              <a:gd name="connsiteY2" fmla="*/ 1933574 h 1933574"/>
              <a:gd name="connsiteX3" fmla="*/ 21992 w 3968423"/>
              <a:gd name="connsiteY3" fmla="*/ 161996 h 1933574"/>
              <a:gd name="connsiteX4" fmla="*/ 0 w 3968423"/>
              <a:gd name="connsiteY4" fmla="*/ 0 h 19335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68423" h="1933574">
                <a:moveTo>
                  <a:pt x="3968423" y="0"/>
                </a:moveTo>
                <a:lnTo>
                  <a:pt x="3946431" y="161996"/>
                </a:lnTo>
                <a:cubicBezTo>
                  <a:pt x="3764638" y="1172055"/>
                  <a:pt x="2955217" y="1933574"/>
                  <a:pt x="1984212" y="1933574"/>
                </a:cubicBezTo>
                <a:cubicBezTo>
                  <a:pt x="1013203" y="1933574"/>
                  <a:pt x="203783" y="1172055"/>
                  <a:pt x="21992" y="161996"/>
                </a:cubicBezTo>
                <a:lnTo>
                  <a:pt x="0" y="0"/>
                </a:lnTo>
              </a:path>
            </a:pathLst>
          </a:cu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0" name="任意多边形: 形状 186">
            <a:extLst>
              <a:ext uri="{FF2B5EF4-FFF2-40B4-BE49-F238E27FC236}">
                <a16:creationId xmlns:a16="http://schemas.microsoft.com/office/drawing/2014/main" id="{0429A552-44AB-4E69-ABE3-1E38283A99AB}"/>
              </a:ext>
            </a:extLst>
          </p:cNvPr>
          <p:cNvSpPr/>
          <p:nvPr/>
        </p:nvSpPr>
        <p:spPr>
          <a:xfrm>
            <a:off x="4414949" y="1"/>
            <a:ext cx="3901235" cy="1719263"/>
          </a:xfrm>
          <a:custGeom>
            <a:avLst/>
            <a:gdLst>
              <a:gd name="connsiteX0" fmla="*/ 0 w 3901235"/>
              <a:gd name="connsiteY0" fmla="*/ 0 h 1719263"/>
              <a:gd name="connsiteX1" fmla="*/ 3901235 w 3901235"/>
              <a:gd name="connsiteY1" fmla="*/ 0 h 1719263"/>
              <a:gd name="connsiteX2" fmla="*/ 3871510 w 3901235"/>
              <a:gd name="connsiteY2" fmla="*/ 134033 h 1719263"/>
              <a:gd name="connsiteX3" fmla="*/ 1950618 w 3901235"/>
              <a:gd name="connsiteY3" fmla="*/ 1719263 h 1719263"/>
              <a:gd name="connsiteX4" fmla="*/ 29725 w 3901235"/>
              <a:gd name="connsiteY4" fmla="*/ 134033 h 1719263"/>
              <a:gd name="connsiteX0" fmla="*/ 0 w 3901235"/>
              <a:gd name="connsiteY0" fmla="*/ 4764 h 1724027"/>
              <a:gd name="connsiteX1" fmla="*/ 971439 w 3901235"/>
              <a:gd name="connsiteY1" fmla="*/ 0 h 1724027"/>
              <a:gd name="connsiteX2" fmla="*/ 3901235 w 3901235"/>
              <a:gd name="connsiteY2" fmla="*/ 4764 h 1724027"/>
              <a:gd name="connsiteX3" fmla="*/ 3871510 w 3901235"/>
              <a:gd name="connsiteY3" fmla="*/ 138797 h 1724027"/>
              <a:gd name="connsiteX4" fmla="*/ 1950618 w 3901235"/>
              <a:gd name="connsiteY4" fmla="*/ 1724027 h 1724027"/>
              <a:gd name="connsiteX5" fmla="*/ 29725 w 3901235"/>
              <a:gd name="connsiteY5" fmla="*/ 138797 h 1724027"/>
              <a:gd name="connsiteX6" fmla="*/ 0 w 3901235"/>
              <a:gd name="connsiteY6" fmla="*/ 4764 h 1724027"/>
              <a:gd name="connsiteX0" fmla="*/ 971439 w 3901235"/>
              <a:gd name="connsiteY0" fmla="*/ 0 h 1724027"/>
              <a:gd name="connsiteX1" fmla="*/ 3901235 w 3901235"/>
              <a:gd name="connsiteY1" fmla="*/ 4764 h 1724027"/>
              <a:gd name="connsiteX2" fmla="*/ 3871510 w 3901235"/>
              <a:gd name="connsiteY2" fmla="*/ 138797 h 1724027"/>
              <a:gd name="connsiteX3" fmla="*/ 1950618 w 3901235"/>
              <a:gd name="connsiteY3" fmla="*/ 1724027 h 1724027"/>
              <a:gd name="connsiteX4" fmla="*/ 29725 w 3901235"/>
              <a:gd name="connsiteY4" fmla="*/ 138797 h 1724027"/>
              <a:gd name="connsiteX5" fmla="*/ 0 w 3901235"/>
              <a:gd name="connsiteY5" fmla="*/ 4764 h 1724027"/>
              <a:gd name="connsiteX6" fmla="*/ 1062879 w 3901235"/>
              <a:gd name="connsiteY6" fmla="*/ 91440 h 1724027"/>
              <a:gd name="connsiteX0" fmla="*/ 971439 w 3901235"/>
              <a:gd name="connsiteY0" fmla="*/ 0 h 1724027"/>
              <a:gd name="connsiteX1" fmla="*/ 3901235 w 3901235"/>
              <a:gd name="connsiteY1" fmla="*/ 4764 h 1724027"/>
              <a:gd name="connsiteX2" fmla="*/ 3871510 w 3901235"/>
              <a:gd name="connsiteY2" fmla="*/ 138797 h 1724027"/>
              <a:gd name="connsiteX3" fmla="*/ 1950618 w 3901235"/>
              <a:gd name="connsiteY3" fmla="*/ 1724027 h 1724027"/>
              <a:gd name="connsiteX4" fmla="*/ 29725 w 3901235"/>
              <a:gd name="connsiteY4" fmla="*/ 138797 h 1724027"/>
              <a:gd name="connsiteX5" fmla="*/ 0 w 3901235"/>
              <a:gd name="connsiteY5" fmla="*/ 4764 h 1724027"/>
              <a:gd name="connsiteX0" fmla="*/ 3901235 w 3901235"/>
              <a:gd name="connsiteY0" fmla="*/ 0 h 1719263"/>
              <a:gd name="connsiteX1" fmla="*/ 3871510 w 3901235"/>
              <a:gd name="connsiteY1" fmla="*/ 134033 h 1719263"/>
              <a:gd name="connsiteX2" fmla="*/ 1950618 w 3901235"/>
              <a:gd name="connsiteY2" fmla="*/ 1719263 h 1719263"/>
              <a:gd name="connsiteX3" fmla="*/ 29725 w 3901235"/>
              <a:gd name="connsiteY3" fmla="*/ 134033 h 1719263"/>
              <a:gd name="connsiteX4" fmla="*/ 0 w 3901235"/>
              <a:gd name="connsiteY4" fmla="*/ 0 h 17192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01235" h="1719263">
                <a:moveTo>
                  <a:pt x="3901235" y="0"/>
                </a:moveTo>
                <a:lnTo>
                  <a:pt x="3871510" y="134033"/>
                </a:lnTo>
                <a:cubicBezTo>
                  <a:pt x="3629235" y="1049959"/>
                  <a:pt x="2860935" y="1719263"/>
                  <a:pt x="1950618" y="1719263"/>
                </a:cubicBezTo>
                <a:cubicBezTo>
                  <a:pt x="1040298" y="1719263"/>
                  <a:pt x="271998" y="1049959"/>
                  <a:pt x="29725" y="134033"/>
                </a:cubicBezTo>
                <a:lnTo>
                  <a:pt x="0" y="0"/>
                </a:lnTo>
              </a:path>
            </a:pathLst>
          </a:custGeom>
          <a:noFill/>
          <a:ln>
            <a:solidFill>
              <a:srgbClr val="AC4243"/>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1" name="任意多边形: 形状 187">
            <a:extLst>
              <a:ext uri="{FF2B5EF4-FFF2-40B4-BE49-F238E27FC236}">
                <a16:creationId xmlns:a16="http://schemas.microsoft.com/office/drawing/2014/main" id="{A6B88863-8231-419D-A14F-902DA0F3B505}"/>
              </a:ext>
            </a:extLst>
          </p:cNvPr>
          <p:cNvSpPr/>
          <p:nvPr/>
        </p:nvSpPr>
        <p:spPr>
          <a:xfrm>
            <a:off x="4294786" y="0"/>
            <a:ext cx="3592905" cy="1725984"/>
          </a:xfrm>
          <a:custGeom>
            <a:avLst/>
            <a:gdLst>
              <a:gd name="connsiteX0" fmla="*/ 0 w 3592905"/>
              <a:gd name="connsiteY0" fmla="*/ 0 h 1725984"/>
              <a:gd name="connsiteX1" fmla="*/ 3592905 w 3592905"/>
              <a:gd name="connsiteY1" fmla="*/ 0 h 1725984"/>
              <a:gd name="connsiteX2" fmla="*/ 3587358 w 3592905"/>
              <a:gd name="connsiteY2" fmla="*/ 109844 h 1725984"/>
              <a:gd name="connsiteX3" fmla="*/ 1796452 w 3592905"/>
              <a:gd name="connsiteY3" fmla="*/ 1725984 h 1725984"/>
              <a:gd name="connsiteX4" fmla="*/ 5547 w 3592905"/>
              <a:gd name="connsiteY4" fmla="*/ 109844 h 17259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92905" h="1725984">
                <a:moveTo>
                  <a:pt x="0" y="0"/>
                </a:moveTo>
                <a:lnTo>
                  <a:pt x="3592905" y="0"/>
                </a:lnTo>
                <a:lnTo>
                  <a:pt x="3587358" y="109844"/>
                </a:lnTo>
                <a:cubicBezTo>
                  <a:pt x="3495170" y="1017606"/>
                  <a:pt x="2728536" y="1725984"/>
                  <a:pt x="1796452" y="1725984"/>
                </a:cubicBezTo>
                <a:cubicBezTo>
                  <a:pt x="864368" y="1725984"/>
                  <a:pt x="97735" y="1017606"/>
                  <a:pt x="5547" y="109844"/>
                </a:cubicBezTo>
                <a:close/>
              </a:path>
            </a:pathLst>
          </a:cu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12" name="组合 11">
            <a:extLst>
              <a:ext uri="{FF2B5EF4-FFF2-40B4-BE49-F238E27FC236}">
                <a16:creationId xmlns:a16="http://schemas.microsoft.com/office/drawing/2014/main" id="{20E1EF72-8F97-40BB-B42A-4A5D67ED88EB}"/>
              </a:ext>
            </a:extLst>
          </p:cNvPr>
          <p:cNvGrpSpPr/>
          <p:nvPr/>
        </p:nvGrpSpPr>
        <p:grpSpPr>
          <a:xfrm>
            <a:off x="5423012" y="298047"/>
            <a:ext cx="1336454" cy="1005661"/>
            <a:chOff x="5378243" y="298047"/>
            <a:chExt cx="1336454" cy="1005661"/>
          </a:xfrm>
        </p:grpSpPr>
        <p:sp>
          <p:nvSpPr>
            <p:cNvPr id="13" name="矩形 12">
              <a:extLst>
                <a:ext uri="{FF2B5EF4-FFF2-40B4-BE49-F238E27FC236}">
                  <a16:creationId xmlns:a16="http://schemas.microsoft.com/office/drawing/2014/main" id="{1B5178F2-2D4A-410B-BE91-04F25A3587B0}"/>
                </a:ext>
              </a:extLst>
            </p:cNvPr>
            <p:cNvSpPr/>
            <p:nvPr/>
          </p:nvSpPr>
          <p:spPr>
            <a:xfrm>
              <a:off x="5378243" y="298047"/>
              <a:ext cx="764954" cy="769441"/>
            </a:xfrm>
            <a:prstGeom prst="rect">
              <a:avLst/>
            </a:prstGeom>
          </p:spPr>
          <p:txBody>
            <a:bodyPr wrap="none">
              <a:spAutoFit/>
            </a:bodyPr>
            <a:lstStyle/>
            <a:p>
              <a:pPr algn="ctr" defTabSz="914377">
                <a:defRPr/>
              </a:pPr>
              <a:r>
                <a:rPr lang="zh-CN" altLang="en-US" sz="4400" b="1" dirty="0">
                  <a:solidFill>
                    <a:schemeClr val="bg1"/>
                  </a:solidFill>
                  <a:latin typeface="思源黑体 CN Medium" panose="020B0600000000000000" pitchFamily="34" charset="-122"/>
                  <a:ea typeface="思源黑体 CN Medium" panose="020B0600000000000000" pitchFamily="34" charset="-122"/>
                </a:rPr>
                <a:t>目</a:t>
              </a:r>
            </a:p>
          </p:txBody>
        </p:sp>
        <p:sp>
          <p:nvSpPr>
            <p:cNvPr id="14" name="矩形 13">
              <a:extLst>
                <a:ext uri="{FF2B5EF4-FFF2-40B4-BE49-F238E27FC236}">
                  <a16:creationId xmlns:a16="http://schemas.microsoft.com/office/drawing/2014/main" id="{1026D04B-BFBA-4969-A62F-400DB9371C1A}"/>
                </a:ext>
              </a:extLst>
            </p:cNvPr>
            <p:cNvSpPr/>
            <p:nvPr/>
          </p:nvSpPr>
          <p:spPr>
            <a:xfrm>
              <a:off x="5949743" y="534267"/>
              <a:ext cx="764954" cy="769441"/>
            </a:xfrm>
            <a:prstGeom prst="rect">
              <a:avLst/>
            </a:prstGeom>
          </p:spPr>
          <p:txBody>
            <a:bodyPr wrap="none">
              <a:spAutoFit/>
            </a:bodyPr>
            <a:lstStyle/>
            <a:p>
              <a:pPr algn="ctr" defTabSz="914377">
                <a:defRPr/>
              </a:pPr>
              <a:r>
                <a:rPr lang="zh-CN" altLang="en-US" sz="4400" b="1" dirty="0">
                  <a:solidFill>
                    <a:schemeClr val="bg1"/>
                  </a:solidFill>
                  <a:latin typeface="思源黑体 CN Medium" panose="020B0600000000000000" pitchFamily="34" charset="-122"/>
                  <a:ea typeface="思源黑体 CN Medium" panose="020B0600000000000000" pitchFamily="34" charset="-122"/>
                </a:rPr>
                <a:t>录</a:t>
              </a:r>
            </a:p>
          </p:txBody>
        </p:sp>
        <p:cxnSp>
          <p:nvCxnSpPr>
            <p:cNvPr id="15" name="直接连接符 14">
              <a:extLst>
                <a:ext uri="{FF2B5EF4-FFF2-40B4-BE49-F238E27FC236}">
                  <a16:creationId xmlns:a16="http://schemas.microsoft.com/office/drawing/2014/main" id="{0617B5AE-EFD2-4359-925B-B0D12536022A}"/>
                </a:ext>
              </a:extLst>
            </p:cNvPr>
            <p:cNvCxnSpPr>
              <a:cxnSpLocks/>
            </p:cNvCxnSpPr>
            <p:nvPr/>
          </p:nvCxnSpPr>
          <p:spPr>
            <a:xfrm flipV="1">
              <a:off x="5603081" y="1001316"/>
              <a:ext cx="279797" cy="21550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80AC7947-DD52-45AF-9696-26B4A97F0743}"/>
                </a:ext>
              </a:extLst>
            </p:cNvPr>
            <p:cNvCxnSpPr>
              <a:cxnSpLocks/>
            </p:cNvCxnSpPr>
            <p:nvPr/>
          </p:nvCxnSpPr>
          <p:spPr>
            <a:xfrm flipV="1">
              <a:off x="6210300" y="379810"/>
              <a:ext cx="279797" cy="21550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17" name="椭圆 16">
            <a:extLst>
              <a:ext uri="{FF2B5EF4-FFF2-40B4-BE49-F238E27FC236}">
                <a16:creationId xmlns:a16="http://schemas.microsoft.com/office/drawing/2014/main" id="{B988493C-DB58-4CB5-AC42-17AF86122B35}"/>
              </a:ext>
            </a:extLst>
          </p:cNvPr>
          <p:cNvSpPr/>
          <p:nvPr/>
        </p:nvSpPr>
        <p:spPr>
          <a:xfrm>
            <a:off x="4218102" y="1144930"/>
            <a:ext cx="140946" cy="140946"/>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a:extLst>
              <a:ext uri="{FF2B5EF4-FFF2-40B4-BE49-F238E27FC236}">
                <a16:creationId xmlns:a16="http://schemas.microsoft.com/office/drawing/2014/main" id="{400BD8A7-5ED5-4258-B2FA-8F2BCFF1984D}"/>
              </a:ext>
            </a:extLst>
          </p:cNvPr>
          <p:cNvSpPr/>
          <p:nvPr/>
        </p:nvSpPr>
        <p:spPr>
          <a:xfrm>
            <a:off x="2661711" y="3885405"/>
            <a:ext cx="153420" cy="153420"/>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latin typeface="思源黑体 CN Medium" panose="020B0600000000000000" pitchFamily="34" charset="-122"/>
              <a:ea typeface="思源黑体 CN Medium" panose="020B0600000000000000" pitchFamily="34" charset="-122"/>
            </a:endParaRPr>
          </a:p>
        </p:txBody>
      </p:sp>
      <p:sp>
        <p:nvSpPr>
          <p:cNvPr id="24" name="椭圆 23">
            <a:extLst>
              <a:ext uri="{FF2B5EF4-FFF2-40B4-BE49-F238E27FC236}">
                <a16:creationId xmlns:a16="http://schemas.microsoft.com/office/drawing/2014/main" id="{947FCE82-E682-48A6-8159-B361DE182A4F}"/>
              </a:ext>
            </a:extLst>
          </p:cNvPr>
          <p:cNvSpPr/>
          <p:nvPr/>
        </p:nvSpPr>
        <p:spPr>
          <a:xfrm>
            <a:off x="5205739" y="3831611"/>
            <a:ext cx="153420" cy="153420"/>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latin typeface="思源黑体 CN Medium" panose="020B0600000000000000" pitchFamily="34" charset="-122"/>
              <a:ea typeface="思源黑体 CN Medium" panose="020B0600000000000000" pitchFamily="34" charset="-122"/>
            </a:endParaRPr>
          </a:p>
        </p:txBody>
      </p:sp>
      <p:sp>
        <p:nvSpPr>
          <p:cNvPr id="26" name="椭圆 25">
            <a:extLst>
              <a:ext uri="{FF2B5EF4-FFF2-40B4-BE49-F238E27FC236}">
                <a16:creationId xmlns:a16="http://schemas.microsoft.com/office/drawing/2014/main" id="{B58018BF-234B-4A8F-8CC2-0A6862A09A03}"/>
              </a:ext>
            </a:extLst>
          </p:cNvPr>
          <p:cNvSpPr/>
          <p:nvPr/>
        </p:nvSpPr>
        <p:spPr>
          <a:xfrm>
            <a:off x="7310764" y="3660161"/>
            <a:ext cx="153420" cy="153420"/>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latin typeface="思源黑体 CN Medium" panose="020B0600000000000000" pitchFamily="34" charset="-122"/>
              <a:ea typeface="思源黑体 CN Medium" panose="020B0600000000000000" pitchFamily="34" charset="-122"/>
            </a:endParaRPr>
          </a:p>
        </p:txBody>
      </p:sp>
      <p:sp>
        <p:nvSpPr>
          <p:cNvPr id="28" name="椭圆 27">
            <a:extLst>
              <a:ext uri="{FF2B5EF4-FFF2-40B4-BE49-F238E27FC236}">
                <a16:creationId xmlns:a16="http://schemas.microsoft.com/office/drawing/2014/main" id="{F31CB735-B88D-43D4-9302-C717AA674D24}"/>
              </a:ext>
            </a:extLst>
          </p:cNvPr>
          <p:cNvSpPr/>
          <p:nvPr/>
        </p:nvSpPr>
        <p:spPr>
          <a:xfrm>
            <a:off x="8527841" y="4241738"/>
            <a:ext cx="153420" cy="153420"/>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latin typeface="思源黑体 CN Medium" panose="020B0600000000000000" pitchFamily="34" charset="-122"/>
              <a:ea typeface="思源黑体 CN Medium" panose="020B0600000000000000" pitchFamily="34" charset="-122"/>
            </a:endParaRPr>
          </a:p>
        </p:txBody>
      </p:sp>
      <p:sp>
        <p:nvSpPr>
          <p:cNvPr id="30" name="椭圆 29">
            <a:extLst>
              <a:ext uri="{FF2B5EF4-FFF2-40B4-BE49-F238E27FC236}">
                <a16:creationId xmlns:a16="http://schemas.microsoft.com/office/drawing/2014/main" id="{22CCE3CE-6BDC-483A-B90B-97B70B2995D2}"/>
              </a:ext>
            </a:extLst>
          </p:cNvPr>
          <p:cNvSpPr/>
          <p:nvPr/>
        </p:nvSpPr>
        <p:spPr>
          <a:xfrm>
            <a:off x="9702501" y="2873716"/>
            <a:ext cx="452100" cy="452100"/>
          </a:xfrm>
          <a:prstGeom prst="ellipse">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latin typeface="思源黑体 CN Medium" panose="020B0600000000000000" pitchFamily="34" charset="-122"/>
              <a:ea typeface="思源黑体 CN Medium" panose="020B0600000000000000" pitchFamily="34" charset="-122"/>
            </a:endParaRPr>
          </a:p>
        </p:txBody>
      </p:sp>
      <p:sp>
        <p:nvSpPr>
          <p:cNvPr id="31" name="椭圆 30">
            <a:extLst>
              <a:ext uri="{FF2B5EF4-FFF2-40B4-BE49-F238E27FC236}">
                <a16:creationId xmlns:a16="http://schemas.microsoft.com/office/drawing/2014/main" id="{AFCB4D92-E7C9-456F-8BE0-5293892F04FC}"/>
              </a:ext>
            </a:extLst>
          </p:cNvPr>
          <p:cNvSpPr/>
          <p:nvPr/>
        </p:nvSpPr>
        <p:spPr>
          <a:xfrm>
            <a:off x="10594052" y="4395158"/>
            <a:ext cx="153420" cy="153420"/>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latin typeface="思源黑体 CN Medium" panose="020B0600000000000000" pitchFamily="34" charset="-122"/>
              <a:ea typeface="思源黑体 CN Medium" panose="020B0600000000000000" pitchFamily="34" charset="-122"/>
            </a:endParaRPr>
          </a:p>
        </p:txBody>
      </p:sp>
      <p:pic>
        <p:nvPicPr>
          <p:cNvPr id="3" name="图片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5085" y="5064690"/>
            <a:ext cx="1846202" cy="1855326"/>
          </a:xfrm>
          <a:prstGeom prst="rect">
            <a:avLst/>
          </a:prstGeom>
        </p:spPr>
      </p:pic>
      <p:sp>
        <p:nvSpPr>
          <p:cNvPr id="39" name="矩形 38">
            <a:extLst>
              <a:ext uri="{FF2B5EF4-FFF2-40B4-BE49-F238E27FC236}">
                <a16:creationId xmlns:a16="http://schemas.microsoft.com/office/drawing/2014/main" id="{E5E46891-05F9-4C9D-B95B-C1B05B5CCFCC}"/>
              </a:ext>
            </a:extLst>
          </p:cNvPr>
          <p:cNvSpPr/>
          <p:nvPr/>
        </p:nvSpPr>
        <p:spPr>
          <a:xfrm>
            <a:off x="5789304" y="2582157"/>
            <a:ext cx="3968423" cy="461665"/>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377">
              <a:defRPr/>
            </a:pPr>
            <a:r>
              <a:rPr lang="zh-CN" altLang="en-US" sz="2400" b="1" dirty="0"/>
              <a:t>实验目的</a:t>
            </a:r>
            <a:endParaRPr lang="zh-CN" altLang="en-US" sz="2400" spc="200" dirty="0">
              <a:latin typeface="黑体" panose="02010609060101010101" pitchFamily="49" charset="-122"/>
              <a:ea typeface="黑体" panose="02010609060101010101" pitchFamily="49" charset="-122"/>
            </a:endParaRPr>
          </a:p>
        </p:txBody>
      </p:sp>
      <p:sp>
        <p:nvSpPr>
          <p:cNvPr id="40" name="椭圆 39">
            <a:extLst>
              <a:ext uri="{FF2B5EF4-FFF2-40B4-BE49-F238E27FC236}">
                <a16:creationId xmlns:a16="http://schemas.microsoft.com/office/drawing/2014/main" id="{4A65319A-3B14-47EE-B0A3-B0413212705A}"/>
              </a:ext>
            </a:extLst>
          </p:cNvPr>
          <p:cNvSpPr/>
          <p:nvPr/>
        </p:nvSpPr>
        <p:spPr>
          <a:xfrm>
            <a:off x="4802177" y="2462998"/>
            <a:ext cx="741318" cy="719742"/>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3600" dirty="0">
                <a:solidFill>
                  <a:schemeClr val="bg1"/>
                </a:solidFill>
                <a:latin typeface="Times New Roman" panose="02020603050405020304" pitchFamily="18" charset="0"/>
                <a:ea typeface="思源黑体 CN Medium" panose="020B0600000000000000" pitchFamily="34" charset="-122"/>
                <a:cs typeface="Times New Roman" panose="02020603050405020304" pitchFamily="18" charset="0"/>
              </a:rPr>
              <a:t>1</a:t>
            </a:r>
            <a:endParaRPr lang="zh-CN" altLang="en-US" dirty="0">
              <a:solidFill>
                <a:schemeClr val="bg1"/>
              </a:solidFill>
              <a:latin typeface="Times New Roman" panose="02020603050405020304" pitchFamily="18" charset="0"/>
              <a:ea typeface="思源黑体 CN Medium" panose="020B0600000000000000" pitchFamily="34" charset="-122"/>
              <a:cs typeface="Times New Roman" panose="02020603050405020304" pitchFamily="18" charset="0"/>
            </a:endParaRPr>
          </a:p>
        </p:txBody>
      </p:sp>
      <p:sp>
        <p:nvSpPr>
          <p:cNvPr id="41" name="椭圆 40">
            <a:extLst>
              <a:ext uri="{FF2B5EF4-FFF2-40B4-BE49-F238E27FC236}">
                <a16:creationId xmlns:a16="http://schemas.microsoft.com/office/drawing/2014/main" id="{8DAD9002-307C-4069-B49B-06CC96E45DA4}"/>
              </a:ext>
            </a:extLst>
          </p:cNvPr>
          <p:cNvSpPr/>
          <p:nvPr/>
        </p:nvSpPr>
        <p:spPr>
          <a:xfrm>
            <a:off x="4802177" y="3457701"/>
            <a:ext cx="741318" cy="719742"/>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3600" dirty="0">
                <a:solidFill>
                  <a:schemeClr val="bg1"/>
                </a:solidFill>
                <a:latin typeface="Times New Roman" panose="02020603050405020304" pitchFamily="18" charset="0"/>
                <a:ea typeface="思源黑体 CN Medium" panose="020B0600000000000000" pitchFamily="34" charset="-122"/>
                <a:cs typeface="Times New Roman" panose="02020603050405020304" pitchFamily="18" charset="0"/>
              </a:rPr>
              <a:t>2</a:t>
            </a:r>
            <a:endParaRPr lang="zh-CN" altLang="en-US" dirty="0">
              <a:solidFill>
                <a:schemeClr val="bg1"/>
              </a:solidFill>
              <a:latin typeface="Times New Roman" panose="02020603050405020304" pitchFamily="18" charset="0"/>
              <a:ea typeface="思源黑体 CN Medium" panose="020B0600000000000000" pitchFamily="34" charset="-122"/>
              <a:cs typeface="Times New Roman" panose="02020603050405020304" pitchFamily="18" charset="0"/>
            </a:endParaRPr>
          </a:p>
        </p:txBody>
      </p:sp>
      <p:sp>
        <p:nvSpPr>
          <p:cNvPr id="42" name="椭圆 41">
            <a:extLst>
              <a:ext uri="{FF2B5EF4-FFF2-40B4-BE49-F238E27FC236}">
                <a16:creationId xmlns:a16="http://schemas.microsoft.com/office/drawing/2014/main" id="{BD202347-E763-4739-BD91-1BC38773A8D8}"/>
              </a:ext>
            </a:extLst>
          </p:cNvPr>
          <p:cNvSpPr/>
          <p:nvPr/>
        </p:nvSpPr>
        <p:spPr>
          <a:xfrm>
            <a:off x="4802177" y="4515456"/>
            <a:ext cx="741318" cy="719742"/>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3600" dirty="0">
                <a:solidFill>
                  <a:schemeClr val="bg1"/>
                </a:solidFill>
                <a:latin typeface="Times New Roman" panose="02020603050405020304" pitchFamily="18" charset="0"/>
                <a:ea typeface="思源黑体 CN Medium" panose="020B0600000000000000" pitchFamily="34" charset="-122"/>
                <a:cs typeface="Times New Roman" panose="02020603050405020304" pitchFamily="18" charset="0"/>
              </a:rPr>
              <a:t>3</a:t>
            </a:r>
            <a:endParaRPr lang="zh-CN" altLang="en-US" dirty="0">
              <a:solidFill>
                <a:schemeClr val="bg1"/>
              </a:solidFill>
              <a:latin typeface="Times New Roman" panose="02020603050405020304" pitchFamily="18" charset="0"/>
              <a:ea typeface="思源黑体 CN Medium" panose="020B0600000000000000" pitchFamily="34" charset="-122"/>
              <a:cs typeface="Times New Roman" panose="02020603050405020304" pitchFamily="18" charset="0"/>
            </a:endParaRPr>
          </a:p>
        </p:txBody>
      </p:sp>
      <p:sp>
        <p:nvSpPr>
          <p:cNvPr id="43" name="矩形 42">
            <a:extLst>
              <a:ext uri="{FF2B5EF4-FFF2-40B4-BE49-F238E27FC236}">
                <a16:creationId xmlns:a16="http://schemas.microsoft.com/office/drawing/2014/main" id="{B06D908A-2B70-4B6E-92B5-39BB36F74499}"/>
              </a:ext>
            </a:extLst>
          </p:cNvPr>
          <p:cNvSpPr/>
          <p:nvPr/>
        </p:nvSpPr>
        <p:spPr>
          <a:xfrm>
            <a:off x="5742869" y="4653177"/>
            <a:ext cx="1518365" cy="461665"/>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377">
              <a:defRPr/>
            </a:pPr>
            <a:r>
              <a:rPr lang="zh-CN" altLang="en-US" sz="2400" spc="200" dirty="0">
                <a:latin typeface="黑体" panose="02010609060101010101" pitchFamily="49" charset="-122"/>
                <a:ea typeface="黑体" panose="02010609060101010101" pitchFamily="49" charset="-122"/>
              </a:rPr>
              <a:t>实验内容</a:t>
            </a:r>
          </a:p>
        </p:txBody>
      </p:sp>
      <p:sp>
        <p:nvSpPr>
          <p:cNvPr id="46" name="矩形 45">
            <a:extLst>
              <a:ext uri="{FF2B5EF4-FFF2-40B4-BE49-F238E27FC236}">
                <a16:creationId xmlns:a16="http://schemas.microsoft.com/office/drawing/2014/main" id="{99616E36-87F3-42BC-8E32-B07D3486C817}"/>
              </a:ext>
            </a:extLst>
          </p:cNvPr>
          <p:cNvSpPr/>
          <p:nvPr/>
        </p:nvSpPr>
        <p:spPr>
          <a:xfrm>
            <a:off x="5738782" y="3582748"/>
            <a:ext cx="1518365" cy="461665"/>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377">
              <a:defRPr/>
            </a:pPr>
            <a:r>
              <a:rPr lang="zh-CN" altLang="en-US" sz="2400" spc="200" dirty="0">
                <a:latin typeface="黑体" panose="02010609060101010101" pitchFamily="49" charset="-122"/>
                <a:ea typeface="黑体" panose="02010609060101010101" pitchFamily="49" charset="-122"/>
              </a:rPr>
              <a:t>实验原理</a:t>
            </a:r>
          </a:p>
        </p:txBody>
      </p:sp>
    </p:spTree>
    <p:extLst>
      <p:ext uri="{BB962C8B-B14F-4D97-AF65-F5344CB8AC3E}">
        <p14:creationId xmlns:p14="http://schemas.microsoft.com/office/powerpoint/2010/main" val="19699680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2" name="组合 71">
            <a:extLst>
              <a:ext uri="{FF2B5EF4-FFF2-40B4-BE49-F238E27FC236}">
                <a16:creationId xmlns:a16="http://schemas.microsoft.com/office/drawing/2014/main" id="{B755887D-06B2-49C8-A78A-151A32DBE229}"/>
              </a:ext>
            </a:extLst>
          </p:cNvPr>
          <p:cNvGrpSpPr/>
          <p:nvPr/>
        </p:nvGrpSpPr>
        <p:grpSpPr>
          <a:xfrm>
            <a:off x="6262928" y="266844"/>
            <a:ext cx="5233747" cy="330008"/>
            <a:chOff x="5025390" y="266844"/>
            <a:chExt cx="6259830" cy="330008"/>
          </a:xfrm>
        </p:grpSpPr>
        <p:cxnSp>
          <p:nvCxnSpPr>
            <p:cNvPr id="73" name="直接连接符 72">
              <a:extLst>
                <a:ext uri="{FF2B5EF4-FFF2-40B4-BE49-F238E27FC236}">
                  <a16:creationId xmlns:a16="http://schemas.microsoft.com/office/drawing/2014/main" id="{62FE7A77-FBEB-40AD-82EE-F6D56B4FBED0}"/>
                </a:ext>
              </a:extLst>
            </p:cNvPr>
            <p:cNvCxnSpPr>
              <a:cxnSpLocks/>
            </p:cNvCxnSpPr>
            <p:nvPr/>
          </p:nvCxnSpPr>
          <p:spPr>
            <a:xfrm flipH="1">
              <a:off x="5025390" y="596852"/>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4" name="直接连接符 73">
              <a:extLst>
                <a:ext uri="{FF2B5EF4-FFF2-40B4-BE49-F238E27FC236}">
                  <a16:creationId xmlns:a16="http://schemas.microsoft.com/office/drawing/2014/main" id="{BDD67602-65B0-4D01-8429-E64EE945B436}"/>
                </a:ext>
              </a:extLst>
            </p:cNvPr>
            <p:cNvCxnSpPr>
              <a:cxnSpLocks/>
            </p:cNvCxnSpPr>
            <p:nvPr/>
          </p:nvCxnSpPr>
          <p:spPr>
            <a:xfrm flipH="1">
              <a:off x="5025390" y="514350"/>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5" name="直接连接符 74">
              <a:extLst>
                <a:ext uri="{FF2B5EF4-FFF2-40B4-BE49-F238E27FC236}">
                  <a16:creationId xmlns:a16="http://schemas.microsoft.com/office/drawing/2014/main" id="{56902EF3-DC68-477E-B624-6F39F33A5062}"/>
                </a:ext>
              </a:extLst>
            </p:cNvPr>
            <p:cNvCxnSpPr>
              <a:cxnSpLocks/>
            </p:cNvCxnSpPr>
            <p:nvPr/>
          </p:nvCxnSpPr>
          <p:spPr>
            <a:xfrm flipH="1">
              <a:off x="5025390" y="431848"/>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6" name="直接连接符 75">
              <a:extLst>
                <a:ext uri="{FF2B5EF4-FFF2-40B4-BE49-F238E27FC236}">
                  <a16:creationId xmlns:a16="http://schemas.microsoft.com/office/drawing/2014/main" id="{E5575DC5-6C14-4E47-8549-F414278D7485}"/>
                </a:ext>
              </a:extLst>
            </p:cNvPr>
            <p:cNvCxnSpPr>
              <a:cxnSpLocks/>
            </p:cNvCxnSpPr>
            <p:nvPr/>
          </p:nvCxnSpPr>
          <p:spPr>
            <a:xfrm flipH="1">
              <a:off x="5025390" y="349346"/>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7" name="直接连接符 76">
              <a:extLst>
                <a:ext uri="{FF2B5EF4-FFF2-40B4-BE49-F238E27FC236}">
                  <a16:creationId xmlns:a16="http://schemas.microsoft.com/office/drawing/2014/main" id="{BEA35CD9-8F8F-4991-8A28-0D6749A159AF}"/>
                </a:ext>
              </a:extLst>
            </p:cNvPr>
            <p:cNvCxnSpPr>
              <a:cxnSpLocks/>
            </p:cNvCxnSpPr>
            <p:nvPr/>
          </p:nvCxnSpPr>
          <p:spPr>
            <a:xfrm flipH="1">
              <a:off x="5025390" y="266844"/>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grpSp>
        <p:nvGrpSpPr>
          <p:cNvPr id="78" name="组合 77">
            <a:extLst>
              <a:ext uri="{FF2B5EF4-FFF2-40B4-BE49-F238E27FC236}">
                <a16:creationId xmlns:a16="http://schemas.microsoft.com/office/drawing/2014/main" id="{B708D5A6-F729-4A3B-AFF5-DB02E26819D1}"/>
              </a:ext>
            </a:extLst>
          </p:cNvPr>
          <p:cNvGrpSpPr/>
          <p:nvPr/>
        </p:nvGrpSpPr>
        <p:grpSpPr>
          <a:xfrm>
            <a:off x="0" y="266844"/>
            <a:ext cx="487680" cy="330008"/>
            <a:chOff x="5025390" y="266844"/>
            <a:chExt cx="6259830" cy="330008"/>
          </a:xfrm>
        </p:grpSpPr>
        <p:cxnSp>
          <p:nvCxnSpPr>
            <p:cNvPr id="79" name="直接连接符 78">
              <a:extLst>
                <a:ext uri="{FF2B5EF4-FFF2-40B4-BE49-F238E27FC236}">
                  <a16:creationId xmlns:a16="http://schemas.microsoft.com/office/drawing/2014/main" id="{B16271FF-B014-4D0E-A8FC-14016AE63AC9}"/>
                </a:ext>
              </a:extLst>
            </p:cNvPr>
            <p:cNvCxnSpPr>
              <a:cxnSpLocks/>
            </p:cNvCxnSpPr>
            <p:nvPr/>
          </p:nvCxnSpPr>
          <p:spPr>
            <a:xfrm flipH="1">
              <a:off x="5025390" y="596852"/>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0" name="直接连接符 79">
              <a:extLst>
                <a:ext uri="{FF2B5EF4-FFF2-40B4-BE49-F238E27FC236}">
                  <a16:creationId xmlns:a16="http://schemas.microsoft.com/office/drawing/2014/main" id="{54662351-B9F7-41B8-8DFD-B434997C52AF}"/>
                </a:ext>
              </a:extLst>
            </p:cNvPr>
            <p:cNvCxnSpPr>
              <a:cxnSpLocks/>
            </p:cNvCxnSpPr>
            <p:nvPr/>
          </p:nvCxnSpPr>
          <p:spPr>
            <a:xfrm flipH="1">
              <a:off x="5025390" y="514350"/>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1" name="直接连接符 80">
              <a:extLst>
                <a:ext uri="{FF2B5EF4-FFF2-40B4-BE49-F238E27FC236}">
                  <a16:creationId xmlns:a16="http://schemas.microsoft.com/office/drawing/2014/main" id="{18BB5DB3-4909-47FC-BDD8-8679FC8F7B9D}"/>
                </a:ext>
              </a:extLst>
            </p:cNvPr>
            <p:cNvCxnSpPr>
              <a:cxnSpLocks/>
            </p:cNvCxnSpPr>
            <p:nvPr/>
          </p:nvCxnSpPr>
          <p:spPr>
            <a:xfrm flipH="1">
              <a:off x="5025390" y="431848"/>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2" name="直接连接符 81">
              <a:extLst>
                <a:ext uri="{FF2B5EF4-FFF2-40B4-BE49-F238E27FC236}">
                  <a16:creationId xmlns:a16="http://schemas.microsoft.com/office/drawing/2014/main" id="{7C6A262B-8F87-4AA5-BD4A-55DE84149A06}"/>
                </a:ext>
              </a:extLst>
            </p:cNvPr>
            <p:cNvCxnSpPr>
              <a:cxnSpLocks/>
            </p:cNvCxnSpPr>
            <p:nvPr/>
          </p:nvCxnSpPr>
          <p:spPr>
            <a:xfrm flipH="1">
              <a:off x="5025390" y="349346"/>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3" name="直接连接符 82">
              <a:extLst>
                <a:ext uri="{FF2B5EF4-FFF2-40B4-BE49-F238E27FC236}">
                  <a16:creationId xmlns:a16="http://schemas.microsoft.com/office/drawing/2014/main" id="{8F8A0811-38B1-462B-8E81-76FB9965A173}"/>
                </a:ext>
              </a:extLst>
            </p:cNvPr>
            <p:cNvCxnSpPr>
              <a:cxnSpLocks/>
            </p:cNvCxnSpPr>
            <p:nvPr/>
          </p:nvCxnSpPr>
          <p:spPr>
            <a:xfrm flipH="1">
              <a:off x="5025390" y="266844"/>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pic>
        <p:nvPicPr>
          <p:cNvPr id="18" name="图片 1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604252" y="168275"/>
            <a:ext cx="520700" cy="520700"/>
          </a:xfrm>
          <a:prstGeom prst="rect">
            <a:avLst/>
          </a:prstGeom>
        </p:spPr>
      </p:pic>
      <p:sp>
        <p:nvSpPr>
          <p:cNvPr id="21" name="文本框 20">
            <a:extLst>
              <a:ext uri="{FF2B5EF4-FFF2-40B4-BE49-F238E27FC236}">
                <a16:creationId xmlns:a16="http://schemas.microsoft.com/office/drawing/2014/main" id="{D7ECBC28-490B-4424-8256-107302341845}"/>
              </a:ext>
            </a:extLst>
          </p:cNvPr>
          <p:cNvSpPr txBox="1"/>
          <p:nvPr/>
        </p:nvSpPr>
        <p:spPr>
          <a:xfrm>
            <a:off x="487680" y="105459"/>
            <a:ext cx="7575006" cy="646331"/>
          </a:xfrm>
          <a:prstGeom prst="rect">
            <a:avLst/>
          </a:prstGeom>
          <a:noFill/>
        </p:spPr>
        <p:txBody>
          <a:bodyPr wrap="square" rtlCol="0">
            <a:spAutoFit/>
          </a:bodyPr>
          <a:lstStyle/>
          <a:p>
            <a:r>
              <a:rPr lang="zh-CN" altLang="en-US" sz="3600" b="1" dirty="0"/>
              <a:t>一</a:t>
            </a:r>
            <a:r>
              <a:rPr lang="en-US" altLang="zh-CN" sz="3600" b="1" dirty="0"/>
              <a:t>.</a:t>
            </a:r>
            <a:r>
              <a:rPr lang="zh-CN" altLang="en-US" sz="3600" b="1" dirty="0"/>
              <a:t> 实验目的</a:t>
            </a:r>
          </a:p>
        </p:txBody>
      </p:sp>
      <p:sp>
        <p:nvSpPr>
          <p:cNvPr id="25" name="矩形 24">
            <a:extLst>
              <a:ext uri="{FF2B5EF4-FFF2-40B4-BE49-F238E27FC236}">
                <a16:creationId xmlns:a16="http://schemas.microsoft.com/office/drawing/2014/main" id="{0CA23389-286B-443A-B318-59DB6373057C}"/>
              </a:ext>
            </a:extLst>
          </p:cNvPr>
          <p:cNvSpPr/>
          <p:nvPr/>
        </p:nvSpPr>
        <p:spPr>
          <a:xfrm>
            <a:off x="933436" y="1417777"/>
            <a:ext cx="10325127" cy="3222998"/>
          </a:xfrm>
          <a:prstGeom prst="rect">
            <a:avLst/>
          </a:prstGeom>
        </p:spPr>
        <p:txBody>
          <a:bodyPr wrap="square">
            <a:spAutoFit/>
          </a:bodyPr>
          <a:lstStyle/>
          <a:p>
            <a:pPr>
              <a:lnSpc>
                <a:spcPct val="150000"/>
              </a:lnSpc>
              <a:buClr>
                <a:srgbClr val="30B695"/>
              </a:buClr>
            </a:pPr>
            <a:r>
              <a:rPr lang="en-US" altLang="zh-CN" sz="2800" b="1" dirty="0">
                <a:latin typeface="宋体" panose="02010600030101010101" pitchFamily="2" charset="-122"/>
                <a:ea typeface="宋体" panose="02010600030101010101" pitchFamily="2" charset="-122"/>
                <a:cs typeface="Times New Roman" panose="02020603050405020304" pitchFamily="18" charset="0"/>
              </a:rPr>
              <a:t>1.</a:t>
            </a:r>
            <a:r>
              <a:rPr lang="zh-CN" altLang="en-US" sz="2800" b="1" dirty="0">
                <a:latin typeface="宋体" panose="02010600030101010101" pitchFamily="2" charset="-122"/>
                <a:ea typeface="宋体" panose="02010600030101010101" pitchFamily="2" charset="-122"/>
                <a:cs typeface="Times New Roman" panose="02020603050405020304" pitchFamily="18" charset="0"/>
              </a:rPr>
              <a:t>研究正弦稳态情况下无损耗均匀传输线在不同终端条件时沿线电压的分布规律。</a:t>
            </a:r>
            <a:endParaRPr lang="en-US" altLang="zh-CN" sz="2800" b="1" dirty="0">
              <a:latin typeface="宋体" panose="02010600030101010101" pitchFamily="2" charset="-122"/>
              <a:ea typeface="宋体" panose="02010600030101010101" pitchFamily="2" charset="-122"/>
              <a:cs typeface="Times New Roman" panose="02020603050405020304" pitchFamily="18" charset="0"/>
            </a:endParaRPr>
          </a:p>
          <a:p>
            <a:pPr>
              <a:lnSpc>
                <a:spcPct val="150000"/>
              </a:lnSpc>
              <a:buClr>
                <a:srgbClr val="30B695"/>
              </a:buClr>
            </a:pPr>
            <a:r>
              <a:rPr lang="en-US" altLang="zh-CN" sz="2800" b="1" dirty="0">
                <a:latin typeface="宋体" panose="02010600030101010101" pitchFamily="2" charset="-122"/>
                <a:ea typeface="宋体" panose="02010600030101010101" pitchFamily="2" charset="-122"/>
                <a:cs typeface="Times New Roman" panose="02020603050405020304" pitchFamily="18" charset="0"/>
              </a:rPr>
              <a:t>2.</a:t>
            </a:r>
            <a:r>
              <a:rPr lang="zh-CN" altLang="en-US" sz="2800" b="1" dirty="0">
                <a:latin typeface="宋体" panose="02010600030101010101" pitchFamily="2" charset="-122"/>
                <a:ea typeface="宋体" panose="02010600030101010101" pitchFamily="2" charset="-122"/>
                <a:cs typeface="Times New Roman" panose="02020603050405020304" pitchFamily="18" charset="0"/>
              </a:rPr>
              <a:t>学习测定波长、频率、驻波比、反射系数、负载阻抗等参数。</a:t>
            </a:r>
            <a:endParaRPr lang="en-US" altLang="zh-CN" sz="2800" b="1" dirty="0">
              <a:latin typeface="宋体" panose="02010600030101010101" pitchFamily="2" charset="-122"/>
              <a:ea typeface="宋体" panose="02010600030101010101" pitchFamily="2" charset="-122"/>
              <a:cs typeface="Times New Roman" panose="02020603050405020304" pitchFamily="18" charset="0"/>
            </a:endParaRPr>
          </a:p>
          <a:p>
            <a:pPr>
              <a:lnSpc>
                <a:spcPct val="150000"/>
              </a:lnSpc>
              <a:buClr>
                <a:srgbClr val="30B695"/>
              </a:buClr>
            </a:pPr>
            <a:r>
              <a:rPr lang="en-US" altLang="zh-CN" sz="2800" b="1" dirty="0">
                <a:latin typeface="宋体" panose="02010600030101010101" pitchFamily="2" charset="-122"/>
                <a:ea typeface="宋体" panose="02010600030101010101" pitchFamily="2" charset="-122"/>
                <a:cs typeface="Times New Roman" panose="02020603050405020304" pitchFamily="18" charset="0"/>
              </a:rPr>
              <a:t>3.</a:t>
            </a:r>
            <a:r>
              <a:rPr lang="zh-CN" altLang="en-US" sz="2800" b="1" dirty="0">
                <a:latin typeface="宋体" panose="02010600030101010101" pitchFamily="2" charset="-122"/>
                <a:ea typeface="宋体" panose="02010600030101010101" pitchFamily="2" charset="-122"/>
                <a:cs typeface="Times New Roman" panose="02020603050405020304" pitchFamily="18" charset="0"/>
              </a:rPr>
              <a:t>学习用集总参数电路模拟分布参数传输线，测量沿线电压分布规律。</a:t>
            </a:r>
            <a:endParaRPr lang="id-ID" altLang="zh-CN" sz="2800" b="1" dirty="0">
              <a:latin typeface="宋体" panose="02010600030101010101" pitchFamily="2" charset="-122"/>
              <a:ea typeface="宋体" panose="02010600030101010101" pitchFamily="2" charset="-122"/>
              <a:cs typeface="Times New Roman" panose="02020603050405020304" pitchFamily="18" charset="0"/>
            </a:endParaRPr>
          </a:p>
        </p:txBody>
      </p:sp>
      <p:sp>
        <p:nvSpPr>
          <p:cNvPr id="17" name="文本框 1">
            <a:extLst>
              <a:ext uri="{FF2B5EF4-FFF2-40B4-BE49-F238E27FC236}">
                <a16:creationId xmlns:a16="http://schemas.microsoft.com/office/drawing/2014/main" id="{846EEA1F-3567-4AAA-8204-B37B1A0F47A6}"/>
              </a:ext>
            </a:extLst>
          </p:cNvPr>
          <p:cNvSpPr txBox="1"/>
          <p:nvPr/>
        </p:nvSpPr>
        <p:spPr>
          <a:xfrm>
            <a:off x="11291972" y="6320393"/>
            <a:ext cx="832980"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dirty="0"/>
              <a:t>9/23</a:t>
            </a:r>
            <a:endParaRPr lang="zh-CN" altLang="en-US" dirty="0"/>
          </a:p>
        </p:txBody>
      </p:sp>
    </p:spTree>
    <p:extLst>
      <p:ext uri="{BB962C8B-B14F-4D97-AF65-F5344CB8AC3E}">
        <p14:creationId xmlns:p14="http://schemas.microsoft.com/office/powerpoint/2010/main" val="33464331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2" name="组合 71">
            <a:extLst>
              <a:ext uri="{FF2B5EF4-FFF2-40B4-BE49-F238E27FC236}">
                <a16:creationId xmlns:a16="http://schemas.microsoft.com/office/drawing/2014/main" id="{B755887D-06B2-49C8-A78A-151A32DBE229}"/>
              </a:ext>
            </a:extLst>
          </p:cNvPr>
          <p:cNvGrpSpPr/>
          <p:nvPr/>
        </p:nvGrpSpPr>
        <p:grpSpPr>
          <a:xfrm>
            <a:off x="6262928" y="266844"/>
            <a:ext cx="5233747" cy="330008"/>
            <a:chOff x="5025390" y="266844"/>
            <a:chExt cx="6259830" cy="330008"/>
          </a:xfrm>
        </p:grpSpPr>
        <p:cxnSp>
          <p:nvCxnSpPr>
            <p:cNvPr id="73" name="直接连接符 72">
              <a:extLst>
                <a:ext uri="{FF2B5EF4-FFF2-40B4-BE49-F238E27FC236}">
                  <a16:creationId xmlns:a16="http://schemas.microsoft.com/office/drawing/2014/main" id="{62FE7A77-FBEB-40AD-82EE-F6D56B4FBED0}"/>
                </a:ext>
              </a:extLst>
            </p:cNvPr>
            <p:cNvCxnSpPr>
              <a:cxnSpLocks/>
            </p:cNvCxnSpPr>
            <p:nvPr/>
          </p:nvCxnSpPr>
          <p:spPr>
            <a:xfrm flipH="1">
              <a:off x="5025390" y="596852"/>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4" name="直接连接符 73">
              <a:extLst>
                <a:ext uri="{FF2B5EF4-FFF2-40B4-BE49-F238E27FC236}">
                  <a16:creationId xmlns:a16="http://schemas.microsoft.com/office/drawing/2014/main" id="{BDD67602-65B0-4D01-8429-E64EE945B436}"/>
                </a:ext>
              </a:extLst>
            </p:cNvPr>
            <p:cNvCxnSpPr>
              <a:cxnSpLocks/>
            </p:cNvCxnSpPr>
            <p:nvPr/>
          </p:nvCxnSpPr>
          <p:spPr>
            <a:xfrm flipH="1">
              <a:off x="5025390" y="514350"/>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5" name="直接连接符 74">
              <a:extLst>
                <a:ext uri="{FF2B5EF4-FFF2-40B4-BE49-F238E27FC236}">
                  <a16:creationId xmlns:a16="http://schemas.microsoft.com/office/drawing/2014/main" id="{56902EF3-DC68-477E-B624-6F39F33A5062}"/>
                </a:ext>
              </a:extLst>
            </p:cNvPr>
            <p:cNvCxnSpPr>
              <a:cxnSpLocks/>
            </p:cNvCxnSpPr>
            <p:nvPr/>
          </p:nvCxnSpPr>
          <p:spPr>
            <a:xfrm flipH="1">
              <a:off x="5025390" y="431848"/>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6" name="直接连接符 75">
              <a:extLst>
                <a:ext uri="{FF2B5EF4-FFF2-40B4-BE49-F238E27FC236}">
                  <a16:creationId xmlns:a16="http://schemas.microsoft.com/office/drawing/2014/main" id="{E5575DC5-6C14-4E47-8549-F414278D7485}"/>
                </a:ext>
              </a:extLst>
            </p:cNvPr>
            <p:cNvCxnSpPr>
              <a:cxnSpLocks/>
            </p:cNvCxnSpPr>
            <p:nvPr/>
          </p:nvCxnSpPr>
          <p:spPr>
            <a:xfrm flipH="1">
              <a:off x="5025390" y="349346"/>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7" name="直接连接符 76">
              <a:extLst>
                <a:ext uri="{FF2B5EF4-FFF2-40B4-BE49-F238E27FC236}">
                  <a16:creationId xmlns:a16="http://schemas.microsoft.com/office/drawing/2014/main" id="{BEA35CD9-8F8F-4991-8A28-0D6749A159AF}"/>
                </a:ext>
              </a:extLst>
            </p:cNvPr>
            <p:cNvCxnSpPr>
              <a:cxnSpLocks/>
            </p:cNvCxnSpPr>
            <p:nvPr/>
          </p:nvCxnSpPr>
          <p:spPr>
            <a:xfrm flipH="1">
              <a:off x="5025390" y="266844"/>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grpSp>
        <p:nvGrpSpPr>
          <p:cNvPr id="78" name="组合 77">
            <a:extLst>
              <a:ext uri="{FF2B5EF4-FFF2-40B4-BE49-F238E27FC236}">
                <a16:creationId xmlns:a16="http://schemas.microsoft.com/office/drawing/2014/main" id="{B708D5A6-F729-4A3B-AFF5-DB02E26819D1}"/>
              </a:ext>
            </a:extLst>
          </p:cNvPr>
          <p:cNvGrpSpPr/>
          <p:nvPr/>
        </p:nvGrpSpPr>
        <p:grpSpPr>
          <a:xfrm>
            <a:off x="0" y="266844"/>
            <a:ext cx="487680" cy="330008"/>
            <a:chOff x="5025390" y="266844"/>
            <a:chExt cx="6259830" cy="330008"/>
          </a:xfrm>
        </p:grpSpPr>
        <p:cxnSp>
          <p:nvCxnSpPr>
            <p:cNvPr id="79" name="直接连接符 78">
              <a:extLst>
                <a:ext uri="{FF2B5EF4-FFF2-40B4-BE49-F238E27FC236}">
                  <a16:creationId xmlns:a16="http://schemas.microsoft.com/office/drawing/2014/main" id="{B16271FF-B014-4D0E-A8FC-14016AE63AC9}"/>
                </a:ext>
              </a:extLst>
            </p:cNvPr>
            <p:cNvCxnSpPr>
              <a:cxnSpLocks/>
            </p:cNvCxnSpPr>
            <p:nvPr/>
          </p:nvCxnSpPr>
          <p:spPr>
            <a:xfrm flipH="1">
              <a:off x="5025390" y="596852"/>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0" name="直接连接符 79">
              <a:extLst>
                <a:ext uri="{FF2B5EF4-FFF2-40B4-BE49-F238E27FC236}">
                  <a16:creationId xmlns:a16="http://schemas.microsoft.com/office/drawing/2014/main" id="{54662351-B9F7-41B8-8DFD-B434997C52AF}"/>
                </a:ext>
              </a:extLst>
            </p:cNvPr>
            <p:cNvCxnSpPr>
              <a:cxnSpLocks/>
            </p:cNvCxnSpPr>
            <p:nvPr/>
          </p:nvCxnSpPr>
          <p:spPr>
            <a:xfrm flipH="1">
              <a:off x="5025390" y="514350"/>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1" name="直接连接符 80">
              <a:extLst>
                <a:ext uri="{FF2B5EF4-FFF2-40B4-BE49-F238E27FC236}">
                  <a16:creationId xmlns:a16="http://schemas.microsoft.com/office/drawing/2014/main" id="{18BB5DB3-4909-47FC-BDD8-8679FC8F7B9D}"/>
                </a:ext>
              </a:extLst>
            </p:cNvPr>
            <p:cNvCxnSpPr>
              <a:cxnSpLocks/>
            </p:cNvCxnSpPr>
            <p:nvPr/>
          </p:nvCxnSpPr>
          <p:spPr>
            <a:xfrm flipH="1">
              <a:off x="5025390" y="431848"/>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2" name="直接连接符 81">
              <a:extLst>
                <a:ext uri="{FF2B5EF4-FFF2-40B4-BE49-F238E27FC236}">
                  <a16:creationId xmlns:a16="http://schemas.microsoft.com/office/drawing/2014/main" id="{7C6A262B-8F87-4AA5-BD4A-55DE84149A06}"/>
                </a:ext>
              </a:extLst>
            </p:cNvPr>
            <p:cNvCxnSpPr>
              <a:cxnSpLocks/>
            </p:cNvCxnSpPr>
            <p:nvPr/>
          </p:nvCxnSpPr>
          <p:spPr>
            <a:xfrm flipH="1">
              <a:off x="5025390" y="349346"/>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3" name="直接连接符 82">
              <a:extLst>
                <a:ext uri="{FF2B5EF4-FFF2-40B4-BE49-F238E27FC236}">
                  <a16:creationId xmlns:a16="http://schemas.microsoft.com/office/drawing/2014/main" id="{8F8A0811-38B1-462B-8E81-76FB9965A173}"/>
                </a:ext>
              </a:extLst>
            </p:cNvPr>
            <p:cNvCxnSpPr>
              <a:cxnSpLocks/>
            </p:cNvCxnSpPr>
            <p:nvPr/>
          </p:nvCxnSpPr>
          <p:spPr>
            <a:xfrm flipH="1">
              <a:off x="5025390" y="266844"/>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pic>
        <p:nvPicPr>
          <p:cNvPr id="18" name="图片 1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04252" y="168275"/>
            <a:ext cx="520700" cy="520700"/>
          </a:xfrm>
          <a:prstGeom prst="rect">
            <a:avLst/>
          </a:prstGeom>
        </p:spPr>
      </p:pic>
      <p:sp>
        <p:nvSpPr>
          <p:cNvPr id="25" name="文本框 24">
            <a:extLst>
              <a:ext uri="{FF2B5EF4-FFF2-40B4-BE49-F238E27FC236}">
                <a16:creationId xmlns:a16="http://schemas.microsoft.com/office/drawing/2014/main" id="{6A93ADA9-ABD0-4AD4-8C06-F187F5AB4611}"/>
              </a:ext>
            </a:extLst>
          </p:cNvPr>
          <p:cNvSpPr txBox="1"/>
          <p:nvPr/>
        </p:nvSpPr>
        <p:spPr>
          <a:xfrm>
            <a:off x="487680" y="105459"/>
            <a:ext cx="7575006" cy="646331"/>
          </a:xfrm>
          <a:prstGeom prst="rect">
            <a:avLst/>
          </a:prstGeom>
          <a:noFill/>
        </p:spPr>
        <p:txBody>
          <a:bodyPr wrap="square" rtlCol="0">
            <a:spAutoFit/>
          </a:bodyPr>
          <a:lstStyle/>
          <a:p>
            <a:r>
              <a:rPr lang="zh-CN" altLang="en-US" sz="3600" b="1" dirty="0"/>
              <a:t>二</a:t>
            </a:r>
            <a:r>
              <a:rPr lang="en-US" altLang="zh-CN" sz="3600" b="1" dirty="0"/>
              <a:t>.</a:t>
            </a:r>
            <a:r>
              <a:rPr lang="zh-CN" altLang="en-US" sz="3600" b="1" dirty="0"/>
              <a:t> 实验原理</a:t>
            </a:r>
          </a:p>
        </p:txBody>
      </p:sp>
      <p:sp>
        <p:nvSpPr>
          <p:cNvPr id="21" name="文本框 1">
            <a:extLst>
              <a:ext uri="{FF2B5EF4-FFF2-40B4-BE49-F238E27FC236}">
                <a16:creationId xmlns:a16="http://schemas.microsoft.com/office/drawing/2014/main" id="{47B732E0-3546-483A-9BE6-5F1D15088A90}"/>
              </a:ext>
            </a:extLst>
          </p:cNvPr>
          <p:cNvSpPr txBox="1"/>
          <p:nvPr/>
        </p:nvSpPr>
        <p:spPr>
          <a:xfrm>
            <a:off x="11291972" y="6320393"/>
            <a:ext cx="832980"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dirty="0"/>
              <a:t>10/23</a:t>
            </a:r>
            <a:endParaRPr lang="zh-CN" altLang="en-US" dirty="0"/>
          </a:p>
        </p:txBody>
      </p:sp>
      <p:sp>
        <p:nvSpPr>
          <p:cNvPr id="17" name="标题 1">
            <a:extLst>
              <a:ext uri="{FF2B5EF4-FFF2-40B4-BE49-F238E27FC236}">
                <a16:creationId xmlns:a16="http://schemas.microsoft.com/office/drawing/2014/main" id="{A963A92C-7979-4927-9344-AE1FC0D53474}"/>
              </a:ext>
            </a:extLst>
          </p:cNvPr>
          <p:cNvSpPr txBox="1"/>
          <p:nvPr/>
        </p:nvSpPr>
        <p:spPr>
          <a:xfrm>
            <a:off x="677346" y="1256712"/>
            <a:ext cx="547321" cy="468000"/>
          </a:xfrm>
          <a:prstGeom prst="rect">
            <a:avLst/>
          </a:prstGeom>
          <a:solidFill>
            <a:schemeClr val="bg1">
              <a:lumMod val="95000"/>
            </a:schemeClr>
          </a:solidFill>
          <a:ln w="12700" cap="sq">
            <a:noFill/>
            <a:miter/>
          </a:ln>
          <a:effectLst/>
        </p:spPr>
        <p:txBody>
          <a:bodyPr vert="horz" wrap="square" lIns="0" tIns="0" rIns="0" bIns="0" rtlCol="0" anchor="ctr"/>
          <a:lstStyle/>
          <a:p>
            <a:pPr algn="ctr"/>
            <a:endParaRPr kumimoji="1" lang="zh-CN" altLang="en-US"/>
          </a:p>
        </p:txBody>
      </p:sp>
      <p:sp>
        <p:nvSpPr>
          <p:cNvPr id="19" name="标题 1">
            <a:extLst>
              <a:ext uri="{FF2B5EF4-FFF2-40B4-BE49-F238E27FC236}">
                <a16:creationId xmlns:a16="http://schemas.microsoft.com/office/drawing/2014/main" id="{38E32F79-2A84-4D0A-8508-006A125004C2}"/>
              </a:ext>
            </a:extLst>
          </p:cNvPr>
          <p:cNvSpPr txBox="1"/>
          <p:nvPr/>
        </p:nvSpPr>
        <p:spPr>
          <a:xfrm>
            <a:off x="565150" y="1256712"/>
            <a:ext cx="108000" cy="468000"/>
          </a:xfrm>
          <a:prstGeom prst="rect">
            <a:avLst/>
          </a:prstGeom>
          <a:solidFill>
            <a:schemeClr val="accent1"/>
          </a:solidFill>
          <a:ln w="12700" cap="sq">
            <a:noFill/>
            <a:miter/>
          </a:ln>
          <a:effectLst/>
        </p:spPr>
        <p:txBody>
          <a:bodyPr vert="horz" wrap="square" lIns="0" tIns="0" rIns="0" bIns="0" rtlCol="0" anchor="ctr"/>
          <a:lstStyle/>
          <a:p>
            <a:pPr algn="ctr"/>
            <a:endParaRPr kumimoji="1" lang="zh-CN" altLang="en-US"/>
          </a:p>
        </p:txBody>
      </p:sp>
      <p:sp>
        <p:nvSpPr>
          <p:cNvPr id="20" name="标题 1">
            <a:extLst>
              <a:ext uri="{FF2B5EF4-FFF2-40B4-BE49-F238E27FC236}">
                <a16:creationId xmlns:a16="http://schemas.microsoft.com/office/drawing/2014/main" id="{A0E4A29F-69EE-4E65-9454-79FEA1F8C100}"/>
              </a:ext>
            </a:extLst>
          </p:cNvPr>
          <p:cNvSpPr txBox="1"/>
          <p:nvPr/>
        </p:nvSpPr>
        <p:spPr>
          <a:xfrm>
            <a:off x="722346" y="1328713"/>
            <a:ext cx="457321" cy="324000"/>
          </a:xfrm>
          <a:prstGeom prst="rect">
            <a:avLst/>
          </a:prstGeom>
          <a:noFill/>
          <a:ln>
            <a:noFill/>
          </a:ln>
        </p:spPr>
        <p:txBody>
          <a:bodyPr vert="horz" wrap="square" lIns="0" tIns="0" rIns="0" bIns="0" rtlCol="0" anchor="ctr"/>
          <a:lstStyle/>
          <a:p>
            <a:pPr algn="ctr"/>
            <a:r>
              <a:rPr kumimoji="1" lang="en-US" altLang="zh-CN" sz="2000">
                <a:ln w="12700">
                  <a:noFill/>
                </a:ln>
                <a:solidFill>
                  <a:schemeClr val="tx1">
                    <a:lumMod val="85000"/>
                    <a:lumOff val="15000"/>
                  </a:schemeClr>
                </a:solidFill>
                <a:latin typeface="OPPOSans R" panose="00020600040101010101" charset="-122"/>
                <a:ea typeface="OPPOSans R" panose="00020600040101010101" charset="-122"/>
                <a:cs typeface="OPPOSans R" panose="00020600040101010101" charset="-122"/>
              </a:rPr>
              <a:t>01</a:t>
            </a:r>
            <a:endParaRPr kumimoji="1" lang="zh-CN" altLang="en-US"/>
          </a:p>
        </p:txBody>
      </p:sp>
      <p:sp>
        <p:nvSpPr>
          <p:cNvPr id="22" name="标题 1">
            <a:extLst>
              <a:ext uri="{FF2B5EF4-FFF2-40B4-BE49-F238E27FC236}">
                <a16:creationId xmlns:a16="http://schemas.microsoft.com/office/drawing/2014/main" id="{2A836A0D-4D77-4746-92AC-D5790EFE4ADB}"/>
              </a:ext>
            </a:extLst>
          </p:cNvPr>
          <p:cNvSpPr txBox="1"/>
          <p:nvPr/>
        </p:nvSpPr>
        <p:spPr>
          <a:xfrm>
            <a:off x="1429467" y="1256712"/>
            <a:ext cx="9415513" cy="467999"/>
          </a:xfrm>
          <a:prstGeom prst="rect">
            <a:avLst/>
          </a:prstGeom>
          <a:noFill/>
          <a:ln>
            <a:noFill/>
          </a:ln>
        </p:spPr>
        <p:txBody>
          <a:bodyPr vert="horz" wrap="square" lIns="0" tIns="0" rIns="0" bIns="0" rtlCol="0" anchor="t"/>
          <a:lstStyle/>
          <a:p>
            <a:pPr algn="l"/>
            <a:r>
              <a:rPr kumimoji="1" lang="zh-CN" altLang="en-US" sz="2400" dirty="0">
                <a:latin typeface="宋体" panose="02010600030101010101" pitchFamily="2" charset="-122"/>
                <a:ea typeface="宋体" panose="02010600030101010101" pitchFamily="2" charset="-122"/>
              </a:rPr>
              <a:t>无损耗均匀传输线终端开路</a:t>
            </a:r>
            <a:r>
              <a:rPr kumimoji="1" lang="en-US" altLang="zh-CN" sz="2400" dirty="0">
                <a:latin typeface="宋体" panose="02010600030101010101" pitchFamily="2" charset="-122"/>
                <a:ea typeface="宋体" panose="02010600030101010101" pitchFamily="2" charset="-122"/>
              </a:rPr>
              <a:t>.</a:t>
            </a:r>
            <a:r>
              <a:rPr kumimoji="1" lang="zh-CN" altLang="en-US" sz="2400" dirty="0">
                <a:latin typeface="宋体" panose="02010600030101010101" pitchFamily="2" charset="-122"/>
                <a:ea typeface="宋体" panose="02010600030101010101" pitchFamily="2" charset="-122"/>
              </a:rPr>
              <a:t>短路，匹配负载时，沿线电压波形为：</a:t>
            </a:r>
          </a:p>
        </p:txBody>
      </p:sp>
      <p:cxnSp>
        <p:nvCxnSpPr>
          <p:cNvPr id="23" name="标题 1">
            <a:extLst>
              <a:ext uri="{FF2B5EF4-FFF2-40B4-BE49-F238E27FC236}">
                <a16:creationId xmlns:a16="http://schemas.microsoft.com/office/drawing/2014/main" id="{0238F6DA-D4FC-4BE9-BCA5-8C9FE2312D0F}"/>
              </a:ext>
            </a:extLst>
          </p:cNvPr>
          <p:cNvCxnSpPr/>
          <p:nvPr/>
        </p:nvCxnSpPr>
        <p:spPr>
          <a:xfrm>
            <a:off x="565150" y="958632"/>
            <a:ext cx="11049001" cy="0"/>
          </a:xfrm>
          <a:prstGeom prst="line">
            <a:avLst/>
          </a:prstGeom>
          <a:noFill/>
          <a:ln w="6350" cap="flat">
            <a:solidFill>
              <a:schemeClr val="accent1"/>
            </a:solidFill>
            <a:miter/>
          </a:ln>
        </p:spPr>
      </p:cxnSp>
      <p:pic>
        <p:nvPicPr>
          <p:cNvPr id="24" name="图片 23">
            <a:extLst>
              <a:ext uri="{FF2B5EF4-FFF2-40B4-BE49-F238E27FC236}">
                <a16:creationId xmlns:a16="http://schemas.microsoft.com/office/drawing/2014/main" id="{A6764A5D-ED5E-4720-9D36-308FCACA0617}"/>
              </a:ext>
            </a:extLst>
          </p:cNvPr>
          <p:cNvPicPr>
            <a:picLocks noChangeAspect="1"/>
          </p:cNvPicPr>
          <p:nvPr/>
        </p:nvPicPr>
        <p:blipFill>
          <a:blip r:embed="rId4"/>
          <a:stretch>
            <a:fillRect/>
          </a:stretch>
        </p:blipFill>
        <p:spPr>
          <a:xfrm>
            <a:off x="3384550" y="4496435"/>
            <a:ext cx="4755515" cy="2033905"/>
          </a:xfrm>
          <a:prstGeom prst="rect">
            <a:avLst/>
          </a:prstGeom>
        </p:spPr>
      </p:pic>
      <p:pic>
        <p:nvPicPr>
          <p:cNvPr id="26" name="图片 2">
            <a:extLst>
              <a:ext uri="{FF2B5EF4-FFF2-40B4-BE49-F238E27FC236}">
                <a16:creationId xmlns:a16="http://schemas.microsoft.com/office/drawing/2014/main" id="{8F08945E-1DB5-409F-B313-F8EE2B686278}"/>
              </a:ext>
            </a:extLst>
          </p:cNvPr>
          <p:cNvPicPr>
            <a:picLocks noChangeAspect="1"/>
          </p:cNvPicPr>
          <p:nvPr/>
        </p:nvPicPr>
        <p:blipFill>
          <a:blip r:embed="rId5"/>
          <a:stretch>
            <a:fillRect/>
          </a:stretch>
        </p:blipFill>
        <p:spPr>
          <a:xfrm>
            <a:off x="110490" y="2022475"/>
            <a:ext cx="5265420" cy="2245360"/>
          </a:xfrm>
          <a:prstGeom prst="rect">
            <a:avLst/>
          </a:prstGeom>
          <a:noFill/>
          <a:ln>
            <a:noFill/>
          </a:ln>
        </p:spPr>
      </p:pic>
      <p:pic>
        <p:nvPicPr>
          <p:cNvPr id="27" name="图片 26">
            <a:extLst>
              <a:ext uri="{FF2B5EF4-FFF2-40B4-BE49-F238E27FC236}">
                <a16:creationId xmlns:a16="http://schemas.microsoft.com/office/drawing/2014/main" id="{93C5D1CF-E89C-401A-9256-CF522455BDC0}"/>
              </a:ext>
            </a:extLst>
          </p:cNvPr>
          <p:cNvPicPr>
            <a:picLocks noChangeAspect="1"/>
          </p:cNvPicPr>
          <p:nvPr/>
        </p:nvPicPr>
        <p:blipFill>
          <a:blip r:embed="rId6"/>
          <a:stretch>
            <a:fillRect/>
          </a:stretch>
        </p:blipFill>
        <p:spPr>
          <a:xfrm>
            <a:off x="6001385" y="1910080"/>
            <a:ext cx="5612765" cy="2400300"/>
          </a:xfrm>
          <a:prstGeom prst="rect">
            <a:avLst/>
          </a:prstGeom>
        </p:spPr>
      </p:pic>
      <p:sp>
        <p:nvSpPr>
          <p:cNvPr id="28" name="文本框 27">
            <a:extLst>
              <a:ext uri="{FF2B5EF4-FFF2-40B4-BE49-F238E27FC236}">
                <a16:creationId xmlns:a16="http://schemas.microsoft.com/office/drawing/2014/main" id="{046AB63E-C3DE-40BD-9B14-B74E82874782}"/>
              </a:ext>
            </a:extLst>
          </p:cNvPr>
          <p:cNvSpPr txBox="1"/>
          <p:nvPr/>
        </p:nvSpPr>
        <p:spPr>
          <a:xfrm>
            <a:off x="2109470" y="3038475"/>
            <a:ext cx="1704340" cy="368300"/>
          </a:xfrm>
          <a:prstGeom prst="rect">
            <a:avLst/>
          </a:prstGeom>
          <a:noFill/>
        </p:spPr>
        <p:txBody>
          <a:bodyPr wrap="square" rtlCol="0">
            <a:spAutoFit/>
          </a:bodyPr>
          <a:lstStyle/>
          <a:p>
            <a:r>
              <a:rPr lang="zh-CN" altLang="en-US">
                <a:solidFill>
                  <a:srgbClr val="FF0000"/>
                </a:solidFill>
              </a:rPr>
              <a:t>终端开路</a:t>
            </a:r>
          </a:p>
        </p:txBody>
      </p:sp>
      <p:sp>
        <p:nvSpPr>
          <p:cNvPr id="29" name="文本框 28">
            <a:extLst>
              <a:ext uri="{FF2B5EF4-FFF2-40B4-BE49-F238E27FC236}">
                <a16:creationId xmlns:a16="http://schemas.microsoft.com/office/drawing/2014/main" id="{E4AE7E2A-9047-4497-B056-26CDB6D73FA4}"/>
              </a:ext>
            </a:extLst>
          </p:cNvPr>
          <p:cNvSpPr txBox="1"/>
          <p:nvPr/>
        </p:nvSpPr>
        <p:spPr>
          <a:xfrm>
            <a:off x="8484870" y="2961005"/>
            <a:ext cx="1704340" cy="368300"/>
          </a:xfrm>
          <a:prstGeom prst="rect">
            <a:avLst/>
          </a:prstGeom>
          <a:noFill/>
        </p:spPr>
        <p:txBody>
          <a:bodyPr wrap="square" rtlCol="0">
            <a:spAutoFit/>
          </a:bodyPr>
          <a:lstStyle/>
          <a:p>
            <a:r>
              <a:rPr lang="zh-CN" altLang="en-US">
                <a:solidFill>
                  <a:srgbClr val="FF0000"/>
                </a:solidFill>
              </a:rPr>
              <a:t>终端匹配负载</a:t>
            </a:r>
          </a:p>
        </p:txBody>
      </p:sp>
      <p:sp>
        <p:nvSpPr>
          <p:cNvPr id="30" name="文本框 29">
            <a:extLst>
              <a:ext uri="{FF2B5EF4-FFF2-40B4-BE49-F238E27FC236}">
                <a16:creationId xmlns:a16="http://schemas.microsoft.com/office/drawing/2014/main" id="{EA1140CB-A2F7-40FE-9149-489168E0E890}"/>
              </a:ext>
            </a:extLst>
          </p:cNvPr>
          <p:cNvSpPr txBox="1"/>
          <p:nvPr/>
        </p:nvSpPr>
        <p:spPr>
          <a:xfrm>
            <a:off x="5154295" y="5404485"/>
            <a:ext cx="1704340" cy="368300"/>
          </a:xfrm>
          <a:prstGeom prst="rect">
            <a:avLst/>
          </a:prstGeom>
          <a:noFill/>
        </p:spPr>
        <p:txBody>
          <a:bodyPr wrap="square" rtlCol="0">
            <a:spAutoFit/>
          </a:bodyPr>
          <a:lstStyle/>
          <a:p>
            <a:r>
              <a:rPr lang="zh-CN" altLang="en-US">
                <a:solidFill>
                  <a:srgbClr val="FF0000"/>
                </a:solidFill>
              </a:rPr>
              <a:t>终端短路</a:t>
            </a:r>
          </a:p>
        </p:txBody>
      </p:sp>
    </p:spTree>
    <p:extLst>
      <p:ext uri="{BB962C8B-B14F-4D97-AF65-F5344CB8AC3E}">
        <p14:creationId xmlns:p14="http://schemas.microsoft.com/office/powerpoint/2010/main" val="36345402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2" name="组合 71">
            <a:extLst>
              <a:ext uri="{FF2B5EF4-FFF2-40B4-BE49-F238E27FC236}">
                <a16:creationId xmlns:a16="http://schemas.microsoft.com/office/drawing/2014/main" id="{B755887D-06B2-49C8-A78A-151A32DBE229}"/>
              </a:ext>
            </a:extLst>
          </p:cNvPr>
          <p:cNvGrpSpPr/>
          <p:nvPr/>
        </p:nvGrpSpPr>
        <p:grpSpPr>
          <a:xfrm>
            <a:off x="6262928" y="266844"/>
            <a:ext cx="5233747" cy="330008"/>
            <a:chOff x="5025390" y="266844"/>
            <a:chExt cx="6259830" cy="330008"/>
          </a:xfrm>
        </p:grpSpPr>
        <p:cxnSp>
          <p:nvCxnSpPr>
            <p:cNvPr id="73" name="直接连接符 72">
              <a:extLst>
                <a:ext uri="{FF2B5EF4-FFF2-40B4-BE49-F238E27FC236}">
                  <a16:creationId xmlns:a16="http://schemas.microsoft.com/office/drawing/2014/main" id="{62FE7A77-FBEB-40AD-82EE-F6D56B4FBED0}"/>
                </a:ext>
              </a:extLst>
            </p:cNvPr>
            <p:cNvCxnSpPr>
              <a:cxnSpLocks/>
            </p:cNvCxnSpPr>
            <p:nvPr/>
          </p:nvCxnSpPr>
          <p:spPr>
            <a:xfrm flipH="1">
              <a:off x="5025390" y="596852"/>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4" name="直接连接符 73">
              <a:extLst>
                <a:ext uri="{FF2B5EF4-FFF2-40B4-BE49-F238E27FC236}">
                  <a16:creationId xmlns:a16="http://schemas.microsoft.com/office/drawing/2014/main" id="{BDD67602-65B0-4D01-8429-E64EE945B436}"/>
                </a:ext>
              </a:extLst>
            </p:cNvPr>
            <p:cNvCxnSpPr>
              <a:cxnSpLocks/>
            </p:cNvCxnSpPr>
            <p:nvPr/>
          </p:nvCxnSpPr>
          <p:spPr>
            <a:xfrm flipH="1">
              <a:off x="5025390" y="514350"/>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5" name="直接连接符 74">
              <a:extLst>
                <a:ext uri="{FF2B5EF4-FFF2-40B4-BE49-F238E27FC236}">
                  <a16:creationId xmlns:a16="http://schemas.microsoft.com/office/drawing/2014/main" id="{56902EF3-DC68-477E-B624-6F39F33A5062}"/>
                </a:ext>
              </a:extLst>
            </p:cNvPr>
            <p:cNvCxnSpPr>
              <a:cxnSpLocks/>
            </p:cNvCxnSpPr>
            <p:nvPr/>
          </p:nvCxnSpPr>
          <p:spPr>
            <a:xfrm flipH="1">
              <a:off x="5025390" y="431848"/>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6" name="直接连接符 75">
              <a:extLst>
                <a:ext uri="{FF2B5EF4-FFF2-40B4-BE49-F238E27FC236}">
                  <a16:creationId xmlns:a16="http://schemas.microsoft.com/office/drawing/2014/main" id="{E5575DC5-6C14-4E47-8549-F414278D7485}"/>
                </a:ext>
              </a:extLst>
            </p:cNvPr>
            <p:cNvCxnSpPr>
              <a:cxnSpLocks/>
            </p:cNvCxnSpPr>
            <p:nvPr/>
          </p:nvCxnSpPr>
          <p:spPr>
            <a:xfrm flipH="1">
              <a:off x="5025390" y="349346"/>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7" name="直接连接符 76">
              <a:extLst>
                <a:ext uri="{FF2B5EF4-FFF2-40B4-BE49-F238E27FC236}">
                  <a16:creationId xmlns:a16="http://schemas.microsoft.com/office/drawing/2014/main" id="{BEA35CD9-8F8F-4991-8A28-0D6749A159AF}"/>
                </a:ext>
              </a:extLst>
            </p:cNvPr>
            <p:cNvCxnSpPr>
              <a:cxnSpLocks/>
            </p:cNvCxnSpPr>
            <p:nvPr/>
          </p:nvCxnSpPr>
          <p:spPr>
            <a:xfrm flipH="1">
              <a:off x="5025390" y="266844"/>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grpSp>
        <p:nvGrpSpPr>
          <p:cNvPr id="78" name="组合 77">
            <a:extLst>
              <a:ext uri="{FF2B5EF4-FFF2-40B4-BE49-F238E27FC236}">
                <a16:creationId xmlns:a16="http://schemas.microsoft.com/office/drawing/2014/main" id="{B708D5A6-F729-4A3B-AFF5-DB02E26819D1}"/>
              </a:ext>
            </a:extLst>
          </p:cNvPr>
          <p:cNvGrpSpPr/>
          <p:nvPr/>
        </p:nvGrpSpPr>
        <p:grpSpPr>
          <a:xfrm>
            <a:off x="0" y="266844"/>
            <a:ext cx="487680" cy="330008"/>
            <a:chOff x="5025390" y="266844"/>
            <a:chExt cx="6259830" cy="330008"/>
          </a:xfrm>
        </p:grpSpPr>
        <p:cxnSp>
          <p:nvCxnSpPr>
            <p:cNvPr id="79" name="直接连接符 78">
              <a:extLst>
                <a:ext uri="{FF2B5EF4-FFF2-40B4-BE49-F238E27FC236}">
                  <a16:creationId xmlns:a16="http://schemas.microsoft.com/office/drawing/2014/main" id="{B16271FF-B014-4D0E-A8FC-14016AE63AC9}"/>
                </a:ext>
              </a:extLst>
            </p:cNvPr>
            <p:cNvCxnSpPr>
              <a:cxnSpLocks/>
            </p:cNvCxnSpPr>
            <p:nvPr/>
          </p:nvCxnSpPr>
          <p:spPr>
            <a:xfrm flipH="1">
              <a:off x="5025390" y="596852"/>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0" name="直接连接符 79">
              <a:extLst>
                <a:ext uri="{FF2B5EF4-FFF2-40B4-BE49-F238E27FC236}">
                  <a16:creationId xmlns:a16="http://schemas.microsoft.com/office/drawing/2014/main" id="{54662351-B9F7-41B8-8DFD-B434997C52AF}"/>
                </a:ext>
              </a:extLst>
            </p:cNvPr>
            <p:cNvCxnSpPr>
              <a:cxnSpLocks/>
            </p:cNvCxnSpPr>
            <p:nvPr/>
          </p:nvCxnSpPr>
          <p:spPr>
            <a:xfrm flipH="1">
              <a:off x="5025390" y="514350"/>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1" name="直接连接符 80">
              <a:extLst>
                <a:ext uri="{FF2B5EF4-FFF2-40B4-BE49-F238E27FC236}">
                  <a16:creationId xmlns:a16="http://schemas.microsoft.com/office/drawing/2014/main" id="{18BB5DB3-4909-47FC-BDD8-8679FC8F7B9D}"/>
                </a:ext>
              </a:extLst>
            </p:cNvPr>
            <p:cNvCxnSpPr>
              <a:cxnSpLocks/>
            </p:cNvCxnSpPr>
            <p:nvPr/>
          </p:nvCxnSpPr>
          <p:spPr>
            <a:xfrm flipH="1">
              <a:off x="5025390" y="431848"/>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2" name="直接连接符 81">
              <a:extLst>
                <a:ext uri="{FF2B5EF4-FFF2-40B4-BE49-F238E27FC236}">
                  <a16:creationId xmlns:a16="http://schemas.microsoft.com/office/drawing/2014/main" id="{7C6A262B-8F87-4AA5-BD4A-55DE84149A06}"/>
                </a:ext>
              </a:extLst>
            </p:cNvPr>
            <p:cNvCxnSpPr>
              <a:cxnSpLocks/>
            </p:cNvCxnSpPr>
            <p:nvPr/>
          </p:nvCxnSpPr>
          <p:spPr>
            <a:xfrm flipH="1">
              <a:off x="5025390" y="349346"/>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3" name="直接连接符 82">
              <a:extLst>
                <a:ext uri="{FF2B5EF4-FFF2-40B4-BE49-F238E27FC236}">
                  <a16:creationId xmlns:a16="http://schemas.microsoft.com/office/drawing/2014/main" id="{8F8A0811-38B1-462B-8E81-76FB9965A173}"/>
                </a:ext>
              </a:extLst>
            </p:cNvPr>
            <p:cNvCxnSpPr>
              <a:cxnSpLocks/>
            </p:cNvCxnSpPr>
            <p:nvPr/>
          </p:nvCxnSpPr>
          <p:spPr>
            <a:xfrm flipH="1">
              <a:off x="5025390" y="266844"/>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pic>
        <p:nvPicPr>
          <p:cNvPr id="18" name="图片 1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604252" y="168275"/>
            <a:ext cx="520700" cy="520700"/>
          </a:xfrm>
          <a:prstGeom prst="rect">
            <a:avLst/>
          </a:prstGeom>
        </p:spPr>
      </p:pic>
      <p:sp>
        <p:nvSpPr>
          <p:cNvPr id="21" name="文本框 20">
            <a:extLst>
              <a:ext uri="{FF2B5EF4-FFF2-40B4-BE49-F238E27FC236}">
                <a16:creationId xmlns:a16="http://schemas.microsoft.com/office/drawing/2014/main" id="{D7ECBC28-490B-4424-8256-107302341845}"/>
              </a:ext>
            </a:extLst>
          </p:cNvPr>
          <p:cNvSpPr txBox="1"/>
          <p:nvPr/>
        </p:nvSpPr>
        <p:spPr>
          <a:xfrm>
            <a:off x="487680" y="105459"/>
            <a:ext cx="7575006" cy="646331"/>
          </a:xfrm>
          <a:prstGeom prst="rect">
            <a:avLst/>
          </a:prstGeom>
          <a:noFill/>
        </p:spPr>
        <p:txBody>
          <a:bodyPr wrap="square" rtlCol="0">
            <a:spAutoFit/>
          </a:bodyPr>
          <a:lstStyle/>
          <a:p>
            <a:r>
              <a:rPr lang="zh-CN" altLang="en-US" sz="3600" b="1" dirty="0"/>
              <a:t>二</a:t>
            </a:r>
            <a:r>
              <a:rPr lang="en-US" altLang="zh-CN" sz="3600" b="1" dirty="0"/>
              <a:t>.</a:t>
            </a:r>
            <a:r>
              <a:rPr lang="zh-CN" altLang="en-US" sz="3600" b="1" dirty="0"/>
              <a:t> 实验原理</a:t>
            </a:r>
          </a:p>
        </p:txBody>
      </p:sp>
      <p:sp>
        <p:nvSpPr>
          <p:cNvPr id="12" name="Rectangle 10">
            <a:extLst>
              <a:ext uri="{FF2B5EF4-FFF2-40B4-BE49-F238E27FC236}">
                <a16:creationId xmlns:a16="http://schemas.microsoft.com/office/drawing/2014/main" id="{E0DC3B29-81FB-49A6-A78F-73F821DC6ABD}"/>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4" name="Rectangle 12">
            <a:extLst>
              <a:ext uri="{FF2B5EF4-FFF2-40B4-BE49-F238E27FC236}">
                <a16:creationId xmlns:a16="http://schemas.microsoft.com/office/drawing/2014/main" id="{1AC72CEA-7AC4-45EE-9FB4-A09AC51F0A38}"/>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7" name="Rectangle 17">
            <a:extLst>
              <a:ext uri="{FF2B5EF4-FFF2-40B4-BE49-F238E27FC236}">
                <a16:creationId xmlns:a16="http://schemas.microsoft.com/office/drawing/2014/main" id="{11DE5850-4E6A-4228-8316-F6335684BE1B}"/>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35" name="文本框 1">
            <a:extLst>
              <a:ext uri="{FF2B5EF4-FFF2-40B4-BE49-F238E27FC236}">
                <a16:creationId xmlns:a16="http://schemas.microsoft.com/office/drawing/2014/main" id="{7B2EEC4B-FE8B-4141-88A4-6745561FFAEF}"/>
              </a:ext>
            </a:extLst>
          </p:cNvPr>
          <p:cNvSpPr txBox="1"/>
          <p:nvPr/>
        </p:nvSpPr>
        <p:spPr>
          <a:xfrm>
            <a:off x="11291972" y="6320393"/>
            <a:ext cx="832980"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dirty="0"/>
              <a:t>11/23</a:t>
            </a:r>
            <a:endParaRPr lang="zh-CN" altLang="en-US" dirty="0"/>
          </a:p>
        </p:txBody>
      </p:sp>
      <p:sp>
        <p:nvSpPr>
          <p:cNvPr id="36" name="标题 1">
            <a:extLst>
              <a:ext uri="{FF2B5EF4-FFF2-40B4-BE49-F238E27FC236}">
                <a16:creationId xmlns:a16="http://schemas.microsoft.com/office/drawing/2014/main" id="{52439BA5-5A65-4DAB-87B0-86017230C414}"/>
              </a:ext>
            </a:extLst>
          </p:cNvPr>
          <p:cNvSpPr txBox="1"/>
          <p:nvPr/>
        </p:nvSpPr>
        <p:spPr>
          <a:xfrm>
            <a:off x="677346" y="1256712"/>
            <a:ext cx="547321" cy="468000"/>
          </a:xfrm>
          <a:prstGeom prst="rect">
            <a:avLst/>
          </a:prstGeom>
          <a:solidFill>
            <a:schemeClr val="bg1">
              <a:lumMod val="95000"/>
            </a:schemeClr>
          </a:solidFill>
          <a:ln w="12700" cap="sq">
            <a:noFill/>
            <a:miter/>
          </a:ln>
          <a:effectLst/>
        </p:spPr>
        <p:txBody>
          <a:bodyPr vert="horz" wrap="square" lIns="0" tIns="0" rIns="0" bIns="0" rtlCol="0" anchor="ctr"/>
          <a:lstStyle/>
          <a:p>
            <a:pPr algn="ctr"/>
            <a:endParaRPr kumimoji="1" lang="zh-CN" altLang="en-US"/>
          </a:p>
        </p:txBody>
      </p:sp>
      <p:sp>
        <p:nvSpPr>
          <p:cNvPr id="38" name="标题 1">
            <a:extLst>
              <a:ext uri="{FF2B5EF4-FFF2-40B4-BE49-F238E27FC236}">
                <a16:creationId xmlns:a16="http://schemas.microsoft.com/office/drawing/2014/main" id="{A0CE4579-45A3-4A24-8436-6B63CE2F7348}"/>
              </a:ext>
            </a:extLst>
          </p:cNvPr>
          <p:cNvSpPr txBox="1"/>
          <p:nvPr/>
        </p:nvSpPr>
        <p:spPr>
          <a:xfrm>
            <a:off x="565150" y="1256712"/>
            <a:ext cx="108000" cy="468000"/>
          </a:xfrm>
          <a:prstGeom prst="rect">
            <a:avLst/>
          </a:prstGeom>
          <a:solidFill>
            <a:schemeClr val="accent1"/>
          </a:solidFill>
          <a:ln w="12700" cap="sq">
            <a:noFill/>
            <a:miter/>
          </a:ln>
          <a:effectLst/>
        </p:spPr>
        <p:txBody>
          <a:bodyPr vert="horz" wrap="square" lIns="0" tIns="0" rIns="0" bIns="0" rtlCol="0" anchor="ctr"/>
          <a:lstStyle/>
          <a:p>
            <a:pPr algn="ctr"/>
            <a:endParaRPr kumimoji="1" lang="zh-CN" altLang="en-US"/>
          </a:p>
        </p:txBody>
      </p:sp>
      <p:sp>
        <p:nvSpPr>
          <p:cNvPr id="39" name="标题 1">
            <a:extLst>
              <a:ext uri="{FF2B5EF4-FFF2-40B4-BE49-F238E27FC236}">
                <a16:creationId xmlns:a16="http://schemas.microsoft.com/office/drawing/2014/main" id="{87D513EF-B846-4803-B868-07338A5BCE66}"/>
              </a:ext>
            </a:extLst>
          </p:cNvPr>
          <p:cNvSpPr txBox="1"/>
          <p:nvPr/>
        </p:nvSpPr>
        <p:spPr>
          <a:xfrm>
            <a:off x="722346" y="1328713"/>
            <a:ext cx="457321" cy="324000"/>
          </a:xfrm>
          <a:prstGeom prst="rect">
            <a:avLst/>
          </a:prstGeom>
          <a:noFill/>
          <a:ln>
            <a:noFill/>
          </a:ln>
        </p:spPr>
        <p:txBody>
          <a:bodyPr vert="horz" wrap="square" lIns="0" tIns="0" rIns="0" bIns="0" rtlCol="0" anchor="ctr"/>
          <a:lstStyle/>
          <a:p>
            <a:pPr algn="ctr"/>
            <a:r>
              <a:rPr kumimoji="1" lang="en-US" altLang="zh-CN" sz="2000">
                <a:ln w="12700">
                  <a:noFill/>
                </a:ln>
                <a:solidFill>
                  <a:schemeClr val="tx1">
                    <a:lumMod val="85000"/>
                    <a:lumOff val="15000"/>
                  </a:schemeClr>
                </a:solidFill>
                <a:latin typeface="OPPOSans R" panose="00020600040101010101" charset="-122"/>
                <a:ea typeface="OPPOSans R" panose="00020600040101010101" charset="-122"/>
                <a:cs typeface="OPPOSans R" panose="00020600040101010101" charset="-122"/>
              </a:rPr>
              <a:t>01</a:t>
            </a:r>
            <a:endParaRPr kumimoji="1" lang="zh-CN" altLang="en-US"/>
          </a:p>
        </p:txBody>
      </p:sp>
      <p:sp>
        <p:nvSpPr>
          <p:cNvPr id="40" name="标题 1">
            <a:extLst>
              <a:ext uri="{FF2B5EF4-FFF2-40B4-BE49-F238E27FC236}">
                <a16:creationId xmlns:a16="http://schemas.microsoft.com/office/drawing/2014/main" id="{AD275BB9-8B43-4B57-AF1E-8745984C081F}"/>
              </a:ext>
            </a:extLst>
          </p:cNvPr>
          <p:cNvSpPr txBox="1"/>
          <p:nvPr/>
        </p:nvSpPr>
        <p:spPr>
          <a:xfrm>
            <a:off x="1429468" y="1256712"/>
            <a:ext cx="6660000" cy="467999"/>
          </a:xfrm>
          <a:prstGeom prst="rect">
            <a:avLst/>
          </a:prstGeom>
          <a:noFill/>
          <a:ln>
            <a:noFill/>
          </a:ln>
        </p:spPr>
        <p:txBody>
          <a:bodyPr vert="horz" wrap="square" lIns="0" tIns="0" rIns="0" bIns="0" rtlCol="0" anchor="t"/>
          <a:lstStyle/>
          <a:p>
            <a:pPr algn="l"/>
            <a:r>
              <a:rPr kumimoji="1" lang="zh-CN" altLang="en-US" sz="2400" dirty="0">
                <a:ln w="12700">
                  <a:noFill/>
                </a:ln>
                <a:solidFill>
                  <a:schemeClr val="tx1">
                    <a:lumMod val="65000"/>
                    <a:lumOff val="35000"/>
                  </a:schemeClr>
                </a:solidFill>
                <a:latin typeface="宋体" panose="02010600030101010101" pitchFamily="2" charset="-122"/>
                <a:ea typeface="宋体" panose="02010600030101010101" pitchFamily="2" charset="-122"/>
              </a:rPr>
              <a:t>无损耗均匀传输线满足方程：</a:t>
            </a:r>
            <a:endParaRPr kumimoji="1" lang="zh-CN" altLang="en-US" sz="2400" dirty="0">
              <a:latin typeface="宋体" panose="02010600030101010101" pitchFamily="2" charset="-122"/>
              <a:ea typeface="宋体" panose="02010600030101010101" pitchFamily="2" charset="-122"/>
            </a:endParaRPr>
          </a:p>
        </p:txBody>
      </p:sp>
      <p:sp>
        <p:nvSpPr>
          <p:cNvPr id="42" name="标题 1">
            <a:extLst>
              <a:ext uri="{FF2B5EF4-FFF2-40B4-BE49-F238E27FC236}">
                <a16:creationId xmlns:a16="http://schemas.microsoft.com/office/drawing/2014/main" id="{52D6B0E6-097A-4632-9C32-D820BC5279D1}"/>
              </a:ext>
            </a:extLst>
          </p:cNvPr>
          <p:cNvSpPr txBox="1"/>
          <p:nvPr/>
        </p:nvSpPr>
        <p:spPr>
          <a:xfrm>
            <a:off x="772597" y="3092200"/>
            <a:ext cx="547321" cy="468000"/>
          </a:xfrm>
          <a:prstGeom prst="rect">
            <a:avLst/>
          </a:prstGeom>
          <a:solidFill>
            <a:schemeClr val="bg1">
              <a:lumMod val="95000"/>
            </a:schemeClr>
          </a:solidFill>
          <a:ln w="12700" cap="sq">
            <a:noFill/>
            <a:miter/>
          </a:ln>
          <a:effectLst/>
        </p:spPr>
        <p:txBody>
          <a:bodyPr vert="horz" wrap="square" lIns="0" tIns="0" rIns="0" bIns="0" rtlCol="0" anchor="ctr"/>
          <a:lstStyle/>
          <a:p>
            <a:pPr algn="ctr"/>
            <a:endParaRPr kumimoji="1" lang="zh-CN" altLang="en-US"/>
          </a:p>
        </p:txBody>
      </p:sp>
      <p:sp>
        <p:nvSpPr>
          <p:cNvPr id="43" name="标题 1">
            <a:extLst>
              <a:ext uri="{FF2B5EF4-FFF2-40B4-BE49-F238E27FC236}">
                <a16:creationId xmlns:a16="http://schemas.microsoft.com/office/drawing/2014/main" id="{2B16551D-02B6-4C01-92CC-B0F6FC76A49A}"/>
              </a:ext>
            </a:extLst>
          </p:cNvPr>
          <p:cNvSpPr txBox="1"/>
          <p:nvPr/>
        </p:nvSpPr>
        <p:spPr>
          <a:xfrm>
            <a:off x="660401" y="3092200"/>
            <a:ext cx="108000" cy="468000"/>
          </a:xfrm>
          <a:prstGeom prst="rect">
            <a:avLst/>
          </a:prstGeom>
          <a:solidFill>
            <a:schemeClr val="accent1"/>
          </a:solidFill>
          <a:ln w="12700" cap="sq">
            <a:noFill/>
            <a:miter/>
          </a:ln>
          <a:effectLst/>
        </p:spPr>
        <p:txBody>
          <a:bodyPr vert="horz" wrap="square" lIns="0" tIns="0" rIns="0" bIns="0" rtlCol="0" anchor="ctr"/>
          <a:lstStyle/>
          <a:p>
            <a:pPr algn="ctr"/>
            <a:endParaRPr kumimoji="1" lang="zh-CN" altLang="en-US"/>
          </a:p>
        </p:txBody>
      </p:sp>
      <p:sp>
        <p:nvSpPr>
          <p:cNvPr id="44" name="标题 1">
            <a:extLst>
              <a:ext uri="{FF2B5EF4-FFF2-40B4-BE49-F238E27FC236}">
                <a16:creationId xmlns:a16="http://schemas.microsoft.com/office/drawing/2014/main" id="{D6F96581-5C1B-42BC-BA21-FBBABC0CF770}"/>
              </a:ext>
            </a:extLst>
          </p:cNvPr>
          <p:cNvSpPr txBox="1"/>
          <p:nvPr/>
        </p:nvSpPr>
        <p:spPr>
          <a:xfrm>
            <a:off x="817597" y="3164200"/>
            <a:ext cx="457321" cy="324000"/>
          </a:xfrm>
          <a:prstGeom prst="rect">
            <a:avLst/>
          </a:prstGeom>
          <a:noFill/>
          <a:ln>
            <a:noFill/>
          </a:ln>
        </p:spPr>
        <p:txBody>
          <a:bodyPr vert="horz" wrap="square" lIns="0" tIns="0" rIns="0" bIns="0" rtlCol="0" anchor="ctr"/>
          <a:lstStyle/>
          <a:p>
            <a:pPr algn="ctr"/>
            <a:r>
              <a:rPr kumimoji="1" lang="en-US" altLang="zh-CN" sz="2000">
                <a:ln w="12700">
                  <a:noFill/>
                </a:ln>
                <a:solidFill>
                  <a:schemeClr val="tx1">
                    <a:lumMod val="85000"/>
                    <a:lumOff val="15000"/>
                  </a:schemeClr>
                </a:solidFill>
                <a:latin typeface="OPPOSans R" panose="00020600040101010101" charset="-122"/>
                <a:ea typeface="OPPOSans R" panose="00020600040101010101" charset="-122"/>
                <a:cs typeface="OPPOSans R" panose="00020600040101010101" charset="-122"/>
              </a:rPr>
              <a:t>02</a:t>
            </a:r>
            <a:endParaRPr kumimoji="1" lang="zh-CN" altLang="en-US"/>
          </a:p>
        </p:txBody>
      </p:sp>
      <p:sp>
        <p:nvSpPr>
          <p:cNvPr id="45" name="标题 1">
            <a:extLst>
              <a:ext uri="{FF2B5EF4-FFF2-40B4-BE49-F238E27FC236}">
                <a16:creationId xmlns:a16="http://schemas.microsoft.com/office/drawing/2014/main" id="{D780E086-F119-4F55-BC8B-F08D6B7316C8}"/>
              </a:ext>
            </a:extLst>
          </p:cNvPr>
          <p:cNvSpPr txBox="1"/>
          <p:nvPr/>
        </p:nvSpPr>
        <p:spPr>
          <a:xfrm>
            <a:off x="1524718" y="5778000"/>
            <a:ext cx="10524527" cy="662473"/>
          </a:xfrm>
          <a:prstGeom prst="rect">
            <a:avLst/>
          </a:prstGeom>
          <a:noFill/>
          <a:ln>
            <a:noFill/>
          </a:ln>
        </p:spPr>
        <p:txBody>
          <a:bodyPr vert="horz" wrap="square" lIns="0" tIns="0" rIns="0" bIns="0" rtlCol="0" anchor="t"/>
          <a:lstStyle/>
          <a:p>
            <a:pPr algn="l"/>
            <a:r>
              <a:rPr kumimoji="1" lang="zh-CN" altLang="en-US" sz="2400" dirty="0">
                <a:ln w="12700">
                  <a:noFill/>
                </a:ln>
                <a:solidFill>
                  <a:schemeClr val="tx1">
                    <a:lumMod val="65000"/>
                    <a:lumOff val="35000"/>
                  </a:schemeClr>
                </a:solidFill>
                <a:latin typeface="宋体" panose="02010600030101010101" pitchFamily="2" charset="-122"/>
                <a:ea typeface="宋体" panose="02010600030101010101" pitchFamily="2" charset="-122"/>
              </a:rPr>
              <a:t>从电路观点来看，传输线又称为分布参数电路，分布参数完全由</a:t>
            </a:r>
            <a:r>
              <a:rPr kumimoji="1" lang="en-US" altLang="zh-CN" sz="2400" dirty="0">
                <a:ln w="12700">
                  <a:noFill/>
                </a:ln>
                <a:solidFill>
                  <a:schemeClr val="tx1">
                    <a:lumMod val="65000"/>
                    <a:lumOff val="35000"/>
                  </a:schemeClr>
                </a:solidFill>
                <a:latin typeface="宋体" panose="02010600030101010101" pitchFamily="2" charset="-122"/>
                <a:ea typeface="宋体" panose="02010600030101010101" pitchFamily="2" charset="-122"/>
              </a:rPr>
              <a:t>L</a:t>
            </a:r>
            <a:r>
              <a:rPr kumimoji="1" lang="en-US" altLang="zh-CN" sz="2400" baseline="-25000" dirty="0">
                <a:ln w="12700">
                  <a:noFill/>
                </a:ln>
                <a:solidFill>
                  <a:schemeClr val="tx1">
                    <a:lumMod val="65000"/>
                    <a:lumOff val="35000"/>
                  </a:schemeClr>
                </a:solidFill>
                <a:latin typeface="宋体" panose="02010600030101010101" pitchFamily="2" charset="-122"/>
                <a:ea typeface="宋体" panose="02010600030101010101" pitchFamily="2" charset="-122"/>
              </a:rPr>
              <a:t>0</a:t>
            </a:r>
            <a:r>
              <a:rPr kumimoji="1" lang="zh-CN" altLang="en-US" sz="2400" dirty="0">
                <a:ln w="12700">
                  <a:noFill/>
                </a:ln>
                <a:solidFill>
                  <a:schemeClr val="tx1">
                    <a:lumMod val="65000"/>
                    <a:lumOff val="35000"/>
                  </a:schemeClr>
                </a:solidFill>
                <a:latin typeface="宋体" panose="02010600030101010101" pitchFamily="2" charset="-122"/>
                <a:ea typeface="宋体" panose="02010600030101010101" pitchFamily="2" charset="-122"/>
              </a:rPr>
              <a:t>和</a:t>
            </a:r>
            <a:r>
              <a:rPr kumimoji="1" lang="en-US" altLang="zh-CN" sz="2400" dirty="0">
                <a:ln w="12700">
                  <a:noFill/>
                </a:ln>
                <a:solidFill>
                  <a:schemeClr val="tx1">
                    <a:lumMod val="65000"/>
                    <a:lumOff val="35000"/>
                  </a:schemeClr>
                </a:solidFill>
                <a:latin typeface="宋体" panose="02010600030101010101" pitchFamily="2" charset="-122"/>
                <a:ea typeface="宋体" panose="02010600030101010101" pitchFamily="2" charset="-122"/>
              </a:rPr>
              <a:t>C</a:t>
            </a:r>
            <a:r>
              <a:rPr kumimoji="1" lang="en-US" altLang="zh-CN" sz="2400" baseline="-25000" dirty="0">
                <a:ln w="12700">
                  <a:noFill/>
                </a:ln>
                <a:solidFill>
                  <a:schemeClr val="tx1">
                    <a:lumMod val="65000"/>
                    <a:lumOff val="35000"/>
                  </a:schemeClr>
                </a:solidFill>
                <a:latin typeface="宋体" panose="02010600030101010101" pitchFamily="2" charset="-122"/>
                <a:ea typeface="宋体" panose="02010600030101010101" pitchFamily="2" charset="-122"/>
              </a:rPr>
              <a:t>0</a:t>
            </a:r>
            <a:r>
              <a:rPr kumimoji="1" lang="zh-CN" altLang="en-US" sz="2400" dirty="0">
                <a:ln w="12700">
                  <a:noFill/>
                </a:ln>
                <a:solidFill>
                  <a:schemeClr val="tx1">
                    <a:lumMod val="65000"/>
                    <a:lumOff val="35000"/>
                  </a:schemeClr>
                </a:solidFill>
                <a:latin typeface="宋体" panose="02010600030101010101" pitchFamily="2" charset="-122"/>
                <a:ea typeface="宋体" panose="02010600030101010101" pitchFamily="2" charset="-122"/>
              </a:rPr>
              <a:t>决定。</a:t>
            </a:r>
          </a:p>
        </p:txBody>
      </p:sp>
      <p:sp>
        <p:nvSpPr>
          <p:cNvPr id="46" name="标题 1">
            <a:extLst>
              <a:ext uri="{FF2B5EF4-FFF2-40B4-BE49-F238E27FC236}">
                <a16:creationId xmlns:a16="http://schemas.microsoft.com/office/drawing/2014/main" id="{CC5AD94E-A178-467E-A5F0-013AE2FE8A2C}"/>
              </a:ext>
            </a:extLst>
          </p:cNvPr>
          <p:cNvSpPr txBox="1"/>
          <p:nvPr/>
        </p:nvSpPr>
        <p:spPr>
          <a:xfrm>
            <a:off x="768401" y="5778000"/>
            <a:ext cx="547321" cy="468000"/>
          </a:xfrm>
          <a:prstGeom prst="rect">
            <a:avLst/>
          </a:prstGeom>
          <a:solidFill>
            <a:schemeClr val="bg1">
              <a:lumMod val="95000"/>
            </a:schemeClr>
          </a:solidFill>
          <a:ln w="12700" cap="sq">
            <a:noFill/>
            <a:miter/>
          </a:ln>
          <a:effectLst/>
        </p:spPr>
        <p:txBody>
          <a:bodyPr vert="horz" wrap="square" lIns="0" tIns="0" rIns="0" bIns="0" rtlCol="0" anchor="ctr"/>
          <a:lstStyle/>
          <a:p>
            <a:pPr algn="ctr"/>
            <a:endParaRPr kumimoji="1" lang="zh-CN" altLang="en-US"/>
          </a:p>
        </p:txBody>
      </p:sp>
      <p:sp>
        <p:nvSpPr>
          <p:cNvPr id="47" name="标题 1">
            <a:extLst>
              <a:ext uri="{FF2B5EF4-FFF2-40B4-BE49-F238E27FC236}">
                <a16:creationId xmlns:a16="http://schemas.microsoft.com/office/drawing/2014/main" id="{B6440F47-0C4F-4EA9-B782-5E2B5F448EDF}"/>
              </a:ext>
            </a:extLst>
          </p:cNvPr>
          <p:cNvSpPr txBox="1"/>
          <p:nvPr/>
        </p:nvSpPr>
        <p:spPr>
          <a:xfrm>
            <a:off x="656205" y="5778000"/>
            <a:ext cx="108000" cy="468000"/>
          </a:xfrm>
          <a:prstGeom prst="rect">
            <a:avLst/>
          </a:prstGeom>
          <a:solidFill>
            <a:schemeClr val="accent1"/>
          </a:solidFill>
          <a:ln w="12700" cap="sq">
            <a:noFill/>
            <a:miter/>
          </a:ln>
          <a:effectLst/>
        </p:spPr>
        <p:txBody>
          <a:bodyPr vert="horz" wrap="square" lIns="0" tIns="0" rIns="0" bIns="0" rtlCol="0" anchor="ctr"/>
          <a:lstStyle/>
          <a:p>
            <a:pPr algn="ctr"/>
            <a:endParaRPr kumimoji="1" lang="zh-CN" altLang="en-US"/>
          </a:p>
        </p:txBody>
      </p:sp>
      <p:sp>
        <p:nvSpPr>
          <p:cNvPr id="48" name="标题 1">
            <a:extLst>
              <a:ext uri="{FF2B5EF4-FFF2-40B4-BE49-F238E27FC236}">
                <a16:creationId xmlns:a16="http://schemas.microsoft.com/office/drawing/2014/main" id="{6CDFD792-FF75-4E1F-AFF4-6E0C48A415F7}"/>
              </a:ext>
            </a:extLst>
          </p:cNvPr>
          <p:cNvSpPr txBox="1"/>
          <p:nvPr/>
        </p:nvSpPr>
        <p:spPr>
          <a:xfrm>
            <a:off x="813401" y="5850000"/>
            <a:ext cx="457321" cy="324000"/>
          </a:xfrm>
          <a:prstGeom prst="rect">
            <a:avLst/>
          </a:prstGeom>
          <a:noFill/>
          <a:ln>
            <a:noFill/>
          </a:ln>
        </p:spPr>
        <p:txBody>
          <a:bodyPr vert="horz" wrap="square" lIns="0" tIns="0" rIns="0" bIns="0" rtlCol="0" anchor="ctr"/>
          <a:lstStyle/>
          <a:p>
            <a:pPr algn="ctr"/>
            <a:r>
              <a:rPr kumimoji="1" lang="en-US" altLang="zh-CN" sz="2000">
                <a:ln w="12700">
                  <a:noFill/>
                </a:ln>
                <a:solidFill>
                  <a:schemeClr val="tx1">
                    <a:lumMod val="85000"/>
                    <a:lumOff val="15000"/>
                  </a:schemeClr>
                </a:solidFill>
                <a:latin typeface="OPPOSans R" panose="00020600040101010101" charset="-122"/>
                <a:ea typeface="OPPOSans R" panose="00020600040101010101" charset="-122"/>
                <a:cs typeface="OPPOSans R" panose="00020600040101010101" charset="-122"/>
              </a:rPr>
              <a:t>03</a:t>
            </a:r>
            <a:endParaRPr kumimoji="1" lang="zh-CN" altLang="en-US"/>
          </a:p>
        </p:txBody>
      </p:sp>
      <p:pic>
        <p:nvPicPr>
          <p:cNvPr id="49" name="图片 48">
            <a:extLst>
              <a:ext uri="{FF2B5EF4-FFF2-40B4-BE49-F238E27FC236}">
                <a16:creationId xmlns:a16="http://schemas.microsoft.com/office/drawing/2014/main" id="{9A5E5E7C-5BF0-4A14-A79F-D2E92D363C2F}"/>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3991" t="24151" r="18115" b="27208"/>
          <a:stretch>
            <a:fillRect/>
          </a:stretch>
        </p:blipFill>
        <p:spPr>
          <a:xfrm>
            <a:off x="1320196" y="3802918"/>
            <a:ext cx="3407394" cy="1373146"/>
          </a:xfrm>
          <a:prstGeom prst="rect">
            <a:avLst/>
          </a:prstGeom>
        </p:spPr>
      </p:pic>
      <p:sp>
        <p:nvSpPr>
          <p:cNvPr id="50" name="标题 1">
            <a:extLst>
              <a:ext uri="{FF2B5EF4-FFF2-40B4-BE49-F238E27FC236}">
                <a16:creationId xmlns:a16="http://schemas.microsoft.com/office/drawing/2014/main" id="{15EE8265-4566-426B-87C1-3275C539B40E}"/>
              </a:ext>
            </a:extLst>
          </p:cNvPr>
          <p:cNvSpPr txBox="1"/>
          <p:nvPr/>
        </p:nvSpPr>
        <p:spPr>
          <a:xfrm>
            <a:off x="1524719" y="3105002"/>
            <a:ext cx="6660000" cy="468000"/>
          </a:xfrm>
          <a:prstGeom prst="rect">
            <a:avLst/>
          </a:prstGeom>
          <a:noFill/>
          <a:ln>
            <a:noFill/>
          </a:ln>
        </p:spPr>
        <p:txBody>
          <a:bodyPr vert="horz" wrap="square" lIns="0" tIns="0" rIns="0" bIns="0" rtlCol="0" anchor="t"/>
          <a:lstStyle/>
          <a:p>
            <a:pPr algn="l"/>
            <a:r>
              <a:rPr kumimoji="1" lang="zh-CN" altLang="en-US" sz="2400" dirty="0">
                <a:ln w="12700">
                  <a:noFill/>
                </a:ln>
                <a:solidFill>
                  <a:schemeClr val="tx1">
                    <a:lumMod val="65000"/>
                    <a:lumOff val="35000"/>
                  </a:schemeClr>
                </a:solidFill>
                <a:latin typeface="宋体" panose="02010600030101010101" pitchFamily="2" charset="-122"/>
                <a:ea typeface="宋体" panose="02010600030101010101" pitchFamily="2" charset="-122"/>
              </a:rPr>
              <a:t>由方程可得到传输线的电路模型：</a:t>
            </a:r>
            <a:endParaRPr kumimoji="1" lang="zh-CN" altLang="en-US" sz="2400" dirty="0">
              <a:latin typeface="宋体" panose="02010600030101010101" pitchFamily="2" charset="-122"/>
              <a:ea typeface="宋体" panose="02010600030101010101" pitchFamily="2" charset="-122"/>
            </a:endParaRPr>
          </a:p>
        </p:txBody>
      </p:sp>
      <mc:AlternateContent xmlns:mc="http://schemas.openxmlformats.org/markup-compatibility/2006" xmlns:a14="http://schemas.microsoft.com/office/drawing/2010/main">
        <mc:Choice Requires="a14">
          <p:sp>
            <p:nvSpPr>
              <p:cNvPr id="51" name="文本框 50">
                <a:extLst>
                  <a:ext uri="{FF2B5EF4-FFF2-40B4-BE49-F238E27FC236}">
                    <a16:creationId xmlns:a16="http://schemas.microsoft.com/office/drawing/2014/main" id="{A8FA24B0-FDEE-4637-91BC-DBE3EDB465F9}"/>
                  </a:ext>
                </a:extLst>
              </p:cNvPr>
              <p:cNvSpPr txBox="1"/>
              <p:nvPr/>
            </p:nvSpPr>
            <p:spPr>
              <a:xfrm>
                <a:off x="3799871" y="1617132"/>
                <a:ext cx="2536722" cy="63658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altLang="zh-CN" i="1" smtClean="0">
                              <a:latin typeface="Cambria Math" panose="02040503050406030204" pitchFamily="18" charset="0"/>
                            </a:rPr>
                          </m:ctrlPr>
                        </m:fPr>
                        <m:num>
                          <m:r>
                            <a:rPr lang="en-US" altLang="zh-CN" i="1" smtClean="0">
                              <a:latin typeface="Cambria Math" panose="02040503050406030204" pitchFamily="18" charset="0"/>
                            </a:rPr>
                            <m:t>𝜕</m:t>
                          </m:r>
                          <m:r>
                            <a:rPr lang="en-US" altLang="zh-CN" b="0" i="1" smtClean="0">
                              <a:latin typeface="Cambria Math" panose="02040503050406030204" pitchFamily="18" charset="0"/>
                            </a:rPr>
                            <m:t>𝑈</m:t>
                          </m:r>
                        </m:num>
                        <m:den>
                          <m:r>
                            <a:rPr lang="en-US" altLang="zh-CN" i="1" smtClean="0">
                              <a:latin typeface="Cambria Math" panose="02040503050406030204" pitchFamily="18" charset="0"/>
                            </a:rPr>
                            <m:t>𝜕</m:t>
                          </m:r>
                          <m:r>
                            <a:rPr lang="en-US" altLang="zh-CN" b="0" i="1" smtClean="0">
                              <a:latin typeface="Cambria Math" panose="02040503050406030204" pitchFamily="18" charset="0"/>
                            </a:rPr>
                            <m:t>𝑧</m:t>
                          </m:r>
                        </m:den>
                      </m:f>
                      <m:r>
                        <a:rPr lang="en-US" altLang="zh-CN" i="1">
                          <a:latin typeface="Cambria Math" panose="02040503050406030204" pitchFamily="18" charset="0"/>
                        </a:rPr>
                        <m:t>+</m:t>
                      </m:r>
                      <m:r>
                        <m:rPr>
                          <m:sty m:val="p"/>
                        </m:rPr>
                        <a:rPr lang="en-US" altLang="zh-CN" b="0" i="0" smtClean="0">
                          <a:latin typeface="Cambria Math" panose="02040503050406030204" pitchFamily="18" charset="0"/>
                        </a:rPr>
                        <m:t>L</m:t>
                      </m:r>
                      <m:r>
                        <a:rPr lang="en-US" altLang="zh-CN" b="0" i="0" baseline="-25000" smtClean="0">
                          <a:latin typeface="Cambria Math" panose="02040503050406030204" pitchFamily="18" charset="0"/>
                        </a:rPr>
                        <m:t>0</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m:t>
                          </m:r>
                          <m:r>
                            <a:rPr lang="en-US" altLang="zh-CN" b="0" i="1" smtClean="0">
                              <a:latin typeface="Cambria Math" panose="02040503050406030204" pitchFamily="18" charset="0"/>
                            </a:rPr>
                            <m:t>𝐼</m:t>
                          </m:r>
                        </m:num>
                        <m:den>
                          <m:r>
                            <a:rPr lang="en-US" altLang="zh-CN" b="0" i="1" smtClean="0">
                              <a:latin typeface="Cambria Math" panose="02040503050406030204" pitchFamily="18" charset="0"/>
                            </a:rPr>
                            <m:t>𝜕</m:t>
                          </m:r>
                          <m:r>
                            <a:rPr lang="en-US" altLang="zh-CN" b="0" i="1" smtClean="0">
                              <a:latin typeface="Cambria Math" panose="02040503050406030204" pitchFamily="18" charset="0"/>
                            </a:rPr>
                            <m:t>𝑡</m:t>
                          </m:r>
                        </m:den>
                      </m:f>
                      <m:r>
                        <a:rPr lang="en-US" altLang="zh-CN" b="0" i="1" smtClean="0">
                          <a:latin typeface="Cambria Math" panose="02040503050406030204" pitchFamily="18" charset="0"/>
                        </a:rPr>
                        <m:t>=0</m:t>
                      </m:r>
                    </m:oMath>
                  </m:oMathPara>
                </a14:m>
                <a:endParaRPr lang="zh-CN" altLang="en-US" dirty="0"/>
              </a:p>
            </p:txBody>
          </p:sp>
        </mc:Choice>
        <mc:Fallback xmlns="">
          <p:sp>
            <p:nvSpPr>
              <p:cNvPr id="51" name="文本框 50">
                <a:extLst>
                  <a:ext uri="{FF2B5EF4-FFF2-40B4-BE49-F238E27FC236}">
                    <a16:creationId xmlns:a16="http://schemas.microsoft.com/office/drawing/2014/main" id="{A8FA24B0-FDEE-4637-91BC-DBE3EDB465F9}"/>
                  </a:ext>
                </a:extLst>
              </p:cNvPr>
              <p:cNvSpPr txBox="1">
                <a:spLocks noRot="1" noChangeAspect="1" noMove="1" noResize="1" noEditPoints="1" noAdjustHandles="1" noChangeArrowheads="1" noChangeShapeType="1" noTextEdit="1"/>
              </p:cNvSpPr>
              <p:nvPr/>
            </p:nvSpPr>
            <p:spPr>
              <a:xfrm>
                <a:off x="3799871" y="1617132"/>
                <a:ext cx="2536722" cy="636585"/>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2" name="文本框 51">
                <a:extLst>
                  <a:ext uri="{FF2B5EF4-FFF2-40B4-BE49-F238E27FC236}">
                    <a16:creationId xmlns:a16="http://schemas.microsoft.com/office/drawing/2014/main" id="{C09C6EF7-A597-4A33-966A-A5E4DD9917CE}"/>
                  </a:ext>
                </a:extLst>
              </p:cNvPr>
              <p:cNvSpPr txBox="1"/>
              <p:nvPr/>
            </p:nvSpPr>
            <p:spPr>
              <a:xfrm>
                <a:off x="3799871" y="2338924"/>
                <a:ext cx="2536722" cy="63658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altLang="zh-CN" i="1" smtClean="0">
                              <a:latin typeface="Cambria Math" panose="02040503050406030204" pitchFamily="18" charset="0"/>
                            </a:rPr>
                          </m:ctrlPr>
                        </m:fPr>
                        <m:num>
                          <m:r>
                            <a:rPr lang="en-US" altLang="zh-CN" i="1" smtClean="0">
                              <a:latin typeface="Cambria Math" panose="02040503050406030204" pitchFamily="18" charset="0"/>
                            </a:rPr>
                            <m:t>𝜕</m:t>
                          </m:r>
                          <m:r>
                            <a:rPr lang="en-US" altLang="zh-CN" b="0" i="1" smtClean="0">
                              <a:latin typeface="Cambria Math" panose="02040503050406030204" pitchFamily="18" charset="0"/>
                            </a:rPr>
                            <m:t>𝐼</m:t>
                          </m:r>
                        </m:num>
                        <m:den>
                          <m:r>
                            <a:rPr lang="en-US" altLang="zh-CN" i="1" smtClean="0">
                              <a:latin typeface="Cambria Math" panose="02040503050406030204" pitchFamily="18" charset="0"/>
                            </a:rPr>
                            <m:t>𝜕</m:t>
                          </m:r>
                          <m:r>
                            <a:rPr lang="en-US" altLang="zh-CN" b="0" i="1" smtClean="0">
                              <a:latin typeface="Cambria Math" panose="02040503050406030204" pitchFamily="18" charset="0"/>
                            </a:rPr>
                            <m:t>𝑧</m:t>
                          </m:r>
                        </m:den>
                      </m:f>
                      <m:r>
                        <a:rPr lang="en-US" altLang="zh-CN" i="1">
                          <a:latin typeface="Cambria Math" panose="02040503050406030204" pitchFamily="18" charset="0"/>
                        </a:rPr>
                        <m:t>+</m:t>
                      </m:r>
                      <m:r>
                        <m:rPr>
                          <m:sty m:val="p"/>
                        </m:rPr>
                        <a:rPr lang="en-US" altLang="zh-CN" b="0" i="0" smtClean="0">
                          <a:latin typeface="Cambria Math" panose="02040503050406030204" pitchFamily="18" charset="0"/>
                        </a:rPr>
                        <m:t>C</m:t>
                      </m:r>
                      <m:r>
                        <a:rPr lang="en-US" altLang="zh-CN" b="0" i="0" baseline="-25000" smtClean="0">
                          <a:latin typeface="Cambria Math" panose="02040503050406030204" pitchFamily="18" charset="0"/>
                        </a:rPr>
                        <m:t>0</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m:t>
                          </m:r>
                          <m:r>
                            <a:rPr lang="en-US" altLang="zh-CN" b="0" i="1" smtClean="0">
                              <a:latin typeface="Cambria Math" panose="02040503050406030204" pitchFamily="18" charset="0"/>
                            </a:rPr>
                            <m:t>𝑈</m:t>
                          </m:r>
                        </m:num>
                        <m:den>
                          <m:r>
                            <a:rPr lang="en-US" altLang="zh-CN" b="0" i="1" smtClean="0">
                              <a:latin typeface="Cambria Math" panose="02040503050406030204" pitchFamily="18" charset="0"/>
                            </a:rPr>
                            <m:t>𝜕</m:t>
                          </m:r>
                          <m:r>
                            <a:rPr lang="en-US" altLang="zh-CN" b="0" i="1" smtClean="0">
                              <a:latin typeface="Cambria Math" panose="02040503050406030204" pitchFamily="18" charset="0"/>
                            </a:rPr>
                            <m:t>𝑡</m:t>
                          </m:r>
                        </m:den>
                      </m:f>
                      <m:r>
                        <a:rPr lang="en-US" altLang="zh-CN" b="0" i="1" smtClean="0">
                          <a:latin typeface="Cambria Math" panose="02040503050406030204" pitchFamily="18" charset="0"/>
                        </a:rPr>
                        <m:t>=0</m:t>
                      </m:r>
                    </m:oMath>
                  </m:oMathPara>
                </a14:m>
                <a:endParaRPr lang="zh-CN" altLang="en-US" dirty="0"/>
              </a:p>
            </p:txBody>
          </p:sp>
        </mc:Choice>
        <mc:Fallback xmlns="">
          <p:sp>
            <p:nvSpPr>
              <p:cNvPr id="52" name="文本框 51">
                <a:extLst>
                  <a:ext uri="{FF2B5EF4-FFF2-40B4-BE49-F238E27FC236}">
                    <a16:creationId xmlns:a16="http://schemas.microsoft.com/office/drawing/2014/main" id="{C09C6EF7-A597-4A33-966A-A5E4DD9917CE}"/>
                  </a:ext>
                </a:extLst>
              </p:cNvPr>
              <p:cNvSpPr txBox="1">
                <a:spLocks noRot="1" noChangeAspect="1" noMove="1" noResize="1" noEditPoints="1" noAdjustHandles="1" noChangeArrowheads="1" noChangeShapeType="1" noTextEdit="1"/>
              </p:cNvSpPr>
              <p:nvPr/>
            </p:nvSpPr>
            <p:spPr>
              <a:xfrm>
                <a:off x="3799871" y="2338924"/>
                <a:ext cx="2536722" cy="636585"/>
              </a:xfrm>
              <a:prstGeom prst="rect">
                <a:avLst/>
              </a:prstGeom>
              <a:blipFill>
                <a:blip r:embed="rId5"/>
                <a:stretch>
                  <a:fillRect/>
                </a:stretch>
              </a:blipFill>
            </p:spPr>
            <p:txBody>
              <a:bodyPr/>
              <a:lstStyle/>
              <a:p>
                <a:r>
                  <a:rPr lang="zh-CN" altLang="en-US">
                    <a:noFill/>
                  </a:rPr>
                  <a:t> </a:t>
                </a:r>
              </a:p>
            </p:txBody>
          </p:sp>
        </mc:Fallback>
      </mc:AlternateContent>
      <p:pic>
        <p:nvPicPr>
          <p:cNvPr id="53" name="图片 52">
            <a:extLst>
              <a:ext uri="{FF2B5EF4-FFF2-40B4-BE49-F238E27FC236}">
                <a16:creationId xmlns:a16="http://schemas.microsoft.com/office/drawing/2014/main" id="{6C1F6629-A0E0-47C7-8875-B220327BE329}"/>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3991" t="24151" r="18115" b="27208"/>
          <a:stretch>
            <a:fillRect/>
          </a:stretch>
        </p:blipFill>
        <p:spPr>
          <a:xfrm>
            <a:off x="4960651" y="3802918"/>
            <a:ext cx="3407394" cy="1373146"/>
          </a:xfrm>
          <a:prstGeom prst="rect">
            <a:avLst/>
          </a:prstGeom>
        </p:spPr>
      </p:pic>
      <p:pic>
        <p:nvPicPr>
          <p:cNvPr id="54" name="图片 53">
            <a:extLst>
              <a:ext uri="{FF2B5EF4-FFF2-40B4-BE49-F238E27FC236}">
                <a16:creationId xmlns:a16="http://schemas.microsoft.com/office/drawing/2014/main" id="{DDA8E9B0-0727-471B-9206-300E23EF67CE}"/>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3991" t="24151" r="18115" b="27208"/>
          <a:stretch>
            <a:fillRect/>
          </a:stretch>
        </p:blipFill>
        <p:spPr>
          <a:xfrm>
            <a:off x="8601106" y="3802918"/>
            <a:ext cx="3407394" cy="1373146"/>
          </a:xfrm>
          <a:prstGeom prst="rect">
            <a:avLst/>
          </a:prstGeom>
        </p:spPr>
      </p:pic>
    </p:spTree>
    <p:extLst>
      <p:ext uri="{BB962C8B-B14F-4D97-AF65-F5344CB8AC3E}">
        <p14:creationId xmlns:p14="http://schemas.microsoft.com/office/powerpoint/2010/main" val="17031105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2" name="组合 71">
            <a:extLst>
              <a:ext uri="{FF2B5EF4-FFF2-40B4-BE49-F238E27FC236}">
                <a16:creationId xmlns:a16="http://schemas.microsoft.com/office/drawing/2014/main" id="{B755887D-06B2-49C8-A78A-151A32DBE229}"/>
              </a:ext>
            </a:extLst>
          </p:cNvPr>
          <p:cNvGrpSpPr/>
          <p:nvPr/>
        </p:nvGrpSpPr>
        <p:grpSpPr>
          <a:xfrm>
            <a:off x="6262928" y="266844"/>
            <a:ext cx="5233747" cy="330008"/>
            <a:chOff x="5025390" y="266844"/>
            <a:chExt cx="6259830" cy="330008"/>
          </a:xfrm>
        </p:grpSpPr>
        <p:cxnSp>
          <p:nvCxnSpPr>
            <p:cNvPr id="73" name="直接连接符 72">
              <a:extLst>
                <a:ext uri="{FF2B5EF4-FFF2-40B4-BE49-F238E27FC236}">
                  <a16:creationId xmlns:a16="http://schemas.microsoft.com/office/drawing/2014/main" id="{62FE7A77-FBEB-40AD-82EE-F6D56B4FBED0}"/>
                </a:ext>
              </a:extLst>
            </p:cNvPr>
            <p:cNvCxnSpPr>
              <a:cxnSpLocks/>
            </p:cNvCxnSpPr>
            <p:nvPr/>
          </p:nvCxnSpPr>
          <p:spPr>
            <a:xfrm flipH="1">
              <a:off x="5025390" y="596852"/>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4" name="直接连接符 73">
              <a:extLst>
                <a:ext uri="{FF2B5EF4-FFF2-40B4-BE49-F238E27FC236}">
                  <a16:creationId xmlns:a16="http://schemas.microsoft.com/office/drawing/2014/main" id="{BDD67602-65B0-4D01-8429-E64EE945B436}"/>
                </a:ext>
              </a:extLst>
            </p:cNvPr>
            <p:cNvCxnSpPr>
              <a:cxnSpLocks/>
            </p:cNvCxnSpPr>
            <p:nvPr/>
          </p:nvCxnSpPr>
          <p:spPr>
            <a:xfrm flipH="1">
              <a:off x="5025390" y="514350"/>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5" name="直接连接符 74">
              <a:extLst>
                <a:ext uri="{FF2B5EF4-FFF2-40B4-BE49-F238E27FC236}">
                  <a16:creationId xmlns:a16="http://schemas.microsoft.com/office/drawing/2014/main" id="{56902EF3-DC68-477E-B624-6F39F33A5062}"/>
                </a:ext>
              </a:extLst>
            </p:cNvPr>
            <p:cNvCxnSpPr>
              <a:cxnSpLocks/>
            </p:cNvCxnSpPr>
            <p:nvPr/>
          </p:nvCxnSpPr>
          <p:spPr>
            <a:xfrm flipH="1">
              <a:off x="5025390" y="431848"/>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6" name="直接连接符 75">
              <a:extLst>
                <a:ext uri="{FF2B5EF4-FFF2-40B4-BE49-F238E27FC236}">
                  <a16:creationId xmlns:a16="http://schemas.microsoft.com/office/drawing/2014/main" id="{E5575DC5-6C14-4E47-8549-F414278D7485}"/>
                </a:ext>
              </a:extLst>
            </p:cNvPr>
            <p:cNvCxnSpPr>
              <a:cxnSpLocks/>
            </p:cNvCxnSpPr>
            <p:nvPr/>
          </p:nvCxnSpPr>
          <p:spPr>
            <a:xfrm flipH="1">
              <a:off x="5025390" y="349346"/>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7" name="直接连接符 76">
              <a:extLst>
                <a:ext uri="{FF2B5EF4-FFF2-40B4-BE49-F238E27FC236}">
                  <a16:creationId xmlns:a16="http://schemas.microsoft.com/office/drawing/2014/main" id="{BEA35CD9-8F8F-4991-8A28-0D6749A159AF}"/>
                </a:ext>
              </a:extLst>
            </p:cNvPr>
            <p:cNvCxnSpPr>
              <a:cxnSpLocks/>
            </p:cNvCxnSpPr>
            <p:nvPr/>
          </p:nvCxnSpPr>
          <p:spPr>
            <a:xfrm flipH="1">
              <a:off x="5025390" y="266844"/>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grpSp>
        <p:nvGrpSpPr>
          <p:cNvPr id="78" name="组合 77">
            <a:extLst>
              <a:ext uri="{FF2B5EF4-FFF2-40B4-BE49-F238E27FC236}">
                <a16:creationId xmlns:a16="http://schemas.microsoft.com/office/drawing/2014/main" id="{B708D5A6-F729-4A3B-AFF5-DB02E26819D1}"/>
              </a:ext>
            </a:extLst>
          </p:cNvPr>
          <p:cNvGrpSpPr/>
          <p:nvPr/>
        </p:nvGrpSpPr>
        <p:grpSpPr>
          <a:xfrm>
            <a:off x="0" y="266844"/>
            <a:ext cx="487680" cy="330008"/>
            <a:chOff x="5025390" y="266844"/>
            <a:chExt cx="6259830" cy="330008"/>
          </a:xfrm>
        </p:grpSpPr>
        <p:cxnSp>
          <p:nvCxnSpPr>
            <p:cNvPr id="79" name="直接连接符 78">
              <a:extLst>
                <a:ext uri="{FF2B5EF4-FFF2-40B4-BE49-F238E27FC236}">
                  <a16:creationId xmlns:a16="http://schemas.microsoft.com/office/drawing/2014/main" id="{B16271FF-B014-4D0E-A8FC-14016AE63AC9}"/>
                </a:ext>
              </a:extLst>
            </p:cNvPr>
            <p:cNvCxnSpPr>
              <a:cxnSpLocks/>
            </p:cNvCxnSpPr>
            <p:nvPr/>
          </p:nvCxnSpPr>
          <p:spPr>
            <a:xfrm flipH="1">
              <a:off x="5025390" y="596852"/>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0" name="直接连接符 79">
              <a:extLst>
                <a:ext uri="{FF2B5EF4-FFF2-40B4-BE49-F238E27FC236}">
                  <a16:creationId xmlns:a16="http://schemas.microsoft.com/office/drawing/2014/main" id="{54662351-B9F7-41B8-8DFD-B434997C52AF}"/>
                </a:ext>
              </a:extLst>
            </p:cNvPr>
            <p:cNvCxnSpPr>
              <a:cxnSpLocks/>
            </p:cNvCxnSpPr>
            <p:nvPr/>
          </p:nvCxnSpPr>
          <p:spPr>
            <a:xfrm flipH="1">
              <a:off x="5025390" y="514350"/>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1" name="直接连接符 80">
              <a:extLst>
                <a:ext uri="{FF2B5EF4-FFF2-40B4-BE49-F238E27FC236}">
                  <a16:creationId xmlns:a16="http://schemas.microsoft.com/office/drawing/2014/main" id="{18BB5DB3-4909-47FC-BDD8-8679FC8F7B9D}"/>
                </a:ext>
              </a:extLst>
            </p:cNvPr>
            <p:cNvCxnSpPr>
              <a:cxnSpLocks/>
            </p:cNvCxnSpPr>
            <p:nvPr/>
          </p:nvCxnSpPr>
          <p:spPr>
            <a:xfrm flipH="1">
              <a:off x="5025390" y="431848"/>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2" name="直接连接符 81">
              <a:extLst>
                <a:ext uri="{FF2B5EF4-FFF2-40B4-BE49-F238E27FC236}">
                  <a16:creationId xmlns:a16="http://schemas.microsoft.com/office/drawing/2014/main" id="{7C6A262B-8F87-4AA5-BD4A-55DE84149A06}"/>
                </a:ext>
              </a:extLst>
            </p:cNvPr>
            <p:cNvCxnSpPr>
              <a:cxnSpLocks/>
            </p:cNvCxnSpPr>
            <p:nvPr/>
          </p:nvCxnSpPr>
          <p:spPr>
            <a:xfrm flipH="1">
              <a:off x="5025390" y="349346"/>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3" name="直接连接符 82">
              <a:extLst>
                <a:ext uri="{FF2B5EF4-FFF2-40B4-BE49-F238E27FC236}">
                  <a16:creationId xmlns:a16="http://schemas.microsoft.com/office/drawing/2014/main" id="{8F8A0811-38B1-462B-8E81-76FB9965A173}"/>
                </a:ext>
              </a:extLst>
            </p:cNvPr>
            <p:cNvCxnSpPr>
              <a:cxnSpLocks/>
            </p:cNvCxnSpPr>
            <p:nvPr/>
          </p:nvCxnSpPr>
          <p:spPr>
            <a:xfrm flipH="1">
              <a:off x="5025390" y="266844"/>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pic>
        <p:nvPicPr>
          <p:cNvPr id="18" name="图片 1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604252" y="168275"/>
            <a:ext cx="520700" cy="520700"/>
          </a:xfrm>
          <a:prstGeom prst="rect">
            <a:avLst/>
          </a:prstGeom>
        </p:spPr>
      </p:pic>
      <p:sp>
        <p:nvSpPr>
          <p:cNvPr id="21" name="文本框 20">
            <a:extLst>
              <a:ext uri="{FF2B5EF4-FFF2-40B4-BE49-F238E27FC236}">
                <a16:creationId xmlns:a16="http://schemas.microsoft.com/office/drawing/2014/main" id="{D7ECBC28-490B-4424-8256-107302341845}"/>
              </a:ext>
            </a:extLst>
          </p:cNvPr>
          <p:cNvSpPr txBox="1"/>
          <p:nvPr/>
        </p:nvSpPr>
        <p:spPr>
          <a:xfrm>
            <a:off x="487680" y="105459"/>
            <a:ext cx="7575006" cy="646331"/>
          </a:xfrm>
          <a:prstGeom prst="rect">
            <a:avLst/>
          </a:prstGeom>
          <a:noFill/>
        </p:spPr>
        <p:txBody>
          <a:bodyPr wrap="square" rtlCol="0">
            <a:spAutoFit/>
          </a:bodyPr>
          <a:lstStyle/>
          <a:p>
            <a:r>
              <a:rPr lang="zh-CN" altLang="en-US" sz="3600" b="1" dirty="0"/>
              <a:t>二</a:t>
            </a:r>
            <a:r>
              <a:rPr lang="en-US" altLang="zh-CN" sz="3600" b="1" dirty="0"/>
              <a:t>.</a:t>
            </a:r>
            <a:r>
              <a:rPr lang="zh-CN" altLang="en-US" sz="3600" b="1" dirty="0"/>
              <a:t> 实验原理</a:t>
            </a:r>
          </a:p>
        </p:txBody>
      </p:sp>
      <p:sp>
        <p:nvSpPr>
          <p:cNvPr id="2" name="Rectangle 2">
            <a:extLst>
              <a:ext uri="{FF2B5EF4-FFF2-40B4-BE49-F238E27FC236}">
                <a16:creationId xmlns:a16="http://schemas.microsoft.com/office/drawing/2014/main" id="{9F833CEB-3BCA-42FB-8A66-6A4B0397930D}"/>
              </a:ext>
            </a:extLst>
          </p:cNvPr>
          <p:cNvSpPr>
            <a:spLocks noChangeArrowheads="1"/>
          </p:cNvSpPr>
          <p:nvPr/>
        </p:nvSpPr>
        <p:spPr bwMode="auto">
          <a:xfrm>
            <a:off x="8730343" y="3200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3" name="Rectangle 4">
            <a:extLst>
              <a:ext uri="{FF2B5EF4-FFF2-40B4-BE49-F238E27FC236}">
                <a16:creationId xmlns:a16="http://schemas.microsoft.com/office/drawing/2014/main" id="{BC469228-5E5D-4E14-95DF-7AD9117668C4}"/>
              </a:ext>
            </a:extLst>
          </p:cNvPr>
          <p:cNvSpPr>
            <a:spLocks noChangeArrowheads="1"/>
          </p:cNvSpPr>
          <p:nvPr/>
        </p:nvSpPr>
        <p:spPr bwMode="auto">
          <a:xfrm>
            <a:off x="2249714" y="252538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Rectangle 6">
            <a:extLst>
              <a:ext uri="{FF2B5EF4-FFF2-40B4-BE49-F238E27FC236}">
                <a16:creationId xmlns:a16="http://schemas.microsoft.com/office/drawing/2014/main" id="{332340A1-D513-4930-8BB4-AB9E3DF45EF8}"/>
              </a:ext>
            </a:extLst>
          </p:cNvPr>
          <p:cNvSpPr>
            <a:spLocks noChangeArrowheads="1"/>
          </p:cNvSpPr>
          <p:nvPr/>
        </p:nvSpPr>
        <p:spPr bwMode="auto">
          <a:xfrm>
            <a:off x="2387600" y="229122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Rectangle 8">
            <a:extLst>
              <a:ext uri="{FF2B5EF4-FFF2-40B4-BE49-F238E27FC236}">
                <a16:creationId xmlns:a16="http://schemas.microsoft.com/office/drawing/2014/main" id="{DDA06C14-ED69-4C02-91D4-5E9783F6D745}"/>
              </a:ext>
            </a:extLst>
          </p:cNvPr>
          <p:cNvSpPr>
            <a:spLocks noChangeArrowheads="1"/>
          </p:cNvSpPr>
          <p:nvPr/>
        </p:nvSpPr>
        <p:spPr bwMode="auto">
          <a:xfrm>
            <a:off x="2387600" y="229122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9" name="文本框 1">
            <a:extLst>
              <a:ext uri="{FF2B5EF4-FFF2-40B4-BE49-F238E27FC236}">
                <a16:creationId xmlns:a16="http://schemas.microsoft.com/office/drawing/2014/main" id="{699073B0-CB22-473C-8A34-7D2BF7FB4876}"/>
              </a:ext>
            </a:extLst>
          </p:cNvPr>
          <p:cNvSpPr txBox="1"/>
          <p:nvPr/>
        </p:nvSpPr>
        <p:spPr>
          <a:xfrm>
            <a:off x="11291972" y="6320393"/>
            <a:ext cx="832980"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dirty="0"/>
              <a:t>12/23</a:t>
            </a:r>
            <a:endParaRPr lang="zh-CN" altLang="en-US" dirty="0"/>
          </a:p>
        </p:txBody>
      </p:sp>
      <p:grpSp>
        <p:nvGrpSpPr>
          <p:cNvPr id="28" name="组合 27">
            <a:extLst>
              <a:ext uri="{FF2B5EF4-FFF2-40B4-BE49-F238E27FC236}">
                <a16:creationId xmlns:a16="http://schemas.microsoft.com/office/drawing/2014/main" id="{12782E5F-5D74-4051-8A8E-D94E69977D77}"/>
              </a:ext>
            </a:extLst>
          </p:cNvPr>
          <p:cNvGrpSpPr/>
          <p:nvPr/>
        </p:nvGrpSpPr>
        <p:grpSpPr>
          <a:xfrm>
            <a:off x="4714553" y="4217159"/>
            <a:ext cx="3684961" cy="2069091"/>
            <a:chOff x="1585283" y="1199839"/>
            <a:chExt cx="9021434" cy="4458322"/>
          </a:xfrm>
        </p:grpSpPr>
        <p:pic>
          <p:nvPicPr>
            <p:cNvPr id="30" name="图片 29">
              <a:extLst>
                <a:ext uri="{FF2B5EF4-FFF2-40B4-BE49-F238E27FC236}">
                  <a16:creationId xmlns:a16="http://schemas.microsoft.com/office/drawing/2014/main" id="{B17B282A-D83A-423D-9591-F9AA0A72F3D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85283" y="1199839"/>
              <a:ext cx="9021434" cy="4458322"/>
            </a:xfrm>
            <a:prstGeom prst="rect">
              <a:avLst/>
            </a:prstGeom>
          </p:spPr>
        </p:pic>
        <p:sp>
          <p:nvSpPr>
            <p:cNvPr id="31" name="矩形 30">
              <a:extLst>
                <a:ext uri="{FF2B5EF4-FFF2-40B4-BE49-F238E27FC236}">
                  <a16:creationId xmlns:a16="http://schemas.microsoft.com/office/drawing/2014/main" id="{5F0E7C9C-609B-4AA1-BF9F-DF0099259BCB}"/>
                </a:ext>
              </a:extLst>
            </p:cNvPr>
            <p:cNvSpPr/>
            <p:nvPr/>
          </p:nvSpPr>
          <p:spPr>
            <a:xfrm>
              <a:off x="5362222" y="4921956"/>
              <a:ext cx="1569156" cy="73620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32" name="Picture 8">
            <a:extLst>
              <a:ext uri="{FF2B5EF4-FFF2-40B4-BE49-F238E27FC236}">
                <a16:creationId xmlns:a16="http://schemas.microsoft.com/office/drawing/2014/main" id="{BA9B14B3-1528-4831-B88E-E1499F084AE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16868" y="4217159"/>
            <a:ext cx="2650803" cy="1988102"/>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10">
            <a:extLst>
              <a:ext uri="{FF2B5EF4-FFF2-40B4-BE49-F238E27FC236}">
                <a16:creationId xmlns:a16="http://schemas.microsoft.com/office/drawing/2014/main" id="{9E144D36-E71B-4302-82DB-E76C44990E44}"/>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11410"/>
          <a:stretch>
            <a:fillRect/>
          </a:stretch>
        </p:blipFill>
        <p:spPr bwMode="auto">
          <a:xfrm>
            <a:off x="1043204" y="4217158"/>
            <a:ext cx="3403600" cy="2069091"/>
          </a:xfrm>
          <a:prstGeom prst="rect">
            <a:avLst/>
          </a:prstGeom>
          <a:noFill/>
          <a:extLst>
            <a:ext uri="{909E8E84-426E-40DD-AFC4-6F175D3DCCD1}">
              <a14:hiddenFill xmlns:a14="http://schemas.microsoft.com/office/drawing/2010/main">
                <a:solidFill>
                  <a:srgbClr val="FFFFFF"/>
                </a:solidFill>
              </a14:hiddenFill>
            </a:ext>
          </a:extLst>
        </p:spPr>
      </p:pic>
      <p:sp>
        <p:nvSpPr>
          <p:cNvPr id="34" name="标题 1">
            <a:extLst>
              <a:ext uri="{FF2B5EF4-FFF2-40B4-BE49-F238E27FC236}">
                <a16:creationId xmlns:a16="http://schemas.microsoft.com/office/drawing/2014/main" id="{A379C46F-67A8-43BE-8538-8A0E0FAE6719}"/>
              </a:ext>
            </a:extLst>
          </p:cNvPr>
          <p:cNvSpPr txBox="1"/>
          <p:nvPr/>
        </p:nvSpPr>
        <p:spPr>
          <a:xfrm>
            <a:off x="1035946" y="1945600"/>
            <a:ext cx="9938443" cy="2069090"/>
          </a:xfrm>
          <a:prstGeom prst="rect">
            <a:avLst/>
          </a:prstGeom>
          <a:noFill/>
          <a:ln>
            <a:noFill/>
          </a:ln>
        </p:spPr>
        <p:txBody>
          <a:bodyPr vert="horz" wrap="square" lIns="0" tIns="0" rIns="0" bIns="0" rtlCol="0" anchor="t"/>
          <a:lstStyle/>
          <a:p>
            <a:pPr algn="l">
              <a:lnSpc>
                <a:spcPct val="150000"/>
              </a:lnSpc>
            </a:pPr>
            <a:r>
              <a:rPr kumimoji="1" lang="zh-CN" altLang="en-US" sz="2400" dirty="0">
                <a:ln w="12700">
                  <a:noFill/>
                </a:ln>
                <a:solidFill>
                  <a:schemeClr val="tx1">
                    <a:lumMod val="65000"/>
                    <a:lumOff val="35000"/>
                  </a:schemeClr>
                </a:solidFill>
                <a:latin typeface="宋体" panose="02010600030101010101" pitchFamily="2" charset="-122"/>
                <a:ea typeface="宋体" panose="02010600030101010101" pitchFamily="2" charset="-122"/>
              </a:rPr>
              <a:t>解决方案：利用输电线具有分布参数的特征，搭建一种可近似模拟输电线上波过程的分布参数电路。</a:t>
            </a:r>
            <a:endParaRPr kumimoji="1" lang="en-US" altLang="zh-CN" sz="2400" dirty="0">
              <a:ln w="12700">
                <a:noFill/>
              </a:ln>
              <a:solidFill>
                <a:schemeClr val="tx1">
                  <a:lumMod val="65000"/>
                  <a:lumOff val="35000"/>
                </a:schemeClr>
              </a:solidFill>
              <a:latin typeface="宋体" panose="02010600030101010101" pitchFamily="2" charset="-122"/>
              <a:ea typeface="宋体" panose="02010600030101010101" pitchFamily="2" charset="-122"/>
            </a:endParaRPr>
          </a:p>
          <a:p>
            <a:pPr algn="l">
              <a:lnSpc>
                <a:spcPct val="150000"/>
              </a:lnSpc>
            </a:pPr>
            <a:r>
              <a:rPr kumimoji="1" lang="zh-CN" altLang="en-US" sz="1600" dirty="0">
                <a:ln w="12700">
                  <a:noFill/>
                </a:ln>
                <a:solidFill>
                  <a:schemeClr val="tx1">
                    <a:lumMod val="65000"/>
                    <a:lumOff val="35000"/>
                  </a:schemeClr>
                </a:solidFill>
                <a:latin typeface="宋体" panose="02010600030101010101" pitchFamily="2" charset="-122"/>
                <a:ea typeface="宋体" panose="02010600030101010101" pitchFamily="2" charset="-122"/>
              </a:rPr>
              <a:t>参考文献：李传健，陈炯聪，黄曙</a:t>
            </a:r>
            <a:r>
              <a:rPr kumimoji="1" lang="en-US" altLang="zh-CN" sz="1600" dirty="0">
                <a:ln w="12700">
                  <a:noFill/>
                </a:ln>
                <a:solidFill>
                  <a:schemeClr val="tx1">
                    <a:lumMod val="65000"/>
                    <a:lumOff val="35000"/>
                  </a:schemeClr>
                </a:solidFill>
                <a:latin typeface="宋体" panose="02010600030101010101" pitchFamily="2" charset="-122"/>
                <a:ea typeface="宋体" panose="02010600030101010101" pitchFamily="2" charset="-122"/>
              </a:rPr>
              <a:t>.LC</a:t>
            </a:r>
            <a:r>
              <a:rPr kumimoji="1" lang="zh-CN" altLang="en-US" sz="1600" dirty="0">
                <a:ln w="12700">
                  <a:noFill/>
                </a:ln>
                <a:solidFill>
                  <a:schemeClr val="tx1">
                    <a:lumMod val="65000"/>
                    <a:lumOff val="35000"/>
                  </a:schemeClr>
                </a:solidFill>
                <a:latin typeface="宋体" panose="02010600030101010101" pitchFamily="2" charset="-122"/>
                <a:ea typeface="宋体" panose="02010600030101010101" pitchFamily="2" charset="-122"/>
              </a:rPr>
              <a:t>元件级联电路模拟行波过程有效性分析</a:t>
            </a:r>
            <a:r>
              <a:rPr kumimoji="1" lang="en-US" altLang="zh-CN" sz="1600" dirty="0">
                <a:ln w="12700">
                  <a:noFill/>
                </a:ln>
                <a:solidFill>
                  <a:schemeClr val="tx1">
                    <a:lumMod val="65000"/>
                    <a:lumOff val="35000"/>
                  </a:schemeClr>
                </a:solidFill>
                <a:latin typeface="宋体" panose="02010600030101010101" pitchFamily="2" charset="-122"/>
                <a:ea typeface="宋体" panose="02010600030101010101" pitchFamily="2" charset="-122"/>
              </a:rPr>
              <a:t>[J].</a:t>
            </a:r>
            <a:r>
              <a:rPr kumimoji="1" lang="zh-CN" altLang="en-US" sz="1600" dirty="0">
                <a:ln w="12700">
                  <a:noFill/>
                </a:ln>
                <a:solidFill>
                  <a:schemeClr val="tx1">
                    <a:lumMod val="65000"/>
                    <a:lumOff val="35000"/>
                  </a:schemeClr>
                </a:solidFill>
                <a:latin typeface="宋体" panose="02010600030101010101" pitchFamily="2" charset="-122"/>
                <a:ea typeface="宋体" panose="02010600030101010101" pitchFamily="2" charset="-122"/>
              </a:rPr>
              <a:t>电网与清洁能源，</a:t>
            </a:r>
            <a:r>
              <a:rPr kumimoji="1" lang="en-US" altLang="zh-CN" sz="1600" dirty="0">
                <a:ln w="12700">
                  <a:noFill/>
                </a:ln>
                <a:solidFill>
                  <a:schemeClr val="tx1">
                    <a:lumMod val="65000"/>
                    <a:lumOff val="35000"/>
                  </a:schemeClr>
                </a:solidFill>
                <a:latin typeface="宋体" panose="02010600030101010101" pitchFamily="2" charset="-122"/>
                <a:ea typeface="宋体" panose="02010600030101010101" pitchFamily="2" charset="-122"/>
              </a:rPr>
              <a:t>2015.</a:t>
            </a:r>
          </a:p>
        </p:txBody>
      </p:sp>
      <p:sp>
        <p:nvSpPr>
          <p:cNvPr id="35" name="标题 1">
            <a:extLst>
              <a:ext uri="{FF2B5EF4-FFF2-40B4-BE49-F238E27FC236}">
                <a16:creationId xmlns:a16="http://schemas.microsoft.com/office/drawing/2014/main" id="{8FF7FB3C-24AA-4222-B289-FEE1734BC218}"/>
              </a:ext>
            </a:extLst>
          </p:cNvPr>
          <p:cNvSpPr txBox="1"/>
          <p:nvPr/>
        </p:nvSpPr>
        <p:spPr>
          <a:xfrm>
            <a:off x="1035947" y="1131311"/>
            <a:ext cx="9938443" cy="455049"/>
          </a:xfrm>
          <a:prstGeom prst="rect">
            <a:avLst/>
          </a:prstGeom>
          <a:noFill/>
          <a:ln>
            <a:noFill/>
          </a:ln>
        </p:spPr>
        <p:txBody>
          <a:bodyPr vert="horz" wrap="square" lIns="0" tIns="0" rIns="0" bIns="0" rtlCol="0" anchor="t"/>
          <a:lstStyle/>
          <a:p>
            <a:pPr algn="l"/>
            <a:r>
              <a:rPr kumimoji="1" lang="zh-CN" altLang="en-US" sz="2400" dirty="0">
                <a:ln w="12700">
                  <a:noFill/>
                </a:ln>
                <a:solidFill>
                  <a:schemeClr val="tx1">
                    <a:lumMod val="65000"/>
                    <a:lumOff val="35000"/>
                  </a:schemeClr>
                </a:solidFill>
                <a:latin typeface="宋体" panose="02010600030101010101" pitchFamily="2" charset="-122"/>
                <a:ea typeface="宋体" panose="02010600030101010101" pitchFamily="2" charset="-122"/>
              </a:rPr>
              <a:t>问题引出</a:t>
            </a:r>
            <a:r>
              <a:rPr kumimoji="1" lang="en-US" altLang="zh-CN" sz="2400" dirty="0">
                <a:ln w="12700">
                  <a:noFill/>
                </a:ln>
                <a:solidFill>
                  <a:schemeClr val="tx1">
                    <a:lumMod val="65000"/>
                    <a:lumOff val="35000"/>
                  </a:schemeClr>
                </a:solidFill>
                <a:latin typeface="宋体" panose="02010600030101010101" pitchFamily="2" charset="-122"/>
                <a:ea typeface="宋体" panose="02010600030101010101" pitchFamily="2" charset="-122"/>
              </a:rPr>
              <a:t>:</a:t>
            </a:r>
            <a:r>
              <a:rPr kumimoji="1" lang="zh-CN" altLang="en-US" sz="2400" dirty="0">
                <a:ln w="12700">
                  <a:noFill/>
                </a:ln>
                <a:solidFill>
                  <a:schemeClr val="tx1">
                    <a:lumMod val="65000"/>
                    <a:lumOff val="35000"/>
                  </a:schemeClr>
                </a:solidFill>
                <a:latin typeface="宋体" panose="02010600030101010101" pitchFamily="2" charset="-122"/>
                <a:ea typeface="宋体" panose="02010600030101010101" pitchFamily="2" charset="-122"/>
              </a:rPr>
              <a:t>研究输电线路上发生故障后的波过程，实际试验难度大，怎么办？</a:t>
            </a:r>
            <a:endParaRPr kumimoji="1" lang="zh-CN" altLang="en-US" sz="2400"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42752630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2" name="组合 71">
            <a:extLst>
              <a:ext uri="{FF2B5EF4-FFF2-40B4-BE49-F238E27FC236}">
                <a16:creationId xmlns:a16="http://schemas.microsoft.com/office/drawing/2014/main" id="{B755887D-06B2-49C8-A78A-151A32DBE229}"/>
              </a:ext>
            </a:extLst>
          </p:cNvPr>
          <p:cNvGrpSpPr/>
          <p:nvPr/>
        </p:nvGrpSpPr>
        <p:grpSpPr>
          <a:xfrm>
            <a:off x="6262928" y="266844"/>
            <a:ext cx="5233747" cy="330008"/>
            <a:chOff x="5025390" y="266844"/>
            <a:chExt cx="6259830" cy="330008"/>
          </a:xfrm>
        </p:grpSpPr>
        <p:cxnSp>
          <p:nvCxnSpPr>
            <p:cNvPr id="73" name="直接连接符 72">
              <a:extLst>
                <a:ext uri="{FF2B5EF4-FFF2-40B4-BE49-F238E27FC236}">
                  <a16:creationId xmlns:a16="http://schemas.microsoft.com/office/drawing/2014/main" id="{62FE7A77-FBEB-40AD-82EE-F6D56B4FBED0}"/>
                </a:ext>
              </a:extLst>
            </p:cNvPr>
            <p:cNvCxnSpPr>
              <a:cxnSpLocks/>
            </p:cNvCxnSpPr>
            <p:nvPr/>
          </p:nvCxnSpPr>
          <p:spPr>
            <a:xfrm flipH="1">
              <a:off x="5025390" y="596852"/>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4" name="直接连接符 73">
              <a:extLst>
                <a:ext uri="{FF2B5EF4-FFF2-40B4-BE49-F238E27FC236}">
                  <a16:creationId xmlns:a16="http://schemas.microsoft.com/office/drawing/2014/main" id="{BDD67602-65B0-4D01-8429-E64EE945B436}"/>
                </a:ext>
              </a:extLst>
            </p:cNvPr>
            <p:cNvCxnSpPr>
              <a:cxnSpLocks/>
            </p:cNvCxnSpPr>
            <p:nvPr/>
          </p:nvCxnSpPr>
          <p:spPr>
            <a:xfrm flipH="1">
              <a:off x="5025390" y="514350"/>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5" name="直接连接符 74">
              <a:extLst>
                <a:ext uri="{FF2B5EF4-FFF2-40B4-BE49-F238E27FC236}">
                  <a16:creationId xmlns:a16="http://schemas.microsoft.com/office/drawing/2014/main" id="{56902EF3-DC68-477E-B624-6F39F33A5062}"/>
                </a:ext>
              </a:extLst>
            </p:cNvPr>
            <p:cNvCxnSpPr>
              <a:cxnSpLocks/>
            </p:cNvCxnSpPr>
            <p:nvPr/>
          </p:nvCxnSpPr>
          <p:spPr>
            <a:xfrm flipH="1">
              <a:off x="5025390" y="431848"/>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6" name="直接连接符 75">
              <a:extLst>
                <a:ext uri="{FF2B5EF4-FFF2-40B4-BE49-F238E27FC236}">
                  <a16:creationId xmlns:a16="http://schemas.microsoft.com/office/drawing/2014/main" id="{E5575DC5-6C14-4E47-8549-F414278D7485}"/>
                </a:ext>
              </a:extLst>
            </p:cNvPr>
            <p:cNvCxnSpPr>
              <a:cxnSpLocks/>
            </p:cNvCxnSpPr>
            <p:nvPr/>
          </p:nvCxnSpPr>
          <p:spPr>
            <a:xfrm flipH="1">
              <a:off x="5025390" y="349346"/>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7" name="直接连接符 76">
              <a:extLst>
                <a:ext uri="{FF2B5EF4-FFF2-40B4-BE49-F238E27FC236}">
                  <a16:creationId xmlns:a16="http://schemas.microsoft.com/office/drawing/2014/main" id="{BEA35CD9-8F8F-4991-8A28-0D6749A159AF}"/>
                </a:ext>
              </a:extLst>
            </p:cNvPr>
            <p:cNvCxnSpPr>
              <a:cxnSpLocks/>
            </p:cNvCxnSpPr>
            <p:nvPr/>
          </p:nvCxnSpPr>
          <p:spPr>
            <a:xfrm flipH="1">
              <a:off x="5025390" y="266844"/>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grpSp>
        <p:nvGrpSpPr>
          <p:cNvPr id="78" name="组合 77">
            <a:extLst>
              <a:ext uri="{FF2B5EF4-FFF2-40B4-BE49-F238E27FC236}">
                <a16:creationId xmlns:a16="http://schemas.microsoft.com/office/drawing/2014/main" id="{B708D5A6-F729-4A3B-AFF5-DB02E26819D1}"/>
              </a:ext>
            </a:extLst>
          </p:cNvPr>
          <p:cNvGrpSpPr/>
          <p:nvPr/>
        </p:nvGrpSpPr>
        <p:grpSpPr>
          <a:xfrm>
            <a:off x="0" y="266844"/>
            <a:ext cx="487680" cy="330008"/>
            <a:chOff x="5025390" y="266844"/>
            <a:chExt cx="6259830" cy="330008"/>
          </a:xfrm>
        </p:grpSpPr>
        <p:cxnSp>
          <p:nvCxnSpPr>
            <p:cNvPr id="79" name="直接连接符 78">
              <a:extLst>
                <a:ext uri="{FF2B5EF4-FFF2-40B4-BE49-F238E27FC236}">
                  <a16:creationId xmlns:a16="http://schemas.microsoft.com/office/drawing/2014/main" id="{B16271FF-B014-4D0E-A8FC-14016AE63AC9}"/>
                </a:ext>
              </a:extLst>
            </p:cNvPr>
            <p:cNvCxnSpPr>
              <a:cxnSpLocks/>
            </p:cNvCxnSpPr>
            <p:nvPr/>
          </p:nvCxnSpPr>
          <p:spPr>
            <a:xfrm flipH="1">
              <a:off x="5025390" y="596852"/>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0" name="直接连接符 79">
              <a:extLst>
                <a:ext uri="{FF2B5EF4-FFF2-40B4-BE49-F238E27FC236}">
                  <a16:creationId xmlns:a16="http://schemas.microsoft.com/office/drawing/2014/main" id="{54662351-B9F7-41B8-8DFD-B434997C52AF}"/>
                </a:ext>
              </a:extLst>
            </p:cNvPr>
            <p:cNvCxnSpPr>
              <a:cxnSpLocks/>
            </p:cNvCxnSpPr>
            <p:nvPr/>
          </p:nvCxnSpPr>
          <p:spPr>
            <a:xfrm flipH="1">
              <a:off x="5025390" y="514350"/>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1" name="直接连接符 80">
              <a:extLst>
                <a:ext uri="{FF2B5EF4-FFF2-40B4-BE49-F238E27FC236}">
                  <a16:creationId xmlns:a16="http://schemas.microsoft.com/office/drawing/2014/main" id="{18BB5DB3-4909-47FC-BDD8-8679FC8F7B9D}"/>
                </a:ext>
              </a:extLst>
            </p:cNvPr>
            <p:cNvCxnSpPr>
              <a:cxnSpLocks/>
            </p:cNvCxnSpPr>
            <p:nvPr/>
          </p:nvCxnSpPr>
          <p:spPr>
            <a:xfrm flipH="1">
              <a:off x="5025390" y="431848"/>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2" name="直接连接符 81">
              <a:extLst>
                <a:ext uri="{FF2B5EF4-FFF2-40B4-BE49-F238E27FC236}">
                  <a16:creationId xmlns:a16="http://schemas.microsoft.com/office/drawing/2014/main" id="{7C6A262B-8F87-4AA5-BD4A-55DE84149A06}"/>
                </a:ext>
              </a:extLst>
            </p:cNvPr>
            <p:cNvCxnSpPr>
              <a:cxnSpLocks/>
            </p:cNvCxnSpPr>
            <p:nvPr/>
          </p:nvCxnSpPr>
          <p:spPr>
            <a:xfrm flipH="1">
              <a:off x="5025390" y="349346"/>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3" name="直接连接符 82">
              <a:extLst>
                <a:ext uri="{FF2B5EF4-FFF2-40B4-BE49-F238E27FC236}">
                  <a16:creationId xmlns:a16="http://schemas.microsoft.com/office/drawing/2014/main" id="{8F8A0811-38B1-462B-8E81-76FB9965A173}"/>
                </a:ext>
              </a:extLst>
            </p:cNvPr>
            <p:cNvCxnSpPr>
              <a:cxnSpLocks/>
            </p:cNvCxnSpPr>
            <p:nvPr/>
          </p:nvCxnSpPr>
          <p:spPr>
            <a:xfrm flipH="1">
              <a:off x="5025390" y="266844"/>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pic>
        <p:nvPicPr>
          <p:cNvPr id="18" name="图片 1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04252" y="168275"/>
            <a:ext cx="520700" cy="520700"/>
          </a:xfrm>
          <a:prstGeom prst="rect">
            <a:avLst/>
          </a:prstGeom>
        </p:spPr>
      </p:pic>
      <p:sp>
        <p:nvSpPr>
          <p:cNvPr id="25" name="文本框 24">
            <a:extLst>
              <a:ext uri="{FF2B5EF4-FFF2-40B4-BE49-F238E27FC236}">
                <a16:creationId xmlns:a16="http://schemas.microsoft.com/office/drawing/2014/main" id="{6A93ADA9-ABD0-4AD4-8C06-F187F5AB4611}"/>
              </a:ext>
            </a:extLst>
          </p:cNvPr>
          <p:cNvSpPr txBox="1"/>
          <p:nvPr/>
        </p:nvSpPr>
        <p:spPr>
          <a:xfrm>
            <a:off x="487680" y="105459"/>
            <a:ext cx="7575006" cy="646331"/>
          </a:xfrm>
          <a:prstGeom prst="rect">
            <a:avLst/>
          </a:prstGeom>
          <a:noFill/>
        </p:spPr>
        <p:txBody>
          <a:bodyPr wrap="square" rtlCol="0">
            <a:spAutoFit/>
          </a:bodyPr>
          <a:lstStyle/>
          <a:p>
            <a:r>
              <a:rPr lang="zh-CN" altLang="en-US" sz="3600" b="1" dirty="0"/>
              <a:t>三</a:t>
            </a:r>
            <a:r>
              <a:rPr lang="en-US" altLang="zh-CN" sz="3600" b="1" dirty="0"/>
              <a:t>.</a:t>
            </a:r>
            <a:r>
              <a:rPr lang="zh-CN" altLang="en-US" sz="3600" b="1" dirty="0"/>
              <a:t> 实验内容</a:t>
            </a:r>
            <a:r>
              <a:rPr lang="en-US" altLang="zh-CN" sz="3600" b="1" dirty="0"/>
              <a:t>——PSpice</a:t>
            </a:r>
            <a:r>
              <a:rPr lang="zh-CN" altLang="en-US" sz="3600" b="1" dirty="0"/>
              <a:t>仿真</a:t>
            </a:r>
          </a:p>
        </p:txBody>
      </p:sp>
      <p:sp>
        <p:nvSpPr>
          <p:cNvPr id="21" name="文本框 1">
            <a:extLst>
              <a:ext uri="{FF2B5EF4-FFF2-40B4-BE49-F238E27FC236}">
                <a16:creationId xmlns:a16="http://schemas.microsoft.com/office/drawing/2014/main" id="{47B732E0-3546-483A-9BE6-5F1D15088A90}"/>
              </a:ext>
            </a:extLst>
          </p:cNvPr>
          <p:cNvSpPr txBox="1"/>
          <p:nvPr/>
        </p:nvSpPr>
        <p:spPr>
          <a:xfrm>
            <a:off x="11291972" y="6320393"/>
            <a:ext cx="832980"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dirty="0"/>
              <a:t>13/23</a:t>
            </a:r>
            <a:endParaRPr lang="zh-CN" altLang="en-US" dirty="0"/>
          </a:p>
        </p:txBody>
      </p:sp>
      <p:cxnSp>
        <p:nvCxnSpPr>
          <p:cNvPr id="23" name="标题 1">
            <a:extLst>
              <a:ext uri="{FF2B5EF4-FFF2-40B4-BE49-F238E27FC236}">
                <a16:creationId xmlns:a16="http://schemas.microsoft.com/office/drawing/2014/main" id="{0238F6DA-D4FC-4BE9-BCA5-8C9FE2312D0F}"/>
              </a:ext>
            </a:extLst>
          </p:cNvPr>
          <p:cNvCxnSpPr/>
          <p:nvPr/>
        </p:nvCxnSpPr>
        <p:spPr>
          <a:xfrm>
            <a:off x="565150" y="958632"/>
            <a:ext cx="11049001" cy="0"/>
          </a:xfrm>
          <a:prstGeom prst="line">
            <a:avLst/>
          </a:prstGeom>
          <a:noFill/>
          <a:ln w="6350" cap="flat">
            <a:solidFill>
              <a:schemeClr val="accent1"/>
            </a:solidFill>
            <a:miter/>
          </a:ln>
        </p:spPr>
      </p:cxnSp>
      <p:sp>
        <p:nvSpPr>
          <p:cNvPr id="31" name="文本框 30">
            <a:extLst>
              <a:ext uri="{FF2B5EF4-FFF2-40B4-BE49-F238E27FC236}">
                <a16:creationId xmlns:a16="http://schemas.microsoft.com/office/drawing/2014/main" id="{78D612EB-E400-4C7A-8868-A859752F9CE6}"/>
              </a:ext>
            </a:extLst>
          </p:cNvPr>
          <p:cNvSpPr txBox="1"/>
          <p:nvPr/>
        </p:nvSpPr>
        <p:spPr>
          <a:xfrm>
            <a:off x="742780" y="1085738"/>
            <a:ext cx="9671219" cy="369332"/>
          </a:xfrm>
          <a:prstGeom prst="rect">
            <a:avLst/>
          </a:prstGeom>
          <a:noFill/>
        </p:spPr>
        <p:txBody>
          <a:bodyPr wrap="square">
            <a:spAutoFit/>
          </a:bodyPr>
          <a:lstStyle/>
          <a:p>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实验任务：</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在</a:t>
            </a:r>
            <a:r>
              <a:rPr lang="en-US" altLang="zh-CN" sz="1800" kern="100" dirty="0">
                <a:effectLst/>
                <a:latin typeface="Times New Roman" panose="02020603050405020304" pitchFamily="18" charset="0"/>
                <a:ea typeface="宋体" panose="02010600030101010101" pitchFamily="2" charset="-122"/>
              </a:rPr>
              <a:t>PSpice</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中建立图</a:t>
            </a:r>
            <a:r>
              <a:rPr lang="en-US" altLang="zh-CN" sz="1800" kern="100" dirty="0">
                <a:effectLst/>
                <a:latin typeface="Times New Roman" panose="02020603050405020304" pitchFamily="18" charset="0"/>
                <a:ea typeface="宋体" panose="02010600030101010101" pitchFamily="2" charset="-122"/>
              </a:rPr>
              <a:t>3.3.3-2</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所示正弦稳态仿真电路图，完成仿真任务</a:t>
            </a:r>
            <a:r>
              <a:rPr lang="en-US" altLang="zh-CN" sz="1800" kern="100" dirty="0">
                <a:effectLst/>
                <a:latin typeface="Times New Roman" panose="02020603050405020304" pitchFamily="18" charset="0"/>
                <a:ea typeface="宋体" panose="02010600030101010101" pitchFamily="2" charset="-122"/>
              </a:rPr>
              <a:t>1-6</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en-US" dirty="0"/>
          </a:p>
        </p:txBody>
      </p:sp>
      <p:pic>
        <p:nvPicPr>
          <p:cNvPr id="32" name="图片 2">
            <a:extLst>
              <a:ext uri="{FF2B5EF4-FFF2-40B4-BE49-F238E27FC236}">
                <a16:creationId xmlns:a16="http://schemas.microsoft.com/office/drawing/2014/main" id="{FFD8294F-BF6F-4EA3-91BE-17AB2F66642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81363" y="1752600"/>
            <a:ext cx="4601369" cy="2374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 name="文本框 32">
            <a:extLst>
              <a:ext uri="{FF2B5EF4-FFF2-40B4-BE49-F238E27FC236}">
                <a16:creationId xmlns:a16="http://schemas.microsoft.com/office/drawing/2014/main" id="{0C318819-5DAE-41FF-A37C-0EFDBE2BB884}"/>
              </a:ext>
            </a:extLst>
          </p:cNvPr>
          <p:cNvSpPr txBox="1"/>
          <p:nvPr/>
        </p:nvSpPr>
        <p:spPr>
          <a:xfrm>
            <a:off x="2641600" y="3942834"/>
            <a:ext cx="6096000" cy="369332"/>
          </a:xfrm>
          <a:prstGeom prst="rect">
            <a:avLst/>
          </a:prstGeom>
          <a:noFill/>
        </p:spPr>
        <p:txBody>
          <a:bodyPr wrap="square">
            <a:spAutoFit/>
          </a:bodyPr>
          <a:lstStyle/>
          <a:p>
            <a:pPr algn="ctr"/>
            <a:r>
              <a:rPr lang="zh-CN" altLang="zh-CN" sz="1800" kern="100" dirty="0">
                <a:effectLst/>
                <a:latin typeface="Times New Roman" panose="02020603050405020304" pitchFamily="18" charset="0"/>
                <a:ea typeface="宋体" panose="02010600030101010101" pitchFamily="2" charset="-122"/>
              </a:rPr>
              <a:t>图</a:t>
            </a:r>
            <a:r>
              <a:rPr lang="en-US" altLang="zh-CN" sz="1800" kern="100" dirty="0">
                <a:effectLst/>
                <a:latin typeface="Times New Roman" panose="02020603050405020304" pitchFamily="18" charset="0"/>
                <a:ea typeface="宋体" panose="02010600030101010101" pitchFamily="2" charset="-122"/>
              </a:rPr>
              <a:t>3.3.3-2 </a:t>
            </a:r>
            <a:r>
              <a:rPr lang="zh-CN" altLang="zh-CN" sz="1800" kern="100" dirty="0">
                <a:effectLst/>
                <a:latin typeface="Times New Roman" panose="02020603050405020304" pitchFamily="18" charset="0"/>
                <a:ea typeface="宋体" panose="02010600030101010101" pitchFamily="2" charset="-122"/>
              </a:rPr>
              <a:t>正弦稳态仿真电路</a:t>
            </a:r>
          </a:p>
        </p:txBody>
      </p:sp>
      <p:sp>
        <p:nvSpPr>
          <p:cNvPr id="34" name="文本框 33">
            <a:extLst>
              <a:ext uri="{FF2B5EF4-FFF2-40B4-BE49-F238E27FC236}">
                <a16:creationId xmlns:a16="http://schemas.microsoft.com/office/drawing/2014/main" id="{3363173A-30C7-49C2-87A9-7EFB54F563B4}"/>
              </a:ext>
            </a:extLst>
          </p:cNvPr>
          <p:cNvSpPr txBox="1"/>
          <p:nvPr/>
        </p:nvSpPr>
        <p:spPr>
          <a:xfrm>
            <a:off x="706780" y="4440102"/>
            <a:ext cx="11049001" cy="2028825"/>
          </a:xfrm>
          <a:prstGeom prst="rect">
            <a:avLst/>
          </a:prstGeom>
          <a:noFill/>
        </p:spPr>
        <p:txBody>
          <a:bodyPr wrap="square">
            <a:spAutoFit/>
          </a:bodyPr>
          <a:lstStyle/>
          <a:p>
            <a:pPr indent="266700" algn="just"/>
            <a:r>
              <a:rPr lang="zh-CN" altLang="zh-CN" sz="1800" kern="100" dirty="0">
                <a:effectLst/>
                <a:latin typeface="Times New Roman" panose="02020603050405020304" pitchFamily="18" charset="0"/>
                <a:ea typeface="宋体" panose="02010600030101010101" pitchFamily="2" charset="-122"/>
              </a:rPr>
              <a:t>仿真步骤提示：</a:t>
            </a:r>
          </a:p>
          <a:p>
            <a:pPr indent="266700" algn="just">
              <a:lnSpc>
                <a:spcPct val="120000"/>
              </a:lnSpc>
            </a:pPr>
            <a:r>
              <a:rPr lang="zh-CN" altLang="zh-CN" sz="1800" kern="100" dirty="0">
                <a:effectLst/>
                <a:latin typeface="Times New Roman" panose="02020603050405020304" pitchFamily="18" charset="0"/>
                <a:ea typeface="宋体" panose="02010600030101010101" pitchFamily="2" charset="-122"/>
              </a:rPr>
              <a:t>（</a:t>
            </a:r>
            <a:r>
              <a:rPr lang="en-US" altLang="zh-CN" sz="1800" kern="100" dirty="0">
                <a:effectLst/>
                <a:latin typeface="Times New Roman" panose="02020603050405020304" pitchFamily="18" charset="0"/>
                <a:ea typeface="宋体" panose="02010600030101010101" pitchFamily="2" charset="-122"/>
              </a:rPr>
              <a:t>1</a:t>
            </a:r>
            <a:r>
              <a:rPr lang="zh-CN" altLang="zh-CN" sz="1800" kern="100" dirty="0">
                <a:effectLst/>
                <a:latin typeface="Times New Roman" panose="02020603050405020304" pitchFamily="18" charset="0"/>
                <a:ea typeface="宋体" panose="02010600030101010101" pitchFamily="2" charset="-122"/>
              </a:rPr>
              <a:t>）创建工程</a:t>
            </a:r>
          </a:p>
          <a:p>
            <a:pPr indent="266700" algn="just">
              <a:lnSpc>
                <a:spcPct val="120000"/>
              </a:lnSpc>
            </a:pPr>
            <a:r>
              <a:rPr lang="x-none" altLang="zh-CN" sz="1800" kern="100" dirty="0">
                <a:effectLst/>
                <a:latin typeface="宋体" panose="02010600030101010101" pitchFamily="2" charset="-122"/>
                <a:ea typeface="宋体" panose="02010600030101010101" pitchFamily="2" charset="-122"/>
              </a:rPr>
              <a:t>步骤</a:t>
            </a:r>
            <a:r>
              <a:rPr lang="x-none" altLang="zh-CN" sz="1800" kern="100" dirty="0">
                <a:effectLst/>
                <a:latin typeface="Times New Roman" panose="02020603050405020304" pitchFamily="18" charset="0"/>
                <a:ea typeface="宋体" panose="02010600030101010101" pitchFamily="2" charset="-122"/>
              </a:rPr>
              <a:t>1</a:t>
            </a:r>
            <a:r>
              <a:rPr lang="x-none" altLang="zh-CN" sz="1800" kern="100" dirty="0">
                <a:effectLst/>
                <a:latin typeface="宋体" panose="02010600030101010101" pitchFamily="2" charset="-122"/>
                <a:ea typeface="宋体" panose="02010600030101010101" pitchFamily="2" charset="-122"/>
              </a:rPr>
              <a:t>：双击桌面</a:t>
            </a:r>
            <a:r>
              <a:rPr lang="x-none" altLang="zh-CN" sz="1800" kern="100" dirty="0">
                <a:effectLst/>
                <a:latin typeface="Times New Roman" panose="02020603050405020304" pitchFamily="18" charset="0"/>
                <a:ea typeface="宋体" panose="02010600030101010101" pitchFamily="2" charset="-122"/>
              </a:rPr>
              <a:t>Capture CIS</a:t>
            </a:r>
            <a:r>
              <a:rPr lang="x-none" altLang="zh-CN" sz="1800" kern="100" dirty="0">
                <a:effectLst/>
                <a:latin typeface="宋体" panose="02010600030101010101" pitchFamily="2" charset="-122"/>
                <a:ea typeface="宋体" panose="02010600030101010101" pitchFamily="2" charset="-122"/>
              </a:rPr>
              <a:t>图标</a:t>
            </a:r>
            <a:r>
              <a:rPr lang="x-none" altLang="zh-CN" sz="1800" kern="100" dirty="0">
                <a:effectLst/>
                <a:latin typeface="Times New Roman" panose="02020603050405020304" pitchFamily="18" charset="0"/>
                <a:ea typeface="宋体" panose="02010600030101010101" pitchFamily="2" charset="-122"/>
              </a:rPr>
              <a:t>→OrCAD Capture→OK</a:t>
            </a:r>
            <a:r>
              <a:rPr lang="x-none" altLang="zh-CN" sz="1800" kern="100" dirty="0">
                <a:effectLst/>
                <a:latin typeface="宋体" panose="02010600030101010101" pitchFamily="2" charset="-122"/>
                <a:ea typeface="宋体" panose="02010600030101010101" pitchFamily="2" charset="-122"/>
              </a:rPr>
              <a:t>。</a:t>
            </a:r>
            <a:endParaRPr lang="zh-CN" altLang="zh-CN" sz="2400" kern="100" dirty="0">
              <a:effectLst/>
              <a:latin typeface="Times New Roman" panose="02020603050405020304" pitchFamily="18" charset="0"/>
              <a:ea typeface="宋体" panose="02010600030101010101" pitchFamily="2" charset="-122"/>
            </a:endParaRPr>
          </a:p>
          <a:p>
            <a:pPr indent="266700" algn="just">
              <a:lnSpc>
                <a:spcPct val="120000"/>
              </a:lnSpc>
            </a:pPr>
            <a:r>
              <a:rPr lang="x-none" altLang="zh-CN" sz="1800" kern="100" dirty="0">
                <a:effectLst/>
                <a:latin typeface="宋体" panose="02010600030101010101" pitchFamily="2" charset="-122"/>
                <a:ea typeface="宋体" panose="02010600030101010101" pitchFamily="2" charset="-122"/>
              </a:rPr>
              <a:t>步骤</a:t>
            </a:r>
            <a:r>
              <a:rPr lang="x-none" altLang="zh-CN" sz="1800" kern="100" dirty="0">
                <a:effectLst/>
                <a:latin typeface="Times New Roman" panose="02020603050405020304" pitchFamily="18" charset="0"/>
                <a:ea typeface="宋体" panose="02010600030101010101" pitchFamily="2" charset="-122"/>
              </a:rPr>
              <a:t>2</a:t>
            </a:r>
            <a:r>
              <a:rPr lang="x-none" altLang="zh-CN" sz="1800" kern="100" dirty="0">
                <a:effectLst/>
                <a:latin typeface="宋体" panose="02010600030101010101" pitchFamily="2" charset="-122"/>
                <a:ea typeface="宋体" panose="02010600030101010101" pitchFamily="2" charset="-122"/>
              </a:rPr>
              <a:t>：在主界面菜单栏选择</a:t>
            </a:r>
            <a:r>
              <a:rPr lang="x-none" altLang="zh-CN" sz="1800" kern="100" dirty="0">
                <a:effectLst/>
                <a:latin typeface="Times New Roman" panose="02020603050405020304" pitchFamily="18" charset="0"/>
                <a:ea typeface="宋体" panose="02010600030101010101" pitchFamily="2" charset="-122"/>
              </a:rPr>
              <a:t>File→New→Project</a:t>
            </a:r>
            <a:r>
              <a:rPr lang="x-none" altLang="zh-CN" sz="1800" kern="100" dirty="0">
                <a:effectLst/>
                <a:latin typeface="宋体" panose="02010600030101010101" pitchFamily="2" charset="-122"/>
                <a:ea typeface="宋体" panose="02010600030101010101" pitchFamily="2" charset="-122"/>
              </a:rPr>
              <a:t>，</a:t>
            </a:r>
            <a:r>
              <a:rPr lang="zh-CN" altLang="zh-CN" sz="1800" kern="100" dirty="0">
                <a:effectLst/>
                <a:latin typeface="Times New Roman" panose="02020603050405020304" pitchFamily="18" charset="0"/>
                <a:ea typeface="宋体" panose="02010600030101010101" pitchFamily="2" charset="-122"/>
              </a:rPr>
              <a:t>在</a:t>
            </a:r>
            <a:r>
              <a:rPr lang="x-none" altLang="zh-CN" sz="1800" kern="100" dirty="0">
                <a:effectLst/>
                <a:latin typeface="Times New Roman" panose="02020603050405020304" pitchFamily="18" charset="0"/>
                <a:ea typeface="宋体" panose="02010600030101010101" pitchFamily="2" charset="-122"/>
              </a:rPr>
              <a:t>New Project</a:t>
            </a:r>
            <a:r>
              <a:rPr lang="x-none" altLang="zh-CN" sz="1800" kern="100" dirty="0">
                <a:effectLst/>
                <a:latin typeface="宋体" panose="02010600030101010101" pitchFamily="2" charset="-122"/>
                <a:ea typeface="宋体" panose="02010600030101010101" pitchFamily="2" charset="-122"/>
              </a:rPr>
              <a:t>窗口中输入工程名，保持默认</a:t>
            </a:r>
            <a:r>
              <a:rPr lang="x-none" altLang="zh-CN" sz="1800" kern="100" dirty="0">
                <a:effectLst/>
                <a:latin typeface="Times New Roman" panose="02020603050405020304" pitchFamily="18" charset="0"/>
                <a:ea typeface="宋体" panose="02010600030101010101" pitchFamily="2" charset="-122"/>
              </a:rPr>
              <a:t>PSpice Analog or Mixed A/D</a:t>
            </a:r>
            <a:r>
              <a:rPr lang="x-none" altLang="zh-CN" sz="1800" kern="100" dirty="0">
                <a:effectLst/>
                <a:latin typeface="宋体" panose="02010600030101010101" pitchFamily="2" charset="-122"/>
                <a:ea typeface="宋体" panose="02010600030101010101" pitchFamily="2" charset="-122"/>
              </a:rPr>
              <a:t>选项选中，设置工程文件存储在</a:t>
            </a:r>
            <a:r>
              <a:rPr lang="zh-CN" altLang="x-none" sz="1800" kern="100" dirty="0">
                <a:effectLst/>
                <a:latin typeface="宋体" panose="02010600030101010101" pitchFamily="2" charset="-122"/>
                <a:ea typeface="宋体" panose="02010600030101010101" pitchFamily="2" charset="-122"/>
              </a:rPr>
              <a:t>默认路径</a:t>
            </a:r>
            <a:r>
              <a:rPr lang="x-none" altLang="zh-CN" sz="1800" kern="100" dirty="0">
                <a:effectLst/>
                <a:latin typeface="宋体" panose="02010600030101010101" pitchFamily="2" charset="-122"/>
                <a:ea typeface="宋体" panose="02010600030101010101" pitchFamily="2" charset="-122"/>
              </a:rPr>
              <a:t>，单击</a:t>
            </a:r>
            <a:r>
              <a:rPr lang="x-none" altLang="zh-CN" sz="1800" kern="100" dirty="0">
                <a:effectLst/>
                <a:latin typeface="Times New Roman" panose="02020603050405020304" pitchFamily="18" charset="0"/>
                <a:ea typeface="宋体" panose="02010600030101010101" pitchFamily="2" charset="-122"/>
              </a:rPr>
              <a:t>OK</a:t>
            </a:r>
            <a:r>
              <a:rPr lang="x-none" altLang="zh-CN" sz="1800" kern="100" dirty="0">
                <a:effectLst/>
                <a:latin typeface="宋体" panose="02010600030101010101" pitchFamily="2" charset="-122"/>
                <a:ea typeface="宋体" panose="02010600030101010101" pitchFamily="2" charset="-122"/>
              </a:rPr>
              <a:t>按钮，在</a:t>
            </a:r>
            <a:r>
              <a:rPr lang="zh-CN" altLang="zh-CN" sz="1800" kern="100" dirty="0">
                <a:effectLst/>
                <a:latin typeface="Times New Roman" panose="02020603050405020304" pitchFamily="18" charset="0"/>
                <a:ea typeface="宋体" panose="02010600030101010101" pitchFamily="2" charset="-122"/>
              </a:rPr>
              <a:t>弹出的</a:t>
            </a:r>
            <a:r>
              <a:rPr lang="x-none" altLang="zh-CN" sz="1800" kern="100" dirty="0">
                <a:effectLst/>
                <a:latin typeface="Times New Roman" panose="02020603050405020304" pitchFamily="18" charset="0"/>
                <a:ea typeface="宋体" panose="02010600030101010101" pitchFamily="2" charset="-122"/>
              </a:rPr>
              <a:t>Create PSpice Project</a:t>
            </a:r>
            <a:r>
              <a:rPr lang="x-none" altLang="zh-CN" sz="1800" kern="100" dirty="0">
                <a:effectLst/>
                <a:latin typeface="宋体" panose="02010600030101010101" pitchFamily="2" charset="-122"/>
                <a:ea typeface="宋体" panose="02010600030101010101" pitchFamily="2" charset="-122"/>
              </a:rPr>
              <a:t>窗口中选择</a:t>
            </a:r>
            <a:r>
              <a:rPr lang="x-none" altLang="zh-CN" sz="1800" kern="100" dirty="0">
                <a:effectLst/>
                <a:latin typeface="Times New Roman" panose="02020603050405020304" pitchFamily="18" charset="0"/>
                <a:ea typeface="宋体" panose="02010600030101010101" pitchFamily="2" charset="-122"/>
              </a:rPr>
              <a:t>Create a blank project</a:t>
            </a:r>
            <a:r>
              <a:rPr lang="x-none" altLang="zh-CN" sz="1800" kern="100" dirty="0">
                <a:effectLst/>
                <a:latin typeface="宋体" panose="02010600030101010101" pitchFamily="2" charset="-122"/>
                <a:ea typeface="宋体" panose="02010600030101010101" pitchFamily="2" charset="-122"/>
              </a:rPr>
              <a:t>，单击</a:t>
            </a:r>
            <a:r>
              <a:rPr lang="x-none" altLang="zh-CN" sz="1800" kern="100" dirty="0">
                <a:effectLst/>
                <a:latin typeface="Times New Roman" panose="02020603050405020304" pitchFamily="18" charset="0"/>
                <a:ea typeface="宋体" panose="02010600030101010101" pitchFamily="2" charset="-122"/>
              </a:rPr>
              <a:t>OK</a:t>
            </a:r>
            <a:r>
              <a:rPr lang="x-none" altLang="zh-CN" sz="1800" kern="100" dirty="0">
                <a:effectLst/>
                <a:latin typeface="宋体" panose="02010600030101010101" pitchFamily="2" charset="-122"/>
                <a:ea typeface="宋体" panose="02010600030101010101" pitchFamily="2" charset="-122"/>
              </a:rPr>
              <a:t>。</a:t>
            </a:r>
            <a:endParaRPr lang="zh-CN" altLang="zh-CN" sz="2400" kern="100" dirty="0">
              <a:effectLst/>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18306485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2" name="组合 71">
            <a:extLst>
              <a:ext uri="{FF2B5EF4-FFF2-40B4-BE49-F238E27FC236}">
                <a16:creationId xmlns:a16="http://schemas.microsoft.com/office/drawing/2014/main" id="{B755887D-06B2-49C8-A78A-151A32DBE229}"/>
              </a:ext>
            </a:extLst>
          </p:cNvPr>
          <p:cNvGrpSpPr/>
          <p:nvPr/>
        </p:nvGrpSpPr>
        <p:grpSpPr>
          <a:xfrm>
            <a:off x="6262928" y="266844"/>
            <a:ext cx="5233747" cy="330008"/>
            <a:chOff x="5025390" y="266844"/>
            <a:chExt cx="6259830" cy="330008"/>
          </a:xfrm>
        </p:grpSpPr>
        <p:cxnSp>
          <p:nvCxnSpPr>
            <p:cNvPr id="73" name="直接连接符 72">
              <a:extLst>
                <a:ext uri="{FF2B5EF4-FFF2-40B4-BE49-F238E27FC236}">
                  <a16:creationId xmlns:a16="http://schemas.microsoft.com/office/drawing/2014/main" id="{62FE7A77-FBEB-40AD-82EE-F6D56B4FBED0}"/>
                </a:ext>
              </a:extLst>
            </p:cNvPr>
            <p:cNvCxnSpPr>
              <a:cxnSpLocks/>
            </p:cNvCxnSpPr>
            <p:nvPr/>
          </p:nvCxnSpPr>
          <p:spPr>
            <a:xfrm flipH="1">
              <a:off x="5025390" y="596852"/>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4" name="直接连接符 73">
              <a:extLst>
                <a:ext uri="{FF2B5EF4-FFF2-40B4-BE49-F238E27FC236}">
                  <a16:creationId xmlns:a16="http://schemas.microsoft.com/office/drawing/2014/main" id="{BDD67602-65B0-4D01-8429-E64EE945B436}"/>
                </a:ext>
              </a:extLst>
            </p:cNvPr>
            <p:cNvCxnSpPr>
              <a:cxnSpLocks/>
            </p:cNvCxnSpPr>
            <p:nvPr/>
          </p:nvCxnSpPr>
          <p:spPr>
            <a:xfrm flipH="1">
              <a:off x="5025390" y="514350"/>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5" name="直接连接符 74">
              <a:extLst>
                <a:ext uri="{FF2B5EF4-FFF2-40B4-BE49-F238E27FC236}">
                  <a16:creationId xmlns:a16="http://schemas.microsoft.com/office/drawing/2014/main" id="{56902EF3-DC68-477E-B624-6F39F33A5062}"/>
                </a:ext>
              </a:extLst>
            </p:cNvPr>
            <p:cNvCxnSpPr>
              <a:cxnSpLocks/>
            </p:cNvCxnSpPr>
            <p:nvPr/>
          </p:nvCxnSpPr>
          <p:spPr>
            <a:xfrm flipH="1">
              <a:off x="5025390" y="431848"/>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6" name="直接连接符 75">
              <a:extLst>
                <a:ext uri="{FF2B5EF4-FFF2-40B4-BE49-F238E27FC236}">
                  <a16:creationId xmlns:a16="http://schemas.microsoft.com/office/drawing/2014/main" id="{E5575DC5-6C14-4E47-8549-F414278D7485}"/>
                </a:ext>
              </a:extLst>
            </p:cNvPr>
            <p:cNvCxnSpPr>
              <a:cxnSpLocks/>
            </p:cNvCxnSpPr>
            <p:nvPr/>
          </p:nvCxnSpPr>
          <p:spPr>
            <a:xfrm flipH="1">
              <a:off x="5025390" y="349346"/>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7" name="直接连接符 76">
              <a:extLst>
                <a:ext uri="{FF2B5EF4-FFF2-40B4-BE49-F238E27FC236}">
                  <a16:creationId xmlns:a16="http://schemas.microsoft.com/office/drawing/2014/main" id="{BEA35CD9-8F8F-4991-8A28-0D6749A159AF}"/>
                </a:ext>
              </a:extLst>
            </p:cNvPr>
            <p:cNvCxnSpPr>
              <a:cxnSpLocks/>
            </p:cNvCxnSpPr>
            <p:nvPr/>
          </p:nvCxnSpPr>
          <p:spPr>
            <a:xfrm flipH="1">
              <a:off x="5025390" y="266844"/>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grpSp>
        <p:nvGrpSpPr>
          <p:cNvPr id="78" name="组合 77">
            <a:extLst>
              <a:ext uri="{FF2B5EF4-FFF2-40B4-BE49-F238E27FC236}">
                <a16:creationId xmlns:a16="http://schemas.microsoft.com/office/drawing/2014/main" id="{B708D5A6-F729-4A3B-AFF5-DB02E26819D1}"/>
              </a:ext>
            </a:extLst>
          </p:cNvPr>
          <p:cNvGrpSpPr/>
          <p:nvPr/>
        </p:nvGrpSpPr>
        <p:grpSpPr>
          <a:xfrm>
            <a:off x="0" y="266844"/>
            <a:ext cx="487680" cy="330008"/>
            <a:chOff x="5025390" y="266844"/>
            <a:chExt cx="6259830" cy="330008"/>
          </a:xfrm>
        </p:grpSpPr>
        <p:cxnSp>
          <p:nvCxnSpPr>
            <p:cNvPr id="79" name="直接连接符 78">
              <a:extLst>
                <a:ext uri="{FF2B5EF4-FFF2-40B4-BE49-F238E27FC236}">
                  <a16:creationId xmlns:a16="http://schemas.microsoft.com/office/drawing/2014/main" id="{B16271FF-B014-4D0E-A8FC-14016AE63AC9}"/>
                </a:ext>
              </a:extLst>
            </p:cNvPr>
            <p:cNvCxnSpPr>
              <a:cxnSpLocks/>
            </p:cNvCxnSpPr>
            <p:nvPr/>
          </p:nvCxnSpPr>
          <p:spPr>
            <a:xfrm flipH="1">
              <a:off x="5025390" y="596852"/>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0" name="直接连接符 79">
              <a:extLst>
                <a:ext uri="{FF2B5EF4-FFF2-40B4-BE49-F238E27FC236}">
                  <a16:creationId xmlns:a16="http://schemas.microsoft.com/office/drawing/2014/main" id="{54662351-B9F7-41B8-8DFD-B434997C52AF}"/>
                </a:ext>
              </a:extLst>
            </p:cNvPr>
            <p:cNvCxnSpPr>
              <a:cxnSpLocks/>
            </p:cNvCxnSpPr>
            <p:nvPr/>
          </p:nvCxnSpPr>
          <p:spPr>
            <a:xfrm flipH="1">
              <a:off x="5025390" y="514350"/>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1" name="直接连接符 80">
              <a:extLst>
                <a:ext uri="{FF2B5EF4-FFF2-40B4-BE49-F238E27FC236}">
                  <a16:creationId xmlns:a16="http://schemas.microsoft.com/office/drawing/2014/main" id="{18BB5DB3-4909-47FC-BDD8-8679FC8F7B9D}"/>
                </a:ext>
              </a:extLst>
            </p:cNvPr>
            <p:cNvCxnSpPr>
              <a:cxnSpLocks/>
            </p:cNvCxnSpPr>
            <p:nvPr/>
          </p:nvCxnSpPr>
          <p:spPr>
            <a:xfrm flipH="1">
              <a:off x="5025390" y="431848"/>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2" name="直接连接符 81">
              <a:extLst>
                <a:ext uri="{FF2B5EF4-FFF2-40B4-BE49-F238E27FC236}">
                  <a16:creationId xmlns:a16="http://schemas.microsoft.com/office/drawing/2014/main" id="{7C6A262B-8F87-4AA5-BD4A-55DE84149A06}"/>
                </a:ext>
              </a:extLst>
            </p:cNvPr>
            <p:cNvCxnSpPr>
              <a:cxnSpLocks/>
            </p:cNvCxnSpPr>
            <p:nvPr/>
          </p:nvCxnSpPr>
          <p:spPr>
            <a:xfrm flipH="1">
              <a:off x="5025390" y="349346"/>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3" name="直接连接符 82">
              <a:extLst>
                <a:ext uri="{FF2B5EF4-FFF2-40B4-BE49-F238E27FC236}">
                  <a16:creationId xmlns:a16="http://schemas.microsoft.com/office/drawing/2014/main" id="{8F8A0811-38B1-462B-8E81-76FB9965A173}"/>
                </a:ext>
              </a:extLst>
            </p:cNvPr>
            <p:cNvCxnSpPr>
              <a:cxnSpLocks/>
            </p:cNvCxnSpPr>
            <p:nvPr/>
          </p:nvCxnSpPr>
          <p:spPr>
            <a:xfrm flipH="1">
              <a:off x="5025390" y="266844"/>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pic>
        <p:nvPicPr>
          <p:cNvPr id="18" name="图片 1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04252" y="168275"/>
            <a:ext cx="520700" cy="520700"/>
          </a:xfrm>
          <a:prstGeom prst="rect">
            <a:avLst/>
          </a:prstGeom>
        </p:spPr>
      </p:pic>
      <p:sp>
        <p:nvSpPr>
          <p:cNvPr id="25" name="文本框 24">
            <a:extLst>
              <a:ext uri="{FF2B5EF4-FFF2-40B4-BE49-F238E27FC236}">
                <a16:creationId xmlns:a16="http://schemas.microsoft.com/office/drawing/2014/main" id="{6A93ADA9-ABD0-4AD4-8C06-F187F5AB4611}"/>
              </a:ext>
            </a:extLst>
          </p:cNvPr>
          <p:cNvSpPr txBox="1"/>
          <p:nvPr/>
        </p:nvSpPr>
        <p:spPr>
          <a:xfrm>
            <a:off x="487680" y="105459"/>
            <a:ext cx="7575006" cy="646331"/>
          </a:xfrm>
          <a:prstGeom prst="rect">
            <a:avLst/>
          </a:prstGeom>
          <a:noFill/>
        </p:spPr>
        <p:txBody>
          <a:bodyPr wrap="square" rtlCol="0">
            <a:spAutoFit/>
          </a:bodyPr>
          <a:lstStyle/>
          <a:p>
            <a:r>
              <a:rPr lang="zh-CN" altLang="en-US" sz="3600" b="1" dirty="0"/>
              <a:t>三</a:t>
            </a:r>
            <a:r>
              <a:rPr lang="en-US" altLang="zh-CN" sz="3600" b="1" dirty="0"/>
              <a:t>.</a:t>
            </a:r>
            <a:r>
              <a:rPr lang="zh-CN" altLang="en-US" sz="3600" b="1" dirty="0"/>
              <a:t> 实验内容</a:t>
            </a:r>
            <a:r>
              <a:rPr lang="en-US" altLang="zh-CN" sz="3600" b="1" dirty="0"/>
              <a:t>——PSpice</a:t>
            </a:r>
            <a:r>
              <a:rPr lang="zh-CN" altLang="en-US" sz="3600" b="1" dirty="0"/>
              <a:t>仿真</a:t>
            </a:r>
          </a:p>
        </p:txBody>
      </p:sp>
      <p:sp>
        <p:nvSpPr>
          <p:cNvPr id="21" name="文本框 1">
            <a:extLst>
              <a:ext uri="{FF2B5EF4-FFF2-40B4-BE49-F238E27FC236}">
                <a16:creationId xmlns:a16="http://schemas.microsoft.com/office/drawing/2014/main" id="{47B732E0-3546-483A-9BE6-5F1D15088A90}"/>
              </a:ext>
            </a:extLst>
          </p:cNvPr>
          <p:cNvSpPr txBox="1"/>
          <p:nvPr/>
        </p:nvSpPr>
        <p:spPr>
          <a:xfrm>
            <a:off x="11291972" y="6320393"/>
            <a:ext cx="832980"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dirty="0"/>
              <a:t>14/23</a:t>
            </a:r>
            <a:endParaRPr lang="zh-CN" altLang="en-US" dirty="0"/>
          </a:p>
        </p:txBody>
      </p:sp>
      <p:cxnSp>
        <p:nvCxnSpPr>
          <p:cNvPr id="23" name="标题 1">
            <a:extLst>
              <a:ext uri="{FF2B5EF4-FFF2-40B4-BE49-F238E27FC236}">
                <a16:creationId xmlns:a16="http://schemas.microsoft.com/office/drawing/2014/main" id="{0238F6DA-D4FC-4BE9-BCA5-8C9FE2312D0F}"/>
              </a:ext>
            </a:extLst>
          </p:cNvPr>
          <p:cNvCxnSpPr/>
          <p:nvPr/>
        </p:nvCxnSpPr>
        <p:spPr>
          <a:xfrm>
            <a:off x="565150" y="958632"/>
            <a:ext cx="11049001" cy="0"/>
          </a:xfrm>
          <a:prstGeom prst="line">
            <a:avLst/>
          </a:prstGeom>
          <a:noFill/>
          <a:ln w="6350" cap="flat">
            <a:solidFill>
              <a:schemeClr val="accent1"/>
            </a:solidFill>
            <a:miter/>
          </a:ln>
        </p:spPr>
      </p:cxnSp>
      <p:pic>
        <p:nvPicPr>
          <p:cNvPr id="19" name="图片 18">
            <a:extLst>
              <a:ext uri="{FF2B5EF4-FFF2-40B4-BE49-F238E27FC236}">
                <a16:creationId xmlns:a16="http://schemas.microsoft.com/office/drawing/2014/main" id="{146B4AD0-2EE6-4ED5-AB42-94430D046BE2}"/>
              </a:ext>
            </a:extLst>
          </p:cNvPr>
          <p:cNvPicPr>
            <a:picLocks noChangeAspect="1"/>
          </p:cNvPicPr>
          <p:nvPr/>
        </p:nvPicPr>
        <p:blipFill>
          <a:blip r:embed="rId4"/>
          <a:stretch>
            <a:fillRect/>
          </a:stretch>
        </p:blipFill>
        <p:spPr>
          <a:xfrm>
            <a:off x="1127760" y="1648460"/>
            <a:ext cx="4152900" cy="3895725"/>
          </a:xfrm>
          <a:prstGeom prst="rect">
            <a:avLst/>
          </a:prstGeom>
        </p:spPr>
      </p:pic>
      <p:pic>
        <p:nvPicPr>
          <p:cNvPr id="20" name="图片 19">
            <a:extLst>
              <a:ext uri="{FF2B5EF4-FFF2-40B4-BE49-F238E27FC236}">
                <a16:creationId xmlns:a16="http://schemas.microsoft.com/office/drawing/2014/main" id="{C1956E4A-38E2-43A6-ADFF-2D62A1CA2D0F}"/>
              </a:ext>
            </a:extLst>
          </p:cNvPr>
          <p:cNvPicPr>
            <a:picLocks noChangeAspect="1"/>
          </p:cNvPicPr>
          <p:nvPr/>
        </p:nvPicPr>
        <p:blipFill>
          <a:blip r:embed="rId5"/>
          <a:stretch>
            <a:fillRect/>
          </a:stretch>
        </p:blipFill>
        <p:spPr>
          <a:xfrm>
            <a:off x="6680200" y="2512695"/>
            <a:ext cx="4391025" cy="1609725"/>
          </a:xfrm>
          <a:prstGeom prst="rect">
            <a:avLst/>
          </a:prstGeom>
        </p:spPr>
      </p:pic>
    </p:spTree>
    <p:extLst>
      <p:ext uri="{BB962C8B-B14F-4D97-AF65-F5344CB8AC3E}">
        <p14:creationId xmlns:p14="http://schemas.microsoft.com/office/powerpoint/2010/main" val="14216714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2" name="组合 71">
            <a:extLst>
              <a:ext uri="{FF2B5EF4-FFF2-40B4-BE49-F238E27FC236}">
                <a16:creationId xmlns:a16="http://schemas.microsoft.com/office/drawing/2014/main" id="{B755887D-06B2-49C8-A78A-151A32DBE229}"/>
              </a:ext>
            </a:extLst>
          </p:cNvPr>
          <p:cNvGrpSpPr/>
          <p:nvPr/>
        </p:nvGrpSpPr>
        <p:grpSpPr>
          <a:xfrm>
            <a:off x="6262928" y="266844"/>
            <a:ext cx="5233747" cy="330008"/>
            <a:chOff x="5025390" y="266844"/>
            <a:chExt cx="6259830" cy="330008"/>
          </a:xfrm>
        </p:grpSpPr>
        <p:cxnSp>
          <p:nvCxnSpPr>
            <p:cNvPr id="73" name="直接连接符 72">
              <a:extLst>
                <a:ext uri="{FF2B5EF4-FFF2-40B4-BE49-F238E27FC236}">
                  <a16:creationId xmlns:a16="http://schemas.microsoft.com/office/drawing/2014/main" id="{62FE7A77-FBEB-40AD-82EE-F6D56B4FBED0}"/>
                </a:ext>
              </a:extLst>
            </p:cNvPr>
            <p:cNvCxnSpPr>
              <a:cxnSpLocks/>
            </p:cNvCxnSpPr>
            <p:nvPr/>
          </p:nvCxnSpPr>
          <p:spPr>
            <a:xfrm flipH="1">
              <a:off x="5025390" y="596852"/>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4" name="直接连接符 73">
              <a:extLst>
                <a:ext uri="{FF2B5EF4-FFF2-40B4-BE49-F238E27FC236}">
                  <a16:creationId xmlns:a16="http://schemas.microsoft.com/office/drawing/2014/main" id="{BDD67602-65B0-4D01-8429-E64EE945B436}"/>
                </a:ext>
              </a:extLst>
            </p:cNvPr>
            <p:cNvCxnSpPr>
              <a:cxnSpLocks/>
            </p:cNvCxnSpPr>
            <p:nvPr/>
          </p:nvCxnSpPr>
          <p:spPr>
            <a:xfrm flipH="1">
              <a:off x="5025390" y="514350"/>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5" name="直接连接符 74">
              <a:extLst>
                <a:ext uri="{FF2B5EF4-FFF2-40B4-BE49-F238E27FC236}">
                  <a16:creationId xmlns:a16="http://schemas.microsoft.com/office/drawing/2014/main" id="{56902EF3-DC68-477E-B624-6F39F33A5062}"/>
                </a:ext>
              </a:extLst>
            </p:cNvPr>
            <p:cNvCxnSpPr>
              <a:cxnSpLocks/>
            </p:cNvCxnSpPr>
            <p:nvPr/>
          </p:nvCxnSpPr>
          <p:spPr>
            <a:xfrm flipH="1">
              <a:off x="5025390" y="431848"/>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6" name="直接连接符 75">
              <a:extLst>
                <a:ext uri="{FF2B5EF4-FFF2-40B4-BE49-F238E27FC236}">
                  <a16:creationId xmlns:a16="http://schemas.microsoft.com/office/drawing/2014/main" id="{E5575DC5-6C14-4E47-8549-F414278D7485}"/>
                </a:ext>
              </a:extLst>
            </p:cNvPr>
            <p:cNvCxnSpPr>
              <a:cxnSpLocks/>
            </p:cNvCxnSpPr>
            <p:nvPr/>
          </p:nvCxnSpPr>
          <p:spPr>
            <a:xfrm flipH="1">
              <a:off x="5025390" y="349346"/>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7" name="直接连接符 76">
              <a:extLst>
                <a:ext uri="{FF2B5EF4-FFF2-40B4-BE49-F238E27FC236}">
                  <a16:creationId xmlns:a16="http://schemas.microsoft.com/office/drawing/2014/main" id="{BEA35CD9-8F8F-4991-8A28-0D6749A159AF}"/>
                </a:ext>
              </a:extLst>
            </p:cNvPr>
            <p:cNvCxnSpPr>
              <a:cxnSpLocks/>
            </p:cNvCxnSpPr>
            <p:nvPr/>
          </p:nvCxnSpPr>
          <p:spPr>
            <a:xfrm flipH="1">
              <a:off x="5025390" y="266844"/>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grpSp>
        <p:nvGrpSpPr>
          <p:cNvPr id="78" name="组合 77">
            <a:extLst>
              <a:ext uri="{FF2B5EF4-FFF2-40B4-BE49-F238E27FC236}">
                <a16:creationId xmlns:a16="http://schemas.microsoft.com/office/drawing/2014/main" id="{B708D5A6-F729-4A3B-AFF5-DB02E26819D1}"/>
              </a:ext>
            </a:extLst>
          </p:cNvPr>
          <p:cNvGrpSpPr/>
          <p:nvPr/>
        </p:nvGrpSpPr>
        <p:grpSpPr>
          <a:xfrm>
            <a:off x="0" y="266844"/>
            <a:ext cx="487680" cy="330008"/>
            <a:chOff x="5025390" y="266844"/>
            <a:chExt cx="6259830" cy="330008"/>
          </a:xfrm>
        </p:grpSpPr>
        <p:cxnSp>
          <p:nvCxnSpPr>
            <p:cNvPr id="79" name="直接连接符 78">
              <a:extLst>
                <a:ext uri="{FF2B5EF4-FFF2-40B4-BE49-F238E27FC236}">
                  <a16:creationId xmlns:a16="http://schemas.microsoft.com/office/drawing/2014/main" id="{B16271FF-B014-4D0E-A8FC-14016AE63AC9}"/>
                </a:ext>
              </a:extLst>
            </p:cNvPr>
            <p:cNvCxnSpPr>
              <a:cxnSpLocks/>
            </p:cNvCxnSpPr>
            <p:nvPr/>
          </p:nvCxnSpPr>
          <p:spPr>
            <a:xfrm flipH="1">
              <a:off x="5025390" y="596852"/>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0" name="直接连接符 79">
              <a:extLst>
                <a:ext uri="{FF2B5EF4-FFF2-40B4-BE49-F238E27FC236}">
                  <a16:creationId xmlns:a16="http://schemas.microsoft.com/office/drawing/2014/main" id="{54662351-B9F7-41B8-8DFD-B434997C52AF}"/>
                </a:ext>
              </a:extLst>
            </p:cNvPr>
            <p:cNvCxnSpPr>
              <a:cxnSpLocks/>
            </p:cNvCxnSpPr>
            <p:nvPr/>
          </p:nvCxnSpPr>
          <p:spPr>
            <a:xfrm flipH="1">
              <a:off x="5025390" y="514350"/>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1" name="直接连接符 80">
              <a:extLst>
                <a:ext uri="{FF2B5EF4-FFF2-40B4-BE49-F238E27FC236}">
                  <a16:creationId xmlns:a16="http://schemas.microsoft.com/office/drawing/2014/main" id="{18BB5DB3-4909-47FC-BDD8-8679FC8F7B9D}"/>
                </a:ext>
              </a:extLst>
            </p:cNvPr>
            <p:cNvCxnSpPr>
              <a:cxnSpLocks/>
            </p:cNvCxnSpPr>
            <p:nvPr/>
          </p:nvCxnSpPr>
          <p:spPr>
            <a:xfrm flipH="1">
              <a:off x="5025390" y="431848"/>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2" name="直接连接符 81">
              <a:extLst>
                <a:ext uri="{FF2B5EF4-FFF2-40B4-BE49-F238E27FC236}">
                  <a16:creationId xmlns:a16="http://schemas.microsoft.com/office/drawing/2014/main" id="{7C6A262B-8F87-4AA5-BD4A-55DE84149A06}"/>
                </a:ext>
              </a:extLst>
            </p:cNvPr>
            <p:cNvCxnSpPr>
              <a:cxnSpLocks/>
            </p:cNvCxnSpPr>
            <p:nvPr/>
          </p:nvCxnSpPr>
          <p:spPr>
            <a:xfrm flipH="1">
              <a:off x="5025390" y="349346"/>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3" name="直接连接符 82">
              <a:extLst>
                <a:ext uri="{FF2B5EF4-FFF2-40B4-BE49-F238E27FC236}">
                  <a16:creationId xmlns:a16="http://schemas.microsoft.com/office/drawing/2014/main" id="{8F8A0811-38B1-462B-8E81-76FB9965A173}"/>
                </a:ext>
              </a:extLst>
            </p:cNvPr>
            <p:cNvCxnSpPr>
              <a:cxnSpLocks/>
            </p:cNvCxnSpPr>
            <p:nvPr/>
          </p:nvCxnSpPr>
          <p:spPr>
            <a:xfrm flipH="1">
              <a:off x="5025390" y="266844"/>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pic>
        <p:nvPicPr>
          <p:cNvPr id="18" name="图片 1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04252" y="168275"/>
            <a:ext cx="520700" cy="520700"/>
          </a:xfrm>
          <a:prstGeom prst="rect">
            <a:avLst/>
          </a:prstGeom>
        </p:spPr>
      </p:pic>
      <p:sp>
        <p:nvSpPr>
          <p:cNvPr id="25" name="文本框 24">
            <a:extLst>
              <a:ext uri="{FF2B5EF4-FFF2-40B4-BE49-F238E27FC236}">
                <a16:creationId xmlns:a16="http://schemas.microsoft.com/office/drawing/2014/main" id="{6A93ADA9-ABD0-4AD4-8C06-F187F5AB4611}"/>
              </a:ext>
            </a:extLst>
          </p:cNvPr>
          <p:cNvSpPr txBox="1"/>
          <p:nvPr/>
        </p:nvSpPr>
        <p:spPr>
          <a:xfrm>
            <a:off x="487680" y="105459"/>
            <a:ext cx="7575006" cy="646331"/>
          </a:xfrm>
          <a:prstGeom prst="rect">
            <a:avLst/>
          </a:prstGeom>
          <a:noFill/>
        </p:spPr>
        <p:txBody>
          <a:bodyPr wrap="square" rtlCol="0">
            <a:spAutoFit/>
          </a:bodyPr>
          <a:lstStyle/>
          <a:p>
            <a:r>
              <a:rPr lang="zh-CN" altLang="en-US" sz="3600" b="1" dirty="0"/>
              <a:t>三</a:t>
            </a:r>
            <a:r>
              <a:rPr lang="en-US" altLang="zh-CN" sz="3600" b="1" dirty="0"/>
              <a:t>.</a:t>
            </a:r>
            <a:r>
              <a:rPr lang="zh-CN" altLang="en-US" sz="3600" b="1" dirty="0"/>
              <a:t> 实验内容</a:t>
            </a:r>
            <a:r>
              <a:rPr lang="en-US" altLang="zh-CN" sz="3600" b="1" dirty="0"/>
              <a:t>——PSpice</a:t>
            </a:r>
            <a:r>
              <a:rPr lang="zh-CN" altLang="en-US" sz="3600" b="1" dirty="0"/>
              <a:t>仿真</a:t>
            </a:r>
          </a:p>
        </p:txBody>
      </p:sp>
      <p:sp>
        <p:nvSpPr>
          <p:cNvPr id="21" name="文本框 1">
            <a:extLst>
              <a:ext uri="{FF2B5EF4-FFF2-40B4-BE49-F238E27FC236}">
                <a16:creationId xmlns:a16="http://schemas.microsoft.com/office/drawing/2014/main" id="{47B732E0-3546-483A-9BE6-5F1D15088A90}"/>
              </a:ext>
            </a:extLst>
          </p:cNvPr>
          <p:cNvSpPr txBox="1"/>
          <p:nvPr/>
        </p:nvSpPr>
        <p:spPr>
          <a:xfrm>
            <a:off x="11291972" y="6320393"/>
            <a:ext cx="832980"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dirty="0"/>
              <a:t>15/23</a:t>
            </a:r>
            <a:endParaRPr lang="zh-CN" altLang="en-US" dirty="0"/>
          </a:p>
        </p:txBody>
      </p:sp>
      <p:cxnSp>
        <p:nvCxnSpPr>
          <p:cNvPr id="23" name="标题 1">
            <a:extLst>
              <a:ext uri="{FF2B5EF4-FFF2-40B4-BE49-F238E27FC236}">
                <a16:creationId xmlns:a16="http://schemas.microsoft.com/office/drawing/2014/main" id="{0238F6DA-D4FC-4BE9-BCA5-8C9FE2312D0F}"/>
              </a:ext>
            </a:extLst>
          </p:cNvPr>
          <p:cNvCxnSpPr/>
          <p:nvPr/>
        </p:nvCxnSpPr>
        <p:spPr>
          <a:xfrm>
            <a:off x="565150" y="958632"/>
            <a:ext cx="11049001" cy="0"/>
          </a:xfrm>
          <a:prstGeom prst="line">
            <a:avLst/>
          </a:prstGeom>
          <a:noFill/>
          <a:ln w="6350" cap="flat">
            <a:solidFill>
              <a:schemeClr val="accent1"/>
            </a:solidFill>
            <a:miter/>
          </a:ln>
        </p:spPr>
      </p:cxnSp>
      <p:pic>
        <p:nvPicPr>
          <p:cNvPr id="19" name="图片 18">
            <a:extLst>
              <a:ext uri="{FF2B5EF4-FFF2-40B4-BE49-F238E27FC236}">
                <a16:creationId xmlns:a16="http://schemas.microsoft.com/office/drawing/2014/main" id="{9321DE20-76DF-4E8C-B6A1-5D8E79E50EFC}"/>
              </a:ext>
            </a:extLst>
          </p:cNvPr>
          <p:cNvPicPr>
            <a:picLocks noChangeAspect="1"/>
          </p:cNvPicPr>
          <p:nvPr/>
        </p:nvPicPr>
        <p:blipFill>
          <a:blip r:embed="rId4"/>
          <a:srcRect l="79246" t="13801" r="-496" b="35514"/>
          <a:stretch>
            <a:fillRect/>
          </a:stretch>
        </p:blipFill>
        <p:spPr>
          <a:xfrm>
            <a:off x="487680" y="1137871"/>
            <a:ext cx="4286320" cy="5751140"/>
          </a:xfrm>
          <a:prstGeom prst="rect">
            <a:avLst/>
          </a:prstGeom>
        </p:spPr>
      </p:pic>
      <p:pic>
        <p:nvPicPr>
          <p:cNvPr id="20" name="图片 19">
            <a:extLst>
              <a:ext uri="{FF2B5EF4-FFF2-40B4-BE49-F238E27FC236}">
                <a16:creationId xmlns:a16="http://schemas.microsoft.com/office/drawing/2014/main" id="{55397088-8114-41BB-A7BB-295C95812940}"/>
              </a:ext>
            </a:extLst>
          </p:cNvPr>
          <p:cNvPicPr>
            <a:picLocks noChangeAspect="1"/>
          </p:cNvPicPr>
          <p:nvPr/>
        </p:nvPicPr>
        <p:blipFill>
          <a:blip r:embed="rId5"/>
          <a:stretch>
            <a:fillRect/>
          </a:stretch>
        </p:blipFill>
        <p:spPr>
          <a:xfrm>
            <a:off x="5695719" y="1965566"/>
            <a:ext cx="5305425" cy="4095750"/>
          </a:xfrm>
          <a:prstGeom prst="rect">
            <a:avLst/>
          </a:prstGeom>
        </p:spPr>
      </p:pic>
      <p:sp>
        <p:nvSpPr>
          <p:cNvPr id="22" name="文本框 21">
            <a:extLst>
              <a:ext uri="{FF2B5EF4-FFF2-40B4-BE49-F238E27FC236}">
                <a16:creationId xmlns:a16="http://schemas.microsoft.com/office/drawing/2014/main" id="{C05D448D-A2B5-4EFB-B334-5AAA869125B3}"/>
              </a:ext>
            </a:extLst>
          </p:cNvPr>
          <p:cNvSpPr txBox="1"/>
          <p:nvPr/>
        </p:nvSpPr>
        <p:spPr>
          <a:xfrm>
            <a:off x="4887681" y="1113569"/>
            <a:ext cx="6921500" cy="521970"/>
          </a:xfrm>
          <a:prstGeom prst="rect">
            <a:avLst/>
          </a:prstGeom>
          <a:noFill/>
        </p:spPr>
        <p:txBody>
          <a:bodyPr wrap="square" rtlCol="0">
            <a:spAutoFit/>
          </a:bodyPr>
          <a:lstStyle/>
          <a:p>
            <a:r>
              <a:rPr lang="zh-CN" altLang="en-US" sz="2800" dirty="0">
                <a:solidFill>
                  <a:srgbClr val="FF0000"/>
                </a:solidFill>
              </a:rPr>
              <a:t>共添加</a:t>
            </a:r>
            <a:r>
              <a:rPr lang="en-US" altLang="zh-CN" sz="2800" dirty="0">
                <a:solidFill>
                  <a:srgbClr val="FF0000"/>
                </a:solidFill>
              </a:rPr>
              <a:t>analog</a:t>
            </a:r>
            <a:r>
              <a:rPr lang="zh-CN" altLang="en-US" sz="2800" dirty="0">
                <a:solidFill>
                  <a:srgbClr val="FF0000"/>
                </a:solidFill>
              </a:rPr>
              <a:t>，</a:t>
            </a:r>
            <a:r>
              <a:rPr lang="en-US" altLang="zh-CN" sz="2800" dirty="0">
                <a:solidFill>
                  <a:srgbClr val="FF0000"/>
                </a:solidFill>
              </a:rPr>
              <a:t>sources</a:t>
            </a:r>
            <a:r>
              <a:rPr lang="zh-CN" altLang="en-US" sz="2800" dirty="0">
                <a:solidFill>
                  <a:srgbClr val="FF0000"/>
                </a:solidFill>
              </a:rPr>
              <a:t>，和</a:t>
            </a:r>
            <a:r>
              <a:rPr lang="en-US" altLang="zh-CN" sz="2800" dirty="0">
                <a:solidFill>
                  <a:srgbClr val="FF0000"/>
                </a:solidFill>
              </a:rPr>
              <a:t>special</a:t>
            </a:r>
            <a:r>
              <a:rPr lang="zh-CN" altLang="en-US" sz="2800" dirty="0">
                <a:solidFill>
                  <a:srgbClr val="FF0000"/>
                </a:solidFill>
              </a:rPr>
              <a:t>三个库</a:t>
            </a:r>
          </a:p>
        </p:txBody>
      </p:sp>
    </p:spTree>
    <p:extLst>
      <p:ext uri="{BB962C8B-B14F-4D97-AF65-F5344CB8AC3E}">
        <p14:creationId xmlns:p14="http://schemas.microsoft.com/office/powerpoint/2010/main" val="37735489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2" name="组合 71">
            <a:extLst>
              <a:ext uri="{FF2B5EF4-FFF2-40B4-BE49-F238E27FC236}">
                <a16:creationId xmlns:a16="http://schemas.microsoft.com/office/drawing/2014/main" id="{B755887D-06B2-49C8-A78A-151A32DBE229}"/>
              </a:ext>
            </a:extLst>
          </p:cNvPr>
          <p:cNvGrpSpPr/>
          <p:nvPr/>
        </p:nvGrpSpPr>
        <p:grpSpPr>
          <a:xfrm>
            <a:off x="6262928" y="266844"/>
            <a:ext cx="5233747" cy="330008"/>
            <a:chOff x="5025390" y="266844"/>
            <a:chExt cx="6259830" cy="330008"/>
          </a:xfrm>
        </p:grpSpPr>
        <p:cxnSp>
          <p:nvCxnSpPr>
            <p:cNvPr id="73" name="直接连接符 72">
              <a:extLst>
                <a:ext uri="{FF2B5EF4-FFF2-40B4-BE49-F238E27FC236}">
                  <a16:creationId xmlns:a16="http://schemas.microsoft.com/office/drawing/2014/main" id="{62FE7A77-FBEB-40AD-82EE-F6D56B4FBED0}"/>
                </a:ext>
              </a:extLst>
            </p:cNvPr>
            <p:cNvCxnSpPr>
              <a:cxnSpLocks/>
            </p:cNvCxnSpPr>
            <p:nvPr/>
          </p:nvCxnSpPr>
          <p:spPr>
            <a:xfrm flipH="1">
              <a:off x="5025390" y="596852"/>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4" name="直接连接符 73">
              <a:extLst>
                <a:ext uri="{FF2B5EF4-FFF2-40B4-BE49-F238E27FC236}">
                  <a16:creationId xmlns:a16="http://schemas.microsoft.com/office/drawing/2014/main" id="{BDD67602-65B0-4D01-8429-E64EE945B436}"/>
                </a:ext>
              </a:extLst>
            </p:cNvPr>
            <p:cNvCxnSpPr>
              <a:cxnSpLocks/>
            </p:cNvCxnSpPr>
            <p:nvPr/>
          </p:nvCxnSpPr>
          <p:spPr>
            <a:xfrm flipH="1">
              <a:off x="5025390" y="514350"/>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5" name="直接连接符 74">
              <a:extLst>
                <a:ext uri="{FF2B5EF4-FFF2-40B4-BE49-F238E27FC236}">
                  <a16:creationId xmlns:a16="http://schemas.microsoft.com/office/drawing/2014/main" id="{56902EF3-DC68-477E-B624-6F39F33A5062}"/>
                </a:ext>
              </a:extLst>
            </p:cNvPr>
            <p:cNvCxnSpPr>
              <a:cxnSpLocks/>
            </p:cNvCxnSpPr>
            <p:nvPr/>
          </p:nvCxnSpPr>
          <p:spPr>
            <a:xfrm flipH="1">
              <a:off x="5025390" y="431848"/>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6" name="直接连接符 75">
              <a:extLst>
                <a:ext uri="{FF2B5EF4-FFF2-40B4-BE49-F238E27FC236}">
                  <a16:creationId xmlns:a16="http://schemas.microsoft.com/office/drawing/2014/main" id="{E5575DC5-6C14-4E47-8549-F414278D7485}"/>
                </a:ext>
              </a:extLst>
            </p:cNvPr>
            <p:cNvCxnSpPr>
              <a:cxnSpLocks/>
            </p:cNvCxnSpPr>
            <p:nvPr/>
          </p:nvCxnSpPr>
          <p:spPr>
            <a:xfrm flipH="1">
              <a:off x="5025390" y="349346"/>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7" name="直接连接符 76">
              <a:extLst>
                <a:ext uri="{FF2B5EF4-FFF2-40B4-BE49-F238E27FC236}">
                  <a16:creationId xmlns:a16="http://schemas.microsoft.com/office/drawing/2014/main" id="{BEA35CD9-8F8F-4991-8A28-0D6749A159AF}"/>
                </a:ext>
              </a:extLst>
            </p:cNvPr>
            <p:cNvCxnSpPr>
              <a:cxnSpLocks/>
            </p:cNvCxnSpPr>
            <p:nvPr/>
          </p:nvCxnSpPr>
          <p:spPr>
            <a:xfrm flipH="1">
              <a:off x="5025390" y="266844"/>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grpSp>
        <p:nvGrpSpPr>
          <p:cNvPr id="78" name="组合 77">
            <a:extLst>
              <a:ext uri="{FF2B5EF4-FFF2-40B4-BE49-F238E27FC236}">
                <a16:creationId xmlns:a16="http://schemas.microsoft.com/office/drawing/2014/main" id="{B708D5A6-F729-4A3B-AFF5-DB02E26819D1}"/>
              </a:ext>
            </a:extLst>
          </p:cNvPr>
          <p:cNvGrpSpPr/>
          <p:nvPr/>
        </p:nvGrpSpPr>
        <p:grpSpPr>
          <a:xfrm>
            <a:off x="0" y="266844"/>
            <a:ext cx="487680" cy="330008"/>
            <a:chOff x="5025390" y="266844"/>
            <a:chExt cx="6259830" cy="330008"/>
          </a:xfrm>
        </p:grpSpPr>
        <p:cxnSp>
          <p:nvCxnSpPr>
            <p:cNvPr id="79" name="直接连接符 78">
              <a:extLst>
                <a:ext uri="{FF2B5EF4-FFF2-40B4-BE49-F238E27FC236}">
                  <a16:creationId xmlns:a16="http://schemas.microsoft.com/office/drawing/2014/main" id="{B16271FF-B014-4D0E-A8FC-14016AE63AC9}"/>
                </a:ext>
              </a:extLst>
            </p:cNvPr>
            <p:cNvCxnSpPr>
              <a:cxnSpLocks/>
            </p:cNvCxnSpPr>
            <p:nvPr/>
          </p:nvCxnSpPr>
          <p:spPr>
            <a:xfrm flipH="1">
              <a:off x="5025390" y="596852"/>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0" name="直接连接符 79">
              <a:extLst>
                <a:ext uri="{FF2B5EF4-FFF2-40B4-BE49-F238E27FC236}">
                  <a16:creationId xmlns:a16="http://schemas.microsoft.com/office/drawing/2014/main" id="{54662351-B9F7-41B8-8DFD-B434997C52AF}"/>
                </a:ext>
              </a:extLst>
            </p:cNvPr>
            <p:cNvCxnSpPr>
              <a:cxnSpLocks/>
            </p:cNvCxnSpPr>
            <p:nvPr/>
          </p:nvCxnSpPr>
          <p:spPr>
            <a:xfrm flipH="1">
              <a:off x="5025390" y="514350"/>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1" name="直接连接符 80">
              <a:extLst>
                <a:ext uri="{FF2B5EF4-FFF2-40B4-BE49-F238E27FC236}">
                  <a16:creationId xmlns:a16="http://schemas.microsoft.com/office/drawing/2014/main" id="{18BB5DB3-4909-47FC-BDD8-8679FC8F7B9D}"/>
                </a:ext>
              </a:extLst>
            </p:cNvPr>
            <p:cNvCxnSpPr>
              <a:cxnSpLocks/>
            </p:cNvCxnSpPr>
            <p:nvPr/>
          </p:nvCxnSpPr>
          <p:spPr>
            <a:xfrm flipH="1">
              <a:off x="5025390" y="431848"/>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2" name="直接连接符 81">
              <a:extLst>
                <a:ext uri="{FF2B5EF4-FFF2-40B4-BE49-F238E27FC236}">
                  <a16:creationId xmlns:a16="http://schemas.microsoft.com/office/drawing/2014/main" id="{7C6A262B-8F87-4AA5-BD4A-55DE84149A06}"/>
                </a:ext>
              </a:extLst>
            </p:cNvPr>
            <p:cNvCxnSpPr>
              <a:cxnSpLocks/>
            </p:cNvCxnSpPr>
            <p:nvPr/>
          </p:nvCxnSpPr>
          <p:spPr>
            <a:xfrm flipH="1">
              <a:off x="5025390" y="349346"/>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3" name="直接连接符 82">
              <a:extLst>
                <a:ext uri="{FF2B5EF4-FFF2-40B4-BE49-F238E27FC236}">
                  <a16:creationId xmlns:a16="http://schemas.microsoft.com/office/drawing/2014/main" id="{8F8A0811-38B1-462B-8E81-76FB9965A173}"/>
                </a:ext>
              </a:extLst>
            </p:cNvPr>
            <p:cNvCxnSpPr>
              <a:cxnSpLocks/>
            </p:cNvCxnSpPr>
            <p:nvPr/>
          </p:nvCxnSpPr>
          <p:spPr>
            <a:xfrm flipH="1">
              <a:off x="5025390" y="266844"/>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pic>
        <p:nvPicPr>
          <p:cNvPr id="18" name="图片 1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604252" y="168275"/>
            <a:ext cx="520700" cy="520700"/>
          </a:xfrm>
          <a:prstGeom prst="rect">
            <a:avLst/>
          </a:prstGeom>
        </p:spPr>
      </p:pic>
      <p:sp>
        <p:nvSpPr>
          <p:cNvPr id="25" name="文本框 24">
            <a:extLst>
              <a:ext uri="{FF2B5EF4-FFF2-40B4-BE49-F238E27FC236}">
                <a16:creationId xmlns:a16="http://schemas.microsoft.com/office/drawing/2014/main" id="{6A93ADA9-ABD0-4AD4-8C06-F187F5AB4611}"/>
              </a:ext>
            </a:extLst>
          </p:cNvPr>
          <p:cNvSpPr txBox="1"/>
          <p:nvPr/>
        </p:nvSpPr>
        <p:spPr>
          <a:xfrm>
            <a:off x="487680" y="105459"/>
            <a:ext cx="7575006" cy="646331"/>
          </a:xfrm>
          <a:prstGeom prst="rect">
            <a:avLst/>
          </a:prstGeom>
          <a:noFill/>
        </p:spPr>
        <p:txBody>
          <a:bodyPr wrap="square" rtlCol="0">
            <a:spAutoFit/>
          </a:bodyPr>
          <a:lstStyle/>
          <a:p>
            <a:r>
              <a:rPr lang="zh-CN" altLang="en-US" sz="3600" b="1" dirty="0"/>
              <a:t>三</a:t>
            </a:r>
            <a:r>
              <a:rPr lang="en-US" altLang="zh-CN" sz="3600" b="1" dirty="0"/>
              <a:t>.</a:t>
            </a:r>
            <a:r>
              <a:rPr lang="zh-CN" altLang="en-US" sz="3600" b="1" dirty="0"/>
              <a:t> 实验内容</a:t>
            </a:r>
            <a:r>
              <a:rPr lang="en-US" altLang="zh-CN" sz="3600" b="1" dirty="0"/>
              <a:t>——PSpice</a:t>
            </a:r>
            <a:r>
              <a:rPr lang="zh-CN" altLang="en-US" sz="3600" b="1" dirty="0"/>
              <a:t>仿真</a:t>
            </a:r>
          </a:p>
        </p:txBody>
      </p:sp>
      <p:sp>
        <p:nvSpPr>
          <p:cNvPr id="21" name="文本框 1">
            <a:extLst>
              <a:ext uri="{FF2B5EF4-FFF2-40B4-BE49-F238E27FC236}">
                <a16:creationId xmlns:a16="http://schemas.microsoft.com/office/drawing/2014/main" id="{47B732E0-3546-483A-9BE6-5F1D15088A90}"/>
              </a:ext>
            </a:extLst>
          </p:cNvPr>
          <p:cNvSpPr txBox="1"/>
          <p:nvPr/>
        </p:nvSpPr>
        <p:spPr>
          <a:xfrm>
            <a:off x="11291972" y="6320393"/>
            <a:ext cx="832980"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dirty="0"/>
              <a:t>16/23</a:t>
            </a:r>
            <a:endParaRPr lang="zh-CN" altLang="en-US" dirty="0"/>
          </a:p>
        </p:txBody>
      </p:sp>
      <p:cxnSp>
        <p:nvCxnSpPr>
          <p:cNvPr id="23" name="标题 1">
            <a:extLst>
              <a:ext uri="{FF2B5EF4-FFF2-40B4-BE49-F238E27FC236}">
                <a16:creationId xmlns:a16="http://schemas.microsoft.com/office/drawing/2014/main" id="{0238F6DA-D4FC-4BE9-BCA5-8C9FE2312D0F}"/>
              </a:ext>
            </a:extLst>
          </p:cNvPr>
          <p:cNvCxnSpPr/>
          <p:nvPr/>
        </p:nvCxnSpPr>
        <p:spPr>
          <a:xfrm>
            <a:off x="565150" y="958632"/>
            <a:ext cx="11049001" cy="0"/>
          </a:xfrm>
          <a:prstGeom prst="line">
            <a:avLst/>
          </a:prstGeom>
          <a:noFill/>
          <a:ln w="6350" cap="flat">
            <a:solidFill>
              <a:schemeClr val="accent1"/>
            </a:solidFill>
            <a:miter/>
          </a:ln>
        </p:spPr>
      </p:cxnSp>
      <p:sp>
        <p:nvSpPr>
          <p:cNvPr id="19" name="Rectangle 3">
            <a:extLst>
              <a:ext uri="{FF2B5EF4-FFF2-40B4-BE49-F238E27FC236}">
                <a16:creationId xmlns:a16="http://schemas.microsoft.com/office/drawing/2014/main" id="{60855C60-28A1-4F07-A245-AAA79D33F490}"/>
              </a:ext>
            </a:extLst>
          </p:cNvPr>
          <p:cNvSpPr>
            <a:spLocks noChangeArrowheads="1"/>
          </p:cNvSpPr>
          <p:nvPr/>
        </p:nvSpPr>
        <p:spPr bwMode="auto">
          <a:xfrm>
            <a:off x="-80049" y="896724"/>
            <a:ext cx="12357277" cy="32208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indent="2667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266700" algn="l" defTabSz="914400" rtl="0" eaLnBrk="0" fontAlgn="base" latinLnBrk="0" hangingPunct="0">
              <a:lnSpc>
                <a:spcPct val="150000"/>
              </a:lnSpc>
              <a:spcBef>
                <a:spcPct val="0"/>
              </a:spcBef>
              <a:spcAft>
                <a:spcPct val="0"/>
              </a:spcAft>
              <a:buClrTx/>
              <a:buSzTx/>
              <a:buFontTx/>
              <a:buNone/>
            </a:pPr>
            <a:r>
              <a:rPr kumimoji="0" lang="zh-CN" altLang="zh-CN"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（2）编辑原理图</a:t>
            </a:r>
            <a:endParaRPr kumimoji="0" lang="zh-CN" altLang="zh-CN" sz="2000" b="0" i="0" u="none" strike="noStrike" cap="none" normalizeH="0" baseline="0" dirty="0">
              <a:ln>
                <a:noFill/>
              </a:ln>
              <a:solidFill>
                <a:schemeClr val="tx1"/>
              </a:solidFill>
              <a:effectLst/>
            </a:endParaRPr>
          </a:p>
          <a:p>
            <a:pPr marL="0" marR="0" lvl="0" indent="266700" algn="l" defTabSz="914400" rtl="0" eaLnBrk="0" fontAlgn="base" latinLnBrk="0" hangingPunct="0">
              <a:lnSpc>
                <a:spcPct val="150000"/>
              </a:lnSpc>
              <a:spcBef>
                <a:spcPct val="0"/>
              </a:spcBef>
              <a:spcAft>
                <a:spcPct val="0"/>
              </a:spcAft>
              <a:buClrTx/>
              <a:buSzTx/>
              <a:buFontTx/>
              <a:buNone/>
            </a:pPr>
            <a:r>
              <a:rPr kumimoji="0" lang="zh-CN" altLang="zh-CN"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步骤1：放置元器件。菜单栏选择Place →Part，放置电阻（R/ANALOG），交流源（VAC/SOURCE），</a:t>
            </a:r>
            <a:endParaRPr kumimoji="0" lang="en-US" altLang="zh-CN"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266700" algn="l" defTabSz="914400" rtl="0" eaLnBrk="0" fontAlgn="base" latinLnBrk="0" hangingPunct="0">
              <a:lnSpc>
                <a:spcPct val="150000"/>
              </a:lnSpc>
              <a:spcBef>
                <a:spcPct val="0"/>
              </a:spcBef>
              <a:spcAft>
                <a:spcPct val="0"/>
              </a:spcAft>
              <a:buClrTx/>
              <a:buSzTx/>
              <a:buFontTx/>
              <a:buNone/>
            </a:pPr>
            <a:r>
              <a:rPr kumimoji="0" lang="zh-CN" altLang="zh-CN"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传输线（T/Design Cache），参数元件（PARAM/SPECIAL）及接地（Place→Ground→0/SOURCE→OK）</a:t>
            </a:r>
            <a:r>
              <a:rPr kumimoji="0" lang="en-US" altLang="zh-CN"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p>
          <a:p>
            <a:pPr marL="0" marR="0" lvl="0" indent="266700" algn="l" defTabSz="914400" rtl="0" eaLnBrk="0" fontAlgn="base" latinLnBrk="0" hangingPunct="0">
              <a:lnSpc>
                <a:spcPct val="150000"/>
              </a:lnSpc>
              <a:spcBef>
                <a:spcPct val="0"/>
              </a:spcBef>
              <a:spcAft>
                <a:spcPct val="0"/>
              </a:spcAft>
              <a:buClrTx/>
              <a:buSzTx/>
              <a:buFontTx/>
              <a:buNone/>
            </a:pPr>
            <a:r>
              <a:rPr kumimoji="0" lang="zh-CN" altLang="zh-CN"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步骤2：连线。菜单栏选择Place →Wire，按图3.3.3-2连线。</a:t>
            </a:r>
            <a:endParaRPr kumimoji="0" lang="zh-CN" altLang="zh-CN" sz="2000" b="0" i="0" u="none" strike="noStrike" cap="none" normalizeH="0" baseline="0" dirty="0">
              <a:ln>
                <a:noFill/>
              </a:ln>
              <a:solidFill>
                <a:schemeClr val="tx1"/>
              </a:solidFill>
              <a:effectLst/>
            </a:endParaRPr>
          </a:p>
          <a:p>
            <a:pPr marL="0" marR="0" lvl="0" indent="266700" algn="l" defTabSz="914400" rtl="0" eaLnBrk="0" fontAlgn="base" latinLnBrk="0" hangingPunct="0">
              <a:lnSpc>
                <a:spcPct val="150000"/>
              </a:lnSpc>
              <a:spcBef>
                <a:spcPct val="0"/>
              </a:spcBef>
              <a:spcAft>
                <a:spcPct val="0"/>
              </a:spcAft>
              <a:buClrTx/>
              <a:buSzTx/>
              <a:buFontTx/>
              <a:buNone/>
            </a:pPr>
            <a:r>
              <a:rPr kumimoji="0" lang="zh-CN" altLang="zh-CN"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步骤3：设置参数。电阻</a:t>
            </a:r>
            <a:r>
              <a:rPr kumimoji="0" lang="en-US" altLang="zh-CN"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US"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a:effectLst/>
                <a:latin typeface="Times New Roman" panose="02020603050405020304" pitchFamily="18" charset="0"/>
                <a:ea typeface="宋体" panose="02010600030101010101" pitchFamily="2" charset="-122"/>
              </a:rPr>
              <a:t> VAC</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交流源，幅值</a:t>
            </a:r>
            <a:r>
              <a:rPr lang="en-US" altLang="zh-CN" sz="1800" kern="100" dirty="0">
                <a:effectLst/>
                <a:latin typeface="Times New Roman" panose="02020603050405020304" pitchFamily="18" charset="0"/>
                <a:ea typeface="宋体" panose="02010600030101010101" pitchFamily="2" charset="-122"/>
              </a:rPr>
              <a:t>=1</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，相位</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=0°</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，传输线参数：</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f=3G</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NL={VAL}</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Z</a:t>
            </a:r>
            <a:r>
              <a:rPr lang="en-US" altLang="zh-CN" sz="1800" kern="100" baseline="-25000" dirty="0">
                <a:effectLst/>
                <a:latin typeface="Times New Roman" panose="02020603050405020304" pitchFamily="18" charset="0"/>
                <a:ea typeface="宋体" panose="02010600030101010101" pitchFamily="2" charset="-122"/>
                <a:cs typeface="Times New Roman" panose="02020603050405020304" pitchFamily="18" charset="0"/>
              </a:rPr>
              <a:t>0</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=50</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双击参数元件</a:t>
            </a:r>
            <a:r>
              <a:rPr lang="en-US" altLang="zh-CN" sz="1800" kern="100" dirty="0" err="1">
                <a:effectLst/>
                <a:latin typeface="Times New Roman" panose="02020603050405020304" pitchFamily="18" charset="0"/>
                <a:ea typeface="宋体" panose="02010600030101010101" pitchFamily="2" charset="-122"/>
              </a:rPr>
              <a:t>PARAM→New</a:t>
            </a:r>
            <a:r>
              <a:rPr lang="en-US" altLang="zh-CN" sz="1800" kern="100" dirty="0">
                <a:effectLst/>
                <a:latin typeface="Times New Roman" panose="02020603050405020304" pitchFamily="18" charset="0"/>
                <a:ea typeface="宋体" panose="02010600030101010101" pitchFamily="2" charset="-122"/>
              </a:rPr>
              <a:t> Property</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，打开</a:t>
            </a:r>
            <a:r>
              <a:rPr lang="en-US" altLang="zh-CN" sz="1800" kern="100" dirty="0">
                <a:effectLst/>
                <a:latin typeface="Times New Roman" panose="02020603050405020304" pitchFamily="18" charset="0"/>
                <a:ea typeface="宋体" panose="02010600030101010101" pitchFamily="2" charset="-122"/>
              </a:rPr>
              <a:t>Add New Property</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窗口，设置其</a:t>
            </a:r>
            <a:r>
              <a:rPr lang="en-US" altLang="zh-CN" sz="1800" kern="100" dirty="0">
                <a:effectLst/>
                <a:latin typeface="Times New Roman" panose="02020603050405020304" pitchFamily="18" charset="0"/>
                <a:ea typeface="宋体" panose="02010600030101010101" pitchFamily="2" charset="-122"/>
              </a:rPr>
              <a:t>Name</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a:effectLst/>
                <a:latin typeface="Times New Roman" panose="02020603050405020304" pitchFamily="18" charset="0"/>
                <a:ea typeface="宋体" panose="02010600030101010101" pitchFamily="2" charset="-122"/>
              </a:rPr>
              <a:t>VAL</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a:effectLst/>
                <a:latin typeface="Times New Roman" panose="02020603050405020304" pitchFamily="18" charset="0"/>
                <a:ea typeface="宋体" panose="02010600030101010101" pitchFamily="2" charset="-122"/>
              </a:rPr>
              <a:t>Value</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a:effectLst/>
                <a:latin typeface="Times New Roman" panose="02020603050405020304" pitchFamily="18" charset="0"/>
                <a:ea typeface="宋体" panose="02010600030101010101" pitchFamily="2" charset="-122"/>
              </a:rPr>
              <a:t>50</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，单击“</a:t>
            </a:r>
            <a:r>
              <a:rPr lang="en-US" altLang="zh-CN" sz="1800" kern="100" dirty="0">
                <a:effectLst/>
                <a:latin typeface="Times New Roman" panose="02020603050405020304" pitchFamily="18" charset="0"/>
                <a:ea typeface="宋体" panose="02010600030101010101" pitchFamily="2" charset="-122"/>
              </a:rPr>
              <a:t>Apply</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”按钮</a:t>
            </a:r>
            <a:endPar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266700" algn="l" defTabSz="914400" rtl="0" eaLnBrk="0" fontAlgn="base" latinLnBrk="0" hangingPunct="0">
              <a:lnSpc>
                <a:spcPct val="150000"/>
              </a:lnSpc>
              <a:spcBef>
                <a:spcPct val="0"/>
              </a:spcBef>
              <a:spcAft>
                <a:spcPct val="0"/>
              </a:spcAft>
              <a:buClrTx/>
              <a:buSzTx/>
              <a:buFontTx/>
              <a:buNone/>
            </a:pPr>
            <a:endParaRPr kumimoji="0" lang="zh-CN" altLang="zh-CN" sz="2000" b="0" i="0" u="none" strike="noStrike" cap="none" normalizeH="0" baseline="0" dirty="0">
              <a:ln>
                <a:noFill/>
              </a:ln>
              <a:solidFill>
                <a:schemeClr val="tx1"/>
              </a:solidFill>
              <a:effectLst/>
              <a:latin typeface="Arial" panose="020B0604020202020204" pitchFamily="34" charset="0"/>
            </a:endParaRPr>
          </a:p>
        </p:txBody>
      </p:sp>
      <p:pic>
        <p:nvPicPr>
          <p:cNvPr id="20" name="图片 19">
            <a:extLst>
              <a:ext uri="{FF2B5EF4-FFF2-40B4-BE49-F238E27FC236}">
                <a16:creationId xmlns:a16="http://schemas.microsoft.com/office/drawing/2014/main" id="{D3D0FEE0-EDB5-4B68-BECD-9FBC365D2959}"/>
              </a:ext>
            </a:extLst>
          </p:cNvPr>
          <p:cNvPicPr>
            <a:picLocks noChangeAspect="1"/>
          </p:cNvPicPr>
          <p:nvPr/>
        </p:nvPicPr>
        <p:blipFill>
          <a:blip r:embed="rId5"/>
          <a:stretch>
            <a:fillRect/>
          </a:stretch>
        </p:blipFill>
        <p:spPr>
          <a:xfrm>
            <a:off x="5618567" y="3650447"/>
            <a:ext cx="4399015" cy="3225980"/>
          </a:xfrm>
          <a:prstGeom prst="rect">
            <a:avLst/>
          </a:prstGeom>
        </p:spPr>
      </p:pic>
      <p:sp>
        <p:nvSpPr>
          <p:cNvPr id="22" name="文本框 21">
            <a:extLst>
              <a:ext uri="{FF2B5EF4-FFF2-40B4-BE49-F238E27FC236}">
                <a16:creationId xmlns:a16="http://schemas.microsoft.com/office/drawing/2014/main" id="{64D38305-F344-42D2-BE58-28386969A2AE}"/>
              </a:ext>
            </a:extLst>
          </p:cNvPr>
          <p:cNvSpPr txBox="1"/>
          <p:nvPr/>
        </p:nvSpPr>
        <p:spPr>
          <a:xfrm>
            <a:off x="380999" y="3606165"/>
            <a:ext cx="4399015" cy="876458"/>
          </a:xfrm>
          <a:prstGeom prst="rect">
            <a:avLst/>
          </a:prstGeom>
          <a:noFill/>
        </p:spPr>
        <p:txBody>
          <a:bodyPr wrap="square" rtlCol="0" anchor="t">
            <a:spAutoFit/>
          </a:bodyPr>
          <a:lstStyle/>
          <a:p>
            <a:pPr marL="0" marR="0" lvl="0" indent="0" algn="l" defTabSz="914400" rtl="0" eaLnBrk="0" fontAlgn="base" hangingPunct="0">
              <a:lnSpc>
                <a:spcPct val="150000"/>
              </a:lnSpc>
              <a:spcBef>
                <a:spcPct val="0"/>
              </a:spcBef>
              <a:spcAft>
                <a:spcPct val="0"/>
              </a:spcAft>
              <a:buClrTx/>
              <a:buSzTx/>
              <a:buFontTx/>
              <a:buNone/>
            </a:pPr>
            <a:r>
              <a:rPr lang="zh-CN" altLang="zh-CN" dirty="0">
                <a:ln>
                  <a:noFill/>
                </a:ln>
                <a:effectLst/>
                <a:latin typeface="Times New Roman" panose="02020603050405020304" pitchFamily="18" charset="0"/>
                <a:ea typeface="宋体" panose="02010600030101010101" pitchFamily="2" charset="-122"/>
                <a:cs typeface="Times New Roman" panose="02020603050405020304" pitchFamily="18" charset="0"/>
                <a:sym typeface="+mn-ea"/>
              </a:rPr>
              <a:t>步骤4：标注结点。菜单栏选择Place→Net Alias，根据图3.3.3-2标注结点。</a:t>
            </a:r>
            <a:endParaRPr lang="zh-CN" altLang="en-US" dirty="0"/>
          </a:p>
        </p:txBody>
      </p:sp>
      <p:graphicFrame>
        <p:nvGraphicFramePr>
          <p:cNvPr id="24" name="对象 23">
            <a:extLst>
              <a:ext uri="{FF2B5EF4-FFF2-40B4-BE49-F238E27FC236}">
                <a16:creationId xmlns:a16="http://schemas.microsoft.com/office/drawing/2014/main" id="{8E79FC30-1BC9-4FEC-8DB7-6E6F11FB83D6}"/>
              </a:ext>
            </a:extLst>
          </p:cNvPr>
          <p:cNvGraphicFramePr>
            <a:graphicFrameLocks noChangeAspect="1"/>
          </p:cNvGraphicFramePr>
          <p:nvPr>
            <p:extLst>
              <p:ext uri="{D42A27DB-BD31-4B8C-83A1-F6EECF244321}">
                <p14:modId xmlns:p14="http://schemas.microsoft.com/office/powerpoint/2010/main" val="2886133377"/>
              </p:ext>
            </p:extLst>
          </p:nvPr>
        </p:nvGraphicFramePr>
        <p:xfrm>
          <a:off x="3025972" y="2853463"/>
          <a:ext cx="1054096" cy="346843"/>
        </p:xfrm>
        <a:graphic>
          <a:graphicData uri="http://schemas.openxmlformats.org/presentationml/2006/ole">
            <mc:AlternateContent xmlns:mc="http://schemas.openxmlformats.org/markup-compatibility/2006">
              <mc:Choice xmlns:v="urn:schemas-microsoft-com:vml" Requires="v">
                <p:oleObj spid="_x0000_s2061" name="Equation" r:id="rId6" imgW="520700" imgH="190500" progId="Equation.DSMT4">
                  <p:embed/>
                </p:oleObj>
              </mc:Choice>
              <mc:Fallback>
                <p:oleObj name="Equation" r:id="rId6" imgW="520700" imgH="190500" progId="Equation.DSMT4">
                  <p:embed/>
                  <p:pic>
                    <p:nvPicPr>
                      <p:cNvPr id="5" name="对象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025972" y="2853463"/>
                        <a:ext cx="1054096" cy="346843"/>
                      </a:xfrm>
                      <a:prstGeom prst="rect">
                        <a:avLst/>
                      </a:prstGeom>
                      <a:noFill/>
                    </p:spPr>
                  </p:pic>
                </p:oleObj>
              </mc:Fallback>
            </mc:AlternateContent>
          </a:graphicData>
        </a:graphic>
      </p:graphicFrame>
    </p:spTree>
    <p:extLst>
      <p:ext uri="{BB962C8B-B14F-4D97-AF65-F5344CB8AC3E}">
        <p14:creationId xmlns:p14="http://schemas.microsoft.com/office/powerpoint/2010/main" val="9187250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2" name="组合 71">
            <a:extLst>
              <a:ext uri="{FF2B5EF4-FFF2-40B4-BE49-F238E27FC236}">
                <a16:creationId xmlns:a16="http://schemas.microsoft.com/office/drawing/2014/main" id="{B755887D-06B2-49C8-A78A-151A32DBE229}"/>
              </a:ext>
            </a:extLst>
          </p:cNvPr>
          <p:cNvGrpSpPr/>
          <p:nvPr/>
        </p:nvGrpSpPr>
        <p:grpSpPr>
          <a:xfrm>
            <a:off x="6262928" y="266844"/>
            <a:ext cx="5233747" cy="330008"/>
            <a:chOff x="5025390" y="266844"/>
            <a:chExt cx="6259830" cy="330008"/>
          </a:xfrm>
        </p:grpSpPr>
        <p:cxnSp>
          <p:nvCxnSpPr>
            <p:cNvPr id="73" name="直接连接符 72">
              <a:extLst>
                <a:ext uri="{FF2B5EF4-FFF2-40B4-BE49-F238E27FC236}">
                  <a16:creationId xmlns:a16="http://schemas.microsoft.com/office/drawing/2014/main" id="{62FE7A77-FBEB-40AD-82EE-F6D56B4FBED0}"/>
                </a:ext>
              </a:extLst>
            </p:cNvPr>
            <p:cNvCxnSpPr>
              <a:cxnSpLocks/>
            </p:cNvCxnSpPr>
            <p:nvPr/>
          </p:nvCxnSpPr>
          <p:spPr>
            <a:xfrm flipH="1">
              <a:off x="5025390" y="596852"/>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4" name="直接连接符 73">
              <a:extLst>
                <a:ext uri="{FF2B5EF4-FFF2-40B4-BE49-F238E27FC236}">
                  <a16:creationId xmlns:a16="http://schemas.microsoft.com/office/drawing/2014/main" id="{BDD67602-65B0-4D01-8429-E64EE945B436}"/>
                </a:ext>
              </a:extLst>
            </p:cNvPr>
            <p:cNvCxnSpPr>
              <a:cxnSpLocks/>
            </p:cNvCxnSpPr>
            <p:nvPr/>
          </p:nvCxnSpPr>
          <p:spPr>
            <a:xfrm flipH="1">
              <a:off x="5025390" y="514350"/>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5" name="直接连接符 74">
              <a:extLst>
                <a:ext uri="{FF2B5EF4-FFF2-40B4-BE49-F238E27FC236}">
                  <a16:creationId xmlns:a16="http://schemas.microsoft.com/office/drawing/2014/main" id="{56902EF3-DC68-477E-B624-6F39F33A5062}"/>
                </a:ext>
              </a:extLst>
            </p:cNvPr>
            <p:cNvCxnSpPr>
              <a:cxnSpLocks/>
            </p:cNvCxnSpPr>
            <p:nvPr/>
          </p:nvCxnSpPr>
          <p:spPr>
            <a:xfrm flipH="1">
              <a:off x="5025390" y="431848"/>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6" name="直接连接符 75">
              <a:extLst>
                <a:ext uri="{FF2B5EF4-FFF2-40B4-BE49-F238E27FC236}">
                  <a16:creationId xmlns:a16="http://schemas.microsoft.com/office/drawing/2014/main" id="{E5575DC5-6C14-4E47-8549-F414278D7485}"/>
                </a:ext>
              </a:extLst>
            </p:cNvPr>
            <p:cNvCxnSpPr>
              <a:cxnSpLocks/>
            </p:cNvCxnSpPr>
            <p:nvPr/>
          </p:nvCxnSpPr>
          <p:spPr>
            <a:xfrm flipH="1">
              <a:off x="5025390" y="349346"/>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7" name="直接连接符 76">
              <a:extLst>
                <a:ext uri="{FF2B5EF4-FFF2-40B4-BE49-F238E27FC236}">
                  <a16:creationId xmlns:a16="http://schemas.microsoft.com/office/drawing/2014/main" id="{BEA35CD9-8F8F-4991-8A28-0D6749A159AF}"/>
                </a:ext>
              </a:extLst>
            </p:cNvPr>
            <p:cNvCxnSpPr>
              <a:cxnSpLocks/>
            </p:cNvCxnSpPr>
            <p:nvPr/>
          </p:nvCxnSpPr>
          <p:spPr>
            <a:xfrm flipH="1">
              <a:off x="5025390" y="266844"/>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grpSp>
        <p:nvGrpSpPr>
          <p:cNvPr id="78" name="组合 77">
            <a:extLst>
              <a:ext uri="{FF2B5EF4-FFF2-40B4-BE49-F238E27FC236}">
                <a16:creationId xmlns:a16="http://schemas.microsoft.com/office/drawing/2014/main" id="{B708D5A6-F729-4A3B-AFF5-DB02E26819D1}"/>
              </a:ext>
            </a:extLst>
          </p:cNvPr>
          <p:cNvGrpSpPr/>
          <p:nvPr/>
        </p:nvGrpSpPr>
        <p:grpSpPr>
          <a:xfrm>
            <a:off x="0" y="266844"/>
            <a:ext cx="487680" cy="330008"/>
            <a:chOff x="5025390" y="266844"/>
            <a:chExt cx="6259830" cy="330008"/>
          </a:xfrm>
        </p:grpSpPr>
        <p:cxnSp>
          <p:nvCxnSpPr>
            <p:cNvPr id="79" name="直接连接符 78">
              <a:extLst>
                <a:ext uri="{FF2B5EF4-FFF2-40B4-BE49-F238E27FC236}">
                  <a16:creationId xmlns:a16="http://schemas.microsoft.com/office/drawing/2014/main" id="{B16271FF-B014-4D0E-A8FC-14016AE63AC9}"/>
                </a:ext>
              </a:extLst>
            </p:cNvPr>
            <p:cNvCxnSpPr>
              <a:cxnSpLocks/>
            </p:cNvCxnSpPr>
            <p:nvPr/>
          </p:nvCxnSpPr>
          <p:spPr>
            <a:xfrm flipH="1">
              <a:off x="5025390" y="596852"/>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0" name="直接连接符 79">
              <a:extLst>
                <a:ext uri="{FF2B5EF4-FFF2-40B4-BE49-F238E27FC236}">
                  <a16:creationId xmlns:a16="http://schemas.microsoft.com/office/drawing/2014/main" id="{54662351-B9F7-41B8-8DFD-B434997C52AF}"/>
                </a:ext>
              </a:extLst>
            </p:cNvPr>
            <p:cNvCxnSpPr>
              <a:cxnSpLocks/>
            </p:cNvCxnSpPr>
            <p:nvPr/>
          </p:nvCxnSpPr>
          <p:spPr>
            <a:xfrm flipH="1">
              <a:off x="5025390" y="514350"/>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1" name="直接连接符 80">
              <a:extLst>
                <a:ext uri="{FF2B5EF4-FFF2-40B4-BE49-F238E27FC236}">
                  <a16:creationId xmlns:a16="http://schemas.microsoft.com/office/drawing/2014/main" id="{18BB5DB3-4909-47FC-BDD8-8679FC8F7B9D}"/>
                </a:ext>
              </a:extLst>
            </p:cNvPr>
            <p:cNvCxnSpPr>
              <a:cxnSpLocks/>
            </p:cNvCxnSpPr>
            <p:nvPr/>
          </p:nvCxnSpPr>
          <p:spPr>
            <a:xfrm flipH="1">
              <a:off x="5025390" y="431848"/>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2" name="直接连接符 81">
              <a:extLst>
                <a:ext uri="{FF2B5EF4-FFF2-40B4-BE49-F238E27FC236}">
                  <a16:creationId xmlns:a16="http://schemas.microsoft.com/office/drawing/2014/main" id="{7C6A262B-8F87-4AA5-BD4A-55DE84149A06}"/>
                </a:ext>
              </a:extLst>
            </p:cNvPr>
            <p:cNvCxnSpPr>
              <a:cxnSpLocks/>
            </p:cNvCxnSpPr>
            <p:nvPr/>
          </p:nvCxnSpPr>
          <p:spPr>
            <a:xfrm flipH="1">
              <a:off x="5025390" y="349346"/>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3" name="直接连接符 82">
              <a:extLst>
                <a:ext uri="{FF2B5EF4-FFF2-40B4-BE49-F238E27FC236}">
                  <a16:creationId xmlns:a16="http://schemas.microsoft.com/office/drawing/2014/main" id="{8F8A0811-38B1-462B-8E81-76FB9965A173}"/>
                </a:ext>
              </a:extLst>
            </p:cNvPr>
            <p:cNvCxnSpPr>
              <a:cxnSpLocks/>
            </p:cNvCxnSpPr>
            <p:nvPr/>
          </p:nvCxnSpPr>
          <p:spPr>
            <a:xfrm flipH="1">
              <a:off x="5025390" y="266844"/>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pic>
        <p:nvPicPr>
          <p:cNvPr id="18" name="图片 1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04252" y="168275"/>
            <a:ext cx="520700" cy="520700"/>
          </a:xfrm>
          <a:prstGeom prst="rect">
            <a:avLst/>
          </a:prstGeom>
        </p:spPr>
      </p:pic>
      <p:sp>
        <p:nvSpPr>
          <p:cNvPr id="25" name="文本框 24">
            <a:extLst>
              <a:ext uri="{FF2B5EF4-FFF2-40B4-BE49-F238E27FC236}">
                <a16:creationId xmlns:a16="http://schemas.microsoft.com/office/drawing/2014/main" id="{6A93ADA9-ABD0-4AD4-8C06-F187F5AB4611}"/>
              </a:ext>
            </a:extLst>
          </p:cNvPr>
          <p:cNvSpPr txBox="1"/>
          <p:nvPr/>
        </p:nvSpPr>
        <p:spPr>
          <a:xfrm>
            <a:off x="487680" y="105459"/>
            <a:ext cx="7575006" cy="646331"/>
          </a:xfrm>
          <a:prstGeom prst="rect">
            <a:avLst/>
          </a:prstGeom>
          <a:noFill/>
        </p:spPr>
        <p:txBody>
          <a:bodyPr wrap="square" rtlCol="0">
            <a:spAutoFit/>
          </a:bodyPr>
          <a:lstStyle/>
          <a:p>
            <a:r>
              <a:rPr lang="zh-CN" altLang="en-US" sz="3600" b="1" dirty="0"/>
              <a:t>三</a:t>
            </a:r>
            <a:r>
              <a:rPr lang="en-US" altLang="zh-CN" sz="3600" b="1" dirty="0"/>
              <a:t>.</a:t>
            </a:r>
            <a:r>
              <a:rPr lang="zh-CN" altLang="en-US" sz="3600" b="1" dirty="0"/>
              <a:t> 实验内容</a:t>
            </a:r>
            <a:r>
              <a:rPr lang="en-US" altLang="zh-CN" sz="3600" b="1" dirty="0"/>
              <a:t>——PSpice</a:t>
            </a:r>
            <a:r>
              <a:rPr lang="zh-CN" altLang="en-US" sz="3600" b="1" dirty="0"/>
              <a:t>仿真</a:t>
            </a:r>
          </a:p>
        </p:txBody>
      </p:sp>
      <p:sp>
        <p:nvSpPr>
          <p:cNvPr id="21" name="文本框 1">
            <a:extLst>
              <a:ext uri="{FF2B5EF4-FFF2-40B4-BE49-F238E27FC236}">
                <a16:creationId xmlns:a16="http://schemas.microsoft.com/office/drawing/2014/main" id="{47B732E0-3546-483A-9BE6-5F1D15088A90}"/>
              </a:ext>
            </a:extLst>
          </p:cNvPr>
          <p:cNvSpPr txBox="1"/>
          <p:nvPr/>
        </p:nvSpPr>
        <p:spPr>
          <a:xfrm>
            <a:off x="11291972" y="6320393"/>
            <a:ext cx="832980"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dirty="0"/>
              <a:t>17/23</a:t>
            </a:r>
            <a:endParaRPr lang="zh-CN" altLang="en-US" dirty="0"/>
          </a:p>
        </p:txBody>
      </p:sp>
      <p:cxnSp>
        <p:nvCxnSpPr>
          <p:cNvPr id="23" name="标题 1">
            <a:extLst>
              <a:ext uri="{FF2B5EF4-FFF2-40B4-BE49-F238E27FC236}">
                <a16:creationId xmlns:a16="http://schemas.microsoft.com/office/drawing/2014/main" id="{0238F6DA-D4FC-4BE9-BCA5-8C9FE2312D0F}"/>
              </a:ext>
            </a:extLst>
          </p:cNvPr>
          <p:cNvCxnSpPr/>
          <p:nvPr/>
        </p:nvCxnSpPr>
        <p:spPr>
          <a:xfrm>
            <a:off x="565150" y="958632"/>
            <a:ext cx="11049001" cy="0"/>
          </a:xfrm>
          <a:prstGeom prst="line">
            <a:avLst/>
          </a:prstGeom>
          <a:noFill/>
          <a:ln w="6350" cap="flat">
            <a:solidFill>
              <a:schemeClr val="accent1"/>
            </a:solidFill>
            <a:miter/>
          </a:ln>
        </p:spPr>
      </p:cxnSp>
      <p:sp>
        <p:nvSpPr>
          <p:cNvPr id="24" name="文本框 23">
            <a:extLst>
              <a:ext uri="{FF2B5EF4-FFF2-40B4-BE49-F238E27FC236}">
                <a16:creationId xmlns:a16="http://schemas.microsoft.com/office/drawing/2014/main" id="{B3650066-7D1E-4703-8D41-6EBB59A8CA96}"/>
              </a:ext>
            </a:extLst>
          </p:cNvPr>
          <p:cNvSpPr txBox="1"/>
          <p:nvPr/>
        </p:nvSpPr>
        <p:spPr>
          <a:xfrm>
            <a:off x="364291" y="1191560"/>
            <a:ext cx="11249860" cy="6164573"/>
          </a:xfrm>
          <a:prstGeom prst="rect">
            <a:avLst/>
          </a:prstGeom>
          <a:noFill/>
        </p:spPr>
        <p:txBody>
          <a:bodyPr wrap="square">
            <a:spAutoFit/>
          </a:bodyPr>
          <a:lstStyle/>
          <a:p>
            <a:pPr marL="0" marR="0" lvl="0" indent="266700" algn="l" defTabSz="914400" rtl="0" eaLnBrk="0" fontAlgn="base" latinLnBrk="0" hangingPunct="0">
              <a:lnSpc>
                <a:spcPct val="150000"/>
              </a:lnSpc>
              <a:spcBef>
                <a:spcPct val="0"/>
              </a:spcBef>
              <a:spcAft>
                <a:spcPct val="0"/>
              </a:spcAft>
              <a:buClrTx/>
              <a:buSzTx/>
              <a:buFontTx/>
              <a:buNone/>
            </a:pPr>
            <a:r>
              <a:rPr kumimoji="0" lang="zh-CN"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步骤5：设置分析类型。菜单栏选择PSpice→New Simulation Profile，打开New Simulation窗口，在Name栏输入名称，单击Create，弹出Candence Product Choices窗口，选择PSpice A/D，单击OK按钮弹出Simulation Settings窗口，在Analysis type下拉菜单中选择AC Sweep分析类型，设置Start Frequency：3GHz，End Frequency：3GHz，Points/Decade：1，单击“确定”按钮。</a:t>
            </a:r>
            <a:endParaRPr kumimoji="0" lang="zh-CN" altLang="zh-CN" sz="1600" b="0" i="0" u="none" strike="noStrike" cap="none" normalizeH="0" baseline="0" dirty="0">
              <a:ln>
                <a:noFill/>
              </a:ln>
              <a:solidFill>
                <a:schemeClr val="tx1"/>
              </a:solidFill>
              <a:effectLst/>
            </a:endParaRPr>
          </a:p>
          <a:p>
            <a:pPr marL="0" marR="0" lvl="0" indent="266700" algn="l" defTabSz="914400" rtl="0" eaLnBrk="0" fontAlgn="base" latinLnBrk="0" hangingPunct="0">
              <a:lnSpc>
                <a:spcPct val="150000"/>
              </a:lnSpc>
              <a:spcBef>
                <a:spcPct val="0"/>
              </a:spcBef>
              <a:spcAft>
                <a:spcPct val="0"/>
              </a:spcAft>
              <a:buClrTx/>
              <a:buSzTx/>
              <a:buFontTx/>
              <a:buNone/>
            </a:pPr>
            <a:r>
              <a:rPr kumimoji="0" lang="zh-CN"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同时在Options框中，勾选Parametric Sweep复选框，在Sweep variable框中，勾选Global parameter单选框，并输入扫描参量Parameter name为VAL。在Sweep type框中，设置 Start value：0；End Value:1；Increment：0.025，单击“确定”按钮。</a:t>
            </a:r>
            <a:endPar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indent="266700" algn="just">
              <a:lnSpc>
                <a:spcPct val="150000"/>
              </a:lnSpc>
            </a:pPr>
            <a:r>
              <a:rPr lang="x-none" altLang="zh-CN" sz="1800" kern="100" dirty="0">
                <a:effectLst/>
                <a:latin typeface="宋体" panose="02010600030101010101" pitchFamily="2" charset="-122"/>
                <a:ea typeface="宋体" panose="02010600030101010101" pitchFamily="2" charset="-122"/>
              </a:rPr>
              <a:t>（</a:t>
            </a:r>
            <a:r>
              <a:rPr lang="x-none" altLang="zh-CN" sz="1800" kern="100" dirty="0">
                <a:effectLst/>
                <a:latin typeface="Times New Roman" panose="02020603050405020304" pitchFamily="18" charset="0"/>
                <a:ea typeface="宋体" panose="02010600030101010101" pitchFamily="2" charset="-122"/>
              </a:rPr>
              <a:t>3</a:t>
            </a:r>
            <a:r>
              <a:rPr lang="x-none" altLang="zh-CN" sz="1800" kern="100" dirty="0">
                <a:effectLst/>
                <a:latin typeface="宋体" panose="02010600030101010101" pitchFamily="2" charset="-122"/>
                <a:ea typeface="宋体" panose="02010600030101010101" pitchFamily="2" charset="-122"/>
              </a:rPr>
              <a:t>）仿真计算</a:t>
            </a:r>
            <a:endParaRPr lang="zh-CN" altLang="zh-CN" sz="1800" kern="100" dirty="0">
              <a:effectLst/>
              <a:latin typeface="Times New Roman" panose="02020603050405020304" pitchFamily="18" charset="0"/>
              <a:ea typeface="宋体" panose="02010600030101010101" pitchFamily="2" charset="-122"/>
            </a:endParaRPr>
          </a:p>
          <a:p>
            <a:pPr indent="266700" algn="just">
              <a:lnSpc>
                <a:spcPct val="150000"/>
              </a:lnSpc>
            </a:pPr>
            <a:r>
              <a:rPr lang="x-none" altLang="zh-CN" sz="1800" kern="100" dirty="0">
                <a:effectLst/>
                <a:latin typeface="宋体" panose="02010600030101010101" pitchFamily="2" charset="-122"/>
                <a:ea typeface="宋体" panose="02010600030101010101" pitchFamily="2" charset="-122"/>
              </a:rPr>
              <a:t>步骤</a:t>
            </a:r>
            <a:r>
              <a:rPr lang="x-none" altLang="zh-CN" sz="1800" kern="100" dirty="0">
                <a:effectLst/>
                <a:latin typeface="Times New Roman" panose="02020603050405020304" pitchFamily="18" charset="0"/>
                <a:ea typeface="宋体" panose="02010600030101010101" pitchFamily="2" charset="-122"/>
              </a:rPr>
              <a:t>1</a:t>
            </a:r>
            <a:r>
              <a:rPr lang="x-none" altLang="zh-CN" sz="1800" kern="100" dirty="0">
                <a:effectLst/>
                <a:latin typeface="宋体" panose="02010600030101010101" pitchFamily="2" charset="-122"/>
                <a:ea typeface="宋体" panose="02010600030101010101" pitchFamily="2" charset="-122"/>
              </a:rPr>
              <a:t>：在主窗口菜单栏选择</a:t>
            </a:r>
            <a:r>
              <a:rPr lang="x-none" altLang="zh-CN" sz="1800" kern="100" dirty="0">
                <a:effectLst/>
                <a:latin typeface="Times New Roman" panose="02020603050405020304" pitchFamily="18" charset="0"/>
                <a:ea typeface="宋体" panose="02010600030101010101" pitchFamily="2" charset="-122"/>
              </a:rPr>
              <a:t>PSpice →Run</a:t>
            </a:r>
            <a:r>
              <a:rPr lang="x-none" altLang="zh-CN" sz="1800" kern="100" dirty="0">
                <a:effectLst/>
                <a:latin typeface="宋体" panose="02010600030101010101" pitchFamily="2" charset="-122"/>
                <a:ea typeface="宋体" panose="02010600030101010101" pitchFamily="2" charset="-122"/>
              </a:rPr>
              <a:t>启动仿真计算。</a:t>
            </a:r>
            <a:endParaRPr lang="en-US" altLang="zh-CN" sz="1800" kern="100" dirty="0">
              <a:effectLst/>
              <a:latin typeface="宋体" panose="02010600030101010101" pitchFamily="2" charset="-122"/>
              <a:ea typeface="宋体" panose="02010600030101010101" pitchFamily="2" charset="-122"/>
            </a:endParaRPr>
          </a:p>
          <a:p>
            <a:pPr indent="266700" algn="just">
              <a:lnSpc>
                <a:spcPct val="150000"/>
              </a:lnSpc>
            </a:pPr>
            <a:r>
              <a:rPr lang="x-none" altLang="zh-CN" sz="1800" kern="100" dirty="0">
                <a:effectLst/>
                <a:latin typeface="宋体" panose="02010600030101010101" pitchFamily="2" charset="-122"/>
                <a:ea typeface="宋体" panose="02010600030101010101" pitchFamily="2" charset="-122"/>
              </a:rPr>
              <a:t>（</a:t>
            </a:r>
            <a:r>
              <a:rPr lang="x-none" altLang="zh-CN" sz="1800" kern="100" dirty="0">
                <a:effectLst/>
                <a:latin typeface="Times New Roman" panose="02020603050405020304" pitchFamily="18" charset="0"/>
                <a:ea typeface="宋体" panose="02010600030101010101" pitchFamily="2" charset="-122"/>
              </a:rPr>
              <a:t>4</a:t>
            </a:r>
            <a:r>
              <a:rPr lang="x-none" altLang="zh-CN" sz="1800" kern="100" dirty="0">
                <a:effectLst/>
                <a:latin typeface="宋体" panose="02010600030101010101" pitchFamily="2" charset="-122"/>
                <a:ea typeface="宋体" panose="02010600030101010101" pitchFamily="2" charset="-122"/>
              </a:rPr>
              <a:t>）查看结果</a:t>
            </a:r>
            <a:endParaRPr lang="zh-CN" altLang="zh-CN" sz="1800" kern="100" dirty="0">
              <a:effectLst/>
              <a:latin typeface="Times New Roman" panose="02020603050405020304" pitchFamily="18" charset="0"/>
              <a:ea typeface="宋体" panose="02010600030101010101" pitchFamily="2" charset="-122"/>
            </a:endParaRPr>
          </a:p>
          <a:p>
            <a:pPr>
              <a:lnSpc>
                <a:spcPct val="150000"/>
              </a:lnSpc>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步骤</a:t>
            </a:r>
            <a:r>
              <a:rPr lang="en-US" altLang="zh-CN" sz="1800" kern="100" dirty="0">
                <a:effectLst/>
                <a:latin typeface="Times New Roman" panose="02020603050405020304" pitchFamily="18" charset="0"/>
                <a:ea typeface="宋体" panose="02010600030101010101" pitchFamily="2" charset="-122"/>
              </a:rPr>
              <a:t>1</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：运行完成后，自动弹出后处理窗口，在菜单栏选择</a:t>
            </a:r>
            <a:r>
              <a:rPr lang="en-US" altLang="zh-CN" sz="1800" kern="100" dirty="0" err="1">
                <a:effectLst/>
                <a:latin typeface="Times New Roman" panose="02020603050405020304" pitchFamily="18" charset="0"/>
                <a:ea typeface="宋体" panose="02010600030101010101" pitchFamily="2" charset="-122"/>
              </a:rPr>
              <a:t>Trace→Add</a:t>
            </a:r>
            <a:r>
              <a:rPr lang="en-US" altLang="zh-CN" sz="1800" kern="100" dirty="0">
                <a:effectLst/>
                <a:latin typeface="Times New Roman" panose="02020603050405020304" pitchFamily="18" charset="0"/>
                <a:ea typeface="宋体" panose="02010600030101010101" pitchFamily="2" charset="-122"/>
              </a:rPr>
              <a:t> Trace</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，打开</a:t>
            </a:r>
            <a:r>
              <a:rPr lang="en-US" altLang="zh-CN" sz="1800" kern="100" dirty="0">
                <a:effectLst/>
                <a:latin typeface="Times New Roman" panose="02020603050405020304" pitchFamily="18" charset="0"/>
                <a:ea typeface="宋体" panose="02010600030101010101" pitchFamily="2" charset="-122"/>
              </a:rPr>
              <a:t>Add Traces</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窗口，在输出变量框中选择相应结点电压或电流，单击</a:t>
            </a:r>
            <a:r>
              <a:rPr lang="en-US" altLang="zh-CN" sz="1800" kern="100" dirty="0">
                <a:effectLst/>
                <a:latin typeface="Times New Roman" panose="02020603050405020304" pitchFamily="18" charset="0"/>
                <a:ea typeface="宋体" panose="02010600030101010101" pitchFamily="2" charset="-122"/>
              </a:rPr>
              <a:t>OK</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，查看仿真结果</a:t>
            </a:r>
            <a:r>
              <a:rPr lang="zh-CN" altLang="en-US" sz="1800" kern="100" dirty="0">
                <a:effectLst/>
                <a:latin typeface="宋体" panose="02010600030101010101" pitchFamily="2" charset="-122"/>
                <a:ea typeface="宋体" panose="02010600030101010101" pitchFamily="2" charset="-122"/>
                <a:cs typeface="Times New Roman" panose="02020603050405020304" pitchFamily="18" charset="0"/>
              </a:rPr>
              <a:t>。</a:t>
            </a:r>
            <a:endPar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endParaRPr>
          </a:p>
          <a:p>
            <a:endParaRPr lang="zh-CN" altLang="zh-CN" sz="1800" kern="100" dirty="0">
              <a:effectLst/>
              <a:latin typeface="Times New Roman" panose="02020603050405020304" pitchFamily="18" charset="0"/>
              <a:ea typeface="宋体" panose="02010600030101010101" pitchFamily="2" charset="-122"/>
            </a:endParaRPr>
          </a:p>
          <a:p>
            <a:pPr marL="0" marR="0" lvl="0" indent="266700" algn="l" defTabSz="914400" rtl="0" eaLnBrk="0" fontAlgn="base" latinLnBrk="0" hangingPunct="0">
              <a:lnSpc>
                <a:spcPct val="150000"/>
              </a:lnSpc>
              <a:spcBef>
                <a:spcPct val="0"/>
              </a:spcBef>
              <a:spcAft>
                <a:spcPct val="0"/>
              </a:spcAft>
              <a:buClrTx/>
              <a:buSzTx/>
              <a:buFontTx/>
              <a:buNone/>
            </a:pPr>
            <a:endParaRPr kumimoji="0" lang="zh-CN" altLang="zh-CN" sz="4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1666280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2" name="组合 71">
            <a:extLst>
              <a:ext uri="{FF2B5EF4-FFF2-40B4-BE49-F238E27FC236}">
                <a16:creationId xmlns:a16="http://schemas.microsoft.com/office/drawing/2014/main" id="{B755887D-06B2-49C8-A78A-151A32DBE229}"/>
              </a:ext>
            </a:extLst>
          </p:cNvPr>
          <p:cNvGrpSpPr/>
          <p:nvPr/>
        </p:nvGrpSpPr>
        <p:grpSpPr>
          <a:xfrm>
            <a:off x="6262928" y="266844"/>
            <a:ext cx="5233747" cy="330008"/>
            <a:chOff x="5025390" y="266844"/>
            <a:chExt cx="6259830" cy="330008"/>
          </a:xfrm>
        </p:grpSpPr>
        <p:cxnSp>
          <p:nvCxnSpPr>
            <p:cNvPr id="73" name="直接连接符 72">
              <a:extLst>
                <a:ext uri="{FF2B5EF4-FFF2-40B4-BE49-F238E27FC236}">
                  <a16:creationId xmlns:a16="http://schemas.microsoft.com/office/drawing/2014/main" id="{62FE7A77-FBEB-40AD-82EE-F6D56B4FBED0}"/>
                </a:ext>
              </a:extLst>
            </p:cNvPr>
            <p:cNvCxnSpPr>
              <a:cxnSpLocks/>
            </p:cNvCxnSpPr>
            <p:nvPr/>
          </p:nvCxnSpPr>
          <p:spPr>
            <a:xfrm flipH="1">
              <a:off x="5025390" y="596852"/>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4" name="直接连接符 73">
              <a:extLst>
                <a:ext uri="{FF2B5EF4-FFF2-40B4-BE49-F238E27FC236}">
                  <a16:creationId xmlns:a16="http://schemas.microsoft.com/office/drawing/2014/main" id="{BDD67602-65B0-4D01-8429-E64EE945B436}"/>
                </a:ext>
              </a:extLst>
            </p:cNvPr>
            <p:cNvCxnSpPr>
              <a:cxnSpLocks/>
            </p:cNvCxnSpPr>
            <p:nvPr/>
          </p:nvCxnSpPr>
          <p:spPr>
            <a:xfrm flipH="1">
              <a:off x="5025390" y="514350"/>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5" name="直接连接符 74">
              <a:extLst>
                <a:ext uri="{FF2B5EF4-FFF2-40B4-BE49-F238E27FC236}">
                  <a16:creationId xmlns:a16="http://schemas.microsoft.com/office/drawing/2014/main" id="{56902EF3-DC68-477E-B624-6F39F33A5062}"/>
                </a:ext>
              </a:extLst>
            </p:cNvPr>
            <p:cNvCxnSpPr>
              <a:cxnSpLocks/>
            </p:cNvCxnSpPr>
            <p:nvPr/>
          </p:nvCxnSpPr>
          <p:spPr>
            <a:xfrm flipH="1">
              <a:off x="5025390" y="431848"/>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6" name="直接连接符 75">
              <a:extLst>
                <a:ext uri="{FF2B5EF4-FFF2-40B4-BE49-F238E27FC236}">
                  <a16:creationId xmlns:a16="http://schemas.microsoft.com/office/drawing/2014/main" id="{E5575DC5-6C14-4E47-8549-F414278D7485}"/>
                </a:ext>
              </a:extLst>
            </p:cNvPr>
            <p:cNvCxnSpPr>
              <a:cxnSpLocks/>
            </p:cNvCxnSpPr>
            <p:nvPr/>
          </p:nvCxnSpPr>
          <p:spPr>
            <a:xfrm flipH="1">
              <a:off x="5025390" y="349346"/>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7" name="直接连接符 76">
              <a:extLst>
                <a:ext uri="{FF2B5EF4-FFF2-40B4-BE49-F238E27FC236}">
                  <a16:creationId xmlns:a16="http://schemas.microsoft.com/office/drawing/2014/main" id="{BEA35CD9-8F8F-4991-8A28-0D6749A159AF}"/>
                </a:ext>
              </a:extLst>
            </p:cNvPr>
            <p:cNvCxnSpPr>
              <a:cxnSpLocks/>
            </p:cNvCxnSpPr>
            <p:nvPr/>
          </p:nvCxnSpPr>
          <p:spPr>
            <a:xfrm flipH="1">
              <a:off x="5025390" y="266844"/>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grpSp>
        <p:nvGrpSpPr>
          <p:cNvPr id="78" name="组合 77">
            <a:extLst>
              <a:ext uri="{FF2B5EF4-FFF2-40B4-BE49-F238E27FC236}">
                <a16:creationId xmlns:a16="http://schemas.microsoft.com/office/drawing/2014/main" id="{B708D5A6-F729-4A3B-AFF5-DB02E26819D1}"/>
              </a:ext>
            </a:extLst>
          </p:cNvPr>
          <p:cNvGrpSpPr/>
          <p:nvPr/>
        </p:nvGrpSpPr>
        <p:grpSpPr>
          <a:xfrm>
            <a:off x="0" y="266844"/>
            <a:ext cx="487680" cy="330008"/>
            <a:chOff x="5025390" y="266844"/>
            <a:chExt cx="6259830" cy="330008"/>
          </a:xfrm>
        </p:grpSpPr>
        <p:cxnSp>
          <p:nvCxnSpPr>
            <p:cNvPr id="79" name="直接连接符 78">
              <a:extLst>
                <a:ext uri="{FF2B5EF4-FFF2-40B4-BE49-F238E27FC236}">
                  <a16:creationId xmlns:a16="http://schemas.microsoft.com/office/drawing/2014/main" id="{B16271FF-B014-4D0E-A8FC-14016AE63AC9}"/>
                </a:ext>
              </a:extLst>
            </p:cNvPr>
            <p:cNvCxnSpPr>
              <a:cxnSpLocks/>
            </p:cNvCxnSpPr>
            <p:nvPr/>
          </p:nvCxnSpPr>
          <p:spPr>
            <a:xfrm flipH="1">
              <a:off x="5025390" y="596852"/>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0" name="直接连接符 79">
              <a:extLst>
                <a:ext uri="{FF2B5EF4-FFF2-40B4-BE49-F238E27FC236}">
                  <a16:creationId xmlns:a16="http://schemas.microsoft.com/office/drawing/2014/main" id="{54662351-B9F7-41B8-8DFD-B434997C52AF}"/>
                </a:ext>
              </a:extLst>
            </p:cNvPr>
            <p:cNvCxnSpPr>
              <a:cxnSpLocks/>
            </p:cNvCxnSpPr>
            <p:nvPr/>
          </p:nvCxnSpPr>
          <p:spPr>
            <a:xfrm flipH="1">
              <a:off x="5025390" y="514350"/>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1" name="直接连接符 80">
              <a:extLst>
                <a:ext uri="{FF2B5EF4-FFF2-40B4-BE49-F238E27FC236}">
                  <a16:creationId xmlns:a16="http://schemas.microsoft.com/office/drawing/2014/main" id="{18BB5DB3-4909-47FC-BDD8-8679FC8F7B9D}"/>
                </a:ext>
              </a:extLst>
            </p:cNvPr>
            <p:cNvCxnSpPr>
              <a:cxnSpLocks/>
            </p:cNvCxnSpPr>
            <p:nvPr/>
          </p:nvCxnSpPr>
          <p:spPr>
            <a:xfrm flipH="1">
              <a:off x="5025390" y="431848"/>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2" name="直接连接符 81">
              <a:extLst>
                <a:ext uri="{FF2B5EF4-FFF2-40B4-BE49-F238E27FC236}">
                  <a16:creationId xmlns:a16="http://schemas.microsoft.com/office/drawing/2014/main" id="{7C6A262B-8F87-4AA5-BD4A-55DE84149A06}"/>
                </a:ext>
              </a:extLst>
            </p:cNvPr>
            <p:cNvCxnSpPr>
              <a:cxnSpLocks/>
            </p:cNvCxnSpPr>
            <p:nvPr/>
          </p:nvCxnSpPr>
          <p:spPr>
            <a:xfrm flipH="1">
              <a:off x="5025390" y="349346"/>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3" name="直接连接符 82">
              <a:extLst>
                <a:ext uri="{FF2B5EF4-FFF2-40B4-BE49-F238E27FC236}">
                  <a16:creationId xmlns:a16="http://schemas.microsoft.com/office/drawing/2014/main" id="{8F8A0811-38B1-462B-8E81-76FB9965A173}"/>
                </a:ext>
              </a:extLst>
            </p:cNvPr>
            <p:cNvCxnSpPr>
              <a:cxnSpLocks/>
            </p:cNvCxnSpPr>
            <p:nvPr/>
          </p:nvCxnSpPr>
          <p:spPr>
            <a:xfrm flipH="1">
              <a:off x="5025390" y="266844"/>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pic>
        <p:nvPicPr>
          <p:cNvPr id="18" name="图片 1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04252" y="168275"/>
            <a:ext cx="520700" cy="520700"/>
          </a:xfrm>
          <a:prstGeom prst="rect">
            <a:avLst/>
          </a:prstGeom>
        </p:spPr>
      </p:pic>
      <p:sp>
        <p:nvSpPr>
          <p:cNvPr id="25" name="文本框 24">
            <a:extLst>
              <a:ext uri="{FF2B5EF4-FFF2-40B4-BE49-F238E27FC236}">
                <a16:creationId xmlns:a16="http://schemas.microsoft.com/office/drawing/2014/main" id="{6A93ADA9-ABD0-4AD4-8C06-F187F5AB4611}"/>
              </a:ext>
            </a:extLst>
          </p:cNvPr>
          <p:cNvSpPr txBox="1"/>
          <p:nvPr/>
        </p:nvSpPr>
        <p:spPr>
          <a:xfrm>
            <a:off x="487680" y="105459"/>
            <a:ext cx="7575006" cy="646331"/>
          </a:xfrm>
          <a:prstGeom prst="rect">
            <a:avLst/>
          </a:prstGeom>
          <a:noFill/>
        </p:spPr>
        <p:txBody>
          <a:bodyPr wrap="square" rtlCol="0">
            <a:spAutoFit/>
          </a:bodyPr>
          <a:lstStyle/>
          <a:p>
            <a:r>
              <a:rPr lang="zh-CN" altLang="en-US" sz="3600" b="1" dirty="0"/>
              <a:t>三</a:t>
            </a:r>
            <a:r>
              <a:rPr lang="en-US" altLang="zh-CN" sz="3600" b="1" dirty="0"/>
              <a:t>.</a:t>
            </a:r>
            <a:r>
              <a:rPr lang="zh-CN" altLang="en-US" sz="3600" b="1" dirty="0"/>
              <a:t> 实验内容</a:t>
            </a:r>
            <a:r>
              <a:rPr lang="en-US" altLang="zh-CN" sz="3600" b="1" dirty="0"/>
              <a:t>——PSpice</a:t>
            </a:r>
            <a:r>
              <a:rPr lang="zh-CN" altLang="en-US" sz="3600" b="1" dirty="0"/>
              <a:t>仿真</a:t>
            </a:r>
          </a:p>
        </p:txBody>
      </p:sp>
      <p:sp>
        <p:nvSpPr>
          <p:cNvPr id="21" name="文本框 1">
            <a:extLst>
              <a:ext uri="{FF2B5EF4-FFF2-40B4-BE49-F238E27FC236}">
                <a16:creationId xmlns:a16="http://schemas.microsoft.com/office/drawing/2014/main" id="{47B732E0-3546-483A-9BE6-5F1D15088A90}"/>
              </a:ext>
            </a:extLst>
          </p:cNvPr>
          <p:cNvSpPr txBox="1"/>
          <p:nvPr/>
        </p:nvSpPr>
        <p:spPr>
          <a:xfrm>
            <a:off x="11291972" y="6320393"/>
            <a:ext cx="832980"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dirty="0"/>
              <a:t>18/23</a:t>
            </a:r>
            <a:endParaRPr lang="zh-CN" altLang="en-US" dirty="0"/>
          </a:p>
        </p:txBody>
      </p:sp>
      <p:cxnSp>
        <p:nvCxnSpPr>
          <p:cNvPr id="23" name="标题 1">
            <a:extLst>
              <a:ext uri="{FF2B5EF4-FFF2-40B4-BE49-F238E27FC236}">
                <a16:creationId xmlns:a16="http://schemas.microsoft.com/office/drawing/2014/main" id="{0238F6DA-D4FC-4BE9-BCA5-8C9FE2312D0F}"/>
              </a:ext>
            </a:extLst>
          </p:cNvPr>
          <p:cNvCxnSpPr/>
          <p:nvPr/>
        </p:nvCxnSpPr>
        <p:spPr>
          <a:xfrm>
            <a:off x="565150" y="958632"/>
            <a:ext cx="11049001" cy="0"/>
          </a:xfrm>
          <a:prstGeom prst="line">
            <a:avLst/>
          </a:prstGeom>
          <a:noFill/>
          <a:ln w="6350" cap="flat">
            <a:solidFill>
              <a:schemeClr val="accent1"/>
            </a:solidFill>
            <a:miter/>
          </a:ln>
        </p:spPr>
      </p:cxnSp>
      <p:pic>
        <p:nvPicPr>
          <p:cNvPr id="19" name="图片 18">
            <a:extLst>
              <a:ext uri="{FF2B5EF4-FFF2-40B4-BE49-F238E27FC236}">
                <a16:creationId xmlns:a16="http://schemas.microsoft.com/office/drawing/2014/main" id="{B996DBB7-C41E-416A-BDB7-B3F0BB74E96B}"/>
              </a:ext>
            </a:extLst>
          </p:cNvPr>
          <p:cNvPicPr>
            <a:picLocks noChangeAspect="1"/>
          </p:cNvPicPr>
          <p:nvPr/>
        </p:nvPicPr>
        <p:blipFill>
          <a:blip r:embed="rId4"/>
          <a:stretch>
            <a:fillRect/>
          </a:stretch>
        </p:blipFill>
        <p:spPr>
          <a:xfrm>
            <a:off x="116205" y="1366520"/>
            <a:ext cx="5800725" cy="4886325"/>
          </a:xfrm>
          <a:prstGeom prst="rect">
            <a:avLst/>
          </a:prstGeom>
        </p:spPr>
      </p:pic>
      <p:pic>
        <p:nvPicPr>
          <p:cNvPr id="20" name="图片 19">
            <a:extLst>
              <a:ext uri="{FF2B5EF4-FFF2-40B4-BE49-F238E27FC236}">
                <a16:creationId xmlns:a16="http://schemas.microsoft.com/office/drawing/2014/main" id="{A3FE792C-4153-4D2F-A7AE-E203265A81EE}"/>
              </a:ext>
            </a:extLst>
          </p:cNvPr>
          <p:cNvPicPr>
            <a:picLocks noChangeAspect="1"/>
          </p:cNvPicPr>
          <p:nvPr/>
        </p:nvPicPr>
        <p:blipFill>
          <a:blip r:embed="rId5"/>
          <a:stretch>
            <a:fillRect/>
          </a:stretch>
        </p:blipFill>
        <p:spPr>
          <a:xfrm>
            <a:off x="6167120" y="1366520"/>
            <a:ext cx="5800725" cy="4886325"/>
          </a:xfrm>
          <a:prstGeom prst="rect">
            <a:avLst/>
          </a:prstGeom>
        </p:spPr>
      </p:pic>
    </p:spTree>
    <p:extLst>
      <p:ext uri="{BB962C8B-B14F-4D97-AF65-F5344CB8AC3E}">
        <p14:creationId xmlns:p14="http://schemas.microsoft.com/office/powerpoint/2010/main" val="11671434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2" name="组合 71">
            <a:extLst>
              <a:ext uri="{FF2B5EF4-FFF2-40B4-BE49-F238E27FC236}">
                <a16:creationId xmlns:a16="http://schemas.microsoft.com/office/drawing/2014/main" id="{B755887D-06B2-49C8-A78A-151A32DBE229}"/>
              </a:ext>
            </a:extLst>
          </p:cNvPr>
          <p:cNvGrpSpPr/>
          <p:nvPr/>
        </p:nvGrpSpPr>
        <p:grpSpPr>
          <a:xfrm>
            <a:off x="6262928" y="266844"/>
            <a:ext cx="5233747" cy="330008"/>
            <a:chOff x="5025390" y="266844"/>
            <a:chExt cx="6259830" cy="330008"/>
          </a:xfrm>
        </p:grpSpPr>
        <p:cxnSp>
          <p:nvCxnSpPr>
            <p:cNvPr id="73" name="直接连接符 72">
              <a:extLst>
                <a:ext uri="{FF2B5EF4-FFF2-40B4-BE49-F238E27FC236}">
                  <a16:creationId xmlns:a16="http://schemas.microsoft.com/office/drawing/2014/main" id="{62FE7A77-FBEB-40AD-82EE-F6D56B4FBED0}"/>
                </a:ext>
              </a:extLst>
            </p:cNvPr>
            <p:cNvCxnSpPr>
              <a:cxnSpLocks/>
            </p:cNvCxnSpPr>
            <p:nvPr/>
          </p:nvCxnSpPr>
          <p:spPr>
            <a:xfrm flipH="1">
              <a:off x="5025390" y="596852"/>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4" name="直接连接符 73">
              <a:extLst>
                <a:ext uri="{FF2B5EF4-FFF2-40B4-BE49-F238E27FC236}">
                  <a16:creationId xmlns:a16="http://schemas.microsoft.com/office/drawing/2014/main" id="{BDD67602-65B0-4D01-8429-E64EE945B436}"/>
                </a:ext>
              </a:extLst>
            </p:cNvPr>
            <p:cNvCxnSpPr>
              <a:cxnSpLocks/>
            </p:cNvCxnSpPr>
            <p:nvPr/>
          </p:nvCxnSpPr>
          <p:spPr>
            <a:xfrm flipH="1">
              <a:off x="5025390" y="514350"/>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5" name="直接连接符 74">
              <a:extLst>
                <a:ext uri="{FF2B5EF4-FFF2-40B4-BE49-F238E27FC236}">
                  <a16:creationId xmlns:a16="http://schemas.microsoft.com/office/drawing/2014/main" id="{56902EF3-DC68-477E-B624-6F39F33A5062}"/>
                </a:ext>
              </a:extLst>
            </p:cNvPr>
            <p:cNvCxnSpPr>
              <a:cxnSpLocks/>
            </p:cNvCxnSpPr>
            <p:nvPr/>
          </p:nvCxnSpPr>
          <p:spPr>
            <a:xfrm flipH="1">
              <a:off x="5025390" y="431848"/>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6" name="直接连接符 75">
              <a:extLst>
                <a:ext uri="{FF2B5EF4-FFF2-40B4-BE49-F238E27FC236}">
                  <a16:creationId xmlns:a16="http://schemas.microsoft.com/office/drawing/2014/main" id="{E5575DC5-6C14-4E47-8549-F414278D7485}"/>
                </a:ext>
              </a:extLst>
            </p:cNvPr>
            <p:cNvCxnSpPr>
              <a:cxnSpLocks/>
            </p:cNvCxnSpPr>
            <p:nvPr/>
          </p:nvCxnSpPr>
          <p:spPr>
            <a:xfrm flipH="1">
              <a:off x="5025390" y="349346"/>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7" name="直接连接符 76">
              <a:extLst>
                <a:ext uri="{FF2B5EF4-FFF2-40B4-BE49-F238E27FC236}">
                  <a16:creationId xmlns:a16="http://schemas.microsoft.com/office/drawing/2014/main" id="{BEA35CD9-8F8F-4991-8A28-0D6749A159AF}"/>
                </a:ext>
              </a:extLst>
            </p:cNvPr>
            <p:cNvCxnSpPr>
              <a:cxnSpLocks/>
            </p:cNvCxnSpPr>
            <p:nvPr/>
          </p:nvCxnSpPr>
          <p:spPr>
            <a:xfrm flipH="1">
              <a:off x="5025390" y="266844"/>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grpSp>
        <p:nvGrpSpPr>
          <p:cNvPr id="78" name="组合 77">
            <a:extLst>
              <a:ext uri="{FF2B5EF4-FFF2-40B4-BE49-F238E27FC236}">
                <a16:creationId xmlns:a16="http://schemas.microsoft.com/office/drawing/2014/main" id="{B708D5A6-F729-4A3B-AFF5-DB02E26819D1}"/>
              </a:ext>
            </a:extLst>
          </p:cNvPr>
          <p:cNvGrpSpPr/>
          <p:nvPr/>
        </p:nvGrpSpPr>
        <p:grpSpPr>
          <a:xfrm>
            <a:off x="0" y="266844"/>
            <a:ext cx="487680" cy="330008"/>
            <a:chOff x="5025390" y="266844"/>
            <a:chExt cx="6259830" cy="330008"/>
          </a:xfrm>
        </p:grpSpPr>
        <p:cxnSp>
          <p:nvCxnSpPr>
            <p:cNvPr id="79" name="直接连接符 78">
              <a:extLst>
                <a:ext uri="{FF2B5EF4-FFF2-40B4-BE49-F238E27FC236}">
                  <a16:creationId xmlns:a16="http://schemas.microsoft.com/office/drawing/2014/main" id="{B16271FF-B014-4D0E-A8FC-14016AE63AC9}"/>
                </a:ext>
              </a:extLst>
            </p:cNvPr>
            <p:cNvCxnSpPr>
              <a:cxnSpLocks/>
            </p:cNvCxnSpPr>
            <p:nvPr/>
          </p:nvCxnSpPr>
          <p:spPr>
            <a:xfrm flipH="1">
              <a:off x="5025390" y="596852"/>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0" name="直接连接符 79">
              <a:extLst>
                <a:ext uri="{FF2B5EF4-FFF2-40B4-BE49-F238E27FC236}">
                  <a16:creationId xmlns:a16="http://schemas.microsoft.com/office/drawing/2014/main" id="{54662351-B9F7-41B8-8DFD-B434997C52AF}"/>
                </a:ext>
              </a:extLst>
            </p:cNvPr>
            <p:cNvCxnSpPr>
              <a:cxnSpLocks/>
            </p:cNvCxnSpPr>
            <p:nvPr/>
          </p:nvCxnSpPr>
          <p:spPr>
            <a:xfrm flipH="1">
              <a:off x="5025390" y="514350"/>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1" name="直接连接符 80">
              <a:extLst>
                <a:ext uri="{FF2B5EF4-FFF2-40B4-BE49-F238E27FC236}">
                  <a16:creationId xmlns:a16="http://schemas.microsoft.com/office/drawing/2014/main" id="{18BB5DB3-4909-47FC-BDD8-8679FC8F7B9D}"/>
                </a:ext>
              </a:extLst>
            </p:cNvPr>
            <p:cNvCxnSpPr>
              <a:cxnSpLocks/>
            </p:cNvCxnSpPr>
            <p:nvPr/>
          </p:nvCxnSpPr>
          <p:spPr>
            <a:xfrm flipH="1">
              <a:off x="5025390" y="431848"/>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2" name="直接连接符 81">
              <a:extLst>
                <a:ext uri="{FF2B5EF4-FFF2-40B4-BE49-F238E27FC236}">
                  <a16:creationId xmlns:a16="http://schemas.microsoft.com/office/drawing/2014/main" id="{7C6A262B-8F87-4AA5-BD4A-55DE84149A06}"/>
                </a:ext>
              </a:extLst>
            </p:cNvPr>
            <p:cNvCxnSpPr>
              <a:cxnSpLocks/>
            </p:cNvCxnSpPr>
            <p:nvPr/>
          </p:nvCxnSpPr>
          <p:spPr>
            <a:xfrm flipH="1">
              <a:off x="5025390" y="349346"/>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3" name="直接连接符 82">
              <a:extLst>
                <a:ext uri="{FF2B5EF4-FFF2-40B4-BE49-F238E27FC236}">
                  <a16:creationId xmlns:a16="http://schemas.microsoft.com/office/drawing/2014/main" id="{8F8A0811-38B1-462B-8E81-76FB9965A173}"/>
                </a:ext>
              </a:extLst>
            </p:cNvPr>
            <p:cNvCxnSpPr>
              <a:cxnSpLocks/>
            </p:cNvCxnSpPr>
            <p:nvPr/>
          </p:nvCxnSpPr>
          <p:spPr>
            <a:xfrm flipH="1">
              <a:off x="5025390" y="266844"/>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pic>
        <p:nvPicPr>
          <p:cNvPr id="18" name="图片 1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604252" y="168275"/>
            <a:ext cx="520700" cy="520700"/>
          </a:xfrm>
          <a:prstGeom prst="rect">
            <a:avLst/>
          </a:prstGeom>
        </p:spPr>
      </p:pic>
      <p:sp>
        <p:nvSpPr>
          <p:cNvPr id="25" name="文本框 24">
            <a:extLst>
              <a:ext uri="{FF2B5EF4-FFF2-40B4-BE49-F238E27FC236}">
                <a16:creationId xmlns:a16="http://schemas.microsoft.com/office/drawing/2014/main" id="{6A93ADA9-ABD0-4AD4-8C06-F187F5AB4611}"/>
              </a:ext>
            </a:extLst>
          </p:cNvPr>
          <p:cNvSpPr txBox="1"/>
          <p:nvPr/>
        </p:nvSpPr>
        <p:spPr>
          <a:xfrm>
            <a:off x="487680" y="105459"/>
            <a:ext cx="7575006" cy="646331"/>
          </a:xfrm>
          <a:prstGeom prst="rect">
            <a:avLst/>
          </a:prstGeom>
          <a:noFill/>
        </p:spPr>
        <p:txBody>
          <a:bodyPr wrap="square" rtlCol="0">
            <a:spAutoFit/>
          </a:bodyPr>
          <a:lstStyle/>
          <a:p>
            <a:r>
              <a:rPr lang="zh-CN" altLang="en-US" sz="3600" b="1" dirty="0"/>
              <a:t>三</a:t>
            </a:r>
            <a:r>
              <a:rPr lang="en-US" altLang="zh-CN" sz="3600" b="1" dirty="0"/>
              <a:t>.</a:t>
            </a:r>
            <a:r>
              <a:rPr lang="zh-CN" altLang="en-US" sz="3600" b="1" dirty="0"/>
              <a:t> 实验内容</a:t>
            </a:r>
            <a:r>
              <a:rPr lang="en-US" altLang="zh-CN" sz="3600" b="1" dirty="0"/>
              <a:t>——PSpice</a:t>
            </a:r>
            <a:r>
              <a:rPr lang="zh-CN" altLang="en-US" sz="3600" b="1" dirty="0"/>
              <a:t>仿真</a:t>
            </a:r>
          </a:p>
        </p:txBody>
      </p:sp>
      <p:sp>
        <p:nvSpPr>
          <p:cNvPr id="21" name="文本框 1">
            <a:extLst>
              <a:ext uri="{FF2B5EF4-FFF2-40B4-BE49-F238E27FC236}">
                <a16:creationId xmlns:a16="http://schemas.microsoft.com/office/drawing/2014/main" id="{47B732E0-3546-483A-9BE6-5F1D15088A90}"/>
              </a:ext>
            </a:extLst>
          </p:cNvPr>
          <p:cNvSpPr txBox="1"/>
          <p:nvPr/>
        </p:nvSpPr>
        <p:spPr>
          <a:xfrm>
            <a:off x="11291972" y="6320393"/>
            <a:ext cx="832980"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dirty="0"/>
              <a:t>19/23</a:t>
            </a:r>
            <a:endParaRPr lang="zh-CN" altLang="en-US" dirty="0"/>
          </a:p>
        </p:txBody>
      </p:sp>
      <p:cxnSp>
        <p:nvCxnSpPr>
          <p:cNvPr id="23" name="标题 1">
            <a:extLst>
              <a:ext uri="{FF2B5EF4-FFF2-40B4-BE49-F238E27FC236}">
                <a16:creationId xmlns:a16="http://schemas.microsoft.com/office/drawing/2014/main" id="{0238F6DA-D4FC-4BE9-BCA5-8C9FE2312D0F}"/>
              </a:ext>
            </a:extLst>
          </p:cNvPr>
          <p:cNvCxnSpPr/>
          <p:nvPr/>
        </p:nvCxnSpPr>
        <p:spPr>
          <a:xfrm>
            <a:off x="565150" y="958632"/>
            <a:ext cx="11049001" cy="0"/>
          </a:xfrm>
          <a:prstGeom prst="line">
            <a:avLst/>
          </a:prstGeom>
          <a:noFill/>
          <a:ln w="6350" cap="flat">
            <a:solidFill>
              <a:schemeClr val="accent1"/>
            </a:solidFill>
            <a:miter/>
          </a:ln>
        </p:spPr>
      </p:cxnSp>
      <p:sp>
        <p:nvSpPr>
          <p:cNvPr id="19" name="文本框 18">
            <a:extLst>
              <a:ext uri="{FF2B5EF4-FFF2-40B4-BE49-F238E27FC236}">
                <a16:creationId xmlns:a16="http://schemas.microsoft.com/office/drawing/2014/main" id="{5EECE462-222C-4D14-BB0E-94E37B62AAE8}"/>
              </a:ext>
            </a:extLst>
          </p:cNvPr>
          <p:cNvSpPr txBox="1"/>
          <p:nvPr/>
        </p:nvSpPr>
        <p:spPr>
          <a:xfrm>
            <a:off x="665459" y="1344364"/>
            <a:ext cx="9956800" cy="2122953"/>
          </a:xfrm>
          <a:prstGeom prst="rect">
            <a:avLst/>
          </a:prstGeom>
          <a:noFill/>
        </p:spPr>
        <p:txBody>
          <a:bodyPr wrap="square" rtlCol="0">
            <a:spAutoFit/>
          </a:bodyPr>
          <a:lstStyle/>
          <a:p>
            <a:pPr>
              <a:lnSpc>
                <a:spcPct val="150000"/>
              </a:lnSpc>
            </a:pPr>
            <a:r>
              <a:rPr lang="zh-CN" altLang="en-US" dirty="0"/>
              <a:t>（</a:t>
            </a:r>
            <a:r>
              <a:rPr lang="en-US" altLang="zh-CN" dirty="0"/>
              <a:t>1</a:t>
            </a:r>
            <a:r>
              <a:rPr lang="zh-CN" altLang="en-US" dirty="0"/>
              <a:t>）</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开路状态下，从结点</a:t>
            </a:r>
            <a:r>
              <a:rPr lang="en-US" altLang="zh-CN" sz="1800" kern="100" dirty="0">
                <a:effectLst/>
                <a:latin typeface="Times New Roman" panose="02020603050405020304" pitchFamily="18" charset="0"/>
                <a:ea typeface="宋体" panose="02010600030101010101" pitchFamily="2" charset="-122"/>
              </a:rPr>
              <a:t>1</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观察沿线电压及电流波形，并确定驻波比和反射系数</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nSpc>
                <a:spcPct val="150000"/>
              </a:lnSpc>
            </a:pP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2</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短路状态下，从结点</a:t>
            </a:r>
            <a:r>
              <a:rPr lang="en-US" altLang="zh-CN" sz="1800" kern="100" dirty="0">
                <a:effectLst/>
                <a:latin typeface="Times New Roman" panose="02020603050405020304" pitchFamily="18" charset="0"/>
                <a:ea typeface="宋体" panose="02010600030101010101" pitchFamily="2" charset="-122"/>
              </a:rPr>
              <a:t>1</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观察沿线电压及电流波形，并确定驻波比和反射系数</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p>
          <a:p>
            <a:pPr>
              <a:lnSpc>
                <a:spcPct val="150000"/>
              </a:lnSpc>
            </a:pPr>
            <a:r>
              <a:rPr lang="zh-CN" altLang="en-US" kern="1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kern="100" dirty="0">
                <a:latin typeface="Times New Roman" panose="02020603050405020304" pitchFamily="18" charset="0"/>
                <a:ea typeface="宋体" panose="02010600030101010101" pitchFamily="2" charset="-122"/>
                <a:cs typeface="Times New Roman" panose="02020603050405020304" pitchFamily="18" charset="0"/>
              </a:rPr>
              <a:t>3</a:t>
            </a:r>
            <a:r>
              <a:rPr lang="zh-CN" altLang="en-US" kern="100" dirty="0">
                <a:latin typeface="Times New Roman" panose="02020603050405020304" pitchFamily="18" charset="0"/>
                <a:ea typeface="宋体" panose="02010600030101010101" pitchFamily="2" charset="-122"/>
                <a:cs typeface="Times New Roman" panose="02020603050405020304" pitchFamily="18" charset="0"/>
              </a:rPr>
              <a:t>）终端接</a:t>
            </a:r>
            <a:r>
              <a:rPr lang="en-US" altLang="zh-CN" kern="100" dirty="0">
                <a:latin typeface="Times New Roman" panose="02020603050405020304" pitchFamily="18" charset="0"/>
                <a:ea typeface="宋体" panose="02010600030101010101" pitchFamily="2" charset="-122"/>
                <a:cs typeface="Times New Roman" panose="02020603050405020304" pitchFamily="18" charset="0"/>
              </a:rPr>
              <a:t>50Ω</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匹配电阻时，从结点</a:t>
            </a:r>
            <a:r>
              <a:rPr lang="en-US" altLang="zh-CN" sz="1800" kern="100" dirty="0">
                <a:effectLst/>
                <a:latin typeface="Times New Roman" panose="02020603050405020304" pitchFamily="18" charset="0"/>
                <a:ea typeface="宋体" panose="02010600030101010101" pitchFamily="2" charset="-122"/>
              </a:rPr>
              <a:t>1</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观察沿线电压及电流波形，并确定驻波比和反射系数。</a:t>
            </a:r>
            <a:endPar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nSpc>
                <a:spcPct val="150000"/>
              </a:lnSpc>
            </a:pPr>
            <a:r>
              <a:rPr lang="zh-CN" altLang="en-US" kern="1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kern="100" dirty="0">
                <a:latin typeface="Times New Roman" panose="02020603050405020304" pitchFamily="18" charset="0"/>
                <a:ea typeface="宋体" panose="02010600030101010101" pitchFamily="2" charset="-122"/>
                <a:cs typeface="Times New Roman" panose="02020603050405020304" pitchFamily="18" charset="0"/>
              </a:rPr>
              <a:t>4</a:t>
            </a:r>
            <a:r>
              <a:rPr lang="zh-CN" altLang="en-US" kern="100" dirty="0">
                <a:latin typeface="Times New Roman" panose="02020603050405020304" pitchFamily="18" charset="0"/>
                <a:ea typeface="宋体" panose="02010600030101010101" pitchFamily="2" charset="-122"/>
                <a:cs typeface="Times New Roman" panose="02020603050405020304" pitchFamily="18" charset="0"/>
              </a:rPr>
              <a:t>）终端接</a:t>
            </a:r>
            <a:r>
              <a:rPr lang="en-US" altLang="zh-CN" kern="100" dirty="0">
                <a:latin typeface="Times New Roman" panose="02020603050405020304" pitchFamily="18" charset="0"/>
                <a:ea typeface="宋体" panose="02010600030101010101" pitchFamily="2" charset="-122"/>
                <a:cs typeface="Times New Roman" panose="02020603050405020304" pitchFamily="18" charset="0"/>
              </a:rPr>
              <a:t>300Ω</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电阻时，从结点</a:t>
            </a:r>
            <a:r>
              <a:rPr lang="en-US" altLang="zh-CN" sz="1800" kern="100" dirty="0">
                <a:effectLst/>
                <a:latin typeface="Times New Roman" panose="02020603050405020304" pitchFamily="18" charset="0"/>
                <a:ea typeface="宋体" panose="02010600030101010101" pitchFamily="2" charset="-122"/>
              </a:rPr>
              <a:t>1</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观察沿线电压波形，并在波形上采集数据点，计算驻波比、反射系数及终端负载阻抗</a:t>
            </a:r>
            <a:endParaRPr lang="zh-CN" altLang="en-US" dirty="0"/>
          </a:p>
        </p:txBody>
      </p:sp>
      <p:pic>
        <p:nvPicPr>
          <p:cNvPr id="20" name="图片 19" descr="微信图片_20240520104558">
            <a:extLst>
              <a:ext uri="{FF2B5EF4-FFF2-40B4-BE49-F238E27FC236}">
                <a16:creationId xmlns:a16="http://schemas.microsoft.com/office/drawing/2014/main" id="{D3AA6DBA-43F5-461A-A199-557CF532D76F}"/>
              </a:ext>
            </a:extLst>
          </p:cNvPr>
          <p:cNvPicPr>
            <a:picLocks noChangeAspect="1"/>
          </p:cNvPicPr>
          <p:nvPr/>
        </p:nvPicPr>
        <p:blipFill rotWithShape="1">
          <a:blip r:embed="rId5"/>
          <a:srcRect l="6140" t="18379"/>
          <a:stretch/>
        </p:blipFill>
        <p:spPr>
          <a:xfrm>
            <a:off x="565150" y="3591099"/>
            <a:ext cx="4911725" cy="2402791"/>
          </a:xfrm>
          <a:prstGeom prst="rect">
            <a:avLst/>
          </a:prstGeom>
        </p:spPr>
      </p:pic>
      <p:graphicFrame>
        <p:nvGraphicFramePr>
          <p:cNvPr id="2" name="对象 1">
            <a:extLst>
              <a:ext uri="{FF2B5EF4-FFF2-40B4-BE49-F238E27FC236}">
                <a16:creationId xmlns:a16="http://schemas.microsoft.com/office/drawing/2014/main" id="{C0B7E634-F9A2-4544-B9D4-A4F52A938D2B}"/>
              </a:ext>
            </a:extLst>
          </p:cNvPr>
          <p:cNvGraphicFramePr>
            <a:graphicFrameLocks noChangeAspect="1"/>
          </p:cNvGraphicFramePr>
          <p:nvPr>
            <p:extLst>
              <p:ext uri="{D42A27DB-BD31-4B8C-83A1-F6EECF244321}">
                <p14:modId xmlns:p14="http://schemas.microsoft.com/office/powerpoint/2010/main" val="3745048864"/>
              </p:ext>
            </p:extLst>
          </p:nvPr>
        </p:nvGraphicFramePr>
        <p:xfrm>
          <a:off x="7738613" y="3853048"/>
          <a:ext cx="2475576" cy="2780262"/>
        </p:xfrm>
        <a:graphic>
          <a:graphicData uri="http://schemas.openxmlformats.org/presentationml/2006/ole">
            <mc:AlternateContent xmlns:mc="http://schemas.openxmlformats.org/markup-compatibility/2006">
              <mc:Choice xmlns:v="urn:schemas-microsoft-com:vml" Requires="v">
                <p:oleObj spid="_x0000_s1053" name="Equation" r:id="rId6" imgW="1650960" imgH="1854000" progId="Equation.DSMT4">
                  <p:embed/>
                </p:oleObj>
              </mc:Choice>
              <mc:Fallback>
                <p:oleObj name="Equation" r:id="rId6" imgW="1650960" imgH="1854000" progId="Equation.DSMT4">
                  <p:embed/>
                  <p:pic>
                    <p:nvPicPr>
                      <p:cNvPr id="0" name=""/>
                      <p:cNvPicPr/>
                      <p:nvPr/>
                    </p:nvPicPr>
                    <p:blipFill>
                      <a:blip r:embed="rId7"/>
                      <a:stretch>
                        <a:fillRect/>
                      </a:stretch>
                    </p:blipFill>
                    <p:spPr>
                      <a:xfrm>
                        <a:off x="7738613" y="3853048"/>
                        <a:ext cx="2475576" cy="2780262"/>
                      </a:xfrm>
                      <a:prstGeom prst="rect">
                        <a:avLst/>
                      </a:prstGeom>
                    </p:spPr>
                  </p:pic>
                </p:oleObj>
              </mc:Fallback>
            </mc:AlternateContent>
          </a:graphicData>
        </a:graphic>
      </p:graphicFrame>
      <p:sp>
        <p:nvSpPr>
          <p:cNvPr id="3" name="文本框 2">
            <a:extLst>
              <a:ext uri="{FF2B5EF4-FFF2-40B4-BE49-F238E27FC236}">
                <a16:creationId xmlns:a16="http://schemas.microsoft.com/office/drawing/2014/main" id="{FADBAE74-ED7F-44A3-9187-C8477CC5B5F3}"/>
              </a:ext>
            </a:extLst>
          </p:cNvPr>
          <p:cNvSpPr txBox="1"/>
          <p:nvPr/>
        </p:nvSpPr>
        <p:spPr>
          <a:xfrm>
            <a:off x="6315017" y="3360412"/>
            <a:ext cx="5311833" cy="369332"/>
          </a:xfrm>
          <a:prstGeom prst="rect">
            <a:avLst/>
          </a:prstGeom>
          <a:noFill/>
        </p:spPr>
        <p:txBody>
          <a:bodyPr wrap="square" rtlCol="0">
            <a:spAutoFit/>
          </a:bodyPr>
          <a:lstStyle/>
          <a:p>
            <a:r>
              <a:rPr lang="zh-CN" altLang="en-US" dirty="0"/>
              <a:t>驻波比</a:t>
            </a:r>
            <a:r>
              <a:rPr lang="en-US" altLang="zh-CN" dirty="0"/>
              <a:t>S</a:t>
            </a:r>
            <a:r>
              <a:rPr lang="zh-CN" altLang="en-US" dirty="0"/>
              <a:t>、反射系数     及负载</a:t>
            </a:r>
            <a:r>
              <a:rPr lang="en-US" altLang="zh-CN" dirty="0"/>
              <a:t>Z</a:t>
            </a:r>
            <a:r>
              <a:rPr lang="en-US" altLang="zh-CN" baseline="-25000" dirty="0"/>
              <a:t>L</a:t>
            </a:r>
            <a:r>
              <a:rPr lang="zh-CN" altLang="en-US" dirty="0"/>
              <a:t>的计算公式为：</a:t>
            </a:r>
          </a:p>
        </p:txBody>
      </p:sp>
      <p:graphicFrame>
        <p:nvGraphicFramePr>
          <p:cNvPr id="7" name="对象 6">
            <a:extLst>
              <a:ext uri="{FF2B5EF4-FFF2-40B4-BE49-F238E27FC236}">
                <a16:creationId xmlns:a16="http://schemas.microsoft.com/office/drawing/2014/main" id="{1394F455-DD89-408B-B67F-F4CA59F46A02}"/>
              </a:ext>
            </a:extLst>
          </p:cNvPr>
          <p:cNvGraphicFramePr>
            <a:graphicFrameLocks noChangeAspect="1"/>
          </p:cNvGraphicFramePr>
          <p:nvPr>
            <p:extLst>
              <p:ext uri="{D42A27DB-BD31-4B8C-83A1-F6EECF244321}">
                <p14:modId xmlns:p14="http://schemas.microsoft.com/office/powerpoint/2010/main" val="3610421730"/>
              </p:ext>
            </p:extLst>
          </p:nvPr>
        </p:nvGraphicFramePr>
        <p:xfrm>
          <a:off x="8342921" y="3360412"/>
          <a:ext cx="336463" cy="378521"/>
        </p:xfrm>
        <a:graphic>
          <a:graphicData uri="http://schemas.openxmlformats.org/presentationml/2006/ole">
            <mc:AlternateContent xmlns:mc="http://schemas.openxmlformats.org/markup-compatibility/2006">
              <mc:Choice xmlns:v="urn:schemas-microsoft-com:vml" Requires="v">
                <p:oleObj spid="_x0000_s1054" name="Equation" r:id="rId8" imgW="203040" imgH="228600" progId="Equation.DSMT4">
                  <p:embed/>
                </p:oleObj>
              </mc:Choice>
              <mc:Fallback>
                <p:oleObj name="Equation" r:id="rId8" imgW="203040" imgH="228600" progId="Equation.DSMT4">
                  <p:embed/>
                  <p:pic>
                    <p:nvPicPr>
                      <p:cNvPr id="0" name=""/>
                      <p:cNvPicPr/>
                      <p:nvPr/>
                    </p:nvPicPr>
                    <p:blipFill>
                      <a:blip r:embed="rId9"/>
                      <a:stretch>
                        <a:fillRect/>
                      </a:stretch>
                    </p:blipFill>
                    <p:spPr>
                      <a:xfrm>
                        <a:off x="8342921" y="3360412"/>
                        <a:ext cx="336463" cy="378521"/>
                      </a:xfrm>
                      <a:prstGeom prst="rect">
                        <a:avLst/>
                      </a:prstGeom>
                    </p:spPr>
                  </p:pic>
                </p:oleObj>
              </mc:Fallback>
            </mc:AlternateContent>
          </a:graphicData>
        </a:graphic>
      </p:graphicFrame>
      <p:sp>
        <p:nvSpPr>
          <p:cNvPr id="4" name="文本框 3">
            <a:extLst>
              <a:ext uri="{FF2B5EF4-FFF2-40B4-BE49-F238E27FC236}">
                <a16:creationId xmlns:a16="http://schemas.microsoft.com/office/drawing/2014/main" id="{998F379B-90BA-40CA-9136-0CBC0A4F710D}"/>
              </a:ext>
            </a:extLst>
          </p:cNvPr>
          <p:cNvSpPr txBox="1"/>
          <p:nvPr/>
        </p:nvSpPr>
        <p:spPr>
          <a:xfrm>
            <a:off x="665459" y="958632"/>
            <a:ext cx="1534438" cy="461665"/>
          </a:xfrm>
          <a:prstGeom prst="rect">
            <a:avLst/>
          </a:prstGeom>
          <a:noFill/>
        </p:spPr>
        <p:txBody>
          <a:bodyPr wrap="square" rtlCol="0">
            <a:spAutoFit/>
          </a:bodyPr>
          <a:lstStyle/>
          <a:p>
            <a:r>
              <a:rPr lang="zh-CN" altLang="en-US" sz="2400" b="1" dirty="0">
                <a:solidFill>
                  <a:srgbClr val="0000CC"/>
                </a:solidFill>
              </a:rPr>
              <a:t>仿真任务</a:t>
            </a:r>
            <a:r>
              <a:rPr lang="zh-CN" altLang="en-US" sz="2400" b="1" dirty="0"/>
              <a:t>：</a:t>
            </a:r>
          </a:p>
        </p:txBody>
      </p:sp>
    </p:spTree>
    <p:extLst>
      <p:ext uri="{BB962C8B-B14F-4D97-AF65-F5344CB8AC3E}">
        <p14:creationId xmlns:p14="http://schemas.microsoft.com/office/powerpoint/2010/main" val="42246046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2" name="组合 71">
            <a:extLst>
              <a:ext uri="{FF2B5EF4-FFF2-40B4-BE49-F238E27FC236}">
                <a16:creationId xmlns:a16="http://schemas.microsoft.com/office/drawing/2014/main" id="{B755887D-06B2-49C8-A78A-151A32DBE229}"/>
              </a:ext>
            </a:extLst>
          </p:cNvPr>
          <p:cNvGrpSpPr/>
          <p:nvPr/>
        </p:nvGrpSpPr>
        <p:grpSpPr>
          <a:xfrm>
            <a:off x="6262928" y="266844"/>
            <a:ext cx="5233747" cy="330008"/>
            <a:chOff x="5025390" y="266844"/>
            <a:chExt cx="6259830" cy="330008"/>
          </a:xfrm>
        </p:grpSpPr>
        <p:cxnSp>
          <p:nvCxnSpPr>
            <p:cNvPr id="73" name="直接连接符 72">
              <a:extLst>
                <a:ext uri="{FF2B5EF4-FFF2-40B4-BE49-F238E27FC236}">
                  <a16:creationId xmlns:a16="http://schemas.microsoft.com/office/drawing/2014/main" id="{62FE7A77-FBEB-40AD-82EE-F6D56B4FBED0}"/>
                </a:ext>
              </a:extLst>
            </p:cNvPr>
            <p:cNvCxnSpPr>
              <a:cxnSpLocks/>
            </p:cNvCxnSpPr>
            <p:nvPr/>
          </p:nvCxnSpPr>
          <p:spPr>
            <a:xfrm flipH="1">
              <a:off x="5025390" y="596852"/>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4" name="直接连接符 73">
              <a:extLst>
                <a:ext uri="{FF2B5EF4-FFF2-40B4-BE49-F238E27FC236}">
                  <a16:creationId xmlns:a16="http://schemas.microsoft.com/office/drawing/2014/main" id="{BDD67602-65B0-4D01-8429-E64EE945B436}"/>
                </a:ext>
              </a:extLst>
            </p:cNvPr>
            <p:cNvCxnSpPr>
              <a:cxnSpLocks/>
            </p:cNvCxnSpPr>
            <p:nvPr/>
          </p:nvCxnSpPr>
          <p:spPr>
            <a:xfrm flipH="1">
              <a:off x="5025390" y="514350"/>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5" name="直接连接符 74">
              <a:extLst>
                <a:ext uri="{FF2B5EF4-FFF2-40B4-BE49-F238E27FC236}">
                  <a16:creationId xmlns:a16="http://schemas.microsoft.com/office/drawing/2014/main" id="{56902EF3-DC68-477E-B624-6F39F33A5062}"/>
                </a:ext>
              </a:extLst>
            </p:cNvPr>
            <p:cNvCxnSpPr>
              <a:cxnSpLocks/>
            </p:cNvCxnSpPr>
            <p:nvPr/>
          </p:nvCxnSpPr>
          <p:spPr>
            <a:xfrm flipH="1">
              <a:off x="5025390" y="431848"/>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6" name="直接连接符 75">
              <a:extLst>
                <a:ext uri="{FF2B5EF4-FFF2-40B4-BE49-F238E27FC236}">
                  <a16:creationId xmlns:a16="http://schemas.microsoft.com/office/drawing/2014/main" id="{E5575DC5-6C14-4E47-8549-F414278D7485}"/>
                </a:ext>
              </a:extLst>
            </p:cNvPr>
            <p:cNvCxnSpPr>
              <a:cxnSpLocks/>
            </p:cNvCxnSpPr>
            <p:nvPr/>
          </p:nvCxnSpPr>
          <p:spPr>
            <a:xfrm flipH="1">
              <a:off x="5025390" y="349346"/>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7" name="直接连接符 76">
              <a:extLst>
                <a:ext uri="{FF2B5EF4-FFF2-40B4-BE49-F238E27FC236}">
                  <a16:creationId xmlns:a16="http://schemas.microsoft.com/office/drawing/2014/main" id="{BEA35CD9-8F8F-4991-8A28-0D6749A159AF}"/>
                </a:ext>
              </a:extLst>
            </p:cNvPr>
            <p:cNvCxnSpPr>
              <a:cxnSpLocks/>
            </p:cNvCxnSpPr>
            <p:nvPr/>
          </p:nvCxnSpPr>
          <p:spPr>
            <a:xfrm flipH="1">
              <a:off x="5025390" y="266844"/>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grpSp>
        <p:nvGrpSpPr>
          <p:cNvPr id="78" name="组合 77">
            <a:extLst>
              <a:ext uri="{FF2B5EF4-FFF2-40B4-BE49-F238E27FC236}">
                <a16:creationId xmlns:a16="http://schemas.microsoft.com/office/drawing/2014/main" id="{B708D5A6-F729-4A3B-AFF5-DB02E26819D1}"/>
              </a:ext>
            </a:extLst>
          </p:cNvPr>
          <p:cNvGrpSpPr/>
          <p:nvPr/>
        </p:nvGrpSpPr>
        <p:grpSpPr>
          <a:xfrm>
            <a:off x="0" y="266844"/>
            <a:ext cx="487680" cy="330008"/>
            <a:chOff x="5025390" y="266844"/>
            <a:chExt cx="6259830" cy="330008"/>
          </a:xfrm>
        </p:grpSpPr>
        <p:cxnSp>
          <p:nvCxnSpPr>
            <p:cNvPr id="79" name="直接连接符 78">
              <a:extLst>
                <a:ext uri="{FF2B5EF4-FFF2-40B4-BE49-F238E27FC236}">
                  <a16:creationId xmlns:a16="http://schemas.microsoft.com/office/drawing/2014/main" id="{B16271FF-B014-4D0E-A8FC-14016AE63AC9}"/>
                </a:ext>
              </a:extLst>
            </p:cNvPr>
            <p:cNvCxnSpPr>
              <a:cxnSpLocks/>
            </p:cNvCxnSpPr>
            <p:nvPr/>
          </p:nvCxnSpPr>
          <p:spPr>
            <a:xfrm flipH="1">
              <a:off x="5025390" y="596852"/>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0" name="直接连接符 79">
              <a:extLst>
                <a:ext uri="{FF2B5EF4-FFF2-40B4-BE49-F238E27FC236}">
                  <a16:creationId xmlns:a16="http://schemas.microsoft.com/office/drawing/2014/main" id="{54662351-B9F7-41B8-8DFD-B434997C52AF}"/>
                </a:ext>
              </a:extLst>
            </p:cNvPr>
            <p:cNvCxnSpPr>
              <a:cxnSpLocks/>
            </p:cNvCxnSpPr>
            <p:nvPr/>
          </p:nvCxnSpPr>
          <p:spPr>
            <a:xfrm flipH="1">
              <a:off x="5025390" y="514350"/>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1" name="直接连接符 80">
              <a:extLst>
                <a:ext uri="{FF2B5EF4-FFF2-40B4-BE49-F238E27FC236}">
                  <a16:creationId xmlns:a16="http://schemas.microsoft.com/office/drawing/2014/main" id="{18BB5DB3-4909-47FC-BDD8-8679FC8F7B9D}"/>
                </a:ext>
              </a:extLst>
            </p:cNvPr>
            <p:cNvCxnSpPr>
              <a:cxnSpLocks/>
            </p:cNvCxnSpPr>
            <p:nvPr/>
          </p:nvCxnSpPr>
          <p:spPr>
            <a:xfrm flipH="1">
              <a:off x="5025390" y="431848"/>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2" name="直接连接符 81">
              <a:extLst>
                <a:ext uri="{FF2B5EF4-FFF2-40B4-BE49-F238E27FC236}">
                  <a16:creationId xmlns:a16="http://schemas.microsoft.com/office/drawing/2014/main" id="{7C6A262B-8F87-4AA5-BD4A-55DE84149A06}"/>
                </a:ext>
              </a:extLst>
            </p:cNvPr>
            <p:cNvCxnSpPr>
              <a:cxnSpLocks/>
            </p:cNvCxnSpPr>
            <p:nvPr/>
          </p:nvCxnSpPr>
          <p:spPr>
            <a:xfrm flipH="1">
              <a:off x="5025390" y="349346"/>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3" name="直接连接符 82">
              <a:extLst>
                <a:ext uri="{FF2B5EF4-FFF2-40B4-BE49-F238E27FC236}">
                  <a16:creationId xmlns:a16="http://schemas.microsoft.com/office/drawing/2014/main" id="{8F8A0811-38B1-462B-8E81-76FB9965A173}"/>
                </a:ext>
              </a:extLst>
            </p:cNvPr>
            <p:cNvCxnSpPr>
              <a:cxnSpLocks/>
            </p:cNvCxnSpPr>
            <p:nvPr/>
          </p:nvCxnSpPr>
          <p:spPr>
            <a:xfrm flipH="1">
              <a:off x="5025390" y="266844"/>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pic>
        <p:nvPicPr>
          <p:cNvPr id="18" name="图片 1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604252" y="168275"/>
            <a:ext cx="520700" cy="520700"/>
          </a:xfrm>
          <a:prstGeom prst="rect">
            <a:avLst/>
          </a:prstGeom>
        </p:spPr>
      </p:pic>
      <p:sp>
        <p:nvSpPr>
          <p:cNvPr id="21" name="文本框 20">
            <a:extLst>
              <a:ext uri="{FF2B5EF4-FFF2-40B4-BE49-F238E27FC236}">
                <a16:creationId xmlns:a16="http://schemas.microsoft.com/office/drawing/2014/main" id="{D7ECBC28-490B-4424-8256-107302341845}"/>
              </a:ext>
            </a:extLst>
          </p:cNvPr>
          <p:cNvSpPr txBox="1"/>
          <p:nvPr/>
        </p:nvSpPr>
        <p:spPr>
          <a:xfrm>
            <a:off x="487680" y="105459"/>
            <a:ext cx="7967388" cy="646331"/>
          </a:xfrm>
          <a:prstGeom prst="rect">
            <a:avLst/>
          </a:prstGeom>
          <a:noFill/>
        </p:spPr>
        <p:txBody>
          <a:bodyPr wrap="square" rtlCol="0">
            <a:spAutoFit/>
          </a:bodyPr>
          <a:lstStyle/>
          <a:p>
            <a:r>
              <a:rPr lang="zh-CN" altLang="en-US" sz="3600" b="1" dirty="0"/>
              <a:t>三</a:t>
            </a:r>
            <a:r>
              <a:rPr lang="en-US" altLang="zh-CN" sz="3600" b="1" dirty="0"/>
              <a:t>.</a:t>
            </a:r>
            <a:r>
              <a:rPr lang="zh-CN" altLang="en-US" sz="3600" b="1" dirty="0"/>
              <a:t> 实验任务</a:t>
            </a:r>
            <a:r>
              <a:rPr lang="en-US" altLang="zh-CN" sz="3600" b="1" dirty="0"/>
              <a:t>—</a:t>
            </a:r>
            <a:r>
              <a:rPr lang="zh-CN" altLang="en-US" sz="2400" b="1" dirty="0"/>
              <a:t>用集总参数电路等效分布参数电路</a:t>
            </a:r>
            <a:endParaRPr lang="zh-CN" altLang="en-US" sz="3600" b="1" dirty="0"/>
          </a:p>
        </p:txBody>
      </p:sp>
      <p:sp>
        <p:nvSpPr>
          <p:cNvPr id="2" name="Rectangle 2">
            <a:extLst>
              <a:ext uri="{FF2B5EF4-FFF2-40B4-BE49-F238E27FC236}">
                <a16:creationId xmlns:a16="http://schemas.microsoft.com/office/drawing/2014/main" id="{9F833CEB-3BCA-42FB-8A66-6A4B0397930D}"/>
              </a:ext>
            </a:extLst>
          </p:cNvPr>
          <p:cNvSpPr>
            <a:spLocks noChangeArrowheads="1"/>
          </p:cNvSpPr>
          <p:nvPr/>
        </p:nvSpPr>
        <p:spPr bwMode="auto">
          <a:xfrm>
            <a:off x="8730343" y="3200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3" name="Rectangle 4">
            <a:extLst>
              <a:ext uri="{FF2B5EF4-FFF2-40B4-BE49-F238E27FC236}">
                <a16:creationId xmlns:a16="http://schemas.microsoft.com/office/drawing/2014/main" id="{BC469228-5E5D-4E14-95DF-7AD9117668C4}"/>
              </a:ext>
            </a:extLst>
          </p:cNvPr>
          <p:cNvSpPr>
            <a:spLocks noChangeArrowheads="1"/>
          </p:cNvSpPr>
          <p:nvPr/>
        </p:nvSpPr>
        <p:spPr bwMode="auto">
          <a:xfrm>
            <a:off x="3265714" y="263913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Rectangle 6">
            <a:extLst>
              <a:ext uri="{FF2B5EF4-FFF2-40B4-BE49-F238E27FC236}">
                <a16:creationId xmlns:a16="http://schemas.microsoft.com/office/drawing/2014/main" id="{332340A1-D513-4930-8BB4-AB9E3DF45EF8}"/>
              </a:ext>
            </a:extLst>
          </p:cNvPr>
          <p:cNvSpPr>
            <a:spLocks noChangeArrowheads="1"/>
          </p:cNvSpPr>
          <p:nvPr/>
        </p:nvSpPr>
        <p:spPr bwMode="auto">
          <a:xfrm>
            <a:off x="2387600" y="229122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Rectangle 8">
            <a:extLst>
              <a:ext uri="{FF2B5EF4-FFF2-40B4-BE49-F238E27FC236}">
                <a16:creationId xmlns:a16="http://schemas.microsoft.com/office/drawing/2014/main" id="{DDA06C14-ED69-4C02-91D4-5E9783F6D745}"/>
              </a:ext>
            </a:extLst>
          </p:cNvPr>
          <p:cNvSpPr>
            <a:spLocks noChangeArrowheads="1"/>
          </p:cNvSpPr>
          <p:nvPr/>
        </p:nvSpPr>
        <p:spPr bwMode="auto">
          <a:xfrm>
            <a:off x="2387600" y="229122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9" name="Rectangle 6">
            <a:extLst>
              <a:ext uri="{FF2B5EF4-FFF2-40B4-BE49-F238E27FC236}">
                <a16:creationId xmlns:a16="http://schemas.microsoft.com/office/drawing/2014/main" id="{08F295C0-E0A1-4695-8094-69DE0B75E2C2}"/>
              </a:ext>
            </a:extLst>
          </p:cNvPr>
          <p:cNvSpPr>
            <a:spLocks noChangeArrowheads="1"/>
          </p:cNvSpPr>
          <p:nvPr/>
        </p:nvSpPr>
        <p:spPr bwMode="auto">
          <a:xfrm>
            <a:off x="6012208" y="3563656"/>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0" name="Rectangle 8">
            <a:extLst>
              <a:ext uri="{FF2B5EF4-FFF2-40B4-BE49-F238E27FC236}">
                <a16:creationId xmlns:a16="http://schemas.microsoft.com/office/drawing/2014/main" id="{8BC65458-D7F5-4948-84F4-9F54A3C89158}"/>
              </a:ext>
            </a:extLst>
          </p:cNvPr>
          <p:cNvSpPr>
            <a:spLocks noChangeArrowheads="1"/>
          </p:cNvSpPr>
          <p:nvPr/>
        </p:nvSpPr>
        <p:spPr bwMode="auto">
          <a:xfrm>
            <a:off x="4247522" y="189548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2" name="Rectangle 10">
            <a:extLst>
              <a:ext uri="{FF2B5EF4-FFF2-40B4-BE49-F238E27FC236}">
                <a16:creationId xmlns:a16="http://schemas.microsoft.com/office/drawing/2014/main" id="{E0DC3B29-81FB-49A6-A78F-73F821DC6ABD}"/>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4" name="Rectangle 12">
            <a:extLst>
              <a:ext uri="{FF2B5EF4-FFF2-40B4-BE49-F238E27FC236}">
                <a16:creationId xmlns:a16="http://schemas.microsoft.com/office/drawing/2014/main" id="{1AC72CEA-7AC4-45EE-9FB4-A09AC51F0A38}"/>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7" name="Rectangle 17">
            <a:extLst>
              <a:ext uri="{FF2B5EF4-FFF2-40B4-BE49-F238E27FC236}">
                <a16:creationId xmlns:a16="http://schemas.microsoft.com/office/drawing/2014/main" id="{11DE5850-4E6A-4228-8316-F6335684BE1B}"/>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Rectangle 2">
            <a:extLst>
              <a:ext uri="{FF2B5EF4-FFF2-40B4-BE49-F238E27FC236}">
                <a16:creationId xmlns:a16="http://schemas.microsoft.com/office/drawing/2014/main" id="{A0789352-19FD-448D-B517-BD70C6748577}"/>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9" name="Rectangle 4">
            <a:extLst>
              <a:ext uri="{FF2B5EF4-FFF2-40B4-BE49-F238E27FC236}">
                <a16:creationId xmlns:a16="http://schemas.microsoft.com/office/drawing/2014/main" id="{CBCEA20F-3BF3-457F-B5EF-2F62C3AF3ADD}"/>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2" name="Rectangle 9">
            <a:extLst>
              <a:ext uri="{FF2B5EF4-FFF2-40B4-BE49-F238E27FC236}">
                <a16:creationId xmlns:a16="http://schemas.microsoft.com/office/drawing/2014/main" id="{F4311A8C-2CCA-45AC-AF99-BC364C37B1F8}"/>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4" name="Rectangle 11">
            <a:extLst>
              <a:ext uri="{FF2B5EF4-FFF2-40B4-BE49-F238E27FC236}">
                <a16:creationId xmlns:a16="http://schemas.microsoft.com/office/drawing/2014/main" id="{AF5EA801-0B37-4339-96D3-5986CF757934}"/>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38" name="文本框 1">
            <a:extLst>
              <a:ext uri="{FF2B5EF4-FFF2-40B4-BE49-F238E27FC236}">
                <a16:creationId xmlns:a16="http://schemas.microsoft.com/office/drawing/2014/main" id="{56EA6B64-8FA9-4AD4-B011-7232F878D42B}"/>
              </a:ext>
            </a:extLst>
          </p:cNvPr>
          <p:cNvSpPr txBox="1"/>
          <p:nvPr/>
        </p:nvSpPr>
        <p:spPr>
          <a:xfrm>
            <a:off x="11291972" y="6320393"/>
            <a:ext cx="832980"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dirty="0"/>
              <a:t>20/23</a:t>
            </a:r>
            <a:endParaRPr lang="zh-CN" altLang="en-US" dirty="0"/>
          </a:p>
        </p:txBody>
      </p:sp>
      <mc:AlternateContent xmlns:mc="http://schemas.openxmlformats.org/markup-compatibility/2006" xmlns:a14="http://schemas.microsoft.com/office/drawing/2010/main">
        <mc:Choice Requires="a14">
          <p:sp>
            <p:nvSpPr>
              <p:cNvPr id="39" name="文本框 38">
                <a:extLst>
                  <a:ext uri="{FF2B5EF4-FFF2-40B4-BE49-F238E27FC236}">
                    <a16:creationId xmlns:a16="http://schemas.microsoft.com/office/drawing/2014/main" id="{7B9156A0-B752-4B2C-8E22-AABECAB65C8C}"/>
                  </a:ext>
                </a:extLst>
              </p:cNvPr>
              <p:cNvSpPr txBox="1"/>
              <p:nvPr/>
            </p:nvSpPr>
            <p:spPr>
              <a:xfrm>
                <a:off x="394870" y="1304502"/>
                <a:ext cx="11402260" cy="4843780"/>
              </a:xfrm>
              <a:prstGeom prst="rect">
                <a:avLst/>
              </a:prstGeom>
              <a:noFill/>
            </p:spPr>
            <p:txBody>
              <a:bodyPr wrap="square">
                <a:spAutoFit/>
              </a:bodyPr>
              <a:lstStyle/>
              <a:p>
                <a:pPr algn="just">
                  <a:lnSpc>
                    <a:spcPct val="120000"/>
                  </a:lnSpc>
                </a:pPr>
                <a:r>
                  <a:rPr lang="zh-CN" altLang="en-US" sz="2800" kern="100" dirty="0">
                    <a:solidFill>
                      <a:srgbClr val="0000CC"/>
                    </a:solidFill>
                    <a:latin typeface="Times New Roman" panose="02020603050405020304" pitchFamily="18" charset="0"/>
                    <a:ea typeface="宋体" panose="02010600030101010101" pitchFamily="2" charset="-122"/>
                  </a:rPr>
                  <a:t>已知传输线参数</a:t>
                </a:r>
                <a:r>
                  <a:rPr lang="en-US" altLang="zh-CN" sz="2800" kern="100" dirty="0">
                    <a:solidFill>
                      <a:srgbClr val="0000CC"/>
                    </a:solidFill>
                    <a:latin typeface="Times New Roman" panose="02020603050405020304" pitchFamily="18" charset="0"/>
                    <a:ea typeface="宋体" panose="02010600030101010101" pitchFamily="2" charset="-122"/>
                  </a:rPr>
                  <a:t>L</a:t>
                </a:r>
                <a:r>
                  <a:rPr lang="en-US" altLang="zh-CN" sz="2800" kern="100" baseline="-25000" dirty="0">
                    <a:solidFill>
                      <a:srgbClr val="0000CC"/>
                    </a:solidFill>
                    <a:latin typeface="Times New Roman" panose="02020603050405020304" pitchFamily="18" charset="0"/>
                    <a:ea typeface="宋体" panose="02010600030101010101" pitchFamily="2" charset="-122"/>
                  </a:rPr>
                  <a:t>0</a:t>
                </a:r>
                <a:r>
                  <a:rPr lang="en-US" altLang="zh-CN" sz="2800" kern="100" dirty="0">
                    <a:solidFill>
                      <a:srgbClr val="0000CC"/>
                    </a:solidFill>
                    <a:latin typeface="Times New Roman" panose="02020603050405020304" pitchFamily="18" charset="0"/>
                    <a:ea typeface="宋体" panose="02010600030101010101" pitchFamily="2" charset="-122"/>
                  </a:rPr>
                  <a:t>=1.0836uH/m</a:t>
                </a:r>
                <a:r>
                  <a:rPr lang="zh-CN" altLang="en-US" sz="2800" kern="100" dirty="0">
                    <a:solidFill>
                      <a:srgbClr val="0000CC"/>
                    </a:solidFill>
                    <a:latin typeface="Times New Roman" panose="02020603050405020304" pitchFamily="18" charset="0"/>
                    <a:ea typeface="宋体" panose="02010600030101010101" pitchFamily="2" charset="-122"/>
                  </a:rPr>
                  <a:t>，</a:t>
                </a:r>
                <a:r>
                  <a:rPr lang="en-US" altLang="zh-CN" sz="2800" kern="100" dirty="0">
                    <a:solidFill>
                      <a:srgbClr val="0000CC"/>
                    </a:solidFill>
                    <a:latin typeface="Times New Roman" panose="02020603050405020304" pitchFamily="18" charset="0"/>
                    <a:ea typeface="宋体" panose="02010600030101010101" pitchFamily="2" charset="-122"/>
                  </a:rPr>
                  <a:t>C</a:t>
                </a:r>
                <a:r>
                  <a:rPr lang="en-US" altLang="zh-CN" sz="2800" kern="100" baseline="-25000" dirty="0">
                    <a:solidFill>
                      <a:srgbClr val="0000CC"/>
                    </a:solidFill>
                    <a:latin typeface="Times New Roman" panose="02020603050405020304" pitchFamily="18" charset="0"/>
                    <a:ea typeface="宋体" panose="02010600030101010101" pitchFamily="2" charset="-122"/>
                  </a:rPr>
                  <a:t>0</a:t>
                </a:r>
                <a:r>
                  <a:rPr lang="en-US" altLang="zh-CN" sz="2800" kern="100" dirty="0">
                    <a:solidFill>
                      <a:srgbClr val="0000CC"/>
                    </a:solidFill>
                    <a:latin typeface="Times New Roman" panose="02020603050405020304" pitchFamily="18" charset="0"/>
                    <a:ea typeface="宋体" panose="02010600030101010101" pitchFamily="2" charset="-122"/>
                  </a:rPr>
                  <a:t>=10.25pF/m</a:t>
                </a:r>
                <a:r>
                  <a:rPr lang="zh-CN" altLang="en-US" sz="2800" kern="100" dirty="0">
                    <a:solidFill>
                      <a:srgbClr val="0000CC"/>
                    </a:solidFill>
                    <a:latin typeface="Times New Roman" panose="02020603050405020304" pitchFamily="18" charset="0"/>
                    <a:ea typeface="宋体" panose="02010600030101010101" pitchFamily="2" charset="-122"/>
                  </a:rPr>
                  <a:t>，当传输线工作频率为</a:t>
                </a:r>
                <a:r>
                  <a:rPr lang="en-US" altLang="zh-CN" sz="2800" kern="100" dirty="0">
                    <a:solidFill>
                      <a:srgbClr val="0000CC"/>
                    </a:solidFill>
                    <a:latin typeface="Times New Roman" panose="02020603050405020304" pitchFamily="18" charset="0"/>
                    <a:ea typeface="宋体" panose="02010600030101010101" pitchFamily="2" charset="-122"/>
                  </a:rPr>
                  <a:t>f=600kHz</a:t>
                </a:r>
                <a:r>
                  <a:rPr lang="zh-CN" altLang="en-US" sz="2800" kern="100" dirty="0">
                    <a:solidFill>
                      <a:srgbClr val="0000CC"/>
                    </a:solidFill>
                    <a:latin typeface="Times New Roman" panose="02020603050405020304" pitchFamily="18" charset="0"/>
                    <a:ea typeface="宋体" panose="02010600030101010101" pitchFamily="2" charset="-122"/>
                  </a:rPr>
                  <a:t>时，波长：</a:t>
                </a:r>
                <a:endParaRPr lang="en-US" altLang="zh-CN" sz="2800" kern="100" dirty="0">
                  <a:solidFill>
                    <a:srgbClr val="0000CC"/>
                  </a:solidFill>
                  <a:latin typeface="Times New Roman" panose="02020603050405020304" pitchFamily="18" charset="0"/>
                  <a:ea typeface="宋体" panose="02010600030101010101" pitchFamily="2" charset="-122"/>
                </a:endParaRPr>
              </a:p>
              <a:p>
                <a:pPr algn="just">
                  <a:lnSpc>
                    <a:spcPct val="120000"/>
                  </a:lnSpc>
                </a:pPr>
                <a:r>
                  <a:rPr lang="en-US" altLang="zh-CN" sz="2800" kern="100" dirty="0">
                    <a:solidFill>
                      <a:srgbClr val="0000CC"/>
                    </a:solidFill>
                    <a:latin typeface="Times New Roman" panose="02020603050405020304" pitchFamily="18" charset="0"/>
                    <a:ea typeface="宋体" panose="02010600030101010101" pitchFamily="2" charset="-122"/>
                  </a:rPr>
                  <a:t>                                              </a:t>
                </a:r>
                <a:r>
                  <a:rPr lang="zh-CN" altLang="en-US" sz="2800" kern="100" dirty="0">
                    <a:solidFill>
                      <a:srgbClr val="0000CC"/>
                    </a:solidFill>
                    <a:latin typeface="Times New Roman" panose="02020603050405020304" pitchFamily="18" charset="0"/>
                    <a:ea typeface="宋体" panose="02010600030101010101" pitchFamily="2" charset="-122"/>
                  </a:rPr>
                  <a:t> </a:t>
                </a:r>
                <a14:m>
                  <m:oMath xmlns:m="http://schemas.openxmlformats.org/officeDocument/2006/math">
                    <m:r>
                      <a:rPr lang="zh-CN" altLang="en-US" sz="2800" i="1" kern="100" smtClean="0">
                        <a:solidFill>
                          <a:srgbClr val="0000CC"/>
                        </a:solidFill>
                        <a:latin typeface="Cambria Math" panose="02040503050406030204" pitchFamily="18" charset="0"/>
                        <a:ea typeface="宋体" panose="02010600030101010101" pitchFamily="2" charset="-122"/>
                      </a:rPr>
                      <m:t>𝜆</m:t>
                    </m:r>
                  </m:oMath>
                </a14:m>
                <a:r>
                  <a:rPr lang="en-US" altLang="zh-CN" sz="2800" kern="100" dirty="0">
                    <a:solidFill>
                      <a:srgbClr val="0000CC"/>
                    </a:solidFill>
                    <a:latin typeface="Times New Roman" panose="02020603050405020304" pitchFamily="18" charset="0"/>
                    <a:ea typeface="宋体" panose="02010600030101010101" pitchFamily="2" charset="-122"/>
                  </a:rPr>
                  <a:t>= </a:t>
                </a:r>
                <a14:m>
                  <m:oMath xmlns:m="http://schemas.openxmlformats.org/officeDocument/2006/math">
                    <m:r>
                      <a:rPr lang="zh-CN" altLang="en-US" sz="2800" i="1" kern="100" smtClean="0">
                        <a:solidFill>
                          <a:srgbClr val="0000CC"/>
                        </a:solidFill>
                        <a:latin typeface="Cambria Math" panose="02040503050406030204" pitchFamily="18" charset="0"/>
                        <a:ea typeface="宋体" panose="02010600030101010101" pitchFamily="2" charset="-122"/>
                      </a:rPr>
                      <m:t>𝜈</m:t>
                    </m:r>
                    <m:r>
                      <a:rPr lang="en-US" altLang="zh-CN" sz="2800" b="0" i="1" kern="100" smtClean="0">
                        <a:solidFill>
                          <a:srgbClr val="0000CC"/>
                        </a:solidFill>
                        <a:latin typeface="Cambria Math" panose="02040503050406030204" pitchFamily="18" charset="0"/>
                        <a:ea typeface="宋体" panose="02010600030101010101" pitchFamily="2" charset="-122"/>
                      </a:rPr>
                      <m:t>/</m:t>
                    </m:r>
                    <m:r>
                      <a:rPr lang="en-US" altLang="zh-CN" sz="2800" b="0" i="1" kern="100" smtClean="0">
                        <a:solidFill>
                          <a:srgbClr val="0000CC"/>
                        </a:solidFill>
                        <a:latin typeface="Cambria Math" panose="02040503050406030204" pitchFamily="18" charset="0"/>
                        <a:ea typeface="宋体" panose="02010600030101010101" pitchFamily="2" charset="-122"/>
                      </a:rPr>
                      <m:t>𝑓</m:t>
                    </m:r>
                    <m:r>
                      <a:rPr lang="en-US" altLang="zh-CN" sz="2800" i="1" kern="100">
                        <a:solidFill>
                          <a:srgbClr val="0000CC"/>
                        </a:solidFill>
                        <a:latin typeface="Cambria Math" panose="02040503050406030204" pitchFamily="18" charset="0"/>
                        <a:ea typeface="宋体" panose="02010600030101010101" pitchFamily="2" charset="-122"/>
                      </a:rPr>
                      <m:t>=</m:t>
                    </m:r>
                  </m:oMath>
                </a14:m>
                <a:r>
                  <a:rPr lang="en-US" altLang="zh-CN" sz="2800" kern="100" dirty="0">
                    <a:solidFill>
                      <a:srgbClr val="0000CC"/>
                    </a:solidFill>
                    <a:latin typeface="Times New Roman" panose="02020603050405020304" pitchFamily="18" charset="0"/>
                    <a:ea typeface="宋体" panose="02010600030101010101" pitchFamily="2" charset="-122"/>
                  </a:rPr>
                  <a:t>500m</a:t>
                </a:r>
              </a:p>
              <a:p>
                <a:pPr algn="just">
                  <a:lnSpc>
                    <a:spcPct val="120000"/>
                  </a:lnSpc>
                </a:pPr>
                <a:r>
                  <a:rPr lang="zh-CN" altLang="en-US" sz="2800" kern="100" dirty="0">
                    <a:solidFill>
                      <a:srgbClr val="0000CC"/>
                    </a:solidFill>
                    <a:latin typeface="Times New Roman" panose="02020603050405020304" pitchFamily="18" charset="0"/>
                    <a:ea typeface="宋体" panose="02010600030101010101" pitchFamily="2" charset="-122"/>
                  </a:rPr>
                  <a:t>现在将传输线分为</a:t>
                </a:r>
                <a:r>
                  <a:rPr lang="en-US" altLang="zh-CN" sz="2800" kern="100" dirty="0">
                    <a:solidFill>
                      <a:srgbClr val="0000CC"/>
                    </a:solidFill>
                    <a:latin typeface="Times New Roman" panose="02020603050405020304" pitchFamily="18" charset="0"/>
                    <a:ea typeface="宋体" panose="02010600030101010101" pitchFamily="2" charset="-122"/>
                  </a:rPr>
                  <a:t>11</a:t>
                </a:r>
                <a:r>
                  <a:rPr lang="zh-CN" altLang="en-US" sz="2800" kern="100" dirty="0">
                    <a:solidFill>
                      <a:srgbClr val="0000CC"/>
                    </a:solidFill>
                    <a:latin typeface="Times New Roman" panose="02020603050405020304" pitchFamily="18" charset="0"/>
                    <a:ea typeface="宋体" panose="02010600030101010101" pitchFamily="2" charset="-122"/>
                  </a:rPr>
                  <a:t>段，每一段用集中参数电感</a:t>
                </a:r>
                <a:r>
                  <a:rPr lang="en-US" altLang="zh-CN" sz="2800" kern="100" dirty="0">
                    <a:solidFill>
                      <a:srgbClr val="0000CC"/>
                    </a:solidFill>
                    <a:latin typeface="Times New Roman" panose="02020603050405020304" pitchFamily="18" charset="0"/>
                    <a:ea typeface="宋体" panose="02010600030101010101" pitchFamily="2" charset="-122"/>
                  </a:rPr>
                  <a:t>L</a:t>
                </a:r>
                <a:r>
                  <a:rPr lang="zh-CN" altLang="en-US" sz="2800" kern="100" dirty="0">
                    <a:solidFill>
                      <a:srgbClr val="0000CC"/>
                    </a:solidFill>
                    <a:latin typeface="Times New Roman" panose="02020603050405020304" pitchFamily="18" charset="0"/>
                    <a:ea typeface="宋体" panose="02010600030101010101" pitchFamily="2" charset="-122"/>
                  </a:rPr>
                  <a:t>和电容</a:t>
                </a:r>
                <a:r>
                  <a:rPr lang="en-US" altLang="zh-CN" sz="2800" kern="100" dirty="0">
                    <a:solidFill>
                      <a:srgbClr val="0000CC"/>
                    </a:solidFill>
                    <a:latin typeface="Times New Roman" panose="02020603050405020304" pitchFamily="18" charset="0"/>
                    <a:ea typeface="宋体" panose="02010600030101010101" pitchFamily="2" charset="-122"/>
                  </a:rPr>
                  <a:t>C</a:t>
                </a:r>
                <a:r>
                  <a:rPr lang="zh-CN" altLang="en-US" sz="2800" kern="100" dirty="0">
                    <a:solidFill>
                      <a:srgbClr val="0000CC"/>
                    </a:solidFill>
                    <a:latin typeface="Times New Roman" panose="02020603050405020304" pitchFamily="18" charset="0"/>
                    <a:ea typeface="宋体" panose="02010600030101010101" pitchFamily="2" charset="-122"/>
                  </a:rPr>
                  <a:t>代替。则一段传输线的电容和电感分别为：</a:t>
                </a:r>
                <a:endParaRPr lang="en-US" altLang="zh-CN" sz="2800" kern="100" dirty="0">
                  <a:solidFill>
                    <a:srgbClr val="0000CC"/>
                  </a:solidFill>
                  <a:latin typeface="Times New Roman" panose="02020603050405020304" pitchFamily="18" charset="0"/>
                  <a:ea typeface="宋体" panose="02010600030101010101" pitchFamily="2" charset="-122"/>
                </a:endParaRPr>
              </a:p>
              <a:p>
                <a:pPr algn="just">
                  <a:lnSpc>
                    <a:spcPct val="120000"/>
                  </a:lnSpc>
                </a:pPr>
                <a:r>
                  <a:rPr lang="en-US" altLang="zh-CN" sz="2800" kern="100" dirty="0">
                    <a:solidFill>
                      <a:srgbClr val="0000CC"/>
                    </a:solidFill>
                    <a:latin typeface="Times New Roman" panose="02020603050405020304" pitchFamily="18" charset="0"/>
                    <a:ea typeface="宋体" panose="02010600030101010101" pitchFamily="2" charset="-122"/>
                  </a:rPr>
                  <a:t>                                C= 10.25pF/m</a:t>
                </a:r>
                <a:r>
                  <a:rPr lang="zh-CN" altLang="en-US" sz="2800" kern="100" dirty="0">
                    <a:solidFill>
                      <a:srgbClr val="0000CC"/>
                    </a:solidFill>
                    <a:latin typeface="Times New Roman" panose="02020603050405020304" pitchFamily="18" charset="0"/>
                    <a:ea typeface="宋体" panose="02010600030101010101" pitchFamily="2" charset="-122"/>
                  </a:rPr>
                  <a:t>*（</a:t>
                </a:r>
                <a:r>
                  <a:rPr lang="en-US" altLang="zh-CN" sz="2800" kern="100" dirty="0">
                    <a:solidFill>
                      <a:srgbClr val="0000CC"/>
                    </a:solidFill>
                    <a:latin typeface="Times New Roman" panose="02020603050405020304" pitchFamily="18" charset="0"/>
                    <a:ea typeface="宋体" panose="02010600030101010101" pitchFamily="2" charset="-122"/>
                  </a:rPr>
                  <a:t>500/11</a:t>
                </a:r>
                <a:r>
                  <a:rPr lang="zh-CN" altLang="en-US" sz="2800" kern="100" dirty="0">
                    <a:solidFill>
                      <a:srgbClr val="0000CC"/>
                    </a:solidFill>
                    <a:latin typeface="Times New Roman" panose="02020603050405020304" pitchFamily="18" charset="0"/>
                    <a:ea typeface="宋体" panose="02010600030101010101" pitchFamily="2" charset="-122"/>
                  </a:rPr>
                  <a:t>）</a:t>
                </a:r>
                <a:r>
                  <a:rPr lang="en-US" altLang="zh-CN" sz="2800" kern="100" dirty="0">
                    <a:solidFill>
                      <a:srgbClr val="0000CC"/>
                    </a:solidFill>
                    <a:latin typeface="Times New Roman" panose="02020603050405020304" pitchFamily="18" charset="0"/>
                    <a:ea typeface="宋体" panose="02010600030101010101" pitchFamily="2" charset="-122"/>
                  </a:rPr>
                  <a:t>=480pF</a:t>
                </a:r>
              </a:p>
              <a:p>
                <a:pPr algn="just">
                  <a:lnSpc>
                    <a:spcPct val="120000"/>
                  </a:lnSpc>
                </a:pPr>
                <a:r>
                  <a:rPr lang="en-US" altLang="zh-CN" sz="2800" kern="100" dirty="0">
                    <a:solidFill>
                      <a:srgbClr val="0000CC"/>
                    </a:solidFill>
                    <a:latin typeface="Times New Roman" panose="02020603050405020304" pitchFamily="18" charset="0"/>
                    <a:ea typeface="宋体" panose="02010600030101010101" pitchFamily="2" charset="-122"/>
                  </a:rPr>
                  <a:t>                                L=1.0836uH/m</a:t>
                </a:r>
                <a:r>
                  <a:rPr lang="zh-CN" altLang="en-US" sz="2800" kern="100" dirty="0">
                    <a:solidFill>
                      <a:srgbClr val="0000CC"/>
                    </a:solidFill>
                    <a:latin typeface="Times New Roman" panose="02020603050405020304" pitchFamily="18" charset="0"/>
                    <a:ea typeface="宋体" panose="02010600030101010101" pitchFamily="2" charset="-122"/>
                  </a:rPr>
                  <a:t>* （</a:t>
                </a:r>
                <a:r>
                  <a:rPr lang="en-US" altLang="zh-CN" sz="2800" kern="100" dirty="0">
                    <a:solidFill>
                      <a:srgbClr val="0000CC"/>
                    </a:solidFill>
                    <a:latin typeface="Times New Roman" panose="02020603050405020304" pitchFamily="18" charset="0"/>
                    <a:ea typeface="宋体" panose="02010600030101010101" pitchFamily="2" charset="-122"/>
                  </a:rPr>
                  <a:t>500/11</a:t>
                </a:r>
                <a:r>
                  <a:rPr lang="zh-CN" altLang="en-US" sz="2800" kern="100" dirty="0">
                    <a:solidFill>
                      <a:srgbClr val="0000CC"/>
                    </a:solidFill>
                    <a:latin typeface="Times New Roman" panose="02020603050405020304" pitchFamily="18" charset="0"/>
                    <a:ea typeface="宋体" panose="02010600030101010101" pitchFamily="2" charset="-122"/>
                  </a:rPr>
                  <a:t>）</a:t>
                </a:r>
                <a:r>
                  <a:rPr lang="en-US" altLang="zh-CN" sz="2800" kern="100" dirty="0">
                    <a:solidFill>
                      <a:srgbClr val="0000CC"/>
                    </a:solidFill>
                    <a:latin typeface="Times New Roman" panose="02020603050405020304" pitchFamily="18" charset="0"/>
                    <a:ea typeface="宋体" panose="02010600030101010101" pitchFamily="2" charset="-122"/>
                  </a:rPr>
                  <a:t>=49.25uH</a:t>
                </a:r>
              </a:p>
              <a:p>
                <a:pPr algn="just">
                  <a:lnSpc>
                    <a:spcPct val="120000"/>
                  </a:lnSpc>
                </a:pPr>
                <a:r>
                  <a:rPr lang="zh-CN" altLang="en-US" sz="2800" kern="100" dirty="0">
                    <a:solidFill>
                      <a:srgbClr val="0000CC"/>
                    </a:solidFill>
                    <a:latin typeface="Times New Roman" panose="02020603050405020304" pitchFamily="18" charset="0"/>
                    <a:ea typeface="宋体" panose="02010600030101010101" pitchFamily="2" charset="-122"/>
                  </a:rPr>
                  <a:t>传输线特征阻抗：</a:t>
                </a:r>
                <a:r>
                  <a:rPr lang="en-US" altLang="zh-CN" sz="2800" kern="100" dirty="0">
                    <a:solidFill>
                      <a:srgbClr val="0000CC"/>
                    </a:solidFill>
                    <a:latin typeface="Times New Roman" panose="02020603050405020304" pitchFamily="18" charset="0"/>
                    <a:ea typeface="宋体" panose="02010600030101010101" pitchFamily="2" charset="-122"/>
                  </a:rPr>
                  <a:t>Z</a:t>
                </a:r>
                <a:r>
                  <a:rPr lang="en-US" altLang="zh-CN" sz="2800" kern="100" baseline="-25000" dirty="0">
                    <a:solidFill>
                      <a:srgbClr val="0000CC"/>
                    </a:solidFill>
                    <a:latin typeface="Times New Roman" panose="02020603050405020304" pitchFamily="18" charset="0"/>
                    <a:ea typeface="宋体" panose="02010600030101010101" pitchFamily="2" charset="-122"/>
                  </a:rPr>
                  <a:t>0</a:t>
                </a:r>
                <a:r>
                  <a:rPr lang="en-US" altLang="zh-CN" sz="2800" kern="100" dirty="0">
                    <a:solidFill>
                      <a:srgbClr val="0000CC"/>
                    </a:solidFill>
                    <a:latin typeface="Times New Roman" panose="02020603050405020304" pitchFamily="18" charset="0"/>
                    <a:ea typeface="宋体" panose="02010600030101010101" pitchFamily="2" charset="-122"/>
                  </a:rPr>
                  <a:t>=</a:t>
                </a:r>
                <a14:m>
                  <m:oMath xmlns:m="http://schemas.openxmlformats.org/officeDocument/2006/math">
                    <m:rad>
                      <m:radPr>
                        <m:degHide m:val="on"/>
                        <m:ctrlPr>
                          <a:rPr lang="en-US" altLang="zh-CN" sz="2800" i="1" kern="100" smtClean="0">
                            <a:solidFill>
                              <a:srgbClr val="0000CC"/>
                            </a:solidFill>
                            <a:latin typeface="Cambria Math" panose="02040503050406030204" pitchFamily="18" charset="0"/>
                            <a:ea typeface="宋体" panose="02010600030101010101" pitchFamily="2" charset="-122"/>
                          </a:rPr>
                        </m:ctrlPr>
                      </m:radPr>
                      <m:deg/>
                      <m:e>
                        <m:r>
                          <m:rPr>
                            <m:sty m:val="p"/>
                          </m:rPr>
                          <a:rPr lang="en-US" altLang="zh-CN" sz="2800" i="1" kern="100">
                            <a:solidFill>
                              <a:srgbClr val="0000CC"/>
                            </a:solidFill>
                            <a:latin typeface="Cambria Math" panose="02040503050406030204" pitchFamily="18" charset="0"/>
                            <a:ea typeface="宋体" panose="02010600030101010101" pitchFamily="2" charset="-122"/>
                          </a:rPr>
                          <m:t>L</m:t>
                        </m:r>
                        <m:r>
                          <a:rPr lang="en-US" altLang="zh-CN" sz="2800" i="1" kern="100" baseline="-25000">
                            <a:solidFill>
                              <a:srgbClr val="0000CC"/>
                            </a:solidFill>
                            <a:latin typeface="Cambria Math" panose="02040503050406030204" pitchFamily="18" charset="0"/>
                            <a:ea typeface="宋体" panose="02010600030101010101" pitchFamily="2" charset="-122"/>
                          </a:rPr>
                          <m:t>0</m:t>
                        </m:r>
                        <m:r>
                          <a:rPr lang="en-US" altLang="zh-CN" sz="2800" b="0" i="1" kern="100" smtClean="0">
                            <a:solidFill>
                              <a:srgbClr val="0000CC"/>
                            </a:solidFill>
                            <a:latin typeface="Cambria Math" panose="02040503050406030204" pitchFamily="18" charset="0"/>
                            <a:ea typeface="宋体" panose="02010600030101010101" pitchFamily="2" charset="-122"/>
                          </a:rPr>
                          <m:t>/</m:t>
                        </m:r>
                        <m:r>
                          <m:rPr>
                            <m:sty m:val="p"/>
                          </m:rPr>
                          <a:rPr lang="en-US" altLang="zh-CN" sz="2800" i="1" kern="100">
                            <a:solidFill>
                              <a:srgbClr val="0000CC"/>
                            </a:solidFill>
                            <a:latin typeface="Cambria Math" panose="02040503050406030204" pitchFamily="18" charset="0"/>
                            <a:ea typeface="宋体" panose="02010600030101010101" pitchFamily="2" charset="-122"/>
                          </a:rPr>
                          <m:t>C</m:t>
                        </m:r>
                        <m:r>
                          <a:rPr lang="en-US" altLang="zh-CN" sz="2800" b="0" i="1" kern="100" baseline="-25000" smtClean="0">
                            <a:solidFill>
                              <a:srgbClr val="0000CC"/>
                            </a:solidFill>
                            <a:latin typeface="Cambria Math" panose="02040503050406030204" pitchFamily="18" charset="0"/>
                            <a:ea typeface="宋体" panose="02010600030101010101" pitchFamily="2" charset="-122"/>
                          </a:rPr>
                          <m:t>0</m:t>
                        </m:r>
                      </m:e>
                    </m:rad>
                  </m:oMath>
                </a14:m>
                <a:r>
                  <a:rPr lang="en-US" altLang="zh-CN" sz="2800" kern="100" dirty="0">
                    <a:solidFill>
                      <a:srgbClr val="0000CC"/>
                    </a:solidFill>
                    <a:latin typeface="Times New Roman" panose="02020603050405020304" pitchFamily="18" charset="0"/>
                    <a:ea typeface="宋体" panose="02010600030101010101" pitchFamily="2" charset="-122"/>
                  </a:rPr>
                  <a:t>=320Ω</a:t>
                </a:r>
              </a:p>
              <a:p>
                <a:pPr algn="just">
                  <a:lnSpc>
                    <a:spcPct val="120000"/>
                  </a:lnSpc>
                </a:pPr>
                <a:r>
                  <a:rPr lang="zh-CN" altLang="en-US" sz="2800" kern="100" dirty="0">
                    <a:solidFill>
                      <a:srgbClr val="FF0000"/>
                    </a:solidFill>
                    <a:latin typeface="Times New Roman" panose="02020603050405020304" pitchFamily="18" charset="0"/>
                    <a:ea typeface="宋体" panose="02010600030101010101" pitchFamily="2" charset="-122"/>
                  </a:rPr>
                  <a:t>实际购买电容和电感参数为，</a:t>
                </a:r>
                <a:r>
                  <a:rPr lang="en-US" altLang="zh-CN" sz="2800" kern="100" dirty="0">
                    <a:solidFill>
                      <a:srgbClr val="FF0000"/>
                    </a:solidFill>
                    <a:latin typeface="Times New Roman" panose="02020603050405020304" pitchFamily="18" charset="0"/>
                    <a:ea typeface="宋体" panose="02010600030101010101" pitchFamily="2" charset="-122"/>
                  </a:rPr>
                  <a:t>C1=470pF</a:t>
                </a:r>
                <a:r>
                  <a:rPr lang="zh-CN" altLang="en-US" sz="2800" kern="100" dirty="0">
                    <a:solidFill>
                      <a:srgbClr val="FF0000"/>
                    </a:solidFill>
                    <a:latin typeface="Times New Roman" panose="02020603050405020304" pitchFamily="18" charset="0"/>
                    <a:ea typeface="宋体" panose="02010600030101010101" pitchFamily="2" charset="-122"/>
                  </a:rPr>
                  <a:t>，</a:t>
                </a:r>
                <a:r>
                  <a:rPr lang="en-US" altLang="zh-CN" sz="2800" kern="100" dirty="0">
                    <a:solidFill>
                      <a:srgbClr val="FF0000"/>
                    </a:solidFill>
                    <a:latin typeface="Times New Roman" panose="02020603050405020304" pitchFamily="18" charset="0"/>
                    <a:ea typeface="宋体" panose="02010600030101010101" pitchFamily="2" charset="-122"/>
                  </a:rPr>
                  <a:t>L1=47uH</a:t>
                </a:r>
                <a:r>
                  <a:rPr lang="zh-CN" altLang="en-US" sz="2800" kern="100" dirty="0">
                    <a:solidFill>
                      <a:srgbClr val="FF0000"/>
                    </a:solidFill>
                    <a:latin typeface="Times New Roman" panose="02020603050405020304" pitchFamily="18" charset="0"/>
                    <a:ea typeface="宋体" panose="02010600030101010101" pitchFamily="2" charset="-122"/>
                  </a:rPr>
                  <a:t>，特征阻抗</a:t>
                </a:r>
                <a:r>
                  <a:rPr lang="en-US" altLang="zh-CN" sz="2800" kern="100" dirty="0">
                    <a:solidFill>
                      <a:srgbClr val="0000CC"/>
                    </a:solidFill>
                    <a:latin typeface="Times New Roman" panose="02020603050405020304" pitchFamily="18" charset="0"/>
                    <a:ea typeface="宋体" panose="02010600030101010101" pitchFamily="2" charset="-122"/>
                  </a:rPr>
                  <a:t>Z</a:t>
                </a:r>
                <a:r>
                  <a:rPr lang="en-US" altLang="zh-CN" sz="2800" kern="100" baseline="-25000" dirty="0">
                    <a:solidFill>
                      <a:srgbClr val="0000CC"/>
                    </a:solidFill>
                    <a:latin typeface="Times New Roman" panose="02020603050405020304" pitchFamily="18" charset="0"/>
                    <a:ea typeface="宋体" panose="02010600030101010101" pitchFamily="2" charset="-122"/>
                  </a:rPr>
                  <a:t>1</a:t>
                </a:r>
                <a:r>
                  <a:rPr lang="en-US" altLang="zh-CN" sz="2800" kern="100" dirty="0">
                    <a:solidFill>
                      <a:srgbClr val="FF0000"/>
                    </a:solidFill>
                    <a:latin typeface="Times New Roman" panose="02020603050405020304" pitchFamily="18" charset="0"/>
                    <a:ea typeface="宋体" panose="02010600030101010101" pitchFamily="2" charset="-122"/>
                  </a:rPr>
                  <a:t> =330Ω</a:t>
                </a:r>
                <a:endParaRPr lang="zh-CN" altLang="zh-CN" sz="2800" kern="100" dirty="0">
                  <a:solidFill>
                    <a:srgbClr val="FF0000"/>
                  </a:solidFill>
                  <a:effectLst/>
                  <a:latin typeface="Times New Roman" panose="02020603050405020304" pitchFamily="18" charset="0"/>
                  <a:ea typeface="宋体" panose="02010600030101010101" pitchFamily="2" charset="-122"/>
                </a:endParaRPr>
              </a:p>
            </p:txBody>
          </p:sp>
        </mc:Choice>
        <mc:Fallback xmlns="">
          <p:sp>
            <p:nvSpPr>
              <p:cNvPr id="39" name="文本框 38">
                <a:extLst>
                  <a:ext uri="{FF2B5EF4-FFF2-40B4-BE49-F238E27FC236}">
                    <a16:creationId xmlns:a16="http://schemas.microsoft.com/office/drawing/2014/main" id="{7B9156A0-B752-4B2C-8E22-AABECAB65C8C}"/>
                  </a:ext>
                </a:extLst>
              </p:cNvPr>
              <p:cNvSpPr txBox="1">
                <a:spLocks noRot="1" noChangeAspect="1" noMove="1" noResize="1" noEditPoints="1" noAdjustHandles="1" noChangeArrowheads="1" noChangeShapeType="1" noTextEdit="1"/>
              </p:cNvSpPr>
              <p:nvPr/>
            </p:nvSpPr>
            <p:spPr>
              <a:xfrm>
                <a:off x="394870" y="1304502"/>
                <a:ext cx="11402260" cy="4843780"/>
              </a:xfrm>
              <a:prstGeom prst="rect">
                <a:avLst/>
              </a:prstGeom>
              <a:blipFill>
                <a:blip r:embed="rId3"/>
                <a:stretch>
                  <a:fillRect l="-1123" t="-1006" r="-1070" b="-188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007848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2" name="组合 71">
            <a:extLst>
              <a:ext uri="{FF2B5EF4-FFF2-40B4-BE49-F238E27FC236}">
                <a16:creationId xmlns:a16="http://schemas.microsoft.com/office/drawing/2014/main" id="{B755887D-06B2-49C8-A78A-151A32DBE229}"/>
              </a:ext>
            </a:extLst>
          </p:cNvPr>
          <p:cNvGrpSpPr/>
          <p:nvPr/>
        </p:nvGrpSpPr>
        <p:grpSpPr>
          <a:xfrm>
            <a:off x="6262928" y="266844"/>
            <a:ext cx="5233747" cy="330008"/>
            <a:chOff x="5025390" y="266844"/>
            <a:chExt cx="6259830" cy="330008"/>
          </a:xfrm>
        </p:grpSpPr>
        <p:cxnSp>
          <p:nvCxnSpPr>
            <p:cNvPr id="73" name="直接连接符 72">
              <a:extLst>
                <a:ext uri="{FF2B5EF4-FFF2-40B4-BE49-F238E27FC236}">
                  <a16:creationId xmlns:a16="http://schemas.microsoft.com/office/drawing/2014/main" id="{62FE7A77-FBEB-40AD-82EE-F6D56B4FBED0}"/>
                </a:ext>
              </a:extLst>
            </p:cNvPr>
            <p:cNvCxnSpPr>
              <a:cxnSpLocks/>
            </p:cNvCxnSpPr>
            <p:nvPr/>
          </p:nvCxnSpPr>
          <p:spPr>
            <a:xfrm flipH="1">
              <a:off x="5025390" y="596852"/>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4" name="直接连接符 73">
              <a:extLst>
                <a:ext uri="{FF2B5EF4-FFF2-40B4-BE49-F238E27FC236}">
                  <a16:creationId xmlns:a16="http://schemas.microsoft.com/office/drawing/2014/main" id="{BDD67602-65B0-4D01-8429-E64EE945B436}"/>
                </a:ext>
              </a:extLst>
            </p:cNvPr>
            <p:cNvCxnSpPr>
              <a:cxnSpLocks/>
            </p:cNvCxnSpPr>
            <p:nvPr/>
          </p:nvCxnSpPr>
          <p:spPr>
            <a:xfrm flipH="1">
              <a:off x="5025390" y="514350"/>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5" name="直接连接符 74">
              <a:extLst>
                <a:ext uri="{FF2B5EF4-FFF2-40B4-BE49-F238E27FC236}">
                  <a16:creationId xmlns:a16="http://schemas.microsoft.com/office/drawing/2014/main" id="{56902EF3-DC68-477E-B624-6F39F33A5062}"/>
                </a:ext>
              </a:extLst>
            </p:cNvPr>
            <p:cNvCxnSpPr>
              <a:cxnSpLocks/>
            </p:cNvCxnSpPr>
            <p:nvPr/>
          </p:nvCxnSpPr>
          <p:spPr>
            <a:xfrm flipH="1">
              <a:off x="5025390" y="431848"/>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6" name="直接连接符 75">
              <a:extLst>
                <a:ext uri="{FF2B5EF4-FFF2-40B4-BE49-F238E27FC236}">
                  <a16:creationId xmlns:a16="http://schemas.microsoft.com/office/drawing/2014/main" id="{E5575DC5-6C14-4E47-8549-F414278D7485}"/>
                </a:ext>
              </a:extLst>
            </p:cNvPr>
            <p:cNvCxnSpPr>
              <a:cxnSpLocks/>
            </p:cNvCxnSpPr>
            <p:nvPr/>
          </p:nvCxnSpPr>
          <p:spPr>
            <a:xfrm flipH="1">
              <a:off x="5025390" y="349346"/>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7" name="直接连接符 76">
              <a:extLst>
                <a:ext uri="{FF2B5EF4-FFF2-40B4-BE49-F238E27FC236}">
                  <a16:creationId xmlns:a16="http://schemas.microsoft.com/office/drawing/2014/main" id="{BEA35CD9-8F8F-4991-8A28-0D6749A159AF}"/>
                </a:ext>
              </a:extLst>
            </p:cNvPr>
            <p:cNvCxnSpPr>
              <a:cxnSpLocks/>
            </p:cNvCxnSpPr>
            <p:nvPr/>
          </p:nvCxnSpPr>
          <p:spPr>
            <a:xfrm flipH="1">
              <a:off x="5025390" y="266844"/>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grpSp>
        <p:nvGrpSpPr>
          <p:cNvPr id="78" name="组合 77">
            <a:extLst>
              <a:ext uri="{FF2B5EF4-FFF2-40B4-BE49-F238E27FC236}">
                <a16:creationId xmlns:a16="http://schemas.microsoft.com/office/drawing/2014/main" id="{B708D5A6-F729-4A3B-AFF5-DB02E26819D1}"/>
              </a:ext>
            </a:extLst>
          </p:cNvPr>
          <p:cNvGrpSpPr/>
          <p:nvPr/>
        </p:nvGrpSpPr>
        <p:grpSpPr>
          <a:xfrm>
            <a:off x="0" y="266844"/>
            <a:ext cx="487680" cy="330008"/>
            <a:chOff x="5025390" y="266844"/>
            <a:chExt cx="6259830" cy="330008"/>
          </a:xfrm>
        </p:grpSpPr>
        <p:cxnSp>
          <p:nvCxnSpPr>
            <p:cNvPr id="79" name="直接连接符 78">
              <a:extLst>
                <a:ext uri="{FF2B5EF4-FFF2-40B4-BE49-F238E27FC236}">
                  <a16:creationId xmlns:a16="http://schemas.microsoft.com/office/drawing/2014/main" id="{B16271FF-B014-4D0E-A8FC-14016AE63AC9}"/>
                </a:ext>
              </a:extLst>
            </p:cNvPr>
            <p:cNvCxnSpPr>
              <a:cxnSpLocks/>
            </p:cNvCxnSpPr>
            <p:nvPr/>
          </p:nvCxnSpPr>
          <p:spPr>
            <a:xfrm flipH="1">
              <a:off x="5025390" y="596852"/>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0" name="直接连接符 79">
              <a:extLst>
                <a:ext uri="{FF2B5EF4-FFF2-40B4-BE49-F238E27FC236}">
                  <a16:creationId xmlns:a16="http://schemas.microsoft.com/office/drawing/2014/main" id="{54662351-B9F7-41B8-8DFD-B434997C52AF}"/>
                </a:ext>
              </a:extLst>
            </p:cNvPr>
            <p:cNvCxnSpPr>
              <a:cxnSpLocks/>
            </p:cNvCxnSpPr>
            <p:nvPr/>
          </p:nvCxnSpPr>
          <p:spPr>
            <a:xfrm flipH="1">
              <a:off x="5025390" y="514350"/>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1" name="直接连接符 80">
              <a:extLst>
                <a:ext uri="{FF2B5EF4-FFF2-40B4-BE49-F238E27FC236}">
                  <a16:creationId xmlns:a16="http://schemas.microsoft.com/office/drawing/2014/main" id="{18BB5DB3-4909-47FC-BDD8-8679FC8F7B9D}"/>
                </a:ext>
              </a:extLst>
            </p:cNvPr>
            <p:cNvCxnSpPr>
              <a:cxnSpLocks/>
            </p:cNvCxnSpPr>
            <p:nvPr/>
          </p:nvCxnSpPr>
          <p:spPr>
            <a:xfrm flipH="1">
              <a:off x="5025390" y="431848"/>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2" name="直接连接符 81">
              <a:extLst>
                <a:ext uri="{FF2B5EF4-FFF2-40B4-BE49-F238E27FC236}">
                  <a16:creationId xmlns:a16="http://schemas.microsoft.com/office/drawing/2014/main" id="{7C6A262B-8F87-4AA5-BD4A-55DE84149A06}"/>
                </a:ext>
              </a:extLst>
            </p:cNvPr>
            <p:cNvCxnSpPr>
              <a:cxnSpLocks/>
            </p:cNvCxnSpPr>
            <p:nvPr/>
          </p:nvCxnSpPr>
          <p:spPr>
            <a:xfrm flipH="1">
              <a:off x="5025390" y="349346"/>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3" name="直接连接符 82">
              <a:extLst>
                <a:ext uri="{FF2B5EF4-FFF2-40B4-BE49-F238E27FC236}">
                  <a16:creationId xmlns:a16="http://schemas.microsoft.com/office/drawing/2014/main" id="{8F8A0811-38B1-462B-8E81-76FB9965A173}"/>
                </a:ext>
              </a:extLst>
            </p:cNvPr>
            <p:cNvCxnSpPr>
              <a:cxnSpLocks/>
            </p:cNvCxnSpPr>
            <p:nvPr/>
          </p:nvCxnSpPr>
          <p:spPr>
            <a:xfrm flipH="1">
              <a:off x="5025390" y="266844"/>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pic>
        <p:nvPicPr>
          <p:cNvPr id="18" name="图片 1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604252" y="168275"/>
            <a:ext cx="520700" cy="520700"/>
          </a:xfrm>
          <a:prstGeom prst="rect">
            <a:avLst/>
          </a:prstGeom>
        </p:spPr>
      </p:pic>
      <p:sp>
        <p:nvSpPr>
          <p:cNvPr id="2" name="Rectangle 2">
            <a:extLst>
              <a:ext uri="{FF2B5EF4-FFF2-40B4-BE49-F238E27FC236}">
                <a16:creationId xmlns:a16="http://schemas.microsoft.com/office/drawing/2014/main" id="{9F833CEB-3BCA-42FB-8A66-6A4B0397930D}"/>
              </a:ext>
            </a:extLst>
          </p:cNvPr>
          <p:cNvSpPr>
            <a:spLocks noChangeArrowheads="1"/>
          </p:cNvSpPr>
          <p:nvPr/>
        </p:nvSpPr>
        <p:spPr bwMode="auto">
          <a:xfrm>
            <a:off x="8730343" y="3200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3" name="Rectangle 4">
            <a:extLst>
              <a:ext uri="{FF2B5EF4-FFF2-40B4-BE49-F238E27FC236}">
                <a16:creationId xmlns:a16="http://schemas.microsoft.com/office/drawing/2014/main" id="{BC469228-5E5D-4E14-95DF-7AD9117668C4}"/>
              </a:ext>
            </a:extLst>
          </p:cNvPr>
          <p:cNvSpPr>
            <a:spLocks noChangeArrowheads="1"/>
          </p:cNvSpPr>
          <p:nvPr/>
        </p:nvSpPr>
        <p:spPr bwMode="auto">
          <a:xfrm>
            <a:off x="3265714" y="263913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Rectangle 6">
            <a:extLst>
              <a:ext uri="{FF2B5EF4-FFF2-40B4-BE49-F238E27FC236}">
                <a16:creationId xmlns:a16="http://schemas.microsoft.com/office/drawing/2014/main" id="{332340A1-D513-4930-8BB4-AB9E3DF45EF8}"/>
              </a:ext>
            </a:extLst>
          </p:cNvPr>
          <p:cNvSpPr>
            <a:spLocks noChangeArrowheads="1"/>
          </p:cNvSpPr>
          <p:nvPr/>
        </p:nvSpPr>
        <p:spPr bwMode="auto">
          <a:xfrm>
            <a:off x="2387600" y="229122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Rectangle 8">
            <a:extLst>
              <a:ext uri="{FF2B5EF4-FFF2-40B4-BE49-F238E27FC236}">
                <a16:creationId xmlns:a16="http://schemas.microsoft.com/office/drawing/2014/main" id="{DDA06C14-ED69-4C02-91D4-5E9783F6D745}"/>
              </a:ext>
            </a:extLst>
          </p:cNvPr>
          <p:cNvSpPr>
            <a:spLocks noChangeArrowheads="1"/>
          </p:cNvSpPr>
          <p:nvPr/>
        </p:nvSpPr>
        <p:spPr bwMode="auto">
          <a:xfrm>
            <a:off x="2387600" y="229122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9" name="Rectangle 6">
            <a:extLst>
              <a:ext uri="{FF2B5EF4-FFF2-40B4-BE49-F238E27FC236}">
                <a16:creationId xmlns:a16="http://schemas.microsoft.com/office/drawing/2014/main" id="{08F295C0-E0A1-4695-8094-69DE0B75E2C2}"/>
              </a:ext>
            </a:extLst>
          </p:cNvPr>
          <p:cNvSpPr>
            <a:spLocks noChangeArrowheads="1"/>
          </p:cNvSpPr>
          <p:nvPr/>
        </p:nvSpPr>
        <p:spPr bwMode="auto">
          <a:xfrm>
            <a:off x="6012208" y="3563656"/>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0" name="Rectangle 8">
            <a:extLst>
              <a:ext uri="{FF2B5EF4-FFF2-40B4-BE49-F238E27FC236}">
                <a16:creationId xmlns:a16="http://schemas.microsoft.com/office/drawing/2014/main" id="{8BC65458-D7F5-4948-84F4-9F54A3C89158}"/>
              </a:ext>
            </a:extLst>
          </p:cNvPr>
          <p:cNvSpPr>
            <a:spLocks noChangeArrowheads="1"/>
          </p:cNvSpPr>
          <p:nvPr/>
        </p:nvSpPr>
        <p:spPr bwMode="auto">
          <a:xfrm>
            <a:off x="4247522" y="189548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2" name="Rectangle 10">
            <a:extLst>
              <a:ext uri="{FF2B5EF4-FFF2-40B4-BE49-F238E27FC236}">
                <a16:creationId xmlns:a16="http://schemas.microsoft.com/office/drawing/2014/main" id="{E0DC3B29-81FB-49A6-A78F-73F821DC6ABD}"/>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4" name="Rectangle 12">
            <a:extLst>
              <a:ext uri="{FF2B5EF4-FFF2-40B4-BE49-F238E27FC236}">
                <a16:creationId xmlns:a16="http://schemas.microsoft.com/office/drawing/2014/main" id="{1AC72CEA-7AC4-45EE-9FB4-A09AC51F0A38}"/>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7" name="Rectangle 17">
            <a:extLst>
              <a:ext uri="{FF2B5EF4-FFF2-40B4-BE49-F238E27FC236}">
                <a16:creationId xmlns:a16="http://schemas.microsoft.com/office/drawing/2014/main" id="{11DE5850-4E6A-4228-8316-F6335684BE1B}"/>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Rectangle 2">
            <a:extLst>
              <a:ext uri="{FF2B5EF4-FFF2-40B4-BE49-F238E27FC236}">
                <a16:creationId xmlns:a16="http://schemas.microsoft.com/office/drawing/2014/main" id="{A0789352-19FD-448D-B517-BD70C6748577}"/>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9" name="Rectangle 4">
            <a:extLst>
              <a:ext uri="{FF2B5EF4-FFF2-40B4-BE49-F238E27FC236}">
                <a16:creationId xmlns:a16="http://schemas.microsoft.com/office/drawing/2014/main" id="{CBCEA20F-3BF3-457F-B5EF-2F62C3AF3ADD}"/>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2" name="Rectangle 9">
            <a:extLst>
              <a:ext uri="{FF2B5EF4-FFF2-40B4-BE49-F238E27FC236}">
                <a16:creationId xmlns:a16="http://schemas.microsoft.com/office/drawing/2014/main" id="{F4311A8C-2CCA-45AC-AF99-BC364C37B1F8}"/>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4" name="Rectangle 11">
            <a:extLst>
              <a:ext uri="{FF2B5EF4-FFF2-40B4-BE49-F238E27FC236}">
                <a16:creationId xmlns:a16="http://schemas.microsoft.com/office/drawing/2014/main" id="{AF5EA801-0B37-4339-96D3-5986CF757934}"/>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2">
            <a:extLst>
              <a:ext uri="{FF2B5EF4-FFF2-40B4-BE49-F238E27FC236}">
                <a16:creationId xmlns:a16="http://schemas.microsoft.com/office/drawing/2014/main" id="{6C367657-B9B4-4D3D-AB37-1C934B6D4644}"/>
              </a:ext>
            </a:extLst>
          </p:cNvPr>
          <p:cNvSpPr>
            <a:spLocks noChangeArrowheads="1"/>
          </p:cNvSpPr>
          <p:nvPr/>
        </p:nvSpPr>
        <p:spPr bwMode="auto">
          <a:xfrm>
            <a:off x="6647542" y="292583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36" name="Rectangle 15">
            <a:extLst>
              <a:ext uri="{FF2B5EF4-FFF2-40B4-BE49-F238E27FC236}">
                <a16:creationId xmlns:a16="http://schemas.microsoft.com/office/drawing/2014/main" id="{9D1EB5C7-2082-4D11-8458-609EC9CBFC4E}"/>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46" name="文本框 1">
            <a:extLst>
              <a:ext uri="{FF2B5EF4-FFF2-40B4-BE49-F238E27FC236}">
                <a16:creationId xmlns:a16="http://schemas.microsoft.com/office/drawing/2014/main" id="{013F5554-BC43-4566-AA2E-18B2602D2706}"/>
              </a:ext>
            </a:extLst>
          </p:cNvPr>
          <p:cNvSpPr txBox="1"/>
          <p:nvPr/>
        </p:nvSpPr>
        <p:spPr>
          <a:xfrm>
            <a:off x="11291972" y="6320393"/>
            <a:ext cx="832980"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dirty="0"/>
              <a:t>21/23</a:t>
            </a:r>
            <a:endParaRPr lang="zh-CN" altLang="en-US" dirty="0"/>
          </a:p>
        </p:txBody>
      </p:sp>
      <p:sp>
        <p:nvSpPr>
          <p:cNvPr id="47" name="文本框 46">
            <a:extLst>
              <a:ext uri="{FF2B5EF4-FFF2-40B4-BE49-F238E27FC236}">
                <a16:creationId xmlns:a16="http://schemas.microsoft.com/office/drawing/2014/main" id="{F5111420-D721-4353-ACC4-FBFB488DB616}"/>
              </a:ext>
            </a:extLst>
          </p:cNvPr>
          <p:cNvSpPr txBox="1"/>
          <p:nvPr/>
        </p:nvSpPr>
        <p:spPr>
          <a:xfrm>
            <a:off x="565149" y="1012632"/>
            <a:ext cx="10600055" cy="559897"/>
          </a:xfrm>
          <a:prstGeom prst="rect">
            <a:avLst/>
          </a:prstGeom>
          <a:noFill/>
        </p:spPr>
        <p:txBody>
          <a:bodyPr wrap="square">
            <a:spAutoFit/>
          </a:bodyPr>
          <a:lstStyle/>
          <a:p>
            <a:pPr algn="just">
              <a:lnSpc>
                <a:spcPct val="120000"/>
              </a:lnSpc>
            </a:pPr>
            <a:r>
              <a:rPr lang="zh-CN" altLang="en-US" sz="2800" kern="100" dirty="0">
                <a:solidFill>
                  <a:srgbClr val="0000CC"/>
                </a:solidFill>
                <a:effectLst/>
                <a:latin typeface="Times New Roman" panose="02020603050405020304" pitchFamily="18" charset="0"/>
                <a:ea typeface="宋体" panose="02010600030101010101" pitchFamily="2" charset="-122"/>
              </a:rPr>
              <a:t>分布参数电路模型：</a:t>
            </a:r>
            <a:endParaRPr lang="zh-CN" altLang="zh-CN" sz="2800" kern="100" dirty="0">
              <a:effectLst/>
              <a:latin typeface="Times New Roman" panose="02020603050405020304" pitchFamily="18" charset="0"/>
              <a:ea typeface="宋体" panose="02010600030101010101" pitchFamily="2" charset="-122"/>
            </a:endParaRPr>
          </a:p>
        </p:txBody>
      </p:sp>
      <p:sp>
        <p:nvSpPr>
          <p:cNvPr id="48" name="文本框 47">
            <a:extLst>
              <a:ext uri="{FF2B5EF4-FFF2-40B4-BE49-F238E27FC236}">
                <a16:creationId xmlns:a16="http://schemas.microsoft.com/office/drawing/2014/main" id="{3444F9D9-1780-4690-8831-6AFDF4E157F4}"/>
              </a:ext>
            </a:extLst>
          </p:cNvPr>
          <p:cNvSpPr txBox="1"/>
          <p:nvPr/>
        </p:nvSpPr>
        <p:spPr>
          <a:xfrm>
            <a:off x="565149" y="3601335"/>
            <a:ext cx="10600055" cy="559897"/>
          </a:xfrm>
          <a:prstGeom prst="rect">
            <a:avLst/>
          </a:prstGeom>
          <a:noFill/>
        </p:spPr>
        <p:txBody>
          <a:bodyPr wrap="square">
            <a:spAutoFit/>
          </a:bodyPr>
          <a:lstStyle/>
          <a:p>
            <a:pPr algn="just">
              <a:lnSpc>
                <a:spcPct val="120000"/>
              </a:lnSpc>
            </a:pPr>
            <a:r>
              <a:rPr lang="zh-CN" altLang="en-US" sz="2800" kern="100" dirty="0">
                <a:solidFill>
                  <a:srgbClr val="0000CC"/>
                </a:solidFill>
                <a:effectLst/>
                <a:latin typeface="Times New Roman" panose="02020603050405020304" pitchFamily="18" charset="0"/>
                <a:ea typeface="宋体" panose="02010600030101010101" pitchFamily="2" charset="-122"/>
              </a:rPr>
              <a:t>搭接电路并测量：</a:t>
            </a:r>
            <a:endParaRPr lang="zh-CN" altLang="zh-CN" sz="2800" kern="100" dirty="0">
              <a:effectLst/>
              <a:latin typeface="Times New Roman" panose="02020603050405020304" pitchFamily="18" charset="0"/>
              <a:ea typeface="宋体" panose="02010600030101010101" pitchFamily="2" charset="-122"/>
            </a:endParaRPr>
          </a:p>
        </p:txBody>
      </p:sp>
      <p:sp>
        <p:nvSpPr>
          <p:cNvPr id="37" name="文本框 36">
            <a:extLst>
              <a:ext uri="{FF2B5EF4-FFF2-40B4-BE49-F238E27FC236}">
                <a16:creationId xmlns:a16="http://schemas.microsoft.com/office/drawing/2014/main" id="{E8D2AF15-2E1C-43A2-9F64-F040CF08A0B5}"/>
              </a:ext>
            </a:extLst>
          </p:cNvPr>
          <p:cNvSpPr txBox="1"/>
          <p:nvPr/>
        </p:nvSpPr>
        <p:spPr>
          <a:xfrm>
            <a:off x="487680" y="105459"/>
            <a:ext cx="7967388" cy="646331"/>
          </a:xfrm>
          <a:prstGeom prst="rect">
            <a:avLst/>
          </a:prstGeom>
          <a:noFill/>
        </p:spPr>
        <p:txBody>
          <a:bodyPr wrap="square" rtlCol="0">
            <a:spAutoFit/>
          </a:bodyPr>
          <a:lstStyle/>
          <a:p>
            <a:r>
              <a:rPr lang="zh-CN" altLang="en-US" sz="3600" b="1" dirty="0"/>
              <a:t>三</a:t>
            </a:r>
            <a:r>
              <a:rPr lang="en-US" altLang="zh-CN" sz="3600" b="1" dirty="0"/>
              <a:t>.</a:t>
            </a:r>
            <a:r>
              <a:rPr lang="zh-CN" altLang="en-US" sz="3600" b="1" dirty="0"/>
              <a:t> 实验任务</a:t>
            </a:r>
            <a:r>
              <a:rPr lang="en-US" altLang="zh-CN" sz="3600" b="1" dirty="0"/>
              <a:t>—</a:t>
            </a:r>
            <a:r>
              <a:rPr lang="zh-CN" altLang="en-US" sz="2400" b="1" dirty="0"/>
              <a:t>用集总参数电路等效分布参数电路</a:t>
            </a:r>
            <a:endParaRPr lang="zh-CN" altLang="en-US" sz="3600" b="1" dirty="0"/>
          </a:p>
        </p:txBody>
      </p:sp>
      <p:pic>
        <p:nvPicPr>
          <p:cNvPr id="20" name="图片 19">
            <a:extLst>
              <a:ext uri="{FF2B5EF4-FFF2-40B4-BE49-F238E27FC236}">
                <a16:creationId xmlns:a16="http://schemas.microsoft.com/office/drawing/2014/main" id="{D7DBC732-3D23-44D5-BEB1-F9792B6860E9}"/>
              </a:ext>
            </a:extLst>
          </p:cNvPr>
          <p:cNvPicPr>
            <a:picLocks noChangeAspect="1"/>
          </p:cNvPicPr>
          <p:nvPr/>
        </p:nvPicPr>
        <p:blipFill>
          <a:blip r:embed="rId3"/>
          <a:stretch>
            <a:fillRect/>
          </a:stretch>
        </p:blipFill>
        <p:spPr>
          <a:xfrm>
            <a:off x="2232157" y="1476487"/>
            <a:ext cx="6068786" cy="1888671"/>
          </a:xfrm>
          <a:prstGeom prst="rect">
            <a:avLst/>
          </a:prstGeom>
        </p:spPr>
      </p:pic>
      <p:sp>
        <p:nvSpPr>
          <p:cNvPr id="44" name="文本框 43">
            <a:extLst>
              <a:ext uri="{FF2B5EF4-FFF2-40B4-BE49-F238E27FC236}">
                <a16:creationId xmlns:a16="http://schemas.microsoft.com/office/drawing/2014/main" id="{87C70EB2-F672-4246-95CE-B814D0C0F932}"/>
              </a:ext>
            </a:extLst>
          </p:cNvPr>
          <p:cNvSpPr txBox="1"/>
          <p:nvPr/>
        </p:nvSpPr>
        <p:spPr>
          <a:xfrm>
            <a:off x="1208422" y="4350669"/>
            <a:ext cx="8480459" cy="1286250"/>
          </a:xfrm>
          <a:prstGeom prst="rect">
            <a:avLst/>
          </a:prstGeom>
          <a:noFill/>
        </p:spPr>
        <p:txBody>
          <a:bodyPr wrap="square">
            <a:spAutoFit/>
          </a:bodyPr>
          <a:lstStyle/>
          <a:p>
            <a:pPr>
              <a:lnSpc>
                <a:spcPct val="150000"/>
              </a:lnSpc>
            </a:pPr>
            <a:r>
              <a:rPr lang="zh-CN" altLang="en-US" dirty="0"/>
              <a:t>（</a:t>
            </a:r>
            <a:r>
              <a:rPr lang="en-US" altLang="zh-CN" dirty="0"/>
              <a:t>1</a:t>
            </a:r>
            <a:r>
              <a:rPr lang="zh-CN" altLang="en-US" dirty="0"/>
              <a:t>）终端</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开路状态下，</a:t>
            </a:r>
            <a:r>
              <a:rPr lang="zh-CN" altLang="en-US" kern="100" dirty="0">
                <a:latin typeface="Times New Roman" panose="02020603050405020304" pitchFamily="18" charset="0"/>
                <a:ea typeface="宋体" panose="02010600030101010101" pitchFamily="2" charset="-122"/>
                <a:cs typeface="Times New Roman" panose="02020603050405020304" pitchFamily="18" charset="0"/>
              </a:rPr>
              <a:t>测量</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沿线</a:t>
            </a:r>
            <a:r>
              <a:rPr lang="zh-CN" altLang="en-US" kern="100" dirty="0">
                <a:latin typeface="Times New Roman" panose="02020603050405020304" pitchFamily="18" charset="0"/>
                <a:ea typeface="宋体" panose="02010600030101010101" pitchFamily="2" charset="-122"/>
                <a:cs typeface="Times New Roman" panose="02020603050405020304" pitchFamily="18" charset="0"/>
              </a:rPr>
              <a:t>各节点</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电压</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有效值</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，并</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绘制成曲线。</a:t>
            </a:r>
            <a:endPar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nSpc>
                <a:spcPct val="150000"/>
              </a:lnSpc>
            </a:pP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2</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en-US" dirty="0"/>
              <a:t>终端</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短路</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状态下，</a:t>
            </a:r>
            <a:r>
              <a:rPr lang="zh-CN" altLang="en-US" kern="100" dirty="0">
                <a:latin typeface="Times New Roman" panose="02020603050405020304" pitchFamily="18" charset="0"/>
                <a:ea typeface="宋体" panose="02010600030101010101" pitchFamily="2" charset="-122"/>
                <a:cs typeface="Times New Roman" panose="02020603050405020304" pitchFamily="18" charset="0"/>
              </a:rPr>
              <a:t>测量</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沿线</a:t>
            </a:r>
            <a:r>
              <a:rPr lang="zh-CN" altLang="en-US" kern="100" dirty="0">
                <a:latin typeface="Times New Roman" panose="02020603050405020304" pitchFamily="18" charset="0"/>
                <a:ea typeface="宋体" panose="02010600030101010101" pitchFamily="2" charset="-122"/>
                <a:cs typeface="Times New Roman" panose="02020603050405020304" pitchFamily="18" charset="0"/>
              </a:rPr>
              <a:t>各节点</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电压</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有效值</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，并</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绘制成曲线。</a:t>
            </a:r>
            <a:endPar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nSpc>
                <a:spcPct val="150000"/>
              </a:lnSpc>
            </a:pPr>
            <a:r>
              <a:rPr lang="zh-CN" altLang="en-US" kern="1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kern="100" dirty="0">
                <a:latin typeface="Times New Roman" panose="02020603050405020304" pitchFamily="18" charset="0"/>
                <a:ea typeface="宋体" panose="02010600030101010101" pitchFamily="2" charset="-122"/>
                <a:cs typeface="Times New Roman" panose="02020603050405020304" pitchFamily="18" charset="0"/>
              </a:rPr>
              <a:t>3</a:t>
            </a:r>
            <a:r>
              <a:rPr lang="zh-CN" altLang="en-US" kern="100" dirty="0">
                <a:latin typeface="Times New Roman" panose="02020603050405020304" pitchFamily="18" charset="0"/>
                <a:ea typeface="宋体" panose="02010600030101010101" pitchFamily="2" charset="-122"/>
                <a:cs typeface="Times New Roman" panose="02020603050405020304" pitchFamily="18" charset="0"/>
              </a:rPr>
              <a:t>）终端接</a:t>
            </a:r>
            <a:r>
              <a:rPr lang="en-US" altLang="zh-CN" kern="100" dirty="0">
                <a:latin typeface="Times New Roman" panose="02020603050405020304" pitchFamily="18" charset="0"/>
                <a:ea typeface="宋体" panose="02010600030101010101" pitchFamily="2" charset="-122"/>
                <a:cs typeface="Times New Roman" panose="02020603050405020304" pitchFamily="18" charset="0"/>
              </a:rPr>
              <a:t>330Ω</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匹配电阻时，</a:t>
            </a:r>
            <a:r>
              <a:rPr lang="zh-CN" altLang="en-US" kern="100" dirty="0">
                <a:latin typeface="Times New Roman" panose="02020603050405020304" pitchFamily="18" charset="0"/>
                <a:ea typeface="宋体" panose="02010600030101010101" pitchFamily="2" charset="-122"/>
                <a:cs typeface="Times New Roman" panose="02020603050405020304" pitchFamily="18" charset="0"/>
              </a:rPr>
              <a:t>测量</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沿线</a:t>
            </a:r>
            <a:r>
              <a:rPr lang="zh-CN" altLang="en-US" kern="100" dirty="0">
                <a:latin typeface="Times New Roman" panose="02020603050405020304" pitchFamily="18" charset="0"/>
                <a:ea typeface="宋体" panose="02010600030101010101" pitchFamily="2" charset="-122"/>
                <a:cs typeface="Times New Roman" panose="02020603050405020304" pitchFamily="18" charset="0"/>
              </a:rPr>
              <a:t>各节点</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电压</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有效值</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，并</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绘制成曲线。</a:t>
            </a:r>
            <a:endPar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2715505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2" name="组合 71">
            <a:extLst>
              <a:ext uri="{FF2B5EF4-FFF2-40B4-BE49-F238E27FC236}">
                <a16:creationId xmlns:a16="http://schemas.microsoft.com/office/drawing/2014/main" id="{B755887D-06B2-49C8-A78A-151A32DBE229}"/>
              </a:ext>
            </a:extLst>
          </p:cNvPr>
          <p:cNvGrpSpPr/>
          <p:nvPr/>
        </p:nvGrpSpPr>
        <p:grpSpPr>
          <a:xfrm>
            <a:off x="6262928" y="266844"/>
            <a:ext cx="5233747" cy="330008"/>
            <a:chOff x="5025390" y="266844"/>
            <a:chExt cx="6259830" cy="330008"/>
          </a:xfrm>
        </p:grpSpPr>
        <p:cxnSp>
          <p:nvCxnSpPr>
            <p:cNvPr id="73" name="直接连接符 72">
              <a:extLst>
                <a:ext uri="{FF2B5EF4-FFF2-40B4-BE49-F238E27FC236}">
                  <a16:creationId xmlns:a16="http://schemas.microsoft.com/office/drawing/2014/main" id="{62FE7A77-FBEB-40AD-82EE-F6D56B4FBED0}"/>
                </a:ext>
              </a:extLst>
            </p:cNvPr>
            <p:cNvCxnSpPr>
              <a:cxnSpLocks/>
            </p:cNvCxnSpPr>
            <p:nvPr/>
          </p:nvCxnSpPr>
          <p:spPr>
            <a:xfrm flipH="1">
              <a:off x="5025390" y="596852"/>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4" name="直接连接符 73">
              <a:extLst>
                <a:ext uri="{FF2B5EF4-FFF2-40B4-BE49-F238E27FC236}">
                  <a16:creationId xmlns:a16="http://schemas.microsoft.com/office/drawing/2014/main" id="{BDD67602-65B0-4D01-8429-E64EE945B436}"/>
                </a:ext>
              </a:extLst>
            </p:cNvPr>
            <p:cNvCxnSpPr>
              <a:cxnSpLocks/>
            </p:cNvCxnSpPr>
            <p:nvPr/>
          </p:nvCxnSpPr>
          <p:spPr>
            <a:xfrm flipH="1">
              <a:off x="5025390" y="514350"/>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5" name="直接连接符 74">
              <a:extLst>
                <a:ext uri="{FF2B5EF4-FFF2-40B4-BE49-F238E27FC236}">
                  <a16:creationId xmlns:a16="http://schemas.microsoft.com/office/drawing/2014/main" id="{56902EF3-DC68-477E-B624-6F39F33A5062}"/>
                </a:ext>
              </a:extLst>
            </p:cNvPr>
            <p:cNvCxnSpPr>
              <a:cxnSpLocks/>
            </p:cNvCxnSpPr>
            <p:nvPr/>
          </p:nvCxnSpPr>
          <p:spPr>
            <a:xfrm flipH="1">
              <a:off x="5025390" y="431848"/>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6" name="直接连接符 75">
              <a:extLst>
                <a:ext uri="{FF2B5EF4-FFF2-40B4-BE49-F238E27FC236}">
                  <a16:creationId xmlns:a16="http://schemas.microsoft.com/office/drawing/2014/main" id="{E5575DC5-6C14-4E47-8549-F414278D7485}"/>
                </a:ext>
              </a:extLst>
            </p:cNvPr>
            <p:cNvCxnSpPr>
              <a:cxnSpLocks/>
            </p:cNvCxnSpPr>
            <p:nvPr/>
          </p:nvCxnSpPr>
          <p:spPr>
            <a:xfrm flipH="1">
              <a:off x="5025390" y="349346"/>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7" name="直接连接符 76">
              <a:extLst>
                <a:ext uri="{FF2B5EF4-FFF2-40B4-BE49-F238E27FC236}">
                  <a16:creationId xmlns:a16="http://schemas.microsoft.com/office/drawing/2014/main" id="{BEA35CD9-8F8F-4991-8A28-0D6749A159AF}"/>
                </a:ext>
              </a:extLst>
            </p:cNvPr>
            <p:cNvCxnSpPr>
              <a:cxnSpLocks/>
            </p:cNvCxnSpPr>
            <p:nvPr/>
          </p:nvCxnSpPr>
          <p:spPr>
            <a:xfrm flipH="1">
              <a:off x="5025390" y="266844"/>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grpSp>
        <p:nvGrpSpPr>
          <p:cNvPr id="78" name="组合 77">
            <a:extLst>
              <a:ext uri="{FF2B5EF4-FFF2-40B4-BE49-F238E27FC236}">
                <a16:creationId xmlns:a16="http://schemas.microsoft.com/office/drawing/2014/main" id="{B708D5A6-F729-4A3B-AFF5-DB02E26819D1}"/>
              </a:ext>
            </a:extLst>
          </p:cNvPr>
          <p:cNvGrpSpPr/>
          <p:nvPr/>
        </p:nvGrpSpPr>
        <p:grpSpPr>
          <a:xfrm>
            <a:off x="0" y="266844"/>
            <a:ext cx="487680" cy="330008"/>
            <a:chOff x="5025390" y="266844"/>
            <a:chExt cx="6259830" cy="330008"/>
          </a:xfrm>
        </p:grpSpPr>
        <p:cxnSp>
          <p:nvCxnSpPr>
            <p:cNvPr id="79" name="直接连接符 78">
              <a:extLst>
                <a:ext uri="{FF2B5EF4-FFF2-40B4-BE49-F238E27FC236}">
                  <a16:creationId xmlns:a16="http://schemas.microsoft.com/office/drawing/2014/main" id="{B16271FF-B014-4D0E-A8FC-14016AE63AC9}"/>
                </a:ext>
              </a:extLst>
            </p:cNvPr>
            <p:cNvCxnSpPr>
              <a:cxnSpLocks/>
            </p:cNvCxnSpPr>
            <p:nvPr/>
          </p:nvCxnSpPr>
          <p:spPr>
            <a:xfrm flipH="1">
              <a:off x="5025390" y="596852"/>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0" name="直接连接符 79">
              <a:extLst>
                <a:ext uri="{FF2B5EF4-FFF2-40B4-BE49-F238E27FC236}">
                  <a16:creationId xmlns:a16="http://schemas.microsoft.com/office/drawing/2014/main" id="{54662351-B9F7-41B8-8DFD-B434997C52AF}"/>
                </a:ext>
              </a:extLst>
            </p:cNvPr>
            <p:cNvCxnSpPr>
              <a:cxnSpLocks/>
            </p:cNvCxnSpPr>
            <p:nvPr/>
          </p:nvCxnSpPr>
          <p:spPr>
            <a:xfrm flipH="1">
              <a:off x="5025390" y="514350"/>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1" name="直接连接符 80">
              <a:extLst>
                <a:ext uri="{FF2B5EF4-FFF2-40B4-BE49-F238E27FC236}">
                  <a16:creationId xmlns:a16="http://schemas.microsoft.com/office/drawing/2014/main" id="{18BB5DB3-4909-47FC-BDD8-8679FC8F7B9D}"/>
                </a:ext>
              </a:extLst>
            </p:cNvPr>
            <p:cNvCxnSpPr>
              <a:cxnSpLocks/>
            </p:cNvCxnSpPr>
            <p:nvPr/>
          </p:nvCxnSpPr>
          <p:spPr>
            <a:xfrm flipH="1">
              <a:off x="5025390" y="431848"/>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2" name="直接连接符 81">
              <a:extLst>
                <a:ext uri="{FF2B5EF4-FFF2-40B4-BE49-F238E27FC236}">
                  <a16:creationId xmlns:a16="http://schemas.microsoft.com/office/drawing/2014/main" id="{7C6A262B-8F87-4AA5-BD4A-55DE84149A06}"/>
                </a:ext>
              </a:extLst>
            </p:cNvPr>
            <p:cNvCxnSpPr>
              <a:cxnSpLocks/>
            </p:cNvCxnSpPr>
            <p:nvPr/>
          </p:nvCxnSpPr>
          <p:spPr>
            <a:xfrm flipH="1">
              <a:off x="5025390" y="349346"/>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3" name="直接连接符 82">
              <a:extLst>
                <a:ext uri="{FF2B5EF4-FFF2-40B4-BE49-F238E27FC236}">
                  <a16:creationId xmlns:a16="http://schemas.microsoft.com/office/drawing/2014/main" id="{8F8A0811-38B1-462B-8E81-76FB9965A173}"/>
                </a:ext>
              </a:extLst>
            </p:cNvPr>
            <p:cNvCxnSpPr>
              <a:cxnSpLocks/>
            </p:cNvCxnSpPr>
            <p:nvPr/>
          </p:nvCxnSpPr>
          <p:spPr>
            <a:xfrm flipH="1">
              <a:off x="5025390" y="266844"/>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pic>
        <p:nvPicPr>
          <p:cNvPr id="18" name="图片 1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604252" y="168275"/>
            <a:ext cx="520700" cy="520700"/>
          </a:xfrm>
          <a:prstGeom prst="rect">
            <a:avLst/>
          </a:prstGeom>
        </p:spPr>
      </p:pic>
      <p:sp>
        <p:nvSpPr>
          <p:cNvPr id="21" name="文本框 20">
            <a:extLst>
              <a:ext uri="{FF2B5EF4-FFF2-40B4-BE49-F238E27FC236}">
                <a16:creationId xmlns:a16="http://schemas.microsoft.com/office/drawing/2014/main" id="{D7ECBC28-490B-4424-8256-107302341845}"/>
              </a:ext>
            </a:extLst>
          </p:cNvPr>
          <p:cNvSpPr txBox="1"/>
          <p:nvPr/>
        </p:nvSpPr>
        <p:spPr>
          <a:xfrm>
            <a:off x="487680" y="105459"/>
            <a:ext cx="6255657" cy="646331"/>
          </a:xfrm>
          <a:prstGeom prst="rect">
            <a:avLst/>
          </a:prstGeom>
          <a:noFill/>
        </p:spPr>
        <p:txBody>
          <a:bodyPr wrap="square" rtlCol="0">
            <a:spAutoFit/>
          </a:bodyPr>
          <a:lstStyle/>
          <a:p>
            <a:r>
              <a:rPr lang="zh-CN" altLang="en-US" sz="3600" b="1" dirty="0"/>
              <a:t>六</a:t>
            </a:r>
            <a:r>
              <a:rPr lang="en-US" altLang="zh-CN" sz="3600" b="1" dirty="0"/>
              <a:t>.</a:t>
            </a:r>
            <a:r>
              <a:rPr lang="zh-CN" altLang="en-US" sz="3600" b="1" dirty="0"/>
              <a:t>实验及报告要求</a:t>
            </a:r>
          </a:p>
        </p:txBody>
      </p:sp>
      <p:sp>
        <p:nvSpPr>
          <p:cNvPr id="60" name="Rectangle 5">
            <a:extLst>
              <a:ext uri="{FF2B5EF4-FFF2-40B4-BE49-F238E27FC236}">
                <a16:creationId xmlns:a16="http://schemas.microsoft.com/office/drawing/2014/main" id="{FF3F24FA-3C69-4F5D-B2E9-5F71C99B481C}"/>
              </a:ext>
            </a:extLst>
          </p:cNvPr>
          <p:cNvSpPr>
            <a:spLocks noChangeArrowheads="1"/>
          </p:cNvSpPr>
          <p:nvPr/>
        </p:nvSpPr>
        <p:spPr bwMode="auto">
          <a:xfrm>
            <a:off x="875197" y="1375647"/>
            <a:ext cx="11620165" cy="617477"/>
          </a:xfrm>
          <a:prstGeom prst="rect">
            <a:avLst/>
          </a:prstGeom>
          <a:noFill/>
          <a:ln w="9525" algn="ctr">
            <a:noFill/>
            <a:miter lim="800000"/>
            <a:headEnd/>
            <a:tailEnd/>
          </a:ln>
        </p:spPr>
        <p:txBody>
          <a:bodyPr wrap="square">
            <a:spAutoFit/>
          </a:bodyPr>
          <a:lstStyle/>
          <a:p>
            <a:pPr>
              <a:lnSpc>
                <a:spcPct val="150000"/>
              </a:lnSpc>
              <a:buClr>
                <a:srgbClr val="0000CC"/>
              </a:buClr>
            </a:pPr>
            <a:r>
              <a:rPr lang="zh-CN" altLang="en-US" sz="2600" b="1" dirty="0">
                <a:solidFill>
                  <a:srgbClr val="0000CC"/>
                </a:solidFill>
                <a:latin typeface="微软雅黑"/>
                <a:ea typeface="宋体" charset="-122"/>
              </a:rPr>
              <a:t>实验分组：一人一组</a:t>
            </a:r>
            <a:endParaRPr lang="en-US" altLang="zh-CN" sz="2600" b="1" dirty="0">
              <a:solidFill>
                <a:srgbClr val="0000CC"/>
              </a:solidFill>
              <a:latin typeface="微软雅黑"/>
              <a:ea typeface="宋体" charset="-122"/>
            </a:endParaRPr>
          </a:p>
        </p:txBody>
      </p:sp>
      <p:sp>
        <p:nvSpPr>
          <p:cNvPr id="61" name="Rectangle 5">
            <a:extLst>
              <a:ext uri="{FF2B5EF4-FFF2-40B4-BE49-F238E27FC236}">
                <a16:creationId xmlns:a16="http://schemas.microsoft.com/office/drawing/2014/main" id="{A822FE0E-54AF-46B0-B831-CE41CE731D8C}"/>
              </a:ext>
            </a:extLst>
          </p:cNvPr>
          <p:cNvSpPr>
            <a:spLocks noChangeArrowheads="1"/>
          </p:cNvSpPr>
          <p:nvPr/>
        </p:nvSpPr>
        <p:spPr bwMode="auto">
          <a:xfrm>
            <a:off x="875197" y="2416939"/>
            <a:ext cx="11620165" cy="1817805"/>
          </a:xfrm>
          <a:prstGeom prst="rect">
            <a:avLst/>
          </a:prstGeom>
          <a:noFill/>
          <a:ln w="9525" algn="ctr">
            <a:noFill/>
            <a:miter lim="800000"/>
            <a:headEnd/>
            <a:tailEnd/>
          </a:ln>
        </p:spPr>
        <p:txBody>
          <a:bodyPr wrap="square">
            <a:spAutoFit/>
          </a:bodyPr>
          <a:lstStyle/>
          <a:p>
            <a:pPr>
              <a:lnSpc>
                <a:spcPct val="150000"/>
              </a:lnSpc>
              <a:buClr>
                <a:srgbClr val="0000CC"/>
              </a:buClr>
            </a:pPr>
            <a:r>
              <a:rPr lang="zh-CN" altLang="en-US" sz="2600" b="1" dirty="0">
                <a:solidFill>
                  <a:srgbClr val="0000CC"/>
                </a:solidFill>
                <a:latin typeface="微软雅黑"/>
                <a:ea typeface="宋体" charset="-122"/>
              </a:rPr>
              <a:t>实验报告要求：</a:t>
            </a:r>
            <a:endParaRPr lang="en-US" altLang="zh-CN" sz="2600" b="1" dirty="0">
              <a:solidFill>
                <a:srgbClr val="0000CC"/>
              </a:solidFill>
              <a:latin typeface="微软雅黑"/>
              <a:ea typeface="宋体" charset="-122"/>
            </a:endParaRPr>
          </a:p>
          <a:p>
            <a:pPr marL="514350" indent="-514350">
              <a:lnSpc>
                <a:spcPct val="150000"/>
              </a:lnSpc>
              <a:buClr>
                <a:srgbClr val="0000CC"/>
              </a:buClr>
              <a:buAutoNum type="arabicPeriod"/>
            </a:pPr>
            <a:r>
              <a:rPr lang="zh-CN" altLang="en-US" sz="2600" b="1" dirty="0">
                <a:solidFill>
                  <a:srgbClr val="0000CC"/>
                </a:solidFill>
                <a:latin typeface="微软雅黑"/>
                <a:ea typeface="宋体" charset="-122"/>
              </a:rPr>
              <a:t>实验报告上所有任务填写完整。</a:t>
            </a:r>
            <a:endParaRPr lang="en-US" altLang="zh-CN" sz="2600" b="1" dirty="0">
              <a:solidFill>
                <a:srgbClr val="0000CC"/>
              </a:solidFill>
              <a:latin typeface="微软雅黑"/>
              <a:ea typeface="宋体" charset="-122"/>
            </a:endParaRPr>
          </a:p>
          <a:p>
            <a:pPr marL="514350" indent="-514350">
              <a:lnSpc>
                <a:spcPct val="150000"/>
              </a:lnSpc>
              <a:buClr>
                <a:srgbClr val="0000CC"/>
              </a:buClr>
              <a:buAutoNum type="arabicPeriod"/>
            </a:pPr>
            <a:r>
              <a:rPr lang="zh-CN" altLang="en-US" sz="2600" b="1" dirty="0">
                <a:solidFill>
                  <a:srgbClr val="0000CC"/>
                </a:solidFill>
                <a:latin typeface="微软雅黑"/>
                <a:ea typeface="宋体" charset="-122"/>
              </a:rPr>
              <a:t>实验结束</a:t>
            </a:r>
            <a:r>
              <a:rPr lang="en-US" altLang="zh-CN" sz="2600" b="1" dirty="0">
                <a:solidFill>
                  <a:srgbClr val="0000CC"/>
                </a:solidFill>
                <a:latin typeface="微软雅黑"/>
                <a:ea typeface="宋体" charset="-122"/>
              </a:rPr>
              <a:t>1</a:t>
            </a:r>
            <a:r>
              <a:rPr lang="zh-CN" altLang="en-US" sz="2600" b="1" dirty="0">
                <a:solidFill>
                  <a:srgbClr val="0000CC"/>
                </a:solidFill>
                <a:latin typeface="微软雅黑"/>
                <a:ea typeface="宋体" charset="-122"/>
              </a:rPr>
              <a:t>周内将报告提交超星学习通。</a:t>
            </a:r>
          </a:p>
        </p:txBody>
      </p:sp>
      <p:sp>
        <p:nvSpPr>
          <p:cNvPr id="20" name="文本框 1">
            <a:extLst>
              <a:ext uri="{FF2B5EF4-FFF2-40B4-BE49-F238E27FC236}">
                <a16:creationId xmlns:a16="http://schemas.microsoft.com/office/drawing/2014/main" id="{5CEFFCA3-ACB6-42E8-AC51-54C1D254F00C}"/>
              </a:ext>
            </a:extLst>
          </p:cNvPr>
          <p:cNvSpPr txBox="1"/>
          <p:nvPr/>
        </p:nvSpPr>
        <p:spPr>
          <a:xfrm>
            <a:off x="11291972" y="6320393"/>
            <a:ext cx="832980"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dirty="0"/>
              <a:t>22/26</a:t>
            </a:r>
            <a:endParaRPr lang="zh-CN" altLang="en-US" dirty="0"/>
          </a:p>
        </p:txBody>
      </p:sp>
    </p:spTree>
    <p:extLst>
      <p:ext uri="{BB962C8B-B14F-4D97-AF65-F5344CB8AC3E}">
        <p14:creationId xmlns:p14="http://schemas.microsoft.com/office/powerpoint/2010/main" val="3358037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任意多边形: 形状 2">
            <a:extLst>
              <a:ext uri="{FF2B5EF4-FFF2-40B4-BE49-F238E27FC236}">
                <a16:creationId xmlns:a16="http://schemas.microsoft.com/office/drawing/2014/main" id="{E4027533-6DF8-4400-B33B-0C89C9D737D9}"/>
              </a:ext>
            </a:extLst>
          </p:cNvPr>
          <p:cNvSpPr/>
          <p:nvPr/>
        </p:nvSpPr>
        <p:spPr>
          <a:xfrm>
            <a:off x="-1422399" y="3780766"/>
            <a:ext cx="17613085" cy="1444704"/>
          </a:xfrm>
          <a:custGeom>
            <a:avLst/>
            <a:gdLst>
              <a:gd name="connsiteX0" fmla="*/ 0 w 15210971"/>
              <a:gd name="connsiteY0" fmla="*/ 72097 h 1444704"/>
              <a:gd name="connsiteX1" fmla="*/ 1748971 w 15210971"/>
              <a:gd name="connsiteY1" fmla="*/ 761526 h 1444704"/>
              <a:gd name="connsiteX2" fmla="*/ 3969657 w 15210971"/>
              <a:gd name="connsiteY2" fmla="*/ 188211 h 1444704"/>
              <a:gd name="connsiteX3" fmla="*/ 6328228 w 15210971"/>
              <a:gd name="connsiteY3" fmla="*/ 863126 h 1444704"/>
              <a:gd name="connsiteX4" fmla="*/ 9296400 w 15210971"/>
              <a:gd name="connsiteY4" fmla="*/ 6783 h 1444704"/>
              <a:gd name="connsiteX5" fmla="*/ 11560628 w 15210971"/>
              <a:gd name="connsiteY5" fmla="*/ 1429183 h 1444704"/>
              <a:gd name="connsiteX6" fmla="*/ 15210971 w 15210971"/>
              <a:gd name="connsiteY6" fmla="*/ 638154 h 1444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210971" h="1444704">
                <a:moveTo>
                  <a:pt x="0" y="72097"/>
                </a:moveTo>
                <a:cubicBezTo>
                  <a:pt x="543681" y="407135"/>
                  <a:pt x="1087362" y="742174"/>
                  <a:pt x="1748971" y="761526"/>
                </a:cubicBezTo>
                <a:cubicBezTo>
                  <a:pt x="2410580" y="780878"/>
                  <a:pt x="3206448" y="171278"/>
                  <a:pt x="3969657" y="188211"/>
                </a:cubicBezTo>
                <a:cubicBezTo>
                  <a:pt x="4732866" y="205144"/>
                  <a:pt x="5440438" y="893364"/>
                  <a:pt x="6328228" y="863126"/>
                </a:cubicBezTo>
                <a:cubicBezTo>
                  <a:pt x="7216018" y="832888"/>
                  <a:pt x="8424333" y="-87560"/>
                  <a:pt x="9296400" y="6783"/>
                </a:cubicBezTo>
                <a:cubicBezTo>
                  <a:pt x="10168467" y="101126"/>
                  <a:pt x="10574866" y="1323955"/>
                  <a:pt x="11560628" y="1429183"/>
                </a:cubicBezTo>
                <a:cubicBezTo>
                  <a:pt x="12546390" y="1534411"/>
                  <a:pt x="13878680" y="1086282"/>
                  <a:pt x="15210971" y="638154"/>
                </a:cubicBezTo>
              </a:path>
            </a:pathLst>
          </a:cu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任意多边形: 形状 3">
            <a:extLst>
              <a:ext uri="{FF2B5EF4-FFF2-40B4-BE49-F238E27FC236}">
                <a16:creationId xmlns:a16="http://schemas.microsoft.com/office/drawing/2014/main" id="{AB4D2B92-F8DB-4A34-807D-B0E131EFA660}"/>
              </a:ext>
            </a:extLst>
          </p:cNvPr>
          <p:cNvSpPr/>
          <p:nvPr/>
        </p:nvSpPr>
        <p:spPr>
          <a:xfrm>
            <a:off x="-3047999" y="3809795"/>
            <a:ext cx="17613085" cy="1444704"/>
          </a:xfrm>
          <a:custGeom>
            <a:avLst/>
            <a:gdLst>
              <a:gd name="connsiteX0" fmla="*/ 0 w 15210971"/>
              <a:gd name="connsiteY0" fmla="*/ 72097 h 1444704"/>
              <a:gd name="connsiteX1" fmla="*/ 1748971 w 15210971"/>
              <a:gd name="connsiteY1" fmla="*/ 761526 h 1444704"/>
              <a:gd name="connsiteX2" fmla="*/ 3969657 w 15210971"/>
              <a:gd name="connsiteY2" fmla="*/ 188211 h 1444704"/>
              <a:gd name="connsiteX3" fmla="*/ 6328228 w 15210971"/>
              <a:gd name="connsiteY3" fmla="*/ 863126 h 1444704"/>
              <a:gd name="connsiteX4" fmla="*/ 9296400 w 15210971"/>
              <a:gd name="connsiteY4" fmla="*/ 6783 h 1444704"/>
              <a:gd name="connsiteX5" fmla="*/ 11560628 w 15210971"/>
              <a:gd name="connsiteY5" fmla="*/ 1429183 h 1444704"/>
              <a:gd name="connsiteX6" fmla="*/ 15210971 w 15210971"/>
              <a:gd name="connsiteY6" fmla="*/ 638154 h 1444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210971" h="1444704">
                <a:moveTo>
                  <a:pt x="0" y="72097"/>
                </a:moveTo>
                <a:cubicBezTo>
                  <a:pt x="543681" y="407135"/>
                  <a:pt x="1087362" y="742174"/>
                  <a:pt x="1748971" y="761526"/>
                </a:cubicBezTo>
                <a:cubicBezTo>
                  <a:pt x="2410580" y="780878"/>
                  <a:pt x="3206448" y="171278"/>
                  <a:pt x="3969657" y="188211"/>
                </a:cubicBezTo>
                <a:cubicBezTo>
                  <a:pt x="4732866" y="205144"/>
                  <a:pt x="5440438" y="893364"/>
                  <a:pt x="6328228" y="863126"/>
                </a:cubicBezTo>
                <a:cubicBezTo>
                  <a:pt x="7216018" y="832888"/>
                  <a:pt x="8424333" y="-87560"/>
                  <a:pt x="9296400" y="6783"/>
                </a:cubicBezTo>
                <a:cubicBezTo>
                  <a:pt x="10168467" y="101126"/>
                  <a:pt x="10574866" y="1323955"/>
                  <a:pt x="11560628" y="1429183"/>
                </a:cubicBezTo>
                <a:cubicBezTo>
                  <a:pt x="12546390" y="1534411"/>
                  <a:pt x="13878680" y="1086282"/>
                  <a:pt x="15210971" y="638154"/>
                </a:cubicBezTo>
              </a:path>
            </a:pathLst>
          </a:cu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椭圆 29">
            <a:extLst>
              <a:ext uri="{FF2B5EF4-FFF2-40B4-BE49-F238E27FC236}">
                <a16:creationId xmlns:a16="http://schemas.microsoft.com/office/drawing/2014/main" id="{D1855566-79A6-4312-BD41-24E289E3854A}"/>
              </a:ext>
            </a:extLst>
          </p:cNvPr>
          <p:cNvSpPr/>
          <p:nvPr/>
        </p:nvSpPr>
        <p:spPr>
          <a:xfrm>
            <a:off x="10761323" y="1202532"/>
            <a:ext cx="389278" cy="389278"/>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文本框 30">
            <a:extLst>
              <a:ext uri="{FF2B5EF4-FFF2-40B4-BE49-F238E27FC236}">
                <a16:creationId xmlns:a16="http://schemas.microsoft.com/office/drawing/2014/main" id="{5F02ECD8-1CDD-49F7-8817-02AA363DE2C0}"/>
              </a:ext>
            </a:extLst>
          </p:cNvPr>
          <p:cNvSpPr txBox="1"/>
          <p:nvPr/>
        </p:nvSpPr>
        <p:spPr>
          <a:xfrm>
            <a:off x="2826799" y="2753052"/>
            <a:ext cx="6538402" cy="1015663"/>
          </a:xfrm>
          <a:prstGeom prst="rect">
            <a:avLst/>
          </a:prstGeom>
          <a:noFill/>
        </p:spPr>
        <p:txBody>
          <a:bodyPr wrap="square">
            <a:spAutoFit/>
          </a:bodyPr>
          <a:lstStyle/>
          <a:p>
            <a:pPr algn="ctr"/>
            <a:r>
              <a:rPr lang="zh-CN" altLang="en-US" sz="6000" b="1" dirty="0">
                <a:solidFill>
                  <a:schemeClr val="tx1">
                    <a:lumMod val="65000"/>
                    <a:lumOff val="35000"/>
                  </a:schemeClr>
                </a:solidFill>
                <a:latin typeface="思源黑体 CN Medium" panose="020B0600000000000000" pitchFamily="34" charset="-122"/>
                <a:ea typeface="思源黑体 CN Medium" panose="020B0600000000000000" pitchFamily="34" charset="-122"/>
              </a:rPr>
              <a:t>谢谢您的聆听</a:t>
            </a:r>
          </a:p>
        </p:txBody>
      </p:sp>
      <p:sp>
        <p:nvSpPr>
          <p:cNvPr id="32" name="椭圆 31">
            <a:extLst>
              <a:ext uri="{FF2B5EF4-FFF2-40B4-BE49-F238E27FC236}">
                <a16:creationId xmlns:a16="http://schemas.microsoft.com/office/drawing/2014/main" id="{FEB7351D-7F7E-4FF2-8A69-0E8B9A1F17A5}"/>
              </a:ext>
            </a:extLst>
          </p:cNvPr>
          <p:cNvSpPr/>
          <p:nvPr/>
        </p:nvSpPr>
        <p:spPr>
          <a:xfrm>
            <a:off x="2694741" y="3233939"/>
            <a:ext cx="194120" cy="194120"/>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椭圆 32">
            <a:extLst>
              <a:ext uri="{FF2B5EF4-FFF2-40B4-BE49-F238E27FC236}">
                <a16:creationId xmlns:a16="http://schemas.microsoft.com/office/drawing/2014/main" id="{4FC7D185-F10B-4FFE-ADB0-B95FDFBD8ED1}"/>
              </a:ext>
            </a:extLst>
          </p:cNvPr>
          <p:cNvSpPr/>
          <p:nvPr/>
        </p:nvSpPr>
        <p:spPr>
          <a:xfrm>
            <a:off x="2501709" y="3286582"/>
            <a:ext cx="94318" cy="94318"/>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椭圆 33">
            <a:extLst>
              <a:ext uri="{FF2B5EF4-FFF2-40B4-BE49-F238E27FC236}">
                <a16:creationId xmlns:a16="http://schemas.microsoft.com/office/drawing/2014/main" id="{BDC64EB7-F399-4246-AC69-D6B4DF8E98BA}"/>
              </a:ext>
            </a:extLst>
          </p:cNvPr>
          <p:cNvSpPr/>
          <p:nvPr/>
        </p:nvSpPr>
        <p:spPr>
          <a:xfrm>
            <a:off x="9311862" y="3222590"/>
            <a:ext cx="194120" cy="194120"/>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椭圆 34">
            <a:extLst>
              <a:ext uri="{FF2B5EF4-FFF2-40B4-BE49-F238E27FC236}">
                <a16:creationId xmlns:a16="http://schemas.microsoft.com/office/drawing/2014/main" id="{2880FAED-30B8-4F42-B4C3-D1FF6DD36147}"/>
              </a:ext>
            </a:extLst>
          </p:cNvPr>
          <p:cNvSpPr/>
          <p:nvPr/>
        </p:nvSpPr>
        <p:spPr>
          <a:xfrm>
            <a:off x="9595972" y="3275233"/>
            <a:ext cx="94318" cy="94318"/>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椭圆 35">
            <a:extLst>
              <a:ext uri="{FF2B5EF4-FFF2-40B4-BE49-F238E27FC236}">
                <a16:creationId xmlns:a16="http://schemas.microsoft.com/office/drawing/2014/main" id="{4CAC9629-B983-41F4-A031-41E10DCAC179}"/>
              </a:ext>
            </a:extLst>
          </p:cNvPr>
          <p:cNvSpPr/>
          <p:nvPr/>
        </p:nvSpPr>
        <p:spPr>
          <a:xfrm>
            <a:off x="-871877" y="2044360"/>
            <a:ext cx="2976448" cy="2976448"/>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椭圆 36">
            <a:extLst>
              <a:ext uri="{FF2B5EF4-FFF2-40B4-BE49-F238E27FC236}">
                <a16:creationId xmlns:a16="http://schemas.microsoft.com/office/drawing/2014/main" id="{42FBCE2A-BFA1-4D45-A4C9-6DD9684121C2}"/>
              </a:ext>
            </a:extLst>
          </p:cNvPr>
          <p:cNvSpPr/>
          <p:nvPr/>
        </p:nvSpPr>
        <p:spPr>
          <a:xfrm>
            <a:off x="3344523" y="817902"/>
            <a:ext cx="356620" cy="356620"/>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a:extLst>
              <a:ext uri="{FF2B5EF4-FFF2-40B4-BE49-F238E27FC236}">
                <a16:creationId xmlns:a16="http://schemas.microsoft.com/office/drawing/2014/main" id="{5B7DB4B8-F068-4B8B-9600-9BA228B86118}"/>
              </a:ext>
            </a:extLst>
          </p:cNvPr>
          <p:cNvSpPr/>
          <p:nvPr/>
        </p:nvSpPr>
        <p:spPr>
          <a:xfrm>
            <a:off x="1646350" y="5476986"/>
            <a:ext cx="603363" cy="603363"/>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椭圆 38">
            <a:extLst>
              <a:ext uri="{FF2B5EF4-FFF2-40B4-BE49-F238E27FC236}">
                <a16:creationId xmlns:a16="http://schemas.microsoft.com/office/drawing/2014/main" id="{4A6B4266-D68E-470E-8EEF-D74E4A390ED9}"/>
              </a:ext>
            </a:extLst>
          </p:cNvPr>
          <p:cNvSpPr/>
          <p:nvPr/>
        </p:nvSpPr>
        <p:spPr>
          <a:xfrm>
            <a:off x="10333151" y="3059454"/>
            <a:ext cx="452100" cy="452100"/>
          </a:xfrm>
          <a:prstGeom prst="ellipse">
            <a:avLst/>
          </a:prstGeom>
          <a:solidFill>
            <a:schemeClr val="bg1"/>
          </a:solidFill>
          <a:ln>
            <a:solidFill>
              <a:srgbClr val="AC424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椭圆 39">
            <a:extLst>
              <a:ext uri="{FF2B5EF4-FFF2-40B4-BE49-F238E27FC236}">
                <a16:creationId xmlns:a16="http://schemas.microsoft.com/office/drawing/2014/main" id="{CA748C71-19DF-41E5-B6AE-E0B257E27C52}"/>
              </a:ext>
            </a:extLst>
          </p:cNvPr>
          <p:cNvSpPr/>
          <p:nvPr/>
        </p:nvSpPr>
        <p:spPr>
          <a:xfrm>
            <a:off x="2190637" y="1558131"/>
            <a:ext cx="153420" cy="153420"/>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椭圆 40">
            <a:extLst>
              <a:ext uri="{FF2B5EF4-FFF2-40B4-BE49-F238E27FC236}">
                <a16:creationId xmlns:a16="http://schemas.microsoft.com/office/drawing/2014/main" id="{8DB3E662-86A0-46CE-B0A3-54E1D688D893}"/>
              </a:ext>
            </a:extLst>
          </p:cNvPr>
          <p:cNvSpPr/>
          <p:nvPr/>
        </p:nvSpPr>
        <p:spPr>
          <a:xfrm>
            <a:off x="8787379" y="1478302"/>
            <a:ext cx="153420" cy="153420"/>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任意多边形: 形状 47">
            <a:extLst>
              <a:ext uri="{FF2B5EF4-FFF2-40B4-BE49-F238E27FC236}">
                <a16:creationId xmlns:a16="http://schemas.microsoft.com/office/drawing/2014/main" id="{6E0147FC-0DBC-4925-97E5-C31159065717}"/>
              </a:ext>
            </a:extLst>
          </p:cNvPr>
          <p:cNvSpPr/>
          <p:nvPr/>
        </p:nvSpPr>
        <p:spPr>
          <a:xfrm rot="2001767">
            <a:off x="10705817" y="1962311"/>
            <a:ext cx="979224" cy="985205"/>
          </a:xfrm>
          <a:custGeom>
            <a:avLst/>
            <a:gdLst>
              <a:gd name="connsiteX0" fmla="*/ 447971 w 1442460"/>
              <a:gd name="connsiteY0" fmla="*/ 1397101 h 1451272"/>
              <a:gd name="connsiteX1" fmla="*/ 994490 w 1442460"/>
              <a:gd name="connsiteY1" fmla="*/ 1397101 h 1451272"/>
              <a:gd name="connsiteX2" fmla="*/ 867471 w 1442460"/>
              <a:gd name="connsiteY2" fmla="*/ 1436530 h 1451272"/>
              <a:gd name="connsiteX3" fmla="*/ 721230 w 1442460"/>
              <a:gd name="connsiteY3" fmla="*/ 1451272 h 1451272"/>
              <a:gd name="connsiteX4" fmla="*/ 574989 w 1442460"/>
              <a:gd name="connsiteY4" fmla="*/ 1436530 h 1451272"/>
              <a:gd name="connsiteX5" fmla="*/ 209854 w 1442460"/>
              <a:gd name="connsiteY5" fmla="*/ 1240162 h 1451272"/>
              <a:gd name="connsiteX6" fmla="*/ 1232607 w 1442460"/>
              <a:gd name="connsiteY6" fmla="*/ 1240162 h 1451272"/>
              <a:gd name="connsiteX7" fmla="*/ 1166640 w 1442460"/>
              <a:gd name="connsiteY7" fmla="*/ 1294590 h 1451272"/>
              <a:gd name="connsiteX8" fmla="*/ 275821 w 1442460"/>
              <a:gd name="connsiteY8" fmla="*/ 1294590 h 1451272"/>
              <a:gd name="connsiteX9" fmla="*/ 93401 w 1442460"/>
              <a:gd name="connsiteY9" fmla="*/ 1083223 h 1451272"/>
              <a:gd name="connsiteX10" fmla="*/ 1349059 w 1442460"/>
              <a:gd name="connsiteY10" fmla="*/ 1083223 h 1451272"/>
              <a:gd name="connsiteX11" fmla="*/ 1322939 w 1442460"/>
              <a:gd name="connsiteY11" fmla="*/ 1131346 h 1451272"/>
              <a:gd name="connsiteX12" fmla="*/ 1317737 w 1442460"/>
              <a:gd name="connsiteY12" fmla="*/ 1137651 h 1451272"/>
              <a:gd name="connsiteX13" fmla="*/ 124723 w 1442460"/>
              <a:gd name="connsiteY13" fmla="*/ 1137651 h 1451272"/>
              <a:gd name="connsiteX14" fmla="*/ 119521 w 1442460"/>
              <a:gd name="connsiteY14" fmla="*/ 1131346 h 1451272"/>
              <a:gd name="connsiteX15" fmla="*/ 27225 w 1442460"/>
              <a:gd name="connsiteY15" fmla="*/ 926284 h 1451272"/>
              <a:gd name="connsiteX16" fmla="*/ 1415235 w 1442460"/>
              <a:gd name="connsiteY16" fmla="*/ 926284 h 1451272"/>
              <a:gd name="connsiteX17" fmla="*/ 1398340 w 1442460"/>
              <a:gd name="connsiteY17" fmla="*/ 980712 h 1451272"/>
              <a:gd name="connsiteX18" fmla="*/ 44121 w 1442460"/>
              <a:gd name="connsiteY18" fmla="*/ 980712 h 1451272"/>
              <a:gd name="connsiteX19" fmla="*/ 0 w 1442460"/>
              <a:gd name="connsiteY19" fmla="*/ 769345 h 1451272"/>
              <a:gd name="connsiteX20" fmla="*/ 1442460 w 1442460"/>
              <a:gd name="connsiteY20" fmla="*/ 769345 h 1451272"/>
              <a:gd name="connsiteX21" fmla="*/ 1436973 w 1442460"/>
              <a:gd name="connsiteY21" fmla="*/ 823773 h 1451272"/>
              <a:gd name="connsiteX22" fmla="*/ 5487 w 1442460"/>
              <a:gd name="connsiteY22" fmla="*/ 823773 h 1451272"/>
              <a:gd name="connsiteX23" fmla="*/ 7009 w 1442460"/>
              <a:gd name="connsiteY23" fmla="*/ 612406 h 1451272"/>
              <a:gd name="connsiteX24" fmla="*/ 1435452 w 1442460"/>
              <a:gd name="connsiteY24" fmla="*/ 612406 h 1451272"/>
              <a:gd name="connsiteX25" fmla="*/ 1440939 w 1442460"/>
              <a:gd name="connsiteY25" fmla="*/ 666834 h 1451272"/>
              <a:gd name="connsiteX26" fmla="*/ 1522 w 1442460"/>
              <a:gd name="connsiteY26" fmla="*/ 666834 h 1451272"/>
              <a:gd name="connsiteX27" fmla="*/ 48806 w 1442460"/>
              <a:gd name="connsiteY27" fmla="*/ 455467 h 1451272"/>
              <a:gd name="connsiteX28" fmla="*/ 1393655 w 1442460"/>
              <a:gd name="connsiteY28" fmla="*/ 455467 h 1451272"/>
              <a:gd name="connsiteX29" fmla="*/ 1410550 w 1442460"/>
              <a:gd name="connsiteY29" fmla="*/ 509895 h 1451272"/>
              <a:gd name="connsiteX30" fmla="*/ 31911 w 1442460"/>
              <a:gd name="connsiteY30" fmla="*/ 509895 h 1451272"/>
              <a:gd name="connsiteX31" fmla="*/ 137176 w 1442460"/>
              <a:gd name="connsiteY31" fmla="*/ 298528 h 1451272"/>
              <a:gd name="connsiteX32" fmla="*/ 1305284 w 1442460"/>
              <a:gd name="connsiteY32" fmla="*/ 298528 h 1451272"/>
              <a:gd name="connsiteX33" fmla="*/ 1322939 w 1442460"/>
              <a:gd name="connsiteY33" fmla="*/ 319926 h 1451272"/>
              <a:gd name="connsiteX34" fmla="*/ 1340867 w 1442460"/>
              <a:gd name="connsiteY34" fmla="*/ 352956 h 1451272"/>
              <a:gd name="connsiteX35" fmla="*/ 101593 w 1442460"/>
              <a:gd name="connsiteY35" fmla="*/ 352956 h 1451272"/>
              <a:gd name="connsiteX36" fmla="*/ 119521 w 1442460"/>
              <a:gd name="connsiteY36" fmla="*/ 319926 h 1451272"/>
              <a:gd name="connsiteX37" fmla="*/ 294114 w 1442460"/>
              <a:gd name="connsiteY37" fmla="*/ 141589 h 1451272"/>
              <a:gd name="connsiteX38" fmla="*/ 1148347 w 1442460"/>
              <a:gd name="connsiteY38" fmla="*/ 141589 h 1451272"/>
              <a:gd name="connsiteX39" fmla="*/ 1214314 w 1442460"/>
              <a:gd name="connsiteY39" fmla="*/ 196017 h 1451272"/>
              <a:gd name="connsiteX40" fmla="*/ 228147 w 1442460"/>
              <a:gd name="connsiteY40" fmla="*/ 196017 h 1451272"/>
              <a:gd name="connsiteX41" fmla="*/ 721230 w 1442460"/>
              <a:gd name="connsiteY41" fmla="*/ 0 h 1451272"/>
              <a:gd name="connsiteX42" fmla="*/ 867471 w 1442460"/>
              <a:gd name="connsiteY42" fmla="*/ 14742 h 1451272"/>
              <a:gd name="connsiteX43" fmla="*/ 945868 w 1442460"/>
              <a:gd name="connsiteY43" fmla="*/ 39078 h 1451272"/>
              <a:gd name="connsiteX44" fmla="*/ 496593 w 1442460"/>
              <a:gd name="connsiteY44" fmla="*/ 39078 h 1451272"/>
              <a:gd name="connsiteX45" fmla="*/ 574989 w 1442460"/>
              <a:gd name="connsiteY45" fmla="*/ 14742 h 1451272"/>
              <a:gd name="connsiteX46" fmla="*/ 721230 w 1442460"/>
              <a:gd name="connsiteY46" fmla="*/ 0 h 1451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442460" h="1451272">
                <a:moveTo>
                  <a:pt x="447971" y="1397101"/>
                </a:moveTo>
                <a:lnTo>
                  <a:pt x="994490" y="1397101"/>
                </a:lnTo>
                <a:lnTo>
                  <a:pt x="867471" y="1436530"/>
                </a:lnTo>
                <a:cubicBezTo>
                  <a:pt x="820234" y="1446196"/>
                  <a:pt x="771325" y="1451272"/>
                  <a:pt x="721230" y="1451272"/>
                </a:cubicBezTo>
                <a:cubicBezTo>
                  <a:pt x="671136" y="1451272"/>
                  <a:pt x="622226" y="1446196"/>
                  <a:pt x="574989" y="1436530"/>
                </a:cubicBezTo>
                <a:close/>
                <a:moveTo>
                  <a:pt x="209854" y="1240162"/>
                </a:moveTo>
                <a:lnTo>
                  <a:pt x="1232607" y="1240162"/>
                </a:lnTo>
                <a:lnTo>
                  <a:pt x="1166640" y="1294590"/>
                </a:lnTo>
                <a:lnTo>
                  <a:pt x="275821" y="1294590"/>
                </a:lnTo>
                <a:close/>
                <a:moveTo>
                  <a:pt x="93401" y="1083223"/>
                </a:moveTo>
                <a:lnTo>
                  <a:pt x="1349059" y="1083223"/>
                </a:lnTo>
                <a:lnTo>
                  <a:pt x="1322939" y="1131346"/>
                </a:lnTo>
                <a:lnTo>
                  <a:pt x="1317737" y="1137651"/>
                </a:lnTo>
                <a:lnTo>
                  <a:pt x="124723" y="1137651"/>
                </a:lnTo>
                <a:lnTo>
                  <a:pt x="119521" y="1131346"/>
                </a:lnTo>
                <a:close/>
                <a:moveTo>
                  <a:pt x="27225" y="926284"/>
                </a:moveTo>
                <a:lnTo>
                  <a:pt x="1415235" y="926284"/>
                </a:lnTo>
                <a:lnTo>
                  <a:pt x="1398340" y="980712"/>
                </a:lnTo>
                <a:lnTo>
                  <a:pt x="44121" y="980712"/>
                </a:lnTo>
                <a:close/>
                <a:moveTo>
                  <a:pt x="0" y="769345"/>
                </a:moveTo>
                <a:lnTo>
                  <a:pt x="1442460" y="769345"/>
                </a:lnTo>
                <a:lnTo>
                  <a:pt x="1436973" y="823773"/>
                </a:lnTo>
                <a:lnTo>
                  <a:pt x="5487" y="823773"/>
                </a:lnTo>
                <a:close/>
                <a:moveTo>
                  <a:pt x="7009" y="612406"/>
                </a:moveTo>
                <a:lnTo>
                  <a:pt x="1435452" y="612406"/>
                </a:lnTo>
                <a:lnTo>
                  <a:pt x="1440939" y="666834"/>
                </a:lnTo>
                <a:lnTo>
                  <a:pt x="1522" y="666834"/>
                </a:lnTo>
                <a:close/>
                <a:moveTo>
                  <a:pt x="48806" y="455467"/>
                </a:moveTo>
                <a:lnTo>
                  <a:pt x="1393655" y="455467"/>
                </a:lnTo>
                <a:lnTo>
                  <a:pt x="1410550" y="509895"/>
                </a:lnTo>
                <a:lnTo>
                  <a:pt x="31911" y="509895"/>
                </a:lnTo>
                <a:close/>
                <a:moveTo>
                  <a:pt x="137176" y="298528"/>
                </a:moveTo>
                <a:lnTo>
                  <a:pt x="1305284" y="298528"/>
                </a:lnTo>
                <a:lnTo>
                  <a:pt x="1322939" y="319926"/>
                </a:lnTo>
                <a:lnTo>
                  <a:pt x="1340867" y="352956"/>
                </a:lnTo>
                <a:lnTo>
                  <a:pt x="101593" y="352956"/>
                </a:lnTo>
                <a:lnTo>
                  <a:pt x="119521" y="319926"/>
                </a:lnTo>
                <a:close/>
                <a:moveTo>
                  <a:pt x="294114" y="141589"/>
                </a:moveTo>
                <a:lnTo>
                  <a:pt x="1148347" y="141589"/>
                </a:lnTo>
                <a:lnTo>
                  <a:pt x="1214314" y="196017"/>
                </a:lnTo>
                <a:lnTo>
                  <a:pt x="228147" y="196017"/>
                </a:lnTo>
                <a:close/>
                <a:moveTo>
                  <a:pt x="721230" y="0"/>
                </a:moveTo>
                <a:cubicBezTo>
                  <a:pt x="771325" y="0"/>
                  <a:pt x="820234" y="5076"/>
                  <a:pt x="867471" y="14742"/>
                </a:cubicBezTo>
                <a:lnTo>
                  <a:pt x="945868" y="39078"/>
                </a:lnTo>
                <a:lnTo>
                  <a:pt x="496593" y="39078"/>
                </a:lnTo>
                <a:lnTo>
                  <a:pt x="574989" y="14742"/>
                </a:lnTo>
                <a:cubicBezTo>
                  <a:pt x="622226" y="5076"/>
                  <a:pt x="671136" y="0"/>
                  <a:pt x="721230" y="0"/>
                </a:cubicBezTo>
                <a:close/>
              </a:path>
            </a:pathLst>
          </a:cu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43" name="任意多边形: 形状 49">
            <a:extLst>
              <a:ext uri="{FF2B5EF4-FFF2-40B4-BE49-F238E27FC236}">
                <a16:creationId xmlns:a16="http://schemas.microsoft.com/office/drawing/2014/main" id="{F4598BCA-BE01-4298-BA23-E659916D01B7}"/>
              </a:ext>
            </a:extLst>
          </p:cNvPr>
          <p:cNvSpPr/>
          <p:nvPr/>
        </p:nvSpPr>
        <p:spPr>
          <a:xfrm rot="2001767">
            <a:off x="8342563" y="399356"/>
            <a:ext cx="471236" cy="474114"/>
          </a:xfrm>
          <a:custGeom>
            <a:avLst/>
            <a:gdLst>
              <a:gd name="connsiteX0" fmla="*/ 447971 w 1442460"/>
              <a:gd name="connsiteY0" fmla="*/ 1397101 h 1451272"/>
              <a:gd name="connsiteX1" fmla="*/ 994490 w 1442460"/>
              <a:gd name="connsiteY1" fmla="*/ 1397101 h 1451272"/>
              <a:gd name="connsiteX2" fmla="*/ 867471 w 1442460"/>
              <a:gd name="connsiteY2" fmla="*/ 1436530 h 1451272"/>
              <a:gd name="connsiteX3" fmla="*/ 721230 w 1442460"/>
              <a:gd name="connsiteY3" fmla="*/ 1451272 h 1451272"/>
              <a:gd name="connsiteX4" fmla="*/ 574989 w 1442460"/>
              <a:gd name="connsiteY4" fmla="*/ 1436530 h 1451272"/>
              <a:gd name="connsiteX5" fmla="*/ 209854 w 1442460"/>
              <a:gd name="connsiteY5" fmla="*/ 1240162 h 1451272"/>
              <a:gd name="connsiteX6" fmla="*/ 1232607 w 1442460"/>
              <a:gd name="connsiteY6" fmla="*/ 1240162 h 1451272"/>
              <a:gd name="connsiteX7" fmla="*/ 1166640 w 1442460"/>
              <a:gd name="connsiteY7" fmla="*/ 1294590 h 1451272"/>
              <a:gd name="connsiteX8" fmla="*/ 275821 w 1442460"/>
              <a:gd name="connsiteY8" fmla="*/ 1294590 h 1451272"/>
              <a:gd name="connsiteX9" fmla="*/ 93401 w 1442460"/>
              <a:gd name="connsiteY9" fmla="*/ 1083223 h 1451272"/>
              <a:gd name="connsiteX10" fmla="*/ 1349059 w 1442460"/>
              <a:gd name="connsiteY10" fmla="*/ 1083223 h 1451272"/>
              <a:gd name="connsiteX11" fmla="*/ 1322939 w 1442460"/>
              <a:gd name="connsiteY11" fmla="*/ 1131346 h 1451272"/>
              <a:gd name="connsiteX12" fmla="*/ 1317737 w 1442460"/>
              <a:gd name="connsiteY12" fmla="*/ 1137651 h 1451272"/>
              <a:gd name="connsiteX13" fmla="*/ 124723 w 1442460"/>
              <a:gd name="connsiteY13" fmla="*/ 1137651 h 1451272"/>
              <a:gd name="connsiteX14" fmla="*/ 119521 w 1442460"/>
              <a:gd name="connsiteY14" fmla="*/ 1131346 h 1451272"/>
              <a:gd name="connsiteX15" fmla="*/ 27225 w 1442460"/>
              <a:gd name="connsiteY15" fmla="*/ 926284 h 1451272"/>
              <a:gd name="connsiteX16" fmla="*/ 1415235 w 1442460"/>
              <a:gd name="connsiteY16" fmla="*/ 926284 h 1451272"/>
              <a:gd name="connsiteX17" fmla="*/ 1398340 w 1442460"/>
              <a:gd name="connsiteY17" fmla="*/ 980712 h 1451272"/>
              <a:gd name="connsiteX18" fmla="*/ 44121 w 1442460"/>
              <a:gd name="connsiteY18" fmla="*/ 980712 h 1451272"/>
              <a:gd name="connsiteX19" fmla="*/ 0 w 1442460"/>
              <a:gd name="connsiteY19" fmla="*/ 769345 h 1451272"/>
              <a:gd name="connsiteX20" fmla="*/ 1442460 w 1442460"/>
              <a:gd name="connsiteY20" fmla="*/ 769345 h 1451272"/>
              <a:gd name="connsiteX21" fmla="*/ 1436973 w 1442460"/>
              <a:gd name="connsiteY21" fmla="*/ 823773 h 1451272"/>
              <a:gd name="connsiteX22" fmla="*/ 5487 w 1442460"/>
              <a:gd name="connsiteY22" fmla="*/ 823773 h 1451272"/>
              <a:gd name="connsiteX23" fmla="*/ 7009 w 1442460"/>
              <a:gd name="connsiteY23" fmla="*/ 612406 h 1451272"/>
              <a:gd name="connsiteX24" fmla="*/ 1435452 w 1442460"/>
              <a:gd name="connsiteY24" fmla="*/ 612406 h 1451272"/>
              <a:gd name="connsiteX25" fmla="*/ 1440939 w 1442460"/>
              <a:gd name="connsiteY25" fmla="*/ 666834 h 1451272"/>
              <a:gd name="connsiteX26" fmla="*/ 1522 w 1442460"/>
              <a:gd name="connsiteY26" fmla="*/ 666834 h 1451272"/>
              <a:gd name="connsiteX27" fmla="*/ 48806 w 1442460"/>
              <a:gd name="connsiteY27" fmla="*/ 455467 h 1451272"/>
              <a:gd name="connsiteX28" fmla="*/ 1393655 w 1442460"/>
              <a:gd name="connsiteY28" fmla="*/ 455467 h 1451272"/>
              <a:gd name="connsiteX29" fmla="*/ 1410550 w 1442460"/>
              <a:gd name="connsiteY29" fmla="*/ 509895 h 1451272"/>
              <a:gd name="connsiteX30" fmla="*/ 31911 w 1442460"/>
              <a:gd name="connsiteY30" fmla="*/ 509895 h 1451272"/>
              <a:gd name="connsiteX31" fmla="*/ 137176 w 1442460"/>
              <a:gd name="connsiteY31" fmla="*/ 298528 h 1451272"/>
              <a:gd name="connsiteX32" fmla="*/ 1305284 w 1442460"/>
              <a:gd name="connsiteY32" fmla="*/ 298528 h 1451272"/>
              <a:gd name="connsiteX33" fmla="*/ 1322939 w 1442460"/>
              <a:gd name="connsiteY33" fmla="*/ 319926 h 1451272"/>
              <a:gd name="connsiteX34" fmla="*/ 1340867 w 1442460"/>
              <a:gd name="connsiteY34" fmla="*/ 352956 h 1451272"/>
              <a:gd name="connsiteX35" fmla="*/ 101593 w 1442460"/>
              <a:gd name="connsiteY35" fmla="*/ 352956 h 1451272"/>
              <a:gd name="connsiteX36" fmla="*/ 119521 w 1442460"/>
              <a:gd name="connsiteY36" fmla="*/ 319926 h 1451272"/>
              <a:gd name="connsiteX37" fmla="*/ 294114 w 1442460"/>
              <a:gd name="connsiteY37" fmla="*/ 141589 h 1451272"/>
              <a:gd name="connsiteX38" fmla="*/ 1148347 w 1442460"/>
              <a:gd name="connsiteY38" fmla="*/ 141589 h 1451272"/>
              <a:gd name="connsiteX39" fmla="*/ 1214314 w 1442460"/>
              <a:gd name="connsiteY39" fmla="*/ 196017 h 1451272"/>
              <a:gd name="connsiteX40" fmla="*/ 228147 w 1442460"/>
              <a:gd name="connsiteY40" fmla="*/ 196017 h 1451272"/>
              <a:gd name="connsiteX41" fmla="*/ 721230 w 1442460"/>
              <a:gd name="connsiteY41" fmla="*/ 0 h 1451272"/>
              <a:gd name="connsiteX42" fmla="*/ 867471 w 1442460"/>
              <a:gd name="connsiteY42" fmla="*/ 14742 h 1451272"/>
              <a:gd name="connsiteX43" fmla="*/ 945868 w 1442460"/>
              <a:gd name="connsiteY43" fmla="*/ 39078 h 1451272"/>
              <a:gd name="connsiteX44" fmla="*/ 496593 w 1442460"/>
              <a:gd name="connsiteY44" fmla="*/ 39078 h 1451272"/>
              <a:gd name="connsiteX45" fmla="*/ 574989 w 1442460"/>
              <a:gd name="connsiteY45" fmla="*/ 14742 h 1451272"/>
              <a:gd name="connsiteX46" fmla="*/ 721230 w 1442460"/>
              <a:gd name="connsiteY46" fmla="*/ 0 h 1451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442460" h="1451272">
                <a:moveTo>
                  <a:pt x="447971" y="1397101"/>
                </a:moveTo>
                <a:lnTo>
                  <a:pt x="994490" y="1397101"/>
                </a:lnTo>
                <a:lnTo>
                  <a:pt x="867471" y="1436530"/>
                </a:lnTo>
                <a:cubicBezTo>
                  <a:pt x="820234" y="1446196"/>
                  <a:pt x="771325" y="1451272"/>
                  <a:pt x="721230" y="1451272"/>
                </a:cubicBezTo>
                <a:cubicBezTo>
                  <a:pt x="671136" y="1451272"/>
                  <a:pt x="622226" y="1446196"/>
                  <a:pt x="574989" y="1436530"/>
                </a:cubicBezTo>
                <a:close/>
                <a:moveTo>
                  <a:pt x="209854" y="1240162"/>
                </a:moveTo>
                <a:lnTo>
                  <a:pt x="1232607" y="1240162"/>
                </a:lnTo>
                <a:lnTo>
                  <a:pt x="1166640" y="1294590"/>
                </a:lnTo>
                <a:lnTo>
                  <a:pt x="275821" y="1294590"/>
                </a:lnTo>
                <a:close/>
                <a:moveTo>
                  <a:pt x="93401" y="1083223"/>
                </a:moveTo>
                <a:lnTo>
                  <a:pt x="1349059" y="1083223"/>
                </a:lnTo>
                <a:lnTo>
                  <a:pt x="1322939" y="1131346"/>
                </a:lnTo>
                <a:lnTo>
                  <a:pt x="1317737" y="1137651"/>
                </a:lnTo>
                <a:lnTo>
                  <a:pt x="124723" y="1137651"/>
                </a:lnTo>
                <a:lnTo>
                  <a:pt x="119521" y="1131346"/>
                </a:lnTo>
                <a:close/>
                <a:moveTo>
                  <a:pt x="27225" y="926284"/>
                </a:moveTo>
                <a:lnTo>
                  <a:pt x="1415235" y="926284"/>
                </a:lnTo>
                <a:lnTo>
                  <a:pt x="1398340" y="980712"/>
                </a:lnTo>
                <a:lnTo>
                  <a:pt x="44121" y="980712"/>
                </a:lnTo>
                <a:close/>
                <a:moveTo>
                  <a:pt x="0" y="769345"/>
                </a:moveTo>
                <a:lnTo>
                  <a:pt x="1442460" y="769345"/>
                </a:lnTo>
                <a:lnTo>
                  <a:pt x="1436973" y="823773"/>
                </a:lnTo>
                <a:lnTo>
                  <a:pt x="5487" y="823773"/>
                </a:lnTo>
                <a:close/>
                <a:moveTo>
                  <a:pt x="7009" y="612406"/>
                </a:moveTo>
                <a:lnTo>
                  <a:pt x="1435452" y="612406"/>
                </a:lnTo>
                <a:lnTo>
                  <a:pt x="1440939" y="666834"/>
                </a:lnTo>
                <a:lnTo>
                  <a:pt x="1522" y="666834"/>
                </a:lnTo>
                <a:close/>
                <a:moveTo>
                  <a:pt x="48806" y="455467"/>
                </a:moveTo>
                <a:lnTo>
                  <a:pt x="1393655" y="455467"/>
                </a:lnTo>
                <a:lnTo>
                  <a:pt x="1410550" y="509895"/>
                </a:lnTo>
                <a:lnTo>
                  <a:pt x="31911" y="509895"/>
                </a:lnTo>
                <a:close/>
                <a:moveTo>
                  <a:pt x="137176" y="298528"/>
                </a:moveTo>
                <a:lnTo>
                  <a:pt x="1305284" y="298528"/>
                </a:lnTo>
                <a:lnTo>
                  <a:pt x="1322939" y="319926"/>
                </a:lnTo>
                <a:lnTo>
                  <a:pt x="1340867" y="352956"/>
                </a:lnTo>
                <a:lnTo>
                  <a:pt x="101593" y="352956"/>
                </a:lnTo>
                <a:lnTo>
                  <a:pt x="119521" y="319926"/>
                </a:lnTo>
                <a:close/>
                <a:moveTo>
                  <a:pt x="294114" y="141589"/>
                </a:moveTo>
                <a:lnTo>
                  <a:pt x="1148347" y="141589"/>
                </a:lnTo>
                <a:lnTo>
                  <a:pt x="1214314" y="196017"/>
                </a:lnTo>
                <a:lnTo>
                  <a:pt x="228147" y="196017"/>
                </a:lnTo>
                <a:close/>
                <a:moveTo>
                  <a:pt x="721230" y="0"/>
                </a:moveTo>
                <a:cubicBezTo>
                  <a:pt x="771325" y="0"/>
                  <a:pt x="820234" y="5076"/>
                  <a:pt x="867471" y="14742"/>
                </a:cubicBezTo>
                <a:lnTo>
                  <a:pt x="945868" y="39078"/>
                </a:lnTo>
                <a:lnTo>
                  <a:pt x="496593" y="39078"/>
                </a:lnTo>
                <a:lnTo>
                  <a:pt x="574989" y="14742"/>
                </a:lnTo>
                <a:cubicBezTo>
                  <a:pt x="622226" y="5076"/>
                  <a:pt x="671136" y="0"/>
                  <a:pt x="721230" y="0"/>
                </a:cubicBezTo>
                <a:close/>
              </a:path>
            </a:pathLst>
          </a:cu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pic>
        <p:nvPicPr>
          <p:cNvPr id="44" name="图片 4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523866" y="1653394"/>
            <a:ext cx="3144268" cy="842042"/>
          </a:xfrm>
          <a:prstGeom prst="rect">
            <a:avLst/>
          </a:prstGeom>
        </p:spPr>
      </p:pic>
      <p:sp>
        <p:nvSpPr>
          <p:cNvPr id="45" name="矩形 44">
            <a:extLst>
              <a:ext uri="{FF2B5EF4-FFF2-40B4-BE49-F238E27FC236}">
                <a16:creationId xmlns:a16="http://schemas.microsoft.com/office/drawing/2014/main" id="{90ECC85D-4571-40C3-A14C-5CE84A2DA5AF}"/>
              </a:ext>
            </a:extLst>
          </p:cNvPr>
          <p:cNvSpPr/>
          <p:nvPr/>
        </p:nvSpPr>
        <p:spPr>
          <a:xfrm flipH="1">
            <a:off x="6362463" y="5188145"/>
            <a:ext cx="5242162" cy="400110"/>
          </a:xfrm>
          <a:prstGeom prst="rect">
            <a:avLst/>
          </a:prstGeom>
        </p:spPr>
        <p:txBody>
          <a:bodyPr wrap="square">
            <a:spAutoFit/>
          </a:bodyPr>
          <a:lstStyle/>
          <a:p>
            <a:r>
              <a:rPr lang="zh-CN" altLang="en-US" sz="20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mn-ea"/>
                <a:sym typeface="+mn-lt"/>
              </a:rPr>
              <a:t>电工电子教学实验中心</a:t>
            </a:r>
          </a:p>
        </p:txBody>
      </p:sp>
      <p:sp>
        <p:nvSpPr>
          <p:cNvPr id="46" name="椭圆 45">
            <a:extLst>
              <a:ext uri="{FF2B5EF4-FFF2-40B4-BE49-F238E27FC236}">
                <a16:creationId xmlns:a16="http://schemas.microsoft.com/office/drawing/2014/main" id="{4CAC9629-B983-41F4-A031-41E10DCAC179}"/>
              </a:ext>
            </a:extLst>
          </p:cNvPr>
          <p:cNvSpPr/>
          <p:nvPr/>
        </p:nvSpPr>
        <p:spPr>
          <a:xfrm>
            <a:off x="10785251" y="4148461"/>
            <a:ext cx="2976448" cy="2976448"/>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0499850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wipe(down)">
                                      <p:cBhvr>
                                        <p:cTn id="7" dur="500"/>
                                        <p:tgtEl>
                                          <p:spTgt spid="45"/>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44"/>
                                        </p:tgtEl>
                                        <p:attrNameLst>
                                          <p:attrName>style.visibility</p:attrName>
                                        </p:attrNameLst>
                                      </p:cBhvr>
                                      <p:to>
                                        <p:strVal val="visible"/>
                                      </p:to>
                                    </p:set>
                                    <p:anim calcmode="lin" valueType="num">
                                      <p:cBhvr additive="base">
                                        <p:cTn id="12" dur="500" fill="hold"/>
                                        <p:tgtEl>
                                          <p:spTgt spid="44"/>
                                        </p:tgtEl>
                                        <p:attrNameLst>
                                          <p:attrName>ppt_x</p:attrName>
                                        </p:attrNameLst>
                                      </p:cBhvr>
                                      <p:tavLst>
                                        <p:tav tm="0">
                                          <p:val>
                                            <p:strVal val="#ppt_x"/>
                                          </p:val>
                                        </p:tav>
                                        <p:tav tm="100000">
                                          <p:val>
                                            <p:strVal val="#ppt_x"/>
                                          </p:val>
                                        </p:tav>
                                      </p:tavLst>
                                    </p:anim>
                                    <p:anim calcmode="lin" valueType="num">
                                      <p:cBhvr additive="base">
                                        <p:cTn id="13" dur="500" fill="hold"/>
                                        <p:tgtEl>
                                          <p:spTgt spid="44"/>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grpId="0" nodeType="clickEffect">
                                  <p:stCondLst>
                                    <p:cond delay="0"/>
                                  </p:stCondLst>
                                  <p:childTnLst>
                                    <p:set>
                                      <p:cBhvr>
                                        <p:cTn id="17" dur="1" fill="hold">
                                          <p:stCondLst>
                                            <p:cond delay="0"/>
                                          </p:stCondLst>
                                        </p:cTn>
                                        <p:tgtEl>
                                          <p:spTgt spid="31"/>
                                        </p:tgtEl>
                                        <p:attrNameLst>
                                          <p:attrName>style.visibility</p:attrName>
                                        </p:attrNameLst>
                                      </p:cBhvr>
                                      <p:to>
                                        <p:strVal val="visible"/>
                                      </p:to>
                                    </p:set>
                                    <p:animEffect transition="in" filter="fade">
                                      <p:cBhvr>
                                        <p:cTn id="18" dur="1000"/>
                                        <p:tgtEl>
                                          <p:spTgt spid="31"/>
                                        </p:tgtEl>
                                      </p:cBhvr>
                                    </p:animEffect>
                                    <p:anim calcmode="lin" valueType="num">
                                      <p:cBhvr>
                                        <p:cTn id="19" dur="1000" fill="hold"/>
                                        <p:tgtEl>
                                          <p:spTgt spid="31"/>
                                        </p:tgtEl>
                                        <p:attrNameLst>
                                          <p:attrName>ppt_x</p:attrName>
                                        </p:attrNameLst>
                                      </p:cBhvr>
                                      <p:tavLst>
                                        <p:tav tm="0">
                                          <p:val>
                                            <p:strVal val="#ppt_x"/>
                                          </p:val>
                                        </p:tav>
                                        <p:tav tm="100000">
                                          <p:val>
                                            <p:strVal val="#ppt_x"/>
                                          </p:val>
                                        </p:tav>
                                      </p:tavLst>
                                    </p:anim>
                                    <p:anim calcmode="lin" valueType="num">
                                      <p:cBhvr>
                                        <p:cTn id="20" dur="1000" fill="hold"/>
                                        <p:tgtEl>
                                          <p:spTgt spid="3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45" grpId="0"/>
    </p:bld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8565</TotalTime>
  <Words>1703</Words>
  <Application>Microsoft Office PowerPoint</Application>
  <PresentationFormat>宽屏</PresentationFormat>
  <Paragraphs>165</Paragraphs>
  <Slides>23</Slides>
  <Notes>8</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1</vt:i4>
      </vt:variant>
      <vt:variant>
        <vt:lpstr>幻灯片标题</vt:lpstr>
      </vt:variant>
      <vt:variant>
        <vt:i4>23</vt:i4>
      </vt:variant>
    </vt:vector>
  </HeadingPairs>
  <TitlesOfParts>
    <vt:vector size="36" baseType="lpstr">
      <vt:lpstr>OPPOSans R</vt:lpstr>
      <vt:lpstr>等线</vt:lpstr>
      <vt:lpstr>等线 Light</vt:lpstr>
      <vt:lpstr>黑体</vt:lpstr>
      <vt:lpstr>思源黑体 CN Medium</vt:lpstr>
      <vt:lpstr>宋体</vt:lpstr>
      <vt:lpstr>微软雅黑</vt:lpstr>
      <vt:lpstr>Arial</vt:lpstr>
      <vt:lpstr>Cambria Math</vt:lpstr>
      <vt:lpstr>Times New Roman</vt:lpstr>
      <vt:lpstr>Wingdings</vt:lpstr>
      <vt:lpstr>Office 主题​​</vt:lpstr>
      <vt:lpstr>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Lenovo</dc:creator>
  <cp:lastModifiedBy>HP</cp:lastModifiedBy>
  <cp:revision>113</cp:revision>
  <dcterms:created xsi:type="dcterms:W3CDTF">2021-01-31T06:17:33Z</dcterms:created>
  <dcterms:modified xsi:type="dcterms:W3CDTF">2026-06-03T10:47:20Z</dcterms:modified>
</cp:coreProperties>
</file>