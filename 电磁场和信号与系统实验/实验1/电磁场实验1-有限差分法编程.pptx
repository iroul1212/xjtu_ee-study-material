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11562" r:id="rId2"/>
    <p:sldId id="11601" r:id="rId3"/>
    <p:sldId id="11600" r:id="rId4"/>
    <p:sldId id="11607" r:id="rId5"/>
    <p:sldId id="11599" r:id="rId6"/>
    <p:sldId id="289" r:id="rId7"/>
    <p:sldId id="11602" r:id="rId8"/>
    <p:sldId id="290" r:id="rId9"/>
    <p:sldId id="291" r:id="rId10"/>
    <p:sldId id="11564" r:id="rId11"/>
    <p:sldId id="11603" r:id="rId12"/>
    <p:sldId id="11604" r:id="rId13"/>
    <p:sldId id="287" r:id="rId14"/>
    <p:sldId id="11649" r:id="rId15"/>
    <p:sldId id="11650" r:id="rId16"/>
    <p:sldId id="11651" r:id="rId17"/>
    <p:sldId id="11652" r:id="rId18"/>
    <p:sldId id="11653" r:id="rId19"/>
    <p:sldId id="11654" r:id="rId20"/>
    <p:sldId id="11655" r:id="rId21"/>
    <p:sldId id="11656" r:id="rId22"/>
    <p:sldId id="11659" r:id="rId23"/>
    <p:sldId id="11661" r:id="rId24"/>
    <p:sldId id="11660" r:id="rId25"/>
    <p:sldId id="11657" r:id="rId26"/>
    <p:sldId id="11662" r:id="rId27"/>
    <p:sldId id="11638" r:id="rId28"/>
    <p:sldId id="11578" r:id="rId29"/>
    <p:sldId id="11566" r:id="rId30"/>
    <p:sldId id="11567" r:id="rId31"/>
    <p:sldId id="11581" r:id="rId32"/>
    <p:sldId id="11568" r:id="rId33"/>
    <p:sldId id="11597" r:id="rId34"/>
    <p:sldId id="274" r:id="rId35"/>
    <p:sldId id="11598" r:id="rId36"/>
    <p:sldId id="275" r:id="rId37"/>
    <p:sldId id="276" r:id="rId38"/>
    <p:sldId id="11574" r:id="rId39"/>
    <p:sldId id="279" r:id="rId40"/>
    <p:sldId id="280" r:id="rId41"/>
    <p:sldId id="11576" r:id="rId42"/>
    <p:sldId id="11577" r:id="rId43"/>
    <p:sldId id="282" r:id="rId44"/>
    <p:sldId id="11569" r:id="rId45"/>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467F"/>
    <a:srgbClr val="984E96"/>
    <a:srgbClr val="FF9900"/>
    <a:srgbClr val="FF3300"/>
    <a:srgbClr val="30B695"/>
    <a:srgbClr val="30B6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13" autoAdjust="0"/>
  </p:normalViewPr>
  <p:slideViewPr>
    <p:cSldViewPr snapToGrid="0" showGuides="1">
      <p:cViewPr varScale="1">
        <p:scale>
          <a:sx n="90" d="100"/>
          <a:sy n="90" d="100"/>
        </p:scale>
        <p:origin x="60" y="852"/>
      </p:cViewPr>
      <p:guideLst>
        <p:guide orient="horz" pos="215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8.wmf"/><Relationship Id="rId2" Type="http://schemas.openxmlformats.org/officeDocument/2006/relationships/image" Target="../media/image13.wmf"/><Relationship Id="rId1" Type="http://schemas.openxmlformats.org/officeDocument/2006/relationships/image" Target="../media/image12.wmf"/><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4E7049-4CBB-4729-B779-467E14753F92}" type="datetimeFigureOut">
              <a:rPr lang="zh-CN" altLang="en-US" smtClean="0"/>
              <a:t>2026/3/19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CDB546-1673-4381-923D-58F783FB352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1A3D36-1FA6-40AE-B8F3-5E31CB5C859B}"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2F45210-0ACF-4FF0-8CD1-54BC844B11ED}"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A42D6A-D467-45BE-A2A7-7539B8D0AA3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2F45210-0ACF-4FF0-8CD1-54BC844B11ED}" type="datetimeFigureOut">
              <a:rPr lang="zh-CN" altLang="en-US" smtClean="0"/>
              <a:t>2026/3/19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A42D6A-D467-45BE-A2A7-7539B8D0AA3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空白">
    <p:bg>
      <p:bgPr>
        <a:solidFill>
          <a:srgbClr val="0070C0">
            <a:alpha val="5000"/>
          </a:srgbClr>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37725" r="54755" b="38748"/>
          <a:stretch>
            <a:fillRect/>
          </a:stretch>
        </p:blipFill>
        <p:spPr>
          <a:xfrm>
            <a:off x="8940250" y="87003"/>
            <a:ext cx="3096419" cy="905185"/>
          </a:xfrm>
          <a:prstGeom prst="rect">
            <a:avLst/>
          </a:prstGeom>
        </p:spPr>
      </p:pic>
      <p:cxnSp>
        <p:nvCxnSpPr>
          <p:cNvPr id="7" name="直接连接符 6"/>
          <p:cNvCxnSpPr/>
          <p:nvPr userDrawn="1"/>
        </p:nvCxnSpPr>
        <p:spPr bwMode="auto">
          <a:xfrm>
            <a:off x="228600" y="828675"/>
            <a:ext cx="8591550" cy="0"/>
          </a:xfrm>
          <a:prstGeom prst="line">
            <a:avLst/>
          </a:prstGeom>
          <a:solidFill>
            <a:schemeClr val="accent1"/>
          </a:solidFill>
          <a:ln w="19050" cap="flat" cmpd="sng" algn="ctr">
            <a:solidFill>
              <a:srgbClr val="0046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燕尾形 23"/>
          <p:cNvSpPr/>
          <p:nvPr userDrawn="1"/>
        </p:nvSpPr>
        <p:spPr bwMode="auto">
          <a:xfrm>
            <a:off x="295275" y="384955"/>
            <a:ext cx="276225" cy="349904"/>
          </a:xfrm>
          <a:prstGeom prst="chevron">
            <a:avLst>
              <a:gd name="adj" fmla="val 37480"/>
            </a:avLst>
          </a:prstGeom>
          <a:solidFill>
            <a:srgbClr val="0046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8" name="燕尾形 24"/>
          <p:cNvSpPr/>
          <p:nvPr userDrawn="1"/>
        </p:nvSpPr>
        <p:spPr bwMode="auto">
          <a:xfrm>
            <a:off x="563432" y="386389"/>
            <a:ext cx="276225" cy="349904"/>
          </a:xfrm>
          <a:prstGeom prst="chevron">
            <a:avLst>
              <a:gd name="adj" fmla="val 37480"/>
            </a:avLst>
          </a:prstGeom>
          <a:solidFill>
            <a:srgbClr val="0046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2" name="Pentagon 89"/>
          <p:cNvSpPr/>
          <p:nvPr userDrawn="1"/>
        </p:nvSpPr>
        <p:spPr>
          <a:xfrm rot="10800000">
            <a:off x="11707102" y="6251108"/>
            <a:ext cx="484896" cy="393526"/>
          </a:xfrm>
          <a:prstGeom prst="homePlate">
            <a:avLst>
              <a:gd name="adj" fmla="val 29245"/>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dirty="0">
              <a:solidFill>
                <a:srgbClr val="00467F"/>
              </a:solidFill>
            </a:endParaRPr>
          </a:p>
        </p:txBody>
      </p:sp>
      <p:sp>
        <p:nvSpPr>
          <p:cNvPr id="13" name="Rectangle 90"/>
          <p:cNvSpPr/>
          <p:nvPr userDrawn="1"/>
        </p:nvSpPr>
        <p:spPr>
          <a:xfrm>
            <a:off x="11843896" y="6251109"/>
            <a:ext cx="184731" cy="307777"/>
          </a:xfrm>
          <a:prstGeom prst="rect">
            <a:avLst/>
          </a:prstGeom>
        </p:spPr>
        <p:txBody>
          <a:bodyPr wrap="none">
            <a:spAutoFit/>
          </a:bodyPr>
          <a:lstStyle/>
          <a:p>
            <a:pPr algn="ctr"/>
            <a:endParaRPr lang="id-ID" sz="1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空白">
    <p:bg>
      <p:bgPr>
        <a:solidFill>
          <a:srgbClr val="0070C0">
            <a:alpha val="5000"/>
          </a:srgbClr>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37725" r="54755" b="38748"/>
          <a:stretch>
            <a:fillRect/>
          </a:stretch>
        </p:blipFill>
        <p:spPr>
          <a:xfrm>
            <a:off x="8940250" y="87003"/>
            <a:ext cx="3096419" cy="905185"/>
          </a:xfrm>
          <a:prstGeom prst="rect">
            <a:avLst/>
          </a:prstGeom>
        </p:spPr>
      </p:pic>
      <p:cxnSp>
        <p:nvCxnSpPr>
          <p:cNvPr id="7" name="直接连接符 6"/>
          <p:cNvCxnSpPr/>
          <p:nvPr userDrawn="1"/>
        </p:nvCxnSpPr>
        <p:spPr bwMode="auto">
          <a:xfrm>
            <a:off x="228600" y="828675"/>
            <a:ext cx="8591550" cy="0"/>
          </a:xfrm>
          <a:prstGeom prst="line">
            <a:avLst/>
          </a:prstGeom>
          <a:solidFill>
            <a:schemeClr val="accent1"/>
          </a:solidFill>
          <a:ln w="19050" cap="flat" cmpd="sng" algn="ctr">
            <a:solidFill>
              <a:srgbClr val="0046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燕尾形 23"/>
          <p:cNvSpPr/>
          <p:nvPr userDrawn="1"/>
        </p:nvSpPr>
        <p:spPr bwMode="auto">
          <a:xfrm>
            <a:off x="295275" y="384955"/>
            <a:ext cx="276225" cy="349904"/>
          </a:xfrm>
          <a:prstGeom prst="chevron">
            <a:avLst>
              <a:gd name="adj" fmla="val 37480"/>
            </a:avLst>
          </a:prstGeom>
          <a:solidFill>
            <a:srgbClr val="0046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8" name="燕尾形 24"/>
          <p:cNvSpPr/>
          <p:nvPr userDrawn="1"/>
        </p:nvSpPr>
        <p:spPr bwMode="auto">
          <a:xfrm>
            <a:off x="563432" y="386389"/>
            <a:ext cx="276225" cy="349904"/>
          </a:xfrm>
          <a:prstGeom prst="chevron">
            <a:avLst>
              <a:gd name="adj" fmla="val 37480"/>
            </a:avLst>
          </a:prstGeom>
          <a:solidFill>
            <a:srgbClr val="0046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2" name="Pentagon 89"/>
          <p:cNvSpPr/>
          <p:nvPr userDrawn="1"/>
        </p:nvSpPr>
        <p:spPr>
          <a:xfrm rot="10800000">
            <a:off x="11707102" y="6251108"/>
            <a:ext cx="484896" cy="393526"/>
          </a:xfrm>
          <a:prstGeom prst="homePlate">
            <a:avLst>
              <a:gd name="adj" fmla="val 29245"/>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dirty="0">
              <a:solidFill>
                <a:srgbClr val="00467F"/>
              </a:solidFill>
            </a:endParaRPr>
          </a:p>
        </p:txBody>
      </p:sp>
      <p:sp>
        <p:nvSpPr>
          <p:cNvPr id="13" name="Rectangle 90"/>
          <p:cNvSpPr/>
          <p:nvPr userDrawn="1"/>
        </p:nvSpPr>
        <p:spPr>
          <a:xfrm>
            <a:off x="11843896" y="6251109"/>
            <a:ext cx="184731" cy="307777"/>
          </a:xfrm>
          <a:prstGeom prst="rect">
            <a:avLst/>
          </a:prstGeom>
        </p:spPr>
        <p:txBody>
          <a:bodyPr wrap="none">
            <a:spAutoFit/>
          </a:bodyPr>
          <a:lstStyle/>
          <a:p>
            <a:pPr algn="ctr"/>
            <a:endParaRPr lang="id-ID" sz="1400" dirty="0">
              <a:solidFill>
                <a:schemeClr val="bg1"/>
              </a:solidFill>
            </a:endParaRPr>
          </a:p>
        </p:txBody>
      </p:sp>
      <p:sp>
        <p:nvSpPr>
          <p:cNvPr id="9" name="TextBox 5"/>
          <p:cNvSpPr txBox="1"/>
          <p:nvPr userDrawn="1"/>
        </p:nvSpPr>
        <p:spPr>
          <a:xfrm>
            <a:off x="899250" y="200214"/>
            <a:ext cx="3829767"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编程提示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空白">
    <p:bg>
      <p:bgPr>
        <a:solidFill>
          <a:srgbClr val="0070C0">
            <a:alpha val="5000"/>
          </a:srgbClr>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37725" r="54755" b="38748"/>
          <a:stretch>
            <a:fillRect/>
          </a:stretch>
        </p:blipFill>
        <p:spPr>
          <a:xfrm>
            <a:off x="8940250" y="87003"/>
            <a:ext cx="3096419" cy="905185"/>
          </a:xfrm>
          <a:prstGeom prst="rect">
            <a:avLst/>
          </a:prstGeom>
        </p:spPr>
      </p:pic>
      <p:cxnSp>
        <p:nvCxnSpPr>
          <p:cNvPr id="7" name="直接连接符 6"/>
          <p:cNvCxnSpPr/>
          <p:nvPr userDrawn="1"/>
        </p:nvCxnSpPr>
        <p:spPr bwMode="auto">
          <a:xfrm>
            <a:off x="228600" y="828675"/>
            <a:ext cx="8591550" cy="0"/>
          </a:xfrm>
          <a:prstGeom prst="line">
            <a:avLst/>
          </a:prstGeom>
          <a:solidFill>
            <a:schemeClr val="accent1"/>
          </a:solidFill>
          <a:ln w="19050" cap="flat" cmpd="sng" algn="ctr">
            <a:solidFill>
              <a:srgbClr val="0046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燕尾形 23"/>
          <p:cNvSpPr/>
          <p:nvPr userDrawn="1"/>
        </p:nvSpPr>
        <p:spPr bwMode="auto">
          <a:xfrm>
            <a:off x="295275" y="384955"/>
            <a:ext cx="276225" cy="349904"/>
          </a:xfrm>
          <a:prstGeom prst="chevron">
            <a:avLst>
              <a:gd name="adj" fmla="val 37480"/>
            </a:avLst>
          </a:prstGeom>
          <a:solidFill>
            <a:srgbClr val="0046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8" name="燕尾形 24"/>
          <p:cNvSpPr/>
          <p:nvPr userDrawn="1"/>
        </p:nvSpPr>
        <p:spPr bwMode="auto">
          <a:xfrm>
            <a:off x="563432" y="386389"/>
            <a:ext cx="276225" cy="349904"/>
          </a:xfrm>
          <a:prstGeom prst="chevron">
            <a:avLst>
              <a:gd name="adj" fmla="val 37480"/>
            </a:avLst>
          </a:prstGeom>
          <a:solidFill>
            <a:srgbClr val="00467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2" name="Pentagon 89"/>
          <p:cNvSpPr/>
          <p:nvPr userDrawn="1"/>
        </p:nvSpPr>
        <p:spPr>
          <a:xfrm rot="10800000">
            <a:off x="11707102" y="6251108"/>
            <a:ext cx="484896" cy="393526"/>
          </a:xfrm>
          <a:prstGeom prst="homePlate">
            <a:avLst>
              <a:gd name="adj" fmla="val 29245"/>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dirty="0">
              <a:solidFill>
                <a:srgbClr val="00467F"/>
              </a:solidFill>
            </a:endParaRPr>
          </a:p>
        </p:txBody>
      </p:sp>
      <p:sp>
        <p:nvSpPr>
          <p:cNvPr id="13" name="Rectangle 90"/>
          <p:cNvSpPr/>
          <p:nvPr userDrawn="1"/>
        </p:nvSpPr>
        <p:spPr>
          <a:xfrm>
            <a:off x="11843896" y="6251109"/>
            <a:ext cx="184731" cy="307777"/>
          </a:xfrm>
          <a:prstGeom prst="rect">
            <a:avLst/>
          </a:prstGeom>
        </p:spPr>
        <p:txBody>
          <a:bodyPr wrap="none">
            <a:spAutoFit/>
          </a:bodyPr>
          <a:lstStyle/>
          <a:p>
            <a:pPr algn="ctr"/>
            <a:endParaRPr lang="id-ID" sz="1400" dirty="0">
              <a:solidFill>
                <a:schemeClr val="bg1"/>
              </a:solidFill>
            </a:endParaRPr>
          </a:p>
        </p:txBody>
      </p:sp>
      <p:sp>
        <p:nvSpPr>
          <p:cNvPr id="9" name="TextBox 5"/>
          <p:cNvSpPr txBox="1"/>
          <p:nvPr userDrawn="1"/>
        </p:nvSpPr>
        <p:spPr>
          <a:xfrm>
            <a:off x="899250" y="200214"/>
            <a:ext cx="3829767"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ANSYS</a:t>
            </a:r>
            <a:r>
              <a:rPr lang="zh-CN" altLang="en-US" sz="3600" b="1" dirty="0">
                <a:solidFill>
                  <a:srgbClr val="00467F"/>
                </a:solidFill>
                <a:latin typeface="微软雅黑" panose="020B0503020204020204" pitchFamily="34" charset="-122"/>
                <a:ea typeface="微软雅黑" panose="020B0503020204020204" pitchFamily="34" charset="-122"/>
              </a:rPr>
              <a:t>仿真步骤</a:t>
            </a:r>
            <a:endParaRPr lang="en-US" altLang="zh-CN" sz="36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a:xfrm>
            <a:off x="7966544" y="6292739"/>
            <a:ext cx="4114800" cy="365125"/>
          </a:xfrm>
        </p:spPr>
        <p:txBody>
          <a:bodyPr/>
          <a:lstStyle/>
          <a:p>
            <a:endParaRPr lang="zh-CN" altLang="en-US"/>
          </a:p>
        </p:txBody>
      </p:sp>
      <p:sp>
        <p:nvSpPr>
          <p:cNvPr id="5" name="矩形 4"/>
          <p:cNvSpPr/>
          <p:nvPr userDrawn="1"/>
        </p:nvSpPr>
        <p:spPr>
          <a:xfrm>
            <a:off x="5244933" y="3244334"/>
            <a:ext cx="1702133" cy="369332"/>
          </a:xfrm>
          <a:prstGeom prst="rect">
            <a:avLst/>
          </a:prstGeom>
        </p:spPr>
        <p:txBody>
          <a:bodyPr wrap="none">
            <a:spAutoFit/>
          </a:bodyPr>
          <a:lstStyle/>
          <a:p>
            <a:r>
              <a:rPr lang="en-US" altLang="zh-CN" sz="1800" b="1" dirty="0">
                <a:solidFill>
                  <a:schemeClr val="bg1"/>
                </a:solidFill>
                <a:latin typeface="微软雅黑" panose="020B0503020204020204" pitchFamily="34" charset="-122"/>
                <a:ea typeface="微软雅黑" panose="020B0503020204020204" pitchFamily="34" charset="-122"/>
              </a:rPr>
              <a:t>1. </a:t>
            </a:r>
            <a:r>
              <a:rPr lang="en-US" altLang="zh-CN" sz="1800" b="1" dirty="0" err="1">
                <a:solidFill>
                  <a:schemeClr val="bg1"/>
                </a:solidFill>
                <a:latin typeface="微软雅黑" panose="020B0503020204020204" pitchFamily="34" charset="-122"/>
                <a:ea typeface="微软雅黑" panose="020B0503020204020204" pitchFamily="34" charset="-122"/>
              </a:rPr>
              <a:t>Ansoft</a:t>
            </a:r>
            <a:r>
              <a:rPr lang="zh-CN" altLang="en-US" sz="1800" b="1" dirty="0">
                <a:solidFill>
                  <a:schemeClr val="bg1"/>
                </a:solidFill>
                <a:latin typeface="微软雅黑" panose="020B0503020204020204" pitchFamily="34" charset="-122"/>
                <a:ea typeface="微软雅黑" panose="020B0503020204020204" pitchFamily="34" charset="-122"/>
              </a:rPr>
              <a:t>仿真</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7" name="矩形 6"/>
          <p:cNvSpPr/>
          <p:nvPr userDrawn="1"/>
        </p:nvSpPr>
        <p:spPr>
          <a:xfrm>
            <a:off x="2971801" y="2492945"/>
            <a:ext cx="9220201" cy="4365057"/>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F45210-0ACF-4FF0-8CD1-54BC844B11ED}" type="datetimeFigureOut">
              <a:rPr lang="zh-CN" altLang="en-US" smtClean="0"/>
              <a:t>2026/3/19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A42D6A-D467-45BE-A2A7-7539B8D0AA3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11.jpeg"/><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6.wmf"/><Relationship Id="rId18" Type="http://schemas.openxmlformats.org/officeDocument/2006/relationships/oleObject" Target="../embeddings/oleObject10.bin"/><Relationship Id="rId3" Type="http://schemas.openxmlformats.org/officeDocument/2006/relationships/image" Target="../media/image20.png"/><Relationship Id="rId7" Type="http://schemas.openxmlformats.org/officeDocument/2006/relationships/image" Target="../media/image13.wmf"/><Relationship Id="rId12" Type="http://schemas.openxmlformats.org/officeDocument/2006/relationships/oleObject" Target="../embeddings/oleObject7.bin"/><Relationship Id="rId17" Type="http://schemas.openxmlformats.org/officeDocument/2006/relationships/image" Target="../media/image18.wmf"/><Relationship Id="rId2" Type="http://schemas.openxmlformats.org/officeDocument/2006/relationships/slideLayout" Target="../slideLayouts/slideLayout3.xml"/><Relationship Id="rId16" Type="http://schemas.openxmlformats.org/officeDocument/2006/relationships/oleObject" Target="../embeddings/oleObject9.bin"/><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6.bin"/><Relationship Id="rId19" Type="http://schemas.openxmlformats.org/officeDocument/2006/relationships/image" Target="../media/image19.wmf"/><Relationship Id="rId4" Type="http://schemas.openxmlformats.org/officeDocument/2006/relationships/oleObject" Target="../embeddings/oleObject3.bin"/><Relationship Id="rId9" Type="http://schemas.openxmlformats.org/officeDocument/2006/relationships/image" Target="../media/image14.wmf"/><Relationship Id="rId1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5.wmf"/><Relationship Id="rId3" Type="http://schemas.openxmlformats.org/officeDocument/2006/relationships/image" Target="../media/image27.png"/><Relationship Id="rId7" Type="http://schemas.openxmlformats.org/officeDocument/2006/relationships/image" Target="../media/image22.wmf"/><Relationship Id="rId12"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12.bin"/><Relationship Id="rId11" Type="http://schemas.openxmlformats.org/officeDocument/2006/relationships/image" Target="../media/image24.wmf"/><Relationship Id="rId5" Type="http://schemas.openxmlformats.org/officeDocument/2006/relationships/image" Target="../media/image21.wmf"/><Relationship Id="rId15" Type="http://schemas.openxmlformats.org/officeDocument/2006/relationships/image" Target="../media/image26.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3.wmf"/><Relationship Id="rId14" Type="http://schemas.openxmlformats.org/officeDocument/2006/relationships/oleObject" Target="../embeddings/oleObject16.bin"/></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28.wmf"/><Relationship Id="rId5" Type="http://schemas.openxmlformats.org/officeDocument/2006/relationships/oleObject" Target="../embeddings/oleObject17.bin"/><Relationship Id="rId4" Type="http://schemas.openxmlformats.org/officeDocument/2006/relationships/image" Target="../media/image31.png"/><Relationship Id="rId9" Type="http://schemas.openxmlformats.org/officeDocument/2006/relationships/image" Target="../media/image29.emf"/></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image" Target="../media/image34.emf"/><Relationship Id="rId4"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3.xml"/><Relationship Id="rId1" Type="http://schemas.openxmlformats.org/officeDocument/2006/relationships/vmlDrawing" Target="../drawings/vmlDrawing7.vml"/><Relationship Id="rId5" Type="http://schemas.openxmlformats.org/officeDocument/2006/relationships/image" Target="../media/image36.emf"/><Relationship Id="rId4"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54.png"/><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5.xml"/><Relationship Id="rId4" Type="http://schemas.openxmlformats.org/officeDocument/2006/relationships/image" Target="../media/image65.png"/></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6.png"/><Relationship Id="rId1" Type="http://schemas.openxmlformats.org/officeDocument/2006/relationships/slideLayout" Target="../slideLayouts/slideLayout5.xml"/><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0C0">
            <a:alpha val="5000"/>
          </a:srgbClr>
        </a:solidFill>
        <a:effectLst/>
      </p:bgPr>
    </p:bg>
    <p:spTree>
      <p:nvGrpSpPr>
        <p:cNvPr id="1" name=""/>
        <p:cNvGrpSpPr/>
        <p:nvPr/>
      </p:nvGrpSpPr>
      <p:grpSpPr>
        <a:xfrm>
          <a:off x="0" y="0"/>
          <a:ext cx="0" cy="0"/>
          <a:chOff x="0" y="0"/>
          <a:chExt cx="0" cy="0"/>
        </a:xfrm>
      </p:grpSpPr>
      <p:sp>
        <p:nvSpPr>
          <p:cNvPr id="5" name="矩形 4"/>
          <p:cNvSpPr/>
          <p:nvPr/>
        </p:nvSpPr>
        <p:spPr>
          <a:xfrm>
            <a:off x="1736083" y="2081466"/>
            <a:ext cx="8719831" cy="1692771"/>
          </a:xfrm>
          <a:prstGeom prst="rect">
            <a:avLst/>
          </a:prstGeom>
        </p:spPr>
        <p:txBody>
          <a:bodyPr wrap="square">
            <a:spAutoFit/>
          </a:bodyPr>
          <a:lstStyle/>
          <a:p>
            <a:pPr algn="ctr"/>
            <a:r>
              <a:rPr lang="zh-CN" altLang="en-US" sz="5200" b="1" dirty="0">
                <a:solidFill>
                  <a:srgbClr val="0070C0"/>
                </a:solidFill>
                <a:latin typeface="微软雅黑" panose="020B0503020204020204" pitchFamily="34" charset="-122"/>
                <a:ea typeface="微软雅黑" panose="020B0503020204020204" pitchFamily="34" charset="-122"/>
              </a:rPr>
              <a:t>应用有限差分法求解</a:t>
            </a:r>
            <a:endParaRPr lang="en-US" altLang="zh-CN" sz="5200" b="1" dirty="0">
              <a:solidFill>
                <a:srgbClr val="0070C0"/>
              </a:solidFill>
              <a:latin typeface="微软雅黑" panose="020B0503020204020204" pitchFamily="34" charset="-122"/>
              <a:ea typeface="微软雅黑" panose="020B0503020204020204" pitchFamily="34" charset="-122"/>
            </a:endParaRPr>
          </a:p>
          <a:p>
            <a:pPr algn="ctr"/>
            <a:r>
              <a:rPr lang="zh-CN" altLang="en-US" sz="5200" b="1" dirty="0">
                <a:solidFill>
                  <a:srgbClr val="0070C0"/>
                </a:solidFill>
                <a:latin typeface="微软雅黑" panose="020B0503020204020204" pitchFamily="34" charset="-122"/>
                <a:ea typeface="微软雅黑" panose="020B0503020204020204" pitchFamily="34" charset="-122"/>
              </a:rPr>
              <a:t>接地金属槽内部的电位分布</a:t>
            </a:r>
            <a:endParaRPr lang="id-ID" altLang="zh-CN" sz="5200" b="1" dirty="0">
              <a:solidFill>
                <a:srgbClr val="0070C0"/>
              </a:solidFill>
              <a:latin typeface="微软雅黑" panose="020B0503020204020204" pitchFamily="34" charset="-122"/>
              <a:ea typeface="微软雅黑" panose="020B0503020204020204" pitchFamily="34" charset="-122"/>
            </a:endParaRPr>
          </a:p>
        </p:txBody>
      </p:sp>
      <p:pic>
        <p:nvPicPr>
          <p:cNvPr id="6" name="图片 10"/>
          <p:cNvPicPr>
            <a:picLocks noChangeAspect="1"/>
          </p:cNvPicPr>
          <p:nvPr/>
        </p:nvPicPr>
        <p:blipFill>
          <a:blip r:embed="rId3" cstate="print"/>
          <a:stretch>
            <a:fillRect/>
          </a:stretch>
        </p:blipFill>
        <p:spPr>
          <a:xfrm>
            <a:off x="723912" y="369216"/>
            <a:ext cx="2647362" cy="929649"/>
          </a:xfrm>
          <a:prstGeom prst="rect">
            <a:avLst/>
          </a:prstGeom>
          <a:noFill/>
          <a:ln w="9525">
            <a:noFill/>
          </a:ln>
        </p:spPr>
      </p:pic>
      <p:sp>
        <p:nvSpPr>
          <p:cNvPr id="7" name="文本框 6"/>
          <p:cNvSpPr txBox="1"/>
          <p:nvPr/>
        </p:nvSpPr>
        <p:spPr>
          <a:xfrm>
            <a:off x="4476352" y="5330216"/>
            <a:ext cx="3239295" cy="707886"/>
          </a:xfrm>
          <a:prstGeom prst="rect">
            <a:avLst/>
          </a:prstGeom>
          <a:noFill/>
        </p:spPr>
        <p:txBody>
          <a:bodyPr wrap="square" rtlCol="0">
            <a:spAutoFit/>
          </a:bodyPr>
          <a:lstStyle/>
          <a:p>
            <a:pPr algn="ctr"/>
            <a:r>
              <a:rPr lang="zh-CN" altLang="en-US" sz="2000" b="1" dirty="0">
                <a:solidFill>
                  <a:srgbClr val="00467F"/>
                </a:solidFill>
                <a:latin typeface="微软雅黑" panose="020B0503020204020204" pitchFamily="34" charset="-122"/>
                <a:ea typeface="微软雅黑" panose="020B0503020204020204" pitchFamily="34" charset="-122"/>
              </a:rPr>
              <a:t>电工电子教学实验中心</a:t>
            </a:r>
            <a:fld id="{CDAFC576-CAAD-4A86-A4AF-36B01145718A}" type="datetime2">
              <a:rPr lang="zh-CN" altLang="en-US" sz="2000" b="1" dirty="0" smtClean="0">
                <a:solidFill>
                  <a:srgbClr val="00467F"/>
                </a:solidFill>
                <a:latin typeface="微软雅黑" panose="020B0503020204020204" pitchFamily="34" charset="-122"/>
                <a:ea typeface="微软雅黑" panose="020B0503020204020204" pitchFamily="34" charset="-122"/>
              </a:rPr>
              <a:t>2026年3月19日</a:t>
            </a:fld>
            <a:endParaRPr lang="en-US" altLang="zh-CN" sz="2000" b="1" dirty="0">
              <a:solidFill>
                <a:srgbClr val="00467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24659" y="3826882"/>
            <a:ext cx="2095340"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实验任务</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 name="组合 2"/>
          <p:cNvGrpSpPr/>
          <p:nvPr/>
        </p:nvGrpSpPr>
        <p:grpSpPr>
          <a:xfrm>
            <a:off x="4710786" y="1658671"/>
            <a:ext cx="678360" cy="657702"/>
            <a:chOff x="645616" y="1828324"/>
            <a:chExt cx="678360" cy="657702"/>
          </a:xfrm>
          <a:solidFill>
            <a:srgbClr val="00467F"/>
          </a:solidFill>
        </p:grpSpPr>
        <p:sp>
          <p:nvSpPr>
            <p:cNvPr id="4" name="Oval 239"/>
            <p:cNvSpPr/>
            <p:nvPr/>
          </p:nvSpPr>
          <p:spPr>
            <a:xfrm>
              <a:off x="645616" y="18283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14"/>
            <p:cNvSpPr txBox="1"/>
            <p:nvPr/>
          </p:nvSpPr>
          <p:spPr>
            <a:xfrm>
              <a:off x="785323" y="1903049"/>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1</a:t>
              </a:r>
              <a:endParaRPr lang="id-ID" sz="2800" b="1" dirty="0">
                <a:solidFill>
                  <a:schemeClr val="bg1"/>
                </a:solidFill>
                <a:latin typeface="微软雅黑" panose="020B0503020204020204" pitchFamily="34" charset="-122"/>
              </a:endParaRPr>
            </a:p>
          </p:txBody>
        </p:sp>
      </p:grpSp>
      <p:sp>
        <p:nvSpPr>
          <p:cNvPr id="6" name="矩形 5"/>
          <p:cNvSpPr/>
          <p:nvPr/>
        </p:nvSpPr>
        <p:spPr>
          <a:xfrm>
            <a:off x="5524659" y="1729028"/>
            <a:ext cx="2284026"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背景介绍</a:t>
            </a:r>
            <a:endParaRPr lang="id-ID"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 name="组合 6"/>
          <p:cNvGrpSpPr/>
          <p:nvPr/>
        </p:nvGrpSpPr>
        <p:grpSpPr>
          <a:xfrm>
            <a:off x="4747446" y="2756129"/>
            <a:ext cx="678360" cy="657702"/>
            <a:chOff x="674191" y="3009424"/>
            <a:chExt cx="678360" cy="657702"/>
          </a:xfrm>
          <a:solidFill>
            <a:srgbClr val="00467F"/>
          </a:solidFill>
        </p:grpSpPr>
        <p:sp>
          <p:nvSpPr>
            <p:cNvPr id="8" name="Oval 239"/>
            <p:cNvSpPr/>
            <p:nvPr/>
          </p:nvSpPr>
          <p:spPr>
            <a:xfrm>
              <a:off x="674191" y="30094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17"/>
            <p:cNvSpPr txBox="1"/>
            <p:nvPr/>
          </p:nvSpPr>
          <p:spPr>
            <a:xfrm>
              <a:off x="813320" y="3083571"/>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2</a:t>
              </a:r>
              <a:endParaRPr lang="id-ID" sz="2800" b="1" dirty="0">
                <a:solidFill>
                  <a:schemeClr val="bg1"/>
                </a:solidFill>
                <a:latin typeface="微软雅黑" panose="020B0503020204020204" pitchFamily="34" charset="-122"/>
              </a:endParaRPr>
            </a:p>
          </p:txBody>
        </p:sp>
      </p:grpSp>
      <p:sp>
        <p:nvSpPr>
          <p:cNvPr id="10" name="TextBox 5"/>
          <p:cNvSpPr txBox="1"/>
          <p:nvPr/>
        </p:nvSpPr>
        <p:spPr>
          <a:xfrm>
            <a:off x="899251" y="200214"/>
            <a:ext cx="2449690"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目录</a:t>
            </a:r>
          </a:p>
        </p:txBody>
      </p:sp>
      <p:sp>
        <p:nvSpPr>
          <p:cNvPr id="11" name="Pentagon 89"/>
          <p:cNvSpPr/>
          <p:nvPr/>
        </p:nvSpPr>
        <p:spPr>
          <a:xfrm rot="10800000">
            <a:off x="11707102" y="6251108"/>
            <a:ext cx="484896" cy="393526"/>
          </a:xfrm>
          <a:prstGeom prst="homePlate">
            <a:avLst>
              <a:gd name="adj" fmla="val 29245"/>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dirty="0">
              <a:solidFill>
                <a:srgbClr val="00467F"/>
              </a:solidFill>
            </a:endParaRPr>
          </a:p>
        </p:txBody>
      </p:sp>
      <p:sp>
        <p:nvSpPr>
          <p:cNvPr id="12" name="Rectangle 90"/>
          <p:cNvSpPr/>
          <p:nvPr/>
        </p:nvSpPr>
        <p:spPr>
          <a:xfrm>
            <a:off x="11843896" y="6251109"/>
            <a:ext cx="184731" cy="307777"/>
          </a:xfrm>
          <a:prstGeom prst="rect">
            <a:avLst/>
          </a:prstGeom>
        </p:spPr>
        <p:txBody>
          <a:bodyPr wrap="none">
            <a:spAutoFit/>
          </a:bodyPr>
          <a:lstStyle/>
          <a:p>
            <a:pPr algn="ctr"/>
            <a:endParaRPr lang="id-ID" sz="1400" dirty="0">
              <a:solidFill>
                <a:schemeClr val="bg1"/>
              </a:solidFill>
            </a:endParaRPr>
          </a:p>
        </p:txBody>
      </p:sp>
      <p:sp>
        <p:nvSpPr>
          <p:cNvPr id="13"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a:t>
            </a:fld>
            <a:endParaRPr lang="id-ID" sz="1200" dirty="0"/>
          </a:p>
        </p:txBody>
      </p:sp>
      <p:sp>
        <p:nvSpPr>
          <p:cNvPr id="14" name="矩形 13"/>
          <p:cNvSpPr/>
          <p:nvPr/>
        </p:nvSpPr>
        <p:spPr>
          <a:xfrm>
            <a:off x="5524660" y="2777955"/>
            <a:ext cx="2095340"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实验目的</a:t>
            </a:r>
            <a:endParaRPr lang="id-ID"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5" name="组合 14"/>
          <p:cNvGrpSpPr/>
          <p:nvPr/>
        </p:nvGrpSpPr>
        <p:grpSpPr>
          <a:xfrm>
            <a:off x="4783528" y="3775427"/>
            <a:ext cx="678360" cy="657702"/>
            <a:chOff x="674191" y="3009424"/>
            <a:chExt cx="678360" cy="657702"/>
          </a:xfrm>
          <a:solidFill>
            <a:srgbClr val="00467F"/>
          </a:solidFill>
        </p:grpSpPr>
        <p:sp>
          <p:nvSpPr>
            <p:cNvPr id="16" name="Oval 239"/>
            <p:cNvSpPr/>
            <p:nvPr/>
          </p:nvSpPr>
          <p:spPr>
            <a:xfrm>
              <a:off x="674191" y="30094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Box 17"/>
            <p:cNvSpPr txBox="1"/>
            <p:nvPr/>
          </p:nvSpPr>
          <p:spPr>
            <a:xfrm>
              <a:off x="813320" y="3083571"/>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3</a:t>
              </a:r>
              <a:endParaRPr lang="id-ID" sz="2800" b="1" dirty="0">
                <a:solidFill>
                  <a:schemeClr val="bg1"/>
                </a:solidFill>
                <a:latin typeface="微软雅黑" panose="020B0503020204020204" pitchFamily="34" charset="-122"/>
              </a:endParaRPr>
            </a:p>
          </p:txBody>
        </p:sp>
      </p:grpSp>
      <p:sp>
        <p:nvSpPr>
          <p:cNvPr id="19" name="矩形 18"/>
          <p:cNvSpPr/>
          <p:nvPr/>
        </p:nvSpPr>
        <p:spPr>
          <a:xfrm>
            <a:off x="5524659" y="4875809"/>
            <a:ext cx="2095340"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编程提示</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0" name="组合 19"/>
          <p:cNvGrpSpPr/>
          <p:nvPr/>
        </p:nvGrpSpPr>
        <p:grpSpPr>
          <a:xfrm>
            <a:off x="4783528" y="4824354"/>
            <a:ext cx="678360" cy="657702"/>
            <a:chOff x="674191" y="3009424"/>
            <a:chExt cx="678360" cy="657702"/>
          </a:xfrm>
          <a:solidFill>
            <a:srgbClr val="00467F"/>
          </a:solidFill>
        </p:grpSpPr>
        <p:sp>
          <p:nvSpPr>
            <p:cNvPr id="21" name="Oval 239"/>
            <p:cNvSpPr/>
            <p:nvPr/>
          </p:nvSpPr>
          <p:spPr>
            <a:xfrm>
              <a:off x="674191" y="30094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17"/>
            <p:cNvSpPr txBox="1"/>
            <p:nvPr/>
          </p:nvSpPr>
          <p:spPr>
            <a:xfrm>
              <a:off x="813320" y="3083571"/>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4</a:t>
              </a:r>
              <a:endParaRPr lang="id-ID" sz="2800" b="1" dirty="0">
                <a:solidFill>
                  <a:schemeClr val="bg1"/>
                </a:solidFill>
                <a:latin typeface="微软雅黑" panose="020B0503020204020204" pitchFamily="34"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p:cNvPicPr/>
          <p:nvPr/>
        </p:nvPicPr>
        <p:blipFill>
          <a:blip r:embed="rId2" cstate="print">
            <a:extLst>
              <a:ext uri="{28A0092B-C50C-407E-A947-70E740481C1C}">
                <a14:useLocalDpi xmlns:a14="http://schemas.microsoft.com/office/drawing/2010/main" val="0"/>
              </a:ext>
            </a:extLst>
          </a:blip>
          <a:stretch>
            <a:fillRect/>
          </a:stretch>
        </p:blipFill>
        <p:spPr>
          <a:xfrm>
            <a:off x="6783595" y="2201215"/>
            <a:ext cx="3751200" cy="2520000"/>
          </a:xfrm>
          <a:prstGeom prst="rect">
            <a:avLst/>
          </a:prstGeom>
        </p:spPr>
      </p:pic>
      <p:sp>
        <p:nvSpPr>
          <p:cNvPr id="6" name="矩形 5"/>
          <p:cNvSpPr/>
          <p:nvPr/>
        </p:nvSpPr>
        <p:spPr>
          <a:xfrm>
            <a:off x="719039" y="1363606"/>
            <a:ext cx="11016294"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自然科学和社会科学领域许多数学模型可描述为偏微分方程初值问题</a:t>
            </a:r>
            <a:endParaRPr lang="id-ID"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extBox 5"/>
          <p:cNvSpPr txBox="1"/>
          <p:nvPr/>
        </p:nvSpPr>
        <p:spPr>
          <a:xfrm>
            <a:off x="899251" y="200214"/>
            <a:ext cx="2449690"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1.</a:t>
            </a:r>
            <a:r>
              <a:rPr lang="zh-CN" altLang="en-US" sz="3600" b="1" dirty="0">
                <a:solidFill>
                  <a:srgbClr val="00467F"/>
                </a:solidFill>
                <a:latin typeface="微软雅黑" panose="020B0503020204020204" pitchFamily="34" charset="-122"/>
                <a:ea typeface="微软雅黑" panose="020B0503020204020204" pitchFamily="34" charset="-122"/>
              </a:rPr>
              <a:t>背景介绍</a:t>
            </a:r>
          </a:p>
        </p:txBody>
      </p:sp>
      <p:sp>
        <p:nvSpPr>
          <p:cNvPr id="11" name="Pentagon 89"/>
          <p:cNvSpPr/>
          <p:nvPr/>
        </p:nvSpPr>
        <p:spPr>
          <a:xfrm rot="10800000">
            <a:off x="11707102" y="6251108"/>
            <a:ext cx="484896" cy="393526"/>
          </a:xfrm>
          <a:prstGeom prst="homePlate">
            <a:avLst>
              <a:gd name="adj" fmla="val 29245"/>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dirty="0">
              <a:solidFill>
                <a:srgbClr val="00467F"/>
              </a:solidFill>
            </a:endParaRPr>
          </a:p>
        </p:txBody>
      </p:sp>
      <p:sp>
        <p:nvSpPr>
          <p:cNvPr id="12" name="Rectangle 90"/>
          <p:cNvSpPr/>
          <p:nvPr/>
        </p:nvSpPr>
        <p:spPr>
          <a:xfrm>
            <a:off x="11843896" y="6251109"/>
            <a:ext cx="184731" cy="307777"/>
          </a:xfrm>
          <a:prstGeom prst="rect">
            <a:avLst/>
          </a:prstGeom>
        </p:spPr>
        <p:txBody>
          <a:bodyPr wrap="none">
            <a:spAutoFit/>
          </a:bodyPr>
          <a:lstStyle/>
          <a:p>
            <a:pPr algn="ctr"/>
            <a:endParaRPr lang="id-ID" sz="1400" dirty="0">
              <a:solidFill>
                <a:schemeClr val="bg1"/>
              </a:solidFill>
            </a:endParaRPr>
          </a:p>
        </p:txBody>
      </p:sp>
      <p:sp>
        <p:nvSpPr>
          <p:cNvPr id="13"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a:t>
            </a:fld>
            <a:endParaRPr lang="id-ID" sz="1200" dirty="0"/>
          </a:p>
        </p:txBody>
      </p:sp>
      <p:pic>
        <p:nvPicPr>
          <p:cNvPr id="22" name="图片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7645" y="5299631"/>
            <a:ext cx="2876951" cy="771633"/>
          </a:xfrm>
          <a:prstGeom prst="rect">
            <a:avLst/>
          </a:prstGeom>
        </p:spPr>
      </p:pic>
      <p:pic>
        <p:nvPicPr>
          <p:cNvPr id="25" name="图片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7499" y="5299631"/>
            <a:ext cx="1981477" cy="714475"/>
          </a:xfrm>
          <a:prstGeom prst="rect">
            <a:avLst/>
          </a:prstGeom>
        </p:spPr>
      </p:pic>
      <p:pic>
        <p:nvPicPr>
          <p:cNvPr id="30" name="图片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61162" y="2201215"/>
            <a:ext cx="3749921" cy="2520000"/>
          </a:xfrm>
          <a:prstGeom prst="rect">
            <a:avLst/>
          </a:prstGeom>
        </p:spPr>
      </p:pic>
      <p:sp>
        <p:nvSpPr>
          <p:cNvPr id="32" name="文本框 31"/>
          <p:cNvSpPr txBox="1"/>
          <p:nvPr/>
        </p:nvSpPr>
        <p:spPr>
          <a:xfrm>
            <a:off x="2728311" y="4764228"/>
            <a:ext cx="1981477" cy="369332"/>
          </a:xfrm>
          <a:prstGeom prst="rect">
            <a:avLst/>
          </a:prstGeom>
          <a:noFill/>
        </p:spPr>
        <p:txBody>
          <a:bodyPr wrap="square">
            <a:spAutoFit/>
          </a:bodyPr>
          <a:lstStyle/>
          <a:p>
            <a:r>
              <a:rPr lang="zh-CN" altLang="en-US" sz="1800" b="1" dirty="0">
                <a:latin typeface="Times New Roman" panose="02020603050405020304" pitchFamily="18" charset="0"/>
                <a:ea typeface="微软雅黑" panose="020B0503020204020204" pitchFamily="34" charset="-122"/>
                <a:cs typeface="Times New Roman" panose="02020603050405020304" pitchFamily="18" charset="0"/>
              </a:rPr>
              <a:t>地震波</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传播过程</a:t>
            </a:r>
            <a:endParaRPr lang="zh-CN" altLang="en-US" dirty="0"/>
          </a:p>
        </p:txBody>
      </p:sp>
      <p:sp>
        <p:nvSpPr>
          <p:cNvPr id="34" name="文本框 33"/>
          <p:cNvSpPr txBox="1"/>
          <p:nvPr/>
        </p:nvSpPr>
        <p:spPr>
          <a:xfrm>
            <a:off x="7255848" y="4764228"/>
            <a:ext cx="3009900" cy="369332"/>
          </a:xfrm>
          <a:prstGeom prst="rect">
            <a:avLst/>
          </a:prstGeom>
          <a:noFill/>
        </p:spPr>
        <p:txBody>
          <a:bodyPr wrap="square">
            <a:spAutoFit/>
          </a:bodyPr>
          <a:lstStyle/>
          <a:p>
            <a:r>
              <a:rPr lang="zh-CN" altLang="en-US" sz="1800" b="1" dirty="0">
                <a:latin typeface="Times New Roman" panose="02020603050405020304" pitchFamily="18" charset="0"/>
                <a:ea typeface="微软雅黑" panose="020B0503020204020204" pitchFamily="34" charset="-122"/>
                <a:cs typeface="Times New Roman" panose="02020603050405020304" pitchFamily="18" charset="0"/>
              </a:rPr>
              <a:t>金属复合板冷却过程温度场</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4</a:t>
            </a:fld>
            <a:endParaRPr lang="id-ID" sz="1200" dirty="0"/>
          </a:p>
        </p:txBody>
      </p:sp>
      <p:sp>
        <p:nvSpPr>
          <p:cNvPr id="26" name="TextBox 36"/>
          <p:cNvSpPr txBox="1"/>
          <p:nvPr/>
        </p:nvSpPr>
        <p:spPr>
          <a:xfrm>
            <a:off x="610002" y="1261603"/>
            <a:ext cx="11061298" cy="830997"/>
          </a:xfrm>
          <a:prstGeom prst="rect">
            <a:avLst/>
          </a:prstGeom>
          <a:noFill/>
        </p:spPr>
        <p:txBody>
          <a:bodyPr wrap="square" rtlCol="0">
            <a:spAutoFit/>
          </a:bodyPr>
          <a:lstStyle/>
          <a:p>
            <a:pPr indent="457200"/>
            <a:r>
              <a:rPr lang="en-US" altLang="zh-CN" sz="2400" dirty="0"/>
              <a:t>1966</a:t>
            </a:r>
            <a:r>
              <a:rPr lang="zh-CN" altLang="en-US" sz="2400" dirty="0"/>
              <a:t>年，</a:t>
            </a:r>
            <a:r>
              <a:rPr lang="en-US" altLang="zh-CN" sz="2400" dirty="0"/>
              <a:t>K.S. YEE</a:t>
            </a:r>
            <a:r>
              <a:rPr lang="zh-CN" altLang="en-US" sz="2400" dirty="0"/>
              <a:t>首次提出电磁场数值计算的新方法</a:t>
            </a:r>
            <a:r>
              <a:rPr lang="en-US" altLang="zh-CN" sz="2400" dirty="0"/>
              <a:t>-</a:t>
            </a:r>
            <a:r>
              <a:rPr lang="zh-CN" altLang="en-US" sz="2400" dirty="0"/>
              <a:t>时域有限差分法（</a:t>
            </a:r>
            <a:r>
              <a:rPr lang="en-US" altLang="zh-CN" sz="2400" dirty="0"/>
              <a:t>Finite Difference-Time Domain</a:t>
            </a:r>
            <a:r>
              <a:rPr lang="zh-CN" altLang="en-US" sz="2400" dirty="0"/>
              <a:t>，简称</a:t>
            </a:r>
            <a:r>
              <a:rPr lang="en-US" altLang="zh-CN" sz="2400" dirty="0"/>
              <a:t>FDTD</a:t>
            </a:r>
            <a:r>
              <a:rPr lang="zh-CN" altLang="en-US" sz="2400" dirty="0"/>
              <a:t>）。</a:t>
            </a:r>
          </a:p>
        </p:txBody>
      </p:sp>
      <p:sp>
        <p:nvSpPr>
          <p:cNvPr id="36" name="TextBox 5"/>
          <p:cNvSpPr txBox="1"/>
          <p:nvPr/>
        </p:nvSpPr>
        <p:spPr>
          <a:xfrm>
            <a:off x="899250" y="200214"/>
            <a:ext cx="3829767"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1.</a:t>
            </a:r>
            <a:r>
              <a:rPr lang="zh-CN" altLang="en-US" sz="3600" b="1" dirty="0">
                <a:solidFill>
                  <a:srgbClr val="00467F"/>
                </a:solidFill>
                <a:latin typeface="微软雅黑" panose="020B0503020204020204" pitchFamily="34" charset="-122"/>
                <a:ea typeface="微软雅黑" panose="020B0503020204020204" pitchFamily="34" charset="-122"/>
              </a:rPr>
              <a:t>背景介绍</a:t>
            </a:r>
          </a:p>
        </p:txBody>
      </p:sp>
      <p:sp>
        <p:nvSpPr>
          <p:cNvPr id="37" name="TextBox 36"/>
          <p:cNvSpPr txBox="1"/>
          <p:nvPr/>
        </p:nvSpPr>
        <p:spPr>
          <a:xfrm>
            <a:off x="610002" y="2275116"/>
            <a:ext cx="10756497" cy="1569660"/>
          </a:xfrm>
          <a:prstGeom prst="rect">
            <a:avLst/>
          </a:prstGeom>
          <a:noFill/>
        </p:spPr>
        <p:txBody>
          <a:bodyPr wrap="square" rtlCol="0">
            <a:spAutoFit/>
          </a:bodyPr>
          <a:lstStyle/>
          <a:p>
            <a:pPr indent="457200"/>
            <a:r>
              <a:rPr lang="zh-CN" altLang="en-US" sz="2400" dirty="0"/>
              <a:t>有限差分法基本思想：将连续场域剖分为许多网格，应用差分原理，将求解连续变量的偏微分方程问题，转化为求解离散网格节点上变量值的代数方程组问题，解出各离散点变量值后，再应用插值方法，进而由离散解得出全场域中的近似解。</a:t>
            </a:r>
          </a:p>
        </p:txBody>
      </p:sp>
      <p:sp>
        <p:nvSpPr>
          <p:cNvPr id="38" name="TextBox 36"/>
          <p:cNvSpPr txBox="1"/>
          <p:nvPr/>
        </p:nvSpPr>
        <p:spPr>
          <a:xfrm>
            <a:off x="610002" y="4027292"/>
            <a:ext cx="10756497" cy="1938992"/>
          </a:xfrm>
          <a:prstGeom prst="rect">
            <a:avLst/>
          </a:prstGeom>
          <a:noFill/>
        </p:spPr>
        <p:txBody>
          <a:bodyPr wrap="square" rtlCol="0">
            <a:spAutoFit/>
          </a:bodyPr>
          <a:lstStyle/>
          <a:p>
            <a:pPr indent="457200"/>
            <a:r>
              <a:rPr lang="zh-CN" altLang="en-US" sz="2400" dirty="0"/>
              <a:t>有限差分法步骤：</a:t>
            </a:r>
            <a:endParaRPr lang="en-US" altLang="zh-CN" sz="2400" dirty="0"/>
          </a:p>
          <a:p>
            <a:pPr indent="457200"/>
            <a:r>
              <a:rPr lang="zh-CN" altLang="en-US" sz="2400" dirty="0"/>
              <a:t>（</a:t>
            </a:r>
            <a:r>
              <a:rPr lang="en-US" altLang="zh-CN" sz="2400" dirty="0"/>
              <a:t>1</a:t>
            </a:r>
            <a:r>
              <a:rPr lang="zh-CN" altLang="en-US" sz="2400" dirty="0"/>
              <a:t>）采用网格剖分将</a:t>
            </a:r>
            <a:r>
              <a:rPr lang="zh-CN" altLang="en-US" sz="2400" dirty="0">
                <a:solidFill>
                  <a:srgbClr val="0000CC"/>
                </a:solidFill>
              </a:rPr>
              <a:t>场域离散化</a:t>
            </a:r>
            <a:r>
              <a:rPr lang="zh-CN" altLang="en-US" sz="2400" dirty="0"/>
              <a:t>；</a:t>
            </a:r>
            <a:endParaRPr lang="en-US" altLang="zh-CN" sz="2400" dirty="0"/>
          </a:p>
          <a:p>
            <a:pPr indent="457200"/>
            <a:r>
              <a:rPr lang="zh-CN" altLang="en-US" sz="2400" dirty="0"/>
              <a:t>（</a:t>
            </a:r>
            <a:r>
              <a:rPr lang="en-US" altLang="zh-CN" sz="2400" dirty="0"/>
              <a:t>2</a:t>
            </a:r>
            <a:r>
              <a:rPr lang="zh-CN" altLang="en-US" sz="2400" dirty="0"/>
              <a:t>）应用差分原理，对场域内偏微分方程离散化，</a:t>
            </a:r>
            <a:r>
              <a:rPr lang="zh-CN" altLang="en-US" sz="2400" dirty="0">
                <a:solidFill>
                  <a:srgbClr val="0000CC"/>
                </a:solidFill>
              </a:rPr>
              <a:t>构造差分格式</a:t>
            </a:r>
            <a:r>
              <a:rPr lang="zh-CN" altLang="en-US" sz="2400" dirty="0"/>
              <a:t>；</a:t>
            </a:r>
            <a:endParaRPr lang="en-US" altLang="zh-CN" sz="2400" dirty="0"/>
          </a:p>
          <a:p>
            <a:pPr indent="457200"/>
            <a:r>
              <a:rPr lang="zh-CN" altLang="en-US" sz="2400" dirty="0"/>
              <a:t>（</a:t>
            </a:r>
            <a:r>
              <a:rPr lang="en-US" altLang="zh-CN" sz="2400" dirty="0"/>
              <a:t>3</a:t>
            </a:r>
            <a:r>
              <a:rPr lang="zh-CN" altLang="en-US" sz="2400" dirty="0"/>
              <a:t>）由差分格式得到离散点上满足的</a:t>
            </a:r>
            <a:r>
              <a:rPr lang="zh-CN" altLang="en-US" sz="2400" dirty="0">
                <a:solidFill>
                  <a:srgbClr val="0000CC"/>
                </a:solidFill>
              </a:rPr>
              <a:t>代数方程组</a:t>
            </a:r>
            <a:r>
              <a:rPr lang="zh-CN" altLang="en-US" sz="2400" dirty="0"/>
              <a:t>，编制计算机程序解方程，</a:t>
            </a:r>
            <a:endParaRPr lang="en-US" altLang="zh-CN" sz="2400" dirty="0"/>
          </a:p>
          <a:p>
            <a:pPr indent="457200"/>
            <a:r>
              <a:rPr lang="en-US" altLang="zh-CN" sz="2400" dirty="0"/>
              <a:t>         </a:t>
            </a:r>
            <a:r>
              <a:rPr lang="zh-CN" altLang="en-US" sz="2400" dirty="0"/>
              <a:t>得到离散点上的解。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75174" y="3733446"/>
            <a:ext cx="9265806"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分析超松弛迭代法中加速收敛因子    的作用。</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 name="组合 2"/>
          <p:cNvGrpSpPr/>
          <p:nvPr/>
        </p:nvGrpSpPr>
        <p:grpSpPr>
          <a:xfrm>
            <a:off x="661301" y="1565235"/>
            <a:ext cx="678360" cy="657702"/>
            <a:chOff x="645616" y="1828324"/>
            <a:chExt cx="678360" cy="657702"/>
          </a:xfrm>
          <a:solidFill>
            <a:srgbClr val="00467F"/>
          </a:solidFill>
        </p:grpSpPr>
        <p:sp>
          <p:nvSpPr>
            <p:cNvPr id="4" name="Oval 239"/>
            <p:cNvSpPr/>
            <p:nvPr/>
          </p:nvSpPr>
          <p:spPr>
            <a:xfrm>
              <a:off x="645616" y="18283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14"/>
            <p:cNvSpPr txBox="1"/>
            <p:nvPr/>
          </p:nvSpPr>
          <p:spPr>
            <a:xfrm>
              <a:off x="785323" y="1903049"/>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1</a:t>
              </a:r>
              <a:endParaRPr lang="id-ID" sz="2800" b="1" dirty="0">
                <a:solidFill>
                  <a:schemeClr val="bg1"/>
                </a:solidFill>
                <a:latin typeface="微软雅黑" panose="020B0503020204020204" pitchFamily="34" charset="-122"/>
              </a:endParaRPr>
            </a:p>
          </p:txBody>
        </p:sp>
      </p:grpSp>
      <p:sp>
        <p:nvSpPr>
          <p:cNvPr id="6" name="矩形 5"/>
          <p:cNvSpPr/>
          <p:nvPr/>
        </p:nvSpPr>
        <p:spPr>
          <a:xfrm>
            <a:off x="1475174" y="1635592"/>
            <a:ext cx="9706938"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掌握有限差分法的原理与计算步骤。</a:t>
            </a:r>
            <a:endParaRPr lang="id-ID"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 name="组合 6"/>
          <p:cNvGrpSpPr/>
          <p:nvPr/>
        </p:nvGrpSpPr>
        <p:grpSpPr>
          <a:xfrm>
            <a:off x="697961" y="2662693"/>
            <a:ext cx="678360" cy="657702"/>
            <a:chOff x="674191" y="3009424"/>
            <a:chExt cx="678360" cy="657702"/>
          </a:xfrm>
          <a:solidFill>
            <a:srgbClr val="00467F"/>
          </a:solidFill>
        </p:grpSpPr>
        <p:sp>
          <p:nvSpPr>
            <p:cNvPr id="8" name="Oval 239"/>
            <p:cNvSpPr/>
            <p:nvPr/>
          </p:nvSpPr>
          <p:spPr>
            <a:xfrm>
              <a:off x="674191" y="30094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17"/>
            <p:cNvSpPr txBox="1"/>
            <p:nvPr/>
          </p:nvSpPr>
          <p:spPr>
            <a:xfrm>
              <a:off x="813320" y="3083571"/>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2</a:t>
              </a:r>
              <a:endParaRPr lang="id-ID" sz="2800" b="1" dirty="0">
                <a:solidFill>
                  <a:schemeClr val="bg1"/>
                </a:solidFill>
                <a:latin typeface="微软雅黑" panose="020B0503020204020204" pitchFamily="34" charset="-122"/>
              </a:endParaRPr>
            </a:p>
          </p:txBody>
        </p:sp>
      </p:grpSp>
      <p:sp>
        <p:nvSpPr>
          <p:cNvPr id="10" name="TextBox 5"/>
          <p:cNvSpPr txBox="1"/>
          <p:nvPr/>
        </p:nvSpPr>
        <p:spPr>
          <a:xfrm>
            <a:off x="899251" y="200214"/>
            <a:ext cx="2449690"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2.</a:t>
            </a:r>
            <a:r>
              <a:rPr lang="zh-CN" altLang="en-US" sz="3600" b="1" dirty="0">
                <a:solidFill>
                  <a:srgbClr val="00467F"/>
                </a:solidFill>
                <a:latin typeface="微软雅黑" panose="020B0503020204020204" pitchFamily="34" charset="-122"/>
                <a:ea typeface="微软雅黑" panose="020B0503020204020204" pitchFamily="34" charset="-122"/>
              </a:rPr>
              <a:t>实验目的</a:t>
            </a:r>
          </a:p>
        </p:txBody>
      </p:sp>
      <p:sp>
        <p:nvSpPr>
          <p:cNvPr id="11" name="Pentagon 89"/>
          <p:cNvSpPr/>
          <p:nvPr/>
        </p:nvSpPr>
        <p:spPr>
          <a:xfrm rot="10800000">
            <a:off x="11707102" y="6251108"/>
            <a:ext cx="484896" cy="393526"/>
          </a:xfrm>
          <a:prstGeom prst="homePlate">
            <a:avLst>
              <a:gd name="adj" fmla="val 29245"/>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dirty="0">
              <a:solidFill>
                <a:srgbClr val="00467F"/>
              </a:solidFill>
            </a:endParaRPr>
          </a:p>
        </p:txBody>
      </p:sp>
      <p:sp>
        <p:nvSpPr>
          <p:cNvPr id="12" name="Rectangle 90"/>
          <p:cNvSpPr/>
          <p:nvPr/>
        </p:nvSpPr>
        <p:spPr>
          <a:xfrm>
            <a:off x="11843896" y="6251109"/>
            <a:ext cx="184731" cy="307777"/>
          </a:xfrm>
          <a:prstGeom prst="rect">
            <a:avLst/>
          </a:prstGeom>
        </p:spPr>
        <p:txBody>
          <a:bodyPr wrap="none">
            <a:spAutoFit/>
          </a:bodyPr>
          <a:lstStyle/>
          <a:p>
            <a:pPr algn="ctr"/>
            <a:endParaRPr lang="id-ID" sz="1400" dirty="0">
              <a:solidFill>
                <a:schemeClr val="bg1"/>
              </a:solidFill>
            </a:endParaRPr>
          </a:p>
        </p:txBody>
      </p:sp>
      <p:sp>
        <p:nvSpPr>
          <p:cNvPr id="13"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5</a:t>
            </a:fld>
            <a:endParaRPr lang="id-ID" sz="1200" dirty="0"/>
          </a:p>
        </p:txBody>
      </p:sp>
      <p:sp>
        <p:nvSpPr>
          <p:cNvPr id="14" name="矩形 13"/>
          <p:cNvSpPr/>
          <p:nvPr/>
        </p:nvSpPr>
        <p:spPr>
          <a:xfrm>
            <a:off x="1475174" y="2684519"/>
            <a:ext cx="10397223"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理解并掌握求解差分方程组的高斯赛德尔迭代法和超松弛迭代法。</a:t>
            </a:r>
            <a:endParaRPr lang="id-ID"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5" name="组合 14"/>
          <p:cNvGrpSpPr/>
          <p:nvPr/>
        </p:nvGrpSpPr>
        <p:grpSpPr>
          <a:xfrm>
            <a:off x="734043" y="3681991"/>
            <a:ext cx="678360" cy="657702"/>
            <a:chOff x="674191" y="3009424"/>
            <a:chExt cx="678360" cy="657702"/>
          </a:xfrm>
          <a:solidFill>
            <a:srgbClr val="00467F"/>
          </a:solidFill>
        </p:grpSpPr>
        <p:sp>
          <p:nvSpPr>
            <p:cNvPr id="16" name="Oval 239"/>
            <p:cNvSpPr/>
            <p:nvPr/>
          </p:nvSpPr>
          <p:spPr>
            <a:xfrm>
              <a:off x="674191" y="30094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Box 17"/>
            <p:cNvSpPr txBox="1"/>
            <p:nvPr/>
          </p:nvSpPr>
          <p:spPr>
            <a:xfrm>
              <a:off x="813320" y="3083571"/>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3</a:t>
              </a:r>
              <a:endParaRPr lang="id-ID" sz="2800" b="1" dirty="0">
                <a:solidFill>
                  <a:schemeClr val="bg1"/>
                </a:solidFill>
                <a:latin typeface="微软雅黑" panose="020B0503020204020204" pitchFamily="34" charset="-122"/>
              </a:endParaRPr>
            </a:p>
          </p:txBody>
        </p:sp>
      </p:grpSp>
      <p:graphicFrame>
        <p:nvGraphicFramePr>
          <p:cNvPr id="18" name="Object 4"/>
          <p:cNvGraphicFramePr>
            <a:graphicFrameLocks noChangeAspect="1"/>
          </p:cNvGraphicFramePr>
          <p:nvPr/>
        </p:nvGraphicFramePr>
        <p:xfrm>
          <a:off x="6941032" y="3869458"/>
          <a:ext cx="246063" cy="306388"/>
        </p:xfrm>
        <a:graphic>
          <a:graphicData uri="http://schemas.openxmlformats.org/presentationml/2006/ole">
            <mc:AlternateContent xmlns:mc="http://schemas.openxmlformats.org/markup-compatibility/2006">
              <mc:Choice xmlns:v="urn:schemas-microsoft-com:vml" Requires="v">
                <p:oleObj spid="_x0000_s1027" name="Equation" r:id="rId3" imgW="3657600" imgH="3352800" progId="Equation.DSMT4">
                  <p:embed/>
                </p:oleObj>
              </mc:Choice>
              <mc:Fallback>
                <p:oleObj name="Equation" r:id="rId3" imgW="3657600" imgH="3352800" progId="Equation.DSMT4">
                  <p:embed/>
                  <p:pic>
                    <p:nvPicPr>
                      <p:cNvPr id="0" name="Object 4"/>
                      <p:cNvPicPr>
                        <a:picLocks noChangeAspect="1"/>
                      </p:cNvPicPr>
                      <p:nvPr/>
                    </p:nvPicPr>
                    <p:blipFill>
                      <a:blip r:embed="rId4"/>
                      <a:stretch>
                        <a:fillRect/>
                      </a:stretch>
                    </p:blipFill>
                    <p:spPr>
                      <a:xfrm>
                        <a:off x="6941032" y="3869458"/>
                        <a:ext cx="246063" cy="306388"/>
                      </a:xfrm>
                      <a:prstGeom prst="rect">
                        <a:avLst/>
                      </a:prstGeom>
                      <a:noFill/>
                      <a:ln w="9525">
                        <a:noFill/>
                      </a:ln>
                    </p:spPr>
                  </p:pic>
                </p:oleObj>
              </mc:Fallback>
            </mc:AlternateContent>
          </a:graphicData>
        </a:graphic>
      </p:graphicFrame>
      <p:sp>
        <p:nvSpPr>
          <p:cNvPr id="19" name="矩形 18"/>
          <p:cNvSpPr/>
          <p:nvPr/>
        </p:nvSpPr>
        <p:spPr>
          <a:xfrm>
            <a:off x="1475173" y="4865400"/>
            <a:ext cx="9982783" cy="523220"/>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学习</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COMSOL</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工程软件静电场模块的使用方法。</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0" name="组合 19"/>
          <p:cNvGrpSpPr/>
          <p:nvPr/>
        </p:nvGrpSpPr>
        <p:grpSpPr>
          <a:xfrm>
            <a:off x="734043" y="4813945"/>
            <a:ext cx="678360" cy="657702"/>
            <a:chOff x="674191" y="3009424"/>
            <a:chExt cx="678360" cy="657702"/>
          </a:xfrm>
          <a:solidFill>
            <a:srgbClr val="00467F"/>
          </a:solidFill>
        </p:grpSpPr>
        <p:sp>
          <p:nvSpPr>
            <p:cNvPr id="21" name="Oval 239"/>
            <p:cNvSpPr/>
            <p:nvPr/>
          </p:nvSpPr>
          <p:spPr>
            <a:xfrm>
              <a:off x="674191" y="30094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17"/>
            <p:cNvSpPr txBox="1"/>
            <p:nvPr/>
          </p:nvSpPr>
          <p:spPr>
            <a:xfrm>
              <a:off x="813320" y="3083571"/>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4</a:t>
              </a:r>
              <a:endParaRPr lang="id-ID" sz="2800" b="1" dirty="0">
                <a:solidFill>
                  <a:schemeClr val="bg1"/>
                </a:solidFill>
                <a:latin typeface="微软雅黑" panose="020B0503020204020204" pitchFamily="34"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92744" y="5065232"/>
            <a:ext cx="9265806" cy="954107"/>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仿真任务：用</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COMSOL</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软件仿真长直接地金属矩形槽槽内的电位分布</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P74</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页，仿真任务（</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 name="组合 2"/>
          <p:cNvGrpSpPr/>
          <p:nvPr/>
        </p:nvGrpSpPr>
        <p:grpSpPr>
          <a:xfrm>
            <a:off x="997725" y="1547209"/>
            <a:ext cx="678360" cy="657702"/>
            <a:chOff x="645616" y="1828324"/>
            <a:chExt cx="678360" cy="657702"/>
          </a:xfrm>
          <a:solidFill>
            <a:srgbClr val="00467F"/>
          </a:solidFill>
        </p:grpSpPr>
        <p:sp>
          <p:nvSpPr>
            <p:cNvPr id="4" name="Oval 239"/>
            <p:cNvSpPr/>
            <p:nvPr/>
          </p:nvSpPr>
          <p:spPr>
            <a:xfrm>
              <a:off x="645616" y="18283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14"/>
            <p:cNvSpPr txBox="1"/>
            <p:nvPr/>
          </p:nvSpPr>
          <p:spPr>
            <a:xfrm>
              <a:off x="785323" y="1903049"/>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1</a:t>
              </a:r>
              <a:endParaRPr lang="id-ID" sz="2800" b="1" dirty="0">
                <a:solidFill>
                  <a:schemeClr val="bg1"/>
                </a:solidFill>
                <a:latin typeface="微软雅黑" panose="020B0503020204020204" pitchFamily="34" charset="-122"/>
              </a:endParaRPr>
            </a:p>
          </p:txBody>
        </p:sp>
      </p:grpSp>
      <p:sp>
        <p:nvSpPr>
          <p:cNvPr id="6" name="矩形 5"/>
          <p:cNvSpPr/>
          <p:nvPr/>
        </p:nvSpPr>
        <p:spPr>
          <a:xfrm>
            <a:off x="1992744" y="1496802"/>
            <a:ext cx="9706938" cy="954107"/>
          </a:xfrm>
          <a:prstGeom prst="rect">
            <a:avLst/>
          </a:prstGeom>
        </p:spPr>
        <p:txBody>
          <a:bodyPr wrap="square">
            <a:spAutoFit/>
          </a:bodyPr>
          <a:lstStyle/>
          <a:p>
            <a:pPr>
              <a:buClr>
                <a:srgbClr val="30B695"/>
              </a:buCl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编程任务：编写一个计算机程序，应用有限差分法求解长直接地金属矩形槽内的电位分布</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P73</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页，编程任务（</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endParaRPr lang="id-ID"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extBox 5"/>
          <p:cNvSpPr txBox="1"/>
          <p:nvPr/>
        </p:nvSpPr>
        <p:spPr>
          <a:xfrm>
            <a:off x="899251" y="200214"/>
            <a:ext cx="2449690"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2.</a:t>
            </a:r>
            <a:r>
              <a:rPr lang="zh-CN" altLang="en-US" sz="3600" b="1" dirty="0">
                <a:solidFill>
                  <a:srgbClr val="00467F"/>
                </a:solidFill>
                <a:latin typeface="微软雅黑" panose="020B0503020204020204" pitchFamily="34" charset="-122"/>
                <a:ea typeface="微软雅黑" panose="020B0503020204020204" pitchFamily="34" charset="-122"/>
              </a:rPr>
              <a:t>实验任务</a:t>
            </a:r>
          </a:p>
        </p:txBody>
      </p:sp>
      <p:sp>
        <p:nvSpPr>
          <p:cNvPr id="11" name="Pentagon 89"/>
          <p:cNvSpPr/>
          <p:nvPr/>
        </p:nvSpPr>
        <p:spPr>
          <a:xfrm rot="10800000">
            <a:off x="11707102" y="6251108"/>
            <a:ext cx="484896" cy="393526"/>
          </a:xfrm>
          <a:prstGeom prst="homePlate">
            <a:avLst>
              <a:gd name="adj" fmla="val 29245"/>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dirty="0">
              <a:solidFill>
                <a:srgbClr val="00467F"/>
              </a:solidFill>
            </a:endParaRPr>
          </a:p>
        </p:txBody>
      </p:sp>
      <p:sp>
        <p:nvSpPr>
          <p:cNvPr id="12" name="Rectangle 90"/>
          <p:cNvSpPr/>
          <p:nvPr/>
        </p:nvSpPr>
        <p:spPr>
          <a:xfrm>
            <a:off x="11843896" y="6251109"/>
            <a:ext cx="184731" cy="307777"/>
          </a:xfrm>
          <a:prstGeom prst="rect">
            <a:avLst/>
          </a:prstGeom>
        </p:spPr>
        <p:txBody>
          <a:bodyPr wrap="none">
            <a:spAutoFit/>
          </a:bodyPr>
          <a:lstStyle/>
          <a:p>
            <a:pPr algn="ctr"/>
            <a:endParaRPr lang="id-ID" sz="1400" dirty="0">
              <a:solidFill>
                <a:schemeClr val="bg1"/>
              </a:solidFill>
            </a:endParaRPr>
          </a:p>
        </p:txBody>
      </p:sp>
      <p:sp>
        <p:nvSpPr>
          <p:cNvPr id="13"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6</a:t>
            </a:fld>
            <a:endParaRPr lang="id-ID" sz="1200" dirty="0"/>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0428" y="2631569"/>
            <a:ext cx="3729659" cy="2253002"/>
          </a:xfrm>
          <a:prstGeom prst="rect">
            <a:avLst/>
          </a:prstGeom>
        </p:spPr>
      </p:pic>
      <p:grpSp>
        <p:nvGrpSpPr>
          <p:cNvPr id="15" name="组合 14"/>
          <p:cNvGrpSpPr/>
          <p:nvPr/>
        </p:nvGrpSpPr>
        <p:grpSpPr>
          <a:xfrm>
            <a:off x="1034385" y="5156284"/>
            <a:ext cx="678360" cy="657702"/>
            <a:chOff x="645616" y="1828324"/>
            <a:chExt cx="678360" cy="657702"/>
          </a:xfrm>
          <a:solidFill>
            <a:srgbClr val="00467F"/>
          </a:solidFill>
        </p:grpSpPr>
        <p:sp>
          <p:nvSpPr>
            <p:cNvPr id="16" name="Oval 239"/>
            <p:cNvSpPr/>
            <p:nvPr/>
          </p:nvSpPr>
          <p:spPr>
            <a:xfrm>
              <a:off x="645616" y="1828324"/>
              <a:ext cx="678360" cy="65770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Box 14"/>
            <p:cNvSpPr txBox="1"/>
            <p:nvPr/>
          </p:nvSpPr>
          <p:spPr>
            <a:xfrm>
              <a:off x="785323" y="1903049"/>
              <a:ext cx="472266" cy="523220"/>
            </a:xfrm>
            <a:prstGeom prst="rect">
              <a:avLst/>
            </a:prstGeom>
            <a:noFill/>
          </p:spPr>
          <p:txBody>
            <a:bodyPr wrap="square" rtlCol="0">
              <a:spAutoFit/>
            </a:bodyPr>
            <a:lstStyle/>
            <a:p>
              <a:r>
                <a:rPr lang="en-US" sz="2800" b="1" dirty="0">
                  <a:solidFill>
                    <a:schemeClr val="bg1"/>
                  </a:solidFill>
                  <a:latin typeface="微软雅黑" panose="020B0503020204020204" pitchFamily="34" charset="-122"/>
                </a:rPr>
                <a:t>2</a:t>
              </a:r>
              <a:endParaRPr lang="id-ID" sz="2800" b="1" dirty="0">
                <a:solidFill>
                  <a:schemeClr val="bg1"/>
                </a:solidFill>
                <a:latin typeface="微软雅黑" panose="020B0503020204020204" pitchFamily="34"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5"/>
          <p:cNvSpPr txBox="1"/>
          <p:nvPr/>
        </p:nvSpPr>
        <p:spPr>
          <a:xfrm>
            <a:off x="899251" y="200214"/>
            <a:ext cx="2449690"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2.</a:t>
            </a:r>
            <a:r>
              <a:rPr lang="zh-CN" altLang="en-US" sz="3600" b="1" dirty="0">
                <a:solidFill>
                  <a:srgbClr val="00467F"/>
                </a:solidFill>
                <a:latin typeface="微软雅黑" panose="020B0503020204020204" pitchFamily="34" charset="-122"/>
                <a:ea typeface="微软雅黑" panose="020B0503020204020204" pitchFamily="34" charset="-122"/>
              </a:rPr>
              <a:t>实验任务</a:t>
            </a:r>
          </a:p>
        </p:txBody>
      </p:sp>
      <p:sp>
        <p:nvSpPr>
          <p:cNvPr id="11" name="Pentagon 89"/>
          <p:cNvSpPr/>
          <p:nvPr/>
        </p:nvSpPr>
        <p:spPr>
          <a:xfrm rot="10800000">
            <a:off x="11707102" y="6251108"/>
            <a:ext cx="484896" cy="393526"/>
          </a:xfrm>
          <a:prstGeom prst="homePlate">
            <a:avLst>
              <a:gd name="adj" fmla="val 29245"/>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dirty="0">
              <a:solidFill>
                <a:srgbClr val="00467F"/>
              </a:solidFill>
            </a:endParaRPr>
          </a:p>
        </p:txBody>
      </p:sp>
      <p:sp>
        <p:nvSpPr>
          <p:cNvPr id="12" name="Rectangle 90"/>
          <p:cNvSpPr/>
          <p:nvPr/>
        </p:nvSpPr>
        <p:spPr>
          <a:xfrm>
            <a:off x="11843896" y="6251109"/>
            <a:ext cx="184731" cy="307777"/>
          </a:xfrm>
          <a:prstGeom prst="rect">
            <a:avLst/>
          </a:prstGeom>
        </p:spPr>
        <p:txBody>
          <a:bodyPr wrap="none">
            <a:spAutoFit/>
          </a:bodyPr>
          <a:lstStyle/>
          <a:p>
            <a:pPr algn="ctr"/>
            <a:endParaRPr lang="id-ID" sz="1400" dirty="0">
              <a:solidFill>
                <a:schemeClr val="bg1"/>
              </a:solidFill>
            </a:endParaRPr>
          </a:p>
        </p:txBody>
      </p:sp>
      <p:sp>
        <p:nvSpPr>
          <p:cNvPr id="13"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7</a:t>
            </a:fld>
            <a:endParaRPr lang="id-ID" sz="1200" dirty="0"/>
          </a:p>
        </p:txBody>
      </p:sp>
      <p:sp>
        <p:nvSpPr>
          <p:cNvPr id="19" name="TextBox 26"/>
          <p:cNvSpPr txBox="1"/>
          <p:nvPr/>
        </p:nvSpPr>
        <p:spPr>
          <a:xfrm>
            <a:off x="914035" y="1052986"/>
            <a:ext cx="10793067" cy="4916218"/>
          </a:xfrm>
          <a:prstGeom prst="rect">
            <a:avLst/>
          </a:prstGeom>
          <a:noFill/>
        </p:spPr>
        <p:txBody>
          <a:bodyPr wrap="square" rtlCol="0">
            <a:spAutoFit/>
          </a:bodyPr>
          <a:lstStyle/>
          <a:p>
            <a:pPr>
              <a:lnSpc>
                <a:spcPct val="150000"/>
              </a:lnSpc>
            </a:pPr>
            <a:r>
              <a:rPr lang="zh-CN" altLang="en-US" sz="2400" b="1" dirty="0">
                <a:solidFill>
                  <a:srgbClr val="FF0000"/>
                </a:solidFill>
                <a:latin typeface="微软雅黑" panose="020B0503020204020204" pitchFamily="34" charset="-122"/>
                <a:ea typeface="微软雅黑" panose="020B0503020204020204" pitchFamily="34" charset="-122"/>
              </a:rPr>
              <a:t>编程任务具体要求：</a:t>
            </a:r>
            <a:endParaRPr lang="en-US" altLang="zh-CN" sz="24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应用有限差分法求解长直接地金属矩形槽内的电位分布</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600"/>
              </a:spcBef>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）用你熟悉的语言，分别采用</a:t>
            </a:r>
            <a:r>
              <a:rPr lang="zh-CN" altLang="en-US" sz="2000" b="1" dirty="0">
                <a:latin typeface="微软雅黑" panose="020B0503020204020204" pitchFamily="34" charset="-122"/>
                <a:ea typeface="微软雅黑" panose="020B0503020204020204" pitchFamily="34" charset="-122"/>
              </a:rPr>
              <a:t>高斯赛德尔迭代法</a:t>
            </a:r>
            <a:r>
              <a:rPr lang="zh-CN" altLang="en-US" sz="2000" dirty="0">
                <a:latin typeface="微软雅黑" panose="020B0503020204020204" pitchFamily="34" charset="-122"/>
                <a:ea typeface="微软雅黑" panose="020B0503020204020204" pitchFamily="34" charset="-122"/>
              </a:rPr>
              <a:t>和</a:t>
            </a:r>
            <a:r>
              <a:rPr lang="zh-CN" altLang="en-US" sz="2000" b="1" dirty="0">
                <a:latin typeface="微软雅黑" panose="020B0503020204020204" pitchFamily="34" charset="-122"/>
                <a:ea typeface="微软雅黑" panose="020B0503020204020204" pitchFamily="34" charset="-122"/>
              </a:rPr>
              <a:t>超松弛迭代法</a:t>
            </a:r>
            <a:r>
              <a:rPr lang="zh-CN" altLang="en-US" sz="2000" dirty="0">
                <a:latin typeface="微软雅黑" panose="020B0503020204020204" pitchFamily="34" charset="-122"/>
                <a:ea typeface="微软雅黑" panose="020B0503020204020204" pitchFamily="34" charset="-122"/>
              </a:rPr>
              <a:t>编写求解程序。</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）用步距</a:t>
            </a:r>
            <a:r>
              <a:rPr lang="en-US" altLang="zh-CN" sz="2000" i="1" dirty="0">
                <a:latin typeface="微软雅黑" panose="020B0503020204020204" pitchFamily="34" charset="-122"/>
                <a:ea typeface="微软雅黑" panose="020B0503020204020204" pitchFamily="34" charset="-122"/>
              </a:rPr>
              <a:t>h</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的正方形网格将场域离散。</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）求解场域内电位    的数值解。</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）收敛条件为相邻两次迭代值的最大误差小于</a:t>
            </a:r>
            <a:r>
              <a:rPr lang="en-US" altLang="zh-CN" sz="2000" dirty="0">
                <a:latin typeface="微软雅黑" panose="020B0503020204020204" pitchFamily="34" charset="-122"/>
                <a:ea typeface="微软雅黑" panose="020B0503020204020204" pitchFamily="34" charset="-122"/>
              </a:rPr>
              <a:t>10</a:t>
            </a:r>
            <a:r>
              <a:rPr lang="en-US" altLang="zh-CN" sz="2000" baseline="30000" dirty="0">
                <a:latin typeface="微软雅黑" panose="020B0503020204020204" pitchFamily="34" charset="-122"/>
                <a:ea typeface="微软雅黑" panose="020B0503020204020204" pitchFamily="34" charset="-122"/>
              </a:rPr>
              <a:t>-3</a:t>
            </a:r>
            <a:r>
              <a:rPr lang="zh-CN" altLang="en-US" sz="2000" baseline="30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）高斯赛德尔迭代法：描绘矩形槽内等位线。</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）超松弛迭代法：取若干个不同收敛因子，确定最佳收敛因子，分析加速收敛因子的作用。</a:t>
            </a:r>
            <a:endParaRPr lang="en-US" altLang="zh-CN" sz="2000" baseline="-25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0000CC"/>
                </a:solidFill>
                <a:latin typeface="微软雅黑" panose="020B0503020204020204" pitchFamily="34" charset="-122"/>
                <a:ea typeface="微软雅黑" panose="020B0503020204020204" pitchFamily="34" charset="-122"/>
              </a:rPr>
              <a:t>（</a:t>
            </a:r>
            <a:r>
              <a:rPr lang="en-US" altLang="zh-CN" sz="2000" dirty="0">
                <a:solidFill>
                  <a:srgbClr val="0000CC"/>
                </a:solidFill>
                <a:latin typeface="微软雅黑" panose="020B0503020204020204" pitchFamily="34" charset="-122"/>
                <a:ea typeface="微软雅黑" panose="020B0503020204020204" pitchFamily="34" charset="-122"/>
              </a:rPr>
              <a:t>7</a:t>
            </a:r>
            <a:r>
              <a:rPr lang="zh-CN" altLang="en-US" sz="2000" dirty="0">
                <a:solidFill>
                  <a:srgbClr val="0000CC"/>
                </a:solidFill>
                <a:latin typeface="微软雅黑" panose="020B0503020204020204" pitchFamily="34" charset="-122"/>
                <a:ea typeface="微软雅黑" panose="020B0503020204020204" pitchFamily="34" charset="-122"/>
              </a:rPr>
              <a:t>）提高任务：在超松弛迭代法中，将收敛因子以</a:t>
            </a:r>
            <a:r>
              <a:rPr lang="en-US" altLang="zh-CN" sz="2000" dirty="0">
                <a:solidFill>
                  <a:srgbClr val="0000CC"/>
                </a:solidFill>
                <a:latin typeface="微软雅黑" panose="020B0503020204020204" pitchFamily="34" charset="-122"/>
                <a:ea typeface="微软雅黑" panose="020B0503020204020204" pitchFamily="34" charset="-122"/>
              </a:rPr>
              <a:t>0.01</a:t>
            </a:r>
            <a:r>
              <a:rPr lang="zh-CN" altLang="en-US" sz="2000" dirty="0">
                <a:solidFill>
                  <a:srgbClr val="0000CC"/>
                </a:solidFill>
                <a:latin typeface="微软雅黑" panose="020B0503020204020204" pitchFamily="34" charset="-122"/>
                <a:ea typeface="微软雅黑" panose="020B0503020204020204" pitchFamily="34" charset="-122"/>
              </a:rPr>
              <a:t>为间隔带入计算，绘制迭代次数随收敛因子变化的关系曲线。</a:t>
            </a:r>
            <a:endParaRPr lang="en-US" altLang="zh-CN" sz="2000" dirty="0">
              <a:solidFill>
                <a:srgbClr val="0000CC"/>
              </a:solidFill>
              <a:latin typeface="微软雅黑" panose="020B0503020204020204" pitchFamily="34" charset="-122"/>
              <a:ea typeface="微软雅黑" panose="020B0503020204020204" pitchFamily="34" charset="-122"/>
            </a:endParaRPr>
          </a:p>
        </p:txBody>
      </p:sp>
      <p:graphicFrame>
        <p:nvGraphicFramePr>
          <p:cNvPr id="21" name="Object 4"/>
          <p:cNvGraphicFramePr>
            <a:graphicFrameLocks noChangeAspect="1"/>
          </p:cNvGraphicFramePr>
          <p:nvPr>
            <p:extLst>
              <p:ext uri="{D42A27DB-BD31-4B8C-83A1-F6EECF244321}">
                <p14:modId xmlns:p14="http://schemas.microsoft.com/office/powerpoint/2010/main" val="3591289021"/>
              </p:ext>
            </p:extLst>
          </p:nvPr>
        </p:nvGraphicFramePr>
        <p:xfrm>
          <a:off x="3449019" y="3310370"/>
          <a:ext cx="345286" cy="292718"/>
        </p:xfrm>
        <a:graphic>
          <a:graphicData uri="http://schemas.openxmlformats.org/presentationml/2006/ole">
            <mc:AlternateContent xmlns:mc="http://schemas.openxmlformats.org/markup-compatibility/2006">
              <mc:Choice xmlns:v="urn:schemas-microsoft-com:vml" Requires="v">
                <p:oleObj spid="_x0000_s2051" name="Equation" r:id="rId3" imgW="3352800" imgH="3962400" progId="Equation.DSMT4">
                  <p:embed/>
                </p:oleObj>
              </mc:Choice>
              <mc:Fallback>
                <p:oleObj name="Equation" r:id="rId3" imgW="3352800" imgH="3962400" progId="Equation.DSMT4">
                  <p:embed/>
                  <p:pic>
                    <p:nvPicPr>
                      <p:cNvPr id="0" name="Object 4"/>
                      <p:cNvPicPr>
                        <a:picLocks noChangeAspect="1"/>
                      </p:cNvPicPr>
                      <p:nvPr/>
                    </p:nvPicPr>
                    <p:blipFill>
                      <a:blip r:embed="rId4"/>
                      <a:stretch>
                        <a:fillRect/>
                      </a:stretch>
                    </p:blipFill>
                    <p:spPr>
                      <a:xfrm>
                        <a:off x="3449019" y="3310370"/>
                        <a:ext cx="345286" cy="292718"/>
                      </a:xfrm>
                      <a:prstGeom prst="rect">
                        <a:avLst/>
                      </a:prstGeom>
                      <a:noFill/>
                      <a:ln w="9525">
                        <a:noFill/>
                      </a:ln>
                    </p:spPr>
                  </p:pic>
                </p:oleObj>
              </mc:Fallback>
            </mc:AlternateContent>
          </a:graphicData>
        </a:graphic>
      </p:graphicFrame>
      <p:pic>
        <p:nvPicPr>
          <p:cNvPr id="15" name="图片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09519" y="2800888"/>
            <a:ext cx="2905169" cy="17549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623844" y="1653299"/>
            <a:ext cx="4068762" cy="2705463"/>
          </a:xfrm>
          <a:prstGeom prst="rect">
            <a:avLst/>
          </a:prstGeom>
          <a:noFill/>
          <a:ln w="9525">
            <a:noFill/>
            <a:miter lim="800000"/>
            <a:headEnd/>
            <a:tailEnd/>
          </a:ln>
          <a:effectLst/>
        </p:spPr>
      </p:pic>
      <p:sp>
        <p:nvSpPr>
          <p:cNvPr id="2"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8</a:t>
            </a:fld>
            <a:endParaRPr lang="id-ID" sz="1200" dirty="0"/>
          </a:p>
        </p:txBody>
      </p:sp>
      <p:sp>
        <p:nvSpPr>
          <p:cNvPr id="3" name="圆角矩形 4"/>
          <p:cNvSpPr/>
          <p:nvPr/>
        </p:nvSpPr>
        <p:spPr>
          <a:xfrm>
            <a:off x="4178254" y="5789721"/>
            <a:ext cx="3629025" cy="600075"/>
          </a:xfrm>
          <a:prstGeom prst="roundRect">
            <a:avLst/>
          </a:prstGeom>
          <a:noFill/>
          <a:ln w="44450">
            <a:solidFill>
              <a:srgbClr val="984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6772923" y="1041512"/>
            <a:ext cx="405880" cy="386256"/>
            <a:chOff x="833744" y="3434209"/>
            <a:chExt cx="405880" cy="386256"/>
          </a:xfrm>
        </p:grpSpPr>
        <p:sp>
          <p:nvSpPr>
            <p:cNvPr id="6" name="Oval 239"/>
            <p:cNvSpPr/>
            <p:nvPr/>
          </p:nvSpPr>
          <p:spPr>
            <a:xfrm>
              <a:off x="835975" y="3434209"/>
              <a:ext cx="386256" cy="386256"/>
            </a:xfrm>
            <a:prstGeom prst="ellipse">
              <a:avLst/>
            </a:prstGeom>
            <a:solidFill>
              <a:srgbClr val="984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15"/>
            <p:cNvSpPr txBox="1"/>
            <p:nvPr/>
          </p:nvSpPr>
          <p:spPr>
            <a:xfrm>
              <a:off x="833744" y="3474914"/>
              <a:ext cx="405880" cy="307777"/>
            </a:xfrm>
            <a:prstGeom prst="rect">
              <a:avLst/>
            </a:prstGeom>
            <a:noFill/>
          </p:spPr>
          <p:txBody>
            <a:bodyPr wrap="none" rtlCol="0">
              <a:spAutoFit/>
            </a:bodyPr>
            <a:lstStyle/>
            <a:p>
              <a:r>
                <a:rPr lang="id-ID" sz="1400" b="1" dirty="0">
                  <a:solidFill>
                    <a:schemeClr val="bg1"/>
                  </a:solidFill>
                  <a:latin typeface="微软雅黑" panose="020B0503020204020204" pitchFamily="34" charset="-122"/>
                </a:rPr>
                <a:t>0</a:t>
              </a:r>
              <a:r>
                <a:rPr lang="en-US" sz="1400" b="1" dirty="0">
                  <a:solidFill>
                    <a:schemeClr val="bg1"/>
                  </a:solidFill>
                  <a:latin typeface="微软雅黑" panose="020B0503020204020204" pitchFamily="34" charset="-122"/>
                </a:rPr>
                <a:t>1</a:t>
              </a:r>
              <a:endParaRPr lang="id-ID" sz="1400" b="1" dirty="0">
                <a:solidFill>
                  <a:schemeClr val="bg1"/>
                </a:solidFill>
                <a:latin typeface="微软雅黑" panose="020B0503020204020204" pitchFamily="34" charset="-122"/>
              </a:endParaRPr>
            </a:p>
          </p:txBody>
        </p:sp>
      </p:grpSp>
      <p:graphicFrame>
        <p:nvGraphicFramePr>
          <p:cNvPr id="23" name="对象 22"/>
          <p:cNvGraphicFramePr>
            <a:graphicFrameLocks noChangeAspect="1"/>
          </p:cNvGraphicFramePr>
          <p:nvPr/>
        </p:nvGraphicFramePr>
        <p:xfrm>
          <a:off x="850900" y="3814128"/>
          <a:ext cx="1550988" cy="611187"/>
        </p:xfrm>
        <a:graphic>
          <a:graphicData uri="http://schemas.openxmlformats.org/presentationml/2006/ole">
            <mc:AlternateContent xmlns:mc="http://schemas.openxmlformats.org/markup-compatibility/2006">
              <mc:Choice xmlns:v="urn:schemas-microsoft-com:vml" Requires="v">
                <p:oleObj spid="_x0000_s3082" name="Equation" r:id="rId4" imgW="31699200" imgH="10972800" progId="Equation.DSMT4">
                  <p:embed/>
                </p:oleObj>
              </mc:Choice>
              <mc:Fallback>
                <p:oleObj name="Equation" r:id="rId4" imgW="31699200" imgH="10972800" progId="Equation.DSMT4">
                  <p:embed/>
                  <p:pic>
                    <p:nvPicPr>
                      <p:cNvPr id="0" name="图片 2048"/>
                      <p:cNvPicPr>
                        <a:picLocks noChangeAspect="1"/>
                      </p:cNvPicPr>
                      <p:nvPr/>
                    </p:nvPicPr>
                    <p:blipFill>
                      <a:blip r:embed="rId5"/>
                      <a:stretch>
                        <a:fillRect/>
                      </a:stretch>
                    </p:blipFill>
                    <p:spPr>
                      <a:xfrm>
                        <a:off x="850900" y="3814128"/>
                        <a:ext cx="1550988" cy="611187"/>
                      </a:xfrm>
                      <a:prstGeom prst="rect">
                        <a:avLst/>
                      </a:prstGeom>
                      <a:noFill/>
                      <a:ln w="9525">
                        <a:noFill/>
                      </a:ln>
                    </p:spPr>
                  </p:pic>
                </p:oleObj>
              </mc:Fallback>
            </mc:AlternateContent>
          </a:graphicData>
        </a:graphic>
      </p:graphicFrame>
      <p:graphicFrame>
        <p:nvGraphicFramePr>
          <p:cNvPr id="24" name="Object 5"/>
          <p:cNvGraphicFramePr>
            <a:graphicFrameLocks noChangeAspect="1"/>
          </p:cNvGraphicFramePr>
          <p:nvPr/>
        </p:nvGraphicFramePr>
        <p:xfrm>
          <a:off x="2973388" y="3814128"/>
          <a:ext cx="1552575" cy="539750"/>
        </p:xfrm>
        <a:graphic>
          <a:graphicData uri="http://schemas.openxmlformats.org/presentationml/2006/ole">
            <mc:AlternateContent xmlns:mc="http://schemas.openxmlformats.org/markup-compatibility/2006">
              <mc:Choice xmlns:v="urn:schemas-microsoft-com:vml" Requires="v">
                <p:oleObj spid="_x0000_s3083" name="Equation" r:id="rId6" imgW="32308800" imgH="10972800" progId="Equation.DSMT4">
                  <p:embed/>
                </p:oleObj>
              </mc:Choice>
              <mc:Fallback>
                <p:oleObj name="Equation" r:id="rId6" imgW="32308800" imgH="10972800" progId="Equation.DSMT4">
                  <p:embed/>
                  <p:pic>
                    <p:nvPicPr>
                      <p:cNvPr id="0" name="图片 2049"/>
                      <p:cNvPicPr>
                        <a:picLocks noChangeAspect="1"/>
                      </p:cNvPicPr>
                      <p:nvPr/>
                    </p:nvPicPr>
                    <p:blipFill>
                      <a:blip r:embed="rId7"/>
                      <a:stretch>
                        <a:fillRect/>
                      </a:stretch>
                    </p:blipFill>
                    <p:spPr>
                      <a:xfrm>
                        <a:off x="2973388" y="3814128"/>
                        <a:ext cx="1552575" cy="539750"/>
                      </a:xfrm>
                      <a:prstGeom prst="rect">
                        <a:avLst/>
                      </a:prstGeom>
                      <a:noFill/>
                      <a:ln w="9525">
                        <a:noFill/>
                      </a:ln>
                    </p:spPr>
                  </p:pic>
                </p:oleObj>
              </mc:Fallback>
            </mc:AlternateContent>
          </a:graphicData>
        </a:graphic>
      </p:graphicFrame>
      <p:graphicFrame>
        <p:nvGraphicFramePr>
          <p:cNvPr id="25" name="Object 6"/>
          <p:cNvGraphicFramePr>
            <a:graphicFrameLocks noChangeAspect="1"/>
          </p:cNvGraphicFramePr>
          <p:nvPr/>
        </p:nvGraphicFramePr>
        <p:xfrm>
          <a:off x="858838" y="4665345"/>
          <a:ext cx="1825625" cy="849313"/>
        </p:xfrm>
        <a:graphic>
          <a:graphicData uri="http://schemas.openxmlformats.org/presentationml/2006/ole">
            <mc:AlternateContent xmlns:mc="http://schemas.openxmlformats.org/markup-compatibility/2006">
              <mc:Choice xmlns:v="urn:schemas-microsoft-com:vml" Requires="v">
                <p:oleObj spid="_x0000_s3084" name="Equation" r:id="rId8" imgW="37185600" imgH="17068800" progId="Equation.DSMT4">
                  <p:embed/>
                </p:oleObj>
              </mc:Choice>
              <mc:Fallback>
                <p:oleObj name="Equation" r:id="rId8" imgW="37185600" imgH="17068800" progId="Equation.DSMT4">
                  <p:embed/>
                  <p:pic>
                    <p:nvPicPr>
                      <p:cNvPr id="0" name="图片 2050"/>
                      <p:cNvPicPr>
                        <a:picLocks noChangeAspect="1"/>
                      </p:cNvPicPr>
                      <p:nvPr/>
                    </p:nvPicPr>
                    <p:blipFill>
                      <a:blip r:embed="rId9"/>
                      <a:stretch>
                        <a:fillRect/>
                      </a:stretch>
                    </p:blipFill>
                    <p:spPr>
                      <a:xfrm>
                        <a:off x="858838" y="4665345"/>
                        <a:ext cx="1825625" cy="849313"/>
                      </a:xfrm>
                      <a:prstGeom prst="rect">
                        <a:avLst/>
                      </a:prstGeom>
                      <a:noFill/>
                      <a:ln w="9525">
                        <a:noFill/>
                      </a:ln>
                    </p:spPr>
                  </p:pic>
                </p:oleObj>
              </mc:Fallback>
            </mc:AlternateContent>
          </a:graphicData>
        </a:graphic>
      </p:graphicFrame>
      <p:sp>
        <p:nvSpPr>
          <p:cNvPr id="26" name="TextBox 36"/>
          <p:cNvSpPr txBox="1"/>
          <p:nvPr/>
        </p:nvSpPr>
        <p:spPr>
          <a:xfrm>
            <a:off x="613458" y="824854"/>
            <a:ext cx="6041985" cy="461665"/>
          </a:xfrm>
          <a:prstGeom prst="rect">
            <a:avLst/>
          </a:prstGeom>
          <a:noFill/>
        </p:spPr>
        <p:txBody>
          <a:bodyPr wrap="square" rtlCol="0">
            <a:spAutoFit/>
          </a:bodyPr>
          <a:lstStyle/>
          <a:p>
            <a:r>
              <a:rPr lang="zh-CN" altLang="en-US" sz="2400" dirty="0"/>
              <a:t>右图的二维静电场边值问题可描述为：</a:t>
            </a:r>
          </a:p>
        </p:txBody>
      </p:sp>
      <p:graphicFrame>
        <p:nvGraphicFramePr>
          <p:cNvPr id="27" name="对象 26"/>
          <p:cNvGraphicFramePr>
            <a:graphicFrameLocks noChangeAspect="1"/>
          </p:cNvGraphicFramePr>
          <p:nvPr/>
        </p:nvGraphicFramePr>
        <p:xfrm>
          <a:off x="822325" y="1298511"/>
          <a:ext cx="2951022" cy="1681189"/>
        </p:xfrm>
        <a:graphic>
          <a:graphicData uri="http://schemas.openxmlformats.org/presentationml/2006/ole">
            <mc:AlternateContent xmlns:mc="http://schemas.openxmlformats.org/markup-compatibility/2006">
              <mc:Choice xmlns:v="urn:schemas-microsoft-com:vml" Requires="v">
                <p:oleObj spid="_x0000_s3085" name="Equation" r:id="rId10" imgW="50292000" imgH="28651200" progId="Equation.DSMT4">
                  <p:embed/>
                </p:oleObj>
              </mc:Choice>
              <mc:Fallback>
                <p:oleObj name="Equation" r:id="rId10" imgW="50292000" imgH="28651200" progId="Equation.DSMT4">
                  <p:embed/>
                  <p:pic>
                    <p:nvPicPr>
                      <p:cNvPr id="0" name="图片 2051"/>
                      <p:cNvPicPr>
                        <a:picLocks noChangeAspect="1"/>
                      </p:cNvPicPr>
                      <p:nvPr/>
                    </p:nvPicPr>
                    <p:blipFill>
                      <a:blip r:embed="rId11"/>
                      <a:stretch>
                        <a:fillRect/>
                      </a:stretch>
                    </p:blipFill>
                    <p:spPr>
                      <a:xfrm>
                        <a:off x="822325" y="1298511"/>
                        <a:ext cx="2951022" cy="1681189"/>
                      </a:xfrm>
                      <a:prstGeom prst="rect">
                        <a:avLst/>
                      </a:prstGeom>
                      <a:noFill/>
                      <a:ln w="9525">
                        <a:noFill/>
                      </a:ln>
                    </p:spPr>
                  </p:pic>
                </p:oleObj>
              </mc:Fallback>
            </mc:AlternateContent>
          </a:graphicData>
        </a:graphic>
      </p:graphicFrame>
      <p:graphicFrame>
        <p:nvGraphicFramePr>
          <p:cNvPr id="28" name="Object 8"/>
          <p:cNvGraphicFramePr>
            <a:graphicFrameLocks noChangeAspect="1"/>
          </p:cNvGraphicFramePr>
          <p:nvPr/>
        </p:nvGraphicFramePr>
        <p:xfrm>
          <a:off x="5215890" y="4928731"/>
          <a:ext cx="1799502" cy="534987"/>
        </p:xfrm>
        <a:graphic>
          <a:graphicData uri="http://schemas.openxmlformats.org/presentationml/2006/ole">
            <mc:AlternateContent xmlns:mc="http://schemas.openxmlformats.org/markup-compatibility/2006">
              <mc:Choice xmlns:v="urn:schemas-microsoft-com:vml" Requires="v">
                <p:oleObj spid="_x0000_s3086" name="Equation" r:id="rId12" imgW="33832800" imgH="10058400" progId="Equation.DSMT4">
                  <p:embed/>
                </p:oleObj>
              </mc:Choice>
              <mc:Fallback>
                <p:oleObj name="Equation" r:id="rId12" imgW="33832800" imgH="10058400" progId="Equation.DSMT4">
                  <p:embed/>
                  <p:pic>
                    <p:nvPicPr>
                      <p:cNvPr id="0" name="图片 2052"/>
                      <p:cNvPicPr>
                        <a:picLocks noChangeAspect="1"/>
                      </p:cNvPicPr>
                      <p:nvPr/>
                    </p:nvPicPr>
                    <p:blipFill>
                      <a:blip r:embed="rId13"/>
                      <a:stretch>
                        <a:fillRect/>
                      </a:stretch>
                    </p:blipFill>
                    <p:spPr>
                      <a:xfrm>
                        <a:off x="5215890" y="4928731"/>
                        <a:ext cx="1799502" cy="534987"/>
                      </a:xfrm>
                      <a:prstGeom prst="rect">
                        <a:avLst/>
                      </a:prstGeom>
                      <a:noFill/>
                      <a:ln w="9525">
                        <a:noFill/>
                      </a:ln>
                    </p:spPr>
                  </p:pic>
                </p:oleObj>
              </mc:Fallback>
            </mc:AlternateContent>
          </a:graphicData>
        </a:graphic>
      </p:graphicFrame>
      <p:graphicFrame>
        <p:nvGraphicFramePr>
          <p:cNvPr id="29" name="Object 9"/>
          <p:cNvGraphicFramePr>
            <a:graphicFrameLocks noChangeAspect="1"/>
          </p:cNvGraphicFramePr>
          <p:nvPr/>
        </p:nvGraphicFramePr>
        <p:xfrm>
          <a:off x="2733040" y="4674731"/>
          <a:ext cx="2397062" cy="750887"/>
        </p:xfrm>
        <a:graphic>
          <a:graphicData uri="http://schemas.openxmlformats.org/presentationml/2006/ole">
            <mc:AlternateContent xmlns:mc="http://schemas.openxmlformats.org/markup-compatibility/2006">
              <mc:Choice xmlns:v="urn:schemas-microsoft-com:vml" Requires="v">
                <p:oleObj spid="_x0000_s3087" name="Equation" r:id="rId14" imgW="50596800" imgH="15849600" progId="Equation.DSMT4">
                  <p:embed/>
                </p:oleObj>
              </mc:Choice>
              <mc:Fallback>
                <p:oleObj name="Equation" r:id="rId14" imgW="50596800" imgH="15849600" progId="Equation.DSMT4">
                  <p:embed/>
                  <p:pic>
                    <p:nvPicPr>
                      <p:cNvPr id="0" name="图片 2053"/>
                      <p:cNvPicPr>
                        <a:picLocks noChangeAspect="1"/>
                      </p:cNvPicPr>
                      <p:nvPr/>
                    </p:nvPicPr>
                    <p:blipFill>
                      <a:blip r:embed="rId15"/>
                      <a:stretch>
                        <a:fillRect/>
                      </a:stretch>
                    </p:blipFill>
                    <p:spPr>
                      <a:xfrm>
                        <a:off x="2733040" y="4674731"/>
                        <a:ext cx="2397062" cy="750887"/>
                      </a:xfrm>
                      <a:prstGeom prst="rect">
                        <a:avLst/>
                      </a:prstGeom>
                      <a:noFill/>
                      <a:ln w="9525">
                        <a:noFill/>
                      </a:ln>
                    </p:spPr>
                  </p:pic>
                </p:oleObj>
              </mc:Fallback>
            </mc:AlternateContent>
          </a:graphicData>
        </a:graphic>
      </p:graphicFrame>
      <p:graphicFrame>
        <p:nvGraphicFramePr>
          <p:cNvPr id="30" name="Object 10"/>
          <p:cNvGraphicFramePr>
            <a:graphicFrameLocks noChangeAspect="1"/>
          </p:cNvGraphicFramePr>
          <p:nvPr/>
        </p:nvGraphicFramePr>
        <p:xfrm>
          <a:off x="847753" y="5780348"/>
          <a:ext cx="2205037" cy="704850"/>
        </p:xfrm>
        <a:graphic>
          <a:graphicData uri="http://schemas.openxmlformats.org/presentationml/2006/ole">
            <mc:AlternateContent xmlns:mc="http://schemas.openxmlformats.org/markup-compatibility/2006">
              <mc:Choice xmlns:v="urn:schemas-microsoft-com:vml" Requires="v">
                <p:oleObj spid="_x0000_s3088" name="Equation" r:id="rId16" imgW="46024800" imgH="12192000" progId="Equation.DSMT4">
                  <p:embed/>
                </p:oleObj>
              </mc:Choice>
              <mc:Fallback>
                <p:oleObj name="Equation" r:id="rId16" imgW="46024800" imgH="12192000" progId="Equation.DSMT4">
                  <p:embed/>
                  <p:pic>
                    <p:nvPicPr>
                      <p:cNvPr id="0" name="图片 2054"/>
                      <p:cNvPicPr>
                        <a:picLocks noChangeAspect="1"/>
                      </p:cNvPicPr>
                      <p:nvPr/>
                    </p:nvPicPr>
                    <p:blipFill>
                      <a:blip r:embed="rId17"/>
                      <a:stretch>
                        <a:fillRect/>
                      </a:stretch>
                    </p:blipFill>
                    <p:spPr>
                      <a:xfrm>
                        <a:off x="847753" y="5780348"/>
                        <a:ext cx="2205037" cy="704850"/>
                      </a:xfrm>
                      <a:prstGeom prst="rect">
                        <a:avLst/>
                      </a:prstGeom>
                      <a:noFill/>
                      <a:ln w="9525">
                        <a:noFill/>
                      </a:ln>
                    </p:spPr>
                  </p:pic>
                </p:oleObj>
              </mc:Fallback>
            </mc:AlternateContent>
          </a:graphicData>
        </a:graphic>
      </p:graphicFrame>
      <p:graphicFrame>
        <p:nvGraphicFramePr>
          <p:cNvPr id="31" name="Object 11"/>
          <p:cNvGraphicFramePr>
            <a:graphicFrameLocks noChangeAspect="1"/>
          </p:cNvGraphicFramePr>
          <p:nvPr/>
        </p:nvGraphicFramePr>
        <p:xfrm>
          <a:off x="4368754" y="5927834"/>
          <a:ext cx="3256775" cy="347662"/>
        </p:xfrm>
        <a:graphic>
          <a:graphicData uri="http://schemas.openxmlformats.org/presentationml/2006/ole">
            <mc:AlternateContent xmlns:mc="http://schemas.openxmlformats.org/markup-compatibility/2006">
              <mc:Choice xmlns:v="urn:schemas-microsoft-com:vml" Requires="v">
                <p:oleObj spid="_x0000_s3089" name="Equation" r:id="rId18" imgW="56997600" imgH="6096000" progId="Equation.DSMT4">
                  <p:embed/>
                </p:oleObj>
              </mc:Choice>
              <mc:Fallback>
                <p:oleObj name="Equation" r:id="rId18" imgW="56997600" imgH="6096000" progId="Equation.DSMT4">
                  <p:embed/>
                  <p:pic>
                    <p:nvPicPr>
                      <p:cNvPr id="0" name="图片 2055"/>
                      <p:cNvPicPr>
                        <a:picLocks noChangeAspect="1"/>
                      </p:cNvPicPr>
                      <p:nvPr/>
                    </p:nvPicPr>
                    <p:blipFill>
                      <a:blip r:embed="rId19"/>
                      <a:stretch>
                        <a:fillRect/>
                      </a:stretch>
                    </p:blipFill>
                    <p:spPr>
                      <a:xfrm>
                        <a:off x="4368754" y="5927834"/>
                        <a:ext cx="3256775" cy="347662"/>
                      </a:xfrm>
                      <a:prstGeom prst="rect">
                        <a:avLst/>
                      </a:prstGeom>
                      <a:noFill/>
                      <a:ln w="9525">
                        <a:noFill/>
                      </a:ln>
                    </p:spPr>
                  </p:pic>
                </p:oleObj>
              </mc:Fallback>
            </mc:AlternateContent>
          </a:graphicData>
        </a:graphic>
      </p:graphicFrame>
      <p:grpSp>
        <p:nvGrpSpPr>
          <p:cNvPr id="52" name="组合 51"/>
          <p:cNvGrpSpPr/>
          <p:nvPr/>
        </p:nvGrpSpPr>
        <p:grpSpPr>
          <a:xfrm>
            <a:off x="652394" y="3282097"/>
            <a:ext cx="2241866" cy="407141"/>
            <a:chOff x="652394" y="3282097"/>
            <a:chExt cx="2241866" cy="407141"/>
          </a:xfrm>
        </p:grpSpPr>
        <p:grpSp>
          <p:nvGrpSpPr>
            <p:cNvPr id="32" name="组合 31"/>
            <p:cNvGrpSpPr/>
            <p:nvPr/>
          </p:nvGrpSpPr>
          <p:grpSpPr>
            <a:xfrm>
              <a:off x="652394" y="3302982"/>
              <a:ext cx="405880" cy="386256"/>
              <a:chOff x="833744" y="3434209"/>
              <a:chExt cx="405880" cy="386256"/>
            </a:xfrm>
          </p:grpSpPr>
          <p:sp>
            <p:nvSpPr>
              <p:cNvPr id="33" name="Oval 239"/>
              <p:cNvSpPr/>
              <p:nvPr/>
            </p:nvSpPr>
            <p:spPr>
              <a:xfrm>
                <a:off x="835975" y="3434209"/>
                <a:ext cx="386256" cy="386256"/>
              </a:xfrm>
              <a:prstGeom prst="ellipse">
                <a:avLst/>
              </a:prstGeom>
              <a:solidFill>
                <a:srgbClr val="984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4" name="TextBox 46"/>
              <p:cNvSpPr txBox="1"/>
              <p:nvPr/>
            </p:nvSpPr>
            <p:spPr>
              <a:xfrm>
                <a:off x="833744" y="3474914"/>
                <a:ext cx="405880" cy="307777"/>
              </a:xfrm>
              <a:prstGeom prst="rect">
                <a:avLst/>
              </a:prstGeom>
              <a:noFill/>
            </p:spPr>
            <p:txBody>
              <a:bodyPr wrap="none" rtlCol="0">
                <a:spAutoFit/>
              </a:bodyPr>
              <a:lstStyle/>
              <a:p>
                <a:r>
                  <a:rPr lang="id-ID" sz="1400" b="1" dirty="0">
                    <a:solidFill>
                      <a:schemeClr val="bg1"/>
                    </a:solidFill>
                    <a:latin typeface="微软雅黑" panose="020B0503020204020204" pitchFamily="34" charset="-122"/>
                  </a:rPr>
                  <a:t>0</a:t>
                </a:r>
                <a:r>
                  <a:rPr lang="en-US" sz="1400" b="1" dirty="0">
                    <a:solidFill>
                      <a:schemeClr val="bg1"/>
                    </a:solidFill>
                    <a:latin typeface="微软雅黑" panose="020B0503020204020204" pitchFamily="34" charset="-122"/>
                  </a:rPr>
                  <a:t>2</a:t>
                </a:r>
                <a:endParaRPr lang="id-ID" sz="1400" b="1" dirty="0">
                  <a:solidFill>
                    <a:schemeClr val="bg1"/>
                  </a:solidFill>
                  <a:latin typeface="微软雅黑" panose="020B0503020204020204" pitchFamily="34" charset="-122"/>
                </a:endParaRPr>
              </a:p>
            </p:txBody>
          </p:sp>
        </p:grpSp>
        <p:sp>
          <p:nvSpPr>
            <p:cNvPr id="35" name="TextBox 47"/>
            <p:cNvSpPr txBox="1"/>
            <p:nvPr/>
          </p:nvSpPr>
          <p:spPr>
            <a:xfrm>
              <a:off x="1146483" y="3282097"/>
              <a:ext cx="1747777" cy="369332"/>
            </a:xfrm>
            <a:prstGeom prst="rect">
              <a:avLst/>
            </a:prstGeom>
            <a:noFill/>
          </p:spPr>
          <p:txBody>
            <a:bodyPr wrap="square" rtlCol="0">
              <a:spAutoFit/>
            </a:bodyPr>
            <a:lstStyle/>
            <a:p>
              <a:r>
                <a:rPr lang="zh-CN" altLang="en-US" b="1" dirty="0">
                  <a:solidFill>
                    <a:srgbClr val="984E96"/>
                  </a:solidFill>
                  <a:latin typeface="微软雅黑" panose="020B0503020204020204" pitchFamily="34" charset="-122"/>
                  <a:ea typeface="微软雅黑" panose="020B0503020204020204" pitchFamily="34" charset="-122"/>
                </a:rPr>
                <a:t>差分格式</a:t>
              </a:r>
            </a:p>
          </p:txBody>
        </p:sp>
      </p:grpSp>
      <p:sp>
        <p:nvSpPr>
          <p:cNvPr id="36" name="TextBox 5"/>
          <p:cNvSpPr txBox="1"/>
          <p:nvPr/>
        </p:nvSpPr>
        <p:spPr>
          <a:xfrm>
            <a:off x="899250" y="200214"/>
            <a:ext cx="3829767"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3.</a:t>
            </a:r>
            <a:r>
              <a:rPr lang="zh-CN" altLang="en-US" sz="3600" b="1" dirty="0">
                <a:solidFill>
                  <a:srgbClr val="00467F"/>
                </a:solidFill>
                <a:latin typeface="微软雅黑" panose="020B0503020204020204" pitchFamily="34" charset="-122"/>
                <a:ea typeface="微软雅黑" panose="020B0503020204020204" pitchFamily="34" charset="-122"/>
              </a:rPr>
              <a:t>实验原理</a:t>
            </a:r>
          </a:p>
        </p:txBody>
      </p:sp>
      <p:grpSp>
        <p:nvGrpSpPr>
          <p:cNvPr id="51" name="组合 50"/>
          <p:cNvGrpSpPr/>
          <p:nvPr/>
        </p:nvGrpSpPr>
        <p:grpSpPr>
          <a:xfrm>
            <a:off x="6948717" y="1063491"/>
            <a:ext cx="3300183" cy="3030129"/>
            <a:chOff x="6948717" y="1063491"/>
            <a:chExt cx="3300183" cy="3030129"/>
          </a:xfrm>
        </p:grpSpPr>
        <p:sp>
          <p:nvSpPr>
            <p:cNvPr id="14" name="TextBox 16"/>
            <p:cNvSpPr txBox="1"/>
            <p:nvPr/>
          </p:nvSpPr>
          <p:spPr>
            <a:xfrm>
              <a:off x="7267012" y="1063491"/>
              <a:ext cx="1747777" cy="369332"/>
            </a:xfrm>
            <a:prstGeom prst="rect">
              <a:avLst/>
            </a:prstGeom>
            <a:noFill/>
          </p:spPr>
          <p:txBody>
            <a:bodyPr wrap="square" rtlCol="0">
              <a:spAutoFit/>
            </a:bodyPr>
            <a:lstStyle/>
            <a:p>
              <a:r>
                <a:rPr lang="zh-CN" altLang="en-US" b="1" dirty="0">
                  <a:solidFill>
                    <a:srgbClr val="984E96"/>
                  </a:solidFill>
                  <a:latin typeface="微软雅黑" panose="020B0503020204020204" pitchFamily="34" charset="-122"/>
                  <a:ea typeface="微软雅黑" panose="020B0503020204020204" pitchFamily="34" charset="-122"/>
                </a:rPr>
                <a:t>场域离散化</a:t>
              </a:r>
            </a:p>
          </p:txBody>
        </p:sp>
        <p:grpSp>
          <p:nvGrpSpPr>
            <p:cNvPr id="50" name="组合 49"/>
            <p:cNvGrpSpPr/>
            <p:nvPr/>
          </p:nvGrpSpPr>
          <p:grpSpPr>
            <a:xfrm>
              <a:off x="6948717" y="2036079"/>
              <a:ext cx="3300183" cy="2057541"/>
              <a:chOff x="6948717" y="2036079"/>
              <a:chExt cx="3300183" cy="2057541"/>
            </a:xfrm>
          </p:grpSpPr>
          <p:cxnSp>
            <p:nvCxnSpPr>
              <p:cNvPr id="43" name="直接连接符 42"/>
              <p:cNvCxnSpPr/>
              <p:nvPr/>
            </p:nvCxnSpPr>
            <p:spPr>
              <a:xfrm>
                <a:off x="6958242" y="3371850"/>
                <a:ext cx="3290658"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948717" y="2743200"/>
                <a:ext cx="3290658"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7689850" y="2037707"/>
                <a:ext cx="0" cy="2055913"/>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8311748" y="2037707"/>
                <a:ext cx="0" cy="2055913"/>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8901896" y="2036079"/>
                <a:ext cx="0" cy="2055913"/>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9492044" y="2037707"/>
                <a:ext cx="0" cy="2055913"/>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grpSp>
      </p:grpSp>
      <p:grpSp>
        <p:nvGrpSpPr>
          <p:cNvPr id="37" name="组合 36"/>
          <p:cNvGrpSpPr/>
          <p:nvPr/>
        </p:nvGrpSpPr>
        <p:grpSpPr>
          <a:xfrm>
            <a:off x="7442200" y="2403475"/>
            <a:ext cx="1536298" cy="1609283"/>
            <a:chOff x="7327900" y="2203450"/>
            <a:chExt cx="1536298" cy="1609283"/>
          </a:xfrm>
        </p:grpSpPr>
        <p:sp>
          <p:nvSpPr>
            <p:cNvPr id="15" name="椭圆 14"/>
            <p:cNvSpPr/>
            <p:nvPr/>
          </p:nvSpPr>
          <p:spPr>
            <a:xfrm>
              <a:off x="8150426" y="248936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515426" y="311166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760026" y="310531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8140901" y="370856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8144076" y="310531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2"/>
            <p:cNvSpPr txBox="1"/>
            <p:nvPr/>
          </p:nvSpPr>
          <p:spPr>
            <a:xfrm>
              <a:off x="8547100" y="2819400"/>
              <a:ext cx="222250"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21" name="TextBox 23"/>
            <p:cNvSpPr txBox="1"/>
            <p:nvPr/>
          </p:nvSpPr>
          <p:spPr>
            <a:xfrm>
              <a:off x="7931150" y="2844800"/>
              <a:ext cx="222250"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22" name="TextBox 24"/>
            <p:cNvSpPr txBox="1"/>
            <p:nvPr/>
          </p:nvSpPr>
          <p:spPr>
            <a:xfrm>
              <a:off x="7927975" y="3435350"/>
              <a:ext cx="222250"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38" name="TextBox 25"/>
            <p:cNvSpPr txBox="1"/>
            <p:nvPr/>
          </p:nvSpPr>
          <p:spPr>
            <a:xfrm>
              <a:off x="7937500" y="2203450"/>
              <a:ext cx="222250"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40" name="TextBox 26"/>
            <p:cNvSpPr txBox="1"/>
            <p:nvPr/>
          </p:nvSpPr>
          <p:spPr>
            <a:xfrm>
              <a:off x="7327900" y="2813050"/>
              <a:ext cx="222250"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41" name="椭圆 40"/>
            <p:cNvSpPr/>
            <p:nvPr/>
          </p:nvSpPr>
          <p:spPr>
            <a:xfrm>
              <a:off x="8464751" y="3103725"/>
              <a:ext cx="104172" cy="104172"/>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7826576" y="3113251"/>
              <a:ext cx="104172" cy="104172"/>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29"/>
            <p:cNvSpPr txBox="1"/>
            <p:nvPr/>
          </p:nvSpPr>
          <p:spPr>
            <a:xfrm>
              <a:off x="8375650" y="3133725"/>
              <a:ext cx="222250" cy="369332"/>
            </a:xfrm>
            <a:prstGeom prst="rect">
              <a:avLst/>
            </a:prstGeom>
            <a:noFill/>
          </p:spPr>
          <p:txBody>
            <a:bodyPr wrap="square" rtlCol="0">
              <a:spAutoFit/>
            </a:bodyPr>
            <a:lstStyle/>
            <a:p>
              <a:r>
                <a:rPr lang="en-US" altLang="zh-CN" dirty="0">
                  <a:solidFill>
                    <a:srgbClr val="0000FF"/>
                  </a:solidFill>
                </a:rPr>
                <a:t>a</a:t>
              </a:r>
              <a:endParaRPr lang="zh-CN" altLang="en-US" dirty="0">
                <a:solidFill>
                  <a:srgbClr val="0000FF"/>
                </a:solidFill>
              </a:endParaRPr>
            </a:p>
          </p:txBody>
        </p:sp>
        <p:sp>
          <p:nvSpPr>
            <p:cNvPr id="53" name="TextBox 30"/>
            <p:cNvSpPr txBox="1"/>
            <p:nvPr/>
          </p:nvSpPr>
          <p:spPr>
            <a:xfrm>
              <a:off x="7747000" y="3152775"/>
              <a:ext cx="222250" cy="369332"/>
            </a:xfrm>
            <a:prstGeom prst="rect">
              <a:avLst/>
            </a:prstGeom>
            <a:noFill/>
          </p:spPr>
          <p:txBody>
            <a:bodyPr wrap="square" rtlCol="0">
              <a:spAutoFit/>
            </a:bodyPr>
            <a:lstStyle/>
            <a:p>
              <a:r>
                <a:rPr lang="en-US" altLang="zh-CN" dirty="0">
                  <a:solidFill>
                    <a:srgbClr val="0000FF"/>
                  </a:solidFill>
                </a:rPr>
                <a:t>b</a:t>
              </a:r>
              <a:endParaRPr lang="zh-CN" altLang="en-US" dirty="0">
                <a:solidFill>
                  <a:srgbClr val="0000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9</a:t>
            </a:fld>
            <a:endParaRPr lang="id-ID" sz="1200" dirty="0"/>
          </a:p>
        </p:txBody>
      </p:sp>
      <p:pic>
        <p:nvPicPr>
          <p:cNvPr id="3"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533793" y="1444033"/>
            <a:ext cx="3448833" cy="2918243"/>
          </a:xfrm>
          <a:prstGeom prst="rect">
            <a:avLst/>
          </a:prstGeom>
        </p:spPr>
      </p:pic>
      <p:grpSp>
        <p:nvGrpSpPr>
          <p:cNvPr id="4" name="组合 43"/>
          <p:cNvGrpSpPr/>
          <p:nvPr/>
        </p:nvGrpSpPr>
        <p:grpSpPr>
          <a:xfrm>
            <a:off x="701284" y="1183890"/>
            <a:ext cx="405880" cy="386256"/>
            <a:chOff x="833744" y="3434209"/>
            <a:chExt cx="405880" cy="386256"/>
          </a:xfrm>
        </p:grpSpPr>
        <p:sp>
          <p:nvSpPr>
            <p:cNvPr id="5" name="Oval 239"/>
            <p:cNvSpPr/>
            <p:nvPr/>
          </p:nvSpPr>
          <p:spPr>
            <a:xfrm>
              <a:off x="835975" y="3434209"/>
              <a:ext cx="386256" cy="386256"/>
            </a:xfrm>
            <a:prstGeom prst="ellipse">
              <a:avLst/>
            </a:prstGeom>
            <a:solidFill>
              <a:srgbClr val="984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TextBox 15"/>
            <p:cNvSpPr txBox="1"/>
            <p:nvPr/>
          </p:nvSpPr>
          <p:spPr>
            <a:xfrm>
              <a:off x="833744" y="3474914"/>
              <a:ext cx="405880" cy="307777"/>
            </a:xfrm>
            <a:prstGeom prst="rect">
              <a:avLst/>
            </a:prstGeom>
            <a:noFill/>
          </p:spPr>
          <p:txBody>
            <a:bodyPr wrap="none" rtlCol="0">
              <a:spAutoFit/>
            </a:bodyPr>
            <a:lstStyle/>
            <a:p>
              <a:r>
                <a:rPr lang="id-ID" sz="1400" b="1" dirty="0">
                  <a:solidFill>
                    <a:schemeClr val="bg1"/>
                  </a:solidFill>
                  <a:latin typeface="微软雅黑" panose="020B0503020204020204" pitchFamily="34" charset="-122"/>
                </a:rPr>
                <a:t>0</a:t>
              </a:r>
              <a:r>
                <a:rPr lang="en-US" sz="1400" b="1" dirty="0">
                  <a:solidFill>
                    <a:schemeClr val="bg1"/>
                  </a:solidFill>
                  <a:latin typeface="微软雅黑" panose="020B0503020204020204" pitchFamily="34" charset="-122"/>
                </a:rPr>
                <a:t>3</a:t>
              </a:r>
              <a:endParaRPr lang="id-ID" sz="1400" b="1" dirty="0">
                <a:solidFill>
                  <a:schemeClr val="bg1"/>
                </a:solidFill>
                <a:latin typeface="微软雅黑" panose="020B0503020204020204" pitchFamily="34" charset="-122"/>
              </a:endParaRPr>
            </a:p>
          </p:txBody>
        </p:sp>
      </p:grpSp>
      <p:sp>
        <p:nvSpPr>
          <p:cNvPr id="7" name="TextBox 16"/>
          <p:cNvSpPr txBox="1"/>
          <p:nvPr/>
        </p:nvSpPr>
        <p:spPr>
          <a:xfrm>
            <a:off x="1195373" y="1163005"/>
            <a:ext cx="2782868" cy="461665"/>
          </a:xfrm>
          <a:prstGeom prst="rect">
            <a:avLst/>
          </a:prstGeom>
          <a:noFill/>
        </p:spPr>
        <p:txBody>
          <a:bodyPr wrap="square" rtlCol="0">
            <a:spAutoFit/>
          </a:bodyPr>
          <a:lstStyle/>
          <a:p>
            <a:r>
              <a:rPr lang="zh-CN" altLang="en-US" sz="2400" b="1" dirty="0">
                <a:solidFill>
                  <a:srgbClr val="984E96"/>
                </a:solidFill>
                <a:latin typeface="微软雅黑" panose="020B0503020204020204" pitchFamily="34" charset="-122"/>
                <a:ea typeface="微软雅黑" panose="020B0503020204020204" pitchFamily="34" charset="-122"/>
              </a:rPr>
              <a:t>差分方程组的求解</a:t>
            </a:r>
          </a:p>
        </p:txBody>
      </p:sp>
      <p:sp>
        <p:nvSpPr>
          <p:cNvPr id="8" name="椭圆 7"/>
          <p:cNvSpPr/>
          <p:nvPr/>
        </p:nvSpPr>
        <p:spPr>
          <a:xfrm>
            <a:off x="8804476" y="203216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017076" y="282591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598226" y="283226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8798126" y="3619661"/>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8821207" y="2832967"/>
            <a:ext cx="104172" cy="10417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22"/>
          <p:cNvSpPr txBox="1"/>
          <p:nvPr/>
        </p:nvSpPr>
        <p:spPr>
          <a:xfrm>
            <a:off x="9644084" y="2553977"/>
            <a:ext cx="222250"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14" name="TextBox 23"/>
          <p:cNvSpPr txBox="1"/>
          <p:nvPr/>
        </p:nvSpPr>
        <p:spPr>
          <a:xfrm>
            <a:off x="8585200" y="2508250"/>
            <a:ext cx="222250"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5" name="TextBox 24"/>
          <p:cNvSpPr txBox="1"/>
          <p:nvPr/>
        </p:nvSpPr>
        <p:spPr>
          <a:xfrm>
            <a:off x="8591550" y="3312160"/>
            <a:ext cx="222250"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16" name="TextBox 25"/>
          <p:cNvSpPr txBox="1"/>
          <p:nvPr/>
        </p:nvSpPr>
        <p:spPr>
          <a:xfrm>
            <a:off x="8604250" y="1727200"/>
            <a:ext cx="222250"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17" name="TextBox 26"/>
          <p:cNvSpPr txBox="1"/>
          <p:nvPr/>
        </p:nvSpPr>
        <p:spPr>
          <a:xfrm>
            <a:off x="7766050" y="2495550"/>
            <a:ext cx="222250"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23" name="TextBox 41"/>
          <p:cNvSpPr txBox="1"/>
          <p:nvPr/>
        </p:nvSpPr>
        <p:spPr>
          <a:xfrm>
            <a:off x="8679001" y="2521738"/>
            <a:ext cx="1057637" cy="369332"/>
          </a:xfrm>
          <a:prstGeom prst="rect">
            <a:avLst/>
          </a:prstGeom>
          <a:noFill/>
        </p:spPr>
        <p:txBody>
          <a:bodyPr wrap="square" rtlCol="0">
            <a:spAutoFit/>
          </a:bodyPr>
          <a:lstStyle/>
          <a:p>
            <a:r>
              <a:rPr lang="zh-CN" altLang="en-US" dirty="0">
                <a:solidFill>
                  <a:srgbClr val="FF0000"/>
                </a:solidFill>
                <a:latin typeface="Times New Roman" panose="02020603050405020304" pitchFamily="18" charset="0"/>
                <a:cs typeface="Times New Roman" panose="02020603050405020304" pitchFamily="18" charset="0"/>
              </a:rPr>
              <a:t>（</a:t>
            </a:r>
            <a:r>
              <a:rPr lang="en-US" altLang="zh-CN" i="1" dirty="0" err="1">
                <a:solidFill>
                  <a:srgbClr val="FF0000"/>
                </a:solidFill>
                <a:latin typeface="Times New Roman" panose="02020603050405020304" pitchFamily="18" charset="0"/>
                <a:cs typeface="Times New Roman" panose="02020603050405020304" pitchFamily="18" charset="0"/>
              </a:rPr>
              <a:t>i,j</a:t>
            </a:r>
            <a:r>
              <a:rPr lang="zh-CN" altLang="en-US" dirty="0">
                <a:solidFill>
                  <a:srgbClr val="FF0000"/>
                </a:solidFill>
                <a:latin typeface="Times New Roman" panose="02020603050405020304" pitchFamily="18" charset="0"/>
                <a:cs typeface="Times New Roman" panose="02020603050405020304" pitchFamily="18" charset="0"/>
              </a:rPr>
              <a:t>）</a:t>
            </a:r>
          </a:p>
        </p:txBody>
      </p:sp>
      <p:sp>
        <p:nvSpPr>
          <p:cNvPr id="24" name="TextBox 43"/>
          <p:cNvSpPr txBox="1"/>
          <p:nvPr/>
        </p:nvSpPr>
        <p:spPr>
          <a:xfrm>
            <a:off x="8679000" y="3316984"/>
            <a:ext cx="1057637" cy="369332"/>
          </a:xfrm>
          <a:prstGeom prst="rect">
            <a:avLst/>
          </a:prstGeom>
          <a:noFill/>
        </p:spPr>
        <p:txBody>
          <a:bodyPr wrap="square" rtlCol="0">
            <a:spAutoFit/>
          </a:bodyPr>
          <a:lstStyle/>
          <a:p>
            <a:r>
              <a:rPr lang="zh-CN" altLang="en-US"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j-</a:t>
            </a:r>
            <a:r>
              <a:rPr lang="en-US" altLang="zh-CN" dirty="0">
                <a:solidFill>
                  <a:srgbClr val="FF0000"/>
                </a:solidFill>
                <a:latin typeface="Times New Roman" panose="02020603050405020304" pitchFamily="18" charset="0"/>
                <a:cs typeface="Times New Roman" panose="02020603050405020304" pitchFamily="18" charset="0"/>
              </a:rPr>
              <a:t>1</a:t>
            </a:r>
            <a:r>
              <a:rPr lang="zh-CN" altLang="en-US" dirty="0">
                <a:solidFill>
                  <a:srgbClr val="FF0000"/>
                </a:solidFill>
                <a:latin typeface="Times New Roman" panose="02020603050405020304" pitchFamily="18" charset="0"/>
                <a:cs typeface="Times New Roman" panose="02020603050405020304" pitchFamily="18" charset="0"/>
              </a:rPr>
              <a:t>）</a:t>
            </a:r>
          </a:p>
        </p:txBody>
      </p:sp>
      <p:sp>
        <p:nvSpPr>
          <p:cNvPr id="25" name="TextBox 44"/>
          <p:cNvSpPr txBox="1"/>
          <p:nvPr/>
        </p:nvSpPr>
        <p:spPr>
          <a:xfrm>
            <a:off x="7206917" y="2863242"/>
            <a:ext cx="1057637" cy="369332"/>
          </a:xfrm>
          <a:prstGeom prst="rect">
            <a:avLst/>
          </a:prstGeom>
          <a:noFill/>
        </p:spPr>
        <p:txBody>
          <a:bodyPr wrap="square" rtlCol="0">
            <a:spAutoFit/>
          </a:bodyPr>
          <a:lstStyle/>
          <a:p>
            <a:r>
              <a:rPr lang="zh-CN" altLang="en-US"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rPr>
              <a:t>1,</a:t>
            </a:r>
            <a:r>
              <a:rPr lang="en-US" altLang="zh-CN" i="1" dirty="0">
                <a:solidFill>
                  <a:srgbClr val="FF0000"/>
                </a:solidFill>
                <a:latin typeface="Times New Roman" panose="02020603050405020304" pitchFamily="18" charset="0"/>
                <a:cs typeface="Times New Roman" panose="02020603050405020304" pitchFamily="18" charset="0"/>
              </a:rPr>
              <a:t>j</a:t>
            </a:r>
            <a:r>
              <a:rPr lang="zh-CN" altLang="en-US" dirty="0">
                <a:solidFill>
                  <a:srgbClr val="FF0000"/>
                </a:solidFill>
                <a:latin typeface="Times New Roman" panose="02020603050405020304" pitchFamily="18" charset="0"/>
                <a:cs typeface="Times New Roman" panose="02020603050405020304" pitchFamily="18" charset="0"/>
              </a:rPr>
              <a:t>）</a:t>
            </a:r>
          </a:p>
        </p:txBody>
      </p:sp>
      <p:sp>
        <p:nvSpPr>
          <p:cNvPr id="26" name="TextBox 48"/>
          <p:cNvSpPr txBox="1"/>
          <p:nvPr/>
        </p:nvSpPr>
        <p:spPr>
          <a:xfrm>
            <a:off x="9534695" y="2863242"/>
            <a:ext cx="1057637" cy="369332"/>
          </a:xfrm>
          <a:prstGeom prst="rect">
            <a:avLst/>
          </a:prstGeom>
          <a:noFill/>
        </p:spPr>
        <p:txBody>
          <a:bodyPr wrap="square" rtlCol="0">
            <a:spAutoFit/>
          </a:bodyPr>
          <a:lstStyle/>
          <a:p>
            <a:r>
              <a:rPr lang="zh-CN" altLang="en-US"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rPr>
              <a:t>1,</a:t>
            </a:r>
            <a:r>
              <a:rPr lang="en-US" altLang="zh-CN" i="1" dirty="0">
                <a:solidFill>
                  <a:srgbClr val="FF0000"/>
                </a:solidFill>
                <a:latin typeface="Times New Roman" panose="02020603050405020304" pitchFamily="18" charset="0"/>
                <a:cs typeface="Times New Roman" panose="02020603050405020304" pitchFamily="18" charset="0"/>
              </a:rPr>
              <a:t>j</a:t>
            </a:r>
            <a:r>
              <a:rPr lang="zh-CN" altLang="en-US" dirty="0">
                <a:solidFill>
                  <a:srgbClr val="FF0000"/>
                </a:solidFill>
                <a:latin typeface="Times New Roman" panose="02020603050405020304" pitchFamily="18" charset="0"/>
                <a:cs typeface="Times New Roman" panose="02020603050405020304" pitchFamily="18" charset="0"/>
              </a:rPr>
              <a:t>）</a:t>
            </a:r>
          </a:p>
        </p:txBody>
      </p:sp>
      <p:sp>
        <p:nvSpPr>
          <p:cNvPr id="27" name="TextBox 49"/>
          <p:cNvSpPr txBox="1"/>
          <p:nvPr/>
        </p:nvSpPr>
        <p:spPr>
          <a:xfrm>
            <a:off x="8633220" y="1711550"/>
            <a:ext cx="1057637" cy="369332"/>
          </a:xfrm>
          <a:prstGeom prst="rect">
            <a:avLst/>
          </a:prstGeom>
          <a:noFill/>
        </p:spPr>
        <p:txBody>
          <a:bodyPr wrap="square" rtlCol="0">
            <a:spAutoFit/>
          </a:bodyPr>
          <a:lstStyle/>
          <a:p>
            <a:r>
              <a:rPr lang="zh-CN" altLang="en-US"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j+</a:t>
            </a:r>
            <a:r>
              <a:rPr lang="en-US" altLang="zh-CN" dirty="0">
                <a:solidFill>
                  <a:srgbClr val="FF0000"/>
                </a:solidFill>
                <a:latin typeface="Times New Roman" panose="02020603050405020304" pitchFamily="18" charset="0"/>
                <a:cs typeface="Times New Roman" panose="02020603050405020304" pitchFamily="18" charset="0"/>
              </a:rPr>
              <a:t>1</a:t>
            </a:r>
            <a:r>
              <a:rPr lang="zh-CN" altLang="en-US" dirty="0">
                <a:solidFill>
                  <a:srgbClr val="FF0000"/>
                </a:solidFill>
                <a:latin typeface="Times New Roman" panose="02020603050405020304" pitchFamily="18" charset="0"/>
                <a:cs typeface="Times New Roman" panose="02020603050405020304" pitchFamily="18" charset="0"/>
              </a:rPr>
              <a:t>）</a:t>
            </a:r>
          </a:p>
        </p:txBody>
      </p:sp>
      <p:graphicFrame>
        <p:nvGraphicFramePr>
          <p:cNvPr id="28" name="Object 11"/>
          <p:cNvGraphicFramePr>
            <a:graphicFrameLocks noChangeAspect="1"/>
          </p:cNvGraphicFramePr>
          <p:nvPr>
            <p:extLst>
              <p:ext uri="{D42A27DB-BD31-4B8C-83A1-F6EECF244321}">
                <p14:modId xmlns:p14="http://schemas.microsoft.com/office/powerpoint/2010/main" val="2081372042"/>
              </p:ext>
            </p:extLst>
          </p:nvPr>
        </p:nvGraphicFramePr>
        <p:xfrm>
          <a:off x="1320765" y="1791495"/>
          <a:ext cx="5661003" cy="393700"/>
        </p:xfrm>
        <a:graphic>
          <a:graphicData uri="http://schemas.openxmlformats.org/presentationml/2006/ole">
            <mc:AlternateContent xmlns:mc="http://schemas.openxmlformats.org/markup-compatibility/2006">
              <mc:Choice xmlns:v="urn:schemas-microsoft-com:vml" Requires="v">
                <p:oleObj spid="_x0000_s4104" name="Equation" r:id="rId4" imgW="87477600" imgH="6096000" progId="Equation.DSMT4">
                  <p:embed/>
                </p:oleObj>
              </mc:Choice>
              <mc:Fallback>
                <p:oleObj name="Equation" r:id="rId4" imgW="87477600" imgH="6096000" progId="Equation.DSMT4">
                  <p:embed/>
                  <p:pic>
                    <p:nvPicPr>
                      <p:cNvPr id="0" name="图片 3073"/>
                      <p:cNvPicPr>
                        <a:picLocks noChangeAspect="1"/>
                      </p:cNvPicPr>
                      <p:nvPr/>
                    </p:nvPicPr>
                    <p:blipFill>
                      <a:blip r:embed="rId5"/>
                      <a:stretch>
                        <a:fillRect/>
                      </a:stretch>
                    </p:blipFill>
                    <p:spPr>
                      <a:xfrm>
                        <a:off x="1320765" y="1791495"/>
                        <a:ext cx="5661003" cy="393700"/>
                      </a:xfrm>
                      <a:prstGeom prst="rect">
                        <a:avLst/>
                      </a:prstGeom>
                      <a:noFill/>
                      <a:ln w="9525">
                        <a:noFill/>
                      </a:ln>
                    </p:spPr>
                  </p:pic>
                </p:oleObj>
              </mc:Fallback>
            </mc:AlternateContent>
          </a:graphicData>
        </a:graphic>
      </p:graphicFrame>
      <p:graphicFrame>
        <p:nvGraphicFramePr>
          <p:cNvPr id="30" name="Object 11"/>
          <p:cNvGraphicFramePr>
            <a:graphicFrameLocks noChangeAspect="1"/>
          </p:cNvGraphicFramePr>
          <p:nvPr>
            <p:extLst>
              <p:ext uri="{D42A27DB-BD31-4B8C-83A1-F6EECF244321}">
                <p14:modId xmlns:p14="http://schemas.microsoft.com/office/powerpoint/2010/main" val="3823045859"/>
              </p:ext>
            </p:extLst>
          </p:nvPr>
        </p:nvGraphicFramePr>
        <p:xfrm>
          <a:off x="1421222" y="2982673"/>
          <a:ext cx="4773948" cy="732643"/>
        </p:xfrm>
        <a:graphic>
          <a:graphicData uri="http://schemas.openxmlformats.org/presentationml/2006/ole">
            <mc:AlternateContent xmlns:mc="http://schemas.openxmlformats.org/markup-compatibility/2006">
              <mc:Choice xmlns:v="urn:schemas-microsoft-com:vml" Requires="v">
                <p:oleObj spid="_x0000_s4105" name="Equation" r:id="rId6" imgW="61569600" imgH="9448800" progId="Equation.DSMT4">
                  <p:embed/>
                </p:oleObj>
              </mc:Choice>
              <mc:Fallback>
                <p:oleObj name="Equation" r:id="rId6" imgW="61569600" imgH="9448800" progId="Equation.DSMT4">
                  <p:embed/>
                  <p:pic>
                    <p:nvPicPr>
                      <p:cNvPr id="0" name="图片 3074"/>
                      <p:cNvPicPr>
                        <a:picLocks noChangeAspect="1"/>
                      </p:cNvPicPr>
                      <p:nvPr/>
                    </p:nvPicPr>
                    <p:blipFill>
                      <a:blip r:embed="rId7"/>
                      <a:stretch>
                        <a:fillRect/>
                      </a:stretch>
                    </p:blipFill>
                    <p:spPr>
                      <a:xfrm>
                        <a:off x="1421222" y="2982673"/>
                        <a:ext cx="4773948" cy="732643"/>
                      </a:xfrm>
                      <a:prstGeom prst="rect">
                        <a:avLst/>
                      </a:prstGeom>
                      <a:noFill/>
                      <a:ln w="9525">
                        <a:noFill/>
                      </a:ln>
                    </p:spPr>
                  </p:pic>
                </p:oleObj>
              </mc:Fallback>
            </mc:AlternateContent>
          </a:graphicData>
        </a:graphic>
      </p:graphicFrame>
      <p:sp>
        <p:nvSpPr>
          <p:cNvPr id="32" name="TextBox 52"/>
          <p:cNvSpPr txBox="1"/>
          <p:nvPr/>
        </p:nvSpPr>
        <p:spPr>
          <a:xfrm>
            <a:off x="1278366" y="2513639"/>
            <a:ext cx="2782868"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高斯赛德尔迭代法</a:t>
            </a:r>
          </a:p>
        </p:txBody>
      </p:sp>
      <p:sp>
        <p:nvSpPr>
          <p:cNvPr id="33" name="任意多边形 35"/>
          <p:cNvSpPr/>
          <p:nvPr/>
        </p:nvSpPr>
        <p:spPr>
          <a:xfrm>
            <a:off x="5943566" y="2172495"/>
            <a:ext cx="695325" cy="19050"/>
          </a:xfrm>
          <a:custGeom>
            <a:avLst/>
            <a:gdLst>
              <a:gd name="connsiteX0" fmla="*/ 0 w 695325"/>
              <a:gd name="connsiteY0" fmla="*/ 0 h 19050"/>
              <a:gd name="connsiteX1" fmla="*/ 590550 w 695325"/>
              <a:gd name="connsiteY1" fmla="*/ 0 h 19050"/>
              <a:gd name="connsiteX2" fmla="*/ 628650 w 695325"/>
              <a:gd name="connsiteY2" fmla="*/ 19050 h 19050"/>
              <a:gd name="connsiteX3" fmla="*/ 628650 w 69532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695325" h="19050">
                <a:moveTo>
                  <a:pt x="0" y="0"/>
                </a:moveTo>
                <a:lnTo>
                  <a:pt x="590550" y="0"/>
                </a:lnTo>
                <a:cubicBezTo>
                  <a:pt x="695325" y="3175"/>
                  <a:pt x="628650" y="19050"/>
                  <a:pt x="628650" y="19050"/>
                </a:cubicBezTo>
                <a:lnTo>
                  <a:pt x="628650" y="19050"/>
                </a:lnTo>
              </a:path>
            </a:pathLst>
          </a:cu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Freeform 14"/>
          <p:cNvSpPr>
            <a:spLocks noEditPoints="1"/>
          </p:cNvSpPr>
          <p:nvPr/>
        </p:nvSpPr>
        <p:spPr bwMode="auto">
          <a:xfrm>
            <a:off x="896041" y="2501108"/>
            <a:ext cx="409111" cy="386256"/>
          </a:xfrm>
          <a:custGeom>
            <a:avLst/>
            <a:gdLst>
              <a:gd name="T0" fmla="*/ 129 w 130"/>
              <a:gd name="T1" fmla="*/ 46 h 124"/>
              <a:gd name="T2" fmla="*/ 121 w 130"/>
              <a:gd name="T3" fmla="*/ 40 h 124"/>
              <a:gd name="T4" fmla="*/ 88 w 130"/>
              <a:gd name="T5" fmla="*/ 35 h 124"/>
              <a:gd name="T6" fmla="*/ 73 w 130"/>
              <a:gd name="T7" fmla="*/ 5 h 124"/>
              <a:gd name="T8" fmla="*/ 65 w 130"/>
              <a:gd name="T9" fmla="*/ 0 h 124"/>
              <a:gd name="T10" fmla="*/ 57 w 130"/>
              <a:gd name="T11" fmla="*/ 5 h 124"/>
              <a:gd name="T12" fmla="*/ 42 w 130"/>
              <a:gd name="T13" fmla="*/ 35 h 124"/>
              <a:gd name="T14" fmla="*/ 9 w 130"/>
              <a:gd name="T15" fmla="*/ 40 h 124"/>
              <a:gd name="T16" fmla="*/ 1 w 130"/>
              <a:gd name="T17" fmla="*/ 46 h 124"/>
              <a:gd name="T18" fmla="*/ 4 w 130"/>
              <a:gd name="T19" fmla="*/ 55 h 124"/>
              <a:gd name="T20" fmla="*/ 28 w 130"/>
              <a:gd name="T21" fmla="*/ 80 h 124"/>
              <a:gd name="T22" fmla="*/ 22 w 130"/>
              <a:gd name="T23" fmla="*/ 114 h 124"/>
              <a:gd name="T24" fmla="*/ 26 w 130"/>
              <a:gd name="T25" fmla="*/ 122 h 124"/>
              <a:gd name="T26" fmla="*/ 31 w 130"/>
              <a:gd name="T27" fmla="*/ 124 h 124"/>
              <a:gd name="T28" fmla="*/ 36 w 130"/>
              <a:gd name="T29" fmla="*/ 123 h 124"/>
              <a:gd name="T30" fmla="*/ 65 w 130"/>
              <a:gd name="T31" fmla="*/ 107 h 124"/>
              <a:gd name="T32" fmla="*/ 94 w 130"/>
              <a:gd name="T33" fmla="*/ 123 h 124"/>
              <a:gd name="T34" fmla="*/ 99 w 130"/>
              <a:gd name="T35" fmla="*/ 124 h 124"/>
              <a:gd name="T36" fmla="*/ 104 w 130"/>
              <a:gd name="T37" fmla="*/ 122 h 124"/>
              <a:gd name="T38" fmla="*/ 108 w 130"/>
              <a:gd name="T39" fmla="*/ 114 h 124"/>
              <a:gd name="T40" fmla="*/ 102 w 130"/>
              <a:gd name="T41" fmla="*/ 80 h 124"/>
              <a:gd name="T42" fmla="*/ 126 w 130"/>
              <a:gd name="T43" fmla="*/ 55 h 124"/>
              <a:gd name="T44" fmla="*/ 129 w 130"/>
              <a:gd name="T45" fmla="*/ 46 h 124"/>
              <a:gd name="T46" fmla="*/ 95 w 130"/>
              <a:gd name="T47" fmla="*/ 73 h 124"/>
              <a:gd name="T48" fmla="*/ 93 w 130"/>
              <a:gd name="T49" fmla="*/ 81 h 124"/>
              <a:gd name="T50" fmla="*/ 99 w 130"/>
              <a:gd name="T51" fmla="*/ 115 h 124"/>
              <a:gd name="T52" fmla="*/ 69 w 130"/>
              <a:gd name="T53" fmla="*/ 99 h 124"/>
              <a:gd name="T54" fmla="*/ 65 w 130"/>
              <a:gd name="T55" fmla="*/ 98 h 124"/>
              <a:gd name="T56" fmla="*/ 61 w 130"/>
              <a:gd name="T57" fmla="*/ 99 h 124"/>
              <a:gd name="T58" fmla="*/ 31 w 130"/>
              <a:gd name="T59" fmla="*/ 115 h 124"/>
              <a:gd name="T60" fmla="*/ 37 w 130"/>
              <a:gd name="T61" fmla="*/ 81 h 124"/>
              <a:gd name="T62" fmla="*/ 35 w 130"/>
              <a:gd name="T63" fmla="*/ 73 h 124"/>
              <a:gd name="T64" fmla="*/ 10 w 130"/>
              <a:gd name="T65" fmla="*/ 49 h 124"/>
              <a:gd name="T66" fmla="*/ 44 w 130"/>
              <a:gd name="T67" fmla="*/ 44 h 124"/>
              <a:gd name="T68" fmla="*/ 51 w 130"/>
              <a:gd name="T69" fmla="*/ 39 h 124"/>
              <a:gd name="T70" fmla="*/ 65 w 130"/>
              <a:gd name="T71" fmla="*/ 9 h 124"/>
              <a:gd name="T72" fmla="*/ 79 w 130"/>
              <a:gd name="T73" fmla="*/ 39 h 124"/>
              <a:gd name="T74" fmla="*/ 86 w 130"/>
              <a:gd name="T75" fmla="*/ 44 h 124"/>
              <a:gd name="T76" fmla="*/ 120 w 130"/>
              <a:gd name="T77" fmla="*/ 49 h 124"/>
              <a:gd name="T78" fmla="*/ 95 w 130"/>
              <a:gd name="T79" fmla="*/ 7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4">
                <a:moveTo>
                  <a:pt x="129" y="46"/>
                </a:moveTo>
                <a:cubicBezTo>
                  <a:pt x="127" y="43"/>
                  <a:pt x="125" y="41"/>
                  <a:pt x="121" y="40"/>
                </a:cubicBezTo>
                <a:cubicBezTo>
                  <a:pt x="88" y="35"/>
                  <a:pt x="88" y="35"/>
                  <a:pt x="88" y="35"/>
                </a:cubicBezTo>
                <a:cubicBezTo>
                  <a:pt x="73" y="5"/>
                  <a:pt x="73" y="5"/>
                  <a:pt x="73" y="5"/>
                </a:cubicBezTo>
                <a:cubicBezTo>
                  <a:pt x="72" y="2"/>
                  <a:pt x="69" y="0"/>
                  <a:pt x="65" y="0"/>
                </a:cubicBezTo>
                <a:cubicBezTo>
                  <a:pt x="61" y="0"/>
                  <a:pt x="58" y="2"/>
                  <a:pt x="57" y="5"/>
                </a:cubicBezTo>
                <a:cubicBezTo>
                  <a:pt x="42" y="35"/>
                  <a:pt x="42" y="35"/>
                  <a:pt x="42" y="35"/>
                </a:cubicBezTo>
                <a:cubicBezTo>
                  <a:pt x="9" y="40"/>
                  <a:pt x="9" y="40"/>
                  <a:pt x="9" y="40"/>
                </a:cubicBezTo>
                <a:cubicBezTo>
                  <a:pt x="5" y="41"/>
                  <a:pt x="3" y="43"/>
                  <a:pt x="1" y="46"/>
                </a:cubicBezTo>
                <a:cubicBezTo>
                  <a:pt x="0" y="49"/>
                  <a:pt x="1" y="53"/>
                  <a:pt x="4" y="55"/>
                </a:cubicBezTo>
                <a:cubicBezTo>
                  <a:pt x="28" y="80"/>
                  <a:pt x="28" y="80"/>
                  <a:pt x="28" y="80"/>
                </a:cubicBezTo>
                <a:cubicBezTo>
                  <a:pt x="22" y="114"/>
                  <a:pt x="22" y="114"/>
                  <a:pt x="22" y="114"/>
                </a:cubicBezTo>
                <a:cubicBezTo>
                  <a:pt x="22" y="117"/>
                  <a:pt x="23" y="120"/>
                  <a:pt x="26" y="122"/>
                </a:cubicBezTo>
                <a:cubicBezTo>
                  <a:pt x="28" y="123"/>
                  <a:pt x="30" y="124"/>
                  <a:pt x="31" y="124"/>
                </a:cubicBezTo>
                <a:cubicBezTo>
                  <a:pt x="33" y="124"/>
                  <a:pt x="35" y="124"/>
                  <a:pt x="36" y="123"/>
                </a:cubicBezTo>
                <a:cubicBezTo>
                  <a:pt x="65" y="107"/>
                  <a:pt x="65" y="107"/>
                  <a:pt x="65" y="107"/>
                </a:cubicBezTo>
                <a:cubicBezTo>
                  <a:pt x="94" y="123"/>
                  <a:pt x="94" y="123"/>
                  <a:pt x="94" y="123"/>
                </a:cubicBezTo>
                <a:cubicBezTo>
                  <a:pt x="95" y="124"/>
                  <a:pt x="97" y="124"/>
                  <a:pt x="99" y="124"/>
                </a:cubicBezTo>
                <a:cubicBezTo>
                  <a:pt x="100" y="124"/>
                  <a:pt x="102" y="123"/>
                  <a:pt x="104" y="122"/>
                </a:cubicBezTo>
                <a:cubicBezTo>
                  <a:pt x="107" y="120"/>
                  <a:pt x="108" y="117"/>
                  <a:pt x="108" y="114"/>
                </a:cubicBezTo>
                <a:cubicBezTo>
                  <a:pt x="102" y="80"/>
                  <a:pt x="102" y="80"/>
                  <a:pt x="102" y="80"/>
                </a:cubicBezTo>
                <a:cubicBezTo>
                  <a:pt x="126" y="55"/>
                  <a:pt x="126" y="55"/>
                  <a:pt x="126" y="55"/>
                </a:cubicBezTo>
                <a:cubicBezTo>
                  <a:pt x="129" y="53"/>
                  <a:pt x="130" y="49"/>
                  <a:pt x="129" y="46"/>
                </a:cubicBezTo>
                <a:close/>
                <a:moveTo>
                  <a:pt x="95" y="73"/>
                </a:moveTo>
                <a:cubicBezTo>
                  <a:pt x="93" y="75"/>
                  <a:pt x="92" y="78"/>
                  <a:pt x="93" y="81"/>
                </a:cubicBezTo>
                <a:cubicBezTo>
                  <a:pt x="99" y="115"/>
                  <a:pt x="99" y="115"/>
                  <a:pt x="99" y="115"/>
                </a:cubicBezTo>
                <a:cubicBezTo>
                  <a:pt x="69" y="99"/>
                  <a:pt x="69" y="99"/>
                  <a:pt x="69" y="99"/>
                </a:cubicBezTo>
                <a:cubicBezTo>
                  <a:pt x="68" y="99"/>
                  <a:pt x="67" y="98"/>
                  <a:pt x="65" y="98"/>
                </a:cubicBezTo>
                <a:cubicBezTo>
                  <a:pt x="63" y="98"/>
                  <a:pt x="62" y="99"/>
                  <a:pt x="61" y="99"/>
                </a:cubicBezTo>
                <a:cubicBezTo>
                  <a:pt x="31" y="115"/>
                  <a:pt x="31" y="115"/>
                  <a:pt x="31" y="115"/>
                </a:cubicBezTo>
                <a:cubicBezTo>
                  <a:pt x="37" y="81"/>
                  <a:pt x="37" y="81"/>
                  <a:pt x="37" y="81"/>
                </a:cubicBezTo>
                <a:cubicBezTo>
                  <a:pt x="38" y="78"/>
                  <a:pt x="37" y="75"/>
                  <a:pt x="35" y="73"/>
                </a:cubicBezTo>
                <a:cubicBezTo>
                  <a:pt x="10" y="49"/>
                  <a:pt x="10" y="49"/>
                  <a:pt x="10" y="49"/>
                </a:cubicBezTo>
                <a:cubicBezTo>
                  <a:pt x="44" y="44"/>
                  <a:pt x="44" y="44"/>
                  <a:pt x="44" y="44"/>
                </a:cubicBezTo>
                <a:cubicBezTo>
                  <a:pt x="47" y="44"/>
                  <a:pt x="49" y="42"/>
                  <a:pt x="51" y="39"/>
                </a:cubicBezTo>
                <a:cubicBezTo>
                  <a:pt x="65" y="9"/>
                  <a:pt x="65" y="9"/>
                  <a:pt x="65" y="9"/>
                </a:cubicBezTo>
                <a:cubicBezTo>
                  <a:pt x="79" y="39"/>
                  <a:pt x="79" y="39"/>
                  <a:pt x="79" y="39"/>
                </a:cubicBezTo>
                <a:cubicBezTo>
                  <a:pt x="81" y="42"/>
                  <a:pt x="83" y="44"/>
                  <a:pt x="86" y="44"/>
                </a:cubicBezTo>
                <a:cubicBezTo>
                  <a:pt x="120" y="49"/>
                  <a:pt x="120" y="49"/>
                  <a:pt x="120" y="49"/>
                </a:cubicBezTo>
                <a:lnTo>
                  <a:pt x="95" y="73"/>
                </a:lnTo>
                <a:close/>
              </a:path>
            </a:pathLst>
          </a:custGeom>
          <a:solidFill>
            <a:srgbClr val="2AB695"/>
          </a:solidFill>
          <a:ln>
            <a:noFill/>
          </a:ln>
        </p:spPr>
        <p:txBody>
          <a:bodyPr vert="horz" wrap="square" lIns="91440" tIns="45720" rIns="91440" bIns="45720" numCol="1" anchor="t" anchorCtr="0" compatLnSpc="1"/>
          <a:lstStyle/>
          <a:p>
            <a:endParaRPr lang="id-ID"/>
          </a:p>
        </p:txBody>
      </p:sp>
      <p:sp>
        <p:nvSpPr>
          <p:cNvPr id="37" name="TextBox 5"/>
          <p:cNvSpPr txBox="1"/>
          <p:nvPr/>
        </p:nvSpPr>
        <p:spPr>
          <a:xfrm>
            <a:off x="899250" y="200214"/>
            <a:ext cx="3829767"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3.</a:t>
            </a:r>
            <a:r>
              <a:rPr lang="zh-CN" altLang="en-US" sz="3600" b="1" dirty="0">
                <a:solidFill>
                  <a:srgbClr val="00467F"/>
                </a:solidFill>
                <a:latin typeface="微软雅黑" panose="020B0503020204020204" pitchFamily="34" charset="-122"/>
                <a:ea typeface="微软雅黑" panose="020B0503020204020204" pitchFamily="34" charset="-122"/>
              </a:rPr>
              <a:t>实验原理</a:t>
            </a:r>
          </a:p>
        </p:txBody>
      </p:sp>
      <p:sp>
        <p:nvSpPr>
          <p:cNvPr id="29" name="TextBox 54"/>
          <p:cNvSpPr txBox="1"/>
          <p:nvPr/>
        </p:nvSpPr>
        <p:spPr>
          <a:xfrm>
            <a:off x="1271205" y="3844183"/>
            <a:ext cx="1795443"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超松弛迭代法</a:t>
            </a:r>
          </a:p>
        </p:txBody>
      </p:sp>
      <p:graphicFrame>
        <p:nvGraphicFramePr>
          <p:cNvPr id="31" name="Object 11"/>
          <p:cNvGraphicFramePr>
            <a:graphicFrameLocks noChangeAspect="1"/>
          </p:cNvGraphicFramePr>
          <p:nvPr>
            <p:extLst>
              <p:ext uri="{D42A27DB-BD31-4B8C-83A1-F6EECF244321}">
                <p14:modId xmlns:p14="http://schemas.microsoft.com/office/powerpoint/2010/main" val="225549609"/>
              </p:ext>
            </p:extLst>
          </p:nvPr>
        </p:nvGraphicFramePr>
        <p:xfrm>
          <a:off x="1333505" y="4362276"/>
          <a:ext cx="6335208" cy="732643"/>
        </p:xfrm>
        <a:graphic>
          <a:graphicData uri="http://schemas.openxmlformats.org/presentationml/2006/ole">
            <mc:AlternateContent xmlns:mc="http://schemas.openxmlformats.org/markup-compatibility/2006">
              <mc:Choice xmlns:v="urn:schemas-microsoft-com:vml" Requires="v">
                <p:oleObj spid="_x0000_s4106" name="Equation" r:id="rId8" imgW="3479760" imgH="393480" progId="Equation.DSMT4">
                  <p:embed/>
                </p:oleObj>
              </mc:Choice>
              <mc:Fallback>
                <p:oleObj name="Equation" r:id="rId8" imgW="3479760" imgH="393480" progId="Equation.DSMT4">
                  <p:embed/>
                  <p:pic>
                    <p:nvPicPr>
                      <p:cNvPr id="20" name="Object 11"/>
                      <p:cNvPicPr>
                        <a:picLocks noChangeAspect="1"/>
                      </p:cNvPicPr>
                      <p:nvPr/>
                    </p:nvPicPr>
                    <p:blipFill>
                      <a:blip r:embed="rId9"/>
                      <a:stretch>
                        <a:fillRect/>
                      </a:stretch>
                    </p:blipFill>
                    <p:spPr>
                      <a:xfrm>
                        <a:off x="1333505" y="4362276"/>
                        <a:ext cx="6335208" cy="732643"/>
                      </a:xfrm>
                      <a:prstGeom prst="rect">
                        <a:avLst/>
                      </a:prstGeom>
                      <a:noFill/>
                      <a:ln w="9525">
                        <a:noFill/>
                      </a:ln>
                    </p:spPr>
                  </p:pic>
                </p:oleObj>
              </mc:Fallback>
            </mc:AlternateContent>
          </a:graphicData>
        </a:graphic>
      </p:graphicFrame>
      <p:graphicFrame>
        <p:nvGraphicFramePr>
          <p:cNvPr id="34" name="Object 11"/>
          <p:cNvGraphicFramePr>
            <a:graphicFrameLocks noChangeAspect="1"/>
          </p:cNvGraphicFramePr>
          <p:nvPr>
            <p:extLst>
              <p:ext uri="{D42A27DB-BD31-4B8C-83A1-F6EECF244321}">
                <p14:modId xmlns:p14="http://schemas.microsoft.com/office/powerpoint/2010/main" val="4166330917"/>
              </p:ext>
            </p:extLst>
          </p:nvPr>
        </p:nvGraphicFramePr>
        <p:xfrm>
          <a:off x="2952348" y="3851961"/>
          <a:ext cx="1009650" cy="381000"/>
        </p:xfrm>
        <a:graphic>
          <a:graphicData uri="http://schemas.openxmlformats.org/presentationml/2006/ole">
            <mc:AlternateContent xmlns:mc="http://schemas.openxmlformats.org/markup-compatibility/2006">
              <mc:Choice xmlns:v="urn:schemas-microsoft-com:vml" Requires="v">
                <p:oleObj spid="_x0000_s4107" name="Equation" r:id="rId10" imgW="16154400" imgH="4876800" progId="Equation.DSMT4">
                  <p:embed/>
                </p:oleObj>
              </mc:Choice>
              <mc:Fallback>
                <p:oleObj name="Equation" r:id="rId10" imgW="16154400" imgH="4876800" progId="Equation.DSMT4">
                  <p:embed/>
                  <p:pic>
                    <p:nvPicPr>
                      <p:cNvPr id="21" name="Object 11"/>
                      <p:cNvPicPr>
                        <a:picLocks noChangeAspect="1"/>
                      </p:cNvPicPr>
                      <p:nvPr/>
                    </p:nvPicPr>
                    <p:blipFill>
                      <a:blip r:embed="rId11"/>
                      <a:stretch>
                        <a:fillRect/>
                      </a:stretch>
                    </p:blipFill>
                    <p:spPr>
                      <a:xfrm>
                        <a:off x="2952348" y="3851961"/>
                        <a:ext cx="1009650" cy="381000"/>
                      </a:xfrm>
                      <a:prstGeom prst="rect">
                        <a:avLst/>
                      </a:prstGeom>
                      <a:noFill/>
                      <a:ln w="9525">
                        <a:noFill/>
                      </a:ln>
                    </p:spPr>
                  </p:pic>
                </p:oleObj>
              </mc:Fallback>
            </mc:AlternateContent>
          </a:graphicData>
        </a:graphic>
      </p:graphicFrame>
      <p:sp>
        <p:nvSpPr>
          <p:cNvPr id="36" name="Freeform 14"/>
          <p:cNvSpPr>
            <a:spLocks noEditPoints="1"/>
          </p:cNvSpPr>
          <p:nvPr/>
        </p:nvSpPr>
        <p:spPr bwMode="auto">
          <a:xfrm>
            <a:off x="882215" y="3821380"/>
            <a:ext cx="420740" cy="401981"/>
          </a:xfrm>
          <a:custGeom>
            <a:avLst/>
            <a:gdLst>
              <a:gd name="T0" fmla="*/ 129 w 130"/>
              <a:gd name="T1" fmla="*/ 46 h 124"/>
              <a:gd name="T2" fmla="*/ 121 w 130"/>
              <a:gd name="T3" fmla="*/ 40 h 124"/>
              <a:gd name="T4" fmla="*/ 88 w 130"/>
              <a:gd name="T5" fmla="*/ 35 h 124"/>
              <a:gd name="T6" fmla="*/ 73 w 130"/>
              <a:gd name="T7" fmla="*/ 5 h 124"/>
              <a:gd name="T8" fmla="*/ 65 w 130"/>
              <a:gd name="T9" fmla="*/ 0 h 124"/>
              <a:gd name="T10" fmla="*/ 57 w 130"/>
              <a:gd name="T11" fmla="*/ 5 h 124"/>
              <a:gd name="T12" fmla="*/ 42 w 130"/>
              <a:gd name="T13" fmla="*/ 35 h 124"/>
              <a:gd name="T14" fmla="*/ 9 w 130"/>
              <a:gd name="T15" fmla="*/ 40 h 124"/>
              <a:gd name="T16" fmla="*/ 1 w 130"/>
              <a:gd name="T17" fmla="*/ 46 h 124"/>
              <a:gd name="T18" fmla="*/ 4 w 130"/>
              <a:gd name="T19" fmla="*/ 55 h 124"/>
              <a:gd name="T20" fmla="*/ 28 w 130"/>
              <a:gd name="T21" fmla="*/ 80 h 124"/>
              <a:gd name="T22" fmla="*/ 22 w 130"/>
              <a:gd name="T23" fmla="*/ 114 h 124"/>
              <a:gd name="T24" fmla="*/ 26 w 130"/>
              <a:gd name="T25" fmla="*/ 122 h 124"/>
              <a:gd name="T26" fmla="*/ 31 w 130"/>
              <a:gd name="T27" fmla="*/ 124 h 124"/>
              <a:gd name="T28" fmla="*/ 36 w 130"/>
              <a:gd name="T29" fmla="*/ 123 h 124"/>
              <a:gd name="T30" fmla="*/ 65 w 130"/>
              <a:gd name="T31" fmla="*/ 107 h 124"/>
              <a:gd name="T32" fmla="*/ 94 w 130"/>
              <a:gd name="T33" fmla="*/ 123 h 124"/>
              <a:gd name="T34" fmla="*/ 99 w 130"/>
              <a:gd name="T35" fmla="*/ 124 h 124"/>
              <a:gd name="T36" fmla="*/ 104 w 130"/>
              <a:gd name="T37" fmla="*/ 122 h 124"/>
              <a:gd name="T38" fmla="*/ 108 w 130"/>
              <a:gd name="T39" fmla="*/ 114 h 124"/>
              <a:gd name="T40" fmla="*/ 102 w 130"/>
              <a:gd name="T41" fmla="*/ 80 h 124"/>
              <a:gd name="T42" fmla="*/ 126 w 130"/>
              <a:gd name="T43" fmla="*/ 55 h 124"/>
              <a:gd name="T44" fmla="*/ 129 w 130"/>
              <a:gd name="T45" fmla="*/ 46 h 124"/>
              <a:gd name="T46" fmla="*/ 95 w 130"/>
              <a:gd name="T47" fmla="*/ 73 h 124"/>
              <a:gd name="T48" fmla="*/ 93 w 130"/>
              <a:gd name="T49" fmla="*/ 81 h 124"/>
              <a:gd name="T50" fmla="*/ 99 w 130"/>
              <a:gd name="T51" fmla="*/ 115 h 124"/>
              <a:gd name="T52" fmla="*/ 69 w 130"/>
              <a:gd name="T53" fmla="*/ 99 h 124"/>
              <a:gd name="T54" fmla="*/ 65 w 130"/>
              <a:gd name="T55" fmla="*/ 98 h 124"/>
              <a:gd name="T56" fmla="*/ 61 w 130"/>
              <a:gd name="T57" fmla="*/ 99 h 124"/>
              <a:gd name="T58" fmla="*/ 31 w 130"/>
              <a:gd name="T59" fmla="*/ 115 h 124"/>
              <a:gd name="T60" fmla="*/ 37 w 130"/>
              <a:gd name="T61" fmla="*/ 81 h 124"/>
              <a:gd name="T62" fmla="*/ 35 w 130"/>
              <a:gd name="T63" fmla="*/ 73 h 124"/>
              <a:gd name="T64" fmla="*/ 10 w 130"/>
              <a:gd name="T65" fmla="*/ 49 h 124"/>
              <a:gd name="T66" fmla="*/ 44 w 130"/>
              <a:gd name="T67" fmla="*/ 44 h 124"/>
              <a:gd name="T68" fmla="*/ 51 w 130"/>
              <a:gd name="T69" fmla="*/ 39 h 124"/>
              <a:gd name="T70" fmla="*/ 65 w 130"/>
              <a:gd name="T71" fmla="*/ 9 h 124"/>
              <a:gd name="T72" fmla="*/ 79 w 130"/>
              <a:gd name="T73" fmla="*/ 39 h 124"/>
              <a:gd name="T74" fmla="*/ 86 w 130"/>
              <a:gd name="T75" fmla="*/ 44 h 124"/>
              <a:gd name="T76" fmla="*/ 120 w 130"/>
              <a:gd name="T77" fmla="*/ 49 h 124"/>
              <a:gd name="T78" fmla="*/ 95 w 130"/>
              <a:gd name="T79" fmla="*/ 7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4">
                <a:moveTo>
                  <a:pt x="129" y="46"/>
                </a:moveTo>
                <a:cubicBezTo>
                  <a:pt x="127" y="43"/>
                  <a:pt x="125" y="41"/>
                  <a:pt x="121" y="40"/>
                </a:cubicBezTo>
                <a:cubicBezTo>
                  <a:pt x="88" y="35"/>
                  <a:pt x="88" y="35"/>
                  <a:pt x="88" y="35"/>
                </a:cubicBezTo>
                <a:cubicBezTo>
                  <a:pt x="73" y="5"/>
                  <a:pt x="73" y="5"/>
                  <a:pt x="73" y="5"/>
                </a:cubicBezTo>
                <a:cubicBezTo>
                  <a:pt x="72" y="2"/>
                  <a:pt x="69" y="0"/>
                  <a:pt x="65" y="0"/>
                </a:cubicBezTo>
                <a:cubicBezTo>
                  <a:pt x="61" y="0"/>
                  <a:pt x="58" y="2"/>
                  <a:pt x="57" y="5"/>
                </a:cubicBezTo>
                <a:cubicBezTo>
                  <a:pt x="42" y="35"/>
                  <a:pt x="42" y="35"/>
                  <a:pt x="42" y="35"/>
                </a:cubicBezTo>
                <a:cubicBezTo>
                  <a:pt x="9" y="40"/>
                  <a:pt x="9" y="40"/>
                  <a:pt x="9" y="40"/>
                </a:cubicBezTo>
                <a:cubicBezTo>
                  <a:pt x="5" y="41"/>
                  <a:pt x="3" y="43"/>
                  <a:pt x="1" y="46"/>
                </a:cubicBezTo>
                <a:cubicBezTo>
                  <a:pt x="0" y="49"/>
                  <a:pt x="1" y="53"/>
                  <a:pt x="4" y="55"/>
                </a:cubicBezTo>
                <a:cubicBezTo>
                  <a:pt x="28" y="80"/>
                  <a:pt x="28" y="80"/>
                  <a:pt x="28" y="80"/>
                </a:cubicBezTo>
                <a:cubicBezTo>
                  <a:pt x="22" y="114"/>
                  <a:pt x="22" y="114"/>
                  <a:pt x="22" y="114"/>
                </a:cubicBezTo>
                <a:cubicBezTo>
                  <a:pt x="22" y="117"/>
                  <a:pt x="23" y="120"/>
                  <a:pt x="26" y="122"/>
                </a:cubicBezTo>
                <a:cubicBezTo>
                  <a:pt x="28" y="123"/>
                  <a:pt x="30" y="124"/>
                  <a:pt x="31" y="124"/>
                </a:cubicBezTo>
                <a:cubicBezTo>
                  <a:pt x="33" y="124"/>
                  <a:pt x="35" y="124"/>
                  <a:pt x="36" y="123"/>
                </a:cubicBezTo>
                <a:cubicBezTo>
                  <a:pt x="65" y="107"/>
                  <a:pt x="65" y="107"/>
                  <a:pt x="65" y="107"/>
                </a:cubicBezTo>
                <a:cubicBezTo>
                  <a:pt x="94" y="123"/>
                  <a:pt x="94" y="123"/>
                  <a:pt x="94" y="123"/>
                </a:cubicBezTo>
                <a:cubicBezTo>
                  <a:pt x="95" y="124"/>
                  <a:pt x="97" y="124"/>
                  <a:pt x="99" y="124"/>
                </a:cubicBezTo>
                <a:cubicBezTo>
                  <a:pt x="100" y="124"/>
                  <a:pt x="102" y="123"/>
                  <a:pt x="104" y="122"/>
                </a:cubicBezTo>
                <a:cubicBezTo>
                  <a:pt x="107" y="120"/>
                  <a:pt x="108" y="117"/>
                  <a:pt x="108" y="114"/>
                </a:cubicBezTo>
                <a:cubicBezTo>
                  <a:pt x="102" y="80"/>
                  <a:pt x="102" y="80"/>
                  <a:pt x="102" y="80"/>
                </a:cubicBezTo>
                <a:cubicBezTo>
                  <a:pt x="126" y="55"/>
                  <a:pt x="126" y="55"/>
                  <a:pt x="126" y="55"/>
                </a:cubicBezTo>
                <a:cubicBezTo>
                  <a:pt x="129" y="53"/>
                  <a:pt x="130" y="49"/>
                  <a:pt x="129" y="46"/>
                </a:cubicBezTo>
                <a:close/>
                <a:moveTo>
                  <a:pt x="95" y="73"/>
                </a:moveTo>
                <a:cubicBezTo>
                  <a:pt x="93" y="75"/>
                  <a:pt x="92" y="78"/>
                  <a:pt x="93" y="81"/>
                </a:cubicBezTo>
                <a:cubicBezTo>
                  <a:pt x="99" y="115"/>
                  <a:pt x="99" y="115"/>
                  <a:pt x="99" y="115"/>
                </a:cubicBezTo>
                <a:cubicBezTo>
                  <a:pt x="69" y="99"/>
                  <a:pt x="69" y="99"/>
                  <a:pt x="69" y="99"/>
                </a:cubicBezTo>
                <a:cubicBezTo>
                  <a:pt x="68" y="99"/>
                  <a:pt x="67" y="98"/>
                  <a:pt x="65" y="98"/>
                </a:cubicBezTo>
                <a:cubicBezTo>
                  <a:pt x="63" y="98"/>
                  <a:pt x="62" y="99"/>
                  <a:pt x="61" y="99"/>
                </a:cubicBezTo>
                <a:cubicBezTo>
                  <a:pt x="31" y="115"/>
                  <a:pt x="31" y="115"/>
                  <a:pt x="31" y="115"/>
                </a:cubicBezTo>
                <a:cubicBezTo>
                  <a:pt x="37" y="81"/>
                  <a:pt x="37" y="81"/>
                  <a:pt x="37" y="81"/>
                </a:cubicBezTo>
                <a:cubicBezTo>
                  <a:pt x="38" y="78"/>
                  <a:pt x="37" y="75"/>
                  <a:pt x="35" y="73"/>
                </a:cubicBezTo>
                <a:cubicBezTo>
                  <a:pt x="10" y="49"/>
                  <a:pt x="10" y="49"/>
                  <a:pt x="10" y="49"/>
                </a:cubicBezTo>
                <a:cubicBezTo>
                  <a:pt x="44" y="44"/>
                  <a:pt x="44" y="44"/>
                  <a:pt x="44" y="44"/>
                </a:cubicBezTo>
                <a:cubicBezTo>
                  <a:pt x="47" y="44"/>
                  <a:pt x="49" y="42"/>
                  <a:pt x="51" y="39"/>
                </a:cubicBezTo>
                <a:cubicBezTo>
                  <a:pt x="65" y="9"/>
                  <a:pt x="65" y="9"/>
                  <a:pt x="65" y="9"/>
                </a:cubicBezTo>
                <a:cubicBezTo>
                  <a:pt x="79" y="39"/>
                  <a:pt x="79" y="39"/>
                  <a:pt x="79" y="39"/>
                </a:cubicBezTo>
                <a:cubicBezTo>
                  <a:pt x="81" y="42"/>
                  <a:pt x="83" y="44"/>
                  <a:pt x="86" y="44"/>
                </a:cubicBezTo>
                <a:cubicBezTo>
                  <a:pt x="120" y="49"/>
                  <a:pt x="120" y="49"/>
                  <a:pt x="120" y="49"/>
                </a:cubicBezTo>
                <a:lnTo>
                  <a:pt x="95" y="73"/>
                </a:lnTo>
                <a:close/>
              </a:path>
            </a:pathLst>
          </a:custGeom>
          <a:solidFill>
            <a:srgbClr val="2AB695"/>
          </a:solidFill>
          <a:ln>
            <a:noFill/>
          </a:ln>
        </p:spPr>
        <p:txBody>
          <a:bodyPr vert="horz" wrap="square" lIns="91440" tIns="45720" rIns="91440" bIns="45720" numCol="1" anchor="t" anchorCtr="0" compatLnSpc="1"/>
          <a:lstStyle/>
          <a:p>
            <a:endParaRPr lang="id-ID"/>
          </a:p>
        </p:txBody>
      </p:sp>
      <p:sp>
        <p:nvSpPr>
          <p:cNvPr id="43" name="TextBox 40"/>
          <p:cNvSpPr txBox="1"/>
          <p:nvPr/>
        </p:nvSpPr>
        <p:spPr>
          <a:xfrm>
            <a:off x="1271205" y="5224234"/>
            <a:ext cx="3827443" cy="400110"/>
          </a:xfrm>
          <a:prstGeom prst="rect">
            <a:avLst/>
          </a:prstGeom>
          <a:noFill/>
        </p:spPr>
        <p:txBody>
          <a:bodyPr wrap="square" rtlCol="0">
            <a:spAutoFit/>
          </a:bodyPr>
          <a:lstStyle/>
          <a:p>
            <a:r>
              <a:rPr lang="zh-CN" altLang="en-US" sz="2000" b="1" dirty="0">
                <a:solidFill>
                  <a:srgbClr val="FF9900"/>
                </a:solidFill>
                <a:latin typeface="微软雅黑" panose="020B0503020204020204" pitchFamily="34" charset="-122"/>
                <a:ea typeface="微软雅黑" panose="020B0503020204020204" pitchFamily="34" charset="-122"/>
              </a:rPr>
              <a:t>最佳收敛因子： 迭代次数最少</a:t>
            </a:r>
          </a:p>
        </p:txBody>
      </p:sp>
      <p:graphicFrame>
        <p:nvGraphicFramePr>
          <p:cNvPr id="44" name="对象 43"/>
          <p:cNvGraphicFramePr>
            <a:graphicFrameLocks noChangeAspect="1"/>
          </p:cNvGraphicFramePr>
          <p:nvPr>
            <p:extLst>
              <p:ext uri="{D42A27DB-BD31-4B8C-83A1-F6EECF244321}">
                <p14:modId xmlns:p14="http://schemas.microsoft.com/office/powerpoint/2010/main" val="2919291917"/>
              </p:ext>
            </p:extLst>
          </p:nvPr>
        </p:nvGraphicFramePr>
        <p:xfrm>
          <a:off x="1421222" y="5694995"/>
          <a:ext cx="2184500" cy="667988"/>
        </p:xfrm>
        <a:graphic>
          <a:graphicData uri="http://schemas.openxmlformats.org/presentationml/2006/ole">
            <mc:AlternateContent xmlns:mc="http://schemas.openxmlformats.org/markup-compatibility/2006">
              <mc:Choice xmlns:v="urn:schemas-microsoft-com:vml" Requires="v">
                <p:oleObj spid="_x0000_s4108" name="Equation" r:id="rId12" imgW="36880800" imgH="11277600" progId="Equation.DSMT4">
                  <p:embed/>
                </p:oleObj>
              </mc:Choice>
              <mc:Fallback>
                <p:oleObj name="Equation" r:id="rId12" imgW="36880800" imgH="11277600" progId="Equation.DSMT4">
                  <p:embed/>
                  <p:pic>
                    <p:nvPicPr>
                      <p:cNvPr id="24" name="对象 23"/>
                      <p:cNvPicPr>
                        <a:picLocks noChangeAspect="1"/>
                      </p:cNvPicPr>
                      <p:nvPr/>
                    </p:nvPicPr>
                    <p:blipFill>
                      <a:blip r:embed="rId13"/>
                      <a:stretch>
                        <a:fillRect/>
                      </a:stretch>
                    </p:blipFill>
                    <p:spPr>
                      <a:xfrm>
                        <a:off x="1421222" y="5694995"/>
                        <a:ext cx="2184500" cy="667988"/>
                      </a:xfrm>
                      <a:prstGeom prst="rect">
                        <a:avLst/>
                      </a:prstGeom>
                      <a:noFill/>
                      <a:ln w="9525">
                        <a:noFill/>
                      </a:ln>
                    </p:spPr>
                  </p:pic>
                </p:oleObj>
              </mc:Fallback>
            </mc:AlternateContent>
          </a:graphicData>
        </a:graphic>
      </p:graphicFrame>
      <p:sp>
        <p:nvSpPr>
          <p:cNvPr id="46" name="TextBox 60"/>
          <p:cNvSpPr txBox="1"/>
          <p:nvPr/>
        </p:nvSpPr>
        <p:spPr>
          <a:xfrm>
            <a:off x="8679000" y="4796854"/>
            <a:ext cx="2782868" cy="461665"/>
          </a:xfrm>
          <a:prstGeom prst="rect">
            <a:avLst/>
          </a:prstGeom>
          <a:noFill/>
        </p:spPr>
        <p:txBody>
          <a:bodyPr wrap="square" rtlCol="0">
            <a:spAutoFit/>
          </a:bodyPr>
          <a:lstStyle/>
          <a:p>
            <a:r>
              <a:rPr lang="zh-CN" altLang="en-US" sz="2400" b="1" dirty="0">
                <a:solidFill>
                  <a:srgbClr val="984E96"/>
                </a:solidFill>
                <a:latin typeface="微软雅黑" panose="020B0503020204020204" pitchFamily="34" charset="-122"/>
                <a:ea typeface="微软雅黑" panose="020B0503020204020204" pitchFamily="34" charset="-122"/>
              </a:rPr>
              <a:t>迭代收敛条件</a:t>
            </a:r>
          </a:p>
        </p:txBody>
      </p:sp>
      <p:graphicFrame>
        <p:nvGraphicFramePr>
          <p:cNvPr id="47" name="Object 8"/>
          <p:cNvGraphicFramePr>
            <a:graphicFrameLocks noChangeAspect="1"/>
          </p:cNvGraphicFramePr>
          <p:nvPr>
            <p:extLst>
              <p:ext uri="{D42A27DB-BD31-4B8C-83A1-F6EECF244321}">
                <p14:modId xmlns:p14="http://schemas.microsoft.com/office/powerpoint/2010/main" val="2354111398"/>
              </p:ext>
            </p:extLst>
          </p:nvPr>
        </p:nvGraphicFramePr>
        <p:xfrm>
          <a:off x="8798127" y="5393823"/>
          <a:ext cx="2258650" cy="577109"/>
        </p:xfrm>
        <a:graphic>
          <a:graphicData uri="http://schemas.openxmlformats.org/presentationml/2006/ole">
            <mc:AlternateContent xmlns:mc="http://schemas.openxmlformats.org/markup-compatibility/2006">
              <mc:Choice xmlns:v="urn:schemas-microsoft-com:vml" Requires="v">
                <p:oleObj spid="_x0000_s4109" name="Equation" r:id="rId14" imgW="28651200" imgH="7315200" progId="Equation.DSMT4">
                  <p:embed/>
                </p:oleObj>
              </mc:Choice>
              <mc:Fallback>
                <p:oleObj name="Equation" r:id="rId14" imgW="28651200" imgH="7315200" progId="Equation.DSMT4">
                  <p:embed/>
                  <p:pic>
                    <p:nvPicPr>
                      <p:cNvPr id="39" name="Object 8"/>
                      <p:cNvPicPr>
                        <a:picLocks noChangeAspect="1"/>
                      </p:cNvPicPr>
                      <p:nvPr/>
                    </p:nvPicPr>
                    <p:blipFill>
                      <a:blip r:embed="rId15"/>
                      <a:stretch>
                        <a:fillRect/>
                      </a:stretch>
                    </p:blipFill>
                    <p:spPr>
                      <a:xfrm>
                        <a:off x="8798127" y="5393823"/>
                        <a:ext cx="2258650" cy="577109"/>
                      </a:xfrm>
                      <a:prstGeom prst="rect">
                        <a:avLst/>
                      </a:prstGeom>
                      <a:noFill/>
                      <a:ln w="9525">
                        <a:noFill/>
                      </a:ln>
                    </p:spPr>
                  </p:pic>
                </p:oleObj>
              </mc:Fallback>
            </mc:AlternateContent>
          </a:graphicData>
        </a:graphic>
      </p:graphicFrame>
      <p:grpSp>
        <p:nvGrpSpPr>
          <p:cNvPr id="48" name="组合 43"/>
          <p:cNvGrpSpPr/>
          <p:nvPr/>
        </p:nvGrpSpPr>
        <p:grpSpPr>
          <a:xfrm>
            <a:off x="8175138" y="4834558"/>
            <a:ext cx="405880" cy="386256"/>
            <a:chOff x="833744" y="3434209"/>
            <a:chExt cx="405880" cy="386256"/>
          </a:xfrm>
        </p:grpSpPr>
        <p:sp>
          <p:nvSpPr>
            <p:cNvPr id="49" name="Oval 239"/>
            <p:cNvSpPr/>
            <p:nvPr/>
          </p:nvSpPr>
          <p:spPr>
            <a:xfrm>
              <a:off x="835975" y="3434209"/>
              <a:ext cx="386256" cy="386256"/>
            </a:xfrm>
            <a:prstGeom prst="ellipse">
              <a:avLst/>
            </a:prstGeom>
            <a:solidFill>
              <a:srgbClr val="984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0" name="TextBox 59"/>
            <p:cNvSpPr txBox="1"/>
            <p:nvPr/>
          </p:nvSpPr>
          <p:spPr>
            <a:xfrm>
              <a:off x="833744" y="3474914"/>
              <a:ext cx="405880" cy="307777"/>
            </a:xfrm>
            <a:prstGeom prst="rect">
              <a:avLst/>
            </a:prstGeom>
            <a:noFill/>
          </p:spPr>
          <p:txBody>
            <a:bodyPr wrap="none" rtlCol="0">
              <a:spAutoFit/>
            </a:bodyPr>
            <a:lstStyle/>
            <a:p>
              <a:r>
                <a:rPr lang="id-ID" sz="1400" b="1" dirty="0">
                  <a:solidFill>
                    <a:schemeClr val="bg1"/>
                  </a:solidFill>
                  <a:latin typeface="微软雅黑" panose="020B0503020204020204" pitchFamily="34" charset="-122"/>
                </a:rPr>
                <a:t>0</a:t>
              </a:r>
              <a:r>
                <a:rPr lang="en-US" sz="1400" b="1" dirty="0">
                  <a:solidFill>
                    <a:schemeClr val="bg1"/>
                  </a:solidFill>
                  <a:latin typeface="微软雅黑" panose="020B0503020204020204" pitchFamily="34" charset="-122"/>
                </a:rPr>
                <a:t>4</a:t>
              </a:r>
              <a:endParaRPr lang="id-ID" sz="1400" b="1" dirty="0">
                <a:solidFill>
                  <a:schemeClr val="bg1"/>
                </a:solidFill>
                <a:latin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5" grpId="0" animBg="1"/>
      <p:bldP spid="4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10</a:t>
            </a:fld>
            <a:endParaRPr lang="id-ID" sz="1200" dirty="0"/>
          </a:p>
        </p:txBody>
      </p:sp>
      <p:pic>
        <p:nvPicPr>
          <p:cNvPr id="3" name="Picture 16"/>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110230" y="2511425"/>
            <a:ext cx="2781300" cy="95250"/>
          </a:xfrm>
          <a:prstGeom prst="rect">
            <a:avLst/>
          </a:prstGeom>
          <a:noFill/>
          <a:ln w="9525">
            <a:noFill/>
            <a:miter lim="800000"/>
            <a:headEnd/>
            <a:tailEnd/>
          </a:ln>
          <a:effectLst/>
        </p:spPr>
      </p:pic>
      <p:grpSp>
        <p:nvGrpSpPr>
          <p:cNvPr id="4" name="组合 43"/>
          <p:cNvGrpSpPr/>
          <p:nvPr/>
        </p:nvGrpSpPr>
        <p:grpSpPr>
          <a:xfrm>
            <a:off x="675918" y="1024345"/>
            <a:ext cx="405880" cy="386256"/>
            <a:chOff x="833744" y="3434209"/>
            <a:chExt cx="405880" cy="386256"/>
          </a:xfrm>
        </p:grpSpPr>
        <p:sp>
          <p:nvSpPr>
            <p:cNvPr id="5" name="Oval 239"/>
            <p:cNvSpPr/>
            <p:nvPr/>
          </p:nvSpPr>
          <p:spPr>
            <a:xfrm>
              <a:off x="835975" y="3434209"/>
              <a:ext cx="386256" cy="386256"/>
            </a:xfrm>
            <a:prstGeom prst="ellipse">
              <a:avLst/>
            </a:prstGeom>
            <a:solidFill>
              <a:srgbClr val="984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TextBox 15"/>
            <p:cNvSpPr txBox="1"/>
            <p:nvPr/>
          </p:nvSpPr>
          <p:spPr>
            <a:xfrm>
              <a:off x="833744" y="3474914"/>
              <a:ext cx="405880" cy="307777"/>
            </a:xfrm>
            <a:prstGeom prst="rect">
              <a:avLst/>
            </a:prstGeom>
            <a:noFill/>
          </p:spPr>
          <p:txBody>
            <a:bodyPr wrap="none" rtlCol="0">
              <a:spAutoFit/>
            </a:bodyPr>
            <a:lstStyle/>
            <a:p>
              <a:r>
                <a:rPr lang="id-ID" sz="1400" b="1" dirty="0">
                  <a:solidFill>
                    <a:schemeClr val="bg1"/>
                  </a:solidFill>
                  <a:latin typeface="微软雅黑" panose="020B0503020204020204" pitchFamily="34" charset="-122"/>
                </a:rPr>
                <a:t>0</a:t>
              </a:r>
              <a:r>
                <a:rPr lang="en-US" sz="1400" b="1" dirty="0">
                  <a:solidFill>
                    <a:schemeClr val="bg1"/>
                  </a:solidFill>
                  <a:latin typeface="微软雅黑" panose="020B0503020204020204" pitchFamily="34" charset="-122"/>
                </a:rPr>
                <a:t>5</a:t>
              </a:r>
              <a:endParaRPr lang="id-ID" sz="1400" b="1" dirty="0">
                <a:solidFill>
                  <a:schemeClr val="bg1"/>
                </a:solidFill>
                <a:latin typeface="微软雅黑" panose="020B0503020204020204" pitchFamily="34" charset="-122"/>
              </a:endParaRPr>
            </a:p>
          </p:txBody>
        </p:sp>
      </p:grpSp>
      <p:sp>
        <p:nvSpPr>
          <p:cNvPr id="7" name="TextBox 16"/>
          <p:cNvSpPr txBox="1"/>
          <p:nvPr/>
        </p:nvSpPr>
        <p:spPr>
          <a:xfrm>
            <a:off x="1170007" y="1003460"/>
            <a:ext cx="2782868" cy="461665"/>
          </a:xfrm>
          <a:prstGeom prst="rect">
            <a:avLst/>
          </a:prstGeom>
          <a:noFill/>
        </p:spPr>
        <p:txBody>
          <a:bodyPr wrap="square" rtlCol="0">
            <a:spAutoFit/>
          </a:bodyPr>
          <a:lstStyle/>
          <a:p>
            <a:r>
              <a:rPr lang="zh-CN" altLang="en-US" sz="2400" b="1" dirty="0">
                <a:solidFill>
                  <a:srgbClr val="984E96"/>
                </a:solidFill>
                <a:latin typeface="微软雅黑" panose="020B0503020204020204" pitchFamily="34" charset="-122"/>
                <a:ea typeface="微软雅黑" panose="020B0503020204020204" pitchFamily="34" charset="-122"/>
              </a:rPr>
              <a:t>程序框图</a:t>
            </a:r>
          </a:p>
        </p:txBody>
      </p:sp>
      <p:grpSp>
        <p:nvGrpSpPr>
          <p:cNvPr id="8" name="组合 7"/>
          <p:cNvGrpSpPr/>
          <p:nvPr/>
        </p:nvGrpSpPr>
        <p:grpSpPr>
          <a:xfrm>
            <a:off x="5140389" y="1042434"/>
            <a:ext cx="1747779" cy="646331"/>
            <a:chOff x="6493397" y="1713052"/>
            <a:chExt cx="1747779" cy="646331"/>
          </a:xfrm>
        </p:grpSpPr>
        <p:sp>
          <p:nvSpPr>
            <p:cNvPr id="9" name="TextBox 39"/>
            <p:cNvSpPr txBox="1"/>
            <p:nvPr/>
          </p:nvSpPr>
          <p:spPr>
            <a:xfrm>
              <a:off x="6574422" y="1713052"/>
              <a:ext cx="1666754"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给定边值，及场域内初始值</a:t>
              </a:r>
            </a:p>
          </p:txBody>
        </p:sp>
        <p:sp>
          <p:nvSpPr>
            <p:cNvPr id="10" name="矩形 9"/>
            <p:cNvSpPr/>
            <p:nvPr/>
          </p:nvSpPr>
          <p:spPr>
            <a:xfrm>
              <a:off x="6493397" y="1747777"/>
              <a:ext cx="1713053" cy="590309"/>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4893825" y="1991558"/>
            <a:ext cx="2997843" cy="439838"/>
            <a:chOff x="6286983" y="2708476"/>
            <a:chExt cx="2997843" cy="439838"/>
          </a:xfrm>
        </p:grpSpPr>
        <p:sp>
          <p:nvSpPr>
            <p:cNvPr id="12" name="TextBox 42"/>
            <p:cNvSpPr txBox="1"/>
            <p:nvPr/>
          </p:nvSpPr>
          <p:spPr>
            <a:xfrm>
              <a:off x="6286983" y="2721979"/>
              <a:ext cx="299784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迭代次数计数：</a:t>
              </a:r>
              <a:r>
                <a:rPr lang="en-US" altLang="zh-CN" dirty="0">
                  <a:latin typeface="微软雅黑" panose="020B0503020204020204" pitchFamily="34" charset="-122"/>
                  <a:ea typeface="微软雅黑" panose="020B0503020204020204" pitchFamily="34" charset="-122"/>
                </a:rPr>
                <a:t>n=0</a:t>
              </a:r>
              <a:endParaRPr lang="zh-CN" altLang="en-US" dirty="0">
                <a:latin typeface="微软雅黑" panose="020B0503020204020204" pitchFamily="34" charset="-122"/>
                <a:ea typeface="微软雅黑" panose="020B0503020204020204" pitchFamily="34" charset="-122"/>
              </a:endParaRPr>
            </a:p>
          </p:txBody>
        </p:sp>
        <p:sp>
          <p:nvSpPr>
            <p:cNvPr id="13" name="矩形 12"/>
            <p:cNvSpPr/>
            <p:nvPr/>
          </p:nvSpPr>
          <p:spPr>
            <a:xfrm>
              <a:off x="6321706" y="2708476"/>
              <a:ext cx="2208836" cy="43983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4208986" y="4399711"/>
            <a:ext cx="3727048" cy="1481559"/>
            <a:chOff x="5578995" y="4318683"/>
            <a:chExt cx="3727048" cy="1481559"/>
          </a:xfrm>
        </p:grpSpPr>
        <p:sp>
          <p:nvSpPr>
            <p:cNvPr id="15" name="TextBox 46"/>
            <p:cNvSpPr txBox="1"/>
            <p:nvPr/>
          </p:nvSpPr>
          <p:spPr>
            <a:xfrm>
              <a:off x="6432391" y="4634936"/>
              <a:ext cx="2278891" cy="877163"/>
            </a:xfrm>
            <a:prstGeom prst="rect">
              <a:avLst/>
            </a:prstGeom>
            <a:noFill/>
          </p:spPr>
          <p:txBody>
            <a:bodyPr wrap="square" rtlCol="0">
              <a:spAutoFit/>
            </a:bodyPr>
            <a:lstStyle/>
            <a:p>
              <a:r>
                <a:rPr lang="zh-CN" altLang="en-US" sz="1700" dirty="0">
                  <a:latin typeface="微软雅黑" panose="020B0503020204020204" pitchFamily="34" charset="-122"/>
                  <a:ea typeface="微软雅黑" panose="020B0503020204020204" pitchFamily="34" charset="-122"/>
                </a:rPr>
                <a:t>所有内结点相邻两次迭代值的相对误差是否小于收敛条件</a:t>
              </a:r>
              <a:r>
                <a:rPr lang="en-US" altLang="zh-CN" sz="1700" dirty="0">
                  <a:latin typeface="微软雅黑" panose="020B0503020204020204" pitchFamily="34" charset="-122"/>
                  <a:ea typeface="微软雅黑" panose="020B0503020204020204" pitchFamily="34" charset="-122"/>
                </a:rPr>
                <a:t>10</a:t>
              </a:r>
              <a:r>
                <a:rPr lang="en-US" altLang="zh-CN" sz="1700" baseline="30000" dirty="0">
                  <a:latin typeface="微软雅黑" panose="020B0503020204020204" pitchFamily="34" charset="-122"/>
                  <a:ea typeface="微软雅黑" panose="020B0503020204020204" pitchFamily="34" charset="-122"/>
                </a:rPr>
                <a:t>-3</a:t>
              </a:r>
              <a:endParaRPr lang="zh-CN" altLang="en-US" sz="1700" baseline="30000" dirty="0">
                <a:latin typeface="微软雅黑" panose="020B0503020204020204" pitchFamily="34" charset="-122"/>
                <a:ea typeface="微软雅黑" panose="020B0503020204020204" pitchFamily="34" charset="-122"/>
              </a:endParaRPr>
            </a:p>
          </p:txBody>
        </p:sp>
        <p:sp>
          <p:nvSpPr>
            <p:cNvPr id="16" name="菱形 15"/>
            <p:cNvSpPr/>
            <p:nvPr/>
          </p:nvSpPr>
          <p:spPr>
            <a:xfrm>
              <a:off x="5578995" y="4318683"/>
              <a:ext cx="3727048" cy="1481559"/>
            </a:xfrm>
            <a:prstGeom prst="diamond">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4943984" y="6196922"/>
            <a:ext cx="2529070" cy="648261"/>
            <a:chOff x="6395014" y="5860647"/>
            <a:chExt cx="2529070" cy="648261"/>
          </a:xfrm>
        </p:grpSpPr>
        <p:sp>
          <p:nvSpPr>
            <p:cNvPr id="18" name="矩形 17"/>
            <p:cNvSpPr/>
            <p:nvPr/>
          </p:nvSpPr>
          <p:spPr>
            <a:xfrm>
              <a:off x="6395014" y="5860647"/>
              <a:ext cx="2471194" cy="62117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47"/>
            <p:cNvSpPr txBox="1"/>
            <p:nvPr/>
          </p:nvSpPr>
          <p:spPr>
            <a:xfrm>
              <a:off x="6452889" y="5862577"/>
              <a:ext cx="2471195"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输出迭代次数</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及待求内结点数值解</a:t>
              </a:r>
            </a:p>
          </p:txBody>
        </p:sp>
      </p:grpSp>
      <p:pic>
        <p:nvPicPr>
          <p:cNvPr id="22" name="Picture 8"/>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rot="5400000">
            <a:off x="5892403" y="1781391"/>
            <a:ext cx="311944" cy="95251"/>
          </a:xfrm>
          <a:prstGeom prst="rect">
            <a:avLst/>
          </a:prstGeom>
          <a:noFill/>
          <a:ln w="9525">
            <a:noFill/>
            <a:miter lim="800000"/>
            <a:headEnd/>
            <a:tailEnd/>
          </a:ln>
          <a:effectLst/>
        </p:spPr>
      </p:pic>
      <p:pic>
        <p:nvPicPr>
          <p:cNvPr id="23" name="Picture 8"/>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rot="5400000">
            <a:off x="5888593" y="3282307"/>
            <a:ext cx="311944" cy="95251"/>
          </a:xfrm>
          <a:prstGeom prst="rect">
            <a:avLst/>
          </a:prstGeom>
          <a:noFill/>
          <a:ln w="9525">
            <a:noFill/>
            <a:miter lim="800000"/>
            <a:headEnd/>
            <a:tailEnd/>
          </a:ln>
          <a:effectLst/>
        </p:spPr>
      </p:pic>
      <p:pic>
        <p:nvPicPr>
          <p:cNvPr id="24" name="Picture 8"/>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rot="5400000">
            <a:off x="5922883" y="4194369"/>
            <a:ext cx="311944" cy="95251"/>
          </a:xfrm>
          <a:prstGeom prst="rect">
            <a:avLst/>
          </a:prstGeom>
          <a:noFill/>
          <a:ln w="9525">
            <a:noFill/>
            <a:miter lim="800000"/>
            <a:headEnd/>
            <a:tailEnd/>
          </a:ln>
          <a:effectLst/>
        </p:spPr>
      </p:pic>
      <p:pic>
        <p:nvPicPr>
          <p:cNvPr id="25" name="Picture 8"/>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rot="5400000">
            <a:off x="5922883" y="5971445"/>
            <a:ext cx="311944" cy="95251"/>
          </a:xfrm>
          <a:prstGeom prst="rect">
            <a:avLst/>
          </a:prstGeom>
          <a:noFill/>
          <a:ln w="9525">
            <a:noFill/>
            <a:miter lim="800000"/>
            <a:headEnd/>
            <a:tailEnd/>
          </a:ln>
          <a:effectLst/>
        </p:spPr>
      </p:pic>
      <p:sp>
        <p:nvSpPr>
          <p:cNvPr id="26" name="TextBox 80"/>
          <p:cNvSpPr txBox="1"/>
          <p:nvPr/>
        </p:nvSpPr>
        <p:spPr>
          <a:xfrm>
            <a:off x="6165105" y="5798921"/>
            <a:ext cx="219919" cy="381964"/>
          </a:xfrm>
          <a:prstGeom prst="rect">
            <a:avLst/>
          </a:prstGeom>
          <a:noFill/>
        </p:spPr>
        <p:txBody>
          <a:bodyPr wrap="square" rtlCol="0">
            <a:spAutoFit/>
          </a:bodyPr>
          <a:lstStyle/>
          <a:p>
            <a:r>
              <a:rPr lang="zh-CN" altLang="en-US" dirty="0"/>
              <a:t>是</a:t>
            </a:r>
          </a:p>
        </p:txBody>
      </p:sp>
      <p:sp>
        <p:nvSpPr>
          <p:cNvPr id="27" name="TextBox 81"/>
          <p:cNvSpPr txBox="1"/>
          <p:nvPr/>
        </p:nvSpPr>
        <p:spPr>
          <a:xfrm>
            <a:off x="3630295" y="4696914"/>
            <a:ext cx="403185" cy="369332"/>
          </a:xfrm>
          <a:prstGeom prst="rect">
            <a:avLst/>
          </a:prstGeom>
          <a:noFill/>
        </p:spPr>
        <p:txBody>
          <a:bodyPr wrap="square" rtlCol="0">
            <a:spAutoFit/>
          </a:bodyPr>
          <a:lstStyle/>
          <a:p>
            <a:r>
              <a:rPr lang="zh-CN" altLang="en-US" dirty="0"/>
              <a:t>否</a:t>
            </a:r>
          </a:p>
        </p:txBody>
      </p:sp>
      <p:grpSp>
        <p:nvGrpSpPr>
          <p:cNvPr id="28" name="组合 27"/>
          <p:cNvGrpSpPr/>
          <p:nvPr/>
        </p:nvGrpSpPr>
        <p:grpSpPr>
          <a:xfrm>
            <a:off x="5486058" y="2753922"/>
            <a:ext cx="3078870" cy="439838"/>
            <a:chOff x="6321706" y="2708476"/>
            <a:chExt cx="3078870" cy="439838"/>
          </a:xfrm>
        </p:grpSpPr>
        <p:sp>
          <p:nvSpPr>
            <p:cNvPr id="29" name="TextBox 85"/>
            <p:cNvSpPr txBox="1"/>
            <p:nvPr/>
          </p:nvSpPr>
          <p:spPr>
            <a:xfrm>
              <a:off x="6402733" y="2721979"/>
              <a:ext cx="299784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n=n+1</a:t>
              </a:r>
              <a:endParaRPr lang="zh-CN" altLang="en-US" dirty="0">
                <a:latin typeface="微软雅黑" panose="020B0503020204020204" pitchFamily="34" charset="-122"/>
                <a:ea typeface="微软雅黑" panose="020B0503020204020204" pitchFamily="34" charset="-122"/>
              </a:endParaRPr>
            </a:p>
          </p:txBody>
        </p:sp>
        <p:sp>
          <p:nvSpPr>
            <p:cNvPr id="30" name="矩形 29"/>
            <p:cNvSpPr/>
            <p:nvPr/>
          </p:nvSpPr>
          <p:spPr>
            <a:xfrm>
              <a:off x="6321706" y="2708476"/>
              <a:ext cx="1118887" cy="43983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5173548" y="3456617"/>
            <a:ext cx="2997843" cy="648258"/>
            <a:chOff x="6184740" y="3682679"/>
            <a:chExt cx="2997843" cy="648258"/>
          </a:xfrm>
        </p:grpSpPr>
        <p:sp>
          <p:nvSpPr>
            <p:cNvPr id="34" name="TextBox 45"/>
            <p:cNvSpPr txBox="1"/>
            <p:nvPr/>
          </p:nvSpPr>
          <p:spPr>
            <a:xfrm>
              <a:off x="6184740" y="3684606"/>
              <a:ext cx="2997843"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超松弛法迭代公</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式，计算</a:t>
              </a:r>
            </a:p>
          </p:txBody>
        </p:sp>
        <p:sp>
          <p:nvSpPr>
            <p:cNvPr id="35" name="矩形 34"/>
            <p:cNvSpPr/>
            <p:nvPr/>
          </p:nvSpPr>
          <p:spPr>
            <a:xfrm>
              <a:off x="6196314" y="3682679"/>
              <a:ext cx="1836516" cy="63467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33" name="Object 6"/>
          <p:cNvGraphicFramePr>
            <a:graphicFrameLocks noChangeAspect="1"/>
          </p:cNvGraphicFramePr>
          <p:nvPr/>
        </p:nvGraphicFramePr>
        <p:xfrm>
          <a:off x="6250609" y="3722870"/>
          <a:ext cx="491004" cy="350718"/>
        </p:xfrm>
        <a:graphic>
          <a:graphicData uri="http://schemas.openxmlformats.org/presentationml/2006/ole">
            <mc:AlternateContent xmlns:mc="http://schemas.openxmlformats.org/markup-compatibility/2006">
              <mc:Choice xmlns:v="urn:schemas-microsoft-com:vml" Requires="v">
                <p:oleObj spid="_x0000_s5124" name="Equation" r:id="rId5" imgW="7315200" imgH="6096000" progId="Equation.DSMT4">
                  <p:embed/>
                </p:oleObj>
              </mc:Choice>
              <mc:Fallback>
                <p:oleObj name="Equation" r:id="rId5" imgW="7315200" imgH="6096000" progId="Equation.DSMT4">
                  <p:embed/>
                  <p:pic>
                    <p:nvPicPr>
                      <p:cNvPr id="0" name="图片 5121"/>
                      <p:cNvPicPr>
                        <a:picLocks noChangeAspect="1"/>
                      </p:cNvPicPr>
                      <p:nvPr/>
                    </p:nvPicPr>
                    <p:blipFill>
                      <a:blip r:embed="rId6"/>
                      <a:stretch>
                        <a:fillRect/>
                      </a:stretch>
                    </p:blipFill>
                    <p:spPr>
                      <a:xfrm>
                        <a:off x="6250609" y="3722870"/>
                        <a:ext cx="491004" cy="350718"/>
                      </a:xfrm>
                      <a:prstGeom prst="rect">
                        <a:avLst/>
                      </a:prstGeom>
                      <a:noFill/>
                      <a:ln w="9525">
                        <a:noFill/>
                      </a:ln>
                    </p:spPr>
                  </p:pic>
                </p:oleObj>
              </mc:Fallback>
            </mc:AlternateContent>
          </a:graphicData>
        </a:graphic>
      </p:graphicFrame>
      <p:pic>
        <p:nvPicPr>
          <p:cNvPr id="36" name="Picture 8"/>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rot="5400000">
            <a:off x="5888593" y="2548883"/>
            <a:ext cx="311944" cy="95251"/>
          </a:xfrm>
          <a:prstGeom prst="rect">
            <a:avLst/>
          </a:prstGeom>
          <a:noFill/>
          <a:ln w="9525">
            <a:noFill/>
            <a:miter lim="800000"/>
            <a:headEnd/>
            <a:tailEnd/>
          </a:ln>
          <a:effectLst/>
        </p:spPr>
      </p:pic>
      <p:pic>
        <p:nvPicPr>
          <p:cNvPr id="37" name="Picture 10"/>
          <p:cNvPicPr>
            <a:picLocks noChangeAspect="1" noChangeArrowheads="1"/>
          </p:cNvPicPr>
          <p:nvPr/>
        </p:nvPicPr>
        <p:blipFill>
          <a:blip r:embed="rId7"/>
          <a:srcRect/>
          <a:stretch>
            <a:fillRect/>
          </a:stretch>
        </p:blipFill>
        <p:spPr bwMode="auto">
          <a:xfrm>
            <a:off x="3108008" y="5133975"/>
            <a:ext cx="1095375" cy="19050"/>
          </a:xfrm>
          <a:prstGeom prst="rect">
            <a:avLst/>
          </a:prstGeom>
          <a:noFill/>
          <a:ln w="9525">
            <a:noFill/>
            <a:miter lim="800000"/>
            <a:headEnd/>
            <a:tailEnd/>
          </a:ln>
          <a:effectLst/>
        </p:spPr>
      </p:pic>
      <p:pic>
        <p:nvPicPr>
          <p:cNvPr id="38" name="Picture 12"/>
          <p:cNvPicPr>
            <a:picLocks noChangeAspect="1" noChangeArrowheads="1"/>
          </p:cNvPicPr>
          <p:nvPr/>
        </p:nvPicPr>
        <p:blipFill>
          <a:blip r:embed="rId8"/>
          <a:srcRect/>
          <a:stretch>
            <a:fillRect/>
          </a:stretch>
        </p:blipFill>
        <p:spPr bwMode="auto">
          <a:xfrm>
            <a:off x="3114675" y="2541905"/>
            <a:ext cx="19050" cy="2609850"/>
          </a:xfrm>
          <a:prstGeom prst="rect">
            <a:avLst/>
          </a:prstGeom>
          <a:noFill/>
          <a:ln w="9525">
            <a:noFill/>
            <a:miter lim="800000"/>
            <a:headEnd/>
            <a:tailEnd/>
          </a:ln>
          <a:effectLst/>
        </p:spPr>
      </p:pic>
      <p:graphicFrame>
        <p:nvGraphicFramePr>
          <p:cNvPr id="40" name="对象 39"/>
          <p:cNvGraphicFramePr>
            <a:graphicFrameLocks noChangeAspect="1"/>
          </p:cNvGraphicFramePr>
          <p:nvPr/>
        </p:nvGraphicFramePr>
        <p:xfrm>
          <a:off x="6573881" y="6480803"/>
          <a:ext cx="492125" cy="350837"/>
        </p:xfrm>
        <a:graphic>
          <a:graphicData uri="http://schemas.openxmlformats.org/presentationml/2006/ole">
            <mc:AlternateContent xmlns:mc="http://schemas.openxmlformats.org/markup-compatibility/2006">
              <mc:Choice xmlns:v="urn:schemas-microsoft-com:vml" Requires="v">
                <p:oleObj spid="_x0000_s5125" name="Equation" r:id="rId5" imgW="494030" imgH="351790" progId="Equation.DSMT4">
                  <p:embed/>
                </p:oleObj>
              </mc:Choice>
              <mc:Fallback>
                <p:oleObj name="Equation" r:id="rId5" imgW="494030" imgH="351790" progId="Equation.DSMT4">
                  <p:embed/>
                  <p:pic>
                    <p:nvPicPr>
                      <p:cNvPr id="0" name="图片 18"/>
                      <p:cNvPicPr/>
                      <p:nvPr/>
                    </p:nvPicPr>
                    <p:blipFill>
                      <a:blip r:embed="rId9"/>
                      <a:stretch>
                        <a:fillRect/>
                      </a:stretch>
                    </p:blipFill>
                    <p:spPr>
                      <a:xfrm>
                        <a:off x="6573881" y="6480803"/>
                        <a:ext cx="492125" cy="350837"/>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8309320" y="2320290"/>
            <a:ext cx="4155952" cy="3989369"/>
            <a:chOff x="8309320" y="2320290"/>
            <a:chExt cx="4155952" cy="3989369"/>
          </a:xfrm>
        </p:grpSpPr>
        <p:grpSp>
          <p:nvGrpSpPr>
            <p:cNvPr id="18" name="组合 17"/>
            <p:cNvGrpSpPr/>
            <p:nvPr/>
          </p:nvGrpSpPr>
          <p:grpSpPr>
            <a:xfrm>
              <a:off x="8309320" y="2320290"/>
              <a:ext cx="4155952" cy="3108960"/>
              <a:chOff x="8309320" y="2320290"/>
              <a:chExt cx="4155952" cy="3108960"/>
            </a:xfrm>
          </p:grpSpPr>
          <p:sp>
            <p:nvSpPr>
              <p:cNvPr id="7" name="矩形: 圆角 6"/>
              <p:cNvSpPr/>
              <p:nvPr/>
            </p:nvSpPr>
            <p:spPr>
              <a:xfrm>
                <a:off x="8347378" y="2320290"/>
                <a:ext cx="3792356" cy="3108960"/>
              </a:xfrm>
              <a:prstGeom prst="roundRect">
                <a:avLst/>
              </a:prstGeom>
              <a:solidFill>
                <a:schemeClr val="accent1">
                  <a:alpha val="0"/>
                </a:schemeClr>
              </a:solidFill>
              <a:ln w="254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2"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8309320" y="2430595"/>
                <a:ext cx="4155952" cy="2882180"/>
              </a:xfrm>
              <a:prstGeom prst="rect">
                <a:avLst/>
              </a:prstGeom>
            </p:spPr>
          </p:pic>
          <p:grpSp>
            <p:nvGrpSpPr>
              <p:cNvPr id="73" name="组合 72"/>
              <p:cNvGrpSpPr/>
              <p:nvPr/>
            </p:nvGrpSpPr>
            <p:grpSpPr>
              <a:xfrm>
                <a:off x="8459408" y="2648385"/>
                <a:ext cx="3735820" cy="383488"/>
                <a:chOff x="1448224" y="2628900"/>
                <a:chExt cx="3735820" cy="383488"/>
              </a:xfrm>
            </p:grpSpPr>
            <p:sp>
              <p:nvSpPr>
                <p:cNvPr id="74" name="TextBox 26"/>
                <p:cNvSpPr txBox="1"/>
                <p:nvPr/>
              </p:nvSpPr>
              <p:spPr>
                <a:xfrm>
                  <a:off x="2056175"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75" name="TextBox 26"/>
                <p:cNvSpPr txBox="1"/>
                <p:nvPr/>
              </p:nvSpPr>
              <p:spPr>
                <a:xfrm>
                  <a:off x="2679562"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76" name="TextBox 26"/>
                <p:cNvSpPr txBox="1"/>
                <p:nvPr/>
              </p:nvSpPr>
              <p:spPr>
                <a:xfrm>
                  <a:off x="3283899"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77" name="TextBox 26"/>
                <p:cNvSpPr txBox="1"/>
                <p:nvPr/>
              </p:nvSpPr>
              <p:spPr>
                <a:xfrm>
                  <a:off x="3897761"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78" name="TextBox 26"/>
                <p:cNvSpPr txBox="1"/>
                <p:nvPr/>
              </p:nvSpPr>
              <p:spPr>
                <a:xfrm>
                  <a:off x="4603832" y="2643056"/>
                  <a:ext cx="580212"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79" name="TextBox 26"/>
                <p:cNvSpPr txBox="1"/>
                <p:nvPr/>
              </p:nvSpPr>
              <p:spPr>
                <a:xfrm>
                  <a:off x="1448224" y="2642393"/>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grpSp>
          <p:sp>
            <p:nvSpPr>
              <p:cNvPr id="80" name="TextBox 26"/>
              <p:cNvSpPr txBox="1"/>
              <p:nvPr/>
            </p:nvSpPr>
            <p:spPr>
              <a:xfrm>
                <a:off x="11597129" y="389375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86" name="TextBox 26"/>
              <p:cNvSpPr txBox="1"/>
              <p:nvPr/>
            </p:nvSpPr>
            <p:spPr>
              <a:xfrm>
                <a:off x="8522654" y="387503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87" name="TextBox 26"/>
              <p:cNvSpPr txBox="1"/>
              <p:nvPr/>
            </p:nvSpPr>
            <p:spPr>
              <a:xfrm>
                <a:off x="8551230" y="326381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88" name="TextBox 26"/>
              <p:cNvSpPr txBox="1"/>
              <p:nvPr/>
            </p:nvSpPr>
            <p:spPr>
              <a:xfrm>
                <a:off x="11582588" y="326381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nvGrpSpPr>
              <p:cNvPr id="94" name="组合 93"/>
              <p:cNvGrpSpPr/>
              <p:nvPr/>
            </p:nvGrpSpPr>
            <p:grpSpPr>
              <a:xfrm>
                <a:off x="8522654" y="4448397"/>
                <a:ext cx="3348370" cy="407777"/>
                <a:chOff x="1511470" y="3855546"/>
                <a:chExt cx="3348370" cy="407777"/>
              </a:xfrm>
            </p:grpSpPr>
            <p:sp>
              <p:nvSpPr>
                <p:cNvPr id="95" name="TextBox 26"/>
                <p:cNvSpPr txBox="1"/>
                <p:nvPr/>
              </p:nvSpPr>
              <p:spPr>
                <a:xfrm>
                  <a:off x="4585945"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96" name="TextBox 26"/>
                <p:cNvSpPr txBox="1"/>
                <p:nvPr/>
              </p:nvSpPr>
              <p:spPr>
                <a:xfrm>
                  <a:off x="3991699"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97" name="TextBox 26"/>
                <p:cNvSpPr txBox="1"/>
                <p:nvPr/>
              </p:nvSpPr>
              <p:spPr>
                <a:xfrm>
                  <a:off x="3382139" y="3877142"/>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98" name="TextBox 26"/>
                <p:cNvSpPr txBox="1"/>
                <p:nvPr/>
              </p:nvSpPr>
              <p:spPr>
                <a:xfrm>
                  <a:off x="275768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99" name="TextBox 26"/>
                <p:cNvSpPr txBox="1"/>
                <p:nvPr/>
              </p:nvSpPr>
              <p:spPr>
                <a:xfrm>
                  <a:off x="212103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00" name="TextBox 26"/>
                <p:cNvSpPr txBox="1"/>
                <p:nvPr/>
              </p:nvSpPr>
              <p:spPr>
                <a:xfrm>
                  <a:off x="1511470" y="3855546"/>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grpSp>
        <p:sp>
          <p:nvSpPr>
            <p:cNvPr id="101" name="文本框 100"/>
            <p:cNvSpPr txBox="1"/>
            <p:nvPr/>
          </p:nvSpPr>
          <p:spPr>
            <a:xfrm>
              <a:off x="9204944" y="5601773"/>
              <a:ext cx="2752594" cy="707886"/>
            </a:xfrm>
            <a:prstGeom prst="rect">
              <a:avLst/>
            </a:prstGeom>
            <a:noFill/>
          </p:spPr>
          <p:txBody>
            <a:bodyPr wrap="square" rtlCol="0">
              <a:spAutoFit/>
            </a:bodyPr>
            <a:lstStyle/>
            <a:p>
              <a:r>
                <a:rPr lang="zh-CN" altLang="en-US" sz="2000" b="1" dirty="0"/>
                <a:t>第</a:t>
              </a:r>
              <a:r>
                <a:rPr lang="en-US" altLang="zh-CN" sz="2000" b="1" dirty="0"/>
                <a:t>1</a:t>
              </a:r>
              <a:r>
                <a:rPr lang="zh-CN" altLang="en-US" sz="2000" b="1" dirty="0"/>
                <a:t>次迭代：</a:t>
              </a:r>
              <a:endParaRPr lang="en-US" altLang="zh-CN" sz="2000" b="1" dirty="0"/>
            </a:p>
            <a:p>
              <a:r>
                <a:rPr lang="zh-CN" altLang="en-US" sz="2000" b="1" dirty="0"/>
                <a:t>考虑第</a:t>
              </a:r>
              <a:r>
                <a:rPr lang="en-US" altLang="zh-CN" sz="2000" b="1" dirty="0"/>
                <a:t>1</a:t>
              </a:r>
              <a:r>
                <a:rPr lang="zh-CN" altLang="en-US" sz="2000" b="1" dirty="0"/>
                <a:t>次新迭代的值</a:t>
              </a:r>
            </a:p>
          </p:txBody>
        </p:sp>
      </p:grpSp>
      <p:sp>
        <p:nvSpPr>
          <p:cNvPr id="9"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11</a:t>
            </a:fld>
            <a:endParaRPr lang="id-ID" sz="1200" dirty="0"/>
          </a:p>
        </p:txBody>
      </p:sp>
      <p:sp>
        <p:nvSpPr>
          <p:cNvPr id="10" name="TextBox 5"/>
          <p:cNvSpPr txBox="1"/>
          <p:nvPr/>
        </p:nvSpPr>
        <p:spPr>
          <a:xfrm>
            <a:off x="899251" y="200214"/>
            <a:ext cx="2567850"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4.</a:t>
            </a:r>
            <a:r>
              <a:rPr lang="zh-CN" altLang="en-US" sz="3600" b="1" dirty="0">
                <a:solidFill>
                  <a:srgbClr val="00467F"/>
                </a:solidFill>
                <a:latin typeface="微软雅黑" panose="020B0503020204020204" pitchFamily="34" charset="-122"/>
                <a:ea typeface="微软雅黑" panose="020B0503020204020204" pitchFamily="34" charset="-122"/>
              </a:rPr>
              <a:t>编程提示</a:t>
            </a:r>
          </a:p>
        </p:txBody>
      </p:sp>
      <p:pic>
        <p:nvPicPr>
          <p:cNvPr id="12"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2266" y="2411110"/>
            <a:ext cx="4155952" cy="2882180"/>
          </a:xfrm>
          <a:prstGeom prst="rect">
            <a:avLst/>
          </a:prstGeom>
        </p:spPr>
      </p:pic>
      <p:grpSp>
        <p:nvGrpSpPr>
          <p:cNvPr id="4" name="组合 3"/>
          <p:cNvGrpSpPr/>
          <p:nvPr/>
        </p:nvGrpSpPr>
        <p:grpSpPr>
          <a:xfrm>
            <a:off x="202354" y="2628900"/>
            <a:ext cx="3731370" cy="392350"/>
            <a:chOff x="1448224" y="2628900"/>
            <a:chExt cx="3731370" cy="392350"/>
          </a:xfrm>
        </p:grpSpPr>
        <p:sp>
          <p:nvSpPr>
            <p:cNvPr id="13" name="TextBox 26"/>
            <p:cNvSpPr txBox="1"/>
            <p:nvPr/>
          </p:nvSpPr>
          <p:spPr>
            <a:xfrm>
              <a:off x="2056175"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4" name="TextBox 26"/>
            <p:cNvSpPr txBox="1"/>
            <p:nvPr/>
          </p:nvSpPr>
          <p:spPr>
            <a:xfrm>
              <a:off x="2679562"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5" name="TextBox 26"/>
            <p:cNvSpPr txBox="1"/>
            <p:nvPr/>
          </p:nvSpPr>
          <p:spPr>
            <a:xfrm>
              <a:off x="3283899"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6" name="TextBox 26"/>
            <p:cNvSpPr txBox="1"/>
            <p:nvPr/>
          </p:nvSpPr>
          <p:spPr>
            <a:xfrm>
              <a:off x="3897761"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21" name="TextBox 26"/>
            <p:cNvSpPr txBox="1"/>
            <p:nvPr/>
          </p:nvSpPr>
          <p:spPr>
            <a:xfrm>
              <a:off x="4565732" y="2643056"/>
              <a:ext cx="613862"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22" name="TextBox 26"/>
            <p:cNvSpPr txBox="1"/>
            <p:nvPr/>
          </p:nvSpPr>
          <p:spPr>
            <a:xfrm>
              <a:off x="1448224" y="2651918"/>
              <a:ext cx="656896"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grpSp>
      <p:grpSp>
        <p:nvGrpSpPr>
          <p:cNvPr id="2" name="组合 1"/>
          <p:cNvGrpSpPr/>
          <p:nvPr/>
        </p:nvGrpSpPr>
        <p:grpSpPr>
          <a:xfrm>
            <a:off x="265600" y="3855546"/>
            <a:ext cx="3348370" cy="407777"/>
            <a:chOff x="1511470" y="3855546"/>
            <a:chExt cx="3348370" cy="407777"/>
          </a:xfrm>
        </p:grpSpPr>
        <p:sp>
          <p:nvSpPr>
            <p:cNvPr id="23" name="TextBox 26"/>
            <p:cNvSpPr txBox="1"/>
            <p:nvPr/>
          </p:nvSpPr>
          <p:spPr>
            <a:xfrm>
              <a:off x="4585945"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24" name="TextBox 26"/>
            <p:cNvSpPr txBox="1"/>
            <p:nvPr/>
          </p:nvSpPr>
          <p:spPr>
            <a:xfrm>
              <a:off x="3991699"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25" name="TextBox 26"/>
            <p:cNvSpPr txBox="1"/>
            <p:nvPr/>
          </p:nvSpPr>
          <p:spPr>
            <a:xfrm>
              <a:off x="3382139" y="3877142"/>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26" name="TextBox 26"/>
            <p:cNvSpPr txBox="1"/>
            <p:nvPr/>
          </p:nvSpPr>
          <p:spPr>
            <a:xfrm>
              <a:off x="275768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27" name="TextBox 26"/>
            <p:cNvSpPr txBox="1"/>
            <p:nvPr/>
          </p:nvSpPr>
          <p:spPr>
            <a:xfrm>
              <a:off x="212103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28" name="TextBox 26"/>
            <p:cNvSpPr txBox="1"/>
            <p:nvPr/>
          </p:nvSpPr>
          <p:spPr>
            <a:xfrm>
              <a:off x="1511470" y="3855546"/>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grpSp>
        <p:nvGrpSpPr>
          <p:cNvPr id="3" name="组合 2"/>
          <p:cNvGrpSpPr/>
          <p:nvPr/>
        </p:nvGrpSpPr>
        <p:grpSpPr>
          <a:xfrm>
            <a:off x="294176" y="3244334"/>
            <a:ext cx="3305253" cy="389055"/>
            <a:chOff x="1540046" y="3244334"/>
            <a:chExt cx="3305253" cy="389055"/>
          </a:xfrm>
        </p:grpSpPr>
        <p:sp>
          <p:nvSpPr>
            <p:cNvPr id="17" name="TextBox 26"/>
            <p:cNvSpPr txBox="1"/>
            <p:nvPr/>
          </p:nvSpPr>
          <p:spPr>
            <a:xfrm>
              <a:off x="2121030" y="325714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9" name="TextBox 26"/>
            <p:cNvSpPr txBox="1"/>
            <p:nvPr/>
          </p:nvSpPr>
          <p:spPr>
            <a:xfrm>
              <a:off x="1540046" y="324433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29" name="TextBox 26"/>
            <p:cNvSpPr txBox="1"/>
            <p:nvPr/>
          </p:nvSpPr>
          <p:spPr>
            <a:xfrm>
              <a:off x="4571404" y="324433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30" name="TextBox 26"/>
            <p:cNvSpPr txBox="1"/>
            <p:nvPr/>
          </p:nvSpPr>
          <p:spPr>
            <a:xfrm>
              <a:off x="3962616" y="324433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31" name="TextBox 26"/>
            <p:cNvSpPr txBox="1"/>
            <p:nvPr/>
          </p:nvSpPr>
          <p:spPr>
            <a:xfrm>
              <a:off x="3382140" y="325714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32" name="TextBox 26"/>
            <p:cNvSpPr txBox="1"/>
            <p:nvPr/>
          </p:nvSpPr>
          <p:spPr>
            <a:xfrm>
              <a:off x="2757681" y="3264057"/>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grpSp>
        <p:nvGrpSpPr>
          <p:cNvPr id="33" name="组合 32"/>
          <p:cNvGrpSpPr/>
          <p:nvPr/>
        </p:nvGrpSpPr>
        <p:grpSpPr>
          <a:xfrm>
            <a:off x="265600" y="4428912"/>
            <a:ext cx="3348370" cy="407777"/>
            <a:chOff x="1511470" y="3855546"/>
            <a:chExt cx="3348370" cy="407777"/>
          </a:xfrm>
        </p:grpSpPr>
        <p:sp>
          <p:nvSpPr>
            <p:cNvPr id="34" name="TextBox 26"/>
            <p:cNvSpPr txBox="1"/>
            <p:nvPr/>
          </p:nvSpPr>
          <p:spPr>
            <a:xfrm>
              <a:off x="4585945"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35" name="TextBox 26"/>
            <p:cNvSpPr txBox="1"/>
            <p:nvPr/>
          </p:nvSpPr>
          <p:spPr>
            <a:xfrm>
              <a:off x="3991699"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36" name="TextBox 26"/>
            <p:cNvSpPr txBox="1"/>
            <p:nvPr/>
          </p:nvSpPr>
          <p:spPr>
            <a:xfrm>
              <a:off x="3382139" y="3877142"/>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37" name="TextBox 26"/>
            <p:cNvSpPr txBox="1"/>
            <p:nvPr/>
          </p:nvSpPr>
          <p:spPr>
            <a:xfrm>
              <a:off x="275768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38" name="TextBox 26"/>
            <p:cNvSpPr txBox="1"/>
            <p:nvPr/>
          </p:nvSpPr>
          <p:spPr>
            <a:xfrm>
              <a:off x="212103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39" name="TextBox 26"/>
            <p:cNvSpPr txBox="1"/>
            <p:nvPr/>
          </p:nvSpPr>
          <p:spPr>
            <a:xfrm>
              <a:off x="1511470" y="3855546"/>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sp>
        <p:nvSpPr>
          <p:cNvPr id="40" name="TextBox 16"/>
          <p:cNvSpPr txBox="1"/>
          <p:nvPr/>
        </p:nvSpPr>
        <p:spPr>
          <a:xfrm>
            <a:off x="-37039" y="1296814"/>
            <a:ext cx="2782868" cy="461665"/>
          </a:xfrm>
          <a:prstGeom prst="rect">
            <a:avLst/>
          </a:prstGeom>
          <a:noFill/>
        </p:spPr>
        <p:txBody>
          <a:bodyPr wrap="square" rtlCol="0">
            <a:spAutoFit/>
          </a:bodyPr>
          <a:lstStyle/>
          <a:p>
            <a:r>
              <a:rPr lang="en-US" altLang="zh-CN" sz="2400" b="1" dirty="0">
                <a:solidFill>
                  <a:srgbClr val="984E96"/>
                </a:solidFill>
                <a:latin typeface="微软雅黑" panose="020B0503020204020204" pitchFamily="34" charset="-122"/>
                <a:ea typeface="微软雅黑" panose="020B0503020204020204" pitchFamily="34" charset="-122"/>
              </a:rPr>
              <a:t>1.</a:t>
            </a:r>
            <a:r>
              <a:rPr lang="zh-CN" altLang="en-US" sz="2400" b="1" dirty="0">
                <a:solidFill>
                  <a:srgbClr val="984E96"/>
                </a:solidFill>
                <a:latin typeface="微软雅黑" panose="020B0503020204020204" pitchFamily="34" charset="-122"/>
                <a:ea typeface="微软雅黑" panose="020B0503020204020204" pitchFamily="34" charset="-122"/>
              </a:rPr>
              <a:t>初始化</a:t>
            </a:r>
          </a:p>
        </p:txBody>
      </p:sp>
      <p:pic>
        <p:nvPicPr>
          <p:cNvPr id="41"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255565" y="2411110"/>
            <a:ext cx="4155952" cy="2882180"/>
          </a:xfrm>
          <a:prstGeom prst="rect">
            <a:avLst/>
          </a:prstGeom>
        </p:spPr>
      </p:pic>
      <p:grpSp>
        <p:nvGrpSpPr>
          <p:cNvPr id="42" name="组合 41"/>
          <p:cNvGrpSpPr/>
          <p:nvPr/>
        </p:nvGrpSpPr>
        <p:grpSpPr>
          <a:xfrm>
            <a:off x="4405653" y="2628900"/>
            <a:ext cx="3735820" cy="383488"/>
            <a:chOff x="1448224" y="2628900"/>
            <a:chExt cx="3735820" cy="383488"/>
          </a:xfrm>
        </p:grpSpPr>
        <p:sp>
          <p:nvSpPr>
            <p:cNvPr id="43" name="TextBox 26"/>
            <p:cNvSpPr txBox="1"/>
            <p:nvPr/>
          </p:nvSpPr>
          <p:spPr>
            <a:xfrm>
              <a:off x="2056175"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44" name="TextBox 26"/>
            <p:cNvSpPr txBox="1"/>
            <p:nvPr/>
          </p:nvSpPr>
          <p:spPr>
            <a:xfrm>
              <a:off x="2679562"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45" name="TextBox 26"/>
            <p:cNvSpPr txBox="1"/>
            <p:nvPr/>
          </p:nvSpPr>
          <p:spPr>
            <a:xfrm>
              <a:off x="3283899"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46" name="TextBox 26"/>
            <p:cNvSpPr txBox="1"/>
            <p:nvPr/>
          </p:nvSpPr>
          <p:spPr>
            <a:xfrm>
              <a:off x="3897761"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47" name="TextBox 26"/>
            <p:cNvSpPr txBox="1"/>
            <p:nvPr/>
          </p:nvSpPr>
          <p:spPr>
            <a:xfrm>
              <a:off x="4603832" y="2643056"/>
              <a:ext cx="580212"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48" name="TextBox 26"/>
            <p:cNvSpPr txBox="1"/>
            <p:nvPr/>
          </p:nvSpPr>
          <p:spPr>
            <a:xfrm>
              <a:off x="1448224" y="2642393"/>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grpSp>
      <p:sp>
        <p:nvSpPr>
          <p:cNvPr id="50" name="TextBox 26"/>
          <p:cNvSpPr txBox="1"/>
          <p:nvPr/>
        </p:nvSpPr>
        <p:spPr>
          <a:xfrm>
            <a:off x="7543374"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nvGrpSpPr>
          <p:cNvPr id="6" name="组合 5"/>
          <p:cNvGrpSpPr/>
          <p:nvPr/>
        </p:nvGrpSpPr>
        <p:grpSpPr>
          <a:xfrm>
            <a:off x="5078459" y="3874269"/>
            <a:ext cx="2548169" cy="389054"/>
            <a:chOff x="7873756" y="3916060"/>
            <a:chExt cx="2548169" cy="389054"/>
          </a:xfrm>
        </p:grpSpPr>
        <p:sp>
          <p:nvSpPr>
            <p:cNvPr id="51" name="TextBox 26"/>
            <p:cNvSpPr txBox="1"/>
            <p:nvPr/>
          </p:nvSpPr>
          <p:spPr>
            <a:xfrm>
              <a:off x="9744425" y="3916060"/>
              <a:ext cx="677500"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52" name="TextBox 26"/>
            <p:cNvSpPr txBox="1"/>
            <p:nvPr/>
          </p:nvSpPr>
          <p:spPr>
            <a:xfrm>
              <a:off x="9134865" y="3918933"/>
              <a:ext cx="636650"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53" name="TextBox 26"/>
            <p:cNvSpPr txBox="1"/>
            <p:nvPr/>
          </p:nvSpPr>
          <p:spPr>
            <a:xfrm>
              <a:off x="8510406" y="3935782"/>
              <a:ext cx="624459"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54" name="TextBox 26"/>
            <p:cNvSpPr txBox="1"/>
            <p:nvPr/>
          </p:nvSpPr>
          <p:spPr>
            <a:xfrm>
              <a:off x="7873756" y="3935782"/>
              <a:ext cx="677500"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sp>
        <p:nvSpPr>
          <p:cNvPr id="55" name="TextBox 26"/>
          <p:cNvSpPr txBox="1"/>
          <p:nvPr/>
        </p:nvSpPr>
        <p:spPr>
          <a:xfrm>
            <a:off x="4468899" y="3855546"/>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58" name="TextBox 26"/>
          <p:cNvSpPr txBox="1"/>
          <p:nvPr/>
        </p:nvSpPr>
        <p:spPr>
          <a:xfrm>
            <a:off x="4497475" y="324433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59" name="TextBox 26"/>
          <p:cNvSpPr txBox="1"/>
          <p:nvPr/>
        </p:nvSpPr>
        <p:spPr>
          <a:xfrm>
            <a:off x="7528833" y="324433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nvGrpSpPr>
          <p:cNvPr id="5" name="组合 4"/>
          <p:cNvGrpSpPr/>
          <p:nvPr/>
        </p:nvGrpSpPr>
        <p:grpSpPr>
          <a:xfrm>
            <a:off x="5078459" y="3244334"/>
            <a:ext cx="2421798" cy="389055"/>
            <a:chOff x="7873756" y="3286125"/>
            <a:chExt cx="2421798" cy="389055"/>
          </a:xfrm>
        </p:grpSpPr>
        <p:sp>
          <p:nvSpPr>
            <p:cNvPr id="57" name="TextBox 26"/>
            <p:cNvSpPr txBox="1"/>
            <p:nvPr/>
          </p:nvSpPr>
          <p:spPr>
            <a:xfrm>
              <a:off x="7873756" y="3298932"/>
              <a:ext cx="451094" cy="369332"/>
            </a:xfrm>
            <a:prstGeom prst="rect">
              <a:avLst/>
            </a:prstGeom>
            <a:noFill/>
          </p:spPr>
          <p:txBody>
            <a:bodyPr wrap="square" rtlCol="0">
              <a:spAutoFit/>
            </a:bodyPr>
            <a:lstStyle/>
            <a:p>
              <a:r>
                <a:rPr lang="en-US" altLang="zh-CN" dirty="0">
                  <a:solidFill>
                    <a:srgbClr val="FF0000"/>
                  </a:solidFill>
                </a:rPr>
                <a:t>25</a:t>
              </a:r>
              <a:endParaRPr lang="zh-CN" altLang="en-US" dirty="0">
                <a:solidFill>
                  <a:srgbClr val="FF0000"/>
                </a:solidFill>
              </a:endParaRPr>
            </a:p>
          </p:txBody>
        </p:sp>
        <p:sp>
          <p:nvSpPr>
            <p:cNvPr id="60" name="TextBox 26"/>
            <p:cNvSpPr txBox="1"/>
            <p:nvPr/>
          </p:nvSpPr>
          <p:spPr>
            <a:xfrm>
              <a:off x="9715342" y="3286125"/>
              <a:ext cx="580212" cy="369332"/>
            </a:xfrm>
            <a:prstGeom prst="rect">
              <a:avLst/>
            </a:prstGeom>
            <a:noFill/>
          </p:spPr>
          <p:txBody>
            <a:bodyPr wrap="square" rtlCol="0">
              <a:spAutoFit/>
            </a:bodyPr>
            <a:lstStyle/>
            <a:p>
              <a:r>
                <a:rPr lang="en-US" altLang="zh-CN" dirty="0">
                  <a:solidFill>
                    <a:srgbClr val="FF0000"/>
                  </a:solidFill>
                </a:rPr>
                <a:t>25</a:t>
              </a:r>
              <a:endParaRPr lang="zh-CN" altLang="en-US" dirty="0">
                <a:solidFill>
                  <a:srgbClr val="FF0000"/>
                </a:solidFill>
              </a:endParaRPr>
            </a:p>
          </p:txBody>
        </p:sp>
        <p:sp>
          <p:nvSpPr>
            <p:cNvPr id="61" name="TextBox 26"/>
            <p:cNvSpPr txBox="1"/>
            <p:nvPr/>
          </p:nvSpPr>
          <p:spPr>
            <a:xfrm>
              <a:off x="9134866" y="3298932"/>
              <a:ext cx="446752" cy="369332"/>
            </a:xfrm>
            <a:prstGeom prst="rect">
              <a:avLst/>
            </a:prstGeom>
            <a:noFill/>
          </p:spPr>
          <p:txBody>
            <a:bodyPr wrap="square" rtlCol="0">
              <a:spAutoFit/>
            </a:bodyPr>
            <a:lstStyle/>
            <a:p>
              <a:r>
                <a:rPr lang="en-US" altLang="zh-CN" dirty="0">
                  <a:solidFill>
                    <a:srgbClr val="FF0000"/>
                  </a:solidFill>
                </a:rPr>
                <a:t>25</a:t>
              </a:r>
              <a:endParaRPr lang="zh-CN" altLang="en-US" dirty="0">
                <a:solidFill>
                  <a:srgbClr val="FF0000"/>
                </a:solidFill>
              </a:endParaRPr>
            </a:p>
          </p:txBody>
        </p:sp>
        <p:sp>
          <p:nvSpPr>
            <p:cNvPr id="62" name="TextBox 26"/>
            <p:cNvSpPr txBox="1"/>
            <p:nvPr/>
          </p:nvSpPr>
          <p:spPr>
            <a:xfrm>
              <a:off x="8510407" y="3305848"/>
              <a:ext cx="446752" cy="369332"/>
            </a:xfrm>
            <a:prstGeom prst="rect">
              <a:avLst/>
            </a:prstGeom>
            <a:noFill/>
          </p:spPr>
          <p:txBody>
            <a:bodyPr wrap="square" rtlCol="0">
              <a:spAutoFit/>
            </a:bodyPr>
            <a:lstStyle/>
            <a:p>
              <a:r>
                <a:rPr lang="en-US" altLang="zh-CN" dirty="0">
                  <a:solidFill>
                    <a:srgbClr val="FF0000"/>
                  </a:solidFill>
                </a:rPr>
                <a:t>25</a:t>
              </a:r>
              <a:endParaRPr lang="zh-CN" altLang="en-US" dirty="0">
                <a:solidFill>
                  <a:srgbClr val="FF0000"/>
                </a:solidFill>
              </a:endParaRPr>
            </a:p>
          </p:txBody>
        </p:sp>
      </p:grpSp>
      <p:grpSp>
        <p:nvGrpSpPr>
          <p:cNvPr id="63" name="组合 62"/>
          <p:cNvGrpSpPr/>
          <p:nvPr/>
        </p:nvGrpSpPr>
        <p:grpSpPr>
          <a:xfrm>
            <a:off x="4468899" y="4428912"/>
            <a:ext cx="3348370" cy="407777"/>
            <a:chOff x="1511470" y="3855546"/>
            <a:chExt cx="3348370" cy="407777"/>
          </a:xfrm>
        </p:grpSpPr>
        <p:sp>
          <p:nvSpPr>
            <p:cNvPr id="64" name="TextBox 26"/>
            <p:cNvSpPr txBox="1"/>
            <p:nvPr/>
          </p:nvSpPr>
          <p:spPr>
            <a:xfrm>
              <a:off x="4585945"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65" name="TextBox 26"/>
            <p:cNvSpPr txBox="1"/>
            <p:nvPr/>
          </p:nvSpPr>
          <p:spPr>
            <a:xfrm>
              <a:off x="3991699"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66" name="TextBox 26"/>
            <p:cNvSpPr txBox="1"/>
            <p:nvPr/>
          </p:nvSpPr>
          <p:spPr>
            <a:xfrm>
              <a:off x="3382139" y="3877142"/>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67" name="TextBox 26"/>
            <p:cNvSpPr txBox="1"/>
            <p:nvPr/>
          </p:nvSpPr>
          <p:spPr>
            <a:xfrm>
              <a:off x="275768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68" name="TextBox 26"/>
            <p:cNvSpPr txBox="1"/>
            <p:nvPr/>
          </p:nvSpPr>
          <p:spPr>
            <a:xfrm>
              <a:off x="212103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69" name="TextBox 26"/>
            <p:cNvSpPr txBox="1"/>
            <p:nvPr/>
          </p:nvSpPr>
          <p:spPr>
            <a:xfrm>
              <a:off x="1511470" y="3855546"/>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sp>
        <p:nvSpPr>
          <p:cNvPr id="70" name="TextBox 16"/>
          <p:cNvSpPr txBox="1"/>
          <p:nvPr/>
        </p:nvSpPr>
        <p:spPr>
          <a:xfrm>
            <a:off x="3956291" y="1272396"/>
            <a:ext cx="4391087" cy="461665"/>
          </a:xfrm>
          <a:prstGeom prst="rect">
            <a:avLst/>
          </a:prstGeom>
          <a:noFill/>
        </p:spPr>
        <p:txBody>
          <a:bodyPr wrap="square" rtlCol="0">
            <a:spAutoFit/>
          </a:bodyPr>
          <a:lstStyle/>
          <a:p>
            <a:r>
              <a:rPr lang="en-US" altLang="zh-CN" sz="2400" b="1" dirty="0">
                <a:solidFill>
                  <a:srgbClr val="984E96"/>
                </a:solidFill>
                <a:latin typeface="微软雅黑" panose="020B0503020204020204" pitchFamily="34" charset="-122"/>
                <a:ea typeface="微软雅黑" panose="020B0503020204020204" pitchFamily="34" charset="-122"/>
              </a:rPr>
              <a:t>2.</a:t>
            </a:r>
            <a:r>
              <a:rPr lang="zh-CN" altLang="en-US" sz="2400" b="1" dirty="0">
                <a:solidFill>
                  <a:srgbClr val="984E96"/>
                </a:solidFill>
                <a:latin typeface="微软雅黑" panose="020B0503020204020204" pitchFamily="34" charset="-122"/>
                <a:ea typeface="微软雅黑" panose="020B0503020204020204" pitchFamily="34" charset="-122"/>
              </a:rPr>
              <a:t>第一次迭代（从左上角开始）</a:t>
            </a:r>
          </a:p>
        </p:txBody>
      </p:sp>
      <p:sp>
        <p:nvSpPr>
          <p:cNvPr id="82" name="TextBox 26"/>
          <p:cNvSpPr txBox="1"/>
          <p:nvPr/>
        </p:nvSpPr>
        <p:spPr>
          <a:xfrm>
            <a:off x="10897376" y="3893754"/>
            <a:ext cx="677500" cy="369332"/>
          </a:xfrm>
          <a:prstGeom prst="rect">
            <a:avLst/>
          </a:prstGeom>
          <a:noFill/>
        </p:spPr>
        <p:txBody>
          <a:bodyPr wrap="square" rtlCol="0">
            <a:spAutoFit/>
          </a:bodyPr>
          <a:lstStyle/>
          <a:p>
            <a:r>
              <a:rPr lang="en-US" altLang="zh-CN" dirty="0">
                <a:solidFill>
                  <a:srgbClr val="FF0000"/>
                </a:solidFill>
              </a:rPr>
              <a:t>10.9</a:t>
            </a:r>
            <a:endParaRPr lang="zh-CN" altLang="en-US" dirty="0">
              <a:solidFill>
                <a:srgbClr val="FF0000"/>
              </a:solidFill>
            </a:endParaRPr>
          </a:p>
        </p:txBody>
      </p:sp>
      <p:sp>
        <p:nvSpPr>
          <p:cNvPr id="83" name="TextBox 26"/>
          <p:cNvSpPr txBox="1"/>
          <p:nvPr/>
        </p:nvSpPr>
        <p:spPr>
          <a:xfrm>
            <a:off x="10322985" y="3896627"/>
            <a:ext cx="636650" cy="369332"/>
          </a:xfrm>
          <a:prstGeom prst="rect">
            <a:avLst/>
          </a:prstGeom>
          <a:noFill/>
        </p:spPr>
        <p:txBody>
          <a:bodyPr wrap="square" rtlCol="0">
            <a:spAutoFit/>
          </a:bodyPr>
          <a:lstStyle/>
          <a:p>
            <a:r>
              <a:rPr lang="en-US" altLang="zh-CN" dirty="0">
                <a:solidFill>
                  <a:srgbClr val="FF0000"/>
                </a:solidFill>
              </a:rPr>
              <a:t>10.5</a:t>
            </a:r>
            <a:endParaRPr lang="zh-CN" altLang="en-US" dirty="0">
              <a:solidFill>
                <a:srgbClr val="FF0000"/>
              </a:solidFill>
            </a:endParaRPr>
          </a:p>
        </p:txBody>
      </p:sp>
      <p:sp>
        <p:nvSpPr>
          <p:cNvPr id="84" name="TextBox 26"/>
          <p:cNvSpPr txBox="1"/>
          <p:nvPr/>
        </p:nvSpPr>
        <p:spPr>
          <a:xfrm>
            <a:off x="9745418" y="3913476"/>
            <a:ext cx="624459" cy="369332"/>
          </a:xfrm>
          <a:prstGeom prst="rect">
            <a:avLst/>
          </a:prstGeom>
          <a:noFill/>
        </p:spPr>
        <p:txBody>
          <a:bodyPr wrap="square" rtlCol="0">
            <a:spAutoFit/>
          </a:bodyPr>
          <a:lstStyle/>
          <a:p>
            <a:r>
              <a:rPr lang="en-US" altLang="zh-CN" dirty="0">
                <a:solidFill>
                  <a:srgbClr val="FF0000"/>
                </a:solidFill>
              </a:rPr>
              <a:t>9.37</a:t>
            </a:r>
            <a:endParaRPr lang="zh-CN" altLang="en-US" dirty="0">
              <a:solidFill>
                <a:srgbClr val="FF0000"/>
              </a:solidFill>
            </a:endParaRPr>
          </a:p>
        </p:txBody>
      </p:sp>
      <p:sp>
        <p:nvSpPr>
          <p:cNvPr id="85" name="TextBox 26"/>
          <p:cNvSpPr txBox="1"/>
          <p:nvPr/>
        </p:nvSpPr>
        <p:spPr>
          <a:xfrm>
            <a:off x="9132214" y="3913476"/>
            <a:ext cx="677500" cy="369332"/>
          </a:xfrm>
          <a:prstGeom prst="rect">
            <a:avLst/>
          </a:prstGeom>
          <a:noFill/>
        </p:spPr>
        <p:txBody>
          <a:bodyPr wrap="square" rtlCol="0">
            <a:spAutoFit/>
          </a:bodyPr>
          <a:lstStyle/>
          <a:p>
            <a:r>
              <a:rPr lang="en-US" altLang="zh-CN" dirty="0">
                <a:solidFill>
                  <a:srgbClr val="FF0000"/>
                </a:solidFill>
              </a:rPr>
              <a:t>6.25</a:t>
            </a:r>
            <a:endParaRPr lang="zh-CN" altLang="en-US" dirty="0">
              <a:solidFill>
                <a:srgbClr val="FF0000"/>
              </a:solidFill>
            </a:endParaRPr>
          </a:p>
        </p:txBody>
      </p:sp>
      <p:sp>
        <p:nvSpPr>
          <p:cNvPr id="90" name="TextBox 26"/>
          <p:cNvSpPr txBox="1"/>
          <p:nvPr/>
        </p:nvSpPr>
        <p:spPr>
          <a:xfrm>
            <a:off x="9132214" y="3276626"/>
            <a:ext cx="451094" cy="369332"/>
          </a:xfrm>
          <a:prstGeom prst="rect">
            <a:avLst/>
          </a:prstGeom>
          <a:noFill/>
        </p:spPr>
        <p:txBody>
          <a:bodyPr wrap="square" rtlCol="0">
            <a:spAutoFit/>
          </a:bodyPr>
          <a:lstStyle/>
          <a:p>
            <a:r>
              <a:rPr lang="en-US" altLang="zh-CN" dirty="0">
                <a:solidFill>
                  <a:srgbClr val="FF0000"/>
                </a:solidFill>
              </a:rPr>
              <a:t>25</a:t>
            </a:r>
            <a:endParaRPr lang="zh-CN" altLang="en-US" dirty="0">
              <a:solidFill>
                <a:srgbClr val="FF0000"/>
              </a:solidFill>
            </a:endParaRPr>
          </a:p>
        </p:txBody>
      </p:sp>
      <p:sp>
        <p:nvSpPr>
          <p:cNvPr id="91" name="TextBox 26"/>
          <p:cNvSpPr txBox="1"/>
          <p:nvPr/>
        </p:nvSpPr>
        <p:spPr>
          <a:xfrm>
            <a:off x="10915184" y="3263819"/>
            <a:ext cx="752625" cy="369332"/>
          </a:xfrm>
          <a:prstGeom prst="rect">
            <a:avLst/>
          </a:prstGeom>
          <a:noFill/>
        </p:spPr>
        <p:txBody>
          <a:bodyPr wrap="square" rtlCol="0">
            <a:spAutoFit/>
          </a:bodyPr>
          <a:lstStyle/>
          <a:p>
            <a:r>
              <a:rPr lang="en-US" altLang="zh-CN" dirty="0">
                <a:solidFill>
                  <a:srgbClr val="FF0000"/>
                </a:solidFill>
              </a:rPr>
              <a:t>33.2</a:t>
            </a:r>
            <a:endParaRPr lang="zh-CN" altLang="en-US" dirty="0">
              <a:solidFill>
                <a:srgbClr val="FF0000"/>
              </a:solidFill>
            </a:endParaRPr>
          </a:p>
        </p:txBody>
      </p:sp>
      <p:sp>
        <p:nvSpPr>
          <p:cNvPr id="92" name="TextBox 26"/>
          <p:cNvSpPr txBox="1"/>
          <p:nvPr/>
        </p:nvSpPr>
        <p:spPr>
          <a:xfrm>
            <a:off x="10322985" y="3276626"/>
            <a:ext cx="644883" cy="369332"/>
          </a:xfrm>
          <a:prstGeom prst="rect">
            <a:avLst/>
          </a:prstGeom>
          <a:noFill/>
        </p:spPr>
        <p:txBody>
          <a:bodyPr wrap="square" rtlCol="0">
            <a:spAutoFit/>
          </a:bodyPr>
          <a:lstStyle/>
          <a:p>
            <a:r>
              <a:rPr lang="en-US" altLang="zh-CN" dirty="0">
                <a:solidFill>
                  <a:srgbClr val="FF0000"/>
                </a:solidFill>
              </a:rPr>
              <a:t>32.8</a:t>
            </a:r>
            <a:endParaRPr lang="zh-CN" altLang="en-US" dirty="0">
              <a:solidFill>
                <a:srgbClr val="FF0000"/>
              </a:solidFill>
            </a:endParaRPr>
          </a:p>
        </p:txBody>
      </p:sp>
      <p:sp>
        <p:nvSpPr>
          <p:cNvPr id="93" name="TextBox 26"/>
          <p:cNvSpPr txBox="1"/>
          <p:nvPr/>
        </p:nvSpPr>
        <p:spPr>
          <a:xfrm>
            <a:off x="9675080" y="3283542"/>
            <a:ext cx="773879" cy="369332"/>
          </a:xfrm>
          <a:prstGeom prst="rect">
            <a:avLst/>
          </a:prstGeom>
          <a:noFill/>
        </p:spPr>
        <p:txBody>
          <a:bodyPr wrap="square" rtlCol="0">
            <a:spAutoFit/>
          </a:bodyPr>
          <a:lstStyle/>
          <a:p>
            <a:r>
              <a:rPr lang="en-US" altLang="zh-CN" dirty="0">
                <a:solidFill>
                  <a:srgbClr val="FF0000"/>
                </a:solidFill>
              </a:rPr>
              <a:t>31.25</a:t>
            </a:r>
            <a:endParaRPr lang="zh-CN" altLang="en-US" dirty="0">
              <a:solidFill>
                <a:srgbClr val="FF0000"/>
              </a:solidFill>
            </a:endParaRPr>
          </a:p>
        </p:txBody>
      </p:sp>
      <p:sp>
        <p:nvSpPr>
          <p:cNvPr id="11" name="文本框 10"/>
          <p:cNvSpPr txBox="1"/>
          <p:nvPr/>
        </p:nvSpPr>
        <p:spPr>
          <a:xfrm>
            <a:off x="5005860" y="5560808"/>
            <a:ext cx="2620767" cy="707886"/>
          </a:xfrm>
          <a:prstGeom prst="rect">
            <a:avLst/>
          </a:prstGeom>
          <a:noFill/>
        </p:spPr>
        <p:txBody>
          <a:bodyPr wrap="square" rtlCol="0">
            <a:spAutoFit/>
          </a:bodyPr>
          <a:lstStyle/>
          <a:p>
            <a:r>
              <a:rPr lang="zh-CN" altLang="en-US" sz="2000" b="1" dirty="0"/>
              <a:t>第</a:t>
            </a:r>
            <a:r>
              <a:rPr lang="en-US" altLang="zh-CN" sz="2000" b="1" dirty="0"/>
              <a:t>1</a:t>
            </a:r>
            <a:r>
              <a:rPr lang="zh-CN" altLang="en-US" sz="2000" b="1" dirty="0"/>
              <a:t>次迭代：</a:t>
            </a:r>
            <a:endParaRPr lang="en-US" altLang="zh-CN" sz="2000" b="1" dirty="0"/>
          </a:p>
          <a:p>
            <a:r>
              <a:rPr lang="zh-CN" altLang="en-US" sz="2000" b="1" dirty="0"/>
              <a:t>用初始化的值迭代</a:t>
            </a:r>
          </a:p>
        </p:txBody>
      </p:sp>
      <p:graphicFrame>
        <p:nvGraphicFramePr>
          <p:cNvPr id="8" name="对象 7"/>
          <p:cNvGraphicFramePr>
            <a:graphicFrameLocks noChangeAspect="1"/>
          </p:cNvGraphicFramePr>
          <p:nvPr/>
        </p:nvGraphicFramePr>
        <p:xfrm>
          <a:off x="4193271" y="1682883"/>
          <a:ext cx="4773613" cy="731837"/>
        </p:xfrm>
        <a:graphic>
          <a:graphicData uri="http://schemas.openxmlformats.org/presentationml/2006/ole">
            <mc:AlternateContent xmlns:mc="http://schemas.openxmlformats.org/markup-compatibility/2006">
              <mc:Choice xmlns:v="urn:schemas-microsoft-com:vml" Requires="v">
                <p:oleObj spid="_x0000_s6147" name="Equation" r:id="rId4" imgW="4774565" imgH="732790" progId="Equation.DSMT4">
                  <p:embed/>
                </p:oleObj>
              </mc:Choice>
              <mc:Fallback>
                <p:oleObj name="Equation" r:id="rId4" imgW="4774565" imgH="732790" progId="Equation.DSMT4">
                  <p:embed/>
                  <p:pic>
                    <p:nvPicPr>
                      <p:cNvPr id="0" name="图片 12305"/>
                      <p:cNvPicPr/>
                      <p:nvPr/>
                    </p:nvPicPr>
                    <p:blipFill>
                      <a:blip r:embed="rId5"/>
                      <a:stretch>
                        <a:fillRect/>
                      </a:stretch>
                    </p:blipFill>
                    <p:spPr>
                      <a:xfrm>
                        <a:off x="4193271" y="1682883"/>
                        <a:ext cx="4773613" cy="731837"/>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83"/>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90" grpId="0"/>
      <p:bldP spid="91" grpId="0"/>
      <p:bldP spid="92" grpId="0"/>
      <p:bldP spid="9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12</a:t>
            </a:fld>
            <a:endParaRPr lang="id-ID" sz="1200" dirty="0"/>
          </a:p>
        </p:txBody>
      </p:sp>
      <p:sp>
        <p:nvSpPr>
          <p:cNvPr id="10" name="TextBox 5"/>
          <p:cNvSpPr txBox="1"/>
          <p:nvPr/>
        </p:nvSpPr>
        <p:spPr>
          <a:xfrm>
            <a:off x="899251" y="200214"/>
            <a:ext cx="2567850"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4.</a:t>
            </a:r>
            <a:r>
              <a:rPr lang="zh-CN" altLang="en-US" sz="3600" b="1" dirty="0">
                <a:solidFill>
                  <a:srgbClr val="00467F"/>
                </a:solidFill>
                <a:latin typeface="微软雅黑" panose="020B0503020204020204" pitchFamily="34" charset="-122"/>
                <a:ea typeface="微软雅黑" panose="020B0503020204020204" pitchFamily="34" charset="-122"/>
              </a:rPr>
              <a:t>编程提示</a:t>
            </a:r>
          </a:p>
        </p:txBody>
      </p:sp>
      <p:sp>
        <p:nvSpPr>
          <p:cNvPr id="101" name="TextBox 16"/>
          <p:cNvSpPr txBox="1"/>
          <p:nvPr/>
        </p:nvSpPr>
        <p:spPr>
          <a:xfrm>
            <a:off x="1062674" y="1254265"/>
            <a:ext cx="4155952" cy="461665"/>
          </a:xfrm>
          <a:prstGeom prst="rect">
            <a:avLst/>
          </a:prstGeom>
          <a:noFill/>
        </p:spPr>
        <p:txBody>
          <a:bodyPr wrap="square" rtlCol="0">
            <a:spAutoFit/>
          </a:bodyPr>
          <a:lstStyle/>
          <a:p>
            <a:r>
              <a:rPr lang="en-US" altLang="zh-CN" sz="2400" b="1" dirty="0">
                <a:solidFill>
                  <a:srgbClr val="984E96"/>
                </a:solidFill>
                <a:latin typeface="微软雅黑" panose="020B0503020204020204" pitchFamily="34" charset="-122"/>
                <a:ea typeface="微软雅黑" panose="020B0503020204020204" pitchFamily="34" charset="-122"/>
              </a:rPr>
              <a:t>2.</a:t>
            </a:r>
            <a:r>
              <a:rPr lang="zh-CN" altLang="en-US" sz="2400" b="1" dirty="0">
                <a:solidFill>
                  <a:srgbClr val="984E96"/>
                </a:solidFill>
                <a:latin typeface="微软雅黑" panose="020B0503020204020204" pitchFamily="34" charset="-122"/>
                <a:ea typeface="微软雅黑" panose="020B0503020204020204" pitchFamily="34" charset="-122"/>
              </a:rPr>
              <a:t>第一次迭代（从左上角开始）</a:t>
            </a:r>
          </a:p>
        </p:txBody>
      </p:sp>
      <p:pic>
        <p:nvPicPr>
          <p:cNvPr id="102"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764025" y="2474970"/>
            <a:ext cx="4155952" cy="2882180"/>
          </a:xfrm>
          <a:prstGeom prst="rect">
            <a:avLst/>
          </a:prstGeom>
        </p:spPr>
      </p:pic>
      <p:grpSp>
        <p:nvGrpSpPr>
          <p:cNvPr id="103" name="组合 102"/>
          <p:cNvGrpSpPr/>
          <p:nvPr/>
        </p:nvGrpSpPr>
        <p:grpSpPr>
          <a:xfrm>
            <a:off x="6914113" y="2687866"/>
            <a:ext cx="3688201" cy="383751"/>
            <a:chOff x="1448224" y="2624006"/>
            <a:chExt cx="3688201" cy="383751"/>
          </a:xfrm>
        </p:grpSpPr>
        <p:sp>
          <p:nvSpPr>
            <p:cNvPr id="104" name="TextBox 26"/>
            <p:cNvSpPr txBox="1"/>
            <p:nvPr/>
          </p:nvSpPr>
          <p:spPr>
            <a:xfrm>
              <a:off x="2056175"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05" name="TextBox 26"/>
            <p:cNvSpPr txBox="1"/>
            <p:nvPr/>
          </p:nvSpPr>
          <p:spPr>
            <a:xfrm>
              <a:off x="2679562"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06" name="TextBox 26"/>
            <p:cNvSpPr txBox="1"/>
            <p:nvPr/>
          </p:nvSpPr>
          <p:spPr>
            <a:xfrm>
              <a:off x="3283899"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07" name="TextBox 26"/>
            <p:cNvSpPr txBox="1"/>
            <p:nvPr/>
          </p:nvSpPr>
          <p:spPr>
            <a:xfrm>
              <a:off x="3897761"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08" name="TextBox 26"/>
            <p:cNvSpPr txBox="1"/>
            <p:nvPr/>
          </p:nvSpPr>
          <p:spPr>
            <a:xfrm>
              <a:off x="4556207" y="2624006"/>
              <a:ext cx="580218"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09" name="TextBox 26"/>
            <p:cNvSpPr txBox="1"/>
            <p:nvPr/>
          </p:nvSpPr>
          <p:spPr>
            <a:xfrm>
              <a:off x="1448224" y="2632868"/>
              <a:ext cx="604914"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grpSp>
      <p:sp>
        <p:nvSpPr>
          <p:cNvPr id="110" name="TextBox 26"/>
          <p:cNvSpPr txBox="1"/>
          <p:nvPr/>
        </p:nvSpPr>
        <p:spPr>
          <a:xfrm>
            <a:off x="10051834" y="393812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nvGrpSpPr>
          <p:cNvPr id="111" name="组合 110"/>
          <p:cNvGrpSpPr/>
          <p:nvPr/>
        </p:nvGrpSpPr>
        <p:grpSpPr>
          <a:xfrm>
            <a:off x="7464588" y="3921940"/>
            <a:ext cx="2601494" cy="377230"/>
            <a:chOff x="7820431" y="3915904"/>
            <a:chExt cx="2601494" cy="377230"/>
          </a:xfrm>
        </p:grpSpPr>
        <p:sp>
          <p:nvSpPr>
            <p:cNvPr id="112" name="TextBox 26"/>
            <p:cNvSpPr txBox="1"/>
            <p:nvPr/>
          </p:nvSpPr>
          <p:spPr>
            <a:xfrm>
              <a:off x="9672657" y="3916060"/>
              <a:ext cx="749268" cy="369332"/>
            </a:xfrm>
            <a:prstGeom prst="rect">
              <a:avLst/>
            </a:prstGeom>
            <a:noFill/>
          </p:spPr>
          <p:txBody>
            <a:bodyPr wrap="square" rtlCol="0">
              <a:spAutoFit/>
            </a:bodyPr>
            <a:lstStyle/>
            <a:p>
              <a:r>
                <a:rPr lang="en-US" altLang="zh-CN" dirty="0">
                  <a:solidFill>
                    <a:srgbClr val="FF0000"/>
                  </a:solidFill>
                </a:rPr>
                <a:t>13.67</a:t>
              </a:r>
              <a:endParaRPr lang="zh-CN" altLang="en-US" dirty="0">
                <a:solidFill>
                  <a:srgbClr val="FF0000"/>
                </a:solidFill>
              </a:endParaRPr>
            </a:p>
          </p:txBody>
        </p:sp>
        <p:sp>
          <p:nvSpPr>
            <p:cNvPr id="113" name="TextBox 26"/>
            <p:cNvSpPr txBox="1"/>
            <p:nvPr/>
          </p:nvSpPr>
          <p:spPr>
            <a:xfrm>
              <a:off x="9039551" y="3918933"/>
              <a:ext cx="731964" cy="369332"/>
            </a:xfrm>
            <a:prstGeom prst="rect">
              <a:avLst/>
            </a:prstGeom>
            <a:noFill/>
          </p:spPr>
          <p:txBody>
            <a:bodyPr wrap="square" rtlCol="0">
              <a:spAutoFit/>
            </a:bodyPr>
            <a:lstStyle/>
            <a:p>
              <a:r>
                <a:rPr lang="en-US" altLang="zh-CN" dirty="0">
                  <a:solidFill>
                    <a:srgbClr val="FF0000"/>
                  </a:solidFill>
                </a:rPr>
                <a:t>16.75</a:t>
              </a:r>
              <a:endParaRPr lang="zh-CN" altLang="en-US" dirty="0">
                <a:solidFill>
                  <a:srgbClr val="FF0000"/>
                </a:solidFill>
              </a:endParaRPr>
            </a:p>
          </p:txBody>
        </p:sp>
        <p:sp>
          <p:nvSpPr>
            <p:cNvPr id="114" name="TextBox 26"/>
            <p:cNvSpPr txBox="1"/>
            <p:nvPr/>
          </p:nvSpPr>
          <p:spPr>
            <a:xfrm>
              <a:off x="8465860" y="3923802"/>
              <a:ext cx="730824" cy="369332"/>
            </a:xfrm>
            <a:prstGeom prst="rect">
              <a:avLst/>
            </a:prstGeom>
            <a:noFill/>
          </p:spPr>
          <p:txBody>
            <a:bodyPr wrap="square" rtlCol="0">
              <a:spAutoFit/>
            </a:bodyPr>
            <a:lstStyle/>
            <a:p>
              <a:r>
                <a:rPr lang="en-US" altLang="zh-CN" dirty="0">
                  <a:solidFill>
                    <a:srgbClr val="FF0000"/>
                  </a:solidFill>
                </a:rPr>
                <a:t>15.24</a:t>
              </a:r>
              <a:endParaRPr lang="zh-CN" altLang="en-US" dirty="0">
                <a:solidFill>
                  <a:srgbClr val="FF0000"/>
                </a:solidFill>
              </a:endParaRPr>
            </a:p>
          </p:txBody>
        </p:sp>
        <p:sp>
          <p:nvSpPr>
            <p:cNvPr id="115" name="TextBox 26"/>
            <p:cNvSpPr txBox="1"/>
            <p:nvPr/>
          </p:nvSpPr>
          <p:spPr>
            <a:xfrm>
              <a:off x="7820431" y="3915904"/>
              <a:ext cx="730825" cy="369332"/>
            </a:xfrm>
            <a:prstGeom prst="rect">
              <a:avLst/>
            </a:prstGeom>
            <a:noFill/>
          </p:spPr>
          <p:txBody>
            <a:bodyPr wrap="square" rtlCol="0">
              <a:spAutoFit/>
            </a:bodyPr>
            <a:lstStyle/>
            <a:p>
              <a:r>
                <a:rPr lang="en-US" altLang="zh-CN" dirty="0">
                  <a:solidFill>
                    <a:srgbClr val="FF0000"/>
                  </a:solidFill>
                </a:rPr>
                <a:t>10.16</a:t>
              </a:r>
              <a:endParaRPr lang="zh-CN" altLang="en-US" dirty="0">
                <a:solidFill>
                  <a:srgbClr val="FF0000"/>
                </a:solidFill>
              </a:endParaRPr>
            </a:p>
          </p:txBody>
        </p:sp>
      </p:grpSp>
      <p:sp>
        <p:nvSpPr>
          <p:cNvPr id="116" name="TextBox 26"/>
          <p:cNvSpPr txBox="1"/>
          <p:nvPr/>
        </p:nvSpPr>
        <p:spPr>
          <a:xfrm>
            <a:off x="6977359" y="3919406"/>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17" name="TextBox 26"/>
          <p:cNvSpPr txBox="1"/>
          <p:nvPr/>
        </p:nvSpPr>
        <p:spPr>
          <a:xfrm>
            <a:off x="7005935" y="330819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18" name="TextBox 26"/>
          <p:cNvSpPr txBox="1"/>
          <p:nvPr/>
        </p:nvSpPr>
        <p:spPr>
          <a:xfrm>
            <a:off x="10037293" y="330819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nvGrpSpPr>
          <p:cNvPr id="119" name="组合 118"/>
          <p:cNvGrpSpPr/>
          <p:nvPr/>
        </p:nvGrpSpPr>
        <p:grpSpPr>
          <a:xfrm>
            <a:off x="7485671" y="3309704"/>
            <a:ext cx="2660070" cy="396090"/>
            <a:chOff x="7772508" y="3287635"/>
            <a:chExt cx="2660070" cy="396090"/>
          </a:xfrm>
        </p:grpSpPr>
        <p:sp>
          <p:nvSpPr>
            <p:cNvPr id="120" name="TextBox 26"/>
            <p:cNvSpPr txBox="1"/>
            <p:nvPr/>
          </p:nvSpPr>
          <p:spPr>
            <a:xfrm>
              <a:off x="7772508" y="3314393"/>
              <a:ext cx="749268" cy="369332"/>
            </a:xfrm>
            <a:prstGeom prst="rect">
              <a:avLst/>
            </a:prstGeom>
            <a:noFill/>
          </p:spPr>
          <p:txBody>
            <a:bodyPr wrap="square" rtlCol="0">
              <a:spAutoFit/>
            </a:bodyPr>
            <a:lstStyle/>
            <a:p>
              <a:r>
                <a:rPr lang="en-US" altLang="zh-CN" dirty="0">
                  <a:solidFill>
                    <a:srgbClr val="FF0000"/>
                  </a:solidFill>
                </a:rPr>
                <a:t>34.38</a:t>
              </a:r>
              <a:endParaRPr lang="zh-CN" altLang="en-US" dirty="0">
                <a:solidFill>
                  <a:srgbClr val="FF0000"/>
                </a:solidFill>
              </a:endParaRPr>
            </a:p>
          </p:txBody>
        </p:sp>
        <p:sp>
          <p:nvSpPr>
            <p:cNvPr id="121" name="TextBox 26"/>
            <p:cNvSpPr txBox="1"/>
            <p:nvPr/>
          </p:nvSpPr>
          <p:spPr>
            <a:xfrm>
              <a:off x="9646863" y="3287635"/>
              <a:ext cx="785715" cy="369332"/>
            </a:xfrm>
            <a:prstGeom prst="rect">
              <a:avLst/>
            </a:prstGeom>
            <a:noFill/>
          </p:spPr>
          <p:txBody>
            <a:bodyPr wrap="square" rtlCol="0">
              <a:spAutoFit/>
            </a:bodyPr>
            <a:lstStyle/>
            <a:p>
              <a:r>
                <a:rPr lang="en-US" altLang="zh-CN" dirty="0">
                  <a:solidFill>
                    <a:srgbClr val="FF0000"/>
                  </a:solidFill>
                </a:rPr>
                <a:t>37.94</a:t>
              </a:r>
              <a:endParaRPr lang="zh-CN" altLang="en-US" dirty="0">
                <a:solidFill>
                  <a:srgbClr val="FF0000"/>
                </a:solidFill>
              </a:endParaRPr>
            </a:p>
          </p:txBody>
        </p:sp>
        <p:sp>
          <p:nvSpPr>
            <p:cNvPr id="122" name="TextBox 26"/>
            <p:cNvSpPr txBox="1"/>
            <p:nvPr/>
          </p:nvSpPr>
          <p:spPr>
            <a:xfrm>
              <a:off x="8993226" y="3298932"/>
              <a:ext cx="749268" cy="369332"/>
            </a:xfrm>
            <a:prstGeom prst="rect">
              <a:avLst/>
            </a:prstGeom>
            <a:noFill/>
          </p:spPr>
          <p:txBody>
            <a:bodyPr wrap="square" rtlCol="0">
              <a:spAutoFit/>
            </a:bodyPr>
            <a:lstStyle/>
            <a:p>
              <a:r>
                <a:rPr lang="en-US" altLang="zh-CN" dirty="0">
                  <a:solidFill>
                    <a:srgbClr val="FF0000"/>
                  </a:solidFill>
                </a:rPr>
                <a:t>45.51</a:t>
              </a:r>
              <a:endParaRPr lang="zh-CN" altLang="en-US" dirty="0">
                <a:solidFill>
                  <a:srgbClr val="FF0000"/>
                </a:solidFill>
              </a:endParaRPr>
            </a:p>
          </p:txBody>
        </p:sp>
        <p:sp>
          <p:nvSpPr>
            <p:cNvPr id="123" name="TextBox 26"/>
            <p:cNvSpPr txBox="1"/>
            <p:nvPr/>
          </p:nvSpPr>
          <p:spPr>
            <a:xfrm>
              <a:off x="8375776" y="3305848"/>
              <a:ext cx="742636" cy="369332"/>
            </a:xfrm>
            <a:prstGeom prst="rect">
              <a:avLst/>
            </a:prstGeom>
            <a:noFill/>
          </p:spPr>
          <p:txBody>
            <a:bodyPr wrap="square" rtlCol="0">
              <a:spAutoFit/>
            </a:bodyPr>
            <a:lstStyle/>
            <a:p>
              <a:r>
                <a:rPr lang="en-US" altLang="zh-CN" dirty="0">
                  <a:solidFill>
                    <a:srgbClr val="FF0000"/>
                  </a:solidFill>
                </a:rPr>
                <a:t>44.53</a:t>
              </a:r>
              <a:endParaRPr lang="zh-CN" altLang="en-US" dirty="0">
                <a:solidFill>
                  <a:srgbClr val="FF0000"/>
                </a:solidFill>
              </a:endParaRPr>
            </a:p>
          </p:txBody>
        </p:sp>
      </p:grpSp>
      <p:grpSp>
        <p:nvGrpSpPr>
          <p:cNvPr id="124" name="组合 123"/>
          <p:cNvGrpSpPr/>
          <p:nvPr/>
        </p:nvGrpSpPr>
        <p:grpSpPr>
          <a:xfrm>
            <a:off x="6977359" y="4492772"/>
            <a:ext cx="3348370" cy="407777"/>
            <a:chOff x="1511470" y="3855546"/>
            <a:chExt cx="3348370" cy="407777"/>
          </a:xfrm>
        </p:grpSpPr>
        <p:sp>
          <p:nvSpPr>
            <p:cNvPr id="125" name="TextBox 26"/>
            <p:cNvSpPr txBox="1"/>
            <p:nvPr/>
          </p:nvSpPr>
          <p:spPr>
            <a:xfrm>
              <a:off x="4585945"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26" name="TextBox 26"/>
            <p:cNvSpPr txBox="1"/>
            <p:nvPr/>
          </p:nvSpPr>
          <p:spPr>
            <a:xfrm>
              <a:off x="3991699"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27" name="TextBox 26"/>
            <p:cNvSpPr txBox="1"/>
            <p:nvPr/>
          </p:nvSpPr>
          <p:spPr>
            <a:xfrm>
              <a:off x="3382139" y="3877142"/>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28" name="TextBox 26"/>
            <p:cNvSpPr txBox="1"/>
            <p:nvPr/>
          </p:nvSpPr>
          <p:spPr>
            <a:xfrm>
              <a:off x="275768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29" name="TextBox 26"/>
            <p:cNvSpPr txBox="1"/>
            <p:nvPr/>
          </p:nvSpPr>
          <p:spPr>
            <a:xfrm>
              <a:off x="212103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30" name="TextBox 26"/>
            <p:cNvSpPr txBox="1"/>
            <p:nvPr/>
          </p:nvSpPr>
          <p:spPr>
            <a:xfrm>
              <a:off x="1511470" y="3855546"/>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sp>
        <p:nvSpPr>
          <p:cNvPr id="131" name="TextBox 16"/>
          <p:cNvSpPr txBox="1"/>
          <p:nvPr/>
        </p:nvSpPr>
        <p:spPr>
          <a:xfrm>
            <a:off x="6482495" y="1247396"/>
            <a:ext cx="4437482" cy="461665"/>
          </a:xfrm>
          <a:prstGeom prst="rect">
            <a:avLst/>
          </a:prstGeom>
          <a:noFill/>
        </p:spPr>
        <p:txBody>
          <a:bodyPr wrap="square" rtlCol="0">
            <a:spAutoFit/>
          </a:bodyPr>
          <a:lstStyle/>
          <a:p>
            <a:r>
              <a:rPr lang="en-US" altLang="zh-CN" sz="2400" b="1" dirty="0">
                <a:solidFill>
                  <a:srgbClr val="984E96"/>
                </a:solidFill>
                <a:latin typeface="微软雅黑" panose="020B0503020204020204" pitchFamily="34" charset="-122"/>
                <a:ea typeface="微软雅黑" panose="020B0503020204020204" pitchFamily="34" charset="-122"/>
              </a:rPr>
              <a:t>3.</a:t>
            </a:r>
            <a:r>
              <a:rPr lang="zh-CN" altLang="en-US" sz="2400" b="1" dirty="0">
                <a:solidFill>
                  <a:srgbClr val="984E96"/>
                </a:solidFill>
                <a:latin typeface="微软雅黑" panose="020B0503020204020204" pitchFamily="34" charset="-122"/>
                <a:ea typeface="微软雅黑" panose="020B0503020204020204" pitchFamily="34" charset="-122"/>
              </a:rPr>
              <a:t>第二次迭代（从左上角开始）</a:t>
            </a:r>
          </a:p>
        </p:txBody>
      </p:sp>
      <p:pic>
        <p:nvPicPr>
          <p:cNvPr id="133"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109655" y="2530378"/>
            <a:ext cx="4155952" cy="2882180"/>
          </a:xfrm>
          <a:prstGeom prst="rect">
            <a:avLst/>
          </a:prstGeom>
        </p:spPr>
      </p:pic>
      <p:grpSp>
        <p:nvGrpSpPr>
          <p:cNvPr id="134" name="组合 133"/>
          <p:cNvGrpSpPr/>
          <p:nvPr/>
        </p:nvGrpSpPr>
        <p:grpSpPr>
          <a:xfrm>
            <a:off x="1259743" y="2748168"/>
            <a:ext cx="3735820" cy="383488"/>
            <a:chOff x="1448224" y="2628900"/>
            <a:chExt cx="3735820" cy="383488"/>
          </a:xfrm>
        </p:grpSpPr>
        <p:sp>
          <p:nvSpPr>
            <p:cNvPr id="135" name="TextBox 26"/>
            <p:cNvSpPr txBox="1"/>
            <p:nvPr/>
          </p:nvSpPr>
          <p:spPr>
            <a:xfrm>
              <a:off x="2056175"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36" name="TextBox 26"/>
            <p:cNvSpPr txBox="1"/>
            <p:nvPr/>
          </p:nvSpPr>
          <p:spPr>
            <a:xfrm>
              <a:off x="2679562"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37" name="TextBox 26"/>
            <p:cNvSpPr txBox="1"/>
            <p:nvPr/>
          </p:nvSpPr>
          <p:spPr>
            <a:xfrm>
              <a:off x="3283899" y="2638425"/>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38" name="TextBox 26"/>
            <p:cNvSpPr txBox="1"/>
            <p:nvPr/>
          </p:nvSpPr>
          <p:spPr>
            <a:xfrm>
              <a:off x="3897761" y="2628900"/>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39" name="TextBox 26"/>
            <p:cNvSpPr txBox="1"/>
            <p:nvPr/>
          </p:nvSpPr>
          <p:spPr>
            <a:xfrm>
              <a:off x="4603832" y="2643056"/>
              <a:ext cx="580212"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sp>
          <p:nvSpPr>
            <p:cNvPr id="140" name="TextBox 26"/>
            <p:cNvSpPr txBox="1"/>
            <p:nvPr/>
          </p:nvSpPr>
          <p:spPr>
            <a:xfrm>
              <a:off x="1448224" y="2642393"/>
              <a:ext cx="677500" cy="369332"/>
            </a:xfrm>
            <a:prstGeom prst="rect">
              <a:avLst/>
            </a:prstGeom>
            <a:noFill/>
          </p:spPr>
          <p:txBody>
            <a:bodyPr wrap="square" rtlCol="0">
              <a:spAutoFit/>
            </a:bodyPr>
            <a:lstStyle/>
            <a:p>
              <a:r>
                <a:rPr lang="en-US" altLang="zh-CN" dirty="0">
                  <a:solidFill>
                    <a:srgbClr val="FF0000"/>
                  </a:solidFill>
                </a:rPr>
                <a:t>100</a:t>
              </a:r>
              <a:endParaRPr lang="zh-CN" altLang="en-US" dirty="0">
                <a:solidFill>
                  <a:srgbClr val="FF0000"/>
                </a:solidFill>
              </a:endParaRPr>
            </a:p>
          </p:txBody>
        </p:sp>
      </p:grpSp>
      <p:sp>
        <p:nvSpPr>
          <p:cNvPr id="141" name="TextBox 26"/>
          <p:cNvSpPr txBox="1"/>
          <p:nvPr/>
        </p:nvSpPr>
        <p:spPr>
          <a:xfrm>
            <a:off x="4397464" y="3993537"/>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nvGrpSpPr>
          <p:cNvPr id="142" name="组合 141"/>
          <p:cNvGrpSpPr/>
          <p:nvPr/>
        </p:nvGrpSpPr>
        <p:grpSpPr>
          <a:xfrm>
            <a:off x="1932549" y="3985799"/>
            <a:ext cx="2601014" cy="396792"/>
            <a:chOff x="7873756" y="3908322"/>
            <a:chExt cx="2601014" cy="396792"/>
          </a:xfrm>
        </p:grpSpPr>
        <p:sp>
          <p:nvSpPr>
            <p:cNvPr id="143" name="TextBox 26"/>
            <p:cNvSpPr txBox="1"/>
            <p:nvPr/>
          </p:nvSpPr>
          <p:spPr>
            <a:xfrm>
              <a:off x="9639576" y="3908322"/>
              <a:ext cx="835194" cy="369332"/>
            </a:xfrm>
            <a:prstGeom prst="rect">
              <a:avLst/>
            </a:prstGeom>
            <a:noFill/>
          </p:spPr>
          <p:txBody>
            <a:bodyPr wrap="square" rtlCol="0">
              <a:spAutoFit/>
            </a:bodyPr>
            <a:lstStyle/>
            <a:p>
              <a:r>
                <a:rPr lang="en-US" altLang="zh-CN" dirty="0">
                  <a:solidFill>
                    <a:srgbClr val="FF0000"/>
                  </a:solidFill>
                </a:rPr>
                <a:t>10.9</a:t>
              </a:r>
              <a:endParaRPr lang="zh-CN" altLang="en-US" dirty="0">
                <a:solidFill>
                  <a:srgbClr val="FF0000"/>
                </a:solidFill>
              </a:endParaRPr>
            </a:p>
          </p:txBody>
        </p:sp>
        <p:sp>
          <p:nvSpPr>
            <p:cNvPr id="144" name="TextBox 26"/>
            <p:cNvSpPr txBox="1"/>
            <p:nvPr/>
          </p:nvSpPr>
          <p:spPr>
            <a:xfrm>
              <a:off x="9008365" y="3910732"/>
              <a:ext cx="835194" cy="369332"/>
            </a:xfrm>
            <a:prstGeom prst="rect">
              <a:avLst/>
            </a:prstGeom>
            <a:noFill/>
          </p:spPr>
          <p:txBody>
            <a:bodyPr wrap="square" rtlCol="0">
              <a:spAutoFit/>
            </a:bodyPr>
            <a:lstStyle/>
            <a:p>
              <a:r>
                <a:rPr lang="en-US" altLang="zh-CN" dirty="0">
                  <a:solidFill>
                    <a:srgbClr val="FF0000"/>
                  </a:solidFill>
                </a:rPr>
                <a:t>10.5</a:t>
              </a:r>
              <a:endParaRPr lang="zh-CN" altLang="en-US" dirty="0">
                <a:solidFill>
                  <a:srgbClr val="FF0000"/>
                </a:solidFill>
              </a:endParaRPr>
            </a:p>
          </p:txBody>
        </p:sp>
        <p:sp>
          <p:nvSpPr>
            <p:cNvPr id="145" name="TextBox 26"/>
            <p:cNvSpPr txBox="1"/>
            <p:nvPr/>
          </p:nvSpPr>
          <p:spPr>
            <a:xfrm>
              <a:off x="8504379" y="3935782"/>
              <a:ext cx="624459" cy="369332"/>
            </a:xfrm>
            <a:prstGeom prst="rect">
              <a:avLst/>
            </a:prstGeom>
            <a:noFill/>
          </p:spPr>
          <p:txBody>
            <a:bodyPr wrap="square" rtlCol="0">
              <a:spAutoFit/>
            </a:bodyPr>
            <a:lstStyle/>
            <a:p>
              <a:r>
                <a:rPr lang="en-US" altLang="zh-CN" dirty="0">
                  <a:solidFill>
                    <a:srgbClr val="FF0000"/>
                  </a:solidFill>
                </a:rPr>
                <a:t>9.37</a:t>
              </a:r>
              <a:endParaRPr lang="zh-CN" altLang="en-US" dirty="0">
                <a:solidFill>
                  <a:srgbClr val="FF0000"/>
                </a:solidFill>
              </a:endParaRPr>
            </a:p>
          </p:txBody>
        </p:sp>
        <p:sp>
          <p:nvSpPr>
            <p:cNvPr id="146" name="TextBox 26"/>
            <p:cNvSpPr txBox="1"/>
            <p:nvPr/>
          </p:nvSpPr>
          <p:spPr>
            <a:xfrm>
              <a:off x="7873756" y="3935782"/>
              <a:ext cx="677500" cy="369332"/>
            </a:xfrm>
            <a:prstGeom prst="rect">
              <a:avLst/>
            </a:prstGeom>
            <a:noFill/>
          </p:spPr>
          <p:txBody>
            <a:bodyPr wrap="square" rtlCol="0">
              <a:spAutoFit/>
            </a:bodyPr>
            <a:lstStyle/>
            <a:p>
              <a:r>
                <a:rPr lang="en-US" altLang="zh-CN" dirty="0">
                  <a:solidFill>
                    <a:srgbClr val="FF0000"/>
                  </a:solidFill>
                </a:rPr>
                <a:t>6.25</a:t>
              </a:r>
              <a:endParaRPr lang="zh-CN" altLang="en-US" dirty="0">
                <a:solidFill>
                  <a:srgbClr val="FF0000"/>
                </a:solidFill>
              </a:endParaRPr>
            </a:p>
          </p:txBody>
        </p:sp>
      </p:grpSp>
      <p:sp>
        <p:nvSpPr>
          <p:cNvPr id="147" name="TextBox 26"/>
          <p:cNvSpPr txBox="1"/>
          <p:nvPr/>
        </p:nvSpPr>
        <p:spPr>
          <a:xfrm>
            <a:off x="1322989" y="3974814"/>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48" name="TextBox 26"/>
          <p:cNvSpPr txBox="1"/>
          <p:nvPr/>
        </p:nvSpPr>
        <p:spPr>
          <a:xfrm>
            <a:off x="1351565" y="3363602"/>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49" name="TextBox 26"/>
          <p:cNvSpPr txBox="1"/>
          <p:nvPr/>
        </p:nvSpPr>
        <p:spPr>
          <a:xfrm>
            <a:off x="4382923" y="3363602"/>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nvGrpSpPr>
          <p:cNvPr id="150" name="组合 149"/>
          <p:cNvGrpSpPr/>
          <p:nvPr/>
        </p:nvGrpSpPr>
        <p:grpSpPr>
          <a:xfrm>
            <a:off x="1932549" y="3371746"/>
            <a:ext cx="2611067" cy="380911"/>
            <a:chOff x="7873756" y="3294269"/>
            <a:chExt cx="2611067" cy="380911"/>
          </a:xfrm>
        </p:grpSpPr>
        <p:sp>
          <p:nvSpPr>
            <p:cNvPr id="151" name="TextBox 26"/>
            <p:cNvSpPr txBox="1"/>
            <p:nvPr/>
          </p:nvSpPr>
          <p:spPr>
            <a:xfrm>
              <a:off x="7873756" y="3298932"/>
              <a:ext cx="451094" cy="369332"/>
            </a:xfrm>
            <a:prstGeom prst="rect">
              <a:avLst/>
            </a:prstGeom>
            <a:noFill/>
          </p:spPr>
          <p:txBody>
            <a:bodyPr wrap="square" rtlCol="0">
              <a:spAutoFit/>
            </a:bodyPr>
            <a:lstStyle/>
            <a:p>
              <a:r>
                <a:rPr lang="en-US" altLang="zh-CN" dirty="0">
                  <a:solidFill>
                    <a:srgbClr val="FF0000"/>
                  </a:solidFill>
                </a:rPr>
                <a:t>25</a:t>
              </a:r>
              <a:endParaRPr lang="zh-CN" altLang="en-US" dirty="0">
                <a:solidFill>
                  <a:srgbClr val="FF0000"/>
                </a:solidFill>
              </a:endParaRPr>
            </a:p>
          </p:txBody>
        </p:sp>
        <p:sp>
          <p:nvSpPr>
            <p:cNvPr id="152" name="TextBox 26"/>
            <p:cNvSpPr txBox="1"/>
            <p:nvPr/>
          </p:nvSpPr>
          <p:spPr>
            <a:xfrm>
              <a:off x="9649629" y="3305848"/>
              <a:ext cx="835194" cy="369332"/>
            </a:xfrm>
            <a:prstGeom prst="rect">
              <a:avLst/>
            </a:prstGeom>
            <a:noFill/>
          </p:spPr>
          <p:txBody>
            <a:bodyPr wrap="square" rtlCol="0">
              <a:spAutoFit/>
            </a:bodyPr>
            <a:lstStyle/>
            <a:p>
              <a:r>
                <a:rPr lang="en-US" altLang="zh-CN" dirty="0">
                  <a:solidFill>
                    <a:srgbClr val="FF0000"/>
                  </a:solidFill>
                </a:rPr>
                <a:t>33.20</a:t>
              </a:r>
              <a:endParaRPr lang="zh-CN" altLang="en-US" dirty="0">
                <a:solidFill>
                  <a:srgbClr val="FF0000"/>
                </a:solidFill>
              </a:endParaRPr>
            </a:p>
          </p:txBody>
        </p:sp>
        <p:sp>
          <p:nvSpPr>
            <p:cNvPr id="153" name="TextBox 26"/>
            <p:cNvSpPr txBox="1"/>
            <p:nvPr/>
          </p:nvSpPr>
          <p:spPr>
            <a:xfrm>
              <a:off x="9037251" y="3294269"/>
              <a:ext cx="743017" cy="369332"/>
            </a:xfrm>
            <a:prstGeom prst="rect">
              <a:avLst/>
            </a:prstGeom>
            <a:noFill/>
          </p:spPr>
          <p:txBody>
            <a:bodyPr wrap="square" rtlCol="0">
              <a:spAutoFit/>
            </a:bodyPr>
            <a:lstStyle/>
            <a:p>
              <a:r>
                <a:rPr lang="en-US" altLang="zh-CN" dirty="0">
                  <a:solidFill>
                    <a:srgbClr val="FF0000"/>
                  </a:solidFill>
                </a:rPr>
                <a:t>32.81</a:t>
              </a:r>
              <a:endParaRPr lang="zh-CN" altLang="en-US" dirty="0">
                <a:solidFill>
                  <a:srgbClr val="FF0000"/>
                </a:solidFill>
              </a:endParaRPr>
            </a:p>
          </p:txBody>
        </p:sp>
        <p:sp>
          <p:nvSpPr>
            <p:cNvPr id="154" name="TextBox 26"/>
            <p:cNvSpPr txBox="1"/>
            <p:nvPr/>
          </p:nvSpPr>
          <p:spPr>
            <a:xfrm>
              <a:off x="8383980" y="3298932"/>
              <a:ext cx="808701" cy="369332"/>
            </a:xfrm>
            <a:prstGeom prst="rect">
              <a:avLst/>
            </a:prstGeom>
            <a:noFill/>
          </p:spPr>
          <p:txBody>
            <a:bodyPr wrap="square" rtlCol="0">
              <a:spAutoFit/>
            </a:bodyPr>
            <a:lstStyle/>
            <a:p>
              <a:r>
                <a:rPr lang="en-US" altLang="zh-CN" dirty="0">
                  <a:solidFill>
                    <a:srgbClr val="FF0000"/>
                  </a:solidFill>
                </a:rPr>
                <a:t>31.25</a:t>
              </a:r>
              <a:endParaRPr lang="zh-CN" altLang="en-US" dirty="0">
                <a:solidFill>
                  <a:srgbClr val="FF0000"/>
                </a:solidFill>
              </a:endParaRPr>
            </a:p>
          </p:txBody>
        </p:sp>
      </p:grpSp>
      <p:grpSp>
        <p:nvGrpSpPr>
          <p:cNvPr id="155" name="组合 154"/>
          <p:cNvGrpSpPr/>
          <p:nvPr/>
        </p:nvGrpSpPr>
        <p:grpSpPr>
          <a:xfrm>
            <a:off x="1322989" y="4548180"/>
            <a:ext cx="3348370" cy="407777"/>
            <a:chOff x="1511470" y="3855546"/>
            <a:chExt cx="3348370" cy="407777"/>
          </a:xfrm>
        </p:grpSpPr>
        <p:sp>
          <p:nvSpPr>
            <p:cNvPr id="156" name="TextBox 26"/>
            <p:cNvSpPr txBox="1"/>
            <p:nvPr/>
          </p:nvSpPr>
          <p:spPr>
            <a:xfrm>
              <a:off x="4585945"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57" name="TextBox 26"/>
            <p:cNvSpPr txBox="1"/>
            <p:nvPr/>
          </p:nvSpPr>
          <p:spPr>
            <a:xfrm>
              <a:off x="3991699" y="3874269"/>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58" name="TextBox 26"/>
            <p:cNvSpPr txBox="1"/>
            <p:nvPr/>
          </p:nvSpPr>
          <p:spPr>
            <a:xfrm>
              <a:off x="3382139" y="3877142"/>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59" name="TextBox 26"/>
            <p:cNvSpPr txBox="1"/>
            <p:nvPr/>
          </p:nvSpPr>
          <p:spPr>
            <a:xfrm>
              <a:off x="275768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60" name="TextBox 26"/>
            <p:cNvSpPr txBox="1"/>
            <p:nvPr/>
          </p:nvSpPr>
          <p:spPr>
            <a:xfrm>
              <a:off x="2121030" y="3893991"/>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sp>
          <p:nvSpPr>
            <p:cNvPr id="161" name="TextBox 26"/>
            <p:cNvSpPr txBox="1"/>
            <p:nvPr/>
          </p:nvSpPr>
          <p:spPr>
            <a:xfrm>
              <a:off x="1511470" y="3855546"/>
              <a:ext cx="273895" cy="369332"/>
            </a:xfrm>
            <a:prstGeom prst="rect">
              <a:avLst/>
            </a:prstGeom>
            <a:noFill/>
          </p:spPr>
          <p:txBody>
            <a:bodyPr wrap="square" rtlCol="0">
              <a:spAutoFit/>
            </a:bodyPr>
            <a:lstStyle/>
            <a:p>
              <a:r>
                <a:rPr lang="en-US" altLang="zh-CN" dirty="0">
                  <a:solidFill>
                    <a:srgbClr val="FF0000"/>
                  </a:solidFill>
                </a:rPr>
                <a:t>0</a:t>
              </a:r>
              <a:endParaRPr lang="zh-CN" altLang="en-US" dirty="0">
                <a:solidFill>
                  <a:srgbClr val="FF0000"/>
                </a:solidFill>
              </a:endParaRPr>
            </a:p>
          </p:txBody>
        </p:sp>
      </p:grpSp>
      <p:graphicFrame>
        <p:nvGraphicFramePr>
          <p:cNvPr id="2" name="对象 1"/>
          <p:cNvGraphicFramePr>
            <a:graphicFrameLocks noChangeAspect="1"/>
          </p:cNvGraphicFramePr>
          <p:nvPr/>
        </p:nvGraphicFramePr>
        <p:xfrm>
          <a:off x="6764025" y="1721393"/>
          <a:ext cx="4773613" cy="731837"/>
        </p:xfrm>
        <a:graphic>
          <a:graphicData uri="http://schemas.openxmlformats.org/presentationml/2006/ole">
            <mc:AlternateContent xmlns:mc="http://schemas.openxmlformats.org/markup-compatibility/2006">
              <mc:Choice xmlns:v="urn:schemas-microsoft-com:vml" Requires="v">
                <p:oleObj spid="_x0000_s7171" name="Equation" r:id="rId4" imgW="4774565" imgH="732790" progId="Equation.DSMT4">
                  <p:embed/>
                </p:oleObj>
              </mc:Choice>
              <mc:Fallback>
                <p:oleObj name="Equation" r:id="rId4" imgW="4774565" imgH="732790" progId="Equation.DSMT4">
                  <p:embed/>
                  <p:pic>
                    <p:nvPicPr>
                      <p:cNvPr id="0" name="图片 12305"/>
                      <p:cNvPicPr/>
                      <p:nvPr/>
                    </p:nvPicPr>
                    <p:blipFill>
                      <a:blip r:embed="rId5"/>
                      <a:stretch>
                        <a:fillRect/>
                      </a:stretch>
                    </p:blipFill>
                    <p:spPr>
                      <a:xfrm>
                        <a:off x="6764025" y="1721393"/>
                        <a:ext cx="4773613" cy="731837"/>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ChangeArrowheads="1"/>
          </p:cNvSpPr>
          <p:nvPr/>
        </p:nvSpPr>
        <p:spPr bwMode="auto">
          <a:xfrm>
            <a:off x="690563" y="1076331"/>
            <a:ext cx="2682875" cy="519113"/>
          </a:xfrm>
          <a:prstGeom prst="rect">
            <a:avLst/>
          </a:prstGeom>
          <a:noFill/>
          <a:ln w="9525" algn="ctr">
            <a:noFill/>
            <a:miter lim="800000"/>
          </a:ln>
        </p:spPr>
        <p:txBody>
          <a:bodyPr>
            <a:spAutoFit/>
          </a:bodyPr>
          <a:lstStyle/>
          <a:p>
            <a:pPr marL="342900" indent="-342900">
              <a:buClr>
                <a:srgbClr val="30B695"/>
              </a:buClr>
            </a:pPr>
            <a:r>
              <a:rPr lang="zh-CN" altLang="en-US" sz="2800" b="1" dirty="0">
                <a:solidFill>
                  <a:srgbClr val="FF0000"/>
                </a:solidFill>
                <a:latin typeface="微软雅黑" panose="020B0503020204020204" pitchFamily="34" charset="-122"/>
                <a:ea typeface="微软雅黑" panose="020B0503020204020204" pitchFamily="34" charset="-122"/>
              </a:rPr>
              <a:t>课堂验收：</a:t>
            </a:r>
          </a:p>
        </p:txBody>
      </p:sp>
      <p:sp>
        <p:nvSpPr>
          <p:cNvPr id="9"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13</a:t>
            </a:fld>
            <a:endParaRPr lang="id-ID" sz="1200" dirty="0"/>
          </a:p>
        </p:txBody>
      </p:sp>
      <p:sp>
        <p:nvSpPr>
          <p:cNvPr id="10" name="TextBox 5"/>
          <p:cNvSpPr txBox="1"/>
          <p:nvPr/>
        </p:nvSpPr>
        <p:spPr>
          <a:xfrm>
            <a:off x="899250" y="200214"/>
            <a:ext cx="3861435" cy="646331"/>
          </a:xfrm>
          <a:prstGeom prst="rect">
            <a:avLst/>
          </a:prstGeom>
          <a:noFill/>
        </p:spPr>
        <p:txBody>
          <a:bodyPr wrap="square" rtlCol="0">
            <a:spAutoFit/>
          </a:bodyPr>
          <a:lstStyle/>
          <a:p>
            <a:r>
              <a:rPr lang="en-US" altLang="zh-CN" sz="3600" b="1" dirty="0">
                <a:solidFill>
                  <a:srgbClr val="00467F"/>
                </a:solidFill>
                <a:latin typeface="微软雅黑" panose="020B0503020204020204" pitchFamily="34" charset="-122"/>
                <a:ea typeface="微软雅黑" panose="020B0503020204020204" pitchFamily="34" charset="-122"/>
              </a:rPr>
              <a:t>5.</a:t>
            </a:r>
            <a:r>
              <a:rPr lang="zh-CN" altLang="en-US" sz="3600" b="1" dirty="0">
                <a:solidFill>
                  <a:srgbClr val="00467F"/>
                </a:solidFill>
                <a:latin typeface="微软雅黑" panose="020B0503020204020204" pitchFamily="34" charset="-122"/>
                <a:ea typeface="微软雅黑" panose="020B0503020204020204" pitchFamily="34" charset="-122"/>
              </a:rPr>
              <a:t>验收及报告要求</a:t>
            </a:r>
          </a:p>
        </p:txBody>
      </p:sp>
      <p:sp>
        <p:nvSpPr>
          <p:cNvPr id="8" name="Rectangle 5">
            <a:extLst>
              <a:ext uri="{FF2B5EF4-FFF2-40B4-BE49-F238E27FC236}">
                <a16:creationId xmlns:a16="http://schemas.microsoft.com/office/drawing/2014/main" id="{6457F495-567C-4263-8D5F-0DD981839792}"/>
              </a:ext>
            </a:extLst>
          </p:cNvPr>
          <p:cNvSpPr>
            <a:spLocks noChangeArrowheads="1"/>
          </p:cNvSpPr>
          <p:nvPr/>
        </p:nvSpPr>
        <p:spPr bwMode="auto">
          <a:xfrm>
            <a:off x="690563" y="5127616"/>
            <a:ext cx="2682875" cy="519113"/>
          </a:xfrm>
          <a:prstGeom prst="rect">
            <a:avLst/>
          </a:prstGeom>
          <a:noFill/>
          <a:ln w="9525" algn="ctr">
            <a:noFill/>
            <a:miter lim="800000"/>
          </a:ln>
        </p:spPr>
        <p:txBody>
          <a:bodyPr>
            <a:spAutoFit/>
          </a:bodyPr>
          <a:lstStyle/>
          <a:p>
            <a:pPr marL="342900" indent="-342900">
              <a:buClr>
                <a:srgbClr val="30B695"/>
              </a:buClr>
            </a:pPr>
            <a:r>
              <a:rPr lang="zh-CN" altLang="en-US" sz="2800" b="1" dirty="0">
                <a:solidFill>
                  <a:srgbClr val="FF0000"/>
                </a:solidFill>
                <a:latin typeface="微软雅黑" panose="020B0503020204020204" pitchFamily="34" charset="-122"/>
                <a:ea typeface="微软雅黑" panose="020B0503020204020204" pitchFamily="34" charset="-122"/>
              </a:rPr>
              <a:t>报告要求：</a:t>
            </a:r>
          </a:p>
        </p:txBody>
      </p:sp>
      <p:sp>
        <p:nvSpPr>
          <p:cNvPr id="11" name="Rectangle 8">
            <a:extLst>
              <a:ext uri="{FF2B5EF4-FFF2-40B4-BE49-F238E27FC236}">
                <a16:creationId xmlns:a16="http://schemas.microsoft.com/office/drawing/2014/main" id="{CA7A20EC-3A3E-4341-B5B7-FE32B245035A}"/>
              </a:ext>
            </a:extLst>
          </p:cNvPr>
          <p:cNvSpPr>
            <a:spLocks noChangeArrowheads="1"/>
          </p:cNvSpPr>
          <p:nvPr/>
        </p:nvSpPr>
        <p:spPr bwMode="auto">
          <a:xfrm>
            <a:off x="1106488" y="5746286"/>
            <a:ext cx="10660118" cy="954107"/>
          </a:xfrm>
          <a:prstGeom prst="rect">
            <a:avLst/>
          </a:prstGeom>
          <a:noFill/>
          <a:ln w="9525" algn="ctr">
            <a:noFill/>
            <a:miter lim="800000"/>
          </a:ln>
        </p:spPr>
        <p:txBody>
          <a:bodyPr wrap="square">
            <a:spAutoFit/>
          </a:bodyPr>
          <a:lstStyle/>
          <a:p>
            <a:pPr>
              <a:buClr>
                <a:srgbClr val="30B695"/>
              </a:buClr>
            </a:pP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实验目的，原理，程序框图，程序代码。</a:t>
            </a:r>
            <a:endParaRPr lang="en-US" altLang="zh-CN" sz="2800" b="1" dirty="0">
              <a:latin typeface="微软雅黑" panose="020B0503020204020204" pitchFamily="34" charset="-122"/>
              <a:ea typeface="微软雅黑" panose="020B0503020204020204" pitchFamily="34" charset="-122"/>
            </a:endParaRPr>
          </a:p>
          <a:p>
            <a:pPr>
              <a:buClr>
                <a:srgbClr val="30B695"/>
              </a:buClr>
            </a:pP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查阅资料，说明一个有限差分法在电气工程或实际问题中的应用。</a:t>
            </a:r>
          </a:p>
        </p:txBody>
      </p:sp>
      <p:sp>
        <p:nvSpPr>
          <p:cNvPr id="12" name="Rectangle 6">
            <a:extLst>
              <a:ext uri="{FF2B5EF4-FFF2-40B4-BE49-F238E27FC236}">
                <a16:creationId xmlns:a16="http://schemas.microsoft.com/office/drawing/2014/main" id="{F24E4308-7ADA-4312-BA5E-D5F0B907D16A}"/>
              </a:ext>
            </a:extLst>
          </p:cNvPr>
          <p:cNvSpPr>
            <a:spLocks noChangeArrowheads="1"/>
          </p:cNvSpPr>
          <p:nvPr/>
        </p:nvSpPr>
        <p:spPr bwMode="auto">
          <a:xfrm>
            <a:off x="1106488" y="1616310"/>
            <a:ext cx="11085512" cy="1209114"/>
          </a:xfrm>
          <a:prstGeom prst="rect">
            <a:avLst/>
          </a:prstGeom>
          <a:noFill/>
          <a:ln w="9525" algn="ctr">
            <a:noFill/>
            <a:miter lim="800000"/>
          </a:ln>
        </p:spPr>
        <p:txBody>
          <a:bodyPr wrap="square">
            <a:spAutoFit/>
          </a:bodyPr>
          <a:lstStyle/>
          <a:p>
            <a:pPr marL="342900" indent="-342900">
              <a:lnSpc>
                <a:spcPct val="120000"/>
              </a:lnSpc>
              <a:buClr>
                <a:srgbClr val="30B695"/>
              </a:buClr>
            </a:pP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 记录高斯赛德尔迭代法的迭代次数</a:t>
            </a:r>
            <a:r>
              <a:rPr lang="en-US" altLang="zh-CN" sz="2400" b="1"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，计算点（</a:t>
            </a:r>
            <a:r>
              <a:rPr lang="en-US" altLang="zh-CN" sz="2400" b="1" dirty="0">
                <a:latin typeface="微软雅黑" panose="020B0503020204020204" pitchFamily="34" charset="-122"/>
                <a:ea typeface="微软雅黑" panose="020B0503020204020204" pitchFamily="34" charset="-122"/>
              </a:rPr>
              <a:t>10,</a:t>
            </a:r>
            <a:r>
              <a:rPr lang="en-US" altLang="zh-CN" sz="2400" b="1" u="sng" dirty="0">
                <a:solidFill>
                  <a:schemeClr val="tx1"/>
                </a:solidFill>
                <a:latin typeface="微软雅黑" panose="020B0503020204020204" pitchFamily="34" charset="-122"/>
                <a:ea typeface="微软雅黑" panose="020B0503020204020204" pitchFamily="34" charset="-122"/>
              </a:rPr>
              <a:t>  </a:t>
            </a:r>
            <a:r>
              <a:rPr lang="zh-CN" altLang="en-US" sz="2400" u="sng" dirty="0">
                <a:solidFill>
                  <a:schemeClr val="tx1"/>
                </a:solidFill>
                <a:latin typeface="微软雅黑" panose="020B0503020204020204" pitchFamily="34" charset="-122"/>
                <a:ea typeface="微软雅黑" panose="020B0503020204020204" pitchFamily="34" charset="-122"/>
                <a:sym typeface="+mn-ea"/>
              </a:rPr>
              <a:t>？</a:t>
            </a:r>
            <a:r>
              <a:rPr lang="zh-CN" altLang="en-US" sz="2400" b="1" dirty="0">
                <a:latin typeface="微软雅黑" panose="020B0503020204020204" pitchFamily="34" charset="-122"/>
                <a:ea typeface="微软雅黑" panose="020B0503020204020204" pitchFamily="34" charset="-122"/>
              </a:rPr>
              <a:t>）的电位值。</a:t>
            </a:r>
          </a:p>
          <a:p>
            <a:pPr marL="342900" indent="-342900">
              <a:lnSpc>
                <a:spcPct val="120000"/>
              </a:lnSpc>
              <a:buClr>
                <a:srgbClr val="30B695"/>
              </a:buClr>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（取学号最后一位，若学号最后一位为</a:t>
            </a:r>
            <a:r>
              <a:rPr lang="en-US" altLang="zh-CN" sz="2000" b="1" dirty="0">
                <a:latin typeface="微软雅黑" panose="020B0503020204020204" pitchFamily="34" charset="-122"/>
                <a:ea typeface="微软雅黑" panose="020B0503020204020204" pitchFamily="34" charset="-122"/>
              </a:rPr>
              <a:t>0</a:t>
            </a:r>
            <a:r>
              <a:rPr lang="zh-CN" altLang="en-US" sz="2000" b="1" dirty="0">
                <a:latin typeface="微软雅黑" panose="020B0503020204020204" pitchFamily="34" charset="-122"/>
                <a:ea typeface="微软雅黑" panose="020B0503020204020204" pitchFamily="34" charset="-122"/>
              </a:rPr>
              <a:t>，则取</a:t>
            </a:r>
            <a:r>
              <a:rPr lang="en-US" altLang="zh-CN" sz="2000" b="1" dirty="0">
                <a:latin typeface="微软雅黑" panose="020B0503020204020204" pitchFamily="34" charset="-122"/>
                <a:ea typeface="微软雅黑" panose="020B0503020204020204" pitchFamily="34" charset="-122"/>
              </a:rPr>
              <a:t>10,10</a:t>
            </a:r>
            <a:r>
              <a:rPr lang="zh-CN" altLang="en-US" sz="2000" b="1" dirty="0">
                <a:latin typeface="微软雅黑" panose="020B0503020204020204" pitchFamily="34" charset="-122"/>
                <a:ea typeface="微软雅黑" panose="020B0503020204020204" pitchFamily="34" charset="-122"/>
              </a:rPr>
              <a:t>点）。</a:t>
            </a:r>
            <a:endParaRPr lang="en-US" altLang="zh-CN" sz="2400" b="1" dirty="0">
              <a:latin typeface="微软雅黑" panose="020B0503020204020204" pitchFamily="34" charset="-122"/>
              <a:ea typeface="微软雅黑" panose="020B0503020204020204" pitchFamily="34" charset="-122"/>
            </a:endParaRPr>
          </a:p>
          <a:p>
            <a:pPr marL="342900" indent="-342900">
              <a:lnSpc>
                <a:spcPct val="120000"/>
              </a:lnSpc>
              <a:buClr>
                <a:srgbClr val="30B695"/>
              </a:buClr>
            </a:pPr>
            <a:r>
              <a:rPr lang="zh-CN" altLang="en-US" b="1" dirty="0">
                <a:latin typeface="微软雅黑" panose="020B0503020204020204" pitchFamily="34" charset="-122"/>
                <a:ea typeface="微软雅黑" panose="020B0503020204020204" pitchFamily="34" charset="-122"/>
              </a:rPr>
              <a:t>        例如学号为</a:t>
            </a:r>
            <a:r>
              <a:rPr lang="en-US" altLang="zh-CN" b="1" dirty="0">
                <a:latin typeface="微软雅黑" panose="020B0503020204020204" pitchFamily="34" charset="-122"/>
                <a:ea typeface="微软雅黑" panose="020B0503020204020204" pitchFamily="34" charset="-122"/>
              </a:rPr>
              <a:t>123456789</a:t>
            </a:r>
            <a:r>
              <a:rPr lang="en-US" altLang="zh-CN" b="1" dirty="0">
                <a:highlight>
                  <a:srgbClr val="FFFF00"/>
                </a:highlight>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，则取</a:t>
            </a:r>
            <a:r>
              <a:rPr lang="en-US" altLang="zh-CN" b="1" dirty="0">
                <a:latin typeface="微软雅黑" panose="020B0503020204020204" pitchFamily="34" charset="-122"/>
                <a:ea typeface="微软雅黑" panose="020B0503020204020204" pitchFamily="34" charset="-122"/>
              </a:rPr>
              <a:t>(10,2)</a:t>
            </a:r>
            <a:r>
              <a:rPr lang="zh-CN" altLang="en-US"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sym typeface="+mn-ea"/>
              </a:rPr>
              <a:t>学号为</a:t>
            </a:r>
            <a:r>
              <a:rPr lang="en-US" altLang="zh-CN" b="1" dirty="0">
                <a:latin typeface="微软雅黑" panose="020B0503020204020204" pitchFamily="34" charset="-122"/>
                <a:ea typeface="微软雅黑" panose="020B0503020204020204" pitchFamily="34" charset="-122"/>
                <a:sym typeface="+mn-ea"/>
              </a:rPr>
              <a:t>123456789</a:t>
            </a:r>
            <a:r>
              <a:rPr lang="en-US" altLang="zh-CN" b="1" dirty="0">
                <a:highlight>
                  <a:srgbClr val="FFFF00"/>
                </a:highlight>
                <a:latin typeface="微软雅黑" panose="020B0503020204020204" pitchFamily="34" charset="-122"/>
                <a:ea typeface="微软雅黑" panose="020B0503020204020204" pitchFamily="34" charset="-122"/>
                <a:sym typeface="+mn-ea"/>
              </a:rPr>
              <a:t>0</a:t>
            </a:r>
            <a:r>
              <a:rPr lang="zh-CN" altLang="en-US" b="1" dirty="0">
                <a:latin typeface="微软雅黑" panose="020B0503020204020204" pitchFamily="34" charset="-122"/>
                <a:ea typeface="微软雅黑" panose="020B0503020204020204" pitchFamily="34" charset="-122"/>
                <a:sym typeface="+mn-ea"/>
              </a:rPr>
              <a:t>，则取</a:t>
            </a:r>
            <a:r>
              <a:rPr lang="en-US" altLang="zh-CN" b="1" dirty="0">
                <a:latin typeface="微软雅黑" panose="020B0503020204020204" pitchFamily="34" charset="-122"/>
                <a:ea typeface="微软雅黑" panose="020B0503020204020204" pitchFamily="34" charset="-122"/>
                <a:sym typeface="+mn-ea"/>
              </a:rPr>
              <a:t>(10,10)</a:t>
            </a:r>
            <a:r>
              <a:rPr lang="zh-CN" altLang="en-US" b="1" dirty="0">
                <a:latin typeface="微软雅黑" panose="020B0503020204020204" pitchFamily="34" charset="-122"/>
                <a:ea typeface="微软雅黑" panose="020B0503020204020204" pitchFamily="34" charset="-122"/>
              </a:rPr>
              <a:t>。</a:t>
            </a:r>
          </a:p>
        </p:txBody>
      </p:sp>
      <p:sp>
        <p:nvSpPr>
          <p:cNvPr id="13" name="Rectangle 7">
            <a:extLst>
              <a:ext uri="{FF2B5EF4-FFF2-40B4-BE49-F238E27FC236}">
                <a16:creationId xmlns:a16="http://schemas.microsoft.com/office/drawing/2014/main" id="{24233D1B-1CA0-4CBE-B5D6-A6354F401D61}"/>
              </a:ext>
            </a:extLst>
          </p:cNvPr>
          <p:cNvSpPr>
            <a:spLocks noChangeArrowheads="1"/>
          </p:cNvSpPr>
          <p:nvPr/>
        </p:nvSpPr>
        <p:spPr bwMode="auto">
          <a:xfrm>
            <a:off x="1174750" y="2941467"/>
            <a:ext cx="10212388" cy="941155"/>
          </a:xfrm>
          <a:prstGeom prst="rect">
            <a:avLst/>
          </a:prstGeom>
          <a:noFill/>
          <a:ln w="9525" algn="ctr">
            <a:noFill/>
            <a:miter lim="800000"/>
          </a:ln>
        </p:spPr>
        <p:txBody>
          <a:bodyPr>
            <a:spAutoFit/>
          </a:bodyPr>
          <a:lstStyle/>
          <a:p>
            <a:pPr marL="342900" indent="-342900">
              <a:lnSpc>
                <a:spcPct val="120000"/>
              </a:lnSpc>
              <a:buClr>
                <a:srgbClr val="30B695"/>
              </a:buClr>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 超松弛迭代法不同收敛因子对应的迭代次数？最佳收敛因子？（通过编制对收敛因子的循环程序实现）</a:t>
            </a:r>
          </a:p>
        </p:txBody>
      </p:sp>
      <p:sp>
        <p:nvSpPr>
          <p:cNvPr id="14" name="Rectangle 7">
            <a:extLst>
              <a:ext uri="{FF2B5EF4-FFF2-40B4-BE49-F238E27FC236}">
                <a16:creationId xmlns:a16="http://schemas.microsoft.com/office/drawing/2014/main" id="{5A0207B8-EAE7-4355-B3D8-E8CCE60EEB98}"/>
              </a:ext>
            </a:extLst>
          </p:cNvPr>
          <p:cNvSpPr>
            <a:spLocks noChangeArrowheads="1"/>
          </p:cNvSpPr>
          <p:nvPr/>
        </p:nvSpPr>
        <p:spPr bwMode="auto">
          <a:xfrm>
            <a:off x="1174750" y="4034541"/>
            <a:ext cx="10212388" cy="941155"/>
          </a:xfrm>
          <a:prstGeom prst="rect">
            <a:avLst/>
          </a:prstGeom>
          <a:noFill/>
          <a:ln w="9525" algn="ctr">
            <a:noFill/>
            <a:miter lim="800000"/>
          </a:ln>
        </p:spPr>
        <p:txBody>
          <a:bodyPr>
            <a:spAutoFit/>
          </a:bodyPr>
          <a:lstStyle/>
          <a:p>
            <a:pPr marL="342900" indent="-342900">
              <a:lnSpc>
                <a:spcPct val="120000"/>
              </a:lnSpc>
              <a:buClr>
                <a:srgbClr val="30B695"/>
              </a:buClr>
            </a:pP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ANSYS</a:t>
            </a:r>
            <a:r>
              <a:rPr lang="zh-CN" altLang="en-US" sz="2400" b="1" dirty="0">
                <a:latin typeface="微软雅黑" panose="020B0503020204020204" pitchFamily="34" charset="-122"/>
                <a:ea typeface="微软雅黑" panose="020B0503020204020204" pitchFamily="34" charset="-122"/>
              </a:rPr>
              <a:t>仿真求等位线和电场强度分布图，求点（</a:t>
            </a:r>
            <a:r>
              <a:rPr lang="en-US" altLang="zh-CN" sz="2400" b="1" dirty="0">
                <a:latin typeface="微软雅黑" panose="020B0503020204020204" pitchFamily="34" charset="-122"/>
                <a:ea typeface="微软雅黑" panose="020B0503020204020204" pitchFamily="34" charset="-122"/>
              </a:rPr>
              <a:t>10,</a:t>
            </a:r>
            <a:r>
              <a:rPr lang="en-US" altLang="zh-CN" sz="2400" b="1" u="sng" dirty="0">
                <a:solidFill>
                  <a:schemeClr val="tx1"/>
                </a:solidFill>
                <a:latin typeface="微软雅黑" panose="020B0503020204020204" pitchFamily="34" charset="-122"/>
                <a:ea typeface="微软雅黑" panose="020B0503020204020204" pitchFamily="34" charset="-122"/>
              </a:rPr>
              <a:t>  </a:t>
            </a:r>
            <a:r>
              <a:rPr lang="zh-CN" altLang="en-US" sz="2400" u="sng" dirty="0">
                <a:solidFill>
                  <a:schemeClr val="tx1"/>
                </a:solidFill>
                <a:latin typeface="微软雅黑" panose="020B0503020204020204" pitchFamily="34" charset="-122"/>
                <a:ea typeface="微软雅黑" panose="020B0503020204020204" pitchFamily="34" charset="-122"/>
                <a:sym typeface="+mn-ea"/>
              </a:rPr>
              <a:t>？</a:t>
            </a:r>
            <a:r>
              <a:rPr lang="zh-CN" altLang="en-US" sz="2400" b="1" dirty="0">
                <a:latin typeface="微软雅黑" panose="020B0503020204020204" pitchFamily="34" charset="-122"/>
                <a:ea typeface="微软雅黑" panose="020B0503020204020204" pitchFamily="34" charset="-122"/>
              </a:rPr>
              <a:t>）的电位，验证自编程序的正确性。</a:t>
            </a:r>
          </a:p>
        </p:txBody>
      </p:sp>
    </p:spTree>
    <p:extLst>
      <p:ext uri="{BB962C8B-B14F-4D97-AF65-F5344CB8AC3E}">
        <p14:creationId xmlns:p14="http://schemas.microsoft.com/office/powerpoint/2010/main" val="1127779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DCAB-B5EF-9CD9-98A5-769C7E34FFCF}"/>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3173CC6A-AB61-1608-19DD-21A5F32C264C}"/>
              </a:ext>
            </a:extLst>
          </p:cNvPr>
          <p:cNvSpPr txBox="1"/>
          <p:nvPr/>
        </p:nvSpPr>
        <p:spPr>
          <a:xfrm>
            <a:off x="2281482" y="1546707"/>
            <a:ext cx="7294908"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附</a:t>
            </a:r>
            <a:r>
              <a:rPr lang="en-US" altLang="zh-CN" sz="3600" b="1" dirty="0">
                <a:solidFill>
                  <a:srgbClr val="00467F"/>
                </a:solidFill>
                <a:latin typeface="微软雅黑" panose="020B0503020204020204" pitchFamily="34" charset="-122"/>
                <a:ea typeface="微软雅黑" panose="020B0503020204020204" pitchFamily="34" charset="-122"/>
              </a:rPr>
              <a:t>1.  MWORKS SYSLAB</a:t>
            </a:r>
            <a:r>
              <a:rPr lang="zh-CN" altLang="en-US" sz="3600" b="1" dirty="0">
                <a:solidFill>
                  <a:srgbClr val="00467F"/>
                </a:solidFill>
                <a:latin typeface="微软雅黑" panose="020B0503020204020204" pitchFamily="34" charset="-122"/>
                <a:ea typeface="微软雅黑" panose="020B0503020204020204" pitchFamily="34" charset="-122"/>
              </a:rPr>
              <a:t>软件</a:t>
            </a:r>
          </a:p>
        </p:txBody>
      </p:sp>
      <p:sp>
        <p:nvSpPr>
          <p:cNvPr id="13" name="TextBox 4">
            <a:extLst>
              <a:ext uri="{FF2B5EF4-FFF2-40B4-BE49-F238E27FC236}">
                <a16:creationId xmlns:a16="http://schemas.microsoft.com/office/drawing/2014/main" id="{8BE81ACB-1F60-CE85-F4D5-8A70E86BD6F1}"/>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14</a:t>
            </a:fld>
            <a:endParaRPr lang="id-ID" sz="1200" dirty="0"/>
          </a:p>
        </p:txBody>
      </p:sp>
      <p:sp>
        <p:nvSpPr>
          <p:cNvPr id="4" name="矩形 3">
            <a:extLst>
              <a:ext uri="{FF2B5EF4-FFF2-40B4-BE49-F238E27FC236}">
                <a16:creationId xmlns:a16="http://schemas.microsoft.com/office/drawing/2014/main" id="{0504B87A-35C0-1D37-BC96-C71DCD639C8B}"/>
              </a:ext>
            </a:extLst>
          </p:cNvPr>
          <p:cNvSpPr/>
          <p:nvPr/>
        </p:nvSpPr>
        <p:spPr>
          <a:xfrm>
            <a:off x="4252664" y="2911487"/>
            <a:ext cx="3968423"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r>
              <a:rPr lang="en-US" altLang="zh-CN" sz="2400" dirty="0">
                <a:latin typeface="Times New Roman" panose="02020603050405020304" pitchFamily="18" charset="0"/>
                <a:cs typeface="Times New Roman" panose="02020603050405020304" pitchFamily="18" charset="0"/>
              </a:rPr>
              <a:t>MWORKS </a:t>
            </a:r>
            <a:r>
              <a:rPr lang="zh-CN" altLang="en-US" sz="2400" dirty="0">
                <a:latin typeface="Times New Roman" panose="02020603050405020304" pitchFamily="18" charset="0"/>
                <a:cs typeface="Times New Roman" panose="02020603050405020304" pitchFamily="18" charset="0"/>
              </a:rPr>
              <a:t>软件</a:t>
            </a:r>
            <a:r>
              <a:rPr lang="zh-CN" altLang="en-US" sz="2400" dirty="0"/>
              <a:t>简介</a:t>
            </a:r>
            <a:endParaRPr lang="zh-CN" altLang="en-US" sz="2400" spc="200" dirty="0">
              <a:latin typeface="黑体" panose="02010609060101010101" pitchFamily="49" charset="-122"/>
              <a:ea typeface="黑体" panose="02010609060101010101" pitchFamily="49" charset="-122"/>
            </a:endParaRPr>
          </a:p>
        </p:txBody>
      </p:sp>
      <p:sp>
        <p:nvSpPr>
          <p:cNvPr id="5" name="椭圆 4">
            <a:extLst>
              <a:ext uri="{FF2B5EF4-FFF2-40B4-BE49-F238E27FC236}">
                <a16:creationId xmlns:a16="http://schemas.microsoft.com/office/drawing/2014/main" id="{807CFB46-1D55-EC5C-33E8-01586441C7B3}"/>
              </a:ext>
            </a:extLst>
          </p:cNvPr>
          <p:cNvSpPr/>
          <p:nvPr/>
        </p:nvSpPr>
        <p:spPr>
          <a:xfrm>
            <a:off x="3406193" y="2787388"/>
            <a:ext cx="741318" cy="719742"/>
          </a:xfrm>
          <a:prstGeom prst="ellipse">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一</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6" name="椭圆 5">
            <a:extLst>
              <a:ext uri="{FF2B5EF4-FFF2-40B4-BE49-F238E27FC236}">
                <a16:creationId xmlns:a16="http://schemas.microsoft.com/office/drawing/2014/main" id="{96FC4263-BDE0-FBD8-E5E5-E5D0D7226940}"/>
              </a:ext>
            </a:extLst>
          </p:cNvPr>
          <p:cNvSpPr/>
          <p:nvPr/>
        </p:nvSpPr>
        <p:spPr>
          <a:xfrm>
            <a:off x="3406193" y="4029741"/>
            <a:ext cx="741318" cy="719742"/>
          </a:xfrm>
          <a:prstGeom prst="ellipse">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二</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id="{D0BF0768-96B0-4290-87EF-8DC4D6042A48}"/>
              </a:ext>
            </a:extLst>
          </p:cNvPr>
          <p:cNvSpPr/>
          <p:nvPr/>
        </p:nvSpPr>
        <p:spPr>
          <a:xfrm>
            <a:off x="4252664" y="4163719"/>
            <a:ext cx="4137671"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en-US" altLang="zh-CN" sz="2400" dirty="0">
                <a:latin typeface="Times New Roman" panose="02020603050405020304" pitchFamily="18" charset="0"/>
                <a:cs typeface="Times New Roman" panose="02020603050405020304" pitchFamily="18" charset="0"/>
              </a:rPr>
              <a:t>MWORKS SYSLAB </a:t>
            </a:r>
            <a:r>
              <a:rPr lang="zh-CN" altLang="en-US" sz="2400" dirty="0">
                <a:latin typeface="Times New Roman" panose="02020603050405020304" pitchFamily="18" charset="0"/>
                <a:cs typeface="Times New Roman" panose="02020603050405020304" pitchFamily="18" charset="0"/>
              </a:rPr>
              <a:t>快速入门</a:t>
            </a:r>
          </a:p>
        </p:txBody>
      </p:sp>
      <p:sp>
        <p:nvSpPr>
          <p:cNvPr id="8" name="椭圆 7">
            <a:extLst>
              <a:ext uri="{FF2B5EF4-FFF2-40B4-BE49-F238E27FC236}">
                <a16:creationId xmlns:a16="http://schemas.microsoft.com/office/drawing/2014/main" id="{72765CE6-145D-3608-BDBB-3495E1474033}"/>
              </a:ext>
            </a:extLst>
          </p:cNvPr>
          <p:cNvSpPr/>
          <p:nvPr/>
        </p:nvSpPr>
        <p:spPr>
          <a:xfrm>
            <a:off x="3434836" y="5296030"/>
            <a:ext cx="741318" cy="719742"/>
          </a:xfrm>
          <a:prstGeom prst="ellipse">
            <a:avLst/>
          </a:prstGeom>
          <a:solidFill>
            <a:srgbClr val="004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3600"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rPr>
              <a:t>三</a:t>
            </a:r>
            <a:endParaRPr lang="zh-CN" altLang="en-US" dirty="0">
              <a:solidFill>
                <a:schemeClr val="bg1"/>
              </a:solidFill>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9" name="矩形 8">
            <a:extLst>
              <a:ext uri="{FF2B5EF4-FFF2-40B4-BE49-F238E27FC236}">
                <a16:creationId xmlns:a16="http://schemas.microsoft.com/office/drawing/2014/main" id="{D05813BC-ACB5-2FD8-36CD-F6EFC5135AD9}"/>
              </a:ext>
            </a:extLst>
          </p:cNvPr>
          <p:cNvSpPr/>
          <p:nvPr/>
        </p:nvSpPr>
        <p:spPr>
          <a:xfrm>
            <a:off x="4252664" y="5430008"/>
            <a:ext cx="4235455"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77">
              <a:defRPr/>
            </a:pPr>
            <a:r>
              <a:rPr lang="en-US" altLang="zh-CN" sz="2400" dirty="0">
                <a:latin typeface="Times New Roman" panose="02020603050405020304" pitchFamily="18" charset="0"/>
                <a:cs typeface="Times New Roman" panose="02020603050405020304" pitchFamily="18" charset="0"/>
              </a:rPr>
              <a:t>MWORKS SYSLAB </a:t>
            </a:r>
            <a:r>
              <a:rPr lang="zh-CN" altLang="en-US" sz="2400" dirty="0">
                <a:latin typeface="Times New Roman" panose="02020603050405020304" pitchFamily="18" charset="0"/>
                <a:cs typeface="Times New Roman" panose="02020603050405020304" pitchFamily="18" charset="0"/>
              </a:rPr>
              <a:t>基本语句</a:t>
            </a:r>
            <a:endParaRPr lang="zh-CN" altLang="en-US" sz="2400" spc="200" dirty="0">
              <a:latin typeface="+mn-ea"/>
            </a:endParaRPr>
          </a:p>
        </p:txBody>
      </p:sp>
    </p:spTree>
    <p:extLst>
      <p:ext uri="{BB962C8B-B14F-4D97-AF65-F5344CB8AC3E}">
        <p14:creationId xmlns:p14="http://schemas.microsoft.com/office/powerpoint/2010/main" val="908983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2F07B-059F-88C0-0229-5C44D6448419}"/>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5E1BB2F7-24DA-F333-FAC1-51B96B1FB01F}"/>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一</a:t>
            </a:r>
            <a:r>
              <a:rPr lang="en-US" altLang="zh-CN" sz="3600" b="1" dirty="0">
                <a:solidFill>
                  <a:srgbClr val="00467F"/>
                </a:solidFill>
                <a:latin typeface="微软雅黑" panose="020B0503020204020204" pitchFamily="34" charset="-122"/>
                <a:ea typeface="微软雅黑" panose="020B0503020204020204" pitchFamily="34" charset="-122"/>
              </a:rPr>
              <a:t>. MWORKS</a:t>
            </a:r>
            <a:r>
              <a:rPr lang="zh-CN" altLang="en-US" sz="3600" b="1" dirty="0">
                <a:solidFill>
                  <a:srgbClr val="00467F"/>
                </a:solidFill>
                <a:latin typeface="微软雅黑" panose="020B0503020204020204" pitchFamily="34" charset="-122"/>
                <a:ea typeface="微软雅黑" panose="020B0503020204020204" pitchFamily="34" charset="-122"/>
              </a:rPr>
              <a:t>软件简介</a:t>
            </a:r>
          </a:p>
        </p:txBody>
      </p:sp>
      <p:sp>
        <p:nvSpPr>
          <p:cNvPr id="13" name="TextBox 4">
            <a:extLst>
              <a:ext uri="{FF2B5EF4-FFF2-40B4-BE49-F238E27FC236}">
                <a16:creationId xmlns:a16="http://schemas.microsoft.com/office/drawing/2014/main" id="{C83980A6-EA82-4806-CBEF-5BC65E6DD1C0}"/>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15</a:t>
            </a:fld>
            <a:endParaRPr lang="id-ID" sz="1200" dirty="0"/>
          </a:p>
        </p:txBody>
      </p:sp>
      <p:sp>
        <p:nvSpPr>
          <p:cNvPr id="15" name="文本框 14">
            <a:extLst>
              <a:ext uri="{FF2B5EF4-FFF2-40B4-BE49-F238E27FC236}">
                <a16:creationId xmlns:a16="http://schemas.microsoft.com/office/drawing/2014/main" id="{1EACB49A-9498-EEFB-7F5C-5BC777645B4E}"/>
              </a:ext>
            </a:extLst>
          </p:cNvPr>
          <p:cNvSpPr txBox="1"/>
          <p:nvPr/>
        </p:nvSpPr>
        <p:spPr>
          <a:xfrm>
            <a:off x="6520066" y="6435720"/>
            <a:ext cx="2576286" cy="369332"/>
          </a:xfrm>
          <a:prstGeom prst="rect">
            <a:avLst/>
          </a:prstGeom>
          <a:noFill/>
        </p:spPr>
        <p:txBody>
          <a:bodyPr wrap="square" rtlCol="0">
            <a:spAutoFit/>
          </a:bodyPr>
          <a:lstStyle/>
          <a:p>
            <a:pPr algn="ctr"/>
            <a:r>
              <a:rPr lang="en-US" altLang="zh-CN" dirty="0"/>
              <a:t>MWORKS</a:t>
            </a:r>
            <a:r>
              <a:rPr lang="zh-CN" altLang="en-US" dirty="0"/>
              <a:t>软件产品库</a:t>
            </a:r>
            <a:endParaRPr lang="en-US" altLang="zh-CN" dirty="0"/>
          </a:p>
        </p:txBody>
      </p:sp>
      <p:pic>
        <p:nvPicPr>
          <p:cNvPr id="20482" name="Picture 2">
            <a:extLst>
              <a:ext uri="{FF2B5EF4-FFF2-40B4-BE49-F238E27FC236}">
                <a16:creationId xmlns:a16="http://schemas.microsoft.com/office/drawing/2014/main" id="{FAB8A403-7755-2847-DF5A-7496AC3A4B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9571" y="993112"/>
            <a:ext cx="8737277" cy="558110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946AACA5-7272-984B-B4CB-14F3BF7DD32A}"/>
              </a:ext>
            </a:extLst>
          </p:cNvPr>
          <p:cNvSpPr txBox="1"/>
          <p:nvPr/>
        </p:nvSpPr>
        <p:spPr>
          <a:xfrm>
            <a:off x="378725" y="1142401"/>
            <a:ext cx="3006161" cy="5096203"/>
          </a:xfrm>
          <a:prstGeom prst="rect">
            <a:avLst/>
          </a:prstGeom>
          <a:noFill/>
        </p:spPr>
        <p:txBody>
          <a:bodyPr wrap="square">
            <a:spAutoFit/>
          </a:bodyPr>
          <a:lstStyle/>
          <a:p>
            <a:pPr algn="just">
              <a:lnSpc>
                <a:spcPct val="120000"/>
              </a:lnSpc>
            </a:pPr>
            <a:r>
              <a:rPr lang="en-US" altLang="zh-CN" sz="1600" b="0" i="0" dirty="0">
                <a:solidFill>
                  <a:srgbClr val="333333"/>
                </a:solidFill>
                <a:effectLst/>
                <a:latin typeface="-apple-system"/>
              </a:rPr>
              <a:t>         </a:t>
            </a:r>
            <a:r>
              <a:rPr lang="en-US" altLang="zh-CN" sz="1600" dirty="0">
                <a:solidFill>
                  <a:srgbClr val="000000"/>
                </a:solidFill>
                <a:latin typeface="等线" panose="02010600030101010101" pitchFamily="2" charset="-122"/>
                <a:ea typeface="等线" panose="02010600030101010101" pitchFamily="2" charset="-122"/>
              </a:rPr>
              <a:t>MWORKS</a:t>
            </a:r>
            <a:r>
              <a:rPr lang="zh-CN" altLang="en-US" sz="1600" dirty="0">
                <a:solidFill>
                  <a:srgbClr val="000000"/>
                </a:solidFill>
                <a:latin typeface="等线" panose="02010600030101010101" pitchFamily="2" charset="-122"/>
                <a:ea typeface="等线" panose="02010600030101010101" pitchFamily="2" charset="-122"/>
              </a:rPr>
              <a:t>是面向数字化与智能化融合推出的新一代、自主可控的</a:t>
            </a:r>
            <a:r>
              <a:rPr lang="zh-CN" altLang="en-US" sz="1600" b="1" dirty="0">
                <a:solidFill>
                  <a:srgbClr val="000000"/>
                </a:solidFill>
                <a:latin typeface="等线" panose="02010600030101010101" pitchFamily="2" charset="-122"/>
                <a:ea typeface="等线" panose="02010600030101010101" pitchFamily="2" charset="-122"/>
              </a:rPr>
              <a:t>科学计算与系统建模仿真平台</a:t>
            </a:r>
            <a:r>
              <a:rPr lang="zh-CN" altLang="en-US" sz="1600" dirty="0">
                <a:solidFill>
                  <a:srgbClr val="000000"/>
                </a:solidFill>
                <a:latin typeface="等线" panose="02010600030101010101" pitchFamily="2" charset="-122"/>
                <a:ea typeface="等线" panose="02010600030101010101" pitchFamily="2" charset="-122"/>
              </a:rPr>
              <a:t>，作为新一代装备数智化平台底座，全面支持信息物理融合系统的设计、建模、仿真、计算、验证及运维。</a:t>
            </a:r>
            <a:endParaRPr lang="en-US" altLang="zh-CN" sz="1600" dirty="0">
              <a:solidFill>
                <a:srgbClr val="000000"/>
              </a:solidFill>
              <a:latin typeface="等线" panose="02010600030101010101" pitchFamily="2" charset="-122"/>
              <a:ea typeface="等线" panose="02010600030101010101" pitchFamily="2" charset="-122"/>
            </a:endParaRPr>
          </a:p>
          <a:p>
            <a:pPr marL="285750" indent="-285750" algn="just">
              <a:lnSpc>
                <a:spcPct val="120000"/>
              </a:lnSpc>
              <a:buFont typeface="Wingdings" panose="05000000000000000000" pitchFamily="2" charset="2"/>
              <a:buChar char="Ø"/>
            </a:pPr>
            <a:r>
              <a:rPr lang="en-US" altLang="zh-CN" sz="1600" b="1" dirty="0" err="1">
                <a:solidFill>
                  <a:srgbClr val="000000"/>
                </a:solidFill>
                <a:latin typeface="等线" panose="02010600030101010101" pitchFamily="2" charset="-122"/>
                <a:ea typeface="等线" panose="02010600030101010101" pitchFamily="2" charset="-122"/>
              </a:rPr>
              <a:t>Syslab</a:t>
            </a:r>
            <a:r>
              <a:rPr lang="zh-CN" altLang="en-US" sz="1600" b="1" dirty="0">
                <a:solidFill>
                  <a:srgbClr val="000000"/>
                </a:solidFill>
                <a:latin typeface="等线" panose="02010600030101010101" pitchFamily="2" charset="-122"/>
                <a:ea typeface="等线" panose="02010600030101010101" pitchFamily="2" charset="-122"/>
              </a:rPr>
              <a:t>：</a:t>
            </a:r>
            <a:r>
              <a:rPr lang="zh-CN" altLang="en-US" sz="1600" dirty="0">
                <a:solidFill>
                  <a:srgbClr val="000000"/>
                </a:solidFill>
                <a:latin typeface="等线" panose="02010600030101010101" pitchFamily="2" charset="-122"/>
                <a:ea typeface="等线" panose="02010600030101010101" pitchFamily="2" charset="-122"/>
              </a:rPr>
              <a:t>基于科学计算语言</a:t>
            </a:r>
            <a:r>
              <a:rPr lang="en-US" altLang="zh-CN" sz="1600" dirty="0">
                <a:solidFill>
                  <a:srgbClr val="000000"/>
                </a:solidFill>
                <a:latin typeface="等线" panose="02010600030101010101" pitchFamily="2" charset="-122"/>
                <a:ea typeface="等线" panose="02010600030101010101" pitchFamily="2" charset="-122"/>
              </a:rPr>
              <a:t>Julia</a:t>
            </a:r>
            <a:r>
              <a:rPr lang="zh-CN" altLang="en-US" sz="1600" dirty="0">
                <a:solidFill>
                  <a:srgbClr val="000000"/>
                </a:solidFill>
                <a:latin typeface="等线" panose="02010600030101010101" pitchFamily="2" charset="-122"/>
                <a:ea typeface="等线" panose="02010600030101010101" pitchFamily="2" charset="-122"/>
              </a:rPr>
              <a:t>，</a:t>
            </a:r>
            <a:r>
              <a:rPr lang="zh-CN" altLang="en-US" sz="1600" b="1" dirty="0">
                <a:solidFill>
                  <a:srgbClr val="000000"/>
                </a:solidFill>
                <a:latin typeface="等线" panose="02010600030101010101" pitchFamily="2" charset="-122"/>
                <a:ea typeface="等线" panose="02010600030101010101" pitchFamily="2" charset="-122"/>
              </a:rPr>
              <a:t>提供通用编程与算法开发、数据分析与可视化等功能。</a:t>
            </a:r>
            <a:endParaRPr lang="en-US" altLang="zh-CN" sz="1600" b="1" dirty="0">
              <a:solidFill>
                <a:srgbClr val="000000"/>
              </a:solidFill>
              <a:latin typeface="等线" panose="02010600030101010101" pitchFamily="2" charset="-122"/>
              <a:ea typeface="等线" panose="02010600030101010101" pitchFamily="2" charset="-122"/>
            </a:endParaRPr>
          </a:p>
          <a:p>
            <a:pPr marL="285750" indent="-285750" algn="just">
              <a:lnSpc>
                <a:spcPct val="120000"/>
              </a:lnSpc>
              <a:buFont typeface="Wingdings" panose="05000000000000000000" pitchFamily="2" charset="2"/>
              <a:buChar char="Ø"/>
            </a:pPr>
            <a:r>
              <a:rPr lang="en-US" altLang="zh-CN" sz="1600" b="1" dirty="0" err="1">
                <a:solidFill>
                  <a:srgbClr val="000000"/>
                </a:solidFill>
                <a:latin typeface="等线" panose="02010600030101010101" pitchFamily="2" charset="-122"/>
                <a:ea typeface="等线" panose="02010600030101010101" pitchFamily="2" charset="-122"/>
              </a:rPr>
              <a:t>Sysplorer</a:t>
            </a:r>
            <a:r>
              <a:rPr lang="zh-CN" altLang="en-US" sz="1600" dirty="0">
                <a:solidFill>
                  <a:srgbClr val="000000"/>
                </a:solidFill>
                <a:latin typeface="等线" panose="02010600030101010101" pitchFamily="2" charset="-122"/>
                <a:ea typeface="等线" panose="02010600030101010101" pitchFamily="2" charset="-122"/>
              </a:rPr>
              <a:t>：支持多领域统一建模规范</a:t>
            </a:r>
            <a:r>
              <a:rPr lang="en-US" altLang="zh-CN" sz="1600" dirty="0" err="1">
                <a:solidFill>
                  <a:srgbClr val="000000"/>
                </a:solidFill>
                <a:latin typeface="等线" panose="02010600030101010101" pitchFamily="2" charset="-122"/>
                <a:ea typeface="等线" panose="02010600030101010101" pitchFamily="2" charset="-122"/>
              </a:rPr>
              <a:t>Modelica</a:t>
            </a:r>
            <a:r>
              <a:rPr lang="zh-CN" altLang="en-US" sz="1600" dirty="0">
                <a:solidFill>
                  <a:srgbClr val="000000"/>
                </a:solidFill>
                <a:latin typeface="等线" panose="02010600030101010101" pitchFamily="2" charset="-122"/>
                <a:ea typeface="等线" panose="02010600030101010101" pitchFamily="2" charset="-122"/>
              </a:rPr>
              <a:t>，</a:t>
            </a:r>
            <a:r>
              <a:rPr lang="zh-CN" altLang="en-US" sz="1600" b="1" dirty="0">
                <a:solidFill>
                  <a:srgbClr val="000000"/>
                </a:solidFill>
                <a:latin typeface="等线" panose="02010600030101010101" pitchFamily="2" charset="-122"/>
                <a:ea typeface="等线" panose="02010600030101010101" pitchFamily="2" charset="-122"/>
              </a:rPr>
              <a:t>提供系统建模、编译分析、仿真求解、可视化后处理、模型驱动的代码生成与实时仿真等功能。</a:t>
            </a:r>
            <a:endParaRPr lang="en-US" altLang="zh-CN" sz="1600" b="1" dirty="0">
              <a:solidFill>
                <a:srgbClr val="000000"/>
              </a:solidFill>
              <a:latin typeface="等线" panose="02010600030101010101" pitchFamily="2" charset="-122"/>
              <a:ea typeface="等线" panose="02010600030101010101" pitchFamily="2" charset="-122"/>
            </a:endParaRPr>
          </a:p>
        </p:txBody>
      </p:sp>
      <p:sp>
        <p:nvSpPr>
          <p:cNvPr id="3" name="矩形: 圆角 2">
            <a:extLst>
              <a:ext uri="{FF2B5EF4-FFF2-40B4-BE49-F238E27FC236}">
                <a16:creationId xmlns:a16="http://schemas.microsoft.com/office/drawing/2014/main" id="{80AFCF46-FAB0-3245-1963-10DB23645FF5}"/>
              </a:ext>
            </a:extLst>
          </p:cNvPr>
          <p:cNvSpPr/>
          <p:nvPr/>
        </p:nvSpPr>
        <p:spPr>
          <a:xfrm>
            <a:off x="3548940" y="3284376"/>
            <a:ext cx="8444204" cy="1679510"/>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7688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3BC68-3B5D-35C4-37D3-F269E0CEF7DE}"/>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26674273-F3B8-8A3F-EC5A-46D2BA10E65E}"/>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二</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快速入门</a:t>
            </a:r>
          </a:p>
        </p:txBody>
      </p:sp>
      <p:sp>
        <p:nvSpPr>
          <p:cNvPr id="13" name="TextBox 4">
            <a:extLst>
              <a:ext uri="{FF2B5EF4-FFF2-40B4-BE49-F238E27FC236}">
                <a16:creationId xmlns:a16="http://schemas.microsoft.com/office/drawing/2014/main" id="{8A1672D3-DE06-3486-F8EE-72FE985ECA6C}"/>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16</a:t>
            </a:fld>
            <a:endParaRPr lang="id-ID" sz="1200" dirty="0"/>
          </a:p>
        </p:txBody>
      </p:sp>
      <p:pic>
        <p:nvPicPr>
          <p:cNvPr id="1026" name="Picture 2">
            <a:extLst>
              <a:ext uri="{FF2B5EF4-FFF2-40B4-BE49-F238E27FC236}">
                <a16:creationId xmlns:a16="http://schemas.microsoft.com/office/drawing/2014/main" id="{222EB01A-DDB6-5D57-C6F5-4BA53A4C3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249" y="1359977"/>
            <a:ext cx="10394301" cy="541911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F02990C2-1E5A-47F2-6248-AAFC92CCA0A2}"/>
              </a:ext>
            </a:extLst>
          </p:cNvPr>
          <p:cNvSpPr txBox="1"/>
          <p:nvPr/>
        </p:nvSpPr>
        <p:spPr>
          <a:xfrm>
            <a:off x="4430107" y="1376341"/>
            <a:ext cx="4902837" cy="338554"/>
          </a:xfrm>
          <a:prstGeom prst="rect">
            <a:avLst/>
          </a:prstGeom>
          <a:noFill/>
        </p:spPr>
        <p:txBody>
          <a:bodyPr wrap="square">
            <a:spAutoFit/>
          </a:bodyPr>
          <a:lstStyle/>
          <a:p>
            <a:r>
              <a:rPr lang="zh-CN" altLang="en-US" sz="1600" b="0" i="0">
                <a:solidFill>
                  <a:srgbClr val="FF0000"/>
                </a:solidFill>
                <a:effectLst/>
                <a:latin typeface="Microsoft YaHei" panose="020B0503020204020204" pitchFamily="34" charset="-122"/>
                <a:ea typeface="Microsoft YaHei" panose="020B0503020204020204" pitchFamily="34" charset="-122"/>
              </a:rPr>
              <a:t>工具栏，用于提供快捷操作按钮</a:t>
            </a:r>
            <a:endParaRPr lang="zh-CN" altLang="en-US" sz="1600" dirty="0">
              <a:solidFill>
                <a:srgbClr val="FF0000"/>
              </a:solidFill>
            </a:endParaRPr>
          </a:p>
        </p:txBody>
      </p:sp>
      <p:sp>
        <p:nvSpPr>
          <p:cNvPr id="8" name="文本框 7">
            <a:extLst>
              <a:ext uri="{FF2B5EF4-FFF2-40B4-BE49-F238E27FC236}">
                <a16:creationId xmlns:a16="http://schemas.microsoft.com/office/drawing/2014/main" id="{3F48C56D-1BC5-DCED-FCEC-CC12AD38ECE3}"/>
              </a:ext>
            </a:extLst>
          </p:cNvPr>
          <p:cNvSpPr txBox="1"/>
          <p:nvPr/>
        </p:nvSpPr>
        <p:spPr>
          <a:xfrm>
            <a:off x="1005374" y="3654034"/>
            <a:ext cx="2101720" cy="830997"/>
          </a:xfrm>
          <a:prstGeom prst="rect">
            <a:avLst/>
          </a:prstGeom>
          <a:noFill/>
        </p:spPr>
        <p:txBody>
          <a:bodyPr wrap="square">
            <a:spAutoFit/>
          </a:bodyPr>
          <a:lstStyle/>
          <a:p>
            <a:r>
              <a:rPr lang="zh-CN" altLang="en-US" sz="1600" b="0" i="0" dirty="0">
                <a:solidFill>
                  <a:srgbClr val="FF0000"/>
                </a:solidFill>
                <a:effectLst/>
                <a:latin typeface="Microsoft YaHei" panose="020B0503020204020204" pitchFamily="34" charset="-122"/>
                <a:ea typeface="Microsoft YaHei" panose="020B0503020204020204" pitchFamily="34" charset="-122"/>
              </a:rPr>
              <a:t>左侧边栏，用于提供不同的功能部件，单击可以展开功能面板</a:t>
            </a:r>
            <a:endParaRPr lang="zh-CN" altLang="en-US" sz="1600" dirty="0">
              <a:solidFill>
                <a:srgbClr val="FF0000"/>
              </a:solidFill>
            </a:endParaRPr>
          </a:p>
        </p:txBody>
      </p:sp>
      <p:sp>
        <p:nvSpPr>
          <p:cNvPr id="10" name="文本框 9">
            <a:extLst>
              <a:ext uri="{FF2B5EF4-FFF2-40B4-BE49-F238E27FC236}">
                <a16:creationId xmlns:a16="http://schemas.microsoft.com/office/drawing/2014/main" id="{118DD95D-26B5-A103-6731-66A6C3BA1C9E}"/>
              </a:ext>
            </a:extLst>
          </p:cNvPr>
          <p:cNvSpPr txBox="1"/>
          <p:nvPr/>
        </p:nvSpPr>
        <p:spPr>
          <a:xfrm>
            <a:off x="3235390" y="5667963"/>
            <a:ext cx="6097554" cy="338554"/>
          </a:xfrm>
          <a:prstGeom prst="rect">
            <a:avLst/>
          </a:prstGeom>
          <a:noFill/>
        </p:spPr>
        <p:txBody>
          <a:bodyPr wrap="square">
            <a:spAutoFit/>
          </a:bodyPr>
          <a:lstStyle/>
          <a:p>
            <a:r>
              <a:rPr lang="zh-CN" altLang="en-US" sz="1600" b="0" i="0" dirty="0">
                <a:solidFill>
                  <a:srgbClr val="FF0000"/>
                </a:solidFill>
                <a:effectLst/>
                <a:latin typeface="Microsoft YaHei" panose="020B0503020204020204" pitchFamily="34" charset="-122"/>
                <a:ea typeface="Microsoft YaHei" panose="020B0503020204020204" pitchFamily="34" charset="-122"/>
              </a:rPr>
              <a:t>命令窗口，用于终端交互，可以输入脚本命令，并回显执行结果</a:t>
            </a:r>
            <a:endParaRPr lang="zh-CN" altLang="en-US" sz="1600" dirty="0">
              <a:solidFill>
                <a:srgbClr val="FF0000"/>
              </a:solidFill>
            </a:endParaRPr>
          </a:p>
        </p:txBody>
      </p:sp>
      <p:sp>
        <p:nvSpPr>
          <p:cNvPr id="12" name="文本框 11">
            <a:extLst>
              <a:ext uri="{FF2B5EF4-FFF2-40B4-BE49-F238E27FC236}">
                <a16:creationId xmlns:a16="http://schemas.microsoft.com/office/drawing/2014/main" id="{96DBD961-32C8-A097-1212-07ACA3381E74}"/>
              </a:ext>
            </a:extLst>
          </p:cNvPr>
          <p:cNvSpPr txBox="1"/>
          <p:nvPr/>
        </p:nvSpPr>
        <p:spPr>
          <a:xfrm>
            <a:off x="9520330" y="2972491"/>
            <a:ext cx="1666296" cy="830997"/>
          </a:xfrm>
          <a:prstGeom prst="rect">
            <a:avLst/>
          </a:prstGeom>
          <a:noFill/>
        </p:spPr>
        <p:txBody>
          <a:bodyPr wrap="square">
            <a:spAutoFit/>
          </a:bodyPr>
          <a:lstStyle/>
          <a:p>
            <a:r>
              <a:rPr lang="zh-CN" altLang="en-US" sz="1600" b="0" i="0" dirty="0">
                <a:solidFill>
                  <a:srgbClr val="FF0000"/>
                </a:solidFill>
                <a:effectLst/>
                <a:latin typeface="Microsoft YaHei" panose="020B0503020204020204" pitchFamily="34" charset="-122"/>
                <a:ea typeface="Microsoft YaHei" panose="020B0503020204020204" pitchFamily="34" charset="-122"/>
              </a:rPr>
              <a:t>工作区，用于提供全局变量列表的显示与管理</a:t>
            </a:r>
            <a:endParaRPr lang="zh-CN" altLang="en-US" sz="1600" dirty="0">
              <a:solidFill>
                <a:srgbClr val="FF0000"/>
              </a:solidFill>
            </a:endParaRPr>
          </a:p>
        </p:txBody>
      </p:sp>
      <p:sp>
        <p:nvSpPr>
          <p:cNvPr id="16" name="文本框 15">
            <a:extLst>
              <a:ext uri="{FF2B5EF4-FFF2-40B4-BE49-F238E27FC236}">
                <a16:creationId xmlns:a16="http://schemas.microsoft.com/office/drawing/2014/main" id="{2F437998-3E2B-E698-EFD6-191EF5D78FD2}"/>
              </a:ext>
            </a:extLst>
          </p:cNvPr>
          <p:cNvSpPr txBox="1"/>
          <p:nvPr/>
        </p:nvSpPr>
        <p:spPr>
          <a:xfrm>
            <a:off x="2122341" y="5837240"/>
            <a:ext cx="1194318" cy="830997"/>
          </a:xfrm>
          <a:prstGeom prst="rect">
            <a:avLst/>
          </a:prstGeom>
          <a:noFill/>
        </p:spPr>
        <p:txBody>
          <a:bodyPr wrap="square">
            <a:spAutoFit/>
          </a:bodyPr>
          <a:lstStyle/>
          <a:p>
            <a:r>
              <a:rPr lang="zh-CN" altLang="en-US" sz="1600" b="0" i="0" dirty="0">
                <a:solidFill>
                  <a:srgbClr val="FF0000"/>
                </a:solidFill>
                <a:effectLst/>
                <a:latin typeface="Microsoft YaHei" panose="020B0503020204020204" pitchFamily="34" charset="-122"/>
                <a:ea typeface="Microsoft YaHei" panose="020B0503020204020204" pitchFamily="34" charset="-122"/>
              </a:rPr>
              <a:t>状态栏，用于提示状态信息</a:t>
            </a:r>
            <a:endParaRPr lang="zh-CN" altLang="en-US" sz="1600" dirty="0">
              <a:solidFill>
                <a:srgbClr val="FF0000"/>
              </a:solidFill>
            </a:endParaRPr>
          </a:p>
        </p:txBody>
      </p:sp>
      <p:sp>
        <p:nvSpPr>
          <p:cNvPr id="17" name="文本框 16">
            <a:extLst>
              <a:ext uri="{FF2B5EF4-FFF2-40B4-BE49-F238E27FC236}">
                <a16:creationId xmlns:a16="http://schemas.microsoft.com/office/drawing/2014/main" id="{86809692-4FF9-D89A-30DF-DCEDDB5722DF}"/>
              </a:ext>
            </a:extLst>
          </p:cNvPr>
          <p:cNvSpPr txBox="1"/>
          <p:nvPr/>
        </p:nvSpPr>
        <p:spPr>
          <a:xfrm>
            <a:off x="352231" y="951923"/>
            <a:ext cx="6097554" cy="400110"/>
          </a:xfrm>
          <a:prstGeom prst="rect">
            <a:avLst/>
          </a:prstGeom>
          <a:noFill/>
        </p:spPr>
        <p:txBody>
          <a:bodyPr wrap="square">
            <a:spAutoFit/>
          </a:bodyPr>
          <a:lstStyle/>
          <a:p>
            <a:r>
              <a:rPr lang="zh-CN" altLang="en-US" sz="2000" b="1" dirty="0">
                <a:solidFill>
                  <a:srgbClr val="FF0000"/>
                </a:solidFill>
                <a:latin typeface="Microsoft YaHei" panose="020B0503020204020204" pitchFamily="34" charset="-122"/>
                <a:ea typeface="Microsoft YaHei" panose="020B0503020204020204" pitchFamily="34" charset="-122"/>
              </a:rPr>
              <a:t>（一）界面布局</a:t>
            </a:r>
            <a:endParaRPr lang="zh-CN" altLang="en-US" sz="2000" dirty="0">
              <a:solidFill>
                <a:srgbClr val="FF0000"/>
              </a:solidFill>
            </a:endParaRPr>
          </a:p>
        </p:txBody>
      </p:sp>
    </p:spTree>
    <p:extLst>
      <p:ext uri="{BB962C8B-B14F-4D97-AF65-F5344CB8AC3E}">
        <p14:creationId xmlns:p14="http://schemas.microsoft.com/office/powerpoint/2010/main" val="2843530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AED9D-2108-6D80-86DA-5CB939F8F15B}"/>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3EE84072-8A6B-E23F-4605-3BED58B5E76F}"/>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二</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快速入门</a:t>
            </a:r>
          </a:p>
        </p:txBody>
      </p:sp>
      <p:sp>
        <p:nvSpPr>
          <p:cNvPr id="13" name="TextBox 4">
            <a:extLst>
              <a:ext uri="{FF2B5EF4-FFF2-40B4-BE49-F238E27FC236}">
                <a16:creationId xmlns:a16="http://schemas.microsoft.com/office/drawing/2014/main" id="{C5059E01-3238-D83D-F734-E0F4D7558B23}"/>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17</a:t>
            </a:fld>
            <a:endParaRPr lang="id-ID" sz="1200" dirty="0"/>
          </a:p>
        </p:txBody>
      </p:sp>
      <p:sp>
        <p:nvSpPr>
          <p:cNvPr id="4" name="文本框 3">
            <a:extLst>
              <a:ext uri="{FF2B5EF4-FFF2-40B4-BE49-F238E27FC236}">
                <a16:creationId xmlns:a16="http://schemas.microsoft.com/office/drawing/2014/main" id="{C66B5C18-6539-0E9A-541B-0A3E53716DE9}"/>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（二）新建工程操作步骤</a:t>
            </a:r>
            <a:endParaRPr lang="zh-CN" altLang="en-US" sz="2000" dirty="0">
              <a:solidFill>
                <a:srgbClr val="FF0000"/>
              </a:solidFill>
            </a:endParaRPr>
          </a:p>
        </p:txBody>
      </p:sp>
      <p:pic>
        <p:nvPicPr>
          <p:cNvPr id="2050" name="Picture 2">
            <a:extLst>
              <a:ext uri="{FF2B5EF4-FFF2-40B4-BE49-F238E27FC236}">
                <a16:creationId xmlns:a16="http://schemas.microsoft.com/office/drawing/2014/main" id="{53E23DB9-4470-28F0-D6C6-38DE2F413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4494" y="2257630"/>
            <a:ext cx="7909185" cy="445065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B32B21B-2DE2-651E-033F-FE99B4F15140}"/>
              </a:ext>
            </a:extLst>
          </p:cNvPr>
          <p:cNvSpPr txBox="1"/>
          <p:nvPr/>
        </p:nvSpPr>
        <p:spPr>
          <a:xfrm>
            <a:off x="352231" y="1426633"/>
            <a:ext cx="11581622" cy="958404"/>
          </a:xfrm>
          <a:prstGeom prst="rect">
            <a:avLst/>
          </a:prstGeom>
          <a:noFill/>
        </p:spPr>
        <p:txBody>
          <a:bodyPr wrap="square">
            <a:spAutoFit/>
          </a:bodyPr>
          <a:lstStyle/>
          <a:p>
            <a:pPr>
              <a:lnSpc>
                <a:spcPct val="120000"/>
              </a:lnSpc>
            </a:pPr>
            <a:r>
              <a:rPr lang="en-US" altLang="zh-CN" sz="1600" b="1" i="0" dirty="0">
                <a:solidFill>
                  <a:srgbClr val="212121"/>
                </a:solidFill>
                <a:effectLst/>
                <a:latin typeface="Microsoft YaHei" panose="020B0503020204020204" pitchFamily="34" charset="-122"/>
                <a:ea typeface="Microsoft YaHei" panose="020B0503020204020204" pitchFamily="34" charset="-122"/>
              </a:rPr>
              <a:t>1. </a:t>
            </a:r>
            <a:r>
              <a:rPr lang="zh-CN" altLang="en-US" sz="1600" b="1" i="0" dirty="0">
                <a:solidFill>
                  <a:srgbClr val="212121"/>
                </a:solidFill>
                <a:effectLst/>
                <a:latin typeface="Microsoft YaHei" panose="020B0503020204020204" pitchFamily="34" charset="-122"/>
                <a:ea typeface="Microsoft YaHei" panose="020B0503020204020204" pitchFamily="34" charset="-122"/>
              </a:rPr>
              <a:t>打开目标文件夹。</a:t>
            </a:r>
            <a:r>
              <a:rPr lang="zh-CN" altLang="en-US" sz="1600" b="0" i="0" dirty="0">
                <a:solidFill>
                  <a:srgbClr val="212121"/>
                </a:solidFill>
                <a:effectLst/>
                <a:latin typeface="Microsoft YaHei" panose="020B0503020204020204" pitchFamily="34" charset="-122"/>
                <a:ea typeface="Microsoft YaHei" panose="020B0503020204020204" pitchFamily="34" charset="-122"/>
              </a:rPr>
              <a:t>单击侧边栏上的</a:t>
            </a:r>
            <a:r>
              <a:rPr lang="zh-CN" altLang="en-US" sz="1600" b="1" i="0" dirty="0">
                <a:solidFill>
                  <a:srgbClr val="212121"/>
                </a:solidFill>
                <a:effectLst/>
                <a:latin typeface="Microsoft YaHei" panose="020B0503020204020204" pitchFamily="34" charset="-122"/>
                <a:ea typeface="Microsoft YaHei" panose="020B0503020204020204" pitchFamily="34" charset="-122"/>
              </a:rPr>
              <a:t>资源管理器</a:t>
            </a:r>
            <a:r>
              <a:rPr lang="zh-CN" altLang="en-US" sz="1600" b="0" i="0" dirty="0">
                <a:solidFill>
                  <a:srgbClr val="212121"/>
                </a:solidFill>
                <a:effectLst/>
                <a:latin typeface="Microsoft YaHei" panose="020B0503020204020204" pitchFamily="34" charset="-122"/>
                <a:ea typeface="Microsoft YaHei" panose="020B0503020204020204" pitchFamily="34" charset="-122"/>
              </a:rPr>
              <a:t>按钮，</a:t>
            </a:r>
            <a:r>
              <a:rPr lang="zh-CN" altLang="en-US" sz="1600" b="1" i="0" dirty="0">
                <a:solidFill>
                  <a:srgbClr val="212121"/>
                </a:solidFill>
                <a:effectLst/>
                <a:latin typeface="Microsoft YaHei" panose="020B0503020204020204" pitchFamily="34" charset="-122"/>
                <a:ea typeface="Microsoft YaHei" panose="020B0503020204020204" pitchFamily="34" charset="-122"/>
              </a:rPr>
              <a:t>资源管理器</a:t>
            </a:r>
            <a:r>
              <a:rPr lang="zh-CN" altLang="en-US" sz="1600" b="0" i="0" dirty="0">
                <a:solidFill>
                  <a:srgbClr val="212121"/>
                </a:solidFill>
                <a:effectLst/>
                <a:latin typeface="Microsoft YaHei" panose="020B0503020204020204" pitchFamily="34" charset="-122"/>
                <a:ea typeface="Microsoft YaHei" panose="020B0503020204020204" pitchFamily="34" charset="-122"/>
              </a:rPr>
              <a:t>面板展开，当工作区不存在内容时，可以单击</a:t>
            </a:r>
            <a:r>
              <a:rPr lang="zh-CN" altLang="en-US" sz="1600" b="1" i="0" dirty="0">
                <a:solidFill>
                  <a:srgbClr val="212121"/>
                </a:solidFill>
                <a:effectLst/>
                <a:latin typeface="Microsoft YaHei" panose="020B0503020204020204" pitchFamily="34" charset="-122"/>
                <a:ea typeface="Microsoft YaHei" panose="020B0503020204020204" pitchFamily="34" charset="-122"/>
              </a:rPr>
              <a:t>打开文件夹</a:t>
            </a:r>
            <a:r>
              <a:rPr lang="zh-CN" altLang="en-US" sz="1600" b="0" i="0" dirty="0">
                <a:solidFill>
                  <a:srgbClr val="212121"/>
                </a:solidFill>
                <a:effectLst/>
                <a:latin typeface="Microsoft YaHei" panose="020B0503020204020204" pitchFamily="34" charset="-122"/>
                <a:ea typeface="Microsoft YaHei" panose="020B0503020204020204" pitchFamily="34" charset="-122"/>
              </a:rPr>
              <a:t>按钮，弹出文件选择对话框，选择文件夹并确认添加后，即可在资源管理器中打开文件夹。本示例中，打开 </a:t>
            </a:r>
            <a:r>
              <a:rPr lang="en-US" altLang="zh-CN" sz="1600" b="1" i="0" dirty="0">
                <a:solidFill>
                  <a:srgbClr val="212121"/>
                </a:solidFill>
                <a:effectLst/>
                <a:latin typeface="Microsoft YaHei" panose="020B0503020204020204" pitchFamily="34" charset="-122"/>
                <a:ea typeface="Microsoft YaHei" panose="020B0503020204020204" pitchFamily="34" charset="-122"/>
              </a:rPr>
              <a:t>Example</a:t>
            </a:r>
            <a:r>
              <a:rPr lang="zh-CN" altLang="en-US" sz="1600" b="0" i="0" dirty="0">
                <a:solidFill>
                  <a:srgbClr val="212121"/>
                </a:solidFill>
                <a:effectLst/>
                <a:latin typeface="Microsoft YaHei" panose="020B0503020204020204" pitchFamily="34" charset="-122"/>
                <a:ea typeface="Microsoft YaHei" panose="020B0503020204020204" pitchFamily="34" charset="-122"/>
              </a:rPr>
              <a:t> 文件夹，操作步骤如下图：</a:t>
            </a:r>
            <a:endParaRPr lang="zh-CN" altLang="en-US" sz="1600" dirty="0"/>
          </a:p>
        </p:txBody>
      </p:sp>
    </p:spTree>
    <p:extLst>
      <p:ext uri="{BB962C8B-B14F-4D97-AF65-F5344CB8AC3E}">
        <p14:creationId xmlns:p14="http://schemas.microsoft.com/office/powerpoint/2010/main" val="713508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2DB2F-0BE6-46D3-D42C-C8B9A3D8B77C}"/>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3EC09A0D-69FB-16BB-1BC6-C881DA41FB11}"/>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二</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快速入门</a:t>
            </a:r>
          </a:p>
        </p:txBody>
      </p:sp>
      <p:sp>
        <p:nvSpPr>
          <p:cNvPr id="13" name="TextBox 4">
            <a:extLst>
              <a:ext uri="{FF2B5EF4-FFF2-40B4-BE49-F238E27FC236}">
                <a16:creationId xmlns:a16="http://schemas.microsoft.com/office/drawing/2014/main" id="{7A35502D-8706-19FE-96EC-D860863C9E37}"/>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18</a:t>
            </a:fld>
            <a:endParaRPr lang="id-ID" sz="1200" dirty="0"/>
          </a:p>
        </p:txBody>
      </p:sp>
      <p:sp>
        <p:nvSpPr>
          <p:cNvPr id="4" name="文本框 3">
            <a:extLst>
              <a:ext uri="{FF2B5EF4-FFF2-40B4-BE49-F238E27FC236}">
                <a16:creationId xmlns:a16="http://schemas.microsoft.com/office/drawing/2014/main" id="{C7BFE6F8-4991-87BB-367B-3C7943B8D9A4}"/>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（二）新建工程操作步骤</a:t>
            </a:r>
            <a:endParaRPr lang="zh-CN" altLang="en-US" sz="2000" dirty="0">
              <a:solidFill>
                <a:srgbClr val="FF0000"/>
              </a:solidFill>
            </a:endParaRPr>
          </a:p>
        </p:txBody>
      </p:sp>
      <p:sp>
        <p:nvSpPr>
          <p:cNvPr id="7" name="文本框 6">
            <a:extLst>
              <a:ext uri="{FF2B5EF4-FFF2-40B4-BE49-F238E27FC236}">
                <a16:creationId xmlns:a16="http://schemas.microsoft.com/office/drawing/2014/main" id="{A18A0464-6A10-41A6-397A-9E2236D20C51}"/>
              </a:ext>
            </a:extLst>
          </p:cNvPr>
          <p:cNvSpPr txBox="1"/>
          <p:nvPr/>
        </p:nvSpPr>
        <p:spPr>
          <a:xfrm>
            <a:off x="352231" y="1426633"/>
            <a:ext cx="11581622" cy="1253869"/>
          </a:xfrm>
          <a:prstGeom prst="rect">
            <a:avLst/>
          </a:prstGeom>
          <a:noFill/>
        </p:spPr>
        <p:txBody>
          <a:bodyPr wrap="square">
            <a:spAutoFit/>
          </a:bodyPr>
          <a:lstStyle/>
          <a:p>
            <a:pPr>
              <a:lnSpc>
                <a:spcPct val="120000"/>
              </a:lnSpc>
            </a:pPr>
            <a:r>
              <a:rPr lang="en-US" altLang="zh-CN" sz="1600" b="1" i="0" dirty="0">
                <a:solidFill>
                  <a:srgbClr val="212121"/>
                </a:solidFill>
                <a:effectLst/>
                <a:latin typeface="Microsoft YaHei" panose="020B0503020204020204" pitchFamily="34" charset="-122"/>
                <a:ea typeface="Microsoft YaHei" panose="020B0503020204020204" pitchFamily="34" charset="-122"/>
              </a:rPr>
              <a:t>2. </a:t>
            </a:r>
            <a:r>
              <a:rPr lang="zh-CN" altLang="en-US" sz="1600" b="1" i="0" dirty="0">
                <a:solidFill>
                  <a:srgbClr val="212121"/>
                </a:solidFill>
                <a:effectLst/>
                <a:latin typeface="Microsoft YaHei" panose="020B0503020204020204" pitchFamily="34" charset="-122"/>
                <a:ea typeface="Microsoft YaHei" panose="020B0503020204020204" pitchFamily="34" charset="-122"/>
              </a:rPr>
              <a:t>新建文件。</a:t>
            </a:r>
            <a:r>
              <a:rPr lang="zh-CN" altLang="en-US" sz="1600" b="0" i="0" dirty="0">
                <a:solidFill>
                  <a:srgbClr val="212121"/>
                </a:solidFill>
                <a:effectLst/>
                <a:latin typeface="Microsoft YaHei" panose="020B0503020204020204" pitchFamily="34" charset="-122"/>
                <a:ea typeface="Microsoft YaHei" panose="020B0503020204020204" pitchFamily="34" charset="-122"/>
              </a:rPr>
              <a:t>工作区目录树的顶层是一个标题栏，显示的是当前打开文件夹的名称。把鼠标悬停在文件目录树上，工作区标题右侧会显示四个按钮，单击新建文件按钮，会在选中目录位置处新建一个 </a:t>
            </a:r>
            <a:r>
              <a:rPr lang="en-US" altLang="zh-CN" sz="1600" b="0" i="0" dirty="0" err="1">
                <a:solidFill>
                  <a:srgbClr val="212121"/>
                </a:solidFill>
                <a:effectLst/>
                <a:latin typeface="Microsoft YaHei" panose="020B0503020204020204" pitchFamily="34" charset="-122"/>
                <a:ea typeface="Microsoft YaHei" panose="020B0503020204020204" pitchFamily="34" charset="-122"/>
              </a:rPr>
              <a:t>julia</a:t>
            </a:r>
            <a:r>
              <a:rPr lang="en-US" altLang="zh-CN" sz="1600" b="0" i="0" dirty="0">
                <a:solidFill>
                  <a:srgbClr val="212121"/>
                </a:solidFill>
                <a:effectLst/>
                <a:latin typeface="Microsoft YaHei" panose="020B0503020204020204" pitchFamily="34" charset="-122"/>
                <a:ea typeface="Microsoft YaHei" panose="020B0503020204020204" pitchFamily="34" charset="-122"/>
              </a:rPr>
              <a:t> </a:t>
            </a:r>
            <a:r>
              <a:rPr lang="zh-CN" altLang="en-US" sz="1600" b="0" i="0" dirty="0">
                <a:solidFill>
                  <a:srgbClr val="212121"/>
                </a:solidFill>
                <a:effectLst/>
                <a:latin typeface="Microsoft YaHei" panose="020B0503020204020204" pitchFamily="34" charset="-122"/>
                <a:ea typeface="Microsoft YaHei" panose="020B0503020204020204" pitchFamily="34" charset="-122"/>
              </a:rPr>
              <a:t>类型的 </a:t>
            </a:r>
            <a:r>
              <a:rPr lang="en-US" altLang="zh-CN" sz="1600" b="0" i="0" dirty="0">
                <a:solidFill>
                  <a:srgbClr val="212121"/>
                </a:solidFill>
                <a:effectLst/>
                <a:latin typeface="Microsoft YaHei" panose="020B0503020204020204" pitchFamily="34" charset="-122"/>
                <a:ea typeface="Microsoft YaHei" panose="020B0503020204020204" pitchFamily="34" charset="-122"/>
              </a:rPr>
              <a:t>Unnamed </a:t>
            </a:r>
            <a:r>
              <a:rPr lang="zh-CN" altLang="en-US" sz="1600" b="0" i="0" dirty="0">
                <a:solidFill>
                  <a:srgbClr val="212121"/>
                </a:solidFill>
                <a:effectLst/>
                <a:latin typeface="Microsoft YaHei" panose="020B0503020204020204" pitchFamily="34" charset="-122"/>
                <a:ea typeface="Microsoft YaHei" panose="020B0503020204020204" pitchFamily="34" charset="-122"/>
              </a:rPr>
              <a:t>文件，并进入编辑状态，用户自行修改文件名称，退出编辑状态（键盘回车或者鼠标左键单击其它位置），新建文件成功。本示例中，选择 </a:t>
            </a:r>
            <a:r>
              <a:rPr lang="en-US" altLang="zh-CN" sz="1600" b="0" i="0" dirty="0" err="1">
                <a:solidFill>
                  <a:srgbClr val="212121"/>
                </a:solidFill>
                <a:effectLst/>
                <a:latin typeface="Microsoft YaHei" panose="020B0503020204020204" pitchFamily="34" charset="-122"/>
                <a:ea typeface="Microsoft YaHei" panose="020B0503020204020204" pitchFamily="34" charset="-122"/>
              </a:rPr>
              <a:t>src</a:t>
            </a:r>
            <a:r>
              <a:rPr lang="en-US" altLang="zh-CN" sz="1600" b="0" i="0" dirty="0">
                <a:solidFill>
                  <a:srgbClr val="212121"/>
                </a:solidFill>
                <a:effectLst/>
                <a:latin typeface="Microsoft YaHei" panose="020B0503020204020204" pitchFamily="34" charset="-122"/>
                <a:ea typeface="Microsoft YaHei" panose="020B0503020204020204" pitchFamily="34" charset="-122"/>
              </a:rPr>
              <a:t> </a:t>
            </a:r>
            <a:r>
              <a:rPr lang="zh-CN" altLang="en-US" sz="1600" b="0" i="0" dirty="0">
                <a:solidFill>
                  <a:srgbClr val="212121"/>
                </a:solidFill>
                <a:effectLst/>
                <a:latin typeface="Microsoft YaHei" panose="020B0503020204020204" pitchFamily="34" charset="-122"/>
                <a:ea typeface="Microsoft YaHei" panose="020B0503020204020204" pitchFamily="34" charset="-122"/>
              </a:rPr>
              <a:t>文件夹并准备新建文件 </a:t>
            </a:r>
            <a:r>
              <a:rPr lang="en-US" altLang="zh-CN" sz="1600" b="0" i="0" dirty="0" err="1">
                <a:solidFill>
                  <a:srgbClr val="212121"/>
                </a:solidFill>
                <a:effectLst/>
                <a:latin typeface="Microsoft YaHei" panose="020B0503020204020204" pitchFamily="34" charset="-122"/>
                <a:ea typeface="Microsoft YaHei" panose="020B0503020204020204" pitchFamily="34" charset="-122"/>
              </a:rPr>
              <a:t>test.jl</a:t>
            </a:r>
            <a:r>
              <a:rPr lang="en-US" altLang="zh-CN" sz="1600" b="0" i="0" dirty="0">
                <a:solidFill>
                  <a:srgbClr val="212121"/>
                </a:solidFill>
                <a:effectLst/>
                <a:latin typeface="Microsoft YaHei" panose="020B0503020204020204" pitchFamily="34" charset="-122"/>
                <a:ea typeface="Microsoft YaHei" panose="020B0503020204020204" pitchFamily="34" charset="-122"/>
              </a:rPr>
              <a:t> </a:t>
            </a:r>
            <a:r>
              <a:rPr lang="zh-CN" altLang="en-US" sz="1600" b="0" i="0" dirty="0">
                <a:solidFill>
                  <a:srgbClr val="212121"/>
                </a:solidFill>
                <a:effectLst/>
                <a:latin typeface="Microsoft YaHei" panose="020B0503020204020204" pitchFamily="34" charset="-122"/>
                <a:ea typeface="Microsoft YaHei" panose="020B0503020204020204" pitchFamily="34" charset="-122"/>
              </a:rPr>
              <a:t>。操作步骤如下图：</a:t>
            </a:r>
            <a:endParaRPr lang="zh-CN" altLang="en-US" sz="1600" dirty="0"/>
          </a:p>
        </p:txBody>
      </p:sp>
      <p:pic>
        <p:nvPicPr>
          <p:cNvPr id="3076" name="Picture 4">
            <a:extLst>
              <a:ext uri="{FF2B5EF4-FFF2-40B4-BE49-F238E27FC236}">
                <a16:creationId xmlns:a16="http://schemas.microsoft.com/office/drawing/2014/main" id="{28098C75-8381-254E-9043-636E139E43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7432" y="2682870"/>
            <a:ext cx="3905250"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049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3D6FC-B171-D451-F37C-7B81818F84FA}"/>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25810D46-0E25-E1B3-BCFA-D4D2158B70A8}"/>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二</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快速入门</a:t>
            </a:r>
          </a:p>
        </p:txBody>
      </p:sp>
      <p:sp>
        <p:nvSpPr>
          <p:cNvPr id="13" name="TextBox 4">
            <a:extLst>
              <a:ext uri="{FF2B5EF4-FFF2-40B4-BE49-F238E27FC236}">
                <a16:creationId xmlns:a16="http://schemas.microsoft.com/office/drawing/2014/main" id="{F9A0F92D-6B84-032E-176D-E36A09A5F8E2}"/>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19</a:t>
            </a:fld>
            <a:endParaRPr lang="id-ID" sz="1200" dirty="0"/>
          </a:p>
        </p:txBody>
      </p:sp>
      <p:sp>
        <p:nvSpPr>
          <p:cNvPr id="4" name="文本框 3">
            <a:extLst>
              <a:ext uri="{FF2B5EF4-FFF2-40B4-BE49-F238E27FC236}">
                <a16:creationId xmlns:a16="http://schemas.microsoft.com/office/drawing/2014/main" id="{16BF9757-8296-B5FB-CE0E-C6EDFC4EFDB8}"/>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（二）新建工程操作步骤</a:t>
            </a:r>
            <a:endParaRPr lang="zh-CN" altLang="en-US" sz="2000" dirty="0">
              <a:solidFill>
                <a:srgbClr val="FF0000"/>
              </a:solidFill>
            </a:endParaRPr>
          </a:p>
        </p:txBody>
      </p:sp>
      <p:sp>
        <p:nvSpPr>
          <p:cNvPr id="7" name="文本框 6">
            <a:extLst>
              <a:ext uri="{FF2B5EF4-FFF2-40B4-BE49-F238E27FC236}">
                <a16:creationId xmlns:a16="http://schemas.microsoft.com/office/drawing/2014/main" id="{B7D3D93E-2A30-935A-22E0-A47E3F19AA84}"/>
              </a:ext>
            </a:extLst>
          </p:cNvPr>
          <p:cNvSpPr txBox="1"/>
          <p:nvPr/>
        </p:nvSpPr>
        <p:spPr>
          <a:xfrm>
            <a:off x="352231" y="1426633"/>
            <a:ext cx="11581622" cy="953723"/>
          </a:xfrm>
          <a:prstGeom prst="rect">
            <a:avLst/>
          </a:prstGeom>
          <a:noFill/>
        </p:spPr>
        <p:txBody>
          <a:bodyPr wrap="square">
            <a:spAutoFit/>
          </a:bodyPr>
          <a:lstStyle/>
          <a:p>
            <a:pPr>
              <a:lnSpc>
                <a:spcPct val="120000"/>
              </a:lnSpc>
            </a:pPr>
            <a:r>
              <a:rPr lang="en-US" altLang="zh-CN" sz="1600" b="1" i="0" dirty="0">
                <a:solidFill>
                  <a:srgbClr val="212121"/>
                </a:solidFill>
                <a:effectLst/>
                <a:latin typeface="Microsoft YaHei" panose="020B0503020204020204" pitchFamily="34" charset="-122"/>
                <a:ea typeface="Microsoft YaHei" panose="020B0503020204020204" pitchFamily="34" charset="-122"/>
              </a:rPr>
              <a:t>3. </a:t>
            </a:r>
            <a:r>
              <a:rPr lang="zh-CN" altLang="en-US" sz="1600" b="1" i="0" dirty="0">
                <a:solidFill>
                  <a:srgbClr val="212121"/>
                </a:solidFill>
                <a:effectLst/>
                <a:latin typeface="Microsoft YaHei" panose="020B0503020204020204" pitchFamily="34" charset="-122"/>
                <a:ea typeface="Microsoft YaHei" panose="020B0503020204020204" pitchFamily="34" charset="-122"/>
              </a:rPr>
              <a:t>在编辑器内编写代码，保存文件。</a:t>
            </a:r>
            <a:r>
              <a:rPr lang="zh-CN" altLang="en-US" sz="1600" b="0" i="0" dirty="0">
                <a:solidFill>
                  <a:srgbClr val="212121"/>
                </a:solidFill>
                <a:effectLst/>
                <a:latin typeface="Microsoft YaHei" panose="020B0503020204020204" pitchFamily="34" charset="-122"/>
                <a:ea typeface="Microsoft YaHei" panose="020B0503020204020204" pitchFamily="34" charset="-122"/>
              </a:rPr>
              <a:t>若文件内容修改后，编辑器页签标题右侧会显示一个黑点，代表文件存在修改且未进行保存，使用快捷键 </a:t>
            </a:r>
            <a:r>
              <a:rPr lang="en-US" altLang="zh-CN" sz="1600" b="0" i="0" dirty="0">
                <a:solidFill>
                  <a:srgbClr val="212121"/>
                </a:solidFill>
                <a:effectLst/>
                <a:latin typeface="Microsoft YaHei" panose="020B0503020204020204" pitchFamily="34" charset="-122"/>
                <a:ea typeface="Microsoft YaHei" panose="020B0503020204020204" pitchFamily="34" charset="-122"/>
              </a:rPr>
              <a:t>Ctrl + S </a:t>
            </a:r>
            <a:r>
              <a:rPr lang="zh-CN" altLang="en-US" sz="1600" b="0" i="0" dirty="0">
                <a:solidFill>
                  <a:srgbClr val="212121"/>
                </a:solidFill>
                <a:effectLst/>
                <a:latin typeface="Microsoft YaHei" panose="020B0503020204020204" pitchFamily="34" charset="-122"/>
                <a:ea typeface="Microsoft YaHei" panose="020B0503020204020204" pitchFamily="34" charset="-122"/>
              </a:rPr>
              <a:t>，保存修改。</a:t>
            </a:r>
          </a:p>
          <a:p>
            <a:pPr>
              <a:lnSpc>
                <a:spcPct val="120000"/>
              </a:lnSpc>
            </a:pPr>
            <a:endParaRPr lang="zh-CN" altLang="en-US" sz="1600" b="0" i="0" dirty="0">
              <a:solidFill>
                <a:srgbClr val="212121"/>
              </a:solidFill>
              <a:effectLst/>
              <a:latin typeface="Microsoft YaHei" panose="020B0503020204020204" pitchFamily="34" charset="-122"/>
              <a:ea typeface="Microsoft YaHei" panose="020B0503020204020204" pitchFamily="34" charset="-122"/>
            </a:endParaRPr>
          </a:p>
        </p:txBody>
      </p:sp>
      <p:pic>
        <p:nvPicPr>
          <p:cNvPr id="3" name="图片 2">
            <a:extLst>
              <a:ext uri="{FF2B5EF4-FFF2-40B4-BE49-F238E27FC236}">
                <a16:creationId xmlns:a16="http://schemas.microsoft.com/office/drawing/2014/main" id="{25400750-FABA-2708-65AA-16580B61486C}"/>
              </a:ext>
            </a:extLst>
          </p:cNvPr>
          <p:cNvPicPr>
            <a:picLocks noChangeAspect="1"/>
          </p:cNvPicPr>
          <p:nvPr/>
        </p:nvPicPr>
        <p:blipFill>
          <a:blip r:embed="rId2"/>
          <a:stretch>
            <a:fillRect/>
          </a:stretch>
        </p:blipFill>
        <p:spPr>
          <a:xfrm>
            <a:off x="2225740" y="2380356"/>
            <a:ext cx="7124700" cy="3486150"/>
          </a:xfrm>
          <a:prstGeom prst="rect">
            <a:avLst/>
          </a:prstGeom>
        </p:spPr>
      </p:pic>
    </p:spTree>
    <p:extLst>
      <p:ext uri="{BB962C8B-B14F-4D97-AF65-F5344CB8AC3E}">
        <p14:creationId xmlns:p14="http://schemas.microsoft.com/office/powerpoint/2010/main" val="2462252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F3174-68DA-FFA3-BB47-42498086A250}"/>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6AACFD5B-9C67-B80D-4860-51DD31B57AF2}"/>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二</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快速入门</a:t>
            </a:r>
          </a:p>
        </p:txBody>
      </p:sp>
      <p:sp>
        <p:nvSpPr>
          <p:cNvPr id="13" name="TextBox 4">
            <a:extLst>
              <a:ext uri="{FF2B5EF4-FFF2-40B4-BE49-F238E27FC236}">
                <a16:creationId xmlns:a16="http://schemas.microsoft.com/office/drawing/2014/main" id="{340966B4-2776-5B36-AEB1-2FAEF5662820}"/>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20</a:t>
            </a:fld>
            <a:endParaRPr lang="id-ID" sz="1200" dirty="0"/>
          </a:p>
        </p:txBody>
      </p:sp>
      <p:sp>
        <p:nvSpPr>
          <p:cNvPr id="4" name="文本框 3">
            <a:extLst>
              <a:ext uri="{FF2B5EF4-FFF2-40B4-BE49-F238E27FC236}">
                <a16:creationId xmlns:a16="http://schemas.microsoft.com/office/drawing/2014/main" id="{D6A42D4C-D9A9-ACC1-CBF0-03BADBDD93FB}"/>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（二）新建工程操作步骤</a:t>
            </a:r>
            <a:endParaRPr lang="zh-CN" altLang="en-US" sz="2000" dirty="0">
              <a:solidFill>
                <a:srgbClr val="FF0000"/>
              </a:solidFill>
            </a:endParaRPr>
          </a:p>
        </p:txBody>
      </p:sp>
      <p:sp>
        <p:nvSpPr>
          <p:cNvPr id="7" name="文本框 6">
            <a:extLst>
              <a:ext uri="{FF2B5EF4-FFF2-40B4-BE49-F238E27FC236}">
                <a16:creationId xmlns:a16="http://schemas.microsoft.com/office/drawing/2014/main" id="{E30ABB49-9A4B-BC31-6B45-A26E23FEB258}"/>
              </a:ext>
            </a:extLst>
          </p:cNvPr>
          <p:cNvSpPr txBox="1"/>
          <p:nvPr/>
        </p:nvSpPr>
        <p:spPr>
          <a:xfrm>
            <a:off x="352231" y="1426633"/>
            <a:ext cx="11581622" cy="658257"/>
          </a:xfrm>
          <a:prstGeom prst="rect">
            <a:avLst/>
          </a:prstGeom>
          <a:noFill/>
        </p:spPr>
        <p:txBody>
          <a:bodyPr wrap="square">
            <a:spAutoFit/>
          </a:bodyPr>
          <a:lstStyle/>
          <a:p>
            <a:pPr>
              <a:lnSpc>
                <a:spcPct val="120000"/>
              </a:lnSpc>
            </a:pPr>
            <a:r>
              <a:rPr lang="en-US" altLang="zh-CN" sz="1600" b="1" dirty="0">
                <a:solidFill>
                  <a:srgbClr val="212121"/>
                </a:solidFill>
                <a:latin typeface="Microsoft YaHei" panose="020B0503020204020204" pitchFamily="34" charset="-122"/>
                <a:ea typeface="Microsoft YaHei" panose="020B0503020204020204" pitchFamily="34" charset="-122"/>
              </a:rPr>
              <a:t>4.</a:t>
            </a:r>
            <a:r>
              <a:rPr lang="zh-CN" altLang="en-US" sz="1600" b="1" i="0" dirty="0">
                <a:solidFill>
                  <a:srgbClr val="212121"/>
                </a:solidFill>
                <a:effectLst/>
                <a:latin typeface="Microsoft YaHei" panose="020B0503020204020204" pitchFamily="34" charset="-122"/>
                <a:ea typeface="Microsoft YaHei" panose="020B0503020204020204" pitchFamily="34" charset="-122"/>
              </a:rPr>
              <a:t>执行文件。</a:t>
            </a:r>
            <a:r>
              <a:rPr lang="zh-CN" altLang="en-US" sz="1600" i="0" dirty="0">
                <a:solidFill>
                  <a:srgbClr val="212121"/>
                </a:solidFill>
                <a:effectLst/>
                <a:latin typeface="Microsoft YaHei" panose="020B0503020204020204" pitchFamily="34" charset="-122"/>
                <a:ea typeface="Microsoft YaHei" panose="020B0503020204020204" pitchFamily="34" charset="-122"/>
              </a:rPr>
              <a:t>代码编辑完成后，单击工具栏中的运行，系统将启动命令行窗口并执行该文件脚本。文件运行过程中生成的全局变量，会在右侧的工作区变量树中显示，如果运行结果存在输出信息，信息会在命令行窗口中进行显示。</a:t>
            </a:r>
          </a:p>
        </p:txBody>
      </p:sp>
      <p:pic>
        <p:nvPicPr>
          <p:cNvPr id="4098" name="Picture 2">
            <a:extLst>
              <a:ext uri="{FF2B5EF4-FFF2-40B4-BE49-F238E27FC236}">
                <a16:creationId xmlns:a16="http://schemas.microsoft.com/office/drawing/2014/main" id="{9A4F7336-5225-0A9F-A5B6-91478B792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4115" y="2159490"/>
            <a:ext cx="8686800" cy="4390906"/>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15389CC0-F1CD-1F7E-3EF2-66AC8D5F8E66}"/>
              </a:ext>
            </a:extLst>
          </p:cNvPr>
          <p:cNvSpPr txBox="1"/>
          <p:nvPr/>
        </p:nvSpPr>
        <p:spPr>
          <a:xfrm>
            <a:off x="7191569" y="5394995"/>
            <a:ext cx="1550817" cy="830997"/>
          </a:xfrm>
          <a:prstGeom prst="rect">
            <a:avLst/>
          </a:prstGeom>
          <a:noFill/>
        </p:spPr>
        <p:txBody>
          <a:bodyPr wrap="square">
            <a:spAutoFit/>
          </a:bodyPr>
          <a:lstStyle/>
          <a:p>
            <a:r>
              <a:rPr lang="zh-CN" altLang="en-US" sz="1600" dirty="0">
                <a:solidFill>
                  <a:srgbClr val="FF0000"/>
                </a:solidFill>
                <a:latin typeface="Microsoft YaHei" panose="020B0503020204020204" pitchFamily="34" charset="-122"/>
                <a:ea typeface="Microsoft YaHei" panose="020B0503020204020204" pitchFamily="34" charset="-122"/>
              </a:rPr>
              <a:t>命令行窗口，</a:t>
            </a:r>
            <a:endParaRPr lang="en-US" altLang="zh-CN" sz="1600" dirty="0">
              <a:solidFill>
                <a:srgbClr val="FF0000"/>
              </a:solidFill>
              <a:latin typeface="Microsoft YaHei" panose="020B0503020204020204" pitchFamily="34" charset="-122"/>
              <a:ea typeface="Microsoft YaHei" panose="020B0503020204020204" pitchFamily="34" charset="-122"/>
            </a:endParaRPr>
          </a:p>
          <a:p>
            <a:r>
              <a:rPr lang="zh-CN" altLang="en-US" sz="1600" b="0" i="0" dirty="0">
                <a:solidFill>
                  <a:srgbClr val="FF0000"/>
                </a:solidFill>
                <a:effectLst/>
                <a:latin typeface="Microsoft YaHei" panose="020B0503020204020204" pitchFamily="34" charset="-122"/>
                <a:ea typeface="Microsoft YaHei" panose="020B0503020204020204" pitchFamily="34" charset="-122"/>
              </a:rPr>
              <a:t>显示运行结果的输出信息</a:t>
            </a:r>
            <a:endParaRPr lang="zh-CN" altLang="en-US" sz="1600" dirty="0">
              <a:solidFill>
                <a:srgbClr val="FF0000"/>
              </a:solidFill>
            </a:endParaRPr>
          </a:p>
        </p:txBody>
      </p:sp>
      <p:sp>
        <p:nvSpPr>
          <p:cNvPr id="6" name="文本框 5">
            <a:extLst>
              <a:ext uri="{FF2B5EF4-FFF2-40B4-BE49-F238E27FC236}">
                <a16:creationId xmlns:a16="http://schemas.microsoft.com/office/drawing/2014/main" id="{515714CA-0D2F-022B-D2DD-D766114DD619}"/>
              </a:ext>
            </a:extLst>
          </p:cNvPr>
          <p:cNvSpPr txBox="1"/>
          <p:nvPr/>
        </p:nvSpPr>
        <p:spPr>
          <a:xfrm>
            <a:off x="10641183" y="3617910"/>
            <a:ext cx="1550817" cy="338554"/>
          </a:xfrm>
          <a:prstGeom prst="rect">
            <a:avLst/>
          </a:prstGeom>
          <a:noFill/>
        </p:spPr>
        <p:txBody>
          <a:bodyPr wrap="square">
            <a:spAutoFit/>
          </a:bodyPr>
          <a:lstStyle/>
          <a:p>
            <a:r>
              <a:rPr lang="zh-CN" altLang="en-US" sz="1600" dirty="0">
                <a:solidFill>
                  <a:srgbClr val="FF0000"/>
                </a:solidFill>
                <a:latin typeface="Microsoft YaHei" panose="020B0503020204020204" pitchFamily="34" charset="-122"/>
                <a:ea typeface="Microsoft YaHei" panose="020B0503020204020204" pitchFamily="34" charset="-122"/>
              </a:rPr>
              <a:t>全局变量</a:t>
            </a:r>
            <a:endParaRPr lang="en-US" altLang="zh-CN" sz="1600" dirty="0">
              <a:solidFill>
                <a:srgbClr val="FF0000"/>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D91B3953-D528-6E62-61A2-52DE533C8E16}"/>
              </a:ext>
            </a:extLst>
          </p:cNvPr>
          <p:cNvSpPr txBox="1"/>
          <p:nvPr/>
        </p:nvSpPr>
        <p:spPr>
          <a:xfrm>
            <a:off x="890116" y="2947827"/>
            <a:ext cx="1069510" cy="338554"/>
          </a:xfrm>
          <a:prstGeom prst="rect">
            <a:avLst/>
          </a:prstGeom>
          <a:noFill/>
        </p:spPr>
        <p:txBody>
          <a:bodyPr wrap="square">
            <a:spAutoFit/>
          </a:bodyPr>
          <a:lstStyle/>
          <a:p>
            <a:r>
              <a:rPr lang="zh-CN" altLang="en-US" sz="1600" dirty="0">
                <a:solidFill>
                  <a:srgbClr val="FF0000"/>
                </a:solidFill>
                <a:latin typeface="Microsoft YaHei" panose="020B0503020204020204" pitchFamily="34" charset="-122"/>
                <a:ea typeface="Microsoft YaHei" panose="020B0503020204020204" pitchFamily="34" charset="-122"/>
              </a:rPr>
              <a:t>开始运行</a:t>
            </a:r>
            <a:endParaRPr lang="en-US" altLang="zh-CN" sz="1600" dirty="0">
              <a:solidFill>
                <a:srgbClr val="FF0000"/>
              </a:solidFill>
              <a:latin typeface="Microsoft YaHei" panose="020B0503020204020204" pitchFamily="34" charset="-122"/>
              <a:ea typeface="Microsoft YaHei" panose="020B0503020204020204" pitchFamily="34" charset="-122"/>
            </a:endParaRPr>
          </a:p>
        </p:txBody>
      </p:sp>
      <p:cxnSp>
        <p:nvCxnSpPr>
          <p:cNvPr id="10" name="直接箭头连接符 9">
            <a:extLst>
              <a:ext uri="{FF2B5EF4-FFF2-40B4-BE49-F238E27FC236}">
                <a16:creationId xmlns:a16="http://schemas.microsoft.com/office/drawing/2014/main" id="{75BD0E0A-6634-C472-0438-F441D556AA44}"/>
              </a:ext>
            </a:extLst>
          </p:cNvPr>
          <p:cNvCxnSpPr/>
          <p:nvPr/>
        </p:nvCxnSpPr>
        <p:spPr>
          <a:xfrm flipH="1">
            <a:off x="1716833" y="2519265"/>
            <a:ext cx="1931436" cy="4285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EE6FEF3D-36C9-0027-C8BB-42281CC375F9}"/>
              </a:ext>
            </a:extLst>
          </p:cNvPr>
          <p:cNvCxnSpPr>
            <a:cxnSpLocks/>
            <a:endCxn id="6" idx="1"/>
          </p:cNvCxnSpPr>
          <p:nvPr/>
        </p:nvCxnSpPr>
        <p:spPr>
          <a:xfrm flipV="1">
            <a:off x="10297885" y="3787187"/>
            <a:ext cx="343298" cy="676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0115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1B77-8548-9691-8185-BB2362D616C4}"/>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CAF72D2C-FD30-AB2A-27F4-7185A2A42E23}"/>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三</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语言基础</a:t>
            </a:r>
          </a:p>
        </p:txBody>
      </p:sp>
      <p:sp>
        <p:nvSpPr>
          <p:cNvPr id="4" name="文本框 3">
            <a:extLst>
              <a:ext uri="{FF2B5EF4-FFF2-40B4-BE49-F238E27FC236}">
                <a16:creationId xmlns:a16="http://schemas.microsoft.com/office/drawing/2014/main" id="{13E77623-4CBA-F698-382A-A5B2A0B4AF0A}"/>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（一）基础语法</a:t>
            </a:r>
            <a:endParaRPr lang="zh-CN" altLang="en-US" sz="2000" dirty="0">
              <a:solidFill>
                <a:srgbClr val="FF0000"/>
              </a:solidFill>
            </a:endParaRPr>
          </a:p>
        </p:txBody>
      </p:sp>
      <p:sp>
        <p:nvSpPr>
          <p:cNvPr id="9" name="文本框 8">
            <a:extLst>
              <a:ext uri="{FF2B5EF4-FFF2-40B4-BE49-F238E27FC236}">
                <a16:creationId xmlns:a16="http://schemas.microsoft.com/office/drawing/2014/main" id="{52D3DAC5-D282-7179-CE64-B45B6AA7B16F}"/>
              </a:ext>
            </a:extLst>
          </p:cNvPr>
          <p:cNvSpPr txBox="1"/>
          <p:nvPr/>
        </p:nvSpPr>
        <p:spPr>
          <a:xfrm>
            <a:off x="1154697" y="1521887"/>
            <a:ext cx="4359412" cy="5078313"/>
          </a:xfrm>
          <a:prstGeom prst="rect">
            <a:avLst/>
          </a:prstGeom>
          <a:noFill/>
        </p:spPr>
        <p:txBody>
          <a:bodyPr wrap="square">
            <a:spAutoFit/>
          </a:bodyPr>
          <a:lstStyle/>
          <a:p>
            <a:r>
              <a:rPr lang="zh-CN" altLang="en-US" b="1" dirty="0"/>
              <a:t>#赋值语句</a:t>
            </a:r>
          </a:p>
          <a:p>
            <a:r>
              <a:rPr lang="zh-CN" altLang="en-US" dirty="0"/>
              <a:t>answer = 42</a:t>
            </a:r>
          </a:p>
          <a:p>
            <a:r>
              <a:rPr lang="zh-CN" altLang="en-US" dirty="0"/>
              <a:t>x,y,z= 1, [1:10;], "A string"</a:t>
            </a:r>
          </a:p>
          <a:p>
            <a:endParaRPr lang="zh-CN" altLang="en-US" dirty="0"/>
          </a:p>
          <a:p>
            <a:r>
              <a:rPr lang="zh-CN" altLang="en-US" b="1" dirty="0"/>
              <a:t>#常量定义</a:t>
            </a:r>
          </a:p>
          <a:p>
            <a:r>
              <a:rPr lang="zh-CN" altLang="en-US" dirty="0"/>
              <a:t>const DATE_OF_BIRTH = 2012</a:t>
            </a:r>
          </a:p>
          <a:p>
            <a:endParaRPr lang="zh-CN" altLang="en-US" dirty="0"/>
          </a:p>
          <a:p>
            <a:r>
              <a:rPr lang="zh-CN" altLang="en-US" b="1" dirty="0"/>
              <a:t>#单行注释</a:t>
            </a:r>
          </a:p>
          <a:p>
            <a:r>
              <a:rPr lang="zh-CN" altLang="en-US" dirty="0"/>
              <a:t>#= 多行注释 =#</a:t>
            </a:r>
          </a:p>
          <a:p>
            <a:endParaRPr lang="zh-CN" altLang="en-US" dirty="0"/>
          </a:p>
          <a:p>
            <a:r>
              <a:rPr lang="zh-CN" altLang="en-US" b="1" dirty="0"/>
              <a:t>#函数定义</a:t>
            </a:r>
          </a:p>
          <a:p>
            <a:r>
              <a:rPr lang="zh-CN" altLang="en-US" dirty="0"/>
              <a:t>function add_one(i)</a:t>
            </a:r>
          </a:p>
          <a:p>
            <a:r>
              <a:rPr lang="zh-CN" altLang="en-US" dirty="0"/>
              <a:t>    return i+1</a:t>
            </a:r>
          </a:p>
          <a:p>
            <a:r>
              <a:rPr lang="zh-CN" altLang="en-US" dirty="0"/>
              <a:t>end</a:t>
            </a:r>
          </a:p>
          <a:p>
            <a:endParaRPr lang="zh-CN" altLang="en-US" dirty="0"/>
          </a:p>
          <a:p>
            <a:r>
              <a:rPr lang="zh-CN" altLang="en-US" b="1" dirty="0"/>
              <a:t>#基本算法运算</a:t>
            </a:r>
            <a:endParaRPr lang="en-US" altLang="zh-CN" dirty="0"/>
          </a:p>
          <a:p>
            <a:r>
              <a:rPr lang="en-US" altLang="zh-CN" dirty="0"/>
              <a:t>+   -    </a:t>
            </a:r>
            <a:r>
              <a:rPr lang="zh-CN" altLang="en-US" dirty="0"/>
              <a:t>*    </a:t>
            </a:r>
            <a:r>
              <a:rPr lang="en-US" altLang="zh-CN" dirty="0"/>
              <a:t>/</a:t>
            </a:r>
            <a:endParaRPr lang="zh-CN" altLang="en-US" dirty="0"/>
          </a:p>
          <a:p>
            <a:endParaRPr lang="zh-CN" altLang="en-US" dirty="0"/>
          </a:p>
        </p:txBody>
      </p:sp>
      <p:sp>
        <p:nvSpPr>
          <p:cNvPr id="15" name="文本框 14">
            <a:extLst>
              <a:ext uri="{FF2B5EF4-FFF2-40B4-BE49-F238E27FC236}">
                <a16:creationId xmlns:a16="http://schemas.microsoft.com/office/drawing/2014/main" id="{2A6307F3-6018-D5E2-24CE-AA047EC95E2D}"/>
              </a:ext>
            </a:extLst>
          </p:cNvPr>
          <p:cNvSpPr txBox="1"/>
          <p:nvPr/>
        </p:nvSpPr>
        <p:spPr>
          <a:xfrm>
            <a:off x="6096000" y="1521887"/>
            <a:ext cx="2779744" cy="4247317"/>
          </a:xfrm>
          <a:prstGeom prst="rect">
            <a:avLst/>
          </a:prstGeom>
          <a:noFill/>
        </p:spPr>
        <p:txBody>
          <a:bodyPr wrap="square">
            <a:spAutoFit/>
          </a:bodyPr>
          <a:lstStyle/>
          <a:p>
            <a:r>
              <a:rPr lang="en-US" altLang="zh-CN" b="1" dirty="0"/>
              <a:t>#</a:t>
            </a:r>
            <a:r>
              <a:rPr lang="zh-CN" altLang="en-US" b="1" dirty="0"/>
              <a:t>幂运算</a:t>
            </a:r>
          </a:p>
          <a:p>
            <a:r>
              <a:rPr lang="en-US" altLang="zh-CN" dirty="0"/>
              <a:t>2^3 ==8</a:t>
            </a:r>
          </a:p>
          <a:p>
            <a:endParaRPr lang="en-US" altLang="zh-CN" dirty="0"/>
          </a:p>
          <a:p>
            <a:r>
              <a:rPr lang="en-US" altLang="zh-CN" b="1" dirty="0"/>
              <a:t>#</a:t>
            </a:r>
            <a:r>
              <a:rPr lang="zh-CN" altLang="en-US" b="1" dirty="0"/>
              <a:t>除法</a:t>
            </a:r>
          </a:p>
          <a:p>
            <a:r>
              <a:rPr lang="en-US" altLang="zh-CN" dirty="0"/>
              <a:t>3/12==0.25</a:t>
            </a:r>
          </a:p>
          <a:p>
            <a:endParaRPr lang="en-US" altLang="zh-CN" dirty="0"/>
          </a:p>
          <a:p>
            <a:r>
              <a:rPr lang="en-US" altLang="zh-CN" b="1" dirty="0"/>
              <a:t>#</a:t>
            </a:r>
            <a:r>
              <a:rPr lang="zh-CN" altLang="en-US" b="1" dirty="0"/>
              <a:t>反向除法</a:t>
            </a:r>
          </a:p>
          <a:p>
            <a:r>
              <a:rPr lang="en-US" altLang="zh-CN" dirty="0"/>
              <a:t>12\3 == 3/12</a:t>
            </a:r>
          </a:p>
          <a:p>
            <a:endParaRPr lang="en-US" altLang="zh-CN" dirty="0"/>
          </a:p>
          <a:p>
            <a:r>
              <a:rPr lang="en-US" altLang="zh-CN" b="1" dirty="0"/>
              <a:t>#</a:t>
            </a:r>
            <a:r>
              <a:rPr lang="zh-CN" altLang="en-US" b="1" dirty="0"/>
              <a:t>取余</a:t>
            </a:r>
          </a:p>
          <a:p>
            <a:r>
              <a:rPr lang="en-US" altLang="zh-CN" dirty="0"/>
              <a:t>7 % 3 == rem(7,3)==1</a:t>
            </a:r>
          </a:p>
          <a:p>
            <a:endParaRPr lang="zh-CN" altLang="en-US" dirty="0"/>
          </a:p>
          <a:p>
            <a:r>
              <a:rPr lang="zh-CN" altLang="en-US" b="1" dirty="0"/>
              <a:t>#逐元素运算（点运算）</a:t>
            </a:r>
          </a:p>
          <a:p>
            <a:r>
              <a:rPr lang="zh-CN" altLang="en-US" dirty="0"/>
              <a:t>[1,2,3] .+ [1,2,3] == [2,4,6]</a:t>
            </a:r>
          </a:p>
          <a:p>
            <a:endParaRPr lang="en-US" altLang="zh-CN" dirty="0"/>
          </a:p>
        </p:txBody>
      </p:sp>
      <p:sp>
        <p:nvSpPr>
          <p:cNvPr id="21" name="TextBox 4">
            <a:extLst>
              <a:ext uri="{FF2B5EF4-FFF2-40B4-BE49-F238E27FC236}">
                <a16:creationId xmlns:a16="http://schemas.microsoft.com/office/drawing/2014/main" id="{EA4312F5-DA6E-B04D-3B28-76074181A612}"/>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21</a:t>
            </a:fld>
            <a:endParaRPr lang="id-ID" sz="1200" dirty="0"/>
          </a:p>
        </p:txBody>
      </p:sp>
    </p:spTree>
    <p:extLst>
      <p:ext uri="{BB962C8B-B14F-4D97-AF65-F5344CB8AC3E}">
        <p14:creationId xmlns:p14="http://schemas.microsoft.com/office/powerpoint/2010/main" val="2547168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8F1A2-3925-A956-CD22-C03B3664094D}"/>
            </a:ext>
          </a:extLst>
        </p:cNvPr>
        <p:cNvGrpSpPr/>
        <p:nvPr/>
      </p:nvGrpSpPr>
      <p:grpSpPr>
        <a:xfrm>
          <a:off x="0" y="0"/>
          <a:ext cx="0" cy="0"/>
          <a:chOff x="0" y="0"/>
          <a:chExt cx="0" cy="0"/>
        </a:xfrm>
      </p:grpSpPr>
      <p:sp>
        <p:nvSpPr>
          <p:cNvPr id="6" name="矩形: 圆角 5">
            <a:extLst>
              <a:ext uri="{FF2B5EF4-FFF2-40B4-BE49-F238E27FC236}">
                <a16:creationId xmlns:a16="http://schemas.microsoft.com/office/drawing/2014/main" id="{9D6849E2-7B59-89A1-2CF9-AFF15B6F7055}"/>
              </a:ext>
            </a:extLst>
          </p:cNvPr>
          <p:cNvSpPr/>
          <p:nvPr/>
        </p:nvSpPr>
        <p:spPr>
          <a:xfrm>
            <a:off x="491527" y="1823337"/>
            <a:ext cx="6623211" cy="2884851"/>
          </a:xfrm>
          <a:prstGeom prst="roundRect">
            <a:avLst>
              <a:gd name="adj" fmla="val 41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5">
            <a:extLst>
              <a:ext uri="{FF2B5EF4-FFF2-40B4-BE49-F238E27FC236}">
                <a16:creationId xmlns:a16="http://schemas.microsoft.com/office/drawing/2014/main" id="{04109D83-3A51-961F-AE54-8D8F7B6BE7EF}"/>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三</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语言基础</a:t>
            </a:r>
          </a:p>
        </p:txBody>
      </p:sp>
      <p:sp>
        <p:nvSpPr>
          <p:cNvPr id="4" name="文本框 3">
            <a:extLst>
              <a:ext uri="{FF2B5EF4-FFF2-40B4-BE49-F238E27FC236}">
                <a16:creationId xmlns:a16="http://schemas.microsoft.com/office/drawing/2014/main" id="{C486A390-9701-0651-0E09-68DA6D1FFFA2}"/>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（二）控制流与循环</a:t>
            </a:r>
            <a:endParaRPr lang="zh-CN" altLang="en-US" sz="2000" dirty="0">
              <a:solidFill>
                <a:srgbClr val="FF0000"/>
              </a:solidFill>
            </a:endParaRPr>
          </a:p>
        </p:txBody>
      </p:sp>
      <p:sp>
        <p:nvSpPr>
          <p:cNvPr id="18" name="文本框 17">
            <a:extLst>
              <a:ext uri="{FF2B5EF4-FFF2-40B4-BE49-F238E27FC236}">
                <a16:creationId xmlns:a16="http://schemas.microsoft.com/office/drawing/2014/main" id="{1DAB5819-0C63-1C5D-7B91-1C85519D6248}"/>
              </a:ext>
            </a:extLst>
          </p:cNvPr>
          <p:cNvSpPr txBox="1"/>
          <p:nvPr/>
        </p:nvSpPr>
        <p:spPr>
          <a:xfrm>
            <a:off x="540167" y="1458849"/>
            <a:ext cx="7221690" cy="3323987"/>
          </a:xfrm>
          <a:prstGeom prst="rect">
            <a:avLst/>
          </a:prstGeom>
          <a:noFill/>
        </p:spPr>
        <p:txBody>
          <a:bodyPr wrap="square">
            <a:spAutoFit/>
          </a:bodyPr>
          <a:lstStyle/>
          <a:p>
            <a:r>
              <a:rPr lang="zh-CN" altLang="en-US" b="1" dirty="0"/>
              <a:t>#条件语句</a:t>
            </a:r>
            <a:r>
              <a:rPr lang="en-US" altLang="zh-CN" b="1" dirty="0"/>
              <a:t>-if</a:t>
            </a:r>
            <a:r>
              <a:rPr lang="zh-CN" altLang="en-US" b="1" dirty="0"/>
              <a:t>语句</a:t>
            </a:r>
            <a:endParaRPr lang="en-US" altLang="zh-CN" b="1" dirty="0"/>
          </a:p>
          <a:p>
            <a:endParaRPr lang="en-US" altLang="zh-CN" sz="1600" dirty="0"/>
          </a:p>
          <a:p>
            <a:r>
              <a:rPr lang="en-US" altLang="zh-CN" sz="1600" dirty="0">
                <a:solidFill>
                  <a:srgbClr val="212121"/>
                </a:solidFill>
                <a:latin typeface="Microsoft YaHei" panose="020B0503020204020204" pitchFamily="34" charset="-122"/>
                <a:ea typeface="Microsoft YaHei" panose="020B0503020204020204" pitchFamily="34" charset="-122"/>
              </a:rPr>
              <a:t>1.</a:t>
            </a:r>
            <a:r>
              <a:rPr lang="zh-CN" altLang="en-US" sz="1600" dirty="0">
                <a:solidFill>
                  <a:srgbClr val="212121"/>
                </a:solidFill>
                <a:latin typeface="Microsoft YaHei" panose="020B0503020204020204" pitchFamily="34" charset="-122"/>
                <a:ea typeface="Microsoft YaHei" panose="020B0503020204020204" pitchFamily="34" charset="-122"/>
              </a:rPr>
              <a:t>若</a:t>
            </a:r>
            <a:r>
              <a:rPr lang="en-US" altLang="zh-CN" sz="1600" dirty="0">
                <a:solidFill>
                  <a:srgbClr val="212121"/>
                </a:solidFill>
                <a:latin typeface="Microsoft YaHei" panose="020B0503020204020204" pitchFamily="34" charset="-122"/>
                <a:ea typeface="Microsoft YaHei" panose="020B0503020204020204" pitchFamily="34" charset="-122"/>
              </a:rPr>
              <a:t>x&lt;y</a:t>
            </a:r>
            <a:r>
              <a:rPr lang="zh-CN" altLang="en-US" sz="1600" dirty="0">
                <a:solidFill>
                  <a:srgbClr val="212121"/>
                </a:solidFill>
                <a:latin typeface="Microsoft YaHei" panose="020B0503020204020204" pitchFamily="34" charset="-122"/>
                <a:ea typeface="Microsoft YaHei" panose="020B0503020204020204" pitchFamily="34" charset="-122"/>
              </a:rPr>
              <a:t>，打印</a:t>
            </a:r>
            <a:r>
              <a:rPr lang="en-US" altLang="zh-CN" sz="1600" dirty="0">
                <a:solidFill>
                  <a:srgbClr val="212121"/>
                </a:solidFill>
                <a:latin typeface="Microsoft YaHei" panose="020B0503020204020204" pitchFamily="34" charset="-122"/>
                <a:ea typeface="Microsoft YaHei" panose="020B0503020204020204" pitchFamily="34" charset="-122"/>
              </a:rPr>
              <a:t>x</a:t>
            </a:r>
            <a:r>
              <a:rPr lang="zh-CN" altLang="en-US" sz="1600" dirty="0">
                <a:solidFill>
                  <a:srgbClr val="212121"/>
                </a:solidFill>
                <a:latin typeface="Microsoft YaHei" panose="020B0503020204020204" pitchFamily="34" charset="-122"/>
                <a:ea typeface="Microsoft YaHei" panose="020B0503020204020204" pitchFamily="34" charset="-122"/>
              </a:rPr>
              <a:t>小于</a:t>
            </a:r>
            <a:r>
              <a:rPr lang="en-US" altLang="zh-CN" sz="1600" dirty="0">
                <a:solidFill>
                  <a:srgbClr val="212121"/>
                </a:solidFill>
                <a:latin typeface="Microsoft YaHei" panose="020B0503020204020204" pitchFamily="34" charset="-122"/>
                <a:ea typeface="Microsoft YaHei" panose="020B0503020204020204" pitchFamily="34" charset="-122"/>
              </a:rPr>
              <a:t>y</a:t>
            </a:r>
            <a:r>
              <a:rPr lang="zh-CN" altLang="en-US" sz="1600" dirty="0">
                <a:solidFill>
                  <a:srgbClr val="212121"/>
                </a:solidFill>
                <a:latin typeface="Microsoft YaHei" panose="020B0503020204020204" pitchFamily="34" charset="-122"/>
                <a:ea typeface="Microsoft YaHei" panose="020B0503020204020204" pitchFamily="34" charset="-122"/>
              </a:rPr>
              <a:t>，若</a:t>
            </a:r>
            <a:r>
              <a:rPr lang="en-US" altLang="zh-CN" sz="1600" dirty="0">
                <a:solidFill>
                  <a:srgbClr val="212121"/>
                </a:solidFill>
                <a:latin typeface="Microsoft YaHei" panose="020B0503020204020204" pitchFamily="34" charset="-122"/>
                <a:ea typeface="Microsoft YaHei" panose="020B0503020204020204" pitchFamily="34" charset="-122"/>
              </a:rPr>
              <a:t>x=y</a:t>
            </a:r>
            <a:r>
              <a:rPr lang="zh-CN" altLang="en-US" sz="1600" dirty="0">
                <a:solidFill>
                  <a:srgbClr val="212121"/>
                </a:solidFill>
                <a:latin typeface="Microsoft YaHei" panose="020B0503020204020204" pitchFamily="34" charset="-122"/>
                <a:ea typeface="Microsoft YaHei" panose="020B0503020204020204" pitchFamily="34" charset="-122"/>
              </a:rPr>
              <a:t>，打印</a:t>
            </a:r>
            <a:r>
              <a:rPr lang="en-US" altLang="zh-CN" sz="1600" dirty="0">
                <a:solidFill>
                  <a:srgbClr val="212121"/>
                </a:solidFill>
                <a:latin typeface="Microsoft YaHei" panose="020B0503020204020204" pitchFamily="34" charset="-122"/>
                <a:ea typeface="Microsoft YaHei" panose="020B0503020204020204" pitchFamily="34" charset="-122"/>
              </a:rPr>
              <a:t>x</a:t>
            </a:r>
            <a:r>
              <a:rPr lang="zh-CN" altLang="en-US" sz="1600" dirty="0">
                <a:solidFill>
                  <a:srgbClr val="212121"/>
                </a:solidFill>
                <a:latin typeface="Microsoft YaHei" panose="020B0503020204020204" pitchFamily="34" charset="-122"/>
                <a:ea typeface="Microsoft YaHei" panose="020B0503020204020204" pitchFamily="34" charset="-122"/>
              </a:rPr>
              <a:t>等于</a:t>
            </a:r>
            <a:r>
              <a:rPr lang="en-US" altLang="zh-CN" sz="1600" dirty="0">
                <a:solidFill>
                  <a:srgbClr val="212121"/>
                </a:solidFill>
                <a:latin typeface="Microsoft YaHei" panose="020B0503020204020204" pitchFamily="34" charset="-122"/>
                <a:ea typeface="Microsoft YaHei" panose="020B0503020204020204" pitchFamily="34" charset="-122"/>
              </a:rPr>
              <a:t>y</a:t>
            </a:r>
            <a:r>
              <a:rPr lang="zh-CN" altLang="en-US" sz="1600" dirty="0">
                <a:solidFill>
                  <a:srgbClr val="212121"/>
                </a:solidFill>
                <a:latin typeface="Microsoft YaHei" panose="020B0503020204020204" pitchFamily="34" charset="-122"/>
                <a:ea typeface="Microsoft YaHei" panose="020B0503020204020204" pitchFamily="34" charset="-122"/>
              </a:rPr>
              <a:t>，若</a:t>
            </a:r>
            <a:r>
              <a:rPr lang="en-US" altLang="zh-CN" sz="1600" dirty="0">
                <a:solidFill>
                  <a:srgbClr val="212121"/>
                </a:solidFill>
                <a:latin typeface="Microsoft YaHei" panose="020B0503020204020204" pitchFamily="34" charset="-122"/>
                <a:ea typeface="Microsoft YaHei" panose="020B0503020204020204" pitchFamily="34" charset="-122"/>
              </a:rPr>
              <a:t>x&gt;y</a:t>
            </a:r>
            <a:r>
              <a:rPr lang="zh-CN" altLang="en-US" sz="1600" dirty="0">
                <a:solidFill>
                  <a:srgbClr val="212121"/>
                </a:solidFill>
                <a:latin typeface="Microsoft YaHei" panose="020B0503020204020204" pitchFamily="34" charset="-122"/>
                <a:ea typeface="Microsoft YaHei" panose="020B0503020204020204" pitchFamily="34" charset="-122"/>
              </a:rPr>
              <a:t>，打印</a:t>
            </a:r>
            <a:r>
              <a:rPr lang="en-US" altLang="zh-CN" sz="1600" dirty="0">
                <a:solidFill>
                  <a:srgbClr val="212121"/>
                </a:solidFill>
                <a:latin typeface="Microsoft YaHei" panose="020B0503020204020204" pitchFamily="34" charset="-122"/>
                <a:ea typeface="Microsoft YaHei" panose="020B0503020204020204" pitchFamily="34" charset="-122"/>
              </a:rPr>
              <a:t>x</a:t>
            </a:r>
            <a:r>
              <a:rPr lang="zh-CN" altLang="en-US" sz="1600" dirty="0">
                <a:solidFill>
                  <a:srgbClr val="212121"/>
                </a:solidFill>
                <a:latin typeface="Microsoft YaHei" panose="020B0503020204020204" pitchFamily="34" charset="-122"/>
                <a:ea typeface="Microsoft YaHei" panose="020B0503020204020204" pitchFamily="34" charset="-122"/>
              </a:rPr>
              <a:t>大于</a:t>
            </a:r>
            <a:r>
              <a:rPr lang="en-US" altLang="zh-CN" sz="1600" dirty="0">
                <a:solidFill>
                  <a:srgbClr val="212121"/>
                </a:solidFill>
                <a:latin typeface="Microsoft YaHei" panose="020B0503020204020204" pitchFamily="34" charset="-122"/>
                <a:ea typeface="Microsoft YaHei" panose="020B0503020204020204" pitchFamily="34" charset="-122"/>
              </a:rPr>
              <a:t>y</a:t>
            </a:r>
          </a:p>
          <a:p>
            <a:endParaRPr lang="zh-CN" altLang="en-US" sz="1600" dirty="0"/>
          </a:p>
          <a:p>
            <a:pPr lvl="1"/>
            <a:r>
              <a:rPr lang="zh-CN" altLang="en-US" sz="1600" dirty="0"/>
              <a:t>if x &lt; y</a:t>
            </a:r>
          </a:p>
          <a:p>
            <a:pPr lvl="1"/>
            <a:r>
              <a:rPr lang="zh-CN" altLang="en-US" sz="1600" dirty="0"/>
              <a:t>    println("x is less than y")</a:t>
            </a:r>
          </a:p>
          <a:p>
            <a:pPr lvl="1"/>
            <a:r>
              <a:rPr lang="zh-CN" altLang="en-US" sz="1600" dirty="0"/>
              <a:t>elseif x &gt; y</a:t>
            </a:r>
          </a:p>
          <a:p>
            <a:pPr lvl="1"/>
            <a:r>
              <a:rPr lang="zh-CN" altLang="en-US" sz="1600" dirty="0"/>
              <a:t>    println("x is greater than y")</a:t>
            </a:r>
          </a:p>
          <a:p>
            <a:pPr lvl="1"/>
            <a:r>
              <a:rPr lang="zh-CN" altLang="en-US" sz="1600" dirty="0"/>
              <a:t>else</a:t>
            </a:r>
          </a:p>
          <a:p>
            <a:pPr lvl="1"/>
            <a:r>
              <a:rPr lang="zh-CN" altLang="en-US" sz="1600" dirty="0"/>
              <a:t>    println("x is equal to y")</a:t>
            </a:r>
          </a:p>
          <a:p>
            <a:pPr lvl="1"/>
            <a:r>
              <a:rPr lang="zh-CN" altLang="en-US" sz="1600" dirty="0"/>
              <a:t>end</a:t>
            </a:r>
          </a:p>
          <a:p>
            <a:endParaRPr lang="zh-CN" altLang="en-US" sz="1600" dirty="0"/>
          </a:p>
          <a:p>
            <a:endParaRPr lang="pt-BR" altLang="zh-CN" sz="1600" dirty="0"/>
          </a:p>
        </p:txBody>
      </p:sp>
      <p:sp>
        <p:nvSpPr>
          <p:cNvPr id="21" name="TextBox 4">
            <a:extLst>
              <a:ext uri="{FF2B5EF4-FFF2-40B4-BE49-F238E27FC236}">
                <a16:creationId xmlns:a16="http://schemas.microsoft.com/office/drawing/2014/main" id="{8B75219A-6C2D-8B10-E782-DA14CDA67BD8}"/>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22</a:t>
            </a:fld>
            <a:endParaRPr lang="id-ID" sz="1200" dirty="0"/>
          </a:p>
        </p:txBody>
      </p:sp>
    </p:spTree>
    <p:extLst>
      <p:ext uri="{BB962C8B-B14F-4D97-AF65-F5344CB8AC3E}">
        <p14:creationId xmlns:p14="http://schemas.microsoft.com/office/powerpoint/2010/main" val="249342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65AD-2026-6FD4-F7C0-559ECB99DD69}"/>
            </a:ext>
          </a:extLst>
        </p:cNvPr>
        <p:cNvGrpSpPr/>
        <p:nvPr/>
      </p:nvGrpSpPr>
      <p:grpSpPr>
        <a:xfrm>
          <a:off x="0" y="0"/>
          <a:ext cx="0" cy="0"/>
          <a:chOff x="0" y="0"/>
          <a:chExt cx="0" cy="0"/>
        </a:xfrm>
      </p:grpSpPr>
      <p:sp>
        <p:nvSpPr>
          <p:cNvPr id="15" name="矩形: 圆角 14">
            <a:extLst>
              <a:ext uri="{FF2B5EF4-FFF2-40B4-BE49-F238E27FC236}">
                <a16:creationId xmlns:a16="http://schemas.microsoft.com/office/drawing/2014/main" id="{91BE2CAE-337C-35C8-DA0C-9BAC8F6E3170}"/>
              </a:ext>
            </a:extLst>
          </p:cNvPr>
          <p:cNvSpPr/>
          <p:nvPr/>
        </p:nvSpPr>
        <p:spPr>
          <a:xfrm>
            <a:off x="8086729" y="1919073"/>
            <a:ext cx="3722711" cy="3600989"/>
          </a:xfrm>
          <a:prstGeom prst="roundRect">
            <a:avLst>
              <a:gd name="adj" fmla="val 41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C125E082-3A31-5965-99EB-7A4997F561BC}"/>
              </a:ext>
            </a:extLst>
          </p:cNvPr>
          <p:cNvSpPr/>
          <p:nvPr/>
        </p:nvSpPr>
        <p:spPr>
          <a:xfrm>
            <a:off x="4234644" y="1919075"/>
            <a:ext cx="3722711" cy="3600988"/>
          </a:xfrm>
          <a:prstGeom prst="roundRect">
            <a:avLst>
              <a:gd name="adj" fmla="val 41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5B87E7D0-C5FA-35B3-1811-6CA7102C08BF}"/>
              </a:ext>
            </a:extLst>
          </p:cNvPr>
          <p:cNvSpPr/>
          <p:nvPr/>
        </p:nvSpPr>
        <p:spPr>
          <a:xfrm>
            <a:off x="390432" y="1919074"/>
            <a:ext cx="3722711" cy="3600987"/>
          </a:xfrm>
          <a:prstGeom prst="roundRect">
            <a:avLst>
              <a:gd name="adj" fmla="val 41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5">
            <a:extLst>
              <a:ext uri="{FF2B5EF4-FFF2-40B4-BE49-F238E27FC236}">
                <a16:creationId xmlns:a16="http://schemas.microsoft.com/office/drawing/2014/main" id="{B6982585-D1E4-D610-8095-C336BC470A90}"/>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三</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语言基础</a:t>
            </a:r>
          </a:p>
        </p:txBody>
      </p:sp>
      <p:sp>
        <p:nvSpPr>
          <p:cNvPr id="4" name="文本框 3">
            <a:extLst>
              <a:ext uri="{FF2B5EF4-FFF2-40B4-BE49-F238E27FC236}">
                <a16:creationId xmlns:a16="http://schemas.microsoft.com/office/drawing/2014/main" id="{9FF85C22-2F00-3DB2-08EA-48CC0C7187AF}"/>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（二）控制流与循环</a:t>
            </a:r>
            <a:endParaRPr lang="zh-CN" altLang="en-US" sz="2000" dirty="0">
              <a:solidFill>
                <a:srgbClr val="FF0000"/>
              </a:solidFill>
            </a:endParaRPr>
          </a:p>
        </p:txBody>
      </p:sp>
      <p:sp>
        <p:nvSpPr>
          <p:cNvPr id="21" name="TextBox 4">
            <a:extLst>
              <a:ext uri="{FF2B5EF4-FFF2-40B4-BE49-F238E27FC236}">
                <a16:creationId xmlns:a16="http://schemas.microsoft.com/office/drawing/2014/main" id="{F0695A2C-2E86-CD77-5E6C-9FEEDD6B751A}"/>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23</a:t>
            </a:fld>
            <a:endParaRPr lang="id-ID" sz="1200" dirty="0"/>
          </a:p>
        </p:txBody>
      </p:sp>
      <p:sp>
        <p:nvSpPr>
          <p:cNvPr id="5" name="文本框 4">
            <a:extLst>
              <a:ext uri="{FF2B5EF4-FFF2-40B4-BE49-F238E27FC236}">
                <a16:creationId xmlns:a16="http://schemas.microsoft.com/office/drawing/2014/main" id="{982303A4-372C-2198-56D6-BCFCA2F98B6C}"/>
              </a:ext>
            </a:extLst>
          </p:cNvPr>
          <p:cNvSpPr txBox="1"/>
          <p:nvPr/>
        </p:nvSpPr>
        <p:spPr>
          <a:xfrm>
            <a:off x="545745" y="1457411"/>
            <a:ext cx="3722711" cy="861774"/>
          </a:xfrm>
          <a:prstGeom prst="rect">
            <a:avLst/>
          </a:prstGeom>
          <a:noFill/>
        </p:spPr>
        <p:txBody>
          <a:bodyPr wrap="square">
            <a:spAutoFit/>
          </a:bodyPr>
          <a:lstStyle/>
          <a:p>
            <a:r>
              <a:rPr lang="zh-CN" altLang="en-US" b="1" dirty="0"/>
              <a:t>#嵌套循环</a:t>
            </a:r>
            <a:r>
              <a:rPr lang="en-US" altLang="zh-CN" b="1" dirty="0"/>
              <a:t>-for</a:t>
            </a:r>
            <a:r>
              <a:rPr lang="zh-CN" altLang="en-US" b="1" dirty="0"/>
              <a:t>语句</a:t>
            </a:r>
            <a:endParaRPr lang="en-US" altLang="zh-CN" b="1" dirty="0"/>
          </a:p>
          <a:p>
            <a:endParaRPr lang="en-US" altLang="zh-CN" sz="1600" dirty="0"/>
          </a:p>
          <a:p>
            <a:endParaRPr lang="zh-CN" altLang="en-US" sz="1600" dirty="0"/>
          </a:p>
        </p:txBody>
      </p:sp>
      <p:sp>
        <p:nvSpPr>
          <p:cNvPr id="9" name="文本框 8">
            <a:extLst>
              <a:ext uri="{FF2B5EF4-FFF2-40B4-BE49-F238E27FC236}">
                <a16:creationId xmlns:a16="http://schemas.microsoft.com/office/drawing/2014/main" id="{AC1BDBAC-146B-1D86-04B0-B99C13D6E8FA}"/>
              </a:ext>
            </a:extLst>
          </p:cNvPr>
          <p:cNvSpPr txBox="1"/>
          <p:nvPr/>
        </p:nvSpPr>
        <p:spPr>
          <a:xfrm>
            <a:off x="4368710" y="2178945"/>
            <a:ext cx="3498979" cy="1569660"/>
          </a:xfrm>
          <a:prstGeom prst="rect">
            <a:avLst/>
          </a:prstGeom>
          <a:noFill/>
        </p:spPr>
        <p:txBody>
          <a:bodyPr wrap="square">
            <a:spAutoFit/>
          </a:bodyPr>
          <a:lstStyle/>
          <a:p>
            <a:r>
              <a:rPr lang="en-US" altLang="zh-CN" sz="1600" dirty="0">
                <a:solidFill>
                  <a:srgbClr val="212121"/>
                </a:solidFill>
                <a:latin typeface="Microsoft YaHei" panose="020B0503020204020204" pitchFamily="34" charset="-122"/>
                <a:ea typeface="Microsoft YaHei" panose="020B0503020204020204" pitchFamily="34" charset="-122"/>
              </a:rPr>
              <a:t>2.</a:t>
            </a:r>
            <a:r>
              <a:rPr lang="zh-CN" altLang="en-US" sz="1600" dirty="0">
                <a:solidFill>
                  <a:srgbClr val="212121"/>
                </a:solidFill>
                <a:latin typeface="Microsoft YaHei" panose="020B0503020204020204" pitchFamily="34" charset="-122"/>
                <a:ea typeface="Microsoft YaHei" panose="020B0503020204020204" pitchFamily="34" charset="-122"/>
              </a:rPr>
              <a:t>执行指定值的语句。</a:t>
            </a:r>
          </a:p>
          <a:p>
            <a:pPr lvl="1"/>
            <a:r>
              <a:rPr lang="da-DK" altLang="zh-CN" sz="1600" dirty="0"/>
              <a:t>for v = [1 5 8 17]</a:t>
            </a:r>
          </a:p>
          <a:p>
            <a:pPr lvl="1"/>
            <a:r>
              <a:rPr lang="da-DK" altLang="zh-CN" sz="1600" dirty="0"/>
              <a:t>    println(v)</a:t>
            </a:r>
          </a:p>
          <a:p>
            <a:pPr lvl="1"/>
            <a:r>
              <a:rPr lang="da-DK" altLang="zh-CN" sz="1600" dirty="0"/>
              <a:t>end</a:t>
            </a:r>
            <a:endParaRPr lang="en-US" altLang="zh-CN" sz="1600" dirty="0">
              <a:solidFill>
                <a:srgbClr val="212121"/>
              </a:solidFill>
              <a:latin typeface="Microsoft YaHei" panose="020B0503020204020204" pitchFamily="34" charset="-122"/>
              <a:ea typeface="Microsoft YaHei" panose="020B0503020204020204" pitchFamily="34" charset="-122"/>
            </a:endParaRPr>
          </a:p>
          <a:p>
            <a:pPr marL="0" lvl="1"/>
            <a:endParaRPr lang="en-US" altLang="zh-CN" sz="1600" dirty="0">
              <a:solidFill>
                <a:srgbClr val="212121"/>
              </a:solidFill>
              <a:latin typeface="Microsoft YaHei" panose="020B0503020204020204" pitchFamily="34" charset="-122"/>
              <a:ea typeface="Microsoft YaHei" panose="020B0503020204020204" pitchFamily="34" charset="-122"/>
            </a:endParaRPr>
          </a:p>
          <a:p>
            <a:pPr marL="0" lvl="1"/>
            <a:r>
              <a:rPr lang="zh-CN" altLang="en-US" sz="1600" dirty="0">
                <a:solidFill>
                  <a:srgbClr val="212121"/>
                </a:solidFill>
                <a:latin typeface="Microsoft YaHei" panose="020B0503020204020204" pitchFamily="34" charset="-122"/>
                <a:ea typeface="Microsoft YaHei" panose="020B0503020204020204" pitchFamily="34" charset="-122"/>
              </a:rPr>
              <a:t>输出：</a:t>
            </a:r>
            <a:r>
              <a:rPr lang="en-US" altLang="zh-CN" sz="1600" dirty="0">
                <a:solidFill>
                  <a:srgbClr val="212121"/>
                </a:solidFill>
                <a:latin typeface="Microsoft YaHei" panose="020B0503020204020204" pitchFamily="34" charset="-122"/>
                <a:ea typeface="Microsoft YaHei" panose="020B0503020204020204" pitchFamily="34" charset="-122"/>
              </a:rPr>
              <a:t>1 5 8 17</a:t>
            </a:r>
            <a:r>
              <a:rPr lang="pt-BR" altLang="zh-CN" sz="1600" dirty="0">
                <a:solidFill>
                  <a:srgbClr val="212121"/>
                </a:solidFill>
                <a:latin typeface="Microsoft YaHei" panose="020B0503020204020204" pitchFamily="34" charset="-122"/>
                <a:ea typeface="Microsoft YaHei" panose="020B0503020204020204" pitchFamily="34" charset="-122"/>
              </a:rPr>
              <a:t> </a:t>
            </a:r>
            <a:endParaRPr lang="en-US" altLang="zh-CN" sz="1600" dirty="0">
              <a:solidFill>
                <a:srgbClr val="212121"/>
              </a:solidFill>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01AA797F-CE67-E8E1-3846-E0F0E3014482}"/>
              </a:ext>
            </a:extLst>
          </p:cNvPr>
          <p:cNvSpPr txBox="1"/>
          <p:nvPr/>
        </p:nvSpPr>
        <p:spPr>
          <a:xfrm>
            <a:off x="8192005" y="2178945"/>
            <a:ext cx="3507386" cy="3108543"/>
          </a:xfrm>
          <a:prstGeom prst="rect">
            <a:avLst/>
          </a:prstGeom>
          <a:noFill/>
        </p:spPr>
        <p:txBody>
          <a:bodyPr wrap="square">
            <a:spAutoFit/>
          </a:bodyPr>
          <a:lstStyle/>
          <a:p>
            <a:pPr algn="l"/>
            <a:r>
              <a:rPr lang="en-US" altLang="zh-CN" sz="1600" dirty="0">
                <a:solidFill>
                  <a:srgbClr val="212121"/>
                </a:solidFill>
                <a:latin typeface="Microsoft YaHei" panose="020B0503020204020204" pitchFamily="34" charset="-122"/>
                <a:ea typeface="Microsoft YaHei" panose="020B0503020204020204" pitchFamily="34" charset="-122"/>
              </a:rPr>
              <a:t>3.</a:t>
            </a:r>
            <a:r>
              <a:rPr lang="zh-CN" altLang="en-US" sz="1600" dirty="0">
                <a:solidFill>
                  <a:srgbClr val="212121"/>
                </a:solidFill>
                <a:latin typeface="Microsoft YaHei" panose="020B0503020204020204" pitchFamily="34" charset="-122"/>
                <a:ea typeface="Microsoft YaHei" panose="020B0503020204020204" pitchFamily="34" charset="-122"/>
              </a:rPr>
              <a:t>创建一个 </a:t>
            </a:r>
            <a:r>
              <a:rPr lang="en-US" altLang="zh-CN" sz="1600" dirty="0">
                <a:solidFill>
                  <a:srgbClr val="212121"/>
                </a:solidFill>
                <a:latin typeface="Microsoft YaHei" panose="020B0503020204020204" pitchFamily="34" charset="-122"/>
                <a:ea typeface="Microsoft YaHei" panose="020B0503020204020204" pitchFamily="34" charset="-122"/>
              </a:rPr>
              <a:t>10 </a:t>
            </a:r>
            <a:r>
              <a:rPr lang="zh-CN" altLang="en-US" sz="1600" dirty="0">
                <a:solidFill>
                  <a:srgbClr val="212121"/>
                </a:solidFill>
                <a:latin typeface="Microsoft YaHei" panose="020B0503020204020204" pitchFamily="34" charset="-122"/>
                <a:ea typeface="Microsoft YaHei" panose="020B0503020204020204" pitchFamily="34" charset="-122"/>
              </a:rPr>
              <a:t>阶 </a:t>
            </a:r>
            <a:r>
              <a:rPr lang="en-US" altLang="zh-CN" sz="1600" dirty="0">
                <a:solidFill>
                  <a:srgbClr val="212121"/>
                </a:solidFill>
                <a:latin typeface="Microsoft YaHei" panose="020B0503020204020204" pitchFamily="34" charset="-122"/>
                <a:ea typeface="Microsoft YaHei" panose="020B0503020204020204" pitchFamily="34" charset="-122"/>
              </a:rPr>
              <a:t>Hilbert </a:t>
            </a:r>
            <a:r>
              <a:rPr lang="zh-CN" altLang="en-US" sz="1600" dirty="0">
                <a:solidFill>
                  <a:srgbClr val="212121"/>
                </a:solidFill>
                <a:latin typeface="Microsoft YaHei" panose="020B0503020204020204" pitchFamily="34" charset="-122"/>
                <a:ea typeface="Microsoft YaHei" panose="020B0503020204020204" pitchFamily="34" charset="-122"/>
              </a:rPr>
              <a:t>矩阵。</a:t>
            </a:r>
            <a:endParaRPr lang="en-US" altLang="zh-CN" sz="1600" dirty="0">
              <a:solidFill>
                <a:srgbClr val="212121"/>
              </a:solidFill>
              <a:latin typeface="Microsoft YaHei" panose="020B0503020204020204" pitchFamily="34" charset="-122"/>
              <a:ea typeface="Microsoft YaHei" panose="020B0503020204020204" pitchFamily="34" charset="-122"/>
            </a:endParaRPr>
          </a:p>
          <a:p>
            <a:pPr lvl="1"/>
            <a:r>
              <a:rPr lang="pt-BR" altLang="zh-CN" sz="1600" dirty="0"/>
              <a:t>s = 10</a:t>
            </a:r>
          </a:p>
          <a:p>
            <a:pPr lvl="1"/>
            <a:r>
              <a:rPr lang="pt-BR" altLang="zh-CN" sz="1600" dirty="0"/>
              <a:t>H = zeros(s,s)</a:t>
            </a:r>
          </a:p>
          <a:p>
            <a:pPr lvl="1"/>
            <a:endParaRPr lang="pt-BR" altLang="zh-CN" sz="1600" dirty="0"/>
          </a:p>
          <a:p>
            <a:pPr lvl="1"/>
            <a:r>
              <a:rPr lang="pt-BR" altLang="zh-CN" sz="1600" dirty="0"/>
              <a:t>for c = 1:s</a:t>
            </a:r>
          </a:p>
          <a:p>
            <a:pPr lvl="1"/>
            <a:r>
              <a:rPr lang="pt-BR" altLang="zh-CN" sz="1600" dirty="0"/>
              <a:t>  for r = 1:s</a:t>
            </a:r>
          </a:p>
          <a:p>
            <a:pPr lvl="1"/>
            <a:r>
              <a:rPr lang="pt-BR" altLang="zh-CN" sz="1600" dirty="0"/>
              <a:t>    H[r,c] = 1/(r+c-1)</a:t>
            </a:r>
          </a:p>
          <a:p>
            <a:pPr lvl="1"/>
            <a:r>
              <a:rPr lang="pt-BR" altLang="zh-CN" sz="1600" dirty="0"/>
              <a:t>  end</a:t>
            </a:r>
          </a:p>
          <a:p>
            <a:pPr lvl="1"/>
            <a:r>
              <a:rPr lang="pt-BR" altLang="zh-CN" sz="1600" dirty="0"/>
              <a:t>end</a:t>
            </a:r>
          </a:p>
          <a:p>
            <a:pPr algn="l"/>
            <a:endParaRPr lang="zh-CN" altLang="en-US" sz="1600" dirty="0">
              <a:solidFill>
                <a:srgbClr val="212121"/>
              </a:solidFill>
              <a:latin typeface="Microsoft YaHei" panose="020B0503020204020204" pitchFamily="34" charset="-122"/>
              <a:ea typeface="Microsoft YaHei" panose="020B0503020204020204" pitchFamily="34" charset="-122"/>
            </a:endParaRPr>
          </a:p>
          <a:p>
            <a:br>
              <a:rPr lang="zh-CN" altLang="en-US" b="0" i="0" dirty="0">
                <a:solidFill>
                  <a:srgbClr val="212121"/>
                </a:solidFill>
                <a:effectLst/>
                <a:latin typeface="Microsoft YaHei" panose="020B0503020204020204" pitchFamily="34" charset="-122"/>
                <a:ea typeface="Microsoft YaHei" panose="020B0503020204020204" pitchFamily="34" charset="-122"/>
              </a:rPr>
            </a:br>
            <a:endParaRPr lang="zh-CN" altLang="en-US" dirty="0"/>
          </a:p>
        </p:txBody>
      </p:sp>
      <p:sp>
        <p:nvSpPr>
          <p:cNvPr id="6" name="文本框 5">
            <a:extLst>
              <a:ext uri="{FF2B5EF4-FFF2-40B4-BE49-F238E27FC236}">
                <a16:creationId xmlns:a16="http://schemas.microsoft.com/office/drawing/2014/main" id="{6BE4C9FD-05A8-2FF0-CB57-584CA38ACA43}"/>
              </a:ext>
            </a:extLst>
          </p:cNvPr>
          <p:cNvSpPr txBox="1"/>
          <p:nvPr/>
        </p:nvSpPr>
        <p:spPr>
          <a:xfrm>
            <a:off x="545745" y="2178945"/>
            <a:ext cx="6094378" cy="2062103"/>
          </a:xfrm>
          <a:prstGeom prst="rect">
            <a:avLst/>
          </a:prstGeom>
          <a:noFill/>
        </p:spPr>
        <p:txBody>
          <a:bodyPr wrap="square">
            <a:spAutoFit/>
          </a:bodyPr>
          <a:lstStyle/>
          <a:p>
            <a:r>
              <a:rPr lang="en-US" altLang="zh-CN" sz="1600" dirty="0"/>
              <a:t>1.</a:t>
            </a:r>
            <a:r>
              <a:rPr lang="zh-CN" altLang="en-US" sz="1600" b="0" i="0" dirty="0">
                <a:solidFill>
                  <a:srgbClr val="212121"/>
                </a:solidFill>
                <a:effectLst/>
                <a:latin typeface="Microsoft YaHei" panose="020B0503020204020204" pitchFamily="34" charset="-122"/>
                <a:ea typeface="Microsoft YaHei" panose="020B0503020204020204" pitchFamily="34" charset="-122"/>
              </a:rPr>
              <a:t>以 </a:t>
            </a:r>
            <a:r>
              <a:rPr lang="en-US" altLang="zh-CN" sz="1600" b="0" i="0" dirty="0">
                <a:solidFill>
                  <a:srgbClr val="212121"/>
                </a:solidFill>
                <a:effectLst/>
                <a:latin typeface="Microsoft YaHei" panose="020B0503020204020204" pitchFamily="34" charset="-122"/>
                <a:ea typeface="Microsoft YaHei" panose="020B0503020204020204" pitchFamily="34" charset="-122"/>
              </a:rPr>
              <a:t>-0.2 </a:t>
            </a:r>
            <a:r>
              <a:rPr lang="zh-CN" altLang="en-US" sz="1600" b="0" i="0" dirty="0">
                <a:solidFill>
                  <a:srgbClr val="212121"/>
                </a:solidFill>
                <a:effectLst/>
                <a:latin typeface="Microsoft YaHei" panose="020B0503020204020204" pitchFamily="34" charset="-122"/>
                <a:ea typeface="Microsoft YaHei" panose="020B0503020204020204" pitchFamily="34" charset="-122"/>
              </a:rPr>
              <a:t>为步长递增，并显示值。</a:t>
            </a:r>
            <a:endParaRPr lang="en-US" altLang="zh-CN" sz="1600" b="0" i="0" dirty="0">
              <a:solidFill>
                <a:srgbClr val="212121"/>
              </a:solidFill>
              <a:effectLst/>
              <a:latin typeface="Microsoft YaHei" panose="020B0503020204020204" pitchFamily="34" charset="-122"/>
              <a:ea typeface="Microsoft YaHei" panose="020B0503020204020204" pitchFamily="34" charset="-122"/>
            </a:endParaRPr>
          </a:p>
          <a:p>
            <a:pPr lvl="1"/>
            <a:r>
              <a:rPr lang="da-DK" altLang="zh-CN" sz="1600" dirty="0"/>
              <a:t>for v = 1.0:-0.2:0.0</a:t>
            </a:r>
          </a:p>
          <a:p>
            <a:pPr lvl="1"/>
            <a:r>
              <a:rPr lang="da-DK" altLang="zh-CN" sz="1600" dirty="0"/>
              <a:t>  println(v)</a:t>
            </a:r>
          </a:p>
          <a:p>
            <a:pPr lvl="1"/>
            <a:r>
              <a:rPr lang="da-DK" altLang="zh-CN" sz="1600" dirty="0"/>
              <a:t>End</a:t>
            </a:r>
          </a:p>
          <a:p>
            <a:pPr lvl="1"/>
            <a:endParaRPr lang="en-US" altLang="zh-CN" sz="1600" dirty="0">
              <a:solidFill>
                <a:srgbClr val="212121"/>
              </a:solidFill>
              <a:latin typeface="Microsoft YaHei" panose="020B0503020204020204" pitchFamily="34" charset="-122"/>
              <a:ea typeface="Microsoft YaHei" panose="020B0503020204020204" pitchFamily="34" charset="-122"/>
            </a:endParaRPr>
          </a:p>
          <a:p>
            <a:r>
              <a:rPr lang="zh-CN" altLang="en-US" sz="1600" dirty="0">
                <a:solidFill>
                  <a:srgbClr val="212121"/>
                </a:solidFill>
                <a:latin typeface="Microsoft YaHei" panose="020B0503020204020204" pitchFamily="34" charset="-122"/>
                <a:ea typeface="Microsoft YaHei" panose="020B0503020204020204" pitchFamily="34" charset="-122"/>
              </a:rPr>
              <a:t>输出：</a:t>
            </a:r>
            <a:r>
              <a:rPr lang="en-US" altLang="zh-CN" sz="1600" dirty="0">
                <a:solidFill>
                  <a:srgbClr val="212121"/>
                </a:solidFill>
                <a:latin typeface="Microsoft YaHei" panose="020B0503020204020204" pitchFamily="34" charset="-122"/>
                <a:ea typeface="Microsoft YaHei" panose="020B0503020204020204" pitchFamily="34" charset="-122"/>
              </a:rPr>
              <a:t>1.0 0.8 0.6 0.4 0.2 0.0</a:t>
            </a:r>
          </a:p>
          <a:p>
            <a:endParaRPr lang="en-US" altLang="zh-CN" sz="1600" dirty="0">
              <a:solidFill>
                <a:srgbClr val="212121"/>
              </a:solidFill>
              <a:latin typeface="Microsoft YaHei" panose="020B0503020204020204" pitchFamily="34" charset="-122"/>
              <a:ea typeface="Microsoft YaHei" panose="020B0503020204020204" pitchFamily="34" charset="-122"/>
            </a:endParaRPr>
          </a:p>
          <a:p>
            <a:endParaRPr lang="en-US" altLang="zh-CN" sz="1600" dirty="0">
              <a:solidFill>
                <a:srgbClr val="21212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50847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095C1-60C1-B48D-3590-9FAFD1FA5019}"/>
            </a:ext>
          </a:extLst>
        </p:cNvPr>
        <p:cNvGrpSpPr/>
        <p:nvPr/>
      </p:nvGrpSpPr>
      <p:grpSpPr>
        <a:xfrm>
          <a:off x="0" y="0"/>
          <a:ext cx="0" cy="0"/>
          <a:chOff x="0" y="0"/>
          <a:chExt cx="0" cy="0"/>
        </a:xfrm>
      </p:grpSpPr>
      <p:sp>
        <p:nvSpPr>
          <p:cNvPr id="15" name="矩形: 圆角 14">
            <a:extLst>
              <a:ext uri="{FF2B5EF4-FFF2-40B4-BE49-F238E27FC236}">
                <a16:creationId xmlns:a16="http://schemas.microsoft.com/office/drawing/2014/main" id="{71136A68-D7BB-4080-FF44-2028481F300F}"/>
              </a:ext>
            </a:extLst>
          </p:cNvPr>
          <p:cNvSpPr/>
          <p:nvPr/>
        </p:nvSpPr>
        <p:spPr>
          <a:xfrm>
            <a:off x="8086729" y="1919073"/>
            <a:ext cx="3722711" cy="3600989"/>
          </a:xfrm>
          <a:prstGeom prst="roundRect">
            <a:avLst>
              <a:gd name="adj" fmla="val 41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CBFEB2B4-A1EA-5819-28F4-2E7CEC40DE4F}"/>
              </a:ext>
            </a:extLst>
          </p:cNvPr>
          <p:cNvSpPr/>
          <p:nvPr/>
        </p:nvSpPr>
        <p:spPr>
          <a:xfrm>
            <a:off x="4234644" y="1919075"/>
            <a:ext cx="3722711" cy="3600988"/>
          </a:xfrm>
          <a:prstGeom prst="roundRect">
            <a:avLst>
              <a:gd name="adj" fmla="val 41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56794DDC-4E02-14E9-0DB4-F871575B2EBF}"/>
              </a:ext>
            </a:extLst>
          </p:cNvPr>
          <p:cNvSpPr/>
          <p:nvPr/>
        </p:nvSpPr>
        <p:spPr>
          <a:xfrm>
            <a:off x="390432" y="1919074"/>
            <a:ext cx="3722711" cy="3600987"/>
          </a:xfrm>
          <a:prstGeom prst="roundRect">
            <a:avLst>
              <a:gd name="adj" fmla="val 417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5">
            <a:extLst>
              <a:ext uri="{FF2B5EF4-FFF2-40B4-BE49-F238E27FC236}">
                <a16:creationId xmlns:a16="http://schemas.microsoft.com/office/drawing/2014/main" id="{E9D91FC1-B9FF-9EAB-B59C-8F8684508B70}"/>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三</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语言基础</a:t>
            </a:r>
          </a:p>
        </p:txBody>
      </p:sp>
      <p:sp>
        <p:nvSpPr>
          <p:cNvPr id="4" name="文本框 3">
            <a:extLst>
              <a:ext uri="{FF2B5EF4-FFF2-40B4-BE49-F238E27FC236}">
                <a16:creationId xmlns:a16="http://schemas.microsoft.com/office/drawing/2014/main" id="{B272A044-06F8-2C4D-A055-832437846C9E}"/>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（二）控制流与循环</a:t>
            </a:r>
            <a:endParaRPr lang="zh-CN" altLang="en-US" sz="2000" dirty="0">
              <a:solidFill>
                <a:srgbClr val="FF0000"/>
              </a:solidFill>
            </a:endParaRPr>
          </a:p>
        </p:txBody>
      </p:sp>
      <p:sp>
        <p:nvSpPr>
          <p:cNvPr id="21" name="TextBox 4">
            <a:extLst>
              <a:ext uri="{FF2B5EF4-FFF2-40B4-BE49-F238E27FC236}">
                <a16:creationId xmlns:a16="http://schemas.microsoft.com/office/drawing/2014/main" id="{4E98F13C-5E66-6B13-C776-4850F409C3E9}"/>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24</a:t>
            </a:fld>
            <a:endParaRPr lang="id-ID" sz="1200" dirty="0"/>
          </a:p>
        </p:txBody>
      </p:sp>
      <p:sp>
        <p:nvSpPr>
          <p:cNvPr id="5" name="文本框 4">
            <a:extLst>
              <a:ext uri="{FF2B5EF4-FFF2-40B4-BE49-F238E27FC236}">
                <a16:creationId xmlns:a16="http://schemas.microsoft.com/office/drawing/2014/main" id="{82CE8736-3F0F-7FBE-1F59-45561CB2E685}"/>
              </a:ext>
            </a:extLst>
          </p:cNvPr>
          <p:cNvSpPr txBox="1"/>
          <p:nvPr/>
        </p:nvSpPr>
        <p:spPr>
          <a:xfrm>
            <a:off x="545745" y="1457411"/>
            <a:ext cx="3722711" cy="4062651"/>
          </a:xfrm>
          <a:prstGeom prst="rect">
            <a:avLst/>
          </a:prstGeom>
          <a:noFill/>
        </p:spPr>
        <p:txBody>
          <a:bodyPr wrap="square">
            <a:spAutoFit/>
          </a:bodyPr>
          <a:lstStyle/>
          <a:p>
            <a:r>
              <a:rPr lang="zh-CN" altLang="en-US" b="1" dirty="0"/>
              <a:t>#嵌套循环</a:t>
            </a:r>
            <a:r>
              <a:rPr lang="en-US" altLang="zh-CN" b="1" dirty="0"/>
              <a:t>-while</a:t>
            </a:r>
            <a:r>
              <a:rPr lang="zh-CN" altLang="en-US" b="1" dirty="0"/>
              <a:t>语句</a:t>
            </a:r>
            <a:endParaRPr lang="en-US" altLang="zh-CN" b="1" dirty="0"/>
          </a:p>
          <a:p>
            <a:endParaRPr lang="en-US" altLang="zh-CN" sz="1600" dirty="0"/>
          </a:p>
          <a:p>
            <a:r>
              <a:rPr lang="en-US" altLang="zh-CN" sz="1600" dirty="0"/>
              <a:t>1.</a:t>
            </a:r>
            <a:r>
              <a:rPr lang="zh-CN" altLang="en-US" sz="1600" b="0" i="0" dirty="0">
                <a:solidFill>
                  <a:srgbClr val="212121"/>
                </a:solidFill>
                <a:effectLst/>
                <a:latin typeface="Microsoft YaHei" panose="020B0503020204020204" pitchFamily="34" charset="-122"/>
                <a:ea typeface="Microsoft YaHei" panose="020B0503020204020204" pitchFamily="34" charset="-122"/>
              </a:rPr>
              <a:t>使用 </a:t>
            </a:r>
            <a:r>
              <a:rPr lang="en-US" altLang="zh-CN" sz="1600" b="0" i="0" dirty="0">
                <a:solidFill>
                  <a:srgbClr val="212121"/>
                </a:solidFill>
                <a:effectLst/>
                <a:latin typeface="Microsoft YaHei" panose="020B0503020204020204" pitchFamily="34" charset="-122"/>
                <a:ea typeface="Microsoft YaHei" panose="020B0503020204020204" pitchFamily="34" charset="-122"/>
              </a:rPr>
              <a:t>while </a:t>
            </a:r>
            <a:r>
              <a:rPr lang="zh-CN" altLang="en-US" sz="1600" b="0" i="0" dirty="0">
                <a:solidFill>
                  <a:srgbClr val="212121"/>
                </a:solidFill>
                <a:effectLst/>
                <a:latin typeface="Microsoft YaHei" panose="020B0503020204020204" pitchFamily="34" charset="-122"/>
                <a:ea typeface="Microsoft YaHei" panose="020B0503020204020204" pitchFamily="34" charset="-122"/>
              </a:rPr>
              <a:t>循环计算 </a:t>
            </a:r>
            <a:r>
              <a:rPr lang="en-US" altLang="zh-CN" sz="1600" b="0" i="0" dirty="0">
                <a:solidFill>
                  <a:srgbClr val="212121"/>
                </a:solidFill>
                <a:effectLst/>
                <a:latin typeface="Microsoft YaHei" panose="020B0503020204020204" pitchFamily="34" charset="-122"/>
                <a:ea typeface="Microsoft YaHei" panose="020B0503020204020204" pitchFamily="34" charset="-122"/>
              </a:rPr>
              <a:t>factorial(10)</a:t>
            </a:r>
            <a:r>
              <a:rPr lang="zh-CN" altLang="en-US" sz="1600" b="0" i="0" dirty="0">
                <a:solidFill>
                  <a:srgbClr val="212121"/>
                </a:solidFill>
                <a:effectLst/>
                <a:latin typeface="Microsoft YaHei" panose="020B0503020204020204" pitchFamily="34" charset="-122"/>
                <a:ea typeface="Microsoft YaHei" panose="020B0503020204020204" pitchFamily="34" charset="-122"/>
              </a:rPr>
              <a:t>。</a:t>
            </a:r>
            <a:endParaRPr lang="en-US" altLang="zh-CN" sz="1600" b="0" i="0" dirty="0">
              <a:solidFill>
                <a:srgbClr val="212121"/>
              </a:solidFill>
              <a:effectLst/>
              <a:latin typeface="Microsoft YaHei" panose="020B0503020204020204" pitchFamily="34" charset="-122"/>
              <a:ea typeface="Microsoft YaHei" panose="020B0503020204020204" pitchFamily="34" charset="-122"/>
            </a:endParaRPr>
          </a:p>
          <a:p>
            <a:pPr lvl="1"/>
            <a:r>
              <a:rPr lang="pt-BR" altLang="zh-CN" sz="1600" dirty="0"/>
              <a:t>n = 10</a:t>
            </a:r>
          </a:p>
          <a:p>
            <a:pPr lvl="1"/>
            <a:r>
              <a:rPr lang="pt-BR" altLang="zh-CN" sz="1600" dirty="0"/>
              <a:t>f = n</a:t>
            </a:r>
          </a:p>
          <a:p>
            <a:pPr lvl="1"/>
            <a:r>
              <a:rPr lang="pt-BR" altLang="zh-CN" sz="1600" dirty="0"/>
              <a:t>while n &gt; 1</a:t>
            </a:r>
          </a:p>
          <a:p>
            <a:pPr lvl="1"/>
            <a:r>
              <a:rPr lang="pt-BR" altLang="zh-CN" sz="1600" dirty="0"/>
              <a:t>    global n, f</a:t>
            </a:r>
          </a:p>
          <a:p>
            <a:pPr lvl="1"/>
            <a:r>
              <a:rPr lang="pt-BR" altLang="zh-CN" sz="1600" dirty="0"/>
              <a:t>    n = n - 1</a:t>
            </a:r>
          </a:p>
          <a:p>
            <a:pPr lvl="1"/>
            <a:r>
              <a:rPr lang="pt-BR" altLang="zh-CN" sz="1600" dirty="0"/>
              <a:t>    f = f * n</a:t>
            </a:r>
          </a:p>
          <a:p>
            <a:pPr lvl="1"/>
            <a:r>
              <a:rPr lang="pt-BR" altLang="zh-CN" sz="1600" dirty="0"/>
              <a:t>end</a:t>
            </a:r>
          </a:p>
          <a:p>
            <a:pPr lvl="1"/>
            <a:r>
              <a:rPr lang="pt-BR" altLang="zh-CN" sz="1600" dirty="0"/>
              <a:t>print("n! = $f")</a:t>
            </a:r>
            <a:endParaRPr lang="en-US" altLang="zh-CN" sz="1600" dirty="0"/>
          </a:p>
          <a:p>
            <a:endParaRPr lang="en-US" altLang="zh-CN" sz="1600" dirty="0">
              <a:solidFill>
                <a:srgbClr val="212121"/>
              </a:solidFill>
              <a:latin typeface="Microsoft YaHei" panose="020B0503020204020204" pitchFamily="34" charset="-122"/>
              <a:ea typeface="Microsoft YaHei" panose="020B0503020204020204" pitchFamily="34" charset="-122"/>
            </a:endParaRPr>
          </a:p>
          <a:p>
            <a:r>
              <a:rPr lang="zh-CN" altLang="en-US" sz="1600" dirty="0">
                <a:solidFill>
                  <a:srgbClr val="212121"/>
                </a:solidFill>
                <a:latin typeface="Microsoft YaHei" panose="020B0503020204020204" pitchFamily="34" charset="-122"/>
                <a:ea typeface="Microsoft YaHei" panose="020B0503020204020204" pitchFamily="34" charset="-122"/>
              </a:rPr>
              <a:t>输出：</a:t>
            </a:r>
            <a:r>
              <a:rPr lang="en-US" altLang="zh-CN" sz="1600" dirty="0">
                <a:solidFill>
                  <a:srgbClr val="212121"/>
                </a:solidFill>
                <a:latin typeface="Microsoft YaHei" panose="020B0503020204020204" pitchFamily="34" charset="-122"/>
                <a:ea typeface="Microsoft YaHei" panose="020B0503020204020204" pitchFamily="34" charset="-122"/>
              </a:rPr>
              <a:t>n! = 3628800</a:t>
            </a:r>
          </a:p>
          <a:p>
            <a:endParaRPr lang="en-US" altLang="zh-CN" sz="1600" dirty="0">
              <a:solidFill>
                <a:srgbClr val="212121"/>
              </a:solidFill>
              <a:latin typeface="Microsoft YaHei" panose="020B0503020204020204" pitchFamily="34" charset="-122"/>
              <a:ea typeface="Microsoft YaHei" panose="020B0503020204020204" pitchFamily="34" charset="-122"/>
            </a:endParaRPr>
          </a:p>
          <a:p>
            <a:endParaRPr lang="en-US" altLang="zh-CN" sz="1600" dirty="0">
              <a:solidFill>
                <a:srgbClr val="212121"/>
              </a:solidFill>
              <a:latin typeface="Microsoft YaHei" panose="020B0503020204020204" pitchFamily="34" charset="-122"/>
              <a:ea typeface="Microsoft YaHei" panose="020B0503020204020204" pitchFamily="34" charset="-122"/>
            </a:endParaRPr>
          </a:p>
          <a:p>
            <a:endParaRPr lang="zh-CN" altLang="en-US" sz="1600" dirty="0"/>
          </a:p>
        </p:txBody>
      </p:sp>
      <p:sp>
        <p:nvSpPr>
          <p:cNvPr id="9" name="文本框 8">
            <a:extLst>
              <a:ext uri="{FF2B5EF4-FFF2-40B4-BE49-F238E27FC236}">
                <a16:creationId xmlns:a16="http://schemas.microsoft.com/office/drawing/2014/main" id="{8DCAEB89-041B-A696-B984-DBFF6C47514A}"/>
              </a:ext>
            </a:extLst>
          </p:cNvPr>
          <p:cNvSpPr txBox="1"/>
          <p:nvPr/>
        </p:nvSpPr>
        <p:spPr>
          <a:xfrm>
            <a:off x="4371096" y="1984392"/>
            <a:ext cx="3498979" cy="3539430"/>
          </a:xfrm>
          <a:prstGeom prst="rect">
            <a:avLst/>
          </a:prstGeom>
          <a:noFill/>
        </p:spPr>
        <p:txBody>
          <a:bodyPr wrap="square">
            <a:spAutoFit/>
          </a:bodyPr>
          <a:lstStyle/>
          <a:p>
            <a:r>
              <a:rPr lang="en-US" altLang="zh-CN" sz="1600" dirty="0">
                <a:solidFill>
                  <a:srgbClr val="212121"/>
                </a:solidFill>
                <a:latin typeface="Microsoft YaHei" panose="020B0503020204020204" pitchFamily="34" charset="-122"/>
                <a:ea typeface="Microsoft YaHei" panose="020B0503020204020204" pitchFamily="34" charset="-122"/>
              </a:rPr>
              <a:t>2.</a:t>
            </a:r>
            <a:r>
              <a:rPr lang="zh-CN" altLang="en-US" sz="1600" dirty="0">
                <a:solidFill>
                  <a:srgbClr val="212121"/>
                </a:solidFill>
                <a:latin typeface="Microsoft YaHei" panose="020B0503020204020204" pitchFamily="34" charset="-122"/>
                <a:ea typeface="Microsoft YaHei" panose="020B0503020204020204" pitchFamily="34" charset="-122"/>
              </a:rPr>
              <a:t>打印</a:t>
            </a:r>
            <a:r>
              <a:rPr lang="en-US" altLang="zh-CN" sz="1600" dirty="0">
                <a:solidFill>
                  <a:srgbClr val="212121"/>
                </a:solidFill>
                <a:latin typeface="Microsoft YaHei" panose="020B0503020204020204" pitchFamily="34" charset="-122"/>
                <a:ea typeface="Microsoft YaHei" panose="020B0503020204020204" pitchFamily="34" charset="-122"/>
              </a:rPr>
              <a:t>1~10</a:t>
            </a:r>
            <a:r>
              <a:rPr lang="zh-CN" altLang="en-US" sz="1600" dirty="0">
                <a:solidFill>
                  <a:srgbClr val="212121"/>
                </a:solidFill>
                <a:latin typeface="Microsoft YaHei" panose="020B0503020204020204" pitchFamily="34" charset="-122"/>
                <a:ea typeface="Microsoft YaHei" panose="020B0503020204020204" pitchFamily="34" charset="-122"/>
              </a:rPr>
              <a:t>中非</a:t>
            </a:r>
            <a:r>
              <a:rPr lang="en-US" altLang="zh-CN" sz="1600" dirty="0">
                <a:solidFill>
                  <a:srgbClr val="212121"/>
                </a:solidFill>
                <a:latin typeface="Microsoft YaHei" panose="020B0503020204020204" pitchFamily="34" charset="-122"/>
                <a:ea typeface="Microsoft YaHei" panose="020B0503020204020204" pitchFamily="34" charset="-122"/>
              </a:rPr>
              <a:t>3</a:t>
            </a:r>
            <a:r>
              <a:rPr lang="zh-CN" altLang="en-US" sz="1600" dirty="0">
                <a:solidFill>
                  <a:srgbClr val="212121"/>
                </a:solidFill>
                <a:latin typeface="Microsoft YaHei" panose="020B0503020204020204" pitchFamily="34" charset="-122"/>
                <a:ea typeface="Microsoft YaHei" panose="020B0503020204020204" pitchFamily="34" charset="-122"/>
              </a:rPr>
              <a:t>倍数的整数。使用</a:t>
            </a:r>
            <a:r>
              <a:rPr lang="en-US" altLang="zh-CN" sz="1600" dirty="0">
                <a:solidFill>
                  <a:srgbClr val="212121"/>
                </a:solidFill>
                <a:latin typeface="Microsoft YaHei" panose="020B0503020204020204" pitchFamily="34" charset="-122"/>
                <a:ea typeface="Microsoft YaHei" panose="020B0503020204020204" pitchFamily="34" charset="-122"/>
              </a:rPr>
              <a:t>continue</a:t>
            </a:r>
            <a:r>
              <a:rPr lang="zh-CN" altLang="en-US" sz="1600" dirty="0">
                <a:solidFill>
                  <a:srgbClr val="212121"/>
                </a:solidFill>
                <a:latin typeface="Microsoft YaHei" panose="020B0503020204020204" pitchFamily="34" charset="-122"/>
                <a:ea typeface="Microsoft YaHei" panose="020B0503020204020204" pitchFamily="34" charset="-122"/>
              </a:rPr>
              <a:t>语句跳过</a:t>
            </a:r>
            <a:r>
              <a:rPr lang="en-US" altLang="zh-CN" sz="1600" dirty="0">
                <a:solidFill>
                  <a:srgbClr val="212121"/>
                </a:solidFill>
                <a:latin typeface="Microsoft YaHei" panose="020B0503020204020204" pitchFamily="34" charset="-122"/>
                <a:ea typeface="Microsoft YaHei" panose="020B0503020204020204" pitchFamily="34" charset="-122"/>
              </a:rPr>
              <a:t>while</a:t>
            </a:r>
            <a:r>
              <a:rPr lang="zh-CN" altLang="en-US" sz="1600" dirty="0">
                <a:solidFill>
                  <a:srgbClr val="212121"/>
                </a:solidFill>
                <a:latin typeface="Microsoft YaHei" panose="020B0503020204020204" pitchFamily="34" charset="-122"/>
                <a:ea typeface="Microsoft YaHei" panose="020B0503020204020204" pitchFamily="34" charset="-122"/>
              </a:rPr>
              <a:t>循环中的其余指令并开始下一迭代。</a:t>
            </a:r>
          </a:p>
          <a:p>
            <a:pPr lvl="1"/>
            <a:r>
              <a:rPr lang="pt-BR" altLang="zh-CN" sz="1600" dirty="0"/>
              <a:t>n = 0</a:t>
            </a:r>
          </a:p>
          <a:p>
            <a:pPr lvl="1"/>
            <a:r>
              <a:rPr lang="pt-BR" altLang="zh-CN" sz="1600" dirty="0"/>
              <a:t>while n &lt; 10</a:t>
            </a:r>
          </a:p>
          <a:p>
            <a:pPr lvl="1"/>
            <a:r>
              <a:rPr lang="pt-BR" altLang="zh-CN" sz="1600" dirty="0"/>
              <a:t>    global n</a:t>
            </a:r>
          </a:p>
          <a:p>
            <a:pPr lvl="1"/>
            <a:r>
              <a:rPr lang="pt-BR" altLang="zh-CN" sz="1600" dirty="0"/>
              <a:t>    n += 1</a:t>
            </a:r>
          </a:p>
          <a:p>
            <a:pPr lvl="1"/>
            <a:r>
              <a:rPr lang="pt-BR" altLang="zh-CN" sz="1600" dirty="0"/>
              <a:t>    if mod(n, 3) == 0</a:t>
            </a:r>
          </a:p>
          <a:p>
            <a:pPr lvl="1"/>
            <a:r>
              <a:rPr lang="pt-BR" altLang="zh-CN" sz="1600" dirty="0"/>
              <a:t>        continue</a:t>
            </a:r>
          </a:p>
          <a:p>
            <a:pPr lvl="1"/>
            <a:r>
              <a:rPr lang="pt-BR" altLang="zh-CN" sz="1600" dirty="0"/>
              <a:t>    end</a:t>
            </a:r>
          </a:p>
          <a:p>
            <a:pPr lvl="1"/>
            <a:r>
              <a:rPr lang="pt-BR" altLang="zh-CN" sz="1600" dirty="0"/>
              <a:t>    println(n)</a:t>
            </a:r>
          </a:p>
          <a:p>
            <a:pPr lvl="1"/>
            <a:r>
              <a:rPr lang="pt-BR" altLang="zh-CN" sz="1600" dirty="0"/>
              <a:t>end</a:t>
            </a:r>
          </a:p>
          <a:p>
            <a:pPr lvl="1"/>
            <a:endParaRPr lang="en-US" altLang="zh-CN" sz="1600" dirty="0">
              <a:solidFill>
                <a:srgbClr val="212121"/>
              </a:solidFill>
              <a:latin typeface="Microsoft YaHei" panose="020B0503020204020204" pitchFamily="34" charset="-122"/>
              <a:ea typeface="Microsoft YaHei" panose="020B0503020204020204" pitchFamily="34" charset="-122"/>
            </a:endParaRPr>
          </a:p>
          <a:p>
            <a:pPr marL="0" lvl="1"/>
            <a:r>
              <a:rPr lang="zh-CN" altLang="en-US" sz="1600" dirty="0">
                <a:solidFill>
                  <a:srgbClr val="212121"/>
                </a:solidFill>
                <a:latin typeface="Microsoft YaHei" panose="020B0503020204020204" pitchFamily="34" charset="-122"/>
                <a:ea typeface="Microsoft YaHei" panose="020B0503020204020204" pitchFamily="34" charset="-122"/>
              </a:rPr>
              <a:t>输出：</a:t>
            </a:r>
            <a:r>
              <a:rPr lang="en-US" altLang="zh-CN" sz="1600" dirty="0">
                <a:solidFill>
                  <a:srgbClr val="212121"/>
                </a:solidFill>
                <a:latin typeface="Microsoft YaHei" panose="020B0503020204020204" pitchFamily="34" charset="-122"/>
                <a:ea typeface="Microsoft YaHei" panose="020B0503020204020204" pitchFamily="34" charset="-122"/>
              </a:rPr>
              <a:t>1 2 4 5 7 8 10</a:t>
            </a:r>
            <a:r>
              <a:rPr lang="pt-BR" altLang="zh-CN" sz="1600" dirty="0">
                <a:solidFill>
                  <a:srgbClr val="212121"/>
                </a:solidFill>
                <a:latin typeface="Microsoft YaHei" panose="020B0503020204020204" pitchFamily="34" charset="-122"/>
                <a:ea typeface="Microsoft YaHei" panose="020B0503020204020204" pitchFamily="34" charset="-122"/>
              </a:rPr>
              <a:t> </a:t>
            </a:r>
            <a:endParaRPr lang="en-US" altLang="zh-CN" sz="1600" dirty="0">
              <a:solidFill>
                <a:srgbClr val="212121"/>
              </a:solidFill>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19F20C26-96B3-AA0B-CA4F-33676A060246}"/>
              </a:ext>
            </a:extLst>
          </p:cNvPr>
          <p:cNvSpPr txBox="1"/>
          <p:nvPr/>
        </p:nvSpPr>
        <p:spPr>
          <a:xfrm>
            <a:off x="8194391" y="1984392"/>
            <a:ext cx="3507386" cy="4093428"/>
          </a:xfrm>
          <a:prstGeom prst="rect">
            <a:avLst/>
          </a:prstGeom>
          <a:noFill/>
        </p:spPr>
        <p:txBody>
          <a:bodyPr wrap="square">
            <a:spAutoFit/>
          </a:bodyPr>
          <a:lstStyle/>
          <a:p>
            <a:pPr algn="l"/>
            <a:r>
              <a:rPr lang="en-US" altLang="zh-CN" sz="1600" dirty="0">
                <a:solidFill>
                  <a:srgbClr val="212121"/>
                </a:solidFill>
                <a:latin typeface="Microsoft YaHei" panose="020B0503020204020204" pitchFamily="34" charset="-122"/>
                <a:ea typeface="Microsoft YaHei" panose="020B0503020204020204" pitchFamily="34" charset="-122"/>
              </a:rPr>
              <a:t>3.</a:t>
            </a:r>
            <a:r>
              <a:rPr lang="zh-CN" altLang="en-US" sz="1600" dirty="0">
                <a:solidFill>
                  <a:srgbClr val="212121"/>
                </a:solidFill>
                <a:latin typeface="Microsoft YaHei" panose="020B0503020204020204" pitchFamily="34" charset="-122"/>
                <a:ea typeface="Microsoft YaHei" panose="020B0503020204020204" pitchFamily="34" charset="-122"/>
              </a:rPr>
              <a:t>求随机数序列之和，直到下一随机数大于上限为止。然后，使用 </a:t>
            </a:r>
            <a:r>
              <a:rPr lang="en-US" altLang="zh-CN" sz="1600" dirty="0">
                <a:solidFill>
                  <a:srgbClr val="212121"/>
                </a:solidFill>
                <a:latin typeface="Microsoft YaHei" panose="020B0503020204020204" pitchFamily="34" charset="-122"/>
                <a:ea typeface="Microsoft YaHei" panose="020B0503020204020204" pitchFamily="34" charset="-122"/>
              </a:rPr>
              <a:t>break </a:t>
            </a:r>
            <a:r>
              <a:rPr lang="zh-CN" altLang="en-US" sz="1600" dirty="0">
                <a:solidFill>
                  <a:srgbClr val="212121"/>
                </a:solidFill>
                <a:latin typeface="Microsoft YaHei" panose="020B0503020204020204" pitchFamily="34" charset="-122"/>
                <a:ea typeface="Microsoft YaHei" panose="020B0503020204020204" pitchFamily="34" charset="-122"/>
              </a:rPr>
              <a:t>语句退出循环。</a:t>
            </a:r>
            <a:endParaRPr lang="en-US" altLang="zh-CN" sz="1600" dirty="0">
              <a:solidFill>
                <a:srgbClr val="212121"/>
              </a:solidFill>
              <a:latin typeface="Microsoft YaHei" panose="020B0503020204020204" pitchFamily="34" charset="-122"/>
              <a:ea typeface="Microsoft YaHei" panose="020B0503020204020204" pitchFamily="34" charset="-122"/>
            </a:endParaRPr>
          </a:p>
          <a:p>
            <a:pPr lvl="1"/>
            <a:r>
              <a:rPr lang="en-US" altLang="zh-CN" sz="1600" dirty="0"/>
              <a:t>limit = 0.8</a:t>
            </a:r>
          </a:p>
          <a:p>
            <a:pPr lvl="1"/>
            <a:r>
              <a:rPr lang="en-US" altLang="zh-CN" sz="1600" dirty="0"/>
              <a:t>s = 0</a:t>
            </a:r>
          </a:p>
          <a:p>
            <a:pPr lvl="1"/>
            <a:r>
              <a:rPr lang="en-US" altLang="zh-CN" sz="1600" dirty="0"/>
              <a:t>while true</a:t>
            </a:r>
          </a:p>
          <a:p>
            <a:pPr lvl="1"/>
            <a:r>
              <a:rPr lang="en-US" altLang="zh-CN" sz="1600" dirty="0"/>
              <a:t>    global s</a:t>
            </a:r>
          </a:p>
          <a:p>
            <a:pPr lvl="1"/>
            <a:r>
              <a:rPr lang="en-US" altLang="zh-CN" sz="1600" dirty="0"/>
              <a:t>    </a:t>
            </a:r>
            <a:r>
              <a:rPr lang="en-US" altLang="zh-CN" sz="1600" dirty="0" err="1"/>
              <a:t>tmp</a:t>
            </a:r>
            <a:r>
              <a:rPr lang="en-US" altLang="zh-CN" sz="1600" dirty="0"/>
              <a:t> = rand()</a:t>
            </a:r>
          </a:p>
          <a:p>
            <a:pPr lvl="1"/>
            <a:r>
              <a:rPr lang="en-US" altLang="zh-CN" sz="1600" dirty="0"/>
              <a:t>    if </a:t>
            </a:r>
            <a:r>
              <a:rPr lang="en-US" altLang="zh-CN" sz="1600" dirty="0" err="1"/>
              <a:t>tmp</a:t>
            </a:r>
            <a:r>
              <a:rPr lang="en-US" altLang="zh-CN" sz="1600" dirty="0"/>
              <a:t> &gt; limit</a:t>
            </a:r>
          </a:p>
          <a:p>
            <a:pPr lvl="1"/>
            <a:r>
              <a:rPr lang="en-US" altLang="zh-CN" sz="1600" dirty="0"/>
              <a:t>        break</a:t>
            </a:r>
          </a:p>
          <a:p>
            <a:pPr lvl="1"/>
            <a:r>
              <a:rPr lang="en-US" altLang="zh-CN" sz="1600" dirty="0"/>
              <a:t>    end</a:t>
            </a:r>
          </a:p>
          <a:p>
            <a:pPr lvl="1"/>
            <a:r>
              <a:rPr lang="en-US" altLang="zh-CN" sz="1600" dirty="0"/>
              <a:t>    s = s + </a:t>
            </a:r>
            <a:r>
              <a:rPr lang="en-US" altLang="zh-CN" sz="1600" dirty="0" err="1"/>
              <a:t>tmp</a:t>
            </a:r>
            <a:endParaRPr lang="en-US" altLang="zh-CN" sz="1600" dirty="0"/>
          </a:p>
          <a:p>
            <a:pPr lvl="1"/>
            <a:r>
              <a:rPr lang="en-US" altLang="zh-CN" sz="1600" dirty="0"/>
              <a:t>end</a:t>
            </a:r>
          </a:p>
          <a:p>
            <a:pPr algn="l"/>
            <a:endParaRPr lang="zh-CN" altLang="en-US" sz="1600" dirty="0">
              <a:solidFill>
                <a:srgbClr val="212121"/>
              </a:solidFill>
              <a:latin typeface="Microsoft YaHei" panose="020B0503020204020204" pitchFamily="34" charset="-122"/>
              <a:ea typeface="Microsoft YaHei" panose="020B0503020204020204" pitchFamily="34" charset="-122"/>
            </a:endParaRPr>
          </a:p>
          <a:p>
            <a:br>
              <a:rPr lang="zh-CN" altLang="en-US" b="0" i="0" dirty="0">
                <a:solidFill>
                  <a:srgbClr val="212121"/>
                </a:solidFill>
                <a:effectLst/>
                <a:latin typeface="Microsoft YaHei" panose="020B0503020204020204" pitchFamily="34" charset="-122"/>
                <a:ea typeface="Microsoft YaHei" panose="020B0503020204020204" pitchFamily="34" charset="-122"/>
              </a:rPr>
            </a:br>
            <a:endParaRPr lang="zh-CN" altLang="en-US" dirty="0"/>
          </a:p>
        </p:txBody>
      </p:sp>
    </p:spTree>
    <p:extLst>
      <p:ext uri="{BB962C8B-B14F-4D97-AF65-F5344CB8AC3E}">
        <p14:creationId xmlns:p14="http://schemas.microsoft.com/office/powerpoint/2010/main" val="532908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EA916-3D69-EADE-D167-BD4CEBE58D9E}"/>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880A3C22-67F0-FF5C-213B-941D8C81A7AE}"/>
              </a:ext>
            </a:extLst>
          </p:cNvPr>
          <p:cNvSpPr txBox="1"/>
          <p:nvPr/>
        </p:nvSpPr>
        <p:spPr>
          <a:xfrm>
            <a:off x="899249" y="200214"/>
            <a:ext cx="7377003"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三</a:t>
            </a:r>
            <a:r>
              <a:rPr lang="en-US" altLang="zh-CN" sz="3600" b="1" dirty="0">
                <a:solidFill>
                  <a:srgbClr val="00467F"/>
                </a:solidFill>
                <a:latin typeface="微软雅黑" panose="020B0503020204020204" pitchFamily="34" charset="-122"/>
                <a:ea typeface="微软雅黑" panose="020B0503020204020204" pitchFamily="34" charset="-122"/>
              </a:rPr>
              <a:t>. MWORKS SYSLAB</a:t>
            </a:r>
            <a:r>
              <a:rPr lang="zh-CN" altLang="en-US" sz="3600" b="1" dirty="0">
                <a:solidFill>
                  <a:srgbClr val="00467F"/>
                </a:solidFill>
                <a:latin typeface="微软雅黑" panose="020B0503020204020204" pitchFamily="34" charset="-122"/>
                <a:ea typeface="微软雅黑" panose="020B0503020204020204" pitchFamily="34" charset="-122"/>
              </a:rPr>
              <a:t>语言基础</a:t>
            </a:r>
          </a:p>
        </p:txBody>
      </p:sp>
      <p:sp>
        <p:nvSpPr>
          <p:cNvPr id="6" name="文本框 5">
            <a:extLst>
              <a:ext uri="{FF2B5EF4-FFF2-40B4-BE49-F238E27FC236}">
                <a16:creationId xmlns:a16="http://schemas.microsoft.com/office/drawing/2014/main" id="{8E6B6DFC-73EB-B2A2-84D2-E5C755A087EE}"/>
              </a:ext>
            </a:extLst>
          </p:cNvPr>
          <p:cNvSpPr txBox="1"/>
          <p:nvPr/>
        </p:nvSpPr>
        <p:spPr>
          <a:xfrm>
            <a:off x="352231" y="951923"/>
            <a:ext cx="6097554" cy="400110"/>
          </a:xfrm>
          <a:prstGeom prst="rect">
            <a:avLst/>
          </a:prstGeom>
          <a:noFill/>
        </p:spPr>
        <p:txBody>
          <a:bodyPr wrap="square">
            <a:spAutoFit/>
          </a:bodyPr>
          <a:lstStyle/>
          <a:p>
            <a:r>
              <a:rPr lang="zh-CN" altLang="en-US" sz="2000" b="1" i="0" dirty="0">
                <a:solidFill>
                  <a:srgbClr val="FF0000"/>
                </a:solidFill>
                <a:effectLst/>
                <a:latin typeface="Microsoft YaHei" panose="020B0503020204020204" pitchFamily="34" charset="-122"/>
                <a:ea typeface="Microsoft YaHei" panose="020B0503020204020204" pitchFamily="34" charset="-122"/>
              </a:rPr>
              <a:t>（三）</a:t>
            </a:r>
            <a:r>
              <a:rPr lang="zh-CN" altLang="en-US" sz="2000" b="1" dirty="0">
                <a:solidFill>
                  <a:srgbClr val="FF0000"/>
                </a:solidFill>
                <a:latin typeface="Microsoft YaHei" panose="020B0503020204020204" pitchFamily="34" charset="-122"/>
                <a:ea typeface="Microsoft YaHei" panose="020B0503020204020204" pitchFamily="34" charset="-122"/>
              </a:rPr>
              <a:t>本次实验</a:t>
            </a:r>
            <a:r>
              <a:rPr lang="zh-CN" altLang="en-US" sz="2000" b="1" i="0" dirty="0">
                <a:solidFill>
                  <a:srgbClr val="FF0000"/>
                </a:solidFill>
                <a:effectLst/>
                <a:latin typeface="Microsoft YaHei" panose="020B0503020204020204" pitchFamily="34" charset="-122"/>
                <a:ea typeface="Microsoft YaHei" panose="020B0503020204020204" pitchFamily="34" charset="-122"/>
              </a:rPr>
              <a:t>可能用到的语句</a:t>
            </a:r>
            <a:endParaRPr lang="zh-CN" altLang="en-US" sz="2000" dirty="0">
              <a:solidFill>
                <a:srgbClr val="FF0000"/>
              </a:solidFill>
            </a:endParaRPr>
          </a:p>
        </p:txBody>
      </p:sp>
      <p:sp>
        <p:nvSpPr>
          <p:cNvPr id="8" name="文本框 7">
            <a:extLst>
              <a:ext uri="{FF2B5EF4-FFF2-40B4-BE49-F238E27FC236}">
                <a16:creationId xmlns:a16="http://schemas.microsoft.com/office/drawing/2014/main" id="{4CF907D9-2CBA-1477-E48B-1D25636FB7E2}"/>
              </a:ext>
            </a:extLst>
          </p:cNvPr>
          <p:cNvSpPr txBox="1"/>
          <p:nvPr/>
        </p:nvSpPr>
        <p:spPr>
          <a:xfrm>
            <a:off x="892249" y="1457411"/>
            <a:ext cx="10891157" cy="5449312"/>
          </a:xfrm>
          <a:prstGeom prst="rect">
            <a:avLst/>
          </a:prstGeom>
          <a:noFill/>
        </p:spPr>
        <p:txBody>
          <a:bodyPr wrap="square">
            <a:spAutoFit/>
          </a:bodyPr>
          <a:lstStyle/>
          <a:p>
            <a:pPr>
              <a:lnSpc>
                <a:spcPct val="150000"/>
              </a:lnSpc>
            </a:pPr>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TyPlot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调用绘图函数库</a:t>
            </a:r>
            <a:endParaRPr lang="en-US" altLang="zh-CN" b="0" dirty="0">
              <a:solidFill>
                <a:srgbClr val="008000"/>
              </a:solidFill>
              <a:effectLst/>
              <a:latin typeface="Consolas" panose="020B0609020204030204" pitchFamily="49" charset="0"/>
            </a:endParaRPr>
          </a:p>
          <a:p>
            <a:pPr>
              <a:lnSpc>
                <a:spcPct val="150000"/>
              </a:lnSpc>
            </a:pPr>
            <a:r>
              <a:rPr lang="en-US" altLang="zh-CN" dirty="0">
                <a:solidFill>
                  <a:srgbClr val="AF00DB"/>
                </a:solidFill>
                <a:latin typeface="Consolas" panose="020B0609020204030204" pitchFamily="49" charset="0"/>
              </a:rPr>
              <a:t>using</a:t>
            </a:r>
            <a:r>
              <a:rPr lang="en-US" altLang="zh-CN" dirty="0">
                <a:solidFill>
                  <a:srgbClr val="008000"/>
                </a:solidFill>
                <a:latin typeface="Consolas" panose="020B0609020204030204" pitchFamily="49" charset="0"/>
              </a:rPr>
              <a:t> </a:t>
            </a:r>
            <a:r>
              <a:rPr lang="en-US" altLang="zh-CN" dirty="0" err="1">
                <a:solidFill>
                  <a:srgbClr val="000000"/>
                </a:solidFill>
                <a:latin typeface="Consolas" panose="020B0609020204030204" pitchFamily="49" charset="0"/>
              </a:rPr>
              <a:t>Tybase</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调用基础函数库</a:t>
            </a:r>
            <a:endParaRPr lang="en-US" altLang="zh-CN" b="0" dirty="0">
              <a:solidFill>
                <a:srgbClr val="000000"/>
              </a:solidFill>
              <a:effectLst/>
              <a:latin typeface="Consolas" panose="020B0609020204030204" pitchFamily="49" charset="0"/>
            </a:endParaRPr>
          </a:p>
          <a:p>
            <a:pPr>
              <a:lnSpc>
                <a:spcPct val="150000"/>
              </a:lnSpc>
            </a:pPr>
            <a:r>
              <a:rPr lang="en-US" altLang="zh-CN" b="0" dirty="0">
                <a:solidFill>
                  <a:srgbClr val="000000"/>
                </a:solidFill>
                <a:effectLst/>
                <a:latin typeface="Consolas" panose="020B0609020204030204" pitchFamily="49" charset="0"/>
              </a:rPr>
              <a:t>V=</a:t>
            </a:r>
            <a:r>
              <a:rPr lang="en-US" altLang="zh-CN" b="0" dirty="0">
                <a:solidFill>
                  <a:srgbClr val="795E26"/>
                </a:solidFill>
                <a:effectLst/>
                <a:latin typeface="Consolas" panose="020B0609020204030204" pitchFamily="49" charset="0"/>
              </a:rPr>
              <a:t>zeros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获得一个</a:t>
            </a:r>
            <a:r>
              <a:rPr lang="en-US" altLang="zh-CN" dirty="0">
                <a:solidFill>
                  <a:srgbClr val="008000"/>
                </a:solidFill>
                <a:latin typeface="Consolas" panose="020B0609020204030204" pitchFamily="49" charset="0"/>
              </a:rPr>
              <a:t>10</a:t>
            </a:r>
            <a:r>
              <a:rPr lang="zh-CN" altLang="en-US" b="0" dirty="0">
                <a:solidFill>
                  <a:srgbClr val="008000"/>
                </a:solidFill>
                <a:effectLst/>
                <a:latin typeface="Consolas" panose="020B0609020204030204" pitchFamily="49" charset="0"/>
              </a:rPr>
              <a:t>行，</a:t>
            </a:r>
            <a:r>
              <a:rPr lang="en-US" altLang="zh-CN" dirty="0">
                <a:solidFill>
                  <a:srgbClr val="008000"/>
                </a:solidFill>
                <a:latin typeface="Consolas" panose="020B0609020204030204" pitchFamily="49" charset="0"/>
              </a:rPr>
              <a:t>15</a:t>
            </a:r>
            <a:r>
              <a:rPr lang="zh-CN" altLang="en-US" b="0" dirty="0">
                <a:solidFill>
                  <a:srgbClr val="008000"/>
                </a:solidFill>
                <a:effectLst/>
                <a:latin typeface="Consolas" panose="020B0609020204030204" pitchFamily="49" charset="0"/>
              </a:rPr>
              <a:t>列的矩阵</a:t>
            </a:r>
            <a:r>
              <a:rPr lang="en-US" altLang="zh-CN" b="0" dirty="0">
                <a:solidFill>
                  <a:srgbClr val="008000"/>
                </a:solidFill>
                <a:effectLst/>
                <a:latin typeface="Consolas" panose="020B0609020204030204" pitchFamily="49" charset="0"/>
              </a:rPr>
              <a:t>V</a:t>
            </a:r>
            <a:r>
              <a:rPr lang="zh-CN" altLang="en-US" b="0" dirty="0">
                <a:solidFill>
                  <a:srgbClr val="008000"/>
                </a:solidFill>
                <a:effectLst/>
                <a:latin typeface="Consolas" panose="020B0609020204030204" pitchFamily="49" charset="0"/>
              </a:rPr>
              <a:t>，矩阵中所有元素全为</a:t>
            </a:r>
            <a:r>
              <a:rPr lang="en-US" altLang="zh-CN" b="0" dirty="0">
                <a:solidFill>
                  <a:srgbClr val="008000"/>
                </a:solidFill>
                <a:effectLst/>
                <a:latin typeface="Consolas" panose="020B0609020204030204" pitchFamily="49" charset="0"/>
              </a:rPr>
              <a:t>0</a:t>
            </a:r>
          </a:p>
          <a:p>
            <a:pPr>
              <a:lnSpc>
                <a:spcPct val="150000"/>
              </a:lnSpc>
            </a:pPr>
            <a:r>
              <a:rPr lang="en-US" altLang="zh-CN" b="0" dirty="0">
                <a:solidFill>
                  <a:srgbClr val="000000"/>
                </a:solidFill>
                <a:effectLst/>
                <a:latin typeface="Consolas" panose="020B0609020204030204" pitchFamily="49" charset="0"/>
              </a:rPr>
              <a:t>V[</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给矩阵</a:t>
            </a:r>
            <a:r>
              <a:rPr lang="en-US" altLang="zh-CN" b="0" dirty="0">
                <a:solidFill>
                  <a:srgbClr val="008000"/>
                </a:solidFill>
                <a:effectLst/>
                <a:latin typeface="Consolas" panose="020B0609020204030204" pitchFamily="49" charset="0"/>
              </a:rPr>
              <a:t>V</a:t>
            </a:r>
            <a:r>
              <a:rPr lang="zh-CN" altLang="en-US" b="0" dirty="0">
                <a:solidFill>
                  <a:srgbClr val="008000"/>
                </a:solidFill>
                <a:effectLst/>
                <a:latin typeface="Consolas" panose="020B0609020204030204" pitchFamily="49" charset="0"/>
              </a:rPr>
              <a:t>的第</a:t>
            </a:r>
            <a:r>
              <a:rPr lang="en-US" altLang="zh-CN" b="0" dirty="0">
                <a:solidFill>
                  <a:srgbClr val="008000"/>
                </a:solidFill>
                <a:effectLst/>
                <a:latin typeface="Consolas" panose="020B0609020204030204" pitchFamily="49" charset="0"/>
              </a:rPr>
              <a:t>2</a:t>
            </a:r>
            <a:r>
              <a:rPr lang="zh-CN" altLang="en-US" b="0" dirty="0">
                <a:solidFill>
                  <a:srgbClr val="008000"/>
                </a:solidFill>
                <a:effectLst/>
                <a:latin typeface="Consolas" panose="020B0609020204030204" pitchFamily="49" charset="0"/>
              </a:rPr>
              <a:t>行，第</a:t>
            </a:r>
            <a:r>
              <a:rPr lang="en-US" altLang="zh-CN" b="0" dirty="0">
                <a:solidFill>
                  <a:srgbClr val="008000"/>
                </a:solidFill>
                <a:effectLst/>
                <a:latin typeface="Consolas" panose="020B0609020204030204" pitchFamily="49" charset="0"/>
              </a:rPr>
              <a:t>1~15</a:t>
            </a:r>
            <a:r>
              <a:rPr lang="zh-CN" altLang="en-US" b="0" dirty="0">
                <a:solidFill>
                  <a:srgbClr val="008000"/>
                </a:solidFill>
                <a:effectLst/>
                <a:latin typeface="Consolas" panose="020B0609020204030204" pitchFamily="49" charset="0"/>
              </a:rPr>
              <a:t>个数，全赋值为</a:t>
            </a:r>
            <a:r>
              <a:rPr lang="en-US" altLang="zh-CN" dirty="0">
                <a:solidFill>
                  <a:srgbClr val="008000"/>
                </a:solidFill>
                <a:latin typeface="Consolas" panose="020B0609020204030204" pitchFamily="49" charset="0"/>
              </a:rPr>
              <a:t>5</a:t>
            </a:r>
          </a:p>
          <a:p>
            <a:pPr>
              <a:lnSpc>
                <a:spcPct val="150000"/>
              </a:lnSpc>
            </a:pPr>
            <a:r>
              <a:rPr lang="en-US" altLang="zh-CN" b="0" dirty="0">
                <a:solidFill>
                  <a:srgbClr val="000000"/>
                </a:solidFill>
                <a:effectLst/>
                <a:latin typeface="Consolas" panose="020B0609020204030204" pitchFamily="49" charset="0"/>
              </a:rPr>
              <a:t>result=[]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定义未知维数的空矩阵</a:t>
            </a:r>
            <a:endParaRPr lang="en-US" altLang="zh-CN" b="0" dirty="0">
              <a:solidFill>
                <a:srgbClr val="008000"/>
              </a:solidFill>
              <a:effectLst/>
              <a:latin typeface="Consolas" panose="020B0609020204030204" pitchFamily="49" charset="0"/>
            </a:endParaRPr>
          </a:p>
          <a:p>
            <a:pPr>
              <a:lnSpc>
                <a:spcPct val="150000"/>
              </a:lnSpc>
            </a:pPr>
            <a:r>
              <a:rPr lang="en-US" altLang="zh-CN" b="0" dirty="0">
                <a:solidFill>
                  <a:srgbClr val="000000"/>
                </a:solidFill>
                <a:effectLst/>
                <a:latin typeface="Consolas" panose="020B0609020204030204" pitchFamily="49" charset="0"/>
              </a:rPr>
              <a:t>V[</a:t>
            </a:r>
            <a:r>
              <a:rPr lang="en-US" altLang="zh-CN" b="0" dirty="0" err="1">
                <a:solidFill>
                  <a:srgbClr val="000000"/>
                </a:solidFill>
                <a:effectLst/>
                <a:latin typeface="Consolas" panose="020B0609020204030204" pitchFamily="49" charset="0"/>
              </a:rPr>
              <a:t>i,j</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abs</a:t>
            </a:r>
            <a:r>
              <a:rPr lang="en-US" altLang="zh-CN" b="0" dirty="0">
                <a:solidFill>
                  <a:srgbClr val="000000"/>
                </a:solidFill>
                <a:effectLst/>
                <a:latin typeface="Consolas" panose="020B0609020204030204" pitchFamily="49" charset="0"/>
              </a:rPr>
              <a:t>(V[i,j+</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]-V[i+</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,j])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取矩阵</a:t>
            </a:r>
            <a:r>
              <a:rPr lang="en-US" altLang="zh-CN" dirty="0">
                <a:solidFill>
                  <a:srgbClr val="008000"/>
                </a:solidFill>
                <a:latin typeface="Consolas" panose="020B0609020204030204" pitchFamily="49" charset="0"/>
              </a:rPr>
              <a:t>V</a:t>
            </a:r>
            <a:r>
              <a:rPr lang="zh-CN" altLang="en-US" dirty="0">
                <a:solidFill>
                  <a:srgbClr val="008000"/>
                </a:solidFill>
                <a:latin typeface="Consolas" panose="020B0609020204030204" pitchFamily="49" charset="0"/>
              </a:rPr>
              <a:t>中两个元素</a:t>
            </a:r>
            <a:r>
              <a:rPr lang="en-US" altLang="zh-CN" dirty="0">
                <a:solidFill>
                  <a:srgbClr val="000000"/>
                </a:solidFill>
                <a:latin typeface="Consolas" panose="020B0609020204030204" pitchFamily="49" charset="0"/>
              </a:rPr>
              <a:t>V[i,j+</a:t>
            </a:r>
            <a:r>
              <a:rPr lang="en-US" altLang="zh-CN" dirty="0">
                <a:solidFill>
                  <a:srgbClr val="098658"/>
                </a:solidFill>
                <a:latin typeface="Consolas" panose="020B0609020204030204" pitchFamily="49" charset="0"/>
              </a:rPr>
              <a:t>1</a:t>
            </a:r>
            <a:r>
              <a:rPr lang="en-US" altLang="zh-CN" dirty="0">
                <a:solidFill>
                  <a:srgbClr val="000000"/>
                </a:solidFill>
                <a:latin typeface="Consolas" panose="020B0609020204030204" pitchFamily="49" charset="0"/>
              </a:rPr>
              <a:t>]</a:t>
            </a:r>
            <a:r>
              <a:rPr lang="zh-CN" altLang="en-US" dirty="0">
                <a:solidFill>
                  <a:srgbClr val="000000"/>
                </a:solidFill>
                <a:latin typeface="Consolas" panose="020B0609020204030204" pitchFamily="49" charset="0"/>
              </a:rPr>
              <a:t>和</a:t>
            </a:r>
            <a:r>
              <a:rPr lang="en-US" altLang="zh-CN" dirty="0">
                <a:solidFill>
                  <a:srgbClr val="000000"/>
                </a:solidFill>
                <a:latin typeface="Consolas" panose="020B0609020204030204" pitchFamily="49" charset="0"/>
              </a:rPr>
              <a:t>V[i+</a:t>
            </a:r>
            <a:r>
              <a:rPr lang="en-US" altLang="zh-CN" dirty="0">
                <a:solidFill>
                  <a:srgbClr val="098658"/>
                </a:solidFill>
                <a:latin typeface="Consolas" panose="020B0609020204030204" pitchFamily="49" charset="0"/>
              </a:rPr>
              <a:t>1</a:t>
            </a:r>
            <a:r>
              <a:rPr lang="en-US" altLang="zh-CN" dirty="0">
                <a:solidFill>
                  <a:srgbClr val="000000"/>
                </a:solidFill>
                <a:latin typeface="Consolas" panose="020B0609020204030204" pitchFamily="49" charset="0"/>
              </a:rPr>
              <a:t>,j]</a:t>
            </a:r>
            <a:r>
              <a:rPr lang="zh-CN" altLang="en-US" dirty="0">
                <a:solidFill>
                  <a:srgbClr val="008000"/>
                </a:solidFill>
                <a:latin typeface="Consolas" panose="020B0609020204030204" pitchFamily="49" charset="0"/>
              </a:rPr>
              <a:t>的差的绝对值</a:t>
            </a:r>
            <a:endParaRPr lang="en-US" altLang="zh-CN" dirty="0">
              <a:solidFill>
                <a:srgbClr val="008000"/>
              </a:solidFill>
              <a:latin typeface="Consolas" panose="020B0609020204030204" pitchFamily="49" charset="0"/>
            </a:endParaRPr>
          </a:p>
          <a:p>
            <a:pPr>
              <a:lnSpc>
                <a:spcPct val="150000"/>
              </a:lnSpc>
            </a:pPr>
            <a:r>
              <a:rPr lang="en-US" altLang="zh-CN" b="0" dirty="0">
                <a:solidFill>
                  <a:srgbClr val="000000"/>
                </a:solidFill>
                <a:effectLst/>
                <a:latin typeface="Consolas" panose="020B0609020204030204" pitchFamily="49" charset="0"/>
              </a:rPr>
              <a:t>A=</a:t>
            </a:r>
            <a:r>
              <a:rPr lang="en-US" altLang="zh-CN" b="0" dirty="0" err="1">
                <a:solidFill>
                  <a:srgbClr val="795E26"/>
                </a:solidFill>
                <a:effectLst/>
                <a:latin typeface="Consolas" panose="020B0609020204030204" pitchFamily="49" charset="0"/>
              </a:rPr>
              <a:t>ty_hcat</a:t>
            </a:r>
            <a:r>
              <a:rPr lang="en-US" altLang="zh-CN" b="0" dirty="0">
                <a:solidFill>
                  <a:srgbClr val="000000"/>
                </a:solidFill>
                <a:effectLst/>
                <a:latin typeface="Consolas" panose="020B0609020204030204" pitchFamily="49" charset="0"/>
              </a:rPr>
              <a:t>(A,B)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将矩阵</a:t>
            </a:r>
            <a:r>
              <a:rPr lang="en-US" altLang="zh-CN" b="0" dirty="0">
                <a:solidFill>
                  <a:srgbClr val="008000"/>
                </a:solidFill>
                <a:effectLst/>
                <a:latin typeface="Consolas" panose="020B0609020204030204" pitchFamily="49" charset="0"/>
              </a:rPr>
              <a:t>B</a:t>
            </a:r>
            <a:r>
              <a:rPr lang="zh-CN" altLang="en-US" b="0" dirty="0">
                <a:solidFill>
                  <a:srgbClr val="008000"/>
                </a:solidFill>
                <a:effectLst/>
                <a:latin typeface="Consolas" panose="020B0609020204030204" pitchFamily="49" charset="0"/>
              </a:rPr>
              <a:t>串联在矩阵</a:t>
            </a:r>
            <a:r>
              <a:rPr lang="en-US" altLang="zh-CN" b="0" dirty="0">
                <a:solidFill>
                  <a:srgbClr val="008000"/>
                </a:solidFill>
                <a:effectLst/>
                <a:latin typeface="Consolas" panose="020B0609020204030204" pitchFamily="49" charset="0"/>
              </a:rPr>
              <a:t>A</a:t>
            </a:r>
            <a:r>
              <a:rPr lang="zh-CN" altLang="en-US" b="0" dirty="0">
                <a:solidFill>
                  <a:srgbClr val="008000"/>
                </a:solidFill>
                <a:effectLst/>
                <a:latin typeface="Consolas" panose="020B0609020204030204" pitchFamily="49" charset="0"/>
              </a:rPr>
              <a:t>后面（需调用</a:t>
            </a:r>
            <a:r>
              <a:rPr lang="en-US" altLang="zh-CN" b="0" dirty="0" err="1">
                <a:solidFill>
                  <a:srgbClr val="008000"/>
                </a:solidFill>
                <a:effectLst/>
                <a:latin typeface="Consolas" panose="020B0609020204030204" pitchFamily="49" charset="0"/>
              </a:rPr>
              <a:t>Tybase</a:t>
            </a:r>
            <a:r>
              <a:rPr lang="zh-CN" altLang="en-US" b="0" dirty="0">
                <a:solidFill>
                  <a:srgbClr val="008000"/>
                </a:solidFill>
                <a:effectLst/>
                <a:latin typeface="Consolas" panose="020B0609020204030204" pitchFamily="49" charset="0"/>
              </a:rPr>
              <a:t>库）</a:t>
            </a:r>
            <a:endParaRPr lang="en-US" altLang="zh-CN" b="0" dirty="0">
              <a:solidFill>
                <a:srgbClr val="008000"/>
              </a:solidFill>
              <a:effectLst/>
              <a:latin typeface="Consolas" panose="020B0609020204030204" pitchFamily="49" charset="0"/>
            </a:endParaRPr>
          </a:p>
          <a:p>
            <a:pPr>
              <a:lnSpc>
                <a:spcPct val="150000"/>
              </a:lnSpc>
            </a:pPr>
            <a:r>
              <a:rPr lang="en-US" altLang="zh-CN" b="0" dirty="0" err="1">
                <a:solidFill>
                  <a:srgbClr val="000000"/>
                </a:solidFill>
                <a:effectLst/>
                <a:latin typeface="Consolas" panose="020B0609020204030204" pitchFamily="49" charset="0"/>
              </a:rPr>
              <a:t>emax</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maximum</a:t>
            </a:r>
            <a:r>
              <a:rPr lang="en-US" altLang="zh-CN" b="0" dirty="0">
                <a:solidFill>
                  <a:srgbClr val="000000"/>
                </a:solidFill>
                <a:effectLst/>
                <a:latin typeface="Consolas" panose="020B0609020204030204" pitchFamily="49" charset="0"/>
              </a:rPr>
              <a:t>(e)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计算矩阵</a:t>
            </a:r>
            <a:r>
              <a:rPr lang="en-US" altLang="zh-CN" b="0" dirty="0">
                <a:solidFill>
                  <a:srgbClr val="008000"/>
                </a:solidFill>
                <a:effectLst/>
                <a:latin typeface="Consolas" panose="020B0609020204030204" pitchFamily="49" charset="0"/>
              </a:rPr>
              <a:t>e</a:t>
            </a:r>
            <a:r>
              <a:rPr lang="zh-CN" altLang="en-US" b="0" dirty="0">
                <a:solidFill>
                  <a:srgbClr val="008000"/>
                </a:solidFill>
                <a:effectLst/>
                <a:latin typeface="Consolas" panose="020B0609020204030204" pitchFamily="49" charset="0"/>
              </a:rPr>
              <a:t>中的最大值</a:t>
            </a:r>
            <a:endParaRPr lang="zh-CN" altLang="en-US" b="0" dirty="0">
              <a:solidFill>
                <a:srgbClr val="000000"/>
              </a:solidFill>
              <a:effectLst/>
              <a:latin typeface="Consolas" panose="020B0609020204030204" pitchFamily="49" charset="0"/>
            </a:endParaRPr>
          </a:p>
          <a:p>
            <a:pPr>
              <a:lnSpc>
                <a:spcPct val="150000"/>
              </a:lnSpc>
            </a:pPr>
            <a:r>
              <a:rPr lang="en-US" altLang="zh-CN" b="0" dirty="0">
                <a:solidFill>
                  <a:srgbClr val="0000FF"/>
                </a:solidFill>
                <a:effectLst/>
                <a:latin typeface="Consolas" panose="020B0609020204030204" pitchFamily="49" charset="0"/>
              </a:rPr>
              <a:t>global</a:t>
            </a:r>
            <a:r>
              <a:rPr lang="en-US" altLang="zh-CN" b="0" dirty="0">
                <a:solidFill>
                  <a:srgbClr val="000000"/>
                </a:solidFill>
                <a:effectLst/>
                <a:latin typeface="Consolas" panose="020B0609020204030204" pitchFamily="49" charset="0"/>
              </a:rPr>
              <a:t> (n)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将变量</a:t>
            </a:r>
            <a:r>
              <a:rPr lang="en-US" altLang="zh-CN" dirty="0">
                <a:solidFill>
                  <a:srgbClr val="008000"/>
                </a:solidFill>
                <a:latin typeface="Consolas" panose="020B0609020204030204" pitchFamily="49" charset="0"/>
              </a:rPr>
              <a:t>n</a:t>
            </a:r>
            <a:r>
              <a:rPr lang="zh-CN" altLang="en-US" dirty="0">
                <a:solidFill>
                  <a:srgbClr val="008000"/>
                </a:solidFill>
                <a:latin typeface="Consolas" panose="020B0609020204030204" pitchFamily="49" charset="0"/>
              </a:rPr>
              <a:t>定义为全局变量</a:t>
            </a:r>
            <a:endParaRPr lang="en-US" altLang="zh-CN" dirty="0">
              <a:solidFill>
                <a:srgbClr val="008000"/>
              </a:solidFill>
              <a:latin typeface="Consolas" panose="020B0609020204030204" pitchFamily="49" charset="0"/>
            </a:endParaRPr>
          </a:p>
          <a:p>
            <a:pPr>
              <a:lnSpc>
                <a:spcPct val="150000"/>
              </a:lnSpc>
            </a:pPr>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创建一个新的图窗窗口（需调用</a:t>
            </a:r>
            <a:r>
              <a:rPr lang="en-US" altLang="zh-CN" dirty="0" err="1">
                <a:solidFill>
                  <a:srgbClr val="008000"/>
                </a:solidFill>
                <a:latin typeface="Consolas" panose="020B0609020204030204" pitchFamily="49" charset="0"/>
              </a:rPr>
              <a:t>TyPlot</a:t>
            </a:r>
            <a:r>
              <a:rPr lang="zh-CN" altLang="en-US" dirty="0">
                <a:solidFill>
                  <a:srgbClr val="008000"/>
                </a:solidFill>
                <a:latin typeface="Consolas" panose="020B0609020204030204" pitchFamily="49" charset="0"/>
              </a:rPr>
              <a:t>库）</a:t>
            </a:r>
            <a:endParaRPr lang="en-US" altLang="zh-CN" dirty="0">
              <a:solidFill>
                <a:srgbClr val="008000"/>
              </a:solidFill>
              <a:latin typeface="Consolas" panose="020B0609020204030204" pitchFamily="49" charset="0"/>
            </a:endParaRPr>
          </a:p>
          <a:p>
            <a:pPr>
              <a:lnSpc>
                <a:spcPct val="150000"/>
              </a:lnSpc>
            </a:pPr>
            <a:r>
              <a:rPr lang="en-US" altLang="zh-CN" b="0" dirty="0">
                <a:solidFill>
                  <a:srgbClr val="795E26"/>
                </a:solidFill>
                <a:effectLst/>
                <a:latin typeface="Consolas" panose="020B0609020204030204" pitchFamily="49" charset="0"/>
              </a:rPr>
              <a:t>contour</a:t>
            </a:r>
            <a:r>
              <a:rPr lang="en-US" altLang="zh-CN" b="0" dirty="0">
                <a:solidFill>
                  <a:srgbClr val="000000"/>
                </a:solidFill>
                <a:effectLst/>
                <a:latin typeface="Consolas" panose="020B0609020204030204" pitchFamily="49" charset="0"/>
              </a:rPr>
              <a:t>(V)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绘制等位线图</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图中</a:t>
            </a:r>
            <a:r>
              <a:rPr lang="zh-CN" altLang="en-US" dirty="0">
                <a:solidFill>
                  <a:srgbClr val="008000"/>
                </a:solidFill>
                <a:latin typeface="Consolas" panose="020B0609020204030204" pitchFamily="49" charset="0"/>
              </a:rPr>
              <a:t>数值为</a:t>
            </a:r>
            <a:r>
              <a:rPr lang="en-US" altLang="zh-CN" dirty="0">
                <a:solidFill>
                  <a:srgbClr val="008000"/>
                </a:solidFill>
                <a:latin typeface="Consolas" panose="020B0609020204030204" pitchFamily="49" charset="0"/>
              </a:rPr>
              <a:t>V</a:t>
            </a:r>
            <a:r>
              <a:rPr lang="zh-CN" altLang="en-US" dirty="0">
                <a:solidFill>
                  <a:srgbClr val="008000"/>
                </a:solidFill>
                <a:latin typeface="Consolas" panose="020B0609020204030204" pitchFamily="49" charset="0"/>
              </a:rPr>
              <a:t>矩阵的元素</a:t>
            </a:r>
            <a:r>
              <a:rPr lang="zh-CN" altLang="en-US" b="0" dirty="0">
                <a:solidFill>
                  <a:srgbClr val="008000"/>
                </a:solidFill>
                <a:effectLst/>
                <a:latin typeface="Consolas" panose="020B0609020204030204" pitchFamily="49" charset="0"/>
              </a:rPr>
              <a:t>（需调用</a:t>
            </a:r>
            <a:r>
              <a:rPr lang="en-US" altLang="zh-CN" b="0" dirty="0" err="1">
                <a:solidFill>
                  <a:srgbClr val="008000"/>
                </a:solidFill>
                <a:effectLst/>
                <a:latin typeface="Consolas" panose="020B0609020204030204" pitchFamily="49" charset="0"/>
              </a:rPr>
              <a:t>TyPlot</a:t>
            </a:r>
            <a:r>
              <a:rPr lang="zh-CN" altLang="en-US" b="0" dirty="0">
                <a:solidFill>
                  <a:srgbClr val="008000"/>
                </a:solidFill>
                <a:effectLst/>
                <a:latin typeface="Consolas" panose="020B0609020204030204" pitchFamily="49" charset="0"/>
              </a:rPr>
              <a:t>库）</a:t>
            </a:r>
            <a:endParaRPr lang="en-US" altLang="zh-CN" dirty="0">
              <a:solidFill>
                <a:srgbClr val="008000"/>
              </a:solidFill>
              <a:latin typeface="Consolas" panose="020B0609020204030204" pitchFamily="49" charset="0"/>
            </a:endParaRPr>
          </a:p>
          <a:p>
            <a:pPr>
              <a:lnSpc>
                <a:spcPct val="150000"/>
              </a:lnSpc>
            </a:pPr>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以矩阵</a:t>
            </a:r>
            <a:r>
              <a:rPr lang="en-US" altLang="zh-CN" dirty="0">
                <a:solidFill>
                  <a:srgbClr val="008000"/>
                </a:solidFill>
                <a:latin typeface="Consolas" panose="020B0609020204030204" pitchFamily="49" charset="0"/>
              </a:rPr>
              <a:t>A</a:t>
            </a:r>
            <a:r>
              <a:rPr lang="zh-CN" altLang="en-US" dirty="0">
                <a:solidFill>
                  <a:srgbClr val="008000"/>
                </a:solidFill>
                <a:latin typeface="Consolas" panose="020B0609020204030204" pitchFamily="49" charset="0"/>
              </a:rPr>
              <a:t>第一行元素为横轴，第二行元素为纵轴，描绘折线图（需调用</a:t>
            </a:r>
            <a:r>
              <a:rPr lang="en-US" altLang="zh-CN" dirty="0" err="1">
                <a:solidFill>
                  <a:srgbClr val="008000"/>
                </a:solidFill>
                <a:latin typeface="Consolas" panose="020B0609020204030204" pitchFamily="49" charset="0"/>
              </a:rPr>
              <a:t>TyPlot</a:t>
            </a:r>
            <a:r>
              <a:rPr lang="zh-CN" altLang="en-US" dirty="0">
                <a:solidFill>
                  <a:srgbClr val="008000"/>
                </a:solidFill>
                <a:latin typeface="Consolas" panose="020B0609020204030204" pitchFamily="49" charset="0"/>
              </a:rPr>
              <a:t>库）</a:t>
            </a:r>
            <a:endParaRPr lang="en-US" altLang="zh-CN" dirty="0">
              <a:solidFill>
                <a:srgbClr val="008000"/>
              </a:solidFill>
              <a:latin typeface="Consolas" panose="020B0609020204030204" pitchFamily="49" charset="0"/>
            </a:endParaRPr>
          </a:p>
          <a:p>
            <a:pPr>
              <a:lnSpc>
                <a:spcPct val="150000"/>
              </a:lnSpc>
            </a:pPr>
            <a:endParaRPr lang="en-US" altLang="zh-CN" dirty="0">
              <a:solidFill>
                <a:srgbClr val="008000"/>
              </a:solidFill>
              <a:latin typeface="Consolas" panose="020B0609020204030204" pitchFamily="49" charset="0"/>
            </a:endParaRPr>
          </a:p>
        </p:txBody>
      </p:sp>
      <p:sp>
        <p:nvSpPr>
          <p:cNvPr id="10" name="TextBox 4">
            <a:extLst>
              <a:ext uri="{FF2B5EF4-FFF2-40B4-BE49-F238E27FC236}">
                <a16:creationId xmlns:a16="http://schemas.microsoft.com/office/drawing/2014/main" id="{40F45636-6AAA-C260-F9D0-0FC7A5DA8DF7}"/>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25</a:t>
            </a:fld>
            <a:endParaRPr lang="id-ID" sz="1200" dirty="0"/>
          </a:p>
        </p:txBody>
      </p:sp>
    </p:spTree>
    <p:extLst>
      <p:ext uri="{BB962C8B-B14F-4D97-AF65-F5344CB8AC3E}">
        <p14:creationId xmlns:p14="http://schemas.microsoft.com/office/powerpoint/2010/main" val="2357577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DCAB-B5EF-9CD9-98A5-769C7E34FFCF}"/>
            </a:ext>
          </a:extLst>
        </p:cNvPr>
        <p:cNvGrpSpPr/>
        <p:nvPr/>
      </p:nvGrpSpPr>
      <p:grpSpPr>
        <a:xfrm>
          <a:off x="0" y="0"/>
          <a:ext cx="0" cy="0"/>
          <a:chOff x="0" y="0"/>
          <a:chExt cx="0" cy="0"/>
        </a:xfrm>
      </p:grpSpPr>
      <p:sp>
        <p:nvSpPr>
          <p:cNvPr id="13" name="TextBox 4">
            <a:extLst>
              <a:ext uri="{FF2B5EF4-FFF2-40B4-BE49-F238E27FC236}">
                <a16:creationId xmlns:a16="http://schemas.microsoft.com/office/drawing/2014/main" id="{8BE81ACB-1F60-CE85-F4D5-8A70E86BD6F1}"/>
              </a:ext>
            </a:extLst>
          </p:cNvPr>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26</a:t>
            </a:fld>
            <a:endParaRPr lang="id-ID" sz="1200" dirty="0"/>
          </a:p>
        </p:txBody>
      </p:sp>
      <p:sp>
        <p:nvSpPr>
          <p:cNvPr id="4" name="矩形 3">
            <a:extLst>
              <a:ext uri="{FF2B5EF4-FFF2-40B4-BE49-F238E27FC236}">
                <a16:creationId xmlns:a16="http://schemas.microsoft.com/office/drawing/2014/main" id="{0504B87A-35C0-1D37-BC96-C71DCD639C8B}"/>
              </a:ext>
            </a:extLst>
          </p:cNvPr>
          <p:cNvSpPr/>
          <p:nvPr/>
        </p:nvSpPr>
        <p:spPr>
          <a:xfrm>
            <a:off x="2473482" y="2677572"/>
            <a:ext cx="6620899" cy="83099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7">
              <a:defRPr/>
            </a:pPr>
            <a:r>
              <a:rPr lang="zh-CN" altLang="en-US" sz="4800" spc="200" dirty="0">
                <a:latin typeface="Times New Roman" panose="02020603050405020304" pitchFamily="18" charset="0"/>
                <a:ea typeface="黑体" panose="02010609060101010101" pitchFamily="49" charset="-122"/>
                <a:cs typeface="Times New Roman" panose="02020603050405020304" pitchFamily="18" charset="0"/>
              </a:rPr>
              <a:t>附</a:t>
            </a:r>
            <a:r>
              <a:rPr lang="en-US" altLang="zh-CN" sz="4800" spc="2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4800" spc="2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4800" spc="200" dirty="0">
                <a:latin typeface="Times New Roman" panose="02020603050405020304" pitchFamily="18" charset="0"/>
                <a:ea typeface="黑体" panose="02010609060101010101" pitchFamily="49" charset="-122"/>
                <a:cs typeface="Times New Roman" panose="02020603050405020304" pitchFamily="18" charset="0"/>
              </a:rPr>
              <a:t>ANSYS</a:t>
            </a:r>
            <a:r>
              <a:rPr lang="zh-CN" altLang="en-US" sz="4800" spc="200" dirty="0">
                <a:latin typeface="Times New Roman" panose="02020603050405020304" pitchFamily="18" charset="0"/>
                <a:ea typeface="黑体" panose="02010609060101010101" pitchFamily="49" charset="-122"/>
                <a:cs typeface="Times New Roman" panose="02020603050405020304" pitchFamily="18" charset="0"/>
              </a:rPr>
              <a:t>仿真任务</a:t>
            </a:r>
            <a:endParaRPr lang="zh-CN" altLang="en-US" sz="4800" spc="2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553212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txBox="1"/>
          <p:nvPr/>
        </p:nvSpPr>
        <p:spPr>
          <a:xfrm>
            <a:off x="899250" y="200214"/>
            <a:ext cx="4555400" cy="646331"/>
          </a:xfrm>
          <a:prstGeom prst="rect">
            <a:avLst/>
          </a:prstGeom>
          <a:noFill/>
        </p:spPr>
        <p:txBody>
          <a:bodyPr wrap="square" rtlCol="0">
            <a:spAutoFit/>
          </a:bodyPr>
          <a:lstStyle/>
          <a:p>
            <a:r>
              <a:rPr lang="zh-CN" altLang="en-US" sz="3600" b="1" dirty="0">
                <a:solidFill>
                  <a:srgbClr val="00467F"/>
                </a:solidFill>
                <a:latin typeface="微软雅黑" panose="020B0503020204020204" pitchFamily="34" charset="-122"/>
                <a:ea typeface="微软雅黑" panose="020B0503020204020204" pitchFamily="34" charset="-122"/>
              </a:rPr>
              <a:t>二</a:t>
            </a:r>
            <a:r>
              <a:rPr lang="en-US" altLang="zh-CN" sz="3600" b="1" dirty="0">
                <a:solidFill>
                  <a:srgbClr val="00467F"/>
                </a:solidFill>
                <a:latin typeface="微软雅黑" panose="020B0503020204020204" pitchFamily="34" charset="-122"/>
                <a:ea typeface="微软雅黑" panose="020B0503020204020204" pitchFamily="34" charset="-122"/>
              </a:rPr>
              <a:t>.</a:t>
            </a:r>
            <a:r>
              <a:rPr lang="zh-CN" altLang="en-US" sz="3600" b="1" dirty="0">
                <a:solidFill>
                  <a:srgbClr val="00467F"/>
                </a:solidFill>
                <a:latin typeface="微软雅黑" panose="020B0503020204020204" pitchFamily="34" charset="-122"/>
                <a:ea typeface="微软雅黑" panose="020B0503020204020204" pitchFamily="34" charset="-122"/>
              </a:rPr>
              <a:t> </a:t>
            </a:r>
            <a:r>
              <a:rPr lang="en-US" altLang="zh-CN" sz="3600" b="1" dirty="0">
                <a:solidFill>
                  <a:srgbClr val="00467F"/>
                </a:solidFill>
                <a:latin typeface="微软雅黑" panose="020B0503020204020204" pitchFamily="34" charset="-122"/>
                <a:ea typeface="微软雅黑" panose="020B0503020204020204" pitchFamily="34" charset="-122"/>
              </a:rPr>
              <a:t>ANSYS</a:t>
            </a:r>
            <a:r>
              <a:rPr lang="zh-CN" altLang="en-US" sz="3600" b="1" dirty="0">
                <a:solidFill>
                  <a:srgbClr val="00467F"/>
                </a:solidFill>
                <a:latin typeface="微软雅黑" panose="020B0503020204020204" pitchFamily="34" charset="-122"/>
                <a:ea typeface="微软雅黑" panose="020B0503020204020204" pitchFamily="34" charset="-122"/>
              </a:rPr>
              <a:t>仿真任务</a:t>
            </a:r>
          </a:p>
        </p:txBody>
      </p:sp>
      <p:sp>
        <p:nvSpPr>
          <p:cNvPr id="13"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27</a:t>
            </a:fld>
            <a:endParaRPr lang="id-ID" sz="1200" dirty="0"/>
          </a:p>
        </p:txBody>
      </p:sp>
      <p:pic>
        <p:nvPicPr>
          <p:cNvPr id="10" name="Picture 4">
            <a:extLst>
              <a:ext uri="{FF2B5EF4-FFF2-40B4-BE49-F238E27FC236}">
                <a16:creationId xmlns:a16="http://schemas.microsoft.com/office/drawing/2014/main" id="{16CCE5C0-2CFE-4E1D-9C7E-6C1F3E5CCA2D}"/>
              </a:ext>
            </a:extLst>
          </p:cNvPr>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450138" y="1866899"/>
            <a:ext cx="4068762" cy="2705463"/>
          </a:xfrm>
          <a:prstGeom prst="rect">
            <a:avLst/>
          </a:prstGeom>
          <a:noFill/>
          <a:ln w="9525">
            <a:noFill/>
            <a:miter lim="800000"/>
            <a:headEnd/>
            <a:tailEnd/>
          </a:ln>
          <a:effectLst/>
        </p:spPr>
      </p:pic>
      <p:sp>
        <p:nvSpPr>
          <p:cNvPr id="12" name="TextBox 26">
            <a:extLst>
              <a:ext uri="{FF2B5EF4-FFF2-40B4-BE49-F238E27FC236}">
                <a16:creationId xmlns:a16="http://schemas.microsoft.com/office/drawing/2014/main" id="{DF6E21E9-EFA1-4407-8B8F-11E598879BFE}"/>
              </a:ext>
            </a:extLst>
          </p:cNvPr>
          <p:cNvSpPr txBox="1"/>
          <p:nvPr/>
        </p:nvSpPr>
        <p:spPr>
          <a:xfrm>
            <a:off x="1074056" y="1512178"/>
            <a:ext cx="6007100" cy="3416320"/>
          </a:xfrm>
          <a:prstGeom prst="rect">
            <a:avLst/>
          </a:prstGeom>
          <a:noFill/>
        </p:spPr>
        <p:txBody>
          <a:bodyPr wrap="square" rtlCol="0">
            <a:spAutoFit/>
          </a:bodyPr>
          <a:lstStyle/>
          <a:p>
            <a:pPr>
              <a:lnSpc>
                <a:spcPct val="150000"/>
              </a:lnSpc>
            </a:pPr>
            <a:r>
              <a:rPr lang="zh-CN" altLang="en-US" sz="2400" b="1" dirty="0">
                <a:solidFill>
                  <a:srgbClr val="FF0000"/>
                </a:solidFill>
                <a:latin typeface="微软雅黑" panose="020B0503020204020204" pitchFamily="34" charset="-122"/>
                <a:ea typeface="微软雅黑" panose="020B0503020204020204" pitchFamily="34" charset="-122"/>
              </a:rPr>
              <a:t>仿真任务具体要求：</a:t>
            </a:r>
            <a:endParaRPr lang="en-US" altLang="zh-CN" sz="24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用</a:t>
            </a:r>
            <a:r>
              <a:rPr lang="en-US" altLang="zh-CN" sz="2400" dirty="0">
                <a:latin typeface="微软雅黑" panose="020B0503020204020204" pitchFamily="34" charset="-122"/>
                <a:ea typeface="微软雅黑" panose="020B0503020204020204" pitchFamily="34" charset="-122"/>
              </a:rPr>
              <a:t>ANSYS Maxwell 2D</a:t>
            </a:r>
            <a:r>
              <a:rPr lang="zh-CN" altLang="en-US" sz="2400" dirty="0">
                <a:latin typeface="微软雅黑" panose="020B0503020204020204" pitchFamily="34" charset="-122"/>
                <a:ea typeface="微软雅黑" panose="020B0503020204020204" pitchFamily="34" charset="-122"/>
              </a:rPr>
              <a:t>工程软件，取点</a:t>
            </a:r>
            <a:r>
              <a:rPr lang="en-US" altLang="zh-CN" sz="2400" dirty="0">
                <a:solidFill>
                  <a:srgbClr val="FF0000"/>
                </a:solidFill>
                <a:latin typeface="微软雅黑" panose="020B0503020204020204" pitchFamily="34" charset="-122"/>
                <a:ea typeface="微软雅黑" panose="020B0503020204020204" pitchFamily="34" charset="-122"/>
              </a:rPr>
              <a:t>P(20,</a:t>
            </a: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处电位，验证程序的正确性。</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取点</a:t>
            </a:r>
            <a:r>
              <a:rPr lang="en-US" altLang="zh-CN" sz="2400" dirty="0">
                <a:solidFill>
                  <a:srgbClr val="FF0000"/>
                </a:solidFill>
                <a:latin typeface="微软雅黑" panose="020B0503020204020204" pitchFamily="34" charset="-122"/>
                <a:ea typeface="微软雅黑" panose="020B0503020204020204" pitchFamily="34" charset="-122"/>
              </a:rPr>
              <a:t>P(20,</a:t>
            </a: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处电位的精确解</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解析解</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与数值解进行比较，说明误差范围。</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查看等位线、电力线分布图。</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10481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9094" y="1052328"/>
            <a:ext cx="8107279" cy="4905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539594" y="5958037"/>
            <a:ext cx="2326278" cy="369332"/>
          </a:xfrm>
          <a:prstGeom prst="rect">
            <a:avLst/>
          </a:prstGeom>
        </p:spPr>
        <p:txBody>
          <a:bodyPr wrap="none">
            <a:spAutoFit/>
          </a:bodyPr>
          <a:lstStyle/>
          <a:p>
            <a:r>
              <a:rPr lang="en-US" altLang="zh-CN" dirty="0">
                <a:latin typeface="Times New Roman" panose="02020603050405020304" pitchFamily="18" charset="0"/>
                <a:ea typeface="宋体" panose="02010600030101010101" pitchFamily="2" charset="-122"/>
              </a:rPr>
              <a:t>Maxwell 2D </a:t>
            </a:r>
            <a:r>
              <a:rPr lang="en-US" altLang="zh-CN" dirty="0" err="1">
                <a:latin typeface="宋体" panose="02010600030101010101" pitchFamily="2" charset="-122"/>
                <a:cs typeface="Times New Roman" panose="02020603050405020304" pitchFamily="18" charset="0"/>
              </a:rPr>
              <a:t>界面环境</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425" y="1341868"/>
            <a:ext cx="6525975" cy="1169551"/>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1.</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打开软件。</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60045" algn="just">
              <a:spcAft>
                <a:spcPts val="600"/>
              </a:spcAft>
            </a:pPr>
            <a:r>
              <a:rPr lang="en-US" altLang="zh-CN" sz="2000" b="1" kern="100" dirty="0" err="1">
                <a:ea typeface="宋体" panose="02010600030101010101" pitchFamily="2" charset="-122"/>
              </a:rPr>
              <a:t>双击ANSYS</a:t>
            </a:r>
            <a:r>
              <a:rPr lang="en-US" altLang="zh-CN" sz="2000" b="1" kern="100" dirty="0">
                <a:ea typeface="宋体" panose="02010600030101010101" pitchFamily="2" charset="-122"/>
              </a:rPr>
              <a:t> Electronics </a:t>
            </a:r>
            <a:r>
              <a:rPr lang="en-US" altLang="zh-CN" sz="2000" b="1" kern="100" dirty="0" err="1">
                <a:ea typeface="宋体" panose="02010600030101010101" pitchFamily="2" charset="-122"/>
              </a:rPr>
              <a:t>Desktop图标</a:t>
            </a:r>
            <a:r>
              <a:rPr lang="en-US" altLang="zh-CN" sz="2000" b="1" kern="100" dirty="0">
                <a:ea typeface="宋体" panose="02010600030101010101" pitchFamily="2" charset="-122"/>
              </a:rPr>
              <a:t>，   </a:t>
            </a:r>
          </a:p>
          <a:p>
            <a:pPr marL="360045" algn="just">
              <a:spcAft>
                <a:spcPts val="600"/>
              </a:spcAft>
            </a:pPr>
            <a:r>
              <a:rPr lang="en-US" altLang="zh-CN" sz="2000" b="1" kern="100" dirty="0">
                <a:ea typeface="宋体" panose="02010600030101010101" pitchFamily="2" charset="-122"/>
              </a:rPr>
              <a:t>打开一个新的工程Project1.aedt。 </a:t>
            </a:r>
            <a:endParaRPr lang="zh-CN" altLang="zh-CN" sz="2000" b="1" kern="100" dirty="0">
              <a:ea typeface="宋体" panose="02010600030101010101" pitchFamily="2" charset="-122"/>
            </a:endParaRPr>
          </a:p>
        </p:txBody>
      </p:sp>
      <p:sp>
        <p:nvSpPr>
          <p:cNvPr id="4" name="矩形 3"/>
          <p:cNvSpPr/>
          <p:nvPr/>
        </p:nvSpPr>
        <p:spPr>
          <a:xfrm>
            <a:off x="179625" y="3284845"/>
            <a:ext cx="6525975" cy="2169825"/>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嵌入新</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Maxwell2D</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设计文件</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，并保存在桌面</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60045" algn="just">
              <a:spcAft>
                <a:spcPts val="600"/>
              </a:spcAft>
            </a:pPr>
            <a:r>
              <a:rPr lang="zh-CN" altLang="zh-CN" sz="2000" b="1" kern="100" dirty="0">
                <a:ea typeface="宋体" panose="02010600030101010101" pitchFamily="2" charset="-122"/>
              </a:rPr>
              <a:t>菜单栏选择【</a:t>
            </a:r>
            <a:r>
              <a:rPr lang="en-US" altLang="zh-CN" sz="2000" b="1" kern="100" dirty="0">
                <a:ea typeface="宋体" panose="02010600030101010101" pitchFamily="2" charset="-122"/>
              </a:rPr>
              <a:t>Project</a:t>
            </a:r>
            <a:r>
              <a:rPr lang="zh-CN" altLang="zh-CN" sz="2000" b="1" kern="100" dirty="0">
                <a:ea typeface="宋体" panose="02010600030101010101" pitchFamily="2" charset="-122"/>
              </a:rPr>
              <a:t>】</a:t>
            </a:r>
            <a:r>
              <a:rPr lang="en-US" altLang="zh-CN" sz="2000" b="1" kern="100" dirty="0">
                <a:ea typeface="宋体" panose="02010600030101010101" pitchFamily="2" charset="-122"/>
              </a:rPr>
              <a:t>|</a:t>
            </a:r>
            <a:r>
              <a:rPr lang="zh-CN" altLang="zh-CN" sz="2000" b="1" kern="100" dirty="0">
                <a:ea typeface="宋体" panose="02010600030101010101" pitchFamily="2" charset="-122"/>
              </a:rPr>
              <a:t>【</a:t>
            </a:r>
            <a:r>
              <a:rPr lang="en-US" altLang="zh-CN" sz="2000" b="1" kern="100" dirty="0">
                <a:ea typeface="宋体" panose="02010600030101010101" pitchFamily="2" charset="-122"/>
              </a:rPr>
              <a:t>Insert Maxwell 2D Design</a:t>
            </a:r>
            <a:r>
              <a:rPr lang="zh-CN" altLang="zh-CN" sz="2000" b="1" kern="100" dirty="0">
                <a:ea typeface="宋体" panose="02010600030101010101" pitchFamily="2" charset="-122"/>
              </a:rPr>
              <a:t>】，</a:t>
            </a:r>
            <a:endParaRPr lang="en-US" altLang="zh-CN" sz="2000" b="1" kern="100" dirty="0">
              <a:ea typeface="宋体" panose="02010600030101010101" pitchFamily="2" charset="-122"/>
            </a:endParaRPr>
          </a:p>
          <a:p>
            <a:pPr marL="360045" algn="just">
              <a:spcAft>
                <a:spcPts val="600"/>
              </a:spcAft>
            </a:pPr>
            <a:r>
              <a:rPr lang="zh-CN" altLang="zh-CN" sz="2000" b="1" kern="100" dirty="0">
                <a:ea typeface="宋体" panose="02010600030101010101" pitchFamily="2" charset="-122"/>
              </a:rPr>
              <a:t>菜单栏选择【</a:t>
            </a:r>
            <a:r>
              <a:rPr lang="en-US" altLang="zh-CN" sz="2000" b="1" kern="100" dirty="0">
                <a:ea typeface="宋体" panose="02010600030101010101" pitchFamily="2" charset="-122"/>
              </a:rPr>
              <a:t>File</a:t>
            </a:r>
            <a:r>
              <a:rPr lang="zh-CN" altLang="zh-CN" sz="2000" b="1" kern="100" dirty="0">
                <a:ea typeface="宋体" panose="02010600030101010101" pitchFamily="2" charset="-122"/>
              </a:rPr>
              <a:t>】</a:t>
            </a:r>
            <a:r>
              <a:rPr lang="en-US" altLang="zh-CN" sz="2000" b="1" kern="100" dirty="0">
                <a:ea typeface="宋体" panose="02010600030101010101" pitchFamily="2" charset="-122"/>
              </a:rPr>
              <a:t>|</a:t>
            </a:r>
            <a:r>
              <a:rPr lang="zh-CN" altLang="zh-CN" sz="2000" b="1" kern="100" dirty="0">
                <a:ea typeface="宋体" panose="02010600030101010101" pitchFamily="2" charset="-122"/>
              </a:rPr>
              <a:t>【</a:t>
            </a:r>
            <a:r>
              <a:rPr lang="en-US" altLang="zh-CN" sz="2000" b="1" kern="100" dirty="0">
                <a:ea typeface="宋体" panose="02010600030101010101" pitchFamily="2" charset="-122"/>
              </a:rPr>
              <a:t>Save</a:t>
            </a:r>
            <a:r>
              <a:rPr lang="zh-CN" altLang="zh-CN" sz="2000" b="1" kern="100" dirty="0">
                <a:ea typeface="宋体" panose="02010600030101010101" pitchFamily="2" charset="-122"/>
              </a:rPr>
              <a:t>】，弹出另存为对话框，</a:t>
            </a:r>
            <a:r>
              <a:rPr lang="zh-CN" altLang="en-US" sz="2000" b="1" kern="100" dirty="0">
                <a:ea typeface="宋体" panose="02010600030101010101" pitchFamily="2" charset="-122"/>
              </a:rPr>
              <a:t>自定义工程名或选择默认</a:t>
            </a:r>
            <a:r>
              <a:rPr lang="en-US" altLang="zh-CN" sz="2000" b="1" kern="100" dirty="0">
                <a:ea typeface="宋体" panose="02010600030101010101" pitchFamily="2" charset="-122"/>
              </a:rPr>
              <a:t>project1</a:t>
            </a:r>
            <a:r>
              <a:rPr lang="zh-CN" altLang="en-US" sz="2000" b="1" kern="100" dirty="0">
                <a:ea typeface="宋体" panose="02010600030101010101" pitchFamily="2" charset="-122"/>
              </a:rPr>
              <a:t>，保存在桌面即可。</a:t>
            </a:r>
            <a:endParaRPr lang="zh-CN" altLang="zh-CN" sz="2000" b="1" kern="100" dirty="0">
              <a:ea typeface="宋体" panose="02010600030101010101" pitchFamily="2" charset="-122"/>
            </a:endParaRPr>
          </a:p>
          <a:p>
            <a:pPr algn="just">
              <a:spcAft>
                <a:spcPts val="600"/>
              </a:spcAft>
            </a:pPr>
            <a:endParaRPr lang="zh-CN" altLang="zh-CN" sz="2000" b="1" kern="100" dirty="0">
              <a:latin typeface="Times New Roman" panose="02020603050405020304" pitchFamily="18" charset="0"/>
              <a:ea typeface="宋体" panose="02010600030101010101" pitchFamily="2" charset="-122"/>
            </a:endParaRPr>
          </a:p>
        </p:txBody>
      </p:sp>
      <p:sp>
        <p:nvSpPr>
          <p:cNvPr id="7"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29</a:t>
            </a:fld>
            <a:endParaRPr lang="id-ID" sz="1200"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1500" y="1041971"/>
            <a:ext cx="1250972" cy="1610841"/>
          </a:xfrm>
          <a:prstGeom prst="rect">
            <a:avLst/>
          </a:prstGeom>
        </p:spPr>
      </p:pic>
      <p:pic>
        <p:nvPicPr>
          <p:cNvPr id="10" name="图片 9"/>
          <p:cNvPicPr>
            <a:picLocks noChangeAspect="1"/>
          </p:cNvPicPr>
          <p:nvPr/>
        </p:nvPicPr>
        <p:blipFill rotWithShape="1">
          <a:blip r:embed="rId3"/>
          <a:srcRect r="65417" b="47407"/>
          <a:stretch>
            <a:fillRect/>
          </a:stretch>
        </p:blipFill>
        <p:spPr>
          <a:xfrm>
            <a:off x="6996140" y="2895600"/>
            <a:ext cx="4216400" cy="36068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6862930" y="867874"/>
            <a:ext cx="2619375" cy="3619500"/>
          </a:xfrm>
          <a:prstGeom prst="rect">
            <a:avLst/>
          </a:prstGeom>
        </p:spPr>
      </p:pic>
      <p:sp>
        <p:nvSpPr>
          <p:cNvPr id="2" name="矩形 1"/>
          <p:cNvSpPr/>
          <p:nvPr/>
        </p:nvSpPr>
        <p:spPr>
          <a:xfrm>
            <a:off x="1040759" y="1031211"/>
            <a:ext cx="5266674" cy="2680862"/>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sz="2000" b="1" kern="1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指定求解类型</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p>
          <a:p>
            <a:pPr algn="just">
              <a:lnSpc>
                <a:spcPct val="120000"/>
              </a:lnSpc>
              <a:spcAft>
                <a:spcPts val="600"/>
              </a:spcAft>
            </a:pPr>
            <a:r>
              <a:rPr lang="en-US" altLang="zh-CN" b="1" dirty="0" err="1"/>
              <a:t>菜单栏选择【Maxwell</a:t>
            </a:r>
            <a:r>
              <a:rPr lang="en-US" altLang="zh-CN" b="1" dirty="0"/>
              <a:t> 2D】|【Solution Type】，</a:t>
            </a:r>
            <a:r>
              <a:rPr lang="en-US" altLang="zh-CN" b="1" dirty="0" err="1"/>
              <a:t>打开Solution</a:t>
            </a:r>
            <a:r>
              <a:rPr lang="en-US" altLang="zh-CN" b="1" dirty="0"/>
              <a:t> </a:t>
            </a:r>
            <a:r>
              <a:rPr lang="en-US" altLang="zh-CN" b="1" dirty="0" err="1"/>
              <a:t>Type窗口设置</a:t>
            </a:r>
            <a:r>
              <a:rPr lang="en-US" altLang="zh-CN" b="1" dirty="0"/>
              <a:t>：</a:t>
            </a:r>
          </a:p>
          <a:p>
            <a:pPr marL="360045" algn="just">
              <a:lnSpc>
                <a:spcPct val="120000"/>
              </a:lnSpc>
              <a:spcAft>
                <a:spcPts val="600"/>
              </a:spcAft>
            </a:pPr>
            <a:r>
              <a:rPr lang="en-US" altLang="zh-CN" b="1" dirty="0"/>
              <a:t>1）在Geometry </a:t>
            </a:r>
            <a:r>
              <a:rPr lang="en-US" altLang="zh-CN" b="1" dirty="0" err="1"/>
              <a:t>Mode下拉菜单中选择</a:t>
            </a:r>
            <a:r>
              <a:rPr lang="zh-CN" altLang="en-US" b="1" dirty="0"/>
              <a:t>直角</a:t>
            </a:r>
            <a:r>
              <a:rPr lang="en-US" altLang="zh-CN" b="1" dirty="0" err="1"/>
              <a:t>坐标系</a:t>
            </a:r>
            <a:r>
              <a:rPr lang="en-US" altLang="zh-CN" b="1" dirty="0"/>
              <a:t> </a:t>
            </a:r>
            <a:r>
              <a:rPr lang="zh-CN" altLang="en-US" b="1" dirty="0"/>
              <a:t>：</a:t>
            </a:r>
            <a:r>
              <a:rPr lang="en-US" altLang="zh-CN" b="1" dirty="0"/>
              <a:t>Cartesian, XY；</a:t>
            </a:r>
          </a:p>
          <a:p>
            <a:pPr marL="360045" algn="just">
              <a:lnSpc>
                <a:spcPct val="120000"/>
              </a:lnSpc>
              <a:spcAft>
                <a:spcPts val="600"/>
              </a:spcAft>
            </a:pPr>
            <a:r>
              <a:rPr lang="en-US" altLang="zh-CN" b="1" dirty="0"/>
              <a:t>2）</a:t>
            </a:r>
            <a:r>
              <a:rPr lang="zh-CN" altLang="en-US" b="1" dirty="0"/>
              <a:t>选择静磁场求解器：</a:t>
            </a:r>
            <a:r>
              <a:rPr lang="en-US" altLang="zh-CN" b="1" dirty="0"/>
              <a:t>Electrostatic；</a:t>
            </a:r>
          </a:p>
          <a:p>
            <a:pPr marL="360045" algn="just">
              <a:lnSpc>
                <a:spcPct val="120000"/>
              </a:lnSpc>
              <a:spcAft>
                <a:spcPts val="600"/>
              </a:spcAft>
            </a:pPr>
            <a:r>
              <a:rPr lang="en-US" altLang="zh-CN" b="1" dirty="0"/>
              <a:t>3）单击【OK】。</a:t>
            </a:r>
            <a:endParaRPr lang="zh-CN" altLang="zh-CN" sz="2000" b="1" kern="100" dirty="0">
              <a:ea typeface="宋体" panose="02010600030101010101" pitchFamily="2" charset="-122"/>
            </a:endParaRPr>
          </a:p>
        </p:txBody>
      </p:sp>
      <p:sp>
        <p:nvSpPr>
          <p:cNvPr id="4" name="矩形 3"/>
          <p:cNvSpPr/>
          <p:nvPr/>
        </p:nvSpPr>
        <p:spPr>
          <a:xfrm>
            <a:off x="7258217" y="1286905"/>
            <a:ext cx="1828800" cy="40011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403507" y="3029647"/>
            <a:ext cx="1145116" cy="28120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30</a:t>
            </a:fld>
            <a:endParaRPr lang="id-ID" sz="1200" dirty="0"/>
          </a:p>
        </p:txBody>
      </p:sp>
      <p:sp>
        <p:nvSpPr>
          <p:cNvPr id="9" name="矩形 8"/>
          <p:cNvSpPr/>
          <p:nvPr/>
        </p:nvSpPr>
        <p:spPr>
          <a:xfrm>
            <a:off x="1040759" y="3862475"/>
            <a:ext cx="5335424" cy="1837426"/>
          </a:xfrm>
          <a:prstGeom prst="rect">
            <a:avLst/>
          </a:prstGeom>
        </p:spPr>
        <p:txBody>
          <a:bodyPr wrap="square">
            <a:spAutoFit/>
          </a:bodyPr>
          <a:lstStyle/>
          <a:p>
            <a:pPr algn="just">
              <a:lnSpc>
                <a:spcPct val="150000"/>
              </a:lnSpc>
              <a:spcAft>
                <a:spcPts val="0"/>
              </a:spcAft>
            </a:pPr>
            <a:r>
              <a:rPr lang="zh-CN" altLang="en-US"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 </a:t>
            </a: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设置绘图单位</a:t>
            </a:r>
            <a:r>
              <a:rPr lang="zh-CN" altLang="en-US"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0000"/>
              </a:lnSpc>
              <a:spcAft>
                <a:spcPts val="0"/>
              </a:spcAft>
            </a:pPr>
            <a:r>
              <a:rPr lang="zh-CN" altLang="zh-CN" b="1" dirty="0"/>
              <a:t>菜单栏选择【</a:t>
            </a:r>
            <a:r>
              <a:rPr lang="en-US" altLang="zh-CN" b="1" dirty="0"/>
              <a:t>Modeler</a:t>
            </a:r>
            <a:r>
              <a:rPr lang="zh-CN" altLang="zh-CN" b="1" dirty="0"/>
              <a:t>】</a:t>
            </a:r>
            <a:r>
              <a:rPr lang="en-US" altLang="zh-CN" b="1" dirty="0"/>
              <a:t>|</a:t>
            </a:r>
            <a:r>
              <a:rPr lang="zh-CN" altLang="zh-CN" b="1" dirty="0"/>
              <a:t>【</a:t>
            </a:r>
            <a:r>
              <a:rPr lang="en-US" altLang="zh-CN" b="1" dirty="0"/>
              <a:t>Units</a:t>
            </a:r>
            <a:r>
              <a:rPr lang="zh-CN" altLang="zh-CN" b="1" dirty="0"/>
              <a:t>】，打开</a:t>
            </a:r>
            <a:r>
              <a:rPr lang="en-US" altLang="zh-CN" b="1" dirty="0"/>
              <a:t>Set Model Units</a:t>
            </a:r>
            <a:r>
              <a:rPr lang="zh-CN" altLang="zh-CN" b="1" dirty="0"/>
              <a:t>窗口，设置：</a:t>
            </a:r>
            <a:endParaRPr lang="en-US" altLang="zh-CN" b="1" dirty="0"/>
          </a:p>
          <a:p>
            <a:pPr indent="266700" algn="just">
              <a:lnSpc>
                <a:spcPct val="120000"/>
              </a:lnSpc>
              <a:spcAft>
                <a:spcPts val="0"/>
              </a:spcAft>
            </a:pPr>
            <a:r>
              <a:rPr lang="en-US" altLang="zh-CN" b="1" dirty="0"/>
              <a:t>1</a:t>
            </a:r>
            <a:r>
              <a:rPr lang="zh-CN" altLang="zh-CN" b="1" dirty="0"/>
              <a:t>）在</a:t>
            </a:r>
            <a:r>
              <a:rPr lang="en-US" altLang="zh-CN" b="1" dirty="0"/>
              <a:t>Select units</a:t>
            </a:r>
            <a:r>
              <a:rPr lang="zh-CN" altLang="zh-CN" b="1" dirty="0"/>
              <a:t>下拉菜单</a:t>
            </a:r>
            <a:r>
              <a:rPr lang="zh-CN" altLang="zh-CN" b="1" kern="100" dirty="0">
                <a:ea typeface="宋体" panose="02010600030101010101" pitchFamily="2" charset="-122"/>
              </a:rPr>
              <a:t>中选择单位“</a:t>
            </a:r>
            <a:r>
              <a:rPr lang="en-US" altLang="zh-CN" b="1" kern="100" dirty="0">
                <a:ea typeface="宋体" panose="02010600030101010101" pitchFamily="2" charset="-122"/>
              </a:rPr>
              <a:t>cm</a:t>
            </a:r>
            <a:r>
              <a:rPr lang="zh-CN" altLang="zh-CN" b="1" kern="100" dirty="0">
                <a:ea typeface="宋体" panose="02010600030101010101" pitchFamily="2" charset="-122"/>
              </a:rPr>
              <a:t>”；</a:t>
            </a:r>
            <a:endParaRPr lang="en-US" altLang="zh-CN" b="1" kern="100" dirty="0">
              <a:ea typeface="宋体" panose="02010600030101010101" pitchFamily="2" charset="-122"/>
            </a:endParaRPr>
          </a:p>
          <a:p>
            <a:pPr indent="266700" algn="just">
              <a:lnSpc>
                <a:spcPct val="120000"/>
              </a:lnSpc>
              <a:spcAft>
                <a:spcPts val="0"/>
              </a:spcAft>
            </a:pPr>
            <a:r>
              <a:rPr lang="en-US" altLang="zh-CN" b="1" kern="100" dirty="0">
                <a:ea typeface="宋体" panose="02010600030101010101" pitchFamily="2" charset="-122"/>
              </a:rPr>
              <a:t>2</a:t>
            </a:r>
            <a:r>
              <a:rPr lang="en-US" altLang="zh-CN" b="1" dirty="0"/>
              <a:t>）</a:t>
            </a:r>
            <a:r>
              <a:rPr lang="zh-CN" altLang="zh-CN" b="1" kern="100" dirty="0">
                <a:ea typeface="宋体" panose="02010600030101010101" pitchFamily="2" charset="-122"/>
              </a:rPr>
              <a:t>单击【</a:t>
            </a:r>
            <a:r>
              <a:rPr lang="en-US" altLang="zh-CN" b="1" kern="100" dirty="0">
                <a:ea typeface="宋体" panose="02010600030101010101" pitchFamily="2" charset="-122"/>
              </a:rPr>
              <a:t>OK</a:t>
            </a:r>
            <a:r>
              <a:rPr lang="zh-CN" altLang="zh-CN" b="1" kern="100" dirty="0">
                <a:ea typeface="宋体" panose="02010600030101010101" pitchFamily="2" charset="-122"/>
              </a:rPr>
              <a:t>】。</a:t>
            </a:r>
            <a:endParaRPr lang="zh-CN" altLang="zh-CN" sz="2400" b="1" kern="100" dirty="0">
              <a:effectLst/>
              <a:ea typeface="宋体" panose="02010600030101010101" pitchFamily="2" charset="-122"/>
            </a:endParaRPr>
          </a:p>
        </p:txBody>
      </p:sp>
      <p:pic>
        <p:nvPicPr>
          <p:cNvPr id="10" name="图片 9"/>
          <p:cNvPicPr>
            <a:picLocks noChangeAspect="1"/>
          </p:cNvPicPr>
          <p:nvPr/>
        </p:nvPicPr>
        <p:blipFill>
          <a:blip r:embed="rId3"/>
          <a:stretch>
            <a:fillRect/>
          </a:stretch>
        </p:blipFill>
        <p:spPr>
          <a:xfrm>
            <a:off x="6870987" y="4704949"/>
            <a:ext cx="2676525" cy="13620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8506" y="1035254"/>
            <a:ext cx="10299572" cy="1934210"/>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绘制模型。</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0000"/>
              </a:lnSpc>
              <a:spcAft>
                <a:spcPts val="600"/>
              </a:spcAft>
            </a:pPr>
            <a:r>
              <a:rPr lang="en-US" altLang="zh-CN" b="1" kern="100" dirty="0">
                <a:ea typeface="微软雅黑" panose="020B0503020204020204" pitchFamily="34" charset="-122"/>
                <a:cs typeface="Times New Roman" panose="02020603050405020304" pitchFamily="18" charset="0"/>
              </a:rPr>
              <a:t>1.</a:t>
            </a:r>
            <a:r>
              <a:rPr lang="zh-CN" altLang="zh-CN" b="1" dirty="0"/>
              <a:t>绘制矩形</a:t>
            </a:r>
            <a:r>
              <a:rPr lang="en-US" altLang="zh-CN" b="1" dirty="0"/>
              <a:t>Rectangle1</a:t>
            </a:r>
            <a:r>
              <a:rPr lang="zh-CN" altLang="en-US" b="1" dirty="0"/>
              <a:t>。</a:t>
            </a:r>
            <a:endParaRPr lang="en-US" altLang="zh-CN" b="1" dirty="0"/>
          </a:p>
          <a:p>
            <a:pPr marL="360045" algn="just">
              <a:lnSpc>
                <a:spcPct val="120000"/>
              </a:lnSpc>
              <a:spcAft>
                <a:spcPts val="600"/>
              </a:spcAft>
            </a:pPr>
            <a:r>
              <a:rPr lang="en-US" altLang="zh-CN" b="1" dirty="0"/>
              <a:t>1</a:t>
            </a:r>
            <a:r>
              <a:rPr lang="zh-CN" altLang="en-US" b="1" dirty="0"/>
              <a:t>）</a:t>
            </a:r>
            <a:r>
              <a:rPr lang="zh-CN" altLang="zh-CN" b="1" dirty="0"/>
              <a:t>菜单栏选择【</a:t>
            </a:r>
            <a:r>
              <a:rPr lang="en-US" altLang="zh-CN" b="1" dirty="0"/>
              <a:t>Draw</a:t>
            </a:r>
            <a:r>
              <a:rPr lang="zh-CN" altLang="zh-CN" b="1" dirty="0"/>
              <a:t>】</a:t>
            </a:r>
            <a:r>
              <a:rPr lang="en-US" altLang="zh-CN" b="1" dirty="0"/>
              <a:t>|</a:t>
            </a:r>
            <a:r>
              <a:rPr lang="zh-CN" altLang="zh-CN" b="1" dirty="0"/>
              <a:t>【</a:t>
            </a:r>
            <a:r>
              <a:rPr lang="en-US" altLang="zh-CN" b="1" dirty="0"/>
              <a:t>Rectangle</a:t>
            </a:r>
            <a:r>
              <a:rPr lang="zh-CN" altLang="zh-CN" b="1" dirty="0"/>
              <a:t>】，在</a:t>
            </a:r>
            <a:r>
              <a:rPr lang="zh-CN" altLang="zh-CN" b="1" dirty="0">
                <a:solidFill>
                  <a:srgbClr val="0000CC"/>
                </a:solidFill>
              </a:rPr>
              <a:t>屏幕右下角</a:t>
            </a:r>
            <a:r>
              <a:rPr lang="zh-CN" altLang="zh-CN" b="1" dirty="0"/>
              <a:t>弹出的坐标输入框中输入矩形</a:t>
            </a:r>
            <a:r>
              <a:rPr lang="zh-CN" altLang="en-US" b="1" dirty="0"/>
              <a:t>左下角</a:t>
            </a:r>
            <a:r>
              <a:rPr lang="zh-CN" altLang="zh-CN" b="1" dirty="0"/>
              <a:t>顶点的坐标，</a:t>
            </a:r>
            <a:r>
              <a:rPr lang="en-US" altLang="zh-CN" b="1" dirty="0"/>
              <a:t>X=-0.1</a:t>
            </a:r>
            <a:r>
              <a:rPr lang="zh-CN" altLang="zh-CN" b="1" dirty="0"/>
              <a:t>，</a:t>
            </a:r>
            <a:r>
              <a:rPr lang="en-US" altLang="zh-CN" b="1" dirty="0"/>
              <a:t>Y=-0.1</a:t>
            </a:r>
            <a:r>
              <a:rPr lang="zh-CN" altLang="zh-CN" b="1" dirty="0"/>
              <a:t>，</a:t>
            </a:r>
            <a:r>
              <a:rPr lang="en-US" altLang="zh-CN" b="1" dirty="0"/>
              <a:t>Z=0</a:t>
            </a:r>
            <a:r>
              <a:rPr lang="zh-CN" altLang="zh-CN" b="1" dirty="0"/>
              <a:t>，单击</a:t>
            </a:r>
            <a:r>
              <a:rPr lang="en-US" altLang="zh-CN" b="1" dirty="0"/>
              <a:t>Enter</a:t>
            </a:r>
            <a:r>
              <a:rPr lang="zh-CN" altLang="zh-CN" b="1" dirty="0"/>
              <a:t>键</a:t>
            </a:r>
            <a:r>
              <a:rPr lang="zh-CN" altLang="en-US" b="1" dirty="0"/>
              <a:t>；</a:t>
            </a:r>
            <a:endParaRPr lang="en-US" altLang="zh-CN" b="1" dirty="0"/>
          </a:p>
          <a:p>
            <a:pPr algn="just">
              <a:spcAft>
                <a:spcPts val="600"/>
              </a:spcAft>
            </a:pPr>
            <a:endParaRPr lang="zh-CN" altLang="zh-CN" sz="2000" b="1" kern="100" dirty="0">
              <a:latin typeface="宋体" panose="02010600030101010101" pitchFamily="2" charset="-122"/>
              <a:ea typeface="宋体" panose="02010600030101010101" pitchFamily="2" charset="-122"/>
            </a:endParaRPr>
          </a:p>
        </p:txBody>
      </p:sp>
      <p:sp>
        <p:nvSpPr>
          <p:cNvPr id="4"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31</a:t>
            </a:fld>
            <a:endParaRPr lang="id-ID" sz="1200" dirty="0"/>
          </a:p>
        </p:txBody>
      </p:sp>
      <p:sp>
        <p:nvSpPr>
          <p:cNvPr id="6" name="矩形 5"/>
          <p:cNvSpPr/>
          <p:nvPr/>
        </p:nvSpPr>
        <p:spPr>
          <a:xfrm>
            <a:off x="1143245" y="2962659"/>
            <a:ext cx="10188477" cy="645160"/>
          </a:xfrm>
          <a:prstGeom prst="rect">
            <a:avLst/>
          </a:prstGeom>
        </p:spPr>
        <p:txBody>
          <a:bodyPr wrap="square">
            <a:spAutoFit/>
          </a:bodyPr>
          <a:lstStyle/>
          <a:p>
            <a:pPr algn="just">
              <a:spcAft>
                <a:spcPts val="600"/>
              </a:spcAft>
            </a:pPr>
            <a:r>
              <a:rPr lang="en-US" altLang="zh-CN" b="1" dirty="0"/>
              <a:t>2</a:t>
            </a:r>
            <a:r>
              <a:rPr lang="zh-CN" altLang="en-US" b="1" dirty="0"/>
              <a:t>）</a:t>
            </a:r>
            <a:r>
              <a:rPr lang="zh-CN" altLang="zh-CN" b="1" dirty="0"/>
              <a:t>在坐标输入框中输入矩形对角</a:t>
            </a:r>
            <a:r>
              <a:rPr lang="zh-CN" altLang="en-US" b="1" dirty="0"/>
              <a:t>顶</a:t>
            </a:r>
            <a:r>
              <a:rPr lang="zh-CN" altLang="zh-CN" b="1" dirty="0"/>
              <a:t>点的坐标，</a:t>
            </a:r>
            <a:r>
              <a:rPr lang="en-US" altLang="zh-CN" b="1" dirty="0" err="1"/>
              <a:t>dX</a:t>
            </a:r>
            <a:r>
              <a:rPr lang="en-US" altLang="zh-CN" b="1" dirty="0"/>
              <a:t>=40.2</a:t>
            </a:r>
            <a:r>
              <a:rPr lang="zh-CN" altLang="zh-CN" b="1" dirty="0"/>
              <a:t>，</a:t>
            </a:r>
            <a:r>
              <a:rPr lang="en-US" altLang="zh-CN" b="1" dirty="0" err="1"/>
              <a:t>dY</a:t>
            </a:r>
            <a:r>
              <a:rPr lang="en-US" altLang="zh-CN" b="1" dirty="0"/>
              <a:t>=20.1</a:t>
            </a:r>
            <a:r>
              <a:rPr lang="zh-CN" altLang="zh-CN" b="1" dirty="0"/>
              <a:t>，</a:t>
            </a:r>
            <a:r>
              <a:rPr lang="en-US" altLang="zh-CN" b="1" dirty="0" err="1"/>
              <a:t>dZ</a:t>
            </a:r>
            <a:r>
              <a:rPr lang="en-US" altLang="zh-CN" b="1" dirty="0"/>
              <a:t>=0</a:t>
            </a:r>
            <a:r>
              <a:rPr lang="zh-CN" altLang="zh-CN" b="1" dirty="0"/>
              <a:t>，</a:t>
            </a:r>
            <a:r>
              <a:rPr lang="en-US" altLang="zh-CN" b="1" dirty="0" err="1"/>
              <a:t>单击Enter键确定</a:t>
            </a:r>
            <a:r>
              <a:rPr lang="zh-CN" altLang="en-US" b="1" dirty="0"/>
              <a:t>；</a:t>
            </a:r>
            <a:r>
              <a:rPr lang="en-US" altLang="zh-CN" b="1" dirty="0" err="1"/>
              <a:t>再次单击Enter键退出绘图模式</a:t>
            </a:r>
            <a:endParaRPr lang="en-US" altLang="zh-CN" b="1" dirty="0"/>
          </a:p>
        </p:txBody>
      </p:sp>
      <p:pic>
        <p:nvPicPr>
          <p:cNvPr id="3" name="图片 2"/>
          <p:cNvPicPr>
            <a:picLocks noChangeAspect="1"/>
          </p:cNvPicPr>
          <p:nvPr/>
        </p:nvPicPr>
        <p:blipFill>
          <a:blip r:embed="rId2"/>
          <a:stretch>
            <a:fillRect/>
          </a:stretch>
        </p:blipFill>
        <p:spPr>
          <a:xfrm>
            <a:off x="2860040" y="2589530"/>
            <a:ext cx="4438650" cy="228600"/>
          </a:xfrm>
          <a:prstGeom prst="rect">
            <a:avLst/>
          </a:prstGeom>
        </p:spPr>
      </p:pic>
      <p:pic>
        <p:nvPicPr>
          <p:cNvPr id="5" name="图片 4" descr="7HM6]GE2FK}8[~N~QSQIKXO"/>
          <p:cNvPicPr>
            <a:picLocks noChangeAspect="1"/>
          </p:cNvPicPr>
          <p:nvPr/>
        </p:nvPicPr>
        <p:blipFill>
          <a:blip r:embed="rId3"/>
          <a:stretch>
            <a:fillRect/>
          </a:stretch>
        </p:blipFill>
        <p:spPr>
          <a:xfrm>
            <a:off x="2860040" y="3667125"/>
            <a:ext cx="4410075" cy="247650"/>
          </a:xfrm>
          <a:prstGeom prst="rect">
            <a:avLst/>
          </a:prstGeom>
        </p:spPr>
      </p:pic>
      <p:sp>
        <p:nvSpPr>
          <p:cNvPr id="7" name="文本框 6"/>
          <p:cNvSpPr txBox="1"/>
          <p:nvPr/>
        </p:nvSpPr>
        <p:spPr>
          <a:xfrm>
            <a:off x="732790" y="3966845"/>
            <a:ext cx="9975215" cy="1164590"/>
          </a:xfrm>
          <a:prstGeom prst="rect">
            <a:avLst/>
          </a:prstGeom>
          <a:noFill/>
        </p:spPr>
        <p:txBody>
          <a:bodyPr wrap="square" rtlCol="0" anchor="t">
            <a:spAutoFit/>
          </a:bodyPr>
          <a:lstStyle/>
          <a:p>
            <a:pPr algn="just">
              <a:lnSpc>
                <a:spcPct val="120000"/>
              </a:lnSpc>
              <a:spcAft>
                <a:spcPts val="600"/>
              </a:spcAft>
            </a:pPr>
            <a:r>
              <a:rPr lang="en-US" altLang="zh-CN" b="1" kern="100" dirty="0">
                <a:ea typeface="微软雅黑" panose="020B0503020204020204" pitchFamily="34" charset="-122"/>
                <a:cs typeface="Times New Roman" panose="02020603050405020304" pitchFamily="18" charset="0"/>
                <a:sym typeface="+mn-ea"/>
              </a:rPr>
              <a:t>2.</a:t>
            </a:r>
            <a:r>
              <a:rPr lang="zh-CN" altLang="zh-CN" b="1" dirty="0">
                <a:sym typeface="+mn-ea"/>
              </a:rPr>
              <a:t>绘制矩形</a:t>
            </a:r>
            <a:r>
              <a:rPr lang="en-US" altLang="zh-CN" b="1" dirty="0">
                <a:sym typeface="+mn-ea"/>
              </a:rPr>
              <a:t>Rectangle2</a:t>
            </a:r>
            <a:r>
              <a:rPr lang="zh-CN" altLang="en-US" b="1" dirty="0">
                <a:sym typeface="+mn-ea"/>
              </a:rPr>
              <a:t>。</a:t>
            </a:r>
            <a:endParaRPr lang="en-US" altLang="zh-CN" b="1" dirty="0"/>
          </a:p>
          <a:p>
            <a:pPr marL="360045" algn="just">
              <a:lnSpc>
                <a:spcPct val="120000"/>
              </a:lnSpc>
              <a:spcAft>
                <a:spcPts val="600"/>
              </a:spcAft>
            </a:pPr>
            <a:r>
              <a:rPr lang="en-US" altLang="zh-CN" b="1" dirty="0">
                <a:sym typeface="+mn-ea"/>
              </a:rPr>
              <a:t>1</a:t>
            </a:r>
            <a:r>
              <a:rPr lang="zh-CN" altLang="en-US" b="1" dirty="0">
                <a:sym typeface="+mn-ea"/>
              </a:rPr>
              <a:t>）</a:t>
            </a:r>
            <a:r>
              <a:rPr lang="zh-CN" altLang="zh-CN" b="1" dirty="0">
                <a:sym typeface="+mn-ea"/>
              </a:rPr>
              <a:t>菜单栏选择【</a:t>
            </a:r>
            <a:r>
              <a:rPr lang="en-US" altLang="zh-CN" b="1" dirty="0">
                <a:sym typeface="+mn-ea"/>
              </a:rPr>
              <a:t>Draw</a:t>
            </a:r>
            <a:r>
              <a:rPr lang="zh-CN" altLang="zh-CN" b="1" dirty="0">
                <a:sym typeface="+mn-ea"/>
              </a:rPr>
              <a:t>】</a:t>
            </a:r>
            <a:r>
              <a:rPr lang="en-US" altLang="zh-CN" b="1" dirty="0">
                <a:sym typeface="+mn-ea"/>
              </a:rPr>
              <a:t>|</a:t>
            </a:r>
            <a:r>
              <a:rPr lang="zh-CN" altLang="zh-CN" b="1" dirty="0">
                <a:sym typeface="+mn-ea"/>
              </a:rPr>
              <a:t>【</a:t>
            </a:r>
            <a:r>
              <a:rPr lang="en-US" altLang="zh-CN" b="1" dirty="0">
                <a:sym typeface="+mn-ea"/>
              </a:rPr>
              <a:t>Rectangle</a:t>
            </a:r>
            <a:r>
              <a:rPr lang="zh-CN" altLang="zh-CN" b="1" dirty="0">
                <a:sym typeface="+mn-ea"/>
              </a:rPr>
              <a:t>】，在</a:t>
            </a:r>
            <a:r>
              <a:rPr lang="zh-CN" altLang="zh-CN" b="1" dirty="0">
                <a:solidFill>
                  <a:srgbClr val="0000CC"/>
                </a:solidFill>
                <a:sym typeface="+mn-ea"/>
              </a:rPr>
              <a:t>屏幕右下角</a:t>
            </a:r>
            <a:r>
              <a:rPr lang="zh-CN" altLang="zh-CN" b="1" dirty="0">
                <a:sym typeface="+mn-ea"/>
              </a:rPr>
              <a:t>弹出的坐标输入框中输入矩形</a:t>
            </a:r>
            <a:r>
              <a:rPr lang="zh-CN" altLang="en-US" b="1" dirty="0">
                <a:sym typeface="+mn-ea"/>
              </a:rPr>
              <a:t>左下角</a:t>
            </a:r>
            <a:r>
              <a:rPr lang="zh-CN" altLang="zh-CN" b="1" dirty="0">
                <a:sym typeface="+mn-ea"/>
              </a:rPr>
              <a:t>顶点的坐标，</a:t>
            </a:r>
            <a:r>
              <a:rPr lang="en-US" altLang="zh-CN" b="1" dirty="0">
                <a:sym typeface="+mn-ea"/>
              </a:rPr>
              <a:t>X=0</a:t>
            </a:r>
            <a:r>
              <a:rPr lang="zh-CN" altLang="zh-CN" b="1" dirty="0">
                <a:sym typeface="+mn-ea"/>
              </a:rPr>
              <a:t>，</a:t>
            </a:r>
            <a:r>
              <a:rPr lang="en-US" altLang="zh-CN" b="1" dirty="0">
                <a:sym typeface="+mn-ea"/>
              </a:rPr>
              <a:t>Y=0</a:t>
            </a:r>
            <a:r>
              <a:rPr lang="zh-CN" altLang="zh-CN" b="1" dirty="0">
                <a:sym typeface="+mn-ea"/>
              </a:rPr>
              <a:t>，</a:t>
            </a:r>
            <a:r>
              <a:rPr lang="en-US" altLang="zh-CN" b="1" dirty="0">
                <a:sym typeface="+mn-ea"/>
              </a:rPr>
              <a:t>Z=0</a:t>
            </a:r>
            <a:r>
              <a:rPr lang="zh-CN" altLang="zh-CN" b="1" dirty="0">
                <a:sym typeface="+mn-ea"/>
              </a:rPr>
              <a:t>，单击</a:t>
            </a:r>
            <a:r>
              <a:rPr lang="en-US" altLang="zh-CN" b="1" dirty="0">
                <a:sym typeface="+mn-ea"/>
              </a:rPr>
              <a:t>Enter</a:t>
            </a:r>
            <a:r>
              <a:rPr lang="zh-CN" altLang="zh-CN" b="1" dirty="0">
                <a:sym typeface="+mn-ea"/>
              </a:rPr>
              <a:t>键</a:t>
            </a:r>
            <a:r>
              <a:rPr lang="zh-CN" altLang="en-US" b="1" dirty="0">
                <a:sym typeface="+mn-ea"/>
              </a:rPr>
              <a:t>；</a:t>
            </a:r>
            <a:endParaRPr lang="zh-CN" altLang="en-US"/>
          </a:p>
        </p:txBody>
      </p:sp>
      <p:sp>
        <p:nvSpPr>
          <p:cNvPr id="9" name="矩形 8"/>
          <p:cNvSpPr/>
          <p:nvPr/>
        </p:nvSpPr>
        <p:spPr>
          <a:xfrm>
            <a:off x="1090540" y="5594734"/>
            <a:ext cx="10188477" cy="645160"/>
          </a:xfrm>
          <a:prstGeom prst="rect">
            <a:avLst/>
          </a:prstGeom>
        </p:spPr>
        <p:txBody>
          <a:bodyPr wrap="square">
            <a:spAutoFit/>
          </a:bodyPr>
          <a:lstStyle/>
          <a:p>
            <a:pPr algn="just">
              <a:spcAft>
                <a:spcPts val="600"/>
              </a:spcAft>
            </a:pPr>
            <a:r>
              <a:rPr lang="en-US" altLang="zh-CN" b="1" dirty="0"/>
              <a:t>2</a:t>
            </a:r>
            <a:r>
              <a:rPr lang="zh-CN" altLang="en-US" b="1" dirty="0"/>
              <a:t>）</a:t>
            </a:r>
            <a:r>
              <a:rPr lang="zh-CN" altLang="zh-CN" b="1" dirty="0"/>
              <a:t>在坐标输入框中输入矩形对角</a:t>
            </a:r>
            <a:r>
              <a:rPr lang="zh-CN" altLang="en-US" b="1" dirty="0"/>
              <a:t>顶</a:t>
            </a:r>
            <a:r>
              <a:rPr lang="zh-CN" altLang="zh-CN" b="1" dirty="0"/>
              <a:t>点的坐标，</a:t>
            </a:r>
            <a:r>
              <a:rPr lang="en-US" altLang="zh-CN" b="1" dirty="0" err="1"/>
              <a:t>dX</a:t>
            </a:r>
            <a:r>
              <a:rPr lang="en-US" altLang="zh-CN" b="1" dirty="0"/>
              <a:t>=40</a:t>
            </a:r>
            <a:r>
              <a:rPr lang="zh-CN" altLang="zh-CN" b="1" dirty="0"/>
              <a:t>，</a:t>
            </a:r>
            <a:r>
              <a:rPr lang="en-US" altLang="zh-CN" b="1" dirty="0" err="1"/>
              <a:t>dY</a:t>
            </a:r>
            <a:r>
              <a:rPr lang="en-US" altLang="zh-CN" b="1" dirty="0"/>
              <a:t>=20</a:t>
            </a:r>
            <a:r>
              <a:rPr lang="zh-CN" altLang="zh-CN" b="1" dirty="0"/>
              <a:t>，</a:t>
            </a:r>
            <a:r>
              <a:rPr lang="en-US" altLang="zh-CN" b="1" dirty="0" err="1"/>
              <a:t>dZ</a:t>
            </a:r>
            <a:r>
              <a:rPr lang="en-US" altLang="zh-CN" b="1" dirty="0"/>
              <a:t>=0</a:t>
            </a:r>
            <a:r>
              <a:rPr lang="zh-CN" altLang="zh-CN" b="1" dirty="0"/>
              <a:t>，</a:t>
            </a:r>
            <a:r>
              <a:rPr lang="en-US" altLang="zh-CN" b="1" dirty="0" err="1"/>
              <a:t>单击Enter键确定</a:t>
            </a:r>
            <a:r>
              <a:rPr lang="zh-CN" altLang="en-US" b="1" dirty="0"/>
              <a:t>；</a:t>
            </a:r>
            <a:r>
              <a:rPr lang="en-US" altLang="zh-CN" b="1" dirty="0" err="1"/>
              <a:t>再次单击Enter键退出绘图模式</a:t>
            </a:r>
            <a:endParaRPr lang="en-US" altLang="zh-CN" b="1" dirty="0"/>
          </a:p>
        </p:txBody>
      </p:sp>
      <p:pic>
        <p:nvPicPr>
          <p:cNvPr id="11" name="图片 10" descr="Y3SSV7XX4PR@)IO[E6B]P}8"/>
          <p:cNvPicPr>
            <a:picLocks noChangeAspect="1"/>
          </p:cNvPicPr>
          <p:nvPr/>
        </p:nvPicPr>
        <p:blipFill>
          <a:blip r:embed="rId4"/>
          <a:stretch>
            <a:fillRect/>
          </a:stretch>
        </p:blipFill>
        <p:spPr>
          <a:xfrm>
            <a:off x="2850515" y="5234940"/>
            <a:ext cx="4410075" cy="228600"/>
          </a:xfrm>
          <a:prstGeom prst="rect">
            <a:avLst/>
          </a:prstGeom>
        </p:spPr>
      </p:pic>
      <p:pic>
        <p:nvPicPr>
          <p:cNvPr id="12" name="图片 11" descr="0O)[6~4`VG0BXW~V`CUU@_7"/>
          <p:cNvPicPr>
            <a:picLocks noChangeAspect="1"/>
          </p:cNvPicPr>
          <p:nvPr/>
        </p:nvPicPr>
        <p:blipFill>
          <a:blip r:embed="rId5"/>
          <a:stretch>
            <a:fillRect/>
          </a:stretch>
        </p:blipFill>
        <p:spPr>
          <a:xfrm>
            <a:off x="2860040" y="6327775"/>
            <a:ext cx="4400550" cy="2476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8515" y="958850"/>
            <a:ext cx="10991850" cy="2419985"/>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绘制模型。</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60045" algn="just">
              <a:lnSpc>
                <a:spcPct val="120000"/>
              </a:lnSpc>
              <a:spcAft>
                <a:spcPts val="600"/>
              </a:spcAft>
            </a:pPr>
            <a:r>
              <a:rPr lang="en-US" b="1" dirty="0"/>
              <a:t>3.Rectangle1</a:t>
            </a:r>
            <a:r>
              <a:rPr lang="zh-CN" altLang="en-US" b="1" dirty="0"/>
              <a:t>减去</a:t>
            </a:r>
            <a:r>
              <a:rPr lang="en-US" altLang="zh-CN" b="1" dirty="0"/>
              <a:t>Rectangle2</a:t>
            </a:r>
            <a:r>
              <a:rPr lang="zh-CN" altLang="en-US" b="1" dirty="0"/>
              <a:t>生成槽。</a:t>
            </a:r>
            <a:endParaRPr lang="zh-CN" altLang="zh-CN" b="1" dirty="0"/>
          </a:p>
          <a:p>
            <a:pPr marL="720090" algn="just">
              <a:lnSpc>
                <a:spcPct val="120000"/>
              </a:lnSpc>
              <a:spcAft>
                <a:spcPts val="600"/>
              </a:spcAft>
              <a:buFont typeface="Wingdings" panose="05000000000000000000" pitchFamily="2" charset="2"/>
              <a:buChar char="Ø"/>
            </a:pPr>
            <a:r>
              <a:rPr lang="zh-CN" altLang="en-US" b="1" dirty="0"/>
              <a:t> 按下</a:t>
            </a:r>
            <a:r>
              <a:rPr lang="en-US" altLang="zh-CN" b="1" dirty="0"/>
              <a:t>Ctrl</a:t>
            </a:r>
            <a:r>
              <a:rPr lang="zh-CN" altLang="en-US" b="1" dirty="0"/>
              <a:t>按键，在工程树栏单击选中两个矩形</a:t>
            </a:r>
            <a:r>
              <a:rPr lang="en-US" altLang="zh-CN" b="1" dirty="0"/>
              <a:t>Rectangle1</a:t>
            </a:r>
            <a:r>
              <a:rPr lang="zh-CN" altLang="en-US" b="1" dirty="0"/>
              <a:t>和</a:t>
            </a:r>
            <a:r>
              <a:rPr lang="en-US" altLang="zh-CN" b="1" dirty="0"/>
              <a:t>Rectangle2</a:t>
            </a:r>
          </a:p>
          <a:p>
            <a:pPr marL="720090" algn="just">
              <a:lnSpc>
                <a:spcPct val="120000"/>
              </a:lnSpc>
              <a:spcAft>
                <a:spcPts val="600"/>
              </a:spcAft>
              <a:buFont typeface="Wingdings" panose="05000000000000000000" pitchFamily="2" charset="2"/>
              <a:buChar char="Ø"/>
            </a:pPr>
            <a:r>
              <a:rPr lang="zh-CN" altLang="en-US" b="1" dirty="0"/>
              <a:t> 菜单栏选择【</a:t>
            </a:r>
            <a:r>
              <a:rPr lang="en-US" altLang="zh-CN" b="1" dirty="0"/>
              <a:t>Modeler</a:t>
            </a:r>
            <a:r>
              <a:rPr lang="zh-CN" altLang="en-US" b="1" dirty="0"/>
              <a:t>】</a:t>
            </a:r>
            <a:r>
              <a:rPr lang="en-US" altLang="zh-CN" b="1" dirty="0">
                <a:sym typeface="+mn-ea"/>
              </a:rPr>
              <a:t>|</a:t>
            </a:r>
            <a:r>
              <a:rPr lang="zh-CN" altLang="en-US" b="1" dirty="0">
                <a:sym typeface="+mn-ea"/>
              </a:rPr>
              <a:t>【</a:t>
            </a:r>
            <a:r>
              <a:rPr lang="en-US" altLang="zh-CN" b="1" dirty="0">
                <a:sym typeface="+mn-ea"/>
              </a:rPr>
              <a:t>Boolean</a:t>
            </a:r>
            <a:r>
              <a:rPr lang="zh-CN" altLang="en-US" b="1" dirty="0">
                <a:sym typeface="+mn-ea"/>
              </a:rPr>
              <a:t>】</a:t>
            </a:r>
            <a:r>
              <a:rPr lang="en-US" altLang="zh-CN" b="1" dirty="0">
                <a:sym typeface="+mn-ea"/>
              </a:rPr>
              <a:t>|</a:t>
            </a:r>
            <a:r>
              <a:rPr lang="zh-CN" altLang="en-US" b="1" dirty="0"/>
              <a:t>【</a:t>
            </a:r>
            <a:r>
              <a:rPr lang="en-US" altLang="zh-CN" b="1" dirty="0"/>
              <a:t>Subtract</a:t>
            </a:r>
            <a:r>
              <a:rPr lang="zh-CN" altLang="en-US" b="1" dirty="0"/>
              <a:t>】，弹出</a:t>
            </a:r>
            <a:r>
              <a:rPr lang="en-US" altLang="zh-CN" b="1" dirty="0"/>
              <a:t>subtract</a:t>
            </a:r>
            <a:r>
              <a:rPr lang="zh-CN" altLang="en-US" b="1" dirty="0"/>
              <a:t>对话框，</a:t>
            </a:r>
            <a:r>
              <a:rPr lang="zh-CN" altLang="en-US" b="1" kern="100" dirty="0">
                <a:latin typeface="+mn-ea"/>
              </a:rPr>
              <a:t>单击</a:t>
            </a:r>
            <a:r>
              <a:rPr lang="en-US" altLang="zh-CN" b="1" kern="100" dirty="0">
                <a:latin typeface="+mn-ea"/>
              </a:rPr>
              <a:t>【OK】</a:t>
            </a:r>
            <a:r>
              <a:rPr lang="zh-CN" altLang="en-US" b="1" dirty="0"/>
              <a:t>；</a:t>
            </a:r>
            <a:endParaRPr lang="en-US" altLang="zh-CN" b="1" dirty="0"/>
          </a:p>
          <a:p>
            <a:pPr marL="360045" algn="just">
              <a:lnSpc>
                <a:spcPct val="120000"/>
              </a:lnSpc>
              <a:spcAft>
                <a:spcPts val="600"/>
              </a:spcAft>
            </a:pPr>
            <a:endParaRPr lang="en-US" altLang="zh-CN" b="1" dirty="0"/>
          </a:p>
          <a:p>
            <a:pPr algn="just">
              <a:spcAft>
                <a:spcPts val="600"/>
              </a:spcAft>
            </a:pPr>
            <a:endParaRPr lang="zh-CN" altLang="zh-CN" sz="2000" b="1" kern="100" dirty="0">
              <a:latin typeface="宋体" panose="02010600030101010101" pitchFamily="2" charset="-122"/>
              <a:ea typeface="宋体" panose="02010600030101010101" pitchFamily="2" charset="-122"/>
            </a:endParaRPr>
          </a:p>
        </p:txBody>
      </p:sp>
      <p:sp>
        <p:nvSpPr>
          <p:cNvPr id="4" name="TextBox 4"/>
          <p:cNvSpPr txBox="1"/>
          <p:nvPr/>
        </p:nvSpPr>
        <p:spPr>
          <a:xfrm>
            <a:off x="11809440" y="6980616"/>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32</a:t>
            </a:fld>
            <a:endParaRPr lang="id-ID" sz="1200" dirty="0"/>
          </a:p>
        </p:txBody>
      </p:sp>
      <p:sp>
        <p:nvSpPr>
          <p:cNvPr id="9" name="TextBox 4"/>
          <p:cNvSpPr txBox="1"/>
          <p:nvPr/>
        </p:nvSpPr>
        <p:spPr>
          <a:xfrm>
            <a:off x="11809440" y="6980616"/>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32</a:t>
            </a:fld>
            <a:endParaRPr lang="id-ID" sz="1200" dirty="0"/>
          </a:p>
        </p:txBody>
      </p:sp>
      <p:pic>
        <p:nvPicPr>
          <p:cNvPr id="3" name="图片 2"/>
          <p:cNvPicPr>
            <a:picLocks noChangeAspect="1"/>
          </p:cNvPicPr>
          <p:nvPr>
            <p:custDataLst>
              <p:tags r:id="rId1"/>
            </p:custDataLst>
          </p:nvPr>
        </p:nvPicPr>
        <p:blipFill>
          <a:blip r:embed="rId4"/>
          <a:srcRect r="71406" b="49414"/>
          <a:stretch>
            <a:fillRect/>
          </a:stretch>
        </p:blipFill>
        <p:spPr>
          <a:xfrm>
            <a:off x="2026285" y="2769235"/>
            <a:ext cx="3777615" cy="3759200"/>
          </a:xfrm>
          <a:prstGeom prst="rect">
            <a:avLst/>
          </a:prstGeom>
        </p:spPr>
      </p:pic>
      <p:sp>
        <p:nvSpPr>
          <p:cNvPr id="5" name="矩形 4"/>
          <p:cNvSpPr/>
          <p:nvPr/>
        </p:nvSpPr>
        <p:spPr>
          <a:xfrm>
            <a:off x="4331335" y="4453255"/>
            <a:ext cx="1246505" cy="27305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331335" y="4968240"/>
            <a:ext cx="1246505" cy="27305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custDataLst>
              <p:tags r:id="rId2"/>
            </p:custDataLst>
          </p:nvPr>
        </p:nvPicPr>
        <p:blipFill>
          <a:blip r:embed="rId5"/>
          <a:stretch>
            <a:fillRect/>
          </a:stretch>
        </p:blipFill>
        <p:spPr>
          <a:xfrm>
            <a:off x="6732905" y="3066415"/>
            <a:ext cx="2952750" cy="24479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6905" y="958850"/>
            <a:ext cx="10991850" cy="1549400"/>
          </a:xfrm>
          <a:prstGeom prst="rect">
            <a:avLst/>
          </a:prstGeom>
        </p:spPr>
        <p:txBody>
          <a:bodyPr wrap="square" anchor="ctr" anchorCtr="0">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绘制模型。</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60045" algn="just">
              <a:lnSpc>
                <a:spcPct val="120000"/>
              </a:lnSpc>
              <a:spcAft>
                <a:spcPts val="600"/>
              </a:spcAft>
            </a:pPr>
            <a:r>
              <a:rPr lang="en-US" b="1" dirty="0"/>
              <a:t>4.</a:t>
            </a:r>
            <a:r>
              <a:rPr lang="zh-CN" altLang="en-US" b="1" dirty="0"/>
              <a:t>绘制矩形槽顶盖。</a:t>
            </a:r>
          </a:p>
          <a:p>
            <a:pPr marL="360045" algn="just">
              <a:lnSpc>
                <a:spcPct val="120000"/>
              </a:lnSpc>
              <a:spcAft>
                <a:spcPts val="600"/>
              </a:spcAft>
            </a:pPr>
            <a:r>
              <a:rPr lang="en-US" altLang="zh-CN" b="1" dirty="0">
                <a:sym typeface="+mn-ea"/>
              </a:rPr>
              <a:t>1</a:t>
            </a:r>
            <a:r>
              <a:rPr lang="zh-CN" altLang="en-US" b="1" dirty="0">
                <a:sym typeface="+mn-ea"/>
              </a:rPr>
              <a:t>）</a:t>
            </a:r>
            <a:r>
              <a:rPr lang="zh-CN" altLang="zh-CN" b="1" dirty="0">
                <a:sym typeface="+mn-ea"/>
              </a:rPr>
              <a:t>菜单栏选择【</a:t>
            </a:r>
            <a:r>
              <a:rPr lang="en-US" altLang="zh-CN" b="1" dirty="0">
                <a:sym typeface="+mn-ea"/>
              </a:rPr>
              <a:t>Draw</a:t>
            </a:r>
            <a:r>
              <a:rPr lang="zh-CN" altLang="zh-CN" b="1" dirty="0">
                <a:sym typeface="+mn-ea"/>
              </a:rPr>
              <a:t>】</a:t>
            </a:r>
            <a:r>
              <a:rPr lang="en-US" altLang="zh-CN" b="1" dirty="0">
                <a:sym typeface="+mn-ea"/>
              </a:rPr>
              <a:t>|</a:t>
            </a:r>
            <a:r>
              <a:rPr lang="zh-CN" altLang="zh-CN" b="1" dirty="0">
                <a:sym typeface="+mn-ea"/>
              </a:rPr>
              <a:t>【</a:t>
            </a:r>
            <a:r>
              <a:rPr lang="en-US" altLang="zh-CN" b="1" dirty="0">
                <a:sym typeface="+mn-ea"/>
              </a:rPr>
              <a:t>Rectangle</a:t>
            </a:r>
            <a:r>
              <a:rPr lang="zh-CN" altLang="zh-CN" b="1" dirty="0">
                <a:sym typeface="+mn-ea"/>
              </a:rPr>
              <a:t>】，在</a:t>
            </a:r>
            <a:r>
              <a:rPr lang="zh-CN" altLang="zh-CN" b="1" dirty="0">
                <a:solidFill>
                  <a:srgbClr val="0000CC"/>
                </a:solidFill>
                <a:sym typeface="+mn-ea"/>
              </a:rPr>
              <a:t>屏幕右下角</a:t>
            </a:r>
            <a:r>
              <a:rPr lang="zh-CN" altLang="zh-CN" b="1" dirty="0">
                <a:sym typeface="+mn-ea"/>
              </a:rPr>
              <a:t>弹出的坐标输入框中输入矩形</a:t>
            </a:r>
            <a:r>
              <a:rPr lang="zh-CN" altLang="en-US" b="1" dirty="0">
                <a:sym typeface="+mn-ea"/>
              </a:rPr>
              <a:t>左下角</a:t>
            </a:r>
            <a:r>
              <a:rPr lang="zh-CN" altLang="zh-CN" b="1" dirty="0">
                <a:sym typeface="+mn-ea"/>
              </a:rPr>
              <a:t>顶点的坐标，</a:t>
            </a:r>
            <a:r>
              <a:rPr lang="en-US" altLang="zh-CN" b="1" dirty="0">
                <a:sym typeface="+mn-ea"/>
              </a:rPr>
              <a:t>X=-0.1</a:t>
            </a:r>
            <a:r>
              <a:rPr lang="zh-CN" altLang="zh-CN" b="1" dirty="0">
                <a:sym typeface="+mn-ea"/>
              </a:rPr>
              <a:t>，</a:t>
            </a:r>
            <a:r>
              <a:rPr lang="en-US" altLang="zh-CN" b="1" dirty="0">
                <a:sym typeface="+mn-ea"/>
              </a:rPr>
              <a:t>Y=20.1</a:t>
            </a:r>
            <a:r>
              <a:rPr lang="zh-CN" altLang="zh-CN" b="1" dirty="0">
                <a:sym typeface="+mn-ea"/>
              </a:rPr>
              <a:t>，</a:t>
            </a:r>
            <a:r>
              <a:rPr lang="en-US" altLang="zh-CN" b="1" dirty="0">
                <a:sym typeface="+mn-ea"/>
              </a:rPr>
              <a:t>Z=0</a:t>
            </a:r>
            <a:r>
              <a:rPr lang="zh-CN" altLang="zh-CN" b="1" dirty="0">
                <a:sym typeface="+mn-ea"/>
              </a:rPr>
              <a:t>，单击</a:t>
            </a:r>
            <a:r>
              <a:rPr lang="en-US" altLang="zh-CN" b="1" dirty="0">
                <a:sym typeface="+mn-ea"/>
              </a:rPr>
              <a:t>Enter</a:t>
            </a:r>
            <a:r>
              <a:rPr lang="zh-CN" altLang="zh-CN" b="1" dirty="0">
                <a:sym typeface="+mn-ea"/>
              </a:rPr>
              <a:t>键</a:t>
            </a:r>
            <a:r>
              <a:rPr lang="zh-CN" altLang="en-US" b="1" dirty="0">
                <a:sym typeface="+mn-ea"/>
              </a:rPr>
              <a:t>；</a:t>
            </a:r>
            <a:endParaRPr lang="zh-CN" altLang="zh-CN" sz="2000" b="1" kern="100" dirty="0">
              <a:latin typeface="宋体" panose="02010600030101010101" pitchFamily="2" charset="-122"/>
              <a:ea typeface="宋体" panose="02010600030101010101" pitchFamily="2" charset="-122"/>
            </a:endParaRPr>
          </a:p>
        </p:txBody>
      </p:sp>
      <p:sp>
        <p:nvSpPr>
          <p:cNvPr id="4" name="TextBox 4"/>
          <p:cNvSpPr txBox="1"/>
          <p:nvPr/>
        </p:nvSpPr>
        <p:spPr>
          <a:xfrm>
            <a:off x="11809440" y="6980616"/>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33</a:t>
            </a:fld>
            <a:endParaRPr lang="id-ID" sz="1200" dirty="0"/>
          </a:p>
        </p:txBody>
      </p:sp>
      <p:sp>
        <p:nvSpPr>
          <p:cNvPr id="9" name="TextBox 4"/>
          <p:cNvSpPr txBox="1"/>
          <p:nvPr/>
        </p:nvSpPr>
        <p:spPr>
          <a:xfrm>
            <a:off x="11809440" y="6980616"/>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33</a:t>
            </a:fld>
            <a:endParaRPr lang="id-ID" sz="1200" dirty="0"/>
          </a:p>
        </p:txBody>
      </p:sp>
      <p:sp>
        <p:nvSpPr>
          <p:cNvPr id="10" name="矩形 9"/>
          <p:cNvSpPr/>
          <p:nvPr/>
        </p:nvSpPr>
        <p:spPr>
          <a:xfrm>
            <a:off x="1002030" y="2583180"/>
            <a:ext cx="10518775" cy="645160"/>
          </a:xfrm>
          <a:prstGeom prst="rect">
            <a:avLst/>
          </a:prstGeom>
        </p:spPr>
        <p:txBody>
          <a:bodyPr wrap="square" anchor="ctr" anchorCtr="0">
            <a:spAutoFit/>
          </a:bodyPr>
          <a:lstStyle/>
          <a:p>
            <a:pPr algn="just">
              <a:spcAft>
                <a:spcPts val="600"/>
              </a:spcAft>
            </a:pPr>
            <a:r>
              <a:rPr lang="en-US" altLang="zh-CN" b="1" dirty="0"/>
              <a:t>2</a:t>
            </a:r>
            <a:r>
              <a:rPr lang="zh-CN" altLang="en-US" b="1" dirty="0"/>
              <a:t>）</a:t>
            </a:r>
            <a:r>
              <a:rPr lang="zh-CN" altLang="zh-CN" b="1" dirty="0"/>
              <a:t>在坐标输入框中输入矩形对角</a:t>
            </a:r>
            <a:r>
              <a:rPr lang="zh-CN" altLang="en-US" b="1" dirty="0"/>
              <a:t>顶</a:t>
            </a:r>
            <a:r>
              <a:rPr lang="zh-CN" altLang="zh-CN" b="1" dirty="0"/>
              <a:t>点的坐标，</a:t>
            </a:r>
            <a:r>
              <a:rPr lang="en-US" altLang="zh-CN" b="1" dirty="0" err="1"/>
              <a:t>dX</a:t>
            </a:r>
            <a:r>
              <a:rPr lang="en-US" altLang="zh-CN" b="1" dirty="0"/>
              <a:t>=40</a:t>
            </a:r>
            <a:r>
              <a:rPr lang="en-US" b="1" dirty="0"/>
              <a:t>.2</a:t>
            </a:r>
            <a:r>
              <a:rPr lang="zh-CN" altLang="zh-CN" b="1" dirty="0"/>
              <a:t>，</a:t>
            </a:r>
            <a:r>
              <a:rPr lang="en-US" altLang="zh-CN" b="1" dirty="0" err="1"/>
              <a:t>dY</a:t>
            </a:r>
            <a:r>
              <a:rPr lang="en-US" altLang="zh-CN" b="1" dirty="0"/>
              <a:t>=0.1</a:t>
            </a:r>
            <a:r>
              <a:rPr lang="zh-CN" altLang="zh-CN" b="1" dirty="0"/>
              <a:t>，</a:t>
            </a:r>
            <a:r>
              <a:rPr lang="en-US" altLang="zh-CN" b="1" dirty="0" err="1"/>
              <a:t>dZ</a:t>
            </a:r>
            <a:r>
              <a:rPr lang="en-US" altLang="zh-CN" b="1" dirty="0"/>
              <a:t>=0</a:t>
            </a:r>
            <a:r>
              <a:rPr lang="zh-CN" altLang="zh-CN" b="1" dirty="0"/>
              <a:t>，</a:t>
            </a:r>
            <a:r>
              <a:rPr lang="en-US" altLang="zh-CN" b="1" dirty="0" err="1"/>
              <a:t>单击Enter键确定</a:t>
            </a:r>
            <a:r>
              <a:rPr lang="zh-CN" altLang="en-US" b="1" dirty="0"/>
              <a:t>；</a:t>
            </a:r>
            <a:r>
              <a:rPr lang="en-US" altLang="zh-CN" b="1" dirty="0" err="1"/>
              <a:t>再次单击Enter键退出绘图模式</a:t>
            </a:r>
            <a:endParaRPr lang="en-US" altLang="zh-CN" b="1" dirty="0"/>
          </a:p>
        </p:txBody>
      </p:sp>
      <p:sp>
        <p:nvSpPr>
          <p:cNvPr id="11" name="矩形 10"/>
          <p:cNvSpPr/>
          <p:nvPr/>
        </p:nvSpPr>
        <p:spPr>
          <a:xfrm>
            <a:off x="1024255" y="3413760"/>
            <a:ext cx="9631045" cy="2138045"/>
          </a:xfrm>
          <a:prstGeom prst="rect">
            <a:avLst/>
          </a:prstGeom>
        </p:spPr>
        <p:txBody>
          <a:bodyPr wrap="square">
            <a:spAutoFit/>
          </a:bodyPr>
          <a:lstStyle/>
          <a:p>
            <a:pPr algn="just">
              <a:spcAft>
                <a:spcPts val="600"/>
              </a:spcAft>
            </a:pPr>
            <a:r>
              <a:rPr lang="en-US" altLang="zh-CN" b="1" kern="100" dirty="0">
                <a:ea typeface="宋体" panose="02010600030101010101" pitchFamily="2" charset="-122"/>
              </a:rPr>
              <a:t>5.</a:t>
            </a:r>
            <a:r>
              <a:rPr lang="zh-CN" altLang="zh-CN" b="1" kern="100" dirty="0">
                <a:ea typeface="宋体" panose="02010600030101010101" pitchFamily="2" charset="-122"/>
              </a:rPr>
              <a:t>绘制</a:t>
            </a:r>
            <a:r>
              <a:rPr lang="zh-CN" altLang="en-US" b="1" kern="100" dirty="0">
                <a:ea typeface="宋体" panose="02010600030101010101" pitchFamily="2" charset="-122"/>
              </a:rPr>
              <a:t>求解域。</a:t>
            </a:r>
          </a:p>
          <a:p>
            <a:pPr algn="just">
              <a:spcAft>
                <a:spcPts val="600"/>
              </a:spcAft>
            </a:pPr>
            <a:r>
              <a:rPr lang="en-US" altLang="zh-CN" b="1" kern="100" dirty="0">
                <a:ea typeface="宋体" panose="02010600030101010101" pitchFamily="2" charset="-122"/>
              </a:rPr>
              <a:t>1)</a:t>
            </a:r>
            <a:r>
              <a:rPr lang="zh-CN" altLang="zh-CN" b="1" kern="100" dirty="0">
                <a:ea typeface="宋体" panose="02010600030101010101" pitchFamily="2" charset="-122"/>
              </a:rPr>
              <a:t>菜单栏选择【</a:t>
            </a:r>
            <a:r>
              <a:rPr lang="en-US" altLang="zh-CN" b="1" kern="100" dirty="0">
                <a:ea typeface="宋体" panose="02010600030101010101" pitchFamily="2" charset="-122"/>
              </a:rPr>
              <a:t>Draw</a:t>
            </a:r>
            <a:r>
              <a:rPr lang="zh-CN" altLang="zh-CN" b="1" kern="100" dirty="0">
                <a:ea typeface="宋体" panose="02010600030101010101" pitchFamily="2" charset="-122"/>
              </a:rPr>
              <a:t>】</a:t>
            </a:r>
            <a:r>
              <a:rPr lang="en-US" altLang="zh-CN" b="1" kern="100" dirty="0">
                <a:ea typeface="宋体" panose="02010600030101010101" pitchFamily="2" charset="-122"/>
              </a:rPr>
              <a:t>|</a:t>
            </a:r>
            <a:r>
              <a:rPr lang="zh-CN" altLang="zh-CN" b="1" kern="100" dirty="0">
                <a:ea typeface="宋体" panose="02010600030101010101" pitchFamily="2" charset="-122"/>
              </a:rPr>
              <a:t>【</a:t>
            </a:r>
            <a:r>
              <a:rPr lang="en-US" altLang="zh-CN" b="1" kern="100" dirty="0">
                <a:ea typeface="宋体" panose="02010600030101010101" pitchFamily="2" charset="-122"/>
              </a:rPr>
              <a:t>Region</a:t>
            </a:r>
            <a:r>
              <a:rPr lang="zh-CN" altLang="zh-CN" b="1" kern="100" dirty="0">
                <a:ea typeface="宋体" panose="02010600030101010101" pitchFamily="2" charset="-122"/>
              </a:rPr>
              <a:t>】，打开</a:t>
            </a:r>
            <a:r>
              <a:rPr lang="en-US" altLang="zh-CN" b="1" kern="100" dirty="0">
                <a:ea typeface="宋体" panose="02010600030101010101" pitchFamily="2" charset="-122"/>
              </a:rPr>
              <a:t>Region</a:t>
            </a:r>
            <a:r>
              <a:rPr lang="zh-CN" altLang="zh-CN" b="1" kern="100" dirty="0">
                <a:ea typeface="宋体" panose="02010600030101010101" pitchFamily="2" charset="-122"/>
              </a:rPr>
              <a:t>窗口：</a:t>
            </a:r>
            <a:endParaRPr lang="en-US" altLang="zh-CN" b="1" kern="100" dirty="0">
              <a:ea typeface="宋体" panose="02010600030101010101" pitchFamily="2" charset="-122"/>
            </a:endParaRPr>
          </a:p>
          <a:p>
            <a:pPr marL="645795" indent="-285750" algn="just">
              <a:spcAft>
                <a:spcPts val="600"/>
              </a:spcAft>
              <a:buFont typeface="Wingdings" panose="05000000000000000000" charset="0"/>
              <a:buChar char="Ø"/>
            </a:pPr>
            <a:r>
              <a:rPr lang="en-US" altLang="zh-CN" b="1" kern="100" dirty="0">
                <a:ea typeface="宋体" panose="02010600030101010101" pitchFamily="2" charset="-122"/>
              </a:rPr>
              <a:t>Padding Data:“Pad all directions similarly”</a:t>
            </a:r>
            <a:r>
              <a:rPr lang="zh-CN" altLang="zh-CN" b="1" kern="100" dirty="0">
                <a:ea typeface="宋体" panose="02010600030101010101" pitchFamily="2" charset="-122"/>
              </a:rPr>
              <a:t>；</a:t>
            </a:r>
            <a:endParaRPr lang="en-US" altLang="zh-CN" b="1" kern="100" dirty="0">
              <a:ea typeface="宋体" panose="02010600030101010101" pitchFamily="2" charset="-122"/>
            </a:endParaRPr>
          </a:p>
          <a:p>
            <a:pPr marL="645795" indent="-285750" algn="just">
              <a:spcAft>
                <a:spcPts val="600"/>
              </a:spcAft>
              <a:buFont typeface="Wingdings" panose="05000000000000000000" charset="0"/>
              <a:buChar char="Ø"/>
            </a:pPr>
            <a:r>
              <a:rPr lang="en-US" altLang="zh-CN" b="1" kern="100" dirty="0">
                <a:ea typeface="宋体" panose="02010600030101010101" pitchFamily="2" charset="-122"/>
              </a:rPr>
              <a:t>Percentage Offset</a:t>
            </a:r>
            <a:r>
              <a:rPr lang="zh-CN" altLang="zh-CN" b="1" kern="100" dirty="0">
                <a:ea typeface="宋体" panose="02010600030101010101" pitchFamily="2" charset="-122"/>
              </a:rPr>
              <a:t>，</a:t>
            </a:r>
            <a:r>
              <a:rPr lang="en-US" altLang="zh-CN" b="1" kern="100" dirty="0">
                <a:ea typeface="宋体" panose="02010600030101010101" pitchFamily="2" charset="-122"/>
              </a:rPr>
              <a:t>Value:100</a:t>
            </a:r>
            <a:r>
              <a:rPr lang="zh-CN" altLang="zh-CN" b="1" kern="100" dirty="0">
                <a:ea typeface="宋体" panose="02010600030101010101" pitchFamily="2" charset="-122"/>
              </a:rPr>
              <a:t>；</a:t>
            </a:r>
            <a:endParaRPr lang="en-US" altLang="zh-CN" b="1" kern="100" dirty="0">
              <a:ea typeface="宋体" panose="02010600030101010101" pitchFamily="2" charset="-122"/>
            </a:endParaRPr>
          </a:p>
          <a:p>
            <a:pPr marL="645795" indent="-285750" algn="just">
              <a:spcAft>
                <a:spcPts val="600"/>
              </a:spcAft>
              <a:buFont typeface="Wingdings" panose="05000000000000000000" charset="0"/>
              <a:buChar char="Ø"/>
            </a:pPr>
            <a:r>
              <a:rPr lang="zh-CN" altLang="zh-CN" b="1" kern="100" dirty="0">
                <a:ea typeface="宋体" panose="02010600030101010101" pitchFamily="2" charset="-122"/>
              </a:rPr>
              <a:t>单击【</a:t>
            </a:r>
            <a:r>
              <a:rPr lang="en-US" altLang="zh-CN" b="1" kern="100" dirty="0">
                <a:ea typeface="宋体" panose="02010600030101010101" pitchFamily="2" charset="-122"/>
              </a:rPr>
              <a:t>OK</a:t>
            </a:r>
            <a:r>
              <a:rPr lang="zh-CN" altLang="zh-CN" b="1" kern="100" dirty="0">
                <a:ea typeface="宋体" panose="02010600030101010101" pitchFamily="2" charset="-122"/>
              </a:rPr>
              <a:t>】。</a:t>
            </a:r>
            <a:endParaRPr lang="zh-CN" altLang="zh-CN" sz="2400" b="1" kern="100" dirty="0">
              <a:ea typeface="宋体" panose="02010600030101010101" pitchFamily="2" charset="-122"/>
            </a:endParaRPr>
          </a:p>
          <a:p>
            <a:pPr algn="just">
              <a:spcAft>
                <a:spcPts val="600"/>
              </a:spcAft>
            </a:pPr>
            <a:endParaRPr lang="en-US" altLang="zh-CN" kern="100" dirty="0">
              <a:latin typeface="Times New Roman" panose="02020603050405020304" pitchFamily="18" charset="0"/>
              <a:ea typeface="宋体" panose="02010600030101010101" pitchFamily="2" charset="-122"/>
            </a:endParaRPr>
          </a:p>
        </p:txBody>
      </p:sp>
      <p:pic>
        <p:nvPicPr>
          <p:cNvPr id="12" name="图片 11"/>
          <p:cNvPicPr>
            <a:picLocks noChangeAspect="1"/>
          </p:cNvPicPr>
          <p:nvPr/>
        </p:nvPicPr>
        <p:blipFill>
          <a:blip r:embed="rId2"/>
          <a:stretch>
            <a:fillRect/>
          </a:stretch>
        </p:blipFill>
        <p:spPr>
          <a:xfrm>
            <a:off x="7745095" y="3230880"/>
            <a:ext cx="3800475" cy="3438525"/>
          </a:xfrm>
          <a:prstGeom prst="rect">
            <a:avLst/>
          </a:prstGeom>
        </p:spPr>
      </p:pic>
      <p:sp>
        <p:nvSpPr>
          <p:cNvPr id="13" name="文本框 12"/>
          <p:cNvSpPr txBox="1"/>
          <p:nvPr/>
        </p:nvSpPr>
        <p:spPr>
          <a:xfrm>
            <a:off x="1057910" y="5253990"/>
            <a:ext cx="6252210" cy="1337945"/>
          </a:xfrm>
          <a:prstGeom prst="rect">
            <a:avLst/>
          </a:prstGeom>
          <a:noFill/>
        </p:spPr>
        <p:txBody>
          <a:bodyPr wrap="square" rtlCol="0" anchor="t">
            <a:spAutoFit/>
          </a:bodyPr>
          <a:lstStyle/>
          <a:p>
            <a:pPr algn="just">
              <a:lnSpc>
                <a:spcPct val="150000"/>
              </a:lnSpc>
              <a:spcAft>
                <a:spcPts val="0"/>
              </a:spcAft>
            </a:pPr>
            <a:r>
              <a:rPr lang="en-US" b="1" kern="100" dirty="0">
                <a:ea typeface="宋体" panose="02010600030101010101" pitchFamily="2" charset="-122"/>
                <a:sym typeface="+mn-ea"/>
              </a:rPr>
              <a:t>6.</a:t>
            </a:r>
            <a:r>
              <a:rPr lang="zh-CN" altLang="zh-CN" b="1" kern="100" dirty="0">
                <a:ea typeface="宋体" panose="02010600030101010101" pitchFamily="2" charset="-122"/>
                <a:sym typeface="+mn-ea"/>
              </a:rPr>
              <a:t>菜单栏选择【</a:t>
            </a:r>
            <a:r>
              <a:rPr lang="en-US" altLang="zh-CN" b="1" kern="100" dirty="0">
                <a:ea typeface="宋体" panose="02010600030101010101" pitchFamily="2" charset="-122"/>
                <a:sym typeface="+mn-ea"/>
              </a:rPr>
              <a:t>View</a:t>
            </a:r>
            <a:r>
              <a:rPr lang="zh-CN" altLang="zh-CN" b="1" kern="100" dirty="0">
                <a:ea typeface="宋体" panose="02010600030101010101" pitchFamily="2" charset="-122"/>
                <a:sym typeface="+mn-ea"/>
              </a:rPr>
              <a:t>】</a:t>
            </a:r>
            <a:r>
              <a:rPr lang="en-US" altLang="zh-CN" b="1" kern="100" dirty="0">
                <a:ea typeface="宋体" panose="02010600030101010101" pitchFamily="2" charset="-122"/>
                <a:sym typeface="+mn-ea"/>
              </a:rPr>
              <a:t>|</a:t>
            </a:r>
            <a:r>
              <a:rPr lang="zh-CN" altLang="zh-CN" b="1" kern="100" dirty="0">
                <a:ea typeface="宋体" panose="02010600030101010101" pitchFamily="2" charset="-122"/>
                <a:sym typeface="+mn-ea"/>
              </a:rPr>
              <a:t>【</a:t>
            </a:r>
            <a:r>
              <a:rPr lang="en-US" altLang="zh-CN" b="1" kern="100" dirty="0">
                <a:ea typeface="宋体" panose="02010600030101010101" pitchFamily="2" charset="-122"/>
                <a:sym typeface="+mn-ea"/>
              </a:rPr>
              <a:t>Fit All</a:t>
            </a:r>
            <a:r>
              <a:rPr lang="zh-CN" altLang="zh-CN" b="1" kern="100" dirty="0">
                <a:ea typeface="宋体" panose="02010600030101010101" pitchFamily="2" charset="-122"/>
                <a:sym typeface="+mn-ea"/>
              </a:rPr>
              <a:t>】</a:t>
            </a:r>
            <a:r>
              <a:rPr lang="en-US" altLang="zh-CN" b="1" kern="100" dirty="0">
                <a:ea typeface="宋体" panose="02010600030101010101" pitchFamily="2" charset="-122"/>
                <a:sym typeface="+mn-ea"/>
              </a:rPr>
              <a:t>|</a:t>
            </a:r>
            <a:r>
              <a:rPr lang="zh-CN" altLang="zh-CN" b="1" kern="100" dirty="0">
                <a:ea typeface="宋体" panose="02010600030101010101" pitchFamily="2" charset="-122"/>
                <a:sym typeface="+mn-ea"/>
              </a:rPr>
              <a:t>【</a:t>
            </a:r>
            <a:r>
              <a:rPr lang="en-US" altLang="zh-CN" b="1" kern="100" dirty="0">
                <a:ea typeface="宋体" panose="02010600030101010101" pitchFamily="2" charset="-122"/>
                <a:sym typeface="+mn-ea"/>
              </a:rPr>
              <a:t>All Views</a:t>
            </a:r>
            <a:r>
              <a:rPr lang="zh-CN" altLang="zh-CN" b="1" kern="100" dirty="0">
                <a:ea typeface="宋体" panose="02010600030101010101" pitchFamily="2" charset="-122"/>
                <a:sym typeface="+mn-ea"/>
              </a:rPr>
              <a:t>】，可使整个模型显示在屏幕内，菜单栏选择【</a:t>
            </a:r>
            <a:r>
              <a:rPr lang="en-US" altLang="zh-CN" b="1" kern="100" dirty="0">
                <a:ea typeface="宋体" panose="02010600030101010101" pitchFamily="2" charset="-122"/>
                <a:sym typeface="+mn-ea"/>
              </a:rPr>
              <a:t>File</a:t>
            </a:r>
            <a:r>
              <a:rPr lang="zh-CN" altLang="zh-CN" b="1" kern="100" dirty="0">
                <a:ea typeface="宋体" panose="02010600030101010101" pitchFamily="2" charset="-122"/>
                <a:sym typeface="+mn-ea"/>
              </a:rPr>
              <a:t>】</a:t>
            </a:r>
            <a:r>
              <a:rPr lang="en-US" altLang="zh-CN" b="1" kern="100" dirty="0">
                <a:ea typeface="宋体" panose="02010600030101010101" pitchFamily="2" charset="-122"/>
                <a:sym typeface="+mn-ea"/>
              </a:rPr>
              <a:t>|</a:t>
            </a:r>
            <a:r>
              <a:rPr lang="zh-CN" altLang="zh-CN" b="1" kern="100" dirty="0">
                <a:ea typeface="宋体" panose="02010600030101010101" pitchFamily="2" charset="-122"/>
                <a:sym typeface="+mn-ea"/>
              </a:rPr>
              <a:t>【</a:t>
            </a:r>
            <a:r>
              <a:rPr lang="en-US" altLang="zh-CN" b="1" kern="100" dirty="0">
                <a:ea typeface="宋体" panose="02010600030101010101" pitchFamily="2" charset="-122"/>
                <a:sym typeface="+mn-ea"/>
              </a:rPr>
              <a:t>Save</a:t>
            </a:r>
            <a:r>
              <a:rPr lang="zh-CN" altLang="zh-CN" b="1" kern="100" dirty="0">
                <a:ea typeface="宋体" panose="02010600030101010101" pitchFamily="2" charset="-122"/>
                <a:sym typeface="+mn-ea"/>
              </a:rPr>
              <a:t>】，保存绘制的模型。</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430395" y="2747645"/>
            <a:ext cx="8640000" cy="4320000"/>
          </a:xfrm>
          <a:prstGeom prst="rect">
            <a:avLst/>
          </a:prstGeom>
        </p:spPr>
      </p:pic>
      <p:pic>
        <p:nvPicPr>
          <p:cNvPr id="3" name="图片 2" descr="PWLL`Y%~A138V2}5AY6ZW)P"/>
          <p:cNvPicPr>
            <a:picLocks noChangeAspect="1"/>
          </p:cNvPicPr>
          <p:nvPr/>
        </p:nvPicPr>
        <p:blipFill>
          <a:blip r:embed="rId3"/>
          <a:stretch>
            <a:fillRect/>
          </a:stretch>
        </p:blipFill>
        <p:spPr>
          <a:xfrm>
            <a:off x="629285" y="2747645"/>
            <a:ext cx="3444875" cy="3826510"/>
          </a:xfrm>
          <a:prstGeom prst="rect">
            <a:avLst/>
          </a:prstGeom>
        </p:spPr>
      </p:pic>
      <p:sp>
        <p:nvSpPr>
          <p:cNvPr id="2" name="矩形 1"/>
          <p:cNvSpPr/>
          <p:nvPr/>
        </p:nvSpPr>
        <p:spPr>
          <a:xfrm>
            <a:off x="476216" y="1085124"/>
            <a:ext cx="10991884" cy="2011045"/>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6. </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修改属性，设置材料。</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0000"/>
              </a:lnSpc>
              <a:spcAft>
                <a:spcPts val="600"/>
              </a:spcAft>
            </a:pPr>
            <a:r>
              <a:rPr lang="en-US" altLang="zh-CN" b="1" kern="100" dirty="0">
                <a:latin typeface="+mn-ea"/>
              </a:rPr>
              <a:t>1.</a:t>
            </a:r>
            <a:r>
              <a:rPr lang="zh-CN" altLang="en-US" b="1" kern="100" dirty="0">
                <a:latin typeface="+mn-ea"/>
              </a:rPr>
              <a:t>在工程树栏，双击矩形模型</a:t>
            </a:r>
            <a:r>
              <a:rPr lang="en-US" altLang="zh-CN" b="1" kern="100" dirty="0">
                <a:latin typeface="+mn-ea"/>
              </a:rPr>
              <a:t>Rectangle1</a:t>
            </a:r>
            <a:r>
              <a:rPr lang="zh-CN" altLang="en-US" b="1" kern="100" dirty="0">
                <a:latin typeface="+mn-ea"/>
              </a:rPr>
              <a:t>，打开</a:t>
            </a:r>
            <a:r>
              <a:rPr lang="en-US" altLang="zh-CN" b="1" kern="100" dirty="0">
                <a:latin typeface="+mn-ea"/>
              </a:rPr>
              <a:t>Properties</a:t>
            </a:r>
            <a:r>
              <a:rPr lang="zh-CN" altLang="en-US" b="1" kern="100" dirty="0">
                <a:latin typeface="+mn-ea"/>
              </a:rPr>
              <a:t>窗口：</a:t>
            </a:r>
            <a:endParaRPr lang="en-US" altLang="zh-CN" b="1" kern="100" dirty="0">
              <a:latin typeface="+mn-ea"/>
            </a:endParaRPr>
          </a:p>
          <a:p>
            <a:pPr marL="285750" indent="-285750" algn="just">
              <a:lnSpc>
                <a:spcPct val="120000"/>
              </a:lnSpc>
              <a:spcAft>
                <a:spcPts val="600"/>
              </a:spcAft>
              <a:buFont typeface="Wingdings" panose="05000000000000000000" charset="0"/>
              <a:buChar char="Ø"/>
            </a:pPr>
            <a:r>
              <a:rPr lang="zh-CN" altLang="en-US" b="1" kern="100" dirty="0">
                <a:latin typeface="+mn-ea"/>
              </a:rPr>
              <a:t>修改名称属性。将【</a:t>
            </a:r>
            <a:r>
              <a:rPr lang="en-US" altLang="zh-CN" b="1" kern="100" dirty="0">
                <a:latin typeface="+mn-ea"/>
              </a:rPr>
              <a:t>Name</a:t>
            </a:r>
            <a:r>
              <a:rPr lang="zh-CN" altLang="en-US" b="1" kern="100" dirty="0">
                <a:latin typeface="+mn-ea"/>
              </a:rPr>
              <a:t>】属性修改为</a:t>
            </a:r>
            <a:r>
              <a:rPr lang="en-US" altLang="zh-CN" b="1" kern="100" dirty="0">
                <a:latin typeface="+mn-ea"/>
              </a:rPr>
              <a:t>“</a:t>
            </a:r>
            <a:r>
              <a:rPr lang="en-US" altLang="zh-CN" b="1" kern="100" dirty="0">
                <a:latin typeface="+mn-ea"/>
                <a:sym typeface="+mn-ea"/>
              </a:rPr>
              <a:t>juxingcao”</a:t>
            </a:r>
            <a:r>
              <a:rPr lang="zh-CN" altLang="en-US" b="1" kern="100" dirty="0">
                <a:latin typeface="+mn-ea"/>
              </a:rPr>
              <a:t>；</a:t>
            </a:r>
            <a:endParaRPr lang="en-US" altLang="zh-CN" b="1" kern="100" dirty="0">
              <a:latin typeface="+mn-ea"/>
            </a:endParaRPr>
          </a:p>
          <a:p>
            <a:pPr marL="285750" indent="-285750" algn="just">
              <a:lnSpc>
                <a:spcPct val="120000"/>
              </a:lnSpc>
              <a:spcAft>
                <a:spcPts val="600"/>
              </a:spcAft>
              <a:buFont typeface="Wingdings" panose="05000000000000000000" charset="0"/>
              <a:buChar char="Ø"/>
            </a:pPr>
            <a:r>
              <a:rPr lang="zh-CN" altLang="en-US" b="1" kern="100" dirty="0">
                <a:latin typeface="+mn-ea"/>
              </a:rPr>
              <a:t>修改颜色属性。将【</a:t>
            </a:r>
            <a:r>
              <a:rPr lang="en-US" altLang="zh-CN" b="1" kern="100" dirty="0">
                <a:latin typeface="+mn-ea"/>
              </a:rPr>
              <a:t>Color</a:t>
            </a:r>
            <a:r>
              <a:rPr lang="zh-CN" altLang="en-US" b="1" kern="100" dirty="0">
                <a:latin typeface="+mn-ea"/>
              </a:rPr>
              <a:t>】属性，打开颜色窗口，选择需要的颜色，单击【</a:t>
            </a:r>
            <a:r>
              <a:rPr lang="en-US" altLang="zh-CN" b="1" kern="100" dirty="0">
                <a:latin typeface="+mn-ea"/>
              </a:rPr>
              <a:t>OK</a:t>
            </a:r>
            <a:r>
              <a:rPr lang="zh-CN" altLang="en-US" b="1" kern="100" dirty="0">
                <a:latin typeface="+mn-ea"/>
              </a:rPr>
              <a:t>】</a:t>
            </a:r>
            <a:r>
              <a:rPr lang="zh-CN" altLang="zh-CN" b="1" kern="100" dirty="0">
                <a:latin typeface="+mn-ea"/>
              </a:rPr>
              <a:t>。</a:t>
            </a:r>
          </a:p>
          <a:p>
            <a:pPr algn="just">
              <a:spcAft>
                <a:spcPts val="600"/>
              </a:spcAft>
            </a:pPr>
            <a:endParaRPr lang="zh-CN" altLang="zh-CN" sz="2000" b="1" kern="100" dirty="0">
              <a:latin typeface="宋体" panose="02010600030101010101" pitchFamily="2" charset="-122"/>
              <a:ea typeface="宋体" panose="02010600030101010101" pitchFamily="2" charset="-122"/>
            </a:endParaRPr>
          </a:p>
        </p:txBody>
      </p:sp>
      <p:sp>
        <p:nvSpPr>
          <p:cNvPr id="4"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34</a:t>
            </a:fld>
            <a:endParaRPr lang="id-ID" sz="1200" dirty="0"/>
          </a:p>
        </p:txBody>
      </p:sp>
      <p:sp>
        <p:nvSpPr>
          <p:cNvPr id="11" name="圆角矩形 12"/>
          <p:cNvSpPr/>
          <p:nvPr/>
        </p:nvSpPr>
        <p:spPr>
          <a:xfrm>
            <a:off x="6111240" y="3742055"/>
            <a:ext cx="793115" cy="33083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p:cNvSpPr/>
          <p:nvPr/>
        </p:nvSpPr>
        <p:spPr>
          <a:xfrm>
            <a:off x="7535174" y="2966715"/>
            <a:ext cx="3478364" cy="454762"/>
          </a:xfrm>
          <a:prstGeom prst="roundRect">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将名称改为：</a:t>
            </a:r>
            <a:r>
              <a:rPr lang="en-US" altLang="zh-CN" sz="2400" dirty="0">
                <a:solidFill>
                  <a:schemeClr val="tx1"/>
                </a:solidFill>
              </a:rPr>
              <a:t>juxing</a:t>
            </a:r>
            <a:r>
              <a:rPr lang="en-US" altLang="zh-CN" sz="2400" dirty="0" err="1">
                <a:solidFill>
                  <a:schemeClr val="tx1"/>
                </a:solidFill>
              </a:rPr>
              <a:t>cao</a:t>
            </a:r>
            <a:endParaRPr lang="zh-CN" altLang="en-US" sz="2400" dirty="0">
              <a:solidFill>
                <a:schemeClr val="tx1"/>
              </a:solidFill>
            </a:endParaRPr>
          </a:p>
        </p:txBody>
      </p:sp>
      <p:cxnSp>
        <p:nvCxnSpPr>
          <p:cNvPr id="14" name="直接箭头连接符 13"/>
          <p:cNvCxnSpPr/>
          <p:nvPr/>
        </p:nvCxnSpPr>
        <p:spPr>
          <a:xfrm flipV="1">
            <a:off x="6850760" y="3288066"/>
            <a:ext cx="683643" cy="45379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819656" y="5611511"/>
            <a:ext cx="552412" cy="326773"/>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圆角矩形 29"/>
          <p:cNvSpPr/>
          <p:nvPr/>
        </p:nvSpPr>
        <p:spPr>
          <a:xfrm>
            <a:off x="6400165" y="5742940"/>
            <a:ext cx="2245995" cy="494030"/>
          </a:xfrm>
          <a:prstGeom prst="roundRect">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修改模型颜色</a:t>
            </a:r>
          </a:p>
        </p:txBody>
      </p:sp>
      <p:sp>
        <p:nvSpPr>
          <p:cNvPr id="17" name="圆角矩形 6"/>
          <p:cNvSpPr/>
          <p:nvPr/>
        </p:nvSpPr>
        <p:spPr>
          <a:xfrm>
            <a:off x="1639570" y="5049520"/>
            <a:ext cx="2243455" cy="767080"/>
          </a:xfrm>
          <a:prstGeom prst="roundRect">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工程树栏双击</a:t>
            </a:r>
            <a:r>
              <a:rPr lang="en-US" altLang="zh-CN" sz="2400" dirty="0">
                <a:solidFill>
                  <a:schemeClr val="tx1"/>
                </a:solidFill>
              </a:rPr>
              <a:t>Rectangle1</a:t>
            </a:r>
            <a:endParaRPr lang="zh-CN" altLang="en-US" sz="2400" dirty="0">
              <a:solidFill>
                <a:schemeClr val="tx1"/>
              </a:solidFill>
            </a:endParaRPr>
          </a:p>
        </p:txBody>
      </p:sp>
      <p:sp>
        <p:nvSpPr>
          <p:cNvPr id="9" name="圆角矩形 12"/>
          <p:cNvSpPr/>
          <p:nvPr/>
        </p:nvSpPr>
        <p:spPr>
          <a:xfrm>
            <a:off x="5170170" y="5398770"/>
            <a:ext cx="793115" cy="33083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871845" y="1182370"/>
            <a:ext cx="7562850" cy="4848225"/>
          </a:xfrm>
          <a:prstGeom prst="rect">
            <a:avLst/>
          </a:prstGeom>
        </p:spPr>
      </p:pic>
      <p:sp>
        <p:nvSpPr>
          <p:cNvPr id="2" name="矩形 1"/>
          <p:cNvSpPr/>
          <p:nvPr/>
        </p:nvSpPr>
        <p:spPr>
          <a:xfrm>
            <a:off x="527261" y="1290279"/>
            <a:ext cx="4639927" cy="3553460"/>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6. </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修改属性，设置材料。</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spcAft>
                <a:spcPts val="600"/>
              </a:spcAft>
              <a:buFont typeface="Wingdings" panose="05000000000000000000" charset="0"/>
              <a:buChar char="Ø"/>
            </a:pPr>
            <a:r>
              <a:rPr lang="zh-CN" altLang="en-US" sz="2000" b="1" kern="100" dirty="0">
                <a:latin typeface="+mn-ea"/>
                <a:sym typeface="+mn-ea"/>
              </a:rPr>
              <a:t>修改材料属性。单击</a:t>
            </a:r>
            <a:r>
              <a:rPr lang="en-US" altLang="zh-CN" sz="2000" b="1" kern="100" dirty="0">
                <a:latin typeface="+mn-ea"/>
                <a:sym typeface="+mn-ea"/>
              </a:rPr>
              <a:t>Properties</a:t>
            </a:r>
            <a:r>
              <a:rPr lang="zh-CN" altLang="en-US" sz="2000" b="1" kern="100" dirty="0">
                <a:latin typeface="+mn-ea"/>
                <a:sym typeface="+mn-ea"/>
              </a:rPr>
              <a:t>窗口中【</a:t>
            </a:r>
            <a:r>
              <a:rPr lang="en-US" altLang="zh-CN" sz="2000" b="1" kern="100" dirty="0">
                <a:latin typeface="+mn-ea"/>
                <a:sym typeface="+mn-ea"/>
              </a:rPr>
              <a:t>Material</a:t>
            </a:r>
            <a:r>
              <a:rPr lang="zh-CN" altLang="en-US" sz="2000" b="1" kern="100" dirty="0">
                <a:latin typeface="+mn-ea"/>
                <a:sym typeface="+mn-ea"/>
              </a:rPr>
              <a:t>】右侧下拉列表，选择【</a:t>
            </a:r>
            <a:r>
              <a:rPr lang="en-US" altLang="zh-CN" sz="2000" b="1" kern="100" dirty="0">
                <a:latin typeface="+mn-ea"/>
                <a:sym typeface="+mn-ea"/>
              </a:rPr>
              <a:t>Edit</a:t>
            </a:r>
            <a:r>
              <a:rPr lang="zh-CN" altLang="en-US" sz="2000" b="1" kern="100" dirty="0">
                <a:latin typeface="+mn-ea"/>
                <a:sym typeface="+mn-ea"/>
              </a:rPr>
              <a:t>】，打开</a:t>
            </a:r>
            <a:r>
              <a:rPr lang="en-US" altLang="zh-CN" sz="2000" b="1" kern="100" dirty="0">
                <a:latin typeface="+mn-ea"/>
                <a:sym typeface="+mn-ea"/>
              </a:rPr>
              <a:t>Select Definition</a:t>
            </a:r>
            <a:r>
              <a:rPr lang="zh-CN" altLang="en-US" sz="2000" b="1" kern="100" dirty="0">
                <a:latin typeface="+mn-ea"/>
                <a:sym typeface="+mn-ea"/>
              </a:rPr>
              <a:t>对话框；</a:t>
            </a:r>
            <a:endParaRPr lang="en-US" altLang="zh-CN" sz="2000" b="1" kern="100" dirty="0">
              <a:latin typeface="+mn-ea"/>
              <a:sym typeface="+mn-ea"/>
            </a:endParaRPr>
          </a:p>
          <a:p>
            <a:pPr marL="342900" indent="-342900" algn="just">
              <a:spcAft>
                <a:spcPts val="600"/>
              </a:spcAft>
              <a:buFont typeface="Wingdings" panose="05000000000000000000" charset="0"/>
              <a:buChar char="Ø"/>
            </a:pPr>
            <a:r>
              <a:rPr lang="zh-CN" altLang="en-US" sz="2000" b="1" kern="100" dirty="0">
                <a:latin typeface="+mn-ea"/>
                <a:sym typeface="+mn-ea"/>
              </a:rPr>
              <a:t>在</a:t>
            </a:r>
            <a:r>
              <a:rPr lang="en-US" altLang="zh-CN" sz="2000" b="1" kern="100" dirty="0">
                <a:latin typeface="+mn-ea"/>
                <a:sym typeface="+mn-ea"/>
              </a:rPr>
              <a:t>Search by name</a:t>
            </a:r>
            <a:r>
              <a:rPr lang="zh-CN" altLang="en-US" sz="2000" b="1" kern="100" dirty="0">
                <a:latin typeface="+mn-ea"/>
                <a:sym typeface="+mn-ea"/>
              </a:rPr>
              <a:t>栏中输入</a:t>
            </a:r>
            <a:r>
              <a:rPr lang="en-US" altLang="zh-CN" sz="2000" b="1" kern="100" dirty="0">
                <a:latin typeface="+mn-ea"/>
                <a:sym typeface="+mn-ea"/>
              </a:rPr>
              <a:t>“copper”</a:t>
            </a:r>
            <a:r>
              <a:rPr lang="zh-CN" altLang="en-US" sz="2000" b="1" kern="100" dirty="0">
                <a:latin typeface="+mn-ea"/>
                <a:sym typeface="+mn-ea"/>
              </a:rPr>
              <a:t>；</a:t>
            </a:r>
          </a:p>
          <a:p>
            <a:pPr marL="342900" indent="-342900" algn="just">
              <a:spcAft>
                <a:spcPts val="600"/>
              </a:spcAft>
              <a:buFont typeface="Wingdings" panose="05000000000000000000" charset="0"/>
              <a:buChar char="Ø"/>
            </a:pPr>
            <a:r>
              <a:rPr lang="zh-CN" altLang="en-US" sz="2000" b="1" kern="100" dirty="0">
                <a:latin typeface="+mn-ea"/>
                <a:sym typeface="+mn-ea"/>
              </a:rPr>
              <a:t>单击【</a:t>
            </a:r>
            <a:r>
              <a:rPr lang="en-US" altLang="zh-CN" sz="2000" b="1" kern="100" dirty="0">
                <a:latin typeface="+mn-ea"/>
                <a:sym typeface="+mn-ea"/>
              </a:rPr>
              <a:t>OK</a:t>
            </a:r>
            <a:r>
              <a:rPr lang="zh-CN" altLang="en-US" sz="2000" b="1" kern="100" dirty="0">
                <a:latin typeface="+mn-ea"/>
                <a:sym typeface="+mn-ea"/>
              </a:rPr>
              <a:t>】，将金属槽材料设置为铜。</a:t>
            </a:r>
            <a:endParaRPr lang="zh-CN" altLang="zh-CN" sz="2000" b="1" kern="100" dirty="0">
              <a:latin typeface="+mn-ea"/>
            </a:endParaRPr>
          </a:p>
          <a:p>
            <a:pPr algn="just">
              <a:spcAft>
                <a:spcPts val="600"/>
              </a:spcAft>
            </a:pPr>
            <a:endParaRPr lang="zh-CN" altLang="zh-CN" sz="2000" b="1" kern="100" dirty="0">
              <a:latin typeface="+mn-ea"/>
            </a:endParaRPr>
          </a:p>
          <a:p>
            <a:pPr algn="just">
              <a:spcAft>
                <a:spcPts val="600"/>
              </a:spcAft>
            </a:pPr>
            <a:endParaRPr lang="zh-CN" altLang="zh-CN" sz="2000" b="1" kern="100" dirty="0">
              <a:latin typeface="宋体" panose="02010600030101010101" pitchFamily="2" charset="-122"/>
              <a:ea typeface="宋体" panose="02010600030101010101" pitchFamily="2" charset="-122"/>
            </a:endParaRPr>
          </a:p>
        </p:txBody>
      </p:sp>
      <p:sp>
        <p:nvSpPr>
          <p:cNvPr id="4"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35</a:t>
            </a:fld>
            <a:endParaRPr lang="id-ID" sz="1200" dirty="0"/>
          </a:p>
        </p:txBody>
      </p:sp>
      <p:sp>
        <p:nvSpPr>
          <p:cNvPr id="9" name="右箭头 6"/>
          <p:cNvSpPr/>
          <p:nvPr/>
        </p:nvSpPr>
        <p:spPr>
          <a:xfrm rot="10800000">
            <a:off x="6895847" y="2103926"/>
            <a:ext cx="453688" cy="21286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7"/>
          <p:cNvSpPr/>
          <p:nvPr/>
        </p:nvSpPr>
        <p:spPr>
          <a:xfrm>
            <a:off x="7759114" y="1614435"/>
            <a:ext cx="2527538" cy="1191004"/>
          </a:xfrm>
          <a:prstGeom prst="roundRect">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若已知材料名称，可在查找栏输入材料名称查找</a:t>
            </a:r>
          </a:p>
        </p:txBody>
      </p:sp>
      <p:sp>
        <p:nvSpPr>
          <p:cNvPr id="12" name="圆角矩形 9"/>
          <p:cNvSpPr/>
          <p:nvPr/>
        </p:nvSpPr>
        <p:spPr>
          <a:xfrm>
            <a:off x="10614857" y="4688471"/>
            <a:ext cx="1543049" cy="503254"/>
          </a:xfrm>
          <a:prstGeom prst="roundRect">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单击确定</a:t>
            </a:r>
          </a:p>
        </p:txBody>
      </p:sp>
      <p:sp>
        <p:nvSpPr>
          <p:cNvPr id="13" name="右箭头 10"/>
          <p:cNvSpPr/>
          <p:nvPr/>
        </p:nvSpPr>
        <p:spPr>
          <a:xfrm rot="5400000">
            <a:off x="11173255" y="5340301"/>
            <a:ext cx="453688" cy="21286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7050" y="1042035"/>
            <a:ext cx="9763125" cy="4246245"/>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6. </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修改属性，设置材料。</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0" algn="just">
              <a:spcAft>
                <a:spcPts val="600"/>
              </a:spcAft>
              <a:buFont typeface="Wingdings" panose="05000000000000000000" charset="0"/>
              <a:buNone/>
            </a:pPr>
            <a:r>
              <a:rPr lang="en-US" altLang="zh-CN" sz="2000" b="1" kern="100" dirty="0">
                <a:latin typeface="+mn-ea"/>
              </a:rPr>
              <a:t>2.</a:t>
            </a:r>
            <a:r>
              <a:rPr lang="zh-CN" altLang="en-US" sz="2000" b="1" kern="100" dirty="0">
                <a:latin typeface="+mn-ea"/>
              </a:rPr>
              <a:t>在工程树栏，双击模型</a:t>
            </a:r>
            <a:r>
              <a:rPr lang="en-US" altLang="zh-CN" sz="2000" b="1" kern="100" dirty="0">
                <a:latin typeface="+mn-ea"/>
              </a:rPr>
              <a:t>Rectangle3</a:t>
            </a:r>
            <a:r>
              <a:rPr lang="zh-CN" altLang="en-US" sz="2000" b="1" kern="100" dirty="0">
                <a:latin typeface="+mn-ea"/>
              </a:rPr>
              <a:t>，打开</a:t>
            </a:r>
            <a:r>
              <a:rPr lang="en-US" altLang="zh-CN" sz="2000" b="1" kern="100" dirty="0">
                <a:latin typeface="+mn-ea"/>
                <a:sym typeface="+mn-ea"/>
              </a:rPr>
              <a:t>Properties</a:t>
            </a:r>
            <a:r>
              <a:rPr lang="zh-CN" altLang="en-US" sz="2000" b="1" kern="100" dirty="0">
                <a:latin typeface="+mn-ea"/>
                <a:sym typeface="+mn-ea"/>
              </a:rPr>
              <a:t>窗口：</a:t>
            </a:r>
          </a:p>
          <a:p>
            <a:pPr marL="342900" indent="-342900" algn="just">
              <a:spcAft>
                <a:spcPts val="600"/>
              </a:spcAft>
              <a:buFont typeface="Wingdings" panose="05000000000000000000" charset="0"/>
              <a:buChar char="Ø"/>
            </a:pPr>
            <a:r>
              <a:rPr lang="zh-CN" altLang="en-US" sz="2000" b="1" kern="100" dirty="0">
                <a:latin typeface="+mn-ea"/>
                <a:sym typeface="+mn-ea"/>
              </a:rPr>
              <a:t>修改名称属性，将【</a:t>
            </a:r>
            <a:r>
              <a:rPr lang="en-US" altLang="zh-CN" sz="2000" b="1" kern="100" dirty="0">
                <a:latin typeface="+mn-ea"/>
                <a:sym typeface="+mn-ea"/>
              </a:rPr>
              <a:t>Name</a:t>
            </a:r>
            <a:r>
              <a:rPr lang="zh-CN" altLang="en-US" sz="2000" b="1" kern="100" dirty="0">
                <a:latin typeface="+mn-ea"/>
                <a:sym typeface="+mn-ea"/>
              </a:rPr>
              <a:t>】属性修改为</a:t>
            </a:r>
            <a:r>
              <a:rPr lang="en-US" altLang="zh-CN" sz="2000" b="1" kern="100" dirty="0">
                <a:latin typeface="+mn-ea"/>
                <a:sym typeface="+mn-ea"/>
              </a:rPr>
              <a:t>“UPplate”</a:t>
            </a:r>
            <a:r>
              <a:rPr lang="zh-CN" altLang="en-US" sz="2000" b="1" kern="100" dirty="0">
                <a:latin typeface="+mn-ea"/>
                <a:sym typeface="+mn-ea"/>
              </a:rPr>
              <a:t>；</a:t>
            </a:r>
          </a:p>
          <a:p>
            <a:pPr marL="342900" indent="-342900" algn="just">
              <a:spcAft>
                <a:spcPts val="600"/>
              </a:spcAft>
              <a:buFont typeface="Wingdings" panose="05000000000000000000" charset="0"/>
              <a:buChar char="Ø"/>
            </a:pPr>
            <a:r>
              <a:rPr lang="zh-CN" altLang="en-US" sz="2000" b="1" kern="100" dirty="0">
                <a:latin typeface="+mn-ea"/>
                <a:sym typeface="+mn-ea"/>
              </a:rPr>
              <a:t>修改颜色属性。将【</a:t>
            </a:r>
            <a:r>
              <a:rPr lang="en-US" altLang="zh-CN" sz="2000" b="1" kern="100" dirty="0">
                <a:latin typeface="+mn-ea"/>
                <a:sym typeface="+mn-ea"/>
              </a:rPr>
              <a:t>Color</a:t>
            </a:r>
            <a:r>
              <a:rPr lang="zh-CN" altLang="en-US" sz="2000" b="1" kern="100" dirty="0">
                <a:latin typeface="+mn-ea"/>
                <a:sym typeface="+mn-ea"/>
              </a:rPr>
              <a:t>】属性，打开颜色窗口，选择需要的颜色，单击【</a:t>
            </a:r>
            <a:r>
              <a:rPr lang="en-US" altLang="zh-CN" sz="2000" b="1" kern="100" dirty="0">
                <a:latin typeface="+mn-ea"/>
                <a:sym typeface="+mn-ea"/>
              </a:rPr>
              <a:t>OK</a:t>
            </a:r>
            <a:r>
              <a:rPr lang="zh-CN" altLang="en-US" sz="2000" b="1" kern="100" dirty="0">
                <a:latin typeface="+mn-ea"/>
                <a:sym typeface="+mn-ea"/>
              </a:rPr>
              <a:t>】</a:t>
            </a:r>
            <a:r>
              <a:rPr lang="zh-CN" altLang="zh-CN" sz="2000" b="1" kern="100" dirty="0">
                <a:latin typeface="+mn-ea"/>
                <a:sym typeface="+mn-ea"/>
              </a:rPr>
              <a:t>。</a:t>
            </a:r>
            <a:endParaRPr lang="zh-CN" altLang="en-US" sz="2000" b="1" kern="100" dirty="0">
              <a:latin typeface="+mn-ea"/>
              <a:sym typeface="+mn-ea"/>
            </a:endParaRPr>
          </a:p>
          <a:p>
            <a:pPr marL="342900" indent="-342900" algn="just">
              <a:spcAft>
                <a:spcPts val="600"/>
              </a:spcAft>
              <a:buFont typeface="Wingdings" panose="05000000000000000000" charset="0"/>
              <a:buChar char="Ø"/>
            </a:pPr>
            <a:r>
              <a:rPr lang="zh-CN" altLang="en-US" sz="2000" b="1" kern="100" dirty="0">
                <a:latin typeface="+mn-ea"/>
                <a:sym typeface="+mn-ea"/>
              </a:rPr>
              <a:t>修改材料属性。材料为</a:t>
            </a:r>
            <a:r>
              <a:rPr lang="en-US" altLang="zh-CN" sz="2000" b="1" kern="100" dirty="0">
                <a:latin typeface="+mn-ea"/>
                <a:sym typeface="+mn-ea"/>
              </a:rPr>
              <a:t>“copper”</a:t>
            </a:r>
            <a:r>
              <a:rPr lang="zh-CN" altLang="en-US" sz="2000" b="1" kern="100" dirty="0">
                <a:latin typeface="+mn-ea"/>
                <a:sym typeface="+mn-ea"/>
              </a:rPr>
              <a:t>。</a:t>
            </a:r>
          </a:p>
          <a:p>
            <a:pPr indent="0" algn="just">
              <a:spcAft>
                <a:spcPts val="600"/>
              </a:spcAft>
              <a:buFont typeface="Wingdings" panose="05000000000000000000" charset="0"/>
              <a:buNone/>
            </a:pPr>
            <a:endParaRPr lang="en-US" altLang="zh-CN" sz="2000" b="1" kern="100" dirty="0">
              <a:latin typeface="+mn-ea"/>
              <a:sym typeface="+mn-ea"/>
            </a:endParaRPr>
          </a:p>
          <a:p>
            <a:pPr indent="0" algn="just">
              <a:spcAft>
                <a:spcPts val="600"/>
              </a:spcAft>
              <a:buFont typeface="Wingdings" panose="05000000000000000000" charset="0"/>
              <a:buNone/>
            </a:pPr>
            <a:r>
              <a:rPr lang="en-US" altLang="zh-CN" sz="2000" b="1" kern="100" dirty="0">
                <a:latin typeface="+mn-ea"/>
                <a:sym typeface="+mn-ea"/>
              </a:rPr>
              <a:t>3.</a:t>
            </a:r>
            <a:r>
              <a:rPr lang="zh-CN" altLang="en-US" sz="2000" b="1" kern="100" dirty="0">
                <a:latin typeface="+mn-ea"/>
                <a:sym typeface="+mn-ea"/>
              </a:rPr>
              <a:t>在工程树栏，双击模型</a:t>
            </a:r>
            <a:r>
              <a:rPr lang="en-US" altLang="zh-CN" sz="2000" b="1" kern="100" dirty="0">
                <a:latin typeface="+mn-ea"/>
                <a:sym typeface="+mn-ea"/>
              </a:rPr>
              <a:t>Region</a:t>
            </a:r>
            <a:r>
              <a:rPr lang="zh-CN" altLang="en-US" sz="2000" b="1" kern="100" dirty="0">
                <a:latin typeface="+mn-ea"/>
                <a:sym typeface="+mn-ea"/>
              </a:rPr>
              <a:t>，打开</a:t>
            </a:r>
            <a:r>
              <a:rPr lang="en-US" altLang="zh-CN" sz="2000" b="1" kern="100" dirty="0">
                <a:latin typeface="+mn-ea"/>
                <a:sym typeface="+mn-ea"/>
              </a:rPr>
              <a:t>Properties</a:t>
            </a:r>
            <a:r>
              <a:rPr lang="zh-CN" altLang="en-US" sz="2000" b="1" kern="100" dirty="0">
                <a:latin typeface="+mn-ea"/>
                <a:sym typeface="+mn-ea"/>
              </a:rPr>
              <a:t>窗口，</a:t>
            </a:r>
          </a:p>
          <a:p>
            <a:pPr marL="342900" indent="-342900" algn="just">
              <a:spcAft>
                <a:spcPts val="600"/>
              </a:spcAft>
              <a:buFont typeface="Wingdings" panose="05000000000000000000" charset="0"/>
              <a:buChar char="Ø"/>
            </a:pPr>
            <a:r>
              <a:rPr lang="zh-CN" altLang="en-US" sz="2000" b="1" kern="100" dirty="0">
                <a:latin typeface="+mn-ea"/>
                <a:sym typeface="+mn-ea"/>
              </a:rPr>
              <a:t>修改材料属性为</a:t>
            </a:r>
            <a:r>
              <a:rPr lang="en-US" altLang="zh-CN" sz="2000" b="1" kern="100" dirty="0">
                <a:latin typeface="+mn-ea"/>
                <a:sym typeface="+mn-ea"/>
              </a:rPr>
              <a:t>“air”</a:t>
            </a:r>
            <a:r>
              <a:rPr lang="zh-CN" altLang="en-US" sz="2000" b="1" kern="100" dirty="0">
                <a:latin typeface="+mn-ea"/>
                <a:sym typeface="+mn-ea"/>
              </a:rPr>
              <a:t>。</a:t>
            </a:r>
          </a:p>
          <a:p>
            <a:pPr indent="0" algn="just">
              <a:spcAft>
                <a:spcPts val="600"/>
              </a:spcAft>
              <a:buFont typeface="Wingdings" panose="05000000000000000000" charset="0"/>
              <a:buNone/>
            </a:pPr>
            <a:endParaRPr lang="zh-CN" altLang="en-US" sz="2000" b="1" kern="100" dirty="0">
              <a:latin typeface="+mn-ea"/>
              <a:sym typeface="+mn-ea"/>
            </a:endParaRPr>
          </a:p>
          <a:p>
            <a:pPr marL="342900" indent="-342900" algn="just">
              <a:spcAft>
                <a:spcPts val="600"/>
              </a:spcAft>
              <a:buFont typeface="Wingdings" panose="05000000000000000000" charset="0"/>
              <a:buChar char="Ø"/>
            </a:pPr>
            <a:endParaRPr lang="zh-CN" altLang="zh-CN" sz="2000" b="1" kern="100" dirty="0">
              <a:latin typeface="+mn-ea"/>
            </a:endParaRPr>
          </a:p>
          <a:p>
            <a:pPr algn="just">
              <a:spcAft>
                <a:spcPts val="600"/>
              </a:spcAft>
            </a:pPr>
            <a:endParaRPr lang="zh-CN" altLang="zh-CN" sz="2000" b="1" kern="100" dirty="0">
              <a:latin typeface="宋体" panose="02010600030101010101" pitchFamily="2" charset="-122"/>
              <a:ea typeface="宋体" panose="02010600030101010101" pitchFamily="2" charset="-122"/>
            </a:endParaRPr>
          </a:p>
        </p:txBody>
      </p:sp>
      <p:sp>
        <p:nvSpPr>
          <p:cNvPr id="4"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36</a:t>
            </a:fld>
            <a:endParaRPr lang="id-ID"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1775" y="962025"/>
            <a:ext cx="11960225" cy="2522855"/>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7. </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添加激励和边界条件。</a:t>
            </a:r>
            <a:r>
              <a:rPr lang="en-US" altLang="zh-CN" dirty="0"/>
              <a:t> </a:t>
            </a:r>
          </a:p>
          <a:p>
            <a:pPr algn="just">
              <a:spcAft>
                <a:spcPts val="600"/>
              </a:spcAft>
            </a:pPr>
            <a:r>
              <a:rPr lang="en-US" altLang="zh-CN" b="1" dirty="0">
                <a:latin typeface="+mn-ea"/>
              </a:rPr>
              <a:t>1.</a:t>
            </a:r>
            <a:r>
              <a:rPr lang="zh-CN" altLang="en-US" b="1" dirty="0">
                <a:latin typeface="+mn-ea"/>
              </a:rPr>
              <a:t>设置矩形槽的上边界电压为</a:t>
            </a:r>
            <a:r>
              <a:rPr lang="en-US" altLang="zh-CN" b="1" dirty="0">
                <a:latin typeface="+mn-ea"/>
              </a:rPr>
              <a:t>100V</a:t>
            </a:r>
            <a:r>
              <a:rPr lang="zh-CN" altLang="en-US" b="1" dirty="0">
                <a:latin typeface="+mn-ea"/>
              </a:rPr>
              <a:t>，矩形槽电压为</a:t>
            </a:r>
            <a:r>
              <a:rPr lang="en-US" altLang="zh-CN" b="1" dirty="0">
                <a:latin typeface="+mn-ea"/>
              </a:rPr>
              <a:t>0V</a:t>
            </a:r>
            <a:r>
              <a:rPr lang="zh-CN" altLang="en-US" b="1" dirty="0">
                <a:latin typeface="+mn-ea"/>
              </a:rPr>
              <a:t>。</a:t>
            </a:r>
            <a:endParaRPr lang="en-US" altLang="zh-CN" b="1" dirty="0">
              <a:latin typeface="+mn-ea"/>
            </a:endParaRPr>
          </a:p>
          <a:p>
            <a:pPr marL="360045" algn="just">
              <a:spcAft>
                <a:spcPts val="600"/>
              </a:spcAft>
            </a:pPr>
            <a:r>
              <a:rPr lang="en-US" altLang="zh-CN" b="1" dirty="0">
                <a:latin typeface="+mn-ea"/>
              </a:rPr>
              <a:t>1</a:t>
            </a:r>
            <a:r>
              <a:rPr lang="zh-CN" altLang="en-US" b="1" dirty="0">
                <a:latin typeface="+mn-ea"/>
              </a:rPr>
              <a:t>）</a:t>
            </a:r>
            <a:r>
              <a:rPr lang="en-US" altLang="zh-CN" b="1" dirty="0" err="1">
                <a:latin typeface="+mn-ea"/>
              </a:rPr>
              <a:t>在</a:t>
            </a:r>
            <a:r>
              <a:rPr lang="zh-CN" altLang="en-US" b="1" dirty="0" err="1">
                <a:latin typeface="+mn-ea"/>
              </a:rPr>
              <a:t>工程树栏单击</a:t>
            </a:r>
            <a:r>
              <a:rPr lang="en-US" altLang="zh-CN" b="1" dirty="0" err="1">
                <a:latin typeface="+mn-ea"/>
              </a:rPr>
              <a:t>“juxingcao”</a:t>
            </a:r>
            <a:r>
              <a:rPr lang="zh-CN" altLang="en-US" b="1" dirty="0" err="1">
                <a:latin typeface="+mn-ea"/>
              </a:rPr>
              <a:t>将其选中；</a:t>
            </a:r>
            <a:endParaRPr lang="en-US" altLang="zh-CN" b="1" dirty="0">
              <a:latin typeface="+mn-ea"/>
            </a:endParaRPr>
          </a:p>
          <a:p>
            <a:pPr marL="360045" algn="just">
              <a:spcAft>
                <a:spcPts val="600"/>
              </a:spcAft>
            </a:pPr>
            <a:r>
              <a:rPr lang="en-US" altLang="zh-CN" b="1" dirty="0">
                <a:latin typeface="+mn-ea"/>
              </a:rPr>
              <a:t>2</a:t>
            </a:r>
            <a:r>
              <a:rPr lang="zh-CN" altLang="en-US" b="1" dirty="0">
                <a:latin typeface="+mn-ea"/>
              </a:rPr>
              <a:t>）菜单栏选择</a:t>
            </a:r>
            <a:r>
              <a:rPr lang="en-US" altLang="zh-CN" b="1" dirty="0">
                <a:latin typeface="+mn-ea"/>
              </a:rPr>
              <a:t>【Maxwell 2D】|【</a:t>
            </a:r>
            <a:r>
              <a:rPr lang="en-US" altLang="zh-CN" b="1" dirty="0">
                <a:solidFill>
                  <a:srgbClr val="FF0000"/>
                </a:solidFill>
                <a:latin typeface="+mn-ea"/>
              </a:rPr>
              <a:t> Excitations </a:t>
            </a:r>
            <a:r>
              <a:rPr lang="en-US" altLang="zh-CN" b="1" dirty="0">
                <a:latin typeface="+mn-ea"/>
              </a:rPr>
              <a:t>】 |【Assign】|【Voltage】，</a:t>
            </a:r>
            <a:r>
              <a:rPr lang="zh-CN" altLang="zh-CN" b="1" dirty="0">
                <a:latin typeface="+mn-ea"/>
              </a:rPr>
              <a:t>打开</a:t>
            </a:r>
            <a:r>
              <a:rPr lang="en-US" altLang="zh-CN" b="1" dirty="0">
                <a:latin typeface="+mn-ea"/>
              </a:rPr>
              <a:t>Voltage Excitation</a:t>
            </a:r>
            <a:r>
              <a:rPr lang="zh-CN" altLang="zh-CN" b="1" dirty="0">
                <a:latin typeface="+mn-ea"/>
              </a:rPr>
              <a:t>窗口：</a:t>
            </a:r>
            <a:endParaRPr lang="en-US" altLang="zh-CN" b="1" dirty="0">
              <a:latin typeface="+mn-ea"/>
            </a:endParaRPr>
          </a:p>
          <a:p>
            <a:pPr marL="1005840" indent="-285750" algn="just">
              <a:spcAft>
                <a:spcPts val="600"/>
              </a:spcAft>
              <a:buFont typeface="Wingdings" panose="05000000000000000000" charset="0"/>
              <a:buChar char="Ø"/>
            </a:pPr>
            <a:r>
              <a:rPr lang="en-US" altLang="zh-CN" b="1" dirty="0">
                <a:latin typeface="+mn-ea"/>
              </a:rPr>
              <a:t>Name</a:t>
            </a:r>
            <a:r>
              <a:rPr lang="zh-CN" altLang="zh-CN" b="1" dirty="0">
                <a:latin typeface="+mn-ea"/>
              </a:rPr>
              <a:t>：</a:t>
            </a:r>
            <a:r>
              <a:rPr lang="zh-CN" altLang="en-US" b="1" dirty="0">
                <a:latin typeface="+mn-ea"/>
              </a:rPr>
              <a:t>默认名称不变</a:t>
            </a:r>
            <a:r>
              <a:rPr lang="zh-CN" altLang="zh-CN" b="1" dirty="0">
                <a:latin typeface="+mn-ea"/>
              </a:rPr>
              <a:t>；</a:t>
            </a:r>
            <a:endParaRPr lang="en-US" altLang="zh-CN" b="1" dirty="0">
              <a:latin typeface="+mn-ea"/>
            </a:endParaRPr>
          </a:p>
          <a:p>
            <a:pPr marL="1005840" indent="-285750" algn="just">
              <a:spcAft>
                <a:spcPts val="600"/>
              </a:spcAft>
              <a:buFont typeface="Wingdings" panose="05000000000000000000" charset="0"/>
              <a:buChar char="Ø"/>
            </a:pPr>
            <a:r>
              <a:rPr lang="en-US" altLang="zh-CN" b="1" dirty="0">
                <a:latin typeface="+mn-ea"/>
              </a:rPr>
              <a:t>Value</a:t>
            </a:r>
            <a:r>
              <a:rPr lang="zh-CN" altLang="zh-CN" b="1" dirty="0">
                <a:latin typeface="+mn-ea"/>
              </a:rPr>
              <a:t>：</a:t>
            </a:r>
            <a:r>
              <a:rPr lang="en-US" altLang="zh-CN" b="1" dirty="0">
                <a:latin typeface="+mn-ea"/>
              </a:rPr>
              <a:t>0</a:t>
            </a:r>
            <a:r>
              <a:rPr lang="zh-CN" altLang="zh-CN" b="1" dirty="0">
                <a:latin typeface="+mn-ea"/>
              </a:rPr>
              <a:t>，并选择单位为“</a:t>
            </a:r>
            <a:r>
              <a:rPr lang="en-US" altLang="zh-CN" b="1" dirty="0">
                <a:latin typeface="+mn-ea"/>
              </a:rPr>
              <a:t>V</a:t>
            </a:r>
            <a:r>
              <a:rPr lang="zh-CN" altLang="zh-CN" b="1" dirty="0">
                <a:latin typeface="+mn-ea"/>
              </a:rPr>
              <a:t>”</a:t>
            </a:r>
            <a:r>
              <a:rPr lang="zh-CN" altLang="en-US" b="1" dirty="0">
                <a:latin typeface="+mn-ea"/>
              </a:rPr>
              <a:t>；单</a:t>
            </a:r>
            <a:r>
              <a:rPr lang="zh-CN" altLang="zh-CN" b="1" dirty="0">
                <a:latin typeface="+mn-ea"/>
              </a:rPr>
              <a:t>击【</a:t>
            </a:r>
            <a:r>
              <a:rPr lang="en-US" altLang="zh-CN" b="1" dirty="0">
                <a:latin typeface="+mn-ea"/>
              </a:rPr>
              <a:t>OK</a:t>
            </a:r>
            <a:r>
              <a:rPr lang="zh-CN" altLang="zh-CN" b="1" dirty="0">
                <a:latin typeface="+mn-ea"/>
              </a:rPr>
              <a:t>】。</a:t>
            </a:r>
          </a:p>
          <a:p>
            <a:pPr marL="360045" algn="just">
              <a:spcAft>
                <a:spcPts val="600"/>
              </a:spcAft>
            </a:pPr>
            <a:r>
              <a:rPr lang="en-US" altLang="zh-CN" b="1" dirty="0">
                <a:latin typeface="+mn-ea"/>
              </a:rPr>
              <a:t>3）</a:t>
            </a:r>
            <a:r>
              <a:rPr lang="zh-CN" altLang="en-US" b="1" dirty="0">
                <a:latin typeface="+mn-ea"/>
              </a:rPr>
              <a:t>选中</a:t>
            </a:r>
            <a:r>
              <a:rPr lang="en-US" altLang="zh-CN" b="1" dirty="0">
                <a:latin typeface="+mn-ea"/>
              </a:rPr>
              <a:t>“UPplate”</a:t>
            </a:r>
            <a:r>
              <a:rPr lang="zh-CN" altLang="en-US" b="1" dirty="0">
                <a:latin typeface="+mn-ea"/>
              </a:rPr>
              <a:t>，添加</a:t>
            </a:r>
            <a:r>
              <a:rPr lang="en-US" altLang="zh-CN" b="1" dirty="0">
                <a:latin typeface="+mn-ea"/>
              </a:rPr>
              <a:t>100V</a:t>
            </a:r>
            <a:r>
              <a:rPr lang="zh-CN" altLang="en-US" b="1" dirty="0">
                <a:latin typeface="+mn-ea"/>
              </a:rPr>
              <a:t>电压激励。</a:t>
            </a:r>
            <a:endParaRPr lang="zh-CN" altLang="zh-CN" sz="2000" b="1" kern="100" dirty="0">
              <a:latin typeface="+mn-ea"/>
            </a:endParaRPr>
          </a:p>
        </p:txBody>
      </p:sp>
      <p:sp>
        <p:nvSpPr>
          <p:cNvPr id="4"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37</a:t>
            </a:fld>
            <a:endParaRPr lang="id-ID" sz="1200" dirty="0"/>
          </a:p>
        </p:txBody>
      </p:sp>
      <p:pic>
        <p:nvPicPr>
          <p:cNvPr id="5" name="图片 4"/>
          <p:cNvPicPr>
            <a:picLocks noChangeAspect="1"/>
          </p:cNvPicPr>
          <p:nvPr/>
        </p:nvPicPr>
        <p:blipFill>
          <a:blip r:embed="rId2"/>
          <a:stretch>
            <a:fillRect/>
          </a:stretch>
        </p:blipFill>
        <p:spPr>
          <a:xfrm>
            <a:off x="1491615" y="3585210"/>
            <a:ext cx="3750945" cy="3272790"/>
          </a:xfrm>
          <a:prstGeom prst="rect">
            <a:avLst/>
          </a:prstGeom>
        </p:spPr>
      </p:pic>
      <p:pic>
        <p:nvPicPr>
          <p:cNvPr id="7" name="图片 6"/>
          <p:cNvPicPr>
            <a:picLocks noChangeAspect="1"/>
          </p:cNvPicPr>
          <p:nvPr/>
        </p:nvPicPr>
        <p:blipFill>
          <a:blip r:embed="rId3"/>
          <a:stretch>
            <a:fillRect/>
          </a:stretch>
        </p:blipFill>
        <p:spPr>
          <a:xfrm>
            <a:off x="6615430" y="3524885"/>
            <a:ext cx="3820795" cy="333311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5017" y="1007222"/>
            <a:ext cx="10385109" cy="2768600"/>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7. </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添加激励和边界条件。</a:t>
            </a:r>
            <a:r>
              <a:rPr lang="en-US" altLang="zh-CN" dirty="0"/>
              <a:t> </a:t>
            </a:r>
          </a:p>
          <a:p>
            <a:pPr algn="just">
              <a:spcAft>
                <a:spcPts val="600"/>
              </a:spcAft>
            </a:pPr>
            <a:r>
              <a:rPr lang="en-US" altLang="zh-CN" b="1" dirty="0">
                <a:latin typeface="+mn-ea"/>
              </a:rPr>
              <a:t>2.</a:t>
            </a:r>
            <a:r>
              <a:rPr lang="zh-CN" altLang="en-US" b="1" dirty="0">
                <a:latin typeface="+mn-ea"/>
              </a:rPr>
              <a:t>设置求解域</a:t>
            </a:r>
            <a:r>
              <a:rPr lang="en-US" altLang="zh-CN" b="1" dirty="0">
                <a:latin typeface="+mn-ea"/>
              </a:rPr>
              <a:t>Region</a:t>
            </a:r>
            <a:r>
              <a:rPr lang="zh-CN" altLang="en-US" b="1" dirty="0">
                <a:latin typeface="+mn-ea"/>
              </a:rPr>
              <a:t>的边界为气球边界。</a:t>
            </a:r>
            <a:endParaRPr lang="en-US" altLang="zh-CN" b="1" dirty="0">
              <a:latin typeface="+mn-ea"/>
            </a:endParaRPr>
          </a:p>
          <a:p>
            <a:pPr marL="360045"/>
            <a:r>
              <a:rPr lang="en-US" altLang="zh-CN" b="1" dirty="0">
                <a:latin typeface="+mn-ea"/>
              </a:rPr>
              <a:t>1</a:t>
            </a:r>
            <a:r>
              <a:rPr lang="zh-CN" altLang="en-US" b="1" dirty="0">
                <a:latin typeface="+mn-ea"/>
              </a:rPr>
              <a:t>）</a:t>
            </a:r>
            <a:r>
              <a:rPr lang="zh-CN" altLang="zh-CN" b="1" dirty="0">
                <a:latin typeface="+mn-ea"/>
              </a:rPr>
              <a:t>在工程树栏单击</a:t>
            </a:r>
            <a:r>
              <a:rPr lang="en-US" altLang="zh-CN" b="1" dirty="0">
                <a:latin typeface="+mn-ea"/>
              </a:rPr>
              <a:t>Region</a:t>
            </a:r>
            <a:r>
              <a:rPr lang="zh-CN" altLang="zh-CN" b="1" dirty="0">
                <a:latin typeface="+mn-ea"/>
              </a:rPr>
              <a:t>，将其选中，在菜单栏选择【</a:t>
            </a:r>
            <a:r>
              <a:rPr lang="en-US" altLang="zh-CN" b="1" dirty="0">
                <a:latin typeface="+mn-ea"/>
              </a:rPr>
              <a:t>Edit</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Extend Selection</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All object Edges</a:t>
            </a:r>
            <a:r>
              <a:rPr lang="zh-CN" altLang="zh-CN" b="1" dirty="0">
                <a:latin typeface="+mn-ea"/>
              </a:rPr>
              <a:t>】，选中</a:t>
            </a:r>
            <a:r>
              <a:rPr lang="en-US" altLang="zh-CN" b="1" dirty="0">
                <a:latin typeface="+mn-ea"/>
              </a:rPr>
              <a:t>Region</a:t>
            </a:r>
            <a:r>
              <a:rPr lang="zh-CN" altLang="zh-CN" b="1" dirty="0">
                <a:latin typeface="+mn-ea"/>
              </a:rPr>
              <a:t>的所有边</a:t>
            </a:r>
            <a:r>
              <a:rPr lang="zh-CN" altLang="en-US" b="1" dirty="0">
                <a:latin typeface="+mn-ea"/>
              </a:rPr>
              <a:t>；</a:t>
            </a:r>
            <a:endParaRPr lang="en-US" altLang="zh-CN" b="1" dirty="0">
              <a:latin typeface="+mn-ea"/>
            </a:endParaRPr>
          </a:p>
          <a:p>
            <a:pPr marL="360045"/>
            <a:r>
              <a:rPr lang="en-US" altLang="zh-CN" b="1" dirty="0">
                <a:latin typeface="+mn-ea"/>
              </a:rPr>
              <a:t>2</a:t>
            </a:r>
            <a:r>
              <a:rPr lang="zh-CN" altLang="en-US" b="1" dirty="0">
                <a:latin typeface="+mn-ea"/>
              </a:rPr>
              <a:t>）</a:t>
            </a:r>
            <a:r>
              <a:rPr lang="zh-CN" altLang="zh-CN" b="1" dirty="0">
                <a:latin typeface="+mn-ea"/>
              </a:rPr>
              <a:t>菜单栏选择【</a:t>
            </a:r>
            <a:r>
              <a:rPr lang="en-US" altLang="zh-CN" b="1" dirty="0">
                <a:latin typeface="+mn-ea"/>
              </a:rPr>
              <a:t>Maxwell 2D</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Boundaries</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Balloon</a:t>
            </a:r>
            <a:r>
              <a:rPr lang="zh-CN" altLang="zh-CN" b="1" dirty="0">
                <a:latin typeface="+mn-ea"/>
              </a:rPr>
              <a:t>】，打开</a:t>
            </a:r>
            <a:r>
              <a:rPr lang="en-US" altLang="zh-CN" b="1" dirty="0">
                <a:latin typeface="+mn-ea"/>
              </a:rPr>
              <a:t>Balloon Boundary</a:t>
            </a:r>
            <a:r>
              <a:rPr lang="zh-CN" altLang="zh-CN" b="1" dirty="0">
                <a:latin typeface="+mn-ea"/>
              </a:rPr>
              <a:t>窗口设置：</a:t>
            </a:r>
            <a:endParaRPr lang="en-US" altLang="zh-CN" b="1" dirty="0">
              <a:latin typeface="+mn-ea"/>
            </a:endParaRPr>
          </a:p>
          <a:p>
            <a:pPr marL="1005840" indent="-285750">
              <a:buFont typeface="Wingdings" panose="05000000000000000000" charset="0"/>
              <a:buChar char="Ø"/>
            </a:pPr>
            <a:r>
              <a:rPr lang="en-US" altLang="zh-CN" b="1" dirty="0">
                <a:latin typeface="+mn-ea"/>
              </a:rPr>
              <a:t>Name</a:t>
            </a:r>
            <a:r>
              <a:rPr lang="zh-CN" altLang="zh-CN" b="1" dirty="0">
                <a:latin typeface="+mn-ea"/>
              </a:rPr>
              <a:t>：保持默认；</a:t>
            </a:r>
            <a:endParaRPr lang="en-US" altLang="zh-CN" b="1" dirty="0">
              <a:latin typeface="+mn-ea"/>
            </a:endParaRPr>
          </a:p>
          <a:p>
            <a:pPr marL="1005840" indent="-285750">
              <a:buFont typeface="Wingdings" panose="05000000000000000000" charset="0"/>
              <a:buChar char="Ø"/>
            </a:pPr>
            <a:r>
              <a:rPr lang="en-US" altLang="zh-CN" b="1" dirty="0">
                <a:latin typeface="+mn-ea"/>
              </a:rPr>
              <a:t>Balloon type</a:t>
            </a:r>
            <a:r>
              <a:rPr lang="zh-CN" altLang="zh-CN" b="1" dirty="0">
                <a:latin typeface="+mn-ea"/>
              </a:rPr>
              <a:t>：</a:t>
            </a:r>
            <a:r>
              <a:rPr lang="en-US" altLang="zh-CN" b="1" dirty="0">
                <a:latin typeface="+mn-ea"/>
              </a:rPr>
              <a:t>Charge</a:t>
            </a:r>
            <a:r>
              <a:rPr lang="zh-CN" altLang="zh-CN" b="1" dirty="0">
                <a:latin typeface="+mn-ea"/>
              </a:rPr>
              <a:t>；</a:t>
            </a:r>
            <a:endParaRPr lang="en-US" altLang="zh-CN" b="1" dirty="0">
              <a:latin typeface="+mn-ea"/>
            </a:endParaRPr>
          </a:p>
          <a:p>
            <a:pPr marL="1005840" indent="-285750">
              <a:buFont typeface="Wingdings" panose="05000000000000000000" charset="0"/>
              <a:buChar char="Ø"/>
            </a:pPr>
            <a:r>
              <a:rPr lang="zh-CN" altLang="zh-CN" b="1" dirty="0">
                <a:latin typeface="+mn-ea"/>
              </a:rPr>
              <a:t>单击【</a:t>
            </a:r>
            <a:r>
              <a:rPr lang="en-US" altLang="zh-CN" b="1" dirty="0">
                <a:latin typeface="+mn-ea"/>
              </a:rPr>
              <a:t>OK</a:t>
            </a:r>
            <a:r>
              <a:rPr lang="zh-CN" altLang="zh-CN" b="1" dirty="0">
                <a:latin typeface="+mn-ea"/>
              </a:rPr>
              <a:t>】；</a:t>
            </a:r>
            <a:endParaRPr lang="en-US" altLang="zh-CN" b="1" dirty="0">
              <a:latin typeface="+mn-ea"/>
            </a:endParaRPr>
          </a:p>
          <a:p>
            <a:pPr marL="360045"/>
            <a:endParaRPr lang="zh-CN" altLang="zh-CN" b="1" dirty="0">
              <a:latin typeface="+mn-ea"/>
            </a:endParaRPr>
          </a:p>
        </p:txBody>
      </p:sp>
      <p:sp>
        <p:nvSpPr>
          <p:cNvPr id="4"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38</a:t>
            </a:fld>
            <a:endParaRPr lang="id-ID" sz="1200" dirty="0"/>
          </a:p>
        </p:txBody>
      </p:sp>
      <p:sp>
        <p:nvSpPr>
          <p:cNvPr id="3" name="矩形 2"/>
          <p:cNvSpPr/>
          <p:nvPr/>
        </p:nvSpPr>
        <p:spPr>
          <a:xfrm>
            <a:off x="1102127" y="6211669"/>
            <a:ext cx="10140535" cy="646331"/>
          </a:xfrm>
          <a:prstGeom prst="rect">
            <a:avLst/>
          </a:prstGeom>
        </p:spPr>
        <p:txBody>
          <a:bodyPr wrap="square">
            <a:spAutoFit/>
          </a:bodyPr>
          <a:lstStyle/>
          <a:p>
            <a:r>
              <a:rPr lang="zh-CN" altLang="zh-CN" dirty="0"/>
              <a:t>注意：</a:t>
            </a:r>
            <a:r>
              <a:rPr lang="en-US" altLang="zh-CN" dirty="0"/>
              <a:t>1.Balloon</a:t>
            </a:r>
            <a:r>
              <a:rPr lang="zh-CN" altLang="zh-CN" dirty="0"/>
              <a:t>边界有两种，一种是</a:t>
            </a:r>
            <a:r>
              <a:rPr lang="en-US" altLang="zh-CN" dirty="0"/>
              <a:t>Voltage</a:t>
            </a:r>
            <a:r>
              <a:rPr lang="zh-CN" altLang="zh-CN" dirty="0"/>
              <a:t>气球边界，模拟无穷远处电压为零的情况；一种是</a:t>
            </a:r>
            <a:r>
              <a:rPr lang="en-US" altLang="zh-CN" dirty="0"/>
              <a:t>Charge</a:t>
            </a:r>
            <a:r>
              <a:rPr lang="zh-CN" altLang="zh-CN" dirty="0"/>
              <a:t>气球边界，模拟无穷远处的电荷域求解域内的电荷相等的情况，即强制总电荷为零。</a:t>
            </a:r>
          </a:p>
        </p:txBody>
      </p:sp>
      <p:pic>
        <p:nvPicPr>
          <p:cNvPr id="6" name="图片 5" descr="]V6YVC~BH%$M$4X~{}1N34Q"/>
          <p:cNvPicPr>
            <a:picLocks noChangeAspect="1"/>
          </p:cNvPicPr>
          <p:nvPr/>
        </p:nvPicPr>
        <p:blipFill>
          <a:blip r:embed="rId2"/>
          <a:stretch>
            <a:fillRect/>
          </a:stretch>
        </p:blipFill>
        <p:spPr>
          <a:xfrm>
            <a:off x="1504950" y="3518535"/>
            <a:ext cx="2657475" cy="2409825"/>
          </a:xfrm>
          <a:prstGeom prst="rect">
            <a:avLst/>
          </a:prstGeom>
        </p:spPr>
      </p:pic>
      <p:pic>
        <p:nvPicPr>
          <p:cNvPr id="8" name="图片 7"/>
          <p:cNvPicPr>
            <a:picLocks noChangeAspect="1"/>
          </p:cNvPicPr>
          <p:nvPr/>
        </p:nvPicPr>
        <p:blipFill>
          <a:blip r:embed="rId3"/>
          <a:stretch>
            <a:fillRect/>
          </a:stretch>
        </p:blipFill>
        <p:spPr>
          <a:xfrm>
            <a:off x="6082665" y="3059430"/>
            <a:ext cx="3288030" cy="28689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71550" y="3838752"/>
            <a:ext cx="4522332" cy="6290887"/>
          </a:xfrm>
          <a:prstGeom prst="rect">
            <a:avLst/>
          </a:prstGeom>
        </p:spPr>
      </p:pic>
      <p:sp>
        <p:nvSpPr>
          <p:cNvPr id="2" name="矩形 1"/>
          <p:cNvSpPr/>
          <p:nvPr/>
        </p:nvSpPr>
        <p:spPr>
          <a:xfrm>
            <a:off x="397191" y="1037046"/>
            <a:ext cx="11460980" cy="400110"/>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设置网格剖分。</a:t>
            </a:r>
            <a:r>
              <a:rPr lang="zh-CN" altLang="zh-CN" b="1" dirty="0"/>
              <a:t>由于模型比较简单，直接采用系统默认网格划分，故此处可省略设置。</a:t>
            </a:r>
          </a:p>
        </p:txBody>
      </p:sp>
      <p:sp>
        <p:nvSpPr>
          <p:cNvPr id="5" name="矩形 4"/>
          <p:cNvSpPr/>
          <p:nvPr/>
        </p:nvSpPr>
        <p:spPr>
          <a:xfrm>
            <a:off x="2432716" y="5390629"/>
            <a:ext cx="1270905" cy="36041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284758" y="4434482"/>
            <a:ext cx="1270905" cy="36041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39</a:t>
            </a:fld>
            <a:endParaRPr lang="id-ID" sz="1200" dirty="0"/>
          </a:p>
        </p:txBody>
      </p:sp>
      <p:sp>
        <p:nvSpPr>
          <p:cNvPr id="9" name="矩形 8"/>
          <p:cNvSpPr/>
          <p:nvPr/>
        </p:nvSpPr>
        <p:spPr>
          <a:xfrm>
            <a:off x="397191" y="1437156"/>
            <a:ext cx="11460980" cy="2724150"/>
          </a:xfrm>
          <a:prstGeom prst="rect">
            <a:avLst/>
          </a:prstGeom>
        </p:spPr>
        <p:txBody>
          <a:bodyPr wrap="square">
            <a:spAutoFit/>
          </a:bodyPr>
          <a:lstStyle/>
          <a:p>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求解计算</a:t>
            </a:r>
          </a:p>
          <a:p>
            <a:pPr>
              <a:lnSpc>
                <a:spcPct val="120000"/>
              </a:lnSpc>
            </a:pPr>
            <a:r>
              <a:rPr lang="en-US" altLang="zh-CN" b="1" dirty="0">
                <a:latin typeface="+mn-ea"/>
              </a:rPr>
              <a:t>1.</a:t>
            </a:r>
            <a:r>
              <a:rPr lang="zh-CN" altLang="zh-CN" b="1" dirty="0">
                <a:latin typeface="+mn-ea"/>
              </a:rPr>
              <a:t>设置求解选项，在菜单栏选择【</a:t>
            </a:r>
            <a:r>
              <a:rPr lang="en-US" altLang="zh-CN" b="1" dirty="0">
                <a:latin typeface="+mn-ea"/>
              </a:rPr>
              <a:t>Maxwell 2D</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Analysis Setup</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Add Solution Setup</a:t>
            </a:r>
            <a:r>
              <a:rPr lang="zh-CN" altLang="zh-CN" b="1" dirty="0">
                <a:latin typeface="+mn-ea"/>
              </a:rPr>
              <a:t>】，打开求解设定对话框，保持默认设置不变，单击【确定】。</a:t>
            </a:r>
          </a:p>
          <a:p>
            <a:pPr>
              <a:lnSpc>
                <a:spcPct val="120000"/>
              </a:lnSpc>
            </a:pPr>
            <a:r>
              <a:rPr lang="en-US" altLang="zh-CN" b="1" dirty="0">
                <a:latin typeface="+mn-ea"/>
              </a:rPr>
              <a:t>2.</a:t>
            </a:r>
            <a:r>
              <a:rPr lang="zh-CN" altLang="zh-CN" b="1" dirty="0">
                <a:latin typeface="+mn-ea"/>
              </a:rPr>
              <a:t>检测模型，菜单栏选择【</a:t>
            </a:r>
            <a:r>
              <a:rPr lang="en-US" altLang="zh-CN" b="1" dirty="0">
                <a:latin typeface="+mn-ea"/>
              </a:rPr>
              <a:t>Maxwell 2D</a:t>
            </a:r>
            <a:r>
              <a:rPr lang="zh-CN" altLang="zh-CN" b="1" dirty="0">
                <a:latin typeface="+mn-ea"/>
              </a:rPr>
              <a:t>】</a:t>
            </a:r>
            <a:r>
              <a:rPr lang="en-US" altLang="zh-CN" b="1" dirty="0">
                <a:latin typeface="+mn-ea"/>
              </a:rPr>
              <a:t>|</a:t>
            </a:r>
            <a:r>
              <a:rPr lang="zh-CN" altLang="zh-CN" b="1" dirty="0">
                <a:latin typeface="+mn-ea"/>
              </a:rPr>
              <a:t>【</a:t>
            </a:r>
            <a:r>
              <a:rPr lang="en-US" altLang="zh-CN" b="1" dirty="0">
                <a:latin typeface="+mn-ea"/>
              </a:rPr>
              <a:t>Validation Check</a:t>
            </a:r>
            <a:r>
              <a:rPr lang="zh-CN" altLang="zh-CN" b="1" dirty="0">
                <a:latin typeface="+mn-ea"/>
              </a:rPr>
              <a:t>】，系统会自动检测模型，模型各项前都是绿色的勾号，表明模型正确，单击【</a:t>
            </a:r>
            <a:r>
              <a:rPr lang="en-US" altLang="zh-CN" b="1" dirty="0">
                <a:latin typeface="+mn-ea"/>
              </a:rPr>
              <a:t>Close</a:t>
            </a:r>
            <a:r>
              <a:rPr lang="zh-CN" altLang="zh-CN" b="1" dirty="0">
                <a:latin typeface="+mn-ea"/>
              </a:rPr>
              <a:t>】。</a:t>
            </a:r>
          </a:p>
          <a:p>
            <a:pPr>
              <a:lnSpc>
                <a:spcPct val="120000"/>
              </a:lnSpc>
            </a:pPr>
            <a:r>
              <a:rPr lang="en-US" altLang="zh-CN" b="1" dirty="0">
                <a:latin typeface="+mn-ea"/>
                <a:sym typeface="+mn-ea"/>
              </a:rPr>
              <a:t>3</a:t>
            </a:r>
            <a:r>
              <a:rPr lang="zh-CN" altLang="zh-CN" b="1" dirty="0">
                <a:latin typeface="+mn-ea"/>
                <a:sym typeface="+mn-ea"/>
              </a:rPr>
              <a:t>：启动分析</a:t>
            </a:r>
            <a:r>
              <a:rPr lang="zh-CN" altLang="en-US" b="1" dirty="0">
                <a:latin typeface="+mn-ea"/>
                <a:sym typeface="+mn-ea"/>
              </a:rPr>
              <a:t>。</a:t>
            </a:r>
            <a:r>
              <a:rPr lang="zh-CN" altLang="zh-CN" b="1" dirty="0">
                <a:latin typeface="+mn-ea"/>
                <a:sym typeface="+mn-ea"/>
              </a:rPr>
              <a:t>在工程管理栏右键单击</a:t>
            </a:r>
            <a:r>
              <a:rPr lang="en-US" altLang="zh-CN" b="1" dirty="0">
                <a:latin typeface="+mn-ea"/>
                <a:sym typeface="+mn-ea"/>
              </a:rPr>
              <a:t>Setup1</a:t>
            </a:r>
            <a:r>
              <a:rPr lang="zh-CN" altLang="zh-CN" b="1" dirty="0">
                <a:latin typeface="+mn-ea"/>
                <a:sym typeface="+mn-ea"/>
              </a:rPr>
              <a:t>，选择</a:t>
            </a:r>
            <a:r>
              <a:rPr lang="en-US" altLang="zh-CN" b="1" dirty="0">
                <a:latin typeface="+mn-ea"/>
                <a:sym typeface="+mn-ea"/>
              </a:rPr>
              <a:t>Analyze</a:t>
            </a:r>
            <a:r>
              <a:rPr lang="zh-CN" altLang="zh-CN" b="1" dirty="0">
                <a:latin typeface="+mn-ea"/>
                <a:sym typeface="+mn-ea"/>
              </a:rPr>
              <a:t>启动分析。</a:t>
            </a:r>
            <a:endParaRPr lang="en-US" altLang="zh-CN" b="1" dirty="0">
              <a:latin typeface="+mn-ea"/>
            </a:endParaRPr>
          </a:p>
          <a:p>
            <a:pPr>
              <a:lnSpc>
                <a:spcPct val="120000"/>
              </a:lnSpc>
            </a:pPr>
            <a:r>
              <a:rPr lang="en-US" altLang="zh-CN" b="1" dirty="0">
                <a:latin typeface="+mn-ea"/>
                <a:sym typeface="+mn-ea"/>
              </a:rPr>
              <a:t>                      </a:t>
            </a:r>
            <a:r>
              <a:rPr lang="zh-CN" altLang="en-US" b="1" dirty="0">
                <a:latin typeface="+mn-ea"/>
                <a:sym typeface="+mn-ea"/>
              </a:rPr>
              <a:t>或菜单栏选择</a:t>
            </a:r>
            <a:r>
              <a:rPr lang="zh-CN" altLang="zh-CN" b="1" dirty="0">
                <a:latin typeface="+mn-ea"/>
                <a:sym typeface="+mn-ea"/>
              </a:rPr>
              <a:t>【</a:t>
            </a:r>
            <a:r>
              <a:rPr lang="en-US" altLang="zh-CN" b="1" dirty="0">
                <a:latin typeface="+mn-ea"/>
                <a:sym typeface="+mn-ea"/>
              </a:rPr>
              <a:t>Maxwell 2D</a:t>
            </a:r>
            <a:r>
              <a:rPr lang="zh-CN" altLang="zh-CN" b="1" dirty="0">
                <a:latin typeface="+mn-ea"/>
                <a:sym typeface="+mn-ea"/>
              </a:rPr>
              <a:t>】</a:t>
            </a:r>
            <a:r>
              <a:rPr lang="en-US" altLang="zh-CN" b="1" dirty="0">
                <a:latin typeface="+mn-ea"/>
                <a:sym typeface="+mn-ea"/>
              </a:rPr>
              <a:t>|</a:t>
            </a:r>
            <a:r>
              <a:rPr lang="zh-CN" altLang="zh-CN" b="1" dirty="0">
                <a:latin typeface="+mn-ea"/>
                <a:sym typeface="+mn-ea"/>
              </a:rPr>
              <a:t>【</a:t>
            </a:r>
            <a:r>
              <a:rPr lang="en-US" altLang="zh-CN" b="1" dirty="0">
                <a:latin typeface="+mn-ea"/>
                <a:sym typeface="+mn-ea"/>
              </a:rPr>
              <a:t>Analyze All</a:t>
            </a:r>
            <a:r>
              <a:rPr lang="zh-CN" altLang="zh-CN" b="1" dirty="0">
                <a:latin typeface="+mn-ea"/>
                <a:sym typeface="+mn-ea"/>
              </a:rPr>
              <a:t>】</a:t>
            </a:r>
            <a:r>
              <a:rPr lang="zh-CN" altLang="en-US" b="1" dirty="0">
                <a:latin typeface="+mn-ea"/>
                <a:sym typeface="+mn-ea"/>
              </a:rPr>
              <a:t>也可以启动分析。</a:t>
            </a:r>
            <a:endParaRPr lang="zh-CN" altLang="zh-CN" b="1" dirty="0">
              <a:latin typeface="+mn-ea"/>
            </a:endParaRPr>
          </a:p>
          <a:p>
            <a:pPr>
              <a:lnSpc>
                <a:spcPct val="120000"/>
              </a:lnSpc>
            </a:pPr>
            <a:endParaRPr lang="zh-CN" altLang="zh-CN" b="1" dirty="0">
              <a:latin typeface="+mn-ea"/>
            </a:endParaRPr>
          </a:p>
        </p:txBody>
      </p:sp>
      <p:pic>
        <p:nvPicPr>
          <p:cNvPr id="4" name="图片 3"/>
          <p:cNvPicPr>
            <a:picLocks noChangeAspect="1"/>
          </p:cNvPicPr>
          <p:nvPr/>
        </p:nvPicPr>
        <p:blipFill>
          <a:blip r:embed="rId3"/>
          <a:stretch>
            <a:fillRect/>
          </a:stretch>
        </p:blipFill>
        <p:spPr>
          <a:xfrm>
            <a:off x="4789002" y="3876726"/>
            <a:ext cx="4962525" cy="2314575"/>
          </a:xfrm>
          <a:prstGeom prst="rect">
            <a:avLst/>
          </a:prstGeom>
        </p:spPr>
      </p:pic>
      <p:sp>
        <p:nvSpPr>
          <p:cNvPr id="10" name="矩形 9"/>
          <p:cNvSpPr/>
          <p:nvPr/>
        </p:nvSpPr>
        <p:spPr>
          <a:xfrm>
            <a:off x="6037417" y="6346241"/>
            <a:ext cx="1903052" cy="369332"/>
          </a:xfrm>
          <a:prstGeom prst="rect">
            <a:avLst/>
          </a:prstGeom>
        </p:spPr>
        <p:txBody>
          <a:bodyPr wrap="square">
            <a:spAutoFit/>
          </a:bodyPr>
          <a:lstStyle/>
          <a:p>
            <a:pPr algn="just">
              <a:spcAft>
                <a:spcPts val="600"/>
              </a:spcAft>
            </a:pPr>
            <a:r>
              <a:rPr lang="zh-CN" altLang="en-US" b="1" kern="100" dirty="0">
                <a:latin typeface="微软雅黑" panose="020B0503020204020204" pitchFamily="34" charset="-122"/>
                <a:ea typeface="微软雅黑" panose="020B0503020204020204" pitchFamily="34" charset="-122"/>
                <a:cs typeface="宋体" panose="02010600030101010101" pitchFamily="2" charset="-122"/>
              </a:rPr>
              <a:t>检测模型窗口</a:t>
            </a:r>
            <a:endParaRPr lang="zh-CN" altLang="zh-CN" sz="1600" b="1" dirty="0"/>
          </a:p>
        </p:txBody>
      </p:sp>
      <p:sp>
        <p:nvSpPr>
          <p:cNvPr id="11" name="矩形 10"/>
          <p:cNvSpPr/>
          <p:nvPr/>
        </p:nvSpPr>
        <p:spPr>
          <a:xfrm>
            <a:off x="2133141" y="6185192"/>
            <a:ext cx="1903052" cy="369332"/>
          </a:xfrm>
          <a:prstGeom prst="rect">
            <a:avLst/>
          </a:prstGeom>
        </p:spPr>
        <p:txBody>
          <a:bodyPr wrap="square">
            <a:spAutoFit/>
          </a:bodyPr>
          <a:lstStyle/>
          <a:p>
            <a:pPr algn="just">
              <a:spcAft>
                <a:spcPts val="600"/>
              </a:spcAft>
            </a:pPr>
            <a:r>
              <a:rPr lang="zh-CN" altLang="en-US" b="1" kern="100" dirty="0">
                <a:latin typeface="微软雅黑" panose="020B0503020204020204" pitchFamily="34" charset="-122"/>
                <a:ea typeface="微软雅黑" panose="020B0503020204020204" pitchFamily="34" charset="-122"/>
                <a:cs typeface="宋体" panose="02010600030101010101" pitchFamily="2" charset="-122"/>
              </a:rPr>
              <a:t>设置求解窗口</a:t>
            </a:r>
            <a:endParaRPr lang="zh-CN" altLang="zh-CN" sz="1600" b="1" dirty="0"/>
          </a:p>
        </p:txBody>
      </p:sp>
      <p:sp>
        <p:nvSpPr>
          <p:cNvPr id="12" name="矩形 11"/>
          <p:cNvSpPr/>
          <p:nvPr/>
        </p:nvSpPr>
        <p:spPr>
          <a:xfrm>
            <a:off x="2449032" y="5005823"/>
            <a:ext cx="1270905" cy="36041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1WK9K%C4}4RXLI7N{B`0P6"/>
          <p:cNvPicPr>
            <a:picLocks noChangeAspect="1"/>
          </p:cNvPicPr>
          <p:nvPr/>
        </p:nvPicPr>
        <p:blipFill>
          <a:blip r:embed="rId4"/>
          <a:stretch>
            <a:fillRect/>
          </a:stretch>
        </p:blipFill>
        <p:spPr>
          <a:xfrm>
            <a:off x="9867900" y="3838575"/>
            <a:ext cx="1981200" cy="2305050"/>
          </a:xfrm>
          <a:prstGeom prst="rect">
            <a:avLst/>
          </a:prstGeom>
        </p:spPr>
      </p:pic>
      <p:sp>
        <p:nvSpPr>
          <p:cNvPr id="13" name="矩形 12"/>
          <p:cNvSpPr/>
          <p:nvPr/>
        </p:nvSpPr>
        <p:spPr>
          <a:xfrm>
            <a:off x="10268585" y="6297295"/>
            <a:ext cx="1083945" cy="337185"/>
          </a:xfrm>
          <a:prstGeom prst="rect">
            <a:avLst/>
          </a:prstGeom>
        </p:spPr>
        <p:txBody>
          <a:bodyPr wrap="square">
            <a:spAutoFit/>
          </a:bodyPr>
          <a:lstStyle/>
          <a:p>
            <a:pPr algn="just">
              <a:spcAft>
                <a:spcPts val="600"/>
              </a:spcAft>
            </a:pPr>
            <a:r>
              <a:rPr lang="zh-CN" altLang="en-US" sz="1600" b="1" dirty="0"/>
              <a:t>启动分析</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7191" y="1027521"/>
            <a:ext cx="11460980" cy="2431435"/>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后处理。</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spcAft>
                <a:spcPts val="600"/>
              </a:spcAft>
            </a:pPr>
            <a:r>
              <a:rPr lang="en-US" altLang="zh-CN" sz="2000" b="1" kern="100" dirty="0">
                <a:latin typeface="+mn-ea"/>
              </a:rPr>
              <a:t>1.</a:t>
            </a:r>
            <a:r>
              <a:rPr lang="zh-CN" altLang="en-US" sz="2000" b="1" kern="100" dirty="0">
                <a:latin typeface="+mn-ea"/>
              </a:rPr>
              <a:t>查看金属槽内的电位分布。</a:t>
            </a:r>
            <a:endParaRPr lang="en-US" altLang="zh-CN" sz="2000" b="1" kern="100" dirty="0">
              <a:latin typeface="+mn-ea"/>
            </a:endParaRPr>
          </a:p>
          <a:p>
            <a:pPr marL="360045" algn="just">
              <a:lnSpc>
                <a:spcPct val="120000"/>
              </a:lnSpc>
              <a:spcAft>
                <a:spcPts val="600"/>
              </a:spcAft>
            </a:pPr>
            <a:r>
              <a:rPr lang="en-US" altLang="zh-CN" sz="2000" b="1" dirty="0">
                <a:latin typeface="+mn-ea"/>
              </a:rPr>
              <a:t>1</a:t>
            </a:r>
            <a:r>
              <a:rPr lang="zh-CN" altLang="en-US" sz="2000" b="1" dirty="0">
                <a:latin typeface="+mn-ea"/>
              </a:rPr>
              <a:t>）</a:t>
            </a:r>
            <a:r>
              <a:rPr lang="zh-CN" altLang="zh-CN" sz="2000" b="1" dirty="0">
                <a:latin typeface="+mn-ea"/>
              </a:rPr>
              <a:t>在菜单栏选择【</a:t>
            </a:r>
            <a:r>
              <a:rPr lang="en-US" altLang="zh-CN" sz="2000" b="1" dirty="0">
                <a:latin typeface="+mn-ea"/>
              </a:rPr>
              <a:t>Edit</a:t>
            </a:r>
            <a:r>
              <a:rPr lang="zh-CN" altLang="zh-CN" sz="2000" b="1" dirty="0">
                <a:latin typeface="+mn-ea"/>
              </a:rPr>
              <a:t>】</a:t>
            </a:r>
            <a:r>
              <a:rPr lang="en-US" altLang="zh-CN" sz="2000" b="1" dirty="0">
                <a:latin typeface="+mn-ea"/>
              </a:rPr>
              <a:t>|</a:t>
            </a:r>
            <a:r>
              <a:rPr lang="zh-CN" altLang="zh-CN" sz="2000" b="1" dirty="0">
                <a:latin typeface="+mn-ea"/>
              </a:rPr>
              <a:t>【</a:t>
            </a:r>
            <a:r>
              <a:rPr lang="en-US" altLang="zh-CN" sz="2000" b="1" dirty="0">
                <a:latin typeface="+mn-ea"/>
              </a:rPr>
              <a:t>Select all</a:t>
            </a:r>
            <a:r>
              <a:rPr lang="zh-CN" altLang="zh-CN" sz="2000" b="1" dirty="0">
                <a:latin typeface="+mn-ea"/>
              </a:rPr>
              <a:t>】选中所有模型，菜单栏选择【</a:t>
            </a:r>
            <a:r>
              <a:rPr lang="en-US" altLang="zh-CN" sz="2000" b="1" dirty="0">
                <a:latin typeface="+mn-ea"/>
              </a:rPr>
              <a:t>Maxwell 2D</a:t>
            </a:r>
            <a:r>
              <a:rPr lang="zh-CN" altLang="zh-CN" sz="2000" b="1" dirty="0">
                <a:latin typeface="+mn-ea"/>
              </a:rPr>
              <a:t>】</a:t>
            </a:r>
            <a:r>
              <a:rPr lang="en-US" altLang="zh-CN" sz="2000" b="1" dirty="0">
                <a:latin typeface="+mn-ea"/>
              </a:rPr>
              <a:t>|</a:t>
            </a:r>
            <a:r>
              <a:rPr lang="zh-CN" altLang="zh-CN" sz="2000" b="1" dirty="0">
                <a:latin typeface="+mn-ea"/>
              </a:rPr>
              <a:t>【</a:t>
            </a:r>
            <a:r>
              <a:rPr lang="en-US" altLang="zh-CN" sz="2000" b="1" dirty="0">
                <a:latin typeface="+mn-ea"/>
              </a:rPr>
              <a:t>Fields</a:t>
            </a:r>
            <a:r>
              <a:rPr lang="zh-CN" altLang="zh-CN" sz="2000" b="1" dirty="0">
                <a:latin typeface="+mn-ea"/>
              </a:rPr>
              <a:t>】</a:t>
            </a:r>
            <a:r>
              <a:rPr lang="en-US" altLang="zh-CN" sz="2000" b="1" dirty="0">
                <a:latin typeface="+mn-ea"/>
              </a:rPr>
              <a:t>|</a:t>
            </a:r>
            <a:r>
              <a:rPr lang="zh-CN" altLang="zh-CN" sz="2000" b="1" dirty="0">
                <a:latin typeface="+mn-ea"/>
              </a:rPr>
              <a:t>【</a:t>
            </a:r>
            <a:r>
              <a:rPr lang="en-US" altLang="zh-CN" sz="2000" b="1" dirty="0">
                <a:latin typeface="+mn-ea"/>
              </a:rPr>
              <a:t>Fields</a:t>
            </a:r>
            <a:r>
              <a:rPr lang="zh-CN" altLang="zh-CN" sz="2000" b="1" dirty="0">
                <a:latin typeface="+mn-ea"/>
              </a:rPr>
              <a:t>】</a:t>
            </a:r>
            <a:r>
              <a:rPr lang="en-US" altLang="zh-CN" sz="2000" b="1" dirty="0">
                <a:latin typeface="+mn-ea"/>
              </a:rPr>
              <a:t>|</a:t>
            </a:r>
            <a:r>
              <a:rPr lang="zh-CN" altLang="zh-CN" sz="2000" b="1" dirty="0">
                <a:latin typeface="+mn-ea"/>
              </a:rPr>
              <a:t>【</a:t>
            </a:r>
            <a:r>
              <a:rPr lang="en-US" altLang="zh-CN" sz="2000" b="1" dirty="0">
                <a:latin typeface="+mn-ea"/>
              </a:rPr>
              <a:t>Voltage</a:t>
            </a:r>
            <a:r>
              <a:rPr lang="zh-CN" altLang="zh-CN" sz="2000" b="1" dirty="0">
                <a:latin typeface="+mn-ea"/>
              </a:rPr>
              <a:t>】，打开</a:t>
            </a:r>
            <a:r>
              <a:rPr lang="en-US" altLang="zh-CN" sz="2000" b="1" dirty="0">
                <a:latin typeface="+mn-ea"/>
              </a:rPr>
              <a:t>Create Field plot</a:t>
            </a:r>
            <a:r>
              <a:rPr lang="zh-CN" altLang="zh-CN" sz="2000" b="1" dirty="0">
                <a:latin typeface="+mn-ea"/>
              </a:rPr>
              <a:t>对话框</a:t>
            </a:r>
            <a:r>
              <a:rPr lang="zh-CN" altLang="en-US" sz="2000" b="1" dirty="0">
                <a:latin typeface="+mn-ea"/>
              </a:rPr>
              <a:t>，单击</a:t>
            </a:r>
            <a:r>
              <a:rPr lang="zh-CN" altLang="zh-CN" sz="2000" b="1" dirty="0">
                <a:latin typeface="+mn-ea"/>
              </a:rPr>
              <a:t>【</a:t>
            </a:r>
            <a:r>
              <a:rPr lang="en-US" altLang="zh-CN" sz="2000" b="1" dirty="0">
                <a:latin typeface="+mn-ea"/>
              </a:rPr>
              <a:t>Done</a:t>
            </a:r>
            <a:r>
              <a:rPr lang="zh-CN" altLang="zh-CN" sz="2000" b="1" dirty="0">
                <a:latin typeface="+mn-ea"/>
              </a:rPr>
              <a:t>】</a:t>
            </a:r>
            <a:r>
              <a:rPr lang="zh-CN" altLang="en-US" sz="2000" b="1" dirty="0">
                <a:latin typeface="+mn-ea"/>
              </a:rPr>
              <a:t>。</a:t>
            </a:r>
            <a:endParaRPr lang="en-US" altLang="zh-CN" sz="2000" b="1" dirty="0">
              <a:latin typeface="+mn-ea"/>
            </a:endParaRPr>
          </a:p>
          <a:p>
            <a:pPr marL="360045" algn="just">
              <a:lnSpc>
                <a:spcPct val="120000"/>
              </a:lnSpc>
              <a:spcAft>
                <a:spcPts val="600"/>
              </a:spcAft>
            </a:pPr>
            <a:r>
              <a:rPr lang="en-US" altLang="zh-CN" sz="2000" b="1" dirty="0">
                <a:latin typeface="+mn-ea"/>
              </a:rPr>
              <a:t>2</a:t>
            </a:r>
            <a:r>
              <a:rPr lang="zh-CN" altLang="en-US" sz="2000" b="1" dirty="0">
                <a:latin typeface="+mn-ea"/>
              </a:rPr>
              <a:t>）菜单栏选择</a:t>
            </a:r>
            <a:r>
              <a:rPr lang="zh-CN" altLang="zh-CN" sz="2000" b="1" dirty="0">
                <a:latin typeface="+mn-ea"/>
              </a:rPr>
              <a:t>【</a:t>
            </a:r>
            <a:r>
              <a:rPr lang="en-US" altLang="zh-CN" sz="2000" b="1" dirty="0">
                <a:latin typeface="+mn-ea"/>
              </a:rPr>
              <a:t>Edit</a:t>
            </a:r>
            <a:r>
              <a:rPr lang="zh-CN" altLang="zh-CN" sz="2000" b="1" dirty="0">
                <a:latin typeface="+mn-ea"/>
              </a:rPr>
              <a:t>】</a:t>
            </a:r>
            <a:r>
              <a:rPr lang="en-US" altLang="zh-CN" sz="2000" b="1" dirty="0">
                <a:latin typeface="+mn-ea"/>
              </a:rPr>
              <a:t>|</a:t>
            </a:r>
            <a:r>
              <a:rPr lang="zh-CN" altLang="zh-CN" sz="2000" b="1" dirty="0">
                <a:latin typeface="+mn-ea"/>
              </a:rPr>
              <a:t>【</a:t>
            </a:r>
            <a:r>
              <a:rPr lang="en-US" altLang="zh-CN" sz="2000" b="1" dirty="0">
                <a:latin typeface="+mn-ea"/>
              </a:rPr>
              <a:t>Copy Image</a:t>
            </a:r>
            <a:r>
              <a:rPr lang="zh-CN" altLang="zh-CN" sz="2000" b="1" dirty="0">
                <a:latin typeface="+mn-ea"/>
              </a:rPr>
              <a:t>】</a:t>
            </a:r>
            <a:r>
              <a:rPr lang="zh-CN" altLang="en-US" sz="2000" b="1" dirty="0">
                <a:latin typeface="+mn-ea"/>
              </a:rPr>
              <a:t>复制图形。</a:t>
            </a:r>
            <a:endParaRPr lang="zh-CN" altLang="zh-CN" sz="2000" b="1" dirty="0">
              <a:latin typeface="+mn-ea"/>
            </a:endParaRPr>
          </a:p>
          <a:p>
            <a:pPr algn="just">
              <a:spcAft>
                <a:spcPts val="600"/>
              </a:spcAft>
            </a:pPr>
            <a:endParaRPr lang="zh-CN" altLang="zh-CN" sz="2000" b="1" kern="100" dirty="0">
              <a:latin typeface="宋体" panose="02010600030101010101" pitchFamily="2" charset="-122"/>
              <a:ea typeface="宋体" panose="02010600030101010101" pitchFamily="2" charset="-122"/>
            </a:endParaRPr>
          </a:p>
        </p:txBody>
      </p:sp>
      <p:sp>
        <p:nvSpPr>
          <p:cNvPr id="6"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40</a:t>
            </a:fld>
            <a:endParaRPr lang="id-ID" sz="1200" dirty="0"/>
          </a:p>
        </p:txBody>
      </p:sp>
      <p:pic>
        <p:nvPicPr>
          <p:cNvPr id="4" name="图片 3"/>
          <p:cNvPicPr>
            <a:picLocks noChangeAspect="1"/>
          </p:cNvPicPr>
          <p:nvPr/>
        </p:nvPicPr>
        <p:blipFill>
          <a:blip r:embed="rId2"/>
          <a:stretch>
            <a:fillRect/>
          </a:stretch>
        </p:blipFill>
        <p:spPr>
          <a:xfrm>
            <a:off x="7682206" y="3118224"/>
            <a:ext cx="4509794" cy="3600000"/>
          </a:xfrm>
          <a:prstGeom prst="rect">
            <a:avLst/>
          </a:prstGeom>
        </p:spPr>
      </p:pic>
      <p:grpSp>
        <p:nvGrpSpPr>
          <p:cNvPr id="9" name="组合 8"/>
          <p:cNvGrpSpPr/>
          <p:nvPr/>
        </p:nvGrpSpPr>
        <p:grpSpPr>
          <a:xfrm>
            <a:off x="1017209" y="3118224"/>
            <a:ext cx="4950207" cy="3730462"/>
            <a:chOff x="1145793" y="3965248"/>
            <a:chExt cx="4950207" cy="3730462"/>
          </a:xfrm>
        </p:grpSpPr>
        <p:pic>
          <p:nvPicPr>
            <p:cNvPr id="3" name="图片 2"/>
            <p:cNvPicPr>
              <a:picLocks noChangeAspect="1"/>
            </p:cNvPicPr>
            <p:nvPr/>
          </p:nvPicPr>
          <p:blipFill>
            <a:blip r:embed="rId3"/>
            <a:stretch>
              <a:fillRect/>
            </a:stretch>
          </p:blipFill>
          <p:spPr>
            <a:xfrm>
              <a:off x="1145793" y="3965248"/>
              <a:ext cx="4950207" cy="3730462"/>
            </a:xfrm>
            <a:prstGeom prst="rect">
              <a:avLst/>
            </a:prstGeom>
          </p:spPr>
        </p:pic>
        <p:sp>
          <p:nvSpPr>
            <p:cNvPr id="7" name="矩形 6"/>
            <p:cNvSpPr/>
            <p:nvPr/>
          </p:nvSpPr>
          <p:spPr>
            <a:xfrm>
              <a:off x="3554190" y="5109409"/>
              <a:ext cx="1270905" cy="2450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825095" y="5465366"/>
              <a:ext cx="1270905" cy="2450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328506" y="3020995"/>
            <a:ext cx="3607835" cy="2880000"/>
          </a:xfrm>
          <a:prstGeom prst="rect">
            <a:avLst/>
          </a:prstGeom>
        </p:spPr>
      </p:pic>
      <p:sp>
        <p:nvSpPr>
          <p:cNvPr id="2" name="矩形 1"/>
          <p:cNvSpPr/>
          <p:nvPr/>
        </p:nvSpPr>
        <p:spPr>
          <a:xfrm>
            <a:off x="532164" y="1147442"/>
            <a:ext cx="11460980" cy="1476375"/>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后处理。</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spcAft>
                <a:spcPts val="600"/>
              </a:spcAft>
            </a:pPr>
            <a:r>
              <a:rPr lang="en-US" altLang="zh-CN" sz="2000" b="1" kern="100" dirty="0">
                <a:latin typeface="+mn-ea"/>
              </a:rPr>
              <a:t>2.</a:t>
            </a:r>
            <a:r>
              <a:rPr lang="zh-CN" altLang="en-US" sz="2000" b="1" kern="100" dirty="0">
                <a:latin typeface="+mn-ea"/>
              </a:rPr>
              <a:t>设置等位线的显示方式。</a:t>
            </a:r>
            <a:endParaRPr lang="en-US" altLang="zh-CN" sz="2000" b="1" kern="100" dirty="0">
              <a:latin typeface="+mn-ea"/>
            </a:endParaRPr>
          </a:p>
          <a:p>
            <a:pPr algn="just">
              <a:spcAft>
                <a:spcPts val="600"/>
              </a:spcAft>
            </a:pPr>
            <a:r>
              <a:rPr lang="en-US" altLang="zh-CN" sz="2000" b="1" kern="100" dirty="0">
                <a:latin typeface="+mn-ea"/>
              </a:rPr>
              <a:t>1</a:t>
            </a:r>
            <a:r>
              <a:rPr lang="zh-CN" altLang="en-US" sz="2000" b="1" kern="100" dirty="0">
                <a:latin typeface="+mn-ea"/>
              </a:rPr>
              <a:t>）双击图形显示区的颜色图例，打开</a:t>
            </a:r>
            <a:r>
              <a:rPr lang="en-US" altLang="zh-CN" sz="2000" b="1" kern="100" dirty="0" err="1">
                <a:latin typeface="+mn-ea"/>
              </a:rPr>
              <a:t>图形属性设置对话框</a:t>
            </a:r>
            <a:r>
              <a:rPr lang="zh-CN" altLang="en-US" sz="2000" b="1" kern="100" dirty="0">
                <a:latin typeface="+mn-ea"/>
              </a:rPr>
              <a:t>，在</a:t>
            </a:r>
            <a:r>
              <a:rPr lang="en-US" altLang="zh-CN" sz="2000" b="1" kern="100" dirty="0">
                <a:latin typeface="+mn-ea"/>
              </a:rPr>
              <a:t>Plots</a:t>
            </a:r>
            <a:r>
              <a:rPr lang="zh-CN" altLang="en-US" sz="2000" b="1" kern="100" dirty="0">
                <a:latin typeface="+mn-ea"/>
              </a:rPr>
              <a:t>选项卡中的</a:t>
            </a:r>
            <a:r>
              <a:rPr lang="en-US" altLang="zh-CN" sz="2000" b="1" kern="100" dirty="0">
                <a:latin typeface="+mn-ea"/>
              </a:rPr>
              <a:t>Scalar plot</a:t>
            </a:r>
            <a:r>
              <a:rPr lang="zh-CN" altLang="en-US" sz="2000" b="1" kern="100" dirty="0">
                <a:latin typeface="+mn-ea"/>
              </a:rPr>
              <a:t>栏，选择等值线类型为：</a:t>
            </a:r>
            <a:r>
              <a:rPr lang="en-US" altLang="zh-CN" sz="2000" b="1" kern="100" dirty="0">
                <a:latin typeface="+mn-ea"/>
              </a:rPr>
              <a:t>Line</a:t>
            </a:r>
            <a:r>
              <a:rPr lang="zh-CN" altLang="en-US" sz="2000" b="1" kern="100" dirty="0">
                <a:latin typeface="+mn-ea"/>
              </a:rPr>
              <a:t>，单击【</a:t>
            </a:r>
            <a:r>
              <a:rPr lang="en-US" altLang="zh-CN" sz="2000" b="1" kern="100" dirty="0">
                <a:latin typeface="+mn-ea"/>
              </a:rPr>
              <a:t>Apply</a:t>
            </a:r>
            <a:r>
              <a:rPr lang="zh-CN" altLang="en-US" sz="2000" b="1" kern="100" dirty="0">
                <a:latin typeface="+mn-ea"/>
              </a:rPr>
              <a:t>】，单击【</a:t>
            </a:r>
            <a:r>
              <a:rPr lang="en-US" altLang="zh-CN" sz="2000" b="1" kern="100" dirty="0">
                <a:latin typeface="+mn-ea"/>
              </a:rPr>
              <a:t>Close</a:t>
            </a:r>
            <a:r>
              <a:rPr lang="zh-CN" altLang="en-US" sz="2000" b="1" kern="100" dirty="0">
                <a:latin typeface="+mn-ea"/>
              </a:rPr>
              <a:t>】。</a:t>
            </a:r>
            <a:endParaRPr lang="zh-CN" altLang="zh-CN" sz="2000" b="1" kern="100" dirty="0">
              <a:latin typeface="+mn-ea"/>
            </a:endParaRPr>
          </a:p>
        </p:txBody>
      </p:sp>
      <p:sp>
        <p:nvSpPr>
          <p:cNvPr id="6"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41</a:t>
            </a:fld>
            <a:endParaRPr lang="id-ID" sz="1200" dirty="0"/>
          </a:p>
        </p:txBody>
      </p:sp>
      <p:sp>
        <p:nvSpPr>
          <p:cNvPr id="7" name="矩形 6"/>
          <p:cNvSpPr/>
          <p:nvPr/>
        </p:nvSpPr>
        <p:spPr>
          <a:xfrm>
            <a:off x="192506" y="2967596"/>
            <a:ext cx="745932" cy="157341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6944" y="2624770"/>
            <a:ext cx="3658111" cy="4696480"/>
          </a:xfrm>
          <a:prstGeom prst="rect">
            <a:avLst/>
          </a:prstGeom>
        </p:spPr>
      </p:pic>
      <p:sp>
        <p:nvSpPr>
          <p:cNvPr id="11" name="矩形 10"/>
          <p:cNvSpPr/>
          <p:nvPr/>
        </p:nvSpPr>
        <p:spPr>
          <a:xfrm>
            <a:off x="817047" y="3134576"/>
            <a:ext cx="242781" cy="1239450"/>
          </a:xfrm>
          <a:prstGeom prst="rect">
            <a:avLst/>
          </a:prstGeom>
        </p:spPr>
        <p:txBody>
          <a:bodyPr wrap="square">
            <a:spAutoFit/>
          </a:bodyPr>
          <a:lstStyle/>
          <a:p>
            <a:r>
              <a:rPr lang="zh-CN" altLang="en-US" b="1" kern="100" dirty="0">
                <a:solidFill>
                  <a:srgbClr val="FF0000"/>
                </a:solidFill>
                <a:latin typeface="+mn-ea"/>
              </a:rPr>
              <a:t>颜色图例</a:t>
            </a:r>
            <a:endParaRPr lang="zh-CN" altLang="en-US" dirty="0">
              <a:solidFill>
                <a:srgbClr val="FF0000"/>
              </a:solidFill>
            </a:endParaRPr>
          </a:p>
        </p:txBody>
      </p:sp>
      <p:pic>
        <p:nvPicPr>
          <p:cNvPr id="12" name="图片 11"/>
          <p:cNvPicPr>
            <a:picLocks noChangeAspect="1"/>
          </p:cNvPicPr>
          <p:nvPr/>
        </p:nvPicPr>
        <p:blipFill>
          <a:blip r:embed="rId4"/>
          <a:stretch>
            <a:fillRect/>
          </a:stretch>
        </p:blipFill>
        <p:spPr>
          <a:xfrm>
            <a:off x="8255659" y="3020995"/>
            <a:ext cx="3607835" cy="2880000"/>
          </a:xfrm>
          <a:prstGeom prst="rect">
            <a:avLst/>
          </a:prstGeom>
        </p:spPr>
      </p:pic>
      <p:sp>
        <p:nvSpPr>
          <p:cNvPr id="13" name="矩形 12"/>
          <p:cNvSpPr/>
          <p:nvPr/>
        </p:nvSpPr>
        <p:spPr>
          <a:xfrm>
            <a:off x="9350509" y="5927888"/>
            <a:ext cx="1903052" cy="369332"/>
          </a:xfrm>
          <a:prstGeom prst="rect">
            <a:avLst/>
          </a:prstGeom>
        </p:spPr>
        <p:txBody>
          <a:bodyPr wrap="square">
            <a:spAutoFit/>
          </a:bodyPr>
          <a:lstStyle/>
          <a:p>
            <a:pPr algn="just">
              <a:spcAft>
                <a:spcPts val="600"/>
              </a:spcAft>
            </a:pPr>
            <a:r>
              <a:rPr lang="zh-CN" altLang="en-US" b="1" kern="100" dirty="0">
                <a:latin typeface="微软雅黑" panose="020B0503020204020204" pitchFamily="34" charset="-122"/>
                <a:ea typeface="微软雅黑" panose="020B0503020204020204" pitchFamily="34" charset="-122"/>
                <a:cs typeface="宋体" panose="02010600030101010101" pitchFamily="2" charset="-122"/>
              </a:rPr>
              <a:t>等位线分布图</a:t>
            </a:r>
            <a:endParaRPr lang="zh-CN" altLang="zh-CN" sz="16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31020" y="1117463"/>
            <a:ext cx="11460980" cy="1677382"/>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后处理。</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spcAft>
                <a:spcPts val="600"/>
              </a:spcAft>
            </a:pPr>
            <a:r>
              <a:rPr lang="en-US" altLang="zh-CN" sz="2000" b="1" kern="100" dirty="0">
                <a:latin typeface="+mn-ea"/>
              </a:rPr>
              <a:t>3.</a:t>
            </a:r>
            <a:r>
              <a:rPr lang="zh-CN" altLang="en-US" sz="2000" b="1" kern="100" dirty="0">
                <a:latin typeface="+mn-ea"/>
              </a:rPr>
              <a:t>删除已绘制的图形。</a:t>
            </a:r>
            <a:endParaRPr lang="en-US" altLang="zh-CN" sz="2000" b="1" kern="100" dirty="0">
              <a:latin typeface="+mn-ea"/>
            </a:endParaRPr>
          </a:p>
          <a:p>
            <a:pPr marL="360045" algn="just">
              <a:lnSpc>
                <a:spcPct val="120000"/>
              </a:lnSpc>
              <a:spcAft>
                <a:spcPts val="600"/>
              </a:spcAft>
            </a:pPr>
            <a:r>
              <a:rPr lang="en-US" altLang="zh-CN" sz="2000" b="1" kern="100" dirty="0">
                <a:latin typeface="+mn-ea"/>
              </a:rPr>
              <a:t>1</a:t>
            </a:r>
            <a:r>
              <a:rPr lang="zh-CN" altLang="en-US" sz="2000" b="1" kern="100" dirty="0">
                <a:latin typeface="+mn-ea"/>
              </a:rPr>
              <a:t>）</a:t>
            </a:r>
            <a:r>
              <a:rPr lang="zh-CN" altLang="zh-CN" sz="2000" b="1" kern="100" dirty="0">
                <a:latin typeface="+mn-ea"/>
              </a:rPr>
              <a:t>在工程树</a:t>
            </a:r>
            <a:r>
              <a:rPr lang="zh-CN" altLang="en-US" sz="2000" b="1" kern="100" dirty="0">
                <a:latin typeface="+mn-ea"/>
              </a:rPr>
              <a:t>管理栏</a:t>
            </a:r>
            <a:r>
              <a:rPr lang="zh-CN" altLang="zh-CN" sz="2000" b="1" kern="100" dirty="0">
                <a:latin typeface="+mn-ea"/>
              </a:rPr>
              <a:t>单击</a:t>
            </a:r>
            <a:r>
              <a:rPr lang="en-US" altLang="zh-CN" sz="2000" b="1" kern="100" dirty="0">
                <a:latin typeface="+mn-ea"/>
              </a:rPr>
              <a:t>Field Overlays</a:t>
            </a:r>
            <a:r>
              <a:rPr lang="zh-CN" altLang="en-US" sz="2000" b="1" kern="100" dirty="0">
                <a:latin typeface="+mn-ea"/>
              </a:rPr>
              <a:t>，将其展开，选择需要删除的图形，如</a:t>
            </a:r>
            <a:r>
              <a:rPr lang="en-US" altLang="zh-CN" sz="2000" b="1" kern="100" dirty="0">
                <a:latin typeface="+mn-ea"/>
              </a:rPr>
              <a:t>Voltage</a:t>
            </a:r>
            <a:r>
              <a:rPr lang="zh-CN" altLang="en-US" sz="2000" b="1" kern="100" dirty="0">
                <a:latin typeface="+mn-ea"/>
              </a:rPr>
              <a:t>。</a:t>
            </a:r>
            <a:endParaRPr lang="en-US" altLang="zh-CN" sz="2000" b="1" kern="100" dirty="0">
              <a:latin typeface="+mn-ea"/>
            </a:endParaRPr>
          </a:p>
          <a:p>
            <a:pPr marL="360045" algn="just">
              <a:lnSpc>
                <a:spcPct val="120000"/>
              </a:lnSpc>
              <a:spcAft>
                <a:spcPts val="600"/>
              </a:spcAft>
            </a:pPr>
            <a:r>
              <a:rPr lang="en-US" altLang="zh-CN" sz="2000" b="1" kern="100" dirty="0">
                <a:latin typeface="+mn-ea"/>
              </a:rPr>
              <a:t>2</a:t>
            </a:r>
            <a:r>
              <a:rPr lang="zh-CN" altLang="en-US" sz="2000" b="1" kern="100" dirty="0">
                <a:latin typeface="+mn-ea"/>
              </a:rPr>
              <a:t>）单击右键，在快捷菜单中选择</a:t>
            </a:r>
            <a:r>
              <a:rPr lang="en-US" altLang="zh-CN" sz="2000" b="1" kern="100" dirty="0">
                <a:latin typeface="+mn-ea"/>
              </a:rPr>
              <a:t>Delete</a:t>
            </a:r>
            <a:r>
              <a:rPr lang="zh-CN" altLang="en-US" sz="2000" b="1" kern="100" dirty="0">
                <a:latin typeface="+mn-ea"/>
              </a:rPr>
              <a:t>。</a:t>
            </a:r>
            <a:endParaRPr lang="zh-CN" altLang="zh-CN" sz="2000" b="1" kern="100" dirty="0">
              <a:latin typeface="+mn-ea"/>
            </a:endParaRPr>
          </a:p>
        </p:txBody>
      </p:sp>
      <p:sp>
        <p:nvSpPr>
          <p:cNvPr id="6" name="TextBox 4"/>
          <p:cNvSpPr txBox="1"/>
          <p:nvPr/>
        </p:nvSpPr>
        <p:spPr>
          <a:xfrm>
            <a:off x="11809440" y="62972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42</a:t>
            </a:fld>
            <a:endParaRPr lang="id-ID" sz="1200" dirty="0"/>
          </a:p>
        </p:txBody>
      </p:sp>
      <p:pic>
        <p:nvPicPr>
          <p:cNvPr id="3" name="图片 2"/>
          <p:cNvPicPr>
            <a:picLocks noChangeAspect="1"/>
          </p:cNvPicPr>
          <p:nvPr/>
        </p:nvPicPr>
        <p:blipFill rotWithShape="1">
          <a:blip r:embed="rId2"/>
          <a:srcRect t="11509" r="80658" b="44982"/>
          <a:stretch>
            <a:fillRect/>
          </a:stretch>
        </p:blipFill>
        <p:spPr>
          <a:xfrm>
            <a:off x="3080085" y="2835720"/>
            <a:ext cx="2845161" cy="3600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p:cNvSpPr txBox="1"/>
          <p:nvPr/>
        </p:nvSpPr>
        <p:spPr>
          <a:xfrm>
            <a:off x="11711650" y="6017821"/>
            <a:ext cx="367408" cy="276999"/>
          </a:xfrm>
          <a:prstGeom prst="rect">
            <a:avLst/>
          </a:prstGeom>
          <a:noFill/>
        </p:spPr>
        <p:txBody>
          <a:bodyPr wrap="none" rtlCol="0">
            <a:spAutoFit/>
          </a:bodyPr>
          <a:lstStyle/>
          <a:p>
            <a:fld id="{260E2A6B-A809-4840-BF14-8648BC0BDF87}" type="slidenum">
              <a:rPr lang="id-ID" sz="1200" b="1" smtClean="0">
                <a:solidFill>
                  <a:schemeClr val="bg1"/>
                </a:solidFill>
              </a:rPr>
              <a:t>43</a:t>
            </a:fld>
            <a:endParaRPr lang="id-ID" sz="1200" dirty="0"/>
          </a:p>
        </p:txBody>
      </p:sp>
      <p:sp>
        <p:nvSpPr>
          <p:cNvPr id="8" name="矩形 7"/>
          <p:cNvSpPr/>
          <p:nvPr/>
        </p:nvSpPr>
        <p:spPr>
          <a:xfrm>
            <a:off x="269875" y="1117600"/>
            <a:ext cx="6236970" cy="5092700"/>
          </a:xfrm>
          <a:prstGeom prst="rect">
            <a:avLst/>
          </a:prstGeom>
        </p:spPr>
        <p:txBody>
          <a:bodyPr wrap="square">
            <a:spAutoFit/>
          </a:bodyPr>
          <a:lstStyle/>
          <a:p>
            <a:pPr algn="just">
              <a:spcAft>
                <a:spcPts val="600"/>
              </a:spcAft>
            </a:pP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步骤</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后处理。</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0000"/>
              </a:lnSpc>
              <a:spcAft>
                <a:spcPts val="600"/>
              </a:spcAft>
            </a:pPr>
            <a:r>
              <a:rPr lang="en-US" altLang="zh-CN" sz="2000" b="1" kern="100" dirty="0">
                <a:latin typeface="+mn-ea"/>
              </a:rPr>
              <a:t>4.</a:t>
            </a:r>
            <a:r>
              <a:rPr lang="zh-CN" altLang="en-US" sz="2000" b="1" kern="100" dirty="0">
                <a:latin typeface="+mn-ea"/>
              </a:rPr>
              <a:t>查看某一点的电位。</a:t>
            </a:r>
            <a:endParaRPr lang="en-US" altLang="zh-CN" sz="2000" b="1" kern="100" dirty="0">
              <a:latin typeface="+mn-ea"/>
            </a:endParaRPr>
          </a:p>
          <a:p>
            <a:pPr marL="360045" algn="just">
              <a:lnSpc>
                <a:spcPct val="120000"/>
              </a:lnSpc>
              <a:spcAft>
                <a:spcPts val="600"/>
              </a:spcAft>
            </a:pPr>
            <a:r>
              <a:rPr lang="en-US" altLang="zh-CN" sz="2000" b="1" kern="100" dirty="0">
                <a:latin typeface="+mn-ea"/>
              </a:rPr>
              <a:t>1</a:t>
            </a:r>
            <a:r>
              <a:rPr lang="zh-CN" altLang="en-US" sz="2000" b="1" kern="100" dirty="0">
                <a:latin typeface="+mn-ea"/>
              </a:rPr>
              <a:t>）创建一个点（</a:t>
            </a:r>
            <a:r>
              <a:rPr lang="en-US" altLang="zh-CN" sz="2000" b="1" kern="100" dirty="0">
                <a:latin typeface="+mn-ea"/>
              </a:rPr>
              <a:t>10,10</a:t>
            </a:r>
            <a:r>
              <a:rPr lang="zh-CN" altLang="en-US" sz="2000" b="1" kern="100" dirty="0">
                <a:latin typeface="+mn-ea"/>
              </a:rPr>
              <a:t>）。</a:t>
            </a:r>
            <a:r>
              <a:rPr lang="en-US" altLang="zh-CN" b="1" dirty="0">
                <a:latin typeface="+mn-ea"/>
              </a:rPr>
              <a:t> </a:t>
            </a:r>
          </a:p>
          <a:p>
            <a:pPr marL="1062990" indent="-342900" algn="just">
              <a:lnSpc>
                <a:spcPct val="120000"/>
              </a:lnSpc>
              <a:spcAft>
                <a:spcPts val="600"/>
              </a:spcAft>
              <a:buFont typeface="Wingdings" panose="05000000000000000000" charset="0"/>
              <a:buChar char="Ø"/>
            </a:pPr>
            <a:r>
              <a:rPr lang="en-US" altLang="zh-CN" sz="2000" b="1" kern="100" dirty="0" err="1">
                <a:latin typeface="+mn-ea"/>
              </a:rPr>
              <a:t>菜单栏选择【Draw</a:t>
            </a:r>
            <a:r>
              <a:rPr lang="en-US" altLang="zh-CN" sz="2000" b="1" kern="100" dirty="0">
                <a:latin typeface="+mn-ea"/>
              </a:rPr>
              <a:t>】|【Point】</a:t>
            </a:r>
            <a:r>
              <a:rPr lang="zh-CN" altLang="en-US" sz="2000" b="1" kern="100" dirty="0">
                <a:latin typeface="+mn-ea"/>
              </a:rPr>
              <a:t>。</a:t>
            </a:r>
            <a:endParaRPr lang="en-US" altLang="zh-CN" sz="2000" b="1" kern="100" dirty="0">
              <a:latin typeface="+mn-ea"/>
            </a:endParaRPr>
          </a:p>
          <a:p>
            <a:pPr marL="1062990" indent="-342900" algn="just">
              <a:lnSpc>
                <a:spcPct val="120000"/>
              </a:lnSpc>
              <a:spcAft>
                <a:spcPts val="600"/>
              </a:spcAft>
              <a:buFont typeface="Wingdings" panose="05000000000000000000" charset="0"/>
              <a:buChar char="Ø"/>
            </a:pPr>
            <a:r>
              <a:rPr lang="en-US" altLang="zh-CN" sz="2000" b="1" kern="100" dirty="0" err="1">
                <a:latin typeface="+mn-ea"/>
              </a:rPr>
              <a:t>在屏幕右下角的坐标输入框输入点</a:t>
            </a:r>
            <a:r>
              <a:rPr lang="zh-CN" altLang="en-US" sz="2000" b="1" kern="100" dirty="0">
                <a:latin typeface="+mn-ea"/>
              </a:rPr>
              <a:t>的</a:t>
            </a:r>
            <a:r>
              <a:rPr lang="en-US" altLang="zh-CN" sz="2000" b="1" kern="100" dirty="0" err="1">
                <a:latin typeface="+mn-ea"/>
              </a:rPr>
              <a:t>坐标</a:t>
            </a:r>
            <a:r>
              <a:rPr lang="zh-CN" altLang="en-US" sz="2000" b="1" kern="100" dirty="0">
                <a:latin typeface="+mn-ea"/>
              </a:rPr>
              <a:t>，如</a:t>
            </a:r>
            <a:r>
              <a:rPr lang="en-US" altLang="zh-CN" sz="2000" b="1" kern="100" dirty="0">
                <a:latin typeface="+mn-ea"/>
              </a:rPr>
              <a:t>：X=10，Y=10，Z=0，单击Enter键</a:t>
            </a:r>
            <a:r>
              <a:rPr lang="zh-CN" altLang="en-US" sz="2000" b="1" kern="100" dirty="0">
                <a:latin typeface="+mn-ea"/>
              </a:rPr>
              <a:t>确定。</a:t>
            </a:r>
            <a:endParaRPr lang="en-US" altLang="zh-CN" sz="2000" b="1" kern="100" dirty="0">
              <a:latin typeface="+mn-ea"/>
            </a:endParaRPr>
          </a:p>
          <a:p>
            <a:pPr marL="360045" algn="just">
              <a:spcAft>
                <a:spcPts val="600"/>
              </a:spcAft>
            </a:pPr>
            <a:r>
              <a:rPr lang="en-US" altLang="zh-CN" sz="2000" b="1" kern="100" dirty="0">
                <a:latin typeface="+mn-ea"/>
              </a:rPr>
              <a:t>2</a:t>
            </a:r>
            <a:r>
              <a:rPr lang="zh-CN" altLang="en-US" sz="2000" b="1" kern="100" dirty="0">
                <a:latin typeface="+mn-ea"/>
              </a:rPr>
              <a:t>）查看点上的电位。</a:t>
            </a:r>
            <a:r>
              <a:rPr lang="en-US" altLang="zh-CN" sz="2000" b="1" kern="100" dirty="0">
                <a:latin typeface="+mn-ea"/>
              </a:rPr>
              <a:t> </a:t>
            </a:r>
          </a:p>
          <a:p>
            <a:pPr marL="720090" algn="just">
              <a:spcAft>
                <a:spcPts val="600"/>
              </a:spcAft>
            </a:pPr>
            <a:r>
              <a:rPr lang="en-US" altLang="zh-CN" sz="2000" b="1" kern="100" dirty="0" err="1">
                <a:latin typeface="+mn-ea"/>
              </a:rPr>
              <a:t>菜单栏选择【Maxwell</a:t>
            </a:r>
            <a:r>
              <a:rPr lang="en-US" altLang="zh-CN" sz="2000" b="1" kern="100" dirty="0">
                <a:latin typeface="+mn-ea"/>
              </a:rPr>
              <a:t> 2D】|【Results】|【Create Fields Report】|【Data Table】，</a:t>
            </a:r>
            <a:r>
              <a:rPr lang="en-US" altLang="zh-CN" sz="2000" b="1" kern="100" dirty="0" err="1">
                <a:latin typeface="+mn-ea"/>
              </a:rPr>
              <a:t>打开Report窗口，设置</a:t>
            </a:r>
            <a:r>
              <a:rPr lang="en-US" altLang="zh-CN" sz="2000" b="1" kern="100" dirty="0">
                <a:latin typeface="+mn-ea"/>
              </a:rPr>
              <a:t>：</a:t>
            </a:r>
          </a:p>
          <a:p>
            <a:pPr marL="1062990" indent="-342900" algn="just">
              <a:spcAft>
                <a:spcPts val="600"/>
              </a:spcAft>
              <a:buFont typeface="Wingdings" panose="05000000000000000000" charset="0"/>
              <a:buChar char="Ø"/>
            </a:pPr>
            <a:r>
              <a:rPr lang="en-US" altLang="zh-CN" sz="2000" b="1" kern="100" dirty="0">
                <a:latin typeface="+mn-ea"/>
              </a:rPr>
              <a:t>Geometry：Point1；</a:t>
            </a:r>
          </a:p>
          <a:p>
            <a:pPr marL="1062990" indent="-342900" algn="just">
              <a:spcAft>
                <a:spcPts val="600"/>
              </a:spcAft>
              <a:buFont typeface="Wingdings" panose="05000000000000000000" charset="0"/>
              <a:buChar char="Ø"/>
            </a:pPr>
            <a:r>
              <a:rPr lang="en-US" altLang="zh-CN" sz="2000" b="1" kern="100" dirty="0">
                <a:latin typeface="+mn-ea"/>
              </a:rPr>
              <a:t>单击【New Report】</a:t>
            </a:r>
            <a:r>
              <a:rPr lang="zh-CN" altLang="en-US" sz="2000" b="1" kern="100" dirty="0">
                <a:latin typeface="+mn-ea"/>
              </a:rPr>
              <a:t>。</a:t>
            </a:r>
            <a:endParaRPr lang="en-US" altLang="zh-CN" sz="2000" b="1" kern="100" dirty="0">
              <a:latin typeface="+mn-ea"/>
            </a:endParaRPr>
          </a:p>
          <a:p>
            <a:pPr algn="just">
              <a:spcAft>
                <a:spcPts val="600"/>
              </a:spcAft>
            </a:pPr>
            <a:r>
              <a:rPr lang="zh-CN" altLang="en-US" sz="2000" b="1" kern="100" dirty="0">
                <a:latin typeface="+mn-ea"/>
              </a:rPr>
              <a:t>所创建点（</a:t>
            </a:r>
            <a:r>
              <a:rPr lang="en-US" altLang="zh-CN" sz="2000" b="1" kern="100" dirty="0">
                <a:latin typeface="+mn-ea"/>
              </a:rPr>
              <a:t>10,10</a:t>
            </a:r>
            <a:r>
              <a:rPr lang="zh-CN" altLang="en-US" sz="2000" b="1" kern="100" dirty="0">
                <a:latin typeface="+mn-ea"/>
              </a:rPr>
              <a:t>）的电位为</a:t>
            </a:r>
            <a:r>
              <a:rPr lang="en-US" altLang="zh-CN" sz="2000" b="1" kern="100" dirty="0">
                <a:latin typeface="+mn-ea"/>
              </a:rPr>
              <a:t>36.03V</a:t>
            </a:r>
            <a:r>
              <a:rPr lang="zh-CN" altLang="en-US" sz="2000" b="1" kern="100" dirty="0">
                <a:latin typeface="+mn-ea"/>
              </a:rPr>
              <a:t>。</a:t>
            </a:r>
            <a:endParaRPr lang="zh-CN" altLang="zh-CN" sz="2000" b="1" kern="100" dirty="0">
              <a:latin typeface="+mn-ea"/>
            </a:endParaRPr>
          </a:p>
        </p:txBody>
      </p:sp>
      <p:sp>
        <p:nvSpPr>
          <p:cNvPr id="9" name="矩形 8"/>
          <p:cNvSpPr/>
          <p:nvPr/>
        </p:nvSpPr>
        <p:spPr>
          <a:xfrm>
            <a:off x="1056820" y="4512117"/>
            <a:ext cx="11460980" cy="400110"/>
          </a:xfrm>
          <a:prstGeom prst="rect">
            <a:avLst/>
          </a:prstGeom>
        </p:spPr>
        <p:txBody>
          <a:bodyPr wrap="square">
            <a:spAutoFit/>
          </a:bodyPr>
          <a:lstStyle/>
          <a:p>
            <a:pPr algn="just">
              <a:spcAft>
                <a:spcPts val="600"/>
              </a:spcAft>
            </a:pPr>
            <a:endParaRPr lang="zh-CN" altLang="zh-CN" sz="2000" b="1" kern="100" dirty="0">
              <a:latin typeface="+mn-ea"/>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8485" y="1701493"/>
            <a:ext cx="6087325" cy="4639322"/>
          </a:xfrm>
          <a:prstGeom prst="rect">
            <a:avLst/>
          </a:prstGeom>
        </p:spPr>
      </p:pic>
      <p:pic>
        <p:nvPicPr>
          <p:cNvPr id="2" name="图片 1" descr="~()1XO~PBH${}70VA_ND9SG"/>
          <p:cNvPicPr>
            <a:picLocks noChangeAspect="1"/>
          </p:cNvPicPr>
          <p:nvPr/>
        </p:nvPicPr>
        <p:blipFill>
          <a:blip r:embed="rId3"/>
          <a:stretch>
            <a:fillRect/>
          </a:stretch>
        </p:blipFill>
        <p:spPr>
          <a:xfrm>
            <a:off x="2717800" y="6210300"/>
            <a:ext cx="2571750" cy="4762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B0F0">
            <a:alpha val="5000"/>
          </a:srgbClr>
        </a:solidFill>
        <a:effectLst/>
      </p:bgPr>
    </p:bg>
    <p:spTree>
      <p:nvGrpSpPr>
        <p:cNvPr id="1" name=""/>
        <p:cNvGrpSpPr/>
        <p:nvPr/>
      </p:nvGrpSpPr>
      <p:grpSpPr>
        <a:xfrm>
          <a:off x="0" y="0"/>
          <a:ext cx="0" cy="0"/>
          <a:chOff x="0" y="0"/>
          <a:chExt cx="0" cy="0"/>
        </a:xfrm>
      </p:grpSpPr>
      <p:sp>
        <p:nvSpPr>
          <p:cNvPr id="3" name="TextBox 9"/>
          <p:cNvSpPr txBox="1"/>
          <p:nvPr/>
        </p:nvSpPr>
        <p:spPr>
          <a:xfrm>
            <a:off x="2875910" y="2197816"/>
            <a:ext cx="9316090" cy="1569660"/>
          </a:xfrm>
          <a:prstGeom prst="rect">
            <a:avLst/>
          </a:prstGeom>
          <a:noFill/>
        </p:spPr>
        <p:txBody>
          <a:bodyPr wrap="square" rtlCol="0">
            <a:spAutoFit/>
          </a:bodyPr>
          <a:lstStyle/>
          <a:p>
            <a:r>
              <a:rPr lang="en-US" altLang="zh-CN" sz="9600" dirty="0">
                <a:solidFill>
                  <a:srgbClr val="00467F"/>
                </a:solidFill>
                <a:ea typeface="微软雅黑" panose="020B0503020204020204" pitchFamily="34" charset="-122"/>
              </a:rPr>
              <a:t>Thank you</a:t>
            </a:r>
            <a:r>
              <a:rPr lang="zh-CN" altLang="en-US" sz="9600" dirty="0">
                <a:solidFill>
                  <a:srgbClr val="00467F"/>
                </a:solidFill>
                <a:ea typeface="微软雅黑" panose="020B0503020204020204" pitchFamily="34" charset="-122"/>
              </a:rPr>
              <a:t>！</a:t>
            </a:r>
            <a:endParaRPr lang="en-US" altLang="zh-CN" sz="9600" dirty="0">
              <a:solidFill>
                <a:srgbClr val="00467F"/>
              </a:solidFill>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dd691a88-73ce-4df2-afe4-45754df5c236"/>
  <p:tag name="COMMONDATA" val="eyJoZGlkIjoiMzAwNjEzMGU2OGMwMWUxZWRmZDVmMzNiZThiODRmOTM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920,&quot;width&quot;:5949}"/>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855,&quot;width&quot;:465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TotalTime>
  <Words>3980</Words>
  <Application>Microsoft Office PowerPoint</Application>
  <PresentationFormat>宽屏</PresentationFormat>
  <Paragraphs>549</Paragraphs>
  <Slides>44</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8" baseType="lpstr">
      <vt:lpstr>-apple-system</vt:lpstr>
      <vt:lpstr>等线</vt:lpstr>
      <vt:lpstr>等线 Light</vt:lpstr>
      <vt:lpstr>黑体</vt:lpstr>
      <vt:lpstr>宋体</vt:lpstr>
      <vt:lpstr>Microsoft YaHei</vt:lpstr>
      <vt:lpstr>Microsoft YaHei</vt:lpstr>
      <vt:lpstr>Arial</vt:lpstr>
      <vt:lpstr>Calibri</vt:lpstr>
      <vt:lpstr>Consolas</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Shenyao</dc:creator>
  <cp:lastModifiedBy>HP</cp:lastModifiedBy>
  <cp:revision>203</cp:revision>
  <dcterms:created xsi:type="dcterms:W3CDTF">2017-03-13T14:30:00Z</dcterms:created>
  <dcterms:modified xsi:type="dcterms:W3CDTF">2026-03-19T01:03:53Z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DCB825637D294B529435C1413C0A0E2E</vt:lpwstr>
  </property>
</Properties>
</file>