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13"/>
  </p:notesMasterIdLst>
  <p:sldIdLst>
    <p:sldId id="283" r:id="rId3"/>
    <p:sldId id="285" r:id="rId4"/>
    <p:sldId id="267" r:id="rId5"/>
    <p:sldId id="296" r:id="rId6"/>
    <p:sldId id="310" r:id="rId7"/>
    <p:sldId id="287" r:id="rId8"/>
    <p:sldId id="297" r:id="rId9"/>
    <p:sldId id="299" r:id="rId10"/>
    <p:sldId id="11628" r:id="rId11"/>
    <p:sldId id="301" r:id="rId12"/>
    <p:sldId id="309" r:id="rId14"/>
    <p:sldId id="300" r:id="rId15"/>
    <p:sldId id="302" r:id="rId16"/>
    <p:sldId id="303" r:id="rId17"/>
    <p:sldId id="311" r:id="rId18"/>
    <p:sldId id="312" r:id="rId19"/>
    <p:sldId id="314" r:id="rId20"/>
    <p:sldId id="315" r:id="rId21"/>
    <p:sldId id="318" r:id="rId22"/>
    <p:sldId id="316" r:id="rId23"/>
    <p:sldId id="319" r:id="rId24"/>
    <p:sldId id="11629" r:id="rId25"/>
    <p:sldId id="308" r:id="rId26"/>
    <p:sldId id="284" r:id="rId27"/>
    <p:sldId id="11625" r:id="rId28"/>
    <p:sldId id="11575" r:id="rId29"/>
    <p:sldId id="11579" r:id="rId30"/>
    <p:sldId id="11583" r:id="rId31"/>
    <p:sldId id="11576" r:id="rId32"/>
    <p:sldId id="11580" r:id="rId33"/>
    <p:sldId id="11615" r:id="rId34"/>
    <p:sldId id="11582" r:id="rId35"/>
    <p:sldId id="11584" r:id="rId36"/>
    <p:sldId id="11626" r:id="rId37"/>
    <p:sldId id="11569" r:id="rId38"/>
    <p:sldId id="11616" r:id="rId39"/>
    <p:sldId id="11617" r:id="rId40"/>
    <p:sldId id="11618" r:id="rId41"/>
    <p:sldId id="11630" r:id="rId42"/>
    <p:sldId id="11619" r:id="rId43"/>
    <p:sldId id="11631" r:id="rId44"/>
    <p:sldId id="11620" r:id="rId45"/>
    <p:sldId id="11632" r:id="rId46"/>
    <p:sldId id="11633" r:id="rId47"/>
    <p:sldId id="11621" r:id="rId48"/>
    <p:sldId id="11634" r:id="rId49"/>
    <p:sldId id="11627" r:id="rId50"/>
    <p:sldId id="11624"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pos="438" userDrawn="1">
          <p15:clr>
            <a:srgbClr val="A4A3A4"/>
          </p15:clr>
        </p15:guide>
        <p15:guide id="3"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3FBFF"/>
    <a:srgbClr val="E1F4FF"/>
    <a:srgbClr val="CCECFF"/>
    <a:srgbClr val="AC4243"/>
    <a:srgbClr val="AB1E21"/>
    <a:srgbClr val="308ACA"/>
    <a:srgbClr val="EEF0EF"/>
    <a:srgbClr val="E6E6E6"/>
    <a:srgbClr val="C427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18" autoAdjust="0"/>
    <p:restoredTop sz="92905" autoAdjust="0"/>
  </p:normalViewPr>
  <p:slideViewPr>
    <p:cSldViewPr snapToGrid="0" showGuides="1">
      <p:cViewPr varScale="1">
        <p:scale>
          <a:sx n="78" d="100"/>
          <a:sy n="78" d="100"/>
        </p:scale>
        <p:origin x="72" y="1084"/>
      </p:cViewPr>
      <p:guideLst>
        <p:guide orient="horz" pos="2069"/>
        <p:guide pos="438"/>
        <p:guide pos="72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image" Target="../media/image12.wmf"/><Relationship Id="rId7" Type="http://schemas.openxmlformats.org/officeDocument/2006/relationships/image" Target="../media/image11.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59.wmf"/><Relationship Id="rId8" Type="http://schemas.openxmlformats.org/officeDocument/2006/relationships/image" Target="../media/image58.wmf"/><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7" Type="http://schemas.openxmlformats.org/officeDocument/2006/relationships/image" Target="../media/image67.wmf"/><Relationship Id="rId16" Type="http://schemas.openxmlformats.org/officeDocument/2006/relationships/image" Target="../media/image66.wmf"/><Relationship Id="rId15" Type="http://schemas.openxmlformats.org/officeDocument/2006/relationships/image" Target="../media/image65.wmf"/><Relationship Id="rId14" Type="http://schemas.openxmlformats.org/officeDocument/2006/relationships/image" Target="../media/image64.wmf"/><Relationship Id="rId13" Type="http://schemas.openxmlformats.org/officeDocument/2006/relationships/image" Target="../media/image63.wmf"/><Relationship Id="rId12" Type="http://schemas.openxmlformats.org/officeDocument/2006/relationships/image" Target="../media/image62.wmf"/><Relationship Id="rId11" Type="http://schemas.openxmlformats.org/officeDocument/2006/relationships/image" Target="../media/image61.wmf"/><Relationship Id="rId10" Type="http://schemas.openxmlformats.org/officeDocument/2006/relationships/image" Target="../media/image60.wmf"/><Relationship Id="rId1" Type="http://schemas.openxmlformats.org/officeDocument/2006/relationships/image" Target="../media/image5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749E12-936C-4168-A750-6B81F73359E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F934A-2A99-4710-800F-F319DDB5C6D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BF934A-2A99-4710-800F-F319DDB5C6D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7" name="矩形 6"/>
          <p:cNvSpPr/>
          <p:nvPr userDrawn="1"/>
        </p:nvSpPr>
        <p:spPr>
          <a:xfrm>
            <a:off x="2971801" y="2492945"/>
            <a:ext cx="9220201" cy="4365057"/>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5CE6B-FF6A-471E-9C4A-73362186D6C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A22F73-3844-4250-B3F7-C596D703A3B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image" Target="../media/image8.wmf"/><Relationship Id="rId8" Type="http://schemas.openxmlformats.org/officeDocument/2006/relationships/oleObject" Target="../embeddings/oleObject4.bin"/><Relationship Id="rId7" Type="http://schemas.openxmlformats.org/officeDocument/2006/relationships/image" Target="../media/image7.wmf"/><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 Id="rId3" Type="http://schemas.openxmlformats.org/officeDocument/2006/relationships/image" Target="../media/image5.wmf"/><Relationship Id="rId21" Type="http://schemas.openxmlformats.org/officeDocument/2006/relationships/vmlDrawing" Target="../drawings/vmlDrawing1.vml"/><Relationship Id="rId20" Type="http://schemas.openxmlformats.org/officeDocument/2006/relationships/slideLayout" Target="../slideLayouts/slideLayout1.xml"/><Relationship Id="rId2" Type="http://schemas.openxmlformats.org/officeDocument/2006/relationships/oleObject" Target="../embeddings/oleObject1.bin"/><Relationship Id="rId19" Type="http://schemas.openxmlformats.org/officeDocument/2006/relationships/image" Target="../media/image13.wmf"/><Relationship Id="rId18" Type="http://schemas.openxmlformats.org/officeDocument/2006/relationships/oleObject" Target="../embeddings/oleObject9.bin"/><Relationship Id="rId17" Type="http://schemas.openxmlformats.org/officeDocument/2006/relationships/image" Target="../media/image12.wmf"/><Relationship Id="rId16" Type="http://schemas.openxmlformats.org/officeDocument/2006/relationships/oleObject" Target="../embeddings/oleObject8.bin"/><Relationship Id="rId15" Type="http://schemas.openxmlformats.org/officeDocument/2006/relationships/image" Target="../media/image11.wmf"/><Relationship Id="rId14" Type="http://schemas.openxmlformats.org/officeDocument/2006/relationships/oleObject" Target="../embeddings/oleObject7.bin"/><Relationship Id="rId13" Type="http://schemas.openxmlformats.org/officeDocument/2006/relationships/image" Target="../media/image10.wmf"/><Relationship Id="rId12" Type="http://schemas.openxmlformats.org/officeDocument/2006/relationships/oleObject" Target="../embeddings/oleObject6.bin"/><Relationship Id="rId11" Type="http://schemas.openxmlformats.org/officeDocument/2006/relationships/image" Target="../media/image9.wmf"/><Relationship Id="rId10" Type="http://schemas.openxmlformats.org/officeDocument/2006/relationships/oleObject" Target="../embeddings/oleObject5.bin"/><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image" Target="../media/image18.jpeg"/><Relationship Id="rId8" Type="http://schemas.openxmlformats.org/officeDocument/2006/relationships/image" Target="../media/image17.wmf"/><Relationship Id="rId7" Type="http://schemas.openxmlformats.org/officeDocument/2006/relationships/oleObject" Target="../embeddings/oleObject12.bin"/><Relationship Id="rId6" Type="http://schemas.openxmlformats.org/officeDocument/2006/relationships/image" Target="../media/image16.wmf"/><Relationship Id="rId5" Type="http://schemas.openxmlformats.org/officeDocument/2006/relationships/oleObject" Target="../embeddings/oleObject11.bin"/><Relationship Id="rId4" Type="http://schemas.openxmlformats.org/officeDocument/2006/relationships/image" Target="../media/image15.jpeg"/><Relationship Id="rId3" Type="http://schemas.openxmlformats.org/officeDocument/2006/relationships/image" Target="../media/image14.wmf"/><Relationship Id="rId2" Type="http://schemas.openxmlformats.org/officeDocument/2006/relationships/oleObject" Target="../embeddings/oleObject10.bin"/><Relationship Id="rId15" Type="http://schemas.openxmlformats.org/officeDocument/2006/relationships/vmlDrawing" Target="../drawings/vmlDrawing2.vml"/><Relationship Id="rId14" Type="http://schemas.openxmlformats.org/officeDocument/2006/relationships/slideLayout" Target="../slideLayouts/slideLayout1.xml"/><Relationship Id="rId13" Type="http://schemas.openxmlformats.org/officeDocument/2006/relationships/image" Target="../media/image20.wmf"/><Relationship Id="rId12" Type="http://schemas.openxmlformats.org/officeDocument/2006/relationships/oleObject" Target="../embeddings/oleObject14.bin"/><Relationship Id="rId11" Type="http://schemas.openxmlformats.org/officeDocument/2006/relationships/image" Target="../media/image19.wmf"/><Relationship Id="rId10" Type="http://schemas.openxmlformats.org/officeDocument/2006/relationships/oleObject" Target="../embeddings/oleObject13.bin"/><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xml"/><Relationship Id="rId3" Type="http://schemas.openxmlformats.org/officeDocument/2006/relationships/image" Target="../media/image25.wmf"/><Relationship Id="rId2" Type="http://schemas.openxmlformats.org/officeDocument/2006/relationships/oleObject" Target="../embeddings/oleObject15.bin"/><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9.wmf"/><Relationship Id="rId7" Type="http://schemas.openxmlformats.org/officeDocument/2006/relationships/oleObject" Target="../embeddings/oleObject18.bin"/><Relationship Id="rId6" Type="http://schemas.openxmlformats.org/officeDocument/2006/relationships/image" Target="../media/image28.wmf"/><Relationship Id="rId5" Type="http://schemas.openxmlformats.org/officeDocument/2006/relationships/oleObject" Target="../embeddings/oleObject17.bin"/><Relationship Id="rId4" Type="http://schemas.openxmlformats.org/officeDocument/2006/relationships/image" Target="../media/image27.wmf"/><Relationship Id="rId3" Type="http://schemas.openxmlformats.org/officeDocument/2006/relationships/oleObject" Target="../embeddings/oleObject16.bin"/><Relationship Id="rId2" Type="http://schemas.openxmlformats.org/officeDocument/2006/relationships/image" Target="../media/image26.jpeg"/><Relationship Id="rId10" Type="http://schemas.openxmlformats.org/officeDocument/2006/relationships/vmlDrawing" Target="../drawings/vmlDrawing4.v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3.wmf"/><Relationship Id="rId7" Type="http://schemas.openxmlformats.org/officeDocument/2006/relationships/oleObject" Target="../embeddings/oleObject21.bin"/><Relationship Id="rId6" Type="http://schemas.openxmlformats.org/officeDocument/2006/relationships/image" Target="../media/image32.wmf"/><Relationship Id="rId5" Type="http://schemas.openxmlformats.org/officeDocument/2006/relationships/oleObject" Target="../embeddings/oleObject20.bin"/><Relationship Id="rId4" Type="http://schemas.openxmlformats.org/officeDocument/2006/relationships/image" Target="../media/image31.wmf"/><Relationship Id="rId3" Type="http://schemas.openxmlformats.org/officeDocument/2006/relationships/oleObject" Target="../embeddings/oleObject19.bin"/><Relationship Id="rId2" Type="http://schemas.openxmlformats.org/officeDocument/2006/relationships/image" Target="../media/image30.jpeg"/><Relationship Id="rId10" Type="http://schemas.openxmlformats.org/officeDocument/2006/relationships/vmlDrawing" Target="../drawings/vmlDrawing5.v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9" Type="http://schemas.openxmlformats.org/officeDocument/2006/relationships/image" Target="../media/image38.jpeg"/><Relationship Id="rId8" Type="http://schemas.openxmlformats.org/officeDocument/2006/relationships/image" Target="../media/image37.wmf"/><Relationship Id="rId7" Type="http://schemas.openxmlformats.org/officeDocument/2006/relationships/oleObject" Target="../embeddings/oleObject24.bin"/><Relationship Id="rId6" Type="http://schemas.openxmlformats.org/officeDocument/2006/relationships/image" Target="../media/image36.wmf"/><Relationship Id="rId5" Type="http://schemas.openxmlformats.org/officeDocument/2006/relationships/oleObject" Target="../embeddings/oleObject23.bin"/><Relationship Id="rId4" Type="http://schemas.openxmlformats.org/officeDocument/2006/relationships/image" Target="../media/image35.wmf"/><Relationship Id="rId3" Type="http://schemas.openxmlformats.org/officeDocument/2006/relationships/oleObject" Target="../embeddings/oleObject22.bin"/><Relationship Id="rId2" Type="http://schemas.openxmlformats.org/officeDocument/2006/relationships/image" Target="../media/image34.jpeg"/><Relationship Id="rId18" Type="http://schemas.openxmlformats.org/officeDocument/2006/relationships/vmlDrawing" Target="../drawings/vmlDrawing6.vml"/><Relationship Id="rId17" Type="http://schemas.openxmlformats.org/officeDocument/2006/relationships/slideLayout" Target="../slideLayouts/slideLayout1.xml"/><Relationship Id="rId16" Type="http://schemas.openxmlformats.org/officeDocument/2006/relationships/image" Target="../media/image42.wmf"/><Relationship Id="rId15" Type="http://schemas.openxmlformats.org/officeDocument/2006/relationships/oleObject" Target="../embeddings/oleObject27.bin"/><Relationship Id="rId14" Type="http://schemas.openxmlformats.org/officeDocument/2006/relationships/image" Target="../media/image41.wmf"/><Relationship Id="rId13" Type="http://schemas.openxmlformats.org/officeDocument/2006/relationships/oleObject" Target="../embeddings/oleObject26.bin"/><Relationship Id="rId12" Type="http://schemas.openxmlformats.org/officeDocument/2006/relationships/image" Target="../media/image40.wmf"/><Relationship Id="rId11" Type="http://schemas.openxmlformats.org/officeDocument/2006/relationships/oleObject" Target="../embeddings/oleObject25.bin"/><Relationship Id="rId10" Type="http://schemas.openxmlformats.org/officeDocument/2006/relationships/image" Target="../media/image39.jpe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3.emf"/><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oleObject" Target="../embeddings/oleObject31.bin"/><Relationship Id="rId7" Type="http://schemas.openxmlformats.org/officeDocument/2006/relationships/image" Target="../media/image46.wmf"/><Relationship Id="rId6" Type="http://schemas.openxmlformats.org/officeDocument/2006/relationships/oleObject" Target="../embeddings/oleObject30.bin"/><Relationship Id="rId5" Type="http://schemas.openxmlformats.org/officeDocument/2006/relationships/image" Target="../media/image45.wmf"/><Relationship Id="rId4" Type="http://schemas.openxmlformats.org/officeDocument/2006/relationships/oleObject" Target="../embeddings/oleObject29.bin"/><Relationship Id="rId3" Type="http://schemas.openxmlformats.org/officeDocument/2006/relationships/image" Target="../media/image44.wmf"/><Relationship Id="rId2" Type="http://schemas.openxmlformats.org/officeDocument/2006/relationships/oleObject" Target="../embeddings/oleObject28.bin"/><Relationship Id="rId17" Type="http://schemas.openxmlformats.org/officeDocument/2006/relationships/vmlDrawing" Target="../drawings/vmlDrawing7.vml"/><Relationship Id="rId16" Type="http://schemas.openxmlformats.org/officeDocument/2006/relationships/slideLayout" Target="../slideLayouts/slideLayout1.xml"/><Relationship Id="rId15" Type="http://schemas.openxmlformats.org/officeDocument/2006/relationships/image" Target="../media/image43.emf"/><Relationship Id="rId14" Type="http://schemas.openxmlformats.org/officeDocument/2006/relationships/image" Target="../media/image50.png"/><Relationship Id="rId13" Type="http://schemas.openxmlformats.org/officeDocument/2006/relationships/image" Target="../media/image49.wmf"/><Relationship Id="rId12" Type="http://schemas.openxmlformats.org/officeDocument/2006/relationships/oleObject" Target="../embeddings/oleObject33.bin"/><Relationship Id="rId11" Type="http://schemas.openxmlformats.org/officeDocument/2006/relationships/image" Target="../media/image48.wmf"/><Relationship Id="rId10" Type="http://schemas.openxmlformats.org/officeDocument/2006/relationships/oleObject" Target="../embeddings/oleObject32.bin"/><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43.emf"/><Relationship Id="rId7" Type="http://schemas.openxmlformats.org/officeDocument/2006/relationships/image" Target="../media/image53.wmf"/><Relationship Id="rId6" Type="http://schemas.openxmlformats.org/officeDocument/2006/relationships/oleObject" Target="../embeddings/oleObject36.bin"/><Relationship Id="rId5" Type="http://schemas.openxmlformats.org/officeDocument/2006/relationships/image" Target="../media/image52.wmf"/><Relationship Id="rId4" Type="http://schemas.openxmlformats.org/officeDocument/2006/relationships/oleObject" Target="../embeddings/oleObject35.bin"/><Relationship Id="rId38" Type="http://schemas.openxmlformats.org/officeDocument/2006/relationships/vmlDrawing" Target="../drawings/vmlDrawing8.vml"/><Relationship Id="rId37" Type="http://schemas.openxmlformats.org/officeDocument/2006/relationships/slideLayout" Target="../slideLayouts/slideLayout1.xml"/><Relationship Id="rId36" Type="http://schemas.openxmlformats.org/officeDocument/2006/relationships/image" Target="../media/image67.wmf"/><Relationship Id="rId35" Type="http://schemas.openxmlformats.org/officeDocument/2006/relationships/oleObject" Target="../embeddings/oleObject50.bin"/><Relationship Id="rId34" Type="http://schemas.openxmlformats.org/officeDocument/2006/relationships/image" Target="../media/image66.wmf"/><Relationship Id="rId33" Type="http://schemas.openxmlformats.org/officeDocument/2006/relationships/oleObject" Target="../embeddings/oleObject49.bin"/><Relationship Id="rId32" Type="http://schemas.openxmlformats.org/officeDocument/2006/relationships/image" Target="../media/image65.wmf"/><Relationship Id="rId31" Type="http://schemas.openxmlformats.org/officeDocument/2006/relationships/oleObject" Target="../embeddings/oleObject48.bin"/><Relationship Id="rId30" Type="http://schemas.openxmlformats.org/officeDocument/2006/relationships/image" Target="../media/image64.wmf"/><Relationship Id="rId3" Type="http://schemas.openxmlformats.org/officeDocument/2006/relationships/image" Target="../media/image51.wmf"/><Relationship Id="rId29" Type="http://schemas.openxmlformats.org/officeDocument/2006/relationships/oleObject" Target="../embeddings/oleObject47.bin"/><Relationship Id="rId28" Type="http://schemas.openxmlformats.org/officeDocument/2006/relationships/image" Target="../media/image63.wmf"/><Relationship Id="rId27" Type="http://schemas.openxmlformats.org/officeDocument/2006/relationships/oleObject" Target="../embeddings/oleObject46.bin"/><Relationship Id="rId26" Type="http://schemas.openxmlformats.org/officeDocument/2006/relationships/image" Target="../media/image62.wmf"/><Relationship Id="rId25" Type="http://schemas.openxmlformats.org/officeDocument/2006/relationships/oleObject" Target="../embeddings/oleObject45.bin"/><Relationship Id="rId24" Type="http://schemas.openxmlformats.org/officeDocument/2006/relationships/image" Target="../media/image61.wmf"/><Relationship Id="rId23" Type="http://schemas.openxmlformats.org/officeDocument/2006/relationships/oleObject" Target="../embeddings/oleObject44.bin"/><Relationship Id="rId22" Type="http://schemas.openxmlformats.org/officeDocument/2006/relationships/image" Target="../media/image60.wmf"/><Relationship Id="rId21" Type="http://schemas.openxmlformats.org/officeDocument/2006/relationships/oleObject" Target="../embeddings/oleObject43.bin"/><Relationship Id="rId20" Type="http://schemas.openxmlformats.org/officeDocument/2006/relationships/image" Target="../media/image59.wmf"/><Relationship Id="rId2" Type="http://schemas.openxmlformats.org/officeDocument/2006/relationships/oleObject" Target="../embeddings/oleObject34.bin"/><Relationship Id="rId19" Type="http://schemas.openxmlformats.org/officeDocument/2006/relationships/oleObject" Target="../embeddings/oleObject42.bin"/><Relationship Id="rId18" Type="http://schemas.openxmlformats.org/officeDocument/2006/relationships/image" Target="../media/image58.wmf"/><Relationship Id="rId17" Type="http://schemas.openxmlformats.org/officeDocument/2006/relationships/oleObject" Target="../embeddings/oleObject41.bin"/><Relationship Id="rId16" Type="http://schemas.openxmlformats.org/officeDocument/2006/relationships/image" Target="../media/image57.wmf"/><Relationship Id="rId15" Type="http://schemas.openxmlformats.org/officeDocument/2006/relationships/oleObject" Target="../embeddings/oleObject40.bin"/><Relationship Id="rId14" Type="http://schemas.openxmlformats.org/officeDocument/2006/relationships/image" Target="../media/image56.wmf"/><Relationship Id="rId13" Type="http://schemas.openxmlformats.org/officeDocument/2006/relationships/oleObject" Target="../embeddings/oleObject39.bin"/><Relationship Id="rId12" Type="http://schemas.openxmlformats.org/officeDocument/2006/relationships/image" Target="../media/image55.wmf"/><Relationship Id="rId11" Type="http://schemas.openxmlformats.org/officeDocument/2006/relationships/oleObject" Target="../embeddings/oleObject38.bin"/><Relationship Id="rId10" Type="http://schemas.openxmlformats.org/officeDocument/2006/relationships/image" Target="../media/image54.wmf"/><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9" Type="http://schemas.openxmlformats.org/officeDocument/2006/relationships/image" Target="../media/image73.jpeg"/><Relationship Id="rId8" Type="http://schemas.openxmlformats.org/officeDocument/2006/relationships/image" Target="../media/image72.wmf"/><Relationship Id="rId7" Type="http://schemas.openxmlformats.org/officeDocument/2006/relationships/oleObject" Target="../embeddings/oleObject52.bin"/><Relationship Id="rId6" Type="http://schemas.openxmlformats.org/officeDocument/2006/relationships/image" Target="../media/image71.wmf"/><Relationship Id="rId5" Type="http://schemas.openxmlformats.org/officeDocument/2006/relationships/oleObject" Target="../embeddings/oleObject51.bin"/><Relationship Id="rId4" Type="http://schemas.openxmlformats.org/officeDocument/2006/relationships/image" Target="../media/image70.jpeg"/><Relationship Id="rId3" Type="http://schemas.openxmlformats.org/officeDocument/2006/relationships/image" Target="../media/image69.jpeg"/><Relationship Id="rId2" Type="http://schemas.openxmlformats.org/officeDocument/2006/relationships/image" Target="../media/image68.png"/><Relationship Id="rId11" Type="http://schemas.openxmlformats.org/officeDocument/2006/relationships/vmlDrawing" Target="../drawings/vmlDrawing9.vml"/><Relationship Id="rId10" Type="http://schemas.openxmlformats.org/officeDocument/2006/relationships/slideLayout" Target="../slideLayouts/slideLayout1.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1.xml"/><Relationship Id="rId4" Type="http://schemas.openxmlformats.org/officeDocument/2006/relationships/image" Target="../media/image75.emf"/><Relationship Id="rId3" Type="http://schemas.openxmlformats.org/officeDocument/2006/relationships/image" Target="../media/image74.wmf"/><Relationship Id="rId2" Type="http://schemas.openxmlformats.org/officeDocument/2006/relationships/oleObject" Target="../embeddings/oleObject53.bin"/><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2.png"/><Relationship Id="rId1" Type="http://schemas.openxmlformats.org/officeDocument/2006/relationships/image" Target="../media/image81.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4.png"/><Relationship Id="rId1" Type="http://schemas.openxmlformats.org/officeDocument/2006/relationships/image" Target="../media/image8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5.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6.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8.png"/><Relationship Id="rId1" Type="http://schemas.openxmlformats.org/officeDocument/2006/relationships/image" Target="../media/image8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9.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0.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2.png"/><Relationship Id="rId1" Type="http://schemas.openxmlformats.org/officeDocument/2006/relationships/image" Target="../media/image91.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4.png"/><Relationship Id="rId1" Type="http://schemas.openxmlformats.org/officeDocument/2006/relationships/image" Target="../media/image93.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5.emf"/><Relationship Id="rId1" Type="http://schemas.openxmlformats.org/officeDocument/2006/relationships/image" Target="../media/image9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p:cNvSpPr/>
          <p:nvPr/>
        </p:nvSpPr>
        <p:spPr>
          <a:xfrm>
            <a:off x="10761323" y="1202532"/>
            <a:ext cx="389278" cy="38927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2686018" y="2576650"/>
            <a:ext cx="7688802" cy="923330"/>
          </a:xfrm>
          <a:prstGeom prst="rect">
            <a:avLst/>
          </a:prstGeom>
          <a:noFill/>
        </p:spPr>
        <p:txBody>
          <a:bodyPr wrap="square">
            <a:spAutoFit/>
          </a:bodyPr>
          <a:lstStyle/>
          <a:p>
            <a:pPr algn="ctr"/>
            <a:r>
              <a:rPr lang="zh-CN" altLang="en-US"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实验</a:t>
            </a:r>
            <a:r>
              <a:rPr lang="en-US" altLang="zh-CN"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2 </a:t>
            </a:r>
            <a:r>
              <a:rPr lang="zh-CN" altLang="en-US"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静电场模拟</a:t>
            </a:r>
            <a:endParaRPr lang="zh-CN" altLang="en-US"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5" name="椭圆 34"/>
          <p:cNvSpPr/>
          <p:nvPr/>
        </p:nvSpPr>
        <p:spPr>
          <a:xfrm>
            <a:off x="2694741" y="3233939"/>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2501709" y="3286582"/>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9311862" y="3222590"/>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9595972" y="3275233"/>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3344523" y="817902"/>
            <a:ext cx="356620" cy="3566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1646350" y="5476986"/>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10333151" y="3059454"/>
            <a:ext cx="452100" cy="452100"/>
          </a:xfrm>
          <a:prstGeom prst="ellipse">
            <a:avLst/>
          </a:prstGeom>
          <a:solidFill>
            <a:schemeClr val="bg1"/>
          </a:solid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2190637" y="155813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8787379" y="1478302"/>
            <a:ext cx="153420" cy="1534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7"/>
          <p:cNvSpPr/>
          <p:nvPr/>
        </p:nvSpPr>
        <p:spPr>
          <a:xfrm rot="2001767">
            <a:off x="10705817" y="1962311"/>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49"/>
          <p:cNvSpPr/>
          <p:nvPr/>
        </p:nvSpPr>
        <p:spPr>
          <a:xfrm rot="2001767">
            <a:off x="8342563" y="399356"/>
            <a:ext cx="471236" cy="474114"/>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7" name="图片 4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23866" y="1653394"/>
            <a:ext cx="3144268" cy="842042"/>
          </a:xfrm>
          <a:prstGeom prst="rect">
            <a:avLst/>
          </a:prstGeom>
        </p:spPr>
      </p:pic>
      <p:sp>
        <p:nvSpPr>
          <p:cNvPr id="48" name="矩形 47"/>
          <p:cNvSpPr/>
          <p:nvPr/>
        </p:nvSpPr>
        <p:spPr>
          <a:xfrm flipH="1">
            <a:off x="6362463" y="5188145"/>
            <a:ext cx="5242162" cy="400110"/>
          </a:xfrm>
          <a:prstGeom prst="rect">
            <a:avLst/>
          </a:prstGeom>
        </p:spPr>
        <p:txBody>
          <a:bodyPr wrap="square">
            <a:spAutoFit/>
          </a:bodyPr>
          <a:lstStyle/>
          <a:p>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电工电子教学实验中心</a:t>
            </a:r>
            <a:endPar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21" name="任意多边形: 形状 2"/>
          <p:cNvSpPr/>
          <p:nvPr/>
        </p:nvSpPr>
        <p:spPr>
          <a:xfrm>
            <a:off x="-1422399" y="4104616"/>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3"/>
          <p:cNvSpPr/>
          <p:nvPr/>
        </p:nvSpPr>
        <p:spPr>
          <a:xfrm>
            <a:off x="-3047999" y="4133645"/>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871877" y="2044360"/>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0785251" y="4148461"/>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89481" y="4424051"/>
            <a:ext cx="6153650" cy="369332"/>
          </a:xfrm>
          <a:prstGeom prst="rect">
            <a:avLst/>
          </a:prstGeom>
          <a:noFill/>
        </p:spPr>
        <p:txBody>
          <a:bodyPr wrap="square" rtlCol="0">
            <a:spAutoFit/>
          </a:bodyPr>
          <a:lstStyle/>
          <a:p>
            <a:pPr algn="dist"/>
            <a:r>
              <a:rPr lang="en-US" altLang="zh-CN" dirty="0">
                <a:solidFill>
                  <a:schemeClr val="tx1">
                    <a:lumMod val="50000"/>
                    <a:lumOff val="50000"/>
                  </a:schemeClr>
                </a:solidFill>
              </a:rPr>
              <a:t>XI'AN JIAOTONG UNIVERSITY</a:t>
            </a:r>
            <a:endParaRPr lang="en-US" altLang="zh-CN" dirty="0">
              <a:solidFill>
                <a:schemeClr val="tx1">
                  <a:lumMod val="50000"/>
                  <a:lumOff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down)">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120"/>
          <p:cNvSpPr/>
          <p:nvPr/>
        </p:nvSpPr>
        <p:spPr>
          <a:xfrm rot="2001767">
            <a:off x="10937689" y="471902"/>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椭圆 6"/>
          <p:cNvSpPr/>
          <p:nvPr/>
        </p:nvSpPr>
        <p:spPr>
          <a:xfrm>
            <a:off x="1128186" y="337581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8" name="椭圆 7"/>
          <p:cNvSpPr/>
          <p:nvPr/>
        </p:nvSpPr>
        <p:spPr>
          <a:xfrm>
            <a:off x="8787379" y="1478302"/>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185"/>
          <p:cNvSpPr/>
          <p:nvPr/>
        </p:nvSpPr>
        <p:spPr>
          <a:xfrm>
            <a:off x="3805093" y="1"/>
            <a:ext cx="3968423" cy="1933574"/>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1" fmla="*/ 0 w 3968423"/>
              <a:gd name="connsiteY0-2" fmla="*/ 19051 h 1952625"/>
              <a:gd name="connsiteX1-3" fmla="*/ 304945 w 3968423"/>
              <a:gd name="connsiteY1-4" fmla="*/ 0 h 1952625"/>
              <a:gd name="connsiteX2-5" fmla="*/ 3968423 w 3968423"/>
              <a:gd name="connsiteY2-6" fmla="*/ 19051 h 1952625"/>
              <a:gd name="connsiteX3-7" fmla="*/ 3946431 w 3968423"/>
              <a:gd name="connsiteY3-8" fmla="*/ 181047 h 1952625"/>
              <a:gd name="connsiteX4-9" fmla="*/ 1984212 w 3968423"/>
              <a:gd name="connsiteY4-10" fmla="*/ 1952625 h 1952625"/>
              <a:gd name="connsiteX5" fmla="*/ 21992 w 3968423"/>
              <a:gd name="connsiteY5" fmla="*/ 181047 h 1952625"/>
              <a:gd name="connsiteX6" fmla="*/ 0 w 3968423"/>
              <a:gd name="connsiteY6" fmla="*/ 19051 h 1952625"/>
              <a:gd name="connsiteX0-11" fmla="*/ 0 w 3968423"/>
              <a:gd name="connsiteY0-12" fmla="*/ 0 h 1933574"/>
              <a:gd name="connsiteX1-13" fmla="*/ 3968423 w 3968423"/>
              <a:gd name="connsiteY1-14" fmla="*/ 0 h 1933574"/>
              <a:gd name="connsiteX2-15" fmla="*/ 3946431 w 3968423"/>
              <a:gd name="connsiteY2-16" fmla="*/ 161996 h 1933574"/>
              <a:gd name="connsiteX3-17" fmla="*/ 1984212 w 3968423"/>
              <a:gd name="connsiteY3-18" fmla="*/ 1933574 h 1933574"/>
              <a:gd name="connsiteX4-19" fmla="*/ 21992 w 3968423"/>
              <a:gd name="connsiteY4-20" fmla="*/ 161996 h 1933574"/>
              <a:gd name="connsiteX5-21" fmla="*/ 0 w 3968423"/>
              <a:gd name="connsiteY5-22" fmla="*/ 0 h 1933574"/>
              <a:gd name="connsiteX0-23" fmla="*/ 0 w 3968423"/>
              <a:gd name="connsiteY0-24" fmla="*/ 14289 h 1947863"/>
              <a:gd name="connsiteX1-25" fmla="*/ 328757 w 3968423"/>
              <a:gd name="connsiteY1-26" fmla="*/ 0 h 1947863"/>
              <a:gd name="connsiteX2-27" fmla="*/ 3968423 w 3968423"/>
              <a:gd name="connsiteY2-28" fmla="*/ 14289 h 1947863"/>
              <a:gd name="connsiteX3-29" fmla="*/ 3946431 w 3968423"/>
              <a:gd name="connsiteY3-30" fmla="*/ 176285 h 1947863"/>
              <a:gd name="connsiteX4-31" fmla="*/ 1984212 w 3968423"/>
              <a:gd name="connsiteY4-32" fmla="*/ 1947863 h 1947863"/>
              <a:gd name="connsiteX5-33" fmla="*/ 21992 w 3968423"/>
              <a:gd name="connsiteY5-34" fmla="*/ 176285 h 1947863"/>
              <a:gd name="connsiteX6-35" fmla="*/ 0 w 3968423"/>
              <a:gd name="connsiteY6-36" fmla="*/ 14289 h 1947863"/>
              <a:gd name="connsiteX0-37" fmla="*/ 328757 w 3968423"/>
              <a:gd name="connsiteY0-38" fmla="*/ 0 h 1947863"/>
              <a:gd name="connsiteX1-39" fmla="*/ 3968423 w 3968423"/>
              <a:gd name="connsiteY1-40" fmla="*/ 14289 h 1947863"/>
              <a:gd name="connsiteX2-41" fmla="*/ 3946431 w 3968423"/>
              <a:gd name="connsiteY2-42" fmla="*/ 176285 h 1947863"/>
              <a:gd name="connsiteX3-43" fmla="*/ 1984212 w 3968423"/>
              <a:gd name="connsiteY3-44" fmla="*/ 1947863 h 1947863"/>
              <a:gd name="connsiteX4-45" fmla="*/ 21992 w 3968423"/>
              <a:gd name="connsiteY4-46" fmla="*/ 176285 h 1947863"/>
              <a:gd name="connsiteX5-47" fmla="*/ 0 w 3968423"/>
              <a:gd name="connsiteY5-48" fmla="*/ 14289 h 1947863"/>
              <a:gd name="connsiteX6-49" fmla="*/ 420197 w 3968423"/>
              <a:gd name="connsiteY6-50" fmla="*/ 91440 h 1947863"/>
              <a:gd name="connsiteX0-51" fmla="*/ 328757 w 3968423"/>
              <a:gd name="connsiteY0-52" fmla="*/ 0 h 1947863"/>
              <a:gd name="connsiteX1-53" fmla="*/ 3968423 w 3968423"/>
              <a:gd name="connsiteY1-54" fmla="*/ 14289 h 1947863"/>
              <a:gd name="connsiteX2-55" fmla="*/ 3946431 w 3968423"/>
              <a:gd name="connsiteY2-56" fmla="*/ 176285 h 1947863"/>
              <a:gd name="connsiteX3-57" fmla="*/ 1984212 w 3968423"/>
              <a:gd name="connsiteY3-58" fmla="*/ 1947863 h 1947863"/>
              <a:gd name="connsiteX4-59" fmla="*/ 21992 w 3968423"/>
              <a:gd name="connsiteY4-60" fmla="*/ 176285 h 1947863"/>
              <a:gd name="connsiteX5-61" fmla="*/ 0 w 3968423"/>
              <a:gd name="connsiteY5-62" fmla="*/ 14289 h 1947863"/>
              <a:gd name="connsiteX0-63" fmla="*/ 3968423 w 3968423"/>
              <a:gd name="connsiteY0-64" fmla="*/ 0 h 1933574"/>
              <a:gd name="connsiteX1-65" fmla="*/ 3946431 w 3968423"/>
              <a:gd name="connsiteY1-66" fmla="*/ 161996 h 1933574"/>
              <a:gd name="connsiteX2-67" fmla="*/ 1984212 w 3968423"/>
              <a:gd name="connsiteY2-68" fmla="*/ 1933574 h 1933574"/>
              <a:gd name="connsiteX3-69" fmla="*/ 21992 w 3968423"/>
              <a:gd name="connsiteY3-70" fmla="*/ 161996 h 1933574"/>
              <a:gd name="connsiteX4-71" fmla="*/ 0 w 3968423"/>
              <a:gd name="connsiteY4-72" fmla="*/ 0 h 193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186"/>
          <p:cNvSpPr/>
          <p:nvPr/>
        </p:nvSpPr>
        <p:spPr>
          <a:xfrm>
            <a:off x="4414949" y="1"/>
            <a:ext cx="3901235" cy="1719263"/>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1" fmla="*/ 0 w 3901235"/>
              <a:gd name="connsiteY0-2" fmla="*/ 4764 h 1724027"/>
              <a:gd name="connsiteX1-3" fmla="*/ 971439 w 3901235"/>
              <a:gd name="connsiteY1-4" fmla="*/ 0 h 1724027"/>
              <a:gd name="connsiteX2-5" fmla="*/ 3901235 w 3901235"/>
              <a:gd name="connsiteY2-6" fmla="*/ 4764 h 1724027"/>
              <a:gd name="connsiteX3-7" fmla="*/ 3871510 w 3901235"/>
              <a:gd name="connsiteY3-8" fmla="*/ 138797 h 1724027"/>
              <a:gd name="connsiteX4-9" fmla="*/ 1950618 w 3901235"/>
              <a:gd name="connsiteY4-10" fmla="*/ 1724027 h 1724027"/>
              <a:gd name="connsiteX5" fmla="*/ 29725 w 3901235"/>
              <a:gd name="connsiteY5" fmla="*/ 138797 h 1724027"/>
              <a:gd name="connsiteX6" fmla="*/ 0 w 3901235"/>
              <a:gd name="connsiteY6" fmla="*/ 4764 h 1724027"/>
              <a:gd name="connsiteX0-11" fmla="*/ 971439 w 3901235"/>
              <a:gd name="connsiteY0-12" fmla="*/ 0 h 1724027"/>
              <a:gd name="connsiteX1-13" fmla="*/ 3901235 w 3901235"/>
              <a:gd name="connsiteY1-14" fmla="*/ 4764 h 1724027"/>
              <a:gd name="connsiteX2-15" fmla="*/ 3871510 w 3901235"/>
              <a:gd name="connsiteY2-16" fmla="*/ 138797 h 1724027"/>
              <a:gd name="connsiteX3-17" fmla="*/ 1950618 w 3901235"/>
              <a:gd name="connsiteY3-18" fmla="*/ 1724027 h 1724027"/>
              <a:gd name="connsiteX4-19" fmla="*/ 29725 w 3901235"/>
              <a:gd name="connsiteY4-20" fmla="*/ 138797 h 1724027"/>
              <a:gd name="connsiteX5-21" fmla="*/ 0 w 3901235"/>
              <a:gd name="connsiteY5-22" fmla="*/ 4764 h 1724027"/>
              <a:gd name="connsiteX6-23" fmla="*/ 1062879 w 3901235"/>
              <a:gd name="connsiteY6-24" fmla="*/ 91440 h 1724027"/>
              <a:gd name="connsiteX0-25" fmla="*/ 971439 w 3901235"/>
              <a:gd name="connsiteY0-26" fmla="*/ 0 h 1724027"/>
              <a:gd name="connsiteX1-27" fmla="*/ 3901235 w 3901235"/>
              <a:gd name="connsiteY1-28" fmla="*/ 4764 h 1724027"/>
              <a:gd name="connsiteX2-29" fmla="*/ 3871510 w 3901235"/>
              <a:gd name="connsiteY2-30" fmla="*/ 138797 h 1724027"/>
              <a:gd name="connsiteX3-31" fmla="*/ 1950618 w 3901235"/>
              <a:gd name="connsiteY3-32" fmla="*/ 1724027 h 1724027"/>
              <a:gd name="connsiteX4-33" fmla="*/ 29725 w 3901235"/>
              <a:gd name="connsiteY4-34" fmla="*/ 138797 h 1724027"/>
              <a:gd name="connsiteX5-35" fmla="*/ 0 w 3901235"/>
              <a:gd name="connsiteY5-36" fmla="*/ 4764 h 1724027"/>
              <a:gd name="connsiteX0-37" fmla="*/ 3901235 w 3901235"/>
              <a:gd name="connsiteY0-38" fmla="*/ 0 h 1719263"/>
              <a:gd name="connsiteX1-39" fmla="*/ 3871510 w 3901235"/>
              <a:gd name="connsiteY1-40" fmla="*/ 134033 h 1719263"/>
              <a:gd name="connsiteX2-41" fmla="*/ 1950618 w 3901235"/>
              <a:gd name="connsiteY2-42" fmla="*/ 1719263 h 1719263"/>
              <a:gd name="connsiteX3-43" fmla="*/ 29725 w 3901235"/>
              <a:gd name="connsiteY3-44" fmla="*/ 134033 h 1719263"/>
              <a:gd name="connsiteX4-45" fmla="*/ 0 w 3901235"/>
              <a:gd name="connsiteY4-46" fmla="*/ 0 h 1719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87"/>
          <p:cNvSpPr/>
          <p:nvPr/>
        </p:nvSpPr>
        <p:spPr>
          <a:xfrm>
            <a:off x="4294786" y="0"/>
            <a:ext cx="3592905" cy="1725984"/>
          </a:xfrm>
          <a:custGeom>
            <a:avLst/>
            <a:gdLst>
              <a:gd name="connsiteX0" fmla="*/ 0 w 3592905"/>
              <a:gd name="connsiteY0" fmla="*/ 0 h 1725984"/>
              <a:gd name="connsiteX1" fmla="*/ 3592905 w 3592905"/>
              <a:gd name="connsiteY1" fmla="*/ 0 h 1725984"/>
              <a:gd name="connsiteX2" fmla="*/ 3587358 w 3592905"/>
              <a:gd name="connsiteY2" fmla="*/ 109844 h 1725984"/>
              <a:gd name="connsiteX3" fmla="*/ 1796452 w 3592905"/>
              <a:gd name="connsiteY3" fmla="*/ 1725984 h 1725984"/>
              <a:gd name="connsiteX4" fmla="*/ 5547 w 3592905"/>
              <a:gd name="connsiteY4" fmla="*/ 109844 h 1725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2905" h="1725984">
                <a:moveTo>
                  <a:pt x="0" y="0"/>
                </a:moveTo>
                <a:lnTo>
                  <a:pt x="3592905" y="0"/>
                </a:lnTo>
                <a:lnTo>
                  <a:pt x="3587358" y="109844"/>
                </a:lnTo>
                <a:cubicBezTo>
                  <a:pt x="3495170" y="1017606"/>
                  <a:pt x="2728536" y="1725984"/>
                  <a:pt x="1796452" y="1725984"/>
                </a:cubicBezTo>
                <a:cubicBezTo>
                  <a:pt x="864368" y="1725984"/>
                  <a:pt x="97735" y="1017606"/>
                  <a:pt x="5547" y="109844"/>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p:cNvGrpSpPr/>
          <p:nvPr/>
        </p:nvGrpSpPr>
        <p:grpSpPr>
          <a:xfrm>
            <a:off x="5423012" y="298047"/>
            <a:ext cx="1336454" cy="1005661"/>
            <a:chOff x="5378243" y="298047"/>
            <a:chExt cx="1336454" cy="1005661"/>
          </a:xfrm>
        </p:grpSpPr>
        <p:sp>
          <p:nvSpPr>
            <p:cNvPr id="13" name="矩形 12"/>
            <p:cNvSpPr/>
            <p:nvPr/>
          </p:nvSpPr>
          <p:spPr>
            <a:xfrm>
              <a:off x="5378243" y="298047"/>
              <a:ext cx="764954" cy="769441"/>
            </a:xfrm>
            <a:prstGeom prst="rect">
              <a:avLst/>
            </a:prstGeom>
          </p:spPr>
          <p:txBody>
            <a:bodyPr wrap="none">
              <a:spAutoFit/>
            </a:bodyPr>
            <a:lstStyle/>
            <a:p>
              <a:pPr algn="ctr" defTabSz="914400">
                <a:defRPr/>
              </a:pPr>
              <a:r>
                <a:rPr lang="zh-CN" altLang="en-US" sz="4400" b="1" dirty="0">
                  <a:solidFill>
                    <a:schemeClr val="bg1"/>
                  </a:solidFill>
                  <a:latin typeface="思源黑体 CN Medium" panose="020B0600000000000000" pitchFamily="34" charset="-122"/>
                  <a:ea typeface="思源黑体 CN Medium" panose="020B0600000000000000" pitchFamily="34" charset="-122"/>
                </a:rPr>
                <a:t>目</a:t>
              </a:r>
              <a:endParaRPr lang="zh-CN" altLang="en-US" sz="4400" b="1" dirty="0">
                <a:solidFill>
                  <a:schemeClr val="bg1"/>
                </a:solidFill>
                <a:latin typeface="思源黑体 CN Medium" panose="020B0600000000000000" pitchFamily="34" charset="-122"/>
                <a:ea typeface="思源黑体 CN Medium" panose="020B0600000000000000" pitchFamily="34" charset="-122"/>
              </a:endParaRPr>
            </a:p>
          </p:txBody>
        </p:sp>
        <p:sp>
          <p:nvSpPr>
            <p:cNvPr id="14" name="矩形 13"/>
            <p:cNvSpPr/>
            <p:nvPr/>
          </p:nvSpPr>
          <p:spPr>
            <a:xfrm>
              <a:off x="5949743" y="534267"/>
              <a:ext cx="764954" cy="769441"/>
            </a:xfrm>
            <a:prstGeom prst="rect">
              <a:avLst/>
            </a:prstGeom>
          </p:spPr>
          <p:txBody>
            <a:bodyPr wrap="none">
              <a:spAutoFit/>
            </a:bodyPr>
            <a:lstStyle/>
            <a:p>
              <a:pPr algn="ctr" defTabSz="914400">
                <a:defRPr/>
              </a:pPr>
              <a:r>
                <a:rPr lang="zh-CN" altLang="en-US" sz="4400" b="1" dirty="0">
                  <a:solidFill>
                    <a:schemeClr val="bg1"/>
                  </a:solidFill>
                  <a:latin typeface="思源黑体 CN Medium" panose="020B0600000000000000" pitchFamily="34" charset="-122"/>
                  <a:ea typeface="思源黑体 CN Medium" panose="020B0600000000000000" pitchFamily="34" charset="-122"/>
                </a:rPr>
                <a:t>录</a:t>
              </a:r>
              <a:endParaRPr lang="zh-CN" altLang="en-US" sz="4400" b="1" dirty="0">
                <a:solidFill>
                  <a:schemeClr val="bg1"/>
                </a:solidFill>
                <a:latin typeface="思源黑体 CN Medium" panose="020B0600000000000000" pitchFamily="34" charset="-122"/>
                <a:ea typeface="思源黑体 CN Medium" panose="020B0600000000000000" pitchFamily="34" charset="-122"/>
              </a:endParaRPr>
            </a:p>
          </p:txBody>
        </p:sp>
        <p:cxnSp>
          <p:nvCxnSpPr>
            <p:cNvPr id="15" name="直接连接符 14"/>
            <p:cNvCxnSpPr/>
            <p:nvPr/>
          </p:nvCxnSpPr>
          <p:spPr>
            <a:xfrm flipV="1">
              <a:off x="5603081" y="1001316"/>
              <a:ext cx="279797" cy="215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6210300" y="379810"/>
              <a:ext cx="279797" cy="215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椭圆 16"/>
          <p:cNvSpPr/>
          <p:nvPr/>
        </p:nvSpPr>
        <p:spPr>
          <a:xfrm>
            <a:off x="4218102" y="1144930"/>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2661711" y="3885405"/>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4" name="椭圆 23"/>
          <p:cNvSpPr/>
          <p:nvPr/>
        </p:nvSpPr>
        <p:spPr>
          <a:xfrm>
            <a:off x="5205739" y="383161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椭圆 25"/>
          <p:cNvSpPr/>
          <p:nvPr/>
        </p:nvSpPr>
        <p:spPr>
          <a:xfrm>
            <a:off x="7310764" y="366016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8" name="椭圆 27"/>
          <p:cNvSpPr/>
          <p:nvPr/>
        </p:nvSpPr>
        <p:spPr>
          <a:xfrm>
            <a:off x="8527841" y="424173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0" name="椭圆 29"/>
          <p:cNvSpPr/>
          <p:nvPr/>
        </p:nvSpPr>
        <p:spPr>
          <a:xfrm>
            <a:off x="9702501" y="2873716"/>
            <a:ext cx="452100" cy="45210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1" name="椭圆 30"/>
          <p:cNvSpPr/>
          <p:nvPr/>
        </p:nvSpPr>
        <p:spPr>
          <a:xfrm>
            <a:off x="10594052" y="439515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5085" y="5064690"/>
            <a:ext cx="1846202" cy="1855326"/>
          </a:xfrm>
          <a:prstGeom prst="rect">
            <a:avLst/>
          </a:prstGeom>
        </p:spPr>
      </p:pic>
      <p:sp>
        <p:nvSpPr>
          <p:cNvPr id="39" name="矩形 38"/>
          <p:cNvSpPr/>
          <p:nvPr/>
        </p:nvSpPr>
        <p:spPr>
          <a:xfrm>
            <a:off x="5789304" y="2582157"/>
            <a:ext cx="3968423"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r>
              <a:rPr lang="zh-CN" altLang="en-US" sz="2400" b="1" dirty="0"/>
              <a:t>实验目的</a:t>
            </a:r>
            <a:endParaRPr lang="zh-CN" altLang="en-US" sz="2400" spc="200" dirty="0">
              <a:latin typeface="黑体" panose="02010609060101010101" charset="-122"/>
              <a:ea typeface="黑体" panose="02010609060101010101" charset="-122"/>
            </a:endParaRPr>
          </a:p>
        </p:txBody>
      </p:sp>
      <p:sp>
        <p:nvSpPr>
          <p:cNvPr id="40" name="椭圆 39"/>
          <p:cNvSpPr/>
          <p:nvPr/>
        </p:nvSpPr>
        <p:spPr>
          <a:xfrm>
            <a:off x="4802177" y="2462998"/>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1</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1" name="椭圆 40"/>
          <p:cNvSpPr/>
          <p:nvPr/>
        </p:nvSpPr>
        <p:spPr>
          <a:xfrm>
            <a:off x="4802177" y="3457701"/>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2</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2" name="椭圆 41"/>
          <p:cNvSpPr/>
          <p:nvPr/>
        </p:nvSpPr>
        <p:spPr>
          <a:xfrm>
            <a:off x="4802177" y="4515456"/>
            <a:ext cx="741318" cy="719742"/>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3</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43" name="矩形 42"/>
          <p:cNvSpPr/>
          <p:nvPr/>
        </p:nvSpPr>
        <p:spPr>
          <a:xfrm>
            <a:off x="5742869" y="4653177"/>
            <a:ext cx="1518365"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defRPr/>
            </a:pPr>
            <a:r>
              <a:rPr lang="zh-CN" altLang="en-US" sz="2400" spc="200" dirty="0">
                <a:latin typeface="黑体" panose="02010609060101010101" charset="-122"/>
                <a:ea typeface="黑体" panose="02010609060101010101" charset="-122"/>
              </a:rPr>
              <a:t>实验内容</a:t>
            </a:r>
            <a:endParaRPr lang="zh-CN" altLang="en-US" sz="2400" spc="200" dirty="0">
              <a:latin typeface="黑体" panose="02010609060101010101" charset="-122"/>
              <a:ea typeface="黑体" panose="02010609060101010101" charset="-122"/>
            </a:endParaRPr>
          </a:p>
        </p:txBody>
      </p:sp>
      <p:sp>
        <p:nvSpPr>
          <p:cNvPr id="46" name="矩形 45"/>
          <p:cNvSpPr/>
          <p:nvPr/>
        </p:nvSpPr>
        <p:spPr>
          <a:xfrm>
            <a:off x="5738782" y="3582748"/>
            <a:ext cx="1518365"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defRPr/>
            </a:pPr>
            <a:r>
              <a:rPr lang="zh-CN" altLang="en-US" sz="2400" spc="200" dirty="0">
                <a:latin typeface="黑体" panose="02010609060101010101" charset="-122"/>
                <a:ea typeface="黑体" panose="02010609060101010101" charset="-122"/>
              </a:rPr>
              <a:t>实验原理</a:t>
            </a:r>
            <a:endParaRPr lang="zh-CN" altLang="en-US" sz="2400" spc="200" dirty="0">
              <a:latin typeface="黑体" panose="02010609060101010101" charset="-122"/>
              <a:ea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7575006" cy="646331"/>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 实验目的</a:t>
            </a:r>
            <a:endParaRPr lang="zh-CN" altLang="en-US" sz="3600" b="1" dirty="0"/>
          </a:p>
        </p:txBody>
      </p:sp>
      <p:sp>
        <p:nvSpPr>
          <p:cNvPr id="25" name="矩形 24"/>
          <p:cNvSpPr/>
          <p:nvPr/>
        </p:nvSpPr>
        <p:spPr>
          <a:xfrm>
            <a:off x="933436" y="1417777"/>
            <a:ext cx="10615561" cy="2595839"/>
          </a:xfrm>
          <a:prstGeom prst="rect">
            <a:avLst/>
          </a:prstGeom>
        </p:spPr>
        <p:txBody>
          <a:bodyPr wrap="square">
            <a:spAutoFit/>
          </a:bodyPr>
          <a:lstStyle/>
          <a:p>
            <a:pPr>
              <a:lnSpc>
                <a:spcPct val="150000"/>
              </a:lnSpc>
              <a:buClr>
                <a:srgbClr val="30B695"/>
              </a:buCl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1.</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学习导电媒质中模拟场的测试方法。</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2.</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通过对几种典型电极的模拟，研究电场的分布规律，加强对电</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  </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场强度和电位的理解。</a:t>
            </a:r>
            <a:endParaRPr lang="en-US" altLang="zh-CN" sz="2800" b="1" dirty="0">
              <a:latin typeface="宋体" panose="02010600030101010101" pitchFamily="2" charset="-122"/>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宋体" panose="02010600030101010101" pitchFamily="2" charset="-122"/>
                <a:ea typeface="宋体" panose="02010600030101010101" pitchFamily="2" charset="-122"/>
                <a:cs typeface="Times New Roman" panose="02020603050405020304" pitchFamily="18" charset="0"/>
              </a:rPr>
              <a:t>3.</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掌握用</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ANSYS</a:t>
            </a:r>
            <a:r>
              <a:rPr lang="zh-CN" altLang="en-US" sz="2800" b="1" dirty="0">
                <a:latin typeface="宋体" panose="02010600030101010101" pitchFamily="2" charset="-122"/>
                <a:ea typeface="宋体" panose="02010600030101010101" pitchFamily="2" charset="-122"/>
                <a:cs typeface="Times New Roman" panose="02020603050405020304" pitchFamily="18" charset="0"/>
              </a:rPr>
              <a:t>软件的静电场求解器求电场分布及电容的方法。</a:t>
            </a:r>
            <a:endParaRPr lang="id-ID" altLang="zh-CN"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2" name="文本框 1"/>
          <p:cNvSpPr txBox="1"/>
          <p:nvPr/>
        </p:nvSpPr>
        <p:spPr>
          <a:xfrm>
            <a:off x="11232715" y="6343650"/>
            <a:ext cx="832980" cy="369332"/>
          </a:xfrm>
          <a:prstGeom prst="rect">
            <a:avLst/>
          </a:prstGeom>
          <a:noFill/>
        </p:spPr>
        <p:txBody>
          <a:bodyPr wrap="square" rtlCol="0">
            <a:spAutoFit/>
          </a:bodyPr>
          <a:lstStyle/>
          <a:p>
            <a:r>
              <a:rPr lang="en-US" altLang="zh-CN" dirty="0"/>
              <a:t>3/26</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7575006" cy="646331"/>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 实验原理</a:t>
            </a:r>
            <a:endParaRPr lang="zh-CN" altLang="en-US" sz="3600" b="1" dirty="0"/>
          </a:p>
        </p:txBody>
      </p:sp>
      <p:sp>
        <p:nvSpPr>
          <p:cNvPr id="25" name="矩形 24"/>
          <p:cNvSpPr/>
          <p:nvPr/>
        </p:nvSpPr>
        <p:spPr>
          <a:xfrm>
            <a:off x="693949" y="918915"/>
            <a:ext cx="10325127" cy="1405193"/>
          </a:xfrm>
          <a:prstGeom prst="rect">
            <a:avLst/>
          </a:prstGeom>
        </p:spPr>
        <p:txBody>
          <a:bodyPr wrap="square">
            <a:spAutoFit/>
          </a:bodyPr>
          <a:lstStyle/>
          <a:p>
            <a:pPr indent="457200">
              <a:lnSpc>
                <a:spcPct val="150000"/>
              </a:lnSpc>
              <a:buClr>
                <a:srgbClr val="30B695"/>
              </a:buClr>
            </a:pPr>
            <a:r>
              <a:rPr lang="zh-CN" altLang="en-US" sz="2000" b="1" dirty="0">
                <a:latin typeface="宋体" panose="02010600030101010101" pitchFamily="2" charset="-122"/>
                <a:ea typeface="宋体" panose="02010600030101010101" pitchFamily="2" charset="-122"/>
                <a:cs typeface="Times New Roman" panose="02020603050405020304" pitchFamily="18" charset="0"/>
              </a:rPr>
              <a:t>在电源外均匀导电媒质内部的恒定电流场方程和无电荷分布区域中均匀介质内部的静电场方程如表</a:t>
            </a:r>
            <a:r>
              <a:rPr lang="en-US" altLang="zh-CN" sz="2000" b="1" dirty="0">
                <a:latin typeface="宋体" panose="02010600030101010101" pitchFamily="2" charset="-122"/>
                <a:ea typeface="宋体" panose="02010600030101010101" pitchFamily="2" charset="-122"/>
                <a:cs typeface="Times New Roman" panose="02020603050405020304" pitchFamily="18" charset="0"/>
              </a:rPr>
              <a:t>1</a:t>
            </a:r>
            <a:r>
              <a:rPr lang="zh-CN" altLang="en-US" sz="2000" b="1" dirty="0">
                <a:latin typeface="宋体" panose="02010600030101010101" pitchFamily="2" charset="-122"/>
                <a:ea typeface="宋体" panose="02010600030101010101" pitchFamily="2" charset="-122"/>
                <a:cs typeface="Times New Roman" panose="02020603050405020304" pitchFamily="18" charset="0"/>
              </a:rPr>
              <a:t>所示。根据相似性，在一定条件下，可以根据静电场的计算结果求得恒定电场，或反之，这种方法称为静电比拟法。</a:t>
            </a:r>
            <a:endParaRPr lang="id-ID" altLang="zh-CN" sz="2000" b="1" dirty="0">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2" name="表格 2"/>
          <p:cNvGraphicFramePr>
            <a:graphicFrameLocks noGrp="1"/>
          </p:cNvGraphicFramePr>
          <p:nvPr/>
        </p:nvGraphicFramePr>
        <p:xfrm>
          <a:off x="1792514" y="2787554"/>
          <a:ext cx="8128000" cy="2282070"/>
        </p:xfrm>
        <a:graphic>
          <a:graphicData uri="http://schemas.openxmlformats.org/drawingml/2006/table">
            <a:tbl>
              <a:tblPr firstRow="1" bandRow="1">
                <a:tableStyleId>{5C22544A-7EE6-4342-B048-85BDC9FD1C3A}</a:tableStyleId>
              </a:tblPr>
              <a:tblGrid>
                <a:gridCol w="4064000"/>
                <a:gridCol w="4064000"/>
              </a:tblGrid>
              <a:tr h="370840">
                <a:tc>
                  <a:txBody>
                    <a:bodyPr/>
                    <a:lstStyle/>
                    <a:p>
                      <a:pPr algn="ctr"/>
                      <a:r>
                        <a:rPr lang="zh-CN" altLang="en-US" dirty="0"/>
                        <a:t>恒定电场（电源外）</a:t>
                      </a:r>
                      <a:endParaRPr lang="zh-CN" altLang="en-US" dirty="0"/>
                    </a:p>
                  </a:txBody>
                  <a:tcPr/>
                </a:tc>
                <a:tc>
                  <a:txBody>
                    <a:bodyPr/>
                    <a:lstStyle/>
                    <a:p>
                      <a:pPr algn="ctr"/>
                      <a:r>
                        <a:rPr lang="zh-CN" altLang="en-US" dirty="0"/>
                        <a:t>静电场（          处）</a:t>
                      </a:r>
                      <a:endParaRPr lang="zh-CN" altLang="en-US" dirty="0"/>
                    </a:p>
                  </a:txBody>
                  <a:tcPr/>
                </a:tc>
              </a:tr>
              <a:tr h="506065">
                <a:tc>
                  <a:txBody>
                    <a:bodyPr/>
                    <a:lstStyle/>
                    <a:p>
                      <a:endParaRPr lang="zh-CN" altLang="en-US" dirty="0"/>
                    </a:p>
                  </a:txBody>
                  <a:tcPr/>
                </a:tc>
                <a:tc>
                  <a:txBody>
                    <a:bodyPr/>
                    <a:lstStyle/>
                    <a:p>
                      <a:endParaRPr lang="zh-CN" altLang="en-US"/>
                    </a:p>
                  </a:txBody>
                  <a:tcPr/>
                </a:tc>
              </a:tr>
              <a:tr h="471714">
                <a:tc>
                  <a:txBody>
                    <a:bodyPr/>
                    <a:lstStyle/>
                    <a:p>
                      <a:endParaRPr lang="zh-CN" altLang="en-US"/>
                    </a:p>
                  </a:txBody>
                  <a:tcPr/>
                </a:tc>
                <a:tc>
                  <a:txBody>
                    <a:bodyPr/>
                    <a:lstStyle/>
                    <a:p>
                      <a:endParaRPr lang="zh-CN" altLang="en-US" dirty="0"/>
                    </a:p>
                  </a:txBody>
                  <a:tcPr/>
                </a:tc>
              </a:tr>
              <a:tr h="493486">
                <a:tc>
                  <a:txBody>
                    <a:bodyPr/>
                    <a:lstStyle/>
                    <a:p>
                      <a:endParaRPr lang="zh-CN" altLang="en-US"/>
                    </a:p>
                  </a:txBody>
                  <a:tcPr/>
                </a:tc>
                <a:tc>
                  <a:txBody>
                    <a:bodyPr/>
                    <a:lstStyle/>
                    <a:p>
                      <a:endParaRPr lang="zh-CN" altLang="en-US"/>
                    </a:p>
                  </a:txBody>
                  <a:tcPr/>
                </a:tc>
              </a:tr>
              <a:tr h="439965">
                <a:tc>
                  <a:txBody>
                    <a:bodyPr/>
                    <a:lstStyle/>
                    <a:p>
                      <a:endParaRPr lang="zh-CN" altLang="en-US"/>
                    </a:p>
                  </a:txBody>
                  <a:tcPr/>
                </a:tc>
                <a:tc>
                  <a:txBody>
                    <a:bodyPr/>
                    <a:lstStyle/>
                    <a:p>
                      <a:endParaRPr lang="zh-CN" altLang="en-US" dirty="0"/>
                    </a:p>
                  </a:txBody>
                  <a:tcPr/>
                </a:tc>
              </a:tr>
            </a:tbl>
          </a:graphicData>
        </a:graphic>
      </p:graphicFrame>
      <p:graphicFrame>
        <p:nvGraphicFramePr>
          <p:cNvPr id="3" name="对象 2"/>
          <p:cNvGraphicFramePr>
            <a:graphicFrameLocks noChangeAspect="1"/>
          </p:cNvGraphicFramePr>
          <p:nvPr/>
        </p:nvGraphicFramePr>
        <p:xfrm>
          <a:off x="7814129" y="2812954"/>
          <a:ext cx="588083" cy="313644"/>
        </p:xfrm>
        <a:graphic>
          <a:graphicData uri="http://schemas.openxmlformats.org/presentationml/2006/ole">
            <mc:AlternateContent xmlns:mc="http://schemas.openxmlformats.org/markup-compatibility/2006">
              <mc:Choice xmlns:v="urn:schemas-microsoft-com:vml" Requires="v">
                <p:oleObj spid="_x0000_s1125" name="Equation" r:id="rId2" imgW="9144000" imgH="4876800" progId="Equation.DSMT4">
                  <p:embed/>
                </p:oleObj>
              </mc:Choice>
              <mc:Fallback>
                <p:oleObj name="Equation" r:id="rId2" imgW="9144000" imgH="4876800" progId="Equation.DSMT4">
                  <p:embed/>
                  <p:pic>
                    <p:nvPicPr>
                      <p:cNvPr id="0" name="图片 1124"/>
                      <p:cNvPicPr/>
                      <p:nvPr/>
                    </p:nvPicPr>
                    <p:blipFill>
                      <a:blip r:embed="rId3"/>
                      <a:stretch>
                        <a:fillRect/>
                      </a:stretch>
                    </p:blipFill>
                    <p:spPr>
                      <a:xfrm>
                        <a:off x="7814129" y="2812954"/>
                        <a:ext cx="588083" cy="313644"/>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7273472" y="3267359"/>
          <a:ext cx="939620" cy="372608"/>
        </p:xfrm>
        <a:graphic>
          <a:graphicData uri="http://schemas.openxmlformats.org/presentationml/2006/ole">
            <mc:AlternateContent xmlns:mc="http://schemas.openxmlformats.org/markup-compatibility/2006">
              <mc:Choice xmlns:v="urn:schemas-microsoft-com:vml" Requires="v">
                <p:oleObj spid="_x0000_s1126" name="Equation" r:id="rId4" imgW="17678400" imgH="7010400" progId="Equation.DSMT4">
                  <p:embed/>
                </p:oleObj>
              </mc:Choice>
              <mc:Fallback>
                <p:oleObj name="Equation" r:id="rId4" imgW="17678400" imgH="7010400" progId="Equation.DSMT4">
                  <p:embed/>
                  <p:pic>
                    <p:nvPicPr>
                      <p:cNvPr id="0" name="图片 1125"/>
                      <p:cNvPicPr/>
                      <p:nvPr/>
                    </p:nvPicPr>
                    <p:blipFill>
                      <a:blip r:embed="rId5"/>
                      <a:stretch>
                        <a:fillRect/>
                      </a:stretch>
                    </p:blipFill>
                    <p:spPr>
                      <a:xfrm>
                        <a:off x="7273472" y="3267359"/>
                        <a:ext cx="939620" cy="372608"/>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3248478" y="3248463"/>
          <a:ext cx="939620" cy="372608"/>
        </p:xfrm>
        <a:graphic>
          <a:graphicData uri="http://schemas.openxmlformats.org/presentationml/2006/ole">
            <mc:AlternateContent xmlns:mc="http://schemas.openxmlformats.org/markup-compatibility/2006">
              <mc:Choice xmlns:v="urn:schemas-microsoft-com:vml" Requires="v">
                <p:oleObj spid="_x0000_s1127" name="Equation" r:id="rId6" imgW="17678400" imgH="7010400" progId="Equation.DSMT4">
                  <p:embed/>
                </p:oleObj>
              </mc:Choice>
              <mc:Fallback>
                <p:oleObj name="Equation" r:id="rId6" imgW="17678400" imgH="7010400" progId="Equation.DSMT4">
                  <p:embed/>
                  <p:pic>
                    <p:nvPicPr>
                      <p:cNvPr id="0" name="对象 3"/>
                      <p:cNvPicPr/>
                      <p:nvPr/>
                    </p:nvPicPr>
                    <p:blipFill>
                      <a:blip r:embed="rId7"/>
                      <a:stretch>
                        <a:fillRect/>
                      </a:stretch>
                    </p:blipFill>
                    <p:spPr>
                      <a:xfrm>
                        <a:off x="3248478" y="3248463"/>
                        <a:ext cx="939620" cy="372608"/>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3232378" y="3709591"/>
          <a:ext cx="973137" cy="373062"/>
        </p:xfrm>
        <a:graphic>
          <a:graphicData uri="http://schemas.openxmlformats.org/presentationml/2006/ole">
            <mc:AlternateContent xmlns:mc="http://schemas.openxmlformats.org/markup-compatibility/2006">
              <mc:Choice xmlns:v="urn:schemas-microsoft-com:vml" Requires="v">
                <p:oleObj spid="_x0000_s1128" name="Equation" r:id="rId8" imgW="18288000" imgH="7010400" progId="Equation.DSMT4">
                  <p:embed/>
                </p:oleObj>
              </mc:Choice>
              <mc:Fallback>
                <p:oleObj name="Equation" r:id="rId8" imgW="18288000" imgH="7010400" progId="Equation.DSMT4">
                  <p:embed/>
                  <p:pic>
                    <p:nvPicPr>
                      <p:cNvPr id="0" name="对象 19"/>
                      <p:cNvPicPr/>
                      <p:nvPr/>
                    </p:nvPicPr>
                    <p:blipFill>
                      <a:blip r:embed="rId9"/>
                      <a:stretch>
                        <a:fillRect/>
                      </a:stretch>
                    </p:blipFill>
                    <p:spPr>
                      <a:xfrm>
                        <a:off x="3232378" y="3709591"/>
                        <a:ext cx="973137" cy="373062"/>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7266215" y="3709591"/>
          <a:ext cx="990600" cy="373062"/>
        </p:xfrm>
        <a:graphic>
          <a:graphicData uri="http://schemas.openxmlformats.org/presentationml/2006/ole">
            <mc:AlternateContent xmlns:mc="http://schemas.openxmlformats.org/markup-compatibility/2006">
              <mc:Choice xmlns:v="urn:schemas-microsoft-com:vml" Requires="v">
                <p:oleObj spid="_x0000_s1129" name="Equation" r:id="rId10" imgW="18592800" imgH="7010400" progId="Equation.DSMT4">
                  <p:embed/>
                </p:oleObj>
              </mc:Choice>
              <mc:Fallback>
                <p:oleObj name="Equation" r:id="rId10" imgW="18592800" imgH="7010400" progId="Equation.DSMT4">
                  <p:embed/>
                  <p:pic>
                    <p:nvPicPr>
                      <p:cNvPr id="0" name="对象 21"/>
                      <p:cNvPicPr/>
                      <p:nvPr/>
                    </p:nvPicPr>
                    <p:blipFill>
                      <a:blip r:embed="rId11"/>
                      <a:stretch>
                        <a:fillRect/>
                      </a:stretch>
                    </p:blipFill>
                    <p:spPr>
                      <a:xfrm>
                        <a:off x="7266215" y="3709591"/>
                        <a:ext cx="990600" cy="373062"/>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3248478" y="4246504"/>
          <a:ext cx="856162" cy="244617"/>
        </p:xfrm>
        <a:graphic>
          <a:graphicData uri="http://schemas.openxmlformats.org/presentationml/2006/ole">
            <mc:AlternateContent xmlns:mc="http://schemas.openxmlformats.org/markup-compatibility/2006">
              <mc:Choice xmlns:v="urn:schemas-microsoft-com:vml" Requires="v">
                <p:oleObj spid="_x0000_s1130" name="Equation" r:id="rId12" imgW="14935200" imgH="4267200" progId="Equation.DSMT4">
                  <p:embed/>
                </p:oleObj>
              </mc:Choice>
              <mc:Fallback>
                <p:oleObj name="Equation" r:id="rId12" imgW="14935200" imgH="4267200" progId="Equation.DSMT4">
                  <p:embed/>
                  <p:pic>
                    <p:nvPicPr>
                      <p:cNvPr id="0" name="图片 1129"/>
                      <p:cNvPicPr/>
                      <p:nvPr/>
                    </p:nvPicPr>
                    <p:blipFill>
                      <a:blip r:embed="rId13"/>
                      <a:stretch>
                        <a:fillRect/>
                      </a:stretch>
                    </p:blipFill>
                    <p:spPr>
                      <a:xfrm>
                        <a:off x="3248478" y="4246504"/>
                        <a:ext cx="856162" cy="244617"/>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7273472" y="4246504"/>
          <a:ext cx="856162" cy="244617"/>
        </p:xfrm>
        <a:graphic>
          <a:graphicData uri="http://schemas.openxmlformats.org/presentationml/2006/ole">
            <mc:AlternateContent xmlns:mc="http://schemas.openxmlformats.org/markup-compatibility/2006">
              <mc:Choice xmlns:v="urn:schemas-microsoft-com:vml" Requires="v">
                <p:oleObj spid="_x0000_s1131" name="Equation" r:id="rId14" imgW="14935200" imgH="4267200" progId="Equation.DSMT4">
                  <p:embed/>
                </p:oleObj>
              </mc:Choice>
              <mc:Fallback>
                <p:oleObj name="Equation" r:id="rId14" imgW="14935200" imgH="4267200" progId="Equation.DSMT4">
                  <p:embed/>
                  <p:pic>
                    <p:nvPicPr>
                      <p:cNvPr id="0" name="对象 4"/>
                      <p:cNvPicPr/>
                      <p:nvPr/>
                    </p:nvPicPr>
                    <p:blipFill>
                      <a:blip r:embed="rId15"/>
                      <a:stretch>
                        <a:fillRect/>
                      </a:stretch>
                    </p:blipFill>
                    <p:spPr>
                      <a:xfrm>
                        <a:off x="7273472" y="4246504"/>
                        <a:ext cx="856162" cy="244617"/>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7309078" y="4719241"/>
          <a:ext cx="785812" cy="246062"/>
        </p:xfrm>
        <a:graphic>
          <a:graphicData uri="http://schemas.openxmlformats.org/presentationml/2006/ole">
            <mc:AlternateContent xmlns:mc="http://schemas.openxmlformats.org/markup-compatibility/2006">
              <mc:Choice xmlns:v="urn:schemas-microsoft-com:vml" Requires="v">
                <p:oleObj spid="_x0000_s1132" name="Equation" r:id="rId16" imgW="13716000" imgH="4267200" progId="Equation.DSMT4">
                  <p:embed/>
                </p:oleObj>
              </mc:Choice>
              <mc:Fallback>
                <p:oleObj name="Equation" r:id="rId16" imgW="13716000" imgH="4267200" progId="Equation.DSMT4">
                  <p:embed/>
                  <p:pic>
                    <p:nvPicPr>
                      <p:cNvPr id="0" name="对象 23"/>
                      <p:cNvPicPr/>
                      <p:nvPr/>
                    </p:nvPicPr>
                    <p:blipFill>
                      <a:blip r:embed="rId17"/>
                      <a:stretch>
                        <a:fillRect/>
                      </a:stretch>
                    </p:blipFill>
                    <p:spPr>
                      <a:xfrm>
                        <a:off x="7309078" y="4719241"/>
                        <a:ext cx="785812" cy="246062"/>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3265715" y="4741466"/>
          <a:ext cx="750888" cy="246062"/>
        </p:xfrm>
        <a:graphic>
          <a:graphicData uri="http://schemas.openxmlformats.org/presentationml/2006/ole">
            <mc:AlternateContent xmlns:mc="http://schemas.openxmlformats.org/markup-compatibility/2006">
              <mc:Choice xmlns:v="urn:schemas-microsoft-com:vml" Requires="v">
                <p:oleObj spid="_x0000_s1133" name="Equation" r:id="rId18" imgW="13106400" imgH="4267200" progId="Equation.DSMT4">
                  <p:embed/>
                </p:oleObj>
              </mc:Choice>
              <mc:Fallback>
                <p:oleObj name="Equation" r:id="rId18" imgW="13106400" imgH="4267200" progId="Equation.DSMT4">
                  <p:embed/>
                  <p:pic>
                    <p:nvPicPr>
                      <p:cNvPr id="0" name="对象 25"/>
                      <p:cNvPicPr/>
                      <p:nvPr/>
                    </p:nvPicPr>
                    <p:blipFill>
                      <a:blip r:embed="rId19"/>
                      <a:stretch>
                        <a:fillRect/>
                      </a:stretch>
                    </p:blipFill>
                    <p:spPr>
                      <a:xfrm>
                        <a:off x="3265715" y="4741466"/>
                        <a:ext cx="750888" cy="246062"/>
                      </a:xfrm>
                      <a:prstGeom prst="rect">
                        <a:avLst/>
                      </a:prstGeom>
                    </p:spPr>
                  </p:pic>
                </p:oleObj>
              </mc:Fallback>
            </mc:AlternateContent>
          </a:graphicData>
        </a:graphic>
      </p:graphicFrame>
      <p:sp>
        <p:nvSpPr>
          <p:cNvPr id="7" name="文本框 6"/>
          <p:cNvSpPr txBox="1"/>
          <p:nvPr/>
        </p:nvSpPr>
        <p:spPr>
          <a:xfrm>
            <a:off x="4041502" y="2415793"/>
            <a:ext cx="3630023" cy="369332"/>
          </a:xfrm>
          <a:prstGeom prst="rect">
            <a:avLst/>
          </a:prstGeom>
          <a:noFill/>
        </p:spPr>
        <p:txBody>
          <a:bodyPr wrap="square" rtlCol="0">
            <a:spAutoFit/>
          </a:bodyPr>
          <a:lstStyle/>
          <a:p>
            <a:r>
              <a:rPr lang="zh-CN" altLang="en-US" dirty="0"/>
              <a:t>表</a:t>
            </a:r>
            <a:r>
              <a:rPr lang="en-US" altLang="zh-CN" dirty="0"/>
              <a:t>1 </a:t>
            </a:r>
            <a:r>
              <a:rPr lang="zh-CN" altLang="en-US" dirty="0"/>
              <a:t>恒定电流场与静电场方程</a:t>
            </a:r>
            <a:endParaRPr lang="zh-CN" altLang="en-US" dirty="0"/>
          </a:p>
        </p:txBody>
      </p:sp>
      <p:sp>
        <p:nvSpPr>
          <p:cNvPr id="30" name="矩形 29"/>
          <p:cNvSpPr/>
          <p:nvPr/>
        </p:nvSpPr>
        <p:spPr>
          <a:xfrm>
            <a:off x="837720" y="5208986"/>
            <a:ext cx="10325127" cy="1405193"/>
          </a:xfrm>
          <a:prstGeom prst="rect">
            <a:avLst/>
          </a:prstGeom>
        </p:spPr>
        <p:txBody>
          <a:bodyPr wrap="square">
            <a:spAutoFit/>
          </a:bodyPr>
          <a:lstStyle/>
          <a:p>
            <a:pPr indent="457200">
              <a:lnSpc>
                <a:spcPct val="150000"/>
              </a:lnSpc>
              <a:buClr>
                <a:srgbClr val="30B695"/>
              </a:buClr>
            </a:pPr>
            <a:r>
              <a:rPr lang="zh-CN" altLang="en-US" sz="2000" b="1" dirty="0">
                <a:latin typeface="宋体" panose="02010600030101010101" pitchFamily="2" charset="-122"/>
                <a:ea typeface="宋体" panose="02010600030101010101" pitchFamily="2" charset="-122"/>
                <a:cs typeface="Times New Roman" panose="02020603050405020304" pitchFamily="18" charset="0"/>
              </a:rPr>
              <a:t>在实际工程中，常需要研究各种电极或带电体的静电场，很多情况下，静电场解析解很难获取，采用实验的方法是一种行之有效的方法。而直接对静电场测量很困难，因此可用边界条件与静电场相同的恒定电流场来研究静电场的特性。</a:t>
            </a:r>
            <a:endParaRPr lang="id-ID" altLang="zh-CN" sz="20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29" name="文本框 28"/>
          <p:cNvSpPr txBox="1"/>
          <p:nvPr/>
        </p:nvSpPr>
        <p:spPr>
          <a:xfrm>
            <a:off x="11232715" y="6343650"/>
            <a:ext cx="832980" cy="369332"/>
          </a:xfrm>
          <a:prstGeom prst="rect">
            <a:avLst/>
          </a:prstGeom>
          <a:noFill/>
        </p:spPr>
        <p:txBody>
          <a:bodyPr wrap="square" rtlCol="0">
            <a:spAutoFit/>
          </a:bodyPr>
          <a:lstStyle/>
          <a:p>
            <a:r>
              <a:rPr lang="en-US" altLang="zh-CN" dirty="0"/>
              <a:t>4/24</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7575006" cy="646331"/>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 实验原理</a:t>
            </a:r>
            <a:endParaRPr lang="zh-CN" altLang="en-US" sz="3600" b="1" dirty="0"/>
          </a:p>
        </p:txBody>
      </p:sp>
      <p:sp>
        <p:nvSpPr>
          <p:cNvPr id="25" name="矩形 24"/>
          <p:cNvSpPr/>
          <p:nvPr/>
        </p:nvSpPr>
        <p:spPr>
          <a:xfrm>
            <a:off x="679882" y="758931"/>
            <a:ext cx="10325127" cy="481863"/>
          </a:xfrm>
          <a:prstGeom prst="rect">
            <a:avLst/>
          </a:prstGeom>
        </p:spPr>
        <p:txBody>
          <a:bodyPr wrap="square">
            <a:spAutoFit/>
          </a:bodyPr>
          <a:lstStyle/>
          <a:p>
            <a:pPr>
              <a:lnSpc>
                <a:spcPct val="150000"/>
              </a:lnSpc>
              <a:buClr>
                <a:srgbClr val="30B695"/>
              </a:buClr>
            </a:pPr>
            <a:r>
              <a:rPr lang="zh-CN" altLang="en-US" sz="2000" b="1" dirty="0">
                <a:latin typeface="宋体" panose="02010600030101010101" pitchFamily="2" charset="-122"/>
                <a:ea typeface="宋体" panose="02010600030101010101" pitchFamily="2" charset="-122"/>
                <a:cs typeface="Times New Roman" panose="02020603050405020304" pitchFamily="18" charset="0"/>
              </a:rPr>
              <a:t>电气工程中典型电极模型：</a:t>
            </a:r>
            <a:endParaRPr lang="id-ID" altLang="zh-CN" sz="20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6" name="Rectangle 2"/>
          <p:cNvSpPr>
            <a:spLocks noChangeArrowheads="1"/>
          </p:cNvSpPr>
          <p:nvPr/>
        </p:nvSpPr>
        <p:spPr bwMode="auto">
          <a:xfrm>
            <a:off x="1966686" y="1650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2066209" y="1407091"/>
          <a:ext cx="7123858" cy="1635323"/>
        </p:xfrm>
        <a:graphic>
          <a:graphicData uri="http://schemas.openxmlformats.org/presentationml/2006/ole">
            <mc:AlternateContent xmlns:mc="http://schemas.openxmlformats.org/markup-compatibility/2006">
              <mc:Choice xmlns:v="urn:schemas-microsoft-com:vml" Requires="v">
                <p:oleObj spid="_x0000_s2105" name="Visio" r:id="rId2" imgW="4918710" imgH="1136650" progId="Visio.Drawing.11">
                  <p:embed/>
                </p:oleObj>
              </mc:Choice>
              <mc:Fallback>
                <p:oleObj name="Visio" r:id="rId2" imgW="4918710" imgH="1136650"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6209" y="1407091"/>
                        <a:ext cx="7123858" cy="1635323"/>
                      </a:xfrm>
                      <a:prstGeom prst="rect">
                        <a:avLst/>
                      </a:prstGeom>
                      <a:noFill/>
                    </p:spPr>
                  </p:pic>
                </p:oleObj>
              </mc:Fallback>
            </mc:AlternateContent>
          </a:graphicData>
        </a:graphic>
      </p:graphicFrame>
      <p:sp>
        <p:nvSpPr>
          <p:cNvPr id="9" name="Rectangle 3"/>
          <p:cNvSpPr>
            <a:spLocks noChangeArrowheads="1"/>
          </p:cNvSpPr>
          <p:nvPr/>
        </p:nvSpPr>
        <p:spPr bwMode="auto">
          <a:xfrm>
            <a:off x="1966686" y="3067930"/>
            <a:ext cx="7673896" cy="773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0" fontAlgn="base" latinLnBrk="0" hangingPunct="0">
              <a:lnSpc>
                <a:spcPct val="130000"/>
              </a:lnSpc>
              <a:spcBef>
                <a:spcPct val="0"/>
              </a:spcBef>
              <a:spcAft>
                <a:spcPct val="0"/>
              </a:spcAft>
              <a:buClrTx/>
              <a:buSzTx/>
              <a:buFontTx/>
              <a:buNone/>
            </a:pP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平板电容器   </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b</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）同轴电缆 （</a:t>
            </a:r>
            <a:r>
              <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c</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）两平行长直导电导（</a:t>
            </a:r>
            <a:r>
              <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）尖端放电</a:t>
            </a:r>
            <a:endParaRPr kumimoji="0" lang="zh-CN" altLang="en-US" b="0" i="0" u="none" strike="noStrike" cap="none" normalizeH="0" baseline="0" dirty="0">
              <a:ln>
                <a:noFill/>
              </a:ln>
              <a:solidFill>
                <a:schemeClr val="tx1"/>
              </a:solidFill>
              <a:effectLst/>
            </a:endParaRPr>
          </a:p>
          <a:p>
            <a:pPr marL="0" marR="0" lvl="0" indent="0" algn="ctr" defTabSz="914400" rtl="0" eaLnBrk="0" fontAlgn="base" latinLnBrk="0" hangingPunct="0">
              <a:lnSpc>
                <a:spcPct val="13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1.1-7  4</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种电极模型</a:t>
            </a:r>
            <a:endParaRPr kumimoji="0" lang="zh-CN" altLang="en-US" b="0" i="0" u="none" strike="noStrike" cap="none" normalizeH="0" baseline="0" dirty="0">
              <a:ln>
                <a:noFill/>
              </a:ln>
              <a:solidFill>
                <a:schemeClr val="tx1"/>
              </a:solidFill>
              <a:effectLst/>
              <a:latin typeface="Arial" panose="020B0604020202020204" pitchFamily="34" charset="0"/>
            </a:endParaRPr>
          </a:p>
        </p:txBody>
      </p:sp>
      <p:pic>
        <p:nvPicPr>
          <p:cNvPr id="819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l="18396" t="23140" r="11842" b="6068"/>
          <a:stretch>
            <a:fillRect/>
          </a:stretch>
        </p:blipFill>
        <p:spPr bwMode="auto">
          <a:xfrm>
            <a:off x="854055" y="4189240"/>
            <a:ext cx="2745658" cy="209181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对象 11"/>
          <p:cNvGraphicFramePr>
            <a:graphicFrameLocks noChangeAspect="1"/>
          </p:cNvGraphicFramePr>
          <p:nvPr/>
        </p:nvGraphicFramePr>
        <p:xfrm>
          <a:off x="3808437" y="4802315"/>
          <a:ext cx="1135855" cy="576091"/>
        </p:xfrm>
        <a:graphic>
          <a:graphicData uri="http://schemas.openxmlformats.org/presentationml/2006/ole">
            <mc:AlternateContent xmlns:mc="http://schemas.openxmlformats.org/markup-compatibility/2006">
              <mc:Choice xmlns:v="urn:schemas-microsoft-com:vml" Requires="v">
                <p:oleObj spid="_x0000_s2106" name="Equation" r:id="rId5" imgW="774065" imgH="393700" progId="Equation.DSMT4">
                  <p:embed/>
                </p:oleObj>
              </mc:Choice>
              <mc:Fallback>
                <p:oleObj name="Equation" r:id="rId5" imgW="774065" imgH="3937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8437" y="4802315"/>
                        <a:ext cx="1135855" cy="576091"/>
                      </a:xfrm>
                      <a:prstGeom prst="rect">
                        <a:avLst/>
                      </a:prstGeom>
                      <a:noFill/>
                    </p:spPr>
                  </p:pic>
                </p:oleObj>
              </mc:Fallback>
            </mc:AlternateContent>
          </a:graphicData>
        </a:graphic>
      </p:graphicFrame>
      <p:sp>
        <p:nvSpPr>
          <p:cNvPr id="13"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4" name="对象 13"/>
          <p:cNvGraphicFramePr>
            <a:graphicFrameLocks noChangeAspect="1"/>
          </p:cNvGraphicFramePr>
          <p:nvPr/>
        </p:nvGraphicFramePr>
        <p:xfrm>
          <a:off x="3839029" y="4135432"/>
          <a:ext cx="870857" cy="570562"/>
        </p:xfrm>
        <a:graphic>
          <a:graphicData uri="http://schemas.openxmlformats.org/presentationml/2006/ole">
            <mc:AlternateContent xmlns:mc="http://schemas.openxmlformats.org/markup-compatibility/2006">
              <mc:Choice xmlns:v="urn:schemas-microsoft-com:vml" Requires="v">
                <p:oleObj spid="_x0000_s2107" name="Equation" r:id="rId7" imgW="596900" imgH="393700" progId="Equation.DSMT4">
                  <p:embed/>
                </p:oleObj>
              </mc:Choice>
              <mc:Fallback>
                <p:oleObj name="Equation" r:id="rId7" imgW="596900" imgH="3937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9029" y="4135432"/>
                        <a:ext cx="870857" cy="570562"/>
                      </a:xfrm>
                      <a:prstGeom prst="rect">
                        <a:avLst/>
                      </a:prstGeom>
                      <a:noFill/>
                    </p:spPr>
                  </p:pic>
                </p:oleObj>
              </mc:Fallback>
            </mc:AlternateContent>
          </a:graphicData>
        </a:graphic>
      </p:graphicFrame>
      <p:sp>
        <p:nvSpPr>
          <p:cNvPr id="38" name="矩形 37"/>
          <p:cNvSpPr/>
          <p:nvPr/>
        </p:nvSpPr>
        <p:spPr>
          <a:xfrm>
            <a:off x="3662679" y="5474727"/>
            <a:ext cx="2332445" cy="773289"/>
          </a:xfrm>
          <a:prstGeom prst="rect">
            <a:avLst/>
          </a:prstGeom>
        </p:spPr>
        <p:txBody>
          <a:bodyPr wrap="square">
            <a:spAutoFit/>
          </a:bodyPr>
          <a:lstStyle/>
          <a:p>
            <a:pPr>
              <a:lnSpc>
                <a:spcPct val="150000"/>
              </a:lnSpc>
              <a:buClr>
                <a:srgbClr val="30B695"/>
              </a:buClr>
            </a:pPr>
            <a:r>
              <a:rPr lang="en-US" altLang="zh-CN" sz="1600" dirty="0">
                <a:latin typeface="宋体" panose="02010600030101010101" pitchFamily="2" charset="-122"/>
                <a:ea typeface="宋体" panose="02010600030101010101" pitchFamily="2" charset="-122"/>
                <a:cs typeface="Times New Roman" panose="02020603050405020304" pitchFamily="18" charset="0"/>
              </a:rPr>
              <a:t>d</a:t>
            </a:r>
            <a:r>
              <a:rPr lang="zh-CN" altLang="en-US" sz="1600" dirty="0">
                <a:latin typeface="宋体" panose="02010600030101010101" pitchFamily="2" charset="-122"/>
                <a:ea typeface="宋体" panose="02010600030101010101" pitchFamily="2" charset="-122"/>
                <a:cs typeface="Times New Roman" panose="02020603050405020304" pitchFamily="18" charset="0"/>
              </a:rPr>
              <a:t>为两电极板之间的距离，</a:t>
            </a:r>
            <a:r>
              <a:rPr lang="en-US" altLang="zh-CN" sz="1600" dirty="0">
                <a:latin typeface="宋体" panose="02010600030101010101" pitchFamily="2" charset="-122"/>
                <a:ea typeface="宋体" panose="02010600030101010101" pitchFamily="2" charset="-122"/>
                <a:cs typeface="Times New Roman" panose="02020603050405020304" pitchFamily="18" charset="0"/>
              </a:rPr>
              <a:t>U</a:t>
            </a:r>
            <a:r>
              <a:rPr lang="zh-CN" altLang="en-US" sz="1600" dirty="0">
                <a:latin typeface="宋体" panose="02010600030101010101" pitchFamily="2" charset="-122"/>
                <a:ea typeface="宋体" panose="02010600030101010101" pitchFamily="2" charset="-122"/>
                <a:cs typeface="Times New Roman" panose="02020603050405020304" pitchFamily="18" charset="0"/>
              </a:rPr>
              <a:t>为两电极板施加的电压。</a:t>
            </a:r>
            <a:endParaRPr lang="en-US" altLang="zh-CN" sz="16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5" name="Rectangle 11"/>
          <p:cNvSpPr>
            <a:spLocks noChangeArrowheads="1"/>
          </p:cNvSpPr>
          <p:nvPr/>
        </p:nvSpPr>
        <p:spPr bwMode="auto">
          <a:xfrm>
            <a:off x="6371050" y="4312780"/>
            <a:ext cx="18872742" cy="48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pic>
        <p:nvPicPr>
          <p:cNvPr id="8202" name="Picture 10"/>
          <p:cNvPicPr>
            <a:picLocks noChangeAspect="1" noChangeArrowheads="1"/>
          </p:cNvPicPr>
          <p:nvPr/>
        </p:nvPicPr>
        <p:blipFill>
          <a:blip r:embed="rId9" cstate="print">
            <a:extLst>
              <a:ext uri="{28A0092B-C50C-407E-A947-70E740481C1C}">
                <a14:useLocalDpi xmlns:a14="http://schemas.microsoft.com/office/drawing/2010/main" val="0"/>
              </a:ext>
            </a:extLst>
          </a:blip>
          <a:srcRect l="31648" t="27838" r="20393"/>
          <a:stretch>
            <a:fillRect/>
          </a:stretch>
        </p:blipFill>
        <p:spPr bwMode="auto">
          <a:xfrm>
            <a:off x="6545222" y="4084180"/>
            <a:ext cx="2074819" cy="234313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7" name="对象 16"/>
          <p:cNvGraphicFramePr>
            <a:graphicFrameLocks noChangeAspect="1"/>
          </p:cNvGraphicFramePr>
          <p:nvPr/>
        </p:nvGraphicFramePr>
        <p:xfrm>
          <a:off x="9245277" y="4103045"/>
          <a:ext cx="1019372" cy="699270"/>
        </p:xfrm>
        <a:graphic>
          <a:graphicData uri="http://schemas.openxmlformats.org/presentationml/2006/ole">
            <mc:AlternateContent xmlns:mc="http://schemas.openxmlformats.org/markup-compatibility/2006">
              <mc:Choice xmlns:v="urn:schemas-microsoft-com:vml" Requires="v">
                <p:oleObj spid="_x0000_s2108" name="Equation" r:id="rId10" imgW="20421600" imgH="14020800" progId="Equation.DSMT4">
                  <p:embed/>
                </p:oleObj>
              </mc:Choice>
              <mc:Fallback>
                <p:oleObj name="Equation" r:id="rId10" imgW="20421600" imgH="14020800" progId="Equation.DSMT4">
                  <p:embed/>
                  <p:pic>
                    <p:nvPicPr>
                      <p:cNvPr id="0" name="Object 12"/>
                      <p:cNvPicPr>
                        <a:picLocks noChangeAspect="1" noChangeArrowheads="1"/>
                      </p:cNvPicPr>
                      <p:nvPr/>
                    </p:nvPicPr>
                    <p:blipFill>
                      <a:blip r:embed="rId11"/>
                      <a:srcRect/>
                      <a:stretch>
                        <a:fillRect/>
                      </a:stretch>
                    </p:blipFill>
                    <p:spPr bwMode="auto">
                      <a:xfrm>
                        <a:off x="9245277" y="4103045"/>
                        <a:ext cx="1019372" cy="699270"/>
                      </a:xfrm>
                      <a:prstGeom prst="rect">
                        <a:avLst/>
                      </a:prstGeom>
                      <a:noFill/>
                    </p:spPr>
                  </p:pic>
                </p:oleObj>
              </mc:Fallback>
            </mc:AlternateContent>
          </a:graphicData>
        </a:graphic>
      </p:graphicFrame>
      <p:sp>
        <p:nvSpPr>
          <p:cNvPr id="19" name="Rectangle 1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8" name="对象 27"/>
          <p:cNvGraphicFramePr>
            <a:graphicFrameLocks noChangeAspect="1"/>
          </p:cNvGraphicFramePr>
          <p:nvPr/>
        </p:nvGraphicFramePr>
        <p:xfrm>
          <a:off x="9245277" y="4877107"/>
          <a:ext cx="912987" cy="995076"/>
        </p:xfrm>
        <a:graphic>
          <a:graphicData uri="http://schemas.openxmlformats.org/presentationml/2006/ole">
            <mc:AlternateContent xmlns:mc="http://schemas.openxmlformats.org/markup-compatibility/2006">
              <mc:Choice xmlns:v="urn:schemas-microsoft-com:vml" Requires="v">
                <p:oleObj spid="_x0000_s2109" name="Equation" r:id="rId12" imgW="723900" imgH="786765" progId="Equation.DSMT4">
                  <p:embed/>
                </p:oleObj>
              </mc:Choice>
              <mc:Fallback>
                <p:oleObj name="Equation" r:id="rId12" imgW="723900" imgH="786765"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45277" y="4877107"/>
                        <a:ext cx="912987" cy="995076"/>
                      </a:xfrm>
                      <a:prstGeom prst="rect">
                        <a:avLst/>
                      </a:prstGeom>
                      <a:noFill/>
                    </p:spPr>
                  </p:pic>
                </p:oleObj>
              </mc:Fallback>
            </mc:AlternateContent>
          </a:graphicData>
        </a:graphic>
      </p:graphicFrame>
      <p:sp>
        <p:nvSpPr>
          <p:cNvPr id="45" name="矩形 44"/>
          <p:cNvSpPr/>
          <p:nvPr/>
        </p:nvSpPr>
        <p:spPr>
          <a:xfrm>
            <a:off x="8882798" y="5791245"/>
            <a:ext cx="2982631" cy="773289"/>
          </a:xfrm>
          <a:prstGeom prst="rect">
            <a:avLst/>
          </a:prstGeom>
        </p:spPr>
        <p:txBody>
          <a:bodyPr wrap="square">
            <a:spAutoFit/>
          </a:bodyPr>
          <a:lstStyle/>
          <a:p>
            <a:pPr>
              <a:lnSpc>
                <a:spcPct val="150000"/>
              </a:lnSpc>
              <a:buClr>
                <a:srgbClr val="30B695"/>
              </a:buClr>
            </a:pPr>
            <a:r>
              <a:rPr lang="en-US" altLang="zh-CN" sz="1600" dirty="0">
                <a:latin typeface="宋体" panose="02010600030101010101" pitchFamily="2" charset="-122"/>
                <a:ea typeface="宋体" panose="02010600030101010101" pitchFamily="2" charset="-122"/>
                <a:cs typeface="Times New Roman" panose="02020603050405020304" pitchFamily="18" charset="0"/>
              </a:rPr>
              <a:t>a</a:t>
            </a:r>
            <a:r>
              <a:rPr lang="zh-CN" altLang="en-US" sz="1600" dirty="0">
                <a:latin typeface="宋体" panose="02010600030101010101" pitchFamily="2" charset="-122"/>
                <a:ea typeface="宋体" panose="02010600030101010101" pitchFamily="2" charset="-122"/>
                <a:cs typeface="Times New Roman" panose="02020603050405020304" pitchFamily="18" charset="0"/>
              </a:rPr>
              <a:t>、</a:t>
            </a:r>
            <a:r>
              <a:rPr lang="en-US" altLang="zh-CN" sz="1600" dirty="0">
                <a:latin typeface="宋体" panose="02010600030101010101" pitchFamily="2" charset="-122"/>
                <a:ea typeface="宋体" panose="02010600030101010101" pitchFamily="2" charset="-122"/>
                <a:cs typeface="Times New Roman" panose="02020603050405020304" pitchFamily="18" charset="0"/>
              </a:rPr>
              <a:t>b</a:t>
            </a:r>
            <a:r>
              <a:rPr lang="zh-CN" altLang="en-US" sz="1600" dirty="0">
                <a:latin typeface="宋体" panose="02010600030101010101" pitchFamily="2" charset="-122"/>
                <a:ea typeface="宋体" panose="02010600030101010101" pitchFamily="2" charset="-122"/>
                <a:cs typeface="Times New Roman" panose="02020603050405020304" pitchFamily="18" charset="0"/>
              </a:rPr>
              <a:t>分别同轴电缆内外导体半径，</a:t>
            </a:r>
            <a:r>
              <a:rPr lang="en-US" altLang="zh-CN" sz="1600" dirty="0">
                <a:latin typeface="宋体" panose="02010600030101010101" pitchFamily="2" charset="-122"/>
                <a:ea typeface="宋体" panose="02010600030101010101" pitchFamily="2" charset="-122"/>
                <a:cs typeface="Times New Roman" panose="02020603050405020304" pitchFamily="18" charset="0"/>
              </a:rPr>
              <a:t>U</a:t>
            </a:r>
            <a:r>
              <a:rPr lang="zh-CN" altLang="en-US" sz="1600" dirty="0">
                <a:latin typeface="宋体" panose="02010600030101010101" pitchFamily="2" charset="-122"/>
                <a:ea typeface="宋体" panose="02010600030101010101" pitchFamily="2" charset="-122"/>
                <a:cs typeface="Times New Roman" panose="02020603050405020304" pitchFamily="18" charset="0"/>
              </a:rPr>
              <a:t>为电缆内外导体的电压。</a:t>
            </a:r>
            <a:endParaRPr lang="en-US" altLang="zh-CN" sz="16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p:cNvSpPr txBox="1"/>
          <p:nvPr/>
        </p:nvSpPr>
        <p:spPr>
          <a:xfrm>
            <a:off x="487680" y="105459"/>
            <a:ext cx="7575006" cy="646331"/>
          </a:xfrm>
          <a:prstGeom prst="rect">
            <a:avLst/>
          </a:prstGeom>
          <a:noFill/>
        </p:spPr>
        <p:txBody>
          <a:bodyPr wrap="square" rtlCol="0">
            <a:spAutoFit/>
          </a:bodyPr>
          <a:lstStyle/>
          <a:p>
            <a:r>
              <a:rPr lang="zh-CN" altLang="en-US" sz="3600" b="1" dirty="0"/>
              <a:t>三</a:t>
            </a:r>
            <a:r>
              <a:rPr lang="en-US" altLang="zh-CN" sz="3600" b="1" dirty="0"/>
              <a:t>.</a:t>
            </a:r>
            <a:r>
              <a:rPr lang="zh-CN" altLang="en-US" sz="3600" b="1" dirty="0"/>
              <a:t> 实验内容</a:t>
            </a:r>
            <a:endParaRPr lang="zh-CN" altLang="en-US" sz="3600" b="1" dirty="0"/>
          </a:p>
        </p:txBody>
      </p:sp>
      <p:sp>
        <p:nvSpPr>
          <p:cNvPr id="19" name="Rectangle 5"/>
          <p:cNvSpPr>
            <a:spLocks noChangeArrowheads="1"/>
          </p:cNvSpPr>
          <p:nvPr/>
        </p:nvSpPr>
        <p:spPr bwMode="auto">
          <a:xfrm>
            <a:off x="0" y="924037"/>
            <a:ext cx="6347546" cy="492443"/>
          </a:xfrm>
          <a:prstGeom prst="rect">
            <a:avLst/>
          </a:prstGeom>
          <a:noFill/>
          <a:ln w="9525" algn="ctr">
            <a:noFill/>
            <a:miter lim="800000"/>
          </a:ln>
        </p:spPr>
        <p:txBody>
          <a:bodyPr wrap="square">
            <a:spAutoFit/>
          </a:bodyPr>
          <a:lstStyle/>
          <a:p>
            <a:pPr marL="342900" indent="-342900">
              <a:buClr>
                <a:srgbClr val="30B695"/>
              </a:buClr>
            </a:pPr>
            <a:r>
              <a:rPr lang="en-US" altLang="zh-CN" sz="2600" b="1" dirty="0">
                <a:solidFill>
                  <a:srgbClr val="0000CC"/>
                </a:solidFill>
                <a:latin typeface="微软雅黑" panose="020B0503020204020204" pitchFamily="34" charset="-122"/>
                <a:ea typeface="宋体" panose="02010600030101010101" pitchFamily="2" charset="-122"/>
              </a:rPr>
              <a:t>1</a:t>
            </a:r>
            <a:r>
              <a:rPr lang="zh-CN" altLang="en-US" sz="2600" b="1" dirty="0">
                <a:solidFill>
                  <a:srgbClr val="0000CC"/>
                </a:solidFill>
                <a:latin typeface="微软雅黑" panose="020B0503020204020204" pitchFamily="34" charset="-122"/>
                <a:ea typeface="宋体" panose="02010600030101010101" pitchFamily="2" charset="-122"/>
              </a:rPr>
              <a:t>）实测任务</a:t>
            </a:r>
            <a:r>
              <a:rPr lang="en-US" altLang="zh-CN" sz="2600" b="1" dirty="0">
                <a:solidFill>
                  <a:srgbClr val="00B050"/>
                </a:solidFill>
                <a:latin typeface="黑体" panose="02010609060101010101" charset="-122"/>
                <a:ea typeface="黑体" panose="02010609060101010101" charset="-122"/>
              </a:rPr>
              <a:t>(</a:t>
            </a:r>
            <a:r>
              <a:rPr lang="zh-CN" altLang="en-US" sz="2600" b="1" dirty="0">
                <a:solidFill>
                  <a:srgbClr val="00B050"/>
                </a:solidFill>
                <a:latin typeface="黑体" panose="02010609060101010101" charset="-122"/>
                <a:ea typeface="黑体" panose="02010609060101010101" charset="-122"/>
              </a:rPr>
              <a:t>调节电源电压为</a:t>
            </a:r>
            <a:r>
              <a:rPr lang="en-US" altLang="zh-CN" sz="2600" b="1" dirty="0">
                <a:solidFill>
                  <a:srgbClr val="00B050"/>
                </a:solidFill>
                <a:latin typeface="黑体" panose="02010609060101010101" charset="-122"/>
                <a:ea typeface="黑体" panose="02010609060101010101" charset="-122"/>
              </a:rPr>
              <a:t>+8V)</a:t>
            </a:r>
            <a:endParaRPr lang="zh-CN" altLang="en-US" sz="2600" b="1" dirty="0">
              <a:solidFill>
                <a:srgbClr val="00B050"/>
              </a:solidFill>
              <a:latin typeface="黑体" panose="02010609060101010101" charset="-122"/>
              <a:ea typeface="黑体" panose="02010609060101010101" charset="-122"/>
            </a:endParaRPr>
          </a:p>
        </p:txBody>
      </p:sp>
      <p:sp>
        <p:nvSpPr>
          <p:cNvPr id="20" name="Rectangle 6"/>
          <p:cNvSpPr>
            <a:spLocks noChangeArrowheads="1"/>
          </p:cNvSpPr>
          <p:nvPr/>
        </p:nvSpPr>
        <p:spPr bwMode="auto">
          <a:xfrm>
            <a:off x="598342" y="1366055"/>
            <a:ext cx="6045200" cy="1106805"/>
          </a:xfrm>
          <a:prstGeom prst="rect">
            <a:avLst/>
          </a:prstGeom>
          <a:noFill/>
          <a:ln w="9525" algn="ctr">
            <a:noFill/>
            <a:miter lim="800000"/>
          </a:ln>
        </p:spPr>
        <p:txBody>
          <a:bodyPr>
            <a:spAutoFit/>
          </a:bodyPr>
          <a:lstStyle/>
          <a:p>
            <a:pPr marL="342900" indent="-342900">
              <a:lnSpc>
                <a:spcPct val="150000"/>
              </a:lnSpc>
              <a:buClr>
                <a:srgbClr val="30B695"/>
              </a:buClr>
            </a:pPr>
            <a:r>
              <a:rPr lang="en-US" altLang="zh-CN" sz="2200" b="1" dirty="0">
                <a:latin typeface="Times New Roman" panose="02020603050405020304" pitchFamily="18" charset="0"/>
                <a:ea typeface="宋体" panose="02010600030101010101" pitchFamily="2" charset="-122"/>
              </a:rPr>
              <a:t>1. </a:t>
            </a:r>
            <a:r>
              <a:rPr lang="zh-CN" altLang="en-US" sz="2200" b="1" dirty="0">
                <a:latin typeface="Times New Roman" panose="02020603050405020304" pitchFamily="18" charset="0"/>
                <a:ea typeface="宋体" panose="02010600030101010101" pitchFamily="2" charset="-122"/>
              </a:rPr>
              <a:t>任选两种电极模型，描绘三条等位线。</a:t>
            </a:r>
            <a:endParaRPr lang="en-US" altLang="zh-CN" sz="2200" b="1" dirty="0">
              <a:latin typeface="Times New Roman" panose="02020603050405020304" pitchFamily="18" charset="0"/>
              <a:ea typeface="宋体" panose="02010600030101010101" pitchFamily="2" charset="-122"/>
            </a:endParaRPr>
          </a:p>
          <a:p>
            <a:pPr marL="342900" indent="-342900">
              <a:lnSpc>
                <a:spcPct val="150000"/>
              </a:lnSpc>
              <a:buClr>
                <a:srgbClr val="30B695"/>
              </a:buClr>
            </a:pPr>
            <a:r>
              <a:rPr lang="en-US" altLang="zh-CN" sz="2200" b="1" dirty="0">
                <a:latin typeface="Times New Roman" panose="02020603050405020304" pitchFamily="18" charset="0"/>
                <a:ea typeface="宋体" panose="02010600030101010101" pitchFamily="2" charset="-122"/>
              </a:rPr>
              <a:t>2. </a:t>
            </a:r>
            <a:r>
              <a:rPr lang="zh-CN" altLang="en-US" sz="2200" b="1" dirty="0">
                <a:latin typeface="Times New Roman" panose="02020603050405020304" pitchFamily="18" charset="0"/>
                <a:ea typeface="宋体" panose="02010600030101010101" pitchFamily="2" charset="-122"/>
              </a:rPr>
              <a:t>选择平板电容器电极模型，完成下表：</a:t>
            </a:r>
            <a:endParaRPr lang="zh-CN" altLang="en-US" sz="2200" b="1" dirty="0">
              <a:latin typeface="Times New Roman" panose="02020603050405020304" pitchFamily="18" charset="0"/>
              <a:ea typeface="宋体" panose="02010600030101010101" pitchFamily="2" charset="-122"/>
            </a:endParaRPr>
          </a:p>
        </p:txBody>
      </p:sp>
      <p:graphicFrame>
        <p:nvGraphicFramePr>
          <p:cNvPr id="21" name="表格 20"/>
          <p:cNvGraphicFramePr>
            <a:graphicFrameLocks noGrp="1"/>
          </p:cNvGraphicFramePr>
          <p:nvPr/>
        </p:nvGraphicFramePr>
        <p:xfrm>
          <a:off x="733809" y="2861288"/>
          <a:ext cx="6299169" cy="1483360"/>
        </p:xfrm>
        <a:graphic>
          <a:graphicData uri="http://schemas.openxmlformats.org/drawingml/2006/table">
            <a:tbl>
              <a:tblPr firstRow="1" bandRow="1">
                <a:tableStyleId>{5C22544A-7EE6-4342-B048-85BDC9FD1C3A}</a:tableStyleId>
              </a:tblPr>
              <a:tblGrid>
                <a:gridCol w="2032000"/>
                <a:gridCol w="1456235"/>
                <a:gridCol w="1535289"/>
                <a:gridCol w="1275645"/>
              </a:tblGrid>
              <a:tr h="370840">
                <a:tc>
                  <a:txBody>
                    <a:bodyPr/>
                    <a:lstStyle/>
                    <a:p>
                      <a:pPr marL="0" algn="ctr" defTabSz="914400" rtl="0" eaLnBrk="1" latinLnBrk="0" hangingPunct="1"/>
                      <a:r>
                        <a:rPr lang="zh-CN" altLang="en-US" sz="1600" b="1" kern="1200" dirty="0">
                          <a:solidFill>
                            <a:schemeClr val="lt1"/>
                          </a:solidFill>
                          <a:latin typeface="+mn-lt"/>
                          <a:ea typeface="+mn-ea"/>
                          <a:cs typeface="+mn-cs"/>
                        </a:rPr>
                        <a:t>位置</a:t>
                      </a:r>
                      <a:endParaRPr lang="zh-CN" altLang="en-US" sz="1600" b="1" kern="1200" dirty="0">
                        <a:solidFill>
                          <a:schemeClr val="lt1"/>
                        </a:solidFill>
                        <a:latin typeface="+mn-lt"/>
                        <a:ea typeface="+mn-ea"/>
                        <a:cs typeface="+mn-cs"/>
                      </a:endParaRPr>
                    </a:p>
                  </a:txBody>
                  <a:tcPr/>
                </a:tc>
                <a:tc>
                  <a:txBody>
                    <a:bodyPr/>
                    <a:lstStyle/>
                    <a:p>
                      <a:pPr marL="0" algn="ctr" defTabSz="914400" rtl="0" eaLnBrk="1" latinLnBrk="0" hangingPunct="1"/>
                      <a:r>
                        <a:rPr lang="zh-CN" altLang="en-US" sz="1600" b="1" kern="1200" dirty="0">
                          <a:solidFill>
                            <a:schemeClr val="lt1"/>
                          </a:solidFill>
                          <a:latin typeface="+mn-lt"/>
                          <a:ea typeface="+mn-ea"/>
                          <a:cs typeface="+mn-cs"/>
                        </a:rPr>
                        <a:t>解析解</a:t>
                      </a:r>
                      <a:r>
                        <a:rPr lang="en-US" altLang="zh-CN" sz="1600" b="1" kern="1200" dirty="0">
                          <a:solidFill>
                            <a:schemeClr val="lt1"/>
                          </a:solidFill>
                          <a:latin typeface="+mn-lt"/>
                          <a:ea typeface="+mn-ea"/>
                          <a:cs typeface="+mn-cs"/>
                        </a:rPr>
                        <a:t>/V</a:t>
                      </a:r>
                      <a:endParaRPr lang="en-US" altLang="zh-CN" sz="1600" b="1" kern="1200" dirty="0">
                        <a:solidFill>
                          <a:schemeClr val="lt1"/>
                        </a:solidFill>
                        <a:latin typeface="+mn-lt"/>
                        <a:ea typeface="+mn-ea"/>
                        <a:cs typeface="+mn-cs"/>
                      </a:endParaRPr>
                    </a:p>
                  </a:txBody>
                  <a:tcPr/>
                </a:tc>
                <a:tc>
                  <a:txBody>
                    <a:bodyPr/>
                    <a:lstStyle/>
                    <a:p>
                      <a:pPr marL="0" algn="ctr" defTabSz="914400" rtl="0" eaLnBrk="1" latinLnBrk="0" hangingPunct="1"/>
                      <a:r>
                        <a:rPr lang="zh-CN" altLang="en-US" sz="1600" b="1" kern="1200" dirty="0">
                          <a:solidFill>
                            <a:schemeClr val="lt1"/>
                          </a:solidFill>
                          <a:latin typeface="+mn-lt"/>
                          <a:ea typeface="+mn-ea"/>
                          <a:cs typeface="+mn-cs"/>
                        </a:rPr>
                        <a:t>测量值</a:t>
                      </a:r>
                      <a:endParaRPr lang="zh-CN" altLang="en-US" sz="1600" b="1" kern="1200" dirty="0">
                        <a:solidFill>
                          <a:schemeClr val="lt1"/>
                        </a:solidFill>
                        <a:latin typeface="+mn-lt"/>
                        <a:ea typeface="+mn-ea"/>
                        <a:cs typeface="+mn-cs"/>
                      </a:endParaRPr>
                    </a:p>
                  </a:txBody>
                  <a:tcPr/>
                </a:tc>
                <a:tc>
                  <a:txBody>
                    <a:bodyPr/>
                    <a:lstStyle/>
                    <a:p>
                      <a:pPr marL="0" algn="ctr" defTabSz="914400" rtl="0" eaLnBrk="1" latinLnBrk="0" hangingPunct="1"/>
                      <a:r>
                        <a:rPr lang="zh-CN" altLang="en-US" sz="1600" b="1" kern="1200" dirty="0">
                          <a:solidFill>
                            <a:schemeClr val="lt1"/>
                          </a:solidFill>
                          <a:latin typeface="+mn-lt"/>
                          <a:ea typeface="+mn-ea"/>
                          <a:cs typeface="+mn-cs"/>
                        </a:rPr>
                        <a:t>误差</a:t>
                      </a:r>
                      <a:endParaRPr lang="zh-CN" altLang="en-US" sz="1600" b="1" kern="1200" dirty="0">
                        <a:solidFill>
                          <a:schemeClr val="lt1"/>
                        </a:solidFill>
                        <a:latin typeface="+mn-lt"/>
                        <a:ea typeface="+mn-ea"/>
                        <a:cs typeface="+mn-cs"/>
                      </a:endParaRPr>
                    </a:p>
                  </a:txBody>
                  <a:tcPr/>
                </a:tc>
              </a:tr>
              <a:tr h="370840">
                <a:tc>
                  <a:txBody>
                    <a:bodyPr/>
                    <a:lstStyle/>
                    <a:p>
                      <a:pPr marL="0" algn="ctr" defTabSz="914400" rtl="0" eaLnBrk="1" latinLnBrk="0" hangingPunct="1"/>
                      <a:r>
                        <a:rPr lang="zh-CN" altLang="en-US" sz="1600" b="0" kern="1200" dirty="0">
                          <a:solidFill>
                            <a:schemeClr val="tx1"/>
                          </a:solidFill>
                          <a:latin typeface="+mn-lt"/>
                          <a:ea typeface="+mn-ea"/>
                          <a:cs typeface="+mn-cs"/>
                        </a:rPr>
                        <a:t>与正电极相距</a:t>
                      </a:r>
                      <a:r>
                        <a:rPr lang="en-US" altLang="zh-CN" sz="1600" b="0" kern="1200" dirty="0">
                          <a:solidFill>
                            <a:schemeClr val="tx1"/>
                          </a:solidFill>
                          <a:latin typeface="+mn-lt"/>
                          <a:ea typeface="+mn-ea"/>
                          <a:cs typeface="+mn-cs"/>
                        </a:rPr>
                        <a:t>1cm</a:t>
                      </a:r>
                      <a:endParaRPr lang="zh-CN" altLang="en-US" sz="1600" b="0" kern="1200" dirty="0">
                        <a:solidFill>
                          <a:schemeClr val="tx1"/>
                        </a:solidFill>
                        <a:latin typeface="+mn-lt"/>
                        <a:ea typeface="+mn-ea"/>
                        <a:cs typeface="+mn-cs"/>
                      </a:endParaRPr>
                    </a:p>
                  </a:txBody>
                  <a:tcPr/>
                </a:tc>
                <a:tc>
                  <a:txBody>
                    <a:bodyPr/>
                    <a:lstStyle/>
                    <a:p>
                      <a:pPr marL="0" algn="l" defTabSz="914400" rtl="0" eaLnBrk="1" latinLnBrk="0" hangingPunct="1"/>
                      <a:endParaRPr lang="zh-CN" altLang="en-US" sz="1600" b="1" kern="1200">
                        <a:solidFill>
                          <a:schemeClr val="lt1"/>
                        </a:solidFill>
                        <a:latin typeface="+mn-lt"/>
                        <a:ea typeface="+mn-ea"/>
                        <a:cs typeface="+mn-cs"/>
                      </a:endParaRPr>
                    </a:p>
                  </a:txBody>
                  <a:tcPr/>
                </a:tc>
                <a:tc>
                  <a:txBody>
                    <a:bodyPr/>
                    <a:lstStyle/>
                    <a:p>
                      <a:pPr marL="0" algn="l" defTabSz="914400" rtl="0" eaLnBrk="1" latinLnBrk="0" hangingPunct="1"/>
                      <a:endParaRPr lang="zh-CN" altLang="en-US" sz="1600" b="1" kern="1200" dirty="0">
                        <a:solidFill>
                          <a:schemeClr val="lt1"/>
                        </a:solidFill>
                        <a:latin typeface="+mn-lt"/>
                        <a:ea typeface="+mn-ea"/>
                        <a:cs typeface="+mn-cs"/>
                      </a:endParaRPr>
                    </a:p>
                  </a:txBody>
                  <a:tcPr/>
                </a:tc>
                <a:tc>
                  <a:txBody>
                    <a:bodyPr/>
                    <a:lstStyle/>
                    <a:p>
                      <a:pPr marL="0" algn="l" defTabSz="914400" rtl="0" eaLnBrk="1" latinLnBrk="0" hangingPunct="1"/>
                      <a:endParaRPr lang="zh-CN" altLang="en-US" sz="1600" b="1" kern="1200">
                        <a:solidFill>
                          <a:schemeClr val="lt1"/>
                        </a:solidFill>
                        <a:latin typeface="+mn-lt"/>
                        <a:ea typeface="+mn-ea"/>
                        <a:cs typeface="+mn-cs"/>
                      </a:endParaRPr>
                    </a:p>
                  </a:txBody>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0" kern="1200" dirty="0">
                          <a:solidFill>
                            <a:schemeClr val="tx1"/>
                          </a:solidFill>
                          <a:latin typeface="+mn-lt"/>
                          <a:ea typeface="+mn-ea"/>
                          <a:cs typeface="+mn-cs"/>
                        </a:rPr>
                        <a:t>与正电极相距</a:t>
                      </a:r>
                      <a:r>
                        <a:rPr lang="en-US" altLang="zh-CN" sz="1600" b="0" kern="1200" dirty="0">
                          <a:solidFill>
                            <a:schemeClr val="tx1"/>
                          </a:solidFill>
                          <a:latin typeface="+mn-lt"/>
                          <a:ea typeface="+mn-ea"/>
                          <a:cs typeface="+mn-cs"/>
                        </a:rPr>
                        <a:t>2cm</a:t>
                      </a:r>
                      <a:endParaRPr lang="zh-CN" altLang="en-US" sz="1600" b="0" kern="1200" dirty="0">
                        <a:solidFill>
                          <a:schemeClr val="tx1"/>
                        </a:solidFill>
                        <a:latin typeface="+mn-lt"/>
                        <a:ea typeface="+mn-ea"/>
                        <a:cs typeface="+mn-cs"/>
                      </a:endParaRPr>
                    </a:p>
                  </a:txBody>
                  <a:tcPr/>
                </a:tc>
                <a:tc>
                  <a:txBody>
                    <a:bodyPr/>
                    <a:lstStyle/>
                    <a:p>
                      <a:pPr marL="0" algn="l" defTabSz="914400" rtl="0" eaLnBrk="1" latinLnBrk="0" hangingPunct="1"/>
                      <a:endParaRPr lang="zh-CN" altLang="en-US" sz="1600" b="1" kern="1200">
                        <a:solidFill>
                          <a:schemeClr val="lt1"/>
                        </a:solidFill>
                        <a:latin typeface="+mn-lt"/>
                        <a:ea typeface="+mn-ea"/>
                        <a:cs typeface="+mn-cs"/>
                      </a:endParaRPr>
                    </a:p>
                  </a:txBody>
                  <a:tcPr/>
                </a:tc>
                <a:tc>
                  <a:txBody>
                    <a:bodyPr/>
                    <a:lstStyle/>
                    <a:p>
                      <a:pPr marL="0" algn="l" defTabSz="914400" rtl="0" eaLnBrk="1" latinLnBrk="0" hangingPunct="1"/>
                      <a:endParaRPr lang="zh-CN" altLang="en-US" sz="1600" b="1" kern="1200">
                        <a:solidFill>
                          <a:schemeClr val="lt1"/>
                        </a:solidFill>
                        <a:latin typeface="+mn-lt"/>
                        <a:ea typeface="+mn-ea"/>
                        <a:cs typeface="+mn-cs"/>
                      </a:endParaRPr>
                    </a:p>
                  </a:txBody>
                  <a:tcPr/>
                </a:tc>
                <a:tc>
                  <a:txBody>
                    <a:bodyPr/>
                    <a:lstStyle/>
                    <a:p>
                      <a:pPr marL="0" algn="l" defTabSz="914400" rtl="0" eaLnBrk="1" latinLnBrk="0" hangingPunct="1"/>
                      <a:endParaRPr lang="zh-CN" altLang="en-US" sz="1600" b="1" kern="1200">
                        <a:solidFill>
                          <a:schemeClr val="lt1"/>
                        </a:solidFill>
                        <a:latin typeface="+mn-lt"/>
                        <a:ea typeface="+mn-ea"/>
                        <a:cs typeface="+mn-cs"/>
                      </a:endParaRPr>
                    </a:p>
                  </a:txBody>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0" kern="1200" dirty="0">
                          <a:solidFill>
                            <a:schemeClr val="tx1"/>
                          </a:solidFill>
                          <a:latin typeface="+mn-lt"/>
                          <a:ea typeface="+mn-ea"/>
                          <a:cs typeface="+mn-cs"/>
                        </a:rPr>
                        <a:t>与正电极相距</a:t>
                      </a:r>
                      <a:r>
                        <a:rPr lang="en-US" altLang="zh-CN" sz="1600" b="0" kern="1200" dirty="0">
                          <a:solidFill>
                            <a:schemeClr val="tx1"/>
                          </a:solidFill>
                          <a:latin typeface="+mn-lt"/>
                          <a:ea typeface="+mn-ea"/>
                          <a:cs typeface="+mn-cs"/>
                        </a:rPr>
                        <a:t>3cm</a:t>
                      </a:r>
                      <a:endParaRPr lang="zh-CN" altLang="en-US" sz="1600" b="0" kern="1200" dirty="0">
                        <a:solidFill>
                          <a:schemeClr val="tx1"/>
                        </a:solidFill>
                        <a:latin typeface="+mn-lt"/>
                        <a:ea typeface="+mn-ea"/>
                        <a:cs typeface="+mn-cs"/>
                      </a:endParaRPr>
                    </a:p>
                  </a:txBody>
                  <a:tcPr/>
                </a:tc>
                <a:tc>
                  <a:txBody>
                    <a:bodyPr/>
                    <a:lstStyle/>
                    <a:p>
                      <a:pPr marL="0" algn="l" defTabSz="914400" rtl="0" eaLnBrk="1" latinLnBrk="0" hangingPunct="1"/>
                      <a:endParaRPr lang="zh-CN" altLang="en-US" sz="1600" b="1" kern="1200">
                        <a:solidFill>
                          <a:schemeClr val="lt1"/>
                        </a:solidFill>
                        <a:latin typeface="+mn-lt"/>
                        <a:ea typeface="+mn-ea"/>
                        <a:cs typeface="+mn-cs"/>
                      </a:endParaRPr>
                    </a:p>
                  </a:txBody>
                  <a:tcPr/>
                </a:tc>
                <a:tc>
                  <a:txBody>
                    <a:bodyPr/>
                    <a:lstStyle/>
                    <a:p>
                      <a:pPr marL="0" algn="l" defTabSz="914400" rtl="0" eaLnBrk="1" latinLnBrk="0" hangingPunct="1"/>
                      <a:endParaRPr lang="zh-CN" altLang="en-US" sz="1600" b="1" kern="1200">
                        <a:solidFill>
                          <a:schemeClr val="lt1"/>
                        </a:solidFill>
                        <a:latin typeface="+mn-lt"/>
                        <a:ea typeface="+mn-ea"/>
                        <a:cs typeface="+mn-cs"/>
                      </a:endParaRPr>
                    </a:p>
                  </a:txBody>
                  <a:tcPr/>
                </a:tc>
                <a:tc>
                  <a:txBody>
                    <a:bodyPr/>
                    <a:lstStyle/>
                    <a:p>
                      <a:pPr marL="0" algn="l" defTabSz="914400" rtl="0" eaLnBrk="1" latinLnBrk="0" hangingPunct="1"/>
                      <a:endParaRPr lang="zh-CN" altLang="en-US" sz="1600" b="1" kern="1200" dirty="0">
                        <a:solidFill>
                          <a:schemeClr val="lt1"/>
                        </a:solidFill>
                        <a:latin typeface="+mn-lt"/>
                        <a:ea typeface="+mn-ea"/>
                        <a:cs typeface="+mn-cs"/>
                      </a:endParaRPr>
                    </a:p>
                  </a:txBody>
                  <a:tcPr/>
                </a:tc>
              </a:tr>
            </a:tbl>
          </a:graphicData>
        </a:graphic>
      </p:graphicFrame>
      <p:sp>
        <p:nvSpPr>
          <p:cNvPr id="23" name="Rectangle 6"/>
          <p:cNvSpPr>
            <a:spLocks noChangeArrowheads="1"/>
          </p:cNvSpPr>
          <p:nvPr/>
        </p:nvSpPr>
        <p:spPr bwMode="auto">
          <a:xfrm>
            <a:off x="587053" y="4501567"/>
            <a:ext cx="6045200" cy="430887"/>
          </a:xfrm>
          <a:prstGeom prst="rect">
            <a:avLst/>
          </a:prstGeom>
          <a:noFill/>
          <a:ln w="9525" algn="ctr">
            <a:noFill/>
            <a:miter lim="800000"/>
          </a:ln>
        </p:spPr>
        <p:txBody>
          <a:bodyPr>
            <a:spAutoFit/>
          </a:bodyPr>
          <a:lstStyle/>
          <a:p>
            <a:pPr marL="342900" indent="-342900">
              <a:buClr>
                <a:srgbClr val="30B695"/>
              </a:buClr>
            </a:pPr>
            <a:r>
              <a:rPr lang="en-US" altLang="zh-CN" sz="2200" b="1" dirty="0">
                <a:latin typeface="Times New Roman" panose="02020603050405020304" pitchFamily="18" charset="0"/>
                <a:ea typeface="宋体" panose="02010600030101010101" pitchFamily="2" charset="-122"/>
              </a:rPr>
              <a:t>3. </a:t>
            </a:r>
            <a:r>
              <a:rPr lang="zh-CN" altLang="en-US" sz="2200" b="1" dirty="0">
                <a:latin typeface="Times New Roman" panose="02020603050405020304" pitchFamily="18" charset="0"/>
                <a:ea typeface="宋体" panose="02010600030101010101" pitchFamily="2" charset="-122"/>
              </a:rPr>
              <a:t>选择同轴电缆电极模型，完成下表：</a:t>
            </a:r>
            <a:endParaRPr lang="en-US" altLang="zh-CN" sz="2200" b="1" dirty="0">
              <a:latin typeface="Times New Roman" panose="02020603050405020304" pitchFamily="18" charset="0"/>
              <a:ea typeface="宋体" panose="02010600030101010101" pitchFamily="2" charset="-122"/>
            </a:endParaRPr>
          </a:p>
        </p:txBody>
      </p:sp>
      <p:graphicFrame>
        <p:nvGraphicFramePr>
          <p:cNvPr id="26" name="表格 25"/>
          <p:cNvGraphicFramePr>
            <a:graphicFrameLocks noGrp="1"/>
          </p:cNvGraphicFramePr>
          <p:nvPr/>
        </p:nvGraphicFramePr>
        <p:xfrm>
          <a:off x="666075" y="5217209"/>
          <a:ext cx="6412058" cy="1483360"/>
        </p:xfrm>
        <a:graphic>
          <a:graphicData uri="http://schemas.openxmlformats.org/drawingml/2006/table">
            <a:tbl>
              <a:tblPr firstRow="1" bandRow="1">
                <a:tableStyleId>{5C22544A-7EE6-4342-B048-85BDC9FD1C3A}</a:tableStyleId>
              </a:tblPr>
              <a:tblGrid>
                <a:gridCol w="2032000"/>
                <a:gridCol w="1490103"/>
                <a:gridCol w="1580444"/>
                <a:gridCol w="1309511"/>
              </a:tblGrid>
              <a:tr h="370840">
                <a:tc>
                  <a:txBody>
                    <a:bodyPr/>
                    <a:lstStyle/>
                    <a:p>
                      <a:pPr algn="ctr"/>
                      <a:r>
                        <a:rPr lang="zh-CN" altLang="en-US" sz="1600" dirty="0"/>
                        <a:t>位置</a:t>
                      </a:r>
                      <a:endParaRPr lang="zh-CN" altLang="en-US" sz="1600" dirty="0"/>
                    </a:p>
                  </a:txBody>
                  <a:tcPr/>
                </a:tc>
                <a:tc>
                  <a:txBody>
                    <a:bodyPr/>
                    <a:lstStyle/>
                    <a:p>
                      <a:pPr algn="ctr"/>
                      <a:r>
                        <a:rPr lang="zh-CN" altLang="en-US" sz="1600" dirty="0"/>
                        <a:t>解析解</a:t>
                      </a:r>
                      <a:r>
                        <a:rPr lang="en-US" altLang="zh-CN" sz="1600" dirty="0"/>
                        <a:t>/V</a:t>
                      </a:r>
                      <a:endParaRPr lang="en-US" altLang="zh-CN" sz="1600" dirty="0"/>
                    </a:p>
                  </a:txBody>
                  <a:tcPr/>
                </a:tc>
                <a:tc>
                  <a:txBody>
                    <a:bodyPr/>
                    <a:lstStyle/>
                    <a:p>
                      <a:pPr algn="ctr"/>
                      <a:r>
                        <a:rPr lang="zh-CN" altLang="en-US" sz="1600" dirty="0"/>
                        <a:t>测量值</a:t>
                      </a:r>
                      <a:endParaRPr lang="zh-CN" altLang="en-US" sz="1600" dirty="0"/>
                    </a:p>
                  </a:txBody>
                  <a:tcPr/>
                </a:tc>
                <a:tc>
                  <a:txBody>
                    <a:bodyPr/>
                    <a:lstStyle/>
                    <a:p>
                      <a:pPr algn="ctr"/>
                      <a:r>
                        <a:rPr lang="zh-CN" altLang="en-US" sz="1600" dirty="0"/>
                        <a:t>误差</a:t>
                      </a:r>
                      <a:endParaRPr lang="zh-CN" altLang="en-US" sz="1600" dirty="0"/>
                    </a:p>
                  </a:txBody>
                  <a:tcPr/>
                </a:tc>
              </a:tr>
              <a:tr h="370840">
                <a:tc>
                  <a:txBody>
                    <a:bodyPr/>
                    <a:lstStyle/>
                    <a:p>
                      <a:pPr marL="0" algn="ctr" defTabSz="914400" rtl="0" eaLnBrk="1" latinLnBrk="0" hangingPunct="1"/>
                      <a:r>
                        <a:rPr lang="zh-CN" altLang="en-US" sz="1600" b="0" kern="1200" dirty="0">
                          <a:solidFill>
                            <a:schemeClr val="tx1"/>
                          </a:solidFill>
                          <a:latin typeface="+mn-lt"/>
                          <a:ea typeface="+mn-ea"/>
                          <a:cs typeface="+mn-cs"/>
                        </a:rPr>
                        <a:t>与中心电极相距</a:t>
                      </a:r>
                      <a:r>
                        <a:rPr lang="en-US" altLang="zh-CN" sz="1600" b="0" kern="1200" dirty="0">
                          <a:solidFill>
                            <a:schemeClr val="tx1"/>
                          </a:solidFill>
                          <a:latin typeface="+mn-lt"/>
                          <a:ea typeface="+mn-ea"/>
                          <a:cs typeface="+mn-cs"/>
                        </a:rPr>
                        <a:t>1cm</a:t>
                      </a:r>
                      <a:endParaRPr lang="zh-CN" altLang="en-US" sz="1600" b="0" kern="1200" dirty="0">
                        <a:solidFill>
                          <a:schemeClr val="tx1"/>
                        </a:solidFill>
                        <a:latin typeface="+mn-lt"/>
                        <a:ea typeface="+mn-ea"/>
                        <a:cs typeface="+mn-cs"/>
                      </a:endParaRPr>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0" kern="1200" dirty="0">
                          <a:solidFill>
                            <a:schemeClr val="tx1"/>
                          </a:solidFill>
                          <a:latin typeface="+mn-lt"/>
                          <a:ea typeface="+mn-ea"/>
                          <a:cs typeface="+mn-cs"/>
                        </a:rPr>
                        <a:t>与中心电极相距</a:t>
                      </a:r>
                      <a:r>
                        <a:rPr lang="en-US" altLang="zh-CN" sz="1600" b="0" kern="1200" dirty="0">
                          <a:solidFill>
                            <a:schemeClr val="tx1"/>
                          </a:solidFill>
                          <a:latin typeface="+mn-lt"/>
                          <a:ea typeface="+mn-ea"/>
                          <a:cs typeface="+mn-cs"/>
                        </a:rPr>
                        <a:t>2cm</a:t>
                      </a:r>
                      <a:endParaRPr lang="zh-CN" altLang="en-US" sz="1600" b="0" kern="1200" dirty="0">
                        <a:solidFill>
                          <a:schemeClr val="tx1"/>
                        </a:solidFill>
                        <a:latin typeface="+mn-lt"/>
                        <a:ea typeface="+mn-ea"/>
                        <a:cs typeface="+mn-cs"/>
                      </a:endParaRPr>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0" kern="1200" dirty="0">
                          <a:solidFill>
                            <a:schemeClr val="tx1"/>
                          </a:solidFill>
                          <a:latin typeface="+mn-lt"/>
                          <a:ea typeface="+mn-ea"/>
                          <a:cs typeface="+mn-cs"/>
                        </a:rPr>
                        <a:t>与中心电极相距</a:t>
                      </a:r>
                      <a:r>
                        <a:rPr lang="en-US" altLang="zh-CN" sz="1600" b="0" kern="1200" dirty="0">
                          <a:solidFill>
                            <a:schemeClr val="tx1"/>
                          </a:solidFill>
                          <a:latin typeface="+mn-lt"/>
                          <a:ea typeface="+mn-ea"/>
                          <a:cs typeface="+mn-cs"/>
                        </a:rPr>
                        <a:t>3cm</a:t>
                      </a:r>
                      <a:endParaRPr lang="zh-CN" altLang="en-US" sz="1600" b="0" kern="1200" dirty="0">
                        <a:solidFill>
                          <a:schemeClr val="tx1"/>
                        </a:solidFill>
                        <a:latin typeface="+mn-lt"/>
                        <a:ea typeface="+mn-ea"/>
                        <a:cs typeface="+mn-cs"/>
                      </a:endParaRPr>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tr>
            </a:tbl>
          </a:graphicData>
        </a:graphic>
      </p:graphicFrame>
      <p:sp>
        <p:nvSpPr>
          <p:cNvPr id="27" name="Rectangle 10"/>
          <p:cNvSpPr>
            <a:spLocks noChangeArrowheads="1"/>
          </p:cNvSpPr>
          <p:nvPr/>
        </p:nvSpPr>
        <p:spPr bwMode="auto">
          <a:xfrm>
            <a:off x="1705555" y="2465544"/>
            <a:ext cx="4683952" cy="464820"/>
          </a:xfrm>
          <a:prstGeom prst="rect">
            <a:avLst/>
          </a:prstGeom>
          <a:noFill/>
          <a:ln w="9525" algn="ctr">
            <a:noFill/>
            <a:miter lim="800000"/>
          </a:ln>
        </p:spPr>
        <p:txBody>
          <a:bodyPr wrap="square">
            <a:spAutoFit/>
          </a:bodyPr>
          <a:lstStyle/>
          <a:p>
            <a:pPr marL="342900" indent="-342900">
              <a:lnSpc>
                <a:spcPct val="135000"/>
              </a:lnSpc>
              <a:buClr>
                <a:srgbClr val="30B695"/>
              </a:buClr>
            </a:pPr>
            <a:r>
              <a:rPr lang="zh-CN" altLang="en-US" b="1" dirty="0">
                <a:latin typeface="Times New Roman" panose="02020603050405020304" pitchFamily="18" charset="0"/>
                <a:ea typeface="宋体" panose="02010600030101010101" pitchFamily="2" charset="-122"/>
              </a:rPr>
              <a:t>表</a:t>
            </a:r>
            <a:r>
              <a:rPr lang="en-US" altLang="zh-CN" b="1" dirty="0">
                <a:latin typeface="Times New Roman" panose="02020603050405020304" pitchFamily="18" charset="0"/>
                <a:ea typeface="宋体" panose="02010600030101010101" pitchFamily="2" charset="-122"/>
              </a:rPr>
              <a:t>1.1-2 </a:t>
            </a:r>
            <a:r>
              <a:rPr lang="zh-CN" altLang="en-US" b="1" dirty="0">
                <a:latin typeface="Times New Roman" panose="02020603050405020304" pitchFamily="18" charset="0"/>
                <a:ea typeface="宋体" panose="02010600030101010101" pitchFamily="2" charset="-122"/>
              </a:rPr>
              <a:t>平板电容器电极模型中的电位值</a:t>
            </a:r>
            <a:endParaRPr lang="zh-CN" altLang="en-US" b="1" dirty="0">
              <a:latin typeface="Times New Roman" panose="02020603050405020304" pitchFamily="18" charset="0"/>
              <a:ea typeface="宋体" panose="02010600030101010101" pitchFamily="2" charset="-122"/>
            </a:endParaRPr>
          </a:p>
        </p:txBody>
      </p:sp>
      <p:sp>
        <p:nvSpPr>
          <p:cNvPr id="28" name="Rectangle 10"/>
          <p:cNvSpPr>
            <a:spLocks noChangeArrowheads="1"/>
          </p:cNvSpPr>
          <p:nvPr/>
        </p:nvSpPr>
        <p:spPr bwMode="auto">
          <a:xfrm>
            <a:off x="1853565" y="4815840"/>
            <a:ext cx="4011930" cy="464820"/>
          </a:xfrm>
          <a:prstGeom prst="rect">
            <a:avLst/>
          </a:prstGeom>
          <a:noFill/>
          <a:ln w="9525" algn="ctr">
            <a:noFill/>
            <a:miter lim="800000"/>
          </a:ln>
        </p:spPr>
        <p:txBody>
          <a:bodyPr wrap="square">
            <a:spAutoFit/>
          </a:bodyPr>
          <a:lstStyle/>
          <a:p>
            <a:pPr marL="342900" indent="-342900">
              <a:lnSpc>
                <a:spcPct val="135000"/>
              </a:lnSpc>
              <a:buClr>
                <a:srgbClr val="30B695"/>
              </a:buClr>
            </a:pPr>
            <a:r>
              <a:rPr lang="zh-CN" altLang="en-US" b="1" dirty="0">
                <a:latin typeface="Times New Roman" panose="02020603050405020304" pitchFamily="18" charset="0"/>
                <a:ea typeface="宋体" panose="02010600030101010101" pitchFamily="2" charset="-122"/>
              </a:rPr>
              <a:t>表</a:t>
            </a:r>
            <a:r>
              <a:rPr lang="en-US" altLang="zh-CN" b="1" dirty="0">
                <a:latin typeface="Times New Roman" panose="02020603050405020304" pitchFamily="18" charset="0"/>
                <a:ea typeface="宋体" panose="02010600030101010101" pitchFamily="2" charset="-122"/>
              </a:rPr>
              <a:t>1.1-3 </a:t>
            </a:r>
            <a:r>
              <a:rPr lang="zh-CN" altLang="en-US" b="1" dirty="0">
                <a:latin typeface="Times New Roman" panose="02020603050405020304" pitchFamily="18" charset="0"/>
                <a:ea typeface="宋体" panose="02010600030101010101" pitchFamily="2" charset="-122"/>
              </a:rPr>
              <a:t>同轴电缆电极模型中的电位值</a:t>
            </a:r>
            <a:endParaRPr lang="zh-CN" altLang="en-US" b="1" dirty="0">
              <a:latin typeface="Times New Roman" panose="02020603050405020304" pitchFamily="18" charset="0"/>
              <a:ea typeface="宋体" panose="02010600030101010101" pitchFamily="2" charset="-122"/>
            </a:endParaRPr>
          </a:p>
        </p:txBody>
      </p:sp>
      <p:pic>
        <p:nvPicPr>
          <p:cNvPr id="29" name="Picture 2" descr="C:\Users\lenovo\Desktop\电极板.jpg"/>
          <p:cNvPicPr>
            <a:picLocks noChangeAspect="1" noChangeArrowheads="1"/>
          </p:cNvPicPr>
          <p:nvPr/>
        </p:nvPicPr>
        <p:blipFill>
          <a:blip r:embed="rId2" cstate="print"/>
          <a:srcRect/>
          <a:stretch>
            <a:fillRect/>
          </a:stretch>
        </p:blipFill>
        <p:spPr bwMode="auto">
          <a:xfrm>
            <a:off x="7793200" y="3286125"/>
            <a:ext cx="3840000" cy="2880000"/>
          </a:xfrm>
          <a:prstGeom prst="rect">
            <a:avLst/>
          </a:prstGeom>
          <a:noFill/>
        </p:spPr>
      </p:pic>
      <p:pic>
        <p:nvPicPr>
          <p:cNvPr id="30" name="Picture 3" descr="C:\Users\lenovo\Desktop\电源.jpg"/>
          <p:cNvPicPr>
            <a:picLocks noChangeAspect="1" noChangeArrowheads="1"/>
          </p:cNvPicPr>
          <p:nvPr/>
        </p:nvPicPr>
        <p:blipFill>
          <a:blip r:embed="rId3" cstate="print"/>
          <a:srcRect b="39256"/>
          <a:stretch>
            <a:fillRect/>
          </a:stretch>
        </p:blipFill>
        <p:spPr bwMode="auto">
          <a:xfrm>
            <a:off x="7797800" y="981075"/>
            <a:ext cx="3340100" cy="1521681"/>
          </a:xfrm>
          <a:prstGeom prst="rect">
            <a:avLst/>
          </a:prstGeom>
          <a:noFill/>
        </p:spPr>
      </p:pic>
      <p:sp>
        <p:nvSpPr>
          <p:cNvPr id="31" name="TextBox 12"/>
          <p:cNvSpPr txBox="1"/>
          <p:nvPr/>
        </p:nvSpPr>
        <p:spPr>
          <a:xfrm>
            <a:off x="8978900" y="2578100"/>
            <a:ext cx="1739900" cy="369332"/>
          </a:xfrm>
          <a:prstGeom prst="rect">
            <a:avLst/>
          </a:prstGeom>
          <a:noFill/>
        </p:spPr>
        <p:txBody>
          <a:bodyPr wrap="square" rtlCol="0">
            <a:spAutoFit/>
          </a:bodyPr>
          <a:lstStyle/>
          <a:p>
            <a:r>
              <a:rPr lang="zh-CN" altLang="en-US" b="1" dirty="0"/>
              <a:t>电源和电压表</a:t>
            </a:r>
            <a:endParaRPr lang="zh-CN" altLang="en-US" b="1" dirty="0"/>
          </a:p>
        </p:txBody>
      </p:sp>
      <p:sp>
        <p:nvSpPr>
          <p:cNvPr id="32" name="TextBox 13"/>
          <p:cNvSpPr txBox="1"/>
          <p:nvPr/>
        </p:nvSpPr>
        <p:spPr>
          <a:xfrm>
            <a:off x="9321800" y="6273800"/>
            <a:ext cx="1219200" cy="369332"/>
          </a:xfrm>
          <a:prstGeom prst="rect">
            <a:avLst/>
          </a:prstGeom>
          <a:noFill/>
        </p:spPr>
        <p:txBody>
          <a:bodyPr wrap="square" rtlCol="0">
            <a:spAutoFit/>
          </a:bodyPr>
          <a:lstStyle/>
          <a:p>
            <a:r>
              <a:rPr lang="zh-CN" altLang="en-US" b="1" dirty="0"/>
              <a:t>电极模型</a:t>
            </a:r>
            <a:endParaRPr lang="zh-CN" altLang="en-US" b="1" dirty="0"/>
          </a:p>
        </p:txBody>
      </p:sp>
      <p:sp>
        <p:nvSpPr>
          <p:cNvPr id="35"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6/26</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p:cNvSpPr/>
          <p:nvPr/>
        </p:nvSpPr>
        <p:spPr>
          <a:xfrm>
            <a:off x="10761323" y="1202532"/>
            <a:ext cx="389278" cy="38927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2686018" y="2576650"/>
            <a:ext cx="7688802" cy="1754326"/>
          </a:xfrm>
          <a:prstGeom prst="rect">
            <a:avLst/>
          </a:prstGeom>
          <a:noFill/>
        </p:spPr>
        <p:txBody>
          <a:bodyPr wrap="square">
            <a:spAutoFit/>
          </a:bodyPr>
          <a:lstStyle/>
          <a:p>
            <a:pPr algn="ctr"/>
            <a:r>
              <a:rPr lang="zh-CN" altLang="en-US"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实验</a:t>
            </a:r>
            <a:r>
              <a:rPr lang="en-US" altLang="zh-CN"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3 </a:t>
            </a:r>
            <a:r>
              <a:rPr lang="zh-CN" altLang="en-US"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螺线管线圈磁场的测量</a:t>
            </a:r>
            <a:endParaRPr lang="zh-CN" altLang="en-US" sz="54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5" name="椭圆 34"/>
          <p:cNvSpPr/>
          <p:nvPr/>
        </p:nvSpPr>
        <p:spPr>
          <a:xfrm>
            <a:off x="2694741" y="3233939"/>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2501709" y="3286582"/>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9311862" y="3222590"/>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9595972" y="3275233"/>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3344523" y="817902"/>
            <a:ext cx="356620" cy="3566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1646350" y="5476986"/>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10333151" y="3059454"/>
            <a:ext cx="452100" cy="452100"/>
          </a:xfrm>
          <a:prstGeom prst="ellipse">
            <a:avLst/>
          </a:prstGeom>
          <a:solidFill>
            <a:schemeClr val="bg1"/>
          </a:solid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2190637" y="155813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8787379" y="1478302"/>
            <a:ext cx="153420" cy="1534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7"/>
          <p:cNvSpPr/>
          <p:nvPr/>
        </p:nvSpPr>
        <p:spPr>
          <a:xfrm rot="2001767">
            <a:off x="10705817" y="1962311"/>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49"/>
          <p:cNvSpPr/>
          <p:nvPr/>
        </p:nvSpPr>
        <p:spPr>
          <a:xfrm rot="2001767">
            <a:off x="8342563" y="399356"/>
            <a:ext cx="471236" cy="474114"/>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7" name="图片 4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23866" y="1653394"/>
            <a:ext cx="3144268" cy="842042"/>
          </a:xfrm>
          <a:prstGeom prst="rect">
            <a:avLst/>
          </a:prstGeom>
        </p:spPr>
      </p:pic>
      <p:sp>
        <p:nvSpPr>
          <p:cNvPr id="48" name="矩形 47"/>
          <p:cNvSpPr/>
          <p:nvPr/>
        </p:nvSpPr>
        <p:spPr>
          <a:xfrm flipH="1">
            <a:off x="6362463" y="5188145"/>
            <a:ext cx="5242162" cy="400110"/>
          </a:xfrm>
          <a:prstGeom prst="rect">
            <a:avLst/>
          </a:prstGeom>
        </p:spPr>
        <p:txBody>
          <a:bodyPr wrap="square">
            <a:spAutoFit/>
          </a:bodyPr>
          <a:lstStyle/>
          <a:p>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电工电子教学实验中心</a:t>
            </a:r>
            <a:endPar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21" name="任意多边形: 形状 2"/>
          <p:cNvSpPr/>
          <p:nvPr/>
        </p:nvSpPr>
        <p:spPr>
          <a:xfrm>
            <a:off x="-1422399" y="4104616"/>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3"/>
          <p:cNvSpPr/>
          <p:nvPr/>
        </p:nvSpPr>
        <p:spPr>
          <a:xfrm>
            <a:off x="-3047999" y="4133645"/>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871877" y="2044360"/>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0785251" y="4148461"/>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89481" y="4424051"/>
            <a:ext cx="6153650" cy="369332"/>
          </a:xfrm>
          <a:prstGeom prst="rect">
            <a:avLst/>
          </a:prstGeom>
          <a:noFill/>
        </p:spPr>
        <p:txBody>
          <a:bodyPr wrap="square" rtlCol="0">
            <a:spAutoFit/>
          </a:bodyPr>
          <a:lstStyle/>
          <a:p>
            <a:pPr algn="dist"/>
            <a:r>
              <a:rPr lang="en-US" altLang="zh-CN" dirty="0">
                <a:solidFill>
                  <a:schemeClr val="tx1">
                    <a:lumMod val="50000"/>
                    <a:lumOff val="50000"/>
                  </a:schemeClr>
                </a:solidFill>
              </a:rPr>
              <a:t>XI'AN JIAOTONG UNIVERSITY</a:t>
            </a:r>
            <a:endParaRPr lang="en-US" altLang="zh-CN" dirty="0">
              <a:solidFill>
                <a:schemeClr val="tx1">
                  <a:lumMod val="50000"/>
                  <a:lumOff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down)">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7575006" cy="646331"/>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 实验目的</a:t>
            </a:r>
            <a:endParaRPr lang="zh-CN" altLang="en-US" sz="3600" b="1" dirty="0"/>
          </a:p>
        </p:txBody>
      </p:sp>
      <p:sp>
        <p:nvSpPr>
          <p:cNvPr id="25" name="矩形 24"/>
          <p:cNvSpPr/>
          <p:nvPr/>
        </p:nvSpPr>
        <p:spPr>
          <a:xfrm>
            <a:off x="841717" y="1264161"/>
            <a:ext cx="10325127" cy="3869329"/>
          </a:xfrm>
          <a:prstGeom prst="rect">
            <a:avLst/>
          </a:prstGeom>
        </p:spPr>
        <p:txBody>
          <a:bodyPr wrap="square">
            <a:spAutoFit/>
          </a:bodyPr>
          <a:lstStyle/>
          <a:p>
            <a:pPr>
              <a:lnSpc>
                <a:spcPct val="150000"/>
              </a:lnSpc>
              <a:buClr>
                <a:srgbClr val="30B695"/>
              </a:buClr>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研究螺线管线圈轴线上磁场的分布，并观察铁磁物质对磁场分布的影响。</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自编程序设计一个多层密绕空心螺线管线圈。</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Clr>
                <a:srgbClr val="30B695"/>
              </a:buClr>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学习</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ANSYS Maxwell 2D</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工程软件涡流场（</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Eddy Current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）和瞬态场（</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Transient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）模块的使用方法。</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Clr>
                <a:srgbClr val="30B695"/>
              </a:buClr>
            </a:pPr>
            <a:endParaRPr lang="id-ID" altLang="zh-CN" sz="28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17"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9/26</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7575006" cy="646331"/>
          </a:xfrm>
          <a:prstGeom prst="rect">
            <a:avLst/>
          </a:prstGeom>
          <a:noFill/>
        </p:spPr>
        <p:txBody>
          <a:bodyPr wrap="square" rtlCol="0">
            <a:spAutoFit/>
          </a:bodyPr>
          <a:lstStyle/>
          <a:p>
            <a:r>
              <a:rPr lang="zh-CN" altLang="en-US" sz="3600" b="1" dirty="0"/>
              <a:t>二</a:t>
            </a:r>
            <a:r>
              <a:rPr lang="en-US" altLang="zh-CN" sz="3600" b="1" dirty="0"/>
              <a:t>.</a:t>
            </a:r>
            <a:r>
              <a:rPr lang="zh-CN" altLang="en-US" sz="3600" b="1" dirty="0"/>
              <a:t> 实验背景</a:t>
            </a:r>
            <a:endParaRPr lang="zh-CN" altLang="en-US" sz="3600" b="1" dirty="0"/>
          </a:p>
        </p:txBody>
      </p:sp>
      <p:sp>
        <p:nvSpPr>
          <p:cNvPr id="17"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9/26</a:t>
            </a:r>
            <a:endParaRPr lang="zh-CN" altLang="en-US"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2998" y="3388292"/>
            <a:ext cx="3361267" cy="2520950"/>
          </a:xfrm>
          <a:prstGeom prst="rect">
            <a:avLst/>
          </a:prstGeom>
        </p:spPr>
      </p:pic>
      <p:sp>
        <p:nvSpPr>
          <p:cNvPr id="6" name="文本框 5"/>
          <p:cNvSpPr txBox="1"/>
          <p:nvPr/>
        </p:nvSpPr>
        <p:spPr>
          <a:xfrm>
            <a:off x="8674147" y="4776183"/>
            <a:ext cx="1026160" cy="369332"/>
          </a:xfrm>
          <a:prstGeom prst="rect">
            <a:avLst/>
          </a:prstGeom>
          <a:noFill/>
        </p:spPr>
        <p:txBody>
          <a:bodyPr wrap="square" rtlCol="0">
            <a:spAutoFit/>
          </a:bodyPr>
          <a:lstStyle/>
          <a:p>
            <a:r>
              <a:rPr lang="zh-CN" altLang="en-US" dirty="0"/>
              <a:t>螺线管</a:t>
            </a:r>
            <a:endParaRPr lang="zh-CN" altLang="en-US" dirty="0"/>
          </a:p>
        </p:txBody>
      </p:sp>
      <p:sp>
        <p:nvSpPr>
          <p:cNvPr id="23" name="文本框 22"/>
          <p:cNvSpPr txBox="1"/>
          <p:nvPr/>
        </p:nvSpPr>
        <p:spPr>
          <a:xfrm>
            <a:off x="8674147" y="5370949"/>
            <a:ext cx="1026160" cy="369332"/>
          </a:xfrm>
          <a:prstGeom prst="rect">
            <a:avLst/>
          </a:prstGeom>
          <a:noFill/>
        </p:spPr>
        <p:txBody>
          <a:bodyPr wrap="square" rtlCol="0">
            <a:spAutoFit/>
          </a:bodyPr>
          <a:lstStyle/>
          <a:p>
            <a:r>
              <a:rPr lang="zh-CN" altLang="en-US" dirty="0"/>
              <a:t>铁芯</a:t>
            </a:r>
            <a:endParaRPr lang="zh-CN" altLang="en-US" dirty="0"/>
          </a:p>
        </p:txBody>
      </p:sp>
      <p:sp>
        <p:nvSpPr>
          <p:cNvPr id="24" name="文本框 23"/>
          <p:cNvSpPr txBox="1"/>
          <p:nvPr/>
        </p:nvSpPr>
        <p:spPr>
          <a:xfrm>
            <a:off x="381000" y="987182"/>
            <a:ext cx="5379720" cy="1296637"/>
          </a:xfrm>
          <a:prstGeom prst="rect">
            <a:avLst/>
          </a:prstGeom>
          <a:noFill/>
        </p:spPr>
        <p:txBody>
          <a:bodyPr wrap="square">
            <a:spAutoFit/>
          </a:bodyPr>
          <a:lstStyle/>
          <a:p>
            <a:pPr indent="457200">
              <a:lnSpc>
                <a:spcPct val="150000"/>
              </a:lnSpc>
            </a:pPr>
            <a:r>
              <a:rPr lang="zh-CN" altLang="en-US" b="0" i="0" dirty="0">
                <a:effectLst/>
                <a:latin typeface="lato" panose="020F0502020204030203" pitchFamily="34" charset="0"/>
              </a:rPr>
              <a:t>在电力系统中，电抗器是维持系统稳定、限制故障电流的关键设备。核心物理结构本质上是</a:t>
            </a:r>
            <a:r>
              <a:rPr lang="zh-CN" altLang="en-US" b="1" i="0" dirty="0">
                <a:effectLst/>
                <a:latin typeface="lato" panose="020F0502020204030203" pitchFamily="34" charset="0"/>
              </a:rPr>
              <a:t>多层绕制的线圈</a:t>
            </a:r>
            <a:r>
              <a:rPr lang="zh-CN" altLang="en-US" b="0" i="0" dirty="0">
                <a:effectLst/>
                <a:latin typeface="lato" panose="020F0502020204030203" pitchFamily="34" charset="0"/>
              </a:rPr>
              <a:t>，即工程化的“螺线管”。</a:t>
            </a:r>
            <a:endParaRPr lang="zh-CN" altLang="en-US" dirty="0"/>
          </a:p>
        </p:txBody>
      </p:sp>
      <p:sp>
        <p:nvSpPr>
          <p:cNvPr id="26" name="文本框 25"/>
          <p:cNvSpPr txBox="1"/>
          <p:nvPr/>
        </p:nvSpPr>
        <p:spPr>
          <a:xfrm>
            <a:off x="304800" y="4778211"/>
            <a:ext cx="5455920" cy="2431435"/>
          </a:xfrm>
          <a:prstGeom prst="rect">
            <a:avLst/>
          </a:prstGeom>
          <a:noFill/>
        </p:spPr>
        <p:txBody>
          <a:bodyPr wrap="square">
            <a:spAutoFit/>
          </a:bodyPr>
          <a:lstStyle/>
          <a:p>
            <a:pPr algn="l">
              <a:buFont typeface="Arial" panose="020B0604020202020204" pitchFamily="34" charset="0"/>
              <a:buChar char="•"/>
            </a:pPr>
            <a:r>
              <a:rPr lang="zh-CN" altLang="en-US" b="1" i="0" dirty="0">
                <a:effectLst/>
                <a:latin typeface="lato" panose="020F0502020204030203" pitchFamily="34" charset="0"/>
              </a:rPr>
              <a:t>空心电抗器</a:t>
            </a:r>
            <a:endParaRPr lang="zh-CN" altLang="en-US" b="0" i="0" dirty="0">
              <a:effectLst/>
              <a:latin typeface="lato" panose="020F0502020204030203" pitchFamily="34" charset="0"/>
            </a:endParaRPr>
          </a:p>
          <a:p>
            <a:pPr marL="742950" lvl="1" indent="-285750" algn="l">
              <a:buFont typeface="Arial" panose="020B0604020202020204" pitchFamily="34" charset="0"/>
              <a:buChar char="•"/>
            </a:pPr>
            <a:r>
              <a:rPr lang="zh-CN" altLang="en-US" sz="1600" b="0" i="1" dirty="0">
                <a:effectLst/>
                <a:latin typeface="lato" panose="020F0502020204030203" pitchFamily="34" charset="0"/>
              </a:rPr>
              <a:t>特点</a:t>
            </a:r>
            <a:r>
              <a:rPr lang="zh-CN" altLang="en-US" sz="1600" b="0" i="0" dirty="0">
                <a:effectLst/>
                <a:latin typeface="lato" panose="020F0502020204030203" pitchFamily="34" charset="0"/>
              </a:rPr>
              <a:t>：无磁饱和、线性度好、散热佳。</a:t>
            </a:r>
            <a:endParaRPr lang="zh-CN" altLang="en-US" sz="1600" b="0" i="0" dirty="0">
              <a:effectLst/>
              <a:latin typeface="lato" panose="020F0502020204030203" pitchFamily="34" charset="0"/>
            </a:endParaRPr>
          </a:p>
          <a:p>
            <a:pPr marL="742950" lvl="1" indent="-285750" algn="l">
              <a:buFont typeface="Arial" panose="020B0604020202020204" pitchFamily="34" charset="0"/>
              <a:buChar char="•"/>
            </a:pPr>
            <a:r>
              <a:rPr lang="zh-CN" altLang="en-US" sz="1600" b="0" i="1" dirty="0">
                <a:effectLst/>
                <a:latin typeface="lato" panose="020F0502020204030203" pitchFamily="34" charset="0"/>
              </a:rPr>
              <a:t>应用</a:t>
            </a:r>
            <a:r>
              <a:rPr lang="zh-CN" altLang="en-US" sz="1600" b="0" i="0" dirty="0">
                <a:effectLst/>
                <a:latin typeface="lato" panose="020F0502020204030203" pitchFamily="34" charset="0"/>
              </a:rPr>
              <a:t>：并联补偿（无功调节）、限流电抗器（抑制短路电流）、滤波电抗器。</a:t>
            </a:r>
            <a:endParaRPr lang="zh-CN" altLang="en-US" sz="1600" b="0" i="0" dirty="0">
              <a:effectLst/>
              <a:latin typeface="lato" panose="020F0502020204030203" pitchFamily="34" charset="0"/>
            </a:endParaRPr>
          </a:p>
          <a:p>
            <a:pPr algn="l">
              <a:buFont typeface="Arial" panose="020B0604020202020204" pitchFamily="34" charset="0"/>
              <a:buChar char="•"/>
            </a:pPr>
            <a:r>
              <a:rPr lang="zh-CN" altLang="en-US" b="1" i="0" dirty="0">
                <a:effectLst/>
                <a:latin typeface="lato" panose="020F0502020204030203" pitchFamily="34" charset="0"/>
              </a:rPr>
              <a:t>铁芯电抗器</a:t>
            </a:r>
            <a:endParaRPr lang="zh-CN" altLang="en-US" b="0" i="0" dirty="0">
              <a:effectLst/>
              <a:latin typeface="lato" panose="020F0502020204030203" pitchFamily="34" charset="0"/>
            </a:endParaRPr>
          </a:p>
          <a:p>
            <a:pPr marL="742950" lvl="1" indent="-285750" algn="l">
              <a:buFont typeface="Arial" panose="020B0604020202020204" pitchFamily="34" charset="0"/>
              <a:buChar char="•"/>
            </a:pPr>
            <a:r>
              <a:rPr lang="zh-CN" altLang="en-US" sz="1600" b="0" i="1" dirty="0">
                <a:effectLst/>
                <a:latin typeface="lato" panose="020F0502020204030203" pitchFamily="34" charset="0"/>
              </a:rPr>
              <a:t>特点</a:t>
            </a:r>
            <a:r>
              <a:rPr lang="zh-CN" altLang="en-US" sz="1600" b="0" i="0" dirty="0">
                <a:effectLst/>
                <a:latin typeface="lato" panose="020F0502020204030203" pitchFamily="34" charset="0"/>
              </a:rPr>
              <a:t>：磁导率高、体积小、重量轻，但存在磁饱和非线性。</a:t>
            </a:r>
            <a:endParaRPr lang="zh-CN" altLang="en-US" sz="1600" b="0" i="0" dirty="0">
              <a:effectLst/>
              <a:latin typeface="lato" panose="020F0502020204030203" pitchFamily="34" charset="0"/>
            </a:endParaRPr>
          </a:p>
          <a:p>
            <a:br>
              <a:rPr lang="zh-CN" altLang="en-US" dirty="0"/>
            </a:br>
            <a:endParaRPr lang="zh-CN" altLang="en-US" dirty="0"/>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93613" y="2461534"/>
            <a:ext cx="2837213" cy="2193428"/>
          </a:xfrm>
          <a:prstGeom prst="rect">
            <a:avLst/>
          </a:prstGeom>
        </p:spPr>
      </p:pic>
      <p:sp>
        <p:nvSpPr>
          <p:cNvPr id="29" name="文本框 28"/>
          <p:cNvSpPr txBox="1"/>
          <p:nvPr/>
        </p:nvSpPr>
        <p:spPr>
          <a:xfrm>
            <a:off x="6191096" y="958075"/>
            <a:ext cx="6000904" cy="2124941"/>
          </a:xfrm>
          <a:prstGeom prst="rect">
            <a:avLst/>
          </a:prstGeom>
          <a:noFill/>
        </p:spPr>
        <p:txBody>
          <a:bodyPr wrap="square">
            <a:spAutoFit/>
          </a:bodyPr>
          <a:lstStyle/>
          <a:p>
            <a:pPr algn="l">
              <a:lnSpc>
                <a:spcPct val="150000"/>
              </a:lnSpc>
            </a:pPr>
            <a:r>
              <a:rPr lang="zh-CN" altLang="en-US" b="1" i="0" dirty="0">
                <a:solidFill>
                  <a:srgbClr val="0000CC"/>
                </a:solidFill>
                <a:effectLst/>
                <a:latin typeface="lato" panose="020F0502020204030203" pitchFamily="34" charset="0"/>
              </a:rPr>
              <a:t>实验模型简化</a:t>
            </a:r>
            <a:endParaRPr lang="zh-CN" altLang="en-US" b="0" i="0" dirty="0">
              <a:solidFill>
                <a:srgbClr val="0000CC"/>
              </a:solidFill>
              <a:effectLst/>
              <a:latin typeface="lato" panose="020F0502020204030203" pitchFamily="34" charset="0"/>
            </a:endParaRPr>
          </a:p>
          <a:p>
            <a:pPr algn="l">
              <a:lnSpc>
                <a:spcPct val="150000"/>
              </a:lnSpc>
              <a:buFont typeface="Arial" panose="020B0604020202020204" pitchFamily="34" charset="0"/>
              <a:buChar char="•"/>
            </a:pPr>
            <a:r>
              <a:rPr lang="zh-CN" altLang="en-US" b="0" i="0" dirty="0">
                <a:effectLst/>
                <a:latin typeface="lato" panose="020F0502020204030203" pitchFamily="34" charset="0"/>
              </a:rPr>
              <a:t>复杂的工程电抗器简化为</a:t>
            </a:r>
            <a:r>
              <a:rPr lang="zh-CN" altLang="en-US" b="1" i="0" dirty="0">
                <a:effectLst/>
                <a:latin typeface="lato" panose="020F0502020204030203" pitchFamily="34" charset="0"/>
              </a:rPr>
              <a:t>理想螺线管模型</a:t>
            </a:r>
            <a:r>
              <a:rPr lang="zh-CN" altLang="en-US" b="0" i="0" dirty="0">
                <a:effectLst/>
                <a:latin typeface="lato" panose="020F0502020204030203" pitchFamily="34" charset="0"/>
              </a:rPr>
              <a:t>。</a:t>
            </a:r>
            <a:endParaRPr lang="zh-CN" altLang="en-US" b="0" i="0" dirty="0">
              <a:effectLst/>
              <a:latin typeface="lato" panose="020F0502020204030203" pitchFamily="34" charset="0"/>
            </a:endParaRPr>
          </a:p>
          <a:p>
            <a:pPr algn="l">
              <a:lnSpc>
                <a:spcPct val="150000"/>
              </a:lnSpc>
              <a:buFont typeface="Arial" panose="020B0604020202020204" pitchFamily="34" charset="0"/>
              <a:buChar char="•"/>
            </a:pPr>
            <a:r>
              <a:rPr lang="zh-CN" altLang="en-US" b="1" i="0" dirty="0">
                <a:effectLst/>
                <a:latin typeface="lato" panose="020F0502020204030203" pitchFamily="34" charset="0"/>
              </a:rPr>
              <a:t>核心探究</a:t>
            </a:r>
            <a:r>
              <a:rPr lang="zh-CN" altLang="en-US" b="0" i="0" dirty="0">
                <a:effectLst/>
                <a:latin typeface="lato" panose="020F0502020204030203" pitchFamily="34" charset="0"/>
              </a:rPr>
              <a:t>：通过测量磁场分布，定量分析</a:t>
            </a:r>
            <a:r>
              <a:rPr lang="zh-CN" altLang="en-US" b="1" i="0" dirty="0">
                <a:effectLst/>
                <a:latin typeface="lato" panose="020F0502020204030203" pitchFamily="34" charset="0"/>
              </a:rPr>
              <a:t>介质磁导率 </a:t>
            </a:r>
            <a:r>
              <a:rPr lang="en-US" altLang="zh-CN" b="1" i="1" dirty="0">
                <a:effectLst/>
                <a:latin typeface="KaTeX_Math"/>
              </a:rPr>
              <a:t>μ</a:t>
            </a:r>
            <a:r>
              <a:rPr lang="zh-CN" altLang="en-US" b="1" i="0" dirty="0">
                <a:effectLst/>
                <a:latin typeface="lato" panose="020F0502020204030203" pitchFamily="34" charset="0"/>
              </a:rPr>
              <a:t> </a:t>
            </a:r>
            <a:r>
              <a:rPr lang="zh-CN" altLang="en-US" b="0" i="0" dirty="0">
                <a:effectLst/>
                <a:latin typeface="lato" panose="020F0502020204030203" pitchFamily="34" charset="0"/>
              </a:rPr>
              <a:t>对磁场强度</a:t>
            </a:r>
            <a:r>
              <a:rPr lang="en-US" altLang="zh-CN" b="0" i="0" dirty="0">
                <a:effectLst/>
                <a:latin typeface="lato" panose="020F0502020204030203" pitchFamily="34" charset="0"/>
              </a:rPr>
              <a:t>H</a:t>
            </a:r>
            <a:r>
              <a:rPr lang="zh-CN" altLang="en-US" b="0" i="0" dirty="0">
                <a:effectLst/>
                <a:latin typeface="lato" panose="020F0502020204030203" pitchFamily="34" charset="0"/>
              </a:rPr>
              <a:t>的影响（</a:t>
            </a:r>
            <a:r>
              <a:rPr lang="en-US" altLang="zh-CN" b="0" i="1" dirty="0">
                <a:effectLst/>
                <a:latin typeface="KaTeX_Math"/>
              </a:rPr>
              <a:t>B</a:t>
            </a:r>
            <a:r>
              <a:rPr lang="en-US" altLang="zh-CN" b="0" i="0" dirty="0">
                <a:effectLst/>
                <a:latin typeface="KaTeX_Main"/>
              </a:rPr>
              <a:t>=</a:t>
            </a:r>
            <a:r>
              <a:rPr lang="en-US" altLang="zh-CN" b="0" i="1" dirty="0" err="1">
                <a:effectLst/>
                <a:latin typeface="KaTeX_Math"/>
              </a:rPr>
              <a:t>μH</a:t>
            </a:r>
            <a:r>
              <a:rPr lang="zh-CN" altLang="en-US" b="0" i="0" dirty="0">
                <a:effectLst/>
                <a:latin typeface="lato" panose="020F0502020204030203" pitchFamily="34" charset="0"/>
              </a:rPr>
              <a:t> ）。</a:t>
            </a:r>
            <a:endParaRPr lang="zh-CN" altLang="en-US" b="0" i="0" dirty="0">
              <a:effectLst/>
              <a:latin typeface="lato" panose="020F0502020204030203" pitchFamily="34" charset="0"/>
            </a:endParaRPr>
          </a:p>
          <a:p>
            <a:pPr algn="l">
              <a:lnSpc>
                <a:spcPct val="150000"/>
              </a:lnSpc>
              <a:buFont typeface="Arial" panose="020B0604020202020204" pitchFamily="34" charset="0"/>
              <a:buChar char="•"/>
            </a:pPr>
            <a:r>
              <a:rPr lang="zh-CN" altLang="en-US" b="1" i="0" dirty="0">
                <a:effectLst/>
                <a:latin typeface="lato" panose="020F0502020204030203" pitchFamily="34" charset="0"/>
              </a:rPr>
              <a:t>实验意义</a:t>
            </a:r>
            <a:r>
              <a:rPr lang="zh-CN" altLang="en-US" b="0" i="0" dirty="0">
                <a:effectLst/>
                <a:latin typeface="lato" panose="020F0502020204030203" pitchFamily="34" charset="0"/>
              </a:rPr>
              <a:t>：从微观磁场分布理解宏观电感特性。</a:t>
            </a:r>
            <a:endParaRPr lang="zh-CN" altLang="en-US" b="0" i="0" dirty="0">
              <a:effectLst/>
              <a:latin typeface="lato" panose="020F0502020204030203"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14/26</a:t>
            </a:r>
            <a:endParaRPr lang="zh-CN" altLang="en-US" dirty="0"/>
          </a:p>
        </p:txBody>
      </p:sp>
      <p:sp>
        <p:nvSpPr>
          <p:cNvPr id="27" name="右箭头 20"/>
          <p:cNvSpPr/>
          <p:nvPr/>
        </p:nvSpPr>
        <p:spPr>
          <a:xfrm rot="5400000">
            <a:off x="1945865" y="67689"/>
            <a:ext cx="739178" cy="3603368"/>
          </a:xfrm>
          <a:prstGeom prst="round2SameRect">
            <a:avLst>
              <a:gd name="adj1" fmla="val 47903"/>
              <a:gd name="adj2" fmla="val 0"/>
            </a:avLst>
          </a:prstGeom>
          <a:solidFill>
            <a:srgbClr val="28CF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28" name="TextBox 5"/>
          <p:cNvSpPr txBox="1"/>
          <p:nvPr/>
        </p:nvSpPr>
        <p:spPr>
          <a:xfrm>
            <a:off x="926947" y="2699030"/>
            <a:ext cx="2777014" cy="1731243"/>
          </a:xfrm>
          <a:prstGeom prst="rect">
            <a:avLst/>
          </a:prstGeom>
          <a:noFill/>
        </p:spPr>
        <p:txBody>
          <a:bodyPr wrap="square" lIns="0" tIns="0" rIns="0" bIns="0" rtlCol="0">
            <a:spAutoFit/>
          </a:bodyPr>
          <a:lstStyle/>
          <a:p>
            <a:pPr>
              <a:lnSpc>
                <a:spcPct val="12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编程任务</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nSpc>
                <a:spcPct val="120000"/>
              </a:lnSpc>
            </a:pP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nSpc>
                <a:spcPct val="12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设计一个多层密绕空心螺线管线圈。</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9" name="TextBox 6"/>
          <p:cNvSpPr txBox="1"/>
          <p:nvPr/>
        </p:nvSpPr>
        <p:spPr>
          <a:xfrm>
            <a:off x="1287022" y="1659306"/>
            <a:ext cx="3197726" cy="461665"/>
          </a:xfrm>
          <a:prstGeom prst="rect">
            <a:avLst/>
          </a:prstGeom>
          <a:noFill/>
        </p:spPr>
        <p:txBody>
          <a:bodyPr wrap="square" rtlCol="0">
            <a:spAutoFit/>
          </a:bodyPr>
          <a:lstStyle/>
          <a:p>
            <a:pPr lvl="0">
              <a:defRPr/>
            </a:pPr>
            <a:r>
              <a:rPr lang="zh-CN" altLang="en-US" sz="2400" b="1" dirty="0">
                <a:solidFill>
                  <a:schemeClr val="bg1"/>
                </a:solidFill>
                <a:latin typeface="微软雅黑" panose="020B0503020204020204" pitchFamily="34" charset="-122"/>
                <a:ea typeface="微软雅黑" panose="020B0503020204020204" pitchFamily="34" charset="-122"/>
                <a:cs typeface="+mn-ea"/>
                <a:sym typeface="+mn-lt"/>
              </a:rPr>
              <a:t>设计一个螺线管？</a:t>
            </a: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30" name="直接连接符 29"/>
          <p:cNvCxnSpPr/>
          <p:nvPr/>
        </p:nvCxnSpPr>
        <p:spPr>
          <a:xfrm>
            <a:off x="774137" y="2351117"/>
            <a:ext cx="0" cy="2983852"/>
          </a:xfrm>
          <a:prstGeom prst="line">
            <a:avLst/>
          </a:prstGeom>
          <a:ln w="12700">
            <a:solidFill>
              <a:srgbClr val="116AFE"/>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31" name="椭圆 30"/>
          <p:cNvSpPr/>
          <p:nvPr/>
        </p:nvSpPr>
        <p:spPr>
          <a:xfrm>
            <a:off x="292389" y="1387624"/>
            <a:ext cx="963498" cy="963494"/>
          </a:xfrm>
          <a:prstGeom prst="ellipse">
            <a:avLst/>
          </a:prstGeom>
          <a:solidFill>
            <a:srgbClr val="28CF8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1</a:t>
            </a:r>
            <a:endParaRPr kumimoji="0" lang="zh-CN" altLang="en-US"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2" name="右箭头 20"/>
          <p:cNvSpPr/>
          <p:nvPr/>
        </p:nvSpPr>
        <p:spPr>
          <a:xfrm rot="5400000">
            <a:off x="6103663" y="163800"/>
            <a:ext cx="739178" cy="3474605"/>
          </a:xfrm>
          <a:prstGeom prst="round2SameRect">
            <a:avLst>
              <a:gd name="adj1" fmla="val 50000"/>
              <a:gd name="adj2" fmla="val 0"/>
            </a:avLst>
          </a:prstGeom>
          <a:solidFill>
            <a:srgbClr val="FDA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4" name="TextBox 20"/>
          <p:cNvSpPr txBox="1"/>
          <p:nvPr/>
        </p:nvSpPr>
        <p:spPr>
          <a:xfrm>
            <a:off x="5205132" y="1643669"/>
            <a:ext cx="3218013" cy="461665"/>
          </a:xfrm>
          <a:prstGeom prst="rect">
            <a:avLst/>
          </a:prstGeom>
          <a:noFill/>
        </p:spPr>
        <p:txBody>
          <a:bodyPr wrap="square" rtlCol="0">
            <a:spAutoFit/>
          </a:bodyPr>
          <a:lstStyle/>
          <a:p>
            <a:pPr lvl="0">
              <a:defRPr/>
            </a:pPr>
            <a:r>
              <a:rPr lang="zh-CN" altLang="en-US" sz="2400" b="1" dirty="0">
                <a:solidFill>
                  <a:schemeClr val="bg1"/>
                </a:solidFill>
                <a:latin typeface="微软雅黑" panose="020B0503020204020204" pitchFamily="34" charset="-122"/>
                <a:ea typeface="微软雅黑" panose="020B0503020204020204" pitchFamily="34" charset="-122"/>
                <a:cs typeface="+mn-ea"/>
                <a:sym typeface="+mn-lt"/>
              </a:rPr>
              <a:t>仿真求</a:t>
            </a:r>
            <a:r>
              <a:rPr lang="en-US" altLang="zh-CN" sz="2400" b="1" dirty="0">
                <a:solidFill>
                  <a:schemeClr val="bg1"/>
                </a:solidFill>
                <a:latin typeface="微软雅黑" panose="020B0503020204020204" pitchFamily="34" charset="-122"/>
                <a:ea typeface="微软雅黑" panose="020B0503020204020204" pitchFamily="34" charset="-122"/>
                <a:cs typeface="+mn-ea"/>
                <a:sym typeface="+mn-lt"/>
              </a:rPr>
              <a:t>L</a:t>
            </a:r>
            <a:r>
              <a:rPr lang="zh-CN" altLang="en-US" sz="2400" b="1" dirty="0">
                <a:solidFill>
                  <a:schemeClr val="bg1"/>
                </a:solidFill>
                <a:latin typeface="微软雅黑" panose="020B0503020204020204" pitchFamily="34" charset="-122"/>
                <a:ea typeface="微软雅黑" panose="020B0503020204020204" pitchFamily="34" charset="-122"/>
                <a:cs typeface="+mn-ea"/>
                <a:sym typeface="+mn-lt"/>
              </a:rPr>
              <a:t>，轴线上</a:t>
            </a:r>
            <a:r>
              <a:rPr lang="en-US" altLang="zh-CN" sz="2400" b="1" dirty="0">
                <a:solidFill>
                  <a:schemeClr val="bg1"/>
                </a:solidFill>
                <a:latin typeface="微软雅黑" panose="020B0503020204020204" pitchFamily="34" charset="-122"/>
                <a:ea typeface="微软雅黑" panose="020B0503020204020204" pitchFamily="34" charset="-122"/>
                <a:cs typeface="+mn-ea"/>
                <a:sym typeface="+mn-lt"/>
              </a:rPr>
              <a:t>H</a:t>
            </a:r>
            <a:r>
              <a:rPr lang="zh-CN" altLang="en-US" sz="2400" b="1" dirty="0">
                <a:solidFill>
                  <a:schemeClr val="bg1"/>
                </a:solidFill>
                <a:latin typeface="微软雅黑" panose="020B0503020204020204" pitchFamily="34" charset="-122"/>
                <a:ea typeface="微软雅黑" panose="020B0503020204020204" pitchFamily="34" charset="-122"/>
                <a:cs typeface="+mn-ea"/>
                <a:sym typeface="+mn-lt"/>
              </a:rPr>
              <a:t>？</a:t>
            </a: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35" name="直接连接符 34"/>
          <p:cNvCxnSpPr/>
          <p:nvPr/>
        </p:nvCxnSpPr>
        <p:spPr>
          <a:xfrm>
            <a:off x="4741196" y="2351117"/>
            <a:ext cx="0" cy="2984400"/>
          </a:xfrm>
          <a:prstGeom prst="line">
            <a:avLst/>
          </a:prstGeom>
          <a:ln w="12700">
            <a:solidFill>
              <a:srgbClr val="116AFE"/>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4259007" y="1387624"/>
            <a:ext cx="963498" cy="963494"/>
          </a:xfrm>
          <a:prstGeom prst="ellipse">
            <a:avLst/>
          </a:prstGeom>
          <a:solidFill>
            <a:srgbClr val="FDAD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2</a:t>
            </a:r>
            <a:endParaRPr kumimoji="0" lang="zh-CN" altLang="en-US"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37" name="TextBox 27"/>
          <p:cNvSpPr txBox="1"/>
          <p:nvPr/>
        </p:nvSpPr>
        <p:spPr>
          <a:xfrm>
            <a:off x="9844627" y="1643669"/>
            <a:ext cx="1248139" cy="398780"/>
          </a:xfrm>
          <a:prstGeom prst="rect">
            <a:avLst/>
          </a:prstGeom>
          <a:noFill/>
        </p:spPr>
        <p:txBody>
          <a:bodyPr wrap="square" rtlCol="0">
            <a:spAutoFit/>
          </a:bodyPr>
          <a:lstStyle/>
          <a:p>
            <a:pPr lvl="0">
              <a:defRPr/>
            </a:pP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利用资源</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8" name="KSO_Shape"/>
          <p:cNvSpPr/>
          <p:nvPr/>
        </p:nvSpPr>
        <p:spPr bwMode="auto">
          <a:xfrm>
            <a:off x="8529976" y="1741640"/>
            <a:ext cx="383196" cy="255462"/>
          </a:xfrm>
          <a:custGeom>
            <a:avLst/>
            <a:gdLst>
              <a:gd name="T0" fmla="*/ 1006919 w 1450975"/>
              <a:gd name="T1" fmla="*/ 486464 h 968375"/>
              <a:gd name="T2" fmla="*/ 1058912 w 1450975"/>
              <a:gd name="T3" fmla="*/ 517972 h 968375"/>
              <a:gd name="T4" fmla="*/ 1095306 w 1450975"/>
              <a:gd name="T5" fmla="*/ 566445 h 968375"/>
              <a:gd name="T6" fmla="*/ 1110903 w 1450975"/>
              <a:gd name="T7" fmla="*/ 626690 h 968375"/>
              <a:gd name="T8" fmla="*/ 1101198 w 1450975"/>
              <a:gd name="T9" fmla="*/ 689359 h 968375"/>
              <a:gd name="T10" fmla="*/ 1069657 w 1450975"/>
              <a:gd name="T11" fmla="*/ 741293 h 968375"/>
              <a:gd name="T12" fmla="*/ 1021130 w 1450975"/>
              <a:gd name="T13" fmla="*/ 777649 h 968375"/>
              <a:gd name="T14" fmla="*/ 960819 w 1450975"/>
              <a:gd name="T15" fmla="*/ 793229 h 968375"/>
              <a:gd name="T16" fmla="*/ 898083 w 1450975"/>
              <a:gd name="T17" fmla="*/ 783534 h 968375"/>
              <a:gd name="T18" fmla="*/ 846091 w 1450975"/>
              <a:gd name="T19" fmla="*/ 752028 h 968375"/>
              <a:gd name="T20" fmla="*/ 809695 w 1450975"/>
              <a:gd name="T21" fmla="*/ 703900 h 968375"/>
              <a:gd name="T22" fmla="*/ 794098 w 1450975"/>
              <a:gd name="T23" fmla="*/ 643309 h 968375"/>
              <a:gd name="T24" fmla="*/ 803803 w 1450975"/>
              <a:gd name="T25" fmla="*/ 580986 h 968375"/>
              <a:gd name="T26" fmla="*/ 835346 w 1450975"/>
              <a:gd name="T27" fmla="*/ 528706 h 968375"/>
              <a:gd name="T28" fmla="*/ 883871 w 1450975"/>
              <a:gd name="T29" fmla="*/ 492350 h 968375"/>
              <a:gd name="T30" fmla="*/ 944182 w 1450975"/>
              <a:gd name="T31" fmla="*/ 477116 h 968375"/>
              <a:gd name="T32" fmla="*/ 892405 w 1450975"/>
              <a:gd name="T33" fmla="*/ 242814 h 968375"/>
              <a:gd name="T34" fmla="*/ 816330 w 1450975"/>
              <a:gd name="T35" fmla="*/ 262615 h 968375"/>
              <a:gd name="T36" fmla="*/ 685717 w 1450975"/>
              <a:gd name="T37" fmla="*/ 341469 h 968375"/>
              <a:gd name="T38" fmla="*/ 595052 w 1450975"/>
              <a:gd name="T39" fmla="*/ 463050 h 968375"/>
              <a:gd name="T40" fmla="*/ 563789 w 1450975"/>
              <a:gd name="T41" fmla="*/ 555104 h 968375"/>
              <a:gd name="T42" fmla="*/ 555798 w 1450975"/>
              <a:gd name="T43" fmla="*/ 635001 h 968375"/>
              <a:gd name="T44" fmla="*/ 563789 w 1450975"/>
              <a:gd name="T45" fmla="*/ 715243 h 968375"/>
              <a:gd name="T46" fmla="*/ 595052 w 1450975"/>
              <a:gd name="T47" fmla="*/ 807298 h 968375"/>
              <a:gd name="T48" fmla="*/ 685717 w 1450975"/>
              <a:gd name="T49" fmla="*/ 928879 h 968375"/>
              <a:gd name="T50" fmla="*/ 816330 w 1450975"/>
              <a:gd name="T51" fmla="*/ 1007732 h 968375"/>
              <a:gd name="T52" fmla="*/ 892405 w 1450975"/>
              <a:gd name="T53" fmla="*/ 1027533 h 968375"/>
              <a:gd name="T54" fmla="*/ 972995 w 1450975"/>
              <a:gd name="T55" fmla="*/ 1031355 h 968375"/>
              <a:gd name="T56" fmla="*/ 1051502 w 1450975"/>
              <a:gd name="T57" fmla="*/ 1019544 h 968375"/>
              <a:gd name="T58" fmla="*/ 1158494 w 1450975"/>
              <a:gd name="T59" fmla="*/ 974732 h 968375"/>
              <a:gd name="T60" fmla="*/ 1270695 w 1450975"/>
              <a:gd name="T61" fmla="*/ 872605 h 968375"/>
              <a:gd name="T62" fmla="*/ 1331485 w 1450975"/>
              <a:gd name="T63" fmla="*/ 753107 h 968375"/>
              <a:gd name="T64" fmla="*/ 1347465 w 1450975"/>
              <a:gd name="T65" fmla="*/ 675643 h 968375"/>
              <a:gd name="T66" fmla="*/ 1347465 w 1450975"/>
              <a:gd name="T67" fmla="*/ 594358 h 968375"/>
              <a:gd name="T68" fmla="*/ 1331485 w 1450975"/>
              <a:gd name="T69" fmla="*/ 517241 h 968375"/>
              <a:gd name="T70" fmla="*/ 1270695 w 1450975"/>
              <a:gd name="T71" fmla="*/ 397743 h 968375"/>
              <a:gd name="T72" fmla="*/ 1158494 w 1450975"/>
              <a:gd name="T73" fmla="*/ 295616 h 968375"/>
              <a:gd name="T74" fmla="*/ 1051502 w 1450975"/>
              <a:gd name="T75" fmla="*/ 250804 h 968375"/>
              <a:gd name="T76" fmla="*/ 972995 w 1450975"/>
              <a:gd name="T77" fmla="*/ 238994 h 968375"/>
              <a:gd name="T78" fmla="*/ 1074081 w 1450975"/>
              <a:gd name="T79" fmla="*/ 11116 h 968375"/>
              <a:gd name="T80" fmla="*/ 1258189 w 1450975"/>
              <a:gd name="T81" fmla="*/ 68085 h 968375"/>
              <a:gd name="T82" fmla="*/ 1426666 w 1450975"/>
              <a:gd name="T83" fmla="*/ 160487 h 968375"/>
              <a:gd name="T84" fmla="*/ 1576037 w 1450975"/>
              <a:gd name="T85" fmla="*/ 273036 h 968375"/>
              <a:gd name="T86" fmla="*/ 1742429 w 1450975"/>
              <a:gd name="T87" fmla="*/ 434218 h 968375"/>
              <a:gd name="T88" fmla="*/ 1885548 w 1450975"/>
              <a:gd name="T89" fmla="*/ 607906 h 968375"/>
              <a:gd name="T90" fmla="*/ 1829967 w 1450975"/>
              <a:gd name="T91" fmla="*/ 734349 h 968375"/>
              <a:gd name="T92" fmla="*/ 1642039 w 1450975"/>
              <a:gd name="T93" fmla="*/ 937911 h 968375"/>
              <a:gd name="T94" fmla="*/ 1503782 w 1450975"/>
              <a:gd name="T95" fmla="*/ 1054976 h 968375"/>
              <a:gd name="T96" fmla="*/ 1344685 w 1450975"/>
              <a:gd name="T97" fmla="*/ 1159536 h 968375"/>
              <a:gd name="T98" fmla="*/ 1167525 w 1450975"/>
              <a:gd name="T99" fmla="*/ 1235958 h 968375"/>
              <a:gd name="T100" fmla="*/ 977164 w 1450975"/>
              <a:gd name="T101" fmla="*/ 1269652 h 968375"/>
              <a:gd name="T102" fmla="*/ 783676 w 1450975"/>
              <a:gd name="T103" fmla="*/ 1248810 h 968375"/>
              <a:gd name="T104" fmla="*/ 603389 w 1450975"/>
              <a:gd name="T105" fmla="*/ 1182114 h 968375"/>
              <a:gd name="T106" fmla="*/ 439081 w 1450975"/>
              <a:gd name="T107" fmla="*/ 1083113 h 968375"/>
              <a:gd name="T108" fmla="*/ 295616 w 1450975"/>
              <a:gd name="T109" fmla="*/ 967437 h 968375"/>
              <a:gd name="T110" fmla="*/ 114981 w 1450975"/>
              <a:gd name="T111" fmla="*/ 782635 h 968375"/>
              <a:gd name="T112" fmla="*/ 0 w 1450975"/>
              <a:gd name="T113" fmla="*/ 635001 h 968375"/>
              <a:gd name="T114" fmla="*/ 114981 w 1450975"/>
              <a:gd name="T115" fmla="*/ 487714 h 968375"/>
              <a:gd name="T116" fmla="*/ 295616 w 1450975"/>
              <a:gd name="T117" fmla="*/ 302563 h 968375"/>
              <a:gd name="T118" fmla="*/ 439081 w 1450975"/>
              <a:gd name="T119" fmla="*/ 187235 h 968375"/>
              <a:gd name="T120" fmla="*/ 603389 w 1450975"/>
              <a:gd name="T121" fmla="*/ 88233 h 968375"/>
              <a:gd name="T122" fmla="*/ 783676 w 1450975"/>
              <a:gd name="T123" fmla="*/ 21190 h 96837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450975" h="968375">
                <a:moveTo>
                  <a:pt x="725752" y="363537"/>
                </a:moveTo>
                <a:lnTo>
                  <a:pt x="731824" y="363801"/>
                </a:lnTo>
                <a:lnTo>
                  <a:pt x="737896" y="364065"/>
                </a:lnTo>
                <a:lnTo>
                  <a:pt x="743969" y="365121"/>
                </a:lnTo>
                <a:lnTo>
                  <a:pt x="749777" y="365913"/>
                </a:lnTo>
                <a:lnTo>
                  <a:pt x="755849" y="367497"/>
                </a:lnTo>
                <a:lnTo>
                  <a:pt x="761129" y="369081"/>
                </a:lnTo>
                <a:lnTo>
                  <a:pt x="766937" y="370929"/>
                </a:lnTo>
                <a:lnTo>
                  <a:pt x="772481" y="373041"/>
                </a:lnTo>
                <a:lnTo>
                  <a:pt x="777761" y="375417"/>
                </a:lnTo>
                <a:lnTo>
                  <a:pt x="783041" y="378057"/>
                </a:lnTo>
                <a:lnTo>
                  <a:pt x="788057" y="381225"/>
                </a:lnTo>
                <a:lnTo>
                  <a:pt x="792809" y="384129"/>
                </a:lnTo>
                <a:lnTo>
                  <a:pt x="797825" y="387562"/>
                </a:lnTo>
                <a:lnTo>
                  <a:pt x="802314" y="391258"/>
                </a:lnTo>
                <a:lnTo>
                  <a:pt x="806538" y="394954"/>
                </a:lnTo>
                <a:lnTo>
                  <a:pt x="810762" y="398914"/>
                </a:lnTo>
                <a:lnTo>
                  <a:pt x="814722" y="403138"/>
                </a:lnTo>
                <a:lnTo>
                  <a:pt x="818682" y="407626"/>
                </a:lnTo>
                <a:lnTo>
                  <a:pt x="822114" y="412114"/>
                </a:lnTo>
                <a:lnTo>
                  <a:pt x="825546" y="416866"/>
                </a:lnTo>
                <a:lnTo>
                  <a:pt x="828714" y="421618"/>
                </a:lnTo>
                <a:lnTo>
                  <a:pt x="831618" y="426898"/>
                </a:lnTo>
                <a:lnTo>
                  <a:pt x="834258" y="431914"/>
                </a:lnTo>
                <a:lnTo>
                  <a:pt x="836634" y="437458"/>
                </a:lnTo>
                <a:lnTo>
                  <a:pt x="838746" y="443002"/>
                </a:lnTo>
                <a:lnTo>
                  <a:pt x="840594" y="448547"/>
                </a:lnTo>
                <a:lnTo>
                  <a:pt x="842442" y="454091"/>
                </a:lnTo>
                <a:lnTo>
                  <a:pt x="843762" y="459899"/>
                </a:lnTo>
                <a:lnTo>
                  <a:pt x="844818" y="465707"/>
                </a:lnTo>
                <a:lnTo>
                  <a:pt x="845610" y="471779"/>
                </a:lnTo>
                <a:lnTo>
                  <a:pt x="846138" y="477851"/>
                </a:lnTo>
                <a:lnTo>
                  <a:pt x="846138" y="484187"/>
                </a:lnTo>
                <a:lnTo>
                  <a:pt x="846138" y="490523"/>
                </a:lnTo>
                <a:lnTo>
                  <a:pt x="845610" y="496595"/>
                </a:lnTo>
                <a:lnTo>
                  <a:pt x="844818" y="502667"/>
                </a:lnTo>
                <a:lnTo>
                  <a:pt x="843762" y="508740"/>
                </a:lnTo>
                <a:lnTo>
                  <a:pt x="842442" y="514548"/>
                </a:lnTo>
                <a:lnTo>
                  <a:pt x="840594" y="520092"/>
                </a:lnTo>
                <a:lnTo>
                  <a:pt x="838746" y="525636"/>
                </a:lnTo>
                <a:lnTo>
                  <a:pt x="836634" y="531180"/>
                </a:lnTo>
                <a:lnTo>
                  <a:pt x="834258" y="536724"/>
                </a:lnTo>
                <a:lnTo>
                  <a:pt x="831618" y="541740"/>
                </a:lnTo>
                <a:lnTo>
                  <a:pt x="828714" y="546756"/>
                </a:lnTo>
                <a:lnTo>
                  <a:pt x="825546" y="551772"/>
                </a:lnTo>
                <a:lnTo>
                  <a:pt x="822114" y="556524"/>
                </a:lnTo>
                <a:lnTo>
                  <a:pt x="818682" y="561012"/>
                </a:lnTo>
                <a:lnTo>
                  <a:pt x="814722" y="565236"/>
                </a:lnTo>
                <a:lnTo>
                  <a:pt x="810762" y="569461"/>
                </a:lnTo>
                <a:lnTo>
                  <a:pt x="806538" y="573421"/>
                </a:lnTo>
                <a:lnTo>
                  <a:pt x="802314" y="577381"/>
                </a:lnTo>
                <a:lnTo>
                  <a:pt x="797825" y="581077"/>
                </a:lnTo>
                <a:lnTo>
                  <a:pt x="792809" y="584509"/>
                </a:lnTo>
                <a:lnTo>
                  <a:pt x="788057" y="587413"/>
                </a:lnTo>
                <a:lnTo>
                  <a:pt x="783041" y="590581"/>
                </a:lnTo>
                <a:lnTo>
                  <a:pt x="777761" y="592957"/>
                </a:lnTo>
                <a:lnTo>
                  <a:pt x="772481" y="595333"/>
                </a:lnTo>
                <a:lnTo>
                  <a:pt x="766937" y="597445"/>
                </a:lnTo>
                <a:lnTo>
                  <a:pt x="761129" y="599557"/>
                </a:lnTo>
                <a:lnTo>
                  <a:pt x="755849" y="601141"/>
                </a:lnTo>
                <a:lnTo>
                  <a:pt x="749777" y="602461"/>
                </a:lnTo>
                <a:lnTo>
                  <a:pt x="743969" y="603517"/>
                </a:lnTo>
                <a:lnTo>
                  <a:pt x="737896" y="604045"/>
                </a:lnTo>
                <a:lnTo>
                  <a:pt x="731824" y="604837"/>
                </a:lnTo>
                <a:lnTo>
                  <a:pt x="725752" y="604837"/>
                </a:lnTo>
                <a:lnTo>
                  <a:pt x="719152" y="604837"/>
                </a:lnTo>
                <a:lnTo>
                  <a:pt x="713080" y="604045"/>
                </a:lnTo>
                <a:lnTo>
                  <a:pt x="707008" y="603517"/>
                </a:lnTo>
                <a:lnTo>
                  <a:pt x="701200" y="602461"/>
                </a:lnTo>
                <a:lnTo>
                  <a:pt x="695128" y="601141"/>
                </a:lnTo>
                <a:lnTo>
                  <a:pt x="689848" y="599557"/>
                </a:lnTo>
                <a:lnTo>
                  <a:pt x="684040" y="597445"/>
                </a:lnTo>
                <a:lnTo>
                  <a:pt x="678495" y="595333"/>
                </a:lnTo>
                <a:lnTo>
                  <a:pt x="673215" y="592957"/>
                </a:lnTo>
                <a:lnTo>
                  <a:pt x="668199" y="590581"/>
                </a:lnTo>
                <a:lnTo>
                  <a:pt x="662919" y="587413"/>
                </a:lnTo>
                <a:lnTo>
                  <a:pt x="658167" y="584509"/>
                </a:lnTo>
                <a:lnTo>
                  <a:pt x="653151" y="581077"/>
                </a:lnTo>
                <a:lnTo>
                  <a:pt x="648663" y="577381"/>
                </a:lnTo>
                <a:lnTo>
                  <a:pt x="644439" y="573421"/>
                </a:lnTo>
                <a:lnTo>
                  <a:pt x="640215" y="569461"/>
                </a:lnTo>
                <a:lnTo>
                  <a:pt x="636255" y="565236"/>
                </a:lnTo>
                <a:lnTo>
                  <a:pt x="632559" y="561012"/>
                </a:lnTo>
                <a:lnTo>
                  <a:pt x="628863" y="556524"/>
                </a:lnTo>
                <a:lnTo>
                  <a:pt x="625694" y="551772"/>
                </a:lnTo>
                <a:lnTo>
                  <a:pt x="622262" y="546756"/>
                </a:lnTo>
                <a:lnTo>
                  <a:pt x="619622" y="541740"/>
                </a:lnTo>
                <a:lnTo>
                  <a:pt x="616718" y="536724"/>
                </a:lnTo>
                <a:lnTo>
                  <a:pt x="614342" y="531180"/>
                </a:lnTo>
                <a:lnTo>
                  <a:pt x="612230" y="525636"/>
                </a:lnTo>
                <a:lnTo>
                  <a:pt x="610382" y="520092"/>
                </a:lnTo>
                <a:lnTo>
                  <a:pt x="608534" y="514548"/>
                </a:lnTo>
                <a:lnTo>
                  <a:pt x="607214" y="508740"/>
                </a:lnTo>
                <a:lnTo>
                  <a:pt x="606422" y="502667"/>
                </a:lnTo>
                <a:lnTo>
                  <a:pt x="605630" y="496595"/>
                </a:lnTo>
                <a:lnTo>
                  <a:pt x="604838" y="490523"/>
                </a:lnTo>
                <a:lnTo>
                  <a:pt x="604838" y="484187"/>
                </a:lnTo>
                <a:lnTo>
                  <a:pt x="604838" y="477851"/>
                </a:lnTo>
                <a:lnTo>
                  <a:pt x="605630" y="471779"/>
                </a:lnTo>
                <a:lnTo>
                  <a:pt x="606422" y="465707"/>
                </a:lnTo>
                <a:lnTo>
                  <a:pt x="607214" y="459899"/>
                </a:lnTo>
                <a:lnTo>
                  <a:pt x="608534" y="454091"/>
                </a:lnTo>
                <a:lnTo>
                  <a:pt x="610382" y="448547"/>
                </a:lnTo>
                <a:lnTo>
                  <a:pt x="612230" y="443002"/>
                </a:lnTo>
                <a:lnTo>
                  <a:pt x="614342" y="437458"/>
                </a:lnTo>
                <a:lnTo>
                  <a:pt x="616718" y="431914"/>
                </a:lnTo>
                <a:lnTo>
                  <a:pt x="619622" y="426898"/>
                </a:lnTo>
                <a:lnTo>
                  <a:pt x="622262" y="421618"/>
                </a:lnTo>
                <a:lnTo>
                  <a:pt x="625694" y="416866"/>
                </a:lnTo>
                <a:lnTo>
                  <a:pt x="628863" y="412114"/>
                </a:lnTo>
                <a:lnTo>
                  <a:pt x="632559" y="407626"/>
                </a:lnTo>
                <a:lnTo>
                  <a:pt x="636255" y="403138"/>
                </a:lnTo>
                <a:lnTo>
                  <a:pt x="640215" y="398914"/>
                </a:lnTo>
                <a:lnTo>
                  <a:pt x="644439" y="394954"/>
                </a:lnTo>
                <a:lnTo>
                  <a:pt x="648663" y="391258"/>
                </a:lnTo>
                <a:lnTo>
                  <a:pt x="653151" y="387562"/>
                </a:lnTo>
                <a:lnTo>
                  <a:pt x="658167" y="384129"/>
                </a:lnTo>
                <a:lnTo>
                  <a:pt x="662919" y="381225"/>
                </a:lnTo>
                <a:lnTo>
                  <a:pt x="668199" y="378057"/>
                </a:lnTo>
                <a:lnTo>
                  <a:pt x="673215" y="375417"/>
                </a:lnTo>
                <a:lnTo>
                  <a:pt x="678495" y="373041"/>
                </a:lnTo>
                <a:lnTo>
                  <a:pt x="684040" y="370929"/>
                </a:lnTo>
                <a:lnTo>
                  <a:pt x="689848" y="369081"/>
                </a:lnTo>
                <a:lnTo>
                  <a:pt x="695128" y="367497"/>
                </a:lnTo>
                <a:lnTo>
                  <a:pt x="701200" y="365913"/>
                </a:lnTo>
                <a:lnTo>
                  <a:pt x="707008" y="365121"/>
                </a:lnTo>
                <a:lnTo>
                  <a:pt x="713080" y="364065"/>
                </a:lnTo>
                <a:lnTo>
                  <a:pt x="719152" y="363801"/>
                </a:lnTo>
                <a:lnTo>
                  <a:pt x="725752" y="363537"/>
                </a:lnTo>
                <a:close/>
                <a:moveTo>
                  <a:pt x="725752" y="181438"/>
                </a:moveTo>
                <a:lnTo>
                  <a:pt x="717815" y="181968"/>
                </a:lnTo>
                <a:lnTo>
                  <a:pt x="710142" y="182233"/>
                </a:lnTo>
                <a:lnTo>
                  <a:pt x="702204" y="182497"/>
                </a:lnTo>
                <a:lnTo>
                  <a:pt x="694531" y="183292"/>
                </a:lnTo>
                <a:lnTo>
                  <a:pt x="686859" y="184087"/>
                </a:lnTo>
                <a:lnTo>
                  <a:pt x="679715" y="185146"/>
                </a:lnTo>
                <a:lnTo>
                  <a:pt x="672042" y="186471"/>
                </a:lnTo>
                <a:lnTo>
                  <a:pt x="664634" y="188060"/>
                </a:lnTo>
                <a:lnTo>
                  <a:pt x="657490" y="189384"/>
                </a:lnTo>
                <a:lnTo>
                  <a:pt x="650081" y="191238"/>
                </a:lnTo>
                <a:lnTo>
                  <a:pt x="642673" y="193092"/>
                </a:lnTo>
                <a:lnTo>
                  <a:pt x="635794" y="195211"/>
                </a:lnTo>
                <a:lnTo>
                  <a:pt x="628650" y="197595"/>
                </a:lnTo>
                <a:lnTo>
                  <a:pt x="621771" y="200244"/>
                </a:lnTo>
                <a:lnTo>
                  <a:pt x="608013" y="205276"/>
                </a:lnTo>
                <a:lnTo>
                  <a:pt x="594519" y="211369"/>
                </a:lnTo>
                <a:lnTo>
                  <a:pt x="581554" y="218255"/>
                </a:lnTo>
                <a:lnTo>
                  <a:pt x="568590" y="225407"/>
                </a:lnTo>
                <a:lnTo>
                  <a:pt x="556419" y="233353"/>
                </a:lnTo>
                <a:lnTo>
                  <a:pt x="544513" y="241564"/>
                </a:lnTo>
                <a:lnTo>
                  <a:pt x="533400" y="250835"/>
                </a:lnTo>
                <a:lnTo>
                  <a:pt x="522288" y="260370"/>
                </a:lnTo>
                <a:lnTo>
                  <a:pt x="511704" y="270435"/>
                </a:lnTo>
                <a:lnTo>
                  <a:pt x="501915" y="280765"/>
                </a:lnTo>
                <a:lnTo>
                  <a:pt x="492390" y="291625"/>
                </a:lnTo>
                <a:lnTo>
                  <a:pt x="483394" y="303279"/>
                </a:lnTo>
                <a:lnTo>
                  <a:pt x="474663" y="315199"/>
                </a:lnTo>
                <a:lnTo>
                  <a:pt x="467254" y="327383"/>
                </a:lnTo>
                <a:lnTo>
                  <a:pt x="459846" y="339832"/>
                </a:lnTo>
                <a:lnTo>
                  <a:pt x="453231" y="353076"/>
                </a:lnTo>
                <a:lnTo>
                  <a:pt x="447146" y="366584"/>
                </a:lnTo>
                <a:lnTo>
                  <a:pt x="441590" y="380357"/>
                </a:lnTo>
                <a:lnTo>
                  <a:pt x="439208" y="387244"/>
                </a:lnTo>
                <a:lnTo>
                  <a:pt x="437092" y="394396"/>
                </a:lnTo>
                <a:lnTo>
                  <a:pt x="434711" y="401282"/>
                </a:lnTo>
                <a:lnTo>
                  <a:pt x="432594" y="408699"/>
                </a:lnTo>
                <a:lnTo>
                  <a:pt x="430742" y="415850"/>
                </a:lnTo>
                <a:lnTo>
                  <a:pt x="429419" y="423267"/>
                </a:lnTo>
                <a:lnTo>
                  <a:pt x="428096" y="430683"/>
                </a:lnTo>
                <a:lnTo>
                  <a:pt x="426508" y="438100"/>
                </a:lnTo>
                <a:lnTo>
                  <a:pt x="425715" y="445781"/>
                </a:lnTo>
                <a:lnTo>
                  <a:pt x="424656" y="453198"/>
                </a:lnTo>
                <a:lnTo>
                  <a:pt x="424127" y="461144"/>
                </a:lnTo>
                <a:lnTo>
                  <a:pt x="423598" y="468825"/>
                </a:lnTo>
                <a:lnTo>
                  <a:pt x="423333" y="476506"/>
                </a:lnTo>
                <a:lnTo>
                  <a:pt x="423333" y="484188"/>
                </a:lnTo>
                <a:lnTo>
                  <a:pt x="423333" y="491869"/>
                </a:lnTo>
                <a:lnTo>
                  <a:pt x="423598" y="499815"/>
                </a:lnTo>
                <a:lnTo>
                  <a:pt x="424127" y="507496"/>
                </a:lnTo>
                <a:lnTo>
                  <a:pt x="424656" y="515178"/>
                </a:lnTo>
                <a:lnTo>
                  <a:pt x="425715" y="522859"/>
                </a:lnTo>
                <a:lnTo>
                  <a:pt x="426508" y="530276"/>
                </a:lnTo>
                <a:lnTo>
                  <a:pt x="428096" y="537692"/>
                </a:lnTo>
                <a:lnTo>
                  <a:pt x="429419" y="545373"/>
                </a:lnTo>
                <a:lnTo>
                  <a:pt x="430742" y="552790"/>
                </a:lnTo>
                <a:lnTo>
                  <a:pt x="432594" y="559941"/>
                </a:lnTo>
                <a:lnTo>
                  <a:pt x="434711" y="567093"/>
                </a:lnTo>
                <a:lnTo>
                  <a:pt x="437092" y="574244"/>
                </a:lnTo>
                <a:lnTo>
                  <a:pt x="439208" y="581396"/>
                </a:lnTo>
                <a:lnTo>
                  <a:pt x="441590" y="588283"/>
                </a:lnTo>
                <a:lnTo>
                  <a:pt x="447146" y="602056"/>
                </a:lnTo>
                <a:lnTo>
                  <a:pt x="453231" y="615565"/>
                </a:lnTo>
                <a:lnTo>
                  <a:pt x="459846" y="628278"/>
                </a:lnTo>
                <a:lnTo>
                  <a:pt x="467254" y="641257"/>
                </a:lnTo>
                <a:lnTo>
                  <a:pt x="474663" y="653441"/>
                </a:lnTo>
                <a:lnTo>
                  <a:pt x="483394" y="665361"/>
                </a:lnTo>
                <a:lnTo>
                  <a:pt x="492390" y="676485"/>
                </a:lnTo>
                <a:lnTo>
                  <a:pt x="501915" y="687610"/>
                </a:lnTo>
                <a:lnTo>
                  <a:pt x="511704" y="698205"/>
                </a:lnTo>
                <a:lnTo>
                  <a:pt x="522288" y="708270"/>
                </a:lnTo>
                <a:lnTo>
                  <a:pt x="533400" y="717805"/>
                </a:lnTo>
                <a:lnTo>
                  <a:pt x="544513" y="726546"/>
                </a:lnTo>
                <a:lnTo>
                  <a:pt x="556419" y="735287"/>
                </a:lnTo>
                <a:lnTo>
                  <a:pt x="568590" y="743233"/>
                </a:lnTo>
                <a:lnTo>
                  <a:pt x="581554" y="750385"/>
                </a:lnTo>
                <a:lnTo>
                  <a:pt x="594519" y="757272"/>
                </a:lnTo>
                <a:lnTo>
                  <a:pt x="608013" y="763099"/>
                </a:lnTo>
                <a:lnTo>
                  <a:pt x="621771" y="768396"/>
                </a:lnTo>
                <a:lnTo>
                  <a:pt x="628650" y="770780"/>
                </a:lnTo>
                <a:lnTo>
                  <a:pt x="635794" y="773429"/>
                </a:lnTo>
                <a:lnTo>
                  <a:pt x="642673" y="775548"/>
                </a:lnTo>
                <a:lnTo>
                  <a:pt x="650081" y="777402"/>
                </a:lnTo>
                <a:lnTo>
                  <a:pt x="657490" y="779256"/>
                </a:lnTo>
                <a:lnTo>
                  <a:pt x="664634" y="780580"/>
                </a:lnTo>
                <a:lnTo>
                  <a:pt x="672042" y="782170"/>
                </a:lnTo>
                <a:lnTo>
                  <a:pt x="679715" y="783494"/>
                </a:lnTo>
                <a:lnTo>
                  <a:pt x="686859" y="784289"/>
                </a:lnTo>
                <a:lnTo>
                  <a:pt x="694531" y="785348"/>
                </a:lnTo>
                <a:lnTo>
                  <a:pt x="702204" y="785878"/>
                </a:lnTo>
                <a:lnTo>
                  <a:pt x="710142" y="786408"/>
                </a:lnTo>
                <a:lnTo>
                  <a:pt x="717815" y="786672"/>
                </a:lnTo>
                <a:lnTo>
                  <a:pt x="725752" y="786672"/>
                </a:lnTo>
                <a:lnTo>
                  <a:pt x="733161" y="786672"/>
                </a:lnTo>
                <a:lnTo>
                  <a:pt x="741098" y="786408"/>
                </a:lnTo>
                <a:lnTo>
                  <a:pt x="748771" y="785878"/>
                </a:lnTo>
                <a:lnTo>
                  <a:pt x="756444" y="785348"/>
                </a:lnTo>
                <a:lnTo>
                  <a:pt x="764117" y="784289"/>
                </a:lnTo>
                <a:lnTo>
                  <a:pt x="771790" y="783494"/>
                </a:lnTo>
                <a:lnTo>
                  <a:pt x="778934" y="782170"/>
                </a:lnTo>
                <a:lnTo>
                  <a:pt x="786342" y="780580"/>
                </a:lnTo>
                <a:lnTo>
                  <a:pt x="793750" y="779256"/>
                </a:lnTo>
                <a:lnTo>
                  <a:pt x="800894" y="777402"/>
                </a:lnTo>
                <a:lnTo>
                  <a:pt x="808302" y="775548"/>
                </a:lnTo>
                <a:lnTo>
                  <a:pt x="815181" y="773429"/>
                </a:lnTo>
                <a:lnTo>
                  <a:pt x="822590" y="770780"/>
                </a:lnTo>
                <a:lnTo>
                  <a:pt x="829204" y="768396"/>
                </a:lnTo>
                <a:lnTo>
                  <a:pt x="842963" y="763099"/>
                </a:lnTo>
                <a:lnTo>
                  <a:pt x="856456" y="757272"/>
                </a:lnTo>
                <a:lnTo>
                  <a:pt x="869421" y="750385"/>
                </a:lnTo>
                <a:lnTo>
                  <a:pt x="882386" y="743233"/>
                </a:lnTo>
                <a:lnTo>
                  <a:pt x="894556" y="735287"/>
                </a:lnTo>
                <a:lnTo>
                  <a:pt x="906463" y="726546"/>
                </a:lnTo>
                <a:lnTo>
                  <a:pt x="917840" y="717805"/>
                </a:lnTo>
                <a:lnTo>
                  <a:pt x="928688" y="708270"/>
                </a:lnTo>
                <a:lnTo>
                  <a:pt x="939271" y="698205"/>
                </a:lnTo>
                <a:lnTo>
                  <a:pt x="949061" y="687610"/>
                </a:lnTo>
                <a:lnTo>
                  <a:pt x="958850" y="676485"/>
                </a:lnTo>
                <a:lnTo>
                  <a:pt x="967846" y="665361"/>
                </a:lnTo>
                <a:lnTo>
                  <a:pt x="976313" y="653441"/>
                </a:lnTo>
                <a:lnTo>
                  <a:pt x="984250" y="641257"/>
                </a:lnTo>
                <a:lnTo>
                  <a:pt x="991129" y="628278"/>
                </a:lnTo>
                <a:lnTo>
                  <a:pt x="998009" y="615565"/>
                </a:lnTo>
                <a:lnTo>
                  <a:pt x="1004094" y="602056"/>
                </a:lnTo>
                <a:lnTo>
                  <a:pt x="1009386" y="588283"/>
                </a:lnTo>
                <a:lnTo>
                  <a:pt x="1012031" y="581396"/>
                </a:lnTo>
                <a:lnTo>
                  <a:pt x="1014148" y="574244"/>
                </a:lnTo>
                <a:lnTo>
                  <a:pt x="1016265" y="567093"/>
                </a:lnTo>
                <a:lnTo>
                  <a:pt x="1018381" y="559941"/>
                </a:lnTo>
                <a:lnTo>
                  <a:pt x="1020234" y="552790"/>
                </a:lnTo>
                <a:lnTo>
                  <a:pt x="1021556" y="545373"/>
                </a:lnTo>
                <a:lnTo>
                  <a:pt x="1023144" y="537692"/>
                </a:lnTo>
                <a:lnTo>
                  <a:pt x="1024467" y="530276"/>
                </a:lnTo>
                <a:lnTo>
                  <a:pt x="1025261" y="522859"/>
                </a:lnTo>
                <a:lnTo>
                  <a:pt x="1026319" y="515178"/>
                </a:lnTo>
                <a:lnTo>
                  <a:pt x="1026848" y="507496"/>
                </a:lnTo>
                <a:lnTo>
                  <a:pt x="1027377" y="499815"/>
                </a:lnTo>
                <a:lnTo>
                  <a:pt x="1027642" y="491869"/>
                </a:lnTo>
                <a:lnTo>
                  <a:pt x="1027642" y="484188"/>
                </a:lnTo>
                <a:lnTo>
                  <a:pt x="1027642" y="476506"/>
                </a:lnTo>
                <a:lnTo>
                  <a:pt x="1027377" y="468825"/>
                </a:lnTo>
                <a:lnTo>
                  <a:pt x="1026848" y="461144"/>
                </a:lnTo>
                <a:lnTo>
                  <a:pt x="1026319" y="453198"/>
                </a:lnTo>
                <a:lnTo>
                  <a:pt x="1025261" y="445781"/>
                </a:lnTo>
                <a:lnTo>
                  <a:pt x="1024467" y="438100"/>
                </a:lnTo>
                <a:lnTo>
                  <a:pt x="1023144" y="430683"/>
                </a:lnTo>
                <a:lnTo>
                  <a:pt x="1021556" y="423267"/>
                </a:lnTo>
                <a:lnTo>
                  <a:pt x="1020234" y="415850"/>
                </a:lnTo>
                <a:lnTo>
                  <a:pt x="1018381" y="408699"/>
                </a:lnTo>
                <a:lnTo>
                  <a:pt x="1016265" y="401282"/>
                </a:lnTo>
                <a:lnTo>
                  <a:pt x="1014148" y="394396"/>
                </a:lnTo>
                <a:lnTo>
                  <a:pt x="1012031" y="387244"/>
                </a:lnTo>
                <a:lnTo>
                  <a:pt x="1009386" y="380357"/>
                </a:lnTo>
                <a:lnTo>
                  <a:pt x="1004094" y="366584"/>
                </a:lnTo>
                <a:lnTo>
                  <a:pt x="998009" y="353076"/>
                </a:lnTo>
                <a:lnTo>
                  <a:pt x="991129" y="339832"/>
                </a:lnTo>
                <a:lnTo>
                  <a:pt x="984250" y="327383"/>
                </a:lnTo>
                <a:lnTo>
                  <a:pt x="976313" y="315199"/>
                </a:lnTo>
                <a:lnTo>
                  <a:pt x="967846" y="303279"/>
                </a:lnTo>
                <a:lnTo>
                  <a:pt x="958850" y="291625"/>
                </a:lnTo>
                <a:lnTo>
                  <a:pt x="949061" y="280765"/>
                </a:lnTo>
                <a:lnTo>
                  <a:pt x="939271" y="270435"/>
                </a:lnTo>
                <a:lnTo>
                  <a:pt x="928688" y="260370"/>
                </a:lnTo>
                <a:lnTo>
                  <a:pt x="917840" y="250835"/>
                </a:lnTo>
                <a:lnTo>
                  <a:pt x="906463" y="241564"/>
                </a:lnTo>
                <a:lnTo>
                  <a:pt x="894556" y="233353"/>
                </a:lnTo>
                <a:lnTo>
                  <a:pt x="882386" y="225407"/>
                </a:lnTo>
                <a:lnTo>
                  <a:pt x="869421" y="218255"/>
                </a:lnTo>
                <a:lnTo>
                  <a:pt x="856456" y="211369"/>
                </a:lnTo>
                <a:lnTo>
                  <a:pt x="842963" y="205276"/>
                </a:lnTo>
                <a:lnTo>
                  <a:pt x="829204" y="200244"/>
                </a:lnTo>
                <a:lnTo>
                  <a:pt x="822590" y="197595"/>
                </a:lnTo>
                <a:lnTo>
                  <a:pt x="815181" y="195211"/>
                </a:lnTo>
                <a:lnTo>
                  <a:pt x="808302" y="193092"/>
                </a:lnTo>
                <a:lnTo>
                  <a:pt x="800894" y="191238"/>
                </a:lnTo>
                <a:lnTo>
                  <a:pt x="793750" y="189384"/>
                </a:lnTo>
                <a:lnTo>
                  <a:pt x="786342" y="188060"/>
                </a:lnTo>
                <a:lnTo>
                  <a:pt x="778934" y="186471"/>
                </a:lnTo>
                <a:lnTo>
                  <a:pt x="771790" y="185146"/>
                </a:lnTo>
                <a:lnTo>
                  <a:pt x="764117" y="184087"/>
                </a:lnTo>
                <a:lnTo>
                  <a:pt x="756444" y="183292"/>
                </a:lnTo>
                <a:lnTo>
                  <a:pt x="748771" y="182497"/>
                </a:lnTo>
                <a:lnTo>
                  <a:pt x="741098" y="182233"/>
                </a:lnTo>
                <a:lnTo>
                  <a:pt x="733161" y="181968"/>
                </a:lnTo>
                <a:lnTo>
                  <a:pt x="725752" y="181438"/>
                </a:lnTo>
                <a:close/>
                <a:moveTo>
                  <a:pt x="725752" y="0"/>
                </a:moveTo>
                <a:lnTo>
                  <a:pt x="744273" y="530"/>
                </a:lnTo>
                <a:lnTo>
                  <a:pt x="762794" y="1589"/>
                </a:lnTo>
                <a:lnTo>
                  <a:pt x="781579" y="3179"/>
                </a:lnTo>
                <a:lnTo>
                  <a:pt x="799836" y="5562"/>
                </a:lnTo>
                <a:lnTo>
                  <a:pt x="818092" y="8476"/>
                </a:lnTo>
                <a:lnTo>
                  <a:pt x="836084" y="12184"/>
                </a:lnTo>
                <a:lnTo>
                  <a:pt x="854075" y="16157"/>
                </a:lnTo>
                <a:lnTo>
                  <a:pt x="871802" y="20925"/>
                </a:lnTo>
                <a:lnTo>
                  <a:pt x="889265" y="26222"/>
                </a:lnTo>
                <a:lnTo>
                  <a:pt x="906727" y="32050"/>
                </a:lnTo>
                <a:lnTo>
                  <a:pt x="924190" y="38142"/>
                </a:lnTo>
                <a:lnTo>
                  <a:pt x="941123" y="44764"/>
                </a:lnTo>
                <a:lnTo>
                  <a:pt x="958321" y="51915"/>
                </a:lnTo>
                <a:lnTo>
                  <a:pt x="974990" y="59332"/>
                </a:lnTo>
                <a:lnTo>
                  <a:pt x="991394" y="67278"/>
                </a:lnTo>
                <a:lnTo>
                  <a:pt x="1008063" y="75754"/>
                </a:lnTo>
                <a:lnTo>
                  <a:pt x="1024202" y="84494"/>
                </a:lnTo>
                <a:lnTo>
                  <a:pt x="1040077" y="93235"/>
                </a:lnTo>
                <a:lnTo>
                  <a:pt x="1055688" y="102771"/>
                </a:lnTo>
                <a:lnTo>
                  <a:pt x="1071298" y="112306"/>
                </a:lnTo>
                <a:lnTo>
                  <a:pt x="1086644" y="122371"/>
                </a:lnTo>
                <a:lnTo>
                  <a:pt x="1101461" y="132436"/>
                </a:lnTo>
                <a:lnTo>
                  <a:pt x="1116542" y="142767"/>
                </a:lnTo>
                <a:lnTo>
                  <a:pt x="1131094" y="153097"/>
                </a:lnTo>
                <a:lnTo>
                  <a:pt x="1145381" y="164221"/>
                </a:lnTo>
                <a:lnTo>
                  <a:pt x="1159404" y="174816"/>
                </a:lnTo>
                <a:lnTo>
                  <a:pt x="1173427" y="185941"/>
                </a:lnTo>
                <a:lnTo>
                  <a:pt x="1186921" y="197065"/>
                </a:lnTo>
                <a:lnTo>
                  <a:pt x="1200415" y="208190"/>
                </a:lnTo>
                <a:lnTo>
                  <a:pt x="1213115" y="219315"/>
                </a:lnTo>
                <a:lnTo>
                  <a:pt x="1225815" y="230704"/>
                </a:lnTo>
                <a:lnTo>
                  <a:pt x="1238515" y="242359"/>
                </a:lnTo>
                <a:lnTo>
                  <a:pt x="1250686" y="253483"/>
                </a:lnTo>
                <a:lnTo>
                  <a:pt x="1262592" y="264873"/>
                </a:lnTo>
                <a:lnTo>
                  <a:pt x="1285346" y="287387"/>
                </a:lnTo>
                <a:lnTo>
                  <a:pt x="1306777" y="309372"/>
                </a:lnTo>
                <a:lnTo>
                  <a:pt x="1327150" y="331091"/>
                </a:lnTo>
                <a:lnTo>
                  <a:pt x="1345936" y="351751"/>
                </a:lnTo>
                <a:lnTo>
                  <a:pt x="1363398" y="371882"/>
                </a:lnTo>
                <a:lnTo>
                  <a:pt x="1379273" y="390952"/>
                </a:lnTo>
                <a:lnTo>
                  <a:pt x="1393825" y="408699"/>
                </a:lnTo>
                <a:lnTo>
                  <a:pt x="1407054" y="424856"/>
                </a:lnTo>
                <a:lnTo>
                  <a:pt x="1418167" y="439424"/>
                </a:lnTo>
                <a:lnTo>
                  <a:pt x="1427956" y="452668"/>
                </a:lnTo>
                <a:lnTo>
                  <a:pt x="1436159" y="463528"/>
                </a:lnTo>
                <a:lnTo>
                  <a:pt x="1447271" y="478890"/>
                </a:lnTo>
                <a:lnTo>
                  <a:pt x="1450975" y="484188"/>
                </a:lnTo>
                <a:lnTo>
                  <a:pt x="1447271" y="489750"/>
                </a:lnTo>
                <a:lnTo>
                  <a:pt x="1436159" y="505113"/>
                </a:lnTo>
                <a:lnTo>
                  <a:pt x="1427956" y="515972"/>
                </a:lnTo>
                <a:lnTo>
                  <a:pt x="1418167" y="528951"/>
                </a:lnTo>
                <a:lnTo>
                  <a:pt x="1407054" y="543519"/>
                </a:lnTo>
                <a:lnTo>
                  <a:pt x="1393825" y="559941"/>
                </a:lnTo>
                <a:lnTo>
                  <a:pt x="1379273" y="577688"/>
                </a:lnTo>
                <a:lnTo>
                  <a:pt x="1363398" y="596759"/>
                </a:lnTo>
                <a:lnTo>
                  <a:pt x="1345936" y="616359"/>
                </a:lnTo>
                <a:lnTo>
                  <a:pt x="1327150" y="637549"/>
                </a:lnTo>
                <a:lnTo>
                  <a:pt x="1306777" y="659269"/>
                </a:lnTo>
                <a:lnTo>
                  <a:pt x="1285346" y="681253"/>
                </a:lnTo>
                <a:lnTo>
                  <a:pt x="1262592" y="703767"/>
                </a:lnTo>
                <a:lnTo>
                  <a:pt x="1250686" y="715157"/>
                </a:lnTo>
                <a:lnTo>
                  <a:pt x="1238515" y="726281"/>
                </a:lnTo>
                <a:lnTo>
                  <a:pt x="1225815" y="737671"/>
                </a:lnTo>
                <a:lnTo>
                  <a:pt x="1213115" y="749060"/>
                </a:lnTo>
                <a:lnTo>
                  <a:pt x="1200415" y="760185"/>
                </a:lnTo>
                <a:lnTo>
                  <a:pt x="1186921" y="771575"/>
                </a:lnTo>
                <a:lnTo>
                  <a:pt x="1173427" y="782434"/>
                </a:lnTo>
                <a:lnTo>
                  <a:pt x="1159404" y="793824"/>
                </a:lnTo>
                <a:lnTo>
                  <a:pt x="1145381" y="804419"/>
                </a:lnTo>
                <a:lnTo>
                  <a:pt x="1131094" y="815279"/>
                </a:lnTo>
                <a:lnTo>
                  <a:pt x="1116542" y="825874"/>
                </a:lnTo>
                <a:lnTo>
                  <a:pt x="1101461" y="836204"/>
                </a:lnTo>
                <a:lnTo>
                  <a:pt x="1086644" y="846269"/>
                </a:lnTo>
                <a:lnTo>
                  <a:pt x="1071298" y="856069"/>
                </a:lnTo>
                <a:lnTo>
                  <a:pt x="1055688" y="865869"/>
                </a:lnTo>
                <a:lnTo>
                  <a:pt x="1040077" y="874875"/>
                </a:lnTo>
                <a:lnTo>
                  <a:pt x="1024202" y="884146"/>
                </a:lnTo>
                <a:lnTo>
                  <a:pt x="1008063" y="892622"/>
                </a:lnTo>
                <a:lnTo>
                  <a:pt x="991394" y="901362"/>
                </a:lnTo>
                <a:lnTo>
                  <a:pt x="974990" y="909044"/>
                </a:lnTo>
                <a:lnTo>
                  <a:pt x="958321" y="916460"/>
                </a:lnTo>
                <a:lnTo>
                  <a:pt x="941123" y="923877"/>
                </a:lnTo>
                <a:lnTo>
                  <a:pt x="924190" y="930498"/>
                </a:lnTo>
                <a:lnTo>
                  <a:pt x="906727" y="936590"/>
                </a:lnTo>
                <a:lnTo>
                  <a:pt x="889265" y="942418"/>
                </a:lnTo>
                <a:lnTo>
                  <a:pt x="871802" y="947715"/>
                </a:lnTo>
                <a:lnTo>
                  <a:pt x="854075" y="952218"/>
                </a:lnTo>
                <a:lnTo>
                  <a:pt x="836084" y="956456"/>
                </a:lnTo>
                <a:lnTo>
                  <a:pt x="818092" y="960164"/>
                </a:lnTo>
                <a:lnTo>
                  <a:pt x="799836" y="962813"/>
                </a:lnTo>
                <a:lnTo>
                  <a:pt x="781579" y="965462"/>
                </a:lnTo>
                <a:lnTo>
                  <a:pt x="762794" y="967051"/>
                </a:lnTo>
                <a:lnTo>
                  <a:pt x="744273" y="968110"/>
                </a:lnTo>
                <a:lnTo>
                  <a:pt x="725752" y="968375"/>
                </a:lnTo>
                <a:lnTo>
                  <a:pt x="706702" y="968110"/>
                </a:lnTo>
                <a:lnTo>
                  <a:pt x="688181" y="967051"/>
                </a:lnTo>
                <a:lnTo>
                  <a:pt x="669661" y="965462"/>
                </a:lnTo>
                <a:lnTo>
                  <a:pt x="651404" y="962813"/>
                </a:lnTo>
                <a:lnTo>
                  <a:pt x="633413" y="960164"/>
                </a:lnTo>
                <a:lnTo>
                  <a:pt x="614892" y="956456"/>
                </a:lnTo>
                <a:lnTo>
                  <a:pt x="596900" y="952218"/>
                </a:lnTo>
                <a:lnTo>
                  <a:pt x="579438" y="947715"/>
                </a:lnTo>
                <a:lnTo>
                  <a:pt x="561711" y="942418"/>
                </a:lnTo>
                <a:lnTo>
                  <a:pt x="544248" y="936590"/>
                </a:lnTo>
                <a:lnTo>
                  <a:pt x="526786" y="930498"/>
                </a:lnTo>
                <a:lnTo>
                  <a:pt x="509852" y="923877"/>
                </a:lnTo>
                <a:lnTo>
                  <a:pt x="492654" y="916460"/>
                </a:lnTo>
                <a:lnTo>
                  <a:pt x="475986" y="909044"/>
                </a:lnTo>
                <a:lnTo>
                  <a:pt x="459581" y="901362"/>
                </a:lnTo>
                <a:lnTo>
                  <a:pt x="443177" y="892622"/>
                </a:lnTo>
                <a:lnTo>
                  <a:pt x="426773" y="884146"/>
                </a:lnTo>
                <a:lnTo>
                  <a:pt x="411163" y="874875"/>
                </a:lnTo>
                <a:lnTo>
                  <a:pt x="395288" y="865869"/>
                </a:lnTo>
                <a:lnTo>
                  <a:pt x="379677" y="856069"/>
                </a:lnTo>
                <a:lnTo>
                  <a:pt x="364331" y="846269"/>
                </a:lnTo>
                <a:lnTo>
                  <a:pt x="349515" y="836204"/>
                </a:lnTo>
                <a:lnTo>
                  <a:pt x="334433" y="825874"/>
                </a:lnTo>
                <a:lnTo>
                  <a:pt x="319881" y="815279"/>
                </a:lnTo>
                <a:lnTo>
                  <a:pt x="305594" y="804419"/>
                </a:lnTo>
                <a:lnTo>
                  <a:pt x="291571" y="793824"/>
                </a:lnTo>
                <a:lnTo>
                  <a:pt x="277548" y="782434"/>
                </a:lnTo>
                <a:lnTo>
                  <a:pt x="264054" y="771575"/>
                </a:lnTo>
                <a:lnTo>
                  <a:pt x="250825" y="760185"/>
                </a:lnTo>
                <a:lnTo>
                  <a:pt x="237861" y="749060"/>
                </a:lnTo>
                <a:lnTo>
                  <a:pt x="225161" y="737671"/>
                </a:lnTo>
                <a:lnTo>
                  <a:pt x="212461" y="726281"/>
                </a:lnTo>
                <a:lnTo>
                  <a:pt x="200290" y="715157"/>
                </a:lnTo>
                <a:lnTo>
                  <a:pt x="188383" y="703767"/>
                </a:lnTo>
                <a:lnTo>
                  <a:pt x="165629" y="681253"/>
                </a:lnTo>
                <a:lnTo>
                  <a:pt x="144198" y="659269"/>
                </a:lnTo>
                <a:lnTo>
                  <a:pt x="123825" y="637549"/>
                </a:lnTo>
                <a:lnTo>
                  <a:pt x="105040" y="616359"/>
                </a:lnTo>
                <a:lnTo>
                  <a:pt x="87577" y="596759"/>
                </a:lnTo>
                <a:lnTo>
                  <a:pt x="71702" y="577688"/>
                </a:lnTo>
                <a:lnTo>
                  <a:pt x="57150" y="559941"/>
                </a:lnTo>
                <a:lnTo>
                  <a:pt x="43921" y="543519"/>
                </a:lnTo>
                <a:lnTo>
                  <a:pt x="32808" y="528951"/>
                </a:lnTo>
                <a:lnTo>
                  <a:pt x="23019" y="515972"/>
                </a:lnTo>
                <a:lnTo>
                  <a:pt x="14817" y="505113"/>
                </a:lnTo>
                <a:lnTo>
                  <a:pt x="3704" y="489750"/>
                </a:lnTo>
                <a:lnTo>
                  <a:pt x="0" y="484188"/>
                </a:lnTo>
                <a:lnTo>
                  <a:pt x="3704" y="478890"/>
                </a:lnTo>
                <a:lnTo>
                  <a:pt x="14817" y="463528"/>
                </a:lnTo>
                <a:lnTo>
                  <a:pt x="23019" y="452668"/>
                </a:lnTo>
                <a:lnTo>
                  <a:pt x="32808" y="439424"/>
                </a:lnTo>
                <a:lnTo>
                  <a:pt x="43921" y="424856"/>
                </a:lnTo>
                <a:lnTo>
                  <a:pt x="57150" y="408699"/>
                </a:lnTo>
                <a:lnTo>
                  <a:pt x="71702" y="390952"/>
                </a:lnTo>
                <a:lnTo>
                  <a:pt x="87577" y="371882"/>
                </a:lnTo>
                <a:lnTo>
                  <a:pt x="105040" y="351751"/>
                </a:lnTo>
                <a:lnTo>
                  <a:pt x="123825" y="331091"/>
                </a:lnTo>
                <a:lnTo>
                  <a:pt x="144198" y="309372"/>
                </a:lnTo>
                <a:lnTo>
                  <a:pt x="165629" y="287387"/>
                </a:lnTo>
                <a:lnTo>
                  <a:pt x="188383" y="264873"/>
                </a:lnTo>
                <a:lnTo>
                  <a:pt x="200290" y="253483"/>
                </a:lnTo>
                <a:lnTo>
                  <a:pt x="212461" y="242359"/>
                </a:lnTo>
                <a:lnTo>
                  <a:pt x="225161" y="230704"/>
                </a:lnTo>
                <a:lnTo>
                  <a:pt x="237861" y="219315"/>
                </a:lnTo>
                <a:lnTo>
                  <a:pt x="250825" y="208190"/>
                </a:lnTo>
                <a:lnTo>
                  <a:pt x="264054" y="197065"/>
                </a:lnTo>
                <a:lnTo>
                  <a:pt x="277548" y="185941"/>
                </a:lnTo>
                <a:lnTo>
                  <a:pt x="291571" y="174816"/>
                </a:lnTo>
                <a:lnTo>
                  <a:pt x="305594" y="164221"/>
                </a:lnTo>
                <a:lnTo>
                  <a:pt x="319881" y="153097"/>
                </a:lnTo>
                <a:lnTo>
                  <a:pt x="334433" y="142767"/>
                </a:lnTo>
                <a:lnTo>
                  <a:pt x="349515" y="132436"/>
                </a:lnTo>
                <a:lnTo>
                  <a:pt x="364331" y="122371"/>
                </a:lnTo>
                <a:lnTo>
                  <a:pt x="379677" y="112306"/>
                </a:lnTo>
                <a:lnTo>
                  <a:pt x="395288" y="102771"/>
                </a:lnTo>
                <a:lnTo>
                  <a:pt x="411163" y="93235"/>
                </a:lnTo>
                <a:lnTo>
                  <a:pt x="426773" y="84494"/>
                </a:lnTo>
                <a:lnTo>
                  <a:pt x="443177" y="75754"/>
                </a:lnTo>
                <a:lnTo>
                  <a:pt x="459581" y="67278"/>
                </a:lnTo>
                <a:lnTo>
                  <a:pt x="475986" y="59332"/>
                </a:lnTo>
                <a:lnTo>
                  <a:pt x="492654" y="51915"/>
                </a:lnTo>
                <a:lnTo>
                  <a:pt x="509852" y="44764"/>
                </a:lnTo>
                <a:lnTo>
                  <a:pt x="526786" y="38142"/>
                </a:lnTo>
                <a:lnTo>
                  <a:pt x="544248" y="32050"/>
                </a:lnTo>
                <a:lnTo>
                  <a:pt x="561711" y="26222"/>
                </a:lnTo>
                <a:lnTo>
                  <a:pt x="579438" y="20925"/>
                </a:lnTo>
                <a:lnTo>
                  <a:pt x="596900" y="16157"/>
                </a:lnTo>
                <a:lnTo>
                  <a:pt x="614892" y="12184"/>
                </a:lnTo>
                <a:lnTo>
                  <a:pt x="633413" y="8476"/>
                </a:lnTo>
                <a:lnTo>
                  <a:pt x="651404" y="5562"/>
                </a:lnTo>
                <a:lnTo>
                  <a:pt x="669661" y="3179"/>
                </a:lnTo>
                <a:lnTo>
                  <a:pt x="688181" y="1589"/>
                </a:lnTo>
                <a:lnTo>
                  <a:pt x="706702" y="530"/>
                </a:lnTo>
                <a:lnTo>
                  <a:pt x="725752"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39" name="右箭头 20"/>
          <p:cNvSpPr/>
          <p:nvPr/>
        </p:nvSpPr>
        <p:spPr>
          <a:xfrm rot="5400000">
            <a:off x="9907347" y="256791"/>
            <a:ext cx="739178" cy="3225164"/>
          </a:xfrm>
          <a:prstGeom prst="round2SameRect">
            <a:avLst>
              <a:gd name="adj1" fmla="val 47903"/>
              <a:gd name="adj2" fmla="val 0"/>
            </a:avLst>
          </a:prstGeom>
          <a:solidFill>
            <a:srgbClr val="28CF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40" name="TextBox 6"/>
          <p:cNvSpPr txBox="1"/>
          <p:nvPr/>
        </p:nvSpPr>
        <p:spPr>
          <a:xfrm>
            <a:off x="9232275" y="1643669"/>
            <a:ext cx="2524061" cy="461665"/>
          </a:xfrm>
          <a:prstGeom prst="rect">
            <a:avLst/>
          </a:prstGeom>
          <a:noFill/>
        </p:spPr>
        <p:txBody>
          <a:bodyPr wrap="square" rtlCol="0">
            <a:spAutoFit/>
          </a:bodyPr>
          <a:lstStyle/>
          <a:p>
            <a:pPr lvl="0">
              <a:defRPr/>
            </a:pPr>
            <a:r>
              <a:rPr lang="zh-CN" altLang="en-US" sz="2400" b="1" dirty="0">
                <a:solidFill>
                  <a:schemeClr val="bg1"/>
                </a:solidFill>
                <a:latin typeface="微软雅黑" panose="020B0503020204020204" pitchFamily="34" charset="-122"/>
                <a:ea typeface="微软雅黑" panose="020B0503020204020204" pitchFamily="34" charset="-122"/>
                <a:cs typeface="+mn-ea"/>
                <a:sym typeface="+mn-lt"/>
              </a:rPr>
              <a:t>如何测量磁场？</a:t>
            </a: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41" name="直接连接符 40"/>
          <p:cNvCxnSpPr/>
          <p:nvPr/>
        </p:nvCxnSpPr>
        <p:spPr>
          <a:xfrm>
            <a:off x="8767898" y="2351117"/>
            <a:ext cx="0" cy="2983852"/>
          </a:xfrm>
          <a:prstGeom prst="line">
            <a:avLst/>
          </a:prstGeom>
          <a:ln w="12700">
            <a:solidFill>
              <a:srgbClr val="116AFE"/>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2" name="椭圆 41"/>
          <p:cNvSpPr/>
          <p:nvPr/>
        </p:nvSpPr>
        <p:spPr>
          <a:xfrm>
            <a:off x="8286150" y="1387624"/>
            <a:ext cx="963498" cy="963494"/>
          </a:xfrm>
          <a:prstGeom prst="ellipse">
            <a:avLst/>
          </a:prstGeom>
          <a:solidFill>
            <a:srgbClr val="28CF8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3</a:t>
            </a:r>
            <a:endParaRPr kumimoji="0" lang="zh-CN" altLang="en-US"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43" name="TextBox 5"/>
          <p:cNvSpPr txBox="1"/>
          <p:nvPr/>
        </p:nvSpPr>
        <p:spPr>
          <a:xfrm>
            <a:off x="4953647" y="2699030"/>
            <a:ext cx="3141193" cy="2617640"/>
          </a:xfrm>
          <a:prstGeom prst="rect">
            <a:avLst/>
          </a:prstGeom>
          <a:noFill/>
        </p:spPr>
        <p:txBody>
          <a:bodyPr wrap="square" lIns="0" tIns="0" rIns="0" bIns="0" rtlCol="0">
            <a:spAutoFit/>
          </a:bodyPr>
          <a:lstStyle/>
          <a:p>
            <a:pPr>
              <a:lnSpc>
                <a:spcPct val="12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仿真任务</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nSpc>
                <a:spcPct val="120000"/>
              </a:lnSpc>
            </a:pP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nSpc>
                <a:spcPct val="120000"/>
              </a:lnSpc>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ANSYS Eddy Current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（涡流场）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建立螺线管模型，求</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，首先上</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4" name="TextBox 5"/>
          <p:cNvSpPr txBox="1"/>
          <p:nvPr/>
        </p:nvSpPr>
        <p:spPr>
          <a:xfrm>
            <a:off x="8979321" y="2699030"/>
            <a:ext cx="2910189" cy="2174441"/>
          </a:xfrm>
          <a:prstGeom prst="rect">
            <a:avLst/>
          </a:prstGeom>
          <a:noFill/>
        </p:spPr>
        <p:txBody>
          <a:bodyPr wrap="square" lIns="0" tIns="0" rIns="0" bIns="0" rtlCol="0">
            <a:spAutoFit/>
          </a:bodyPr>
          <a:lstStyle/>
          <a:p>
            <a:pPr>
              <a:lnSpc>
                <a:spcPct val="120000"/>
              </a:lnSpc>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编程任务</a:t>
            </a:r>
            <a:endParaRPr lang="en-US" altLang="zh-CN"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nSpc>
                <a:spcPct val="120000"/>
              </a:lnSpc>
            </a:pP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a:p>
            <a:pPr>
              <a:lnSpc>
                <a:spcPct val="120000"/>
              </a:lnSpc>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ANSYS Transient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（暂态场）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求感应电压</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487680" y="105459"/>
            <a:ext cx="5513070" cy="646331"/>
          </a:xfrm>
          <a:prstGeom prst="rect">
            <a:avLst/>
          </a:prstGeom>
          <a:noFill/>
        </p:spPr>
        <p:txBody>
          <a:bodyPr wrap="square" rtlCol="0">
            <a:spAutoFit/>
          </a:bodyPr>
          <a:lstStyle/>
          <a:p>
            <a:r>
              <a:rPr lang="zh-CN" altLang="en-US" sz="3600" b="1" dirty="0"/>
              <a:t>二</a:t>
            </a:r>
            <a:r>
              <a:rPr lang="en-US" altLang="zh-CN" sz="3600" b="1" dirty="0"/>
              <a:t>.</a:t>
            </a:r>
            <a:r>
              <a:rPr lang="zh-CN" altLang="en-US" sz="3600" b="1" dirty="0"/>
              <a:t> 实验背景</a:t>
            </a:r>
            <a:endParaRPr lang="zh-CN" altLang="en-US" sz="3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500"/>
                                        <p:tgtEl>
                                          <p:spTgt spid="2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wipe(up)">
                                      <p:cBhvr>
                                        <p:cTn id="20" dur="5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36"/>
                                        </p:tgtEl>
                                        <p:attrNameLst>
                                          <p:attrName>style.visibility</p:attrName>
                                        </p:attrNameLst>
                                      </p:cBhvr>
                                      <p:to>
                                        <p:strVal val="visible"/>
                                      </p:to>
                                    </p:set>
                                    <p:anim calcmode="lin" valueType="num">
                                      <p:cBhvr>
                                        <p:cTn id="26" dur="500" fill="hold"/>
                                        <p:tgtEl>
                                          <p:spTgt spid="36"/>
                                        </p:tgtEl>
                                        <p:attrNameLst>
                                          <p:attrName>ppt_w</p:attrName>
                                        </p:attrNameLst>
                                      </p:cBhvr>
                                      <p:tavLst>
                                        <p:tav tm="0">
                                          <p:val>
                                            <p:fltVal val="0"/>
                                          </p:val>
                                        </p:tav>
                                        <p:tav tm="100000">
                                          <p:val>
                                            <p:strVal val="#ppt_w"/>
                                          </p:val>
                                        </p:tav>
                                      </p:tavLst>
                                    </p:anim>
                                    <p:anim calcmode="lin" valueType="num">
                                      <p:cBhvr>
                                        <p:cTn id="27" dur="500" fill="hold"/>
                                        <p:tgtEl>
                                          <p:spTgt spid="36"/>
                                        </p:tgtEl>
                                        <p:attrNameLst>
                                          <p:attrName>ppt_h</p:attrName>
                                        </p:attrNameLst>
                                      </p:cBhvr>
                                      <p:tavLst>
                                        <p:tav tm="0">
                                          <p:val>
                                            <p:fltVal val="0"/>
                                          </p:val>
                                        </p:tav>
                                        <p:tav tm="100000">
                                          <p:val>
                                            <p:strVal val="#ppt_h"/>
                                          </p:val>
                                        </p:tav>
                                      </p:tavLst>
                                    </p:anim>
                                    <p:animEffect transition="in" filter="fade">
                                      <p:cBhvr>
                                        <p:cTn id="28" dur="500"/>
                                        <p:tgtEl>
                                          <p:spTgt spid="36"/>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left)">
                                      <p:cBhvr>
                                        <p:cTn id="32" dur="500"/>
                                        <p:tgtEl>
                                          <p:spTgt spid="3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wipe(left)">
                                      <p:cBhvr>
                                        <p:cTn id="35" dur="500"/>
                                        <p:tgtEl>
                                          <p:spTgt spid="34"/>
                                        </p:tgtEl>
                                      </p:cBhvr>
                                    </p:animEffect>
                                  </p:childTnLst>
                                </p:cTn>
                              </p:par>
                            </p:childTnLst>
                          </p:cTn>
                        </p:par>
                        <p:par>
                          <p:cTn id="36" fill="hold">
                            <p:stCondLst>
                              <p:cond delay="2000"/>
                            </p:stCondLst>
                            <p:childTnLst>
                              <p:par>
                                <p:cTn id="37" presetID="22" presetClass="entr" presetSubtype="1"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wipe(up)">
                                      <p:cBhvr>
                                        <p:cTn id="39" dur="500"/>
                                        <p:tgtEl>
                                          <p:spTgt spid="35"/>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 calcmode="lin" valueType="num">
                                      <p:cBhvr>
                                        <p:cTn id="42" dur="500" fill="hold"/>
                                        <p:tgtEl>
                                          <p:spTgt spid="38"/>
                                        </p:tgtEl>
                                        <p:attrNameLst>
                                          <p:attrName>ppt_w</p:attrName>
                                        </p:attrNameLst>
                                      </p:cBhvr>
                                      <p:tavLst>
                                        <p:tav tm="0">
                                          <p:val>
                                            <p:fltVal val="0"/>
                                          </p:val>
                                        </p:tav>
                                        <p:tav tm="100000">
                                          <p:val>
                                            <p:strVal val="#ppt_w"/>
                                          </p:val>
                                        </p:tav>
                                      </p:tavLst>
                                    </p:anim>
                                    <p:anim calcmode="lin" valueType="num">
                                      <p:cBhvr>
                                        <p:cTn id="43" dur="500" fill="hold"/>
                                        <p:tgtEl>
                                          <p:spTgt spid="38"/>
                                        </p:tgtEl>
                                        <p:attrNameLst>
                                          <p:attrName>ppt_h</p:attrName>
                                        </p:attrNameLst>
                                      </p:cBhvr>
                                      <p:tavLst>
                                        <p:tav tm="0">
                                          <p:val>
                                            <p:fltVal val="0"/>
                                          </p:val>
                                        </p:tav>
                                        <p:tav tm="100000">
                                          <p:val>
                                            <p:strVal val="#ppt_h"/>
                                          </p:val>
                                        </p:tav>
                                      </p:tavLst>
                                    </p:anim>
                                    <p:animEffect transition="in" filter="fade">
                                      <p:cBhvr>
                                        <p:cTn id="44" dur="500"/>
                                        <p:tgtEl>
                                          <p:spTgt spid="3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par>
                          <p:cTn id="48" fill="hold">
                            <p:stCondLst>
                              <p:cond delay="2500"/>
                            </p:stCondLst>
                            <p:childTnLst>
                              <p:par>
                                <p:cTn id="49" presetID="53" presetClass="entr" presetSubtype="16" fill="hold" grpId="0" nodeType="afterEffect">
                                  <p:stCondLst>
                                    <p:cond delay="0"/>
                                  </p:stCondLst>
                                  <p:childTnLst>
                                    <p:set>
                                      <p:cBhvr>
                                        <p:cTn id="50" dur="1" fill="hold">
                                          <p:stCondLst>
                                            <p:cond delay="0"/>
                                          </p:stCondLst>
                                        </p:cTn>
                                        <p:tgtEl>
                                          <p:spTgt spid="42"/>
                                        </p:tgtEl>
                                        <p:attrNameLst>
                                          <p:attrName>style.visibility</p:attrName>
                                        </p:attrNameLst>
                                      </p:cBhvr>
                                      <p:to>
                                        <p:strVal val="visible"/>
                                      </p:to>
                                    </p:set>
                                    <p:anim calcmode="lin" valueType="num">
                                      <p:cBhvr>
                                        <p:cTn id="51" dur="500" fill="hold"/>
                                        <p:tgtEl>
                                          <p:spTgt spid="42"/>
                                        </p:tgtEl>
                                        <p:attrNameLst>
                                          <p:attrName>ppt_w</p:attrName>
                                        </p:attrNameLst>
                                      </p:cBhvr>
                                      <p:tavLst>
                                        <p:tav tm="0">
                                          <p:val>
                                            <p:fltVal val="0"/>
                                          </p:val>
                                        </p:tav>
                                        <p:tav tm="100000">
                                          <p:val>
                                            <p:strVal val="#ppt_w"/>
                                          </p:val>
                                        </p:tav>
                                      </p:tavLst>
                                    </p:anim>
                                    <p:anim calcmode="lin" valueType="num">
                                      <p:cBhvr>
                                        <p:cTn id="52" dur="500" fill="hold"/>
                                        <p:tgtEl>
                                          <p:spTgt spid="42"/>
                                        </p:tgtEl>
                                        <p:attrNameLst>
                                          <p:attrName>ppt_h</p:attrName>
                                        </p:attrNameLst>
                                      </p:cBhvr>
                                      <p:tavLst>
                                        <p:tav tm="0">
                                          <p:val>
                                            <p:fltVal val="0"/>
                                          </p:val>
                                        </p:tav>
                                        <p:tav tm="100000">
                                          <p:val>
                                            <p:strVal val="#ppt_h"/>
                                          </p:val>
                                        </p:tav>
                                      </p:tavLst>
                                    </p:anim>
                                    <p:animEffect transition="in" filter="fade">
                                      <p:cBhvr>
                                        <p:cTn id="53" dur="500"/>
                                        <p:tgtEl>
                                          <p:spTgt spid="42"/>
                                        </p:tgtEl>
                                      </p:cBhvr>
                                    </p:animEffect>
                                  </p:childTnLst>
                                </p:cTn>
                              </p:par>
                            </p:childTnLst>
                          </p:cTn>
                        </p:par>
                        <p:par>
                          <p:cTn id="54" fill="hold">
                            <p:stCondLst>
                              <p:cond delay="3000"/>
                            </p:stCondLst>
                            <p:childTnLst>
                              <p:par>
                                <p:cTn id="55" presetID="22" presetClass="entr" presetSubtype="8" fill="hold" grpId="0" nodeType="after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left)">
                                      <p:cBhvr>
                                        <p:cTn id="57" dur="500"/>
                                        <p:tgtEl>
                                          <p:spTgt spid="39"/>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wipe(left)">
                                      <p:cBhvr>
                                        <p:cTn id="60" dur="500"/>
                                        <p:tgtEl>
                                          <p:spTgt spid="40"/>
                                        </p:tgtEl>
                                      </p:cBhvr>
                                    </p:animEffect>
                                  </p:childTnLst>
                                </p:cTn>
                              </p:par>
                            </p:childTnLst>
                          </p:cTn>
                        </p:par>
                        <p:par>
                          <p:cTn id="61" fill="hold">
                            <p:stCondLst>
                              <p:cond delay="3500"/>
                            </p:stCondLst>
                            <p:childTnLst>
                              <p:par>
                                <p:cTn id="62" presetID="22" presetClass="entr" presetSubtype="1" fill="hold" nodeType="after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wipe(up)">
                                      <p:cBhvr>
                                        <p:cTn id="64" dur="500"/>
                                        <p:tgtEl>
                                          <p:spTgt spid="4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5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8" grpId="0"/>
      <p:bldP spid="29" grpId="0"/>
      <p:bldP spid="31" grpId="0" bldLvl="0" animBg="1"/>
      <p:bldP spid="32" grpId="0" bldLvl="0" animBg="1"/>
      <p:bldP spid="34" grpId="0"/>
      <p:bldP spid="36" grpId="0" bldLvl="0" animBg="1"/>
      <p:bldP spid="37" grpId="0"/>
      <p:bldP spid="38" grpId="0" bldLvl="0" animBg="1"/>
      <p:bldP spid="39" grpId="0" bldLvl="0" animBg="1"/>
      <p:bldP spid="40" grpId="0"/>
      <p:bldP spid="42" grpId="0" bldLvl="0" animBg="1"/>
      <p:bldP spid="43" grpId="0"/>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3" name="文本框 2"/>
          <p:cNvSpPr txBox="1"/>
          <p:nvPr/>
        </p:nvSpPr>
        <p:spPr>
          <a:xfrm>
            <a:off x="695325" y="1492020"/>
            <a:ext cx="11109579" cy="4818499"/>
          </a:xfrm>
          <a:prstGeom prst="rect">
            <a:avLst/>
          </a:prstGeom>
          <a:noFill/>
        </p:spPr>
        <p:txBody>
          <a:bodyPr wrap="square">
            <a:spAutoFit/>
          </a:bodyPr>
          <a:lstStyle/>
          <a:p>
            <a:pPr algn="l">
              <a:lnSpc>
                <a:spcPct val="120000"/>
              </a:lnSpc>
              <a:buNone/>
            </a:pPr>
            <a:r>
              <a:rPr lang="zh-CN" altLang="en-US" sz="2000" b="1" i="0" dirty="0">
                <a:solidFill>
                  <a:srgbClr val="404040"/>
                </a:solidFill>
                <a:effectLst/>
                <a:latin typeface="Inter"/>
              </a:rPr>
              <a:t> </a:t>
            </a:r>
            <a:r>
              <a:rPr lang="en-US" altLang="zh-CN" sz="2000" b="1" i="0" dirty="0">
                <a:solidFill>
                  <a:srgbClr val="404040"/>
                </a:solidFill>
                <a:effectLst/>
                <a:latin typeface="Inter"/>
              </a:rPr>
              <a:t>Harold Alden Wheeler</a:t>
            </a:r>
            <a:r>
              <a:rPr lang="zh-CN" altLang="en-US" sz="2000" b="1" i="0" dirty="0">
                <a:solidFill>
                  <a:srgbClr val="404040"/>
                </a:solidFill>
                <a:effectLst/>
                <a:latin typeface="Inter"/>
              </a:rPr>
              <a:t>（哈罗德</a:t>
            </a:r>
            <a:r>
              <a:rPr lang="en-US" altLang="zh-CN" sz="2000" b="1" i="0" dirty="0">
                <a:solidFill>
                  <a:srgbClr val="404040"/>
                </a:solidFill>
                <a:effectLst/>
                <a:latin typeface="Inter"/>
              </a:rPr>
              <a:t>·</a:t>
            </a:r>
            <a:r>
              <a:rPr lang="zh-CN" altLang="en-US" sz="2000" b="1" i="0" dirty="0">
                <a:solidFill>
                  <a:srgbClr val="404040"/>
                </a:solidFill>
                <a:effectLst/>
                <a:latin typeface="Inter"/>
              </a:rPr>
              <a:t>奥尔登</a:t>
            </a:r>
            <a:r>
              <a:rPr lang="en-US" altLang="zh-CN" sz="2000" b="1" i="0" dirty="0">
                <a:solidFill>
                  <a:srgbClr val="404040"/>
                </a:solidFill>
                <a:effectLst/>
                <a:latin typeface="Inter"/>
              </a:rPr>
              <a:t>·</a:t>
            </a:r>
            <a:r>
              <a:rPr lang="zh-CN" altLang="en-US" sz="2000" b="1" i="0" dirty="0">
                <a:solidFill>
                  <a:srgbClr val="404040"/>
                </a:solidFill>
                <a:effectLst/>
                <a:latin typeface="Inter"/>
              </a:rPr>
              <a:t>惠勒） </a:t>
            </a:r>
            <a:r>
              <a:rPr lang="en-US" altLang="zh-CN" sz="2000" b="0" i="0" dirty="0">
                <a:solidFill>
                  <a:srgbClr val="404040"/>
                </a:solidFill>
                <a:effectLst/>
                <a:latin typeface="Inter"/>
              </a:rPr>
              <a:t>1903</a:t>
            </a:r>
            <a:r>
              <a:rPr lang="en-US" altLang="zh-CN" sz="2000" dirty="0">
                <a:solidFill>
                  <a:srgbClr val="404040"/>
                </a:solidFill>
                <a:latin typeface="Inter"/>
              </a:rPr>
              <a:t>.</a:t>
            </a:r>
            <a:r>
              <a:rPr lang="en-US" altLang="zh-CN" sz="2000" b="0" i="0" dirty="0">
                <a:solidFill>
                  <a:srgbClr val="404040"/>
                </a:solidFill>
                <a:effectLst/>
                <a:latin typeface="Inter"/>
              </a:rPr>
              <a:t>5.10</a:t>
            </a:r>
            <a:r>
              <a:rPr lang="zh-CN" altLang="en-US" sz="2000" b="0" i="0" dirty="0">
                <a:solidFill>
                  <a:srgbClr val="404040"/>
                </a:solidFill>
                <a:effectLst/>
                <a:latin typeface="Inter"/>
              </a:rPr>
              <a:t> </a:t>
            </a:r>
            <a:r>
              <a:rPr lang="en-US" altLang="zh-CN" sz="2000" b="0" i="0" dirty="0">
                <a:solidFill>
                  <a:srgbClr val="404040"/>
                </a:solidFill>
                <a:effectLst/>
                <a:latin typeface="Inter"/>
              </a:rPr>
              <a:t>– 1996.4.25</a:t>
            </a:r>
            <a:endParaRPr lang="en-US" altLang="zh-CN" sz="2000" b="0" i="0" dirty="0">
              <a:solidFill>
                <a:srgbClr val="404040"/>
              </a:solidFill>
              <a:effectLst/>
              <a:latin typeface="Inter"/>
            </a:endParaRPr>
          </a:p>
          <a:p>
            <a:pPr algn="l">
              <a:lnSpc>
                <a:spcPct val="120000"/>
              </a:lnSpc>
              <a:buNone/>
            </a:pPr>
            <a:r>
              <a:rPr lang="en-US" altLang="zh-CN" sz="1600" b="1" dirty="0">
                <a:solidFill>
                  <a:srgbClr val="404040"/>
                </a:solidFill>
                <a:latin typeface="Inter"/>
              </a:rPr>
              <a:t> </a:t>
            </a:r>
            <a:r>
              <a:rPr lang="zh-CN" altLang="en-US" sz="1600" b="1" dirty="0">
                <a:solidFill>
                  <a:srgbClr val="404040"/>
                </a:solidFill>
                <a:latin typeface="Inter"/>
              </a:rPr>
              <a:t>研究</a:t>
            </a:r>
            <a:r>
              <a:rPr lang="zh-CN" altLang="en-US" sz="1600" b="1" i="0" dirty="0">
                <a:solidFill>
                  <a:srgbClr val="404040"/>
                </a:solidFill>
                <a:effectLst/>
                <a:latin typeface="Inter"/>
              </a:rPr>
              <a:t>领域</a:t>
            </a:r>
            <a:r>
              <a:rPr lang="zh-CN" altLang="en-US" sz="1600" b="0" i="0" dirty="0">
                <a:solidFill>
                  <a:srgbClr val="404040"/>
                </a:solidFill>
                <a:effectLst/>
                <a:latin typeface="Inter"/>
              </a:rPr>
              <a:t>：电子工程、无线电技术、电路理论</a:t>
            </a:r>
            <a:endParaRPr lang="zh-CN" altLang="en-US" sz="1600" b="0" i="0" dirty="0">
              <a:solidFill>
                <a:srgbClr val="404040"/>
              </a:solidFill>
              <a:effectLst/>
              <a:latin typeface="Inter"/>
            </a:endParaRPr>
          </a:p>
          <a:p>
            <a:pPr algn="l">
              <a:lnSpc>
                <a:spcPct val="120000"/>
              </a:lnSpc>
              <a:spcBef>
                <a:spcPts val="300"/>
              </a:spcBef>
              <a:spcAft>
                <a:spcPts val="300"/>
              </a:spcAft>
            </a:pPr>
            <a:r>
              <a:rPr lang="zh-CN" altLang="en-US" sz="1600" b="1" i="0" dirty="0">
                <a:solidFill>
                  <a:srgbClr val="404040"/>
                </a:solidFill>
                <a:effectLst/>
                <a:latin typeface="Inter"/>
              </a:rPr>
              <a:t> 主要成就</a:t>
            </a:r>
            <a:r>
              <a:rPr lang="zh-CN" altLang="en-US" sz="1600" dirty="0">
                <a:solidFill>
                  <a:srgbClr val="404040"/>
                </a:solidFill>
                <a:latin typeface="Inter"/>
                <a:sym typeface="Wingdings" panose="05000000000000000000" pitchFamily="2" charset="2"/>
              </a:rPr>
              <a:t>：（</a:t>
            </a:r>
            <a:r>
              <a:rPr lang="en-US" altLang="zh-CN" sz="1600" dirty="0">
                <a:solidFill>
                  <a:srgbClr val="404040"/>
                </a:solidFill>
                <a:latin typeface="Inter"/>
                <a:sym typeface="Wingdings" panose="05000000000000000000" pitchFamily="2" charset="2"/>
              </a:rPr>
              <a:t>1</a:t>
            </a:r>
            <a:r>
              <a:rPr lang="zh-CN" altLang="en-US" sz="1600" dirty="0">
                <a:solidFill>
                  <a:srgbClr val="404040"/>
                </a:solidFill>
                <a:latin typeface="Inter"/>
                <a:sym typeface="Wingdings" panose="05000000000000000000" pitchFamily="2" charset="2"/>
              </a:rPr>
              <a:t>）</a:t>
            </a:r>
            <a:r>
              <a:rPr lang="zh-CN" altLang="en-US" sz="1600" b="0" i="0" dirty="0">
                <a:solidFill>
                  <a:srgbClr val="404040"/>
                </a:solidFill>
                <a:effectLst/>
                <a:latin typeface="Inter"/>
              </a:rPr>
              <a:t>现代射频电路和微波技术的奠基人之一。</a:t>
            </a:r>
            <a:endParaRPr lang="zh-CN" altLang="en-US" sz="1600" b="0" i="0" dirty="0">
              <a:solidFill>
                <a:srgbClr val="404040"/>
              </a:solidFill>
              <a:effectLst/>
              <a:latin typeface="Inter"/>
            </a:endParaRPr>
          </a:p>
          <a:p>
            <a:pPr lvl="1" algn="l">
              <a:lnSpc>
                <a:spcPct val="120000"/>
              </a:lnSpc>
              <a:spcBef>
                <a:spcPts val="300"/>
              </a:spcBef>
            </a:pPr>
            <a:r>
              <a:rPr lang="zh-CN" altLang="en-US" sz="1600" b="0" i="0" dirty="0">
                <a:solidFill>
                  <a:srgbClr val="404040"/>
                </a:solidFill>
                <a:effectLst/>
                <a:latin typeface="Inter"/>
              </a:rPr>
              <a:t>             （</a:t>
            </a:r>
            <a:r>
              <a:rPr lang="en-US" altLang="zh-CN" sz="1600" b="0" i="0" dirty="0">
                <a:solidFill>
                  <a:srgbClr val="404040"/>
                </a:solidFill>
                <a:effectLst/>
                <a:latin typeface="Inter"/>
              </a:rPr>
              <a:t>2</a:t>
            </a:r>
            <a:r>
              <a:rPr lang="zh-CN" altLang="en-US" sz="1600" b="0" i="0" dirty="0">
                <a:solidFill>
                  <a:srgbClr val="404040"/>
                </a:solidFill>
                <a:effectLst/>
                <a:latin typeface="Inter"/>
              </a:rPr>
              <a:t>）提出多项经典公式和理论，包括</a:t>
            </a:r>
            <a:r>
              <a:rPr lang="zh-CN" altLang="en-US" sz="1600" b="1" i="0" dirty="0">
                <a:solidFill>
                  <a:srgbClr val="0000CC"/>
                </a:solidFill>
                <a:effectLst/>
                <a:latin typeface="Inter"/>
              </a:rPr>
              <a:t>电感设计（</a:t>
            </a:r>
            <a:r>
              <a:rPr lang="en-US" altLang="zh-CN" sz="1600" b="1" i="0" dirty="0">
                <a:solidFill>
                  <a:srgbClr val="0000CC"/>
                </a:solidFill>
                <a:effectLst/>
                <a:latin typeface="Inter"/>
              </a:rPr>
              <a:t>Wheeler</a:t>
            </a:r>
            <a:r>
              <a:rPr lang="zh-CN" altLang="en-US" sz="1600" b="1" i="0" dirty="0">
                <a:solidFill>
                  <a:srgbClr val="0000CC"/>
                </a:solidFill>
                <a:effectLst/>
                <a:latin typeface="Inter"/>
              </a:rPr>
              <a:t>公式）</a:t>
            </a:r>
            <a:r>
              <a:rPr lang="zh-CN" altLang="en-US" sz="1600" b="0" i="0" dirty="0">
                <a:solidFill>
                  <a:srgbClr val="404040"/>
                </a:solidFill>
                <a:effectLst/>
                <a:latin typeface="Inter"/>
              </a:rPr>
              <a:t>、传输线模型、天线小型化理论等。</a:t>
            </a:r>
            <a:endParaRPr lang="zh-CN" altLang="en-US" sz="1600" b="0" i="0" dirty="0">
              <a:solidFill>
                <a:srgbClr val="404040"/>
              </a:solidFill>
              <a:effectLst/>
              <a:latin typeface="Inter"/>
            </a:endParaRPr>
          </a:p>
          <a:p>
            <a:pPr lvl="1" algn="l">
              <a:lnSpc>
                <a:spcPct val="120000"/>
              </a:lnSpc>
              <a:spcBef>
                <a:spcPts val="300"/>
              </a:spcBef>
            </a:pPr>
            <a:r>
              <a:rPr lang="zh-CN" altLang="en-US" sz="1600" b="0" i="0" dirty="0">
                <a:solidFill>
                  <a:srgbClr val="404040"/>
                </a:solidFill>
                <a:effectLst/>
                <a:latin typeface="Inter"/>
              </a:rPr>
              <a:t>             （</a:t>
            </a:r>
            <a:r>
              <a:rPr lang="en-US" altLang="zh-CN" sz="1600" b="0" i="0" dirty="0">
                <a:solidFill>
                  <a:srgbClr val="404040"/>
                </a:solidFill>
                <a:effectLst/>
                <a:latin typeface="Inter"/>
              </a:rPr>
              <a:t>3</a:t>
            </a:r>
            <a:r>
              <a:rPr lang="zh-CN" altLang="en-US" sz="1600" b="0" i="0" dirty="0">
                <a:solidFill>
                  <a:srgbClr val="404040"/>
                </a:solidFill>
                <a:effectLst/>
                <a:latin typeface="Inter"/>
              </a:rPr>
              <a:t>）曾获得</a:t>
            </a:r>
            <a:r>
              <a:rPr lang="en-US" altLang="zh-CN" sz="1600" b="0" i="0" dirty="0">
                <a:solidFill>
                  <a:srgbClr val="404040"/>
                </a:solidFill>
                <a:effectLst/>
                <a:latin typeface="Inter"/>
              </a:rPr>
              <a:t>IEEE</a:t>
            </a:r>
            <a:r>
              <a:rPr lang="zh-CN" altLang="en-US" sz="1600" b="0" i="0" dirty="0">
                <a:solidFill>
                  <a:srgbClr val="404040"/>
                </a:solidFill>
                <a:effectLst/>
                <a:latin typeface="Inter"/>
              </a:rPr>
              <a:t>荣誉奖章（</a:t>
            </a:r>
            <a:r>
              <a:rPr lang="en-US" altLang="zh-CN" sz="1600" b="0" i="0" dirty="0">
                <a:solidFill>
                  <a:srgbClr val="404040"/>
                </a:solidFill>
                <a:effectLst/>
                <a:latin typeface="Inter"/>
              </a:rPr>
              <a:t>1984</a:t>
            </a:r>
            <a:r>
              <a:rPr lang="zh-CN" altLang="en-US" sz="1600" b="0" i="0" dirty="0">
                <a:solidFill>
                  <a:srgbClr val="404040"/>
                </a:solidFill>
                <a:effectLst/>
                <a:latin typeface="Inter"/>
              </a:rPr>
              <a:t>年）等多项顶级学术荣誉。</a:t>
            </a:r>
            <a:endParaRPr lang="en-US" altLang="zh-CN" sz="1600" b="0" i="0" dirty="0">
              <a:solidFill>
                <a:srgbClr val="404040"/>
              </a:solidFill>
              <a:effectLst/>
              <a:latin typeface="Inter"/>
            </a:endParaRPr>
          </a:p>
          <a:p>
            <a:pPr algn="l">
              <a:lnSpc>
                <a:spcPct val="120000"/>
              </a:lnSpc>
            </a:pPr>
            <a:endParaRPr lang="en-US" altLang="zh-CN" sz="1600" b="1" i="0" dirty="0">
              <a:solidFill>
                <a:srgbClr val="404040"/>
              </a:solidFill>
              <a:effectLst/>
              <a:latin typeface="Inter"/>
            </a:endParaRPr>
          </a:p>
          <a:p>
            <a:pPr algn="l">
              <a:lnSpc>
                <a:spcPct val="120000"/>
              </a:lnSpc>
            </a:pPr>
            <a:r>
              <a:rPr lang="en-US" altLang="zh-CN" sz="2000" b="1" dirty="0">
                <a:solidFill>
                  <a:srgbClr val="404040"/>
                </a:solidFill>
                <a:latin typeface="Inter"/>
              </a:rPr>
              <a:t>Wheeler</a:t>
            </a:r>
            <a:r>
              <a:rPr lang="zh-CN" altLang="en-US" sz="2000" b="1" dirty="0">
                <a:solidFill>
                  <a:srgbClr val="404040"/>
                </a:solidFill>
                <a:latin typeface="Inter"/>
              </a:rPr>
              <a:t>电感公式</a:t>
            </a:r>
            <a:endParaRPr lang="zh-CN" altLang="en-US" sz="2000" b="1" dirty="0">
              <a:solidFill>
                <a:srgbClr val="404040"/>
              </a:solidFill>
              <a:latin typeface="Inter"/>
            </a:endParaRPr>
          </a:p>
          <a:p>
            <a:pPr algn="l">
              <a:lnSpc>
                <a:spcPct val="120000"/>
              </a:lnSpc>
              <a:spcBef>
                <a:spcPts val="300"/>
              </a:spcBef>
            </a:pPr>
            <a:r>
              <a:rPr lang="zh-CN" altLang="en-US" sz="1600" b="1" i="0" dirty="0">
                <a:solidFill>
                  <a:srgbClr val="404040"/>
                </a:solidFill>
                <a:effectLst/>
                <a:latin typeface="Inter"/>
              </a:rPr>
              <a:t>发表时间</a:t>
            </a:r>
            <a:r>
              <a:rPr lang="zh-CN" altLang="en-US" sz="1600" b="0" i="0" dirty="0">
                <a:solidFill>
                  <a:srgbClr val="404040"/>
                </a:solidFill>
                <a:effectLst/>
                <a:latin typeface="Inter"/>
              </a:rPr>
              <a:t>：</a:t>
            </a:r>
            <a:r>
              <a:rPr lang="en-US" altLang="zh-CN" sz="1600" b="0" i="0" dirty="0">
                <a:solidFill>
                  <a:srgbClr val="404040"/>
                </a:solidFill>
                <a:effectLst/>
                <a:latin typeface="Inter"/>
              </a:rPr>
              <a:t>1928</a:t>
            </a:r>
            <a:r>
              <a:rPr lang="zh-CN" altLang="en-US" sz="1600" b="0" i="0" dirty="0">
                <a:solidFill>
                  <a:srgbClr val="404040"/>
                </a:solidFill>
                <a:effectLst/>
                <a:latin typeface="Inter"/>
              </a:rPr>
              <a:t>年</a:t>
            </a:r>
            <a:endParaRPr lang="zh-CN" altLang="en-US" sz="1600" b="0" i="0" dirty="0">
              <a:solidFill>
                <a:srgbClr val="404040"/>
              </a:solidFill>
              <a:effectLst/>
              <a:latin typeface="Inter"/>
            </a:endParaRPr>
          </a:p>
          <a:p>
            <a:pPr algn="l">
              <a:lnSpc>
                <a:spcPct val="120000"/>
              </a:lnSpc>
              <a:spcBef>
                <a:spcPts val="300"/>
              </a:spcBef>
              <a:spcAft>
                <a:spcPts val="300"/>
              </a:spcAft>
            </a:pPr>
            <a:r>
              <a:rPr lang="zh-CN" altLang="en-US" sz="1600" b="1" i="0" dirty="0">
                <a:solidFill>
                  <a:srgbClr val="404040"/>
                </a:solidFill>
                <a:effectLst/>
                <a:latin typeface="Inter"/>
              </a:rPr>
              <a:t>发表文献</a:t>
            </a:r>
            <a:r>
              <a:rPr lang="zh-CN" altLang="en-US" sz="1600" b="0" i="0" dirty="0">
                <a:solidFill>
                  <a:srgbClr val="404040"/>
                </a:solidFill>
                <a:effectLst/>
                <a:latin typeface="Inter"/>
              </a:rPr>
              <a:t>：</a:t>
            </a:r>
            <a:r>
              <a:rPr lang="en-US" altLang="zh-CN" sz="1600" b="0" i="0" dirty="0">
                <a:solidFill>
                  <a:srgbClr val="404040"/>
                </a:solidFill>
                <a:effectLst/>
                <a:latin typeface="Inter"/>
              </a:rPr>
              <a:t>Wheeler</a:t>
            </a:r>
            <a:r>
              <a:rPr lang="zh-CN" altLang="en-US" sz="1600" b="0" i="0" dirty="0">
                <a:solidFill>
                  <a:srgbClr val="404040"/>
                </a:solidFill>
                <a:effectLst/>
                <a:latin typeface="Inter"/>
              </a:rPr>
              <a:t>在其论文 </a:t>
            </a:r>
            <a:r>
              <a:rPr lang="en-US" altLang="zh-CN" sz="1600" b="1" i="0" dirty="0">
                <a:solidFill>
                  <a:srgbClr val="404040"/>
                </a:solidFill>
                <a:effectLst/>
                <a:latin typeface="Inter"/>
              </a:rPr>
              <a:t>《Simple Inductance Formulas for Radio Coils》</a:t>
            </a:r>
            <a:r>
              <a:rPr lang="en-US" altLang="zh-CN" sz="1600" b="0" i="0" dirty="0">
                <a:solidFill>
                  <a:srgbClr val="404040"/>
                </a:solidFill>
                <a:effectLst/>
                <a:latin typeface="Inter"/>
              </a:rPr>
              <a:t> </a:t>
            </a:r>
            <a:r>
              <a:rPr lang="zh-CN" altLang="en-US" sz="1600" b="0" i="0" dirty="0">
                <a:solidFill>
                  <a:srgbClr val="404040"/>
                </a:solidFill>
                <a:effectLst/>
                <a:latin typeface="Inter"/>
              </a:rPr>
              <a:t>中首次提出了</a:t>
            </a:r>
            <a:r>
              <a:rPr lang="zh-CN" altLang="en-US" sz="1600" b="1" i="0" dirty="0">
                <a:solidFill>
                  <a:srgbClr val="0000CC"/>
                </a:solidFill>
                <a:effectLst/>
                <a:latin typeface="Inter"/>
              </a:rPr>
              <a:t>多层线圈电感的近似计算公式</a:t>
            </a:r>
            <a:r>
              <a:rPr lang="zh-CN" altLang="en-US" sz="1600" i="0" dirty="0">
                <a:solidFill>
                  <a:srgbClr val="404040"/>
                </a:solidFill>
                <a:effectLst/>
                <a:latin typeface="Inter"/>
              </a:rPr>
              <a:t>。</a:t>
            </a:r>
            <a:endParaRPr lang="en-US" altLang="zh-CN" sz="1600" dirty="0">
              <a:solidFill>
                <a:srgbClr val="404040"/>
              </a:solidFill>
              <a:latin typeface="Inter"/>
            </a:endParaRPr>
          </a:p>
          <a:p>
            <a:pPr>
              <a:lnSpc>
                <a:spcPct val="120000"/>
              </a:lnSpc>
            </a:pPr>
            <a:r>
              <a:rPr lang="zh-CN" altLang="en-US" sz="1600" b="1" dirty="0">
                <a:solidFill>
                  <a:srgbClr val="404040"/>
                </a:solidFill>
                <a:latin typeface="Inter"/>
              </a:rPr>
              <a:t>工程价值</a:t>
            </a:r>
            <a:r>
              <a:rPr lang="zh-CN" altLang="en-US" sz="1600" b="0" i="0" dirty="0">
                <a:solidFill>
                  <a:srgbClr val="404040"/>
                </a:solidFill>
                <a:effectLst/>
                <a:latin typeface="Inter"/>
              </a:rPr>
              <a:t>：</a:t>
            </a:r>
            <a:r>
              <a:rPr lang="zh-CN" altLang="en-US" sz="1600" dirty="0">
                <a:solidFill>
                  <a:srgbClr val="404040"/>
                </a:solidFill>
                <a:latin typeface="Inter"/>
              </a:rPr>
              <a:t>简化磁场分布，提出快速估算电感值的方法，修正了单层螺线管公式的局限性，提升了射频线圈设计的效率。</a:t>
            </a:r>
            <a:endParaRPr lang="zh-CN" altLang="en-US" sz="1600" dirty="0">
              <a:solidFill>
                <a:srgbClr val="404040"/>
              </a:solidFill>
              <a:latin typeface="Inter"/>
            </a:endParaRPr>
          </a:p>
          <a:p>
            <a:pPr algn="l">
              <a:lnSpc>
                <a:spcPct val="120000"/>
              </a:lnSpc>
              <a:spcBef>
                <a:spcPts val="300"/>
              </a:spcBef>
              <a:spcAft>
                <a:spcPts val="300"/>
              </a:spcAft>
            </a:pPr>
            <a:r>
              <a:rPr lang="zh-CN" altLang="en-US" sz="1600" b="1" dirty="0">
                <a:solidFill>
                  <a:srgbClr val="404040"/>
                </a:solidFill>
                <a:latin typeface="Inter"/>
              </a:rPr>
              <a:t>适用场景</a:t>
            </a:r>
            <a:r>
              <a:rPr lang="zh-CN" altLang="en-US" sz="1600" b="0" i="0" dirty="0">
                <a:solidFill>
                  <a:srgbClr val="404040"/>
                </a:solidFill>
                <a:effectLst/>
                <a:latin typeface="Inter"/>
              </a:rPr>
              <a:t>：</a:t>
            </a:r>
            <a:r>
              <a:rPr lang="zh-CN" altLang="en-US" sz="1600" dirty="0">
                <a:solidFill>
                  <a:srgbClr val="404040"/>
                </a:solidFill>
                <a:latin typeface="Inter"/>
                <a:sym typeface="Wingdings" panose="05000000000000000000" pitchFamily="2" charset="2"/>
              </a:rPr>
              <a:t>（</a:t>
            </a:r>
            <a:r>
              <a:rPr lang="en-US" altLang="zh-CN" sz="1600" dirty="0">
                <a:solidFill>
                  <a:srgbClr val="404040"/>
                </a:solidFill>
                <a:latin typeface="Inter"/>
                <a:sym typeface="Wingdings" panose="05000000000000000000" pitchFamily="2" charset="2"/>
              </a:rPr>
              <a:t>1</a:t>
            </a:r>
            <a:r>
              <a:rPr lang="zh-CN" altLang="en-US" sz="1600" dirty="0">
                <a:solidFill>
                  <a:srgbClr val="404040"/>
                </a:solidFill>
                <a:latin typeface="Inter"/>
                <a:sym typeface="Wingdings" panose="05000000000000000000" pitchFamily="2" charset="2"/>
              </a:rPr>
              <a:t>）</a:t>
            </a:r>
            <a:r>
              <a:rPr lang="zh-CN" altLang="en-US" sz="1600" dirty="0">
                <a:solidFill>
                  <a:srgbClr val="404040"/>
                </a:solidFill>
                <a:latin typeface="Inter"/>
              </a:rPr>
              <a:t>多层密绕空心线圈（如射频扼流圈、高频电感）。</a:t>
            </a:r>
            <a:endParaRPr lang="zh-CN" altLang="en-US" sz="1600" dirty="0">
              <a:solidFill>
                <a:srgbClr val="404040"/>
              </a:solidFill>
              <a:latin typeface="Inter"/>
            </a:endParaRPr>
          </a:p>
          <a:p>
            <a:pPr lvl="1" algn="l">
              <a:lnSpc>
                <a:spcPct val="120000"/>
              </a:lnSpc>
              <a:spcBef>
                <a:spcPts val="300"/>
              </a:spcBef>
            </a:pPr>
            <a:r>
              <a:rPr lang="zh-CN" altLang="en-US" sz="1600" dirty="0">
                <a:solidFill>
                  <a:srgbClr val="404040"/>
                </a:solidFill>
                <a:latin typeface="Inter"/>
              </a:rPr>
              <a:t>            （</a:t>
            </a:r>
            <a:r>
              <a:rPr lang="en-US" altLang="zh-CN" sz="1600" dirty="0">
                <a:solidFill>
                  <a:srgbClr val="404040"/>
                </a:solidFill>
                <a:latin typeface="Inter"/>
              </a:rPr>
              <a:t>2</a:t>
            </a:r>
            <a:r>
              <a:rPr lang="zh-CN" altLang="en-US" sz="1600" dirty="0">
                <a:solidFill>
                  <a:srgbClr val="404040"/>
                </a:solidFill>
                <a:latin typeface="Inter"/>
              </a:rPr>
              <a:t>）长径比（</a:t>
            </a:r>
            <a:r>
              <a:rPr lang="en-US" altLang="zh-CN" sz="1600" dirty="0">
                <a:solidFill>
                  <a:srgbClr val="404040"/>
                </a:solidFill>
                <a:latin typeface="Inter"/>
              </a:rPr>
              <a:t>l/D</a:t>
            </a:r>
            <a:r>
              <a:rPr lang="zh-CN" altLang="en-US" sz="1600" dirty="0">
                <a:solidFill>
                  <a:srgbClr val="404040"/>
                </a:solidFill>
                <a:latin typeface="Inter"/>
              </a:rPr>
              <a:t>）在 </a:t>
            </a:r>
            <a:r>
              <a:rPr lang="en-US" altLang="zh-CN" sz="1600" dirty="0">
                <a:solidFill>
                  <a:srgbClr val="404040"/>
                </a:solidFill>
                <a:latin typeface="Inter"/>
              </a:rPr>
              <a:t>0.2 </a:t>
            </a:r>
            <a:r>
              <a:rPr lang="zh-CN" altLang="en-US" sz="1600" dirty="0">
                <a:solidFill>
                  <a:srgbClr val="404040"/>
                </a:solidFill>
                <a:latin typeface="Inter"/>
              </a:rPr>
              <a:t>到 </a:t>
            </a:r>
            <a:r>
              <a:rPr lang="en-US" altLang="zh-CN" sz="1600" dirty="0">
                <a:solidFill>
                  <a:srgbClr val="404040"/>
                </a:solidFill>
                <a:latin typeface="Inter"/>
              </a:rPr>
              <a:t>2</a:t>
            </a:r>
            <a:r>
              <a:rPr lang="zh-CN" altLang="en-US" sz="1600" dirty="0">
                <a:solidFill>
                  <a:srgbClr val="404040"/>
                </a:solidFill>
                <a:latin typeface="Inter"/>
              </a:rPr>
              <a:t> 之间的线圈。</a:t>
            </a:r>
            <a:endParaRPr lang="zh-CN" altLang="en-US" sz="1600" dirty="0">
              <a:solidFill>
                <a:srgbClr val="404040"/>
              </a:solidFill>
              <a:latin typeface="Inter"/>
            </a:endParaRPr>
          </a:p>
          <a:p>
            <a:pPr>
              <a:lnSpc>
                <a:spcPct val="120000"/>
              </a:lnSpc>
              <a:spcBef>
                <a:spcPts val="300"/>
              </a:spcBef>
            </a:pPr>
            <a:r>
              <a:rPr lang="zh-CN" altLang="en-US" sz="1600" b="1" dirty="0">
                <a:solidFill>
                  <a:srgbClr val="404040"/>
                </a:solidFill>
                <a:latin typeface="Inter"/>
              </a:rPr>
              <a:t>后续发展：</a:t>
            </a:r>
            <a:r>
              <a:rPr lang="zh-CN" altLang="en-US" sz="1600" dirty="0">
                <a:solidFill>
                  <a:srgbClr val="404040"/>
                </a:solidFill>
                <a:latin typeface="Inter"/>
              </a:rPr>
              <a:t>启发衍生出针对不同线圈结构的修正模型，并被集成到电磁仿真软件中作为快速计算的基准。</a:t>
            </a:r>
            <a:endParaRPr lang="zh-CN" altLang="en-US" sz="1600" dirty="0">
              <a:solidFill>
                <a:srgbClr val="404040"/>
              </a:solidFill>
              <a:latin typeface="Inter"/>
            </a:endParaRPr>
          </a:p>
          <a:p>
            <a:pPr algn="l">
              <a:lnSpc>
                <a:spcPct val="120000"/>
              </a:lnSpc>
              <a:spcBef>
                <a:spcPts val="300"/>
              </a:spcBef>
              <a:spcAft>
                <a:spcPts val="300"/>
              </a:spcAft>
            </a:pPr>
            <a:endParaRPr lang="zh-CN" altLang="en-US" sz="1600" b="0" i="0" dirty="0">
              <a:solidFill>
                <a:srgbClr val="404040"/>
              </a:solidFill>
              <a:effectLst/>
              <a:latin typeface="Inter"/>
            </a:endParaRPr>
          </a:p>
        </p:txBody>
      </p:sp>
      <p:sp>
        <p:nvSpPr>
          <p:cNvPr id="19"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18/26</a:t>
            </a:r>
            <a:endParaRPr lang="zh-CN" altLang="en-US" dirty="0"/>
          </a:p>
        </p:txBody>
      </p:sp>
      <p:graphicFrame>
        <p:nvGraphicFramePr>
          <p:cNvPr id="2" name="对象 1"/>
          <p:cNvGraphicFramePr>
            <a:graphicFrameLocks noChangeAspect="1"/>
          </p:cNvGraphicFramePr>
          <p:nvPr/>
        </p:nvGraphicFramePr>
        <p:xfrm>
          <a:off x="3172269" y="3429000"/>
          <a:ext cx="1973663" cy="627767"/>
        </p:xfrm>
        <a:graphic>
          <a:graphicData uri="http://schemas.openxmlformats.org/presentationml/2006/ole">
            <mc:AlternateContent xmlns:mc="http://schemas.openxmlformats.org/markup-compatibility/2006">
              <mc:Choice xmlns:v="urn:schemas-microsoft-com:vml" Requires="v">
                <p:oleObj spid="_x0000_s8208" name="Equation" r:id="rId2" imgW="31394400" imgH="10058400" progId="Equation.DSMT4">
                  <p:embed/>
                </p:oleObj>
              </mc:Choice>
              <mc:Fallback>
                <p:oleObj name="Equation" r:id="rId2" imgW="31394400" imgH="10058400" progId="Equation.DSMT4">
                  <p:embed/>
                  <p:pic>
                    <p:nvPicPr>
                      <p:cNvPr id="0" name="对象 18"/>
                      <p:cNvPicPr>
                        <a:picLocks noChangeAspect="1" noChangeArrowheads="1"/>
                      </p:cNvPicPr>
                      <p:nvPr/>
                    </p:nvPicPr>
                    <p:blipFill>
                      <a:blip r:embed="rId3"/>
                      <a:srcRect/>
                      <a:stretch>
                        <a:fillRect/>
                      </a:stretch>
                    </p:blipFill>
                    <p:spPr bwMode="auto">
                      <a:xfrm>
                        <a:off x="3172269" y="3429000"/>
                        <a:ext cx="1973663" cy="627767"/>
                      </a:xfrm>
                      <a:prstGeom prst="rect">
                        <a:avLst/>
                      </a:prstGeom>
                      <a:noFill/>
                    </p:spPr>
                  </p:pic>
                </p:oleObj>
              </mc:Fallback>
            </mc:AlternateContent>
          </a:graphicData>
        </a:graphic>
      </p:graphicFrame>
      <p:sp>
        <p:nvSpPr>
          <p:cNvPr id="20" name="文本框 19"/>
          <p:cNvSpPr txBox="1"/>
          <p:nvPr/>
        </p:nvSpPr>
        <p:spPr>
          <a:xfrm>
            <a:off x="487680" y="105459"/>
            <a:ext cx="7575006" cy="646331"/>
          </a:xfrm>
          <a:prstGeom prst="rect">
            <a:avLst/>
          </a:prstGeom>
          <a:noFill/>
        </p:spPr>
        <p:txBody>
          <a:bodyPr wrap="square" rtlCol="0">
            <a:spAutoFit/>
          </a:bodyPr>
          <a:lstStyle/>
          <a:p>
            <a:r>
              <a:rPr lang="zh-CN" altLang="en-US" sz="3600" b="1" dirty="0"/>
              <a:t>四</a:t>
            </a:r>
            <a:r>
              <a:rPr lang="en-US" altLang="zh-CN" sz="3600" b="1" dirty="0"/>
              <a:t>.</a:t>
            </a:r>
            <a:r>
              <a:rPr lang="zh-CN" altLang="en-US" sz="3600" b="1" dirty="0"/>
              <a:t> 实验原理</a:t>
            </a:r>
            <a:endParaRPr lang="zh-CN" altLang="en-US" sz="3600" b="1" dirty="0"/>
          </a:p>
        </p:txBody>
      </p:sp>
      <p:sp>
        <p:nvSpPr>
          <p:cNvPr id="21" name="矩形 20"/>
          <p:cNvSpPr/>
          <p:nvPr/>
        </p:nvSpPr>
        <p:spPr>
          <a:xfrm>
            <a:off x="487680" y="682796"/>
            <a:ext cx="10325127" cy="637675"/>
          </a:xfrm>
          <a:prstGeom prst="rect">
            <a:avLst/>
          </a:prstGeom>
        </p:spPr>
        <p:txBody>
          <a:bodyPr wrap="square">
            <a:spAutoFit/>
          </a:bodyPr>
          <a:lstStyle/>
          <a:p>
            <a:pPr>
              <a:lnSpc>
                <a:spcPct val="150000"/>
              </a:lnSpc>
              <a:buClr>
                <a:srgbClr val="30B695"/>
              </a:buClr>
            </a:pPr>
            <a:r>
              <a:rPr lang="en-US" altLang="zh-CN"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rPr>
              <a:t>1.</a:t>
            </a:r>
            <a:r>
              <a:rPr lang="zh-CN" altLang="en-US"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rPr>
              <a:t>空芯螺线管</a:t>
            </a:r>
            <a:endParaRPr lang="id-ID" altLang="zh-CN"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7575006" cy="646331"/>
          </a:xfrm>
          <a:prstGeom prst="rect">
            <a:avLst/>
          </a:prstGeom>
          <a:noFill/>
        </p:spPr>
        <p:txBody>
          <a:bodyPr wrap="square" rtlCol="0">
            <a:spAutoFit/>
          </a:bodyPr>
          <a:lstStyle/>
          <a:p>
            <a:r>
              <a:rPr lang="zh-CN" altLang="en-US" sz="3600" b="1" dirty="0"/>
              <a:t>四</a:t>
            </a:r>
            <a:r>
              <a:rPr lang="en-US" altLang="zh-CN" sz="3600" b="1" dirty="0"/>
              <a:t>.</a:t>
            </a:r>
            <a:r>
              <a:rPr lang="zh-CN" altLang="en-US" sz="3600" b="1" dirty="0"/>
              <a:t> 实验原理</a:t>
            </a:r>
            <a:endParaRPr lang="zh-CN" altLang="en-US" sz="3600" b="1" dirty="0"/>
          </a:p>
        </p:txBody>
      </p:sp>
      <p:sp>
        <p:nvSpPr>
          <p:cNvPr id="25" name="矩形 24"/>
          <p:cNvSpPr/>
          <p:nvPr/>
        </p:nvSpPr>
        <p:spPr>
          <a:xfrm>
            <a:off x="487680" y="682796"/>
            <a:ext cx="10325127" cy="637675"/>
          </a:xfrm>
          <a:prstGeom prst="rect">
            <a:avLst/>
          </a:prstGeom>
        </p:spPr>
        <p:txBody>
          <a:bodyPr wrap="square">
            <a:spAutoFit/>
          </a:bodyPr>
          <a:lstStyle/>
          <a:p>
            <a:pPr>
              <a:lnSpc>
                <a:spcPct val="150000"/>
              </a:lnSpc>
              <a:buClr>
                <a:srgbClr val="30B695"/>
              </a:buClr>
            </a:pPr>
            <a:r>
              <a:rPr lang="en-US" altLang="zh-CN"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rPr>
              <a:t>1.</a:t>
            </a:r>
            <a:r>
              <a:rPr lang="zh-CN" altLang="en-US"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rPr>
              <a:t>空芯螺线管</a:t>
            </a:r>
            <a:endParaRPr lang="id-ID" altLang="zh-CN"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2" name="Rectangle 2"/>
          <p:cNvSpPr>
            <a:spLocks noChangeArrowheads="1"/>
          </p:cNvSpPr>
          <p:nvPr/>
        </p:nvSpPr>
        <p:spPr bwMode="auto">
          <a:xfrm>
            <a:off x="8730343"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25"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l="2762" t="23492"/>
          <a:stretch>
            <a:fillRect/>
          </a:stretch>
        </p:blipFill>
        <p:spPr bwMode="auto">
          <a:xfrm>
            <a:off x="5719743" y="2795192"/>
            <a:ext cx="4572000" cy="26985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p:cNvSpPr>
            <a:spLocks noChangeArrowheads="1"/>
          </p:cNvSpPr>
          <p:nvPr/>
        </p:nvSpPr>
        <p:spPr bwMode="auto">
          <a:xfrm>
            <a:off x="2249714" y="25253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1228145" y="2750406"/>
          <a:ext cx="3205770" cy="762104"/>
        </p:xfrm>
        <a:graphic>
          <a:graphicData uri="http://schemas.openxmlformats.org/presentationml/2006/ole">
            <mc:AlternateContent xmlns:mc="http://schemas.openxmlformats.org/markup-compatibility/2006">
              <mc:Choice xmlns:v="urn:schemas-microsoft-com:vml" Requires="v">
                <p:oleObj spid="_x0000_s3113" name="Equation" r:id="rId3" imgW="1651000" imgH="393700" progId="Equation.DSMT4">
                  <p:embed/>
                </p:oleObj>
              </mc:Choice>
              <mc:Fallback>
                <p:oleObj name="Equation" r:id="rId3" imgW="1651000" imgH="393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8145" y="2750406"/>
                        <a:ext cx="3205770" cy="762104"/>
                      </a:xfrm>
                      <a:prstGeom prst="rect">
                        <a:avLst/>
                      </a:prstGeom>
                      <a:noFill/>
                    </p:spPr>
                  </p:pic>
                </p:oleObj>
              </mc:Fallback>
            </mc:AlternateContent>
          </a:graphicData>
        </a:graphic>
      </p:graphicFrame>
      <p:sp>
        <p:nvSpPr>
          <p:cNvPr id="5" name="Rectangle 6"/>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2264029" y="3779538"/>
          <a:ext cx="2297305" cy="617781"/>
        </p:xfrm>
        <a:graphic>
          <a:graphicData uri="http://schemas.openxmlformats.org/presentationml/2006/ole">
            <mc:AlternateContent xmlns:mc="http://schemas.openxmlformats.org/markup-compatibility/2006">
              <mc:Choice xmlns:v="urn:schemas-microsoft-com:vml" Requires="v">
                <p:oleObj spid="_x0000_s3114" name="Equation" r:id="rId5" imgW="1739900" imgH="469900" progId="Equation.DSMT4">
                  <p:embed/>
                </p:oleObj>
              </mc:Choice>
              <mc:Fallback>
                <p:oleObj name="Equation" r:id="rId5" imgW="1739900" imgH="4699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4029" y="3779538"/>
                        <a:ext cx="2297305" cy="617781"/>
                      </a:xfrm>
                      <a:prstGeom prst="rect">
                        <a:avLst/>
                      </a:prstGeom>
                      <a:noFill/>
                    </p:spPr>
                  </p:pic>
                </p:oleObj>
              </mc:Fallback>
            </mc:AlternateContent>
          </a:graphicData>
        </a:graphic>
      </p:graphicFrame>
      <p:sp>
        <p:nvSpPr>
          <p:cNvPr id="7" name="Rectangle 8"/>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2264029" y="4600893"/>
          <a:ext cx="2175844" cy="617781"/>
        </p:xfrm>
        <a:graphic>
          <a:graphicData uri="http://schemas.openxmlformats.org/presentationml/2006/ole">
            <mc:AlternateContent xmlns:mc="http://schemas.openxmlformats.org/markup-compatibility/2006">
              <mc:Choice xmlns:v="urn:schemas-microsoft-com:vml" Requires="v">
                <p:oleObj spid="_x0000_s3115" name="Equation" r:id="rId7" imgW="1651000" imgH="469900" progId="Equation.DSMT4">
                  <p:embed/>
                </p:oleObj>
              </mc:Choice>
              <mc:Fallback>
                <p:oleObj name="Equation" r:id="rId7" imgW="1651000" imgH="4699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4029" y="4600893"/>
                        <a:ext cx="2175844" cy="617781"/>
                      </a:xfrm>
                      <a:prstGeom prst="rect">
                        <a:avLst/>
                      </a:prstGeom>
                      <a:noFill/>
                    </p:spPr>
                  </p:pic>
                </p:oleObj>
              </mc:Fallback>
            </mc:AlternateContent>
          </a:graphicData>
        </a:graphic>
      </p:graphicFrame>
      <p:sp>
        <p:nvSpPr>
          <p:cNvPr id="26" name="矩形 25"/>
          <p:cNvSpPr/>
          <p:nvPr/>
        </p:nvSpPr>
        <p:spPr>
          <a:xfrm>
            <a:off x="1228145" y="3636805"/>
            <a:ext cx="1035884" cy="559769"/>
          </a:xfrm>
          <a:prstGeom prst="rect">
            <a:avLst/>
          </a:prstGeom>
        </p:spPr>
        <p:txBody>
          <a:bodyPr wrap="square">
            <a:spAutoFit/>
          </a:bodyPr>
          <a:lstStyle/>
          <a:p>
            <a:pPr>
              <a:lnSpc>
                <a:spcPct val="150000"/>
              </a:lnSpc>
              <a:buClr>
                <a:srgbClr val="30B695"/>
              </a:buClr>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式中，</a:t>
            </a:r>
            <a:endParaRPr lang="id-ID" altLang="zh-CN" sz="24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27" name="矩形 26"/>
          <p:cNvSpPr/>
          <p:nvPr/>
        </p:nvSpPr>
        <p:spPr>
          <a:xfrm>
            <a:off x="809911" y="1430790"/>
            <a:ext cx="10906034" cy="1130246"/>
          </a:xfrm>
          <a:prstGeom prst="rect">
            <a:avLst/>
          </a:prstGeom>
        </p:spPr>
        <p:txBody>
          <a:bodyPr wrap="square">
            <a:spAutoFit/>
          </a:bodyPr>
          <a:lstStyle/>
          <a:p>
            <a:pPr>
              <a:lnSpc>
                <a:spcPct val="150000"/>
              </a:lnSpc>
              <a:buClr>
                <a:srgbClr val="30B695"/>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长度为</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，半径为</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，匝数为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的单层密绕空芯螺线管线圈如图</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1.5-1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所示，轴线上任一点的磁场强度</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为：</a:t>
            </a:r>
            <a:endParaRPr lang="id-ID"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10/26</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7575006" cy="646331"/>
          </a:xfrm>
          <a:prstGeom prst="rect">
            <a:avLst/>
          </a:prstGeom>
          <a:noFill/>
        </p:spPr>
        <p:txBody>
          <a:bodyPr wrap="square" rtlCol="0">
            <a:spAutoFit/>
          </a:bodyPr>
          <a:lstStyle/>
          <a:p>
            <a:r>
              <a:rPr lang="zh-CN" altLang="en-US" sz="3600" b="1" dirty="0"/>
              <a:t>四</a:t>
            </a:r>
            <a:r>
              <a:rPr lang="en-US" altLang="zh-CN" sz="3600" b="1" dirty="0"/>
              <a:t>.</a:t>
            </a:r>
            <a:r>
              <a:rPr lang="zh-CN" altLang="en-US" sz="3600" b="1" dirty="0"/>
              <a:t> 实验原理</a:t>
            </a:r>
            <a:endParaRPr lang="zh-CN" altLang="en-US" sz="3600" b="1" dirty="0"/>
          </a:p>
        </p:txBody>
      </p:sp>
      <p:sp>
        <p:nvSpPr>
          <p:cNvPr id="2" name="Rectangle 2"/>
          <p:cNvSpPr>
            <a:spLocks noChangeArrowheads="1"/>
          </p:cNvSpPr>
          <p:nvPr/>
        </p:nvSpPr>
        <p:spPr bwMode="auto">
          <a:xfrm>
            <a:off x="8730343"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4"/>
          <p:cNvSpPr>
            <a:spLocks noChangeArrowheads="1"/>
          </p:cNvSpPr>
          <p:nvPr/>
        </p:nvSpPr>
        <p:spPr bwMode="auto">
          <a:xfrm>
            <a:off x="2249714" y="25253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6"/>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8"/>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矩形 25"/>
          <p:cNvSpPr/>
          <p:nvPr/>
        </p:nvSpPr>
        <p:spPr>
          <a:xfrm>
            <a:off x="756195" y="3674856"/>
            <a:ext cx="1035884" cy="656846"/>
          </a:xfrm>
          <a:prstGeom prst="rect">
            <a:avLst/>
          </a:prstGeom>
        </p:spPr>
        <p:txBody>
          <a:bodyPr wrap="square">
            <a:spAutoFit/>
          </a:bodyPr>
          <a:lstStyle/>
          <a:p>
            <a:pPr>
              <a:lnSpc>
                <a:spcPct val="150000"/>
              </a:lnSpc>
              <a:buClr>
                <a:srgbClr val="30B695"/>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由于</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endParaRPr lang="id-ID"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矩形 26"/>
          <p:cNvSpPr/>
          <p:nvPr/>
        </p:nvSpPr>
        <p:spPr>
          <a:xfrm>
            <a:off x="756195" y="1625985"/>
            <a:ext cx="10906034" cy="576248"/>
          </a:xfrm>
          <a:prstGeom prst="rect">
            <a:avLst/>
          </a:prstGeom>
        </p:spPr>
        <p:txBody>
          <a:bodyPr wrap="square">
            <a:spAutoFit/>
          </a:bodyPr>
          <a:lstStyle/>
          <a:p>
            <a:pPr>
              <a:lnSpc>
                <a:spcPct val="150000"/>
              </a:lnSpc>
              <a:buClr>
                <a:srgbClr val="30B695"/>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轴线上，磁场仅存在轴向分量，因此，铁芯和空气的分界面上：</a:t>
            </a:r>
            <a:endParaRPr lang="id-ID"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Rectangle 6"/>
          <p:cNvSpPr>
            <a:spLocks noChangeArrowheads="1"/>
          </p:cNvSpPr>
          <p:nvPr/>
        </p:nvSpPr>
        <p:spPr bwMode="auto">
          <a:xfrm>
            <a:off x="6012208" y="356365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05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t="31583" b="7837"/>
          <a:stretch>
            <a:fillRect/>
          </a:stretch>
        </p:blipFill>
        <p:spPr bwMode="auto">
          <a:xfrm>
            <a:off x="7438570" y="2409831"/>
            <a:ext cx="4512745" cy="205217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8"/>
          <p:cNvSpPr>
            <a:spLocks noChangeArrowheads="1"/>
          </p:cNvSpPr>
          <p:nvPr/>
        </p:nvSpPr>
        <p:spPr bwMode="auto">
          <a:xfrm>
            <a:off x="4247522" y="18954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1" name="对象 10"/>
          <p:cNvGraphicFramePr>
            <a:graphicFrameLocks noChangeAspect="1"/>
          </p:cNvGraphicFramePr>
          <p:nvPr/>
        </p:nvGraphicFramePr>
        <p:xfrm>
          <a:off x="3025053" y="2316867"/>
          <a:ext cx="1549495" cy="428267"/>
        </p:xfrm>
        <a:graphic>
          <a:graphicData uri="http://schemas.openxmlformats.org/presentationml/2006/ole">
            <mc:AlternateContent xmlns:mc="http://schemas.openxmlformats.org/markup-compatibility/2006">
              <mc:Choice xmlns:v="urn:schemas-microsoft-com:vml" Requires="v">
                <p:oleObj spid="_x0000_s4137" name="Equation" r:id="rId3" imgW="825500" imgH="228600" progId="Equation.DSMT4">
                  <p:embed/>
                </p:oleObj>
              </mc:Choice>
              <mc:Fallback>
                <p:oleObj name="Equation" r:id="rId3" imgW="825500" imgH="2286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5053" y="2316867"/>
                        <a:ext cx="1549495" cy="428267"/>
                      </a:xfrm>
                      <a:prstGeom prst="rect">
                        <a:avLst/>
                      </a:prstGeom>
                      <a:noFill/>
                    </p:spPr>
                  </p:pic>
                </p:oleObj>
              </mc:Fallback>
            </mc:AlternateContent>
          </a:graphicData>
        </a:graphic>
      </p:graphicFrame>
      <p:sp>
        <p:nvSpPr>
          <p:cNvPr id="32" name="矩形 31"/>
          <p:cNvSpPr/>
          <p:nvPr/>
        </p:nvSpPr>
        <p:spPr>
          <a:xfrm>
            <a:off x="756195" y="2711807"/>
            <a:ext cx="10906034" cy="576248"/>
          </a:xfrm>
          <a:prstGeom prst="rect">
            <a:avLst/>
          </a:prstGeom>
        </p:spPr>
        <p:txBody>
          <a:bodyPr wrap="square">
            <a:spAutoFit/>
          </a:bodyPr>
          <a:lstStyle/>
          <a:p>
            <a:pPr>
              <a:lnSpc>
                <a:spcPct val="150000"/>
              </a:lnSpc>
              <a:buClr>
                <a:srgbClr val="30B695"/>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铁芯和空气分界面上不存在自由面电流，因此：</a:t>
            </a:r>
            <a:endParaRPr lang="id-ID"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3" name="对象 12"/>
          <p:cNvGraphicFramePr>
            <a:graphicFrameLocks noChangeAspect="1"/>
          </p:cNvGraphicFramePr>
          <p:nvPr/>
        </p:nvGraphicFramePr>
        <p:xfrm>
          <a:off x="2984275" y="3353487"/>
          <a:ext cx="1631050" cy="430956"/>
        </p:xfrm>
        <a:graphic>
          <a:graphicData uri="http://schemas.openxmlformats.org/presentationml/2006/ole">
            <mc:AlternateContent xmlns:mc="http://schemas.openxmlformats.org/markup-compatibility/2006">
              <mc:Choice xmlns:v="urn:schemas-microsoft-com:vml" Requires="v">
                <p:oleObj spid="_x0000_s4138" name="Equation" r:id="rId5" imgW="862965" imgH="228600" progId="Equation.DSMT4">
                  <p:embed/>
                </p:oleObj>
              </mc:Choice>
              <mc:Fallback>
                <p:oleObj name="Equation" r:id="rId5" imgW="862965" imgH="2286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4275" y="3353487"/>
                        <a:ext cx="1631050" cy="430956"/>
                      </a:xfrm>
                      <a:prstGeom prst="rect">
                        <a:avLst/>
                      </a:prstGeom>
                      <a:noFill/>
                    </p:spPr>
                  </p:pic>
                </p:oleObj>
              </mc:Fallback>
            </mc:AlternateContent>
          </a:graphicData>
        </a:graphic>
      </p:graphicFrame>
      <p:sp>
        <p:nvSpPr>
          <p:cNvPr id="14" name="Rectangle 1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5" name="对象 14"/>
          <p:cNvGraphicFramePr>
            <a:graphicFrameLocks noChangeAspect="1"/>
          </p:cNvGraphicFramePr>
          <p:nvPr/>
        </p:nvGraphicFramePr>
        <p:xfrm>
          <a:off x="1907050" y="3849875"/>
          <a:ext cx="1184492" cy="481827"/>
        </p:xfrm>
        <a:graphic>
          <a:graphicData uri="http://schemas.openxmlformats.org/presentationml/2006/ole">
            <mc:AlternateContent xmlns:mc="http://schemas.openxmlformats.org/markup-compatibility/2006">
              <mc:Choice xmlns:v="urn:schemas-microsoft-com:vml" Requires="v">
                <p:oleObj spid="_x0000_s4139" name="Equation" r:id="rId7" imgW="13411200" imgH="5486400" progId="Equation.DSMT4">
                  <p:embed/>
                </p:oleObj>
              </mc:Choice>
              <mc:Fallback>
                <p:oleObj name="Equation" r:id="rId7" imgW="13411200" imgH="5486400" progId="Equation.DSMT4">
                  <p:embed/>
                  <p:pic>
                    <p:nvPicPr>
                      <p:cNvPr id="0" name="Object 11"/>
                      <p:cNvPicPr>
                        <a:picLocks noChangeAspect="1" noChangeArrowheads="1"/>
                      </p:cNvPicPr>
                      <p:nvPr/>
                    </p:nvPicPr>
                    <p:blipFill>
                      <a:blip r:embed="rId8"/>
                      <a:srcRect/>
                      <a:stretch>
                        <a:fillRect/>
                      </a:stretch>
                    </p:blipFill>
                    <p:spPr bwMode="auto">
                      <a:xfrm>
                        <a:off x="1907050" y="3849875"/>
                        <a:ext cx="1184492" cy="481827"/>
                      </a:xfrm>
                      <a:prstGeom prst="rect">
                        <a:avLst/>
                      </a:prstGeom>
                      <a:noFill/>
                    </p:spPr>
                  </p:pic>
                </p:oleObj>
              </mc:Fallback>
            </mc:AlternateContent>
          </a:graphicData>
        </a:graphic>
      </p:graphicFrame>
      <p:sp>
        <p:nvSpPr>
          <p:cNvPr id="37" name="矩形 36"/>
          <p:cNvSpPr/>
          <p:nvPr/>
        </p:nvSpPr>
        <p:spPr>
          <a:xfrm>
            <a:off x="756195" y="4615494"/>
            <a:ext cx="6966856" cy="1684244"/>
          </a:xfrm>
          <a:prstGeom prst="rect">
            <a:avLst/>
          </a:prstGeom>
        </p:spPr>
        <p:txBody>
          <a:bodyPr wrap="square">
            <a:spAutoFit/>
          </a:bodyPr>
          <a:lstStyle/>
          <a:p>
            <a:pPr>
              <a:lnSpc>
                <a:spcPct val="150000"/>
              </a:lnSpc>
              <a:buClr>
                <a:srgbClr val="30B695"/>
              </a:buCl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故，铁磁材料中的磁场强度趋近于零，但在端部与空气分界面上，空气侧的磁感应强度较大，远离分界面逐渐减小。</a:t>
            </a:r>
            <a:endParaRPr lang="id-ID"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矩形: 圆角 15"/>
          <p:cNvSpPr/>
          <p:nvPr/>
        </p:nvSpPr>
        <p:spPr>
          <a:xfrm>
            <a:off x="674911" y="4588136"/>
            <a:ext cx="6966857" cy="1778556"/>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1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1" name="矩形 40"/>
          <p:cNvSpPr/>
          <p:nvPr/>
        </p:nvSpPr>
        <p:spPr>
          <a:xfrm>
            <a:off x="487680" y="682796"/>
            <a:ext cx="10325127" cy="665760"/>
          </a:xfrm>
          <a:prstGeom prst="rect">
            <a:avLst/>
          </a:prstGeom>
        </p:spPr>
        <p:txBody>
          <a:bodyPr wrap="square">
            <a:spAutoFit/>
          </a:bodyPr>
          <a:lstStyle/>
          <a:p>
            <a:pPr marL="0" algn="l" rtl="0" eaLnBrk="1" latinLnBrk="0" hangingPunct="1">
              <a:lnSpc>
                <a:spcPct val="150000"/>
              </a:lnSpc>
              <a:spcBef>
                <a:spcPts val="0"/>
              </a:spcBef>
              <a:spcAft>
                <a:spcPts val="0"/>
              </a:spcAft>
            </a:pPr>
            <a:r>
              <a:rPr lang="en-US" altLang="zh-CN" sz="2800" b="1" kern="1200" dirty="0">
                <a:solidFill>
                  <a:srgbClr val="0000CC"/>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zh-CN" sz="2800" b="1" kern="1200" dirty="0">
                <a:solidFill>
                  <a:srgbClr val="0000CC"/>
                </a:solidFill>
                <a:effectLst/>
                <a:latin typeface="宋体" panose="02010600030101010101" pitchFamily="2" charset="-122"/>
                <a:ea typeface="宋体" panose="02010600030101010101" pitchFamily="2" charset="-122"/>
                <a:cs typeface="Times New Roman" panose="02020603050405020304" pitchFamily="18" charset="0"/>
              </a:rPr>
              <a:t>放入铁芯的螺线管</a:t>
            </a:r>
            <a:endParaRPr lang="zh-CN" altLang="zh-CN" sz="2800" dirty="0">
              <a:effectLst/>
            </a:endParaRPr>
          </a:p>
        </p:txBody>
      </p:sp>
      <p:sp>
        <p:nvSpPr>
          <p:cNvPr id="35"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11/26</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7575006" cy="646331"/>
          </a:xfrm>
          <a:prstGeom prst="rect">
            <a:avLst/>
          </a:prstGeom>
          <a:noFill/>
        </p:spPr>
        <p:txBody>
          <a:bodyPr wrap="square" rtlCol="0">
            <a:spAutoFit/>
          </a:bodyPr>
          <a:lstStyle/>
          <a:p>
            <a:r>
              <a:rPr lang="zh-CN" altLang="en-US" sz="3600" b="1" dirty="0"/>
              <a:t>四</a:t>
            </a:r>
            <a:r>
              <a:rPr lang="en-US" altLang="zh-CN" sz="3600" b="1" dirty="0"/>
              <a:t>.</a:t>
            </a:r>
            <a:r>
              <a:rPr lang="zh-CN" altLang="en-US" sz="3600" b="1" dirty="0"/>
              <a:t> 实验原理</a:t>
            </a:r>
            <a:endParaRPr lang="zh-CN" altLang="en-US" sz="3600" b="1" dirty="0"/>
          </a:p>
        </p:txBody>
      </p:sp>
      <p:sp>
        <p:nvSpPr>
          <p:cNvPr id="2" name="Rectangle 2"/>
          <p:cNvSpPr>
            <a:spLocks noChangeArrowheads="1"/>
          </p:cNvSpPr>
          <p:nvPr/>
        </p:nvSpPr>
        <p:spPr bwMode="auto">
          <a:xfrm>
            <a:off x="8730343"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6"/>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8"/>
          <p:cNvSpPr>
            <a:spLocks noChangeArrowheads="1"/>
          </p:cNvSpPr>
          <p:nvPr/>
        </p:nvSpPr>
        <p:spPr bwMode="auto">
          <a:xfrm>
            <a:off x="2387600" y="2291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7" name="矩形 26"/>
          <p:cNvSpPr/>
          <p:nvPr/>
        </p:nvSpPr>
        <p:spPr>
          <a:xfrm>
            <a:off x="243840" y="2363467"/>
            <a:ext cx="5496560" cy="1418915"/>
          </a:xfrm>
          <a:prstGeom prst="rect">
            <a:avLst/>
          </a:prstGeom>
        </p:spPr>
        <p:txBody>
          <a:bodyPr wrap="square">
            <a:spAutoFit/>
          </a:bodyPr>
          <a:lstStyle/>
          <a:p>
            <a:pPr>
              <a:lnSpc>
                <a:spcPct val="150000"/>
              </a:lnSpc>
              <a:buClr>
                <a:srgbClr val="30B695"/>
              </a:buCl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测量正弦变化磁场的磁感应强度的平均值     ：</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Clr>
                <a:srgbClr val="30B695"/>
              </a:buCl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正弦变化的磁场有效值                 ，故磁场强度的有效值为：</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Rectangle 6"/>
          <p:cNvSpPr>
            <a:spLocks noChangeArrowheads="1"/>
          </p:cNvSpPr>
          <p:nvPr/>
        </p:nvSpPr>
        <p:spPr bwMode="auto">
          <a:xfrm>
            <a:off x="6012208" y="356365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Rectangle 8"/>
          <p:cNvSpPr>
            <a:spLocks noChangeArrowheads="1"/>
          </p:cNvSpPr>
          <p:nvPr/>
        </p:nvSpPr>
        <p:spPr bwMode="auto">
          <a:xfrm>
            <a:off x="4247522" y="18954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Rectangle 1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7" name="矩形 36"/>
          <p:cNvSpPr/>
          <p:nvPr/>
        </p:nvSpPr>
        <p:spPr>
          <a:xfrm>
            <a:off x="182155" y="5947527"/>
            <a:ext cx="5913845" cy="957250"/>
          </a:xfrm>
          <a:prstGeom prst="rect">
            <a:avLst/>
          </a:prstGeom>
        </p:spPr>
        <p:txBody>
          <a:bodyPr wrap="square">
            <a:spAutoFit/>
          </a:bodyPr>
          <a:lstStyle/>
          <a:p>
            <a:pPr>
              <a:lnSpc>
                <a:spcPct val="150000"/>
              </a:lnSpc>
              <a:buClr>
                <a:srgbClr val="30B695"/>
              </a:buCl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注意，霍尔探头对热敏感，当温度较高时容易损坏。</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Clr>
                <a:srgbClr val="30B695"/>
              </a:buCl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探棒材质脆弱，易折断，请轻拿轻放。</a:t>
            </a:r>
            <a:endParaRPr lang="id-ID"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Rectangle 1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5" name="图片 34"/>
          <p:cNvPicPr/>
          <p:nvPr/>
        </p:nvPicPr>
        <p:blipFill>
          <a:blip r:embed="rId2" cstate="print">
            <a:extLst>
              <a:ext uri="{28A0092B-C50C-407E-A947-70E740481C1C}">
                <a14:useLocalDpi xmlns:a14="http://schemas.microsoft.com/office/drawing/2010/main" val="0"/>
              </a:ext>
            </a:extLst>
          </a:blip>
          <a:stretch>
            <a:fillRect/>
          </a:stretch>
        </p:blipFill>
        <p:spPr>
          <a:xfrm>
            <a:off x="1045832" y="3986278"/>
            <a:ext cx="3271615" cy="1731814"/>
          </a:xfrm>
          <a:prstGeom prst="rect">
            <a:avLst/>
          </a:prstGeom>
        </p:spPr>
      </p:pic>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4841321" y="2436854"/>
          <a:ext cx="442686" cy="442686"/>
        </p:xfrm>
        <a:graphic>
          <a:graphicData uri="http://schemas.openxmlformats.org/presentationml/2006/ole">
            <mc:AlternateContent xmlns:mc="http://schemas.openxmlformats.org/markup-compatibility/2006">
              <mc:Choice xmlns:v="urn:schemas-microsoft-com:vml" Requires="v">
                <p:oleObj spid="_x0000_s5193" name="Equation" r:id="rId3" imgW="228600" imgH="228600" progId="Equation.DSMT4">
                  <p:embed/>
                </p:oleObj>
              </mc:Choice>
              <mc:Fallback>
                <p:oleObj name="Equation" r:id="rId3" imgW="228600" imgH="228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321" y="2436854"/>
                        <a:ext cx="442686" cy="442686"/>
                      </a:xfrm>
                      <a:prstGeom prst="rect">
                        <a:avLst/>
                      </a:prstGeom>
                      <a:noFill/>
                    </p:spPr>
                  </p:pic>
                </p:oleObj>
              </mc:Fallback>
            </mc:AlternateContent>
          </a:graphicData>
        </a:graphic>
      </p:graphicFrame>
      <p:sp>
        <p:nvSpPr>
          <p:cNvPr id="19"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0" name="对象 19"/>
          <p:cNvGraphicFramePr>
            <a:graphicFrameLocks noChangeAspect="1"/>
          </p:cNvGraphicFramePr>
          <p:nvPr/>
        </p:nvGraphicFramePr>
        <p:xfrm>
          <a:off x="2847585" y="2956417"/>
          <a:ext cx="1196383" cy="377805"/>
        </p:xfrm>
        <a:graphic>
          <a:graphicData uri="http://schemas.openxmlformats.org/presentationml/2006/ole">
            <mc:AlternateContent xmlns:mc="http://schemas.openxmlformats.org/markup-compatibility/2006">
              <mc:Choice xmlns:v="urn:schemas-microsoft-com:vml" Requires="v">
                <p:oleObj spid="_x0000_s5194" name="Equation" r:id="rId5" imgW="723900" imgH="228600" progId="Equation.DSMT4">
                  <p:embed/>
                </p:oleObj>
              </mc:Choice>
              <mc:Fallback>
                <p:oleObj name="Equation" r:id="rId5" imgW="723900" imgH="2286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7585" y="2956417"/>
                        <a:ext cx="1196383" cy="377805"/>
                      </a:xfrm>
                      <a:prstGeom prst="rect">
                        <a:avLst/>
                      </a:prstGeom>
                      <a:noFill/>
                    </p:spPr>
                  </p:pic>
                </p:oleObj>
              </mc:Fallback>
            </mc:AlternateContent>
          </a:graphicData>
        </a:graphic>
      </p:graphicFrame>
      <p:sp>
        <p:nvSpPr>
          <p:cNvPr id="22"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3" name="对象 22"/>
          <p:cNvGraphicFramePr>
            <a:graphicFrameLocks noChangeAspect="1"/>
          </p:cNvGraphicFramePr>
          <p:nvPr/>
        </p:nvGraphicFramePr>
        <p:xfrm>
          <a:off x="1836590" y="3306771"/>
          <a:ext cx="1750182" cy="665217"/>
        </p:xfrm>
        <a:graphic>
          <a:graphicData uri="http://schemas.openxmlformats.org/presentationml/2006/ole">
            <mc:AlternateContent xmlns:mc="http://schemas.openxmlformats.org/markup-compatibility/2006">
              <mc:Choice xmlns:v="urn:schemas-microsoft-com:vml" Requires="v">
                <p:oleObj spid="_x0000_s5195" name="Equation" r:id="rId7" imgW="1129665" imgH="431800" progId="Equation.DSMT4">
                  <p:embed/>
                </p:oleObj>
              </mc:Choice>
              <mc:Fallback>
                <p:oleObj name="Equation" r:id="rId7" imgW="1129665" imgH="4318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6590" y="3306771"/>
                        <a:ext cx="1750182" cy="665217"/>
                      </a:xfrm>
                      <a:prstGeom prst="rect">
                        <a:avLst/>
                      </a:prstGeom>
                      <a:noFill/>
                    </p:spPr>
                  </p:pic>
                </p:oleObj>
              </mc:Fallback>
            </mc:AlternateContent>
          </a:graphicData>
        </a:graphic>
      </p:graphicFrame>
      <p:sp>
        <p:nvSpPr>
          <p:cNvPr id="24"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7" name="矩形 46"/>
          <p:cNvSpPr/>
          <p:nvPr/>
        </p:nvSpPr>
        <p:spPr>
          <a:xfrm>
            <a:off x="487680" y="682796"/>
            <a:ext cx="10325127" cy="637675"/>
          </a:xfrm>
          <a:prstGeom prst="rect">
            <a:avLst/>
          </a:prstGeom>
        </p:spPr>
        <p:txBody>
          <a:bodyPr wrap="square">
            <a:spAutoFit/>
          </a:bodyPr>
          <a:lstStyle/>
          <a:p>
            <a:pPr>
              <a:lnSpc>
                <a:spcPct val="150000"/>
              </a:lnSpc>
              <a:buClr>
                <a:srgbClr val="30B695"/>
              </a:buClr>
            </a:pPr>
            <a:r>
              <a:rPr lang="en-US" altLang="zh-CN"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rPr>
              <a:t>3.</a:t>
            </a:r>
            <a:r>
              <a:rPr lang="zh-CN" altLang="en-US"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rPr>
              <a:t>测量磁场的方法</a:t>
            </a:r>
            <a:endParaRPr lang="id-ID" altLang="zh-CN" sz="2800" b="1" dirty="0">
              <a:solidFill>
                <a:srgbClr val="0000CC"/>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38"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12/26</a:t>
            </a:r>
            <a:endParaRPr lang="zh-CN" altLang="en-US" dirty="0"/>
          </a:p>
        </p:txBody>
      </p:sp>
      <p:grpSp>
        <p:nvGrpSpPr>
          <p:cNvPr id="11" name="组合 10"/>
          <p:cNvGrpSpPr/>
          <p:nvPr/>
        </p:nvGrpSpPr>
        <p:grpSpPr>
          <a:xfrm>
            <a:off x="492698" y="1428202"/>
            <a:ext cx="4192359" cy="963494"/>
            <a:chOff x="1067089" y="1387624"/>
            <a:chExt cx="4192359" cy="963494"/>
          </a:xfrm>
        </p:grpSpPr>
        <p:sp>
          <p:nvSpPr>
            <p:cNvPr id="41" name="右箭头 20"/>
            <p:cNvSpPr/>
            <p:nvPr/>
          </p:nvSpPr>
          <p:spPr>
            <a:xfrm rot="5400000">
              <a:off x="2720565" y="67689"/>
              <a:ext cx="739178" cy="3603368"/>
            </a:xfrm>
            <a:prstGeom prst="round2SameRect">
              <a:avLst>
                <a:gd name="adj1" fmla="val 47903"/>
                <a:gd name="adj2" fmla="val 0"/>
              </a:avLst>
            </a:prstGeom>
            <a:solidFill>
              <a:srgbClr val="28CF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42" name="TextBox 6"/>
            <p:cNvSpPr txBox="1"/>
            <p:nvPr/>
          </p:nvSpPr>
          <p:spPr>
            <a:xfrm>
              <a:off x="2061722" y="1659306"/>
              <a:ext cx="3197726" cy="461665"/>
            </a:xfrm>
            <a:prstGeom prst="rect">
              <a:avLst/>
            </a:prstGeom>
            <a:noFill/>
          </p:spPr>
          <p:txBody>
            <a:bodyPr wrap="square" rtlCol="0">
              <a:spAutoFit/>
            </a:bodyPr>
            <a:lstStyle/>
            <a:p>
              <a:pPr lvl="0">
                <a:defRPr/>
              </a:pPr>
              <a:r>
                <a:rPr lang="zh-CN" altLang="en-US" sz="2400" b="1" dirty="0">
                  <a:solidFill>
                    <a:schemeClr val="bg1"/>
                  </a:solidFill>
                  <a:latin typeface="微软雅黑" panose="020B0503020204020204" pitchFamily="34" charset="-122"/>
                  <a:ea typeface="微软雅黑" panose="020B0503020204020204" pitchFamily="34" charset="-122"/>
                  <a:cs typeface="+mn-ea"/>
                  <a:sym typeface="+mn-lt"/>
                </a:rPr>
                <a:t>毫特斯拉计</a:t>
              </a: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3" name="椭圆 42"/>
            <p:cNvSpPr/>
            <p:nvPr/>
          </p:nvSpPr>
          <p:spPr>
            <a:xfrm>
              <a:off x="1067089" y="1387624"/>
              <a:ext cx="963498" cy="963494"/>
            </a:xfrm>
            <a:prstGeom prst="ellipse">
              <a:avLst/>
            </a:prstGeom>
            <a:solidFill>
              <a:srgbClr val="28CF8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1</a:t>
              </a:r>
              <a:endParaRPr kumimoji="0" lang="zh-CN" altLang="en-US"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44" name="右箭头 20"/>
          <p:cNvSpPr/>
          <p:nvPr/>
        </p:nvSpPr>
        <p:spPr>
          <a:xfrm rot="5400000">
            <a:off x="8973395" y="185450"/>
            <a:ext cx="739178" cy="3474605"/>
          </a:xfrm>
          <a:prstGeom prst="round2SameRect">
            <a:avLst>
              <a:gd name="adj1" fmla="val 50000"/>
              <a:gd name="adj2" fmla="val 0"/>
            </a:avLst>
          </a:prstGeom>
          <a:solidFill>
            <a:srgbClr val="FDA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endParaRPr>
          </a:p>
        </p:txBody>
      </p:sp>
      <p:sp>
        <p:nvSpPr>
          <p:cNvPr id="45" name="TextBox 20"/>
          <p:cNvSpPr txBox="1"/>
          <p:nvPr/>
        </p:nvSpPr>
        <p:spPr>
          <a:xfrm>
            <a:off x="8112964" y="1665319"/>
            <a:ext cx="3218013" cy="461665"/>
          </a:xfrm>
          <a:prstGeom prst="rect">
            <a:avLst/>
          </a:prstGeom>
          <a:noFill/>
        </p:spPr>
        <p:txBody>
          <a:bodyPr wrap="square" rtlCol="0">
            <a:spAutoFit/>
          </a:bodyPr>
          <a:lstStyle/>
          <a:p>
            <a:pPr lvl="0">
              <a:defRPr/>
            </a:pPr>
            <a:r>
              <a:rPr lang="zh-CN" altLang="en-US" sz="2400" b="1" dirty="0">
                <a:solidFill>
                  <a:schemeClr val="bg1"/>
                </a:solidFill>
                <a:latin typeface="微软雅黑" panose="020B0503020204020204" pitchFamily="34" charset="-122"/>
                <a:ea typeface="微软雅黑" panose="020B0503020204020204" pitchFamily="34" charset="-122"/>
                <a:cs typeface="+mn-ea"/>
                <a:sym typeface="+mn-lt"/>
              </a:rPr>
              <a:t>感应法</a:t>
            </a: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6" name="椭圆 45"/>
          <p:cNvSpPr/>
          <p:nvPr/>
        </p:nvSpPr>
        <p:spPr>
          <a:xfrm>
            <a:off x="7128739" y="1409274"/>
            <a:ext cx="963498" cy="963494"/>
          </a:xfrm>
          <a:prstGeom prst="ellipse">
            <a:avLst/>
          </a:prstGeom>
          <a:solidFill>
            <a:srgbClr val="FDAD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2</a:t>
            </a:r>
            <a:endParaRPr kumimoji="0" lang="zh-CN" altLang="en-US" sz="3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49" name="文本框 48"/>
          <p:cNvSpPr txBox="1"/>
          <p:nvPr/>
        </p:nvSpPr>
        <p:spPr>
          <a:xfrm>
            <a:off x="7128739" y="2504537"/>
            <a:ext cx="6096000" cy="400110"/>
          </a:xfrm>
          <a:prstGeom prst="rect">
            <a:avLst/>
          </a:prstGeom>
          <a:noFill/>
        </p:spPr>
        <p:txBody>
          <a:bodyPr wrap="square">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在正弦磁场中放置一个小测试线圈</a:t>
            </a:r>
            <a:endParaRPr lang="zh-CN" altLang="en-US" sz="2000" dirty="0"/>
          </a:p>
        </p:txBody>
      </p:sp>
      <p:pic>
        <p:nvPicPr>
          <p:cNvPr id="50" name="Picture 1"/>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21852" t="27390" r="27003" b="17046"/>
          <a:stretch>
            <a:fillRect/>
          </a:stretch>
        </p:blipFill>
        <p:spPr bwMode="auto">
          <a:xfrm>
            <a:off x="7033911" y="3074700"/>
            <a:ext cx="1665391" cy="1358395"/>
          </a:xfrm>
          <a:prstGeom prst="rect">
            <a:avLst/>
          </a:prstGeom>
          <a:noFill/>
          <a:extLst>
            <a:ext uri="{909E8E84-426E-40DD-AFC4-6F175D3DCCD1}">
              <a14:hiddenFill xmlns:a14="http://schemas.microsoft.com/office/drawing/2010/main">
                <a:solidFill>
                  <a:srgbClr val="FFFFFF"/>
                </a:solidFill>
              </a14:hiddenFill>
            </a:ext>
          </a:extLst>
        </p:spPr>
      </p:pic>
      <p:pic>
        <p:nvPicPr>
          <p:cNvPr id="51" name="图片 50"/>
          <p:cNvPicPr>
            <a:picLocks noChangeAspect="1"/>
          </p:cNvPicPr>
          <p:nvPr/>
        </p:nvPicPr>
        <p:blipFill rotWithShape="1">
          <a:blip r:embed="rId10" cstate="print">
            <a:extLst>
              <a:ext uri="{28A0092B-C50C-407E-A947-70E740481C1C}">
                <a14:useLocalDpi xmlns:a14="http://schemas.microsoft.com/office/drawing/2010/main" val="0"/>
              </a:ext>
            </a:extLst>
          </a:blip>
          <a:srcRect t="22933" b="11543"/>
          <a:stretch>
            <a:fillRect/>
          </a:stretch>
        </p:blipFill>
        <p:spPr>
          <a:xfrm>
            <a:off x="8988109" y="3082674"/>
            <a:ext cx="2747938" cy="1350413"/>
          </a:xfrm>
          <a:prstGeom prst="rect">
            <a:avLst/>
          </a:prstGeom>
        </p:spPr>
      </p:pic>
      <p:sp>
        <p:nvSpPr>
          <p:cNvPr id="53" name="文本框 52"/>
          <p:cNvSpPr txBox="1"/>
          <p:nvPr/>
        </p:nvSpPr>
        <p:spPr>
          <a:xfrm>
            <a:off x="7133407" y="4682663"/>
            <a:ext cx="6612466" cy="400110"/>
          </a:xfrm>
          <a:prstGeom prst="rect">
            <a:avLst/>
          </a:prstGeom>
          <a:noFill/>
        </p:spPr>
        <p:txBody>
          <a:bodyPr wrap="square">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线圈感应电压的有效值为：</a:t>
            </a:r>
            <a:endParaRPr lang="zh-CN" altLang="en-US" sz="2000" dirty="0"/>
          </a:p>
        </p:txBody>
      </p:sp>
      <p:graphicFrame>
        <p:nvGraphicFramePr>
          <p:cNvPr id="54" name="对象 53"/>
          <p:cNvGraphicFramePr>
            <a:graphicFrameLocks noChangeAspect="1"/>
          </p:cNvGraphicFramePr>
          <p:nvPr/>
        </p:nvGraphicFramePr>
        <p:xfrm>
          <a:off x="10183363" y="4715445"/>
          <a:ext cx="1258888" cy="336550"/>
        </p:xfrm>
        <a:graphic>
          <a:graphicData uri="http://schemas.openxmlformats.org/presentationml/2006/ole">
            <mc:AlternateContent xmlns:mc="http://schemas.openxmlformats.org/markup-compatibility/2006">
              <mc:Choice xmlns:v="urn:schemas-microsoft-com:vml" Requires="v">
                <p:oleObj spid="_x0000_s5196" name="Equation" r:id="rId11" imgW="18288000" imgH="4876800" progId="Equation.DSMT4">
                  <p:embed/>
                </p:oleObj>
              </mc:Choice>
              <mc:Fallback>
                <p:oleObj name="Equation" r:id="rId11" imgW="18288000" imgH="4876800" progId="Equation.DSMT4">
                  <p:embed/>
                  <p:pic>
                    <p:nvPicPr>
                      <p:cNvPr id="0" name="对象 19"/>
                      <p:cNvPicPr>
                        <a:picLocks noChangeAspect="1" noChangeArrowheads="1"/>
                      </p:cNvPicPr>
                      <p:nvPr/>
                    </p:nvPicPr>
                    <p:blipFill>
                      <a:blip r:embed="rId12"/>
                      <a:srcRect/>
                      <a:stretch>
                        <a:fillRect/>
                      </a:stretch>
                    </p:blipFill>
                    <p:spPr bwMode="auto">
                      <a:xfrm>
                        <a:off x="10183363" y="4715445"/>
                        <a:ext cx="1258888" cy="336550"/>
                      </a:xfrm>
                      <a:prstGeom prst="rect">
                        <a:avLst/>
                      </a:prstGeom>
                      <a:noFill/>
                    </p:spPr>
                  </p:pic>
                </p:oleObj>
              </mc:Fallback>
            </mc:AlternateContent>
          </a:graphicData>
        </a:graphic>
      </p:graphicFrame>
      <p:graphicFrame>
        <p:nvGraphicFramePr>
          <p:cNvPr id="55" name="对象 54"/>
          <p:cNvGraphicFramePr>
            <a:graphicFrameLocks noChangeAspect="1"/>
          </p:cNvGraphicFramePr>
          <p:nvPr/>
        </p:nvGraphicFramePr>
        <p:xfrm>
          <a:off x="7509870" y="5200697"/>
          <a:ext cx="3190875" cy="450850"/>
        </p:xfrm>
        <a:graphic>
          <a:graphicData uri="http://schemas.openxmlformats.org/presentationml/2006/ole">
            <mc:AlternateContent xmlns:mc="http://schemas.openxmlformats.org/markup-compatibility/2006">
              <mc:Choice xmlns:v="urn:schemas-microsoft-com:vml" Requires="v">
                <p:oleObj spid="_x0000_s5197" name="Equation" r:id="rId13" imgW="39014400" imgH="5486400" progId="Equation.DSMT4">
                  <p:embed/>
                </p:oleObj>
              </mc:Choice>
              <mc:Fallback>
                <p:oleObj name="Equation" r:id="rId13" imgW="39014400" imgH="5486400" progId="Equation.DSMT4">
                  <p:embed/>
                  <p:pic>
                    <p:nvPicPr>
                      <p:cNvPr id="0" name="对象 32"/>
                      <p:cNvPicPr/>
                      <p:nvPr/>
                    </p:nvPicPr>
                    <p:blipFill>
                      <a:blip r:embed="rId14"/>
                      <a:stretch>
                        <a:fillRect/>
                      </a:stretch>
                    </p:blipFill>
                    <p:spPr>
                      <a:xfrm>
                        <a:off x="7509870" y="5200697"/>
                        <a:ext cx="3190875" cy="450850"/>
                      </a:xfrm>
                      <a:prstGeom prst="rect">
                        <a:avLst/>
                      </a:prstGeom>
                    </p:spPr>
                  </p:pic>
                </p:oleObj>
              </mc:Fallback>
            </mc:AlternateContent>
          </a:graphicData>
        </a:graphic>
      </p:graphicFrame>
      <p:graphicFrame>
        <p:nvGraphicFramePr>
          <p:cNvPr id="56" name="对象 55"/>
          <p:cNvGraphicFramePr>
            <a:graphicFrameLocks noChangeAspect="1"/>
          </p:cNvGraphicFramePr>
          <p:nvPr/>
        </p:nvGraphicFramePr>
        <p:xfrm>
          <a:off x="8352470" y="5705517"/>
          <a:ext cx="1505673" cy="661325"/>
        </p:xfrm>
        <a:graphic>
          <a:graphicData uri="http://schemas.openxmlformats.org/presentationml/2006/ole">
            <mc:AlternateContent xmlns:mc="http://schemas.openxmlformats.org/markup-compatibility/2006">
              <mc:Choice xmlns:v="urn:schemas-microsoft-com:vml" Requires="v">
                <p:oleObj spid="_x0000_s5198" name="Equation" r:id="rId15" imgW="977900" imgH="431800" progId="Equation.DSMT4">
                  <p:embed/>
                </p:oleObj>
              </mc:Choice>
              <mc:Fallback>
                <p:oleObj name="Equation" r:id="rId15" imgW="977900" imgH="431800" progId="Equation.DSMT4">
                  <p:embed/>
                  <p:pic>
                    <p:nvPicPr>
                      <p:cNvPr id="0" name="对象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352470" y="5705517"/>
                        <a:ext cx="1505673" cy="661325"/>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fltVal val="0"/>
                                          </p:val>
                                        </p:tav>
                                        <p:tav tm="100000">
                                          <p:val>
                                            <p:strVal val="#ppt_w"/>
                                          </p:val>
                                        </p:tav>
                                      </p:tavLst>
                                    </p:anim>
                                    <p:anim calcmode="lin" valueType="num">
                                      <p:cBhvr>
                                        <p:cTn id="8" dur="500" fill="hold"/>
                                        <p:tgtEl>
                                          <p:spTgt spid="46"/>
                                        </p:tgtEl>
                                        <p:attrNameLst>
                                          <p:attrName>ppt_h</p:attrName>
                                        </p:attrNameLst>
                                      </p:cBhvr>
                                      <p:tavLst>
                                        <p:tav tm="0">
                                          <p:val>
                                            <p:fltVal val="0"/>
                                          </p:val>
                                        </p:tav>
                                        <p:tav tm="100000">
                                          <p:val>
                                            <p:strVal val="#ppt_h"/>
                                          </p:val>
                                        </p:tav>
                                      </p:tavLst>
                                    </p:anim>
                                    <p:animEffect transition="in" filter="fade">
                                      <p:cBhvr>
                                        <p:cTn id="9" dur="500"/>
                                        <p:tgtEl>
                                          <p:spTgt spid="46"/>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wipe(left)">
                                      <p:cBhvr>
                                        <p:cTn id="13" dur="500"/>
                                        <p:tgtEl>
                                          <p:spTgt spid="4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wipe(left)">
                                      <p:cBhvr>
                                        <p:cTn id="1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0" animBg="1"/>
      <p:bldP spid="45" grpId="0"/>
      <p:bldP spid="4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p:cNvSpPr txBox="1"/>
          <p:nvPr/>
        </p:nvSpPr>
        <p:spPr>
          <a:xfrm>
            <a:off x="487680" y="105459"/>
            <a:ext cx="7575006" cy="646331"/>
          </a:xfrm>
          <a:prstGeom prst="rect">
            <a:avLst/>
          </a:prstGeom>
          <a:noFill/>
        </p:spPr>
        <p:txBody>
          <a:bodyPr wrap="square" rtlCol="0">
            <a:spAutoFit/>
          </a:bodyPr>
          <a:lstStyle/>
          <a:p>
            <a:r>
              <a:rPr lang="zh-CN" altLang="en-US" sz="3600" b="1" dirty="0"/>
              <a:t>五</a:t>
            </a:r>
            <a:r>
              <a:rPr lang="en-US" altLang="zh-CN" sz="3600" b="1" dirty="0"/>
              <a:t>.</a:t>
            </a:r>
            <a:r>
              <a:rPr lang="zh-CN" altLang="en-US" sz="3600" b="1" dirty="0"/>
              <a:t> 实验内容</a:t>
            </a:r>
            <a:endParaRPr lang="zh-CN" altLang="en-US" sz="3600" b="1" dirty="0"/>
          </a:p>
        </p:txBody>
      </p:sp>
      <p:sp>
        <p:nvSpPr>
          <p:cNvPr id="46" name="TextBox 36"/>
          <p:cNvSpPr txBox="1">
            <a:spLocks noChangeArrowheads="1"/>
          </p:cNvSpPr>
          <p:nvPr/>
        </p:nvSpPr>
        <p:spPr bwMode="auto">
          <a:xfrm>
            <a:off x="530120" y="880275"/>
            <a:ext cx="9452080" cy="461665"/>
          </a:xfrm>
          <a:prstGeom prst="rect">
            <a:avLst/>
          </a:prstGeom>
          <a:noFill/>
          <a:ln w="9525">
            <a:noFill/>
            <a:miter lim="800000"/>
          </a:ln>
        </p:spPr>
        <p:txBody>
          <a:bodyPr wrap="square">
            <a:spAutoFit/>
          </a:bodyPr>
          <a:lstStyle/>
          <a:p>
            <a:r>
              <a:rPr lang="en-US" altLang="zh-CN" sz="2400" b="1" dirty="0">
                <a:solidFill>
                  <a:srgbClr val="0033CC"/>
                </a:solidFill>
              </a:rPr>
              <a:t>1.</a:t>
            </a:r>
            <a:r>
              <a:rPr lang="zh-CN" altLang="en-US" sz="2400" b="1" dirty="0">
                <a:solidFill>
                  <a:srgbClr val="0033CC"/>
                </a:solidFill>
              </a:rPr>
              <a:t>编程任务：</a:t>
            </a:r>
            <a:r>
              <a:rPr lang="zh-CN" altLang="en-US" sz="2400" b="1" dirty="0"/>
              <a:t>设计一个多层密绕空心螺线管线圈。</a:t>
            </a:r>
            <a:endParaRPr lang="en-US" altLang="zh-CN" sz="2400" b="1" dirty="0"/>
          </a:p>
        </p:txBody>
      </p:sp>
      <p:graphicFrame>
        <p:nvGraphicFramePr>
          <p:cNvPr id="2" name="表格 1"/>
          <p:cNvGraphicFramePr>
            <a:graphicFrameLocks noGrp="1"/>
          </p:cNvGraphicFramePr>
          <p:nvPr/>
        </p:nvGraphicFramePr>
        <p:xfrm>
          <a:off x="1483785" y="3453590"/>
          <a:ext cx="4699254" cy="2418024"/>
        </p:xfrm>
        <a:graphic>
          <a:graphicData uri="http://schemas.openxmlformats.org/drawingml/2006/table">
            <a:tbl>
              <a:tblPr firstRow="1" firstCol="1" bandRow="1">
                <a:tableStyleId>{69012ECD-51FC-41F1-AA8D-1B2483CD663E}</a:tableStyleId>
              </a:tblPr>
              <a:tblGrid>
                <a:gridCol w="2721407"/>
                <a:gridCol w="1977847"/>
              </a:tblGrid>
              <a:tr h="403004">
                <a:tc>
                  <a:txBody>
                    <a:bodyPr/>
                    <a:lstStyle/>
                    <a:p>
                      <a:pPr algn="ctr">
                        <a:lnSpc>
                          <a:spcPts val="1200"/>
                        </a:lnSpc>
                        <a:buNone/>
                      </a:pPr>
                      <a:r>
                        <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输入参数</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设计</a:t>
                      </a:r>
                      <a:r>
                        <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参数</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03004">
                <a:tc>
                  <a:txBody>
                    <a:bodyPr/>
                    <a:lstStyle/>
                    <a:p>
                      <a:pPr algn="ctr">
                        <a:lnSpc>
                          <a:spcPts val="1200"/>
                        </a:lnSpc>
                        <a:buNone/>
                      </a:pPr>
                      <a:r>
                        <a:rPr lang="zh-CN" sz="1600" b="0" kern="100">
                          <a:effectLst/>
                          <a:latin typeface="Times New Roman" panose="02020603050405020304" pitchFamily="18" charset="0"/>
                          <a:ea typeface="宋体" panose="02010600030101010101" pitchFamily="2" charset="-122"/>
                          <a:cs typeface="Times New Roman" panose="02020603050405020304" pitchFamily="18" charset="0"/>
                        </a:rPr>
                        <a:t>最大电流</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sz="1600" b="0" kern="100" dirty="0">
                          <a:effectLst/>
                          <a:latin typeface="Times New Roman" panose="02020603050405020304" pitchFamily="18" charset="0"/>
                          <a:ea typeface="宋体" panose="02010600030101010101" pitchFamily="2" charset="-122"/>
                          <a:cs typeface="Times New Roman" panose="02020603050405020304" pitchFamily="18" charset="0"/>
                        </a:rPr>
                        <a:t>3A</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03004">
                <a:tc>
                  <a:txBody>
                    <a:bodyPr/>
                    <a:lstStyle/>
                    <a:p>
                      <a:pPr algn="ctr">
                        <a:lnSpc>
                          <a:spcPts val="1200"/>
                        </a:lnSpc>
                        <a:buNone/>
                      </a:pPr>
                      <a:r>
                        <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额定电感</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sz="1600" b="0" kern="100" dirty="0">
                          <a:effectLst/>
                          <a:latin typeface="Times New Roman" panose="02020603050405020304" pitchFamily="18" charset="0"/>
                          <a:ea typeface="宋体" panose="02010600030101010101" pitchFamily="2" charset="-122"/>
                          <a:cs typeface="Times New Roman" panose="02020603050405020304" pitchFamily="18" charset="0"/>
                        </a:rPr>
                        <a:t>20mH</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03004">
                <a:tc>
                  <a:txBody>
                    <a:bodyPr/>
                    <a:lstStyle/>
                    <a:p>
                      <a:pPr algn="ctr">
                        <a:lnSpc>
                          <a:spcPts val="1200"/>
                        </a:lnSpc>
                        <a:buNone/>
                      </a:pPr>
                      <a:r>
                        <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电感线圈期望高度</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sz="1600" b="0" kern="100" dirty="0">
                          <a:effectLst/>
                          <a:latin typeface="Times New Roman" panose="02020603050405020304" pitchFamily="18" charset="0"/>
                          <a:ea typeface="宋体" panose="02010600030101010101" pitchFamily="2" charset="-122"/>
                          <a:cs typeface="Times New Roman" panose="02020603050405020304" pitchFamily="18" charset="0"/>
                        </a:rPr>
                        <a:t>85mm</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03004">
                <a:tc>
                  <a:txBody>
                    <a:bodyPr/>
                    <a:lstStyle/>
                    <a:p>
                      <a:pPr algn="ctr">
                        <a:lnSpc>
                          <a:spcPts val="1200"/>
                        </a:lnSpc>
                        <a:buNone/>
                      </a:pPr>
                      <a:r>
                        <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额定电感允许偏差</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sz="1600" b="0" kern="100" dirty="0">
                          <a:effectLst/>
                          <a:latin typeface="Times New Roman" panose="02020603050405020304" pitchFamily="18" charset="0"/>
                          <a:ea typeface="宋体" panose="02010600030101010101" pitchFamily="2" charset="-122"/>
                          <a:cs typeface="Times New Roman" panose="02020603050405020304" pitchFamily="18" charset="0"/>
                        </a:rPr>
                        <a:t>±0.5mH</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03004">
                <a:tc>
                  <a:txBody>
                    <a:bodyPr/>
                    <a:lstStyle/>
                    <a:p>
                      <a:pPr marL="0" marR="0" lvl="0" indent="0" algn="ctr" defTabSz="914400" rtl="0" eaLnBrk="1" fontAlgn="auto" latinLnBrk="0" hangingPunct="1">
                        <a:lnSpc>
                          <a:spcPts val="1200"/>
                        </a:lnSpc>
                        <a:spcBef>
                          <a:spcPts val="0"/>
                        </a:spcBef>
                        <a:spcAft>
                          <a:spcPts val="0"/>
                        </a:spcAft>
                        <a:buClrTx/>
                        <a:buSzTx/>
                        <a:buFontTx/>
                        <a:buNone/>
                        <a:defRPr/>
                      </a:pPr>
                      <a:r>
                        <a:rPr lang="zh-CN" altLang="en-US" sz="1600" b="0" kern="100" dirty="0">
                          <a:effectLst/>
                          <a:latin typeface="Times New Roman" panose="02020603050405020304" pitchFamily="18" charset="0"/>
                          <a:ea typeface="宋体" panose="02010600030101010101" pitchFamily="2" charset="-122"/>
                          <a:cs typeface="Times New Roman" panose="02020603050405020304" pitchFamily="18" charset="0"/>
                        </a:rPr>
                        <a:t>线圈层数</a:t>
                      </a:r>
                      <a:endParaRPr lang="zh-CN" alt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5</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bl>
          </a:graphicData>
        </a:graphic>
      </p:graphicFrame>
      <p:sp>
        <p:nvSpPr>
          <p:cNvPr id="4" name="Rectangle 1"/>
          <p:cNvSpPr>
            <a:spLocks noChangeArrowheads="1"/>
          </p:cNvSpPr>
          <p:nvPr/>
        </p:nvSpPr>
        <p:spPr bwMode="auto">
          <a:xfrm>
            <a:off x="761827" y="1497622"/>
            <a:ext cx="10842425" cy="1721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tabLst>
                <a:tab pos="498475" algn="l"/>
              </a:tabLst>
              <a:defRPr>
                <a:solidFill>
                  <a:schemeClr val="tx1"/>
                </a:solidFill>
                <a:latin typeface="Arial" panose="020B0604020202020204" pitchFamily="34" charset="0"/>
              </a:defRPr>
            </a:lvl1pPr>
            <a:lvl2pPr eaLnBrk="0" fontAlgn="base" hangingPunct="0">
              <a:spcBef>
                <a:spcPct val="0"/>
              </a:spcBef>
              <a:spcAft>
                <a:spcPct val="0"/>
              </a:spcAft>
              <a:tabLst>
                <a:tab pos="498475" algn="l"/>
              </a:tabLst>
              <a:defRPr>
                <a:solidFill>
                  <a:schemeClr val="tx1"/>
                </a:solidFill>
                <a:latin typeface="Arial" panose="020B0604020202020204" pitchFamily="34" charset="0"/>
              </a:defRPr>
            </a:lvl2pPr>
            <a:lvl3pPr eaLnBrk="0" fontAlgn="base" hangingPunct="0">
              <a:spcBef>
                <a:spcPct val="0"/>
              </a:spcBef>
              <a:spcAft>
                <a:spcPct val="0"/>
              </a:spcAft>
              <a:tabLst>
                <a:tab pos="498475" algn="l"/>
              </a:tabLst>
              <a:defRPr>
                <a:solidFill>
                  <a:schemeClr val="tx1"/>
                </a:solidFill>
                <a:latin typeface="Arial" panose="020B0604020202020204" pitchFamily="34" charset="0"/>
              </a:defRPr>
            </a:lvl3pPr>
            <a:lvl4pPr eaLnBrk="0" fontAlgn="base" hangingPunct="0">
              <a:spcBef>
                <a:spcPct val="0"/>
              </a:spcBef>
              <a:spcAft>
                <a:spcPct val="0"/>
              </a:spcAft>
              <a:tabLst>
                <a:tab pos="498475" algn="l"/>
              </a:tabLst>
              <a:defRPr>
                <a:solidFill>
                  <a:schemeClr val="tx1"/>
                </a:solidFill>
                <a:latin typeface="Arial" panose="020B0604020202020204" pitchFamily="34" charset="0"/>
              </a:defRPr>
            </a:lvl4pPr>
            <a:lvl5pPr eaLnBrk="0" fontAlgn="base" hangingPunct="0">
              <a:spcBef>
                <a:spcPct val="0"/>
              </a:spcBef>
              <a:spcAft>
                <a:spcPct val="0"/>
              </a:spcAft>
              <a:tabLst>
                <a:tab pos="498475" algn="l"/>
              </a:tabLst>
              <a:defRPr>
                <a:solidFill>
                  <a:schemeClr val="tx1"/>
                </a:solidFill>
                <a:latin typeface="Arial" panose="020B0604020202020204" pitchFamily="34" charset="0"/>
              </a:defRPr>
            </a:lvl5pPr>
            <a:lvl6pPr eaLnBrk="0" fontAlgn="base" hangingPunct="0">
              <a:spcBef>
                <a:spcPct val="0"/>
              </a:spcBef>
              <a:spcAft>
                <a:spcPct val="0"/>
              </a:spcAft>
              <a:tabLst>
                <a:tab pos="498475" algn="l"/>
              </a:tabLst>
              <a:defRPr>
                <a:solidFill>
                  <a:schemeClr val="tx1"/>
                </a:solidFill>
                <a:latin typeface="Arial" panose="020B0604020202020204" pitchFamily="34" charset="0"/>
              </a:defRPr>
            </a:lvl6pPr>
            <a:lvl7pPr eaLnBrk="0" fontAlgn="base" hangingPunct="0">
              <a:spcBef>
                <a:spcPct val="0"/>
              </a:spcBef>
              <a:spcAft>
                <a:spcPct val="0"/>
              </a:spcAft>
              <a:tabLst>
                <a:tab pos="498475" algn="l"/>
              </a:tabLst>
              <a:defRPr>
                <a:solidFill>
                  <a:schemeClr val="tx1"/>
                </a:solidFill>
                <a:latin typeface="Arial" panose="020B0604020202020204" pitchFamily="34" charset="0"/>
              </a:defRPr>
            </a:lvl7pPr>
            <a:lvl8pPr eaLnBrk="0" fontAlgn="base" hangingPunct="0">
              <a:spcBef>
                <a:spcPct val="0"/>
              </a:spcBef>
              <a:spcAft>
                <a:spcPct val="0"/>
              </a:spcAft>
              <a:tabLst>
                <a:tab pos="498475" algn="l"/>
              </a:tabLst>
              <a:defRPr>
                <a:solidFill>
                  <a:schemeClr val="tx1"/>
                </a:solidFill>
                <a:latin typeface="Arial" panose="020B0604020202020204" pitchFamily="34" charset="0"/>
              </a:defRPr>
            </a:lvl8pPr>
            <a:lvl9pPr eaLnBrk="0" fontAlgn="base" hangingPunct="0">
              <a:spcBef>
                <a:spcPct val="0"/>
              </a:spcBef>
              <a:spcAft>
                <a:spcPct val="0"/>
              </a:spcAft>
              <a:tabLst>
                <a:tab pos="498475" algn="l"/>
              </a:tabLst>
              <a:defRPr>
                <a:solidFill>
                  <a:schemeClr val="tx1"/>
                </a:solidFill>
                <a:latin typeface="Arial" panose="020B0604020202020204" pitchFamily="34" charset="0"/>
              </a:defRPr>
            </a:lvl9pPr>
          </a:lstStyle>
          <a:p>
            <a:pPr>
              <a:lnSpc>
                <a:spcPct val="120000"/>
              </a:lnSpc>
              <a:spcBef>
                <a:spcPts val="0"/>
              </a:spcBef>
              <a:buNone/>
            </a:pP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根据</a:t>
            </a:r>
            <a:r>
              <a:rPr lang="zh-CN" altLang="en-US" dirty="0">
                <a:latin typeface="Times New Roman" panose="02020603050405020304" pitchFamily="18" charset="0"/>
                <a:ea typeface="宋体" panose="02010600030101010101" pitchFamily="2" charset="-122"/>
                <a:cs typeface="Times New Roman" panose="02020603050405020304" pitchFamily="18" charset="0"/>
              </a:rPr>
              <a:t>表</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输入参数，完成多层密绕空心螺线管线圈程序设计。</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ts val="0"/>
              </a:spcBef>
              <a:buNone/>
            </a:pPr>
            <a:r>
              <a:rPr lang="en-US" altLang="zh-CN" sz="1800" kern="100" dirty="0">
                <a:effectLst/>
                <a:latin typeface="Times New Roman" panose="02020603050405020304" pitchFamily="18" charset="0"/>
                <a:ea typeface="宋体" panose="02010600030101010101" pitchFamily="2" charset="-122"/>
              </a:rPr>
              <a:t>2</a:t>
            </a:r>
            <a:r>
              <a:rPr lang="zh-CN" altLang="en-US" sz="1800" kern="100" dirty="0">
                <a:effectLst/>
                <a:latin typeface="Times New Roman" panose="02020603050405020304" pitchFamily="18" charset="0"/>
                <a:ea typeface="宋体" panose="02010600030101010101" pitchFamily="2" charset="-122"/>
              </a:rPr>
              <a:t>）输出制作</a:t>
            </a:r>
            <a:r>
              <a:rPr lang="zh-CN" altLang="zh-CN" sz="1800" kern="100" dirty="0">
                <a:effectLst/>
                <a:latin typeface="Times New Roman" panose="02020603050405020304" pitchFamily="18" charset="0"/>
                <a:ea typeface="宋体" panose="02010600030101010101" pitchFamily="2" charset="-122"/>
              </a:rPr>
              <a:t>参数：线圈层数、导线线径、线圈内径、线圈匝数、最终电感值、铜导线长度、</a:t>
            </a:r>
            <a:r>
              <a:rPr lang="zh-CN" altLang="en-US" sz="1800" kern="100" dirty="0">
                <a:effectLst/>
                <a:latin typeface="Times New Roman" panose="02020603050405020304" pitchFamily="18" charset="0"/>
                <a:ea typeface="宋体" panose="02010600030101010101" pitchFamily="2" charset="-122"/>
              </a:rPr>
              <a:t>线圈</a:t>
            </a:r>
            <a:r>
              <a:rPr lang="zh-CN" altLang="zh-CN" sz="1800" kern="100" dirty="0">
                <a:effectLst/>
                <a:latin typeface="Times New Roman" panose="02020603050405020304" pitchFamily="18" charset="0"/>
                <a:ea typeface="宋体" panose="02010600030101010101" pitchFamily="2" charset="-122"/>
              </a:rPr>
              <a:t>电阻值。</a:t>
            </a:r>
            <a:endParaRPr lang="en-US" altLang="zh-CN" sz="1800" kern="100" dirty="0">
              <a:effectLst/>
              <a:latin typeface="Times New Roman" panose="02020603050405020304" pitchFamily="18" charset="0"/>
              <a:ea typeface="宋体" panose="02010600030101010101" pitchFamily="2" charset="-122"/>
            </a:endParaRPr>
          </a:p>
          <a:p>
            <a:pPr>
              <a:lnSpc>
                <a:spcPct val="120000"/>
              </a:lnSpc>
              <a:spcBef>
                <a:spcPts val="0"/>
              </a:spcBef>
              <a:buNone/>
            </a:pPr>
            <a:r>
              <a:rPr lang="en-US" altLang="zh-CN" sz="1800" kern="100" dirty="0">
                <a:effectLst/>
                <a:latin typeface="Times New Roman" panose="02020603050405020304" pitchFamily="18" charset="0"/>
                <a:ea typeface="宋体" panose="02010600030101010101" pitchFamily="2" charset="-122"/>
              </a:rPr>
              <a:t>3</a:t>
            </a:r>
            <a:r>
              <a:rPr lang="zh-CN" altLang="en-US" sz="1800" kern="100" dirty="0">
                <a:effectLst/>
                <a:latin typeface="Times New Roman" panose="02020603050405020304" pitchFamily="18" charset="0"/>
                <a:ea typeface="宋体" panose="02010600030101010101" pitchFamily="2" charset="-122"/>
              </a:rPr>
              <a:t>）根据</a:t>
            </a:r>
            <a:r>
              <a:rPr lang="zh-CN" altLang="zh-CN" sz="1800" kern="100" dirty="0">
                <a:effectLst/>
                <a:latin typeface="Times New Roman" panose="02020603050405020304" pitchFamily="18" charset="0"/>
                <a:ea typeface="宋体" panose="02010600030101010101" pitchFamily="2" charset="-122"/>
              </a:rPr>
              <a:t>额定电感允许偏差值，自动迭代计算，获得最终电感值。</a:t>
            </a:r>
            <a:endParaRPr lang="en-US" altLang="zh-CN" sz="1800" kern="100" dirty="0">
              <a:effectLst/>
              <a:latin typeface="Times New Roman" panose="02020603050405020304" pitchFamily="18" charset="0"/>
              <a:ea typeface="宋体" panose="02010600030101010101" pitchFamily="2" charset="-122"/>
            </a:endParaRPr>
          </a:p>
          <a:p>
            <a:pPr>
              <a:lnSpc>
                <a:spcPct val="120000"/>
              </a:lnSpc>
              <a:spcBef>
                <a:spcPts val="0"/>
              </a:spcBef>
              <a:buNone/>
            </a:pPr>
            <a:r>
              <a:rPr lang="en-US" altLang="zh-CN" kern="100" dirty="0">
                <a:latin typeface="Times New Roman" panose="02020603050405020304" pitchFamily="18" charset="0"/>
                <a:ea typeface="宋体" panose="02010600030101010101" pitchFamily="2" charset="-122"/>
              </a:rPr>
              <a:t>4</a:t>
            </a:r>
            <a:r>
              <a:rPr lang="zh-CN" altLang="en-US" kern="100" dirty="0">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具有判断功能。满足条件的值存在时，输出最终结果；循环迭代</a:t>
            </a:r>
            <a:r>
              <a:rPr lang="en-US" altLang="zh-CN" sz="1800" kern="100" dirty="0">
                <a:effectLst/>
                <a:latin typeface="Times New Roman" panose="02020603050405020304" pitchFamily="18" charset="0"/>
                <a:ea typeface="宋体" panose="02010600030101010101" pitchFamily="2" charset="-122"/>
              </a:rPr>
              <a:t>10000</a:t>
            </a:r>
            <a:r>
              <a:rPr lang="zh-CN" altLang="zh-CN" sz="1800" kern="100" dirty="0">
                <a:effectLst/>
                <a:latin typeface="Times New Roman" panose="02020603050405020304" pitchFamily="18" charset="0"/>
                <a:ea typeface="宋体" panose="02010600030101010101" pitchFamily="2" charset="-122"/>
              </a:rPr>
              <a:t>次后，仍不能满足条件时，提示重新输入参数。</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6" name="文本框 5"/>
          <p:cNvSpPr txBox="1"/>
          <p:nvPr/>
        </p:nvSpPr>
        <p:spPr>
          <a:xfrm>
            <a:off x="2425871" y="6027296"/>
            <a:ext cx="2815082" cy="36933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498475" algn="l"/>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空心电感输入参数</a:t>
            </a:r>
            <a:endParaRPr kumimoji="0" lang="zh-CN" altLang="en-US" sz="1400" b="0" i="0" u="none" strike="noStrike" cap="none" normalizeH="0" baseline="0" dirty="0">
              <a:ln>
                <a:noFill/>
              </a:ln>
              <a:solidFill>
                <a:schemeClr val="tx1"/>
              </a:solidFill>
              <a:effectLst/>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2686" y="3277416"/>
            <a:ext cx="2292985" cy="2868748"/>
          </a:xfrm>
          <a:prstGeom prst="rect">
            <a:avLst/>
          </a:prstGeom>
        </p:spPr>
      </p:pic>
      <p:sp>
        <p:nvSpPr>
          <p:cNvPr id="21"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17/26</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p:nvSpPr>
        <p:spPr>
          <a:xfrm>
            <a:off x="5468648" y="1530834"/>
            <a:ext cx="6829044" cy="4028539"/>
          </a:xfrm>
          <a:prstGeom prst="rect">
            <a:avLst/>
          </a:prstGeom>
          <a:noFill/>
        </p:spPr>
        <p:txBody>
          <a:bodyPr wrap="square">
            <a:spAutoFit/>
          </a:bodyPr>
          <a:lstStyle/>
          <a:p>
            <a:pPr algn="just">
              <a:lnSpc>
                <a:spcPct val="120000"/>
              </a:lnSpc>
              <a:spcBef>
                <a:spcPts val="600"/>
              </a:spcBef>
              <a:buNone/>
            </a:pPr>
            <a:r>
              <a:rPr lang="zh-CN" altLang="en-US" b="1" kern="100" dirty="0">
                <a:latin typeface="Times New Roman" panose="02020603050405020304" pitchFamily="18" charset="0"/>
                <a:ea typeface="宋体" panose="02010600030101010101" pitchFamily="2" charset="-122"/>
              </a:rPr>
              <a:t>（</a:t>
            </a:r>
            <a:r>
              <a:rPr lang="en-US" altLang="zh-CN" b="1" kern="100" dirty="0">
                <a:latin typeface="Times New Roman" panose="02020603050405020304" pitchFamily="18" charset="0"/>
                <a:ea typeface="宋体" panose="02010600030101010101" pitchFamily="2" charset="-122"/>
              </a:rPr>
              <a:t>2</a:t>
            </a:r>
            <a:r>
              <a:rPr lang="zh-CN" altLang="en-US" b="1" kern="100" dirty="0">
                <a:latin typeface="Times New Roman" panose="02020603050405020304" pitchFamily="18" charset="0"/>
                <a:ea typeface="宋体" panose="02010600030101010101" pitchFamily="2" charset="-122"/>
              </a:rPr>
              <a:t>）空心线圈高度与层平均匝数关系</a:t>
            </a:r>
            <a:endParaRPr lang="en-US" altLang="zh-CN" b="1"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a:p>
            <a:pPr indent="575945" algn="just">
              <a:lnSpc>
                <a:spcPct val="150000"/>
              </a:lnSpc>
              <a:buNone/>
            </a:pPr>
            <a:r>
              <a:rPr lang="zh-CN" altLang="en-US" sz="1800" kern="100" dirty="0">
                <a:effectLst/>
                <a:latin typeface="Times New Roman" panose="02020603050405020304" pitchFamily="18" charset="0"/>
                <a:ea typeface="宋体" panose="02010600030101010101" pitchFamily="2" charset="-122"/>
              </a:rPr>
              <a:t>      ：线圈高度（</a:t>
            </a:r>
            <a:r>
              <a:rPr lang="en-US" altLang="zh-CN" sz="1800" kern="100" dirty="0">
                <a:effectLst/>
                <a:latin typeface="Times New Roman" panose="02020603050405020304" pitchFamily="18" charset="0"/>
                <a:ea typeface="宋体" panose="02010600030101010101" pitchFamily="2" charset="-122"/>
              </a:rPr>
              <a:t>mm</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50000"/>
              </a:lnSpc>
              <a:buNone/>
            </a:pPr>
            <a:r>
              <a:rPr lang="zh-CN" altLang="en-US" kern="100" dirty="0">
                <a:latin typeface="Times New Roman" panose="02020603050405020304" pitchFamily="18" charset="0"/>
                <a:ea typeface="宋体" panose="02010600030101010101" pitchFamily="2" charset="-122"/>
              </a:rPr>
              <a:t>      ：</a:t>
            </a:r>
            <a:r>
              <a:rPr lang="zh-CN" altLang="en-US" sz="1800" kern="100" dirty="0">
                <a:effectLst/>
                <a:latin typeface="Times New Roman" panose="02020603050405020304" pitchFamily="18" charset="0"/>
                <a:ea typeface="宋体" panose="02010600030101010101" pitchFamily="2" charset="-122"/>
              </a:rPr>
              <a:t>空心线圈各层平均匝数（匝）</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50000"/>
              </a:lnSpc>
              <a:buNone/>
            </a:pPr>
            <a:r>
              <a:rPr lang="zh-CN" altLang="en-US" kern="100" dirty="0">
                <a:latin typeface="Times New Roman" panose="02020603050405020304" pitchFamily="18" charset="0"/>
                <a:ea typeface="宋体" panose="02010600030101010101" pitchFamily="2" charset="-122"/>
              </a:rPr>
              <a:t>      ：</a:t>
            </a:r>
            <a:r>
              <a:rPr lang="zh-CN" altLang="en-US" sz="1800" kern="100" dirty="0">
                <a:effectLst/>
                <a:latin typeface="Times New Roman" panose="02020603050405020304" pitchFamily="18" charset="0"/>
                <a:ea typeface="宋体" panose="02010600030101010101" pitchFamily="2" charset="-122"/>
              </a:rPr>
              <a:t>导线线径（</a:t>
            </a:r>
            <a:r>
              <a:rPr lang="en-US" altLang="zh-CN" sz="1800" kern="100" dirty="0">
                <a:effectLst/>
                <a:latin typeface="Times New Roman" panose="02020603050405020304" pitchFamily="18" charset="0"/>
                <a:ea typeface="宋体" panose="02010600030101010101" pitchFamily="2" charset="-122"/>
              </a:rPr>
              <a:t>mm</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50000"/>
              </a:lnSpc>
              <a:buNone/>
            </a:pPr>
            <a:r>
              <a:rPr lang="zh-CN" altLang="en-US" kern="100" dirty="0">
                <a:latin typeface="Times New Roman" panose="02020603050405020304" pitchFamily="18" charset="0"/>
                <a:ea typeface="宋体" panose="02010600030101010101" pitchFamily="2" charset="-122"/>
              </a:rPr>
              <a:t>      ：</a:t>
            </a:r>
            <a:r>
              <a:rPr lang="zh-CN" altLang="en-US" sz="1800" kern="100" dirty="0">
                <a:effectLst/>
                <a:latin typeface="Times New Roman" panose="02020603050405020304" pitchFamily="18" charset="0"/>
                <a:ea typeface="宋体" panose="02010600030101010101" pitchFamily="2" charset="-122"/>
              </a:rPr>
              <a:t>绕线系数，一般取</a:t>
            </a:r>
            <a:r>
              <a:rPr lang="en-US" altLang="zh-CN" sz="1800" kern="100" dirty="0">
                <a:effectLst/>
                <a:latin typeface="Times New Roman" panose="02020603050405020304" pitchFamily="18" charset="0"/>
                <a:ea typeface="宋体" panose="02010600030101010101" pitchFamily="2" charset="-122"/>
              </a:rPr>
              <a:t>1.05</a:t>
            </a:r>
            <a:endParaRPr lang="zh-CN" altLang="zh-CN" sz="1800" kern="100" dirty="0">
              <a:effectLst/>
              <a:latin typeface="Times New Roman" panose="02020603050405020304" pitchFamily="18" charset="0"/>
              <a:ea typeface="宋体" panose="02010600030101010101" pitchFamily="2" charset="-122"/>
            </a:endParaRPr>
          </a:p>
        </p:txBody>
      </p:sp>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p:cNvSpPr txBox="1"/>
          <p:nvPr/>
        </p:nvSpPr>
        <p:spPr>
          <a:xfrm>
            <a:off x="487680" y="105459"/>
            <a:ext cx="7575006" cy="646331"/>
          </a:xfrm>
          <a:prstGeom prst="rect">
            <a:avLst/>
          </a:prstGeom>
          <a:noFill/>
        </p:spPr>
        <p:txBody>
          <a:bodyPr wrap="square" rtlCol="0">
            <a:spAutoFit/>
          </a:bodyPr>
          <a:lstStyle/>
          <a:p>
            <a:r>
              <a:rPr lang="zh-CN" altLang="en-US" sz="3600" b="1" dirty="0"/>
              <a:t>五</a:t>
            </a:r>
            <a:r>
              <a:rPr lang="en-US" altLang="zh-CN" sz="3600" b="1" dirty="0"/>
              <a:t>.</a:t>
            </a:r>
            <a:r>
              <a:rPr lang="zh-CN" altLang="en-US" sz="3600" b="1" dirty="0"/>
              <a:t> 实验内容</a:t>
            </a:r>
            <a:endParaRPr lang="zh-CN" altLang="en-US" sz="3600" b="1" dirty="0"/>
          </a:p>
        </p:txBody>
      </p:sp>
      <p:sp>
        <p:nvSpPr>
          <p:cNvPr id="46" name="TextBox 36"/>
          <p:cNvSpPr txBox="1">
            <a:spLocks noChangeArrowheads="1"/>
          </p:cNvSpPr>
          <p:nvPr/>
        </p:nvSpPr>
        <p:spPr bwMode="auto">
          <a:xfrm>
            <a:off x="530120" y="880275"/>
            <a:ext cx="9452080" cy="461665"/>
          </a:xfrm>
          <a:prstGeom prst="rect">
            <a:avLst/>
          </a:prstGeom>
          <a:noFill/>
          <a:ln w="9525">
            <a:noFill/>
            <a:miter lim="800000"/>
          </a:ln>
        </p:spPr>
        <p:txBody>
          <a:bodyPr wrap="square">
            <a:spAutoFit/>
          </a:bodyPr>
          <a:lstStyle/>
          <a:p>
            <a:r>
              <a:rPr lang="en-US" altLang="zh-CN" sz="2400" b="1" dirty="0">
                <a:solidFill>
                  <a:srgbClr val="0033CC"/>
                </a:solidFill>
              </a:rPr>
              <a:t>1.</a:t>
            </a:r>
            <a:r>
              <a:rPr lang="zh-CN" altLang="en-US" sz="2400" b="1" dirty="0">
                <a:solidFill>
                  <a:srgbClr val="0033CC"/>
                </a:solidFill>
              </a:rPr>
              <a:t>编程任务：</a:t>
            </a:r>
            <a:r>
              <a:rPr lang="zh-CN" altLang="en-US" sz="2400" b="1" dirty="0"/>
              <a:t>设计一个多层密绕空心螺线管线圈。</a:t>
            </a:r>
            <a:endParaRPr lang="en-US" altLang="zh-CN" sz="2400" b="1" dirty="0"/>
          </a:p>
        </p:txBody>
      </p:sp>
      <p:graphicFrame>
        <p:nvGraphicFramePr>
          <p:cNvPr id="28" name="对象 27"/>
          <p:cNvGraphicFramePr>
            <a:graphicFrameLocks noChangeAspect="1"/>
          </p:cNvGraphicFramePr>
          <p:nvPr/>
        </p:nvGraphicFramePr>
        <p:xfrm>
          <a:off x="6176926" y="2296543"/>
          <a:ext cx="1652469" cy="450911"/>
        </p:xfrm>
        <a:graphic>
          <a:graphicData uri="http://schemas.openxmlformats.org/presentationml/2006/ole">
            <mc:AlternateContent xmlns:mc="http://schemas.openxmlformats.org/markup-compatibility/2006">
              <mc:Choice xmlns:v="urn:schemas-microsoft-com:vml" Requires="v">
                <p:oleObj spid="_x0000_s9290" name="Equation" r:id="rId2" imgW="989965" imgH="254000" progId="Equation.DSMT4">
                  <p:embed/>
                </p:oleObj>
              </mc:Choice>
              <mc:Fallback>
                <p:oleObj name="Equation" r:id="rId2" imgW="989965" imgH="254000" progId="Equation.DSMT4">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6926" y="2296543"/>
                        <a:ext cx="1652469" cy="450911"/>
                      </a:xfrm>
                      <a:prstGeom prst="rect">
                        <a:avLst/>
                      </a:prstGeom>
                      <a:noFill/>
                    </p:spPr>
                  </p:pic>
                </p:oleObj>
              </mc:Fallback>
            </mc:AlternateContent>
          </a:graphicData>
        </a:graphic>
      </p:graphicFrame>
      <p:graphicFrame>
        <p:nvGraphicFramePr>
          <p:cNvPr id="34" name="对象 33"/>
          <p:cNvGraphicFramePr>
            <a:graphicFrameLocks noChangeAspect="1"/>
          </p:cNvGraphicFramePr>
          <p:nvPr/>
        </p:nvGraphicFramePr>
        <p:xfrm>
          <a:off x="6128369" y="3973243"/>
          <a:ext cx="286365" cy="286365"/>
        </p:xfrm>
        <a:graphic>
          <a:graphicData uri="http://schemas.openxmlformats.org/presentationml/2006/ole">
            <mc:AlternateContent xmlns:mc="http://schemas.openxmlformats.org/markup-compatibility/2006">
              <mc:Choice xmlns:v="urn:schemas-microsoft-com:vml" Requires="v">
                <p:oleObj spid="_x0000_s9291" name="Equation" r:id="rId4" imgW="177800" imgH="165100" progId="Equation.DSMT4">
                  <p:embed/>
                </p:oleObj>
              </mc:Choice>
              <mc:Fallback>
                <p:oleObj name="Equation" r:id="rId4" imgW="177800" imgH="165100" progId="Equation.DSMT4">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8369" y="3973243"/>
                        <a:ext cx="286365" cy="286365"/>
                      </a:xfrm>
                      <a:prstGeom prst="rect">
                        <a:avLst/>
                      </a:prstGeom>
                      <a:noFill/>
                    </p:spPr>
                  </p:pic>
                </p:oleObj>
              </mc:Fallback>
            </mc:AlternateContent>
          </a:graphicData>
        </a:graphic>
      </p:graphicFrame>
      <p:graphicFrame>
        <p:nvGraphicFramePr>
          <p:cNvPr id="36" name="对象 35"/>
          <p:cNvGraphicFramePr>
            <a:graphicFrameLocks noChangeAspect="1"/>
          </p:cNvGraphicFramePr>
          <p:nvPr/>
        </p:nvGraphicFramePr>
        <p:xfrm>
          <a:off x="6128369" y="4359579"/>
          <a:ext cx="286365" cy="346128"/>
        </p:xfrm>
        <a:graphic>
          <a:graphicData uri="http://schemas.openxmlformats.org/presentationml/2006/ole">
            <mc:AlternateContent xmlns:mc="http://schemas.openxmlformats.org/markup-compatibility/2006">
              <mc:Choice xmlns:v="urn:schemas-microsoft-com:vml" Requires="v">
                <p:oleObj spid="_x0000_s9292" name="Equation" r:id="rId6" imgW="177800" imgH="215900" progId="Equation.DSMT4">
                  <p:embed/>
                </p:oleObj>
              </mc:Choice>
              <mc:Fallback>
                <p:oleObj name="Equation" r:id="rId6" imgW="177800" imgH="215900" progId="Equation.DSMT4">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28369" y="4359579"/>
                        <a:ext cx="286365" cy="346128"/>
                      </a:xfrm>
                      <a:prstGeom prst="rect">
                        <a:avLst/>
                      </a:prstGeom>
                      <a:noFill/>
                    </p:spPr>
                  </p:pic>
                </p:oleObj>
              </mc:Fallback>
            </mc:AlternateContent>
          </a:graphicData>
        </a:graphic>
      </p:graphicFrame>
      <p:graphicFrame>
        <p:nvGraphicFramePr>
          <p:cNvPr id="38" name="对象 37"/>
          <p:cNvGraphicFramePr>
            <a:graphicFrameLocks noChangeAspect="1"/>
          </p:cNvGraphicFramePr>
          <p:nvPr/>
        </p:nvGraphicFramePr>
        <p:xfrm>
          <a:off x="6128369" y="5192012"/>
          <a:ext cx="383478" cy="383478"/>
        </p:xfrm>
        <a:graphic>
          <a:graphicData uri="http://schemas.openxmlformats.org/presentationml/2006/ole">
            <mc:AlternateContent xmlns:mc="http://schemas.openxmlformats.org/markup-compatibility/2006">
              <mc:Choice xmlns:v="urn:schemas-microsoft-com:vml" Requires="v">
                <p:oleObj spid="_x0000_s9293" name="Equation" r:id="rId8" imgW="241300" imgH="228600" progId="Equation.DSMT4">
                  <p:embed/>
                </p:oleObj>
              </mc:Choice>
              <mc:Fallback>
                <p:oleObj name="Equation" r:id="rId8" imgW="241300" imgH="228600" progId="Equation.DSMT4">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28369" y="5192012"/>
                        <a:ext cx="383478" cy="383478"/>
                      </a:xfrm>
                      <a:prstGeom prst="rect">
                        <a:avLst/>
                      </a:prstGeom>
                      <a:noFill/>
                    </p:spPr>
                  </p:pic>
                </p:oleObj>
              </mc:Fallback>
            </mc:AlternateContent>
          </a:graphicData>
        </a:graphic>
      </p:graphicFrame>
      <p:graphicFrame>
        <p:nvGraphicFramePr>
          <p:cNvPr id="40" name="对象 39"/>
          <p:cNvGraphicFramePr>
            <a:graphicFrameLocks noChangeAspect="1"/>
          </p:cNvGraphicFramePr>
          <p:nvPr/>
        </p:nvGraphicFramePr>
        <p:xfrm>
          <a:off x="6128369" y="4805678"/>
          <a:ext cx="214150" cy="286364"/>
        </p:xfrm>
        <a:graphic>
          <a:graphicData uri="http://schemas.openxmlformats.org/presentationml/2006/ole">
            <mc:AlternateContent xmlns:mc="http://schemas.openxmlformats.org/markup-compatibility/2006">
              <mc:Choice xmlns:v="urn:schemas-microsoft-com:vml" Requires="v">
                <p:oleObj spid="_x0000_s9294" name="Equation" r:id="rId10" imgW="139700" imgH="177800" progId="Equation.DSMT4">
                  <p:embed/>
                </p:oleObj>
              </mc:Choice>
              <mc:Fallback>
                <p:oleObj name="Equation" r:id="rId10" imgW="139700" imgH="177800" progId="Equation.DSMT4">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28369" y="4805678"/>
                        <a:ext cx="214150" cy="286364"/>
                      </a:xfrm>
                      <a:prstGeom prst="rect">
                        <a:avLst/>
                      </a:prstGeom>
                      <a:noFill/>
                    </p:spPr>
                  </p:pic>
                </p:oleObj>
              </mc:Fallback>
            </mc:AlternateContent>
          </a:graphicData>
        </a:graphic>
      </p:graphicFrame>
      <p:graphicFrame>
        <p:nvGraphicFramePr>
          <p:cNvPr id="41" name="对象 40"/>
          <p:cNvGraphicFramePr>
            <a:graphicFrameLocks noChangeAspect="1"/>
          </p:cNvGraphicFramePr>
          <p:nvPr/>
        </p:nvGraphicFramePr>
        <p:xfrm>
          <a:off x="6901316" y="2930839"/>
          <a:ext cx="1292225" cy="766763"/>
        </p:xfrm>
        <a:graphic>
          <a:graphicData uri="http://schemas.openxmlformats.org/presentationml/2006/ole">
            <mc:AlternateContent xmlns:mc="http://schemas.openxmlformats.org/markup-compatibility/2006">
              <mc:Choice xmlns:v="urn:schemas-microsoft-com:vml" Requires="v">
                <p:oleObj spid="_x0000_s9295" name="Equation" r:id="rId12" imgW="18592800" imgH="10363200" progId="Equation.DSMT4">
                  <p:embed/>
                </p:oleObj>
              </mc:Choice>
              <mc:Fallback>
                <p:oleObj name="Equation" r:id="rId12" imgW="18592800" imgH="10363200" progId="Equation.DSMT4">
                  <p:embed/>
                  <p:pic>
                    <p:nvPicPr>
                      <p:cNvPr id="0" name="对象 27"/>
                      <p:cNvPicPr>
                        <a:picLocks noChangeAspect="1" noChangeArrowheads="1"/>
                      </p:cNvPicPr>
                      <p:nvPr/>
                    </p:nvPicPr>
                    <p:blipFill>
                      <a:blip r:embed="rId13"/>
                      <a:srcRect/>
                      <a:stretch>
                        <a:fillRect/>
                      </a:stretch>
                    </p:blipFill>
                    <p:spPr bwMode="auto">
                      <a:xfrm>
                        <a:off x="6901316" y="2930839"/>
                        <a:ext cx="1292225" cy="766763"/>
                      </a:xfrm>
                      <a:prstGeom prst="rect">
                        <a:avLst/>
                      </a:prstGeom>
                      <a:noFill/>
                    </p:spPr>
                  </p:pic>
                </p:oleObj>
              </mc:Fallback>
            </mc:AlternateContent>
          </a:graphicData>
        </a:graphic>
      </p:graphicFrame>
      <p:sp>
        <p:nvSpPr>
          <p:cNvPr id="42" name="箭头: 右 41"/>
          <p:cNvSpPr/>
          <p:nvPr/>
        </p:nvSpPr>
        <p:spPr>
          <a:xfrm>
            <a:off x="6209771" y="3090181"/>
            <a:ext cx="434823" cy="351717"/>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3" name="文本框 42"/>
          <p:cNvSpPr txBox="1"/>
          <p:nvPr/>
        </p:nvSpPr>
        <p:spPr>
          <a:xfrm>
            <a:off x="419382" y="1530834"/>
            <a:ext cx="6829044" cy="802271"/>
          </a:xfrm>
          <a:prstGeom prst="rect">
            <a:avLst/>
          </a:prstGeom>
          <a:noFill/>
        </p:spPr>
        <p:txBody>
          <a:bodyPr wrap="square">
            <a:spAutoFit/>
          </a:bodyPr>
          <a:lstStyle/>
          <a:p>
            <a:pPr algn="just">
              <a:lnSpc>
                <a:spcPct val="120000"/>
              </a:lnSpc>
              <a:buNone/>
            </a:pPr>
            <a:r>
              <a:rPr lang="zh-CN" altLang="zh-CN" sz="1800" b="1" kern="100" dirty="0">
                <a:effectLst/>
                <a:latin typeface="Times New Roman" panose="02020603050405020304" pitchFamily="18" charset="0"/>
                <a:ea typeface="宋体" panose="02010600030101010101" pitchFamily="2" charset="-122"/>
              </a:rPr>
              <a:t>（</a:t>
            </a:r>
            <a:r>
              <a:rPr lang="en-US" altLang="zh-CN" sz="1800" b="1" kern="100" dirty="0">
                <a:effectLst/>
                <a:latin typeface="Times New Roman" panose="02020603050405020304" pitchFamily="18" charset="0"/>
                <a:ea typeface="宋体" panose="02010600030101010101" pitchFamily="2" charset="-122"/>
              </a:rPr>
              <a:t>1</a:t>
            </a:r>
            <a:r>
              <a:rPr lang="zh-CN" altLang="zh-CN" sz="1800" b="1" kern="100" dirty="0">
                <a:effectLst/>
                <a:latin typeface="Times New Roman" panose="02020603050405020304" pitchFamily="18" charset="0"/>
                <a:ea typeface="宋体" panose="02010600030101010101" pitchFamily="2" charset="-122"/>
              </a:rPr>
              <a:t>）电流与线径的关系</a:t>
            </a:r>
            <a:endParaRPr lang="en-US" altLang="zh-CN" b="1" kern="100" dirty="0">
              <a:latin typeface="Times New Roman" panose="02020603050405020304" pitchFamily="18" charset="0"/>
              <a:ea typeface="宋体" panose="02010600030101010101" pitchFamily="2" charset="-122"/>
            </a:endParaRPr>
          </a:p>
          <a:p>
            <a:pPr indent="575945" algn="just">
              <a:lnSpc>
                <a:spcPct val="120000"/>
              </a:lnSpc>
              <a:spcBef>
                <a:spcPts val="600"/>
              </a:spcBef>
              <a:buNone/>
            </a:pPr>
            <a:r>
              <a:rPr lang="en-US" altLang="zh-CN" sz="1800" kern="100" dirty="0">
                <a:effectLst/>
                <a:latin typeface="Times New Roman" panose="02020603050405020304" pitchFamily="18" charset="0"/>
                <a:ea typeface="宋体" panose="02010600030101010101" pitchFamily="2" charset="-122"/>
              </a:rPr>
              <a:t>1mm</a:t>
            </a:r>
            <a:r>
              <a:rPr lang="en-US" altLang="zh-CN" sz="1800" kern="100" baseline="30000" dirty="0">
                <a:effectLst/>
                <a:latin typeface="Times New Roman" panose="02020603050405020304" pitchFamily="18" charset="0"/>
                <a:ea typeface="宋体" panose="02010600030101010101" pitchFamily="2" charset="-122"/>
              </a:rPr>
              <a:t>2</a:t>
            </a:r>
            <a:r>
              <a:rPr lang="zh-CN" altLang="zh-CN" kern="100" dirty="0">
                <a:latin typeface="Times New Roman" panose="02020603050405020304" pitchFamily="18" charset="0"/>
                <a:ea typeface="宋体" panose="02010600030101010101" pitchFamily="2" charset="-122"/>
              </a:rPr>
              <a:t>的铜导线</a:t>
            </a:r>
            <a:r>
              <a:rPr lang="zh-CN" altLang="zh-CN" sz="1800" kern="100" dirty="0">
                <a:effectLst/>
                <a:latin typeface="Times New Roman" panose="02020603050405020304" pitchFamily="18" charset="0"/>
                <a:ea typeface="宋体" panose="02010600030101010101" pitchFamily="2" charset="-122"/>
              </a:rPr>
              <a:t>截面允许通过</a:t>
            </a:r>
            <a:r>
              <a:rPr lang="en-US" altLang="zh-CN" sz="1800" kern="100" dirty="0">
                <a:effectLst/>
                <a:latin typeface="Times New Roman" panose="02020603050405020304" pitchFamily="18" charset="0"/>
                <a:ea typeface="宋体" panose="02010600030101010101" pitchFamily="2" charset="-122"/>
              </a:rPr>
              <a:t>5~8A</a:t>
            </a:r>
            <a:r>
              <a:rPr lang="zh-CN" altLang="zh-CN" sz="1800" kern="100" dirty="0">
                <a:effectLst/>
                <a:latin typeface="Times New Roman" panose="02020603050405020304" pitchFamily="18" charset="0"/>
                <a:ea typeface="宋体" panose="02010600030101010101" pitchFamily="2" charset="-122"/>
              </a:rPr>
              <a:t>的电流。</a:t>
            </a:r>
            <a:endParaRPr lang="zh-CN" altLang="zh-CN" sz="18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graphicFrame>
            <p:nvGraphicFramePr>
              <p:cNvPr id="44" name="表格 43"/>
              <p:cNvGraphicFramePr>
                <a:graphicFrameLocks noGrp="1"/>
              </p:cNvGraphicFramePr>
              <p:nvPr/>
            </p:nvGraphicFramePr>
            <p:xfrm>
              <a:off x="1000351" y="2597117"/>
              <a:ext cx="4032767" cy="2363578"/>
            </p:xfrm>
            <a:graphic>
              <a:graphicData uri="http://schemas.openxmlformats.org/drawingml/2006/table">
                <a:tbl>
                  <a:tblPr firstRow="1" firstCol="1" bandRow="1">
                    <a:tableStyleId>{69012ECD-51FC-41F1-AA8D-1B2483CD663E}</a:tableStyleId>
                  </a:tblPr>
                  <a:tblGrid>
                    <a:gridCol w="2059486"/>
                    <a:gridCol w="1973281"/>
                  </a:tblGrid>
                  <a:tr h="337654">
                    <a:tc>
                      <a:txBody>
                        <a:bodyPr/>
                        <a:lstStyle/>
                        <a:p>
                          <a:pPr algn="ctr">
                            <a:lnSpc>
                              <a:spcPts val="1200"/>
                            </a:lnSpc>
                            <a:buNone/>
                          </a:pP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最大电流</a:t>
                          </a:r>
                          <a:r>
                            <a:rPr lang="en-US"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I/A</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线径</a:t>
                          </a:r>
                          <a:r>
                            <a:rPr lang="en-US"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d/mm</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0.46</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0.56</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0.68</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0.77</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marL="0" marR="0" lvl="0" indent="0" algn="ctr" defTabSz="914400" rtl="0" eaLnBrk="1" fontAlgn="auto" latinLnBrk="0" hangingPunct="1">
                            <a:lnSpc>
                              <a:spcPts val="1200"/>
                            </a:lnSpc>
                            <a:spcBef>
                              <a:spcPts val="0"/>
                            </a:spcBef>
                            <a:spcAft>
                              <a:spcPts val="0"/>
                            </a:spcAft>
                            <a:buClrTx/>
                            <a:buSzTx/>
                            <a:buFontTx/>
                            <a:buNone/>
                            <a:defRPr/>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5</a:t>
                          </a:r>
                          <a:endParaRPr lang="zh-CN" alt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0.785</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marL="0" marR="0" lvl="0" indent="0" algn="ctr" defTabSz="914400" rtl="0" eaLnBrk="1" fontAlgn="auto" latinLnBrk="0" hangingPunct="1">
                            <a:lnSpc>
                              <a:spcPts val="1200"/>
                            </a:lnSpc>
                            <a:spcBef>
                              <a:spcPts val="0"/>
                            </a:spcBef>
                            <a:spcAft>
                              <a:spcPts val="0"/>
                            </a:spcAft>
                            <a:buClrTx/>
                            <a:buSzTx/>
                            <a:buFontTx/>
                            <a:buNone/>
                            <a:defRPr/>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&gt;5</a:t>
                          </a:r>
                          <a:endParaRPr lang="zh-CN" alt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14:m>
                            <m:oMathPara xmlns:m="http://schemas.openxmlformats.org/officeDocument/2006/math">
                              <m:oMathParaPr>
                                <m:jc m:val="centerGroup"/>
                              </m:oMathParaPr>
                              <m:oMath xmlns:m="http://schemas.openxmlformats.org/officeDocument/2006/math">
                                <m:r>
                                  <a:rPr lang="en-US" altLang="zh-CN" sz="1600" b="0" i="0" kern="100" smtClean="0">
                                    <a:effectLst/>
                                    <a:latin typeface="Cambria Math" panose="02040503050406030204" pitchFamily="18" charset="0"/>
                                    <a:ea typeface="Cambria Math" panose="02040503050406030204" pitchFamily="18" charset="0"/>
                                  </a:rPr>
                                  <m:t>0</m:t>
                                </m:r>
                                <m:r>
                                  <a:rPr lang="en-US" altLang="zh-CN" sz="1600" b="0" i="0" kern="100" smtClean="0">
                                    <a:effectLst/>
                                    <a:latin typeface="Cambria Math" panose="02040503050406030204" pitchFamily="18" charset="0"/>
                                    <a:ea typeface="Cambria Math" panose="02040503050406030204" pitchFamily="18" charset="0"/>
                                  </a:rPr>
                                  <m:t>.</m:t>
                                </m:r>
                                <m:r>
                                  <a:rPr lang="en-US" altLang="zh-CN" sz="1600" b="0" i="0" kern="100" smtClean="0">
                                    <a:effectLst/>
                                    <a:latin typeface="Cambria Math" panose="02040503050406030204" pitchFamily="18" charset="0"/>
                                    <a:ea typeface="Cambria Math" panose="02040503050406030204" pitchFamily="18" charset="0"/>
                                  </a:rPr>
                                  <m:t>1</m:t>
                                </m:r>
                                <m:r>
                                  <a:rPr lang="en-US" altLang="zh-CN" sz="1600" b="0" i="0" kern="100" smtClean="0">
                                    <a:effectLst/>
                                    <a:latin typeface="Cambria Math" panose="02040503050406030204" pitchFamily="18" charset="0"/>
                                    <a:ea typeface="Cambria Math" panose="02040503050406030204" pitchFamily="18" charset="0"/>
                                  </a:rPr>
                                  <m:t>∗</m:t>
                                </m:r>
                                <m:rad>
                                  <m:radPr>
                                    <m:degHide m:val="on"/>
                                    <m:ctrlPr>
                                      <a:rPr lang="zh-CN" altLang="zh-CN" sz="1600" i="1" kern="100">
                                        <a:effectLst/>
                                        <a:latin typeface="Cambria Math" panose="02040503050406030204" pitchFamily="18" charset="0"/>
                                        <a:ea typeface="Cambria Math" panose="02040503050406030204" pitchFamily="18" charset="0"/>
                                      </a:rPr>
                                    </m:ctrlPr>
                                  </m:radPr>
                                  <m:deg/>
                                  <m:e>
                                    <m:r>
                                      <a:rPr lang="en-US" altLang="zh-CN" sz="1600" kern="100">
                                        <a:effectLst/>
                                        <a:latin typeface="Cambria Math" panose="02040503050406030204" pitchFamily="18" charset="0"/>
                                        <a:ea typeface="宋体" panose="02010600030101010101" pitchFamily="2" charset="-122"/>
                                      </a:rPr>
                                      <m:t>4</m:t>
                                    </m:r>
                                    <m:r>
                                      <a:rPr lang="en-US" altLang="zh-CN" sz="1600" kern="100">
                                        <a:effectLst/>
                                        <a:latin typeface="Cambria Math" panose="02040503050406030204" pitchFamily="18" charset="0"/>
                                        <a:ea typeface="宋体" panose="02010600030101010101" pitchFamily="2" charset="-122"/>
                                      </a:rPr>
                                      <m:t>/</m:t>
                                    </m:r>
                                    <m:r>
                                      <a:rPr lang="en-US" altLang="zh-CN" sz="1600" kern="100">
                                        <a:effectLst/>
                                        <a:latin typeface="Cambria Math" panose="02040503050406030204" pitchFamily="18" charset="0"/>
                                        <a:ea typeface="宋体" panose="02010600030101010101" pitchFamily="2" charset="-122"/>
                                      </a:rPr>
                                      <m:t>5</m:t>
                                    </m:r>
                                    <m:r>
                                      <m:rPr>
                                        <m:sty m:val="p"/>
                                      </m:rPr>
                                      <a:rPr lang="en-US" altLang="zh-CN" sz="1600" kern="100">
                                        <a:effectLst/>
                                        <a:latin typeface="Cambria Math" panose="02040503050406030204" pitchFamily="18" charset="0"/>
                                        <a:ea typeface="宋体" panose="02010600030101010101" pitchFamily="2" charset="-122"/>
                                      </a:rPr>
                                      <m:t>π</m:t>
                                    </m:r>
                                  </m:e>
                                </m:rad>
                                <m:r>
                                  <a:rPr lang="en-US" altLang="zh-CN" sz="1600" i="1" kern="100">
                                    <a:effectLst/>
                                    <a:latin typeface="Cambria Math" panose="02040503050406030204" pitchFamily="18" charset="0"/>
                                    <a:ea typeface="宋体" panose="02010600030101010101" pitchFamily="2" charset="-122"/>
                                  </a:rPr>
                                  <m:t>𝐼</m:t>
                                </m:r>
                              </m:oMath>
                            </m:oMathPara>
                          </a14:m>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bl>
              </a:graphicData>
            </a:graphic>
          </p:graphicFrame>
        </mc:Choice>
        <mc:Fallback xmlns="">
          <p:graphicFrame>
            <p:nvGraphicFramePr>
              <p:cNvPr id="44" name="表格 43"/>
              <p:cNvGraphicFramePr>
                <a:graphicFrameLocks noGrp="1"/>
              </p:cNvGraphicFramePr>
              <p:nvPr/>
            </p:nvGraphicFramePr>
            <p:xfrm>
              <a:off x="1000351" y="2597117"/>
              <a:ext cx="4032767" cy="2363578"/>
            </p:xfrm>
            <a:graphic>
              <a:graphicData uri="http://schemas.openxmlformats.org/drawingml/2006/table">
                <a:tbl>
                  <a:tblPr firstRow="1" firstCol="1" bandRow="1">
                    <a:tableStyleId>{69012ECD-51FC-41F1-AA8D-1B2483CD663E}</a:tableStyleId>
                  </a:tblPr>
                  <a:tblGrid>
                    <a:gridCol w="2059486"/>
                    <a:gridCol w="1973281"/>
                  </a:tblGrid>
                  <a:tr h="337654">
                    <a:tc>
                      <a:txBody>
                        <a:bodyPr/>
                        <a:lstStyle/>
                        <a:p>
                          <a:pPr algn="ctr">
                            <a:lnSpc>
                              <a:spcPts val="1200"/>
                            </a:lnSpc>
                            <a:buNone/>
                          </a:pP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最大电流</a:t>
                          </a:r>
                          <a:r>
                            <a:rPr lang="en-US"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I/A</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线径</a:t>
                          </a:r>
                          <a:r>
                            <a:rPr lang="en-US"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d/mm</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0.46</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0.56</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0.68</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0.77</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654">
                    <a:tc>
                      <a:txBody>
                        <a:bodyPr/>
                        <a:lstStyle/>
                        <a:p>
                          <a:pPr marL="0" marR="0" lvl="0" indent="0" algn="ctr" defTabSz="914400" rtl="0" eaLnBrk="1" fontAlgn="auto" latinLnBrk="0" hangingPunct="1">
                            <a:lnSpc>
                              <a:spcPts val="1200"/>
                            </a:lnSpc>
                            <a:spcBef>
                              <a:spcPts val="0"/>
                            </a:spcBef>
                            <a:spcAft>
                              <a:spcPts val="0"/>
                            </a:spcAft>
                            <a:buClrTx/>
                            <a:buSzTx/>
                            <a:buFontTx/>
                            <a:buNone/>
                            <a:defRPr/>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5</a:t>
                          </a:r>
                          <a:endParaRPr lang="zh-CN" alt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200"/>
                            </a:lnSpc>
                            <a:buNone/>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0.785</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337820">
                    <a:tc>
                      <a:txBody>
                        <a:bodyPr/>
                        <a:lstStyle/>
                        <a:p>
                          <a:pPr marL="0" marR="0" lvl="0" indent="0" algn="ctr" defTabSz="914400" rtl="0" eaLnBrk="1" fontAlgn="auto" latinLnBrk="0" hangingPunct="1">
                            <a:lnSpc>
                              <a:spcPts val="1200"/>
                            </a:lnSpc>
                            <a:spcBef>
                              <a:spcPts val="0"/>
                            </a:spcBef>
                            <a:spcAft>
                              <a:spcPts val="0"/>
                            </a:spcAft>
                            <a:buClrTx/>
                            <a:buSzTx/>
                            <a:buFontTx/>
                            <a:buNone/>
                            <a:defRPr/>
                          </a:pPr>
                          <a:r>
                            <a:rPr lang="en-US" altLang="zh-CN" sz="1600" b="0" kern="100" dirty="0">
                              <a:effectLst/>
                              <a:latin typeface="Times New Roman" panose="02020603050405020304" pitchFamily="18" charset="0"/>
                              <a:ea typeface="宋体" panose="02010600030101010101" pitchFamily="2" charset="-122"/>
                              <a:cs typeface="Times New Roman" panose="02020603050405020304" pitchFamily="18" charset="0"/>
                            </a:rPr>
                            <a:t>&gt;5</a:t>
                          </a:r>
                          <a:endParaRPr lang="zh-CN" alt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endParaRPr lang="zh-CN"/>
                        </a:p>
                      </a:txBody>
                      <a:tcPr marL="68580" marR="68580" marT="0" marB="0" anchor="ctr">
                        <a:blipFill>
                          <a:blip r:embed="rId14"/>
                        </a:blipFill>
                      </a:tcPr>
                    </a:tc>
                  </a:tr>
                </a:tbl>
              </a:graphicData>
            </a:graphic>
          </p:graphicFrame>
        </mc:Fallback>
      </mc:AlternateContent>
      <p:pic>
        <p:nvPicPr>
          <p:cNvPr id="45" name="图片 4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982200" y="2392137"/>
            <a:ext cx="1738086" cy="2174516"/>
          </a:xfrm>
          <a:prstGeom prst="rect">
            <a:avLst/>
          </a:prstGeom>
        </p:spPr>
      </p:pic>
      <p:sp>
        <p:nvSpPr>
          <p:cNvPr id="29"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19/26</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p:nvSpPr>
        <p:spPr>
          <a:xfrm>
            <a:off x="793340" y="1524214"/>
            <a:ext cx="4215540" cy="2467086"/>
          </a:xfrm>
          <a:prstGeom prst="rect">
            <a:avLst/>
          </a:prstGeom>
          <a:noFill/>
        </p:spPr>
        <p:txBody>
          <a:bodyPr wrap="square">
            <a:spAutoFit/>
          </a:bodyPr>
          <a:lstStyle/>
          <a:p>
            <a:pPr algn="just">
              <a:lnSpc>
                <a:spcPct val="120000"/>
              </a:lnSpc>
              <a:spcBef>
                <a:spcPts val="600"/>
              </a:spcBef>
              <a:buNone/>
            </a:pPr>
            <a:r>
              <a:rPr lang="zh-CN" altLang="en-US" b="1" kern="100" dirty="0">
                <a:latin typeface="Times New Roman" panose="02020603050405020304" pitchFamily="18" charset="0"/>
                <a:ea typeface="宋体" panose="02010600030101010101" pitchFamily="2" charset="-122"/>
              </a:rPr>
              <a:t>（</a:t>
            </a:r>
            <a:r>
              <a:rPr lang="en-US" altLang="zh-CN" b="1" kern="100" dirty="0">
                <a:latin typeface="Times New Roman" panose="02020603050405020304" pitchFamily="18" charset="0"/>
                <a:ea typeface="宋体" panose="02010600030101010101" pitchFamily="2" charset="-122"/>
              </a:rPr>
              <a:t>3</a:t>
            </a:r>
            <a:r>
              <a:rPr lang="zh-CN" altLang="en-US" b="1" kern="100" dirty="0">
                <a:latin typeface="Times New Roman" panose="02020603050405020304" pitchFamily="18" charset="0"/>
                <a:ea typeface="宋体" panose="02010600030101010101" pitchFamily="2" charset="-122"/>
              </a:rPr>
              <a:t>）</a:t>
            </a:r>
            <a:r>
              <a:rPr lang="zh-CN" altLang="zh-CN" b="1" kern="100" dirty="0">
                <a:latin typeface="Times New Roman" panose="02020603050405020304" pitchFamily="18" charset="0"/>
                <a:ea typeface="宋体" panose="02010600030101010101" pitchFamily="2" charset="-122"/>
              </a:rPr>
              <a:t>空心线圈平均匝数初始取值</a:t>
            </a:r>
            <a:endParaRPr lang="en-US" altLang="zh-CN" b="1" kern="100" dirty="0">
              <a:latin typeface="Times New Roman" panose="02020603050405020304" pitchFamily="18" charset="0"/>
              <a:ea typeface="宋体" panose="02010600030101010101" pitchFamily="2" charset="-122"/>
            </a:endParaRPr>
          </a:p>
          <a:p>
            <a:pPr algn="just">
              <a:lnSpc>
                <a:spcPct val="120000"/>
              </a:lnSpc>
              <a:spcBef>
                <a:spcPts val="600"/>
              </a:spcBef>
              <a:buNone/>
            </a:pPr>
            <a:endParaRPr lang="en-US" altLang="zh-CN" b="1"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p:txBody>
      </p:sp>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p:cNvSpPr txBox="1"/>
          <p:nvPr/>
        </p:nvSpPr>
        <p:spPr>
          <a:xfrm>
            <a:off x="487680" y="105459"/>
            <a:ext cx="7575006" cy="646331"/>
          </a:xfrm>
          <a:prstGeom prst="rect">
            <a:avLst/>
          </a:prstGeom>
          <a:noFill/>
        </p:spPr>
        <p:txBody>
          <a:bodyPr wrap="square" rtlCol="0">
            <a:spAutoFit/>
          </a:bodyPr>
          <a:lstStyle/>
          <a:p>
            <a:r>
              <a:rPr lang="zh-CN" altLang="en-US" sz="3600" b="1" dirty="0"/>
              <a:t>五</a:t>
            </a:r>
            <a:r>
              <a:rPr lang="en-US" altLang="zh-CN" sz="3600" b="1" dirty="0"/>
              <a:t>.</a:t>
            </a:r>
            <a:r>
              <a:rPr lang="zh-CN" altLang="en-US" sz="3600" b="1" dirty="0"/>
              <a:t> 实验内容</a:t>
            </a:r>
            <a:endParaRPr lang="zh-CN" altLang="en-US" sz="3600" b="1" dirty="0"/>
          </a:p>
        </p:txBody>
      </p:sp>
      <p:sp>
        <p:nvSpPr>
          <p:cNvPr id="46" name="TextBox 36"/>
          <p:cNvSpPr txBox="1">
            <a:spLocks noChangeArrowheads="1"/>
          </p:cNvSpPr>
          <p:nvPr/>
        </p:nvSpPr>
        <p:spPr bwMode="auto">
          <a:xfrm>
            <a:off x="530120" y="880275"/>
            <a:ext cx="9452080" cy="461665"/>
          </a:xfrm>
          <a:prstGeom prst="rect">
            <a:avLst/>
          </a:prstGeom>
          <a:noFill/>
          <a:ln w="9525">
            <a:noFill/>
            <a:miter lim="800000"/>
          </a:ln>
        </p:spPr>
        <p:txBody>
          <a:bodyPr wrap="square">
            <a:spAutoFit/>
          </a:bodyPr>
          <a:lstStyle/>
          <a:p>
            <a:r>
              <a:rPr lang="en-US" altLang="zh-CN" sz="2400" b="1" dirty="0">
                <a:solidFill>
                  <a:srgbClr val="0033CC"/>
                </a:solidFill>
              </a:rPr>
              <a:t>1.</a:t>
            </a:r>
            <a:r>
              <a:rPr lang="zh-CN" altLang="en-US" sz="2400" b="1" dirty="0">
                <a:solidFill>
                  <a:srgbClr val="0033CC"/>
                </a:solidFill>
              </a:rPr>
              <a:t>编程任务：</a:t>
            </a:r>
            <a:r>
              <a:rPr lang="zh-CN" altLang="en-US" sz="2400" b="1" dirty="0"/>
              <a:t>设计一个多层密绕空心螺线管线圈。</a:t>
            </a:r>
            <a:endParaRPr lang="en-US" altLang="zh-CN" sz="2400" b="1" dirty="0"/>
          </a:p>
        </p:txBody>
      </p:sp>
      <p:graphicFrame>
        <p:nvGraphicFramePr>
          <p:cNvPr id="3" name="对象 2"/>
          <p:cNvGraphicFramePr>
            <a:graphicFrameLocks noChangeAspect="1"/>
          </p:cNvGraphicFramePr>
          <p:nvPr/>
        </p:nvGraphicFramePr>
        <p:xfrm>
          <a:off x="1496639" y="2096832"/>
          <a:ext cx="2152650" cy="744538"/>
        </p:xfrm>
        <a:graphic>
          <a:graphicData uri="http://schemas.openxmlformats.org/presentationml/2006/ole">
            <mc:AlternateContent xmlns:mc="http://schemas.openxmlformats.org/markup-compatibility/2006">
              <mc:Choice xmlns:v="urn:schemas-microsoft-com:vml" Requires="v">
                <p:oleObj spid="_x0000_s10446" name="Equation" r:id="rId2" imgW="32308800" imgH="10972800" progId="Equation.DSMT4">
                  <p:embed/>
                </p:oleObj>
              </mc:Choice>
              <mc:Fallback>
                <p:oleObj name="Equation" r:id="rId2" imgW="32308800" imgH="10972800" progId="Equation.DSMT4">
                  <p:embed/>
                  <p:pic>
                    <p:nvPicPr>
                      <p:cNvPr id="0" name="Object 1"/>
                      <p:cNvPicPr>
                        <a:picLocks noChangeAspect="1" noChangeArrowheads="1"/>
                      </p:cNvPicPr>
                      <p:nvPr/>
                    </p:nvPicPr>
                    <p:blipFill>
                      <a:blip r:embed="rId3"/>
                      <a:srcRect/>
                      <a:stretch>
                        <a:fillRect/>
                      </a:stretch>
                    </p:blipFill>
                    <p:spPr bwMode="auto">
                      <a:xfrm>
                        <a:off x="1496639" y="2096832"/>
                        <a:ext cx="2152650" cy="744538"/>
                      </a:xfrm>
                      <a:prstGeom prst="rect">
                        <a:avLst/>
                      </a:prstGeom>
                      <a:noFill/>
                    </p:spPr>
                  </p:pic>
                </p:oleObj>
              </mc:Fallback>
            </mc:AlternateContent>
          </a:graphicData>
        </a:graphic>
      </p:graphicFrame>
      <p:sp>
        <p:nvSpPr>
          <p:cNvPr id="4" name="箭头: 右 3"/>
          <p:cNvSpPr/>
          <p:nvPr/>
        </p:nvSpPr>
        <p:spPr>
          <a:xfrm>
            <a:off x="1496639" y="3099295"/>
            <a:ext cx="310553" cy="351717"/>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aphicFrame>
        <p:nvGraphicFramePr>
          <p:cNvPr id="5" name="对象 4"/>
          <p:cNvGraphicFramePr>
            <a:graphicFrameLocks noChangeAspect="1"/>
          </p:cNvGraphicFramePr>
          <p:nvPr/>
        </p:nvGraphicFramePr>
        <p:xfrm>
          <a:off x="2038350" y="2932113"/>
          <a:ext cx="2519363" cy="704850"/>
        </p:xfrm>
        <a:graphic>
          <a:graphicData uri="http://schemas.openxmlformats.org/presentationml/2006/ole">
            <mc:AlternateContent xmlns:mc="http://schemas.openxmlformats.org/markup-compatibility/2006">
              <mc:Choice xmlns:v="urn:schemas-microsoft-com:vml" Requires="v">
                <p:oleObj spid="_x0000_s10447" name="Equation" r:id="rId4" imgW="37795200" imgH="10363200" progId="Equation.DSMT4">
                  <p:embed/>
                </p:oleObj>
              </mc:Choice>
              <mc:Fallback>
                <p:oleObj name="Equation" r:id="rId4" imgW="37795200" imgH="10363200" progId="Equation.DSMT4">
                  <p:embed/>
                  <p:pic>
                    <p:nvPicPr>
                      <p:cNvPr id="0" name="对象 2"/>
                      <p:cNvPicPr>
                        <a:picLocks noChangeAspect="1" noChangeArrowheads="1"/>
                      </p:cNvPicPr>
                      <p:nvPr/>
                    </p:nvPicPr>
                    <p:blipFill>
                      <a:blip r:embed="rId5"/>
                      <a:srcRect/>
                      <a:stretch>
                        <a:fillRect/>
                      </a:stretch>
                    </p:blipFill>
                    <p:spPr bwMode="auto">
                      <a:xfrm>
                        <a:off x="2038350" y="2932113"/>
                        <a:ext cx="2519363" cy="704850"/>
                      </a:xfrm>
                      <a:prstGeom prst="rect">
                        <a:avLst/>
                      </a:prstGeom>
                      <a:noFill/>
                    </p:spPr>
                  </p:pic>
                </p:oleObj>
              </mc:Fallback>
            </mc:AlternateContent>
          </a:graphicData>
        </a:graphic>
      </p:graphicFrame>
      <p:sp>
        <p:nvSpPr>
          <p:cNvPr id="6" name="文本框 5"/>
          <p:cNvSpPr txBox="1"/>
          <p:nvPr/>
        </p:nvSpPr>
        <p:spPr>
          <a:xfrm>
            <a:off x="793340" y="3802526"/>
            <a:ext cx="4215540" cy="1469890"/>
          </a:xfrm>
          <a:prstGeom prst="rect">
            <a:avLst/>
          </a:prstGeom>
          <a:noFill/>
        </p:spPr>
        <p:txBody>
          <a:bodyPr wrap="square">
            <a:spAutoFit/>
          </a:bodyPr>
          <a:lstStyle/>
          <a:p>
            <a:pPr algn="just">
              <a:lnSpc>
                <a:spcPct val="120000"/>
              </a:lnSpc>
              <a:spcBef>
                <a:spcPts val="600"/>
              </a:spcBef>
              <a:buNone/>
            </a:pPr>
            <a:r>
              <a:rPr lang="zh-CN" altLang="en-US" b="1" kern="100" dirty="0">
                <a:latin typeface="Times New Roman" panose="02020603050405020304" pitchFamily="18" charset="0"/>
                <a:ea typeface="宋体" panose="02010600030101010101" pitchFamily="2" charset="-122"/>
              </a:rPr>
              <a:t>（</a:t>
            </a:r>
            <a:r>
              <a:rPr lang="en-US" altLang="zh-CN" b="1" kern="100" dirty="0">
                <a:latin typeface="Times New Roman" panose="02020603050405020304" pitchFamily="18" charset="0"/>
                <a:ea typeface="宋体" panose="02010600030101010101" pitchFamily="2" charset="-122"/>
              </a:rPr>
              <a:t>4</a:t>
            </a:r>
            <a:r>
              <a:rPr lang="zh-CN" altLang="en-US" b="1" kern="100" dirty="0">
                <a:latin typeface="Times New Roman" panose="02020603050405020304" pitchFamily="18" charset="0"/>
                <a:ea typeface="宋体" panose="02010600030101010101" pitchFamily="2" charset="-122"/>
              </a:rPr>
              <a:t>）</a:t>
            </a:r>
            <a:r>
              <a:rPr lang="zh-CN" altLang="zh-CN" b="1" kern="100" dirty="0">
                <a:latin typeface="Times New Roman" panose="02020603050405020304" pitchFamily="18" charset="0"/>
                <a:ea typeface="宋体" panose="02010600030101010101" pitchFamily="2" charset="-122"/>
              </a:rPr>
              <a:t>空心线圈平均内径</a:t>
            </a:r>
            <a:endParaRPr lang="en-US" altLang="zh-CN" b="1" kern="100" dirty="0">
              <a:latin typeface="Times New Roman" panose="02020603050405020304" pitchFamily="18" charset="0"/>
              <a:ea typeface="宋体" panose="02010600030101010101" pitchFamily="2" charset="-122"/>
            </a:endParaRPr>
          </a:p>
          <a:p>
            <a:pPr algn="just">
              <a:lnSpc>
                <a:spcPct val="120000"/>
              </a:lnSpc>
              <a:spcBef>
                <a:spcPts val="600"/>
              </a:spcBef>
              <a:buNone/>
            </a:pPr>
            <a:endParaRPr lang="en-US" altLang="zh-CN" b="1"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p:txBody>
      </p:sp>
      <p:graphicFrame>
        <p:nvGraphicFramePr>
          <p:cNvPr id="10" name="对象 9"/>
          <p:cNvGraphicFramePr>
            <a:graphicFrameLocks noChangeAspect="1"/>
          </p:cNvGraphicFramePr>
          <p:nvPr/>
        </p:nvGraphicFramePr>
        <p:xfrm>
          <a:off x="1496529" y="4390695"/>
          <a:ext cx="3051175" cy="668337"/>
        </p:xfrm>
        <a:graphic>
          <a:graphicData uri="http://schemas.openxmlformats.org/presentationml/2006/ole">
            <mc:AlternateContent xmlns:mc="http://schemas.openxmlformats.org/markup-compatibility/2006">
              <mc:Choice xmlns:v="urn:schemas-microsoft-com:vml" Requires="v">
                <p:oleObj spid="_x0000_s10448" name="Equation" r:id="rId6" imgW="44500800" imgH="9448800" progId="Equation.DSMT4">
                  <p:embed/>
                </p:oleObj>
              </mc:Choice>
              <mc:Fallback>
                <p:oleObj name="Equation" r:id="rId6" imgW="44500800" imgH="9448800" progId="Equation.DSMT4">
                  <p:embed/>
                  <p:pic>
                    <p:nvPicPr>
                      <p:cNvPr id="0" name="对象 5"/>
                      <p:cNvPicPr>
                        <a:picLocks noChangeAspect="1" noChangeArrowheads="1"/>
                      </p:cNvPicPr>
                      <p:nvPr/>
                    </p:nvPicPr>
                    <p:blipFill>
                      <a:blip r:embed="rId7"/>
                      <a:srcRect/>
                      <a:stretch>
                        <a:fillRect/>
                      </a:stretch>
                    </p:blipFill>
                    <p:spPr bwMode="auto">
                      <a:xfrm>
                        <a:off x="1496529" y="4390695"/>
                        <a:ext cx="3051175" cy="668337"/>
                      </a:xfrm>
                      <a:prstGeom prst="rect">
                        <a:avLst/>
                      </a:prstGeom>
                      <a:noFill/>
                    </p:spPr>
                  </p:pic>
                </p:oleObj>
              </mc:Fallback>
            </mc:AlternateContent>
          </a:graphicData>
        </a:graphic>
      </p:graphicFrame>
      <p:pic>
        <p:nvPicPr>
          <p:cNvPr id="16" name="图片 1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88058" y="4208033"/>
            <a:ext cx="1698056" cy="2124434"/>
          </a:xfrm>
          <a:prstGeom prst="rect">
            <a:avLst/>
          </a:prstGeom>
        </p:spPr>
      </p:pic>
      <p:sp>
        <p:nvSpPr>
          <p:cNvPr id="17" name="文本框 16"/>
          <p:cNvSpPr txBox="1"/>
          <p:nvPr/>
        </p:nvSpPr>
        <p:spPr>
          <a:xfrm>
            <a:off x="793340" y="5119682"/>
            <a:ext cx="4042820" cy="1469890"/>
          </a:xfrm>
          <a:prstGeom prst="rect">
            <a:avLst/>
          </a:prstGeom>
          <a:noFill/>
        </p:spPr>
        <p:txBody>
          <a:bodyPr wrap="square">
            <a:spAutoFit/>
          </a:bodyPr>
          <a:lstStyle/>
          <a:p>
            <a:pPr algn="just">
              <a:lnSpc>
                <a:spcPct val="120000"/>
              </a:lnSpc>
              <a:spcBef>
                <a:spcPts val="600"/>
              </a:spcBef>
              <a:buNone/>
            </a:pPr>
            <a:r>
              <a:rPr lang="zh-CN" altLang="en-US" b="1" kern="100" dirty="0">
                <a:latin typeface="Times New Roman" panose="02020603050405020304" pitchFamily="18" charset="0"/>
                <a:ea typeface="宋体" panose="02010600030101010101" pitchFamily="2" charset="-122"/>
              </a:rPr>
              <a:t>（</a:t>
            </a:r>
            <a:r>
              <a:rPr lang="en-US" altLang="zh-CN" b="1" kern="100" dirty="0">
                <a:latin typeface="Times New Roman" panose="02020603050405020304" pitchFamily="18" charset="0"/>
                <a:ea typeface="宋体" panose="02010600030101010101" pitchFamily="2" charset="-122"/>
              </a:rPr>
              <a:t>5</a:t>
            </a:r>
            <a:r>
              <a:rPr lang="zh-CN" altLang="en-US" b="1" kern="100" dirty="0">
                <a:latin typeface="Times New Roman" panose="02020603050405020304" pitchFamily="18" charset="0"/>
                <a:ea typeface="宋体" panose="02010600030101010101" pitchFamily="2" charset="-122"/>
              </a:rPr>
              <a:t>）多层密绕</a:t>
            </a:r>
            <a:r>
              <a:rPr lang="zh-CN" altLang="zh-CN" b="1" kern="100" dirty="0">
                <a:latin typeface="Times New Roman" panose="02020603050405020304" pitchFamily="18" charset="0"/>
                <a:ea typeface="宋体" panose="02010600030101010101" pitchFamily="2" charset="-122"/>
              </a:rPr>
              <a:t>空心线圈</a:t>
            </a:r>
            <a:r>
              <a:rPr lang="zh-CN" altLang="en-US" b="1" kern="100" dirty="0">
                <a:latin typeface="Times New Roman" panose="02020603050405020304" pitchFamily="18" charset="0"/>
                <a:ea typeface="宋体" panose="02010600030101010101" pitchFamily="2" charset="-122"/>
              </a:rPr>
              <a:t>电感</a:t>
            </a:r>
            <a:endParaRPr lang="en-US" altLang="zh-CN" b="1" kern="100" dirty="0">
              <a:latin typeface="Times New Roman" panose="02020603050405020304" pitchFamily="18" charset="0"/>
              <a:ea typeface="宋体" panose="02010600030101010101" pitchFamily="2" charset="-122"/>
            </a:endParaRPr>
          </a:p>
          <a:p>
            <a:pPr algn="just">
              <a:lnSpc>
                <a:spcPct val="120000"/>
              </a:lnSpc>
              <a:spcBef>
                <a:spcPts val="600"/>
              </a:spcBef>
              <a:buNone/>
            </a:pPr>
            <a:endParaRPr lang="en-US" altLang="zh-CN" b="1" kern="100" dirty="0">
              <a:latin typeface="Times New Roman" panose="02020603050405020304" pitchFamily="18" charset="0"/>
              <a:ea typeface="宋体" panose="02010600030101010101" pitchFamily="2" charset="-122"/>
            </a:endParaRPr>
          </a:p>
          <a:p>
            <a:pPr indent="575945" algn="just">
              <a:lnSpc>
                <a:spcPct val="120000"/>
              </a:lnSpc>
              <a:buNone/>
            </a:pP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buNone/>
            </a:pPr>
            <a:endParaRPr lang="en-US" altLang="zh-CN" kern="100" dirty="0">
              <a:latin typeface="Times New Roman" panose="02020603050405020304" pitchFamily="18" charset="0"/>
              <a:ea typeface="宋体" panose="02010600030101010101" pitchFamily="2" charset="-122"/>
            </a:endParaRPr>
          </a:p>
        </p:txBody>
      </p:sp>
      <p:graphicFrame>
        <p:nvGraphicFramePr>
          <p:cNvPr id="19" name="对象 18"/>
          <p:cNvGraphicFramePr>
            <a:graphicFrameLocks noChangeAspect="1"/>
          </p:cNvGraphicFramePr>
          <p:nvPr/>
        </p:nvGraphicFramePr>
        <p:xfrm>
          <a:off x="1479551" y="5671987"/>
          <a:ext cx="2147462" cy="683048"/>
        </p:xfrm>
        <a:graphic>
          <a:graphicData uri="http://schemas.openxmlformats.org/presentationml/2006/ole">
            <mc:AlternateContent xmlns:mc="http://schemas.openxmlformats.org/markup-compatibility/2006">
              <mc:Choice xmlns:v="urn:schemas-microsoft-com:vml" Requires="v">
                <p:oleObj spid="_x0000_s10449" name="Equation" r:id="rId9" imgW="31394400" imgH="10058400" progId="Equation.DSMT4">
                  <p:embed/>
                </p:oleObj>
              </mc:Choice>
              <mc:Fallback>
                <p:oleObj name="Equation" r:id="rId9" imgW="31394400" imgH="10058400" progId="Equation.DSMT4">
                  <p:embed/>
                  <p:pic>
                    <p:nvPicPr>
                      <p:cNvPr id="0" name="对象 12"/>
                      <p:cNvPicPr>
                        <a:picLocks noChangeAspect="1" noChangeArrowheads="1"/>
                      </p:cNvPicPr>
                      <p:nvPr/>
                    </p:nvPicPr>
                    <p:blipFill>
                      <a:blip r:embed="rId10"/>
                      <a:srcRect/>
                      <a:stretch>
                        <a:fillRect/>
                      </a:stretch>
                    </p:blipFill>
                    <p:spPr bwMode="auto">
                      <a:xfrm>
                        <a:off x="1479551" y="5671987"/>
                        <a:ext cx="2147462" cy="683048"/>
                      </a:xfrm>
                      <a:prstGeom prst="rect">
                        <a:avLst/>
                      </a:prstGeom>
                      <a:noFill/>
                    </p:spPr>
                  </p:pic>
                </p:oleObj>
              </mc:Fallback>
            </mc:AlternateContent>
          </a:graphicData>
        </a:graphic>
      </p:graphicFrame>
      <p:sp>
        <p:nvSpPr>
          <p:cNvPr id="31" name="文本框 30"/>
          <p:cNvSpPr txBox="1"/>
          <p:nvPr/>
        </p:nvSpPr>
        <p:spPr>
          <a:xfrm>
            <a:off x="4868018" y="1522108"/>
            <a:ext cx="4042820" cy="392928"/>
          </a:xfrm>
          <a:prstGeom prst="rect">
            <a:avLst/>
          </a:prstGeom>
          <a:noFill/>
        </p:spPr>
        <p:txBody>
          <a:bodyPr wrap="square">
            <a:spAutoFit/>
          </a:bodyPr>
          <a:lstStyle/>
          <a:p>
            <a:pPr algn="just">
              <a:lnSpc>
                <a:spcPct val="120000"/>
              </a:lnSpc>
              <a:spcBef>
                <a:spcPts val="600"/>
              </a:spcBef>
              <a:buNone/>
            </a:pPr>
            <a:r>
              <a:rPr lang="zh-CN" altLang="en-US" b="1" kern="100" dirty="0">
                <a:latin typeface="Times New Roman" panose="02020603050405020304" pitchFamily="18" charset="0"/>
                <a:ea typeface="宋体" panose="02010600030101010101" pitchFamily="2" charset="-122"/>
              </a:rPr>
              <a:t>（</a:t>
            </a:r>
            <a:r>
              <a:rPr lang="en-US" altLang="zh-CN" b="1" kern="100" dirty="0">
                <a:latin typeface="Times New Roman" panose="02020603050405020304" pitchFamily="18" charset="0"/>
                <a:ea typeface="宋体" panose="02010600030101010101" pitchFamily="2" charset="-122"/>
              </a:rPr>
              <a:t>6</a:t>
            </a:r>
            <a:r>
              <a:rPr lang="zh-CN" altLang="en-US" b="1" kern="100" dirty="0">
                <a:latin typeface="Times New Roman" panose="02020603050405020304" pitchFamily="18" charset="0"/>
                <a:ea typeface="宋体" panose="02010600030101010101" pitchFamily="2" charset="-122"/>
              </a:rPr>
              <a:t>）导线长度</a:t>
            </a:r>
            <a:endParaRPr lang="en-US" altLang="zh-CN" b="1" kern="100" dirty="0">
              <a:latin typeface="Times New Roman" panose="02020603050405020304" pitchFamily="18" charset="0"/>
              <a:ea typeface="宋体" panose="02010600030101010101" pitchFamily="2" charset="-122"/>
            </a:endParaRPr>
          </a:p>
        </p:txBody>
      </p:sp>
      <p:graphicFrame>
        <p:nvGraphicFramePr>
          <p:cNvPr id="37" name="对象 36"/>
          <p:cNvGraphicFramePr>
            <a:graphicFrameLocks noChangeAspect="1"/>
          </p:cNvGraphicFramePr>
          <p:nvPr/>
        </p:nvGraphicFramePr>
        <p:xfrm>
          <a:off x="5491117" y="2073026"/>
          <a:ext cx="1900238" cy="423862"/>
        </p:xfrm>
        <a:graphic>
          <a:graphicData uri="http://schemas.openxmlformats.org/presentationml/2006/ole">
            <mc:AlternateContent xmlns:mc="http://schemas.openxmlformats.org/markup-compatibility/2006">
              <mc:Choice xmlns:v="urn:schemas-microsoft-com:vml" Requires="v">
                <p:oleObj spid="_x0000_s10450" name="Equation" r:id="rId11" imgW="24384000" imgH="5486400" progId="Equation.DSMT4">
                  <p:embed/>
                </p:oleObj>
              </mc:Choice>
              <mc:Fallback>
                <p:oleObj name="Equation" r:id="rId11" imgW="24384000" imgH="5486400" progId="Equation.DSMT4">
                  <p:embed/>
                  <p:pic>
                    <p:nvPicPr>
                      <p:cNvPr id="0" name="对象 18"/>
                      <p:cNvPicPr>
                        <a:picLocks noChangeAspect="1" noChangeArrowheads="1"/>
                      </p:cNvPicPr>
                      <p:nvPr/>
                    </p:nvPicPr>
                    <p:blipFill>
                      <a:blip r:embed="rId12"/>
                      <a:srcRect/>
                      <a:stretch>
                        <a:fillRect/>
                      </a:stretch>
                    </p:blipFill>
                    <p:spPr bwMode="auto">
                      <a:xfrm>
                        <a:off x="5491117" y="2073026"/>
                        <a:ext cx="1900238" cy="423862"/>
                      </a:xfrm>
                      <a:prstGeom prst="rect">
                        <a:avLst/>
                      </a:prstGeom>
                      <a:noFill/>
                    </p:spPr>
                  </p:pic>
                </p:oleObj>
              </mc:Fallback>
            </mc:AlternateContent>
          </a:graphicData>
        </a:graphic>
      </p:graphicFrame>
      <p:sp>
        <p:nvSpPr>
          <p:cNvPr id="2" name="文本框 1"/>
          <p:cNvSpPr txBox="1"/>
          <p:nvPr/>
        </p:nvSpPr>
        <p:spPr>
          <a:xfrm>
            <a:off x="4871938" y="2597624"/>
            <a:ext cx="4042820" cy="392928"/>
          </a:xfrm>
          <a:prstGeom prst="rect">
            <a:avLst/>
          </a:prstGeom>
          <a:noFill/>
        </p:spPr>
        <p:txBody>
          <a:bodyPr wrap="square">
            <a:spAutoFit/>
          </a:bodyPr>
          <a:lstStyle/>
          <a:p>
            <a:pPr algn="just">
              <a:lnSpc>
                <a:spcPct val="120000"/>
              </a:lnSpc>
              <a:spcBef>
                <a:spcPts val="600"/>
              </a:spcBef>
              <a:buNone/>
            </a:pPr>
            <a:r>
              <a:rPr lang="zh-CN" altLang="en-US" b="1" kern="100" dirty="0">
                <a:latin typeface="Times New Roman" panose="02020603050405020304" pitchFamily="18" charset="0"/>
                <a:ea typeface="宋体" panose="02010600030101010101" pitchFamily="2" charset="-122"/>
              </a:rPr>
              <a:t>（</a:t>
            </a:r>
            <a:r>
              <a:rPr lang="en-US" altLang="zh-CN" b="1" kern="100" dirty="0">
                <a:latin typeface="Times New Roman" panose="02020603050405020304" pitchFamily="18" charset="0"/>
                <a:ea typeface="宋体" panose="02010600030101010101" pitchFamily="2" charset="-122"/>
              </a:rPr>
              <a:t>7</a:t>
            </a:r>
            <a:r>
              <a:rPr lang="zh-CN" altLang="en-US" b="1" kern="100" dirty="0">
                <a:latin typeface="Times New Roman" panose="02020603050405020304" pitchFamily="18" charset="0"/>
                <a:ea typeface="宋体" panose="02010600030101010101" pitchFamily="2" charset="-122"/>
              </a:rPr>
              <a:t>）电感阻值</a:t>
            </a:r>
            <a:endParaRPr lang="en-US" altLang="zh-CN" b="1" kern="100" dirty="0">
              <a:latin typeface="Times New Roman" panose="02020603050405020304" pitchFamily="18" charset="0"/>
              <a:ea typeface="宋体" panose="02010600030101010101" pitchFamily="2" charset="-122"/>
            </a:endParaRPr>
          </a:p>
        </p:txBody>
      </p:sp>
      <p:graphicFrame>
        <p:nvGraphicFramePr>
          <p:cNvPr id="7" name="对象 6"/>
          <p:cNvGraphicFramePr>
            <a:graphicFrameLocks noChangeAspect="1"/>
          </p:cNvGraphicFramePr>
          <p:nvPr/>
        </p:nvGraphicFramePr>
        <p:xfrm>
          <a:off x="5491117" y="3218201"/>
          <a:ext cx="1649413" cy="714375"/>
        </p:xfrm>
        <a:graphic>
          <a:graphicData uri="http://schemas.openxmlformats.org/presentationml/2006/ole">
            <mc:AlternateContent xmlns:mc="http://schemas.openxmlformats.org/markup-compatibility/2006">
              <mc:Choice xmlns:v="urn:schemas-microsoft-com:vml" Requires="v">
                <p:oleObj spid="_x0000_s10451" name="Equation" r:id="rId13" imgW="21640800" imgH="9448800" progId="Equation.DSMT4">
                  <p:embed/>
                </p:oleObj>
              </mc:Choice>
              <mc:Fallback>
                <p:oleObj name="Equation" r:id="rId13" imgW="21640800" imgH="9448800" progId="Equation.DSMT4">
                  <p:embed/>
                  <p:pic>
                    <p:nvPicPr>
                      <p:cNvPr id="0" name="对象 36"/>
                      <p:cNvPicPr>
                        <a:picLocks noChangeAspect="1" noChangeArrowheads="1"/>
                      </p:cNvPicPr>
                      <p:nvPr/>
                    </p:nvPicPr>
                    <p:blipFill>
                      <a:blip r:embed="rId14"/>
                      <a:srcRect/>
                      <a:stretch>
                        <a:fillRect/>
                      </a:stretch>
                    </p:blipFill>
                    <p:spPr bwMode="auto">
                      <a:xfrm>
                        <a:off x="5491117" y="3218201"/>
                        <a:ext cx="1649413" cy="714375"/>
                      </a:xfrm>
                      <a:prstGeom prst="rect">
                        <a:avLst/>
                      </a:prstGeom>
                      <a:noFill/>
                    </p:spPr>
                  </p:pic>
                </p:oleObj>
              </mc:Fallback>
            </mc:AlternateContent>
          </a:graphicData>
        </a:graphic>
      </p:graphicFrame>
      <p:grpSp>
        <p:nvGrpSpPr>
          <p:cNvPr id="24" name="组合 23"/>
          <p:cNvGrpSpPr/>
          <p:nvPr/>
        </p:nvGrpSpPr>
        <p:grpSpPr>
          <a:xfrm>
            <a:off x="7722253" y="1522108"/>
            <a:ext cx="4822467" cy="3716915"/>
            <a:chOff x="7742416" y="3121205"/>
            <a:chExt cx="4822467" cy="3716915"/>
          </a:xfrm>
        </p:grpSpPr>
        <p:sp>
          <p:nvSpPr>
            <p:cNvPr id="29" name="文本框 28"/>
            <p:cNvSpPr txBox="1"/>
            <p:nvPr/>
          </p:nvSpPr>
          <p:spPr>
            <a:xfrm>
              <a:off x="7742416" y="3121205"/>
              <a:ext cx="4822467" cy="3716915"/>
            </a:xfrm>
            <a:prstGeom prst="rect">
              <a:avLst/>
            </a:prstGeom>
            <a:noFill/>
          </p:spPr>
          <p:txBody>
            <a:bodyPr wrap="square">
              <a:spAutoFit/>
            </a:bodyPr>
            <a:lstStyle/>
            <a:p>
              <a:pPr indent="575945" algn="just">
                <a:lnSpc>
                  <a:spcPct val="120000"/>
                </a:lnSpc>
                <a:buNone/>
              </a:pPr>
              <a:r>
                <a:rPr lang="zh-CN" altLang="en-US" sz="1800" kern="100" dirty="0">
                  <a:effectLst/>
                  <a:latin typeface="Times New Roman" panose="02020603050405020304" pitchFamily="18" charset="0"/>
                  <a:ea typeface="宋体" panose="02010600030101010101" pitchFamily="2" charset="-122"/>
                </a:rPr>
                <a:t>：线圈初始</a:t>
              </a:r>
              <a:r>
                <a:rPr lang="zh-CN" altLang="en-US" kern="100" dirty="0">
                  <a:latin typeface="Times New Roman" panose="02020603050405020304" pitchFamily="18" charset="0"/>
                  <a:ea typeface="宋体" panose="02010600030101010101" pitchFamily="2" charset="-122"/>
                </a:rPr>
                <a:t>内径</a:t>
              </a:r>
              <a:r>
                <a:rPr lang="zh-CN" altLang="en-US"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mm</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buNone/>
              </a:pPr>
              <a:r>
                <a:rPr lang="zh-CN" altLang="en-US" kern="100" dirty="0">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额定电感（</a:t>
              </a:r>
              <a:r>
                <a:rPr lang="en-US" altLang="zh-CN" sz="1800" kern="100" dirty="0" err="1">
                  <a:effectLst/>
                  <a:latin typeface="Times New Roman" panose="02020603050405020304" pitchFamily="18" charset="0"/>
                  <a:ea typeface="宋体" panose="02010600030101010101" pitchFamily="2" charset="-122"/>
                </a:rPr>
                <a:t>mH</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buNone/>
              </a:pPr>
              <a:r>
                <a:rPr lang="zh-CN" altLang="en-US" sz="1800" kern="100" dirty="0">
                  <a:effectLst/>
                  <a:latin typeface="Times New Roman" panose="02020603050405020304" pitchFamily="18" charset="0"/>
                  <a:ea typeface="宋体" panose="02010600030101010101" pitchFamily="2" charset="-122"/>
                </a:rPr>
                <a:t>：线圈平均直径（</a:t>
              </a:r>
              <a:r>
                <a:rPr lang="en-US" altLang="zh-CN" sz="1800" kern="100" dirty="0">
                  <a:effectLst/>
                  <a:latin typeface="Times New Roman" panose="02020603050405020304" pitchFamily="18" charset="0"/>
                  <a:ea typeface="宋体" panose="02010600030101010101" pitchFamily="2" charset="-122"/>
                </a:rPr>
                <a:t>mm</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buNone/>
              </a:pPr>
              <a:r>
                <a:rPr lang="zh-CN" altLang="en-US" kern="100" dirty="0">
                  <a:latin typeface="Times New Roman" panose="02020603050405020304" pitchFamily="18" charset="0"/>
                  <a:ea typeface="宋体" panose="02010600030101010101" pitchFamily="2" charset="-122"/>
                </a:rPr>
                <a:t>：线圈内径（</a:t>
              </a:r>
              <a:r>
                <a:rPr lang="en-US" altLang="zh-CN" kern="100" dirty="0">
                  <a:latin typeface="Times New Roman" panose="02020603050405020304" pitchFamily="18" charset="0"/>
                  <a:ea typeface="宋体" panose="02010600030101010101" pitchFamily="2" charset="-122"/>
                </a:rPr>
                <a:t>mm</a:t>
              </a:r>
              <a:r>
                <a:rPr lang="zh-CN" altLang="en-US" kern="100" dirty="0">
                  <a:latin typeface="Times New Roman" panose="02020603050405020304" pitchFamily="18" charset="0"/>
                  <a:ea typeface="宋体" panose="02010600030101010101" pitchFamily="2" charset="-122"/>
                </a:rPr>
                <a:t>）</a:t>
              </a:r>
              <a:endParaRPr lang="en-US" altLang="zh-CN" kern="100" dirty="0">
                <a:latin typeface="Times New Roman" panose="02020603050405020304" pitchFamily="18" charset="0"/>
                <a:ea typeface="宋体" panose="02010600030101010101" pitchFamily="2" charset="-122"/>
              </a:endParaRPr>
            </a:p>
            <a:p>
              <a:pPr indent="575945" algn="just">
                <a:lnSpc>
                  <a:spcPct val="120000"/>
                </a:lnSpc>
                <a:buNone/>
              </a:pPr>
              <a:r>
                <a:rPr lang="zh-CN" altLang="en-US" sz="1800" kern="100" dirty="0">
                  <a:effectLst/>
                  <a:latin typeface="Times New Roman" panose="02020603050405020304" pitchFamily="18" charset="0"/>
                  <a:ea typeface="宋体" panose="02010600030101010101" pitchFamily="2" charset="-122"/>
                </a:rPr>
                <a:t>：线圈</a:t>
              </a:r>
              <a:r>
                <a:rPr lang="zh-CN" altLang="en-US" kern="100" dirty="0">
                  <a:latin typeface="Times New Roman" panose="02020603050405020304" pitchFamily="18" charset="0"/>
                  <a:ea typeface="宋体" panose="02010600030101010101" pitchFamily="2" charset="-122"/>
                </a:rPr>
                <a:t>外径</a:t>
              </a:r>
              <a:r>
                <a:rPr lang="zh-CN" altLang="en-US"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mm</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pPr>
              <a:r>
                <a:rPr lang="zh-CN" altLang="en-US" kern="100" dirty="0">
                  <a:latin typeface="Times New Roman" panose="02020603050405020304" pitchFamily="18" charset="0"/>
                  <a:ea typeface="宋体" panose="02010600030101010101" pitchFamily="2" charset="-122"/>
                </a:rPr>
                <a:t>：绕线层数</a:t>
              </a:r>
              <a:endParaRPr lang="zh-CN" altLang="en-US" kern="100" dirty="0">
                <a:latin typeface="Times New Roman" panose="02020603050405020304" pitchFamily="18" charset="0"/>
                <a:ea typeface="宋体" panose="02010600030101010101" pitchFamily="2" charset="-122"/>
              </a:endParaRPr>
            </a:p>
            <a:p>
              <a:pPr indent="575945" algn="just">
                <a:lnSpc>
                  <a:spcPct val="120000"/>
                </a:lnSpc>
              </a:pPr>
              <a:r>
                <a:rPr lang="zh-CN" altLang="en-US" kern="100" dirty="0">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空心线圈</a:t>
              </a:r>
              <a:r>
                <a:rPr lang="zh-CN" altLang="en-US" kern="100" dirty="0">
                  <a:latin typeface="Times New Roman" panose="02020603050405020304" pitchFamily="18" charset="0"/>
                  <a:ea typeface="宋体" panose="02010600030101010101" pitchFamily="2" charset="-122"/>
                </a:rPr>
                <a:t>总</a:t>
              </a:r>
              <a:r>
                <a:rPr lang="zh-CN" altLang="en-US" sz="1800" kern="100" dirty="0">
                  <a:effectLst/>
                  <a:latin typeface="Times New Roman" panose="02020603050405020304" pitchFamily="18" charset="0"/>
                  <a:ea typeface="宋体" panose="02010600030101010101" pitchFamily="2" charset="-122"/>
                </a:rPr>
                <a:t>匝数（匝）</a:t>
              </a:r>
              <a:endParaRPr lang="en-US" altLang="zh-CN" kern="100" dirty="0">
                <a:latin typeface="Times New Roman" panose="02020603050405020304" pitchFamily="18" charset="0"/>
                <a:ea typeface="宋体" panose="02010600030101010101" pitchFamily="2" charset="-122"/>
              </a:endParaRPr>
            </a:p>
            <a:p>
              <a:pPr indent="575945" algn="just">
                <a:lnSpc>
                  <a:spcPct val="120000"/>
                </a:lnSpc>
              </a:pPr>
              <a:r>
                <a:rPr lang="zh-CN" altLang="en-US" kern="100" dirty="0">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线圈厚度（</a:t>
              </a:r>
              <a:r>
                <a:rPr lang="en-US" altLang="zh-CN" sz="1800" kern="100" dirty="0">
                  <a:effectLst/>
                  <a:latin typeface="Times New Roman" panose="02020603050405020304" pitchFamily="18" charset="0"/>
                  <a:ea typeface="宋体" panose="02010600030101010101" pitchFamily="2" charset="-122"/>
                </a:rPr>
                <a:t>mm</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pPr>
              <a:r>
                <a:rPr lang="zh-CN" altLang="en-US" kern="100" dirty="0">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线圈电阻值（</a:t>
              </a:r>
              <a:r>
                <a:rPr lang="el-GR" altLang="zh-CN" sz="1800" kern="100" dirty="0">
                  <a:effectLst/>
                  <a:latin typeface="Times New Roman" panose="02020603050405020304" pitchFamily="18" charset="0"/>
                  <a:ea typeface="宋体" panose="02010600030101010101" pitchFamily="2" charset="-122"/>
                </a:rPr>
                <a:t>Ω</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indent="575945" algn="just">
                <a:lnSpc>
                  <a:spcPct val="120000"/>
                </a:lnSpc>
              </a:pPr>
              <a:r>
                <a:rPr lang="zh-CN" altLang="en-US" kern="100" dirty="0">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电阻率，取</a:t>
              </a:r>
              <a:r>
                <a:rPr lang="en-US" altLang="zh-CN" kern="100" dirty="0">
                  <a:latin typeface="Times New Roman" panose="02020603050405020304" pitchFamily="18" charset="0"/>
                  <a:ea typeface="宋体" panose="02010600030101010101" pitchFamily="2" charset="-122"/>
                </a:rPr>
                <a:t>0.00001851</a:t>
              </a:r>
              <a:r>
                <a:rPr lang="zh-CN" altLang="en-US" sz="1800" kern="100" dirty="0">
                  <a:effectLst/>
                  <a:latin typeface="Times New Roman" panose="02020603050405020304" pitchFamily="18" charset="0"/>
                  <a:ea typeface="宋体" panose="02010600030101010101" pitchFamily="2" charset="-122"/>
                </a:rPr>
                <a:t> （</a:t>
              </a:r>
              <a:r>
                <a:rPr lang="el-GR" altLang="zh-CN" sz="1800" kern="100" dirty="0">
                  <a:effectLst/>
                  <a:latin typeface="Times New Roman" panose="02020603050405020304" pitchFamily="18" charset="0"/>
                  <a:ea typeface="宋体" panose="02010600030101010101" pitchFamily="2" charset="-122"/>
                </a:rPr>
                <a:t>Ω</a:t>
              </a:r>
              <a:r>
                <a:rPr lang="en-US" altLang="zh-CN" sz="1800" kern="100" dirty="0">
                  <a:effectLst/>
                  <a:latin typeface="Times New Roman" panose="02020603050405020304" pitchFamily="18" charset="0"/>
                  <a:ea typeface="宋体" panose="02010600030101010101" pitchFamily="2" charset="-122"/>
                </a:rPr>
                <a:t>/ mm </a:t>
              </a:r>
              <a:r>
                <a:rPr lang="zh-CN" altLang="en-US" sz="1800" kern="100" dirty="0">
                  <a:effectLst/>
                  <a:latin typeface="Times New Roman" panose="02020603050405020304" pitchFamily="18" charset="0"/>
                  <a:ea typeface="宋体" panose="02010600030101010101" pitchFamily="2" charset="-122"/>
                </a:rPr>
                <a:t>）</a:t>
              </a:r>
              <a:endParaRPr lang="zh-CN" altLang="en-US" kern="100" dirty="0">
                <a:latin typeface="Times New Roman" panose="02020603050405020304" pitchFamily="18" charset="0"/>
                <a:ea typeface="宋体" panose="02010600030101010101" pitchFamily="2" charset="-122"/>
              </a:endParaRPr>
            </a:p>
            <a:p>
              <a:pPr indent="575945" algn="just">
                <a:lnSpc>
                  <a:spcPct val="120000"/>
                </a:lnSpc>
              </a:pPr>
              <a:r>
                <a:rPr lang="zh-CN" altLang="en-US" kern="100" dirty="0">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导线横截面积（</a:t>
              </a:r>
              <a:r>
                <a:rPr lang="en-US" altLang="zh-CN" sz="1800" kern="100" dirty="0">
                  <a:effectLst/>
                  <a:latin typeface="Times New Roman" panose="02020603050405020304" pitchFamily="18" charset="0"/>
                  <a:ea typeface="宋体" panose="02010600030101010101" pitchFamily="2" charset="-122"/>
                </a:rPr>
                <a:t>mm2</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p:txBody>
        </p:sp>
        <p:graphicFrame>
          <p:nvGraphicFramePr>
            <p:cNvPr id="34" name="对象 33"/>
            <p:cNvGraphicFramePr>
              <a:graphicFrameLocks noChangeAspect="1"/>
            </p:cNvGraphicFramePr>
            <p:nvPr/>
          </p:nvGraphicFramePr>
          <p:xfrm>
            <a:off x="8036946" y="3150718"/>
            <a:ext cx="347663" cy="417513"/>
          </p:xfrm>
          <a:graphic>
            <a:graphicData uri="http://schemas.openxmlformats.org/presentationml/2006/ole">
              <mc:AlternateContent xmlns:mc="http://schemas.openxmlformats.org/markup-compatibility/2006">
                <mc:Choice xmlns:v="urn:schemas-microsoft-com:vml" Requires="v">
                  <p:oleObj spid="_x0000_s10452" name="Equation" r:id="rId15" imgW="5181600" imgH="5791200" progId="Equation.DSMT4">
                    <p:embed/>
                  </p:oleObj>
                </mc:Choice>
                <mc:Fallback>
                  <p:oleObj name="Equation" r:id="rId15" imgW="5181600" imgH="5791200" progId="Equation.DSMT4">
                    <p:embed/>
                    <p:pic>
                      <p:nvPicPr>
                        <p:cNvPr id="0" name="对象 33"/>
                        <p:cNvPicPr>
                          <a:picLocks noChangeAspect="1" noChangeArrowheads="1"/>
                        </p:cNvPicPr>
                        <p:nvPr/>
                      </p:nvPicPr>
                      <p:blipFill>
                        <a:blip r:embed="rId16"/>
                        <a:srcRect/>
                        <a:stretch>
                          <a:fillRect/>
                        </a:stretch>
                      </p:blipFill>
                      <p:spPr bwMode="auto">
                        <a:xfrm>
                          <a:off x="8036946" y="3150718"/>
                          <a:ext cx="347663" cy="417513"/>
                        </a:xfrm>
                        <a:prstGeom prst="rect">
                          <a:avLst/>
                        </a:prstGeom>
                        <a:noFill/>
                      </p:spPr>
                    </p:pic>
                  </p:oleObj>
                </mc:Fallback>
              </mc:AlternateContent>
            </a:graphicData>
          </a:graphic>
        </p:graphicFrame>
        <p:graphicFrame>
          <p:nvGraphicFramePr>
            <p:cNvPr id="38" name="对象 37"/>
            <p:cNvGraphicFramePr>
              <a:graphicFrameLocks noChangeAspect="1"/>
            </p:cNvGraphicFramePr>
            <p:nvPr/>
          </p:nvGraphicFramePr>
          <p:xfrm>
            <a:off x="8036946" y="3501261"/>
            <a:ext cx="282575" cy="382588"/>
          </p:xfrm>
          <a:graphic>
            <a:graphicData uri="http://schemas.openxmlformats.org/presentationml/2006/ole">
              <mc:AlternateContent xmlns:mc="http://schemas.openxmlformats.org/markup-compatibility/2006">
                <mc:Choice xmlns:v="urn:schemas-microsoft-com:vml" Requires="v">
                  <p:oleObj spid="_x0000_s10453" name="Equation" r:id="rId17" imgW="4267200" imgH="5486400" progId="Equation.DSMT4">
                    <p:embed/>
                  </p:oleObj>
                </mc:Choice>
                <mc:Fallback>
                  <p:oleObj name="Equation" r:id="rId17" imgW="4267200" imgH="5486400" progId="Equation.DSMT4">
                    <p:embed/>
                    <p:pic>
                      <p:nvPicPr>
                        <p:cNvPr id="0" name="对象 37"/>
                        <p:cNvPicPr>
                          <a:picLocks noChangeAspect="1" noChangeArrowheads="1"/>
                        </p:cNvPicPr>
                        <p:nvPr/>
                      </p:nvPicPr>
                      <p:blipFill>
                        <a:blip r:embed="rId18"/>
                        <a:srcRect/>
                        <a:stretch>
                          <a:fillRect/>
                        </a:stretch>
                      </p:blipFill>
                      <p:spPr bwMode="auto">
                        <a:xfrm>
                          <a:off x="8036946" y="3501261"/>
                          <a:ext cx="282575" cy="382588"/>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8036946" y="4481603"/>
            <a:ext cx="325438" cy="365125"/>
          </p:xfrm>
          <a:graphic>
            <a:graphicData uri="http://schemas.openxmlformats.org/presentationml/2006/ole">
              <mc:AlternateContent xmlns:mc="http://schemas.openxmlformats.org/markup-compatibility/2006">
                <mc:Choice xmlns:v="urn:schemas-microsoft-com:vml" Requires="v">
                  <p:oleObj spid="_x0000_s10454" name="Equation" r:id="rId19" imgW="4876800" imgH="5486400" progId="Equation.DSMT4">
                    <p:embed/>
                  </p:oleObj>
                </mc:Choice>
                <mc:Fallback>
                  <p:oleObj name="Equation" r:id="rId19" imgW="4876800" imgH="5486400" progId="Equation.DSMT4">
                    <p:embed/>
                    <p:pic>
                      <p:nvPicPr>
                        <p:cNvPr id="0" name="对象 35"/>
                        <p:cNvPicPr>
                          <a:picLocks noChangeAspect="1" noChangeArrowheads="1"/>
                        </p:cNvPicPr>
                        <p:nvPr/>
                      </p:nvPicPr>
                      <p:blipFill>
                        <a:blip r:embed="rId20"/>
                        <a:srcRect/>
                        <a:stretch>
                          <a:fillRect/>
                        </a:stretch>
                      </p:blipFill>
                      <p:spPr bwMode="auto">
                        <a:xfrm>
                          <a:off x="8036946" y="4481603"/>
                          <a:ext cx="325438" cy="365125"/>
                        </a:xfrm>
                        <a:prstGeom prst="rect">
                          <a:avLst/>
                        </a:prstGeom>
                        <a:noFill/>
                      </p:spPr>
                    </p:pic>
                  </p:oleObj>
                </mc:Fallback>
              </mc:AlternateContent>
            </a:graphicData>
          </a:graphic>
        </p:graphicFrame>
        <p:graphicFrame>
          <p:nvGraphicFramePr>
            <p:cNvPr id="12" name="对象 11"/>
            <p:cNvGraphicFramePr>
              <a:graphicFrameLocks noChangeAspect="1"/>
            </p:cNvGraphicFramePr>
            <p:nvPr/>
          </p:nvGraphicFramePr>
          <p:xfrm>
            <a:off x="8073890" y="4872123"/>
            <a:ext cx="222250" cy="276225"/>
          </p:xfrm>
          <a:graphic>
            <a:graphicData uri="http://schemas.openxmlformats.org/presentationml/2006/ole">
              <mc:AlternateContent xmlns:mc="http://schemas.openxmlformats.org/markup-compatibility/2006">
                <mc:Choice xmlns:v="urn:schemas-microsoft-com:vml" Requires="v">
                  <p:oleObj spid="_x0000_s10455" name="Equation" r:id="rId21" imgW="3352800" imgH="3962400" progId="Equation.DSMT4">
                    <p:embed/>
                  </p:oleObj>
                </mc:Choice>
                <mc:Fallback>
                  <p:oleObj name="Equation" r:id="rId21" imgW="3352800" imgH="3962400" progId="Equation.DSMT4">
                    <p:embed/>
                    <p:pic>
                      <p:nvPicPr>
                        <p:cNvPr id="0" name="对象 7"/>
                        <p:cNvPicPr>
                          <a:picLocks noChangeAspect="1" noChangeArrowheads="1"/>
                        </p:cNvPicPr>
                        <p:nvPr/>
                      </p:nvPicPr>
                      <p:blipFill>
                        <a:blip r:embed="rId22"/>
                        <a:srcRect/>
                        <a:stretch>
                          <a:fillRect/>
                        </a:stretch>
                      </p:blipFill>
                      <p:spPr bwMode="auto">
                        <a:xfrm>
                          <a:off x="8073890" y="4872123"/>
                          <a:ext cx="222250" cy="276225"/>
                        </a:xfrm>
                        <a:prstGeom prst="rect">
                          <a:avLst/>
                        </a:prstGeom>
                        <a:noFill/>
                      </p:spPr>
                    </p:pic>
                  </p:oleObj>
                </mc:Fallback>
              </mc:AlternateContent>
            </a:graphicData>
          </a:graphic>
        </p:graphicFrame>
        <p:graphicFrame>
          <p:nvGraphicFramePr>
            <p:cNvPr id="13" name="对象 12"/>
            <p:cNvGraphicFramePr>
              <a:graphicFrameLocks noChangeAspect="1"/>
            </p:cNvGraphicFramePr>
            <p:nvPr/>
          </p:nvGraphicFramePr>
          <p:xfrm>
            <a:off x="8036946" y="3863063"/>
            <a:ext cx="265112" cy="285750"/>
          </p:xfrm>
          <a:graphic>
            <a:graphicData uri="http://schemas.openxmlformats.org/presentationml/2006/ole">
              <mc:AlternateContent xmlns:mc="http://schemas.openxmlformats.org/markup-compatibility/2006">
                <mc:Choice xmlns:v="urn:schemas-microsoft-com:vml" Requires="v">
                  <p:oleObj spid="_x0000_s10456" name="Equation" r:id="rId23" imgW="3962400" imgH="3962400" progId="Equation.DSMT4">
                    <p:embed/>
                  </p:oleObj>
                </mc:Choice>
                <mc:Fallback>
                  <p:oleObj name="Equation" r:id="rId23" imgW="3962400" imgH="3962400" progId="Equation.DSMT4">
                    <p:embed/>
                    <p:pic>
                      <p:nvPicPr>
                        <p:cNvPr id="0" name="对象 9"/>
                        <p:cNvPicPr>
                          <a:picLocks noChangeAspect="1" noChangeArrowheads="1"/>
                        </p:cNvPicPr>
                        <p:nvPr/>
                      </p:nvPicPr>
                      <p:blipFill>
                        <a:blip r:embed="rId24"/>
                        <a:srcRect/>
                        <a:stretch>
                          <a:fillRect/>
                        </a:stretch>
                      </p:blipFill>
                      <p:spPr bwMode="auto">
                        <a:xfrm>
                          <a:off x="8036946" y="3863063"/>
                          <a:ext cx="265112" cy="285750"/>
                        </a:xfrm>
                        <a:prstGeom prst="rect">
                          <a:avLst/>
                        </a:prstGeom>
                        <a:noFill/>
                      </p:spPr>
                    </p:pic>
                  </p:oleObj>
                </mc:Fallback>
              </mc:AlternateContent>
            </a:graphicData>
          </a:graphic>
        </p:graphicFrame>
        <p:graphicFrame>
          <p:nvGraphicFramePr>
            <p:cNvPr id="14" name="对象 13"/>
            <p:cNvGraphicFramePr>
              <a:graphicFrameLocks noChangeAspect="1"/>
            </p:cNvGraphicFramePr>
            <p:nvPr/>
          </p:nvGraphicFramePr>
          <p:xfrm>
            <a:off x="8036946" y="4183447"/>
            <a:ext cx="304800" cy="365125"/>
          </p:xfrm>
          <a:graphic>
            <a:graphicData uri="http://schemas.openxmlformats.org/presentationml/2006/ole">
              <mc:AlternateContent xmlns:mc="http://schemas.openxmlformats.org/markup-compatibility/2006">
                <mc:Choice xmlns:v="urn:schemas-microsoft-com:vml" Requires="v">
                  <p:oleObj spid="_x0000_s10457" name="Equation" r:id="rId25" imgW="4572000" imgH="5486400" progId="Equation.DSMT4">
                    <p:embed/>
                  </p:oleObj>
                </mc:Choice>
                <mc:Fallback>
                  <p:oleObj name="Equation" r:id="rId25" imgW="4572000" imgH="5486400" progId="Equation.DSMT4">
                    <p:embed/>
                    <p:pic>
                      <p:nvPicPr>
                        <p:cNvPr id="0" name="对象 7"/>
                        <p:cNvPicPr>
                          <a:picLocks noChangeAspect="1" noChangeArrowheads="1"/>
                        </p:cNvPicPr>
                        <p:nvPr/>
                      </p:nvPicPr>
                      <p:blipFill>
                        <a:blip r:embed="rId26"/>
                        <a:srcRect/>
                        <a:stretch>
                          <a:fillRect/>
                        </a:stretch>
                      </p:blipFill>
                      <p:spPr bwMode="auto">
                        <a:xfrm>
                          <a:off x="8036946" y="4183447"/>
                          <a:ext cx="304800" cy="365125"/>
                        </a:xfrm>
                        <a:prstGeom prst="rect">
                          <a:avLst/>
                        </a:prstGeom>
                        <a:noFill/>
                      </p:spPr>
                    </p:pic>
                  </p:oleObj>
                </mc:Fallback>
              </mc:AlternateContent>
            </a:graphicData>
          </a:graphic>
        </p:graphicFrame>
        <p:graphicFrame>
          <p:nvGraphicFramePr>
            <p:cNvPr id="22" name="对象 21"/>
            <p:cNvGraphicFramePr>
              <a:graphicFrameLocks noChangeAspect="1"/>
            </p:cNvGraphicFramePr>
            <p:nvPr/>
          </p:nvGraphicFramePr>
          <p:xfrm>
            <a:off x="8073890" y="5559410"/>
            <a:ext cx="136525" cy="246062"/>
          </p:xfrm>
          <a:graphic>
            <a:graphicData uri="http://schemas.openxmlformats.org/presentationml/2006/ole">
              <mc:AlternateContent xmlns:mc="http://schemas.openxmlformats.org/markup-compatibility/2006">
                <mc:Choice xmlns:v="urn:schemas-microsoft-com:vml" Requires="v">
                  <p:oleObj spid="_x0000_s10458" name="Equation" r:id="rId27" imgW="2133600" imgH="3657600" progId="Equation.DSMT4">
                    <p:embed/>
                  </p:oleObj>
                </mc:Choice>
                <mc:Fallback>
                  <p:oleObj name="Equation" r:id="rId27" imgW="2133600" imgH="3657600" progId="Equation.DSMT4">
                    <p:embed/>
                    <p:pic>
                      <p:nvPicPr>
                        <p:cNvPr id="0" name="对象 15"/>
                        <p:cNvPicPr>
                          <a:picLocks noChangeAspect="1" noChangeArrowheads="1"/>
                        </p:cNvPicPr>
                        <p:nvPr/>
                      </p:nvPicPr>
                      <p:blipFill>
                        <a:blip r:embed="rId28"/>
                        <a:srcRect/>
                        <a:stretch>
                          <a:fillRect/>
                        </a:stretch>
                      </p:blipFill>
                      <p:spPr bwMode="auto">
                        <a:xfrm>
                          <a:off x="8073890" y="5559410"/>
                          <a:ext cx="136525" cy="246062"/>
                        </a:xfrm>
                        <a:prstGeom prst="rect">
                          <a:avLst/>
                        </a:prstGeom>
                        <a:noFill/>
                      </p:spPr>
                    </p:pic>
                  </p:oleObj>
                </mc:Fallback>
              </mc:AlternateContent>
            </a:graphicData>
          </a:graphic>
        </p:graphicFrame>
        <p:graphicFrame>
          <p:nvGraphicFramePr>
            <p:cNvPr id="9" name="对象 8"/>
            <p:cNvGraphicFramePr>
              <a:graphicFrameLocks noChangeAspect="1"/>
            </p:cNvGraphicFramePr>
            <p:nvPr/>
          </p:nvGraphicFramePr>
          <p:xfrm>
            <a:off x="8036946" y="5896996"/>
            <a:ext cx="233363" cy="266700"/>
          </p:xfrm>
          <a:graphic>
            <a:graphicData uri="http://schemas.openxmlformats.org/presentationml/2006/ole">
              <mc:AlternateContent xmlns:mc="http://schemas.openxmlformats.org/markup-compatibility/2006">
                <mc:Choice xmlns:v="urn:schemas-microsoft-com:vml" Requires="v">
                  <p:oleObj spid="_x0000_s10459" name="Equation" r:id="rId29" imgW="3657600" imgH="3962400" progId="Equation.DSMT4">
                    <p:embed/>
                  </p:oleObj>
                </mc:Choice>
                <mc:Fallback>
                  <p:oleObj name="Equation" r:id="rId29" imgW="3657600" imgH="3962400" progId="Equation.DSMT4">
                    <p:embed/>
                    <p:pic>
                      <p:nvPicPr>
                        <p:cNvPr id="0" name="对象 21"/>
                        <p:cNvPicPr>
                          <a:picLocks noChangeAspect="1" noChangeArrowheads="1"/>
                        </p:cNvPicPr>
                        <p:nvPr/>
                      </p:nvPicPr>
                      <p:blipFill>
                        <a:blip r:embed="rId30"/>
                        <a:srcRect/>
                        <a:stretch>
                          <a:fillRect/>
                        </a:stretch>
                      </p:blipFill>
                      <p:spPr bwMode="auto">
                        <a:xfrm>
                          <a:off x="8036946" y="5896996"/>
                          <a:ext cx="233363" cy="266700"/>
                        </a:xfrm>
                        <a:prstGeom prst="rect">
                          <a:avLst/>
                        </a:prstGeom>
                        <a:noFill/>
                      </p:spPr>
                    </p:pic>
                  </p:oleObj>
                </mc:Fallback>
              </mc:AlternateContent>
            </a:graphicData>
          </a:graphic>
        </p:graphicFrame>
        <p:graphicFrame>
          <p:nvGraphicFramePr>
            <p:cNvPr id="11" name="对象 10"/>
            <p:cNvGraphicFramePr>
              <a:graphicFrameLocks noChangeAspect="1"/>
            </p:cNvGraphicFramePr>
            <p:nvPr/>
          </p:nvGraphicFramePr>
          <p:xfrm>
            <a:off x="8036946" y="6235273"/>
            <a:ext cx="233363" cy="266700"/>
          </p:xfrm>
          <a:graphic>
            <a:graphicData uri="http://schemas.openxmlformats.org/presentationml/2006/ole">
              <mc:AlternateContent xmlns:mc="http://schemas.openxmlformats.org/markup-compatibility/2006">
                <mc:Choice xmlns:v="urn:schemas-microsoft-com:vml" Requires="v">
                  <p:oleObj spid="_x0000_s10460" name="Equation" r:id="rId31" imgW="3657600" imgH="3962400" progId="Equation.DSMT4">
                    <p:embed/>
                  </p:oleObj>
                </mc:Choice>
                <mc:Fallback>
                  <p:oleObj name="Equation" r:id="rId31" imgW="3657600" imgH="3962400" progId="Equation.DSMT4">
                    <p:embed/>
                    <p:pic>
                      <p:nvPicPr>
                        <p:cNvPr id="0" name="对象 8"/>
                        <p:cNvPicPr>
                          <a:picLocks noChangeAspect="1" noChangeArrowheads="1"/>
                        </p:cNvPicPr>
                        <p:nvPr/>
                      </p:nvPicPr>
                      <p:blipFill>
                        <a:blip r:embed="rId32"/>
                        <a:srcRect/>
                        <a:stretch>
                          <a:fillRect/>
                        </a:stretch>
                      </p:blipFill>
                      <p:spPr bwMode="auto">
                        <a:xfrm>
                          <a:off x="8036946" y="6235273"/>
                          <a:ext cx="233363" cy="266700"/>
                        </a:xfrm>
                        <a:prstGeom prst="rect">
                          <a:avLst/>
                        </a:prstGeom>
                        <a:noFill/>
                      </p:spPr>
                    </p:pic>
                  </p:oleObj>
                </mc:Fallback>
              </mc:AlternateContent>
            </a:graphicData>
          </a:graphic>
        </p:graphicFrame>
        <p:graphicFrame>
          <p:nvGraphicFramePr>
            <p:cNvPr id="21" name="对象 20"/>
            <p:cNvGraphicFramePr>
              <a:graphicFrameLocks noChangeAspect="1"/>
            </p:cNvGraphicFramePr>
            <p:nvPr/>
          </p:nvGraphicFramePr>
          <p:xfrm>
            <a:off x="8036946" y="6527364"/>
            <a:ext cx="214313" cy="287337"/>
          </p:xfrm>
          <a:graphic>
            <a:graphicData uri="http://schemas.openxmlformats.org/presentationml/2006/ole">
              <mc:AlternateContent xmlns:mc="http://schemas.openxmlformats.org/markup-compatibility/2006">
                <mc:Choice xmlns:v="urn:schemas-microsoft-com:vml" Requires="v">
                  <p:oleObj spid="_x0000_s10461" name="Equation" r:id="rId33" imgW="3352800" imgH="4267200" progId="Equation.DSMT4">
                    <p:embed/>
                  </p:oleObj>
                </mc:Choice>
                <mc:Fallback>
                  <p:oleObj name="Equation" r:id="rId33" imgW="3352800" imgH="4267200" progId="Equation.DSMT4">
                    <p:embed/>
                    <p:pic>
                      <p:nvPicPr>
                        <p:cNvPr id="0" name="对象 10"/>
                        <p:cNvPicPr>
                          <a:picLocks noChangeAspect="1" noChangeArrowheads="1"/>
                        </p:cNvPicPr>
                        <p:nvPr/>
                      </p:nvPicPr>
                      <p:blipFill>
                        <a:blip r:embed="rId34"/>
                        <a:srcRect/>
                        <a:stretch>
                          <a:fillRect/>
                        </a:stretch>
                      </p:blipFill>
                      <p:spPr bwMode="auto">
                        <a:xfrm>
                          <a:off x="8036946" y="6527364"/>
                          <a:ext cx="214313" cy="287337"/>
                        </a:xfrm>
                        <a:prstGeom prst="rect">
                          <a:avLst/>
                        </a:prstGeom>
                        <a:noFill/>
                      </p:spPr>
                    </p:pic>
                  </p:oleObj>
                </mc:Fallback>
              </mc:AlternateContent>
            </a:graphicData>
          </a:graphic>
        </p:graphicFrame>
        <p:graphicFrame>
          <p:nvGraphicFramePr>
            <p:cNvPr id="15" name="对象 14"/>
            <p:cNvGraphicFramePr>
              <a:graphicFrameLocks noChangeAspect="1"/>
            </p:cNvGraphicFramePr>
            <p:nvPr/>
          </p:nvGraphicFramePr>
          <p:xfrm>
            <a:off x="8019900" y="5201179"/>
            <a:ext cx="273050" cy="285750"/>
          </p:xfrm>
          <a:graphic>
            <a:graphicData uri="http://schemas.openxmlformats.org/presentationml/2006/ole">
              <mc:AlternateContent xmlns:mc="http://schemas.openxmlformats.org/markup-compatibility/2006">
                <mc:Choice xmlns:v="urn:schemas-microsoft-com:vml" Requires="v">
                  <p:oleObj spid="_x0000_s10462" name="Equation" r:id="rId35" imgW="4267200" imgH="4267200" progId="Equation.DSMT4">
                    <p:embed/>
                  </p:oleObj>
                </mc:Choice>
                <mc:Fallback>
                  <p:oleObj name="Equation" r:id="rId35" imgW="4267200" imgH="4267200" progId="Equation.DSMT4">
                    <p:embed/>
                    <p:pic>
                      <p:nvPicPr>
                        <p:cNvPr id="0" name="对象 21"/>
                        <p:cNvPicPr>
                          <a:picLocks noChangeAspect="1" noChangeArrowheads="1"/>
                        </p:cNvPicPr>
                        <p:nvPr/>
                      </p:nvPicPr>
                      <p:blipFill>
                        <a:blip r:embed="rId36"/>
                        <a:srcRect/>
                        <a:stretch>
                          <a:fillRect/>
                        </a:stretch>
                      </p:blipFill>
                      <p:spPr bwMode="auto">
                        <a:xfrm>
                          <a:off x="8019900" y="5201179"/>
                          <a:ext cx="273050" cy="285750"/>
                        </a:xfrm>
                        <a:prstGeom prst="rect">
                          <a:avLst/>
                        </a:prstGeom>
                        <a:noFill/>
                      </p:spPr>
                    </p:pic>
                  </p:oleObj>
                </mc:Fallback>
              </mc:AlternateContent>
            </a:graphicData>
          </a:graphic>
        </p:graphicFrame>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椭圆 90"/>
          <p:cNvSpPr/>
          <p:nvPr/>
        </p:nvSpPr>
        <p:spPr>
          <a:xfrm>
            <a:off x="7139087" y="3029149"/>
            <a:ext cx="2614511" cy="1268870"/>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0" name="椭圆 89"/>
          <p:cNvSpPr/>
          <p:nvPr/>
        </p:nvSpPr>
        <p:spPr>
          <a:xfrm>
            <a:off x="4185920" y="3131178"/>
            <a:ext cx="2490305" cy="1000836"/>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p:cNvSpPr txBox="1"/>
          <p:nvPr/>
        </p:nvSpPr>
        <p:spPr>
          <a:xfrm>
            <a:off x="487680" y="105459"/>
            <a:ext cx="7575006" cy="646331"/>
          </a:xfrm>
          <a:prstGeom prst="rect">
            <a:avLst/>
          </a:prstGeom>
          <a:noFill/>
        </p:spPr>
        <p:txBody>
          <a:bodyPr wrap="square" rtlCol="0">
            <a:spAutoFit/>
          </a:bodyPr>
          <a:lstStyle/>
          <a:p>
            <a:r>
              <a:rPr lang="zh-CN" altLang="en-US" sz="3600" b="1" dirty="0"/>
              <a:t>五</a:t>
            </a:r>
            <a:r>
              <a:rPr lang="en-US" altLang="zh-CN" sz="3600" b="1" dirty="0"/>
              <a:t>.</a:t>
            </a:r>
            <a:r>
              <a:rPr lang="zh-CN" altLang="en-US" sz="3600" b="1" dirty="0"/>
              <a:t> 实验内容</a:t>
            </a:r>
            <a:endParaRPr lang="zh-CN" altLang="en-US" sz="3600" b="1" dirty="0"/>
          </a:p>
        </p:txBody>
      </p:sp>
      <p:sp>
        <p:nvSpPr>
          <p:cNvPr id="46" name="TextBox 36"/>
          <p:cNvSpPr txBox="1">
            <a:spLocks noChangeArrowheads="1"/>
          </p:cNvSpPr>
          <p:nvPr/>
        </p:nvSpPr>
        <p:spPr bwMode="auto">
          <a:xfrm>
            <a:off x="530120" y="880275"/>
            <a:ext cx="9452080" cy="461665"/>
          </a:xfrm>
          <a:prstGeom prst="rect">
            <a:avLst/>
          </a:prstGeom>
          <a:noFill/>
          <a:ln w="9525">
            <a:noFill/>
            <a:miter lim="800000"/>
          </a:ln>
        </p:spPr>
        <p:txBody>
          <a:bodyPr wrap="square">
            <a:spAutoFit/>
          </a:bodyPr>
          <a:lstStyle/>
          <a:p>
            <a:r>
              <a:rPr lang="en-US" altLang="zh-CN" sz="2400" b="1" dirty="0">
                <a:solidFill>
                  <a:srgbClr val="0033CC"/>
                </a:solidFill>
              </a:rPr>
              <a:t>1.</a:t>
            </a:r>
            <a:r>
              <a:rPr lang="zh-CN" altLang="en-US" sz="2400" b="1" dirty="0">
                <a:solidFill>
                  <a:srgbClr val="0033CC"/>
                </a:solidFill>
              </a:rPr>
              <a:t>编程任务：</a:t>
            </a:r>
            <a:r>
              <a:rPr lang="zh-CN" altLang="en-US" sz="2400" b="1" dirty="0"/>
              <a:t>设计一个多层密绕空心螺线管线圈。</a:t>
            </a:r>
            <a:endParaRPr lang="en-US" altLang="zh-CN" sz="2400" b="1" dirty="0"/>
          </a:p>
        </p:txBody>
      </p:sp>
      <p:sp>
        <p:nvSpPr>
          <p:cNvPr id="19" name="矩形: 圆角 18"/>
          <p:cNvSpPr/>
          <p:nvPr/>
        </p:nvSpPr>
        <p:spPr>
          <a:xfrm>
            <a:off x="1030756" y="2851151"/>
            <a:ext cx="2295144" cy="560054"/>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计算导线线径</a:t>
            </a:r>
            <a:endParaRPr lang="zh-CN" altLang="en-US" dirty="0"/>
          </a:p>
        </p:txBody>
      </p:sp>
      <p:sp>
        <p:nvSpPr>
          <p:cNvPr id="20" name="矩形: 圆角 19"/>
          <p:cNvSpPr/>
          <p:nvPr/>
        </p:nvSpPr>
        <p:spPr>
          <a:xfrm>
            <a:off x="1030756" y="3905737"/>
            <a:ext cx="2295144" cy="560054"/>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计算每层平均匝数</a:t>
            </a:r>
            <a:endParaRPr lang="zh-CN" altLang="en-US" dirty="0"/>
          </a:p>
        </p:txBody>
      </p:sp>
      <p:sp>
        <p:nvSpPr>
          <p:cNvPr id="21" name="矩形: 圆角 20"/>
          <p:cNvSpPr/>
          <p:nvPr/>
        </p:nvSpPr>
        <p:spPr>
          <a:xfrm>
            <a:off x="1030756" y="1796565"/>
            <a:ext cx="2295144" cy="560054"/>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输入设计参数</a:t>
            </a:r>
            <a:endParaRPr lang="zh-CN" altLang="en-US" dirty="0"/>
          </a:p>
        </p:txBody>
      </p:sp>
      <p:sp>
        <p:nvSpPr>
          <p:cNvPr id="22" name="矩形: 圆角 21"/>
          <p:cNvSpPr/>
          <p:nvPr/>
        </p:nvSpPr>
        <p:spPr>
          <a:xfrm>
            <a:off x="1030756" y="4960324"/>
            <a:ext cx="2295144" cy="560054"/>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计算初始内径</a:t>
            </a:r>
            <a:endParaRPr lang="zh-CN" altLang="en-US" dirty="0"/>
          </a:p>
        </p:txBody>
      </p:sp>
      <p:sp>
        <p:nvSpPr>
          <p:cNvPr id="23" name="矩形: 圆角 22"/>
          <p:cNvSpPr/>
          <p:nvPr/>
        </p:nvSpPr>
        <p:spPr>
          <a:xfrm>
            <a:off x="4257801" y="1822516"/>
            <a:ext cx="2295144" cy="560054"/>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计算电感</a:t>
            </a:r>
            <a:endParaRPr lang="zh-CN" altLang="en-US" dirty="0"/>
          </a:p>
        </p:txBody>
      </p:sp>
      <p:sp>
        <p:nvSpPr>
          <p:cNvPr id="24" name="菱形 23"/>
          <p:cNvSpPr/>
          <p:nvPr/>
        </p:nvSpPr>
        <p:spPr>
          <a:xfrm>
            <a:off x="4257801" y="3229549"/>
            <a:ext cx="2295144" cy="843781"/>
          </a:xfrm>
          <a:prstGeom prst="diamond">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是否符合设计要求</a:t>
            </a:r>
            <a:endParaRPr lang="zh-CN" altLang="en-US" dirty="0"/>
          </a:p>
        </p:txBody>
      </p:sp>
      <p:sp>
        <p:nvSpPr>
          <p:cNvPr id="26" name="矩形: 圆角 25"/>
          <p:cNvSpPr/>
          <p:nvPr/>
        </p:nvSpPr>
        <p:spPr>
          <a:xfrm>
            <a:off x="4257800" y="4945627"/>
            <a:ext cx="2295144" cy="560054"/>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输出设计参数</a:t>
            </a:r>
            <a:endParaRPr lang="zh-CN" altLang="en-US" dirty="0"/>
          </a:p>
        </p:txBody>
      </p:sp>
      <p:sp>
        <p:nvSpPr>
          <p:cNvPr id="27" name="矩形: 圆角 26"/>
          <p:cNvSpPr/>
          <p:nvPr/>
        </p:nvSpPr>
        <p:spPr>
          <a:xfrm>
            <a:off x="7299476" y="3371412"/>
            <a:ext cx="2295144" cy="560054"/>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根据电感值调整内径</a:t>
            </a:r>
            <a:endParaRPr lang="zh-CN" altLang="en-US" dirty="0"/>
          </a:p>
        </p:txBody>
      </p:sp>
      <p:cxnSp>
        <p:nvCxnSpPr>
          <p:cNvPr id="30" name="直接箭头连接符 29"/>
          <p:cNvCxnSpPr>
            <a:stCxn id="21" idx="2"/>
            <a:endCxn id="19" idx="0"/>
          </p:cNvCxnSpPr>
          <p:nvPr/>
        </p:nvCxnSpPr>
        <p:spPr>
          <a:xfrm>
            <a:off x="2178328" y="2356619"/>
            <a:ext cx="0" cy="49453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9" idx="2"/>
            <a:endCxn id="20" idx="0"/>
          </p:cNvCxnSpPr>
          <p:nvPr/>
        </p:nvCxnSpPr>
        <p:spPr>
          <a:xfrm>
            <a:off x="2178328" y="3411205"/>
            <a:ext cx="0" cy="49453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20" idx="2"/>
            <a:endCxn id="22" idx="0"/>
          </p:cNvCxnSpPr>
          <p:nvPr/>
        </p:nvCxnSpPr>
        <p:spPr>
          <a:xfrm>
            <a:off x="2178328" y="4465791"/>
            <a:ext cx="0" cy="49453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3" idx="2"/>
            <a:endCxn id="24" idx="0"/>
          </p:cNvCxnSpPr>
          <p:nvPr/>
        </p:nvCxnSpPr>
        <p:spPr>
          <a:xfrm>
            <a:off x="5405373" y="2382570"/>
            <a:ext cx="0" cy="84697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24" idx="2"/>
            <a:endCxn id="26" idx="0"/>
          </p:cNvCxnSpPr>
          <p:nvPr/>
        </p:nvCxnSpPr>
        <p:spPr>
          <a:xfrm flipH="1">
            <a:off x="5405372" y="4073330"/>
            <a:ext cx="1" cy="87229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24" idx="3"/>
            <a:endCxn id="27" idx="1"/>
          </p:cNvCxnSpPr>
          <p:nvPr/>
        </p:nvCxnSpPr>
        <p:spPr>
          <a:xfrm flipV="1">
            <a:off x="6552945" y="3651439"/>
            <a:ext cx="746531"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4" name="连接符: 肘形 63"/>
          <p:cNvCxnSpPr>
            <a:stCxn id="27" idx="0"/>
            <a:endCxn id="23" idx="0"/>
          </p:cNvCxnSpPr>
          <p:nvPr/>
        </p:nvCxnSpPr>
        <p:spPr>
          <a:xfrm rot="16200000" flipV="1">
            <a:off x="6151763" y="1076126"/>
            <a:ext cx="1548896" cy="3041675"/>
          </a:xfrm>
          <a:prstGeom prst="bentConnector3">
            <a:avLst>
              <a:gd name="adj1" fmla="val 114759"/>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p:cNvCxnSpPr>
            <a:stCxn id="22" idx="3"/>
            <a:endCxn id="23" idx="1"/>
          </p:cNvCxnSpPr>
          <p:nvPr/>
        </p:nvCxnSpPr>
        <p:spPr>
          <a:xfrm flipV="1">
            <a:off x="3325900" y="2102543"/>
            <a:ext cx="931901" cy="3137808"/>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a:xfrm>
            <a:off x="5413295" y="4277699"/>
            <a:ext cx="415498" cy="369332"/>
          </a:xfrm>
          <a:prstGeom prst="rect">
            <a:avLst/>
          </a:prstGeom>
          <a:noFill/>
        </p:spPr>
        <p:txBody>
          <a:bodyPr wrap="none" rtlCol="0">
            <a:spAutoFit/>
          </a:bodyPr>
          <a:lstStyle/>
          <a:p>
            <a:r>
              <a:rPr lang="zh-CN" altLang="en-US" dirty="0"/>
              <a:t>是</a:t>
            </a:r>
            <a:endParaRPr lang="zh-CN" altLang="en-US" dirty="0"/>
          </a:p>
        </p:txBody>
      </p:sp>
      <p:sp>
        <p:nvSpPr>
          <p:cNvPr id="89" name="文本框 88"/>
          <p:cNvSpPr txBox="1"/>
          <p:nvPr/>
        </p:nvSpPr>
        <p:spPr>
          <a:xfrm>
            <a:off x="6676229" y="3257019"/>
            <a:ext cx="415498" cy="369332"/>
          </a:xfrm>
          <a:prstGeom prst="rect">
            <a:avLst/>
          </a:prstGeom>
          <a:noFill/>
        </p:spPr>
        <p:txBody>
          <a:bodyPr wrap="none" rtlCol="0">
            <a:spAutoFit/>
          </a:bodyPr>
          <a:lstStyle/>
          <a:p>
            <a:r>
              <a:rPr lang="zh-CN" altLang="en-US" dirty="0"/>
              <a:t>否</a:t>
            </a:r>
            <a:endParaRPr lang="zh-CN" altLang="en-US" dirty="0"/>
          </a:p>
        </p:txBody>
      </p:sp>
      <p:sp>
        <p:nvSpPr>
          <p:cNvPr id="92" name="箭头: 右 91"/>
          <p:cNvSpPr/>
          <p:nvPr/>
        </p:nvSpPr>
        <p:spPr>
          <a:xfrm rot="2571676">
            <a:off x="6176546" y="4024763"/>
            <a:ext cx="999357" cy="402077"/>
          </a:xfrm>
          <a:prstGeom prst="rightArrow">
            <a:avLst>
              <a:gd name="adj1" fmla="val 22144"/>
              <a:gd name="adj2" fmla="val 59532"/>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4" name="箭头: 右 93"/>
          <p:cNvSpPr/>
          <p:nvPr/>
        </p:nvSpPr>
        <p:spPr>
          <a:xfrm rot="2983236">
            <a:off x="8889589" y="4519377"/>
            <a:ext cx="1572740" cy="402077"/>
          </a:xfrm>
          <a:prstGeom prst="rightArrow">
            <a:avLst>
              <a:gd name="adj1" fmla="val 22144"/>
              <a:gd name="adj2" fmla="val 59532"/>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5" name="文本框 94"/>
          <p:cNvSpPr txBox="1"/>
          <p:nvPr/>
        </p:nvSpPr>
        <p:spPr>
          <a:xfrm>
            <a:off x="7068614" y="4578046"/>
            <a:ext cx="1756923" cy="715089"/>
          </a:xfrm>
          <a:prstGeom prst="roundRect">
            <a:avLst/>
          </a:prstGeom>
          <a:ln w="19050"/>
        </p:spPr>
        <p:style>
          <a:lnRef idx="2">
            <a:schemeClr val="accent4"/>
          </a:lnRef>
          <a:fillRef idx="1">
            <a:schemeClr val="lt1"/>
          </a:fillRef>
          <a:effectRef idx="0">
            <a:schemeClr val="accent4"/>
          </a:effectRef>
          <a:fontRef idx="minor">
            <a:schemeClr val="dk1"/>
          </a:fontRef>
        </p:style>
        <p:txBody>
          <a:bodyPr wrap="none" rtlCol="0">
            <a:spAutoFit/>
          </a:bodyPr>
          <a:lstStyle/>
          <a:p>
            <a:r>
              <a:rPr lang="zh-CN" altLang="en-US" dirty="0"/>
              <a:t>（</a:t>
            </a:r>
            <a:r>
              <a:rPr lang="en-US" altLang="zh-CN" dirty="0"/>
              <a:t>1</a:t>
            </a:r>
            <a:r>
              <a:rPr lang="zh-CN" altLang="en-US" dirty="0"/>
              <a:t>）设计误差</a:t>
            </a:r>
            <a:endParaRPr lang="en-US" altLang="zh-CN" dirty="0"/>
          </a:p>
          <a:p>
            <a:r>
              <a:rPr lang="zh-CN" altLang="en-US" dirty="0"/>
              <a:t>（</a:t>
            </a:r>
            <a:r>
              <a:rPr lang="en-US" altLang="zh-CN" dirty="0"/>
              <a:t>2</a:t>
            </a:r>
            <a:r>
              <a:rPr lang="zh-CN" altLang="en-US" dirty="0"/>
              <a:t>）迭代次数</a:t>
            </a:r>
            <a:endParaRPr lang="zh-CN" altLang="en-US" dirty="0"/>
          </a:p>
        </p:txBody>
      </p:sp>
      <p:sp>
        <p:nvSpPr>
          <p:cNvPr id="96" name="文本框 95"/>
          <p:cNvSpPr txBox="1"/>
          <p:nvPr/>
        </p:nvSpPr>
        <p:spPr>
          <a:xfrm>
            <a:off x="6728759" y="5504650"/>
            <a:ext cx="5135843" cy="715089"/>
          </a:xfrm>
          <a:prstGeom prst="roundRect">
            <a:avLst/>
          </a:prstGeom>
          <a:ln w="19050"/>
        </p:spPr>
        <p:style>
          <a:lnRef idx="2">
            <a:schemeClr val="accent4"/>
          </a:lnRef>
          <a:fillRef idx="1">
            <a:schemeClr val="lt1"/>
          </a:fillRef>
          <a:effectRef idx="0">
            <a:schemeClr val="accent4"/>
          </a:effectRef>
          <a:fontRef idx="minor">
            <a:schemeClr val="dk1"/>
          </a:fontRef>
        </p:style>
        <p:txBody>
          <a:bodyPr wrap="square" rtlCol="0">
            <a:spAutoFit/>
          </a:bodyPr>
          <a:lstStyle/>
          <a:p>
            <a:r>
              <a:rPr lang="zh-CN" altLang="en-US" dirty="0"/>
              <a:t>（</a:t>
            </a:r>
            <a:r>
              <a:rPr lang="en-US" altLang="zh-CN" dirty="0"/>
              <a:t>1</a:t>
            </a:r>
            <a:r>
              <a:rPr lang="zh-CN" altLang="en-US" dirty="0"/>
              <a:t>）设计电感大于额定电感，减小内径</a:t>
            </a:r>
            <a:r>
              <a:rPr lang="en-US" altLang="zh-CN" dirty="0"/>
              <a:t>0.05mm</a:t>
            </a:r>
            <a:endParaRPr lang="en-US" altLang="zh-CN" dirty="0"/>
          </a:p>
          <a:p>
            <a:r>
              <a:rPr lang="zh-CN" altLang="en-US" dirty="0"/>
              <a:t>（</a:t>
            </a:r>
            <a:r>
              <a:rPr lang="en-US" altLang="zh-CN" dirty="0"/>
              <a:t>2</a:t>
            </a:r>
            <a:r>
              <a:rPr lang="zh-CN" altLang="en-US" dirty="0"/>
              <a:t>）设计电感小于额定电感，增加内径</a:t>
            </a:r>
            <a:r>
              <a:rPr lang="en-US" altLang="zh-CN" dirty="0"/>
              <a:t>0.05mm</a:t>
            </a:r>
            <a:endParaRPr lang="zh-CN" altLang="en-US" dirty="0"/>
          </a:p>
        </p:txBody>
      </p:sp>
      <p:sp>
        <p:nvSpPr>
          <p:cNvPr id="41"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21/26</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p:cNvSpPr/>
          <p:nvPr/>
        </p:nvSpPr>
        <p:spPr>
          <a:xfrm>
            <a:off x="6095999" y="3913434"/>
            <a:ext cx="5652655" cy="2395399"/>
          </a:xfrm>
          <a:prstGeom prst="roundRect">
            <a:avLst>
              <a:gd name="adj" fmla="val 11269"/>
            </a:avLst>
          </a:prstGeom>
          <a:solidFill>
            <a:srgbClr val="F3FB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矩形: 圆角 9"/>
          <p:cNvSpPr/>
          <p:nvPr/>
        </p:nvSpPr>
        <p:spPr>
          <a:xfrm>
            <a:off x="950744" y="3948251"/>
            <a:ext cx="4591074" cy="2395399"/>
          </a:xfrm>
          <a:prstGeom prst="roundRect">
            <a:avLst>
              <a:gd name="adj" fmla="val 11269"/>
            </a:avLst>
          </a:prstGeom>
          <a:solidFill>
            <a:srgbClr val="F3FB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p:cNvSpPr txBox="1"/>
          <p:nvPr/>
        </p:nvSpPr>
        <p:spPr>
          <a:xfrm>
            <a:off x="487680" y="105459"/>
            <a:ext cx="7575006" cy="646331"/>
          </a:xfrm>
          <a:prstGeom prst="rect">
            <a:avLst/>
          </a:prstGeom>
          <a:noFill/>
        </p:spPr>
        <p:txBody>
          <a:bodyPr wrap="square" rtlCol="0">
            <a:spAutoFit/>
          </a:bodyPr>
          <a:lstStyle/>
          <a:p>
            <a:r>
              <a:rPr lang="zh-CN" altLang="en-US" sz="3600" b="1" dirty="0"/>
              <a:t>五</a:t>
            </a:r>
            <a:r>
              <a:rPr lang="en-US" altLang="zh-CN" sz="3600" b="1" dirty="0"/>
              <a:t>.</a:t>
            </a:r>
            <a:r>
              <a:rPr lang="zh-CN" altLang="en-US" sz="3600" b="1" dirty="0"/>
              <a:t> 实验内容</a:t>
            </a:r>
            <a:endParaRPr lang="zh-CN" altLang="en-US" sz="3600" b="1" dirty="0"/>
          </a:p>
        </p:txBody>
      </p:sp>
      <p:sp>
        <p:nvSpPr>
          <p:cNvPr id="46" name="TextBox 36"/>
          <p:cNvSpPr txBox="1">
            <a:spLocks noChangeArrowheads="1"/>
          </p:cNvSpPr>
          <p:nvPr/>
        </p:nvSpPr>
        <p:spPr bwMode="auto">
          <a:xfrm>
            <a:off x="530120" y="880275"/>
            <a:ext cx="9452080" cy="461665"/>
          </a:xfrm>
          <a:prstGeom prst="rect">
            <a:avLst/>
          </a:prstGeom>
          <a:noFill/>
          <a:ln w="9525">
            <a:noFill/>
            <a:miter lim="800000"/>
          </a:ln>
        </p:spPr>
        <p:txBody>
          <a:bodyPr wrap="square">
            <a:spAutoFit/>
          </a:bodyPr>
          <a:lstStyle/>
          <a:p>
            <a:r>
              <a:rPr lang="en-US" altLang="zh-CN" sz="2400" b="1" dirty="0">
                <a:solidFill>
                  <a:srgbClr val="0033CC"/>
                </a:solidFill>
              </a:rPr>
              <a:t>1.</a:t>
            </a:r>
            <a:r>
              <a:rPr lang="zh-CN" altLang="en-US" sz="2400" b="1" dirty="0">
                <a:solidFill>
                  <a:srgbClr val="0033CC"/>
                </a:solidFill>
              </a:rPr>
              <a:t>编程任务：</a:t>
            </a:r>
            <a:r>
              <a:rPr lang="zh-CN" altLang="en-US" sz="2400" b="1" dirty="0"/>
              <a:t>设计一个多层密绕空心螺线管线圈。</a:t>
            </a:r>
            <a:endParaRPr lang="en-US" altLang="zh-CN" sz="2400" b="1" dirty="0"/>
          </a:p>
        </p:txBody>
      </p:sp>
      <p:sp>
        <p:nvSpPr>
          <p:cNvPr id="2" name="TextBox 36"/>
          <p:cNvSpPr txBox="1">
            <a:spLocks noChangeArrowheads="1"/>
          </p:cNvSpPr>
          <p:nvPr/>
        </p:nvSpPr>
        <p:spPr bwMode="auto">
          <a:xfrm>
            <a:off x="950744" y="1470425"/>
            <a:ext cx="9452080" cy="461665"/>
          </a:xfrm>
          <a:prstGeom prst="rect">
            <a:avLst/>
          </a:prstGeom>
          <a:noFill/>
          <a:ln w="9525">
            <a:noFill/>
            <a:miter lim="800000"/>
          </a:ln>
        </p:spPr>
        <p:txBody>
          <a:bodyPr wrap="square">
            <a:spAutoFit/>
          </a:bodyPr>
          <a:lstStyle/>
          <a:p>
            <a:r>
              <a:rPr lang="en-US" altLang="zh-CN" sz="2400" b="1" dirty="0" err="1">
                <a:solidFill>
                  <a:srgbClr val="0033CC"/>
                </a:solidFill>
              </a:rPr>
              <a:t>Mworks</a:t>
            </a:r>
            <a:r>
              <a:rPr lang="en-US" altLang="zh-CN" sz="2400" b="1" dirty="0">
                <a:solidFill>
                  <a:srgbClr val="0033CC"/>
                </a:solidFill>
              </a:rPr>
              <a:t> </a:t>
            </a:r>
            <a:r>
              <a:rPr lang="en-US" altLang="zh-CN" sz="2400" b="1" dirty="0" err="1">
                <a:solidFill>
                  <a:srgbClr val="0033CC"/>
                </a:solidFill>
              </a:rPr>
              <a:t>syslab</a:t>
            </a:r>
            <a:r>
              <a:rPr lang="en-US" altLang="zh-CN" sz="2400" b="1" dirty="0">
                <a:solidFill>
                  <a:srgbClr val="0033CC"/>
                </a:solidFill>
              </a:rPr>
              <a:t> </a:t>
            </a:r>
            <a:r>
              <a:rPr lang="zh-CN" altLang="en-US" sz="2400" b="1" dirty="0">
                <a:solidFill>
                  <a:srgbClr val="0033CC"/>
                </a:solidFill>
              </a:rPr>
              <a:t>语句提示</a:t>
            </a:r>
            <a:endParaRPr lang="en-US" altLang="zh-CN" sz="2400" b="1" dirty="0"/>
          </a:p>
        </p:txBody>
      </p:sp>
      <p:sp>
        <p:nvSpPr>
          <p:cNvPr id="5" name="文本框 4"/>
          <p:cNvSpPr txBox="1"/>
          <p:nvPr/>
        </p:nvSpPr>
        <p:spPr>
          <a:xfrm>
            <a:off x="950744" y="1966907"/>
            <a:ext cx="10891157" cy="2063001"/>
          </a:xfrm>
          <a:prstGeom prst="rect">
            <a:avLst/>
          </a:prstGeom>
          <a:noFill/>
        </p:spPr>
        <p:txBody>
          <a:bodyPr wrap="square">
            <a:spAutoFit/>
          </a:bodyPr>
          <a:lstStyle/>
          <a:p>
            <a:pPr>
              <a:lnSpc>
                <a:spcPct val="120000"/>
              </a:lnSpc>
            </a:pPr>
            <a:r>
              <a:rPr lang="en-US" altLang="zh-CN" b="0" dirty="0">
                <a:solidFill>
                  <a:srgbClr val="000000"/>
                </a:solidFill>
                <a:effectLst/>
                <a:latin typeface="Consolas" panose="020B0609020204030204" pitchFamily="49" charset="0"/>
              </a:rPr>
              <a:t>N=</a:t>
            </a:r>
            <a:r>
              <a:rPr lang="en-US" altLang="zh-CN" b="0" dirty="0">
                <a:solidFill>
                  <a:srgbClr val="795E26"/>
                </a:solidFill>
                <a:effectLst/>
                <a:latin typeface="Consolas" panose="020B0609020204030204" pitchFamily="49" charset="0"/>
              </a:rPr>
              <a:t>round</a:t>
            </a:r>
            <a:r>
              <a:rPr lang="en-US" altLang="zh-CN" b="0" dirty="0">
                <a:solidFill>
                  <a:srgbClr val="000000"/>
                </a:solidFill>
                <a:effectLst/>
                <a:latin typeface="Consolas" panose="020B0609020204030204" pitchFamily="49" charset="0"/>
              </a:rPr>
              <a:t>(a); </a:t>
            </a:r>
            <a:r>
              <a:rPr lang="en-US" altLang="zh-CN" b="0" dirty="0">
                <a:solidFill>
                  <a:srgbClr val="008000"/>
                </a:solidFill>
                <a:effectLst/>
                <a:latin typeface="Consolas" panose="020B0609020204030204" pitchFamily="49" charset="0"/>
              </a:rPr>
              <a:t>#round</a:t>
            </a:r>
            <a:r>
              <a:rPr lang="zh-CN" altLang="en-US" b="0" dirty="0">
                <a:solidFill>
                  <a:srgbClr val="008000"/>
                </a:solidFill>
                <a:effectLst/>
                <a:latin typeface="Consolas" panose="020B0609020204030204" pitchFamily="49" charset="0"/>
              </a:rPr>
              <a:t>为四舍五入</a:t>
            </a:r>
            <a:r>
              <a:rPr lang="zh-CN" altLang="en-US" dirty="0">
                <a:solidFill>
                  <a:srgbClr val="008000"/>
                </a:solidFill>
                <a:latin typeface="Consolas" panose="020B0609020204030204" pitchFamily="49" charset="0"/>
              </a:rPr>
              <a:t>至</a:t>
            </a:r>
            <a:r>
              <a:rPr lang="zh-CN" altLang="en-US" b="0" dirty="0">
                <a:solidFill>
                  <a:srgbClr val="008000"/>
                </a:solidFill>
                <a:effectLst/>
                <a:latin typeface="Consolas" panose="020B0609020204030204" pitchFamily="49" charset="0"/>
              </a:rPr>
              <a:t>最近的整数</a:t>
            </a:r>
            <a:endParaRPr lang="zh-CN" altLang="en-US" b="0" dirty="0">
              <a:solidFill>
                <a:srgbClr val="000000"/>
              </a:solidFill>
              <a:effectLst/>
              <a:latin typeface="Consolas" panose="020B0609020204030204" pitchFamily="49" charset="0"/>
            </a:endParaRPr>
          </a:p>
          <a:p>
            <a:pPr>
              <a:lnSpc>
                <a:spcPct val="120000"/>
              </a:lnSpc>
            </a:pPr>
            <a:r>
              <a:rPr lang="en-US" altLang="zh-CN" b="0" dirty="0">
                <a:solidFill>
                  <a:srgbClr val="000000"/>
                </a:solidFill>
                <a:effectLst/>
                <a:latin typeface="Consolas" panose="020B0609020204030204" pitchFamily="49" charset="0"/>
              </a:rPr>
              <a:t>result=</a:t>
            </a:r>
            <a:r>
              <a:rPr lang="en-US" altLang="zh-CN" b="0" dirty="0">
                <a:solidFill>
                  <a:srgbClr val="795E26"/>
                </a:solidFill>
                <a:effectLst/>
                <a:latin typeface="Consolas" panose="020B0609020204030204" pitchFamily="49" charset="0"/>
              </a:rPr>
              <a:t>zeros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定义一个有</a:t>
            </a:r>
            <a:r>
              <a:rPr lang="en-US" altLang="zh-CN" b="0" dirty="0">
                <a:solidFill>
                  <a:srgbClr val="008000"/>
                </a:solidFill>
                <a:effectLst/>
                <a:latin typeface="Consolas" panose="020B0609020204030204" pitchFamily="49" charset="0"/>
              </a:rPr>
              <a:t>8</a:t>
            </a:r>
            <a:r>
              <a:rPr lang="zh-CN" altLang="en-US" b="0" dirty="0">
                <a:solidFill>
                  <a:srgbClr val="008000"/>
                </a:solidFill>
                <a:effectLst/>
                <a:latin typeface="Consolas" panose="020B0609020204030204" pitchFamily="49" charset="0"/>
              </a:rPr>
              <a:t>个</a:t>
            </a:r>
            <a:r>
              <a:rPr lang="en-US" altLang="zh-CN" b="0" dirty="0">
                <a:solidFill>
                  <a:srgbClr val="008000"/>
                </a:solidFill>
                <a:effectLst/>
                <a:latin typeface="Consolas" panose="020B0609020204030204" pitchFamily="49" charset="0"/>
              </a:rPr>
              <a:t>0</a:t>
            </a:r>
            <a:r>
              <a:rPr lang="zh-CN" altLang="en-US" b="0" dirty="0">
                <a:solidFill>
                  <a:srgbClr val="008000"/>
                </a:solidFill>
                <a:effectLst/>
                <a:latin typeface="Consolas" panose="020B0609020204030204" pitchFamily="49" charset="0"/>
              </a:rPr>
              <a:t>元素的数组</a:t>
            </a:r>
            <a:endParaRPr lang="zh-CN" altLang="en-US" b="0" dirty="0">
              <a:solidFill>
                <a:srgbClr val="000000"/>
              </a:solidFill>
              <a:effectLst/>
              <a:latin typeface="Consolas" panose="020B0609020204030204" pitchFamily="49" charset="0"/>
            </a:endParaRPr>
          </a:p>
          <a:p>
            <a:pPr>
              <a:lnSpc>
                <a:spcPct val="120000"/>
              </a:lnSpc>
              <a:buNone/>
            </a:pPr>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请输入正确数值：</a:t>
            </a:r>
            <a:r>
              <a:rPr lang="en-US" altLang="zh-CN" b="0" dirty="0">
                <a:solidFill>
                  <a:srgbClr val="A31515"/>
                </a:solidFill>
                <a:effectLst/>
                <a:latin typeface="Consolas" panose="020B0609020204030204" pitchFamily="49" charset="0"/>
              </a:rPr>
              <a:t>0-8</a:t>
            </a:r>
            <a:r>
              <a:rPr lang="zh-CN" altLang="en-US" b="0" dirty="0">
                <a:solidFill>
                  <a:srgbClr val="A31515"/>
                </a:solidFill>
                <a:effectLst/>
                <a:latin typeface="Consolas" panose="020B0609020204030204" pitchFamily="49" charset="0"/>
              </a:rPr>
              <a:t>之间的任意数</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输出提示</a:t>
            </a:r>
            <a:endParaRPr lang="en-US" altLang="zh-CN" dirty="0">
              <a:solidFill>
                <a:srgbClr val="008000"/>
              </a:solidFill>
              <a:latin typeface="Consolas" panose="020B0609020204030204" pitchFamily="49" charset="0"/>
            </a:endParaRPr>
          </a:p>
          <a:p>
            <a:pPr>
              <a:lnSpc>
                <a:spcPct val="120000"/>
              </a:lnSpc>
            </a:pPr>
            <a:r>
              <a:rPr lang="en-US" altLang="zh-CN" b="0" dirty="0">
                <a:solidFill>
                  <a:srgbClr val="795E26"/>
                </a:solidFill>
                <a:effectLst/>
                <a:latin typeface="Consolas" panose="020B0609020204030204" pitchFamily="49" charset="0"/>
              </a:rPr>
              <a:t>exit</a:t>
            </a:r>
            <a:r>
              <a:rPr lang="en-US" altLang="zh-CN" b="0" dirty="0">
                <a:solidFill>
                  <a:srgbClr val="000000"/>
                </a:solidFill>
                <a:effectLst/>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退出程序</a:t>
            </a:r>
            <a:endParaRPr lang="en-US" altLang="zh-CN" dirty="0">
              <a:solidFill>
                <a:srgbClr val="008000"/>
              </a:solidFill>
              <a:latin typeface="Consolas" panose="020B0609020204030204" pitchFamily="49" charset="0"/>
            </a:endParaRPr>
          </a:p>
          <a:p>
            <a:pPr>
              <a:lnSpc>
                <a:spcPct val="120000"/>
              </a:lnSpc>
            </a:pPr>
            <a:r>
              <a:rPr lang="en-US" altLang="zh-CN" dirty="0">
                <a:solidFill>
                  <a:srgbClr val="000000"/>
                </a:solidFill>
                <a:latin typeface="Consolas" panose="020B0609020204030204" pitchFamily="49" charset="0"/>
              </a:rPr>
              <a:t>A=</a:t>
            </a:r>
            <a:r>
              <a:rPr lang="en-US" altLang="zh-CN" b="0" dirty="0">
                <a:solidFill>
                  <a:srgbClr val="795E26"/>
                </a:solidFill>
                <a:effectLst/>
                <a:latin typeface="Consolas" panose="020B0609020204030204" pitchFamily="49" charset="0"/>
              </a:rPr>
              <a:t>abs</a:t>
            </a:r>
            <a:r>
              <a:rPr lang="en-US" altLang="zh-CN" b="0" dirty="0">
                <a:solidFill>
                  <a:srgbClr val="000000"/>
                </a:solidFill>
                <a:effectLst/>
                <a:latin typeface="Consolas" panose="020B0609020204030204" pitchFamily="49" charset="0"/>
              </a:rPr>
              <a:t>(a)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取绝对值</a:t>
            </a:r>
            <a:endParaRPr lang="en-US" altLang="zh-CN" b="0" dirty="0">
              <a:solidFill>
                <a:srgbClr val="000000"/>
              </a:solidFill>
              <a:effectLst/>
              <a:latin typeface="Consolas" panose="020B0609020204030204" pitchFamily="49" charset="0"/>
            </a:endParaRPr>
          </a:p>
          <a:p>
            <a:pPr>
              <a:lnSpc>
                <a:spcPct val="120000"/>
              </a:lnSpc>
            </a:pPr>
            <a:endParaRPr lang="en-US" altLang="zh-CN" dirty="0">
              <a:solidFill>
                <a:srgbClr val="008000"/>
              </a:solidFill>
              <a:latin typeface="Consolas" panose="020B0609020204030204" pitchFamily="49" charset="0"/>
            </a:endParaRPr>
          </a:p>
        </p:txBody>
      </p:sp>
      <p:sp>
        <p:nvSpPr>
          <p:cNvPr id="7" name="文本框 6"/>
          <p:cNvSpPr txBox="1"/>
          <p:nvPr/>
        </p:nvSpPr>
        <p:spPr>
          <a:xfrm>
            <a:off x="950743" y="3948251"/>
            <a:ext cx="6290565" cy="2395399"/>
          </a:xfrm>
          <a:prstGeom prst="rect">
            <a:avLst/>
          </a:prstGeom>
          <a:noFill/>
        </p:spPr>
        <p:txBody>
          <a:bodyPr wrap="square">
            <a:spAutoFit/>
          </a:bodyPr>
          <a:lstStyle/>
          <a:p>
            <a:pPr>
              <a:lnSpc>
                <a:spcPct val="120000"/>
              </a:lnSpc>
              <a:buNone/>
            </a:pP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&lt;In &amp;&amp; In&lt;=</a:t>
            </a:r>
            <a:r>
              <a:rPr lang="en-US" altLang="zh-CN" b="0" dirty="0">
                <a:solidFill>
                  <a:srgbClr val="098658"/>
                </a:solidFill>
                <a:effectLst/>
                <a:latin typeface="Consolas" panose="020B0609020204030204" pitchFamily="49" charset="0"/>
              </a:rPr>
              <a:t>1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根据最大电流做判断</a:t>
            </a:r>
            <a:endParaRPr lang="en-US" altLang="zh-CN" dirty="0">
              <a:solidFill>
                <a:srgbClr val="008000"/>
              </a:solidFill>
              <a:latin typeface="Consolas" panose="020B0609020204030204" pitchFamily="49" charset="0"/>
            </a:endParaRPr>
          </a:p>
          <a:p>
            <a:pPr>
              <a:lnSpc>
                <a:spcPct val="120000"/>
              </a:lnSpc>
              <a:buNone/>
            </a:pPr>
            <a:r>
              <a:rPr lang="en-US" altLang="zh-CN" b="0" dirty="0">
                <a:solidFill>
                  <a:srgbClr val="000000"/>
                </a:solidFill>
                <a:effectLst/>
                <a:latin typeface="Consolas" panose="020B0609020204030204" pitchFamily="49" charset="0"/>
              </a:rPr>
              <a:t>      d=</a:t>
            </a:r>
            <a:r>
              <a:rPr lang="en-US" altLang="zh-CN" b="0" dirty="0">
                <a:solidFill>
                  <a:srgbClr val="098658"/>
                </a:solidFill>
                <a:effectLst/>
                <a:latin typeface="Consolas" panose="020B0609020204030204" pitchFamily="49" charset="0"/>
              </a:rPr>
              <a:t>0.46</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计算线径 单位</a:t>
            </a:r>
            <a:r>
              <a:rPr lang="en-US" altLang="zh-CN" b="0" dirty="0">
                <a:solidFill>
                  <a:srgbClr val="008000"/>
                </a:solidFill>
                <a:effectLst/>
                <a:latin typeface="Consolas" panose="020B0609020204030204" pitchFamily="49" charset="0"/>
              </a:rPr>
              <a:t>mm</a:t>
            </a:r>
            <a:endParaRPr lang="en-US" altLang="zh-CN" b="0" dirty="0">
              <a:solidFill>
                <a:srgbClr val="000000"/>
              </a:solidFill>
              <a:effectLst/>
              <a:latin typeface="Consolas" panose="020B0609020204030204" pitchFamily="49" charset="0"/>
            </a:endParaRPr>
          </a:p>
          <a:p>
            <a:pPr>
              <a:lnSpc>
                <a:spcPct val="120000"/>
              </a:lnSpc>
              <a:buNone/>
            </a:pPr>
            <a:r>
              <a:rPr lang="en-US" altLang="zh-CN" b="0" dirty="0">
                <a:solidFill>
                  <a:srgbClr val="000000"/>
                </a:solidFill>
                <a:effectLst/>
                <a:latin typeface="Consolas" panose="020B0609020204030204" pitchFamily="49" charset="0"/>
              </a:rPr>
              <a:t>      Imax=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给出设计电流</a:t>
            </a:r>
            <a:endParaRPr lang="zh-CN" altLang="en-US" b="0" dirty="0">
              <a:solidFill>
                <a:srgbClr val="000000"/>
              </a:solidFill>
              <a:effectLst/>
              <a:latin typeface="Consolas" panose="020B0609020204030204" pitchFamily="49" charset="0"/>
            </a:endParaRPr>
          </a:p>
          <a:p>
            <a:pPr>
              <a:lnSpc>
                <a:spcPct val="120000"/>
              </a:lnSpc>
              <a:buNone/>
            </a:pPr>
            <a:r>
              <a:rPr lang="en-US" altLang="zh-CN" b="0" dirty="0">
                <a:solidFill>
                  <a:srgbClr val="AF00DB"/>
                </a:solidFill>
                <a:effectLst/>
                <a:latin typeface="Consolas" panose="020B0609020204030204" pitchFamily="49" charset="0"/>
              </a:rPr>
              <a:t>elseif</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&lt;In &amp;&amp; In&lt;=</a:t>
            </a:r>
            <a:r>
              <a:rPr lang="en-US" altLang="zh-CN" b="0" dirty="0">
                <a:solidFill>
                  <a:srgbClr val="098658"/>
                </a:solidFill>
                <a:effectLst/>
                <a:latin typeface="Consolas" panose="020B0609020204030204" pitchFamily="49" charset="0"/>
              </a:rPr>
              <a:t>2</a:t>
            </a:r>
            <a:endParaRPr lang="en-US" altLang="zh-CN" b="0" dirty="0">
              <a:solidFill>
                <a:srgbClr val="000000"/>
              </a:solidFill>
              <a:effectLst/>
              <a:latin typeface="Consolas" panose="020B0609020204030204" pitchFamily="49" charset="0"/>
            </a:endParaRPr>
          </a:p>
          <a:p>
            <a:pPr>
              <a:lnSpc>
                <a:spcPct val="120000"/>
              </a:lnSpc>
              <a:buNone/>
            </a:pPr>
            <a:r>
              <a:rPr lang="en-US" altLang="zh-CN" b="0" dirty="0">
                <a:solidFill>
                  <a:srgbClr val="000000"/>
                </a:solidFill>
                <a:effectLst/>
                <a:latin typeface="Consolas" panose="020B0609020204030204" pitchFamily="49" charset="0"/>
              </a:rPr>
              <a:t>      d=</a:t>
            </a:r>
            <a:r>
              <a:rPr lang="en-US" altLang="zh-CN" b="0" dirty="0">
                <a:solidFill>
                  <a:srgbClr val="098658"/>
                </a:solidFill>
                <a:effectLst/>
                <a:latin typeface="Consolas" panose="020B0609020204030204" pitchFamily="49" charset="0"/>
              </a:rPr>
              <a:t>0.56</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pPr>
              <a:lnSpc>
                <a:spcPct val="120000"/>
              </a:lnSpc>
            </a:pPr>
            <a:r>
              <a:rPr lang="en-US" altLang="zh-CN" b="0" dirty="0">
                <a:solidFill>
                  <a:srgbClr val="000000"/>
                </a:solidFill>
                <a:effectLst/>
                <a:latin typeface="Consolas" panose="020B0609020204030204" pitchFamily="49" charset="0"/>
              </a:rPr>
              <a:t>      Imax=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pPr>
              <a:lnSpc>
                <a:spcPct val="120000"/>
              </a:lnSpc>
            </a:pPr>
            <a:r>
              <a:rPr lang="en-US" altLang="zh-CN" dirty="0">
                <a:solidFill>
                  <a:srgbClr val="AF00DB"/>
                </a:solidFill>
                <a:latin typeface="Consolas" panose="020B0609020204030204" pitchFamily="49" charset="0"/>
              </a:rPr>
              <a:t>end</a:t>
            </a:r>
            <a:endParaRPr lang="en-US" altLang="zh-CN" dirty="0">
              <a:solidFill>
                <a:srgbClr val="AF00DB"/>
              </a:solidFill>
              <a:latin typeface="Consolas" panose="020B0609020204030204" pitchFamily="49" charset="0"/>
            </a:endParaRPr>
          </a:p>
        </p:txBody>
      </p:sp>
      <p:sp>
        <p:nvSpPr>
          <p:cNvPr id="9" name="文本框 8"/>
          <p:cNvSpPr txBox="1"/>
          <p:nvPr/>
        </p:nvSpPr>
        <p:spPr>
          <a:xfrm>
            <a:off x="6182783" y="3948251"/>
            <a:ext cx="6096000" cy="1730602"/>
          </a:xfrm>
          <a:prstGeom prst="rect">
            <a:avLst/>
          </a:prstGeom>
          <a:noFill/>
        </p:spPr>
        <p:txBody>
          <a:bodyPr wrap="square">
            <a:spAutoFit/>
          </a:bodyPr>
          <a:lstStyle/>
          <a:p>
            <a:pPr>
              <a:lnSpc>
                <a:spcPct val="120000"/>
              </a:lnSpc>
              <a:buNone/>
            </a:pPr>
            <a:r>
              <a:rPr lang="en-US" altLang="zh-CN" b="0" dirty="0">
                <a:solidFill>
                  <a:srgbClr val="AF00DB"/>
                </a:solidFill>
                <a:effectLst/>
                <a:latin typeface="Consolas" panose="020B0609020204030204" pitchFamily="49" charset="0"/>
              </a:rPr>
              <a:t>while</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abs</a:t>
            </a:r>
            <a:r>
              <a:rPr lang="en-US" altLang="zh-CN" b="0" dirty="0">
                <a:solidFill>
                  <a:srgbClr val="000000"/>
                </a:solidFill>
                <a:effectLst/>
                <a:latin typeface="Consolas" panose="020B0609020204030204" pitchFamily="49" charset="0"/>
              </a:rPr>
              <a:t>(L1-Ln)&gt;e &amp;&amp; n&lt;=</a:t>
            </a:r>
            <a:r>
              <a:rPr lang="en-US" altLang="zh-CN" b="0" dirty="0">
                <a:solidFill>
                  <a:srgbClr val="098658"/>
                </a:solidFill>
                <a:effectLst/>
                <a:latin typeface="Consolas" panose="020B0609020204030204" pitchFamily="49" charset="0"/>
              </a:rPr>
              <a:t>10000</a:t>
            </a:r>
            <a:r>
              <a:rPr lang="en-US" altLang="zh-CN" b="0" dirty="0">
                <a:solidFill>
                  <a:srgbClr val="000000"/>
                </a:solidFill>
                <a:effectLst/>
                <a:latin typeface="Consolas" panose="020B0609020204030204" pitchFamily="49" charset="0"/>
              </a:rPr>
              <a:t>  </a:t>
            </a:r>
            <a:endParaRPr lang="en-US" altLang="zh-CN" b="0" dirty="0">
              <a:solidFill>
                <a:srgbClr val="000000"/>
              </a:solidFill>
              <a:effectLst/>
              <a:latin typeface="Consolas" panose="020B0609020204030204" pitchFamily="49" charset="0"/>
            </a:endParaRPr>
          </a:p>
          <a:p>
            <a:pPr>
              <a:lnSpc>
                <a:spcPct val="120000"/>
              </a:lnSpc>
              <a:buNone/>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当误差不满足设定值且迭代次数不足</a:t>
            </a:r>
            <a:r>
              <a:rPr lang="en-US" altLang="zh-CN" b="0" dirty="0">
                <a:solidFill>
                  <a:srgbClr val="008000"/>
                </a:solidFill>
                <a:effectLst/>
                <a:latin typeface="Consolas" panose="020B0609020204030204" pitchFamily="49" charset="0"/>
              </a:rPr>
              <a:t>10000</a:t>
            </a:r>
            <a:r>
              <a:rPr lang="zh-CN" altLang="en-US" b="0" dirty="0">
                <a:solidFill>
                  <a:srgbClr val="008000"/>
                </a:solidFill>
                <a:effectLst/>
                <a:latin typeface="Consolas" panose="020B0609020204030204" pitchFamily="49" charset="0"/>
              </a:rPr>
              <a:t>次</a:t>
            </a:r>
            <a:endParaRPr lang="zh-CN" altLang="en-US" b="0" dirty="0">
              <a:solidFill>
                <a:srgbClr val="000000"/>
              </a:solidFill>
              <a:effectLst/>
              <a:latin typeface="Consolas" panose="020B0609020204030204" pitchFamily="49" charset="0"/>
            </a:endParaRPr>
          </a:p>
          <a:p>
            <a:pPr>
              <a:lnSpc>
                <a:spcPct val="120000"/>
              </a:lnSpc>
              <a:buNone/>
            </a:pPr>
            <a:r>
              <a:rPr lang="zh-CN" altLang="en-US"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global</a:t>
            </a:r>
            <a:r>
              <a:rPr lang="en-US" altLang="zh-CN" b="0" dirty="0">
                <a:solidFill>
                  <a:srgbClr val="000000"/>
                </a:solidFill>
                <a:effectLst/>
                <a:latin typeface="Consolas" panose="020B0609020204030204" pitchFamily="49" charset="0"/>
              </a:rPr>
              <a:t> L1,Ln,D_ave,D_ini,n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设置全局变量</a:t>
            </a:r>
            <a:endParaRPr lang="en-US" altLang="zh-CN" dirty="0">
              <a:solidFill>
                <a:srgbClr val="008000"/>
              </a:solidFill>
              <a:latin typeface="Consolas" panose="020B0609020204030204" pitchFamily="49" charset="0"/>
            </a:endParaRPr>
          </a:p>
          <a:p>
            <a:pPr>
              <a:lnSpc>
                <a:spcPct val="120000"/>
              </a:lnSpc>
              <a:buNone/>
            </a:pPr>
            <a:r>
              <a:rPr lang="en-US" altLang="zh-CN" b="0" dirty="0">
                <a:solidFill>
                  <a:srgbClr val="000000"/>
                </a:solidFill>
                <a:effectLst/>
                <a:latin typeface="Consolas" panose="020B0609020204030204" pitchFamily="49" charset="0"/>
              </a:rPr>
              <a:t>    </a:t>
            </a:r>
            <a:r>
              <a:rPr lang="zh-CN" altLang="en-US" dirty="0">
                <a:solidFill>
                  <a:srgbClr val="008000"/>
                </a:solidFill>
                <a:latin typeface="Consolas" panose="020B0609020204030204" pitchFamily="49" charset="0"/>
              </a:rPr>
              <a:t>（循环计算）</a:t>
            </a:r>
            <a:endParaRPr lang="en-US" altLang="zh-CN" dirty="0">
              <a:solidFill>
                <a:srgbClr val="008000"/>
              </a:solidFill>
              <a:latin typeface="Consolas" panose="020B0609020204030204" pitchFamily="49" charset="0"/>
            </a:endParaRPr>
          </a:p>
          <a:p>
            <a:pPr>
              <a:lnSpc>
                <a:spcPct val="120000"/>
              </a:lnSpc>
            </a:pPr>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p:txBody>
      </p:sp>
      <p:sp>
        <p:nvSpPr>
          <p:cNvPr id="24"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22/26</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46" name="TextBox 36"/>
          <p:cNvSpPr txBox="1">
            <a:spLocks noChangeArrowheads="1"/>
          </p:cNvSpPr>
          <p:nvPr/>
        </p:nvSpPr>
        <p:spPr bwMode="auto">
          <a:xfrm>
            <a:off x="530120" y="880275"/>
            <a:ext cx="10828162" cy="4015779"/>
          </a:xfrm>
          <a:prstGeom prst="rect">
            <a:avLst/>
          </a:prstGeom>
          <a:noFill/>
          <a:ln w="9525">
            <a:noFill/>
            <a:miter lim="800000"/>
          </a:ln>
        </p:spPr>
        <p:txBody>
          <a:bodyPr wrap="square">
            <a:spAutoFit/>
          </a:bodyPr>
          <a:lstStyle/>
          <a:p>
            <a:r>
              <a:rPr lang="zh-CN" altLang="en-US" sz="2400" b="1" dirty="0">
                <a:solidFill>
                  <a:srgbClr val="0033CC"/>
                </a:solidFill>
              </a:rPr>
              <a:t>编程任务（提高部分，课后作业</a:t>
            </a:r>
            <a:r>
              <a:rPr lang="zh-CN" altLang="en-US" sz="2400" b="1">
                <a:solidFill>
                  <a:srgbClr val="0033CC"/>
                </a:solidFill>
              </a:rPr>
              <a:t>，以下题目二</a:t>
            </a:r>
            <a:r>
              <a:rPr lang="zh-CN" altLang="en-US" sz="2400" b="1" dirty="0">
                <a:solidFill>
                  <a:srgbClr val="0033CC"/>
                </a:solidFill>
              </a:rPr>
              <a:t>选一）</a:t>
            </a:r>
            <a:endParaRPr lang="en-US" altLang="zh-CN" sz="2400" b="1" dirty="0">
              <a:solidFill>
                <a:srgbClr val="0033CC"/>
              </a:solidFill>
            </a:endParaRPr>
          </a:p>
          <a:p>
            <a:r>
              <a:rPr lang="en-US" altLang="zh-CN" sz="2400" b="1" dirty="0">
                <a:solidFill>
                  <a:srgbClr val="0033CC"/>
                </a:solidFill>
              </a:rPr>
              <a:t>   </a:t>
            </a:r>
            <a:endParaRPr lang="en-US" altLang="zh-CN" sz="2400" b="1" dirty="0">
              <a:solidFill>
                <a:srgbClr val="0033CC"/>
              </a:solidFill>
            </a:endParaRPr>
          </a:p>
          <a:p>
            <a:r>
              <a:rPr lang="zh-CN" altLang="en-US" sz="2000" b="1" dirty="0"/>
              <a:t>（</a:t>
            </a:r>
            <a:r>
              <a:rPr lang="en-US" altLang="zh-CN" sz="2000" b="1" dirty="0"/>
              <a:t>1</a:t>
            </a:r>
            <a:r>
              <a:rPr lang="zh-CN" altLang="en-US" sz="2000" b="1" dirty="0"/>
              <a:t>）找出最优层数，使电感阻值最小。</a:t>
            </a:r>
            <a:endParaRPr lang="en-US" altLang="zh-CN" sz="2000" b="1" dirty="0"/>
          </a:p>
          <a:p>
            <a:endParaRPr lang="en-US" altLang="zh-CN" sz="2000" b="1" dirty="0"/>
          </a:p>
          <a:p>
            <a:endParaRPr lang="en-US" altLang="zh-CN" sz="2000" b="1" dirty="0"/>
          </a:p>
          <a:p>
            <a:endParaRPr lang="en-US" altLang="zh-CN" sz="2000" b="1" dirty="0"/>
          </a:p>
          <a:p>
            <a:endParaRPr lang="en-US" altLang="zh-CN" sz="2000" b="1" dirty="0"/>
          </a:p>
          <a:p>
            <a:endParaRPr lang="en-US" altLang="zh-CN" sz="2000" b="1" dirty="0"/>
          </a:p>
          <a:p>
            <a:endParaRPr lang="en-US" altLang="zh-CN" sz="2000" b="1" dirty="0"/>
          </a:p>
          <a:p>
            <a:endParaRPr lang="en-US" altLang="zh-CN" sz="2000" b="1" dirty="0"/>
          </a:p>
          <a:p>
            <a:endParaRPr lang="en-US" altLang="zh-CN" sz="2000" b="1" dirty="0"/>
          </a:p>
          <a:p>
            <a:pPr>
              <a:lnSpc>
                <a:spcPct val="150000"/>
              </a:lnSpc>
            </a:pPr>
            <a:r>
              <a:rPr lang="zh-CN" altLang="en-US" sz="2000" b="1" dirty="0"/>
              <a:t>（</a:t>
            </a:r>
            <a:r>
              <a:rPr lang="en-US" altLang="zh-CN" sz="2000" b="1" dirty="0"/>
              <a:t>2</a:t>
            </a:r>
            <a:r>
              <a:rPr lang="zh-CN" altLang="en-US" sz="2000" b="1" dirty="0"/>
              <a:t>）是否有其它寻找最优层数的思路？</a:t>
            </a:r>
            <a:endParaRPr lang="en-US" altLang="zh-CN" sz="2000" b="1" dirty="0"/>
          </a:p>
        </p:txBody>
      </p:sp>
      <p:sp>
        <p:nvSpPr>
          <p:cNvPr id="3" name="Rectangle 1"/>
          <p:cNvSpPr>
            <a:spLocks noChangeArrowheads="1"/>
          </p:cNvSpPr>
          <p:nvPr/>
        </p:nvSpPr>
        <p:spPr bwMode="auto">
          <a:xfrm>
            <a:off x="1192305" y="2102708"/>
            <a:ext cx="9843247"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tabLst>
                <a:tab pos="498475" algn="l"/>
              </a:tabLst>
              <a:defRPr>
                <a:solidFill>
                  <a:schemeClr val="tx1"/>
                </a:solidFill>
                <a:latin typeface="Arial" panose="020B0604020202020204" pitchFamily="34" charset="0"/>
              </a:defRPr>
            </a:lvl1pPr>
            <a:lvl2pPr eaLnBrk="0" fontAlgn="base" hangingPunct="0">
              <a:spcBef>
                <a:spcPct val="0"/>
              </a:spcBef>
              <a:spcAft>
                <a:spcPct val="0"/>
              </a:spcAft>
              <a:tabLst>
                <a:tab pos="498475" algn="l"/>
              </a:tabLst>
              <a:defRPr>
                <a:solidFill>
                  <a:schemeClr val="tx1"/>
                </a:solidFill>
                <a:latin typeface="Arial" panose="020B0604020202020204" pitchFamily="34" charset="0"/>
              </a:defRPr>
            </a:lvl2pPr>
            <a:lvl3pPr eaLnBrk="0" fontAlgn="base" hangingPunct="0">
              <a:spcBef>
                <a:spcPct val="0"/>
              </a:spcBef>
              <a:spcAft>
                <a:spcPct val="0"/>
              </a:spcAft>
              <a:tabLst>
                <a:tab pos="498475" algn="l"/>
              </a:tabLst>
              <a:defRPr>
                <a:solidFill>
                  <a:schemeClr val="tx1"/>
                </a:solidFill>
                <a:latin typeface="Arial" panose="020B0604020202020204" pitchFamily="34" charset="0"/>
              </a:defRPr>
            </a:lvl3pPr>
            <a:lvl4pPr eaLnBrk="0" fontAlgn="base" hangingPunct="0">
              <a:spcBef>
                <a:spcPct val="0"/>
              </a:spcBef>
              <a:spcAft>
                <a:spcPct val="0"/>
              </a:spcAft>
              <a:tabLst>
                <a:tab pos="498475" algn="l"/>
              </a:tabLst>
              <a:defRPr>
                <a:solidFill>
                  <a:schemeClr val="tx1"/>
                </a:solidFill>
                <a:latin typeface="Arial" panose="020B0604020202020204" pitchFamily="34" charset="0"/>
              </a:defRPr>
            </a:lvl4pPr>
            <a:lvl5pPr eaLnBrk="0" fontAlgn="base" hangingPunct="0">
              <a:spcBef>
                <a:spcPct val="0"/>
              </a:spcBef>
              <a:spcAft>
                <a:spcPct val="0"/>
              </a:spcAft>
              <a:tabLst>
                <a:tab pos="498475" algn="l"/>
              </a:tabLst>
              <a:defRPr>
                <a:solidFill>
                  <a:schemeClr val="tx1"/>
                </a:solidFill>
                <a:latin typeface="Arial" panose="020B0604020202020204" pitchFamily="34" charset="0"/>
              </a:defRPr>
            </a:lvl5pPr>
            <a:lvl6pPr eaLnBrk="0" fontAlgn="base" hangingPunct="0">
              <a:spcBef>
                <a:spcPct val="0"/>
              </a:spcBef>
              <a:spcAft>
                <a:spcPct val="0"/>
              </a:spcAft>
              <a:tabLst>
                <a:tab pos="498475" algn="l"/>
              </a:tabLst>
              <a:defRPr>
                <a:solidFill>
                  <a:schemeClr val="tx1"/>
                </a:solidFill>
                <a:latin typeface="Arial" panose="020B0604020202020204" pitchFamily="34" charset="0"/>
              </a:defRPr>
            </a:lvl6pPr>
            <a:lvl7pPr eaLnBrk="0" fontAlgn="base" hangingPunct="0">
              <a:spcBef>
                <a:spcPct val="0"/>
              </a:spcBef>
              <a:spcAft>
                <a:spcPct val="0"/>
              </a:spcAft>
              <a:tabLst>
                <a:tab pos="498475" algn="l"/>
              </a:tabLst>
              <a:defRPr>
                <a:solidFill>
                  <a:schemeClr val="tx1"/>
                </a:solidFill>
                <a:latin typeface="Arial" panose="020B0604020202020204" pitchFamily="34" charset="0"/>
              </a:defRPr>
            </a:lvl7pPr>
            <a:lvl8pPr eaLnBrk="0" fontAlgn="base" hangingPunct="0">
              <a:spcBef>
                <a:spcPct val="0"/>
              </a:spcBef>
              <a:spcAft>
                <a:spcPct val="0"/>
              </a:spcAft>
              <a:tabLst>
                <a:tab pos="498475" algn="l"/>
              </a:tabLst>
              <a:defRPr>
                <a:solidFill>
                  <a:schemeClr val="tx1"/>
                </a:solidFill>
                <a:latin typeface="Arial" panose="020B0604020202020204" pitchFamily="34" charset="0"/>
              </a:defRPr>
            </a:lvl8pPr>
            <a:lvl9pPr eaLnBrk="0" fontAlgn="base" hangingPunct="0">
              <a:spcBef>
                <a:spcPct val="0"/>
              </a:spcBef>
              <a:spcAft>
                <a:spcPct val="0"/>
              </a:spcAft>
              <a:tabLst>
                <a:tab pos="498475" algn="l"/>
              </a:tabLst>
              <a:defRPr>
                <a:solidFill>
                  <a:schemeClr val="tx1"/>
                </a:solidFill>
                <a:latin typeface="Arial" panose="020B0604020202020204" pitchFamily="34" charset="0"/>
              </a:defRPr>
            </a:lvl9pPr>
          </a:lstStyle>
          <a:p>
            <a:pPr>
              <a:lnSpc>
                <a:spcPct val="150000"/>
              </a:lnSpc>
              <a:spcBef>
                <a:spcPts val="0"/>
              </a:spcBef>
              <a:buNone/>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要求：</a:t>
            </a:r>
            <a:r>
              <a:rPr lang="zh-CN" altLang="en-US" dirty="0">
                <a:latin typeface="Times New Roman" panose="02020603050405020304" pitchFamily="18" charset="0"/>
                <a:ea typeface="宋体" panose="02010600030101010101" pitchFamily="2" charset="-122"/>
                <a:cs typeface="Times New Roman" panose="02020603050405020304" pitchFamily="18" charset="0"/>
              </a:rPr>
              <a:t>在表</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输入参数的基础上，绕线层数范围为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1~10</a:t>
            </a:r>
            <a:r>
              <a:rPr lang="zh-CN" altLang="en-US" dirty="0">
                <a:latin typeface="Times New Roman" panose="02020603050405020304" pitchFamily="18" charset="0"/>
                <a:ea typeface="宋体" panose="02010600030101010101" pitchFamily="2" charset="-122"/>
                <a:cs typeface="Times New Roman" panose="02020603050405020304" pitchFamily="18" charset="0"/>
              </a:rPr>
              <a:t>层，请设计程序找出最优层数，要求线圈电阻值最小。</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0"/>
              </a:spcBef>
              <a:buNone/>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思路：</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设计循环，遍历计算得出绕线层数为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1~10</a:t>
            </a:r>
            <a:r>
              <a:rPr lang="zh-CN" altLang="en-US" dirty="0">
                <a:latin typeface="Times New Roman" panose="02020603050405020304" pitchFamily="18" charset="0"/>
                <a:ea typeface="宋体" panose="02010600030101010101" pitchFamily="2" charset="-122"/>
                <a:cs typeface="Times New Roman" panose="02020603050405020304" pitchFamily="18" charset="0"/>
              </a:rPr>
              <a:t>层时，电感制作参数的设计结果，忽略不符合设计精度和迭代次数约束的设计结果，在合理设计结果中根据线圈平均直径、匝数、层数、线径等参数计算出绕线总长度，选取绕线长度最短的设计层数即为最优层数。</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文本框 44"/>
          <p:cNvSpPr txBox="1"/>
          <p:nvPr/>
        </p:nvSpPr>
        <p:spPr>
          <a:xfrm>
            <a:off x="1192304" y="5024539"/>
            <a:ext cx="9906001" cy="870751"/>
          </a:xfrm>
          <a:prstGeom prst="rect">
            <a:avLst/>
          </a:prstGeom>
          <a:noFill/>
        </p:spPr>
        <p:txBody>
          <a:bodyPr wrap="square">
            <a:spAutoFit/>
          </a:bodyPr>
          <a:lstStyle/>
          <a:p>
            <a:pPr>
              <a:lnSpc>
                <a:spcPct val="15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思路：</a:t>
            </a:r>
            <a:r>
              <a:rPr lang="zh-CN" altLang="en-US" dirty="0">
                <a:latin typeface="Times New Roman" panose="02020603050405020304" pitchFamily="18" charset="0"/>
                <a:ea typeface="宋体" panose="02010600030101010101" pitchFamily="2" charset="-122"/>
                <a:cs typeface="Times New Roman" panose="02020603050405020304" pitchFamily="18" charset="0"/>
              </a:rPr>
              <a:t>以初始内径为准，从</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层绕线开始叠加，计算不同层数时的电感值，直到与额定电感最接近时为最优层数，再在最优层数的基础上不断调整内径，直至符合设计精度。</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23/26</a:t>
            </a:r>
            <a:endParaRPr lang="zh-CN" altLang="en-US" dirty="0"/>
          </a:p>
        </p:txBody>
      </p:sp>
      <p:sp>
        <p:nvSpPr>
          <p:cNvPr id="20" name="文本框 19"/>
          <p:cNvSpPr txBox="1"/>
          <p:nvPr/>
        </p:nvSpPr>
        <p:spPr>
          <a:xfrm>
            <a:off x="487680" y="105459"/>
            <a:ext cx="7575006" cy="646331"/>
          </a:xfrm>
          <a:prstGeom prst="rect">
            <a:avLst/>
          </a:prstGeom>
          <a:noFill/>
        </p:spPr>
        <p:txBody>
          <a:bodyPr wrap="square" rtlCol="0">
            <a:spAutoFit/>
          </a:bodyPr>
          <a:lstStyle/>
          <a:p>
            <a:r>
              <a:rPr lang="zh-CN" altLang="en-US" sz="3600" b="1" dirty="0"/>
              <a:t>五</a:t>
            </a:r>
            <a:r>
              <a:rPr lang="en-US" altLang="zh-CN" sz="3600" b="1" dirty="0"/>
              <a:t>.</a:t>
            </a:r>
            <a:r>
              <a:rPr lang="zh-CN" altLang="en-US" sz="3600" b="1" dirty="0"/>
              <a:t> 实验内容（选做任务）</a:t>
            </a:r>
            <a:endParaRPr lang="zh-CN" altLang="en-US" sz="36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09085" y="1635364"/>
            <a:ext cx="3492500" cy="45440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p:cNvSpPr txBox="1"/>
          <p:nvPr/>
        </p:nvSpPr>
        <p:spPr>
          <a:xfrm>
            <a:off x="487680" y="105459"/>
            <a:ext cx="7575006" cy="646331"/>
          </a:xfrm>
          <a:prstGeom prst="rect">
            <a:avLst/>
          </a:prstGeom>
          <a:noFill/>
        </p:spPr>
        <p:txBody>
          <a:bodyPr wrap="square" rtlCol="0">
            <a:spAutoFit/>
          </a:bodyPr>
          <a:lstStyle/>
          <a:p>
            <a:r>
              <a:rPr lang="zh-CN" altLang="en-US" sz="3600" b="1" dirty="0"/>
              <a:t>五</a:t>
            </a:r>
            <a:r>
              <a:rPr lang="en-US" altLang="zh-CN" sz="3600" b="1" dirty="0"/>
              <a:t>.</a:t>
            </a:r>
            <a:r>
              <a:rPr lang="zh-CN" altLang="en-US" sz="3600" b="1" dirty="0"/>
              <a:t> 实验内容</a:t>
            </a:r>
            <a:endParaRPr lang="zh-CN" altLang="en-US" sz="3600" b="1" dirty="0"/>
          </a:p>
        </p:txBody>
      </p:sp>
      <p:sp>
        <p:nvSpPr>
          <p:cNvPr id="46" name="TextBox 36"/>
          <p:cNvSpPr txBox="1">
            <a:spLocks noChangeArrowheads="1"/>
          </p:cNvSpPr>
          <p:nvPr/>
        </p:nvSpPr>
        <p:spPr bwMode="auto">
          <a:xfrm>
            <a:off x="530120" y="880275"/>
            <a:ext cx="2223455" cy="461665"/>
          </a:xfrm>
          <a:prstGeom prst="rect">
            <a:avLst/>
          </a:prstGeom>
          <a:noFill/>
          <a:ln w="9525">
            <a:noFill/>
            <a:miter lim="800000"/>
          </a:ln>
        </p:spPr>
        <p:txBody>
          <a:bodyPr wrap="square">
            <a:spAutoFit/>
          </a:bodyPr>
          <a:lstStyle/>
          <a:p>
            <a:r>
              <a:rPr lang="en-US" altLang="zh-CN" sz="2400" b="1" dirty="0">
                <a:solidFill>
                  <a:srgbClr val="0033CC"/>
                </a:solidFill>
              </a:rPr>
              <a:t>2.</a:t>
            </a:r>
            <a:r>
              <a:rPr lang="zh-CN" altLang="en-US" sz="2400" b="1" dirty="0">
                <a:solidFill>
                  <a:srgbClr val="0033CC"/>
                </a:solidFill>
              </a:rPr>
              <a:t>仿真任务</a:t>
            </a:r>
            <a:endParaRPr lang="en-US" altLang="zh-CN" sz="2400" b="1" dirty="0"/>
          </a:p>
        </p:txBody>
      </p:sp>
      <p:sp>
        <p:nvSpPr>
          <p:cNvPr id="21" name="TextBox 3"/>
          <p:cNvSpPr txBox="1">
            <a:spLocks noChangeArrowheads="1"/>
          </p:cNvSpPr>
          <p:nvPr/>
        </p:nvSpPr>
        <p:spPr bwMode="auto">
          <a:xfrm>
            <a:off x="1291501" y="1625362"/>
            <a:ext cx="1572117" cy="461665"/>
          </a:xfrm>
          <a:prstGeom prst="rect">
            <a:avLst/>
          </a:prstGeom>
          <a:noFill/>
          <a:ln w="9525">
            <a:noFill/>
            <a:miter lim="800000"/>
          </a:ln>
        </p:spPr>
        <p:txBody>
          <a:bodyPr wrap="square">
            <a:spAutoFit/>
          </a:bodyPr>
          <a:lstStyle/>
          <a:p>
            <a:r>
              <a:rPr lang="zh-CN" altLang="en-US" sz="2400" b="1" dirty="0">
                <a:solidFill>
                  <a:schemeClr val="bg1"/>
                </a:solidFill>
              </a:rPr>
              <a:t>实物模型</a:t>
            </a:r>
            <a:endParaRPr lang="zh-CN" altLang="en-US" sz="2400" b="1" dirty="0">
              <a:solidFill>
                <a:schemeClr val="bg1"/>
              </a:solidFill>
            </a:endParaRPr>
          </a:p>
        </p:txBody>
      </p:sp>
      <p:pic>
        <p:nvPicPr>
          <p:cNvPr id="23" name="Picture 2"/>
          <p:cNvPicPr>
            <a:picLocks noChangeAspect="1" noChangeArrowheads="1"/>
          </p:cNvPicPr>
          <p:nvPr/>
        </p:nvPicPr>
        <p:blipFill>
          <a:blip r:embed="rId2"/>
          <a:srcRect/>
          <a:stretch>
            <a:fillRect/>
          </a:stretch>
        </p:blipFill>
        <p:spPr bwMode="auto">
          <a:xfrm>
            <a:off x="5386295" y="2103089"/>
            <a:ext cx="1828800" cy="2438400"/>
          </a:xfrm>
          <a:prstGeom prst="rect">
            <a:avLst/>
          </a:prstGeom>
          <a:noFill/>
          <a:ln w="9525">
            <a:noFill/>
            <a:miter lim="800000"/>
            <a:headEnd/>
            <a:tailEnd/>
          </a:ln>
        </p:spPr>
      </p:pic>
      <p:grpSp>
        <p:nvGrpSpPr>
          <p:cNvPr id="24" name="组合 24"/>
          <p:cNvGrpSpPr/>
          <p:nvPr/>
        </p:nvGrpSpPr>
        <p:grpSpPr bwMode="auto">
          <a:xfrm>
            <a:off x="265490" y="2506127"/>
            <a:ext cx="3486150" cy="1404937"/>
            <a:chOff x="914400" y="3733800"/>
            <a:chExt cx="3486150" cy="1404937"/>
          </a:xfrm>
        </p:grpSpPr>
        <p:pic>
          <p:nvPicPr>
            <p:cNvPr id="26" name="Picture 6" descr="H:\IMG_20150411_162912.jpg"/>
            <p:cNvPicPr>
              <a:picLocks noChangeAspect="1" noChangeArrowheads="1"/>
            </p:cNvPicPr>
            <p:nvPr/>
          </p:nvPicPr>
          <p:blipFill>
            <a:blip r:embed="rId3"/>
            <a:srcRect l="5966" t="21167" r="963" b="25917"/>
            <a:stretch>
              <a:fillRect/>
            </a:stretch>
          </p:blipFill>
          <p:spPr bwMode="auto">
            <a:xfrm>
              <a:off x="914400" y="3810000"/>
              <a:ext cx="2438400" cy="781050"/>
            </a:xfrm>
            <a:prstGeom prst="rect">
              <a:avLst/>
            </a:prstGeom>
            <a:noFill/>
            <a:ln w="9525">
              <a:noFill/>
              <a:miter lim="800000"/>
              <a:headEnd/>
              <a:tailEnd/>
            </a:ln>
          </p:spPr>
        </p:pic>
        <p:pic>
          <p:nvPicPr>
            <p:cNvPr id="27" name="Picture 8" descr="H:\IMG_20150411_163005.jpg"/>
            <p:cNvPicPr>
              <a:picLocks noChangeAspect="1" noChangeArrowheads="1"/>
            </p:cNvPicPr>
            <p:nvPr/>
          </p:nvPicPr>
          <p:blipFill>
            <a:blip r:embed="rId4"/>
            <a:srcRect l="32217" t="4234" r="15282"/>
            <a:stretch>
              <a:fillRect/>
            </a:stretch>
          </p:blipFill>
          <p:spPr bwMode="auto">
            <a:xfrm>
              <a:off x="3409950" y="3733800"/>
              <a:ext cx="990600" cy="1017587"/>
            </a:xfrm>
            <a:prstGeom prst="rect">
              <a:avLst/>
            </a:prstGeom>
            <a:noFill/>
            <a:ln w="9525">
              <a:noFill/>
              <a:miter lim="800000"/>
              <a:headEnd/>
              <a:tailEnd/>
            </a:ln>
          </p:spPr>
        </p:pic>
        <p:sp>
          <p:nvSpPr>
            <p:cNvPr id="28" name="TextBox 9"/>
            <p:cNvSpPr txBox="1">
              <a:spLocks noChangeArrowheads="1"/>
            </p:cNvSpPr>
            <p:nvPr/>
          </p:nvSpPr>
          <p:spPr bwMode="auto">
            <a:xfrm>
              <a:off x="1524000" y="4724400"/>
              <a:ext cx="1447800" cy="338137"/>
            </a:xfrm>
            <a:prstGeom prst="rect">
              <a:avLst/>
            </a:prstGeom>
            <a:noFill/>
            <a:ln w="9525">
              <a:noFill/>
              <a:miter lim="800000"/>
            </a:ln>
          </p:spPr>
          <p:txBody>
            <a:bodyPr>
              <a:spAutoFit/>
            </a:bodyPr>
            <a:lstStyle/>
            <a:p>
              <a:r>
                <a:rPr lang="zh-CN" altLang="en-US" sz="1600"/>
                <a:t>侧面</a:t>
              </a:r>
              <a:endParaRPr lang="zh-CN" altLang="en-US" sz="1600"/>
            </a:p>
          </p:txBody>
        </p:sp>
        <p:sp>
          <p:nvSpPr>
            <p:cNvPr id="29" name="TextBox 10"/>
            <p:cNvSpPr txBox="1">
              <a:spLocks noChangeArrowheads="1"/>
            </p:cNvSpPr>
            <p:nvPr/>
          </p:nvSpPr>
          <p:spPr bwMode="auto">
            <a:xfrm>
              <a:off x="3409950" y="4800600"/>
              <a:ext cx="838200" cy="338137"/>
            </a:xfrm>
            <a:prstGeom prst="rect">
              <a:avLst/>
            </a:prstGeom>
            <a:noFill/>
            <a:ln w="9525">
              <a:noFill/>
              <a:miter lim="800000"/>
            </a:ln>
          </p:spPr>
          <p:txBody>
            <a:bodyPr>
              <a:spAutoFit/>
            </a:bodyPr>
            <a:lstStyle/>
            <a:p>
              <a:r>
                <a:rPr lang="zh-CN" altLang="en-US" sz="1600"/>
                <a:t>轴向</a:t>
              </a:r>
              <a:endParaRPr lang="zh-CN" altLang="en-US" sz="1600"/>
            </a:p>
          </p:txBody>
        </p:sp>
      </p:grpSp>
      <p:sp>
        <p:nvSpPr>
          <p:cNvPr id="31" name="TextBox 3"/>
          <p:cNvSpPr txBox="1">
            <a:spLocks noChangeArrowheads="1"/>
          </p:cNvSpPr>
          <p:nvPr/>
        </p:nvSpPr>
        <p:spPr bwMode="auto">
          <a:xfrm>
            <a:off x="2103269" y="4165666"/>
            <a:ext cx="1643799" cy="830262"/>
          </a:xfrm>
          <a:prstGeom prst="rect">
            <a:avLst/>
          </a:prstGeom>
          <a:noFill/>
          <a:ln w="9525">
            <a:noFill/>
            <a:miter lim="800000"/>
          </a:ln>
        </p:spPr>
        <p:txBody>
          <a:bodyPr wrap="square">
            <a:spAutoFit/>
          </a:bodyPr>
          <a:lstStyle/>
          <a:p>
            <a:r>
              <a:rPr lang="zh-CN" altLang="en-US" sz="1600" b="1" dirty="0"/>
              <a:t>内径</a:t>
            </a:r>
            <a:r>
              <a:rPr lang="en-US" altLang="zh-CN" sz="1600" b="1" dirty="0"/>
              <a:t>:</a:t>
            </a:r>
            <a:r>
              <a:rPr lang="zh-CN" altLang="en-US" sz="1600" b="1" dirty="0"/>
              <a:t> </a:t>
            </a:r>
            <a:r>
              <a:rPr lang="en-US" altLang="zh-CN" sz="1600" b="1" dirty="0">
                <a:latin typeface="Times New Roman" panose="02020603050405020304" pitchFamily="18" charset="0"/>
                <a:cs typeface="Times New Roman" panose="02020603050405020304" pitchFamily="18" charset="0"/>
              </a:rPr>
              <a:t>d1=5.4cm</a:t>
            </a:r>
            <a:endParaRPr lang="en-US" altLang="zh-CN" sz="1600" b="1" dirty="0">
              <a:latin typeface="Times New Roman" panose="02020603050405020304" pitchFamily="18" charset="0"/>
              <a:cs typeface="Times New Roman" panose="02020603050405020304" pitchFamily="18" charset="0"/>
            </a:endParaRPr>
          </a:p>
          <a:p>
            <a:r>
              <a:rPr lang="zh-CN" altLang="en-US" sz="1600" b="1" dirty="0"/>
              <a:t>外径</a:t>
            </a:r>
            <a:r>
              <a:rPr lang="en-US" altLang="zh-CN" sz="1600" b="1" dirty="0"/>
              <a:t>:</a:t>
            </a:r>
            <a:r>
              <a:rPr lang="zh-CN" altLang="en-US" sz="1600" b="1" dirty="0"/>
              <a:t> </a:t>
            </a:r>
            <a:r>
              <a:rPr lang="en-US" altLang="zh-CN" sz="1600" b="1" dirty="0">
                <a:latin typeface="Times New Roman" panose="02020603050405020304" pitchFamily="18" charset="0"/>
                <a:cs typeface="Times New Roman" panose="02020603050405020304" pitchFamily="18" charset="0"/>
              </a:rPr>
              <a:t>d2=6.2cm</a:t>
            </a:r>
            <a:endParaRPr lang="en-US" altLang="zh-CN" sz="1600" b="1" dirty="0">
              <a:latin typeface="Times New Roman" panose="02020603050405020304" pitchFamily="18" charset="0"/>
              <a:cs typeface="Times New Roman" panose="02020603050405020304" pitchFamily="18" charset="0"/>
            </a:endParaRPr>
          </a:p>
          <a:p>
            <a:r>
              <a:rPr lang="zh-CN" altLang="en-US" sz="1600" b="1" dirty="0"/>
              <a:t>长度</a:t>
            </a:r>
            <a:r>
              <a:rPr lang="en-US" altLang="zh-CN" sz="1600" b="1" dirty="0"/>
              <a:t>:</a:t>
            </a:r>
            <a:r>
              <a:rPr lang="zh-CN" altLang="en-US" sz="1600" b="1" dirty="0"/>
              <a:t> </a:t>
            </a:r>
            <a:r>
              <a:rPr lang="en-US" altLang="zh-CN" sz="1600" b="1" dirty="0">
                <a:latin typeface="Times New Roman" panose="02020603050405020304" pitchFamily="18" charset="0"/>
                <a:cs typeface="Times New Roman" panose="02020603050405020304" pitchFamily="18" charset="0"/>
              </a:rPr>
              <a:t>d1=23cm</a:t>
            </a:r>
            <a:endParaRPr lang="en-US" altLang="zh-CN" sz="1600" b="1" dirty="0">
              <a:latin typeface="Times New Roman" panose="02020603050405020304" pitchFamily="18" charset="0"/>
              <a:cs typeface="Times New Roman" panose="02020603050405020304" pitchFamily="18" charset="0"/>
            </a:endParaRPr>
          </a:p>
        </p:txBody>
      </p:sp>
      <p:grpSp>
        <p:nvGrpSpPr>
          <p:cNvPr id="42" name="组合 53"/>
          <p:cNvGrpSpPr/>
          <p:nvPr/>
        </p:nvGrpSpPr>
        <p:grpSpPr bwMode="auto">
          <a:xfrm>
            <a:off x="372886" y="4622044"/>
            <a:ext cx="1447800" cy="1371600"/>
            <a:chOff x="495300" y="3276600"/>
            <a:chExt cx="1447800" cy="1371600"/>
          </a:xfrm>
        </p:grpSpPr>
        <p:sp>
          <p:nvSpPr>
            <p:cNvPr id="43" name="椭圆 31"/>
            <p:cNvSpPr>
              <a:spLocks noChangeArrowheads="1"/>
            </p:cNvSpPr>
            <p:nvPr/>
          </p:nvSpPr>
          <p:spPr bwMode="auto">
            <a:xfrm>
              <a:off x="495300" y="3276600"/>
              <a:ext cx="1447800" cy="1371600"/>
            </a:xfrm>
            <a:prstGeom prst="ellipse">
              <a:avLst/>
            </a:prstGeom>
            <a:solidFill>
              <a:srgbClr val="CC6600"/>
            </a:solidFill>
            <a:ln w="9525" algn="ctr">
              <a:solidFill>
                <a:schemeClr val="tx1"/>
              </a:solidFill>
              <a:round/>
            </a:ln>
          </p:spPr>
          <p:txBody>
            <a:bodyPr/>
            <a:lstStyle/>
            <a:p>
              <a:pPr eaLnBrk="0" hangingPunct="0"/>
              <a:endParaRPr lang="zh-CN" altLang="en-US"/>
            </a:p>
          </p:txBody>
        </p:sp>
        <p:sp>
          <p:nvSpPr>
            <p:cNvPr id="44" name="椭圆 30"/>
            <p:cNvSpPr>
              <a:spLocks noChangeArrowheads="1"/>
            </p:cNvSpPr>
            <p:nvPr/>
          </p:nvSpPr>
          <p:spPr bwMode="auto">
            <a:xfrm>
              <a:off x="733425" y="3467100"/>
              <a:ext cx="990600" cy="990600"/>
            </a:xfrm>
            <a:prstGeom prst="ellipse">
              <a:avLst/>
            </a:prstGeom>
            <a:solidFill>
              <a:schemeClr val="bg1"/>
            </a:solidFill>
            <a:ln w="9525" algn="ctr">
              <a:solidFill>
                <a:schemeClr val="tx1"/>
              </a:solidFill>
              <a:round/>
            </a:ln>
          </p:spPr>
          <p:txBody>
            <a:bodyPr/>
            <a:lstStyle/>
            <a:p>
              <a:pPr eaLnBrk="0" hangingPunct="0"/>
              <a:endParaRPr lang="zh-CN" altLang="en-US"/>
            </a:p>
          </p:txBody>
        </p:sp>
      </p:grpSp>
      <p:sp>
        <p:nvSpPr>
          <p:cNvPr id="45" name="矩形 44"/>
          <p:cNvSpPr>
            <a:spLocks noChangeArrowheads="1"/>
          </p:cNvSpPr>
          <p:nvPr/>
        </p:nvSpPr>
        <p:spPr bwMode="auto">
          <a:xfrm>
            <a:off x="1782586" y="5231644"/>
            <a:ext cx="409575" cy="307975"/>
          </a:xfrm>
          <a:prstGeom prst="rect">
            <a:avLst/>
          </a:prstGeom>
          <a:noFill/>
          <a:ln w="9525">
            <a:noFill/>
            <a:miter lim="800000"/>
          </a:ln>
        </p:spPr>
        <p:txBody>
          <a:bodyPr wrap="none">
            <a:spAutoFit/>
          </a:bodyPr>
          <a:lstStyle/>
          <a:p>
            <a:r>
              <a:rPr lang="en-US" altLang="zh-CN" sz="1400">
                <a:latin typeface="Times New Roman" panose="02020603050405020304" pitchFamily="18" charset="0"/>
                <a:cs typeface="Times New Roman" panose="02020603050405020304" pitchFamily="18" charset="0"/>
              </a:rPr>
              <a:t>3.1</a:t>
            </a:r>
            <a:endParaRPr lang="en-US" altLang="zh-CN" sz="1400">
              <a:latin typeface="Times New Roman" panose="02020603050405020304" pitchFamily="18" charset="0"/>
              <a:cs typeface="Times New Roman" panose="02020603050405020304" pitchFamily="18" charset="0"/>
            </a:endParaRPr>
          </a:p>
        </p:txBody>
      </p:sp>
      <p:sp>
        <p:nvSpPr>
          <p:cNvPr id="47" name="矩形 46"/>
          <p:cNvSpPr>
            <a:spLocks noChangeArrowheads="1"/>
          </p:cNvSpPr>
          <p:nvPr/>
        </p:nvSpPr>
        <p:spPr bwMode="auto">
          <a:xfrm>
            <a:off x="1249186" y="5231644"/>
            <a:ext cx="409575" cy="307975"/>
          </a:xfrm>
          <a:prstGeom prst="rect">
            <a:avLst/>
          </a:prstGeom>
          <a:noFill/>
          <a:ln w="9525">
            <a:noFill/>
            <a:miter lim="800000"/>
          </a:ln>
        </p:spPr>
        <p:txBody>
          <a:bodyPr wrap="none">
            <a:spAutoFit/>
          </a:bodyPr>
          <a:lstStyle/>
          <a:p>
            <a:r>
              <a:rPr lang="en-US" altLang="zh-CN" sz="1400">
                <a:latin typeface="Times New Roman" panose="02020603050405020304" pitchFamily="18" charset="0"/>
                <a:cs typeface="Times New Roman" panose="02020603050405020304" pitchFamily="18" charset="0"/>
              </a:rPr>
              <a:t>2.7</a:t>
            </a:r>
            <a:endParaRPr lang="en-US" altLang="zh-CN" sz="1400">
              <a:latin typeface="Times New Roman" panose="02020603050405020304" pitchFamily="18" charset="0"/>
              <a:cs typeface="Times New Roman" panose="02020603050405020304" pitchFamily="18" charset="0"/>
            </a:endParaRPr>
          </a:p>
        </p:txBody>
      </p:sp>
      <p:grpSp>
        <p:nvGrpSpPr>
          <p:cNvPr id="5" name="组合 4"/>
          <p:cNvGrpSpPr/>
          <p:nvPr/>
        </p:nvGrpSpPr>
        <p:grpSpPr>
          <a:xfrm>
            <a:off x="4740962" y="4547973"/>
            <a:ext cx="2889250" cy="2166938"/>
            <a:chOff x="7681371" y="4527660"/>
            <a:chExt cx="2889250" cy="2166938"/>
          </a:xfrm>
        </p:grpSpPr>
        <p:sp>
          <p:nvSpPr>
            <p:cNvPr id="30" name="矩形 16"/>
            <p:cNvSpPr>
              <a:spLocks noChangeArrowheads="1"/>
            </p:cNvSpPr>
            <p:nvPr/>
          </p:nvSpPr>
          <p:spPr bwMode="auto">
            <a:xfrm>
              <a:off x="8748171" y="4984860"/>
              <a:ext cx="228600" cy="1143000"/>
            </a:xfrm>
            <a:prstGeom prst="rect">
              <a:avLst/>
            </a:prstGeom>
            <a:solidFill>
              <a:srgbClr val="CC6600"/>
            </a:solidFill>
            <a:ln w="9525" algn="ctr">
              <a:noFill/>
              <a:round/>
            </a:ln>
          </p:spPr>
          <p:txBody>
            <a:bodyPr/>
            <a:lstStyle/>
            <a:p>
              <a:pPr eaLnBrk="0" hangingPunct="0"/>
              <a:endParaRPr lang="zh-CN" altLang="en-US"/>
            </a:p>
          </p:txBody>
        </p:sp>
        <p:grpSp>
          <p:nvGrpSpPr>
            <p:cNvPr id="32" name="组合 61"/>
            <p:cNvGrpSpPr/>
            <p:nvPr/>
          </p:nvGrpSpPr>
          <p:grpSpPr bwMode="auto">
            <a:xfrm>
              <a:off x="8214771" y="5518260"/>
              <a:ext cx="685800" cy="631825"/>
              <a:chOff x="6248400" y="5562600"/>
              <a:chExt cx="685800" cy="632460"/>
            </a:xfrm>
          </p:grpSpPr>
          <p:sp>
            <p:nvSpPr>
              <p:cNvPr id="33" name="TextBox 42"/>
              <p:cNvSpPr txBox="1">
                <a:spLocks noChangeArrowheads="1"/>
              </p:cNvSpPr>
              <p:nvPr/>
            </p:nvSpPr>
            <p:spPr bwMode="auto">
              <a:xfrm>
                <a:off x="6248400" y="5562600"/>
                <a:ext cx="685800" cy="307975"/>
              </a:xfrm>
              <a:prstGeom prst="rect">
                <a:avLst/>
              </a:prstGeom>
              <a:noFill/>
              <a:ln w="9525">
                <a:noFill/>
                <a:miter lim="800000"/>
              </a:ln>
            </p:spPr>
            <p:txBody>
              <a:bodyPr>
                <a:spAutoFit/>
              </a:bodyPr>
              <a:lstStyle/>
              <a:p>
                <a:r>
                  <a:rPr lang="en-US" altLang="zh-CN" sz="1400">
                    <a:latin typeface="Times New Roman" panose="02020603050405020304" pitchFamily="18" charset="0"/>
                    <a:cs typeface="Times New Roman" panose="02020603050405020304" pitchFamily="18" charset="0"/>
                  </a:rPr>
                  <a:t>(2.7 ,0)</a:t>
                </a:r>
                <a:endParaRPr lang="zh-CN" altLang="en-US" sz="1400">
                  <a:latin typeface="Times New Roman" panose="02020603050405020304" pitchFamily="18" charset="0"/>
                  <a:cs typeface="Times New Roman" panose="02020603050405020304" pitchFamily="18" charset="0"/>
                </a:endParaRPr>
              </a:p>
            </p:txBody>
          </p:sp>
          <p:sp>
            <p:nvSpPr>
              <p:cNvPr id="34" name="椭圆 32"/>
              <p:cNvSpPr>
                <a:spLocks noChangeArrowheads="1"/>
              </p:cNvSpPr>
              <p:nvPr/>
            </p:nvSpPr>
            <p:spPr bwMode="auto">
              <a:xfrm flipH="1">
                <a:off x="6766878" y="6149340"/>
                <a:ext cx="45720" cy="45720"/>
              </a:xfrm>
              <a:prstGeom prst="ellipse">
                <a:avLst/>
              </a:prstGeom>
              <a:solidFill>
                <a:srgbClr val="0000FF"/>
              </a:solidFill>
              <a:ln w="9525" algn="ctr">
                <a:solidFill>
                  <a:srgbClr val="0000FF"/>
                </a:solidFill>
                <a:round/>
              </a:ln>
            </p:spPr>
            <p:txBody>
              <a:bodyPr/>
              <a:lstStyle/>
              <a:p>
                <a:pPr eaLnBrk="0" hangingPunct="0"/>
                <a:endParaRPr lang="zh-CN" altLang="en-US">
                  <a:solidFill>
                    <a:srgbClr val="FF0000"/>
                  </a:solidFill>
                </a:endParaRPr>
              </a:p>
            </p:txBody>
          </p:sp>
          <p:cxnSp>
            <p:nvCxnSpPr>
              <p:cNvPr id="35" name="直接箭头连接符 37"/>
              <p:cNvCxnSpPr>
                <a:cxnSpLocks noChangeShapeType="1"/>
                <a:stCxn id="33" idx="2"/>
              </p:cNvCxnSpPr>
              <p:nvPr/>
            </p:nvCxnSpPr>
            <p:spPr bwMode="auto">
              <a:xfrm rot="16200000" flipH="1">
                <a:off x="6535737" y="5926138"/>
                <a:ext cx="225425" cy="114300"/>
              </a:xfrm>
              <a:prstGeom prst="straightConnector1">
                <a:avLst/>
              </a:prstGeom>
              <a:noFill/>
              <a:ln w="9525" algn="ctr">
                <a:solidFill>
                  <a:schemeClr val="tx1"/>
                </a:solidFill>
                <a:round/>
                <a:headEnd type="arrow" w="med" len="med"/>
                <a:tailEnd type="arrow" w="med" len="med"/>
              </a:ln>
            </p:spPr>
          </p:cxnSp>
        </p:grpSp>
        <p:grpSp>
          <p:nvGrpSpPr>
            <p:cNvPr id="36" name="组合 62"/>
            <p:cNvGrpSpPr/>
            <p:nvPr/>
          </p:nvGrpSpPr>
          <p:grpSpPr bwMode="auto">
            <a:xfrm>
              <a:off x="8595771" y="6204060"/>
              <a:ext cx="1295400" cy="490538"/>
              <a:chOff x="6629400" y="6248400"/>
              <a:chExt cx="1295400" cy="490538"/>
            </a:xfrm>
          </p:grpSpPr>
          <p:sp>
            <p:nvSpPr>
              <p:cNvPr id="37" name="TextBox 3"/>
              <p:cNvSpPr txBox="1">
                <a:spLocks noChangeArrowheads="1"/>
              </p:cNvSpPr>
              <p:nvPr/>
            </p:nvSpPr>
            <p:spPr bwMode="auto">
              <a:xfrm>
                <a:off x="6629400" y="6400800"/>
                <a:ext cx="1295400" cy="338138"/>
              </a:xfrm>
              <a:prstGeom prst="rect">
                <a:avLst/>
              </a:prstGeom>
              <a:noFill/>
              <a:ln w="9525">
                <a:noFill/>
                <a:miter lim="800000"/>
              </a:ln>
            </p:spPr>
            <p:txBody>
              <a:bodyPr>
                <a:spAutoFit/>
              </a:bodyPr>
              <a:lstStyle/>
              <a:p>
                <a:r>
                  <a:rPr lang="en-US" altLang="zh-CN" sz="1600" b="1">
                    <a:solidFill>
                      <a:srgbClr val="FF0000"/>
                    </a:solidFill>
                    <a:latin typeface="Times New Roman" panose="02020603050405020304" pitchFamily="18" charset="0"/>
                    <a:cs typeface="Times New Roman" panose="02020603050405020304" pitchFamily="18" charset="0"/>
                  </a:rPr>
                  <a:t>dU=0.4cm</a:t>
                </a:r>
                <a:endParaRPr lang="en-US" altLang="zh-CN" sz="1600" b="1">
                  <a:solidFill>
                    <a:srgbClr val="FF0000"/>
                  </a:solidFill>
                  <a:latin typeface="Times New Roman" panose="02020603050405020304" pitchFamily="18" charset="0"/>
                  <a:cs typeface="Times New Roman" panose="02020603050405020304" pitchFamily="18" charset="0"/>
                </a:endParaRPr>
              </a:p>
            </p:txBody>
          </p:sp>
          <p:sp>
            <p:nvSpPr>
              <p:cNvPr id="38" name="右大括号 39"/>
              <p:cNvSpPr/>
              <p:nvPr/>
            </p:nvSpPr>
            <p:spPr bwMode="auto">
              <a:xfrm rot="5400000">
                <a:off x="6819900" y="6210300"/>
                <a:ext cx="152400" cy="228600"/>
              </a:xfrm>
              <a:prstGeom prst="rightBrace">
                <a:avLst>
                  <a:gd name="adj1" fmla="val 8333"/>
                  <a:gd name="adj2" fmla="val 50000"/>
                </a:avLst>
              </a:prstGeom>
              <a:noFill/>
              <a:ln w="19050" algn="ctr">
                <a:solidFill>
                  <a:srgbClr val="0000FF"/>
                </a:solidFill>
                <a:round/>
              </a:ln>
            </p:spPr>
            <p:txBody>
              <a:bodyPr/>
              <a:lstStyle/>
              <a:p>
                <a:pPr eaLnBrk="0" hangingPunct="0"/>
                <a:endParaRPr lang="zh-CN" altLang="en-US"/>
              </a:p>
            </p:txBody>
          </p:sp>
        </p:grpSp>
        <p:grpSp>
          <p:nvGrpSpPr>
            <p:cNvPr id="39" name="组合 63"/>
            <p:cNvGrpSpPr/>
            <p:nvPr/>
          </p:nvGrpSpPr>
          <p:grpSpPr bwMode="auto">
            <a:xfrm>
              <a:off x="9052971" y="4984860"/>
              <a:ext cx="1517650" cy="1066800"/>
              <a:chOff x="7086600" y="5029200"/>
              <a:chExt cx="1517650" cy="1066800"/>
            </a:xfrm>
          </p:grpSpPr>
          <p:sp>
            <p:nvSpPr>
              <p:cNvPr id="40" name="右大括号 41"/>
              <p:cNvSpPr/>
              <p:nvPr/>
            </p:nvSpPr>
            <p:spPr bwMode="auto">
              <a:xfrm>
                <a:off x="7086600" y="5029200"/>
                <a:ext cx="304800" cy="1066800"/>
              </a:xfrm>
              <a:prstGeom prst="rightBrace">
                <a:avLst>
                  <a:gd name="adj1" fmla="val 8329"/>
                  <a:gd name="adj2" fmla="val 50000"/>
                </a:avLst>
              </a:prstGeom>
              <a:noFill/>
              <a:ln w="19050" algn="ctr">
                <a:solidFill>
                  <a:srgbClr val="0000FF"/>
                </a:solidFill>
                <a:round/>
              </a:ln>
            </p:spPr>
            <p:txBody>
              <a:bodyPr/>
              <a:lstStyle/>
              <a:p>
                <a:pPr eaLnBrk="0" hangingPunct="0"/>
                <a:endParaRPr lang="zh-CN" altLang="en-US"/>
              </a:p>
            </p:txBody>
          </p:sp>
          <p:sp>
            <p:nvSpPr>
              <p:cNvPr id="41" name="矩形 42"/>
              <p:cNvSpPr>
                <a:spLocks noChangeArrowheads="1"/>
              </p:cNvSpPr>
              <p:nvPr/>
            </p:nvSpPr>
            <p:spPr bwMode="auto">
              <a:xfrm>
                <a:off x="7467600" y="5410200"/>
                <a:ext cx="1136650" cy="369888"/>
              </a:xfrm>
              <a:prstGeom prst="rect">
                <a:avLst/>
              </a:prstGeom>
              <a:noFill/>
              <a:ln w="9525">
                <a:noFill/>
                <a:miter lim="800000"/>
              </a:ln>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dV=23cm</a:t>
                </a:r>
                <a:endParaRPr lang="en-US" altLang="zh-CN" b="1">
                  <a:solidFill>
                    <a:srgbClr val="FF0000"/>
                  </a:solidFill>
                  <a:latin typeface="Times New Roman" panose="02020603050405020304" pitchFamily="18" charset="0"/>
                  <a:cs typeface="Times New Roman" panose="02020603050405020304" pitchFamily="18" charset="0"/>
                </a:endParaRPr>
              </a:p>
            </p:txBody>
          </p:sp>
        </p:grpSp>
        <p:grpSp>
          <p:nvGrpSpPr>
            <p:cNvPr id="48" name="组合 60"/>
            <p:cNvGrpSpPr/>
            <p:nvPr/>
          </p:nvGrpSpPr>
          <p:grpSpPr bwMode="auto">
            <a:xfrm>
              <a:off x="7681371" y="4527660"/>
              <a:ext cx="2743200" cy="2135188"/>
              <a:chOff x="5715000" y="4572000"/>
              <a:chExt cx="2743200" cy="2135188"/>
            </a:xfrm>
          </p:grpSpPr>
          <p:cxnSp>
            <p:nvCxnSpPr>
              <p:cNvPr id="49" name="直接箭头连接符 12"/>
              <p:cNvCxnSpPr>
                <a:cxnSpLocks noChangeShapeType="1"/>
              </p:cNvCxnSpPr>
              <p:nvPr/>
            </p:nvCxnSpPr>
            <p:spPr bwMode="auto">
              <a:xfrm rot="5400000" flipH="1" flipV="1">
                <a:off x="5334794" y="5715794"/>
                <a:ext cx="1981200" cy="1587"/>
              </a:xfrm>
              <a:prstGeom prst="straightConnector1">
                <a:avLst/>
              </a:prstGeom>
              <a:noFill/>
              <a:ln w="9525" algn="ctr">
                <a:solidFill>
                  <a:schemeClr val="tx1"/>
                </a:solidFill>
                <a:round/>
                <a:tailEnd type="arrow" w="med" len="med"/>
              </a:ln>
            </p:spPr>
          </p:cxnSp>
          <p:cxnSp>
            <p:nvCxnSpPr>
              <p:cNvPr id="50" name="直接箭头连接符 14"/>
              <p:cNvCxnSpPr>
                <a:cxnSpLocks noChangeShapeType="1"/>
              </p:cNvCxnSpPr>
              <p:nvPr/>
            </p:nvCxnSpPr>
            <p:spPr bwMode="auto">
              <a:xfrm>
                <a:off x="5715000" y="6172200"/>
                <a:ext cx="2057400" cy="1588"/>
              </a:xfrm>
              <a:prstGeom prst="straightConnector1">
                <a:avLst/>
              </a:prstGeom>
              <a:noFill/>
              <a:ln w="9525" algn="ctr">
                <a:solidFill>
                  <a:schemeClr val="tx1"/>
                </a:solidFill>
                <a:round/>
                <a:tailEnd type="arrow" w="med" len="med"/>
              </a:ln>
            </p:spPr>
          </p:cxnSp>
          <p:sp>
            <p:nvSpPr>
              <p:cNvPr id="51" name="TextBox 17"/>
              <p:cNvSpPr txBox="1">
                <a:spLocks noChangeArrowheads="1"/>
              </p:cNvSpPr>
              <p:nvPr/>
            </p:nvSpPr>
            <p:spPr bwMode="auto">
              <a:xfrm>
                <a:off x="7467600" y="6172200"/>
                <a:ext cx="990600" cy="307975"/>
              </a:xfrm>
              <a:prstGeom prst="rect">
                <a:avLst/>
              </a:prstGeom>
              <a:noFill/>
              <a:ln w="9525">
                <a:noFill/>
                <a:miter lim="800000"/>
              </a:ln>
            </p:spPr>
            <p:txBody>
              <a:bodyPr>
                <a:spAutoFit/>
              </a:bodyPr>
              <a:lstStyle/>
              <a:p>
                <a:r>
                  <a:rPr lang="en-US" altLang="zh-CN" sz="1400">
                    <a:latin typeface="Times New Roman" panose="02020603050405020304" pitchFamily="18" charset="0"/>
                    <a:cs typeface="Times New Roman" panose="02020603050405020304" pitchFamily="18" charset="0"/>
                  </a:rPr>
                  <a:t>R/cm</a:t>
                </a:r>
                <a:endParaRPr lang="zh-CN" altLang="en-US" sz="1400">
                  <a:latin typeface="Times New Roman" panose="02020603050405020304" pitchFamily="18" charset="0"/>
                  <a:cs typeface="Times New Roman" panose="02020603050405020304" pitchFamily="18" charset="0"/>
                </a:endParaRPr>
              </a:p>
            </p:txBody>
          </p:sp>
          <p:sp>
            <p:nvSpPr>
              <p:cNvPr id="52" name="TextBox 24"/>
              <p:cNvSpPr txBox="1">
                <a:spLocks noChangeArrowheads="1"/>
              </p:cNvSpPr>
              <p:nvPr/>
            </p:nvSpPr>
            <p:spPr bwMode="auto">
              <a:xfrm>
                <a:off x="6096000" y="6096000"/>
                <a:ext cx="304800" cy="304800"/>
              </a:xfrm>
              <a:prstGeom prst="rect">
                <a:avLst/>
              </a:prstGeom>
              <a:noFill/>
              <a:ln w="9525">
                <a:noFill/>
                <a:miter lim="800000"/>
              </a:ln>
            </p:spPr>
            <p:txBody>
              <a:bodyPr>
                <a:spAutoFit/>
              </a:bodyPr>
              <a:lstStyle/>
              <a:p>
                <a:r>
                  <a:rPr lang="en-US" altLang="zh-CN" sz="1400">
                    <a:latin typeface="Times New Roman" panose="02020603050405020304" pitchFamily="18" charset="0"/>
                    <a:cs typeface="Times New Roman" panose="02020603050405020304" pitchFamily="18" charset="0"/>
                  </a:rPr>
                  <a:t>O</a:t>
                </a:r>
                <a:endParaRPr lang="zh-CN" altLang="en-US" sz="1400">
                  <a:latin typeface="Times New Roman" panose="02020603050405020304" pitchFamily="18" charset="0"/>
                  <a:cs typeface="Times New Roman" panose="02020603050405020304" pitchFamily="18" charset="0"/>
                </a:endParaRPr>
              </a:p>
            </p:txBody>
          </p:sp>
          <p:sp>
            <p:nvSpPr>
              <p:cNvPr id="53" name="矩形 47"/>
              <p:cNvSpPr>
                <a:spLocks noChangeArrowheads="1"/>
              </p:cNvSpPr>
              <p:nvPr/>
            </p:nvSpPr>
            <p:spPr bwMode="auto">
              <a:xfrm>
                <a:off x="5715000" y="4572000"/>
                <a:ext cx="671979" cy="369332"/>
              </a:xfrm>
              <a:prstGeom prst="rect">
                <a:avLst/>
              </a:prstGeom>
              <a:noFill/>
              <a:ln w="9525">
                <a:noFill/>
                <a:miter lim="800000"/>
              </a:ln>
            </p:spPr>
            <p:txBody>
              <a:bodyPr wrap="none">
                <a:spAutoFit/>
              </a:bodyPr>
              <a:lstStyle/>
              <a:p>
                <a:r>
                  <a:rPr lang="en-US" altLang="zh-CN">
                    <a:latin typeface="Times New Roman" panose="02020603050405020304" pitchFamily="18" charset="0"/>
                    <a:cs typeface="Times New Roman" panose="02020603050405020304" pitchFamily="18" charset="0"/>
                  </a:rPr>
                  <a:t>Z/cm</a:t>
                </a:r>
                <a:endParaRPr lang="en-US" altLang="zh-CN">
                  <a:latin typeface="Times New Roman" panose="02020603050405020304" pitchFamily="18" charset="0"/>
                  <a:cs typeface="Times New Roman" panose="02020603050405020304" pitchFamily="18" charset="0"/>
                </a:endParaRPr>
              </a:p>
            </p:txBody>
          </p:sp>
        </p:grpSp>
      </p:grpSp>
      <p:grpSp>
        <p:nvGrpSpPr>
          <p:cNvPr id="54" name="组合 52"/>
          <p:cNvGrpSpPr/>
          <p:nvPr/>
        </p:nvGrpSpPr>
        <p:grpSpPr bwMode="auto">
          <a:xfrm>
            <a:off x="29986" y="4088644"/>
            <a:ext cx="2616200" cy="2211388"/>
            <a:chOff x="152400" y="2743200"/>
            <a:chExt cx="2616200" cy="2210594"/>
          </a:xfrm>
        </p:grpSpPr>
        <p:cxnSp>
          <p:nvCxnSpPr>
            <p:cNvPr id="55" name="直接箭头连接符 28"/>
            <p:cNvCxnSpPr>
              <a:cxnSpLocks noChangeShapeType="1"/>
            </p:cNvCxnSpPr>
            <p:nvPr/>
          </p:nvCxnSpPr>
          <p:spPr bwMode="auto">
            <a:xfrm rot="5400000" flipH="1" flipV="1">
              <a:off x="152400" y="3886200"/>
              <a:ext cx="2133600" cy="1588"/>
            </a:xfrm>
            <a:prstGeom prst="straightConnector1">
              <a:avLst/>
            </a:prstGeom>
            <a:noFill/>
            <a:ln w="9525" algn="ctr">
              <a:solidFill>
                <a:schemeClr val="tx1"/>
              </a:solidFill>
              <a:round/>
              <a:tailEnd type="arrow" w="med" len="med"/>
            </a:ln>
          </p:spPr>
        </p:cxnSp>
        <p:sp>
          <p:nvSpPr>
            <p:cNvPr id="56" name="矩形 34"/>
            <p:cNvSpPr>
              <a:spLocks noChangeArrowheads="1"/>
            </p:cNvSpPr>
            <p:nvPr/>
          </p:nvSpPr>
          <p:spPr bwMode="auto">
            <a:xfrm>
              <a:off x="914400" y="3886200"/>
              <a:ext cx="364202" cy="369332"/>
            </a:xfrm>
            <a:prstGeom prst="rect">
              <a:avLst/>
            </a:prstGeom>
            <a:noFill/>
            <a:ln w="9525">
              <a:noFill/>
              <a:miter lim="800000"/>
            </a:ln>
          </p:spPr>
          <p:txBody>
            <a:bodyPr wrap="none">
              <a:spAutoFit/>
            </a:bodyPr>
            <a:lstStyle/>
            <a:p>
              <a:r>
                <a:rPr lang="en-US" altLang="zh-CN">
                  <a:latin typeface="Times New Roman" panose="02020603050405020304" pitchFamily="18" charset="0"/>
                  <a:cs typeface="Times New Roman" panose="02020603050405020304" pitchFamily="18" charset="0"/>
                </a:rPr>
                <a:t>O</a:t>
              </a:r>
              <a:endParaRPr lang="en-US" altLang="zh-CN">
                <a:latin typeface="Times New Roman" panose="02020603050405020304" pitchFamily="18" charset="0"/>
                <a:cs typeface="Times New Roman" panose="02020603050405020304" pitchFamily="18" charset="0"/>
              </a:endParaRPr>
            </a:p>
          </p:txBody>
        </p:sp>
        <p:cxnSp>
          <p:nvCxnSpPr>
            <p:cNvPr id="57" name="直接箭头连接符 44"/>
            <p:cNvCxnSpPr>
              <a:cxnSpLocks noChangeShapeType="1"/>
            </p:cNvCxnSpPr>
            <p:nvPr/>
          </p:nvCxnSpPr>
          <p:spPr bwMode="auto">
            <a:xfrm>
              <a:off x="152400" y="3962400"/>
              <a:ext cx="2514600" cy="1588"/>
            </a:xfrm>
            <a:prstGeom prst="straightConnector1">
              <a:avLst/>
            </a:prstGeom>
            <a:noFill/>
            <a:ln w="9525" algn="ctr">
              <a:solidFill>
                <a:schemeClr val="tx1"/>
              </a:solidFill>
              <a:round/>
              <a:tailEnd type="arrow" w="med" len="med"/>
            </a:ln>
          </p:spPr>
        </p:cxnSp>
        <p:graphicFrame>
          <p:nvGraphicFramePr>
            <p:cNvPr id="58" name="Object 26"/>
            <p:cNvGraphicFramePr>
              <a:graphicFrameLocks noChangeAspect="1"/>
            </p:cNvGraphicFramePr>
            <p:nvPr/>
          </p:nvGraphicFramePr>
          <p:xfrm>
            <a:off x="2362200" y="4038600"/>
            <a:ext cx="406400" cy="177800"/>
          </p:xfrm>
          <a:graphic>
            <a:graphicData uri="http://schemas.openxmlformats.org/presentationml/2006/ole">
              <mc:AlternateContent xmlns:mc="http://schemas.openxmlformats.org/markup-compatibility/2006">
                <mc:Choice xmlns:v="urn:schemas-microsoft-com:vml" Requires="v">
                  <p:oleObj spid="_x0000_s12315" name="Equation" r:id="rId5" imgW="9753600" imgH="4267200" progId="Equation.DSMT4">
                    <p:embed/>
                  </p:oleObj>
                </mc:Choice>
                <mc:Fallback>
                  <p:oleObj name="Equation" r:id="rId5" imgW="9753600" imgH="4267200" progId="Equation.DSMT4">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4038600"/>
                          <a:ext cx="4064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Object 27"/>
            <p:cNvGraphicFramePr>
              <a:graphicFrameLocks noChangeAspect="1"/>
            </p:cNvGraphicFramePr>
            <p:nvPr/>
          </p:nvGraphicFramePr>
          <p:xfrm>
            <a:off x="1295400" y="2743200"/>
            <a:ext cx="419100" cy="203200"/>
          </p:xfrm>
          <a:graphic>
            <a:graphicData uri="http://schemas.openxmlformats.org/presentationml/2006/ole">
              <mc:AlternateContent xmlns:mc="http://schemas.openxmlformats.org/markup-compatibility/2006">
                <mc:Choice xmlns:v="urn:schemas-microsoft-com:vml" Requires="v">
                  <p:oleObj spid="_x0000_s12316" name="Equation" r:id="rId7" imgW="10058400" imgH="4876800" progId="Equation.DSMT4">
                    <p:embed/>
                  </p:oleObj>
                </mc:Choice>
                <mc:Fallback>
                  <p:oleObj name="Equation" r:id="rId7" imgW="10058400" imgH="4876800" progId="Equation.DSMT4">
                    <p:embed/>
                    <p:pic>
                      <p:nvPicPr>
                        <p:cNvPr id="0"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2743200"/>
                          <a:ext cx="419100"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0" name="椭圆 59"/>
          <p:cNvSpPr>
            <a:spLocks noChangeArrowheads="1"/>
          </p:cNvSpPr>
          <p:nvPr/>
        </p:nvSpPr>
        <p:spPr bwMode="auto">
          <a:xfrm flipV="1">
            <a:off x="1801636" y="5282444"/>
            <a:ext cx="46038" cy="46038"/>
          </a:xfrm>
          <a:prstGeom prst="ellipse">
            <a:avLst/>
          </a:prstGeom>
          <a:solidFill>
            <a:srgbClr val="0000FF"/>
          </a:solidFill>
          <a:ln w="9525" algn="ctr">
            <a:solidFill>
              <a:srgbClr val="0000FF"/>
            </a:solidFill>
            <a:round/>
          </a:ln>
        </p:spPr>
        <p:txBody>
          <a:bodyPr/>
          <a:lstStyle/>
          <a:p>
            <a:pPr eaLnBrk="0" hangingPunct="0"/>
            <a:endParaRPr lang="zh-CN" altLang="en-US">
              <a:solidFill>
                <a:srgbClr val="FF0000"/>
              </a:solidFill>
            </a:endParaRPr>
          </a:p>
        </p:txBody>
      </p:sp>
      <p:sp>
        <p:nvSpPr>
          <p:cNvPr id="61" name="椭圆 60"/>
          <p:cNvSpPr>
            <a:spLocks noChangeArrowheads="1"/>
          </p:cNvSpPr>
          <p:nvPr/>
        </p:nvSpPr>
        <p:spPr bwMode="auto">
          <a:xfrm flipV="1">
            <a:off x="1577799" y="5280857"/>
            <a:ext cx="46037" cy="46037"/>
          </a:xfrm>
          <a:prstGeom prst="ellipse">
            <a:avLst/>
          </a:prstGeom>
          <a:solidFill>
            <a:srgbClr val="0000FF"/>
          </a:solidFill>
          <a:ln w="9525" algn="ctr">
            <a:solidFill>
              <a:srgbClr val="0000FF"/>
            </a:solidFill>
            <a:round/>
          </a:ln>
        </p:spPr>
        <p:txBody>
          <a:bodyPr/>
          <a:lstStyle/>
          <a:p>
            <a:pPr eaLnBrk="0" hangingPunct="0"/>
            <a:endParaRPr lang="zh-CN" altLang="en-US">
              <a:solidFill>
                <a:srgbClr val="FF0000"/>
              </a:solidFill>
            </a:endParaRPr>
          </a:p>
        </p:txBody>
      </p:sp>
      <p:sp>
        <p:nvSpPr>
          <p:cNvPr id="62" name="矩形: 圆角 61"/>
          <p:cNvSpPr/>
          <p:nvPr/>
        </p:nvSpPr>
        <p:spPr>
          <a:xfrm>
            <a:off x="4474262" y="1624927"/>
            <a:ext cx="3492500" cy="45440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TextBox 3"/>
          <p:cNvSpPr txBox="1">
            <a:spLocks noChangeArrowheads="1"/>
          </p:cNvSpPr>
          <p:nvPr/>
        </p:nvSpPr>
        <p:spPr bwMode="auto">
          <a:xfrm>
            <a:off x="5423095" y="1625618"/>
            <a:ext cx="1572117" cy="461665"/>
          </a:xfrm>
          <a:prstGeom prst="rect">
            <a:avLst/>
          </a:prstGeom>
          <a:noFill/>
          <a:ln w="9525">
            <a:noFill/>
            <a:miter lim="800000"/>
          </a:ln>
        </p:spPr>
        <p:txBody>
          <a:bodyPr wrap="square">
            <a:spAutoFit/>
          </a:bodyPr>
          <a:lstStyle/>
          <a:p>
            <a:r>
              <a:rPr lang="zh-CN" altLang="en-US" sz="2400" b="1" dirty="0">
                <a:solidFill>
                  <a:schemeClr val="bg1"/>
                </a:solidFill>
              </a:rPr>
              <a:t>仿真模型</a:t>
            </a:r>
            <a:endParaRPr lang="zh-CN" altLang="en-US" sz="2400" b="1" dirty="0">
              <a:solidFill>
                <a:schemeClr val="bg1"/>
              </a:solidFill>
            </a:endParaRPr>
          </a:p>
        </p:txBody>
      </p:sp>
      <p:sp>
        <p:nvSpPr>
          <p:cNvPr id="64" name="矩形: 圆角 63"/>
          <p:cNvSpPr/>
          <p:nvPr/>
        </p:nvSpPr>
        <p:spPr>
          <a:xfrm>
            <a:off x="8455712" y="1630039"/>
            <a:ext cx="3492500" cy="45440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TextBox 3"/>
          <p:cNvSpPr txBox="1">
            <a:spLocks noChangeArrowheads="1"/>
          </p:cNvSpPr>
          <p:nvPr/>
        </p:nvSpPr>
        <p:spPr bwMode="auto">
          <a:xfrm>
            <a:off x="9287876" y="1617667"/>
            <a:ext cx="2310797" cy="461665"/>
          </a:xfrm>
          <a:prstGeom prst="rect">
            <a:avLst/>
          </a:prstGeom>
          <a:noFill/>
          <a:ln w="9525">
            <a:noFill/>
            <a:miter lim="800000"/>
          </a:ln>
        </p:spPr>
        <p:txBody>
          <a:bodyPr wrap="square">
            <a:spAutoFit/>
          </a:bodyPr>
          <a:lstStyle/>
          <a:p>
            <a:r>
              <a:rPr lang="zh-CN" altLang="en-US" sz="2400" b="1" dirty="0">
                <a:solidFill>
                  <a:schemeClr val="bg1"/>
                </a:solidFill>
              </a:rPr>
              <a:t>感应线圈尺寸</a:t>
            </a:r>
            <a:endParaRPr lang="zh-CN" altLang="en-US" sz="2400" b="1" dirty="0">
              <a:solidFill>
                <a:schemeClr val="bg1"/>
              </a:solidFill>
            </a:endParaRPr>
          </a:p>
        </p:txBody>
      </p:sp>
      <p:graphicFrame>
        <p:nvGraphicFramePr>
          <p:cNvPr id="2" name="表格 1"/>
          <p:cNvGraphicFramePr>
            <a:graphicFrameLocks noGrp="1"/>
          </p:cNvGraphicFramePr>
          <p:nvPr/>
        </p:nvGraphicFramePr>
        <p:xfrm>
          <a:off x="8697012" y="3758441"/>
          <a:ext cx="3107921" cy="2743200"/>
        </p:xfrm>
        <a:graphic>
          <a:graphicData uri="http://schemas.openxmlformats.org/drawingml/2006/table">
            <a:tbl>
              <a:tblPr firstRow="1" firstCol="1" bandRow="1">
                <a:tableStyleId>{5C22544A-7EE6-4342-B048-85BDC9FD1C3A}</a:tableStyleId>
              </a:tblPr>
              <a:tblGrid>
                <a:gridCol w="1835882"/>
                <a:gridCol w="1272039"/>
              </a:tblGrid>
              <a:tr h="278613">
                <a:tc>
                  <a:txBody>
                    <a:bodyPr/>
                    <a:lstStyle/>
                    <a:p>
                      <a:pPr algn="ctr"/>
                      <a:r>
                        <a:rPr lang="zh-CN" sz="2000" kern="100" dirty="0">
                          <a:effectLst/>
                        </a:rPr>
                        <a:t>参数</a:t>
                      </a:r>
                      <a:endParaRPr lang="zh-CN" sz="20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zh-CN" sz="2000" kern="100" dirty="0">
                          <a:effectLst/>
                        </a:rPr>
                        <a:t>值</a:t>
                      </a:r>
                      <a:endParaRPr lang="zh-CN" sz="2000" kern="100" dirty="0">
                        <a:effectLst/>
                        <a:latin typeface="Times New Roman" panose="02020603050405020304" pitchFamily="18" charset="0"/>
                        <a:ea typeface="宋体" panose="02010600030101010101" pitchFamily="2" charset="-122"/>
                      </a:endParaRPr>
                    </a:p>
                  </a:txBody>
                  <a:tcPr marL="68580" marR="68580" marT="0" marB="0"/>
                </a:tc>
              </a:tr>
              <a:tr h="278613">
                <a:tc>
                  <a:txBody>
                    <a:bodyPr/>
                    <a:lstStyle/>
                    <a:p>
                      <a:pPr algn="ctr"/>
                      <a:r>
                        <a:rPr lang="zh-CN" sz="2000" kern="100">
                          <a:effectLst/>
                        </a:rPr>
                        <a:t>螺线管内径</a:t>
                      </a:r>
                      <a:endParaRPr lang="zh-CN" sz="20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en-US" sz="2000" kern="100">
                          <a:effectLst/>
                        </a:rPr>
                        <a:t>5.4cm</a:t>
                      </a:r>
                      <a:endParaRPr lang="zh-CN" sz="2000" kern="100">
                        <a:effectLst/>
                        <a:latin typeface="Times New Roman" panose="02020603050405020304" pitchFamily="18" charset="0"/>
                        <a:ea typeface="宋体" panose="02010600030101010101" pitchFamily="2" charset="-122"/>
                      </a:endParaRPr>
                    </a:p>
                  </a:txBody>
                  <a:tcPr marL="68580" marR="68580" marT="0" marB="0"/>
                </a:tc>
              </a:tr>
              <a:tr h="278613">
                <a:tc>
                  <a:txBody>
                    <a:bodyPr/>
                    <a:lstStyle/>
                    <a:p>
                      <a:pPr algn="ctr"/>
                      <a:r>
                        <a:rPr lang="zh-CN" sz="2000" kern="100">
                          <a:effectLst/>
                        </a:rPr>
                        <a:t>螺线管外径</a:t>
                      </a:r>
                      <a:endParaRPr lang="zh-CN" sz="20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en-US" sz="2000" kern="100">
                          <a:effectLst/>
                        </a:rPr>
                        <a:t>6.2cm</a:t>
                      </a:r>
                      <a:endParaRPr lang="zh-CN" sz="2000" kern="100">
                        <a:effectLst/>
                        <a:latin typeface="Times New Roman" panose="02020603050405020304" pitchFamily="18" charset="0"/>
                        <a:ea typeface="宋体" panose="02010600030101010101" pitchFamily="2" charset="-122"/>
                      </a:endParaRPr>
                    </a:p>
                  </a:txBody>
                  <a:tcPr marL="68580" marR="68580" marT="0" marB="0"/>
                </a:tc>
              </a:tr>
              <a:tr h="278613">
                <a:tc>
                  <a:txBody>
                    <a:bodyPr/>
                    <a:lstStyle/>
                    <a:p>
                      <a:pPr algn="ctr"/>
                      <a:r>
                        <a:rPr lang="zh-CN" sz="2000" kern="100">
                          <a:effectLst/>
                        </a:rPr>
                        <a:t>螺线管长度</a:t>
                      </a:r>
                      <a:endParaRPr lang="zh-CN" sz="20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en-US" sz="2000" kern="100">
                          <a:effectLst/>
                        </a:rPr>
                        <a:t>23cm</a:t>
                      </a:r>
                      <a:endParaRPr lang="zh-CN" sz="2000" kern="100">
                        <a:effectLst/>
                        <a:latin typeface="Times New Roman" panose="02020603050405020304" pitchFamily="18" charset="0"/>
                        <a:ea typeface="宋体" panose="02010600030101010101" pitchFamily="2" charset="-122"/>
                      </a:endParaRPr>
                    </a:p>
                  </a:txBody>
                  <a:tcPr marL="68580" marR="68580" marT="0" marB="0"/>
                </a:tc>
              </a:tr>
              <a:tr h="278613">
                <a:tc>
                  <a:txBody>
                    <a:bodyPr/>
                    <a:lstStyle/>
                    <a:p>
                      <a:pPr algn="ctr"/>
                      <a:r>
                        <a:rPr lang="zh-CN" sz="2000" kern="100">
                          <a:effectLst/>
                        </a:rPr>
                        <a:t>螺线管匝数</a:t>
                      </a:r>
                      <a:endParaRPr lang="zh-CN" sz="20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en-US" sz="2000" kern="100">
                          <a:effectLst/>
                        </a:rPr>
                        <a:t>1860</a:t>
                      </a:r>
                      <a:r>
                        <a:rPr lang="zh-CN" sz="2000" kern="100">
                          <a:effectLst/>
                        </a:rPr>
                        <a:t>匝</a:t>
                      </a:r>
                      <a:endParaRPr lang="zh-CN" sz="2000" kern="100">
                        <a:effectLst/>
                        <a:latin typeface="Times New Roman" panose="02020603050405020304" pitchFamily="18" charset="0"/>
                        <a:ea typeface="宋体" panose="02010600030101010101" pitchFamily="2" charset="-122"/>
                      </a:endParaRPr>
                    </a:p>
                  </a:txBody>
                  <a:tcPr marL="68580" marR="68580" marT="0" marB="0"/>
                </a:tc>
              </a:tr>
              <a:tr h="278613">
                <a:tc>
                  <a:txBody>
                    <a:bodyPr/>
                    <a:lstStyle/>
                    <a:p>
                      <a:pPr algn="ctr"/>
                      <a:r>
                        <a:rPr lang="zh-CN" sz="2000" kern="100">
                          <a:effectLst/>
                        </a:rPr>
                        <a:t>感应线圈内径</a:t>
                      </a:r>
                      <a:endParaRPr lang="zh-CN" sz="20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en-US" sz="2000" kern="100">
                          <a:effectLst/>
                        </a:rPr>
                        <a:t>0.3cm</a:t>
                      </a:r>
                      <a:endParaRPr lang="zh-CN" sz="2000" kern="100">
                        <a:effectLst/>
                        <a:latin typeface="Times New Roman" panose="02020603050405020304" pitchFamily="18" charset="0"/>
                        <a:ea typeface="宋体" panose="02010600030101010101" pitchFamily="2" charset="-122"/>
                      </a:endParaRPr>
                    </a:p>
                  </a:txBody>
                  <a:tcPr marL="68580" marR="68580" marT="0" marB="0"/>
                </a:tc>
              </a:tr>
              <a:tr h="278613">
                <a:tc>
                  <a:txBody>
                    <a:bodyPr/>
                    <a:lstStyle/>
                    <a:p>
                      <a:pPr algn="ctr"/>
                      <a:r>
                        <a:rPr lang="zh-CN" sz="2000" kern="100">
                          <a:effectLst/>
                        </a:rPr>
                        <a:t>感应线圈外径</a:t>
                      </a:r>
                      <a:endParaRPr lang="zh-CN" sz="20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en-US" sz="2000" kern="100">
                          <a:effectLst/>
                        </a:rPr>
                        <a:t>0.5cm</a:t>
                      </a:r>
                      <a:endParaRPr lang="zh-CN" sz="2000" kern="100">
                        <a:effectLst/>
                        <a:latin typeface="Times New Roman" panose="02020603050405020304" pitchFamily="18" charset="0"/>
                        <a:ea typeface="宋体" panose="02010600030101010101" pitchFamily="2" charset="-122"/>
                      </a:endParaRPr>
                    </a:p>
                  </a:txBody>
                  <a:tcPr marL="68580" marR="68580" marT="0" marB="0"/>
                </a:tc>
              </a:tr>
              <a:tr h="278613">
                <a:tc>
                  <a:txBody>
                    <a:bodyPr/>
                    <a:lstStyle/>
                    <a:p>
                      <a:pPr algn="ctr"/>
                      <a:r>
                        <a:rPr lang="zh-CN" sz="2000" kern="100">
                          <a:effectLst/>
                        </a:rPr>
                        <a:t>感应线圈长度</a:t>
                      </a:r>
                      <a:endParaRPr lang="zh-CN" sz="20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en-US" sz="2000" kern="100">
                          <a:effectLst/>
                        </a:rPr>
                        <a:t>0.25cm</a:t>
                      </a:r>
                      <a:endParaRPr lang="zh-CN" sz="2000" kern="100">
                        <a:effectLst/>
                        <a:latin typeface="Times New Roman" panose="02020603050405020304" pitchFamily="18" charset="0"/>
                        <a:ea typeface="宋体" panose="02010600030101010101" pitchFamily="2" charset="-122"/>
                      </a:endParaRPr>
                    </a:p>
                  </a:txBody>
                  <a:tcPr marL="68580" marR="68580" marT="0" marB="0"/>
                </a:tc>
              </a:tr>
              <a:tr h="278613">
                <a:tc>
                  <a:txBody>
                    <a:bodyPr/>
                    <a:lstStyle/>
                    <a:p>
                      <a:pPr algn="ctr"/>
                      <a:r>
                        <a:rPr lang="zh-CN" sz="2000" kern="100">
                          <a:effectLst/>
                        </a:rPr>
                        <a:t>感应线圈匝数</a:t>
                      </a:r>
                      <a:endParaRPr lang="zh-CN" sz="20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r>
                        <a:rPr lang="en-US" sz="2000" kern="100" dirty="0">
                          <a:effectLst/>
                        </a:rPr>
                        <a:t>500</a:t>
                      </a:r>
                      <a:r>
                        <a:rPr lang="zh-CN" sz="2000" kern="100" dirty="0">
                          <a:effectLst/>
                        </a:rPr>
                        <a:t>匝</a:t>
                      </a:r>
                      <a:endParaRPr lang="zh-CN" sz="2000" kern="100" dirty="0">
                        <a:effectLst/>
                        <a:latin typeface="Times New Roman" panose="02020603050405020304" pitchFamily="18" charset="0"/>
                        <a:ea typeface="宋体" panose="02010600030101010101" pitchFamily="2" charset="-122"/>
                      </a:endParaRPr>
                    </a:p>
                  </a:txBody>
                  <a:tcPr marL="68580" marR="68580" marT="0" marB="0"/>
                </a:tc>
              </a:tr>
            </a:tbl>
          </a:graphicData>
        </a:graphic>
      </p:graphicFrame>
      <p:pic>
        <p:nvPicPr>
          <p:cNvPr id="6" name="图片 5"/>
          <p:cNvPicPr>
            <a:picLocks noChangeAspect="1"/>
          </p:cNvPicPr>
          <p:nvPr/>
        </p:nvPicPr>
        <p:blipFill rotWithShape="1">
          <a:blip r:embed="rId9" cstate="print">
            <a:extLst>
              <a:ext uri="{28A0092B-C50C-407E-A947-70E740481C1C}">
                <a14:useLocalDpi xmlns:a14="http://schemas.microsoft.com/office/drawing/2010/main" val="0"/>
              </a:ext>
            </a:extLst>
          </a:blip>
          <a:srcRect l="17248" t="14363" r="27422" b="3201"/>
          <a:stretch>
            <a:fillRect/>
          </a:stretch>
        </p:blipFill>
        <p:spPr>
          <a:xfrm rot="16200000">
            <a:off x="9518371" y="1635551"/>
            <a:ext cx="1294644" cy="257178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5" name="文本框 24"/>
          <p:cNvSpPr txBox="1"/>
          <p:nvPr/>
        </p:nvSpPr>
        <p:spPr>
          <a:xfrm>
            <a:off x="487680" y="105459"/>
            <a:ext cx="7575006" cy="646331"/>
          </a:xfrm>
          <a:prstGeom prst="rect">
            <a:avLst/>
          </a:prstGeom>
          <a:noFill/>
        </p:spPr>
        <p:txBody>
          <a:bodyPr wrap="square" rtlCol="0">
            <a:spAutoFit/>
          </a:bodyPr>
          <a:lstStyle/>
          <a:p>
            <a:r>
              <a:rPr lang="zh-CN" altLang="en-US" sz="3600" b="1" dirty="0"/>
              <a:t>五</a:t>
            </a:r>
            <a:r>
              <a:rPr lang="en-US" altLang="zh-CN" sz="3600" b="1" dirty="0"/>
              <a:t>.</a:t>
            </a:r>
            <a:r>
              <a:rPr lang="zh-CN" altLang="en-US" sz="3600" b="1" dirty="0"/>
              <a:t> 实验内容</a:t>
            </a:r>
            <a:endParaRPr lang="zh-CN" altLang="en-US" sz="3600" b="1" dirty="0"/>
          </a:p>
        </p:txBody>
      </p:sp>
      <p:sp>
        <p:nvSpPr>
          <p:cNvPr id="46" name="TextBox 36"/>
          <p:cNvSpPr txBox="1">
            <a:spLocks noChangeArrowheads="1"/>
          </p:cNvSpPr>
          <p:nvPr/>
        </p:nvSpPr>
        <p:spPr bwMode="auto">
          <a:xfrm>
            <a:off x="530120" y="880275"/>
            <a:ext cx="2223455" cy="461665"/>
          </a:xfrm>
          <a:prstGeom prst="rect">
            <a:avLst/>
          </a:prstGeom>
          <a:noFill/>
          <a:ln w="9525">
            <a:noFill/>
            <a:miter lim="800000"/>
          </a:ln>
        </p:spPr>
        <p:txBody>
          <a:bodyPr wrap="square">
            <a:spAutoFit/>
          </a:bodyPr>
          <a:lstStyle/>
          <a:p>
            <a:r>
              <a:rPr lang="en-US" altLang="zh-CN" sz="2400" b="1" dirty="0">
                <a:solidFill>
                  <a:srgbClr val="0033CC"/>
                </a:solidFill>
              </a:rPr>
              <a:t>2.</a:t>
            </a:r>
            <a:r>
              <a:rPr lang="zh-CN" altLang="en-US" sz="2400" b="1" dirty="0">
                <a:solidFill>
                  <a:srgbClr val="0033CC"/>
                </a:solidFill>
              </a:rPr>
              <a:t>仿真任务</a:t>
            </a:r>
            <a:endParaRPr lang="en-US" altLang="zh-CN" sz="2400" b="1" dirty="0"/>
          </a:p>
        </p:txBody>
      </p:sp>
      <p:graphicFrame>
        <p:nvGraphicFramePr>
          <p:cNvPr id="66" name="Object 1"/>
          <p:cNvGraphicFramePr>
            <a:graphicFrameLocks noChangeAspect="1"/>
          </p:cNvGraphicFramePr>
          <p:nvPr/>
        </p:nvGraphicFramePr>
        <p:xfrm>
          <a:off x="1033816" y="3587724"/>
          <a:ext cx="3854585" cy="1736034"/>
        </p:xfrm>
        <a:graphic>
          <a:graphicData uri="http://schemas.openxmlformats.org/presentationml/2006/ole">
            <mc:AlternateContent xmlns:mc="http://schemas.openxmlformats.org/markup-compatibility/2006">
              <mc:Choice xmlns:v="urn:schemas-microsoft-com:vml" Requires="v">
                <p:oleObj spid="_x0000_s14349" name="Visio" r:id="rId2" imgW="22850475" imgH="10258425" progId="Visio.Drawing.11">
                  <p:embed/>
                </p:oleObj>
              </mc:Choice>
              <mc:Fallback>
                <p:oleObj name="Visio" r:id="rId2" imgW="22850475" imgH="1025842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816" y="3587724"/>
                        <a:ext cx="3854585" cy="1736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文本框 66"/>
          <p:cNvSpPr txBox="1"/>
          <p:nvPr/>
        </p:nvSpPr>
        <p:spPr>
          <a:xfrm>
            <a:off x="508021" y="1578467"/>
            <a:ext cx="6097604" cy="1691810"/>
          </a:xfrm>
          <a:prstGeom prst="rect">
            <a:avLst/>
          </a:prstGeom>
          <a:noFill/>
        </p:spPr>
        <p:txBody>
          <a:bodyPr wrap="square">
            <a:spAutoFit/>
          </a:bodyPr>
          <a:lstStyle/>
          <a:p>
            <a:pPr>
              <a:lnSpc>
                <a:spcPct val="150000"/>
              </a:lnSpc>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ANSYS</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软件</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Eddy Current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（涡流场）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60045">
              <a:lnSpc>
                <a:spcPct val="150000"/>
              </a:lnSpc>
              <a:buFont typeface="Wingdings" panose="05000000000000000000" pitchFamily="2" charset="2"/>
              <a:buChar char="l"/>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频域</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60045">
              <a:lnSpc>
                <a:spcPct val="150000"/>
              </a:lnSpc>
              <a:buFont typeface="Wingdings" panose="05000000000000000000" pitchFamily="2" charset="2"/>
              <a:buChar char="l"/>
            </a:pPr>
            <a:r>
              <a:rPr lang="zh-CN" altLang="en-US" sz="2400" dirty="0"/>
              <a:t>场</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分布</a:t>
            </a:r>
            <a:r>
              <a:rPr lang="zh-CN" altLang="en-US" sz="2400" dirty="0"/>
              <a:t>（</a:t>
            </a:r>
            <a:r>
              <a:rPr lang="en-US" altLang="zh-CN" sz="2400" dirty="0"/>
              <a:t>B</a:t>
            </a:r>
            <a:r>
              <a:rPr lang="zh-CN" altLang="en-US" sz="2400" dirty="0"/>
              <a:t>，</a:t>
            </a:r>
            <a:r>
              <a:rPr lang="en-US" altLang="zh-CN" sz="2400" dirty="0"/>
              <a:t>H</a:t>
            </a:r>
            <a:r>
              <a:rPr lang="zh-CN" altLang="en-US" sz="2400" dirty="0"/>
              <a:t>，电感值，线上的</a:t>
            </a:r>
            <a:r>
              <a:rPr lang="en-US" altLang="zh-CN" sz="2400" dirty="0"/>
              <a:t>H</a:t>
            </a:r>
            <a:r>
              <a:rPr lang="zh-CN" altLang="en-US" sz="2400" dirty="0"/>
              <a:t>）</a:t>
            </a:r>
            <a:endParaRPr lang="zh-CN" altLang="en-US" sz="2400" dirty="0"/>
          </a:p>
        </p:txBody>
      </p:sp>
      <p:sp>
        <p:nvSpPr>
          <p:cNvPr id="68" name="文本框 67"/>
          <p:cNvSpPr txBox="1"/>
          <p:nvPr/>
        </p:nvSpPr>
        <p:spPr>
          <a:xfrm>
            <a:off x="6623309" y="1562649"/>
            <a:ext cx="6097604" cy="1684244"/>
          </a:xfrm>
          <a:prstGeom prst="rect">
            <a:avLst/>
          </a:prstGeom>
          <a:noFill/>
        </p:spPr>
        <p:txBody>
          <a:bodyPr wrap="square">
            <a:spAutoFit/>
          </a:bodyPr>
          <a:lstStyle/>
          <a:p>
            <a:pPr marL="360045">
              <a:lnSpc>
                <a:spcPct val="150000"/>
              </a:lnSpc>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ANSYS</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软件瞬态场（</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Trasient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）模块</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60045">
              <a:lnSpc>
                <a:spcPct val="150000"/>
              </a:lnSpc>
              <a:buFont typeface="Wingdings" panose="05000000000000000000" pitchFamily="2" charset="2"/>
              <a:buChar char="l"/>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时域</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60045">
              <a:lnSpc>
                <a:spcPct val="150000"/>
              </a:lnSpc>
              <a:buFont typeface="Wingdings" panose="05000000000000000000" pitchFamily="2" charset="2"/>
              <a:buChar char="l"/>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感应电压</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0052" y="3197231"/>
            <a:ext cx="4962107" cy="26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 name="文本框 69"/>
          <p:cNvSpPr txBox="1"/>
          <p:nvPr/>
        </p:nvSpPr>
        <p:spPr>
          <a:xfrm>
            <a:off x="8379393" y="5849079"/>
            <a:ext cx="2895600" cy="369332"/>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rPr>
              <a:t>图</a:t>
            </a:r>
            <a:r>
              <a:rPr lang="en-US" altLang="zh-CN" kern="100" dirty="0">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外部电路模型</a:t>
            </a:r>
            <a:endParaRPr lang="zh-CN" altLang="zh-CN" sz="1800" kern="100" dirty="0">
              <a:effectLst/>
              <a:latin typeface="Times New Roman" panose="02020603050405020304" pitchFamily="18"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p:cNvGrpSpPr/>
          <p:nvPr/>
        </p:nvGrpSpPr>
        <p:grpSpPr>
          <a:xfrm>
            <a:off x="6262928" y="266844"/>
            <a:ext cx="5233747"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04252" y="168275"/>
            <a:ext cx="520700" cy="520700"/>
          </a:xfrm>
          <a:prstGeom prst="rect">
            <a:avLst/>
          </a:prstGeom>
        </p:spPr>
      </p:pic>
      <p:sp>
        <p:nvSpPr>
          <p:cNvPr id="21" name="文本框 20"/>
          <p:cNvSpPr txBox="1"/>
          <p:nvPr/>
        </p:nvSpPr>
        <p:spPr>
          <a:xfrm>
            <a:off x="487680" y="105459"/>
            <a:ext cx="6255657" cy="646331"/>
          </a:xfrm>
          <a:prstGeom prst="rect">
            <a:avLst/>
          </a:prstGeom>
          <a:noFill/>
        </p:spPr>
        <p:txBody>
          <a:bodyPr wrap="square" rtlCol="0">
            <a:spAutoFit/>
          </a:bodyPr>
          <a:lstStyle/>
          <a:p>
            <a:r>
              <a:rPr lang="zh-CN" altLang="en-US" sz="3600" b="1" dirty="0"/>
              <a:t>六</a:t>
            </a:r>
            <a:r>
              <a:rPr lang="en-US" altLang="zh-CN" sz="3600" b="1" dirty="0"/>
              <a:t>.</a:t>
            </a:r>
            <a:r>
              <a:rPr lang="zh-CN" altLang="en-US" sz="3600" b="1" dirty="0"/>
              <a:t>实验及报告要求</a:t>
            </a:r>
            <a:endParaRPr lang="zh-CN" altLang="en-US" sz="3600" b="1" dirty="0"/>
          </a:p>
        </p:txBody>
      </p:sp>
      <p:sp>
        <p:nvSpPr>
          <p:cNvPr id="60" name="Rectangle 5"/>
          <p:cNvSpPr>
            <a:spLocks noChangeArrowheads="1"/>
          </p:cNvSpPr>
          <p:nvPr/>
        </p:nvSpPr>
        <p:spPr bwMode="auto">
          <a:xfrm>
            <a:off x="875197" y="1375647"/>
            <a:ext cx="11620165" cy="617477"/>
          </a:xfrm>
          <a:prstGeom prst="rect">
            <a:avLst/>
          </a:prstGeom>
          <a:noFill/>
          <a:ln w="9525" algn="ctr">
            <a:noFill/>
            <a:miter lim="800000"/>
          </a:ln>
        </p:spPr>
        <p:txBody>
          <a:bodyPr wrap="square">
            <a:spAutoFit/>
          </a:bodyPr>
          <a:lstStyle/>
          <a:p>
            <a:pPr>
              <a:lnSpc>
                <a:spcPct val="150000"/>
              </a:lnSpc>
              <a:buClr>
                <a:srgbClr val="0000CC"/>
              </a:buClr>
            </a:pPr>
            <a:r>
              <a:rPr lang="zh-CN" altLang="en-US" sz="2600" b="1" dirty="0">
                <a:solidFill>
                  <a:srgbClr val="0000CC"/>
                </a:solidFill>
                <a:latin typeface="微软雅黑" panose="020B0503020204020204" pitchFamily="34" charset="-122"/>
                <a:ea typeface="宋体" panose="02010600030101010101" pitchFamily="2" charset="-122"/>
              </a:rPr>
              <a:t>实验分组：</a:t>
            </a:r>
            <a:r>
              <a:rPr lang="en-US" altLang="zh-CN" sz="2600" b="1" dirty="0">
                <a:solidFill>
                  <a:srgbClr val="0000CC"/>
                </a:solidFill>
                <a:latin typeface="微软雅黑" panose="020B0503020204020204" pitchFamily="34" charset="-122"/>
                <a:ea typeface="宋体" panose="02010600030101010101" pitchFamily="2" charset="-122"/>
              </a:rPr>
              <a:t>1</a:t>
            </a:r>
            <a:r>
              <a:rPr lang="zh-CN" altLang="en-US" sz="2600" b="1" dirty="0">
                <a:solidFill>
                  <a:srgbClr val="0000CC"/>
                </a:solidFill>
                <a:latin typeface="微软雅黑" panose="020B0503020204020204" pitchFamily="34" charset="-122"/>
                <a:ea typeface="宋体" panose="02010600030101010101" pitchFamily="2" charset="-122"/>
              </a:rPr>
              <a:t>人一组</a:t>
            </a:r>
            <a:endParaRPr lang="en-US" altLang="zh-CN" sz="2600" b="1" dirty="0">
              <a:solidFill>
                <a:srgbClr val="0000CC"/>
              </a:solidFill>
              <a:latin typeface="微软雅黑" panose="020B0503020204020204" pitchFamily="34" charset="-122"/>
              <a:ea typeface="宋体" panose="02010600030101010101" pitchFamily="2" charset="-122"/>
            </a:endParaRPr>
          </a:p>
        </p:txBody>
      </p:sp>
      <p:sp>
        <p:nvSpPr>
          <p:cNvPr id="61" name="Rectangle 5"/>
          <p:cNvSpPr>
            <a:spLocks noChangeArrowheads="1"/>
          </p:cNvSpPr>
          <p:nvPr/>
        </p:nvSpPr>
        <p:spPr bwMode="auto">
          <a:xfrm>
            <a:off x="875197" y="2416939"/>
            <a:ext cx="11620165" cy="1817805"/>
          </a:xfrm>
          <a:prstGeom prst="rect">
            <a:avLst/>
          </a:prstGeom>
          <a:noFill/>
          <a:ln w="9525" algn="ctr">
            <a:noFill/>
            <a:miter lim="800000"/>
          </a:ln>
        </p:spPr>
        <p:txBody>
          <a:bodyPr wrap="square">
            <a:spAutoFit/>
          </a:bodyPr>
          <a:lstStyle/>
          <a:p>
            <a:pPr>
              <a:lnSpc>
                <a:spcPct val="150000"/>
              </a:lnSpc>
              <a:buClr>
                <a:srgbClr val="0000CC"/>
              </a:buClr>
            </a:pPr>
            <a:r>
              <a:rPr lang="zh-CN" altLang="en-US" sz="2600" b="1" dirty="0">
                <a:solidFill>
                  <a:srgbClr val="0000CC"/>
                </a:solidFill>
                <a:latin typeface="微软雅黑" panose="020B0503020204020204" pitchFamily="34" charset="-122"/>
                <a:ea typeface="宋体" panose="02010600030101010101" pitchFamily="2" charset="-122"/>
              </a:rPr>
              <a:t>实验报告要求：</a:t>
            </a:r>
            <a:endParaRPr lang="en-US" altLang="zh-CN" sz="2600" b="1" dirty="0">
              <a:solidFill>
                <a:srgbClr val="0000CC"/>
              </a:solidFill>
              <a:latin typeface="微软雅黑" panose="020B0503020204020204" pitchFamily="34" charset="-122"/>
              <a:ea typeface="宋体" panose="02010600030101010101" pitchFamily="2" charset="-122"/>
            </a:endParaRPr>
          </a:p>
          <a:p>
            <a:pPr marL="514350" indent="-514350">
              <a:lnSpc>
                <a:spcPct val="150000"/>
              </a:lnSpc>
              <a:buClr>
                <a:srgbClr val="0000CC"/>
              </a:buClr>
              <a:buAutoNum type="arabicPeriod"/>
            </a:pPr>
            <a:r>
              <a:rPr lang="zh-CN" altLang="en-US" sz="2600" b="1" dirty="0">
                <a:solidFill>
                  <a:srgbClr val="0000CC"/>
                </a:solidFill>
                <a:latin typeface="微软雅黑" panose="020B0503020204020204" pitchFamily="34" charset="-122"/>
                <a:ea typeface="宋体" panose="02010600030101010101" pitchFamily="2" charset="-122"/>
              </a:rPr>
              <a:t>实验报告上所有任务填写完整。</a:t>
            </a:r>
            <a:endParaRPr lang="en-US" altLang="zh-CN" sz="2600" b="1" dirty="0">
              <a:solidFill>
                <a:srgbClr val="0000CC"/>
              </a:solidFill>
              <a:latin typeface="微软雅黑" panose="020B0503020204020204" pitchFamily="34" charset="-122"/>
              <a:ea typeface="宋体" panose="02010600030101010101" pitchFamily="2" charset="-122"/>
            </a:endParaRPr>
          </a:p>
          <a:p>
            <a:pPr marL="514350" indent="-514350">
              <a:lnSpc>
                <a:spcPct val="150000"/>
              </a:lnSpc>
              <a:buClr>
                <a:srgbClr val="0000CC"/>
              </a:buClr>
              <a:buAutoNum type="arabicPeriod"/>
            </a:pPr>
            <a:r>
              <a:rPr lang="zh-CN" altLang="en-US" sz="2600" b="1" dirty="0">
                <a:solidFill>
                  <a:srgbClr val="0000CC"/>
                </a:solidFill>
                <a:latin typeface="微软雅黑" panose="020B0503020204020204" pitchFamily="34" charset="-122"/>
                <a:ea typeface="宋体" panose="02010600030101010101" pitchFamily="2" charset="-122"/>
              </a:rPr>
              <a:t>实验结束</a:t>
            </a:r>
            <a:r>
              <a:rPr lang="en-US" altLang="zh-CN" sz="2600" b="1" dirty="0">
                <a:solidFill>
                  <a:srgbClr val="0000CC"/>
                </a:solidFill>
                <a:latin typeface="微软雅黑" panose="020B0503020204020204" pitchFamily="34" charset="-122"/>
                <a:ea typeface="宋体" panose="02010600030101010101" pitchFamily="2" charset="-122"/>
              </a:rPr>
              <a:t>1</a:t>
            </a:r>
            <a:r>
              <a:rPr lang="zh-CN" altLang="en-US" sz="2600" b="1" dirty="0">
                <a:solidFill>
                  <a:srgbClr val="0000CC"/>
                </a:solidFill>
                <a:latin typeface="微软雅黑" panose="020B0503020204020204" pitchFamily="34" charset="-122"/>
                <a:ea typeface="宋体" panose="02010600030101010101" pitchFamily="2" charset="-122"/>
              </a:rPr>
              <a:t>周内将报告提交思源学堂。</a:t>
            </a:r>
            <a:endParaRPr lang="zh-CN" altLang="en-US" sz="2600" b="1" dirty="0">
              <a:solidFill>
                <a:srgbClr val="0000CC"/>
              </a:solidFill>
              <a:latin typeface="微软雅黑" panose="020B0503020204020204" pitchFamily="34" charset="-122"/>
              <a:ea typeface="宋体" panose="02010600030101010101" pitchFamily="2" charset="-122"/>
            </a:endParaRPr>
          </a:p>
        </p:txBody>
      </p:sp>
      <p:sp>
        <p:nvSpPr>
          <p:cNvPr id="20" name="文本框 1"/>
          <p:cNvSpPr txBox="1"/>
          <p:nvPr/>
        </p:nvSpPr>
        <p:spPr>
          <a:xfrm>
            <a:off x="11291972" y="6320393"/>
            <a:ext cx="832980"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24/26</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形状 2"/>
          <p:cNvSpPr/>
          <p:nvPr/>
        </p:nvSpPr>
        <p:spPr>
          <a:xfrm>
            <a:off x="-1422399" y="3780766"/>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3"/>
          <p:cNvSpPr/>
          <p:nvPr/>
        </p:nvSpPr>
        <p:spPr>
          <a:xfrm>
            <a:off x="-3047999" y="3809795"/>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0761323" y="1202532"/>
            <a:ext cx="389278" cy="38927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2826799" y="2753052"/>
            <a:ext cx="6538402" cy="1015663"/>
          </a:xfrm>
          <a:prstGeom prst="rect">
            <a:avLst/>
          </a:prstGeom>
          <a:noFill/>
        </p:spPr>
        <p:txBody>
          <a:bodyPr wrap="square">
            <a:spAutoFit/>
          </a:bodyPr>
          <a:lstStyle/>
          <a:p>
            <a:pPr algn="ctr"/>
            <a:r>
              <a:rPr lang="zh-CN" altLang="en-US" sz="6000" b="1" dirty="0">
                <a:solidFill>
                  <a:schemeClr val="tx1">
                    <a:lumMod val="65000"/>
                    <a:lumOff val="35000"/>
                  </a:schemeClr>
                </a:solidFill>
                <a:latin typeface="思源黑体 CN Medium" panose="020B0600000000000000" pitchFamily="34" charset="-122"/>
                <a:ea typeface="思源黑体 CN Medium" panose="020B0600000000000000" pitchFamily="34" charset="-122"/>
              </a:rPr>
              <a:t>谢谢您的聆听</a:t>
            </a:r>
            <a:endParaRPr lang="zh-CN" altLang="en-US" sz="60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椭圆 31"/>
          <p:cNvSpPr/>
          <p:nvPr/>
        </p:nvSpPr>
        <p:spPr>
          <a:xfrm>
            <a:off x="2694741" y="3233939"/>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501709" y="3286582"/>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9311862" y="3222590"/>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9595972" y="3275233"/>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871877" y="2044360"/>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3344523" y="817902"/>
            <a:ext cx="356620" cy="3566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646350" y="5476986"/>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0333151" y="3059454"/>
            <a:ext cx="452100" cy="452100"/>
          </a:xfrm>
          <a:prstGeom prst="ellipse">
            <a:avLst/>
          </a:prstGeom>
          <a:solidFill>
            <a:schemeClr val="bg1"/>
          </a:solid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2190637" y="155813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8787379" y="1478302"/>
            <a:ext cx="153420" cy="1534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7"/>
          <p:cNvSpPr/>
          <p:nvPr/>
        </p:nvSpPr>
        <p:spPr>
          <a:xfrm rot="2001767">
            <a:off x="10705817" y="1962311"/>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3" name="任意多边形: 形状 49"/>
          <p:cNvSpPr/>
          <p:nvPr/>
        </p:nvSpPr>
        <p:spPr>
          <a:xfrm rot="2001767">
            <a:off x="8342563" y="399356"/>
            <a:ext cx="471236" cy="474114"/>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23866" y="1653394"/>
            <a:ext cx="3144268" cy="842042"/>
          </a:xfrm>
          <a:prstGeom prst="rect">
            <a:avLst/>
          </a:prstGeom>
        </p:spPr>
      </p:pic>
      <p:sp>
        <p:nvSpPr>
          <p:cNvPr id="45" name="矩形 44"/>
          <p:cNvSpPr/>
          <p:nvPr/>
        </p:nvSpPr>
        <p:spPr>
          <a:xfrm flipH="1">
            <a:off x="6362463" y="5188145"/>
            <a:ext cx="5242162" cy="400110"/>
          </a:xfrm>
          <a:prstGeom prst="rect">
            <a:avLst/>
          </a:prstGeom>
        </p:spPr>
        <p:txBody>
          <a:bodyPr wrap="square">
            <a:spAutoFit/>
          </a:bodyPr>
          <a:lstStyle/>
          <a:p>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电工电子教学实验中心</a:t>
            </a:r>
            <a:endPar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46" name="椭圆 45"/>
          <p:cNvSpPr/>
          <p:nvPr/>
        </p:nvSpPr>
        <p:spPr>
          <a:xfrm>
            <a:off x="10785251" y="4148461"/>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ppt_x"/>
                                          </p:val>
                                        </p:tav>
                                        <p:tav tm="100000">
                                          <p:val>
                                            <p:strVal val="#ppt_x"/>
                                          </p:val>
                                        </p:tav>
                                      </p:tavLst>
                                    </p:anim>
                                    <p:anim calcmode="lin" valueType="num">
                                      <p:cBhvr additive="base">
                                        <p:cTn id="13"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1000"/>
                                        <p:tgtEl>
                                          <p:spTgt spid="31"/>
                                        </p:tgtEl>
                                      </p:cBhvr>
                                    </p:animEffect>
                                    <p:anim calcmode="lin" valueType="num">
                                      <p:cBhvr>
                                        <p:cTn id="19" dur="1000" fill="hold"/>
                                        <p:tgtEl>
                                          <p:spTgt spid="31"/>
                                        </p:tgtEl>
                                        <p:attrNameLst>
                                          <p:attrName>ppt_x</p:attrName>
                                        </p:attrNameLst>
                                      </p:cBhvr>
                                      <p:tavLst>
                                        <p:tav tm="0">
                                          <p:val>
                                            <p:strVal val="#ppt_x"/>
                                          </p:val>
                                        </p:tav>
                                        <p:tav tm="100000">
                                          <p:val>
                                            <p:strVal val="#ppt_x"/>
                                          </p:val>
                                        </p:tav>
                                      </p:tavLst>
                                    </p:anim>
                                    <p:anim calcmode="lin" valueType="num">
                                      <p:cBhvr>
                                        <p:cTn id="2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9"/>
          <p:cNvSpPr txBox="1"/>
          <p:nvPr/>
        </p:nvSpPr>
        <p:spPr>
          <a:xfrm>
            <a:off x="696616" y="2727146"/>
            <a:ext cx="1079876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0467F"/>
                </a:solidFill>
                <a:effectLst/>
                <a:uLnTx/>
                <a:uFillTx/>
                <a:latin typeface="微软雅黑" panose="020B0503020204020204" pitchFamily="34" charset="-122"/>
                <a:ea typeface="微软雅黑" panose="020B0503020204020204" pitchFamily="34" charset="-122"/>
                <a:cs typeface="+mn-cs"/>
              </a:rPr>
              <a:t>ANSYS Maxwell</a:t>
            </a:r>
            <a:r>
              <a:rPr kumimoji="0" lang="zh-CN" altLang="en-US" sz="3600"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涡流场</a:t>
            </a:r>
            <a:r>
              <a:rPr kumimoji="0" lang="zh-CN" altLang="en-US" sz="3600" b="1" i="0" u="none" strike="noStrike" kern="1200" cap="none" spc="0" normalizeH="0" baseline="0" noProof="0" dirty="0">
                <a:ln>
                  <a:noFill/>
                </a:ln>
                <a:solidFill>
                  <a:srgbClr val="00467F"/>
                </a:solidFill>
                <a:effectLst/>
                <a:uLnTx/>
                <a:uFillTx/>
                <a:latin typeface="微软雅黑" panose="020B0503020204020204" pitchFamily="34" charset="-122"/>
                <a:ea typeface="微软雅黑" panose="020B0503020204020204" pitchFamily="34" charset="-122"/>
                <a:cs typeface="+mn-cs"/>
              </a:rPr>
              <a:t>仿真空心螺线管线圈的步骤</a:t>
            </a:r>
            <a:endParaRPr kumimoji="0" lang="zh-CN" altLang="en-US" sz="3600" b="1" i="0" u="none" strike="noStrike" kern="1200" cap="none" spc="0" normalizeH="0" baseline="0" noProof="0" dirty="0">
              <a:ln>
                <a:noFill/>
              </a:ln>
              <a:solidFill>
                <a:srgbClr val="00467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81378" y="1017060"/>
            <a:ext cx="10758312" cy="5115560"/>
          </a:xfrm>
          <a:prstGeom prst="rect">
            <a:avLst/>
          </a:prstGeom>
        </p:spPr>
        <p:txBody>
          <a:bodyPr wrap="square">
            <a:spAutoFit/>
          </a:bodyPr>
          <a:lstStyle/>
          <a:p>
            <a:pPr marL="0" lvl="1" indent="0" algn="just">
              <a:lnSpc>
                <a:spcPct val="135000"/>
              </a:lnSpc>
              <a:spcAft>
                <a:spcPts val="600"/>
              </a:spcAft>
              <a:buFont typeface="+mj-lt"/>
              <a:buNone/>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sym typeface="+mn-ea"/>
              </a:rPr>
              <a:t>1.</a:t>
            </a:r>
            <a:r>
              <a:rPr lang="zh-CN" altLang="en-US" sz="2400" b="1" kern="100" dirty="0">
                <a:solidFill>
                  <a:srgbClr val="0000FF"/>
                </a:solidFill>
                <a:latin typeface="+mn-ea"/>
                <a:cs typeface="Times New Roman" panose="02020603050405020304" pitchFamily="18" charset="0"/>
              </a:rPr>
              <a:t>打开软件。</a:t>
            </a:r>
            <a:endParaRPr lang="en-US" altLang="zh-CN" sz="2400" b="1" kern="100" dirty="0">
              <a:solidFill>
                <a:srgbClr val="0000FF"/>
              </a:solidFill>
              <a:latin typeface="+mn-ea"/>
              <a:cs typeface="Times New Roman" panose="02020603050405020304" pitchFamily="18" charset="0"/>
            </a:endParaRPr>
          </a:p>
          <a:p>
            <a:pPr marL="360045" lvl="1" algn="just">
              <a:lnSpc>
                <a:spcPct val="135000"/>
              </a:lnSpc>
              <a:spcAft>
                <a:spcPts val="600"/>
              </a:spcAft>
              <a:tabLst>
                <a:tab pos="228600" algn="l"/>
              </a:tabLst>
            </a:pPr>
            <a:r>
              <a:rPr lang="zh-CN" altLang="zh-CN" sz="2000" b="1" kern="100" dirty="0">
                <a:latin typeface="+mn-ea"/>
                <a:cs typeface="Times New Roman" panose="02020603050405020304" pitchFamily="18" charset="0"/>
              </a:rPr>
              <a:t>双击桌面</a:t>
            </a:r>
            <a:r>
              <a:rPr lang="en-US" altLang="zh-CN" sz="2000" b="1" kern="100" dirty="0">
                <a:latin typeface="+mn-ea"/>
                <a:cs typeface="Times New Roman" panose="02020603050405020304" pitchFamily="18" charset="0"/>
              </a:rPr>
              <a:t>ANSYS Electronics Desktop</a:t>
            </a:r>
            <a:r>
              <a:rPr lang="zh-CN" altLang="zh-CN" sz="2000" b="1" kern="100" dirty="0">
                <a:latin typeface="+mn-ea"/>
                <a:cs typeface="Times New Roman" panose="02020603050405020304" pitchFamily="18" charset="0"/>
              </a:rPr>
              <a:t>图标</a:t>
            </a:r>
            <a:r>
              <a:rPr lang="zh-CN" altLang="en-US" sz="2000" b="1" kern="100" dirty="0">
                <a:latin typeface="+mn-ea"/>
                <a:cs typeface="Times New Roman" panose="02020603050405020304" pitchFamily="18" charset="0"/>
              </a:rPr>
              <a:t>。</a:t>
            </a:r>
            <a:endParaRPr lang="en-US" altLang="zh-CN" sz="2000" b="1" kern="100" dirty="0">
              <a:latin typeface="+mn-ea"/>
              <a:cs typeface="Times New Roman" panose="02020603050405020304" pitchFamily="18" charset="0"/>
            </a:endParaRPr>
          </a:p>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mn-ea"/>
                <a:cs typeface="Times New Roman" panose="02020603050405020304" pitchFamily="18" charset="0"/>
              </a:rPr>
              <a:t>2.</a:t>
            </a:r>
            <a:r>
              <a:rPr lang="zh-CN" altLang="zh-CN" sz="2400" b="1" kern="100" dirty="0">
                <a:solidFill>
                  <a:srgbClr val="0000FF"/>
                </a:solidFill>
                <a:latin typeface="+mn-ea"/>
                <a:cs typeface="Times New Roman" panose="02020603050405020304" pitchFamily="18" charset="0"/>
              </a:rPr>
              <a:t>嵌入新</a:t>
            </a:r>
            <a:r>
              <a:rPr lang="en-US" altLang="zh-CN" sz="2400" b="1" kern="100" dirty="0">
                <a:solidFill>
                  <a:srgbClr val="0000FF"/>
                </a:solidFill>
                <a:latin typeface="+mn-ea"/>
                <a:cs typeface="Times New Roman" panose="02020603050405020304" pitchFamily="18" charset="0"/>
              </a:rPr>
              <a:t>Maxwell2D</a:t>
            </a:r>
            <a:r>
              <a:rPr lang="zh-CN" altLang="zh-CN" sz="2400" b="1" kern="100" dirty="0">
                <a:solidFill>
                  <a:srgbClr val="0000FF"/>
                </a:solidFill>
                <a:latin typeface="+mn-ea"/>
                <a:cs typeface="Times New Roman" panose="02020603050405020304" pitchFamily="18" charset="0"/>
              </a:rPr>
              <a:t>设计文件</a:t>
            </a:r>
            <a:r>
              <a:rPr lang="zh-CN" altLang="en-US" sz="2400" b="1" kern="100" dirty="0">
                <a:solidFill>
                  <a:srgbClr val="0000FF"/>
                </a:solidFill>
                <a:latin typeface="+mn-ea"/>
                <a:cs typeface="Times New Roman" panose="02020603050405020304" pitchFamily="18" charset="0"/>
              </a:rPr>
              <a:t>，并保存在桌面。</a:t>
            </a:r>
            <a:endParaRPr lang="en-US" altLang="zh-CN" sz="2400" b="1" kern="100" dirty="0">
              <a:solidFill>
                <a:srgbClr val="0000FF"/>
              </a:solidFill>
              <a:latin typeface="+mn-ea"/>
              <a:cs typeface="Times New Roman" panose="02020603050405020304" pitchFamily="18" charset="0"/>
            </a:endParaRPr>
          </a:p>
          <a:p>
            <a:pPr marL="360045" lvl="1" algn="just">
              <a:lnSpc>
                <a:spcPct val="135000"/>
              </a:lnSpc>
              <a:spcAft>
                <a:spcPts val="600"/>
              </a:spcAft>
              <a:tabLst>
                <a:tab pos="228600" algn="l"/>
              </a:tabLst>
            </a:pPr>
            <a:r>
              <a:rPr lang="zh-CN" altLang="zh-CN" sz="2000" b="1" kern="100" dirty="0">
                <a:latin typeface="+mn-ea"/>
                <a:cs typeface="Times New Roman" panose="02020603050405020304" pitchFamily="18" charset="0"/>
              </a:rPr>
              <a:t>菜单栏选择【</a:t>
            </a:r>
            <a:r>
              <a:rPr lang="en-US" altLang="zh-CN" sz="2000" b="1" kern="100" dirty="0">
                <a:latin typeface="+mn-ea"/>
                <a:cs typeface="Times New Roman" panose="02020603050405020304" pitchFamily="18" charset="0"/>
              </a:rPr>
              <a:t>Project</a:t>
            </a:r>
            <a:r>
              <a:rPr lang="zh-CN" altLang="zh-CN" sz="2000" b="1" kern="100" dirty="0">
                <a:latin typeface="+mn-ea"/>
                <a:cs typeface="Times New Roman" panose="02020603050405020304" pitchFamily="18" charset="0"/>
              </a:rPr>
              <a:t>】</a:t>
            </a:r>
            <a:r>
              <a:rPr lang="en-US" altLang="zh-CN" sz="2000" b="1" kern="100" dirty="0">
                <a:latin typeface="+mn-ea"/>
                <a:cs typeface="Times New Roman" panose="02020603050405020304" pitchFamily="18" charset="0"/>
              </a:rPr>
              <a:t>|</a:t>
            </a:r>
            <a:r>
              <a:rPr lang="zh-CN" altLang="zh-CN" sz="2000" b="1" kern="100" dirty="0">
                <a:latin typeface="+mn-ea"/>
                <a:cs typeface="Times New Roman" panose="02020603050405020304" pitchFamily="18" charset="0"/>
              </a:rPr>
              <a:t>【</a:t>
            </a:r>
            <a:r>
              <a:rPr lang="en-US" altLang="zh-CN" sz="2000" b="1" kern="100" dirty="0">
                <a:latin typeface="+mn-ea"/>
                <a:cs typeface="Times New Roman" panose="02020603050405020304" pitchFamily="18" charset="0"/>
              </a:rPr>
              <a:t>Insert Maxwell 2D Design</a:t>
            </a:r>
            <a:r>
              <a:rPr lang="zh-CN" altLang="zh-CN" sz="2000" b="1" kern="100" dirty="0">
                <a:latin typeface="+mn-ea"/>
                <a:cs typeface="Times New Roman" panose="02020603050405020304" pitchFamily="18" charset="0"/>
              </a:rPr>
              <a:t>】，菜单栏选择【</a:t>
            </a:r>
            <a:r>
              <a:rPr lang="en-US" altLang="zh-CN" sz="2000" b="1" kern="100" dirty="0">
                <a:latin typeface="+mn-ea"/>
                <a:cs typeface="Times New Roman" panose="02020603050405020304" pitchFamily="18" charset="0"/>
              </a:rPr>
              <a:t>File</a:t>
            </a:r>
            <a:r>
              <a:rPr lang="zh-CN" altLang="zh-CN" sz="2000" b="1" kern="100" dirty="0">
                <a:latin typeface="+mn-ea"/>
                <a:cs typeface="Times New Roman" panose="02020603050405020304" pitchFamily="18" charset="0"/>
              </a:rPr>
              <a:t>】</a:t>
            </a:r>
            <a:r>
              <a:rPr lang="en-US" altLang="zh-CN" sz="2000" b="1" kern="100" dirty="0">
                <a:latin typeface="+mn-ea"/>
                <a:cs typeface="Times New Roman" panose="02020603050405020304" pitchFamily="18" charset="0"/>
              </a:rPr>
              <a:t>|</a:t>
            </a:r>
            <a:r>
              <a:rPr lang="zh-CN" altLang="zh-CN" sz="2000" b="1" kern="100" dirty="0">
                <a:latin typeface="+mn-ea"/>
                <a:cs typeface="Times New Roman" panose="02020603050405020304" pitchFamily="18" charset="0"/>
              </a:rPr>
              <a:t>【</a:t>
            </a:r>
            <a:r>
              <a:rPr lang="en-US" altLang="zh-CN" sz="2000" b="1" kern="100" dirty="0">
                <a:latin typeface="+mn-ea"/>
                <a:cs typeface="Times New Roman" panose="02020603050405020304" pitchFamily="18" charset="0"/>
              </a:rPr>
              <a:t>Save</a:t>
            </a:r>
            <a:r>
              <a:rPr lang="zh-CN" altLang="zh-CN" sz="2000" b="1" kern="100" dirty="0">
                <a:latin typeface="+mn-ea"/>
                <a:cs typeface="Times New Roman" panose="02020603050405020304" pitchFamily="18" charset="0"/>
              </a:rPr>
              <a:t>】，弹出另存为对话框，</a:t>
            </a:r>
            <a:r>
              <a:rPr lang="zh-CN" altLang="en-US" sz="2000" b="1" kern="100" dirty="0">
                <a:latin typeface="+mn-ea"/>
                <a:cs typeface="Times New Roman" panose="02020603050405020304" pitchFamily="18" charset="0"/>
              </a:rPr>
              <a:t>自定义工程名或选择默认</a:t>
            </a:r>
            <a:r>
              <a:rPr lang="en-US" altLang="zh-CN" sz="2000" b="1" kern="100" dirty="0">
                <a:latin typeface="+mn-ea"/>
                <a:cs typeface="Times New Roman" panose="02020603050405020304" pitchFamily="18" charset="0"/>
              </a:rPr>
              <a:t>project1</a:t>
            </a:r>
            <a:r>
              <a:rPr lang="zh-CN" altLang="en-US" sz="2000" b="1" kern="100" dirty="0">
                <a:latin typeface="+mn-ea"/>
                <a:cs typeface="Times New Roman" panose="02020603050405020304" pitchFamily="18" charset="0"/>
              </a:rPr>
              <a:t>，保存在桌面即可。</a:t>
            </a:r>
            <a:endParaRPr lang="zh-CN" altLang="zh-CN" sz="2000" b="1" kern="100" dirty="0">
              <a:latin typeface="+mn-ea"/>
              <a:cs typeface="Times New Roman" panose="02020603050405020304" pitchFamily="18" charset="0"/>
            </a:endParaRPr>
          </a:p>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mn-ea"/>
                <a:cs typeface="Times New Roman" panose="02020603050405020304" pitchFamily="18" charset="0"/>
              </a:rPr>
              <a:t>3.</a:t>
            </a:r>
            <a:r>
              <a:rPr lang="zh-CN" altLang="en-US" sz="2400" b="1" kern="100" dirty="0">
                <a:solidFill>
                  <a:srgbClr val="0000FF"/>
                </a:solidFill>
                <a:latin typeface="+mn-ea"/>
                <a:cs typeface="Times New Roman" panose="02020603050405020304" pitchFamily="18" charset="0"/>
              </a:rPr>
              <a:t>指定求解类型。</a:t>
            </a:r>
            <a:endParaRPr lang="en-US" altLang="zh-CN" sz="2400" b="1" kern="100" dirty="0">
              <a:solidFill>
                <a:srgbClr val="0000FF"/>
              </a:solidFill>
              <a:latin typeface="+mn-ea"/>
              <a:cs typeface="Times New Roman" panose="02020603050405020304" pitchFamily="18" charset="0"/>
            </a:endParaRPr>
          </a:p>
          <a:p>
            <a:pPr marL="360045" lvl="1" algn="just">
              <a:lnSpc>
                <a:spcPct val="135000"/>
              </a:lnSpc>
              <a:spcAft>
                <a:spcPts val="600"/>
              </a:spcAft>
              <a:tabLst>
                <a:tab pos="228600" algn="l"/>
              </a:tabLst>
            </a:pPr>
            <a:r>
              <a:rPr lang="en-US" altLang="zh-CN" sz="2000" b="1" dirty="0" err="1">
                <a:latin typeface="+mn-ea"/>
              </a:rPr>
              <a:t>菜单栏选择【Maxwell</a:t>
            </a:r>
            <a:r>
              <a:rPr lang="en-US" altLang="zh-CN" sz="2000" b="1" dirty="0">
                <a:latin typeface="+mn-ea"/>
              </a:rPr>
              <a:t> 2D】|【Solution Type】，</a:t>
            </a:r>
            <a:r>
              <a:rPr lang="zh-CN" altLang="en-US" sz="2000" b="1" kern="100" dirty="0">
                <a:latin typeface="+mn-ea"/>
                <a:cs typeface="Times New Roman" panose="02020603050405020304" pitchFamily="18" charset="0"/>
              </a:rPr>
              <a:t>选择圆柱坐标系</a:t>
            </a:r>
            <a:r>
              <a:rPr lang="en-US" altLang="zh-CN" sz="2000" b="1" kern="100" dirty="0">
                <a:latin typeface="+mn-ea"/>
                <a:cs typeface="Times New Roman" panose="02020603050405020304" pitchFamily="18" charset="0"/>
              </a:rPr>
              <a:t>Cylindrical about Z</a:t>
            </a:r>
            <a:r>
              <a:rPr lang="zh-CN" altLang="en-US" sz="2000" b="1" kern="100" dirty="0">
                <a:latin typeface="+mn-ea"/>
                <a:cs typeface="Times New Roman" panose="02020603050405020304" pitchFamily="18" charset="0"/>
              </a:rPr>
              <a:t>，涡流场</a:t>
            </a:r>
            <a:r>
              <a:rPr lang="en-US" altLang="zh-CN" sz="2000" b="1" kern="100" dirty="0">
                <a:latin typeface="+mn-ea"/>
                <a:cs typeface="Times New Roman" panose="02020603050405020304" pitchFamily="18" charset="0"/>
              </a:rPr>
              <a:t>Eddy Current</a:t>
            </a:r>
            <a:r>
              <a:rPr lang="zh-CN" altLang="zh-CN" sz="2000" b="1" kern="100" dirty="0">
                <a:latin typeface="+mn-ea"/>
                <a:cs typeface="Times New Roman" panose="02020603050405020304" pitchFamily="18" charset="0"/>
              </a:rPr>
              <a:t>求解器</a:t>
            </a:r>
            <a:r>
              <a:rPr lang="zh-CN" altLang="en-US" sz="2000" b="1" kern="100" dirty="0">
                <a:latin typeface="+mn-ea"/>
                <a:cs typeface="Times New Roman" panose="02020603050405020304" pitchFamily="18" charset="0"/>
              </a:rPr>
              <a:t>。</a:t>
            </a:r>
            <a:endParaRPr lang="en-US" altLang="zh-CN" sz="2000" b="1" kern="100" dirty="0">
              <a:latin typeface="+mn-ea"/>
              <a:cs typeface="Times New Roman" panose="02020603050405020304" pitchFamily="18" charset="0"/>
            </a:endParaRPr>
          </a:p>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mn-ea"/>
                <a:cs typeface="Times New Roman" panose="02020603050405020304" pitchFamily="18" charset="0"/>
              </a:rPr>
              <a:t>4.</a:t>
            </a:r>
            <a:r>
              <a:rPr lang="zh-CN" altLang="en-US" sz="2400" b="1" kern="100" dirty="0">
                <a:solidFill>
                  <a:srgbClr val="0000FF"/>
                </a:solidFill>
                <a:latin typeface="+mn-ea"/>
                <a:cs typeface="Times New Roman" panose="02020603050405020304" pitchFamily="18" charset="0"/>
              </a:rPr>
              <a:t>设置绘图单位。</a:t>
            </a:r>
            <a:endParaRPr lang="en-US" altLang="zh-CN" sz="2400" b="1" kern="100" dirty="0">
              <a:solidFill>
                <a:srgbClr val="0000FF"/>
              </a:solidFill>
              <a:latin typeface="+mn-ea"/>
              <a:cs typeface="Times New Roman" panose="02020603050405020304" pitchFamily="18" charset="0"/>
            </a:endParaRPr>
          </a:p>
          <a:p>
            <a:pPr marL="360045" lvl="1" algn="just">
              <a:lnSpc>
                <a:spcPct val="135000"/>
              </a:lnSpc>
              <a:spcAft>
                <a:spcPts val="600"/>
              </a:spcAft>
              <a:tabLst>
                <a:tab pos="228600" algn="l"/>
              </a:tabLst>
            </a:pPr>
            <a:r>
              <a:rPr lang="zh-CN" altLang="zh-CN" sz="2000" b="1" dirty="0">
                <a:latin typeface="+mn-ea"/>
              </a:rPr>
              <a:t>菜单栏选择【</a:t>
            </a:r>
            <a:r>
              <a:rPr lang="en-US" altLang="zh-CN" sz="2000" b="1" dirty="0">
                <a:latin typeface="+mn-ea"/>
              </a:rPr>
              <a:t>Modeler</a:t>
            </a:r>
            <a:r>
              <a:rPr lang="zh-CN" altLang="zh-CN" sz="2000" b="1" dirty="0">
                <a:latin typeface="+mn-ea"/>
              </a:rPr>
              <a:t>】</a:t>
            </a:r>
            <a:r>
              <a:rPr lang="en-US" altLang="zh-CN" sz="2000" b="1" dirty="0">
                <a:latin typeface="+mn-ea"/>
              </a:rPr>
              <a:t>|</a:t>
            </a:r>
            <a:r>
              <a:rPr lang="zh-CN" altLang="zh-CN" sz="2000" b="1" dirty="0">
                <a:latin typeface="+mn-ea"/>
              </a:rPr>
              <a:t>【</a:t>
            </a:r>
            <a:r>
              <a:rPr lang="en-US" altLang="zh-CN" sz="2000" b="1" dirty="0">
                <a:latin typeface="+mn-ea"/>
              </a:rPr>
              <a:t>Units</a:t>
            </a:r>
            <a:r>
              <a:rPr lang="zh-CN" altLang="zh-CN" sz="2000" b="1" dirty="0">
                <a:latin typeface="+mn-ea"/>
              </a:rPr>
              <a:t>】 </a:t>
            </a:r>
            <a:r>
              <a:rPr lang="zh-CN" altLang="en-US" sz="2000" b="1" dirty="0">
                <a:latin typeface="+mn-ea"/>
              </a:rPr>
              <a:t>，选择单位为“</a:t>
            </a:r>
            <a:r>
              <a:rPr lang="en-US" altLang="zh-CN" sz="2000" b="1" dirty="0">
                <a:solidFill>
                  <a:srgbClr val="FF0000"/>
                </a:solidFill>
                <a:latin typeface="+mn-ea"/>
              </a:rPr>
              <a:t>cm</a:t>
            </a:r>
            <a:r>
              <a:rPr lang="zh-CN" altLang="en-US" sz="2000" b="1" dirty="0">
                <a:latin typeface="+mn-ea"/>
              </a:rPr>
              <a:t>”</a:t>
            </a:r>
            <a:r>
              <a:rPr lang="zh-CN" altLang="zh-CN" sz="2000" b="1" kern="100" dirty="0">
                <a:latin typeface="+mn-ea"/>
                <a:cs typeface="Times New Roman" panose="02020603050405020304" pitchFamily="18" charset="0"/>
              </a:rPr>
              <a:t>。</a:t>
            </a:r>
            <a:endParaRPr lang="zh-CN" altLang="zh-CN" sz="2000" b="1" kern="100" dirty="0">
              <a:latin typeface="+mn-ea"/>
              <a:cs typeface="Times New Roman" panose="02020603050405020304" pitchFamily="18" charset="0"/>
            </a:endParaRPr>
          </a:p>
        </p:txBody>
      </p:sp>
      <p:sp>
        <p:nvSpPr>
          <p:cNvPr id="4"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涡流场仿真空心螺线管线圈的步骤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45401" y="1294360"/>
            <a:ext cx="10292499" cy="4964949"/>
          </a:xfrm>
          <a:prstGeom prst="rect">
            <a:avLst/>
          </a:prstGeom>
        </p:spPr>
        <p:txBody>
          <a:bodyPr wrap="square">
            <a:spAutoFit/>
          </a:bodyPr>
          <a:lstStyle/>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5.</a:t>
            </a:r>
            <a:r>
              <a:rPr lang="zh-CN" altLang="en-US" sz="2400" b="1" kern="100" dirty="0">
                <a:solidFill>
                  <a:srgbClr val="0000FF"/>
                </a:solidFill>
                <a:latin typeface="等线" panose="02010600030101010101" charset="-122"/>
                <a:cs typeface="Times New Roman" panose="02020603050405020304" pitchFamily="18" charset="0"/>
              </a:rPr>
              <a:t>绘制模型。</a:t>
            </a:r>
            <a:endParaRPr lang="en-US" altLang="zh-CN" sz="2400" b="1" kern="100" dirty="0">
              <a:solidFill>
                <a:srgbClr val="0000FF"/>
              </a:solidFill>
              <a:latin typeface="等线" panose="02010600030101010101" charset="-122"/>
              <a:cs typeface="Times New Roman" panose="02020603050405020304" pitchFamily="18" charset="0"/>
            </a:endParaRPr>
          </a:p>
          <a:p>
            <a:pPr marL="360045">
              <a:lnSpc>
                <a:spcPct val="150000"/>
              </a:lnSpc>
            </a:pPr>
            <a:r>
              <a:rPr lang="en-US" altLang="zh-CN" sz="2000" b="1" dirty="0">
                <a:latin typeface="+mn-ea"/>
              </a:rPr>
              <a:t>1.</a:t>
            </a:r>
            <a:r>
              <a:rPr lang="zh-CN" altLang="zh-CN" sz="2000" b="1" dirty="0">
                <a:latin typeface="+mn-ea"/>
              </a:rPr>
              <a:t>在屏幕上画</a:t>
            </a:r>
            <a:r>
              <a:rPr lang="zh-CN" altLang="en-US" sz="2000" b="1" dirty="0">
                <a:latin typeface="+mn-ea"/>
              </a:rPr>
              <a:t>一个矩形作为线圈模型：菜单栏选</a:t>
            </a:r>
            <a:r>
              <a:rPr lang="en-US" altLang="zh-CN" sz="2000" b="1" dirty="0">
                <a:latin typeface="+mn-ea"/>
              </a:rPr>
              <a:t>【Draw】|【Rectangle】</a:t>
            </a:r>
            <a:r>
              <a:rPr lang="zh-CN" altLang="en-US" sz="2000" b="1" dirty="0">
                <a:latin typeface="+mn-ea"/>
              </a:rPr>
              <a:t>。</a:t>
            </a:r>
            <a:endParaRPr lang="en-US" altLang="zh-CN" sz="2000" b="1" dirty="0">
              <a:latin typeface="+mn-ea"/>
            </a:endParaRPr>
          </a:p>
          <a:p>
            <a:pPr marL="360045">
              <a:lnSpc>
                <a:spcPct val="150000"/>
              </a:lnSpc>
            </a:pPr>
            <a:r>
              <a:rPr lang="en-US" altLang="zh-CN" sz="2000" b="1" dirty="0">
                <a:latin typeface="+mn-ea"/>
              </a:rPr>
              <a:t>2.</a:t>
            </a:r>
            <a:r>
              <a:rPr lang="zh-CN" altLang="en-US" sz="2000" b="1" dirty="0">
                <a:latin typeface="+mn-ea"/>
              </a:rPr>
              <a:t>绘制求解域</a:t>
            </a:r>
            <a:r>
              <a:rPr lang="en-US" altLang="zh-CN" sz="2000" b="1" dirty="0">
                <a:latin typeface="+mn-ea"/>
              </a:rPr>
              <a:t>: </a:t>
            </a:r>
            <a:r>
              <a:rPr lang="en-US" altLang="zh-CN" sz="2000" b="1" dirty="0" err="1">
                <a:latin typeface="+mn-ea"/>
              </a:rPr>
              <a:t>菜单栏选择【Draw</a:t>
            </a:r>
            <a:r>
              <a:rPr lang="en-US" altLang="zh-CN" sz="2000" b="1" dirty="0">
                <a:latin typeface="+mn-ea"/>
              </a:rPr>
              <a:t>】|【Region】</a:t>
            </a:r>
            <a:r>
              <a:rPr lang="zh-CN" altLang="en-US" sz="2000" b="1" dirty="0">
                <a:latin typeface="+mn-ea"/>
              </a:rPr>
              <a:t>，</a:t>
            </a:r>
            <a:r>
              <a:rPr lang="en-US" altLang="zh-CN" sz="2000" b="1" dirty="0">
                <a:latin typeface="+mn-ea"/>
              </a:rPr>
              <a:t>value=100</a:t>
            </a:r>
            <a:r>
              <a:rPr lang="zh-CN" altLang="en-US" sz="2000" b="1" dirty="0">
                <a:latin typeface="+mn-ea"/>
              </a:rPr>
              <a:t>。</a:t>
            </a:r>
            <a:endParaRPr lang="en-US" altLang="zh-CN" sz="2000" b="1" dirty="0">
              <a:latin typeface="+mn-ea"/>
            </a:endParaRPr>
          </a:p>
          <a:p>
            <a:pPr marL="0" lvl="1" algn="just">
              <a:lnSpc>
                <a:spcPct val="135000"/>
              </a:lnSpc>
              <a:spcBef>
                <a:spcPts val="12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6.</a:t>
            </a:r>
            <a:r>
              <a:rPr lang="zh-CN" altLang="en-US" sz="2400" b="1" kern="100" dirty="0">
                <a:solidFill>
                  <a:srgbClr val="0000FF"/>
                </a:solidFill>
                <a:latin typeface="等线" panose="02010600030101010101" charset="-122"/>
                <a:cs typeface="Times New Roman" panose="02020603050405020304" pitchFamily="18" charset="0"/>
              </a:rPr>
              <a:t>设置材料。</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35000"/>
              </a:lnSpc>
              <a:spcAft>
                <a:spcPts val="600"/>
              </a:spcAft>
              <a:tabLst>
                <a:tab pos="228600" algn="l"/>
              </a:tabLst>
            </a:pPr>
            <a:r>
              <a:rPr lang="en-US" altLang="zh-CN" b="1" dirty="0">
                <a:latin typeface="+mn-ea"/>
              </a:rPr>
              <a:t>Rectangle1</a:t>
            </a:r>
            <a:r>
              <a:rPr lang="zh-CN" altLang="zh-CN" b="1" dirty="0">
                <a:latin typeface="+mn-ea"/>
              </a:rPr>
              <a:t>→铜</a:t>
            </a:r>
            <a:r>
              <a:rPr lang="zh-CN" altLang="en-US" b="1" dirty="0">
                <a:latin typeface="+mn-ea"/>
              </a:rPr>
              <a:t>；</a:t>
            </a:r>
            <a:r>
              <a:rPr lang="en-US" altLang="zh-CN" b="1" dirty="0">
                <a:latin typeface="+mn-ea"/>
              </a:rPr>
              <a:t>Region</a:t>
            </a:r>
            <a:r>
              <a:rPr lang="zh-CN" altLang="zh-CN" b="1" dirty="0">
                <a:latin typeface="+mn-ea"/>
              </a:rPr>
              <a:t> →</a:t>
            </a:r>
            <a:r>
              <a:rPr lang="en-US" altLang="zh-CN" b="1" dirty="0">
                <a:latin typeface="+mn-ea"/>
              </a:rPr>
              <a:t>air</a:t>
            </a:r>
            <a:endParaRPr lang="en-US" altLang="zh-CN" b="1" dirty="0">
              <a:latin typeface="+mn-ea"/>
            </a:endParaRPr>
          </a:p>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7.</a:t>
            </a:r>
            <a:r>
              <a:rPr lang="zh-CN" altLang="en-US" sz="2400" b="1" kern="100" dirty="0">
                <a:solidFill>
                  <a:srgbClr val="0000FF"/>
                </a:solidFill>
                <a:latin typeface="等线" panose="02010600030101010101" charset="-122"/>
                <a:cs typeface="Times New Roman" panose="02020603050405020304" pitchFamily="18" charset="0"/>
              </a:rPr>
              <a:t>设置边界条件。</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35000"/>
              </a:lnSpc>
              <a:spcAft>
                <a:spcPts val="600"/>
              </a:spcAft>
              <a:tabLst>
                <a:tab pos="228600" algn="l"/>
              </a:tabLst>
            </a:pPr>
            <a:r>
              <a:rPr lang="en-US" altLang="zh-CN" sz="1800" b="1" dirty="0"/>
              <a:t>Region</a:t>
            </a:r>
            <a:r>
              <a:rPr lang="zh-CN" altLang="en-US" sz="1800" b="1" dirty="0"/>
              <a:t>的边界：</a:t>
            </a:r>
            <a:endParaRPr lang="en-US" altLang="zh-CN" sz="1800" b="1" dirty="0"/>
          </a:p>
          <a:p>
            <a:pPr marL="360045" lvl="1" algn="just">
              <a:lnSpc>
                <a:spcPct val="135000"/>
              </a:lnSpc>
              <a:spcAft>
                <a:spcPts val="600"/>
              </a:spcAft>
              <a:tabLst>
                <a:tab pos="228600" algn="l"/>
              </a:tabLst>
            </a:pPr>
            <a:r>
              <a:rPr lang="en-US" altLang="zh-CN" b="1" dirty="0"/>
              <a:t>1.</a:t>
            </a:r>
            <a:r>
              <a:rPr lang="zh-CN" altLang="en-US" sz="1800" b="1" dirty="0"/>
              <a:t>设置气球边界：在绘图界面右键</a:t>
            </a:r>
            <a:r>
              <a:rPr lang="en-US" altLang="zh-CN" sz="1800" b="1" dirty="0"/>
              <a:t>Selection Mode</a:t>
            </a:r>
            <a:r>
              <a:rPr lang="zh-CN" altLang="en-US" sz="1800" b="1" dirty="0"/>
              <a:t>→</a:t>
            </a:r>
            <a:r>
              <a:rPr lang="en-US" altLang="zh-CN" sz="1800" b="1" dirty="0"/>
              <a:t>Edges</a:t>
            </a:r>
            <a:r>
              <a:rPr lang="zh-CN" altLang="en-US" sz="1800" b="1" dirty="0"/>
              <a:t>，按住</a:t>
            </a:r>
            <a:r>
              <a:rPr lang="en-US" altLang="zh-CN" sz="1800" b="1" dirty="0"/>
              <a:t>Ctrl</a:t>
            </a:r>
            <a:r>
              <a:rPr lang="zh-CN" altLang="en-US" sz="1800" b="1" dirty="0"/>
              <a:t>键，同时选中</a:t>
            </a:r>
            <a:r>
              <a:rPr lang="en-US" altLang="zh-CN" sz="1800" b="1" dirty="0"/>
              <a:t>Region</a:t>
            </a:r>
            <a:r>
              <a:rPr lang="zh-CN" altLang="en-US" sz="1800" b="1" dirty="0"/>
              <a:t>的上、右、下边界，右键</a:t>
            </a:r>
            <a:r>
              <a:rPr lang="en-US" altLang="zh-CN" sz="1800" b="1" dirty="0"/>
              <a:t>Assign Boundary</a:t>
            </a:r>
            <a:r>
              <a:rPr lang="zh-CN" altLang="en-US" sz="1800" b="1" dirty="0"/>
              <a:t>→</a:t>
            </a:r>
            <a:r>
              <a:rPr lang="en-US" altLang="zh-CN" sz="1800" b="1" dirty="0"/>
              <a:t>Balloon</a:t>
            </a:r>
            <a:r>
              <a:rPr lang="zh-CN" altLang="en-US" sz="1800" b="1" dirty="0"/>
              <a:t>。</a:t>
            </a:r>
            <a:endParaRPr lang="en-US" altLang="zh-CN" sz="1800" b="1" dirty="0"/>
          </a:p>
          <a:p>
            <a:pPr marL="360045" lvl="1" algn="just">
              <a:lnSpc>
                <a:spcPct val="135000"/>
              </a:lnSpc>
              <a:spcAft>
                <a:spcPts val="600"/>
              </a:spcAft>
              <a:tabLst>
                <a:tab pos="228600" algn="l"/>
              </a:tabLst>
            </a:pPr>
            <a:r>
              <a:rPr lang="en-US" altLang="zh-CN" b="1" dirty="0"/>
              <a:t>2.</a:t>
            </a:r>
            <a:r>
              <a:rPr lang="zh-CN" altLang="en-US" b="1" dirty="0"/>
              <a:t>设置对称边界：选中</a:t>
            </a:r>
            <a:r>
              <a:rPr lang="en-US" altLang="zh-CN" b="1" dirty="0"/>
              <a:t>Region</a:t>
            </a:r>
            <a:r>
              <a:rPr lang="zh-CN" altLang="en-US" b="1" dirty="0"/>
              <a:t>的左边界，右键</a:t>
            </a:r>
            <a:r>
              <a:rPr lang="en-US" altLang="zh-CN" sz="1800" b="1" dirty="0"/>
              <a:t>Assign Boundary</a:t>
            </a:r>
            <a:r>
              <a:rPr lang="zh-CN" altLang="en-US" sz="1800" b="1" dirty="0"/>
              <a:t>→</a:t>
            </a:r>
            <a:r>
              <a:rPr lang="en-US" altLang="zh-CN" sz="1800" b="1" dirty="0"/>
              <a:t>Symmetry</a:t>
            </a:r>
            <a:r>
              <a:rPr lang="zh-CN" altLang="en-US" sz="1800" b="1" dirty="0"/>
              <a:t>→</a:t>
            </a:r>
            <a:r>
              <a:rPr lang="en-US" altLang="zh-CN" sz="1800" b="1" dirty="0"/>
              <a:t>odd</a:t>
            </a:r>
            <a:r>
              <a:rPr lang="zh-CN" altLang="en-US" sz="1800" b="1" dirty="0"/>
              <a:t>。</a:t>
            </a:r>
            <a:endParaRPr lang="en-US" altLang="zh-CN" b="1" dirty="0">
              <a:latin typeface="+mn-ea"/>
            </a:endParaRPr>
          </a:p>
        </p:txBody>
      </p:sp>
      <p:sp>
        <p:nvSpPr>
          <p:cNvPr id="4"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涡流场仿真空心螺线管线圈的步骤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4540" y="1194171"/>
            <a:ext cx="10502900" cy="4945265"/>
          </a:xfrm>
          <a:prstGeom prst="rect">
            <a:avLst/>
          </a:prstGeom>
        </p:spPr>
        <p:txBody>
          <a:bodyPr wrap="square">
            <a:spAutoFit/>
          </a:bodyPr>
          <a:lstStyle/>
          <a:p>
            <a:pPr marL="0" lvl="1" algn="just">
              <a:lnSpc>
                <a:spcPct val="135000"/>
              </a:lnSpc>
              <a:spcBef>
                <a:spcPts val="6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8.</a:t>
            </a:r>
            <a:r>
              <a:rPr lang="zh-CN" altLang="en-US" sz="2400" b="1" kern="100" dirty="0">
                <a:solidFill>
                  <a:srgbClr val="0000FF"/>
                </a:solidFill>
                <a:latin typeface="等线" panose="02010600030101010101" charset="-122"/>
                <a:cs typeface="Times New Roman" panose="02020603050405020304" pitchFamily="18" charset="0"/>
              </a:rPr>
              <a:t>添加激励。</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50000"/>
              </a:lnSpc>
              <a:spcAft>
                <a:spcPts val="600"/>
              </a:spcAft>
              <a:tabLst>
                <a:tab pos="228600" algn="l"/>
              </a:tabLst>
            </a:pPr>
            <a:r>
              <a:rPr lang="en-US" altLang="zh-CN" sz="2000" b="1" dirty="0">
                <a:latin typeface="+mn-ea"/>
              </a:rPr>
              <a:t>1.</a:t>
            </a:r>
            <a:r>
              <a:rPr lang="zh-CN" altLang="en-US" sz="2000" b="1" dirty="0">
                <a:latin typeface="+mn-ea"/>
              </a:rPr>
              <a:t>给线圈添加激励，激励电流为</a:t>
            </a:r>
            <a:r>
              <a:rPr lang="zh-CN" altLang="en-US" sz="2000" b="1" dirty="0">
                <a:solidFill>
                  <a:srgbClr val="FF3300"/>
                </a:solidFill>
                <a:latin typeface="+mn-ea"/>
              </a:rPr>
              <a:t> </a:t>
            </a:r>
            <a:r>
              <a:rPr lang="zh-CN" altLang="en-US" sz="2000" b="1" u="sng" dirty="0">
                <a:solidFill>
                  <a:srgbClr val="FF3300"/>
                </a:solidFill>
                <a:latin typeface="+mn-ea"/>
              </a:rPr>
              <a:t>    </a:t>
            </a:r>
            <a:r>
              <a:rPr lang="en-US" altLang="zh-CN" sz="2000" b="1" u="sng" dirty="0">
                <a:solidFill>
                  <a:srgbClr val="FF3300"/>
                </a:solidFill>
                <a:latin typeface="+mn-ea"/>
              </a:rPr>
              <a:t>930</a:t>
            </a:r>
            <a:r>
              <a:rPr lang="zh-CN" altLang="en-US" sz="2000" b="1" u="sng" dirty="0">
                <a:solidFill>
                  <a:srgbClr val="FF3300"/>
                </a:solidFill>
                <a:latin typeface="+mn-ea"/>
              </a:rPr>
              <a:t>    </a:t>
            </a:r>
            <a:r>
              <a:rPr lang="en-US" altLang="zh-CN" sz="2000" b="1" dirty="0">
                <a:latin typeface="+mn-ea"/>
              </a:rPr>
              <a:t>A</a:t>
            </a:r>
            <a:r>
              <a:rPr lang="zh-CN" altLang="en-US" sz="2000" b="1" dirty="0">
                <a:latin typeface="+mn-ea"/>
              </a:rPr>
              <a:t>，（实验螺线管线圈为</a:t>
            </a:r>
            <a:r>
              <a:rPr lang="en-US" altLang="zh-CN" sz="2000" b="1" dirty="0">
                <a:latin typeface="+mn-ea"/>
              </a:rPr>
              <a:t>1860</a:t>
            </a:r>
            <a:r>
              <a:rPr lang="zh-CN" altLang="en-US" sz="2000" b="1" dirty="0">
                <a:latin typeface="+mn-ea"/>
              </a:rPr>
              <a:t>匝。</a:t>
            </a:r>
            <a:r>
              <a:rPr lang="en-US" altLang="zh-CN" sz="2000" b="1" dirty="0">
                <a:latin typeface="+mn-ea"/>
              </a:rPr>
              <a:t>Phase</a:t>
            </a:r>
            <a:r>
              <a:rPr lang="zh-CN" altLang="en-US" sz="2000" b="1" dirty="0">
                <a:latin typeface="+mn-ea"/>
              </a:rPr>
              <a:t>：</a:t>
            </a:r>
            <a:r>
              <a:rPr lang="en-US" altLang="zh-CN" sz="2000" b="1" dirty="0">
                <a:latin typeface="+mn-ea"/>
              </a:rPr>
              <a:t>0 deg</a:t>
            </a:r>
            <a:r>
              <a:rPr lang="zh-CN" altLang="en-US" sz="2000" b="1" dirty="0">
                <a:latin typeface="+mn-ea"/>
              </a:rPr>
              <a:t>，</a:t>
            </a:r>
            <a:r>
              <a:rPr lang="en-US" altLang="zh-CN" sz="2000" b="1" dirty="0" err="1">
                <a:latin typeface="+mn-ea"/>
              </a:rPr>
              <a:t>Type:Strand</a:t>
            </a:r>
            <a:r>
              <a:rPr lang="en-US" altLang="zh-CN" sz="2000" b="1" dirty="0">
                <a:latin typeface="+mn-ea"/>
              </a:rPr>
              <a:t>(</a:t>
            </a:r>
            <a:r>
              <a:rPr lang="zh-CN" altLang="en-US" sz="2000" b="1" dirty="0">
                <a:latin typeface="+mn-ea"/>
              </a:rPr>
              <a:t>实体绞线）</a:t>
            </a:r>
            <a:r>
              <a:rPr lang="en-US" altLang="zh-CN" sz="2000" b="1" dirty="0">
                <a:latin typeface="+mn-ea"/>
              </a:rPr>
              <a:t> Ref. Direction: Positive， </a:t>
            </a:r>
            <a:r>
              <a:rPr lang="en-US" altLang="zh-CN" sz="2000" b="1" dirty="0" err="1">
                <a:latin typeface="+mn-ea"/>
              </a:rPr>
              <a:t>表明电流方向穿入屏幕</a:t>
            </a:r>
            <a:r>
              <a:rPr lang="en-US" altLang="zh-CN" sz="2000" b="1" dirty="0">
                <a:latin typeface="+mn-ea"/>
              </a:rPr>
              <a:t> </a:t>
            </a:r>
            <a:r>
              <a:rPr lang="zh-CN" altLang="en-US" sz="2000" b="1" dirty="0">
                <a:latin typeface="+mn-ea"/>
              </a:rPr>
              <a:t>）</a:t>
            </a:r>
            <a:r>
              <a:rPr lang="en-US" altLang="zh-CN" sz="2000" b="1" dirty="0">
                <a:latin typeface="+mn-ea"/>
              </a:rPr>
              <a:t> </a:t>
            </a:r>
            <a:r>
              <a:rPr lang="zh-CN" altLang="en-US" sz="2000" b="1" dirty="0">
                <a:latin typeface="+mn-ea"/>
              </a:rPr>
              <a:t>。</a:t>
            </a:r>
            <a:endParaRPr lang="en-US" altLang="zh-CN" sz="2000" b="1" dirty="0">
              <a:latin typeface="+mn-ea"/>
            </a:endParaRPr>
          </a:p>
          <a:p>
            <a:pPr marL="360045" lvl="1" algn="just">
              <a:lnSpc>
                <a:spcPct val="150000"/>
              </a:lnSpc>
              <a:spcAft>
                <a:spcPts val="600"/>
              </a:spcAft>
              <a:tabLst>
                <a:tab pos="228600" algn="l"/>
              </a:tabLst>
            </a:pPr>
            <a:r>
              <a:rPr lang="en-US" altLang="zh-CN" sz="2000" b="1" dirty="0"/>
              <a:t>3.</a:t>
            </a:r>
            <a:r>
              <a:rPr lang="zh-CN" altLang="en-US" sz="2000" b="1" dirty="0"/>
              <a:t>给螺线管线圈施加涡流效应。在工程管理栏中右键单击线圈模型</a:t>
            </a:r>
            <a:r>
              <a:rPr lang="en-US" altLang="zh-CN" sz="2000" b="1" dirty="0"/>
              <a:t>Rectangle1</a:t>
            </a:r>
            <a:r>
              <a:rPr lang="zh-CN" altLang="en-US" sz="2000" b="1" dirty="0"/>
              <a:t>，选择</a:t>
            </a:r>
            <a:r>
              <a:rPr lang="en-US" altLang="zh-CN" sz="2000" b="1" dirty="0"/>
              <a:t>Assign Excitation—Set Eddy Effects</a:t>
            </a:r>
            <a:r>
              <a:rPr lang="zh-CN" altLang="en-US" sz="2000" b="1" dirty="0"/>
              <a:t>。在</a:t>
            </a:r>
            <a:r>
              <a:rPr lang="en-US" altLang="zh-CN" sz="2000" b="1" dirty="0"/>
              <a:t>Set Eddy Effect</a:t>
            </a:r>
            <a:r>
              <a:rPr lang="zh-CN" altLang="en-US" sz="2000" b="1" dirty="0"/>
              <a:t>窗口中勾选</a:t>
            </a:r>
            <a:r>
              <a:rPr lang="en-US" altLang="zh-CN" sz="2000" b="1" dirty="0"/>
              <a:t>Rectangle1</a:t>
            </a:r>
            <a:r>
              <a:rPr lang="zh-CN" altLang="en-US" sz="2000" b="1" dirty="0"/>
              <a:t>的</a:t>
            </a:r>
            <a:r>
              <a:rPr lang="en-US" altLang="zh-CN" sz="2000" b="1" dirty="0"/>
              <a:t>Eddy Effect</a:t>
            </a:r>
            <a:r>
              <a:rPr lang="zh-CN" altLang="en-US" sz="2000" b="1" dirty="0"/>
              <a:t>复选框。</a:t>
            </a:r>
            <a:endParaRPr lang="en-US" altLang="zh-CN" sz="2000" b="1" dirty="0"/>
          </a:p>
          <a:p>
            <a:pPr marL="0" lvl="1" algn="just">
              <a:lnSpc>
                <a:spcPct val="150000"/>
              </a:lnSpc>
              <a:spcBef>
                <a:spcPts val="12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9.</a:t>
            </a:r>
            <a:r>
              <a:rPr lang="zh-CN" altLang="en-US" sz="2400" b="1" kern="100" dirty="0">
                <a:solidFill>
                  <a:srgbClr val="0000FF"/>
                </a:solidFill>
                <a:latin typeface="等线" panose="02010600030101010101" charset="-122"/>
                <a:cs typeface="Times New Roman" panose="02020603050405020304" pitchFamily="18" charset="0"/>
              </a:rPr>
              <a:t>设置网格剖分。</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50000"/>
              </a:lnSpc>
              <a:spcBef>
                <a:spcPts val="600"/>
              </a:spcBef>
              <a:spcAft>
                <a:spcPts val="600"/>
              </a:spcAft>
              <a:tabLst>
                <a:tab pos="228600" algn="l"/>
              </a:tabLst>
            </a:pPr>
            <a:r>
              <a:rPr lang="zh-CN" altLang="zh-CN" sz="2000" b="1" dirty="0"/>
              <a:t>由于</a:t>
            </a:r>
            <a:r>
              <a:rPr lang="zh-CN" altLang="zh-CN" sz="2000" b="1" dirty="0">
                <a:latin typeface="+mn-ea"/>
              </a:rPr>
              <a:t>模型</a:t>
            </a:r>
            <a:r>
              <a:rPr lang="zh-CN" altLang="zh-CN" sz="2000" b="1" dirty="0"/>
              <a:t>比较简单，直接采用系统默认网格划分，故此处可省略设置。</a:t>
            </a:r>
            <a:endParaRPr lang="zh-CN" altLang="zh-CN" sz="2000" b="1" dirty="0"/>
          </a:p>
          <a:p>
            <a:pPr marL="360045" lvl="1" algn="just">
              <a:lnSpc>
                <a:spcPct val="150000"/>
              </a:lnSpc>
              <a:spcAft>
                <a:spcPts val="600"/>
              </a:spcAft>
              <a:tabLst>
                <a:tab pos="228600" algn="l"/>
              </a:tabLst>
            </a:pPr>
            <a:endParaRPr lang="en-US" altLang="zh-CN" sz="2000" b="1" kern="100" dirty="0">
              <a:latin typeface="+mn-ea"/>
              <a:cs typeface="Times New Roman" panose="02020603050405020304" pitchFamily="18" charset="0"/>
            </a:endParaRPr>
          </a:p>
        </p:txBody>
      </p:sp>
      <p:sp>
        <p:nvSpPr>
          <p:cNvPr id="5"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涡流场仿真空心螺线管线圈的步骤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6322" y="909759"/>
            <a:ext cx="11573278" cy="2380615"/>
          </a:xfrm>
          <a:prstGeom prst="rect">
            <a:avLst/>
          </a:prstGeom>
        </p:spPr>
        <p:txBody>
          <a:bodyPr wrap="square">
            <a:spAutoFit/>
          </a:bodyPr>
          <a:lstStyle/>
          <a:p>
            <a:pPr>
              <a:lnSpc>
                <a:spcPct val="120000"/>
              </a:lnSpc>
            </a:pPr>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10.</a:t>
            </a:r>
            <a:r>
              <a:rPr lang="en-US" altLang="zh-CN" sz="2400" dirty="0"/>
              <a:t> </a:t>
            </a:r>
            <a:r>
              <a:rPr lang="zh-CN" altLang="en-US" sz="2400" b="1" kern="100" dirty="0">
                <a:solidFill>
                  <a:srgbClr val="0000FF"/>
                </a:solidFill>
                <a:latin typeface="等线" panose="02010600030101010101" charset="-122"/>
                <a:cs typeface="Times New Roman" panose="02020603050405020304" pitchFamily="18" charset="0"/>
              </a:rPr>
              <a:t>添加</a:t>
            </a:r>
            <a:r>
              <a:rPr lang="en-US" altLang="zh-CN" sz="2400" b="1" kern="100" dirty="0" err="1">
                <a:solidFill>
                  <a:srgbClr val="0000FF"/>
                </a:solidFill>
                <a:latin typeface="等线" panose="02010600030101010101" charset="-122"/>
                <a:cs typeface="Times New Roman" panose="02020603050405020304" pitchFamily="18" charset="0"/>
              </a:rPr>
              <a:t>求解电感矩阵参数</a:t>
            </a:r>
            <a:r>
              <a:rPr lang="zh-CN" altLang="en-US" sz="2400" b="1" kern="100" dirty="0">
                <a:solidFill>
                  <a:srgbClr val="0000FF"/>
                </a:solidFill>
                <a:latin typeface="等线" panose="02010600030101010101" charset="-122"/>
                <a:cs typeface="Times New Roman" panose="02020603050405020304" pitchFamily="18" charset="0"/>
              </a:rPr>
              <a:t>。</a:t>
            </a:r>
            <a:endParaRPr lang="en-US" altLang="zh-CN" sz="2400" b="1" kern="100" dirty="0">
              <a:solidFill>
                <a:srgbClr val="0000FF"/>
              </a:solidFill>
              <a:latin typeface="等线" panose="02010600030101010101" charset="-122"/>
              <a:cs typeface="Times New Roman" panose="02020603050405020304" pitchFamily="18" charset="0"/>
            </a:endParaRPr>
          </a:p>
          <a:p>
            <a:pPr>
              <a:lnSpc>
                <a:spcPct val="120000"/>
              </a:lnSpc>
            </a:pPr>
            <a:r>
              <a:rPr lang="en-US" altLang="zh-CN" sz="2000" b="1" dirty="0" err="1"/>
              <a:t>在菜单栏选择【Maxwell</a:t>
            </a:r>
            <a:r>
              <a:rPr lang="en-US" altLang="zh-CN" sz="2000" b="1" dirty="0"/>
              <a:t> 2D】|【Parameter】|【Assign】|【Matrix】，</a:t>
            </a:r>
            <a:r>
              <a:rPr lang="en-US" altLang="zh-CN" sz="2000" b="1" dirty="0" err="1"/>
              <a:t>打开Matrix窗口设置</a:t>
            </a:r>
            <a:r>
              <a:rPr lang="en-US" altLang="zh-CN" sz="2000" b="1" dirty="0"/>
              <a:t>：</a:t>
            </a:r>
            <a:endParaRPr lang="en-US" altLang="zh-CN" sz="2000" b="1" dirty="0"/>
          </a:p>
          <a:p>
            <a:pPr>
              <a:lnSpc>
                <a:spcPct val="120000"/>
              </a:lnSpc>
            </a:pPr>
            <a:r>
              <a:rPr lang="en-US" altLang="zh-CN" sz="2000" b="1" dirty="0"/>
              <a:t>1</a:t>
            </a:r>
            <a:r>
              <a:rPr lang="en-US" altLang="zh-CN" sz="2000" b="1" dirty="0">
                <a:latin typeface="+mn-ea"/>
                <a:sym typeface="+mn-ea"/>
              </a:rPr>
              <a:t>.</a:t>
            </a:r>
            <a:r>
              <a:rPr lang="en-US" altLang="zh-CN" sz="2000" b="1" dirty="0"/>
              <a:t>Setup选项卡勾选电流源Current1：√，</a:t>
            </a:r>
            <a:r>
              <a:rPr lang="en-US" altLang="zh-CN" sz="2000" b="1" dirty="0" err="1"/>
              <a:t>用于矩阵计算</a:t>
            </a:r>
            <a:r>
              <a:rPr lang="en-US" altLang="zh-CN" sz="2000" b="1" dirty="0"/>
              <a:t>；</a:t>
            </a:r>
            <a:endParaRPr lang="en-US" altLang="zh-CN" sz="2000" b="1" dirty="0"/>
          </a:p>
          <a:p>
            <a:pPr>
              <a:lnSpc>
                <a:spcPct val="120000"/>
              </a:lnSpc>
            </a:pPr>
            <a:r>
              <a:rPr lang="en-US" altLang="zh-CN" sz="2000" b="1" dirty="0"/>
              <a:t>2</a:t>
            </a:r>
            <a:r>
              <a:rPr lang="en-US" altLang="zh-CN" sz="2000" b="1" dirty="0">
                <a:latin typeface="+mn-ea"/>
                <a:sym typeface="+mn-ea"/>
              </a:rPr>
              <a:t>.</a:t>
            </a:r>
            <a:r>
              <a:rPr lang="en-US" altLang="zh-CN" sz="2000" b="1" dirty="0"/>
              <a:t>在Postprocessing选项卡中设置Current1的</a:t>
            </a:r>
            <a:r>
              <a:rPr lang="zh-CN" altLang="en-US" sz="2000" b="1" dirty="0"/>
              <a:t>匝数</a:t>
            </a:r>
            <a:r>
              <a:rPr lang="en-US" altLang="zh-CN" sz="2000" b="1" dirty="0"/>
              <a:t>Turns为1860；</a:t>
            </a:r>
            <a:endParaRPr lang="en-US" altLang="zh-CN" sz="2000" b="1" dirty="0"/>
          </a:p>
          <a:p>
            <a:pPr>
              <a:lnSpc>
                <a:spcPct val="120000"/>
              </a:lnSpc>
            </a:pPr>
            <a:r>
              <a:rPr lang="en-US" altLang="zh-CN" sz="2000" b="1" dirty="0"/>
              <a:t>3</a:t>
            </a:r>
            <a:r>
              <a:rPr lang="en-US" altLang="zh-CN" sz="2000" b="1" dirty="0">
                <a:latin typeface="+mn-ea"/>
                <a:sym typeface="+mn-ea"/>
              </a:rPr>
              <a:t>.</a:t>
            </a:r>
            <a:r>
              <a:rPr lang="en-US" altLang="zh-CN" sz="2000" b="1" dirty="0"/>
              <a:t>单击【确定】；</a:t>
            </a:r>
            <a:endParaRPr lang="en-US" altLang="zh-CN" sz="2000" b="1" dirty="0"/>
          </a:p>
          <a:p>
            <a:pPr>
              <a:lnSpc>
                <a:spcPct val="120000"/>
              </a:lnSpc>
            </a:pPr>
            <a:r>
              <a:rPr lang="en-US" altLang="zh-CN" sz="2000" b="1" dirty="0"/>
              <a:t>4</a:t>
            </a:r>
            <a:r>
              <a:rPr lang="en-US" altLang="zh-CN" sz="2000" b="1" dirty="0">
                <a:latin typeface="+mn-ea"/>
                <a:sym typeface="+mn-ea"/>
              </a:rPr>
              <a:t>.</a:t>
            </a:r>
            <a:r>
              <a:rPr lang="en-US" altLang="zh-CN" sz="2000" b="1" dirty="0"/>
              <a:t>设置的求解电感矩阵Matrix也可以在工程管理栏的Parameters部分看到</a:t>
            </a:r>
            <a:r>
              <a:rPr lang="zh-CN" altLang="en-US" sz="2000" b="1" dirty="0"/>
              <a:t>。</a:t>
            </a:r>
            <a:endParaRPr lang="zh-CN" altLang="en-US" sz="2000" b="1" dirty="0"/>
          </a:p>
        </p:txBody>
      </p:sp>
      <p:pic>
        <p:nvPicPr>
          <p:cNvPr id="4710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8107" y="3243792"/>
            <a:ext cx="4284001"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7"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3812" y="3232484"/>
            <a:ext cx="4284001"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705004" y="5189564"/>
            <a:ext cx="1266693" cy="369332"/>
          </a:xfrm>
          <a:prstGeom prst="rect">
            <a:avLst/>
          </a:prstGeom>
        </p:spPr>
        <p:txBody>
          <a:bodyPr wrap="none">
            <a:spAutoFit/>
          </a:bodyPr>
          <a:lstStyle/>
          <a:p>
            <a:r>
              <a:rPr lang="en-US" altLang="zh-CN" dirty="0" err="1">
                <a:solidFill>
                  <a:srgbClr val="FF3300"/>
                </a:solidFill>
              </a:rPr>
              <a:t>Matrix窗口</a:t>
            </a:r>
            <a:endParaRPr lang="zh-CN" altLang="en-US" dirty="0">
              <a:solidFill>
                <a:srgbClr val="FF3300"/>
              </a:solidFill>
            </a:endParaRPr>
          </a:p>
        </p:txBody>
      </p:sp>
      <p:sp>
        <p:nvSpPr>
          <p:cNvPr id="10" name="矩形 9"/>
          <p:cNvSpPr/>
          <p:nvPr/>
        </p:nvSpPr>
        <p:spPr>
          <a:xfrm>
            <a:off x="2265816" y="4215309"/>
            <a:ext cx="462013" cy="36041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55677" y="3424433"/>
            <a:ext cx="462013" cy="36041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349407" y="3363048"/>
            <a:ext cx="720943" cy="36041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258443" y="3754748"/>
            <a:ext cx="1052538" cy="36041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1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3275" y="3449673"/>
            <a:ext cx="2304173" cy="2914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涡流场仿真空心螺线管线圈的步骤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51734" y="1248586"/>
            <a:ext cx="11003382" cy="3828933"/>
          </a:xfrm>
          <a:prstGeom prst="rect">
            <a:avLst/>
          </a:prstGeom>
        </p:spPr>
        <p:txBody>
          <a:bodyPr wrap="square">
            <a:spAutoFit/>
          </a:bodyPr>
          <a:lstStyle/>
          <a:p>
            <a:pPr>
              <a:lnSpc>
                <a:spcPct val="150000"/>
              </a:lnSpc>
            </a:pPr>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11.</a:t>
            </a:r>
            <a:r>
              <a:rPr lang="zh-CN" altLang="zh-CN" sz="2400" b="1" kern="100" dirty="0">
                <a:solidFill>
                  <a:srgbClr val="0000FF"/>
                </a:solidFill>
                <a:latin typeface="等线" panose="02010600030101010101" charset="-122"/>
                <a:cs typeface="Times New Roman" panose="02020603050405020304" pitchFamily="18" charset="0"/>
              </a:rPr>
              <a:t>求解计算</a:t>
            </a:r>
            <a:endParaRPr lang="zh-CN" altLang="zh-CN" sz="2400" b="1" kern="100" dirty="0">
              <a:solidFill>
                <a:srgbClr val="0000FF"/>
              </a:solidFill>
              <a:latin typeface="等线" panose="02010600030101010101" charset="-122"/>
              <a:cs typeface="Times New Roman" panose="02020603050405020304" pitchFamily="18" charset="0"/>
            </a:endParaRPr>
          </a:p>
          <a:p>
            <a:pPr>
              <a:lnSpc>
                <a:spcPct val="150000"/>
              </a:lnSpc>
            </a:pPr>
            <a:r>
              <a:rPr lang="en-US" altLang="zh-CN" sz="2000" b="1" dirty="0">
                <a:latin typeface="+mn-ea"/>
              </a:rPr>
              <a:t>1</a:t>
            </a:r>
            <a:r>
              <a:rPr lang="en-US" altLang="zh-CN" sz="2000" b="1" dirty="0">
                <a:latin typeface="+mn-ea"/>
                <a:sym typeface="+mn-ea"/>
              </a:rPr>
              <a:t>. </a:t>
            </a:r>
            <a:r>
              <a:rPr lang="zh-CN" altLang="zh-CN" sz="2000" b="1" dirty="0">
                <a:latin typeface="+mn-ea"/>
              </a:rPr>
              <a:t>设置求解选项，</a:t>
            </a:r>
            <a:r>
              <a:rPr lang="en-US" altLang="zh-CN" sz="2000" b="1" dirty="0"/>
              <a:t> </a:t>
            </a:r>
            <a:r>
              <a:rPr lang="en-US" altLang="zh-CN" sz="2000" b="1" dirty="0" err="1"/>
              <a:t>在菜单栏选择【Maxwell</a:t>
            </a:r>
            <a:r>
              <a:rPr lang="en-US" altLang="zh-CN" sz="2000" b="1" dirty="0"/>
              <a:t> 2D】| 【Analysis Setup】|【 Add Solution Setup】| 【Solve Setup】|【Solver】|【Adaptive Frequency】，</a:t>
            </a:r>
            <a:r>
              <a:rPr lang="zh-CN" altLang="en-US" sz="2000" b="1" dirty="0">
                <a:latin typeface="+mn-ea"/>
              </a:rPr>
              <a:t>修改频率为</a:t>
            </a:r>
            <a:r>
              <a:rPr lang="en-US" altLang="zh-CN" sz="2000" b="1" dirty="0">
                <a:latin typeface="+mn-ea"/>
              </a:rPr>
              <a:t>50Hz</a:t>
            </a:r>
            <a:r>
              <a:rPr lang="zh-CN" altLang="zh-CN" sz="2000" b="1" dirty="0">
                <a:latin typeface="+mn-ea"/>
              </a:rPr>
              <a:t>，单击【确定】。</a:t>
            </a:r>
            <a:endParaRPr lang="zh-CN" altLang="zh-CN" sz="2000" b="1" dirty="0">
              <a:latin typeface="+mn-ea"/>
            </a:endParaRPr>
          </a:p>
          <a:p>
            <a:pPr>
              <a:lnSpc>
                <a:spcPct val="150000"/>
              </a:lnSpc>
            </a:pPr>
            <a:r>
              <a:rPr lang="en-US" altLang="zh-CN" sz="2000" b="1" dirty="0">
                <a:latin typeface="+mn-ea"/>
              </a:rPr>
              <a:t>2</a:t>
            </a:r>
            <a:r>
              <a:rPr lang="en-US" altLang="zh-CN" sz="2000" b="1" dirty="0">
                <a:latin typeface="+mn-ea"/>
                <a:sym typeface="+mn-ea"/>
              </a:rPr>
              <a:t>. </a:t>
            </a:r>
            <a:r>
              <a:rPr lang="zh-CN" altLang="zh-CN" sz="2000" b="1" dirty="0">
                <a:latin typeface="+mn-ea"/>
              </a:rPr>
              <a:t>检测模型，模型各项</a:t>
            </a:r>
            <a:r>
              <a:rPr lang="zh-CN" altLang="en-US" sz="2000" b="1" dirty="0">
                <a:latin typeface="+mn-ea"/>
              </a:rPr>
              <a:t>均</a:t>
            </a:r>
            <a:r>
              <a:rPr lang="zh-CN" altLang="zh-CN" sz="2000" b="1" dirty="0">
                <a:latin typeface="+mn-ea"/>
              </a:rPr>
              <a:t>正确，单击【</a:t>
            </a:r>
            <a:r>
              <a:rPr lang="en-US" altLang="zh-CN" sz="2000" b="1" dirty="0">
                <a:latin typeface="+mn-ea"/>
              </a:rPr>
              <a:t>Close</a:t>
            </a:r>
            <a:r>
              <a:rPr lang="zh-CN" altLang="zh-CN" sz="2000" b="1" dirty="0">
                <a:latin typeface="+mn-ea"/>
              </a:rPr>
              <a:t>】。</a:t>
            </a:r>
            <a:endParaRPr lang="zh-CN" altLang="zh-CN" sz="2000" b="1" dirty="0">
              <a:latin typeface="+mn-ea"/>
            </a:endParaRPr>
          </a:p>
          <a:p>
            <a:pPr>
              <a:lnSpc>
                <a:spcPct val="150000"/>
              </a:lnSpc>
            </a:pPr>
            <a:r>
              <a:rPr lang="en-US" altLang="zh-CN" sz="2000" b="1" dirty="0">
                <a:latin typeface="+mn-ea"/>
              </a:rPr>
              <a:t>3</a:t>
            </a:r>
            <a:r>
              <a:rPr lang="en-US" altLang="zh-CN" sz="2000" b="1" dirty="0">
                <a:latin typeface="+mn-ea"/>
                <a:sym typeface="+mn-ea"/>
              </a:rPr>
              <a:t>. </a:t>
            </a:r>
            <a:r>
              <a:rPr lang="zh-CN" altLang="zh-CN" sz="2000" b="1" dirty="0">
                <a:latin typeface="+mn-ea"/>
              </a:rPr>
              <a:t>启动分析</a:t>
            </a:r>
            <a:r>
              <a:rPr lang="zh-CN" altLang="en-US" sz="2000" b="1" dirty="0">
                <a:latin typeface="+mn-ea"/>
              </a:rPr>
              <a:t>。</a:t>
            </a:r>
            <a:endParaRPr lang="zh-CN" altLang="zh-CN" sz="2000" b="1" dirty="0">
              <a:latin typeface="+mn-ea"/>
            </a:endParaRPr>
          </a:p>
          <a:p>
            <a:pPr>
              <a:lnSpc>
                <a:spcPct val="150000"/>
              </a:lnSpc>
            </a:pPr>
            <a:r>
              <a:rPr lang="en-US" altLang="zh-CN" sz="2000" b="1" dirty="0">
                <a:latin typeface="+mn-ea"/>
              </a:rPr>
              <a:t>4</a:t>
            </a:r>
            <a:r>
              <a:rPr lang="en-US" altLang="zh-CN" sz="2000" b="1" dirty="0">
                <a:latin typeface="+mn-ea"/>
                <a:sym typeface="+mn-ea"/>
              </a:rPr>
              <a:t>. </a:t>
            </a:r>
            <a:r>
              <a:rPr lang="zh-CN" altLang="en-US" sz="2000" b="1" dirty="0">
                <a:latin typeface="+mn-ea"/>
              </a:rPr>
              <a:t>查看收敛情况。菜单栏选择</a:t>
            </a:r>
            <a:r>
              <a:rPr lang="zh-CN" altLang="zh-CN" sz="2000" b="1" dirty="0">
                <a:latin typeface="+mn-ea"/>
              </a:rPr>
              <a:t>【</a:t>
            </a:r>
            <a:r>
              <a:rPr lang="en-US" altLang="zh-CN" sz="2000" b="1" dirty="0">
                <a:latin typeface="+mn-ea"/>
              </a:rPr>
              <a:t>Maxwell 2D</a:t>
            </a:r>
            <a:r>
              <a:rPr lang="zh-CN" altLang="zh-CN" sz="2000" b="1" dirty="0">
                <a:latin typeface="+mn-ea"/>
              </a:rPr>
              <a:t>】</a:t>
            </a:r>
            <a:r>
              <a:rPr lang="en-US" altLang="zh-CN" sz="2000" b="1" dirty="0">
                <a:latin typeface="+mn-ea"/>
              </a:rPr>
              <a:t> | </a:t>
            </a:r>
            <a:r>
              <a:rPr lang="zh-CN" altLang="zh-CN" sz="2000" b="1" dirty="0">
                <a:latin typeface="+mn-ea"/>
              </a:rPr>
              <a:t>【</a:t>
            </a:r>
            <a:r>
              <a:rPr lang="en-US" altLang="zh-CN" sz="2000" b="1" dirty="0">
                <a:latin typeface="+mn-ea"/>
              </a:rPr>
              <a:t>Results】 | 【Solution Data</a:t>
            </a:r>
            <a:r>
              <a:rPr lang="zh-CN" altLang="zh-CN" sz="2000" b="1" dirty="0">
                <a:latin typeface="+mn-ea"/>
              </a:rPr>
              <a:t>】</a:t>
            </a:r>
            <a:r>
              <a:rPr lang="zh-CN" altLang="en-US" sz="2000" b="1" dirty="0">
                <a:latin typeface="+mn-ea"/>
              </a:rPr>
              <a:t>查看收敛情况，或</a:t>
            </a:r>
            <a:r>
              <a:rPr lang="zh-CN" altLang="zh-CN" sz="2000" b="1" dirty="0">
                <a:latin typeface="+mn-ea"/>
              </a:rPr>
              <a:t>在工程管理栏</a:t>
            </a:r>
            <a:r>
              <a:rPr lang="zh-CN" altLang="en-US" sz="2000" b="1" dirty="0">
                <a:latin typeface="+mn-ea"/>
              </a:rPr>
              <a:t>的</a:t>
            </a:r>
            <a:r>
              <a:rPr lang="en-US" altLang="zh-CN" sz="2000" b="1" dirty="0">
                <a:latin typeface="+mn-ea"/>
              </a:rPr>
              <a:t>Analysis</a:t>
            </a:r>
            <a:r>
              <a:rPr lang="zh-CN" altLang="en-US" sz="2000" b="1" dirty="0">
                <a:latin typeface="+mn-ea"/>
              </a:rPr>
              <a:t>部分</a:t>
            </a:r>
            <a:r>
              <a:rPr lang="zh-CN" altLang="zh-CN" sz="2000" b="1" dirty="0">
                <a:latin typeface="+mn-ea"/>
              </a:rPr>
              <a:t>右键单击</a:t>
            </a:r>
            <a:r>
              <a:rPr lang="en-US" altLang="zh-CN" sz="2000" b="1" dirty="0">
                <a:latin typeface="+mn-ea"/>
              </a:rPr>
              <a:t>Setup1</a:t>
            </a:r>
            <a:r>
              <a:rPr lang="zh-CN" altLang="zh-CN" sz="2000" b="1" dirty="0">
                <a:latin typeface="+mn-ea"/>
              </a:rPr>
              <a:t>，选择</a:t>
            </a:r>
            <a:r>
              <a:rPr lang="en-US" altLang="zh-CN" sz="2000" b="1" dirty="0">
                <a:latin typeface="+mn-ea"/>
              </a:rPr>
              <a:t>Convergence</a:t>
            </a:r>
            <a:r>
              <a:rPr lang="zh-CN" altLang="en-US" sz="2000" b="1" dirty="0">
                <a:latin typeface="+mn-ea"/>
              </a:rPr>
              <a:t>查看收敛情况，若</a:t>
            </a:r>
            <a:r>
              <a:rPr lang="en-US" altLang="en-US" sz="2000" b="1" dirty="0" err="1">
                <a:latin typeface="+mn-ea"/>
              </a:rPr>
              <a:t>最后一次自适应求解的Energy</a:t>
            </a:r>
            <a:r>
              <a:rPr lang="en-US" altLang="en-US" sz="2000" b="1" dirty="0">
                <a:latin typeface="+mn-ea"/>
              </a:rPr>
              <a:t> </a:t>
            </a:r>
            <a:r>
              <a:rPr lang="en-US" altLang="en-US" sz="2000" b="1" dirty="0" err="1">
                <a:latin typeface="+mn-ea"/>
              </a:rPr>
              <a:t>Error和Delta</a:t>
            </a:r>
            <a:r>
              <a:rPr lang="en-US" altLang="en-US" sz="2000" b="1" dirty="0">
                <a:latin typeface="+mn-ea"/>
              </a:rPr>
              <a:t> Error均小于设定的1%，</a:t>
            </a:r>
            <a:r>
              <a:rPr lang="en-US" altLang="en-US" sz="2000" b="1" dirty="0" err="1">
                <a:latin typeface="+mn-ea"/>
              </a:rPr>
              <a:t>达到要求</a:t>
            </a:r>
            <a:r>
              <a:rPr lang="en-US" altLang="en-US" sz="2000" b="1" dirty="0">
                <a:latin typeface="+mn-ea"/>
              </a:rPr>
              <a:t>。 </a:t>
            </a:r>
            <a:endParaRPr lang="zh-CN" altLang="zh-CN" sz="2000" b="1" dirty="0">
              <a:latin typeface="+mn-ea"/>
            </a:endParaRPr>
          </a:p>
        </p:txBody>
      </p:sp>
      <p:sp>
        <p:nvSpPr>
          <p:cNvPr id="4"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涡流场仿真空心螺线管线圈的步骤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srcRect b="41100"/>
          <a:stretch>
            <a:fillRect/>
          </a:stretch>
        </p:blipFill>
        <p:spPr>
          <a:xfrm>
            <a:off x="2868348" y="3649183"/>
            <a:ext cx="6402857" cy="2968558"/>
          </a:xfrm>
          <a:prstGeom prst="rect">
            <a:avLst/>
          </a:prstGeom>
        </p:spPr>
      </p:pic>
      <p:sp>
        <p:nvSpPr>
          <p:cNvPr id="10" name="矩形 9"/>
          <p:cNvSpPr/>
          <p:nvPr/>
        </p:nvSpPr>
        <p:spPr>
          <a:xfrm>
            <a:off x="652166" y="907502"/>
            <a:ext cx="11556166" cy="3097066"/>
          </a:xfrm>
          <a:prstGeom prst="rect">
            <a:avLst/>
          </a:prstGeom>
        </p:spPr>
        <p:txBody>
          <a:bodyPr wrap="square">
            <a:spAutoFit/>
          </a:bodyPr>
          <a:lstStyle/>
          <a:p>
            <a:pPr>
              <a:lnSpc>
                <a:spcPct val="120000"/>
              </a:lnSpc>
            </a:pPr>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12.</a:t>
            </a:r>
            <a:r>
              <a:rPr lang="zh-CN" altLang="en-US" sz="2400" b="1" kern="100" dirty="0">
                <a:solidFill>
                  <a:srgbClr val="0000FF"/>
                </a:solidFill>
                <a:latin typeface="等线" panose="02010600030101010101" charset="-122"/>
                <a:cs typeface="Times New Roman" panose="02020603050405020304" pitchFamily="18" charset="0"/>
              </a:rPr>
              <a:t>后处理</a:t>
            </a:r>
            <a:endParaRPr lang="zh-CN" altLang="zh-CN" sz="2400" b="1" kern="100" dirty="0">
              <a:solidFill>
                <a:srgbClr val="0000FF"/>
              </a:solidFill>
              <a:latin typeface="等线" panose="02010600030101010101" charset="-122"/>
              <a:cs typeface="Times New Roman" panose="02020603050405020304" pitchFamily="18" charset="0"/>
            </a:endParaRPr>
          </a:p>
          <a:p>
            <a:pPr>
              <a:lnSpc>
                <a:spcPct val="120000"/>
              </a:lnSpc>
            </a:pPr>
            <a:r>
              <a:rPr lang="en-US" altLang="zh-CN" sz="2000" b="1" dirty="0">
                <a:latin typeface="+mn-ea"/>
              </a:rPr>
              <a:t>1.</a:t>
            </a:r>
            <a:r>
              <a:rPr lang="zh-CN" altLang="zh-CN" sz="2000" b="1" dirty="0">
                <a:latin typeface="+mn-ea"/>
              </a:rPr>
              <a:t>查看</a:t>
            </a:r>
            <a:r>
              <a:rPr lang="zh-CN" altLang="en-US" sz="2000" b="1" dirty="0">
                <a:latin typeface="+mn-ea"/>
              </a:rPr>
              <a:t>空心</a:t>
            </a:r>
            <a:r>
              <a:rPr lang="zh-CN" altLang="zh-CN" sz="2000" b="1" dirty="0">
                <a:latin typeface="+mn-ea"/>
              </a:rPr>
              <a:t>螺线管的电感参数</a:t>
            </a:r>
            <a:r>
              <a:rPr lang="zh-CN" altLang="en-US" sz="2000" b="1" dirty="0">
                <a:latin typeface="+mn-ea"/>
              </a:rPr>
              <a:t>。</a:t>
            </a:r>
            <a:endParaRPr lang="en-US" altLang="zh-CN" sz="2000" b="1" dirty="0">
              <a:latin typeface="+mn-ea"/>
            </a:endParaRPr>
          </a:p>
          <a:p>
            <a:pPr>
              <a:lnSpc>
                <a:spcPct val="120000"/>
              </a:lnSpc>
            </a:pPr>
            <a:r>
              <a:rPr lang="en-US" altLang="zh-CN" sz="2000" b="1" dirty="0">
                <a:latin typeface="+mn-ea"/>
              </a:rPr>
              <a:t>    1</a:t>
            </a:r>
            <a:r>
              <a:rPr lang="zh-CN" altLang="en-US" sz="2000" b="1" dirty="0">
                <a:latin typeface="+mn-ea"/>
              </a:rPr>
              <a:t>）菜单栏选择</a:t>
            </a:r>
            <a:r>
              <a:rPr lang="zh-CN" altLang="zh-CN" sz="2000" b="1" dirty="0">
                <a:latin typeface="+mn-ea"/>
              </a:rPr>
              <a:t>【</a:t>
            </a:r>
            <a:r>
              <a:rPr lang="en-US" altLang="zh-CN" sz="2000" b="1" dirty="0">
                <a:latin typeface="+mn-ea"/>
              </a:rPr>
              <a:t>Maxwell 2D</a:t>
            </a:r>
            <a:r>
              <a:rPr lang="zh-CN" altLang="zh-CN" sz="2000" b="1" dirty="0">
                <a:latin typeface="+mn-ea"/>
              </a:rPr>
              <a:t>】</a:t>
            </a:r>
            <a:r>
              <a:rPr lang="en-US" altLang="zh-CN" sz="2000" b="1" dirty="0">
                <a:latin typeface="+mn-ea"/>
              </a:rPr>
              <a:t> | </a:t>
            </a:r>
            <a:r>
              <a:rPr lang="zh-CN" altLang="zh-CN" sz="2000" b="1" dirty="0">
                <a:latin typeface="+mn-ea"/>
              </a:rPr>
              <a:t>【</a:t>
            </a:r>
            <a:r>
              <a:rPr lang="en-US" altLang="zh-CN" sz="2000" b="1" dirty="0">
                <a:latin typeface="+mn-ea"/>
              </a:rPr>
              <a:t>Results】 | 【</a:t>
            </a:r>
            <a:r>
              <a:rPr lang="en-US" altLang="zh-CN" sz="2000" b="1" dirty="0" err="1">
                <a:latin typeface="+mn-ea"/>
              </a:rPr>
              <a:t>Soluton</a:t>
            </a:r>
            <a:r>
              <a:rPr lang="en-US" altLang="zh-CN" sz="2000" b="1" dirty="0">
                <a:latin typeface="+mn-ea"/>
              </a:rPr>
              <a:t> Data</a:t>
            </a:r>
            <a:r>
              <a:rPr lang="zh-CN" altLang="zh-CN" sz="2000" b="1" dirty="0">
                <a:latin typeface="+mn-ea"/>
              </a:rPr>
              <a:t>】</a:t>
            </a:r>
            <a:r>
              <a:rPr lang="zh-CN" altLang="en-US" sz="2000" b="1" dirty="0">
                <a:latin typeface="+mn-ea"/>
              </a:rPr>
              <a:t>，单击</a:t>
            </a:r>
            <a:r>
              <a:rPr lang="en-US" altLang="zh-CN" sz="2000" b="1" dirty="0">
                <a:latin typeface="+mn-ea"/>
              </a:rPr>
              <a:t>Matrix</a:t>
            </a:r>
            <a:r>
              <a:rPr lang="zh-CN" altLang="en-US" sz="2000" b="1" dirty="0">
                <a:latin typeface="+mn-ea"/>
              </a:rPr>
              <a:t>选项卡</a:t>
            </a:r>
            <a:r>
              <a:rPr lang="zh-CN" altLang="zh-CN" sz="2000" b="1" dirty="0">
                <a:latin typeface="+mn-ea"/>
              </a:rPr>
              <a:t>设置：</a:t>
            </a:r>
            <a:endParaRPr lang="en-US" altLang="zh-CN" sz="2000" b="1" dirty="0">
              <a:latin typeface="+mn-ea"/>
            </a:endParaRPr>
          </a:p>
          <a:p>
            <a:pPr marL="539750">
              <a:lnSpc>
                <a:spcPct val="120000"/>
              </a:lnSpc>
              <a:buFont typeface="Wingdings" panose="05000000000000000000" pitchFamily="2" charset="2"/>
              <a:buChar char="Ø"/>
            </a:pPr>
            <a:r>
              <a:rPr lang="en-US" altLang="zh-CN" sz="2000" b="1" dirty="0">
                <a:latin typeface="+mn-ea"/>
              </a:rPr>
              <a:t> Type</a:t>
            </a:r>
            <a:r>
              <a:rPr lang="zh-CN" altLang="en-US" sz="2000" b="1" dirty="0">
                <a:latin typeface="+mn-ea"/>
              </a:rPr>
              <a:t>：</a:t>
            </a:r>
            <a:r>
              <a:rPr lang="en-US" altLang="zh-CN" sz="2000" b="1" dirty="0">
                <a:latin typeface="+mn-ea"/>
              </a:rPr>
              <a:t>R</a:t>
            </a:r>
            <a:r>
              <a:rPr lang="zh-CN" altLang="en-US" sz="2000" b="1" dirty="0">
                <a:latin typeface="+mn-ea"/>
              </a:rPr>
              <a:t>，</a:t>
            </a:r>
            <a:r>
              <a:rPr lang="en-US" altLang="zh-CN" sz="2000" b="1" dirty="0">
                <a:latin typeface="+mn-ea"/>
              </a:rPr>
              <a:t>L</a:t>
            </a:r>
            <a:endParaRPr lang="en-US" altLang="zh-CN" sz="2000" b="1" dirty="0">
              <a:latin typeface="+mn-ea"/>
            </a:endParaRPr>
          </a:p>
          <a:p>
            <a:pPr marL="539750">
              <a:lnSpc>
                <a:spcPct val="120000"/>
              </a:lnSpc>
              <a:buFont typeface="Wingdings" panose="05000000000000000000" pitchFamily="2" charset="2"/>
              <a:buChar char="Ø"/>
            </a:pPr>
            <a:r>
              <a:rPr lang="en-US" altLang="zh-CN" sz="2000" b="1" dirty="0">
                <a:latin typeface="+mn-ea"/>
              </a:rPr>
              <a:t> </a:t>
            </a:r>
            <a:r>
              <a:rPr lang="zh-CN" altLang="zh-CN" sz="2000" b="1" dirty="0">
                <a:latin typeface="+mn-ea"/>
              </a:rPr>
              <a:t>勾选</a:t>
            </a:r>
            <a:r>
              <a:rPr lang="en-US" altLang="zh-CN" sz="2000" b="1" dirty="0">
                <a:latin typeface="+mn-ea"/>
              </a:rPr>
              <a:t>PostProcessed</a:t>
            </a:r>
            <a:r>
              <a:rPr lang="zh-CN" altLang="zh-CN" sz="2000" b="1" dirty="0">
                <a:latin typeface="+mn-ea"/>
              </a:rPr>
              <a:t>：</a:t>
            </a:r>
            <a:r>
              <a:rPr lang="en-US" altLang="zh-CN" sz="2000" b="1" dirty="0">
                <a:latin typeface="+mn-ea"/>
              </a:rPr>
              <a:t>√</a:t>
            </a:r>
            <a:r>
              <a:rPr lang="zh-CN" altLang="zh-CN" sz="2000" b="1" dirty="0">
                <a:latin typeface="+mn-ea"/>
              </a:rPr>
              <a:t>；</a:t>
            </a:r>
            <a:endParaRPr lang="en-US" altLang="zh-CN" sz="2000" b="1" dirty="0">
              <a:latin typeface="+mn-ea"/>
            </a:endParaRPr>
          </a:p>
          <a:p>
            <a:pPr marL="539750">
              <a:lnSpc>
                <a:spcPct val="120000"/>
              </a:lnSpc>
              <a:buFont typeface="Wingdings" panose="05000000000000000000" pitchFamily="2" charset="2"/>
              <a:buChar char="Ø"/>
            </a:pPr>
            <a:r>
              <a:rPr lang="en-US" altLang="zh-CN" sz="2000" b="1" dirty="0">
                <a:latin typeface="+mn-ea"/>
              </a:rPr>
              <a:t> Resistance </a:t>
            </a:r>
            <a:r>
              <a:rPr lang="en-US" altLang="zh-CN" sz="2000" b="1" dirty="0" err="1">
                <a:latin typeface="+mn-ea"/>
              </a:rPr>
              <a:t>Units:ohm</a:t>
            </a:r>
            <a:r>
              <a:rPr lang="en-US" altLang="zh-CN" sz="2000" b="1" dirty="0">
                <a:latin typeface="+mn-ea"/>
              </a:rPr>
              <a:t>; Inductance Units</a:t>
            </a:r>
            <a:r>
              <a:rPr lang="zh-CN" altLang="zh-CN" sz="2000" b="1" dirty="0">
                <a:latin typeface="+mn-ea"/>
              </a:rPr>
              <a:t>：</a:t>
            </a:r>
            <a:r>
              <a:rPr lang="en-US" altLang="zh-CN" sz="2000" b="1" dirty="0" err="1">
                <a:latin typeface="+mn-ea"/>
              </a:rPr>
              <a:t>mH</a:t>
            </a:r>
            <a:r>
              <a:rPr lang="zh-CN" altLang="zh-CN" sz="2000" b="1" dirty="0">
                <a:latin typeface="+mn-ea"/>
              </a:rPr>
              <a:t>；</a:t>
            </a:r>
            <a:endParaRPr lang="en-US" altLang="zh-CN" sz="2000" b="1" dirty="0">
              <a:latin typeface="+mn-ea"/>
            </a:endParaRPr>
          </a:p>
          <a:p>
            <a:pPr marL="539750">
              <a:lnSpc>
                <a:spcPct val="120000"/>
              </a:lnSpc>
              <a:buFont typeface="Wingdings" panose="05000000000000000000" pitchFamily="2" charset="2"/>
              <a:buChar char="Ø"/>
            </a:pPr>
            <a:r>
              <a:rPr lang="en-US" altLang="zh-CN" sz="2000" b="1" dirty="0">
                <a:latin typeface="+mn-ea"/>
              </a:rPr>
              <a:t> </a:t>
            </a:r>
            <a:r>
              <a:rPr lang="zh-CN" altLang="zh-CN" sz="2000" b="1" dirty="0">
                <a:latin typeface="+mn-ea"/>
              </a:rPr>
              <a:t>螺线管线圈的</a:t>
            </a:r>
            <a:r>
              <a:rPr lang="zh-CN" altLang="zh-CN" sz="2000" b="1" dirty="0">
                <a:solidFill>
                  <a:srgbClr val="FF3300"/>
                </a:solidFill>
                <a:latin typeface="+mn-ea"/>
              </a:rPr>
              <a:t>电感值为</a:t>
            </a:r>
            <a:r>
              <a:rPr lang="en-US" altLang="zh-CN" sz="2000" b="1" u="sng" dirty="0">
                <a:solidFill>
                  <a:srgbClr val="FF3300"/>
                </a:solidFill>
                <a:latin typeface="+mn-ea"/>
              </a:rPr>
              <a:t>     </a:t>
            </a:r>
            <a:r>
              <a:rPr lang="zh-CN" altLang="en-US" sz="2000" b="1" u="sng" dirty="0">
                <a:solidFill>
                  <a:srgbClr val="FF3300"/>
                </a:solidFill>
                <a:latin typeface="+mn-ea"/>
              </a:rPr>
              <a:t>？  </a:t>
            </a:r>
            <a:r>
              <a:rPr lang="en-US" altLang="zh-CN" sz="2000" b="1" dirty="0" err="1">
                <a:solidFill>
                  <a:srgbClr val="FF3300"/>
                </a:solidFill>
                <a:latin typeface="+mn-ea"/>
              </a:rPr>
              <a:t>mH</a:t>
            </a:r>
            <a:r>
              <a:rPr lang="zh-CN" altLang="zh-CN" sz="2000" b="1" dirty="0">
                <a:solidFill>
                  <a:srgbClr val="FF3300"/>
                </a:solidFill>
                <a:latin typeface="+mn-ea"/>
              </a:rPr>
              <a:t>，</a:t>
            </a:r>
            <a:r>
              <a:rPr lang="zh-CN" altLang="en-US" sz="2000" b="1" dirty="0">
                <a:solidFill>
                  <a:srgbClr val="FF3300"/>
                </a:solidFill>
                <a:latin typeface="+mn-ea"/>
              </a:rPr>
              <a:t>请与实际线圈</a:t>
            </a:r>
            <a:r>
              <a:rPr lang="en-US" altLang="zh-CN" sz="2000" b="1" dirty="0">
                <a:solidFill>
                  <a:srgbClr val="FF3300"/>
                </a:solidFill>
                <a:latin typeface="+mn-ea"/>
              </a:rPr>
              <a:t>(42mH)</a:t>
            </a:r>
            <a:r>
              <a:rPr lang="zh-CN" altLang="en-US" sz="2000" b="1" dirty="0">
                <a:solidFill>
                  <a:srgbClr val="FF3300"/>
                </a:solidFill>
                <a:latin typeface="+mn-ea"/>
              </a:rPr>
              <a:t>对比</a:t>
            </a:r>
            <a:r>
              <a:rPr lang="zh-CN" altLang="zh-CN" sz="2000" b="1" dirty="0">
                <a:latin typeface="+mn-ea"/>
              </a:rPr>
              <a:t>。</a:t>
            </a:r>
            <a:endParaRPr lang="zh-CN" altLang="zh-CN" sz="2000" b="1" dirty="0">
              <a:latin typeface="+mn-ea"/>
            </a:endParaRPr>
          </a:p>
          <a:p>
            <a:pPr marL="539750">
              <a:lnSpc>
                <a:spcPct val="120000"/>
              </a:lnSpc>
              <a:buFont typeface="Wingdings" panose="05000000000000000000" pitchFamily="2" charset="2"/>
              <a:buChar char="Ø"/>
            </a:pPr>
            <a:endParaRPr lang="en-US" altLang="zh-CN" sz="2000" b="1" dirty="0">
              <a:latin typeface="+mn-ea"/>
            </a:endParaRPr>
          </a:p>
        </p:txBody>
      </p:sp>
      <p:sp>
        <p:nvSpPr>
          <p:cNvPr id="6" name="矩形 5"/>
          <p:cNvSpPr/>
          <p:nvPr/>
        </p:nvSpPr>
        <p:spPr>
          <a:xfrm>
            <a:off x="6313551" y="4972256"/>
            <a:ext cx="862753" cy="50257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709306" y="4687748"/>
            <a:ext cx="720943" cy="25374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257326" y="5124656"/>
            <a:ext cx="960698" cy="35017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044142" y="5474827"/>
            <a:ext cx="1066459" cy="35017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涡流场仿真空心螺线管线圈的步骤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64650" y="987334"/>
            <a:ext cx="11035466" cy="4877554"/>
          </a:xfrm>
          <a:prstGeom prst="rect">
            <a:avLst/>
          </a:prstGeom>
        </p:spPr>
        <p:txBody>
          <a:bodyPr wrap="square">
            <a:spAutoFit/>
          </a:bodyPr>
          <a:lstStyle/>
          <a:p>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13.</a:t>
            </a:r>
            <a:r>
              <a:rPr lang="zh-CN" altLang="en-US" sz="2400" b="1" kern="100" dirty="0">
                <a:solidFill>
                  <a:srgbClr val="0000FF"/>
                </a:solidFill>
                <a:latin typeface="等线" panose="02010600030101010101" charset="-122"/>
                <a:cs typeface="Times New Roman" panose="02020603050405020304" pitchFamily="18" charset="0"/>
              </a:rPr>
              <a:t>后处理</a:t>
            </a:r>
            <a:endParaRPr lang="zh-CN" altLang="zh-CN" sz="2400" b="1" kern="100" dirty="0">
              <a:solidFill>
                <a:srgbClr val="0000FF"/>
              </a:solidFill>
              <a:latin typeface="等线" panose="02010600030101010101" charset="-122"/>
              <a:cs typeface="Times New Roman" panose="02020603050405020304" pitchFamily="18" charset="0"/>
            </a:endParaRPr>
          </a:p>
          <a:p>
            <a:pPr>
              <a:lnSpc>
                <a:spcPct val="150000"/>
              </a:lnSpc>
              <a:spcBef>
                <a:spcPts val="600"/>
              </a:spcBef>
            </a:pPr>
            <a:r>
              <a:rPr lang="en-US" altLang="zh-CN" sz="2000" b="1" dirty="0">
                <a:latin typeface="+mn-ea"/>
              </a:rPr>
              <a:t>2.</a:t>
            </a:r>
            <a:r>
              <a:rPr lang="zh-CN" altLang="zh-CN" sz="2000" b="1" dirty="0">
                <a:latin typeface="+mn-ea"/>
              </a:rPr>
              <a:t>查看</a:t>
            </a:r>
            <a:r>
              <a:rPr lang="zh-CN" altLang="en-US" sz="2000" b="1" dirty="0">
                <a:latin typeface="+mn-ea"/>
              </a:rPr>
              <a:t>空心</a:t>
            </a:r>
            <a:r>
              <a:rPr lang="zh-CN" altLang="zh-CN" sz="2000" b="1" dirty="0">
                <a:latin typeface="+mn-ea"/>
              </a:rPr>
              <a:t>螺线管</a:t>
            </a:r>
            <a:r>
              <a:rPr lang="zh-CN" altLang="en-US" sz="2000" b="1" dirty="0">
                <a:latin typeface="+mn-ea"/>
              </a:rPr>
              <a:t>中心轴线上的磁场强度</a:t>
            </a:r>
            <a:r>
              <a:rPr lang="en-US" altLang="zh-CN" sz="2000" b="1" dirty="0">
                <a:latin typeface="+mn-ea"/>
              </a:rPr>
              <a:t>H</a:t>
            </a:r>
            <a:r>
              <a:rPr lang="zh-CN" altLang="en-US" sz="2000" b="1" dirty="0">
                <a:latin typeface="+mn-ea"/>
              </a:rPr>
              <a:t>分布。</a:t>
            </a:r>
            <a:endParaRPr lang="en-US" altLang="zh-CN" sz="2000" b="1" dirty="0">
              <a:latin typeface="+mn-ea"/>
            </a:endParaRPr>
          </a:p>
          <a:p>
            <a:pPr marL="360045">
              <a:lnSpc>
                <a:spcPct val="150000"/>
              </a:lnSpc>
              <a:spcBef>
                <a:spcPts val="600"/>
              </a:spcBef>
            </a:pPr>
            <a:r>
              <a:rPr lang="en-US" altLang="zh-CN" sz="2000" b="1" dirty="0">
                <a:latin typeface="+mn-ea"/>
              </a:rPr>
              <a:t>1</a:t>
            </a:r>
            <a:r>
              <a:rPr lang="zh-CN" altLang="en-US" sz="2000" b="1" dirty="0">
                <a:latin typeface="+mn-ea"/>
              </a:rPr>
              <a:t>）定义一条轴线上的直线，</a:t>
            </a:r>
            <a:r>
              <a:rPr lang="en-US" altLang="zh-CN" sz="2000" b="1" dirty="0">
                <a:latin typeface="+mn-ea"/>
              </a:rPr>
              <a:t> </a:t>
            </a:r>
            <a:r>
              <a:rPr lang="en-US" altLang="zh-CN" sz="2000" dirty="0">
                <a:latin typeface="+mn-ea"/>
              </a:rPr>
              <a:t>【 </a:t>
            </a:r>
            <a:r>
              <a:rPr lang="en-US" altLang="zh-CN" sz="2000" dirty="0"/>
              <a:t>Draw </a:t>
            </a:r>
            <a:r>
              <a:rPr lang="en-US" altLang="zh-CN" sz="2000" dirty="0">
                <a:latin typeface="+mn-ea"/>
              </a:rPr>
              <a:t>】|【</a:t>
            </a:r>
            <a:r>
              <a:rPr lang="en-US" altLang="zh-CN" sz="2000" dirty="0"/>
              <a:t>Line </a:t>
            </a:r>
            <a:r>
              <a:rPr lang="en-US" altLang="zh-CN" sz="2000" dirty="0">
                <a:latin typeface="+mn-ea"/>
              </a:rPr>
              <a:t>】</a:t>
            </a:r>
            <a:r>
              <a:rPr lang="zh-CN" altLang="en-US" sz="2000" dirty="0"/>
              <a:t>，弹出询问是否创建非模型对象窗口，选择</a:t>
            </a:r>
            <a:r>
              <a:rPr lang="en-US" altLang="zh-CN" sz="2000" dirty="0"/>
              <a:t>【</a:t>
            </a:r>
            <a:r>
              <a:rPr lang="zh-CN" altLang="en-US" sz="2000" dirty="0"/>
              <a:t>是</a:t>
            </a:r>
            <a:r>
              <a:rPr lang="en-US" altLang="zh-CN" sz="2000" dirty="0"/>
              <a:t>】</a:t>
            </a:r>
            <a:r>
              <a:rPr lang="zh-CN" altLang="en-US" sz="2000" dirty="0"/>
              <a:t>，表示所定义直线并非模型对象。在屏幕右下角的坐标输入框输入直线起点和终点坐标，在工程树栏可看到所定义的直线名称为</a:t>
            </a:r>
            <a:r>
              <a:rPr lang="en-US" sz="2000" dirty="0"/>
              <a:t>Polyline1</a:t>
            </a:r>
            <a:r>
              <a:rPr lang="zh-CN" altLang="en-US" sz="2000" dirty="0"/>
              <a:t>。</a:t>
            </a:r>
            <a:endParaRPr lang="en-US" altLang="zh-CN" sz="2000" b="1" dirty="0">
              <a:latin typeface="+mn-ea"/>
            </a:endParaRPr>
          </a:p>
          <a:p>
            <a:pPr marL="360045">
              <a:lnSpc>
                <a:spcPct val="150000"/>
              </a:lnSpc>
              <a:spcBef>
                <a:spcPts val="600"/>
              </a:spcBef>
            </a:pPr>
            <a:r>
              <a:rPr lang="en-US" altLang="zh-CN" sz="2000" b="1" dirty="0">
                <a:latin typeface="+mn-ea"/>
              </a:rPr>
              <a:t>2</a:t>
            </a:r>
            <a:r>
              <a:rPr lang="zh-CN" altLang="en-US" sz="2000" b="1" dirty="0">
                <a:latin typeface="+mn-ea"/>
              </a:rPr>
              <a:t>）查看直线上的磁场强度</a:t>
            </a:r>
            <a:r>
              <a:rPr lang="en-US" altLang="zh-CN" sz="2000" b="1" dirty="0">
                <a:latin typeface="+mn-ea"/>
              </a:rPr>
              <a:t>H</a:t>
            </a:r>
            <a:r>
              <a:rPr lang="zh-CN" altLang="en-US" sz="2000" b="1" dirty="0">
                <a:latin typeface="+mn-ea"/>
              </a:rPr>
              <a:t>分布，</a:t>
            </a:r>
            <a:r>
              <a:rPr lang="en-US" altLang="zh-CN" sz="2000" dirty="0"/>
              <a:t>【</a:t>
            </a:r>
            <a:r>
              <a:rPr lang="en-US" sz="2000" dirty="0"/>
              <a:t>Maxwell 2D</a:t>
            </a:r>
            <a:r>
              <a:rPr lang="en-US" altLang="zh-CN" sz="2000" dirty="0"/>
              <a:t>】</a:t>
            </a:r>
            <a:r>
              <a:rPr lang="en-US" sz="2000" dirty="0"/>
              <a:t>|</a:t>
            </a:r>
            <a:r>
              <a:rPr lang="en-US" altLang="zh-CN" sz="2000" dirty="0"/>
              <a:t>【</a:t>
            </a:r>
            <a:r>
              <a:rPr lang="en-US" sz="2000" dirty="0"/>
              <a:t>Results</a:t>
            </a:r>
            <a:r>
              <a:rPr lang="en-US" altLang="zh-CN" sz="2000" dirty="0"/>
              <a:t>】</a:t>
            </a:r>
            <a:r>
              <a:rPr lang="en-US" sz="2000" dirty="0"/>
              <a:t>|</a:t>
            </a:r>
            <a:r>
              <a:rPr lang="en-US" altLang="zh-CN" sz="2000" dirty="0"/>
              <a:t>【</a:t>
            </a:r>
            <a:r>
              <a:rPr lang="en-US" sz="2000" dirty="0"/>
              <a:t>Create Fields Report</a:t>
            </a:r>
            <a:r>
              <a:rPr lang="en-US" altLang="zh-CN" sz="2000" dirty="0"/>
              <a:t>】</a:t>
            </a:r>
            <a:r>
              <a:rPr lang="en-US" sz="2000" dirty="0"/>
              <a:t>|</a:t>
            </a:r>
            <a:r>
              <a:rPr lang="en-US" altLang="zh-CN" sz="2000" dirty="0"/>
              <a:t>【</a:t>
            </a:r>
            <a:r>
              <a:rPr lang="en-US" sz="2000" dirty="0"/>
              <a:t>Rectangular Report</a:t>
            </a:r>
            <a:r>
              <a:rPr lang="en-US" altLang="zh-CN" sz="2000" dirty="0"/>
              <a:t>】</a:t>
            </a:r>
            <a:r>
              <a:rPr lang="zh-CN" altLang="en-US" sz="2000" dirty="0"/>
              <a:t>，打开</a:t>
            </a:r>
            <a:r>
              <a:rPr lang="en-US" sz="2000" dirty="0"/>
              <a:t>Report</a:t>
            </a:r>
            <a:r>
              <a:rPr lang="zh-CN" altLang="en-US" sz="2000" dirty="0"/>
              <a:t>对话框，在</a:t>
            </a:r>
            <a:r>
              <a:rPr lang="en-US" sz="2000" dirty="0"/>
              <a:t>Context</a:t>
            </a:r>
            <a:r>
              <a:rPr lang="zh-CN" altLang="en-US" sz="2000" dirty="0"/>
              <a:t>栏选择</a:t>
            </a:r>
            <a:r>
              <a:rPr lang="en-US" sz="2000" dirty="0"/>
              <a:t>Geometry</a:t>
            </a:r>
            <a:r>
              <a:rPr lang="zh-CN" altLang="en-US" sz="2000" dirty="0"/>
              <a:t>：</a:t>
            </a:r>
            <a:r>
              <a:rPr lang="en-US" sz="2000" dirty="0"/>
              <a:t>Polyline1</a:t>
            </a:r>
            <a:r>
              <a:rPr lang="zh-CN" altLang="en-US" sz="2000" dirty="0"/>
              <a:t>；</a:t>
            </a:r>
            <a:r>
              <a:rPr lang="en-US" sz="2000" dirty="0"/>
              <a:t>Category</a:t>
            </a:r>
            <a:r>
              <a:rPr lang="zh-CN" altLang="en-US" sz="2000" dirty="0"/>
              <a:t>：</a:t>
            </a:r>
            <a:r>
              <a:rPr lang="en-US" sz="2000" dirty="0"/>
              <a:t>Calculator Expressions</a:t>
            </a:r>
            <a:r>
              <a:rPr lang="zh-CN" altLang="en-US" sz="2000" dirty="0"/>
              <a:t>；</a:t>
            </a:r>
            <a:r>
              <a:rPr lang="en-US" sz="2000" dirty="0"/>
              <a:t>Quantity</a:t>
            </a:r>
            <a:r>
              <a:rPr lang="zh-CN" altLang="en-US" sz="2000" dirty="0"/>
              <a:t>：</a:t>
            </a:r>
            <a:r>
              <a:rPr lang="en-US" sz="2000" dirty="0" err="1"/>
              <a:t>Mag_H</a:t>
            </a:r>
            <a:r>
              <a:rPr lang="zh-CN" altLang="en-US" sz="2000" dirty="0"/>
              <a:t>；单击</a:t>
            </a:r>
            <a:r>
              <a:rPr lang="en-US" altLang="zh-CN" sz="2000" dirty="0"/>
              <a:t>【</a:t>
            </a:r>
            <a:r>
              <a:rPr lang="en-US" sz="2000" dirty="0"/>
              <a:t>New Report</a:t>
            </a:r>
            <a:r>
              <a:rPr lang="en-US" altLang="zh-CN" sz="2000" dirty="0"/>
              <a:t>】</a:t>
            </a:r>
            <a:r>
              <a:rPr lang="zh-CN" altLang="en-US" sz="2000" dirty="0"/>
              <a:t>。</a:t>
            </a:r>
            <a:endParaRPr lang="en-US" altLang="zh-CN" sz="2000" dirty="0"/>
          </a:p>
          <a:p>
            <a:pPr marL="360045">
              <a:lnSpc>
                <a:spcPct val="150000"/>
              </a:lnSpc>
              <a:spcBef>
                <a:spcPts val="600"/>
              </a:spcBef>
            </a:pPr>
            <a:r>
              <a:rPr lang="en-US" altLang="zh-CN" sz="2000" b="1" dirty="0">
                <a:latin typeface="+mn-ea"/>
              </a:rPr>
              <a:t>3</a:t>
            </a:r>
            <a:r>
              <a:rPr lang="zh-CN" altLang="en-US" sz="2000" b="1" dirty="0">
                <a:latin typeface="+mn-ea"/>
              </a:rPr>
              <a:t>）查看直线上点的磁场强度</a:t>
            </a:r>
            <a:r>
              <a:rPr lang="en-US" altLang="zh-CN" sz="2000" b="1" dirty="0">
                <a:latin typeface="+mn-ea"/>
              </a:rPr>
              <a:t>H</a:t>
            </a:r>
            <a:r>
              <a:rPr lang="zh-CN" altLang="en-US" sz="2000" b="1" dirty="0">
                <a:latin typeface="+mn-ea"/>
              </a:rPr>
              <a:t>值，</a:t>
            </a:r>
            <a:r>
              <a:rPr lang="zh-CN" altLang="en-US" sz="2000" dirty="0">
                <a:latin typeface="+mn-ea"/>
              </a:rPr>
              <a:t>保持在步骤</a:t>
            </a:r>
            <a:r>
              <a:rPr lang="en-US" altLang="zh-CN" sz="2000" dirty="0">
                <a:latin typeface="+mn-ea"/>
              </a:rPr>
              <a:t>2</a:t>
            </a:r>
            <a:r>
              <a:rPr lang="zh-CN" altLang="en-US" sz="2000" dirty="0">
                <a:latin typeface="+mn-ea"/>
              </a:rPr>
              <a:t>）的磁场强度</a:t>
            </a:r>
            <a:r>
              <a:rPr lang="en-US" altLang="zh-CN" sz="2000" dirty="0">
                <a:latin typeface="+mn-ea"/>
              </a:rPr>
              <a:t>H</a:t>
            </a:r>
            <a:r>
              <a:rPr lang="zh-CN" altLang="en-US" sz="2000" dirty="0">
                <a:latin typeface="+mn-ea"/>
              </a:rPr>
              <a:t>分布图像界面，</a:t>
            </a:r>
            <a:r>
              <a:rPr lang="en-US" altLang="zh-CN" sz="2000" b="1" dirty="0">
                <a:latin typeface="+mn-ea"/>
              </a:rPr>
              <a:t> </a:t>
            </a:r>
            <a:r>
              <a:rPr lang="en-US" altLang="zh-CN" sz="2000" dirty="0" err="1">
                <a:latin typeface="+mn-ea"/>
              </a:rPr>
              <a:t>菜单栏选择</a:t>
            </a:r>
            <a:r>
              <a:rPr lang="en-US" altLang="zh-CN" sz="2000" b="1" dirty="0">
                <a:latin typeface="+mn-ea"/>
              </a:rPr>
              <a:t> </a:t>
            </a:r>
            <a:r>
              <a:rPr lang="en-US" altLang="zh-CN" sz="2000" dirty="0">
                <a:latin typeface="+mn-ea"/>
              </a:rPr>
              <a:t>【Report 2D】|【Marker】|【Add Marker】</a:t>
            </a:r>
            <a:r>
              <a:rPr lang="zh-CN" altLang="en-US" sz="2000" dirty="0">
                <a:latin typeface="+mn-ea"/>
              </a:rPr>
              <a:t>，在图线上单击选点，查看单个值。</a:t>
            </a:r>
            <a:endParaRPr lang="en-US" altLang="zh-CN" dirty="0">
              <a:latin typeface="+mn-ea"/>
            </a:endParaRPr>
          </a:p>
        </p:txBody>
      </p:sp>
      <p:sp>
        <p:nvSpPr>
          <p:cNvPr id="4"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涡流场仿真空心螺线管线圈的步骤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64650" y="987334"/>
            <a:ext cx="11035466" cy="2994666"/>
          </a:xfrm>
          <a:prstGeom prst="rect">
            <a:avLst/>
          </a:prstGeom>
        </p:spPr>
        <p:txBody>
          <a:bodyPr wrap="square">
            <a:spAutoFit/>
          </a:bodyPr>
          <a:lstStyle/>
          <a:p>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14.</a:t>
            </a:r>
            <a:r>
              <a:rPr lang="zh-CN" altLang="en-US" sz="2400" b="1" kern="100" dirty="0">
                <a:solidFill>
                  <a:srgbClr val="0000FF"/>
                </a:solidFill>
                <a:latin typeface="等线" panose="02010600030101010101" charset="-122"/>
                <a:cs typeface="Times New Roman" panose="02020603050405020304" pitchFamily="18" charset="0"/>
              </a:rPr>
              <a:t>后处理</a:t>
            </a:r>
            <a:endParaRPr lang="en-US" altLang="zh-CN" sz="2400" b="1" kern="100" dirty="0">
              <a:solidFill>
                <a:srgbClr val="0000FF"/>
              </a:solidFill>
              <a:latin typeface="等线" panose="02010600030101010101" charset="-122"/>
              <a:cs typeface="Times New Roman" panose="02020603050405020304" pitchFamily="18" charset="0"/>
            </a:endParaRPr>
          </a:p>
          <a:p>
            <a:r>
              <a:rPr lang="en-US" altLang="zh-CN" sz="2000" b="1" dirty="0">
                <a:latin typeface="+mn-ea"/>
              </a:rPr>
              <a:t>3. </a:t>
            </a:r>
            <a:r>
              <a:rPr lang="zh-CN" altLang="en-US" sz="2000" b="1" dirty="0">
                <a:latin typeface="+mn-ea"/>
              </a:rPr>
              <a:t>仿真含铁芯</a:t>
            </a:r>
            <a:r>
              <a:rPr lang="zh-CN" altLang="zh-CN" sz="2000" b="1" dirty="0">
                <a:latin typeface="+mn-ea"/>
              </a:rPr>
              <a:t>螺线管</a:t>
            </a:r>
            <a:r>
              <a:rPr lang="zh-CN" altLang="en-US" sz="2000" b="1" dirty="0">
                <a:latin typeface="+mn-ea"/>
              </a:rPr>
              <a:t>中心轴线上的磁场强度</a:t>
            </a:r>
            <a:r>
              <a:rPr lang="en-US" altLang="zh-CN" sz="2000" b="1" dirty="0">
                <a:latin typeface="+mn-ea"/>
              </a:rPr>
              <a:t>H</a:t>
            </a:r>
            <a:r>
              <a:rPr lang="zh-CN" altLang="en-US" sz="2000" b="1" dirty="0">
                <a:latin typeface="+mn-ea"/>
              </a:rPr>
              <a:t>分布。</a:t>
            </a:r>
            <a:endParaRPr lang="en-US" altLang="zh-CN" sz="2000" b="1" dirty="0">
              <a:latin typeface="+mn-ea"/>
            </a:endParaRPr>
          </a:p>
          <a:p>
            <a:pPr marL="360045">
              <a:lnSpc>
                <a:spcPct val="150000"/>
              </a:lnSpc>
              <a:spcBef>
                <a:spcPts val="600"/>
              </a:spcBef>
            </a:pPr>
            <a:r>
              <a:rPr lang="en-US" altLang="zh-CN" sz="2000" b="1" dirty="0">
                <a:latin typeface="+mn-ea"/>
              </a:rPr>
              <a:t>1</a:t>
            </a:r>
            <a:r>
              <a:rPr lang="zh-CN" altLang="en-US" sz="2000" b="1" dirty="0">
                <a:latin typeface="+mn-ea"/>
              </a:rPr>
              <a:t>）在空心螺线管的基础上，绘制铁芯。</a:t>
            </a:r>
            <a:endParaRPr lang="en-US" altLang="zh-CN" sz="2000" b="1" dirty="0">
              <a:latin typeface="+mn-ea"/>
            </a:endParaRPr>
          </a:p>
          <a:p>
            <a:pPr marL="360045">
              <a:lnSpc>
                <a:spcPct val="150000"/>
              </a:lnSpc>
              <a:spcBef>
                <a:spcPts val="600"/>
              </a:spcBef>
            </a:pPr>
            <a:r>
              <a:rPr lang="en-US" altLang="zh-CN" sz="2000" b="1" dirty="0">
                <a:latin typeface="+mn-ea"/>
              </a:rPr>
              <a:t>2</a:t>
            </a:r>
            <a:r>
              <a:rPr lang="zh-CN" altLang="en-US" sz="2000" b="1" dirty="0">
                <a:latin typeface="+mn-ea"/>
              </a:rPr>
              <a:t>）求含铁芯螺线管线圈的电感值</a:t>
            </a:r>
            <a:r>
              <a:rPr lang="en-US" altLang="zh-CN" sz="2000" b="1" dirty="0">
                <a:latin typeface="+mn-ea"/>
              </a:rPr>
              <a:t>L</a:t>
            </a:r>
            <a:r>
              <a:rPr lang="zh-CN" altLang="en-US" sz="2000" b="1" dirty="0">
                <a:latin typeface="+mn-ea"/>
              </a:rPr>
              <a:t>。</a:t>
            </a:r>
            <a:endParaRPr lang="en-US" altLang="zh-CN" sz="2000" b="1" dirty="0">
              <a:latin typeface="+mn-ea"/>
            </a:endParaRPr>
          </a:p>
          <a:p>
            <a:pPr marL="360045">
              <a:lnSpc>
                <a:spcPct val="150000"/>
              </a:lnSpc>
              <a:spcBef>
                <a:spcPts val="600"/>
              </a:spcBef>
            </a:pPr>
            <a:r>
              <a:rPr lang="en-US" altLang="zh-CN" sz="2000" b="1" dirty="0">
                <a:latin typeface="+mn-ea"/>
              </a:rPr>
              <a:t>3</a:t>
            </a:r>
            <a:r>
              <a:rPr lang="zh-CN" altLang="en-US" sz="2000" b="1" dirty="0">
                <a:latin typeface="+mn-ea"/>
              </a:rPr>
              <a:t>）求含铁芯螺线管线圈的轴线上的磁场强度</a:t>
            </a:r>
            <a:r>
              <a:rPr lang="en-US" altLang="zh-CN" sz="2000" b="1" dirty="0">
                <a:latin typeface="+mn-ea"/>
              </a:rPr>
              <a:t>H</a:t>
            </a:r>
            <a:r>
              <a:rPr lang="zh-CN" altLang="en-US" sz="2000" b="1" dirty="0">
                <a:latin typeface="+mn-ea"/>
              </a:rPr>
              <a:t>分布。</a:t>
            </a:r>
            <a:endParaRPr lang="en-US" altLang="zh-CN" sz="2000" b="1" dirty="0">
              <a:latin typeface="+mn-ea"/>
            </a:endParaRPr>
          </a:p>
          <a:p>
            <a:pPr>
              <a:lnSpc>
                <a:spcPct val="120000"/>
              </a:lnSpc>
            </a:pPr>
            <a:endParaRPr lang="en-US" altLang="zh-CN" b="1" dirty="0">
              <a:latin typeface="+mn-ea"/>
            </a:endParaRPr>
          </a:p>
          <a:p>
            <a:endParaRPr lang="en-US" altLang="zh-CN" b="1" dirty="0">
              <a:latin typeface="+mn-ea"/>
            </a:endParaRPr>
          </a:p>
        </p:txBody>
      </p:sp>
      <p:sp>
        <p:nvSpPr>
          <p:cNvPr id="4"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涡流场仿真空心螺线管线圈的步骤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498600" y="4285734"/>
            <a:ext cx="9099550" cy="646331"/>
          </a:xfrm>
          <a:prstGeom prst="rect">
            <a:avLst/>
          </a:prstGeom>
          <a:noFill/>
        </p:spPr>
        <p:txBody>
          <a:bodyPr wrap="square">
            <a:spAutoFit/>
          </a:bodyPr>
          <a:lstStyle/>
          <a:p>
            <a:r>
              <a:rPr lang="zh-CN" altLang="en-US" sz="3600" b="1" kern="100" dirty="0">
                <a:solidFill>
                  <a:srgbClr val="FF0000"/>
                </a:solidFill>
                <a:latin typeface="等线" panose="02010600030101010101" charset="-122"/>
                <a:cs typeface="Times New Roman" panose="02020603050405020304" pitchFamily="18" charset="0"/>
              </a:rPr>
              <a:t>（本业仿真结果需要粘贴至实验报告册）</a:t>
            </a:r>
            <a:endParaRPr lang="en-US" altLang="zh-CN" sz="1600" b="1" dirty="0">
              <a:solidFill>
                <a:srgbClr val="FF0000"/>
              </a:solidFill>
              <a:latin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23626" y="1880971"/>
            <a:ext cx="7238767" cy="3136799"/>
          </a:xfrm>
          <a:prstGeom prst="rect">
            <a:avLst/>
          </a:prstGeom>
        </p:spPr>
      </p:pic>
      <p:sp>
        <p:nvSpPr>
          <p:cNvPr id="4" name="文本框 3"/>
          <p:cNvSpPr txBox="1"/>
          <p:nvPr/>
        </p:nvSpPr>
        <p:spPr>
          <a:xfrm>
            <a:off x="1661159" y="742950"/>
            <a:ext cx="4434840" cy="369332"/>
          </a:xfrm>
          <a:prstGeom prst="rect">
            <a:avLst/>
          </a:prstGeom>
          <a:noFill/>
        </p:spPr>
        <p:txBody>
          <a:bodyPr wrap="square" rtlCol="0">
            <a:spAutoFit/>
          </a:bodyPr>
          <a:lstStyle/>
          <a:p>
            <a:r>
              <a:rPr lang="zh-CN" altLang="en-US" dirty="0"/>
              <a:t>问题</a:t>
            </a:r>
            <a:r>
              <a:rPr lang="en-US" altLang="zh-CN" dirty="0"/>
              <a:t>1</a:t>
            </a:r>
            <a:r>
              <a:rPr lang="zh-CN" altLang="en-US" dirty="0"/>
              <a:t>： </a:t>
            </a:r>
            <a:r>
              <a:rPr lang="en-US" altLang="zh-CN" dirty="0"/>
              <a:t>Non Model</a:t>
            </a:r>
            <a:r>
              <a:rPr lang="zh-CN" altLang="en-US" dirty="0"/>
              <a:t>问题</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9"/>
          <p:cNvSpPr txBox="1"/>
          <p:nvPr/>
        </p:nvSpPr>
        <p:spPr>
          <a:xfrm>
            <a:off x="738180" y="2727146"/>
            <a:ext cx="10715641"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ANSYS Maxwell</a:t>
            </a:r>
            <a:r>
              <a:rPr lang="zh-CN" altLang="en-US" sz="3600" b="1" dirty="0">
                <a:solidFill>
                  <a:srgbClr val="0000FF"/>
                </a:solidFill>
                <a:latin typeface="微软雅黑" panose="020B0503020204020204" pitchFamily="34" charset="-122"/>
                <a:ea typeface="微软雅黑" panose="020B0503020204020204" pitchFamily="34" charset="-122"/>
              </a:rPr>
              <a:t>瞬态场</a:t>
            </a:r>
            <a:r>
              <a:rPr lang="zh-CN" altLang="en-US" sz="3600" b="1" dirty="0">
                <a:solidFill>
                  <a:srgbClr val="00467F"/>
                </a:solidFill>
                <a:latin typeface="微软雅黑" panose="020B0503020204020204" pitchFamily="34" charset="-122"/>
                <a:ea typeface="微软雅黑" panose="020B0503020204020204" pitchFamily="34" charset="-122"/>
              </a:rPr>
              <a:t>仿真空心螺线管线圈的步骤</a:t>
            </a:r>
            <a:endParaRPr lang="zh-CN" altLang="en-US" sz="36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81378" y="1017060"/>
            <a:ext cx="10758312" cy="5115560"/>
          </a:xfrm>
          <a:prstGeom prst="rect">
            <a:avLst/>
          </a:prstGeom>
        </p:spPr>
        <p:txBody>
          <a:bodyPr wrap="square">
            <a:spAutoFit/>
          </a:bodyPr>
          <a:lstStyle/>
          <a:p>
            <a:pPr marL="0" lvl="1" indent="0" algn="just">
              <a:lnSpc>
                <a:spcPct val="135000"/>
              </a:lnSpc>
              <a:spcAft>
                <a:spcPts val="600"/>
              </a:spcAft>
              <a:buFont typeface="+mj-lt"/>
              <a:buNone/>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sym typeface="+mn-ea"/>
              </a:rPr>
              <a:t>1.</a:t>
            </a:r>
            <a:r>
              <a:rPr lang="zh-CN" altLang="en-US" sz="2400" b="1" kern="100" dirty="0">
                <a:solidFill>
                  <a:srgbClr val="0000FF"/>
                </a:solidFill>
                <a:latin typeface="+mn-ea"/>
                <a:cs typeface="Times New Roman" panose="02020603050405020304" pitchFamily="18" charset="0"/>
              </a:rPr>
              <a:t>打开软件。</a:t>
            </a:r>
            <a:endParaRPr lang="en-US" altLang="zh-CN" sz="2400" b="1" kern="100" dirty="0">
              <a:solidFill>
                <a:srgbClr val="0000FF"/>
              </a:solidFill>
              <a:latin typeface="+mn-ea"/>
              <a:cs typeface="Times New Roman" panose="02020603050405020304" pitchFamily="18" charset="0"/>
            </a:endParaRPr>
          </a:p>
          <a:p>
            <a:pPr marL="360045" lvl="1" algn="just">
              <a:lnSpc>
                <a:spcPct val="135000"/>
              </a:lnSpc>
              <a:spcAft>
                <a:spcPts val="600"/>
              </a:spcAft>
              <a:tabLst>
                <a:tab pos="228600" algn="l"/>
              </a:tabLst>
            </a:pPr>
            <a:r>
              <a:rPr lang="zh-CN" altLang="zh-CN" sz="2000" b="1" kern="100" dirty="0">
                <a:latin typeface="+mn-ea"/>
                <a:cs typeface="Times New Roman" panose="02020603050405020304" pitchFamily="18" charset="0"/>
              </a:rPr>
              <a:t>双击桌面</a:t>
            </a:r>
            <a:r>
              <a:rPr lang="en-US" altLang="zh-CN" sz="2000" b="1" kern="100" dirty="0">
                <a:latin typeface="+mn-ea"/>
                <a:cs typeface="Times New Roman" panose="02020603050405020304" pitchFamily="18" charset="0"/>
              </a:rPr>
              <a:t>ANSYS Electronics Desktop</a:t>
            </a:r>
            <a:r>
              <a:rPr lang="zh-CN" altLang="zh-CN" sz="2000" b="1" kern="100" dirty="0">
                <a:latin typeface="+mn-ea"/>
                <a:cs typeface="Times New Roman" panose="02020603050405020304" pitchFamily="18" charset="0"/>
              </a:rPr>
              <a:t>图标</a:t>
            </a:r>
            <a:r>
              <a:rPr lang="zh-CN" altLang="en-US" sz="2000" b="1" kern="100" dirty="0">
                <a:latin typeface="+mn-ea"/>
                <a:cs typeface="Times New Roman" panose="02020603050405020304" pitchFamily="18" charset="0"/>
              </a:rPr>
              <a:t>。</a:t>
            </a:r>
            <a:endParaRPr lang="en-US" altLang="zh-CN" sz="2000" b="1" kern="100" dirty="0">
              <a:latin typeface="+mn-ea"/>
              <a:cs typeface="Times New Roman" panose="02020603050405020304" pitchFamily="18" charset="0"/>
            </a:endParaRPr>
          </a:p>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mn-ea"/>
                <a:cs typeface="Times New Roman" panose="02020603050405020304" pitchFamily="18" charset="0"/>
              </a:rPr>
              <a:t>2.</a:t>
            </a:r>
            <a:r>
              <a:rPr lang="zh-CN" altLang="zh-CN" sz="2400" b="1" kern="100" dirty="0">
                <a:solidFill>
                  <a:srgbClr val="0000FF"/>
                </a:solidFill>
                <a:latin typeface="+mn-ea"/>
                <a:cs typeface="Times New Roman" panose="02020603050405020304" pitchFamily="18" charset="0"/>
              </a:rPr>
              <a:t>嵌入新</a:t>
            </a:r>
            <a:r>
              <a:rPr lang="en-US" altLang="zh-CN" sz="2400" b="1" kern="100" dirty="0">
                <a:solidFill>
                  <a:srgbClr val="0000FF"/>
                </a:solidFill>
                <a:latin typeface="+mn-ea"/>
                <a:cs typeface="Times New Roman" panose="02020603050405020304" pitchFamily="18" charset="0"/>
              </a:rPr>
              <a:t>Maxwell2D</a:t>
            </a:r>
            <a:r>
              <a:rPr lang="zh-CN" altLang="zh-CN" sz="2400" b="1" kern="100" dirty="0">
                <a:solidFill>
                  <a:srgbClr val="0000FF"/>
                </a:solidFill>
                <a:latin typeface="+mn-ea"/>
                <a:cs typeface="Times New Roman" panose="02020603050405020304" pitchFamily="18" charset="0"/>
              </a:rPr>
              <a:t>设计文件</a:t>
            </a:r>
            <a:r>
              <a:rPr lang="zh-CN" altLang="en-US" sz="2400" b="1" kern="100" dirty="0">
                <a:solidFill>
                  <a:srgbClr val="0000FF"/>
                </a:solidFill>
                <a:latin typeface="+mn-ea"/>
                <a:cs typeface="Times New Roman" panose="02020603050405020304" pitchFamily="18" charset="0"/>
              </a:rPr>
              <a:t>，并保存在桌面。</a:t>
            </a:r>
            <a:endParaRPr lang="en-US" altLang="zh-CN" sz="2400" b="1" kern="100" dirty="0">
              <a:solidFill>
                <a:srgbClr val="0000FF"/>
              </a:solidFill>
              <a:latin typeface="+mn-ea"/>
              <a:cs typeface="Times New Roman" panose="02020603050405020304" pitchFamily="18" charset="0"/>
            </a:endParaRPr>
          </a:p>
          <a:p>
            <a:pPr marL="360045" lvl="1" algn="just">
              <a:lnSpc>
                <a:spcPct val="135000"/>
              </a:lnSpc>
              <a:spcAft>
                <a:spcPts val="600"/>
              </a:spcAft>
              <a:tabLst>
                <a:tab pos="228600" algn="l"/>
              </a:tabLst>
            </a:pPr>
            <a:r>
              <a:rPr lang="zh-CN" altLang="zh-CN" sz="2000" b="1" kern="100" dirty="0">
                <a:latin typeface="+mn-ea"/>
                <a:cs typeface="Times New Roman" panose="02020603050405020304" pitchFamily="18" charset="0"/>
              </a:rPr>
              <a:t>菜单栏选择【</a:t>
            </a:r>
            <a:r>
              <a:rPr lang="en-US" altLang="zh-CN" sz="2000" b="1" kern="100" dirty="0">
                <a:latin typeface="+mn-ea"/>
                <a:cs typeface="Times New Roman" panose="02020603050405020304" pitchFamily="18" charset="0"/>
              </a:rPr>
              <a:t>Project</a:t>
            </a:r>
            <a:r>
              <a:rPr lang="zh-CN" altLang="zh-CN" sz="2000" b="1" kern="100" dirty="0">
                <a:latin typeface="+mn-ea"/>
                <a:cs typeface="Times New Roman" panose="02020603050405020304" pitchFamily="18" charset="0"/>
              </a:rPr>
              <a:t>】</a:t>
            </a:r>
            <a:r>
              <a:rPr lang="en-US" altLang="zh-CN" sz="2000" b="1" kern="100" dirty="0">
                <a:latin typeface="+mn-ea"/>
                <a:cs typeface="Times New Roman" panose="02020603050405020304" pitchFamily="18" charset="0"/>
              </a:rPr>
              <a:t>|</a:t>
            </a:r>
            <a:r>
              <a:rPr lang="zh-CN" altLang="zh-CN" sz="2000" b="1" kern="100" dirty="0">
                <a:latin typeface="+mn-ea"/>
                <a:cs typeface="Times New Roman" panose="02020603050405020304" pitchFamily="18" charset="0"/>
              </a:rPr>
              <a:t>【</a:t>
            </a:r>
            <a:r>
              <a:rPr lang="en-US" altLang="zh-CN" sz="2000" b="1" kern="100" dirty="0">
                <a:latin typeface="+mn-ea"/>
                <a:cs typeface="Times New Roman" panose="02020603050405020304" pitchFamily="18" charset="0"/>
              </a:rPr>
              <a:t>Insert Maxwell 2D Design</a:t>
            </a:r>
            <a:r>
              <a:rPr lang="zh-CN" altLang="zh-CN" sz="2000" b="1" kern="100" dirty="0">
                <a:latin typeface="+mn-ea"/>
                <a:cs typeface="Times New Roman" panose="02020603050405020304" pitchFamily="18" charset="0"/>
              </a:rPr>
              <a:t>】，菜单栏选择【</a:t>
            </a:r>
            <a:r>
              <a:rPr lang="en-US" altLang="zh-CN" sz="2000" b="1" kern="100" dirty="0">
                <a:latin typeface="+mn-ea"/>
                <a:cs typeface="Times New Roman" panose="02020603050405020304" pitchFamily="18" charset="0"/>
              </a:rPr>
              <a:t>File</a:t>
            </a:r>
            <a:r>
              <a:rPr lang="zh-CN" altLang="zh-CN" sz="2000" b="1" kern="100" dirty="0">
                <a:latin typeface="+mn-ea"/>
                <a:cs typeface="Times New Roman" panose="02020603050405020304" pitchFamily="18" charset="0"/>
              </a:rPr>
              <a:t>】</a:t>
            </a:r>
            <a:r>
              <a:rPr lang="en-US" altLang="zh-CN" sz="2000" b="1" kern="100" dirty="0">
                <a:latin typeface="+mn-ea"/>
                <a:cs typeface="Times New Roman" panose="02020603050405020304" pitchFamily="18" charset="0"/>
              </a:rPr>
              <a:t>|</a:t>
            </a:r>
            <a:r>
              <a:rPr lang="zh-CN" altLang="zh-CN" sz="2000" b="1" kern="100" dirty="0">
                <a:latin typeface="+mn-ea"/>
                <a:cs typeface="Times New Roman" panose="02020603050405020304" pitchFamily="18" charset="0"/>
              </a:rPr>
              <a:t>【</a:t>
            </a:r>
            <a:r>
              <a:rPr lang="en-US" altLang="zh-CN" sz="2000" b="1" kern="100" dirty="0">
                <a:latin typeface="+mn-ea"/>
                <a:cs typeface="Times New Roman" panose="02020603050405020304" pitchFamily="18" charset="0"/>
              </a:rPr>
              <a:t>Save</a:t>
            </a:r>
            <a:r>
              <a:rPr lang="zh-CN" altLang="zh-CN" sz="2000" b="1" kern="100" dirty="0">
                <a:latin typeface="+mn-ea"/>
                <a:cs typeface="Times New Roman" panose="02020603050405020304" pitchFamily="18" charset="0"/>
              </a:rPr>
              <a:t>】，弹出另存为对话框，</a:t>
            </a:r>
            <a:r>
              <a:rPr lang="zh-CN" altLang="en-US" sz="2000" b="1" kern="100" dirty="0">
                <a:latin typeface="+mn-ea"/>
                <a:cs typeface="Times New Roman" panose="02020603050405020304" pitchFamily="18" charset="0"/>
              </a:rPr>
              <a:t>自定义工程名</a:t>
            </a:r>
            <a:r>
              <a:rPr lang="en-US" altLang="zh-CN" sz="2000" b="1" kern="100" dirty="0">
                <a:latin typeface="+mn-ea"/>
                <a:cs typeface="Times New Roman" panose="02020603050405020304" pitchFamily="18" charset="0"/>
              </a:rPr>
              <a:t>project2</a:t>
            </a:r>
            <a:r>
              <a:rPr lang="zh-CN" altLang="en-US" sz="2000" b="1" kern="100" dirty="0">
                <a:latin typeface="+mn-ea"/>
                <a:cs typeface="Times New Roman" panose="02020603050405020304" pitchFamily="18" charset="0"/>
              </a:rPr>
              <a:t>，保存在桌面即可。</a:t>
            </a:r>
            <a:endParaRPr lang="zh-CN" altLang="zh-CN" sz="2000" b="1" kern="100" dirty="0">
              <a:latin typeface="+mn-ea"/>
              <a:cs typeface="Times New Roman" panose="02020603050405020304" pitchFamily="18" charset="0"/>
            </a:endParaRPr>
          </a:p>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mn-ea"/>
                <a:cs typeface="Times New Roman" panose="02020603050405020304" pitchFamily="18" charset="0"/>
              </a:rPr>
              <a:t>3.</a:t>
            </a:r>
            <a:r>
              <a:rPr lang="zh-CN" altLang="en-US" sz="2400" b="1" kern="100" dirty="0">
                <a:solidFill>
                  <a:srgbClr val="0000FF"/>
                </a:solidFill>
                <a:latin typeface="+mn-ea"/>
                <a:cs typeface="Times New Roman" panose="02020603050405020304" pitchFamily="18" charset="0"/>
              </a:rPr>
              <a:t>指定求解类型。</a:t>
            </a:r>
            <a:endParaRPr lang="en-US" altLang="zh-CN" sz="2400" b="1" kern="100" dirty="0">
              <a:solidFill>
                <a:srgbClr val="0000FF"/>
              </a:solidFill>
              <a:latin typeface="+mn-ea"/>
              <a:cs typeface="Times New Roman" panose="02020603050405020304" pitchFamily="18" charset="0"/>
            </a:endParaRPr>
          </a:p>
          <a:p>
            <a:pPr marL="360045" lvl="1" algn="just">
              <a:lnSpc>
                <a:spcPct val="135000"/>
              </a:lnSpc>
              <a:spcAft>
                <a:spcPts val="600"/>
              </a:spcAft>
              <a:tabLst>
                <a:tab pos="228600" algn="l"/>
              </a:tabLst>
            </a:pPr>
            <a:r>
              <a:rPr lang="en-US" altLang="zh-CN" sz="2000" b="1" dirty="0" err="1">
                <a:latin typeface="+mn-ea"/>
              </a:rPr>
              <a:t>菜单栏选择【Maxwell</a:t>
            </a:r>
            <a:r>
              <a:rPr lang="en-US" altLang="zh-CN" sz="2000" b="1" dirty="0">
                <a:latin typeface="+mn-ea"/>
              </a:rPr>
              <a:t> 2D】|【Solution Type】，</a:t>
            </a:r>
            <a:r>
              <a:rPr lang="zh-CN" altLang="en-US" sz="2000" b="1" kern="100" dirty="0">
                <a:latin typeface="+mn-ea"/>
                <a:cs typeface="Times New Roman" panose="02020603050405020304" pitchFamily="18" charset="0"/>
              </a:rPr>
              <a:t>选择圆柱坐标系</a:t>
            </a:r>
            <a:r>
              <a:rPr lang="en-US" altLang="zh-CN" sz="2000" b="1" kern="100" dirty="0">
                <a:latin typeface="+mn-ea"/>
                <a:cs typeface="Times New Roman" panose="02020603050405020304" pitchFamily="18" charset="0"/>
              </a:rPr>
              <a:t>Cylindrical about Z</a:t>
            </a:r>
            <a:r>
              <a:rPr lang="zh-CN" altLang="en-US" sz="2000" b="1" kern="100" dirty="0">
                <a:latin typeface="+mn-ea"/>
                <a:cs typeface="Times New Roman" panose="02020603050405020304" pitchFamily="18" charset="0"/>
              </a:rPr>
              <a:t>，瞬态场</a:t>
            </a:r>
            <a:r>
              <a:rPr lang="en-US" altLang="zh-CN" sz="2000" b="1" kern="100" dirty="0">
                <a:latin typeface="+mn-ea"/>
                <a:cs typeface="Times New Roman" panose="02020603050405020304" pitchFamily="18" charset="0"/>
              </a:rPr>
              <a:t>【Transient】</a:t>
            </a:r>
            <a:r>
              <a:rPr lang="zh-CN" altLang="zh-CN" sz="2000" b="1" kern="100" dirty="0">
                <a:latin typeface="+mn-ea"/>
                <a:cs typeface="Times New Roman" panose="02020603050405020304" pitchFamily="18" charset="0"/>
              </a:rPr>
              <a:t>求解器</a:t>
            </a:r>
            <a:r>
              <a:rPr lang="zh-CN" altLang="en-US" sz="2000" b="1" kern="100" dirty="0">
                <a:latin typeface="+mn-ea"/>
                <a:cs typeface="Times New Roman" panose="02020603050405020304" pitchFamily="18" charset="0"/>
              </a:rPr>
              <a:t>。</a:t>
            </a:r>
            <a:endParaRPr lang="en-US" altLang="zh-CN" sz="2000" b="1" kern="100" dirty="0">
              <a:latin typeface="+mn-ea"/>
              <a:cs typeface="Times New Roman" panose="02020603050405020304" pitchFamily="18" charset="0"/>
            </a:endParaRPr>
          </a:p>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mn-ea"/>
                <a:cs typeface="Times New Roman" panose="02020603050405020304" pitchFamily="18" charset="0"/>
              </a:rPr>
              <a:t>4.</a:t>
            </a:r>
            <a:r>
              <a:rPr lang="zh-CN" altLang="en-US" sz="2400" b="1" kern="100" dirty="0">
                <a:solidFill>
                  <a:srgbClr val="0000FF"/>
                </a:solidFill>
                <a:latin typeface="+mn-ea"/>
                <a:cs typeface="Times New Roman" panose="02020603050405020304" pitchFamily="18" charset="0"/>
              </a:rPr>
              <a:t>设置绘图单位。</a:t>
            </a:r>
            <a:endParaRPr lang="en-US" altLang="zh-CN" sz="2400" b="1" kern="100" dirty="0">
              <a:solidFill>
                <a:srgbClr val="0000FF"/>
              </a:solidFill>
              <a:latin typeface="+mn-ea"/>
              <a:cs typeface="Times New Roman" panose="02020603050405020304" pitchFamily="18" charset="0"/>
            </a:endParaRPr>
          </a:p>
          <a:p>
            <a:pPr marL="360045" lvl="1" algn="just">
              <a:lnSpc>
                <a:spcPct val="135000"/>
              </a:lnSpc>
              <a:spcAft>
                <a:spcPts val="600"/>
              </a:spcAft>
              <a:tabLst>
                <a:tab pos="228600" algn="l"/>
              </a:tabLst>
            </a:pPr>
            <a:r>
              <a:rPr lang="zh-CN" altLang="zh-CN" sz="2000" b="1" dirty="0">
                <a:latin typeface="+mn-ea"/>
              </a:rPr>
              <a:t>菜单栏选择【</a:t>
            </a:r>
            <a:r>
              <a:rPr lang="en-US" altLang="zh-CN" sz="2000" b="1" dirty="0">
                <a:latin typeface="+mn-ea"/>
              </a:rPr>
              <a:t>Modeler</a:t>
            </a:r>
            <a:r>
              <a:rPr lang="zh-CN" altLang="zh-CN" sz="2000" b="1" dirty="0">
                <a:latin typeface="+mn-ea"/>
              </a:rPr>
              <a:t>】</a:t>
            </a:r>
            <a:r>
              <a:rPr lang="en-US" altLang="zh-CN" sz="2000" b="1" dirty="0">
                <a:latin typeface="+mn-ea"/>
              </a:rPr>
              <a:t>|</a:t>
            </a:r>
            <a:r>
              <a:rPr lang="zh-CN" altLang="zh-CN" sz="2000" b="1" dirty="0">
                <a:latin typeface="+mn-ea"/>
              </a:rPr>
              <a:t>【</a:t>
            </a:r>
            <a:r>
              <a:rPr lang="en-US" altLang="zh-CN" sz="2000" b="1" dirty="0">
                <a:latin typeface="+mn-ea"/>
              </a:rPr>
              <a:t>Units</a:t>
            </a:r>
            <a:r>
              <a:rPr lang="zh-CN" altLang="zh-CN" sz="2000" b="1" dirty="0">
                <a:latin typeface="+mn-ea"/>
              </a:rPr>
              <a:t>】 </a:t>
            </a:r>
            <a:r>
              <a:rPr lang="zh-CN" altLang="en-US" sz="2000" b="1" dirty="0">
                <a:latin typeface="+mn-ea"/>
              </a:rPr>
              <a:t>，选择单位为“</a:t>
            </a:r>
            <a:r>
              <a:rPr lang="en-US" altLang="zh-CN" sz="2000" b="1" dirty="0">
                <a:solidFill>
                  <a:srgbClr val="FF0000"/>
                </a:solidFill>
                <a:latin typeface="+mn-ea"/>
              </a:rPr>
              <a:t>cm</a:t>
            </a:r>
            <a:r>
              <a:rPr lang="zh-CN" altLang="en-US" sz="2000" b="1" dirty="0">
                <a:latin typeface="+mn-ea"/>
              </a:rPr>
              <a:t>”</a:t>
            </a:r>
            <a:r>
              <a:rPr lang="zh-CN" altLang="zh-CN" sz="2000" b="1" kern="100" dirty="0">
                <a:latin typeface="+mn-ea"/>
                <a:cs typeface="Times New Roman" panose="02020603050405020304" pitchFamily="18" charset="0"/>
              </a:rPr>
              <a:t>。</a:t>
            </a:r>
            <a:endParaRPr lang="zh-CN" altLang="zh-CN" sz="2000" b="1" kern="100" dirty="0">
              <a:latin typeface="+mn-ea"/>
              <a:cs typeface="Times New Roman" panose="02020603050405020304" pitchFamily="18" charset="0"/>
            </a:endParaRPr>
          </a:p>
        </p:txBody>
      </p:sp>
      <p:sp>
        <p:nvSpPr>
          <p:cNvPr id="4"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45401" y="1294360"/>
            <a:ext cx="10292499" cy="3880358"/>
          </a:xfrm>
          <a:prstGeom prst="rect">
            <a:avLst/>
          </a:prstGeom>
        </p:spPr>
        <p:txBody>
          <a:bodyPr wrap="square">
            <a:spAutoFit/>
          </a:bodyPr>
          <a:lstStyle/>
          <a:p>
            <a:pPr marL="0" lvl="1" algn="just">
              <a:lnSpc>
                <a:spcPct val="135000"/>
              </a:lnSpc>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5.</a:t>
            </a:r>
            <a:r>
              <a:rPr lang="zh-CN" altLang="en-US" sz="2400" b="1" kern="100" dirty="0">
                <a:solidFill>
                  <a:srgbClr val="0000FF"/>
                </a:solidFill>
                <a:latin typeface="等线" panose="02010600030101010101" charset="-122"/>
                <a:cs typeface="Times New Roman" panose="02020603050405020304" pitchFamily="18" charset="0"/>
              </a:rPr>
              <a:t>绘制模型。</a:t>
            </a:r>
            <a:endParaRPr lang="en-US" altLang="zh-CN" sz="2400" b="1" kern="100" dirty="0">
              <a:solidFill>
                <a:srgbClr val="0000FF"/>
              </a:solidFill>
              <a:latin typeface="等线" panose="02010600030101010101" charset="-122"/>
              <a:cs typeface="Times New Roman" panose="02020603050405020304" pitchFamily="18" charset="0"/>
            </a:endParaRPr>
          </a:p>
          <a:p>
            <a:pPr marL="360045">
              <a:lnSpc>
                <a:spcPct val="150000"/>
              </a:lnSpc>
            </a:pPr>
            <a:r>
              <a:rPr lang="en-US" altLang="zh-CN" sz="2000" b="1" dirty="0">
                <a:latin typeface="+mn-ea"/>
              </a:rPr>
              <a:t>1.</a:t>
            </a:r>
            <a:r>
              <a:rPr lang="zh-CN" altLang="zh-CN" sz="2000" b="1" dirty="0">
                <a:latin typeface="+mn-ea"/>
              </a:rPr>
              <a:t>在屏幕上画</a:t>
            </a:r>
            <a:r>
              <a:rPr lang="zh-CN" altLang="en-US" sz="2000" b="1" dirty="0">
                <a:latin typeface="+mn-ea"/>
              </a:rPr>
              <a:t>一个矩形作为线圈模型：菜单栏选</a:t>
            </a:r>
            <a:r>
              <a:rPr lang="en-US" altLang="zh-CN" sz="2000" b="1" dirty="0">
                <a:latin typeface="+mn-ea"/>
              </a:rPr>
              <a:t>【Draw】|【Rectangle】</a:t>
            </a:r>
            <a:r>
              <a:rPr lang="zh-CN" altLang="en-US" sz="2000" b="1" dirty="0">
                <a:latin typeface="+mn-ea"/>
              </a:rPr>
              <a:t>。</a:t>
            </a:r>
            <a:endParaRPr lang="en-US" altLang="zh-CN" sz="2000" b="1" dirty="0">
              <a:latin typeface="+mn-ea"/>
            </a:endParaRPr>
          </a:p>
          <a:p>
            <a:pPr marL="360045">
              <a:lnSpc>
                <a:spcPct val="150000"/>
              </a:lnSpc>
            </a:pPr>
            <a:r>
              <a:rPr lang="en-US" altLang="zh-CN" sz="2000" b="1" dirty="0">
                <a:latin typeface="+mn-ea"/>
              </a:rPr>
              <a:t>2.</a:t>
            </a:r>
            <a:r>
              <a:rPr lang="zh-CN" altLang="en-US" sz="2000" b="1" dirty="0">
                <a:latin typeface="+mn-ea"/>
              </a:rPr>
              <a:t>绘制求解域</a:t>
            </a:r>
            <a:r>
              <a:rPr lang="en-US" altLang="zh-CN" sz="2000" b="1" dirty="0">
                <a:latin typeface="+mn-ea"/>
              </a:rPr>
              <a:t>: </a:t>
            </a:r>
            <a:r>
              <a:rPr lang="en-US" altLang="zh-CN" sz="2000" b="1" dirty="0" err="1">
                <a:latin typeface="+mn-ea"/>
              </a:rPr>
              <a:t>菜单栏选择【Draw</a:t>
            </a:r>
            <a:r>
              <a:rPr lang="en-US" altLang="zh-CN" sz="2000" b="1" dirty="0">
                <a:latin typeface="+mn-ea"/>
              </a:rPr>
              <a:t>】|【Region】</a:t>
            </a:r>
            <a:r>
              <a:rPr lang="zh-CN" altLang="en-US" sz="2000" b="1" dirty="0">
                <a:latin typeface="+mn-ea"/>
              </a:rPr>
              <a:t> ，</a:t>
            </a:r>
            <a:r>
              <a:rPr lang="en-US" altLang="zh-CN" sz="2000" b="1" dirty="0">
                <a:latin typeface="+mn-ea"/>
              </a:rPr>
              <a:t>value=100 </a:t>
            </a:r>
            <a:r>
              <a:rPr lang="zh-CN" altLang="en-US" sz="2000" b="1" dirty="0">
                <a:latin typeface="+mn-ea"/>
              </a:rPr>
              <a:t>。</a:t>
            </a:r>
            <a:endParaRPr lang="en-US" altLang="zh-CN" sz="2000" b="1" dirty="0">
              <a:latin typeface="+mn-ea"/>
            </a:endParaRPr>
          </a:p>
          <a:p>
            <a:pPr marL="0" lvl="1" algn="just">
              <a:lnSpc>
                <a:spcPct val="135000"/>
              </a:lnSpc>
              <a:spcBef>
                <a:spcPts val="12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6.</a:t>
            </a:r>
            <a:r>
              <a:rPr lang="zh-CN" altLang="en-US" sz="2400" b="1" kern="100" dirty="0">
                <a:solidFill>
                  <a:srgbClr val="0000FF"/>
                </a:solidFill>
                <a:latin typeface="等线" panose="02010600030101010101" charset="-122"/>
                <a:cs typeface="Times New Roman" panose="02020603050405020304" pitchFamily="18" charset="0"/>
              </a:rPr>
              <a:t>设置材料。</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35000"/>
              </a:lnSpc>
              <a:spcAft>
                <a:spcPts val="600"/>
              </a:spcAft>
              <a:tabLst>
                <a:tab pos="228600" algn="l"/>
              </a:tabLst>
            </a:pPr>
            <a:r>
              <a:rPr lang="en-US" altLang="zh-CN" sz="2000" b="1" dirty="0">
                <a:latin typeface="+mn-ea"/>
              </a:rPr>
              <a:t>Rectangle1</a:t>
            </a:r>
            <a:r>
              <a:rPr lang="zh-CN" altLang="zh-CN" sz="2000" b="1" dirty="0">
                <a:latin typeface="+mn-ea"/>
              </a:rPr>
              <a:t>→铜</a:t>
            </a:r>
            <a:r>
              <a:rPr lang="zh-CN" altLang="en-US" sz="2000" b="1" dirty="0">
                <a:latin typeface="+mn-ea"/>
              </a:rPr>
              <a:t>；</a:t>
            </a:r>
            <a:r>
              <a:rPr lang="en-US" altLang="zh-CN" sz="2000" b="1" dirty="0">
                <a:latin typeface="+mn-ea"/>
              </a:rPr>
              <a:t>Region</a:t>
            </a:r>
            <a:r>
              <a:rPr lang="zh-CN" altLang="zh-CN" sz="2000" b="1" dirty="0">
                <a:latin typeface="+mn-ea"/>
              </a:rPr>
              <a:t> →</a:t>
            </a:r>
            <a:r>
              <a:rPr lang="en-US" altLang="zh-CN" sz="2000" b="1" dirty="0">
                <a:latin typeface="+mn-ea"/>
              </a:rPr>
              <a:t>air</a:t>
            </a:r>
            <a:endParaRPr lang="en-US" altLang="zh-CN" sz="2000" b="1" dirty="0">
              <a:latin typeface="+mn-ea"/>
            </a:endParaRPr>
          </a:p>
          <a:p>
            <a:pPr marL="0" lvl="1" algn="just">
              <a:lnSpc>
                <a:spcPct val="135000"/>
              </a:lnSpc>
              <a:spcBef>
                <a:spcPts val="6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7.</a:t>
            </a:r>
            <a:r>
              <a:rPr lang="zh-CN" altLang="en-US" sz="2400" b="1" kern="100" dirty="0">
                <a:solidFill>
                  <a:srgbClr val="0000FF"/>
                </a:solidFill>
                <a:latin typeface="等线" panose="02010600030101010101" charset="-122"/>
                <a:cs typeface="Times New Roman" panose="02020603050405020304" pitchFamily="18" charset="0"/>
              </a:rPr>
              <a:t> 边界条件。</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50000"/>
              </a:lnSpc>
              <a:spcAft>
                <a:spcPts val="600"/>
              </a:spcAft>
              <a:tabLst>
                <a:tab pos="228600" algn="l"/>
              </a:tabLst>
            </a:pPr>
            <a:r>
              <a:rPr lang="en-US" altLang="zh-CN" sz="2000" b="1" dirty="0"/>
              <a:t>Region</a:t>
            </a:r>
            <a:r>
              <a:rPr lang="zh-CN" altLang="en-US" sz="2000" b="1" dirty="0"/>
              <a:t>的上、右、下边界，设置为</a:t>
            </a:r>
            <a:r>
              <a:rPr lang="en-US" altLang="zh-CN" sz="2000" b="1" dirty="0"/>
              <a:t>Balloon</a:t>
            </a:r>
            <a:r>
              <a:rPr lang="zh-CN" altLang="en-US" sz="2000" b="1" dirty="0"/>
              <a:t>边界，左边界设置为奇对称边界。</a:t>
            </a:r>
            <a:endParaRPr lang="en-US" altLang="zh-CN" sz="2000" b="1" dirty="0"/>
          </a:p>
        </p:txBody>
      </p:sp>
      <p:sp>
        <p:nvSpPr>
          <p:cNvPr id="5"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88146" y="797175"/>
            <a:ext cx="11399053" cy="2544607"/>
          </a:xfrm>
          <a:prstGeom prst="rect">
            <a:avLst/>
          </a:prstGeom>
        </p:spPr>
        <p:txBody>
          <a:bodyPr wrap="square">
            <a:spAutoFit/>
          </a:bodyPr>
          <a:lstStyle/>
          <a:p>
            <a:pPr marL="0" lvl="1" algn="just">
              <a:lnSpc>
                <a:spcPct val="135000"/>
              </a:lnSpc>
              <a:spcBef>
                <a:spcPts val="6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8.</a:t>
            </a:r>
            <a:r>
              <a:rPr lang="zh-CN" altLang="en-US" sz="2400" b="1" kern="100" dirty="0">
                <a:solidFill>
                  <a:srgbClr val="0000FF"/>
                </a:solidFill>
                <a:latin typeface="等线" panose="02010600030101010101" charset="-122"/>
                <a:cs typeface="Times New Roman" panose="02020603050405020304" pitchFamily="18" charset="0"/>
              </a:rPr>
              <a:t>添加激励并绘制外部电路。</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50000"/>
              </a:lnSpc>
              <a:spcAft>
                <a:spcPts val="600"/>
              </a:spcAft>
              <a:tabLst>
                <a:tab pos="228600" algn="l"/>
              </a:tabLst>
            </a:pPr>
            <a:r>
              <a:rPr lang="en-US" altLang="zh-CN" sz="2000" b="1" dirty="0">
                <a:latin typeface="+mn-ea"/>
              </a:rPr>
              <a:t>1.</a:t>
            </a:r>
            <a:r>
              <a:rPr lang="zh-CN" altLang="en-US" sz="2000" b="1" dirty="0">
                <a:latin typeface="+mn-ea"/>
              </a:rPr>
              <a:t>在图形绘制界面线圈上右键，</a:t>
            </a:r>
            <a:r>
              <a:rPr lang="en-US" altLang="zh-CN" sz="2000" b="1" dirty="0">
                <a:latin typeface="+mn-ea"/>
              </a:rPr>
              <a:t>【Assign Excitation】|【Coil】</a:t>
            </a:r>
            <a:r>
              <a:rPr lang="zh-CN" altLang="en-US" sz="2000" b="1" dirty="0">
                <a:latin typeface="+mn-ea"/>
              </a:rPr>
              <a:t>，修改</a:t>
            </a:r>
            <a:r>
              <a:rPr lang="en-US" altLang="zh-CN" sz="2000" b="1" dirty="0">
                <a:latin typeface="+mn-ea"/>
              </a:rPr>
              <a:t>Name</a:t>
            </a:r>
            <a:r>
              <a:rPr lang="zh-CN" altLang="en-US" sz="2000" b="1" dirty="0">
                <a:latin typeface="+mn-ea"/>
              </a:rPr>
              <a:t>：</a:t>
            </a:r>
            <a:r>
              <a:rPr lang="en-US" altLang="zh-CN" sz="2000" b="1" dirty="0">
                <a:latin typeface="+mn-ea"/>
              </a:rPr>
              <a:t>Coil1</a:t>
            </a:r>
            <a:r>
              <a:rPr lang="zh-CN" altLang="en-US" sz="2000" b="1" dirty="0">
                <a:latin typeface="+mn-ea"/>
              </a:rPr>
              <a:t>，</a:t>
            </a:r>
            <a:r>
              <a:rPr lang="en-US" altLang="zh-CN" sz="2000" b="1" dirty="0">
                <a:latin typeface="+mn-ea"/>
              </a:rPr>
              <a:t>Number of Conductors</a:t>
            </a:r>
            <a:r>
              <a:rPr lang="zh-CN" altLang="en-US" sz="2000" b="1" dirty="0">
                <a:latin typeface="+mn-ea"/>
              </a:rPr>
              <a:t>线圈匝数为</a:t>
            </a:r>
            <a:r>
              <a:rPr lang="en-US" altLang="zh-CN" sz="2000" b="1" dirty="0">
                <a:latin typeface="+mn-ea"/>
              </a:rPr>
              <a:t>1860</a:t>
            </a:r>
            <a:r>
              <a:rPr lang="zh-CN" altLang="en-US" sz="2000" b="1" dirty="0">
                <a:latin typeface="+mn-ea"/>
              </a:rPr>
              <a:t>匝。</a:t>
            </a:r>
            <a:endParaRPr lang="en-US" altLang="zh-CN" sz="2000" b="1" dirty="0">
              <a:latin typeface="+mn-ea"/>
            </a:endParaRPr>
          </a:p>
          <a:p>
            <a:pPr marL="360045" lvl="1" algn="just">
              <a:lnSpc>
                <a:spcPct val="150000"/>
              </a:lnSpc>
              <a:spcAft>
                <a:spcPts val="600"/>
              </a:spcAft>
              <a:tabLst>
                <a:tab pos="228600" algn="l"/>
              </a:tabLst>
            </a:pPr>
            <a:r>
              <a:rPr lang="en-US" altLang="zh-CN" sz="2000" b="1" dirty="0">
                <a:latin typeface="+mn-ea"/>
              </a:rPr>
              <a:t>2.</a:t>
            </a:r>
            <a:r>
              <a:rPr lang="zh-CN" altLang="en-US" sz="2000" b="1" dirty="0">
                <a:latin typeface="+mn-ea"/>
              </a:rPr>
              <a:t>在图形绘制界面线圈上右键，</a:t>
            </a:r>
            <a:r>
              <a:rPr lang="en-US" altLang="zh-CN" sz="2000" b="1" dirty="0">
                <a:latin typeface="+mn-ea"/>
              </a:rPr>
              <a:t>【Assign Excitation】|【Add Winding】</a:t>
            </a:r>
            <a:r>
              <a:rPr lang="zh-CN" altLang="en-US" sz="2000" b="1" dirty="0">
                <a:latin typeface="+mn-ea"/>
              </a:rPr>
              <a:t>，</a:t>
            </a:r>
            <a:r>
              <a:rPr lang="en-US" altLang="zh-CN" sz="2000" b="1" dirty="0" err="1">
                <a:latin typeface="+mn-ea"/>
              </a:rPr>
              <a:t>Type:External</a:t>
            </a:r>
            <a:r>
              <a:rPr lang="zh-CN" altLang="en-US" sz="2000" b="1" dirty="0">
                <a:latin typeface="+mn-ea"/>
              </a:rPr>
              <a:t>（外电路），</a:t>
            </a:r>
            <a:r>
              <a:rPr lang="en-US" altLang="zh-CN" sz="2000" b="1" dirty="0">
                <a:latin typeface="+mn-ea"/>
              </a:rPr>
              <a:t>Strand(</a:t>
            </a:r>
            <a:r>
              <a:rPr lang="zh-CN" altLang="en-US" sz="2000" b="1" dirty="0">
                <a:latin typeface="+mn-ea"/>
              </a:rPr>
              <a:t>实体绞线）</a:t>
            </a:r>
            <a:r>
              <a:rPr lang="en-US" altLang="zh-CN" sz="2000" b="1" dirty="0">
                <a:latin typeface="+mn-ea"/>
              </a:rPr>
              <a:t> Initial Current:0mA</a:t>
            </a:r>
            <a:r>
              <a:rPr lang="zh-CN" altLang="en-US" sz="2000" b="1" dirty="0">
                <a:latin typeface="+mn-ea"/>
              </a:rPr>
              <a:t>。</a:t>
            </a:r>
            <a:endParaRPr lang="en-US" altLang="zh-CN" sz="2000" b="1" dirty="0">
              <a:latin typeface="+mn-ea"/>
            </a:endParaRPr>
          </a:p>
        </p:txBody>
      </p:sp>
      <p:sp>
        <p:nvSpPr>
          <p:cNvPr id="5"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1254658" y="3240038"/>
            <a:ext cx="4225319" cy="3617962"/>
          </a:xfrm>
          <a:prstGeom prst="rect">
            <a:avLst/>
          </a:prstGeom>
        </p:spPr>
      </p:pic>
      <p:pic>
        <p:nvPicPr>
          <p:cNvPr id="9" name="图片 8"/>
          <p:cNvPicPr>
            <a:picLocks noChangeAspect="1"/>
          </p:cNvPicPr>
          <p:nvPr/>
        </p:nvPicPr>
        <p:blipFill>
          <a:blip r:embed="rId2"/>
          <a:stretch>
            <a:fillRect/>
          </a:stretch>
        </p:blipFill>
        <p:spPr>
          <a:xfrm>
            <a:off x="6796107" y="2806696"/>
            <a:ext cx="4236350" cy="418217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81378" y="884393"/>
            <a:ext cx="10753692" cy="2544607"/>
          </a:xfrm>
          <a:prstGeom prst="rect">
            <a:avLst/>
          </a:prstGeom>
        </p:spPr>
        <p:txBody>
          <a:bodyPr wrap="square">
            <a:spAutoFit/>
          </a:bodyPr>
          <a:lstStyle/>
          <a:p>
            <a:pPr marL="0" lvl="1" algn="just">
              <a:lnSpc>
                <a:spcPct val="135000"/>
              </a:lnSpc>
              <a:spcBef>
                <a:spcPts val="6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8.</a:t>
            </a:r>
            <a:r>
              <a:rPr lang="zh-CN" altLang="en-US" sz="2400" b="1" kern="100" dirty="0">
                <a:solidFill>
                  <a:srgbClr val="0000FF"/>
                </a:solidFill>
                <a:latin typeface="等线" panose="02010600030101010101" charset="-122"/>
                <a:cs typeface="Times New Roman" panose="02020603050405020304" pitchFamily="18" charset="0"/>
              </a:rPr>
              <a:t>添加激励并绘制外部电路。</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50000"/>
              </a:lnSpc>
              <a:spcAft>
                <a:spcPts val="600"/>
              </a:spcAft>
              <a:tabLst>
                <a:tab pos="228600" algn="l"/>
              </a:tabLst>
            </a:pPr>
            <a:r>
              <a:rPr lang="en-US" altLang="zh-CN" sz="2000" b="1" dirty="0">
                <a:latin typeface="+mn-ea"/>
              </a:rPr>
              <a:t>3.</a:t>
            </a:r>
            <a:r>
              <a:rPr lang="zh-CN" altLang="en-US" sz="2000" b="1" dirty="0">
                <a:latin typeface="+mn-ea"/>
              </a:rPr>
              <a:t>在工程管理栏展开</a:t>
            </a:r>
            <a:r>
              <a:rPr lang="en-US" altLang="zh-CN" sz="2000" b="1" dirty="0">
                <a:latin typeface="+mn-ea"/>
              </a:rPr>
              <a:t>【Excitation】</a:t>
            </a:r>
            <a:r>
              <a:rPr lang="zh-CN" altLang="en-US" sz="2000" b="1" dirty="0">
                <a:latin typeface="+mn-ea"/>
              </a:rPr>
              <a:t>栏，在</a:t>
            </a:r>
            <a:r>
              <a:rPr lang="en-US" altLang="zh-CN" sz="2000" b="1" dirty="0">
                <a:latin typeface="+mn-ea"/>
              </a:rPr>
              <a:t>【Coil1】</a:t>
            </a:r>
            <a:r>
              <a:rPr lang="zh-CN" altLang="en-US" sz="2000" b="1" dirty="0">
                <a:latin typeface="+mn-ea"/>
              </a:rPr>
              <a:t>上右键</a:t>
            </a:r>
            <a:r>
              <a:rPr lang="en-US" altLang="zh-CN" sz="2000" b="1" dirty="0">
                <a:latin typeface="+mn-ea"/>
              </a:rPr>
              <a:t>【Add to Winding】</a:t>
            </a:r>
            <a:r>
              <a:rPr lang="zh-CN" altLang="en-US" sz="2000" b="1" dirty="0">
                <a:latin typeface="+mn-ea"/>
              </a:rPr>
              <a:t>，选择默认的</a:t>
            </a:r>
            <a:r>
              <a:rPr lang="en-US" altLang="zh-CN" sz="2000" b="1" dirty="0">
                <a:latin typeface="+mn-ea"/>
              </a:rPr>
              <a:t>Winding1</a:t>
            </a:r>
            <a:r>
              <a:rPr lang="zh-CN" altLang="en-US" sz="2000" b="1" dirty="0">
                <a:latin typeface="+mn-ea"/>
              </a:rPr>
              <a:t>，点击</a:t>
            </a:r>
            <a:r>
              <a:rPr lang="en-US" altLang="zh-CN" sz="2000" b="1" dirty="0">
                <a:latin typeface="+mn-ea"/>
              </a:rPr>
              <a:t>OK</a:t>
            </a:r>
            <a:r>
              <a:rPr lang="zh-CN" altLang="en-US" sz="2000" b="1" dirty="0">
                <a:latin typeface="+mn-ea"/>
              </a:rPr>
              <a:t>。</a:t>
            </a:r>
            <a:endParaRPr lang="en-US" altLang="zh-CN" sz="2000" b="1" dirty="0">
              <a:latin typeface="+mn-ea"/>
            </a:endParaRPr>
          </a:p>
          <a:p>
            <a:pPr marL="360045" lvl="1" algn="just">
              <a:lnSpc>
                <a:spcPct val="150000"/>
              </a:lnSpc>
              <a:spcAft>
                <a:spcPts val="600"/>
              </a:spcAft>
              <a:tabLst>
                <a:tab pos="228600" algn="l"/>
              </a:tabLst>
            </a:pPr>
            <a:r>
              <a:rPr lang="en-US" altLang="zh-CN" sz="2000" b="1" dirty="0">
                <a:latin typeface="+mn-ea"/>
              </a:rPr>
              <a:t>4.</a:t>
            </a:r>
            <a:r>
              <a:rPr lang="zh-CN" altLang="en-US" sz="2000" b="1" dirty="0">
                <a:latin typeface="+mn-ea"/>
              </a:rPr>
              <a:t>在图形绘制界面线圈上右键，</a:t>
            </a:r>
            <a:r>
              <a:rPr lang="en-US" altLang="zh-CN" sz="2000" b="1" dirty="0">
                <a:latin typeface="+mn-ea"/>
              </a:rPr>
              <a:t>【Assign Excitation】|【External Circuit】|【 Edit External Circuit 】|【Create Circuit】</a:t>
            </a:r>
            <a:r>
              <a:rPr lang="zh-CN" altLang="en-US" sz="2000" b="1" dirty="0">
                <a:latin typeface="+mn-ea"/>
              </a:rPr>
              <a:t>，打开绘制电路图界面。</a:t>
            </a:r>
            <a:endParaRPr lang="en-US" altLang="zh-CN" sz="2000" b="1" dirty="0">
              <a:latin typeface="+mn-ea"/>
            </a:endParaRPr>
          </a:p>
        </p:txBody>
      </p:sp>
      <p:sp>
        <p:nvSpPr>
          <p:cNvPr id="5"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35905" y="3516218"/>
            <a:ext cx="3762055" cy="3527659"/>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154" y="3820302"/>
            <a:ext cx="5617192" cy="224687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19154" y="1022954"/>
            <a:ext cx="10753692" cy="3460243"/>
          </a:xfrm>
          <a:prstGeom prst="rect">
            <a:avLst/>
          </a:prstGeom>
        </p:spPr>
        <p:txBody>
          <a:bodyPr wrap="square">
            <a:spAutoFit/>
          </a:bodyPr>
          <a:lstStyle/>
          <a:p>
            <a:pPr marL="0" lvl="1" algn="just">
              <a:lnSpc>
                <a:spcPct val="135000"/>
              </a:lnSpc>
              <a:spcBef>
                <a:spcPts val="6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8.</a:t>
            </a:r>
            <a:r>
              <a:rPr lang="zh-CN" altLang="en-US" sz="2400" b="1" kern="100" dirty="0">
                <a:solidFill>
                  <a:srgbClr val="0000FF"/>
                </a:solidFill>
                <a:latin typeface="等线" panose="02010600030101010101" charset="-122"/>
                <a:cs typeface="Times New Roman" panose="02020603050405020304" pitchFamily="18" charset="0"/>
              </a:rPr>
              <a:t>添加激励并绘制外部电路。</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20000"/>
              </a:lnSpc>
              <a:spcAft>
                <a:spcPts val="600"/>
              </a:spcAft>
              <a:tabLst>
                <a:tab pos="228600" algn="l"/>
              </a:tabLst>
            </a:pPr>
            <a:r>
              <a:rPr lang="en-US" altLang="zh-CN" sz="2000" b="1" dirty="0">
                <a:latin typeface="+mn-ea"/>
              </a:rPr>
              <a:t>5.</a:t>
            </a:r>
            <a:r>
              <a:rPr lang="zh-CN" altLang="en-US" sz="2000" b="1" dirty="0">
                <a:latin typeface="+mn-ea"/>
              </a:rPr>
              <a:t>绘制外部电路，</a:t>
            </a:r>
            <a:r>
              <a:rPr lang="zh-CN" altLang="en-US" sz="2000" dirty="0">
                <a:latin typeface="+mn-ea"/>
              </a:rPr>
              <a:t>在</a:t>
            </a:r>
            <a:r>
              <a:rPr lang="en-US" altLang="zh-CN" sz="2000" dirty="0">
                <a:latin typeface="+mn-ea"/>
              </a:rPr>
              <a:t>Component Libraries</a:t>
            </a:r>
            <a:r>
              <a:rPr lang="zh-CN" altLang="en-US" sz="2000" dirty="0">
                <a:latin typeface="+mn-ea"/>
              </a:rPr>
              <a:t>中添加电路元件，电流源</a:t>
            </a:r>
            <a:r>
              <a:rPr lang="en-US" altLang="zh-CN" sz="2000" dirty="0">
                <a:latin typeface="+mn-ea"/>
              </a:rPr>
              <a:t>【Sources】|【</a:t>
            </a:r>
            <a:r>
              <a:rPr lang="en-US" altLang="zh-CN" sz="2000" dirty="0" err="1">
                <a:latin typeface="+mn-ea"/>
              </a:rPr>
              <a:t>VSin</a:t>
            </a:r>
            <a:r>
              <a:rPr lang="en-US" altLang="zh-CN" sz="2000" dirty="0">
                <a:latin typeface="+mn-ea"/>
              </a:rPr>
              <a:t>】</a:t>
            </a:r>
            <a:r>
              <a:rPr lang="zh-CN" altLang="en-US" sz="2000" dirty="0">
                <a:latin typeface="+mn-ea"/>
              </a:rPr>
              <a:t>，</a:t>
            </a:r>
            <a:r>
              <a:rPr lang="en-US" altLang="zh-CN" sz="2000" dirty="0">
                <a:latin typeface="+mn-ea"/>
              </a:rPr>
              <a:t> </a:t>
            </a:r>
            <a:r>
              <a:rPr lang="zh-CN" altLang="en-US" sz="2000" dirty="0">
                <a:latin typeface="+mn-ea"/>
              </a:rPr>
              <a:t>电流表</a:t>
            </a:r>
            <a:r>
              <a:rPr lang="en-US" altLang="zh-CN" sz="2000" dirty="0">
                <a:latin typeface="+mn-ea"/>
              </a:rPr>
              <a:t>【Probes】|【Ammeter】</a:t>
            </a:r>
            <a:r>
              <a:rPr lang="zh-CN" altLang="en-US" sz="2000" dirty="0">
                <a:latin typeface="+mn-ea"/>
              </a:rPr>
              <a:t>，电阻</a:t>
            </a:r>
            <a:r>
              <a:rPr lang="en-US" altLang="zh-CN" sz="2000" dirty="0">
                <a:latin typeface="+mn-ea"/>
              </a:rPr>
              <a:t>【Passive Elements】|【Resistor】</a:t>
            </a:r>
            <a:r>
              <a:rPr lang="zh-CN" altLang="en-US" sz="2000" dirty="0">
                <a:latin typeface="+mn-ea"/>
              </a:rPr>
              <a:t>，在菜单栏</a:t>
            </a:r>
            <a:r>
              <a:rPr lang="en-US" altLang="zh-CN" sz="2000" dirty="0">
                <a:latin typeface="+mn-ea"/>
              </a:rPr>
              <a:t>【Draw】|【Ground】</a:t>
            </a:r>
            <a:r>
              <a:rPr lang="zh-CN" altLang="en-US" sz="2000" dirty="0">
                <a:latin typeface="+mn-ea"/>
              </a:rPr>
              <a:t>。</a:t>
            </a:r>
            <a:endParaRPr lang="en-US" altLang="zh-CN" sz="2000" dirty="0">
              <a:latin typeface="+mn-ea"/>
            </a:endParaRPr>
          </a:p>
          <a:p>
            <a:pPr marL="360045" lvl="1" algn="just">
              <a:lnSpc>
                <a:spcPct val="120000"/>
              </a:lnSpc>
              <a:spcAft>
                <a:spcPts val="600"/>
              </a:spcAft>
              <a:tabLst>
                <a:tab pos="228600" algn="l"/>
              </a:tabLst>
            </a:pPr>
            <a:r>
              <a:rPr lang="en-US" altLang="zh-CN" sz="2000" b="1" dirty="0">
                <a:latin typeface="+mn-ea"/>
              </a:rPr>
              <a:t>6.</a:t>
            </a:r>
            <a:r>
              <a:rPr lang="zh-CN" altLang="en-US" sz="2000" b="1" dirty="0">
                <a:latin typeface="+mn-ea"/>
              </a:rPr>
              <a:t>修改元件参数，</a:t>
            </a:r>
            <a:r>
              <a:rPr lang="zh-CN" altLang="en-US" sz="2000" dirty="0">
                <a:latin typeface="+mn-ea"/>
              </a:rPr>
              <a:t>电压源参数，</a:t>
            </a:r>
            <a:r>
              <a:rPr lang="en-US" altLang="zh-CN" sz="2000" dirty="0" err="1">
                <a:latin typeface="+mn-ea"/>
              </a:rPr>
              <a:t>Va</a:t>
            </a:r>
            <a:r>
              <a:rPr lang="zh-CN" altLang="en-US" sz="2000" dirty="0">
                <a:latin typeface="+mn-ea"/>
              </a:rPr>
              <a:t>（幅值）：</a:t>
            </a:r>
            <a:r>
              <a:rPr lang="en-US" altLang="zh-CN" sz="2000" dirty="0">
                <a:latin typeface="+mn-ea"/>
              </a:rPr>
              <a:t>50</a:t>
            </a:r>
            <a:r>
              <a:rPr lang="zh-CN" altLang="en-US" sz="2000" dirty="0">
                <a:latin typeface="+mn-ea"/>
              </a:rPr>
              <a:t>，</a:t>
            </a:r>
            <a:r>
              <a:rPr lang="en-US" altLang="zh-CN" sz="2000" dirty="0" err="1">
                <a:latin typeface="+mn-ea"/>
              </a:rPr>
              <a:t>Vfreq</a:t>
            </a:r>
            <a:r>
              <a:rPr lang="zh-CN" altLang="en-US" sz="2000" dirty="0">
                <a:latin typeface="+mn-ea"/>
              </a:rPr>
              <a:t>：</a:t>
            </a:r>
            <a:r>
              <a:rPr lang="en-US" altLang="zh-CN" sz="2000" dirty="0">
                <a:latin typeface="+mn-ea"/>
              </a:rPr>
              <a:t>50Hz</a:t>
            </a:r>
            <a:r>
              <a:rPr lang="zh-CN" altLang="en-US" sz="2000" dirty="0">
                <a:latin typeface="+mn-ea"/>
              </a:rPr>
              <a:t>；电阻参数：</a:t>
            </a:r>
            <a:r>
              <a:rPr lang="en-US" altLang="zh-CN" sz="2000" dirty="0">
                <a:latin typeface="+mn-ea"/>
              </a:rPr>
              <a:t>100ohm</a:t>
            </a:r>
            <a:r>
              <a:rPr lang="zh-CN" altLang="en-US" sz="2000" dirty="0">
                <a:latin typeface="+mn-ea"/>
              </a:rPr>
              <a:t>。</a:t>
            </a:r>
            <a:endParaRPr lang="en-US" altLang="zh-CN" sz="2000" dirty="0">
              <a:latin typeface="+mn-ea"/>
            </a:endParaRPr>
          </a:p>
          <a:p>
            <a:pPr marL="360045" lvl="1" algn="just">
              <a:lnSpc>
                <a:spcPct val="120000"/>
              </a:lnSpc>
              <a:spcAft>
                <a:spcPts val="600"/>
              </a:spcAft>
              <a:tabLst>
                <a:tab pos="228600" algn="l"/>
              </a:tabLst>
            </a:pPr>
            <a:r>
              <a:rPr lang="en-US" altLang="zh-CN" sz="2000" b="1" dirty="0">
                <a:latin typeface="+mn-ea"/>
              </a:rPr>
              <a:t>7.</a:t>
            </a:r>
            <a:r>
              <a:rPr lang="zh-CN" altLang="en-US" sz="2000" b="1" dirty="0">
                <a:latin typeface="+mn-ea"/>
              </a:rPr>
              <a:t>检查电路图，</a:t>
            </a:r>
            <a:r>
              <a:rPr lang="zh-CN" altLang="en-US" sz="2000" dirty="0">
                <a:latin typeface="+mn-ea"/>
              </a:rPr>
              <a:t>菜单栏点击，</a:t>
            </a:r>
            <a:r>
              <a:rPr lang="en-US" altLang="zh-CN" sz="2000" dirty="0">
                <a:latin typeface="+mn-ea"/>
              </a:rPr>
              <a:t>【Schematic】|【Electric Rule Check】</a:t>
            </a:r>
            <a:r>
              <a:rPr lang="zh-CN" altLang="en-US" sz="2000" dirty="0">
                <a:latin typeface="+mn-ea"/>
              </a:rPr>
              <a:t>，</a:t>
            </a:r>
            <a:r>
              <a:rPr lang="en-US" altLang="zh-CN" sz="2000" dirty="0">
                <a:latin typeface="+mn-ea"/>
              </a:rPr>
              <a:t>Results</a:t>
            </a:r>
            <a:r>
              <a:rPr lang="zh-CN" altLang="en-US" sz="2000" dirty="0">
                <a:latin typeface="+mn-ea"/>
              </a:rPr>
              <a:t>为空说明没有错误，点击</a:t>
            </a:r>
            <a:r>
              <a:rPr lang="en-US" altLang="zh-CN" sz="2000" dirty="0">
                <a:latin typeface="+mn-ea"/>
              </a:rPr>
              <a:t>Close</a:t>
            </a:r>
            <a:r>
              <a:rPr lang="zh-CN" altLang="en-US" sz="2000" dirty="0">
                <a:latin typeface="+mn-ea"/>
              </a:rPr>
              <a:t>。</a:t>
            </a:r>
            <a:endParaRPr lang="en-US" altLang="zh-CN" sz="2000" dirty="0">
              <a:latin typeface="+mn-ea"/>
            </a:endParaRPr>
          </a:p>
          <a:p>
            <a:pPr marL="360045" lvl="1" algn="just">
              <a:lnSpc>
                <a:spcPct val="120000"/>
              </a:lnSpc>
              <a:spcAft>
                <a:spcPts val="600"/>
              </a:spcAft>
              <a:tabLst>
                <a:tab pos="228600" algn="l"/>
              </a:tabLst>
            </a:pPr>
            <a:endParaRPr lang="en-US" altLang="zh-CN" sz="2000" dirty="0">
              <a:latin typeface="+mn-ea"/>
            </a:endParaRPr>
          </a:p>
        </p:txBody>
      </p:sp>
      <p:sp>
        <p:nvSpPr>
          <p:cNvPr id="5"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37357" y="3830726"/>
            <a:ext cx="5337563" cy="302727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19154" y="1022954"/>
            <a:ext cx="10753692" cy="2567691"/>
          </a:xfrm>
          <a:prstGeom prst="rect">
            <a:avLst/>
          </a:prstGeom>
        </p:spPr>
        <p:txBody>
          <a:bodyPr wrap="square">
            <a:spAutoFit/>
          </a:bodyPr>
          <a:lstStyle/>
          <a:p>
            <a:pPr marL="0" lvl="1" algn="just">
              <a:lnSpc>
                <a:spcPct val="135000"/>
              </a:lnSpc>
              <a:spcBef>
                <a:spcPts val="6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8.</a:t>
            </a:r>
            <a:r>
              <a:rPr lang="zh-CN" altLang="en-US" sz="2400" b="1" kern="100" dirty="0">
                <a:solidFill>
                  <a:srgbClr val="0000FF"/>
                </a:solidFill>
                <a:latin typeface="等线" panose="02010600030101010101" charset="-122"/>
                <a:cs typeface="Times New Roman" panose="02020603050405020304" pitchFamily="18" charset="0"/>
              </a:rPr>
              <a:t>添加激励并绘制外部电路。</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20000"/>
              </a:lnSpc>
              <a:spcAft>
                <a:spcPts val="600"/>
              </a:spcAft>
              <a:tabLst>
                <a:tab pos="228600" algn="l"/>
              </a:tabLst>
            </a:pPr>
            <a:r>
              <a:rPr lang="en-US" altLang="zh-CN" sz="2000" b="1" dirty="0">
                <a:latin typeface="+mn-ea"/>
              </a:rPr>
              <a:t>8.</a:t>
            </a:r>
            <a:r>
              <a:rPr lang="zh-CN" altLang="en-US" sz="2000" b="1" dirty="0">
                <a:latin typeface="+mn-ea"/>
              </a:rPr>
              <a:t>导出外部电路，</a:t>
            </a:r>
            <a:r>
              <a:rPr lang="zh-CN" altLang="en-US" sz="2000" dirty="0">
                <a:latin typeface="+mn-ea"/>
              </a:rPr>
              <a:t>菜单栏点击，</a:t>
            </a:r>
            <a:r>
              <a:rPr lang="en-US" altLang="zh-CN" sz="2000" dirty="0">
                <a:latin typeface="+mn-ea"/>
              </a:rPr>
              <a:t>【Maxwell Circuit】|【Export Netlist】,</a:t>
            </a:r>
            <a:r>
              <a:rPr lang="zh-CN" altLang="en-US" sz="2000" dirty="0">
                <a:latin typeface="+mn-ea"/>
              </a:rPr>
              <a:t>命名为</a:t>
            </a:r>
            <a:r>
              <a:rPr lang="en-US" altLang="zh-CN" sz="2000" dirty="0">
                <a:latin typeface="+mn-ea"/>
              </a:rPr>
              <a:t>circuit1</a:t>
            </a:r>
            <a:r>
              <a:rPr lang="zh-CN" altLang="en-US" sz="2000" dirty="0">
                <a:latin typeface="+mn-ea"/>
              </a:rPr>
              <a:t>，保存到桌面</a:t>
            </a:r>
            <a:r>
              <a:rPr lang="zh-CN" altLang="en-US" sz="2000" dirty="0">
                <a:solidFill>
                  <a:srgbClr val="0000CC"/>
                </a:solidFill>
                <a:latin typeface="+mn-ea"/>
              </a:rPr>
              <a:t>（</a:t>
            </a:r>
            <a:r>
              <a:rPr lang="zh-CN" altLang="en-US" sz="2000" dirty="0">
                <a:solidFill>
                  <a:srgbClr val="FF0000"/>
                </a:solidFill>
                <a:latin typeface="+mn-ea"/>
              </a:rPr>
              <a:t>最好跟一开始建立的工程保存在一个文件夹下）。</a:t>
            </a:r>
            <a:endParaRPr lang="en-US" altLang="zh-CN" sz="2000" dirty="0">
              <a:solidFill>
                <a:srgbClr val="FF0000"/>
              </a:solidFill>
              <a:latin typeface="+mn-ea"/>
            </a:endParaRPr>
          </a:p>
          <a:p>
            <a:pPr marL="360045" lvl="1" algn="just">
              <a:lnSpc>
                <a:spcPct val="120000"/>
              </a:lnSpc>
              <a:spcAft>
                <a:spcPts val="600"/>
              </a:spcAft>
              <a:tabLst>
                <a:tab pos="228600" algn="l"/>
              </a:tabLst>
            </a:pPr>
            <a:r>
              <a:rPr lang="en-US" altLang="zh-CN" sz="2000" b="1" dirty="0">
                <a:latin typeface="+mn-ea"/>
              </a:rPr>
              <a:t>9.</a:t>
            </a:r>
            <a:r>
              <a:rPr lang="zh-CN" altLang="en-US" sz="2000" b="1" dirty="0">
                <a:latin typeface="+mn-ea"/>
              </a:rPr>
              <a:t>导入外部电路模型。</a:t>
            </a:r>
            <a:r>
              <a:rPr lang="zh-CN" altLang="en-US" sz="2000" dirty="0">
                <a:latin typeface="+mn-ea"/>
              </a:rPr>
              <a:t>在工程管理栏双击</a:t>
            </a:r>
            <a:r>
              <a:rPr lang="en-US" altLang="zh-CN" sz="2000" dirty="0">
                <a:latin typeface="+mn-ea"/>
              </a:rPr>
              <a:t>Maxwell 2DDesign1</a:t>
            </a:r>
            <a:r>
              <a:rPr lang="zh-CN" altLang="en-US" sz="2000" dirty="0">
                <a:latin typeface="+mn-ea"/>
              </a:rPr>
              <a:t>（</a:t>
            </a:r>
            <a:r>
              <a:rPr lang="en-US" altLang="zh-CN" sz="2000" dirty="0">
                <a:latin typeface="+mn-ea"/>
              </a:rPr>
              <a:t>Transient</a:t>
            </a:r>
            <a:r>
              <a:rPr lang="zh-CN" altLang="en-US" sz="2000" dirty="0">
                <a:latin typeface="+mn-ea"/>
              </a:rPr>
              <a:t>，</a:t>
            </a:r>
            <a:r>
              <a:rPr lang="en-US" altLang="zh-CN" sz="2000" dirty="0">
                <a:latin typeface="+mn-ea"/>
              </a:rPr>
              <a:t>About Z</a:t>
            </a:r>
            <a:r>
              <a:rPr lang="zh-CN" altLang="en-US" sz="2000" dirty="0">
                <a:latin typeface="+mn-ea"/>
              </a:rPr>
              <a:t>）工程文件将其打开，工程树栏</a:t>
            </a:r>
            <a:r>
              <a:rPr lang="en-US" altLang="zh-CN" sz="2000" dirty="0">
                <a:latin typeface="+mn-ea"/>
              </a:rPr>
              <a:t>【Rectangle1 】</a:t>
            </a:r>
            <a:r>
              <a:rPr lang="zh-CN" altLang="en-US" sz="2000" dirty="0">
                <a:latin typeface="+mn-ea"/>
              </a:rPr>
              <a:t>上右键，</a:t>
            </a:r>
            <a:r>
              <a:rPr lang="en-US" altLang="zh-CN" sz="2000" dirty="0">
                <a:latin typeface="+mn-ea"/>
              </a:rPr>
              <a:t>【Assign Excitation】|【External Circuit】|【 Edit External Circuit 】|【Import Circuit Netlist】</a:t>
            </a:r>
            <a:r>
              <a:rPr lang="zh-CN" altLang="en-US" sz="2000" dirty="0">
                <a:latin typeface="+mn-ea"/>
              </a:rPr>
              <a:t>，选择刚保存的外部电路文件</a:t>
            </a:r>
            <a:r>
              <a:rPr lang="en-US" altLang="zh-CN" sz="2000" dirty="0">
                <a:latin typeface="+mn-ea"/>
              </a:rPr>
              <a:t>circuit1.sph</a:t>
            </a:r>
            <a:r>
              <a:rPr lang="zh-CN" altLang="en-US" sz="2000" dirty="0">
                <a:latin typeface="+mn-ea"/>
              </a:rPr>
              <a:t>。</a:t>
            </a:r>
            <a:endParaRPr lang="en-US" altLang="zh-CN" sz="2000" dirty="0">
              <a:latin typeface="+mn-ea"/>
            </a:endParaRPr>
          </a:p>
        </p:txBody>
      </p:sp>
      <p:sp>
        <p:nvSpPr>
          <p:cNvPr id="5"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11326" y="3590645"/>
            <a:ext cx="3689398" cy="345027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4540" y="824720"/>
            <a:ext cx="10502900" cy="3646170"/>
          </a:xfrm>
          <a:prstGeom prst="rect">
            <a:avLst/>
          </a:prstGeom>
        </p:spPr>
        <p:txBody>
          <a:bodyPr wrap="square">
            <a:spAutoFit/>
          </a:bodyPr>
          <a:lstStyle/>
          <a:p>
            <a:pPr marL="0" lvl="1" algn="just">
              <a:lnSpc>
                <a:spcPct val="150000"/>
              </a:lnSpc>
              <a:spcBef>
                <a:spcPts val="1200"/>
              </a:spcBef>
              <a:spcAft>
                <a:spcPts val="600"/>
              </a:spcAft>
              <a:tabLst>
                <a:tab pos="228600" algn="l"/>
              </a:tabLst>
            </a:pPr>
            <a:r>
              <a:rPr lang="zh-CN" altLang="en-US" sz="2400" b="1" kern="100" dirty="0">
                <a:solidFill>
                  <a:srgbClr val="0000FF"/>
                </a:solidFill>
                <a:latin typeface="等线" panose="02010600030101010101" charset="-122"/>
                <a:cs typeface="Times New Roman" panose="02020603050405020304" pitchFamily="18" charset="0"/>
                <a:sym typeface="+mn-ea"/>
              </a:rPr>
              <a:t>步骤</a:t>
            </a:r>
            <a:r>
              <a:rPr lang="en-US" altLang="zh-CN" sz="2400" b="1" kern="100" dirty="0">
                <a:solidFill>
                  <a:srgbClr val="0000FF"/>
                </a:solidFill>
                <a:latin typeface="等线" panose="02010600030101010101" charset="-122"/>
                <a:cs typeface="Times New Roman" panose="02020603050405020304" pitchFamily="18" charset="0"/>
              </a:rPr>
              <a:t>9.</a:t>
            </a:r>
            <a:r>
              <a:rPr lang="zh-CN" altLang="en-US" sz="2400" b="1" kern="100" dirty="0">
                <a:solidFill>
                  <a:srgbClr val="0000FF"/>
                </a:solidFill>
                <a:latin typeface="等线" panose="02010600030101010101" charset="-122"/>
                <a:cs typeface="Times New Roman" panose="02020603050405020304" pitchFamily="18" charset="0"/>
              </a:rPr>
              <a:t>设置网格剖分。</a:t>
            </a:r>
            <a:endParaRPr lang="en-US" altLang="zh-CN" sz="2400" b="1" kern="100" dirty="0">
              <a:solidFill>
                <a:srgbClr val="0000FF"/>
              </a:solidFill>
              <a:latin typeface="等线" panose="02010600030101010101" charset="-122"/>
              <a:cs typeface="Times New Roman" panose="02020603050405020304" pitchFamily="18" charset="0"/>
            </a:endParaRPr>
          </a:p>
          <a:p>
            <a:pPr marL="360045" lvl="1" algn="just">
              <a:lnSpc>
                <a:spcPct val="120000"/>
              </a:lnSpc>
              <a:spcBef>
                <a:spcPts val="600"/>
              </a:spcBef>
              <a:spcAft>
                <a:spcPts val="600"/>
              </a:spcAft>
              <a:tabLst>
                <a:tab pos="228600" algn="l"/>
              </a:tabLst>
            </a:pPr>
            <a:r>
              <a:rPr lang="zh-CN" altLang="zh-CN" sz="2000" b="1" dirty="0"/>
              <a:t>由于</a:t>
            </a:r>
            <a:r>
              <a:rPr lang="zh-CN" altLang="zh-CN" sz="2000" b="1" dirty="0">
                <a:latin typeface="+mn-ea"/>
              </a:rPr>
              <a:t>模型</a:t>
            </a:r>
            <a:r>
              <a:rPr lang="zh-CN" altLang="zh-CN" sz="2000" b="1" dirty="0"/>
              <a:t>比较</a:t>
            </a:r>
            <a:r>
              <a:rPr lang="zh-CN" altLang="zh-CN" sz="2000" b="1" dirty="0">
                <a:latin typeface="+mn-ea"/>
              </a:rPr>
              <a:t>简单</a:t>
            </a:r>
            <a:r>
              <a:rPr lang="zh-CN" altLang="zh-CN" sz="2000" b="1" dirty="0"/>
              <a:t>，直接采用系统默认网格划分，故此处可省略设置。</a:t>
            </a:r>
            <a:endParaRPr lang="zh-CN" altLang="zh-CN" sz="2000" b="1" dirty="0"/>
          </a:p>
          <a:p>
            <a:pPr>
              <a:lnSpc>
                <a:spcPct val="150000"/>
              </a:lnSpc>
            </a:pPr>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10.</a:t>
            </a:r>
            <a:r>
              <a:rPr lang="zh-CN" altLang="zh-CN" sz="2400" b="1" kern="100" dirty="0">
                <a:solidFill>
                  <a:srgbClr val="0000FF"/>
                </a:solidFill>
                <a:latin typeface="等线" panose="02010600030101010101" charset="-122"/>
                <a:cs typeface="Times New Roman" panose="02020603050405020304" pitchFamily="18" charset="0"/>
              </a:rPr>
              <a:t>求解计算</a:t>
            </a:r>
            <a:endParaRPr lang="zh-CN" altLang="zh-CN" sz="2400" b="1" kern="100" dirty="0">
              <a:solidFill>
                <a:srgbClr val="0000FF"/>
              </a:solidFill>
              <a:latin typeface="等线" panose="02010600030101010101" charset="-122"/>
              <a:cs typeface="Times New Roman" panose="02020603050405020304" pitchFamily="18" charset="0"/>
            </a:endParaRPr>
          </a:p>
          <a:p>
            <a:pPr marL="360045">
              <a:lnSpc>
                <a:spcPct val="150000"/>
              </a:lnSpc>
            </a:pPr>
            <a:r>
              <a:rPr lang="en-US" altLang="zh-CN" sz="2000" b="1" dirty="0">
                <a:latin typeface="+mn-ea"/>
              </a:rPr>
              <a:t>1</a:t>
            </a:r>
            <a:r>
              <a:rPr lang="en-US" altLang="zh-CN" sz="2000" b="1" dirty="0">
                <a:latin typeface="+mn-ea"/>
                <a:sym typeface="+mn-ea"/>
              </a:rPr>
              <a:t>. </a:t>
            </a:r>
            <a:r>
              <a:rPr lang="zh-CN" altLang="zh-CN" sz="2000" b="1" dirty="0">
                <a:latin typeface="+mn-ea"/>
              </a:rPr>
              <a:t>设置求解选项，</a:t>
            </a:r>
            <a:r>
              <a:rPr lang="en-US" altLang="zh-CN" sz="2000" b="1" dirty="0">
                <a:latin typeface="+mn-ea"/>
              </a:rPr>
              <a:t> </a:t>
            </a:r>
            <a:r>
              <a:rPr lang="en-US" altLang="zh-CN" sz="2000" dirty="0" err="1">
                <a:latin typeface="+mn-ea"/>
              </a:rPr>
              <a:t>在菜单栏选择【Maxwell</a:t>
            </a:r>
            <a:r>
              <a:rPr lang="en-US" altLang="zh-CN" sz="2000" dirty="0">
                <a:latin typeface="+mn-ea"/>
              </a:rPr>
              <a:t> 2D】| 【Analysis Setup】|【 Add Solution Setup】| 【General】</a:t>
            </a:r>
            <a:r>
              <a:rPr lang="zh-CN" altLang="en-US" sz="2000" dirty="0">
                <a:latin typeface="+mn-ea"/>
              </a:rPr>
              <a:t>选项卡</a:t>
            </a:r>
            <a:r>
              <a:rPr lang="en-US" altLang="zh-CN" sz="2000" dirty="0">
                <a:latin typeface="+mn-ea"/>
              </a:rPr>
              <a:t>|【Transient Setup】</a:t>
            </a:r>
            <a:r>
              <a:rPr lang="zh-CN" altLang="en-US" sz="2000" dirty="0">
                <a:latin typeface="+mn-ea"/>
              </a:rPr>
              <a:t>，计算</a:t>
            </a:r>
            <a:r>
              <a:rPr lang="en-US" altLang="zh-CN" sz="2000" dirty="0">
                <a:latin typeface="+mn-ea"/>
              </a:rPr>
              <a:t>5</a:t>
            </a:r>
            <a:r>
              <a:rPr lang="zh-CN" altLang="en-US" sz="2000" dirty="0">
                <a:latin typeface="+mn-ea"/>
              </a:rPr>
              <a:t>个周期</a:t>
            </a:r>
            <a:r>
              <a:rPr lang="en-US" altLang="zh-CN" sz="2000" dirty="0">
                <a:latin typeface="+mn-ea"/>
              </a:rPr>
              <a:t>Stop time</a:t>
            </a:r>
            <a:r>
              <a:rPr lang="zh-CN" altLang="en-US" sz="2000" dirty="0">
                <a:latin typeface="+mn-ea"/>
              </a:rPr>
              <a:t>：</a:t>
            </a:r>
            <a:r>
              <a:rPr lang="en-US" altLang="zh-CN" sz="2000" dirty="0">
                <a:latin typeface="+mn-ea"/>
              </a:rPr>
              <a:t>100ms</a:t>
            </a:r>
            <a:r>
              <a:rPr lang="zh-CN" altLang="en-US" sz="2000" dirty="0">
                <a:latin typeface="+mn-ea"/>
              </a:rPr>
              <a:t>，计算步长</a:t>
            </a:r>
            <a:r>
              <a:rPr lang="en-US" altLang="zh-CN" sz="2000" dirty="0">
                <a:latin typeface="+mn-ea"/>
              </a:rPr>
              <a:t>Time step</a:t>
            </a:r>
            <a:r>
              <a:rPr lang="zh-CN" altLang="en-US" sz="2000" dirty="0">
                <a:latin typeface="+mn-ea"/>
              </a:rPr>
              <a:t>：</a:t>
            </a:r>
            <a:r>
              <a:rPr lang="en-US" altLang="zh-CN" sz="2000" dirty="0">
                <a:latin typeface="+mn-ea"/>
              </a:rPr>
              <a:t>1ms</a:t>
            </a:r>
            <a:r>
              <a:rPr lang="zh-CN" altLang="en-US" sz="2000" dirty="0">
                <a:latin typeface="+mn-ea"/>
              </a:rPr>
              <a:t>；</a:t>
            </a:r>
            <a:r>
              <a:rPr lang="en-US" altLang="zh-CN" sz="2000" dirty="0">
                <a:latin typeface="+mn-ea"/>
              </a:rPr>
              <a:t>【Save Fields】</a:t>
            </a:r>
            <a:r>
              <a:rPr lang="zh-CN" altLang="en-US" sz="2000" dirty="0">
                <a:latin typeface="+mn-ea"/>
              </a:rPr>
              <a:t>选项卡存储计算结果，</a:t>
            </a:r>
            <a:r>
              <a:rPr lang="en-US" altLang="zh-CN" sz="2000" dirty="0">
                <a:latin typeface="+mn-ea"/>
              </a:rPr>
              <a:t> Start</a:t>
            </a:r>
            <a:r>
              <a:rPr lang="zh-CN" altLang="en-US" sz="2000" dirty="0">
                <a:latin typeface="+mn-ea"/>
              </a:rPr>
              <a:t>：</a:t>
            </a:r>
            <a:r>
              <a:rPr lang="en-US" altLang="zh-CN" sz="2000" dirty="0">
                <a:latin typeface="+mn-ea"/>
              </a:rPr>
              <a:t>0ms</a:t>
            </a:r>
            <a:r>
              <a:rPr lang="zh-CN" altLang="en-US" sz="2000" dirty="0">
                <a:latin typeface="+mn-ea"/>
              </a:rPr>
              <a:t>， </a:t>
            </a:r>
            <a:r>
              <a:rPr lang="en-US" altLang="zh-CN" sz="2000" dirty="0">
                <a:latin typeface="+mn-ea"/>
              </a:rPr>
              <a:t>Stop</a:t>
            </a:r>
            <a:r>
              <a:rPr lang="zh-CN" altLang="en-US" sz="2000" dirty="0">
                <a:latin typeface="+mn-ea"/>
              </a:rPr>
              <a:t>：</a:t>
            </a:r>
            <a:r>
              <a:rPr lang="en-US" altLang="zh-CN" sz="2000" dirty="0">
                <a:latin typeface="+mn-ea"/>
              </a:rPr>
              <a:t>100ms</a:t>
            </a:r>
            <a:r>
              <a:rPr lang="zh-CN" altLang="en-US" sz="2000" dirty="0">
                <a:latin typeface="+mn-ea"/>
              </a:rPr>
              <a:t>，</a:t>
            </a:r>
            <a:r>
              <a:rPr lang="en-US" altLang="zh-CN" sz="2000" dirty="0">
                <a:latin typeface="+mn-ea"/>
              </a:rPr>
              <a:t>Step Size</a:t>
            </a:r>
            <a:r>
              <a:rPr lang="zh-CN" altLang="en-US" sz="2000" dirty="0">
                <a:latin typeface="+mn-ea"/>
              </a:rPr>
              <a:t>：</a:t>
            </a:r>
            <a:r>
              <a:rPr lang="en-US" altLang="zh-CN" sz="2000" dirty="0">
                <a:latin typeface="+mn-ea"/>
              </a:rPr>
              <a:t>1</a:t>
            </a:r>
            <a:r>
              <a:rPr lang="en-US" altLang="zh-CN" sz="2000" dirty="0">
                <a:latin typeface="+mn-ea"/>
              </a:rPr>
              <a:t>ms</a:t>
            </a:r>
            <a:r>
              <a:rPr lang="zh-CN" altLang="en-US" sz="2000" dirty="0">
                <a:latin typeface="+mn-ea"/>
              </a:rPr>
              <a:t>，单击</a:t>
            </a:r>
            <a:r>
              <a:rPr lang="en-US" altLang="zh-CN" sz="2000" dirty="0">
                <a:latin typeface="+mn-ea"/>
              </a:rPr>
              <a:t>Add to list</a:t>
            </a:r>
            <a:r>
              <a:rPr lang="zh-CN" altLang="en-US" sz="2000" dirty="0">
                <a:latin typeface="+mn-ea"/>
              </a:rPr>
              <a:t>，</a:t>
            </a:r>
            <a:r>
              <a:rPr lang="zh-CN" altLang="zh-CN" sz="2000" dirty="0">
                <a:latin typeface="+mn-ea"/>
              </a:rPr>
              <a:t>单击【确定】。</a:t>
            </a:r>
            <a:endParaRPr lang="zh-CN" altLang="zh-CN" sz="2000" dirty="0">
              <a:latin typeface="+mn-ea"/>
            </a:endParaRPr>
          </a:p>
        </p:txBody>
      </p:sp>
      <p:sp>
        <p:nvSpPr>
          <p:cNvPr id="6"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225611" y="4452546"/>
            <a:ext cx="3966156" cy="4191802"/>
          </a:xfrm>
          <a:prstGeom prst="rect">
            <a:avLst/>
          </a:prstGeom>
        </p:spPr>
      </p:pic>
      <p:pic>
        <p:nvPicPr>
          <p:cNvPr id="7" name="图片 6"/>
          <p:cNvPicPr>
            <a:picLocks noChangeAspect="1"/>
          </p:cNvPicPr>
          <p:nvPr/>
        </p:nvPicPr>
        <p:blipFill>
          <a:blip r:embed="rId2"/>
          <a:stretch>
            <a:fillRect/>
          </a:stretch>
        </p:blipFill>
        <p:spPr>
          <a:xfrm>
            <a:off x="6647815" y="3974465"/>
            <a:ext cx="473075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4540" y="824720"/>
            <a:ext cx="10502900" cy="1522789"/>
          </a:xfrm>
          <a:prstGeom prst="rect">
            <a:avLst/>
          </a:prstGeom>
        </p:spPr>
        <p:txBody>
          <a:bodyPr wrap="square">
            <a:spAutoFit/>
          </a:bodyPr>
          <a:lstStyle/>
          <a:p>
            <a:pPr>
              <a:lnSpc>
                <a:spcPct val="150000"/>
              </a:lnSpc>
            </a:pPr>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10.</a:t>
            </a:r>
            <a:r>
              <a:rPr lang="zh-CN" altLang="zh-CN" sz="2400" b="1" kern="100" dirty="0">
                <a:solidFill>
                  <a:srgbClr val="0000FF"/>
                </a:solidFill>
                <a:latin typeface="等线" panose="02010600030101010101" charset="-122"/>
                <a:cs typeface="Times New Roman" panose="02020603050405020304" pitchFamily="18" charset="0"/>
              </a:rPr>
              <a:t>求解计算</a:t>
            </a:r>
            <a:endParaRPr lang="zh-CN" altLang="zh-CN" sz="2400" b="1" kern="100" dirty="0">
              <a:solidFill>
                <a:srgbClr val="0000FF"/>
              </a:solidFill>
              <a:latin typeface="等线" panose="02010600030101010101" charset="-122"/>
              <a:cs typeface="Times New Roman" panose="02020603050405020304" pitchFamily="18" charset="0"/>
            </a:endParaRPr>
          </a:p>
          <a:p>
            <a:pPr marL="360045">
              <a:lnSpc>
                <a:spcPct val="150000"/>
              </a:lnSpc>
            </a:pPr>
            <a:r>
              <a:rPr lang="en-US" altLang="zh-CN" sz="2000" b="1" dirty="0">
                <a:latin typeface="+mn-ea"/>
              </a:rPr>
              <a:t>2</a:t>
            </a:r>
            <a:r>
              <a:rPr lang="en-US" altLang="zh-CN" sz="2000" b="1" dirty="0">
                <a:latin typeface="+mn-ea"/>
                <a:sym typeface="+mn-ea"/>
              </a:rPr>
              <a:t>. </a:t>
            </a:r>
            <a:r>
              <a:rPr lang="zh-CN" altLang="zh-CN" sz="2000" b="1" dirty="0">
                <a:latin typeface="+mn-ea"/>
              </a:rPr>
              <a:t>检测模型，</a:t>
            </a:r>
            <a:r>
              <a:rPr lang="zh-CN" altLang="zh-CN" sz="2000" dirty="0">
                <a:latin typeface="+mn-ea"/>
              </a:rPr>
              <a:t>模型各项</a:t>
            </a:r>
            <a:r>
              <a:rPr lang="zh-CN" altLang="en-US" sz="2000" dirty="0">
                <a:latin typeface="+mn-ea"/>
              </a:rPr>
              <a:t>均无报错（允许存在下图中的两项警告）</a:t>
            </a:r>
            <a:r>
              <a:rPr lang="zh-CN" altLang="zh-CN" sz="2000" dirty="0">
                <a:latin typeface="+mn-ea"/>
              </a:rPr>
              <a:t>，单击【</a:t>
            </a:r>
            <a:r>
              <a:rPr lang="en-US" altLang="zh-CN" sz="2000" dirty="0">
                <a:latin typeface="+mn-ea"/>
              </a:rPr>
              <a:t>Close</a:t>
            </a:r>
            <a:r>
              <a:rPr lang="zh-CN" altLang="zh-CN" sz="2000" dirty="0">
                <a:latin typeface="+mn-ea"/>
              </a:rPr>
              <a:t>】。</a:t>
            </a:r>
            <a:endParaRPr lang="zh-CN" altLang="zh-CN" sz="2000" dirty="0">
              <a:latin typeface="+mn-ea"/>
            </a:endParaRPr>
          </a:p>
          <a:p>
            <a:pPr marL="360045">
              <a:lnSpc>
                <a:spcPct val="150000"/>
              </a:lnSpc>
            </a:pPr>
            <a:r>
              <a:rPr lang="en-US" altLang="zh-CN" sz="2000" b="1" dirty="0">
                <a:latin typeface="+mn-ea"/>
              </a:rPr>
              <a:t>3</a:t>
            </a:r>
            <a:r>
              <a:rPr lang="en-US" altLang="zh-CN" sz="2000" b="1" dirty="0">
                <a:latin typeface="+mn-ea"/>
                <a:sym typeface="+mn-ea"/>
              </a:rPr>
              <a:t>. </a:t>
            </a:r>
            <a:r>
              <a:rPr lang="zh-CN" altLang="zh-CN" sz="2000" b="1" dirty="0">
                <a:latin typeface="+mn-ea"/>
              </a:rPr>
              <a:t>启动分析</a:t>
            </a:r>
            <a:r>
              <a:rPr lang="zh-CN" altLang="en-US" sz="2000" b="1" dirty="0">
                <a:latin typeface="+mn-ea"/>
              </a:rPr>
              <a:t>。</a:t>
            </a:r>
            <a:endParaRPr lang="zh-CN" altLang="zh-CN" sz="2000" b="1" dirty="0">
              <a:latin typeface="+mn-ea"/>
            </a:endParaRPr>
          </a:p>
        </p:txBody>
      </p:sp>
      <p:pic>
        <p:nvPicPr>
          <p:cNvPr id="5" name="图片 4"/>
          <p:cNvPicPr>
            <a:picLocks noChangeAspect="1"/>
          </p:cNvPicPr>
          <p:nvPr/>
        </p:nvPicPr>
        <p:blipFill>
          <a:blip r:embed="rId1"/>
          <a:stretch>
            <a:fillRect/>
          </a:stretch>
        </p:blipFill>
        <p:spPr>
          <a:xfrm>
            <a:off x="3846084" y="1942511"/>
            <a:ext cx="5164913" cy="2225229"/>
          </a:xfrm>
          <a:prstGeom prst="rect">
            <a:avLst/>
          </a:prstGeom>
        </p:spPr>
      </p:pic>
      <p:sp>
        <p:nvSpPr>
          <p:cNvPr id="6"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
        <p:nvSpPr>
          <p:cNvPr id="7" name="矩形 6"/>
          <p:cNvSpPr/>
          <p:nvPr/>
        </p:nvSpPr>
        <p:spPr>
          <a:xfrm>
            <a:off x="911927" y="4167740"/>
            <a:ext cx="10502900" cy="1984454"/>
          </a:xfrm>
          <a:prstGeom prst="rect">
            <a:avLst/>
          </a:prstGeom>
        </p:spPr>
        <p:txBody>
          <a:bodyPr wrap="square">
            <a:spAutoFit/>
          </a:bodyPr>
          <a:lstStyle/>
          <a:p>
            <a:pPr>
              <a:lnSpc>
                <a:spcPct val="150000"/>
              </a:lnSpc>
            </a:pPr>
            <a:r>
              <a:rPr lang="zh-CN" altLang="en-US" sz="2400" b="1" kern="100" dirty="0">
                <a:solidFill>
                  <a:srgbClr val="0000FF"/>
                </a:solidFill>
                <a:latin typeface="等线" panose="02010600030101010101" charset="-122"/>
                <a:cs typeface="Times New Roman" panose="02020603050405020304" pitchFamily="18" charset="0"/>
              </a:rPr>
              <a:t>消除警告的方法：</a:t>
            </a:r>
            <a:endParaRPr lang="en-US" altLang="zh-CN" sz="2400" b="1" kern="100" dirty="0">
              <a:solidFill>
                <a:srgbClr val="0000FF"/>
              </a:solidFill>
              <a:latin typeface="等线" panose="02010600030101010101" charset="-122"/>
              <a:cs typeface="Times New Roman" panose="02020603050405020304" pitchFamily="18" charset="0"/>
            </a:endParaRPr>
          </a:p>
          <a:p>
            <a:pPr>
              <a:lnSpc>
                <a:spcPct val="150000"/>
              </a:lnSpc>
            </a:pPr>
            <a:r>
              <a:rPr lang="zh-CN" altLang="en-US" sz="2400" b="1" kern="100" dirty="0">
                <a:solidFill>
                  <a:srgbClr val="0000FF"/>
                </a:solidFill>
                <a:latin typeface="等线" panose="02010600030101010101" charset="-122"/>
                <a:cs typeface="Times New Roman" panose="02020603050405020304" pitchFamily="18" charset="0"/>
              </a:rPr>
              <a:t>边界条件警告，可以通过给螺线管增加涡流影响的计算：</a:t>
            </a:r>
            <a:r>
              <a:rPr lang="zh-CN" altLang="zh-CN" sz="1800" kern="100" dirty="0">
                <a:effectLst/>
                <a:latin typeface="Times New Roman" panose="02020603050405020304" pitchFamily="18" charset="0"/>
                <a:ea typeface="宋体" panose="02010600030101010101" pitchFamily="2" charset="-122"/>
              </a:rPr>
              <a:t>在工程树栏单击</a:t>
            </a:r>
            <a:r>
              <a:rPr lang="en-US" altLang="zh-CN" sz="1800" b="1" dirty="0">
                <a:latin typeface="+mn-ea"/>
              </a:rPr>
              <a:t>Rectangle1 </a:t>
            </a:r>
            <a:r>
              <a:rPr lang="zh-CN" altLang="zh-CN" sz="1800" kern="100" dirty="0">
                <a:effectLst/>
                <a:latin typeface="Times New Roman" panose="02020603050405020304" pitchFamily="18" charset="0"/>
                <a:ea typeface="宋体" panose="02010600030101010101" pitchFamily="2" charset="-122"/>
              </a:rPr>
              <a:t>，将其选中，菜单栏选择</a:t>
            </a:r>
            <a:r>
              <a:rPr lang="en-US" altLang="zh-CN" sz="1800" kern="100" dirty="0">
                <a:effectLst/>
                <a:latin typeface="Times New Roman" panose="02020603050405020304" pitchFamily="18" charset="0"/>
                <a:ea typeface="宋体" panose="02010600030101010101" pitchFamily="2" charset="-122"/>
              </a:rPr>
              <a:t>Maxwell 2D→Excitations→SetEddyEffect</a:t>
            </a:r>
            <a:r>
              <a:rPr lang="zh-CN" altLang="zh-CN" sz="1800" kern="100" dirty="0">
                <a:effectLst/>
                <a:latin typeface="Times New Roman" panose="02020603050405020304" pitchFamily="18" charset="0"/>
                <a:ea typeface="宋体" panose="02010600030101010101" pitchFamily="2" charset="-122"/>
              </a:rPr>
              <a:t>，打开</a:t>
            </a:r>
            <a:r>
              <a:rPr lang="en-US" altLang="zh-CN" sz="1800" kern="100" dirty="0" err="1">
                <a:effectLst/>
                <a:latin typeface="Times New Roman" panose="02020603050405020304" pitchFamily="18" charset="0"/>
                <a:ea typeface="宋体" panose="02010600030101010101" pitchFamily="2" charset="-122"/>
              </a:rPr>
              <a:t>SetEddyEffect</a:t>
            </a:r>
            <a:r>
              <a:rPr lang="zh-CN" altLang="zh-CN" sz="1800" kern="100" dirty="0">
                <a:effectLst/>
                <a:latin typeface="Times New Roman" panose="02020603050405020304" pitchFamily="18" charset="0"/>
                <a:ea typeface="宋体" panose="02010600030101010101" pitchFamily="2" charset="-122"/>
              </a:rPr>
              <a:t>对话框，勾选</a:t>
            </a:r>
            <a:r>
              <a:rPr lang="en-US" altLang="zh-CN" sz="1800" b="1" dirty="0">
                <a:latin typeface="+mn-ea"/>
              </a:rPr>
              <a:t>Rectangle1</a:t>
            </a:r>
            <a:r>
              <a:rPr lang="zh-CN" altLang="zh-CN" sz="1800" kern="100" dirty="0">
                <a:effectLst/>
                <a:latin typeface="Times New Roman" panose="02020603050405020304" pitchFamily="18" charset="0"/>
                <a:ea typeface="宋体" panose="02010600030101010101" pitchFamily="2" charset="-122"/>
              </a:rPr>
              <a:t>上的</a:t>
            </a:r>
            <a:r>
              <a:rPr lang="en-US" altLang="zh-CN" sz="1800" kern="100" dirty="0" err="1">
                <a:effectLst/>
                <a:latin typeface="Times New Roman" panose="02020603050405020304" pitchFamily="18" charset="0"/>
                <a:ea typeface="宋体" panose="02010600030101010101" pitchFamily="2" charset="-122"/>
              </a:rPr>
              <a:t>EddyEffect</a:t>
            </a:r>
            <a:r>
              <a:rPr lang="zh-CN" altLang="zh-CN" sz="1800" kern="100" dirty="0">
                <a:effectLst/>
                <a:latin typeface="Times New Roman" panose="02020603050405020304" pitchFamily="18" charset="0"/>
                <a:ea typeface="宋体" panose="02010600030101010101" pitchFamily="2" charset="-122"/>
              </a:rPr>
              <a:t>复选框。</a:t>
            </a:r>
            <a:endParaRPr lang="zh-CN" altLang="zh-CN" sz="1800" kern="100" dirty="0">
              <a:effectLst/>
              <a:latin typeface="Times New Roman" panose="02020603050405020304" pitchFamily="18"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
        <p:nvSpPr>
          <p:cNvPr id="7" name="矩形 6"/>
          <p:cNvSpPr/>
          <p:nvPr/>
        </p:nvSpPr>
        <p:spPr>
          <a:xfrm>
            <a:off x="581378" y="1357163"/>
            <a:ext cx="10502900" cy="1568956"/>
          </a:xfrm>
          <a:prstGeom prst="rect">
            <a:avLst/>
          </a:prstGeom>
        </p:spPr>
        <p:txBody>
          <a:bodyPr wrap="square">
            <a:spAutoFit/>
          </a:bodyPr>
          <a:lstStyle/>
          <a:p>
            <a:pPr>
              <a:lnSpc>
                <a:spcPct val="150000"/>
              </a:lnSpc>
            </a:pPr>
            <a:r>
              <a:rPr lang="zh-CN" altLang="en-US" sz="2400" b="1" kern="100" dirty="0">
                <a:solidFill>
                  <a:srgbClr val="0000FF"/>
                </a:solidFill>
                <a:latin typeface="等线" panose="02010600030101010101" charset="-122"/>
                <a:cs typeface="Times New Roman" panose="02020603050405020304" pitchFamily="18" charset="0"/>
              </a:rPr>
              <a:t>消除警告的方法：</a:t>
            </a:r>
            <a:endParaRPr lang="en-US" altLang="zh-CN" sz="2400" b="1" kern="100" dirty="0">
              <a:solidFill>
                <a:srgbClr val="0000FF"/>
              </a:solidFill>
              <a:latin typeface="等线" panose="02010600030101010101" charset="-122"/>
              <a:cs typeface="Times New Roman" panose="02020603050405020304" pitchFamily="18" charset="0"/>
            </a:endParaRPr>
          </a:p>
          <a:p>
            <a:pPr>
              <a:lnSpc>
                <a:spcPct val="150000"/>
              </a:lnSpc>
            </a:pPr>
            <a:r>
              <a:rPr lang="en-US" altLang="zh-CN" sz="2400" b="1" kern="100" dirty="0">
                <a:solidFill>
                  <a:srgbClr val="0000FF"/>
                </a:solidFill>
                <a:latin typeface="等线" panose="02010600030101010101" charset="-122"/>
                <a:cs typeface="Times New Roman" panose="02020603050405020304" pitchFamily="18" charset="0"/>
              </a:rPr>
              <a:t>Analysis Setup</a:t>
            </a:r>
            <a:r>
              <a:rPr lang="zh-CN" altLang="en-US" sz="2400" b="1" kern="100" dirty="0">
                <a:solidFill>
                  <a:srgbClr val="0000FF"/>
                </a:solidFill>
                <a:latin typeface="等线" panose="02010600030101010101" charset="-122"/>
                <a:cs typeface="Times New Roman" panose="02020603050405020304" pitchFamily="18" charset="0"/>
              </a:rPr>
              <a:t>的警告可以通过给螺线管添加网格剖分：</a:t>
            </a:r>
            <a:r>
              <a:rPr lang="zh-CN" altLang="en-US" kern="100" dirty="0">
                <a:latin typeface="Times New Roman" panose="02020603050405020304" pitchFamily="18" charset="0"/>
                <a:ea typeface="宋体" panose="02010600030101010101" pitchFamily="2" charset="-122"/>
              </a:rPr>
              <a:t>单击螺线管模型</a:t>
            </a:r>
            <a:r>
              <a:rPr lang="en-US" altLang="zh-CN" kern="100" dirty="0">
                <a:latin typeface="Times New Roman" panose="02020603050405020304" pitchFamily="18" charset="0"/>
                <a:ea typeface="宋体" panose="02010600030101010101" pitchFamily="2" charset="-122"/>
              </a:rPr>
              <a:t>Rectangle1</a:t>
            </a:r>
            <a:r>
              <a:rPr lang="zh-CN" altLang="en-US" kern="100" dirty="0">
                <a:latin typeface="Times New Roman" panose="02020603050405020304" pitchFamily="18" charset="0"/>
                <a:ea typeface="宋体" panose="02010600030101010101" pitchFamily="2" charset="-122"/>
              </a:rPr>
              <a:t>，在工程管理栏，右键单击</a:t>
            </a:r>
            <a:r>
              <a:rPr lang="en-US" altLang="zh-CN" kern="100" dirty="0">
                <a:latin typeface="Times New Roman" panose="02020603050405020304" pitchFamily="18" charset="0"/>
                <a:ea typeface="宋体" panose="02010600030101010101" pitchFamily="2" charset="-122"/>
              </a:rPr>
              <a:t>mesh</a:t>
            </a:r>
            <a:r>
              <a:rPr lang="en-US" altLang="zh-CN" sz="1800" dirty="0">
                <a:latin typeface="+mn-ea"/>
              </a:rPr>
              <a:t> 】| 【Assign Mesh operation 】| 【On Selection 】| 【Length Based 】</a:t>
            </a:r>
            <a:r>
              <a:rPr lang="zh-CN" altLang="en-US" sz="1800" dirty="0">
                <a:latin typeface="+mn-ea"/>
              </a:rPr>
              <a:t>。</a:t>
            </a:r>
            <a:endParaRPr lang="zh-CN" altLang="zh-CN" kern="100" dirty="0">
              <a:latin typeface="Times New Roman" panose="02020603050405020304" pitchFamily="18" charset="0"/>
              <a:ea typeface="宋体" panose="02010600030101010101" pitchFamily="2"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30855" y="3325765"/>
            <a:ext cx="4156984" cy="295471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52166" y="907502"/>
            <a:ext cx="11140441" cy="1619739"/>
          </a:xfrm>
          <a:prstGeom prst="rect">
            <a:avLst/>
          </a:prstGeom>
        </p:spPr>
        <p:txBody>
          <a:bodyPr wrap="square">
            <a:spAutoFit/>
          </a:bodyPr>
          <a:lstStyle/>
          <a:p>
            <a:pPr>
              <a:lnSpc>
                <a:spcPct val="120000"/>
              </a:lnSpc>
            </a:pPr>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11.</a:t>
            </a:r>
            <a:r>
              <a:rPr lang="zh-CN" altLang="en-US" sz="2400" b="1" kern="100" dirty="0">
                <a:solidFill>
                  <a:srgbClr val="0000FF"/>
                </a:solidFill>
                <a:latin typeface="等线" panose="02010600030101010101" charset="-122"/>
                <a:cs typeface="Times New Roman" panose="02020603050405020304" pitchFamily="18" charset="0"/>
              </a:rPr>
              <a:t>后处理</a:t>
            </a:r>
            <a:endParaRPr lang="zh-CN" altLang="zh-CN" sz="2400" b="1" kern="100" dirty="0">
              <a:solidFill>
                <a:srgbClr val="0000FF"/>
              </a:solidFill>
              <a:latin typeface="等线" panose="02010600030101010101" charset="-122"/>
              <a:cs typeface="Times New Roman" panose="02020603050405020304" pitchFamily="18" charset="0"/>
            </a:endParaRPr>
          </a:p>
          <a:p>
            <a:pPr>
              <a:lnSpc>
                <a:spcPct val="120000"/>
              </a:lnSpc>
            </a:pPr>
            <a:r>
              <a:rPr lang="en-US" altLang="zh-CN" sz="2000" b="1" dirty="0">
                <a:latin typeface="+mn-ea"/>
              </a:rPr>
              <a:t>1.</a:t>
            </a:r>
            <a:r>
              <a:rPr lang="zh-CN" altLang="zh-CN" sz="2000" b="1" dirty="0">
                <a:latin typeface="+mn-ea"/>
              </a:rPr>
              <a:t>查看</a:t>
            </a:r>
            <a:r>
              <a:rPr lang="zh-CN" altLang="en-US" sz="2000" b="1" dirty="0">
                <a:latin typeface="+mn-ea"/>
              </a:rPr>
              <a:t>电路中电流大小，</a:t>
            </a:r>
            <a:r>
              <a:rPr lang="zh-CN" altLang="en-US" sz="2000" dirty="0">
                <a:latin typeface="+mn-ea"/>
              </a:rPr>
              <a:t>工程管理栏右键</a:t>
            </a:r>
            <a:r>
              <a:rPr lang="zh-CN" altLang="zh-CN" sz="2000" dirty="0">
                <a:latin typeface="+mn-ea"/>
              </a:rPr>
              <a:t>【</a:t>
            </a:r>
            <a:r>
              <a:rPr lang="en-US" altLang="zh-CN" sz="2000" dirty="0">
                <a:latin typeface="+mn-ea"/>
              </a:rPr>
              <a:t>Results】 | 【</a:t>
            </a:r>
            <a:r>
              <a:rPr lang="en-US" altLang="zh-CN" sz="2000" dirty="0" err="1">
                <a:latin typeface="+mn-ea"/>
              </a:rPr>
              <a:t>Creat</a:t>
            </a:r>
            <a:r>
              <a:rPr lang="en-US" altLang="zh-CN" sz="2000" dirty="0">
                <a:latin typeface="+mn-ea"/>
              </a:rPr>
              <a:t> Transient Report</a:t>
            </a:r>
            <a:r>
              <a:rPr lang="zh-CN" altLang="zh-CN" sz="2000" dirty="0">
                <a:latin typeface="+mn-ea"/>
              </a:rPr>
              <a:t>】</a:t>
            </a:r>
            <a:r>
              <a:rPr lang="en-US" altLang="zh-CN" sz="2000" dirty="0">
                <a:latin typeface="+mn-ea"/>
              </a:rPr>
              <a:t>|【Rectangular Plot】</a:t>
            </a:r>
            <a:r>
              <a:rPr lang="zh-CN" altLang="en-US" sz="2000" dirty="0">
                <a:latin typeface="+mn-ea"/>
              </a:rPr>
              <a:t>，在</a:t>
            </a:r>
            <a:r>
              <a:rPr lang="en-US" altLang="zh-CN" sz="2000" dirty="0">
                <a:latin typeface="+mn-ea"/>
              </a:rPr>
              <a:t>Category</a:t>
            </a:r>
            <a:r>
              <a:rPr lang="zh-CN" altLang="en-US" sz="2000" dirty="0"/>
              <a:t>栏选择</a:t>
            </a:r>
            <a:r>
              <a:rPr lang="en-US" altLang="zh-CN" sz="2000" dirty="0">
                <a:latin typeface="+mn-ea"/>
              </a:rPr>
              <a:t>Winding</a:t>
            </a:r>
            <a:r>
              <a:rPr lang="zh-CN" altLang="en-US" sz="2000" dirty="0">
                <a:latin typeface="+mn-ea"/>
              </a:rPr>
              <a:t>，在</a:t>
            </a:r>
            <a:r>
              <a:rPr lang="en-US" altLang="zh-CN" sz="2000" dirty="0">
                <a:latin typeface="+mn-ea"/>
              </a:rPr>
              <a:t>Quantity</a:t>
            </a:r>
            <a:r>
              <a:rPr lang="zh-CN" altLang="en-US" sz="2000" dirty="0">
                <a:latin typeface="+mn-ea"/>
              </a:rPr>
              <a:t>栏选择</a:t>
            </a:r>
            <a:r>
              <a:rPr lang="en-US" altLang="zh-CN" sz="2000" dirty="0">
                <a:latin typeface="+mn-ea"/>
              </a:rPr>
              <a:t>Current</a:t>
            </a:r>
            <a:r>
              <a:rPr lang="zh-CN" altLang="en-US" sz="2000" dirty="0">
                <a:latin typeface="+mn-ea"/>
              </a:rPr>
              <a:t>（</a:t>
            </a:r>
            <a:r>
              <a:rPr lang="en-US" altLang="zh-CN" sz="2000" dirty="0">
                <a:latin typeface="+mn-ea"/>
              </a:rPr>
              <a:t>Winding1</a:t>
            </a:r>
            <a:r>
              <a:rPr lang="zh-CN" altLang="en-US" sz="2000" dirty="0">
                <a:latin typeface="+mn-ea"/>
              </a:rPr>
              <a:t>），</a:t>
            </a:r>
            <a:r>
              <a:rPr lang="zh-CN" altLang="en-US" sz="2000" dirty="0"/>
              <a:t>单击</a:t>
            </a:r>
            <a:r>
              <a:rPr lang="en-US" altLang="zh-CN" sz="2000" dirty="0"/>
              <a:t>【New Report】</a:t>
            </a:r>
            <a:r>
              <a:rPr lang="zh-CN" altLang="en-US" sz="2000" dirty="0"/>
              <a:t>。</a:t>
            </a:r>
            <a:endParaRPr lang="en-US" altLang="zh-CN" sz="2000" dirty="0"/>
          </a:p>
        </p:txBody>
      </p:sp>
      <p:sp>
        <p:nvSpPr>
          <p:cNvPr id="8"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9393" y="2461832"/>
            <a:ext cx="5597937" cy="4523428"/>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3134" y="3237831"/>
            <a:ext cx="5100000" cy="285714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52166" y="907502"/>
            <a:ext cx="11140441" cy="1250407"/>
          </a:xfrm>
          <a:prstGeom prst="rect">
            <a:avLst/>
          </a:prstGeom>
        </p:spPr>
        <p:txBody>
          <a:bodyPr wrap="square">
            <a:spAutoFit/>
          </a:bodyPr>
          <a:lstStyle/>
          <a:p>
            <a:pPr>
              <a:lnSpc>
                <a:spcPct val="120000"/>
              </a:lnSpc>
            </a:pPr>
            <a:r>
              <a:rPr lang="zh-CN" altLang="en-US" sz="2400" b="1" kern="100" dirty="0">
                <a:solidFill>
                  <a:srgbClr val="0000FF"/>
                </a:solidFill>
                <a:latin typeface="等线" panose="02010600030101010101" charset="-122"/>
                <a:cs typeface="Times New Roman" panose="02020603050405020304" pitchFamily="18" charset="0"/>
              </a:rPr>
              <a:t>步骤</a:t>
            </a:r>
            <a:r>
              <a:rPr lang="en-US" altLang="zh-CN" sz="2400" b="1" kern="100" dirty="0">
                <a:solidFill>
                  <a:srgbClr val="0000FF"/>
                </a:solidFill>
                <a:latin typeface="等线" panose="02010600030101010101" charset="-122"/>
                <a:cs typeface="Times New Roman" panose="02020603050405020304" pitchFamily="18" charset="0"/>
              </a:rPr>
              <a:t>11.</a:t>
            </a:r>
            <a:r>
              <a:rPr lang="zh-CN" altLang="en-US" sz="2400" b="1" kern="100" dirty="0">
                <a:solidFill>
                  <a:srgbClr val="0000FF"/>
                </a:solidFill>
                <a:latin typeface="等线" panose="02010600030101010101" charset="-122"/>
                <a:cs typeface="Times New Roman" panose="02020603050405020304" pitchFamily="18" charset="0"/>
              </a:rPr>
              <a:t>后处理</a:t>
            </a:r>
            <a:endParaRPr lang="zh-CN" altLang="zh-CN" sz="2400" b="1" kern="100" dirty="0">
              <a:solidFill>
                <a:srgbClr val="0000FF"/>
              </a:solidFill>
              <a:latin typeface="等线" panose="02010600030101010101" charset="-122"/>
              <a:cs typeface="Times New Roman" panose="02020603050405020304" pitchFamily="18" charset="0"/>
            </a:endParaRPr>
          </a:p>
          <a:p>
            <a:pPr>
              <a:lnSpc>
                <a:spcPct val="120000"/>
              </a:lnSpc>
            </a:pPr>
            <a:r>
              <a:rPr lang="en-US" altLang="zh-CN" sz="2000" b="1" dirty="0">
                <a:latin typeface="+mn-ea"/>
              </a:rPr>
              <a:t>2.</a:t>
            </a:r>
            <a:r>
              <a:rPr lang="zh-CN" altLang="en-US" sz="2000" b="1" dirty="0">
                <a:latin typeface="+mn-ea"/>
              </a:rPr>
              <a:t>查看场域中磁场强度</a:t>
            </a:r>
            <a:r>
              <a:rPr lang="en-US" altLang="zh-CN" sz="2000" b="1" dirty="0">
                <a:latin typeface="+mn-ea"/>
              </a:rPr>
              <a:t>H</a:t>
            </a:r>
            <a:r>
              <a:rPr lang="zh-CN" altLang="en-US" sz="2000" b="1" dirty="0">
                <a:latin typeface="+mn-ea"/>
              </a:rPr>
              <a:t>的分布，</a:t>
            </a:r>
            <a:r>
              <a:rPr lang="zh-CN" altLang="en-US" sz="2000" dirty="0">
                <a:latin typeface="+mn-ea"/>
              </a:rPr>
              <a:t>在模型绘制界面，选中求解域，单击右键，</a:t>
            </a:r>
            <a:r>
              <a:rPr lang="en-US" altLang="zh-CN" sz="2000" dirty="0">
                <a:latin typeface="+mn-ea"/>
              </a:rPr>
              <a:t>【Fields】|【H】|【</a:t>
            </a:r>
            <a:r>
              <a:rPr lang="en-US" altLang="zh-CN" sz="2000" dirty="0" err="1">
                <a:latin typeface="+mn-ea"/>
              </a:rPr>
              <a:t>Mag_H</a:t>
            </a:r>
            <a:r>
              <a:rPr lang="en-US" altLang="zh-CN" sz="2000" dirty="0">
                <a:latin typeface="+mn-ea"/>
              </a:rPr>
              <a:t>】</a:t>
            </a:r>
            <a:r>
              <a:rPr lang="zh-CN" altLang="en-US" sz="2000" dirty="0">
                <a:latin typeface="+mn-ea"/>
              </a:rPr>
              <a:t>，</a:t>
            </a:r>
            <a:r>
              <a:rPr lang="zh-CN" altLang="en-US" sz="2000" dirty="0"/>
              <a:t>单击</a:t>
            </a:r>
            <a:r>
              <a:rPr lang="en-US" altLang="zh-CN" sz="2000" dirty="0"/>
              <a:t>【Done】</a:t>
            </a:r>
            <a:r>
              <a:rPr lang="zh-CN" altLang="en-US" sz="2000" dirty="0"/>
              <a:t>。在</a:t>
            </a:r>
            <a:r>
              <a:rPr lang="zh-CN" altLang="en-US" sz="2000" dirty="0">
                <a:latin typeface="+mn-ea"/>
              </a:rPr>
              <a:t>模型绘制界面左下角双击</a:t>
            </a:r>
            <a:r>
              <a:rPr lang="en-US" altLang="zh-CN" sz="2000" dirty="0">
                <a:latin typeface="+mn-ea"/>
              </a:rPr>
              <a:t>【Time】</a:t>
            </a:r>
            <a:r>
              <a:rPr lang="zh-CN" altLang="en-US" sz="2000" dirty="0">
                <a:latin typeface="+mn-ea"/>
              </a:rPr>
              <a:t>，显示不同时刻的仿真结果。</a:t>
            </a:r>
            <a:endParaRPr lang="en-US" altLang="zh-CN" sz="2000" dirty="0">
              <a:latin typeface="+mn-ea"/>
            </a:endParaRPr>
          </a:p>
        </p:txBody>
      </p:sp>
      <p:pic>
        <p:nvPicPr>
          <p:cNvPr id="7" name="图片 6"/>
          <p:cNvPicPr>
            <a:picLocks noChangeAspect="1"/>
          </p:cNvPicPr>
          <p:nvPr/>
        </p:nvPicPr>
        <p:blipFill rotWithShape="1">
          <a:blip r:embed="rId1">
            <a:extLst>
              <a:ext uri="{28A0092B-C50C-407E-A947-70E740481C1C}">
                <a14:useLocalDpi xmlns:a14="http://schemas.microsoft.com/office/drawing/2010/main" val="0"/>
              </a:ext>
            </a:extLst>
          </a:blip>
          <a:srcRect r="9440"/>
          <a:stretch>
            <a:fillRect/>
          </a:stretch>
        </p:blipFill>
        <p:spPr>
          <a:xfrm>
            <a:off x="6775641" y="2675314"/>
            <a:ext cx="2387782" cy="3334488"/>
          </a:xfrm>
          <a:prstGeom prst="rect">
            <a:avLst/>
          </a:prstGeom>
        </p:spPr>
      </p:pic>
      <p:pic>
        <p:nvPicPr>
          <p:cNvPr id="14" name="图片 13"/>
          <p:cNvPicPr>
            <a:picLocks noChangeAspect="1"/>
          </p:cNvPicPr>
          <p:nvPr/>
        </p:nvPicPr>
        <p:blipFill rotWithShape="1">
          <a:blip r:embed="rId2">
            <a:extLst>
              <a:ext uri="{28A0092B-C50C-407E-A947-70E740481C1C}">
                <a14:useLocalDpi xmlns:a14="http://schemas.microsoft.com/office/drawing/2010/main" val="0"/>
              </a:ext>
            </a:extLst>
          </a:blip>
          <a:srcRect r="3219"/>
          <a:stretch>
            <a:fillRect/>
          </a:stretch>
        </p:blipFill>
        <p:spPr>
          <a:xfrm>
            <a:off x="3290454" y="2662853"/>
            <a:ext cx="2387782" cy="3359410"/>
          </a:xfrm>
          <a:prstGeom prst="rect">
            <a:avLst/>
          </a:prstGeom>
        </p:spPr>
      </p:pic>
      <p:sp>
        <p:nvSpPr>
          <p:cNvPr id="15" name="矩形: 圆角 14"/>
          <p:cNvSpPr/>
          <p:nvPr/>
        </p:nvSpPr>
        <p:spPr>
          <a:xfrm>
            <a:off x="3244754" y="5775944"/>
            <a:ext cx="776597" cy="314013"/>
          </a:xfrm>
          <a:prstGeom prst="roundRect">
            <a:avLst/>
          </a:prstGeom>
          <a:noFill/>
          <a:ln w="285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6647674" y="5775944"/>
            <a:ext cx="776597" cy="314013"/>
          </a:xfrm>
          <a:prstGeom prst="roundRect">
            <a:avLst/>
          </a:prstGeom>
          <a:noFill/>
          <a:ln w="285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仿真提示：</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瞬态场仿真空心螺线管线圈的步骤</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5"/>
          <p:cNvSpPr txBox="1">
            <a:spLocks noChangeArrowheads="1"/>
          </p:cNvSpPr>
          <p:nvPr/>
        </p:nvSpPr>
        <p:spPr bwMode="auto">
          <a:xfrm>
            <a:off x="581378" y="335510"/>
            <a:ext cx="9797199" cy="461665"/>
          </a:xfrm>
          <a:prstGeom prst="rect">
            <a:avLst/>
          </a:prstGeom>
          <a:noFill/>
          <a:ln w="9525">
            <a:noFill/>
            <a:miter lim="800000"/>
          </a:ln>
        </p:spPr>
        <p:txBody>
          <a:bodyPr wrap="square">
            <a:spAutoFit/>
          </a:bodyPr>
          <a:lstStyle/>
          <a:p>
            <a:r>
              <a:rPr lang="zh-CN" altLang="en-US" sz="2400" b="1" dirty="0">
                <a:solidFill>
                  <a:srgbClr val="00467F"/>
                </a:solidFill>
                <a:latin typeface="微软雅黑" panose="020B0503020204020204" pitchFamily="34" charset="-122"/>
                <a:ea typeface="微软雅黑" panose="020B0503020204020204" pitchFamily="34" charset="-122"/>
              </a:rPr>
              <a:t>实验任务：</a:t>
            </a:r>
            <a:r>
              <a:rPr lang="en-US" altLang="zh-CN" sz="2400" b="1" dirty="0">
                <a:solidFill>
                  <a:srgbClr val="00467F"/>
                </a:solidFill>
                <a:latin typeface="微软雅黑" panose="020B0503020204020204" pitchFamily="34" charset="-122"/>
                <a:ea typeface="微软雅黑" panose="020B0503020204020204" pitchFamily="34" charset="-122"/>
              </a:rPr>
              <a:t>ANSYS Maxwell</a:t>
            </a:r>
            <a:r>
              <a:rPr lang="zh-CN" altLang="en-US" sz="2400" b="1" dirty="0">
                <a:solidFill>
                  <a:srgbClr val="00467F"/>
                </a:solidFill>
                <a:latin typeface="微软雅黑" panose="020B0503020204020204" pitchFamily="34" charset="-122"/>
                <a:ea typeface="微软雅黑" panose="020B0503020204020204" pitchFamily="34" charset="-122"/>
              </a:rPr>
              <a:t>瞬态场求螺线管内部感应线圈的感应电压</a:t>
            </a:r>
            <a:endParaRPr lang="zh-CN" altLang="en-US" sz="2400" b="1" dirty="0">
              <a:solidFill>
                <a:srgbClr val="00467F"/>
              </a:solidFill>
              <a:latin typeface="微软雅黑" panose="020B0503020204020204" pitchFamily="34" charset="-122"/>
              <a:ea typeface="微软雅黑" panose="020B0503020204020204" pitchFamily="34" charset="-122"/>
            </a:endParaRPr>
          </a:p>
        </p:txBody>
      </p:sp>
      <p:sp>
        <p:nvSpPr>
          <p:cNvPr id="8" name="矩形 7"/>
          <p:cNvSpPr/>
          <p:nvPr/>
        </p:nvSpPr>
        <p:spPr>
          <a:xfrm>
            <a:off x="652166" y="907502"/>
            <a:ext cx="11140441" cy="1250407"/>
          </a:xfrm>
          <a:prstGeom prst="rect">
            <a:avLst/>
          </a:prstGeom>
        </p:spPr>
        <p:txBody>
          <a:bodyPr wrap="square">
            <a:spAutoFit/>
          </a:bodyPr>
          <a:lstStyle/>
          <a:p>
            <a:pPr>
              <a:lnSpc>
                <a:spcPct val="120000"/>
              </a:lnSpc>
            </a:pPr>
            <a:r>
              <a:rPr lang="zh-CN" altLang="en-US" sz="2400" b="1" kern="100" dirty="0">
                <a:solidFill>
                  <a:srgbClr val="0000FF"/>
                </a:solidFill>
                <a:latin typeface="等线" panose="02010600030101010101" charset="-122"/>
                <a:cs typeface="Times New Roman" panose="02020603050405020304" pitchFamily="18" charset="0"/>
              </a:rPr>
              <a:t>求感应线圈上的电压</a:t>
            </a:r>
            <a:endParaRPr lang="zh-CN" altLang="zh-CN" sz="2400" b="1" kern="100" dirty="0">
              <a:solidFill>
                <a:srgbClr val="0000FF"/>
              </a:solidFill>
              <a:latin typeface="等线" panose="02010600030101010101" charset="-122"/>
              <a:cs typeface="Times New Roman" panose="02020603050405020304" pitchFamily="18" charset="0"/>
            </a:endParaRPr>
          </a:p>
          <a:p>
            <a:pPr>
              <a:lnSpc>
                <a:spcPct val="120000"/>
              </a:lnSpc>
            </a:pPr>
            <a:r>
              <a:rPr lang="en-US" altLang="zh-CN" sz="2000" b="1" dirty="0">
                <a:latin typeface="+mn-ea"/>
              </a:rPr>
              <a:t>1.</a:t>
            </a:r>
            <a:r>
              <a:rPr lang="zh-CN" altLang="en-US" sz="2000" b="1" dirty="0">
                <a:latin typeface="+mn-ea"/>
              </a:rPr>
              <a:t>在空心螺线管的基础上，建立感应线圈模型，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采用瞬态场路耦合的方法，基于</a:t>
            </a:r>
            <a:r>
              <a:rPr lang="en-US" altLang="zh-CN" sz="1800" kern="100" dirty="0">
                <a:effectLst/>
                <a:latin typeface="Times New Roman" panose="02020603050405020304" pitchFamily="18" charset="0"/>
                <a:ea typeface="宋体" panose="02010600030101010101" pitchFamily="2" charset="-122"/>
              </a:rPr>
              <a:t>ANSYS Maxwell Circuit Editor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建立外部电路</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，如下图所示，求感应线圈上的感应电压</a:t>
            </a:r>
            <a:r>
              <a:rPr lang="zh-CN" altLang="en-US" sz="2000" dirty="0">
                <a:latin typeface="+mn-ea"/>
              </a:rPr>
              <a:t>。</a:t>
            </a:r>
            <a:endParaRPr lang="en-US" altLang="zh-CN" sz="2000" dirty="0">
              <a:latin typeface="+mn-ea"/>
            </a:endParaRPr>
          </a:p>
        </p:txBody>
      </p:sp>
      <p:pic>
        <p:nvPicPr>
          <p:cNvPr id="1433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93028" y="2439258"/>
            <a:ext cx="4183500" cy="2879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60500" y="3238500"/>
            <a:ext cx="1193800" cy="369332"/>
          </a:xfrm>
          <a:prstGeom prst="rect">
            <a:avLst/>
          </a:prstGeom>
          <a:noFill/>
        </p:spPr>
        <p:txBody>
          <a:bodyPr wrap="square" rtlCol="0">
            <a:spAutoFit/>
          </a:bodyPr>
          <a:lstStyle/>
          <a:p>
            <a:r>
              <a:rPr lang="zh-CN" altLang="en-US" dirty="0">
                <a:solidFill>
                  <a:srgbClr val="FF0000"/>
                </a:solidFill>
              </a:rPr>
              <a:t>感应线圈</a:t>
            </a:r>
            <a:endParaRPr lang="zh-CN" altLang="en-US" dirty="0">
              <a:solidFill>
                <a:srgbClr val="FF0000"/>
              </a:solidFill>
            </a:endParaRPr>
          </a:p>
        </p:txBody>
      </p:sp>
      <p:sp>
        <p:nvSpPr>
          <p:cNvPr id="10" name="文本框 9"/>
          <p:cNvSpPr txBox="1"/>
          <p:nvPr/>
        </p:nvSpPr>
        <p:spPr>
          <a:xfrm>
            <a:off x="3952905" y="3235762"/>
            <a:ext cx="1193800" cy="369332"/>
          </a:xfrm>
          <a:prstGeom prst="rect">
            <a:avLst/>
          </a:prstGeom>
          <a:noFill/>
        </p:spPr>
        <p:txBody>
          <a:bodyPr wrap="square" rtlCol="0">
            <a:spAutoFit/>
          </a:bodyPr>
          <a:lstStyle/>
          <a:p>
            <a:r>
              <a:rPr lang="zh-CN" altLang="en-US" dirty="0">
                <a:solidFill>
                  <a:srgbClr val="FF0000"/>
                </a:solidFill>
              </a:rPr>
              <a:t>螺线管</a:t>
            </a:r>
            <a:endParaRPr lang="zh-CN" altLang="en-US" dirty="0">
              <a:solidFill>
                <a:srgbClr val="FF0000"/>
              </a:solidFill>
            </a:endParaRPr>
          </a:p>
        </p:txBody>
      </p:sp>
      <p:cxnSp>
        <p:nvCxnSpPr>
          <p:cNvPr id="11" name="直接箭头连接符 10"/>
          <p:cNvCxnSpPr>
            <a:stCxn id="10" idx="1"/>
          </p:cNvCxnSpPr>
          <p:nvPr/>
        </p:nvCxnSpPr>
        <p:spPr>
          <a:xfrm flipH="1">
            <a:off x="3451254" y="3420428"/>
            <a:ext cx="501651" cy="2318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2473937" y="3420428"/>
            <a:ext cx="637563" cy="2537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5909" y="2533338"/>
            <a:ext cx="4962107" cy="26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p:cNvSpPr txBox="1"/>
          <p:nvPr/>
        </p:nvSpPr>
        <p:spPr>
          <a:xfrm>
            <a:off x="7715250" y="5185186"/>
            <a:ext cx="2895600" cy="369332"/>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rPr>
              <a:t>图</a:t>
            </a:r>
            <a:r>
              <a:rPr lang="en-US" altLang="zh-CN" kern="100" dirty="0">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外部电路模型</a:t>
            </a:r>
            <a:endParaRPr lang="zh-CN" altLang="zh-CN" sz="1800" kern="100" dirty="0">
              <a:effectLst/>
              <a:latin typeface="Times New Roman" panose="02020603050405020304" pitchFamily="18" charset="0"/>
              <a:ea typeface="宋体" panose="02010600030101010101" pitchFamily="2" charset="-122"/>
            </a:endParaRPr>
          </a:p>
        </p:txBody>
      </p:sp>
      <p:sp>
        <p:nvSpPr>
          <p:cNvPr id="19" name="文本框 18"/>
          <p:cNvSpPr txBox="1"/>
          <p:nvPr/>
        </p:nvSpPr>
        <p:spPr>
          <a:xfrm>
            <a:off x="805763" y="5415034"/>
            <a:ext cx="4674214" cy="369332"/>
          </a:xfrm>
          <a:prstGeom prst="rect">
            <a:avLst/>
          </a:prstGeom>
          <a:noFill/>
        </p:spPr>
        <p:txBody>
          <a:bodyPr wrap="square">
            <a:spAutoFit/>
          </a:bodyPr>
          <a:lstStyle/>
          <a:p>
            <a:pPr algn="ctr"/>
            <a:r>
              <a:rPr lang="zh-CN" altLang="zh-CN" sz="1800" kern="100" dirty="0">
                <a:effectLst/>
                <a:latin typeface="Times New Roman" panose="02020603050405020304" pitchFamily="18" charset="0"/>
                <a:ea typeface="宋体" panose="02010600030101010101" pitchFamily="2" charset="-122"/>
              </a:rPr>
              <a:t>图</a:t>
            </a:r>
            <a:r>
              <a:rPr lang="en-US" altLang="zh-CN" sz="1800" kern="100" dirty="0">
                <a:effectLst/>
                <a:latin typeface="Times New Roman" panose="02020603050405020304" pitchFamily="18" charset="0"/>
                <a:ea typeface="宋体" panose="02010600030101010101" pitchFamily="2" charset="-122"/>
              </a:rPr>
              <a:t>2 </a:t>
            </a:r>
            <a:r>
              <a:rPr lang="zh-CN" altLang="zh-CN" sz="1800" kern="100" dirty="0">
                <a:effectLst/>
                <a:latin typeface="Times New Roman" panose="02020603050405020304" pitchFamily="18" charset="0"/>
                <a:ea typeface="宋体" panose="02010600030101010101" pitchFamily="2" charset="-122"/>
              </a:rPr>
              <a:t>螺线管和感应线圈模型</a:t>
            </a:r>
            <a:endParaRPr lang="zh-CN" altLang="zh-CN" sz="1800" kern="100" dirty="0">
              <a:effectLst/>
              <a:latin typeface="Times New Roman" panose="02020603050405020304" pitchFamily="18" charset="0"/>
              <a:ea typeface="宋体" panose="02010600030101010101" pitchFamily="2" charset="-122"/>
            </a:endParaRPr>
          </a:p>
        </p:txBody>
      </p:sp>
      <p:sp>
        <p:nvSpPr>
          <p:cNvPr id="14" name="文本框 13"/>
          <p:cNvSpPr txBox="1"/>
          <p:nvPr/>
        </p:nvSpPr>
        <p:spPr>
          <a:xfrm>
            <a:off x="1616134" y="5882273"/>
            <a:ext cx="9099550" cy="646331"/>
          </a:xfrm>
          <a:prstGeom prst="rect">
            <a:avLst/>
          </a:prstGeom>
          <a:noFill/>
        </p:spPr>
        <p:txBody>
          <a:bodyPr wrap="square">
            <a:spAutoFit/>
          </a:bodyPr>
          <a:lstStyle/>
          <a:p>
            <a:r>
              <a:rPr lang="zh-CN" altLang="en-US" sz="3600" b="1" kern="100" dirty="0">
                <a:solidFill>
                  <a:srgbClr val="FF0000"/>
                </a:solidFill>
                <a:latin typeface="等线" panose="02010600030101010101" charset="-122"/>
                <a:cs typeface="Times New Roman" panose="02020603050405020304" pitchFamily="18" charset="0"/>
              </a:rPr>
              <a:t>（本业仿真结果需要粘贴至实验报告册）</a:t>
            </a:r>
            <a:endParaRPr lang="en-US" altLang="zh-CN" sz="1600" b="1" dirty="0">
              <a:solidFill>
                <a:srgbClr val="FF0000"/>
              </a:solidFill>
              <a:latin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9"/>
          <p:cNvSpPr txBox="1"/>
          <p:nvPr/>
        </p:nvSpPr>
        <p:spPr>
          <a:xfrm>
            <a:off x="2875910" y="2197816"/>
            <a:ext cx="931609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srgbClr val="00467F"/>
                </a:solidFill>
                <a:effectLst/>
                <a:uLnTx/>
                <a:uFillTx/>
                <a:latin typeface="等线" panose="02010600030101010101" charset="-122"/>
                <a:ea typeface="微软雅黑" panose="020B0503020204020204" pitchFamily="34" charset="-122"/>
                <a:cs typeface="+mn-cs"/>
              </a:rPr>
              <a:t>Thank you</a:t>
            </a:r>
            <a:r>
              <a:rPr kumimoji="0" lang="zh-CN" altLang="en-US" sz="9600" b="0" i="0" u="none" strike="noStrike" kern="1200" cap="none" spc="0" normalizeH="0" baseline="0" noProof="0" dirty="0">
                <a:ln>
                  <a:noFill/>
                </a:ln>
                <a:solidFill>
                  <a:srgbClr val="00467F"/>
                </a:solidFill>
                <a:effectLst/>
                <a:uLnTx/>
                <a:uFillTx/>
                <a:latin typeface="等线" panose="02010600030101010101" charset="-122"/>
                <a:ea typeface="微软雅黑" panose="020B0503020204020204" pitchFamily="34" charset="-122"/>
                <a:cs typeface="+mn-cs"/>
              </a:rPr>
              <a:t>！</a:t>
            </a:r>
            <a:endParaRPr kumimoji="0" lang="en-US" altLang="zh-CN" sz="9600" b="0" i="0" u="none" strike="noStrike" kern="1200" cap="none" spc="0" normalizeH="0" baseline="0" noProof="0" dirty="0">
              <a:ln>
                <a:noFill/>
              </a:ln>
              <a:solidFill>
                <a:srgbClr val="00467F"/>
              </a:solidFill>
              <a:effectLst/>
              <a:uLnTx/>
              <a:uFillTx/>
              <a:latin typeface="等线" panose="02010600030101010101" charset="-122"/>
              <a:ea typeface="微软雅黑" panose="020B0503020204020204" pitchFamily="34" charset="-122"/>
              <a:cs typeface="+mn-cs"/>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9464</Words>
  <Application>WPS 演示</Application>
  <PresentationFormat>宽屏</PresentationFormat>
  <Paragraphs>731</Paragraphs>
  <Slides>48</Slides>
  <Notes>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53</vt:i4>
      </vt:variant>
      <vt:variant>
        <vt:lpstr>幻灯片标题</vt:lpstr>
      </vt:variant>
      <vt:variant>
        <vt:i4>48</vt:i4>
      </vt:variant>
    </vt:vector>
  </HeadingPairs>
  <TitlesOfParts>
    <vt:vector size="120" baseType="lpstr">
      <vt:lpstr>Arial</vt:lpstr>
      <vt:lpstr>宋体</vt:lpstr>
      <vt:lpstr>Wingdings</vt:lpstr>
      <vt:lpstr>思源黑体 CN Medium</vt:lpstr>
      <vt:lpstr>黑体</vt:lpstr>
      <vt:lpstr>Times New Roman</vt:lpstr>
      <vt:lpstr>微软雅黑</vt:lpstr>
      <vt:lpstr>lato</vt:lpstr>
      <vt:lpstr>Calibri</vt:lpstr>
      <vt:lpstr>KaTeX_Math</vt:lpstr>
      <vt:lpstr>KaTeX_Main</vt:lpstr>
      <vt:lpstr>等线</vt:lpstr>
      <vt:lpstr>Arial Unicode MS</vt:lpstr>
      <vt:lpstr>等线 Light</vt:lpstr>
      <vt:lpstr>Inter</vt:lpstr>
      <vt:lpstr>Segoe Print</vt:lpstr>
      <vt:lpstr>Cambria Math</vt:lpstr>
      <vt:lpstr>Consolas</vt:lpstr>
      <vt:lpstr>Office 主题​​</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新月</cp:lastModifiedBy>
  <cp:revision>133</cp:revision>
  <dcterms:created xsi:type="dcterms:W3CDTF">2021-01-31T06:17:00Z</dcterms:created>
  <dcterms:modified xsi:type="dcterms:W3CDTF">2026-03-27T02:12:06Z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2052-12.1.0.25835</vt:lpwstr>
  </property>
  <property fmtid="{D5CDD505-2E9C-101B-9397-08002B2CF9AE}" pid="3" name="ICV">
    <vt:lpwstr>0674739E27FB48828604C8EA03737368_12</vt:lpwstr>
  </property>
</Properties>
</file>