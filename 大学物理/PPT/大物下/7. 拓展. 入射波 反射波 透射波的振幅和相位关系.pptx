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664" r:id="rId2"/>
    <p:sldId id="665" r:id="rId3"/>
    <p:sldId id="666" r:id="rId4"/>
    <p:sldId id="667" r:id="rId5"/>
    <p:sldId id="668" r:id="rId6"/>
  </p:sldIdLst>
  <p:sldSz cx="9144000" cy="6858000" type="screen4x3"/>
  <p:notesSz cx="6797675" cy="9928225"/>
  <p:custDataLst>
    <p:tags r:id="rId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FFCC99"/>
    <a:srgbClr val="FF0000"/>
    <a:srgbClr val="0000FF"/>
    <a:srgbClr val="800000"/>
    <a:srgbClr val="CC6600"/>
    <a:srgbClr val="00999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1482" y="7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2" name="Text Box 6">
            <a:extLst>
              <a:ext uri="{FF2B5EF4-FFF2-40B4-BE49-F238E27FC236}">
                <a16:creationId xmlns:a16="http://schemas.microsoft.com/office/drawing/2014/main" id="{6AA828F0-99D7-4E71-B597-509F1D5C7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713" y="411163"/>
            <a:ext cx="7070725" cy="11906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3600" dirty="0">
                <a:solidFill>
                  <a:srgbClr val="00FF00"/>
                </a:solidFill>
                <a:latin typeface="+mj-ea"/>
                <a:ea typeface="+mj-ea"/>
              </a:rPr>
              <a:t>拓展：入射波、反射波、透射波的</a:t>
            </a:r>
            <a:endParaRPr lang="en-US" altLang="zh-CN" sz="3600" dirty="0">
              <a:solidFill>
                <a:srgbClr val="00FF00"/>
              </a:solidFill>
              <a:latin typeface="+mj-ea"/>
              <a:ea typeface="+mj-ea"/>
            </a:endParaRPr>
          </a:p>
          <a:p>
            <a:pPr algn="ctr" eaLnBrk="1" hangingPunct="1">
              <a:defRPr/>
            </a:pPr>
            <a:r>
              <a:rPr lang="en-US" altLang="zh-CN" sz="3600" dirty="0">
                <a:solidFill>
                  <a:srgbClr val="00FF00"/>
                </a:solidFill>
                <a:latin typeface="+mj-ea"/>
                <a:ea typeface="+mj-ea"/>
              </a:rPr>
              <a:t>     </a:t>
            </a:r>
            <a:r>
              <a:rPr lang="zh-CN" altLang="en-US" sz="3600" dirty="0">
                <a:solidFill>
                  <a:srgbClr val="00FF00"/>
                </a:solidFill>
                <a:latin typeface="+mj-ea"/>
                <a:ea typeface="+mj-ea"/>
              </a:rPr>
              <a:t>振幅关系和位相关系</a:t>
            </a:r>
          </a:p>
        </p:txBody>
      </p:sp>
      <p:sp>
        <p:nvSpPr>
          <p:cNvPr id="8195" name="Text Box 7">
            <a:extLst>
              <a:ext uri="{FF2B5EF4-FFF2-40B4-BE49-F238E27FC236}">
                <a16:creationId xmlns:a16="http://schemas.microsoft.com/office/drawing/2014/main" id="{42D9FFD2-F02F-4A98-B612-07B592B9C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831975"/>
            <a:ext cx="8210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只讨论波垂直界面入射的情形，此情形的折射波常称透射波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45064" name="Text Box 8">
            <a:extLst>
              <a:ext uri="{FF2B5EF4-FFF2-40B4-BE49-F238E27FC236}">
                <a16:creationId xmlns:a16="http://schemas.microsoft.com/office/drawing/2014/main" id="{09080407-8897-4E8A-B8BC-11EEA6D18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492375"/>
            <a:ext cx="3581400" cy="4619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FFFF00"/>
                </a:solidFill>
                <a:latin typeface="+mj-ea"/>
                <a:ea typeface="+mj-ea"/>
              </a:rPr>
              <a:t>一</a:t>
            </a:r>
            <a:r>
              <a:rPr lang="en-US" altLang="zh-CN" dirty="0">
                <a:solidFill>
                  <a:srgbClr val="FFFF00"/>
                </a:solidFill>
                <a:latin typeface="+mj-ea"/>
                <a:ea typeface="+mj-ea"/>
              </a:rPr>
              <a:t>. </a:t>
            </a:r>
            <a:r>
              <a:rPr lang="zh-CN" altLang="en-US" dirty="0">
                <a:solidFill>
                  <a:srgbClr val="FFFF00"/>
                </a:solidFill>
                <a:latin typeface="+mj-ea"/>
                <a:ea typeface="+mj-ea"/>
              </a:rPr>
              <a:t>振幅关系</a:t>
            </a:r>
          </a:p>
        </p:txBody>
      </p:sp>
      <p:sp>
        <p:nvSpPr>
          <p:cNvPr id="8197" name="Text Box 9">
            <a:extLst>
              <a:ext uri="{FF2B5EF4-FFF2-40B4-BE49-F238E27FC236}">
                <a16:creationId xmlns:a16="http://schemas.microsoft.com/office/drawing/2014/main" id="{D9B48043-4DAF-4ABC-B338-FA84CF4B5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3" y="3068638"/>
            <a:ext cx="3352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66FFFF"/>
                </a:solidFill>
              </a:rPr>
              <a:t>1.  </a:t>
            </a:r>
            <a:r>
              <a:rPr lang="zh-CN" altLang="en-US">
                <a:solidFill>
                  <a:srgbClr val="66FFFF"/>
                </a:solidFill>
              </a:rPr>
              <a:t>波的表达式</a:t>
            </a:r>
          </a:p>
        </p:txBody>
      </p:sp>
      <p:grpSp>
        <p:nvGrpSpPr>
          <p:cNvPr id="8198" name="Group 34">
            <a:extLst>
              <a:ext uri="{FF2B5EF4-FFF2-40B4-BE49-F238E27FC236}">
                <a16:creationId xmlns:a16="http://schemas.microsoft.com/office/drawing/2014/main" id="{6CFAE437-8FC7-469E-B888-85886D7C71D9}"/>
              </a:ext>
            </a:extLst>
          </p:cNvPr>
          <p:cNvGrpSpPr>
            <a:grpSpLocks/>
          </p:cNvGrpSpPr>
          <p:nvPr/>
        </p:nvGrpSpPr>
        <p:grpSpPr bwMode="auto">
          <a:xfrm>
            <a:off x="5213350" y="3543300"/>
            <a:ext cx="3657600" cy="2597150"/>
            <a:chOff x="3284" y="2232"/>
            <a:chExt cx="2304" cy="1636"/>
          </a:xfrm>
        </p:grpSpPr>
        <p:sp>
          <p:nvSpPr>
            <p:cNvPr id="8203" name="Line 17">
              <a:extLst>
                <a:ext uri="{FF2B5EF4-FFF2-40B4-BE49-F238E27FC236}">
                  <a16:creationId xmlns:a16="http://schemas.microsoft.com/office/drawing/2014/main" id="{E9A6A7A4-3FD8-44A5-8CE3-726707640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" y="2433"/>
              <a:ext cx="0" cy="123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" name="Line 18">
              <a:extLst>
                <a:ext uri="{FF2B5EF4-FFF2-40B4-BE49-F238E27FC236}">
                  <a16:creationId xmlns:a16="http://schemas.microsoft.com/office/drawing/2014/main" id="{8450E214-C44D-4700-AA91-23DCAA4DC8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4" y="3074"/>
              <a:ext cx="2132" cy="1"/>
            </a:xfrm>
            <a:prstGeom prst="line">
              <a:avLst/>
            </a:prstGeom>
            <a:noFill/>
            <a:ln w="25400">
              <a:solidFill>
                <a:srgbClr val="CCCCFF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" name="Line 19">
              <a:extLst>
                <a:ext uri="{FF2B5EF4-FFF2-40B4-BE49-F238E27FC236}">
                  <a16:creationId xmlns:a16="http://schemas.microsoft.com/office/drawing/2014/main" id="{3D7735A7-B299-42CC-B595-B5CCA7C04F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6" y="2894"/>
              <a:ext cx="662" cy="0"/>
            </a:xfrm>
            <a:prstGeom prst="line">
              <a:avLst/>
            </a:prstGeom>
            <a:noFill/>
            <a:ln w="63500">
              <a:solidFill>
                <a:srgbClr val="00FF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" name="Line 20">
              <a:extLst>
                <a:ext uri="{FF2B5EF4-FFF2-40B4-BE49-F238E27FC236}">
                  <a16:creationId xmlns:a16="http://schemas.microsoft.com/office/drawing/2014/main" id="{E9D7AFD7-EC2A-4D16-A61C-491E94CC7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2" y="2894"/>
              <a:ext cx="463" cy="0"/>
            </a:xfrm>
            <a:prstGeom prst="line">
              <a:avLst/>
            </a:prstGeom>
            <a:noFill/>
            <a:ln w="25400">
              <a:solidFill>
                <a:srgbClr val="FF99FF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" name="Line 21">
              <a:extLst>
                <a:ext uri="{FF2B5EF4-FFF2-40B4-BE49-F238E27FC236}">
                  <a16:creationId xmlns:a16="http://schemas.microsoft.com/office/drawing/2014/main" id="{077986C3-1507-4ED5-B64F-3AD83A61BD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15" y="3246"/>
              <a:ext cx="463" cy="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8" name="Rectangle 22">
              <a:extLst>
                <a:ext uri="{FF2B5EF4-FFF2-40B4-BE49-F238E27FC236}">
                  <a16:creationId xmlns:a16="http://schemas.microsoft.com/office/drawing/2014/main" id="{12208F5A-D00F-4CAE-8656-75A76CCEC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2634"/>
              <a:ext cx="62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入射波</a:t>
              </a:r>
              <a:endParaRPr lang="zh-CN" altLang="en-US" sz="2000" b="0">
                <a:solidFill>
                  <a:schemeClr val="bg1"/>
                </a:solidFill>
              </a:endParaRPr>
            </a:p>
          </p:txBody>
        </p:sp>
        <p:sp>
          <p:nvSpPr>
            <p:cNvPr id="8209" name="Rectangle 23">
              <a:extLst>
                <a:ext uri="{FF2B5EF4-FFF2-40B4-BE49-F238E27FC236}">
                  <a16:creationId xmlns:a16="http://schemas.microsoft.com/office/drawing/2014/main" id="{D577814E-4FB7-4ECA-B2E2-A7FF56A3F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" y="2638"/>
              <a:ext cx="60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透射波</a:t>
              </a:r>
              <a:endParaRPr lang="zh-CN" altLang="en-US" sz="2000" b="0">
                <a:solidFill>
                  <a:schemeClr val="bg1"/>
                </a:solidFill>
              </a:endParaRPr>
            </a:p>
          </p:txBody>
        </p:sp>
        <p:sp>
          <p:nvSpPr>
            <p:cNvPr id="8210" name="Rectangle 24">
              <a:extLst>
                <a:ext uri="{FF2B5EF4-FFF2-40B4-BE49-F238E27FC236}">
                  <a16:creationId xmlns:a16="http://schemas.microsoft.com/office/drawing/2014/main" id="{6D0B4792-8AED-4343-A41F-BDC7A14D5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" y="3307"/>
              <a:ext cx="675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反射波</a:t>
              </a:r>
              <a:endParaRPr lang="zh-CN" altLang="en-US" sz="2000" b="0">
                <a:solidFill>
                  <a:schemeClr val="bg1"/>
                </a:solidFill>
              </a:endParaRPr>
            </a:p>
          </p:txBody>
        </p:sp>
        <p:sp>
          <p:nvSpPr>
            <p:cNvPr id="8211" name="Rectangle 25">
              <a:extLst>
                <a:ext uri="{FF2B5EF4-FFF2-40B4-BE49-F238E27FC236}">
                  <a16:creationId xmlns:a16="http://schemas.microsoft.com/office/drawing/2014/main" id="{21BA6775-F805-499A-886C-9BD11C289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1" y="3037"/>
              <a:ext cx="26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o</a:t>
              </a:r>
              <a:endParaRPr lang="en-US" altLang="zh-CN" sz="1800" b="0" i="1">
                <a:solidFill>
                  <a:schemeClr val="bg1"/>
                </a:solidFill>
              </a:endParaRPr>
            </a:p>
          </p:txBody>
        </p:sp>
        <p:sp>
          <p:nvSpPr>
            <p:cNvPr id="8212" name="Rectangle 26">
              <a:extLst>
                <a:ext uri="{FF2B5EF4-FFF2-40B4-BE49-F238E27FC236}">
                  <a16:creationId xmlns:a16="http://schemas.microsoft.com/office/drawing/2014/main" id="{2D8CCAC4-89D2-492E-8576-8D86464CE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3" y="3046"/>
              <a:ext cx="305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x</a:t>
              </a:r>
              <a:endParaRPr lang="en-US" altLang="zh-CN" b="0" i="1">
                <a:solidFill>
                  <a:schemeClr val="bg1"/>
                </a:solidFill>
              </a:endParaRPr>
            </a:p>
          </p:txBody>
        </p:sp>
        <p:sp>
          <p:nvSpPr>
            <p:cNvPr id="8213" name="Rectangle 27">
              <a:extLst>
                <a:ext uri="{FF2B5EF4-FFF2-40B4-BE49-F238E27FC236}">
                  <a16:creationId xmlns:a16="http://schemas.microsoft.com/office/drawing/2014/main" id="{95DEE485-368E-4FB8-944F-456480DEF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3" y="2292"/>
              <a:ext cx="675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媒质</a:t>
              </a:r>
              <a:r>
                <a:rPr lang="en-US" altLang="zh-CN" sz="2000">
                  <a:solidFill>
                    <a:schemeClr val="bg1"/>
                  </a:solidFill>
                </a:rPr>
                <a:t>1</a:t>
              </a:r>
              <a:endParaRPr lang="en-US" altLang="zh-CN" sz="2000" b="0">
                <a:solidFill>
                  <a:schemeClr val="bg1"/>
                </a:solidFill>
              </a:endParaRPr>
            </a:p>
          </p:txBody>
        </p:sp>
        <p:sp>
          <p:nvSpPr>
            <p:cNvPr id="8214" name="Rectangle 28">
              <a:extLst>
                <a:ext uri="{FF2B5EF4-FFF2-40B4-BE49-F238E27FC236}">
                  <a16:creationId xmlns:a16="http://schemas.microsoft.com/office/drawing/2014/main" id="{41BF534F-E53F-4D97-9AB6-42D89E1FD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292"/>
              <a:ext cx="662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媒质</a:t>
              </a:r>
              <a:r>
                <a:rPr lang="en-US" altLang="zh-CN" sz="2000">
                  <a:solidFill>
                    <a:schemeClr val="bg1"/>
                  </a:solidFill>
                </a:rPr>
                <a:t>2</a:t>
              </a:r>
              <a:endParaRPr lang="en-US" altLang="zh-CN" sz="2000" b="0">
                <a:solidFill>
                  <a:schemeClr val="bg1"/>
                </a:solidFill>
              </a:endParaRPr>
            </a:p>
          </p:txBody>
        </p:sp>
        <p:sp>
          <p:nvSpPr>
            <p:cNvPr id="8215" name="Rectangle 29">
              <a:extLst>
                <a:ext uri="{FF2B5EF4-FFF2-40B4-BE49-F238E27FC236}">
                  <a16:creationId xmlns:a16="http://schemas.microsoft.com/office/drawing/2014/main" id="{D2214B13-B54A-440E-8153-EB18108C4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2232"/>
              <a:ext cx="490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界面</a:t>
              </a:r>
              <a:endParaRPr lang="zh-CN" altLang="en-US" sz="2000" b="0">
                <a:solidFill>
                  <a:schemeClr val="bg1"/>
                </a:solidFill>
              </a:endParaRPr>
            </a:p>
          </p:txBody>
        </p:sp>
        <p:sp>
          <p:nvSpPr>
            <p:cNvPr id="8216" name="Rectangle 30">
              <a:extLst>
                <a:ext uri="{FF2B5EF4-FFF2-40B4-BE49-F238E27FC236}">
                  <a16:creationId xmlns:a16="http://schemas.microsoft.com/office/drawing/2014/main" id="{7D40AE6B-B4CE-478B-BF74-042653957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2" y="3660"/>
              <a:ext cx="927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000" b="0">
                <a:solidFill>
                  <a:srgbClr val="CCCCFF"/>
                </a:solidFill>
              </a:endParaRPr>
            </a:p>
          </p:txBody>
        </p:sp>
      </p:grpSp>
      <p:sp>
        <p:nvSpPr>
          <p:cNvPr id="45088" name="Text Box 32">
            <a:extLst>
              <a:ext uri="{FF2B5EF4-FFF2-40B4-BE49-F238E27FC236}">
                <a16:creationId xmlns:a16="http://schemas.microsoft.com/office/drawing/2014/main" id="{663B812A-6F4D-4340-A4EE-0EF24F0A3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688" y="3644900"/>
            <a:ext cx="4797425" cy="9080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bg1"/>
                </a:solidFill>
              </a:rPr>
              <a:t>设   入射波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zh-CN" altLang="en-US" dirty="0">
                <a:solidFill>
                  <a:srgbClr val="66FFFF"/>
                </a:solidFill>
                <a:sym typeface="Symbol" panose="05050102010706020507" pitchFamily="18" charset="2"/>
              </a:rPr>
              <a:t>        </a:t>
            </a:r>
            <a:r>
              <a:rPr lang="zh-CN" altLang="en-US" i="1" dirty="0">
                <a:solidFill>
                  <a:srgbClr val="FFCC00"/>
                </a:solidFill>
                <a:latin typeface="+mn-lt"/>
                <a:sym typeface="Symbol" panose="05050102010706020507" pitchFamily="18" charset="2"/>
              </a:rPr>
              <a:t></a:t>
            </a:r>
            <a:r>
              <a:rPr lang="en-US" altLang="zh-CN" baseline="-25000" dirty="0">
                <a:solidFill>
                  <a:srgbClr val="FFCC00"/>
                </a:solidFill>
                <a:latin typeface="+mn-lt"/>
              </a:rPr>
              <a:t>1 </a:t>
            </a:r>
            <a:r>
              <a:rPr lang="en-US" altLang="zh-CN" dirty="0">
                <a:solidFill>
                  <a:srgbClr val="FFCC00"/>
                </a:solidFill>
                <a:latin typeface="+mn-lt"/>
              </a:rPr>
              <a:t>= </a:t>
            </a:r>
            <a:r>
              <a:rPr lang="en-US" altLang="zh-CN" i="1" dirty="0">
                <a:solidFill>
                  <a:srgbClr val="FFCC00"/>
                </a:solidFill>
                <a:latin typeface="+mn-lt"/>
              </a:rPr>
              <a:t>A</a:t>
            </a:r>
            <a:r>
              <a:rPr lang="en-US" altLang="zh-CN" baseline="-25000" dirty="0">
                <a:solidFill>
                  <a:srgbClr val="FFCC00"/>
                </a:solidFill>
                <a:latin typeface="+mn-lt"/>
              </a:rPr>
              <a:t>1</a:t>
            </a:r>
            <a:r>
              <a:rPr lang="en-US" altLang="zh-CN" dirty="0">
                <a:solidFill>
                  <a:srgbClr val="FFCC00"/>
                </a:solidFill>
                <a:latin typeface="+mn-lt"/>
              </a:rPr>
              <a:t>cos(</a:t>
            </a:r>
            <a:r>
              <a:rPr lang="en-US" altLang="zh-CN" dirty="0">
                <a:solidFill>
                  <a:srgbClr val="FFCC00"/>
                </a:solidFill>
                <a:latin typeface="+mn-lt"/>
                <a:sym typeface="Symbol" panose="05050102010706020507" pitchFamily="18" charset="2"/>
              </a:rPr>
              <a:t></a:t>
            </a:r>
            <a:r>
              <a:rPr lang="en-US" altLang="zh-CN" i="1" dirty="0">
                <a:solidFill>
                  <a:srgbClr val="FFCC00"/>
                </a:solidFill>
                <a:latin typeface="+mn-lt"/>
              </a:rPr>
              <a:t>t</a:t>
            </a:r>
            <a:r>
              <a:rPr lang="en-US" altLang="zh-CN" dirty="0">
                <a:solidFill>
                  <a:srgbClr val="FFCC00"/>
                </a:solidFill>
                <a:latin typeface="+mn-lt"/>
              </a:rPr>
              <a:t>-</a:t>
            </a:r>
            <a:r>
              <a:rPr lang="en-US" altLang="zh-CN" i="1" dirty="0">
                <a:solidFill>
                  <a:srgbClr val="FFCC00"/>
                </a:solidFill>
                <a:latin typeface="+mn-lt"/>
              </a:rPr>
              <a:t>k</a:t>
            </a:r>
            <a:r>
              <a:rPr lang="en-US" altLang="zh-CN" baseline="-25000" dirty="0">
                <a:solidFill>
                  <a:srgbClr val="FFCC00"/>
                </a:solidFill>
                <a:latin typeface="+mn-lt"/>
              </a:rPr>
              <a:t>1</a:t>
            </a:r>
            <a:r>
              <a:rPr lang="en-US" altLang="zh-CN" i="1" dirty="0">
                <a:solidFill>
                  <a:srgbClr val="FFCC00"/>
                </a:solidFill>
                <a:latin typeface="+mn-lt"/>
              </a:rPr>
              <a:t>x</a:t>
            </a:r>
            <a:r>
              <a:rPr lang="en-US" altLang="zh-CN" dirty="0">
                <a:solidFill>
                  <a:srgbClr val="FFCC00"/>
                </a:solidFill>
                <a:latin typeface="+mn-lt"/>
              </a:rPr>
              <a:t>) </a:t>
            </a:r>
            <a:r>
              <a:rPr lang="zh-CN" altLang="en-US" dirty="0">
                <a:solidFill>
                  <a:srgbClr val="FFCC00"/>
                </a:solidFill>
                <a:latin typeface="+mn-lt"/>
              </a:rPr>
              <a:t>，</a:t>
            </a:r>
            <a:r>
              <a:rPr lang="en-US" altLang="zh-CN" dirty="0">
                <a:solidFill>
                  <a:srgbClr val="FFCC00"/>
                </a:solidFill>
                <a:latin typeface="+mn-lt"/>
              </a:rPr>
              <a:t> (</a:t>
            </a:r>
            <a:r>
              <a:rPr lang="en-US" altLang="zh-CN" i="1" dirty="0">
                <a:solidFill>
                  <a:srgbClr val="FFCC00"/>
                </a:solidFill>
                <a:latin typeface="+mn-lt"/>
              </a:rPr>
              <a:t>x</a:t>
            </a:r>
            <a:r>
              <a:rPr lang="en-US" altLang="zh-CN" dirty="0">
                <a:solidFill>
                  <a:srgbClr val="FFCC00"/>
                </a:solidFill>
                <a:latin typeface="+mn-lt"/>
                <a:sym typeface="Symbol" panose="05050102010706020507" pitchFamily="18" charset="2"/>
              </a:rPr>
              <a:t></a:t>
            </a:r>
            <a:r>
              <a:rPr lang="en-US" altLang="zh-CN" dirty="0">
                <a:solidFill>
                  <a:srgbClr val="FFCC00"/>
                </a:solidFill>
                <a:latin typeface="+mn-lt"/>
              </a:rPr>
              <a:t>0)</a:t>
            </a:r>
          </a:p>
        </p:txBody>
      </p:sp>
      <p:sp>
        <p:nvSpPr>
          <p:cNvPr id="27" name="Text Box 3">
            <a:extLst>
              <a:ext uri="{FF2B5EF4-FFF2-40B4-BE49-F238E27FC236}">
                <a16:creationId xmlns:a16="http://schemas.microsoft.com/office/drawing/2014/main" id="{8081D38D-F0A1-4E80-B301-98F60D841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413" y="5543550"/>
            <a:ext cx="4545012" cy="9080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bg1"/>
                </a:solidFill>
              </a:rPr>
              <a:t>透射波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zh-CN" altLang="en-US" i="1" dirty="0">
                <a:solidFill>
                  <a:srgbClr val="FFCC00"/>
                </a:solidFill>
                <a:latin typeface="+mn-lt"/>
                <a:sym typeface="Symbol" panose="05050102010706020507" pitchFamily="18" charset="2"/>
              </a:rPr>
              <a:t></a:t>
            </a:r>
            <a:r>
              <a:rPr lang="en-US" altLang="zh-CN" baseline="-25000" dirty="0">
                <a:solidFill>
                  <a:srgbClr val="FFCC00"/>
                </a:solidFill>
                <a:latin typeface="+mn-lt"/>
              </a:rPr>
              <a:t>2 </a:t>
            </a:r>
            <a:r>
              <a:rPr lang="en-US" altLang="zh-CN" dirty="0">
                <a:solidFill>
                  <a:srgbClr val="FFCC00"/>
                </a:solidFill>
                <a:latin typeface="+mn-lt"/>
              </a:rPr>
              <a:t>= </a:t>
            </a:r>
            <a:r>
              <a:rPr lang="en-US" altLang="zh-CN" i="1" dirty="0">
                <a:solidFill>
                  <a:srgbClr val="FFCC00"/>
                </a:solidFill>
                <a:latin typeface="+mn-lt"/>
              </a:rPr>
              <a:t>A</a:t>
            </a:r>
            <a:r>
              <a:rPr lang="en-US" altLang="zh-CN" baseline="-25000" dirty="0">
                <a:solidFill>
                  <a:srgbClr val="FFCC00"/>
                </a:solidFill>
                <a:latin typeface="+mn-lt"/>
              </a:rPr>
              <a:t>2</a:t>
            </a:r>
            <a:r>
              <a:rPr lang="en-US" altLang="zh-CN" dirty="0">
                <a:solidFill>
                  <a:srgbClr val="FFCC00"/>
                </a:solidFill>
                <a:latin typeface="+mn-lt"/>
              </a:rPr>
              <a:t>cos(</a:t>
            </a:r>
            <a:r>
              <a:rPr lang="en-US" altLang="zh-CN" dirty="0">
                <a:solidFill>
                  <a:srgbClr val="FFCC00"/>
                </a:solidFill>
                <a:latin typeface="+mn-lt"/>
                <a:sym typeface="Symbol" panose="05050102010706020507" pitchFamily="18" charset="2"/>
              </a:rPr>
              <a:t></a:t>
            </a:r>
            <a:r>
              <a:rPr lang="en-US" altLang="zh-CN" i="1" dirty="0">
                <a:solidFill>
                  <a:srgbClr val="FFCC00"/>
                </a:solidFill>
                <a:latin typeface="+mn-lt"/>
              </a:rPr>
              <a:t>t</a:t>
            </a:r>
            <a:r>
              <a:rPr lang="en-US" altLang="zh-CN" dirty="0">
                <a:solidFill>
                  <a:srgbClr val="FFCC00"/>
                </a:solidFill>
                <a:latin typeface="+mn-lt"/>
              </a:rPr>
              <a:t> -</a:t>
            </a:r>
            <a:r>
              <a:rPr lang="en-US" altLang="zh-CN" i="1" dirty="0">
                <a:solidFill>
                  <a:srgbClr val="FFCC00"/>
                </a:solidFill>
                <a:latin typeface="+mn-lt"/>
              </a:rPr>
              <a:t>k</a:t>
            </a:r>
            <a:r>
              <a:rPr lang="en-US" altLang="zh-CN" baseline="-25000" dirty="0">
                <a:solidFill>
                  <a:srgbClr val="FFCC00"/>
                </a:solidFill>
                <a:latin typeface="+mn-lt"/>
              </a:rPr>
              <a:t>2</a:t>
            </a:r>
            <a:r>
              <a:rPr lang="en-US" altLang="zh-CN" i="1" dirty="0">
                <a:solidFill>
                  <a:srgbClr val="FFCC00"/>
                </a:solidFill>
                <a:latin typeface="+mn-lt"/>
              </a:rPr>
              <a:t>x</a:t>
            </a:r>
            <a:r>
              <a:rPr lang="en-US" altLang="zh-CN" dirty="0">
                <a:solidFill>
                  <a:srgbClr val="FFCC00"/>
                </a:solidFill>
                <a:latin typeface="+mn-lt"/>
              </a:rPr>
              <a:t>)  ,   (</a:t>
            </a:r>
            <a:r>
              <a:rPr lang="en-US" altLang="zh-CN" i="1" dirty="0">
                <a:solidFill>
                  <a:srgbClr val="FFCC00"/>
                </a:solidFill>
                <a:latin typeface="+mn-lt"/>
              </a:rPr>
              <a:t>x</a:t>
            </a:r>
            <a:r>
              <a:rPr lang="en-US" altLang="zh-CN" dirty="0">
                <a:solidFill>
                  <a:srgbClr val="FFCC00"/>
                </a:solidFill>
                <a:latin typeface="+mn-lt"/>
                <a:sym typeface="Symbol" panose="05050102010706020507" pitchFamily="18" charset="2"/>
              </a:rPr>
              <a:t></a:t>
            </a:r>
            <a:r>
              <a:rPr lang="en-US" altLang="zh-CN" dirty="0">
                <a:solidFill>
                  <a:srgbClr val="FFCC00"/>
                </a:solidFill>
                <a:latin typeface="+mn-lt"/>
              </a:rPr>
              <a:t>0) </a:t>
            </a:r>
          </a:p>
        </p:txBody>
      </p:sp>
      <p:sp>
        <p:nvSpPr>
          <p:cNvPr id="29" name="Text Box 2">
            <a:extLst>
              <a:ext uri="{FF2B5EF4-FFF2-40B4-BE49-F238E27FC236}">
                <a16:creationId xmlns:a16="http://schemas.microsoft.com/office/drawing/2014/main" id="{CE16A1DA-D274-4149-B48B-C8EC72D52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413" y="4608513"/>
            <a:ext cx="4229100" cy="9080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bg1"/>
                </a:solidFill>
              </a:rPr>
              <a:t>反射波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zh-CN" altLang="en-US" i="1" dirty="0">
                <a:solidFill>
                  <a:srgbClr val="FFCC00"/>
                </a:solidFill>
                <a:latin typeface="+mn-lt"/>
                <a:sym typeface="Symbol" panose="05050102010706020507" pitchFamily="18" charset="2"/>
              </a:rPr>
              <a:t></a:t>
            </a:r>
            <a:r>
              <a:rPr lang="en-US" altLang="zh-CN" baseline="-25000" dirty="0">
                <a:solidFill>
                  <a:srgbClr val="FFCC00"/>
                </a:solidFill>
                <a:latin typeface="+mn-lt"/>
              </a:rPr>
              <a:t>1</a:t>
            </a:r>
            <a:r>
              <a:rPr lang="en-US" altLang="zh-CN" dirty="0">
                <a:solidFill>
                  <a:srgbClr val="FFCC00"/>
                </a:solidFill>
                <a:latin typeface="+mn-lt"/>
                <a:sym typeface="Symbol" panose="05050102010706020507" pitchFamily="18" charset="2"/>
              </a:rPr>
              <a:t></a:t>
            </a:r>
            <a:r>
              <a:rPr lang="en-US" altLang="zh-CN" dirty="0">
                <a:solidFill>
                  <a:srgbClr val="FFCC00"/>
                </a:solidFill>
                <a:latin typeface="+mn-lt"/>
              </a:rPr>
              <a:t>= </a:t>
            </a:r>
            <a:r>
              <a:rPr lang="en-US" altLang="zh-CN" i="1" dirty="0">
                <a:solidFill>
                  <a:srgbClr val="FFCC00"/>
                </a:solidFill>
                <a:latin typeface="+mn-lt"/>
              </a:rPr>
              <a:t>A</a:t>
            </a:r>
            <a:r>
              <a:rPr lang="en-US" altLang="zh-CN" baseline="-25000" dirty="0">
                <a:solidFill>
                  <a:srgbClr val="FFCC00"/>
                </a:solidFill>
                <a:latin typeface="+mn-lt"/>
              </a:rPr>
              <a:t>1</a:t>
            </a:r>
            <a:r>
              <a:rPr lang="en-US" altLang="zh-CN" dirty="0">
                <a:solidFill>
                  <a:srgbClr val="FFCC00"/>
                </a:solidFill>
                <a:latin typeface="+mn-lt"/>
                <a:sym typeface="Symbol" panose="05050102010706020507" pitchFamily="18" charset="2"/>
              </a:rPr>
              <a:t></a:t>
            </a:r>
            <a:r>
              <a:rPr lang="en-US" altLang="zh-CN" dirty="0">
                <a:solidFill>
                  <a:srgbClr val="FFCC00"/>
                </a:solidFill>
                <a:latin typeface="+mn-lt"/>
              </a:rPr>
              <a:t>cos(</a:t>
            </a:r>
            <a:r>
              <a:rPr lang="en-US" altLang="zh-CN" dirty="0">
                <a:solidFill>
                  <a:srgbClr val="FFCC00"/>
                </a:solidFill>
                <a:latin typeface="+mn-lt"/>
                <a:sym typeface="Symbol" panose="05050102010706020507" pitchFamily="18" charset="2"/>
              </a:rPr>
              <a:t></a:t>
            </a:r>
            <a:r>
              <a:rPr lang="en-US" altLang="zh-CN" i="1" dirty="0">
                <a:solidFill>
                  <a:srgbClr val="FFCC00"/>
                </a:solidFill>
                <a:latin typeface="+mn-lt"/>
              </a:rPr>
              <a:t>t</a:t>
            </a:r>
            <a:r>
              <a:rPr lang="en-US" altLang="zh-CN" dirty="0">
                <a:solidFill>
                  <a:srgbClr val="FFCC00"/>
                </a:solidFill>
                <a:latin typeface="+mn-lt"/>
              </a:rPr>
              <a:t>+</a:t>
            </a:r>
            <a:r>
              <a:rPr lang="en-US" altLang="zh-CN" i="1" dirty="0">
                <a:solidFill>
                  <a:srgbClr val="FFCC00"/>
                </a:solidFill>
                <a:latin typeface="+mn-lt"/>
              </a:rPr>
              <a:t>k</a:t>
            </a:r>
            <a:r>
              <a:rPr lang="en-US" altLang="zh-CN" baseline="-25000" dirty="0">
                <a:solidFill>
                  <a:srgbClr val="FFCC00"/>
                </a:solidFill>
                <a:latin typeface="+mn-lt"/>
              </a:rPr>
              <a:t>1</a:t>
            </a:r>
            <a:r>
              <a:rPr lang="en-US" altLang="zh-CN" i="1" dirty="0">
                <a:solidFill>
                  <a:srgbClr val="FFCC00"/>
                </a:solidFill>
                <a:latin typeface="+mn-lt"/>
              </a:rPr>
              <a:t>x</a:t>
            </a:r>
            <a:r>
              <a:rPr lang="en-US" altLang="zh-CN" dirty="0">
                <a:solidFill>
                  <a:srgbClr val="FFCC00"/>
                </a:solidFill>
                <a:latin typeface="+mn-lt"/>
              </a:rPr>
              <a:t>)  ,   (</a:t>
            </a:r>
            <a:r>
              <a:rPr lang="en-US" altLang="zh-CN" i="1" dirty="0">
                <a:solidFill>
                  <a:srgbClr val="FFCC00"/>
                </a:solidFill>
                <a:latin typeface="+mn-lt"/>
              </a:rPr>
              <a:t>x</a:t>
            </a:r>
            <a:r>
              <a:rPr lang="en-US" altLang="zh-CN" dirty="0">
                <a:solidFill>
                  <a:srgbClr val="FFCC00"/>
                </a:solidFill>
                <a:latin typeface="+mn-lt"/>
                <a:sym typeface="Symbol" panose="05050102010706020507" pitchFamily="18" charset="2"/>
              </a:rPr>
              <a:t></a:t>
            </a:r>
            <a:r>
              <a:rPr lang="en-US" altLang="zh-CN" dirty="0">
                <a:solidFill>
                  <a:srgbClr val="FFCC00"/>
                </a:solidFill>
                <a:latin typeface="+mn-lt"/>
              </a:rPr>
              <a:t>0)</a:t>
            </a:r>
          </a:p>
        </p:txBody>
      </p:sp>
      <p:sp>
        <p:nvSpPr>
          <p:cNvPr id="8202" name="灯片编号占位符 1">
            <a:extLst>
              <a:ext uri="{FF2B5EF4-FFF2-40B4-BE49-F238E27FC236}">
                <a16:creationId xmlns:a16="http://schemas.microsoft.com/office/drawing/2014/main" id="{00E39CC8-5569-499E-9E35-EE924A8012C0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7C5E342-8B0E-4624-9D50-693491A5D9EE}" type="slidenum">
              <a:rPr lang="en-US" altLang="zh-CN" b="0">
                <a:solidFill>
                  <a:srgbClr val="FF00FF"/>
                </a:solidFill>
              </a:rPr>
              <a:pPr eaLnBrk="1" hangingPunct="1"/>
              <a:t>1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">
            <a:extLst>
              <a:ext uri="{FF2B5EF4-FFF2-40B4-BE49-F238E27FC236}">
                <a16:creationId xmlns:a16="http://schemas.microsoft.com/office/drawing/2014/main" id="{6DF035F3-A4A1-41E5-807A-CF295B362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333375"/>
            <a:ext cx="6934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</a:rPr>
              <a:t>边界条件 </a:t>
            </a:r>
            <a:r>
              <a:rPr lang="en-US" altLang="zh-CN">
                <a:solidFill>
                  <a:srgbClr val="66FFFF"/>
                </a:solidFill>
              </a:rPr>
              <a:t>(</a:t>
            </a:r>
            <a:r>
              <a:rPr lang="zh-CN" altLang="en-US">
                <a:solidFill>
                  <a:srgbClr val="66FFFF"/>
                </a:solidFill>
              </a:rPr>
              <a:t>边界上存在的物理条件</a:t>
            </a:r>
            <a:r>
              <a:rPr lang="en-US" altLang="zh-CN">
                <a:solidFill>
                  <a:srgbClr val="66FFFF"/>
                </a:solidFill>
              </a:rPr>
              <a:t>)</a:t>
            </a:r>
          </a:p>
        </p:txBody>
      </p:sp>
      <p:sp>
        <p:nvSpPr>
          <p:cNvPr id="9219" name="Text Box 5">
            <a:extLst>
              <a:ext uri="{FF2B5EF4-FFF2-40B4-BE49-F238E27FC236}">
                <a16:creationId xmlns:a16="http://schemas.microsoft.com/office/drawing/2014/main" id="{170224BC-0997-4C05-96F7-12A2891CD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425" y="908050"/>
            <a:ext cx="5791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FF00"/>
                </a:solidFill>
              </a:rPr>
              <a:t>(1) </a:t>
            </a:r>
            <a:r>
              <a:rPr lang="zh-CN" altLang="en-US">
                <a:solidFill>
                  <a:srgbClr val="FFFF00"/>
                </a:solidFill>
              </a:rPr>
              <a:t>振动位移连续</a:t>
            </a:r>
          </a:p>
        </p:txBody>
      </p:sp>
      <p:sp>
        <p:nvSpPr>
          <p:cNvPr id="9220" name="Text Box 6">
            <a:extLst>
              <a:ext uri="{FF2B5EF4-FFF2-40B4-BE49-F238E27FC236}">
                <a16:creationId xmlns:a16="http://schemas.microsoft.com/office/drawing/2014/main" id="{37E1ED37-5EED-4364-B872-439A0B498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038" y="1844675"/>
            <a:ext cx="40624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CC00"/>
                </a:solidFill>
              </a:rPr>
              <a:t> [</a:t>
            </a:r>
            <a:r>
              <a:rPr lang="en-US" altLang="zh-CN" i="1">
                <a:solidFill>
                  <a:srgbClr val="FFCC00"/>
                </a:solidFill>
                <a:sym typeface="Symbol" panose="05050102010706020507" pitchFamily="18" charset="2"/>
              </a:rPr>
              <a:t>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+</a:t>
            </a:r>
            <a:r>
              <a:rPr lang="en-US" altLang="zh-CN" i="1">
                <a:solidFill>
                  <a:srgbClr val="FFCC00"/>
                </a:solidFill>
                <a:sym typeface="Symbol" panose="05050102010706020507" pitchFamily="18" charset="2"/>
              </a:rPr>
              <a:t>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  <a:sym typeface="Symbol" panose="05050102010706020507" pitchFamily="18" charset="2"/>
              </a:rPr>
              <a:t></a:t>
            </a:r>
            <a:r>
              <a:rPr lang="en-US" altLang="zh-CN">
                <a:solidFill>
                  <a:srgbClr val="FFCC00"/>
                </a:solidFill>
              </a:rPr>
              <a:t>]</a:t>
            </a:r>
            <a:r>
              <a:rPr lang="en-US" altLang="zh-CN" i="1" baseline="-25000">
                <a:solidFill>
                  <a:srgbClr val="FFCC00"/>
                </a:solidFill>
              </a:rPr>
              <a:t>x</a:t>
            </a:r>
            <a:r>
              <a:rPr lang="en-US" altLang="zh-CN" baseline="-25000">
                <a:solidFill>
                  <a:srgbClr val="FFCC00"/>
                </a:solidFill>
              </a:rPr>
              <a:t>=0  </a:t>
            </a:r>
            <a:r>
              <a:rPr lang="en-US" altLang="zh-CN">
                <a:solidFill>
                  <a:srgbClr val="FFCC00"/>
                </a:solidFill>
              </a:rPr>
              <a:t>=  [</a:t>
            </a:r>
            <a:r>
              <a:rPr lang="en-US" altLang="zh-CN" i="1">
                <a:solidFill>
                  <a:srgbClr val="FFCC00"/>
                </a:solidFill>
                <a:sym typeface="Symbol" panose="05050102010706020507" pitchFamily="18" charset="2"/>
              </a:rPr>
              <a:t></a:t>
            </a:r>
            <a:r>
              <a:rPr lang="en-US" altLang="zh-CN" baseline="-25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]</a:t>
            </a:r>
            <a:r>
              <a:rPr lang="en-US" altLang="zh-CN" i="1" baseline="-25000">
                <a:solidFill>
                  <a:srgbClr val="FFCC00"/>
                </a:solidFill>
              </a:rPr>
              <a:t>x</a:t>
            </a:r>
            <a:r>
              <a:rPr lang="en-US" altLang="zh-CN" baseline="-25000">
                <a:solidFill>
                  <a:srgbClr val="FFCC00"/>
                </a:solidFill>
              </a:rPr>
              <a:t>=0 </a:t>
            </a:r>
          </a:p>
        </p:txBody>
      </p:sp>
      <p:sp>
        <p:nvSpPr>
          <p:cNvPr id="9221" name="Text Box 7">
            <a:extLst>
              <a:ext uri="{FF2B5EF4-FFF2-40B4-BE49-F238E27FC236}">
                <a16:creationId xmlns:a16="http://schemas.microsoft.com/office/drawing/2014/main" id="{D44E89C1-34B1-4FED-88EC-B67A00355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038" y="1412875"/>
            <a:ext cx="533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表明两媒质始终保持接触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9222" name="矩形 1">
            <a:extLst>
              <a:ext uri="{FF2B5EF4-FFF2-40B4-BE49-F238E27FC236}">
                <a16:creationId xmlns:a16="http://schemas.microsoft.com/office/drawing/2014/main" id="{43A80411-B059-4F8C-A94B-E2E07C946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1525" y="1836738"/>
            <a:ext cx="5445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(</a:t>
            </a:r>
            <a:r>
              <a:rPr lang="en-US" altLang="zh-CN" i="1">
                <a:solidFill>
                  <a:srgbClr val="66FFFF"/>
                </a:solidFill>
                <a:sym typeface="Monotype Sorts"/>
              </a:rPr>
              <a:t>a</a:t>
            </a:r>
            <a:r>
              <a:rPr lang="en-US" altLang="zh-CN">
                <a:solidFill>
                  <a:srgbClr val="66FFFF"/>
                </a:solidFill>
              </a:rPr>
              <a:t>)</a:t>
            </a:r>
          </a:p>
        </p:txBody>
      </p:sp>
      <p:sp>
        <p:nvSpPr>
          <p:cNvPr id="9223" name="Rectangle 28">
            <a:extLst>
              <a:ext uri="{FF2B5EF4-FFF2-40B4-BE49-F238E27FC236}">
                <a16:creationId xmlns:a16="http://schemas.microsoft.com/office/drawing/2014/main" id="{8B5FAFC7-82CE-4489-94D1-3113B05EA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425" y="2349500"/>
            <a:ext cx="21002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FF00"/>
                </a:solidFill>
              </a:rPr>
              <a:t>(2) </a:t>
            </a:r>
            <a:r>
              <a:rPr lang="zh-CN" altLang="en-US">
                <a:solidFill>
                  <a:srgbClr val="FFFF00"/>
                </a:solidFill>
              </a:rPr>
              <a:t>应力连续</a:t>
            </a:r>
          </a:p>
        </p:txBody>
      </p:sp>
      <p:sp>
        <p:nvSpPr>
          <p:cNvPr id="9224" name="Rectangle 29">
            <a:extLst>
              <a:ext uri="{FF2B5EF4-FFF2-40B4-BE49-F238E27FC236}">
                <a16:creationId xmlns:a16="http://schemas.microsoft.com/office/drawing/2014/main" id="{CF68664C-06D9-432D-82A7-D0393F995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0038" y="3416300"/>
            <a:ext cx="5954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表明两媒质之间的相互作用力相等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9225" name="Rectangle 24">
            <a:extLst>
              <a:ext uri="{FF2B5EF4-FFF2-40B4-BE49-F238E27FC236}">
                <a16:creationId xmlns:a16="http://schemas.microsoft.com/office/drawing/2014/main" id="{83F34AEB-B699-42F5-A13A-4BB6E27D0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0038" y="2852738"/>
            <a:ext cx="4000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CC00"/>
                </a:solidFill>
              </a:rPr>
              <a:t>[(</a:t>
            </a:r>
            <a:r>
              <a:rPr lang="en-US" altLang="zh-CN" i="1">
                <a:solidFill>
                  <a:srgbClr val="FFCC00"/>
                </a:solidFill>
              </a:rPr>
              <a:t>F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/</a:t>
            </a:r>
            <a:r>
              <a:rPr lang="en-US" altLang="zh-CN" i="1">
                <a:solidFill>
                  <a:srgbClr val="FFCC00"/>
                </a:solidFill>
              </a:rPr>
              <a:t>S</a:t>
            </a:r>
            <a:r>
              <a:rPr lang="en-US" altLang="zh-CN">
                <a:solidFill>
                  <a:srgbClr val="FFCC00"/>
                </a:solidFill>
              </a:rPr>
              <a:t>) +(</a:t>
            </a:r>
            <a:r>
              <a:rPr lang="en-US" altLang="zh-CN" i="1">
                <a:solidFill>
                  <a:srgbClr val="FFCC00"/>
                </a:solidFill>
              </a:rPr>
              <a:t>F</a:t>
            </a:r>
            <a:r>
              <a:rPr lang="en-US" altLang="zh-CN">
                <a:solidFill>
                  <a:srgbClr val="FFCC00"/>
                </a:solidFill>
                <a:sym typeface="Symbol" panose="05050102010706020507" pitchFamily="18" charset="2"/>
              </a:rPr>
              <a:t>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/</a:t>
            </a:r>
            <a:r>
              <a:rPr lang="en-US" altLang="zh-CN" i="1">
                <a:solidFill>
                  <a:srgbClr val="FFCC00"/>
                </a:solidFill>
              </a:rPr>
              <a:t>S</a:t>
            </a:r>
            <a:r>
              <a:rPr lang="en-US" altLang="zh-CN">
                <a:solidFill>
                  <a:srgbClr val="FFCC00"/>
                </a:solidFill>
              </a:rPr>
              <a:t>)]</a:t>
            </a:r>
            <a:r>
              <a:rPr lang="en-US" altLang="zh-CN" i="1" baseline="-25000">
                <a:solidFill>
                  <a:srgbClr val="FFCC00"/>
                </a:solidFill>
              </a:rPr>
              <a:t>x</a:t>
            </a:r>
            <a:r>
              <a:rPr lang="en-US" altLang="zh-CN" baseline="-25000">
                <a:solidFill>
                  <a:srgbClr val="FFCC00"/>
                </a:solidFill>
              </a:rPr>
              <a:t>=0</a:t>
            </a:r>
            <a:r>
              <a:rPr lang="en-US" altLang="zh-CN">
                <a:solidFill>
                  <a:srgbClr val="FFCC00"/>
                </a:solidFill>
              </a:rPr>
              <a:t> = [</a:t>
            </a:r>
            <a:r>
              <a:rPr lang="en-US" altLang="zh-CN" i="1">
                <a:solidFill>
                  <a:srgbClr val="FFCC00"/>
                </a:solidFill>
              </a:rPr>
              <a:t>F</a:t>
            </a:r>
            <a:r>
              <a:rPr lang="en-US" altLang="zh-CN" baseline="-25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/</a:t>
            </a:r>
            <a:r>
              <a:rPr lang="en-US" altLang="zh-CN" i="1">
                <a:solidFill>
                  <a:srgbClr val="FFCC00"/>
                </a:solidFill>
              </a:rPr>
              <a:t>S</a:t>
            </a:r>
            <a:r>
              <a:rPr lang="en-US" altLang="zh-CN">
                <a:solidFill>
                  <a:srgbClr val="FFCC00"/>
                </a:solidFill>
              </a:rPr>
              <a:t>]</a:t>
            </a:r>
            <a:r>
              <a:rPr lang="en-US" altLang="zh-CN" i="1" baseline="-25000">
                <a:solidFill>
                  <a:srgbClr val="FFCC00"/>
                </a:solidFill>
              </a:rPr>
              <a:t>x</a:t>
            </a:r>
            <a:r>
              <a:rPr lang="en-US" altLang="zh-CN" baseline="-25000">
                <a:solidFill>
                  <a:srgbClr val="FFCC00"/>
                </a:solidFill>
              </a:rPr>
              <a:t>=0</a:t>
            </a:r>
          </a:p>
        </p:txBody>
      </p:sp>
      <p:sp>
        <p:nvSpPr>
          <p:cNvPr id="9226" name="Rectangle 25">
            <a:extLst>
              <a:ext uri="{FF2B5EF4-FFF2-40B4-BE49-F238E27FC236}">
                <a16:creationId xmlns:a16="http://schemas.microsoft.com/office/drawing/2014/main" id="{CC38C6BB-95C5-4912-8194-01E60E898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0038" y="3916363"/>
            <a:ext cx="541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CC00"/>
                </a:solidFill>
              </a:rPr>
              <a:t>Y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[(</a:t>
            </a:r>
            <a:r>
              <a:rPr lang="en-US" altLang="zh-CN">
                <a:solidFill>
                  <a:srgbClr val="FFCC00"/>
                </a:solidFill>
                <a:sym typeface="Symbol" panose="05050102010706020507" pitchFamily="18" charset="2"/>
              </a:rPr>
              <a:t>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/</a:t>
            </a:r>
            <a:r>
              <a:rPr lang="en-US" altLang="zh-CN">
                <a:solidFill>
                  <a:srgbClr val="FFCC00"/>
                </a:solidFill>
                <a:sym typeface="Symbol" panose="05050102010706020507" pitchFamily="18" charset="2"/>
              </a:rPr>
              <a:t></a:t>
            </a:r>
            <a:r>
              <a:rPr lang="en-US" altLang="zh-CN" i="1">
                <a:solidFill>
                  <a:srgbClr val="FFCC00"/>
                </a:solidFill>
              </a:rPr>
              <a:t>x</a:t>
            </a:r>
            <a:r>
              <a:rPr lang="en-US" altLang="zh-CN">
                <a:solidFill>
                  <a:srgbClr val="FFCC00"/>
                </a:solidFill>
              </a:rPr>
              <a:t>) + (</a:t>
            </a:r>
            <a:r>
              <a:rPr lang="en-US" altLang="zh-CN">
                <a:solidFill>
                  <a:srgbClr val="FFCC00"/>
                </a:solidFill>
                <a:sym typeface="Symbol" panose="05050102010706020507" pitchFamily="18" charset="2"/>
              </a:rPr>
              <a:t></a:t>
            </a:r>
            <a:r>
              <a:rPr lang="en-US" altLang="zh-CN" i="1">
                <a:solidFill>
                  <a:srgbClr val="FFCC00"/>
                </a:solidFill>
                <a:sym typeface="Symbol" panose="05050102010706020507" pitchFamily="18" charset="2"/>
              </a:rPr>
              <a:t> </a:t>
            </a:r>
            <a:r>
              <a:rPr lang="en-US" altLang="zh-CN">
                <a:solidFill>
                  <a:srgbClr val="FFCC00"/>
                </a:solidFill>
                <a:sym typeface="Symbol" panose="05050102010706020507" pitchFamily="18" charset="2"/>
              </a:rPr>
              <a:t>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/</a:t>
            </a:r>
            <a:r>
              <a:rPr lang="en-US" altLang="zh-CN">
                <a:solidFill>
                  <a:srgbClr val="FFCC00"/>
                </a:solidFill>
                <a:sym typeface="Symbol" panose="05050102010706020507" pitchFamily="18" charset="2"/>
              </a:rPr>
              <a:t></a:t>
            </a:r>
            <a:r>
              <a:rPr lang="en-US" altLang="zh-CN" i="1">
                <a:solidFill>
                  <a:srgbClr val="FFCC00"/>
                </a:solidFill>
              </a:rPr>
              <a:t>x</a:t>
            </a:r>
            <a:r>
              <a:rPr lang="en-US" altLang="zh-CN">
                <a:solidFill>
                  <a:srgbClr val="FFCC00"/>
                </a:solidFill>
              </a:rPr>
              <a:t>)]</a:t>
            </a:r>
            <a:r>
              <a:rPr lang="en-US" altLang="zh-CN" i="1" baseline="-25000">
                <a:solidFill>
                  <a:srgbClr val="FFCC00"/>
                </a:solidFill>
              </a:rPr>
              <a:t>x</a:t>
            </a:r>
            <a:r>
              <a:rPr lang="en-US" altLang="zh-CN" baseline="-25000">
                <a:solidFill>
                  <a:srgbClr val="FFCC00"/>
                </a:solidFill>
              </a:rPr>
              <a:t>=0</a:t>
            </a:r>
            <a:r>
              <a:rPr lang="en-US" altLang="zh-CN">
                <a:solidFill>
                  <a:srgbClr val="FFCC00"/>
                </a:solidFill>
              </a:rPr>
              <a:t> = </a:t>
            </a:r>
            <a:r>
              <a:rPr lang="en-US" altLang="zh-CN" i="1">
                <a:solidFill>
                  <a:srgbClr val="FFCC00"/>
                </a:solidFill>
              </a:rPr>
              <a:t>Y</a:t>
            </a:r>
            <a:r>
              <a:rPr lang="en-US" altLang="zh-CN" baseline="-25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[</a:t>
            </a:r>
            <a:r>
              <a:rPr lang="en-US" altLang="zh-CN">
                <a:solidFill>
                  <a:srgbClr val="FFCC00"/>
                </a:solidFill>
                <a:sym typeface="Symbol" panose="05050102010706020507" pitchFamily="18" charset="2"/>
              </a:rPr>
              <a:t></a:t>
            </a:r>
            <a:r>
              <a:rPr lang="en-US" altLang="zh-CN" i="1">
                <a:solidFill>
                  <a:srgbClr val="FFCC00"/>
                </a:solidFill>
                <a:sym typeface="Symbol" panose="05050102010706020507" pitchFamily="18" charset="2"/>
              </a:rPr>
              <a:t></a:t>
            </a:r>
            <a:r>
              <a:rPr lang="en-US" altLang="zh-CN" baseline="-25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/</a:t>
            </a:r>
            <a:r>
              <a:rPr lang="en-US" altLang="zh-CN">
                <a:solidFill>
                  <a:srgbClr val="FFCC00"/>
                </a:solidFill>
                <a:sym typeface="Symbol" panose="05050102010706020507" pitchFamily="18" charset="2"/>
              </a:rPr>
              <a:t></a:t>
            </a:r>
            <a:r>
              <a:rPr lang="en-US" altLang="zh-CN" i="1">
                <a:solidFill>
                  <a:srgbClr val="FFCC00"/>
                </a:solidFill>
              </a:rPr>
              <a:t>x</a:t>
            </a:r>
            <a:r>
              <a:rPr lang="en-US" altLang="zh-CN">
                <a:solidFill>
                  <a:srgbClr val="FFCC00"/>
                </a:solidFill>
              </a:rPr>
              <a:t>]</a:t>
            </a:r>
            <a:r>
              <a:rPr lang="en-US" altLang="zh-CN" i="1" baseline="-25000">
                <a:solidFill>
                  <a:srgbClr val="FFCC00"/>
                </a:solidFill>
              </a:rPr>
              <a:t>x</a:t>
            </a:r>
            <a:r>
              <a:rPr lang="en-US" altLang="zh-CN" baseline="-25000">
                <a:solidFill>
                  <a:srgbClr val="FFCC00"/>
                </a:solidFill>
              </a:rPr>
              <a:t>=0</a:t>
            </a:r>
          </a:p>
        </p:txBody>
      </p:sp>
      <p:sp>
        <p:nvSpPr>
          <p:cNvPr id="9227" name="Rectangle 26">
            <a:extLst>
              <a:ext uri="{FF2B5EF4-FFF2-40B4-BE49-F238E27FC236}">
                <a16:creationId xmlns:a16="http://schemas.microsoft.com/office/drawing/2014/main" id="{7E6BE159-08D5-4B45-AEA9-BC209F6E7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3929063"/>
            <a:ext cx="4937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即</a:t>
            </a:r>
          </a:p>
        </p:txBody>
      </p:sp>
      <p:sp>
        <p:nvSpPr>
          <p:cNvPr id="9228" name="矩形 2">
            <a:extLst>
              <a:ext uri="{FF2B5EF4-FFF2-40B4-BE49-F238E27FC236}">
                <a16:creationId xmlns:a16="http://schemas.microsoft.com/office/drawing/2014/main" id="{9E497E36-E156-4DDD-A3F1-A92CCD8BA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0113" y="3916363"/>
            <a:ext cx="561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(</a:t>
            </a:r>
            <a:r>
              <a:rPr lang="en-US" altLang="zh-CN" i="1">
                <a:solidFill>
                  <a:srgbClr val="66FFFF"/>
                </a:solidFill>
                <a:sym typeface="Monotype Sorts"/>
              </a:rPr>
              <a:t>b</a:t>
            </a:r>
            <a:r>
              <a:rPr lang="en-US" altLang="zh-CN">
                <a:solidFill>
                  <a:srgbClr val="66FFFF"/>
                </a:solidFill>
              </a:rPr>
              <a:t>)</a:t>
            </a:r>
            <a:endParaRPr lang="zh-CN" altLang="en-US"/>
          </a:p>
        </p:txBody>
      </p:sp>
      <p:sp>
        <p:nvSpPr>
          <p:cNvPr id="9229" name="Text Box 2054">
            <a:extLst>
              <a:ext uri="{FF2B5EF4-FFF2-40B4-BE49-F238E27FC236}">
                <a16:creationId xmlns:a16="http://schemas.microsoft.com/office/drawing/2014/main" id="{44B6024C-CBE6-47DD-BC08-5FDDB8ADE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4460875"/>
            <a:ext cx="3505200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zh-CN">
                <a:solidFill>
                  <a:srgbClr val="66FFFF"/>
                </a:solidFill>
              </a:rPr>
              <a:t>3. </a:t>
            </a:r>
            <a:r>
              <a:rPr lang="zh-CN" altLang="en-US">
                <a:solidFill>
                  <a:srgbClr val="66FFFF"/>
                </a:solidFill>
              </a:rPr>
              <a:t>振幅关系</a:t>
            </a:r>
          </a:p>
        </p:txBody>
      </p:sp>
      <p:sp>
        <p:nvSpPr>
          <p:cNvPr id="9230" name="Text Box 2055">
            <a:extLst>
              <a:ext uri="{FF2B5EF4-FFF2-40B4-BE49-F238E27FC236}">
                <a16:creationId xmlns:a16="http://schemas.microsoft.com/office/drawing/2014/main" id="{199D2559-F67F-402C-9C66-5F9AAA72E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38" y="4983163"/>
            <a:ext cx="8066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将各波函数代入（</a:t>
            </a:r>
            <a:r>
              <a:rPr lang="en-US" altLang="zh-CN" i="1" dirty="0">
                <a:solidFill>
                  <a:schemeClr val="bg1"/>
                </a:solidFill>
              </a:rPr>
              <a:t>a</a:t>
            </a:r>
            <a:r>
              <a:rPr lang="zh-CN" altLang="en-US" dirty="0">
                <a:solidFill>
                  <a:schemeClr val="bg1"/>
                </a:solidFill>
              </a:rPr>
              <a:t>）、 </a:t>
            </a:r>
            <a:r>
              <a:rPr lang="en-US" altLang="zh-CN" dirty="0">
                <a:solidFill>
                  <a:schemeClr val="bg1"/>
                </a:solidFill>
              </a:rPr>
              <a:t>(</a:t>
            </a:r>
            <a:r>
              <a:rPr lang="en-US" altLang="zh-CN" i="1" dirty="0">
                <a:solidFill>
                  <a:schemeClr val="bg1"/>
                </a:solidFill>
                <a:sym typeface="Monotype Sorts"/>
              </a:rPr>
              <a:t>b</a:t>
            </a:r>
            <a:r>
              <a:rPr lang="zh-CN" altLang="en-US" dirty="0">
                <a:solidFill>
                  <a:schemeClr val="bg1"/>
                </a:solidFill>
                <a:sym typeface="Monotype Sorts"/>
              </a:rPr>
              <a:t>）</a:t>
            </a:r>
            <a:r>
              <a:rPr lang="zh-CN" altLang="en-US" dirty="0">
                <a:solidFill>
                  <a:schemeClr val="bg1"/>
                </a:solidFill>
              </a:rPr>
              <a:t>两式，并用  </a:t>
            </a:r>
            <a:r>
              <a:rPr lang="en-US" altLang="zh-CN" i="1" dirty="0">
                <a:solidFill>
                  <a:srgbClr val="FFC000"/>
                </a:solidFill>
              </a:rPr>
              <a:t>Y</a:t>
            </a:r>
            <a:r>
              <a:rPr lang="en-US" altLang="zh-CN" dirty="0">
                <a:solidFill>
                  <a:srgbClr val="FFC000"/>
                </a:solidFill>
              </a:rPr>
              <a:t>=</a:t>
            </a:r>
            <a:r>
              <a:rPr lang="en-US" altLang="zh-CN" i="1" dirty="0">
                <a:solidFill>
                  <a:srgbClr val="FFC000"/>
                </a:solidFill>
                <a:sym typeface="Symbol" panose="05050102010706020507" pitchFamily="18" charset="2"/>
              </a:rPr>
              <a:t></a:t>
            </a:r>
            <a:r>
              <a:rPr lang="en-US" altLang="zh-CN" i="1" dirty="0">
                <a:solidFill>
                  <a:srgbClr val="FFC000"/>
                </a:solidFill>
              </a:rPr>
              <a:t>u</a:t>
            </a:r>
            <a:r>
              <a:rPr lang="en-US" altLang="zh-CN" baseline="30000" dirty="0">
                <a:solidFill>
                  <a:srgbClr val="FFC000"/>
                </a:solidFill>
              </a:rPr>
              <a:t>2</a:t>
            </a:r>
            <a:r>
              <a:rPr lang="en-US" altLang="zh-CN" baseline="30000" dirty="0">
                <a:solidFill>
                  <a:schemeClr val="bg1"/>
                </a:solidFill>
              </a:rPr>
              <a:t>    </a:t>
            </a:r>
            <a:r>
              <a:rPr lang="zh-CN" altLang="en-US" dirty="0">
                <a:solidFill>
                  <a:schemeClr val="bg1"/>
                </a:solidFill>
              </a:rPr>
              <a:t>可得 </a:t>
            </a:r>
          </a:p>
        </p:txBody>
      </p:sp>
      <p:sp>
        <p:nvSpPr>
          <p:cNvPr id="9231" name="Text Box 2058">
            <a:extLst>
              <a:ext uri="{FF2B5EF4-FFF2-40B4-BE49-F238E27FC236}">
                <a16:creationId xmlns:a16="http://schemas.microsoft.com/office/drawing/2014/main" id="{16203E58-E4D4-437C-9C10-23656536B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6975" y="5616575"/>
            <a:ext cx="28432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66FFFF"/>
                </a:solidFill>
              </a:rPr>
              <a:t>这里：</a:t>
            </a:r>
            <a:r>
              <a:rPr lang="en-US" altLang="zh-CN" sz="2000" i="1">
                <a:solidFill>
                  <a:srgbClr val="66FFFF"/>
                </a:solidFill>
              </a:rPr>
              <a:t>Z</a:t>
            </a:r>
            <a:r>
              <a:rPr lang="en-US" altLang="zh-CN" sz="2000" baseline="-25000">
                <a:solidFill>
                  <a:srgbClr val="66FFFF"/>
                </a:solidFill>
              </a:rPr>
              <a:t>1</a:t>
            </a:r>
            <a:r>
              <a:rPr lang="en-US" altLang="zh-CN" sz="2000">
                <a:solidFill>
                  <a:srgbClr val="66FFFF"/>
                </a:solidFill>
              </a:rPr>
              <a:t>=</a:t>
            </a:r>
            <a:r>
              <a:rPr lang="en-US" altLang="zh-CN" sz="2000" i="1">
                <a:solidFill>
                  <a:srgbClr val="66FFFF"/>
                </a:solidFill>
                <a:sym typeface="Symbol" panose="05050102010706020507" pitchFamily="18" charset="2"/>
              </a:rPr>
              <a:t></a:t>
            </a:r>
            <a:r>
              <a:rPr lang="en-US" altLang="zh-CN" sz="2000" baseline="-25000">
                <a:solidFill>
                  <a:srgbClr val="66FFFF"/>
                </a:solidFill>
              </a:rPr>
              <a:t>1</a:t>
            </a:r>
            <a:r>
              <a:rPr lang="en-US" altLang="zh-CN" sz="2000" i="1">
                <a:solidFill>
                  <a:srgbClr val="66FFFF"/>
                </a:solidFill>
              </a:rPr>
              <a:t>u</a:t>
            </a:r>
            <a:r>
              <a:rPr lang="en-US" altLang="zh-CN" sz="2000" baseline="-25000">
                <a:solidFill>
                  <a:srgbClr val="66FFFF"/>
                </a:solidFill>
              </a:rPr>
              <a:t>1</a:t>
            </a:r>
            <a:endParaRPr lang="en-US" altLang="zh-CN" sz="2000">
              <a:solidFill>
                <a:srgbClr val="66FFFF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66FFFF"/>
                </a:solidFill>
              </a:rPr>
              <a:t>            </a:t>
            </a:r>
            <a:r>
              <a:rPr lang="en-US" altLang="zh-CN" sz="2000" i="1">
                <a:solidFill>
                  <a:srgbClr val="66FFFF"/>
                </a:solidFill>
              </a:rPr>
              <a:t>Z</a:t>
            </a:r>
            <a:r>
              <a:rPr lang="en-US" altLang="zh-CN" sz="2000" baseline="-25000">
                <a:solidFill>
                  <a:srgbClr val="66FFFF"/>
                </a:solidFill>
              </a:rPr>
              <a:t>2</a:t>
            </a:r>
            <a:r>
              <a:rPr lang="en-US" altLang="zh-CN" sz="2000">
                <a:solidFill>
                  <a:srgbClr val="66FFFF"/>
                </a:solidFill>
              </a:rPr>
              <a:t>=</a:t>
            </a:r>
            <a:r>
              <a:rPr lang="en-US" altLang="zh-CN" sz="2000" i="1">
                <a:solidFill>
                  <a:srgbClr val="66FFFF"/>
                </a:solidFill>
                <a:sym typeface="Symbol" panose="05050102010706020507" pitchFamily="18" charset="2"/>
              </a:rPr>
              <a:t></a:t>
            </a:r>
            <a:r>
              <a:rPr lang="en-US" altLang="zh-CN" sz="2000" baseline="-25000">
                <a:solidFill>
                  <a:srgbClr val="66FFFF"/>
                </a:solidFill>
              </a:rPr>
              <a:t>2</a:t>
            </a:r>
            <a:r>
              <a:rPr lang="en-US" altLang="zh-CN" sz="2000" i="1">
                <a:solidFill>
                  <a:srgbClr val="66FFFF"/>
                </a:solidFill>
              </a:rPr>
              <a:t>u</a:t>
            </a:r>
            <a:r>
              <a:rPr lang="en-US" altLang="zh-CN" sz="2000" baseline="-25000">
                <a:solidFill>
                  <a:srgbClr val="66FFFF"/>
                </a:solidFill>
              </a:rPr>
              <a:t>2</a:t>
            </a:r>
            <a:endParaRPr lang="en-US" altLang="zh-CN" sz="2000">
              <a:solidFill>
                <a:srgbClr val="66FFFF"/>
              </a:solidFill>
            </a:endParaRPr>
          </a:p>
        </p:txBody>
      </p:sp>
      <p:graphicFrame>
        <p:nvGraphicFramePr>
          <p:cNvPr id="9232" name="Object 2">
            <a:extLst>
              <a:ext uri="{FF2B5EF4-FFF2-40B4-BE49-F238E27FC236}">
                <a16:creationId xmlns:a16="http://schemas.microsoft.com/office/drawing/2014/main" id="{E08B4D68-B495-4927-A666-98CFE703A4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1638" y="5446713"/>
          <a:ext cx="190023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70" name="Equation" r:id="rId3" imgW="863225" imgH="431613" progId="">
                  <p:embed/>
                </p:oleObj>
              </mc:Choice>
              <mc:Fallback>
                <p:oleObj name="Equation" r:id="rId3" imgW="863225" imgH="431613" progId="">
                  <p:embed/>
                  <p:pic>
                    <p:nvPicPr>
                      <p:cNvPr id="9232" name="Object 2">
                        <a:extLst>
                          <a:ext uri="{FF2B5EF4-FFF2-40B4-BE49-F238E27FC236}">
                            <a16:creationId xmlns:a16="http://schemas.microsoft.com/office/drawing/2014/main" id="{E08B4D68-B495-4927-A666-98CFE703A4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638" y="5446713"/>
                        <a:ext cx="1900237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3" name="Object 3">
            <a:extLst>
              <a:ext uri="{FF2B5EF4-FFF2-40B4-BE49-F238E27FC236}">
                <a16:creationId xmlns:a16="http://schemas.microsoft.com/office/drawing/2014/main" id="{B16879E4-C4BD-4764-BFD2-E43BAF6FBA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6825" y="5446713"/>
          <a:ext cx="1843088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71" name="Equation" r:id="rId5" imgW="837836" imgH="431613" progId="">
                  <p:embed/>
                </p:oleObj>
              </mc:Choice>
              <mc:Fallback>
                <p:oleObj name="Equation" r:id="rId5" imgW="837836" imgH="431613" progId="">
                  <p:embed/>
                  <p:pic>
                    <p:nvPicPr>
                      <p:cNvPr id="9233" name="Object 3">
                        <a:extLst>
                          <a:ext uri="{FF2B5EF4-FFF2-40B4-BE49-F238E27FC236}">
                            <a16:creationId xmlns:a16="http://schemas.microsoft.com/office/drawing/2014/main" id="{B16879E4-C4BD-4764-BFD2-E43BAF6FBA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6825" y="5446713"/>
                        <a:ext cx="1843088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34" name="Group 34">
            <a:extLst>
              <a:ext uri="{FF2B5EF4-FFF2-40B4-BE49-F238E27FC236}">
                <a16:creationId xmlns:a16="http://schemas.microsoft.com/office/drawing/2014/main" id="{919ACAC9-F81F-4534-B904-1C82296E623E}"/>
              </a:ext>
            </a:extLst>
          </p:cNvPr>
          <p:cNvGrpSpPr>
            <a:grpSpLocks/>
          </p:cNvGrpSpPr>
          <p:nvPr/>
        </p:nvGrpSpPr>
        <p:grpSpPr bwMode="auto">
          <a:xfrm>
            <a:off x="5462588" y="596900"/>
            <a:ext cx="3657600" cy="2597150"/>
            <a:chOff x="3284" y="2232"/>
            <a:chExt cx="2304" cy="1636"/>
          </a:xfrm>
        </p:grpSpPr>
        <p:sp>
          <p:nvSpPr>
            <p:cNvPr id="9236" name="Line 17">
              <a:extLst>
                <a:ext uri="{FF2B5EF4-FFF2-40B4-BE49-F238E27FC236}">
                  <a16:creationId xmlns:a16="http://schemas.microsoft.com/office/drawing/2014/main" id="{2B8C9CBC-1508-45BF-A02F-59445679C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" y="2433"/>
              <a:ext cx="0" cy="123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7" name="Line 18">
              <a:extLst>
                <a:ext uri="{FF2B5EF4-FFF2-40B4-BE49-F238E27FC236}">
                  <a16:creationId xmlns:a16="http://schemas.microsoft.com/office/drawing/2014/main" id="{02AE380A-9AB2-4CAF-AF34-4E13628417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4" y="3074"/>
              <a:ext cx="2132" cy="1"/>
            </a:xfrm>
            <a:prstGeom prst="line">
              <a:avLst/>
            </a:prstGeom>
            <a:noFill/>
            <a:ln w="25400">
              <a:solidFill>
                <a:srgbClr val="CCCCFF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8" name="Line 19">
              <a:extLst>
                <a:ext uri="{FF2B5EF4-FFF2-40B4-BE49-F238E27FC236}">
                  <a16:creationId xmlns:a16="http://schemas.microsoft.com/office/drawing/2014/main" id="{631DF52C-F8FF-49D1-B94B-5BB820184F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6" y="2894"/>
              <a:ext cx="662" cy="0"/>
            </a:xfrm>
            <a:prstGeom prst="line">
              <a:avLst/>
            </a:prstGeom>
            <a:noFill/>
            <a:ln w="63500">
              <a:solidFill>
                <a:srgbClr val="00FF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9" name="Line 20">
              <a:extLst>
                <a:ext uri="{FF2B5EF4-FFF2-40B4-BE49-F238E27FC236}">
                  <a16:creationId xmlns:a16="http://schemas.microsoft.com/office/drawing/2014/main" id="{63B4440D-08AE-48CE-949F-B4116CD937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2" y="2894"/>
              <a:ext cx="463" cy="0"/>
            </a:xfrm>
            <a:prstGeom prst="line">
              <a:avLst/>
            </a:prstGeom>
            <a:noFill/>
            <a:ln w="25400">
              <a:solidFill>
                <a:srgbClr val="FF99FF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0" name="Line 21">
              <a:extLst>
                <a:ext uri="{FF2B5EF4-FFF2-40B4-BE49-F238E27FC236}">
                  <a16:creationId xmlns:a16="http://schemas.microsoft.com/office/drawing/2014/main" id="{5FF5CD94-B433-4BFE-AC6A-C849C035BE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15" y="3246"/>
              <a:ext cx="463" cy="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1" name="Rectangle 22">
              <a:extLst>
                <a:ext uri="{FF2B5EF4-FFF2-40B4-BE49-F238E27FC236}">
                  <a16:creationId xmlns:a16="http://schemas.microsoft.com/office/drawing/2014/main" id="{1506D456-4BC7-423B-976D-5B0B3A69A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2634"/>
              <a:ext cx="62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入射波</a:t>
              </a:r>
              <a:endParaRPr lang="zh-CN" altLang="en-US" sz="2000" b="0">
                <a:solidFill>
                  <a:schemeClr val="bg1"/>
                </a:solidFill>
              </a:endParaRPr>
            </a:p>
          </p:txBody>
        </p:sp>
        <p:sp>
          <p:nvSpPr>
            <p:cNvPr id="9242" name="Rectangle 23">
              <a:extLst>
                <a:ext uri="{FF2B5EF4-FFF2-40B4-BE49-F238E27FC236}">
                  <a16:creationId xmlns:a16="http://schemas.microsoft.com/office/drawing/2014/main" id="{26844AD9-2D11-4E0D-B7F5-8CDA7D19A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" y="2638"/>
              <a:ext cx="60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透射波</a:t>
              </a:r>
              <a:endParaRPr lang="zh-CN" altLang="en-US" sz="2000" b="0">
                <a:solidFill>
                  <a:schemeClr val="bg1"/>
                </a:solidFill>
              </a:endParaRPr>
            </a:p>
          </p:txBody>
        </p:sp>
        <p:sp>
          <p:nvSpPr>
            <p:cNvPr id="9243" name="Rectangle 24">
              <a:extLst>
                <a:ext uri="{FF2B5EF4-FFF2-40B4-BE49-F238E27FC236}">
                  <a16:creationId xmlns:a16="http://schemas.microsoft.com/office/drawing/2014/main" id="{8A08E8A2-71F3-4F42-B2C5-F6F84EB1B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" y="3307"/>
              <a:ext cx="675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反射波</a:t>
              </a:r>
              <a:endParaRPr lang="zh-CN" altLang="en-US" sz="2000" b="0">
                <a:solidFill>
                  <a:schemeClr val="bg1"/>
                </a:solidFill>
              </a:endParaRPr>
            </a:p>
          </p:txBody>
        </p:sp>
        <p:sp>
          <p:nvSpPr>
            <p:cNvPr id="9244" name="Rectangle 25">
              <a:extLst>
                <a:ext uri="{FF2B5EF4-FFF2-40B4-BE49-F238E27FC236}">
                  <a16:creationId xmlns:a16="http://schemas.microsoft.com/office/drawing/2014/main" id="{EA5805DF-6C54-4BD1-A974-BDEF04CA9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1" y="3037"/>
              <a:ext cx="26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CCCCFF"/>
                  </a:solidFill>
                </a:rPr>
                <a:t>o</a:t>
              </a:r>
              <a:endParaRPr lang="en-US" altLang="zh-CN" sz="1800" b="0" i="1">
                <a:solidFill>
                  <a:srgbClr val="CCCCFF"/>
                </a:solidFill>
              </a:endParaRPr>
            </a:p>
          </p:txBody>
        </p:sp>
        <p:sp>
          <p:nvSpPr>
            <p:cNvPr id="9245" name="Rectangle 26">
              <a:extLst>
                <a:ext uri="{FF2B5EF4-FFF2-40B4-BE49-F238E27FC236}">
                  <a16:creationId xmlns:a16="http://schemas.microsoft.com/office/drawing/2014/main" id="{E02E2DD7-4010-4F36-A2E9-1FADF7CF4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3" y="3046"/>
              <a:ext cx="305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x</a:t>
              </a:r>
              <a:endParaRPr lang="en-US" altLang="zh-CN" b="0" i="1">
                <a:solidFill>
                  <a:schemeClr val="bg1"/>
                </a:solidFill>
              </a:endParaRPr>
            </a:p>
          </p:txBody>
        </p:sp>
        <p:sp>
          <p:nvSpPr>
            <p:cNvPr id="9246" name="Rectangle 27">
              <a:extLst>
                <a:ext uri="{FF2B5EF4-FFF2-40B4-BE49-F238E27FC236}">
                  <a16:creationId xmlns:a16="http://schemas.microsoft.com/office/drawing/2014/main" id="{753B1D6A-2A89-4076-AD04-EE9270538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3" y="2292"/>
              <a:ext cx="675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媒质</a:t>
              </a:r>
              <a:r>
                <a:rPr lang="en-US" altLang="zh-CN" sz="2000">
                  <a:solidFill>
                    <a:schemeClr val="bg1"/>
                  </a:solidFill>
                </a:rPr>
                <a:t>1</a:t>
              </a:r>
              <a:endParaRPr lang="en-US" altLang="zh-CN" sz="2000" b="0">
                <a:solidFill>
                  <a:schemeClr val="bg1"/>
                </a:solidFill>
              </a:endParaRPr>
            </a:p>
          </p:txBody>
        </p:sp>
        <p:sp>
          <p:nvSpPr>
            <p:cNvPr id="9247" name="Rectangle 28">
              <a:extLst>
                <a:ext uri="{FF2B5EF4-FFF2-40B4-BE49-F238E27FC236}">
                  <a16:creationId xmlns:a16="http://schemas.microsoft.com/office/drawing/2014/main" id="{FB6117A1-49D3-4005-AAAF-562BE8F16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292"/>
              <a:ext cx="662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媒质</a:t>
              </a:r>
              <a:r>
                <a:rPr lang="en-US" altLang="zh-CN" sz="2000">
                  <a:solidFill>
                    <a:schemeClr val="bg1"/>
                  </a:solidFill>
                </a:rPr>
                <a:t>2</a:t>
              </a:r>
              <a:endParaRPr lang="en-US" altLang="zh-CN" sz="2000" b="0">
                <a:solidFill>
                  <a:schemeClr val="bg1"/>
                </a:solidFill>
              </a:endParaRPr>
            </a:p>
          </p:txBody>
        </p:sp>
        <p:sp>
          <p:nvSpPr>
            <p:cNvPr id="9248" name="Rectangle 29">
              <a:extLst>
                <a:ext uri="{FF2B5EF4-FFF2-40B4-BE49-F238E27FC236}">
                  <a16:creationId xmlns:a16="http://schemas.microsoft.com/office/drawing/2014/main" id="{A96A096B-6693-4D04-B74D-1CD6AADF8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2232"/>
              <a:ext cx="490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界面</a:t>
              </a:r>
              <a:endParaRPr lang="zh-CN" altLang="en-US" sz="2000" b="0">
                <a:solidFill>
                  <a:schemeClr val="bg1"/>
                </a:solidFill>
              </a:endParaRPr>
            </a:p>
          </p:txBody>
        </p:sp>
        <p:sp>
          <p:nvSpPr>
            <p:cNvPr id="9249" name="Rectangle 30">
              <a:extLst>
                <a:ext uri="{FF2B5EF4-FFF2-40B4-BE49-F238E27FC236}">
                  <a16:creationId xmlns:a16="http://schemas.microsoft.com/office/drawing/2014/main" id="{45031E58-F42E-4BBB-A72A-705DDFE16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2" y="3660"/>
              <a:ext cx="927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000" b="0">
                <a:solidFill>
                  <a:srgbClr val="CCCCFF"/>
                </a:solidFill>
              </a:endParaRPr>
            </a:p>
          </p:txBody>
        </p:sp>
      </p:grpSp>
      <p:sp>
        <p:nvSpPr>
          <p:cNvPr id="9235" name="灯片编号占位符 1">
            <a:extLst>
              <a:ext uri="{FF2B5EF4-FFF2-40B4-BE49-F238E27FC236}">
                <a16:creationId xmlns:a16="http://schemas.microsoft.com/office/drawing/2014/main" id="{09F7D9FE-366C-454E-A2B3-02146FD69C6C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EAD2AC3-D2C1-46ED-83A7-2C6AB40FB00D}" type="slidenum">
              <a:rPr lang="en-US" altLang="zh-CN" b="0">
                <a:solidFill>
                  <a:srgbClr val="FF00FF"/>
                </a:solidFill>
              </a:rPr>
              <a:pPr eaLnBrk="1" hangingPunct="1"/>
              <a:t>2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1">
            <a:extLst>
              <a:ext uri="{FF2B5EF4-FFF2-40B4-BE49-F238E27FC236}">
                <a16:creationId xmlns:a16="http://schemas.microsoft.com/office/drawing/2014/main" id="{F02375EA-36EE-408D-BD54-AF53369E0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361950"/>
            <a:ext cx="4419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4.  </a:t>
            </a:r>
            <a:r>
              <a:rPr lang="zh-CN" altLang="en-US">
                <a:solidFill>
                  <a:srgbClr val="66FFFF"/>
                </a:solidFill>
              </a:rPr>
              <a:t>反射系数与透射系数</a:t>
            </a:r>
          </a:p>
        </p:txBody>
      </p:sp>
      <p:sp>
        <p:nvSpPr>
          <p:cNvPr id="10243" name="Text Box 12">
            <a:extLst>
              <a:ext uri="{FF2B5EF4-FFF2-40B4-BE49-F238E27FC236}">
                <a16:creationId xmlns:a16="http://schemas.microsoft.com/office/drawing/2014/main" id="{B21B93D1-3C4E-4781-92B2-4954CECD3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950913"/>
            <a:ext cx="7191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(1)</a:t>
            </a:r>
            <a:r>
              <a:rPr lang="zh-CN" altLang="en-US">
                <a:solidFill>
                  <a:schemeClr val="bg1"/>
                </a:solidFill>
              </a:rPr>
              <a:t>反射系数</a:t>
            </a:r>
          </a:p>
        </p:txBody>
      </p:sp>
      <p:sp>
        <p:nvSpPr>
          <p:cNvPr id="10244" name="Text Box 13">
            <a:extLst>
              <a:ext uri="{FF2B5EF4-FFF2-40B4-BE49-F238E27FC236}">
                <a16:creationId xmlns:a16="http://schemas.microsoft.com/office/drawing/2014/main" id="{3289B7AB-CA09-4308-AB88-414B233EE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1300" y="950913"/>
            <a:ext cx="5762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——</a:t>
            </a:r>
            <a:r>
              <a:rPr lang="zh-CN" altLang="en-US">
                <a:solidFill>
                  <a:schemeClr val="bg1"/>
                </a:solidFill>
              </a:rPr>
              <a:t>反射波强度与入射波强度之比</a:t>
            </a:r>
          </a:p>
        </p:txBody>
      </p:sp>
      <p:sp>
        <p:nvSpPr>
          <p:cNvPr id="10245" name="Text Box 14">
            <a:extLst>
              <a:ext uri="{FF2B5EF4-FFF2-40B4-BE49-F238E27FC236}">
                <a16:creationId xmlns:a16="http://schemas.microsoft.com/office/drawing/2014/main" id="{730462F5-C730-480A-9BD2-13DE037E9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628775"/>
            <a:ext cx="746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CC00"/>
                </a:solidFill>
              </a:rPr>
              <a:t>∵I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=(1/2)Z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  <a:sym typeface="Symbol" panose="05050102010706020507" pitchFamily="18" charset="2"/>
              </a:rPr>
              <a:t></a:t>
            </a:r>
            <a:r>
              <a:rPr lang="en-US" altLang="zh-CN" baseline="30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A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 baseline="30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,  I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  <a:sym typeface="Symbol" panose="05050102010706020507" pitchFamily="18" charset="2"/>
              </a:rPr>
              <a:t></a:t>
            </a:r>
            <a:r>
              <a:rPr lang="en-US" altLang="zh-CN">
                <a:solidFill>
                  <a:srgbClr val="FFCC00"/>
                </a:solidFill>
              </a:rPr>
              <a:t>=(1/2)Z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  <a:sym typeface="Symbol" panose="05050102010706020507" pitchFamily="18" charset="2"/>
              </a:rPr>
              <a:t></a:t>
            </a:r>
            <a:r>
              <a:rPr lang="en-US" altLang="zh-CN" baseline="30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A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  <a:sym typeface="Symbol" panose="05050102010706020507" pitchFamily="18" charset="2"/>
              </a:rPr>
              <a:t></a:t>
            </a:r>
            <a:r>
              <a:rPr lang="en-US" altLang="zh-CN" baseline="30000">
                <a:solidFill>
                  <a:srgbClr val="FFCC00"/>
                </a:solidFill>
              </a:rPr>
              <a:t>2</a:t>
            </a:r>
            <a:endParaRPr lang="en-US" altLang="zh-CN">
              <a:solidFill>
                <a:srgbClr val="FFCC00"/>
              </a:solidFill>
            </a:endParaRPr>
          </a:p>
        </p:txBody>
      </p:sp>
      <p:sp>
        <p:nvSpPr>
          <p:cNvPr id="10246" name="矩形 1">
            <a:extLst>
              <a:ext uri="{FF2B5EF4-FFF2-40B4-BE49-F238E27FC236}">
                <a16:creationId xmlns:a16="http://schemas.microsoft.com/office/drawing/2014/main" id="{911DB13F-8BB4-4B63-BC29-F56FEC4D6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276475"/>
            <a:ext cx="36258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FFCC00"/>
                </a:solidFill>
              </a:rPr>
              <a:t>⸫ </a:t>
            </a:r>
            <a:r>
              <a:rPr lang="en-US" altLang="zh-CN">
                <a:solidFill>
                  <a:srgbClr val="FFCC00"/>
                </a:solidFill>
              </a:rPr>
              <a:t>R = (I</a:t>
            </a:r>
            <a:r>
              <a:rPr lang="en-US" altLang="zh-CN">
                <a:solidFill>
                  <a:srgbClr val="FFCC00"/>
                </a:solidFill>
                <a:sym typeface="Symbol" panose="05050102010706020507" pitchFamily="18" charset="2"/>
              </a:rPr>
              <a:t>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/I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) = (A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  <a:sym typeface="Symbol" panose="05050102010706020507" pitchFamily="18" charset="2"/>
              </a:rPr>
              <a:t></a:t>
            </a:r>
            <a:r>
              <a:rPr lang="en-US" altLang="zh-CN" baseline="30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/A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 baseline="30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)</a:t>
            </a:r>
          </a:p>
        </p:txBody>
      </p:sp>
      <p:sp>
        <p:nvSpPr>
          <p:cNvPr id="10247" name="矩形 2">
            <a:extLst>
              <a:ext uri="{FF2B5EF4-FFF2-40B4-BE49-F238E27FC236}">
                <a16:creationId xmlns:a16="http://schemas.microsoft.com/office/drawing/2014/main" id="{8308BB28-0AFB-4FA2-AE2D-4474BF822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2288" y="2333625"/>
            <a:ext cx="3740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CC00"/>
                </a:solidFill>
                <a:sym typeface="Wingdings" panose="05000000000000000000" pitchFamily="2" charset="2"/>
              </a:rPr>
              <a:t></a:t>
            </a:r>
            <a:r>
              <a:rPr lang="en-US" altLang="zh-CN">
                <a:solidFill>
                  <a:srgbClr val="FFCC00"/>
                </a:solidFill>
              </a:rPr>
              <a:t>R = [(Z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 - Z</a:t>
            </a:r>
            <a:r>
              <a:rPr lang="en-US" altLang="zh-CN" baseline="-25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)/( Z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 + Z</a:t>
            </a:r>
            <a:r>
              <a:rPr lang="en-US" altLang="zh-CN" baseline="-25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)]</a:t>
            </a:r>
            <a:r>
              <a:rPr lang="en-US" altLang="zh-CN" baseline="30000">
                <a:solidFill>
                  <a:srgbClr val="FFCC00"/>
                </a:solidFill>
              </a:rPr>
              <a:t>2</a:t>
            </a:r>
            <a:endParaRPr lang="en-US" altLang="zh-CN">
              <a:solidFill>
                <a:srgbClr val="FFCC00"/>
              </a:solidFill>
            </a:endParaRPr>
          </a:p>
        </p:txBody>
      </p:sp>
      <p:sp>
        <p:nvSpPr>
          <p:cNvPr id="10248" name="Text Box 5">
            <a:extLst>
              <a:ext uri="{FF2B5EF4-FFF2-40B4-BE49-F238E27FC236}">
                <a16:creationId xmlns:a16="http://schemas.microsoft.com/office/drawing/2014/main" id="{E608813A-F95F-4AB5-9DE2-33AC58F07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043238"/>
            <a:ext cx="289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透射系数</a:t>
            </a:r>
          </a:p>
        </p:txBody>
      </p:sp>
      <p:sp>
        <p:nvSpPr>
          <p:cNvPr id="10249" name="Text Box 6">
            <a:extLst>
              <a:ext uri="{FF2B5EF4-FFF2-40B4-BE49-F238E27FC236}">
                <a16:creationId xmlns:a16="http://schemas.microsoft.com/office/drawing/2014/main" id="{C301BBB4-4477-4349-AA2C-D6F8387FD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138" y="2997200"/>
            <a:ext cx="5686425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——</a:t>
            </a:r>
            <a:r>
              <a:rPr lang="zh-CN" altLang="en-US">
                <a:solidFill>
                  <a:schemeClr val="bg1"/>
                </a:solidFill>
              </a:rPr>
              <a:t>透射波强度与入射波强度之比</a:t>
            </a:r>
          </a:p>
        </p:txBody>
      </p:sp>
      <p:sp>
        <p:nvSpPr>
          <p:cNvPr id="10250" name="Text Box 8">
            <a:extLst>
              <a:ext uri="{FF2B5EF4-FFF2-40B4-BE49-F238E27FC236}">
                <a16:creationId xmlns:a16="http://schemas.microsoft.com/office/drawing/2014/main" id="{1628EF13-3AC9-463A-873D-700A56F15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425" y="4292600"/>
            <a:ext cx="4084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FFCC00"/>
                </a:solidFill>
                <a:cs typeface="Times New Roman" panose="02020603050405020304" pitchFamily="18" charset="0"/>
              </a:rPr>
              <a:t>⸫</a:t>
            </a:r>
            <a:r>
              <a:rPr lang="en-US" altLang="zh-CN">
                <a:solidFill>
                  <a:srgbClr val="FFCC00"/>
                </a:solidFill>
              </a:rPr>
              <a:t>T = (I</a:t>
            </a:r>
            <a:r>
              <a:rPr lang="en-US" altLang="zh-CN" baseline="-25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/I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) = (Z</a:t>
            </a:r>
            <a:r>
              <a:rPr lang="en-US" altLang="zh-CN" baseline="-25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A</a:t>
            </a:r>
            <a:r>
              <a:rPr lang="en-US" altLang="zh-CN" baseline="-25000">
                <a:solidFill>
                  <a:srgbClr val="FFCC00"/>
                </a:solidFill>
              </a:rPr>
              <a:t>2</a:t>
            </a:r>
            <a:r>
              <a:rPr lang="en-US" altLang="zh-CN" baseline="30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)/ (Z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A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 baseline="30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)</a:t>
            </a:r>
          </a:p>
        </p:txBody>
      </p:sp>
      <p:grpSp>
        <p:nvGrpSpPr>
          <p:cNvPr id="10251" name="Group 22">
            <a:extLst>
              <a:ext uri="{FF2B5EF4-FFF2-40B4-BE49-F238E27FC236}">
                <a16:creationId xmlns:a16="http://schemas.microsoft.com/office/drawing/2014/main" id="{B1DB9506-E8C8-421D-97FB-EC3A5BA1A19E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3716338"/>
            <a:ext cx="4719637" cy="463550"/>
            <a:chOff x="960" y="1334"/>
            <a:chExt cx="2973" cy="292"/>
          </a:xfrm>
        </p:grpSpPr>
        <p:sp>
          <p:nvSpPr>
            <p:cNvPr id="10258" name="Text Box 14">
              <a:extLst>
                <a:ext uri="{FF2B5EF4-FFF2-40B4-BE49-F238E27FC236}">
                  <a16:creationId xmlns:a16="http://schemas.microsoft.com/office/drawing/2014/main" id="{5F22E065-14C4-4812-95B4-AEF621B351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335"/>
              <a:ext cx="164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CC00"/>
                  </a:solidFill>
                </a:rPr>
                <a:t>∵I</a:t>
              </a:r>
              <a:r>
                <a:rPr lang="en-US" altLang="zh-CN" baseline="-25000">
                  <a:solidFill>
                    <a:srgbClr val="FFCC00"/>
                  </a:solidFill>
                </a:rPr>
                <a:t>2</a:t>
              </a:r>
              <a:r>
                <a:rPr lang="en-US" altLang="zh-CN">
                  <a:solidFill>
                    <a:srgbClr val="FFCC00"/>
                  </a:solidFill>
                </a:rPr>
                <a:t>=(1/2)Z</a:t>
              </a:r>
              <a:r>
                <a:rPr lang="en-US" altLang="zh-CN" baseline="-25000">
                  <a:solidFill>
                    <a:srgbClr val="FFCC00"/>
                  </a:solidFill>
                </a:rPr>
                <a:t>2</a:t>
              </a:r>
              <a:r>
                <a:rPr lang="en-US" altLang="zh-CN">
                  <a:solidFill>
                    <a:srgbClr val="FFCC00"/>
                  </a:solidFill>
                  <a:sym typeface="Symbol" panose="05050102010706020507" pitchFamily="18" charset="2"/>
                </a:rPr>
                <a:t></a:t>
              </a:r>
              <a:r>
                <a:rPr lang="en-US" altLang="zh-CN">
                  <a:solidFill>
                    <a:srgbClr val="FFCC00"/>
                  </a:solidFill>
                </a:rPr>
                <a:t>A</a:t>
              </a:r>
              <a:r>
                <a:rPr lang="en-US" altLang="zh-CN" baseline="-25000">
                  <a:solidFill>
                    <a:srgbClr val="FFCC00"/>
                  </a:solidFill>
                </a:rPr>
                <a:t>2</a:t>
              </a:r>
              <a:r>
                <a:rPr lang="en-US" altLang="zh-CN" baseline="30000">
                  <a:solidFill>
                    <a:srgbClr val="FFCC00"/>
                  </a:solidFill>
                </a:rPr>
                <a:t>2</a:t>
              </a:r>
              <a:r>
                <a:rPr lang="en-US" altLang="zh-CN">
                  <a:solidFill>
                    <a:srgbClr val="FFCC00"/>
                  </a:solidFill>
                </a:rPr>
                <a:t>;</a:t>
              </a:r>
            </a:p>
          </p:txBody>
        </p:sp>
        <p:sp>
          <p:nvSpPr>
            <p:cNvPr id="10259" name="Text Box 18">
              <a:extLst>
                <a:ext uri="{FF2B5EF4-FFF2-40B4-BE49-F238E27FC236}">
                  <a16:creationId xmlns:a16="http://schemas.microsoft.com/office/drawing/2014/main" id="{5542C58F-1DE6-457A-8B8A-D220A1DE86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8" y="1334"/>
              <a:ext cx="14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CC00"/>
                  </a:solidFill>
                </a:rPr>
                <a:t>I</a:t>
              </a:r>
              <a:r>
                <a:rPr lang="en-US" altLang="zh-CN" baseline="-25000">
                  <a:solidFill>
                    <a:srgbClr val="FFCC00"/>
                  </a:solidFill>
                </a:rPr>
                <a:t>1</a:t>
              </a:r>
              <a:r>
                <a:rPr lang="en-US" altLang="zh-CN">
                  <a:solidFill>
                    <a:srgbClr val="FFCC00"/>
                  </a:solidFill>
                </a:rPr>
                <a:t>=(1/2)Z</a:t>
              </a:r>
              <a:r>
                <a:rPr lang="en-US" altLang="zh-CN" baseline="-25000">
                  <a:solidFill>
                    <a:srgbClr val="FFCC00"/>
                  </a:solidFill>
                </a:rPr>
                <a:t>1</a:t>
              </a:r>
              <a:r>
                <a:rPr lang="en-US" altLang="zh-CN">
                  <a:solidFill>
                    <a:srgbClr val="FFCC00"/>
                  </a:solidFill>
                  <a:sym typeface="Symbol" panose="05050102010706020507" pitchFamily="18" charset="2"/>
                </a:rPr>
                <a:t></a:t>
              </a:r>
              <a:r>
                <a:rPr lang="en-US" altLang="zh-CN" baseline="30000">
                  <a:solidFill>
                    <a:srgbClr val="FFCC00"/>
                  </a:solidFill>
                </a:rPr>
                <a:t>2</a:t>
              </a:r>
              <a:r>
                <a:rPr lang="en-US" altLang="zh-CN">
                  <a:solidFill>
                    <a:srgbClr val="FFCC00"/>
                  </a:solidFill>
                </a:rPr>
                <a:t>A</a:t>
              </a:r>
              <a:r>
                <a:rPr lang="en-US" altLang="zh-CN" baseline="-25000">
                  <a:solidFill>
                    <a:srgbClr val="FFCC00"/>
                  </a:solidFill>
                </a:rPr>
                <a:t>1</a:t>
              </a:r>
              <a:r>
                <a:rPr lang="en-US" altLang="zh-CN" baseline="30000">
                  <a:solidFill>
                    <a:srgbClr val="FFCC00"/>
                  </a:solidFill>
                </a:rPr>
                <a:t>2</a:t>
              </a:r>
            </a:p>
          </p:txBody>
        </p:sp>
      </p:grpSp>
      <p:sp>
        <p:nvSpPr>
          <p:cNvPr id="10252" name="矩形 3">
            <a:extLst>
              <a:ext uri="{FF2B5EF4-FFF2-40B4-BE49-F238E27FC236}">
                <a16:creationId xmlns:a16="http://schemas.microsoft.com/office/drawing/2014/main" id="{2DA7BFE2-E176-4CBB-A979-D4BE3976F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063" y="4395788"/>
            <a:ext cx="3203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CC00"/>
                </a:solidFill>
              </a:rPr>
              <a:t> </a:t>
            </a:r>
            <a:r>
              <a:rPr lang="en-US" altLang="zh-CN">
                <a:solidFill>
                  <a:srgbClr val="FFCC00"/>
                </a:solidFill>
                <a:sym typeface="Wingdings" panose="05000000000000000000" pitchFamily="2" charset="2"/>
              </a:rPr>
              <a:t></a:t>
            </a:r>
            <a:r>
              <a:rPr lang="en-US" altLang="zh-CN">
                <a:solidFill>
                  <a:srgbClr val="FFCC00"/>
                </a:solidFill>
              </a:rPr>
              <a:t>T = 4Z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Z</a:t>
            </a:r>
            <a:r>
              <a:rPr lang="en-US" altLang="zh-CN" baseline="-25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/(Z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 + Z</a:t>
            </a:r>
            <a:r>
              <a:rPr lang="en-US" altLang="zh-CN" baseline="-25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)</a:t>
            </a:r>
            <a:r>
              <a:rPr lang="en-US" altLang="zh-CN" baseline="30000">
                <a:solidFill>
                  <a:srgbClr val="FFCC00"/>
                </a:solidFill>
              </a:rPr>
              <a:t>2</a:t>
            </a:r>
            <a:endParaRPr lang="zh-CN" altLang="en-US">
              <a:solidFill>
                <a:srgbClr val="FFCC00"/>
              </a:solidFill>
            </a:endParaRPr>
          </a:p>
        </p:txBody>
      </p:sp>
      <p:sp>
        <p:nvSpPr>
          <p:cNvPr id="10253" name="Text Box 16">
            <a:extLst>
              <a:ext uri="{FF2B5EF4-FFF2-40B4-BE49-F238E27FC236}">
                <a16:creationId xmlns:a16="http://schemas.microsoft.com/office/drawing/2014/main" id="{E4789515-C56F-41D9-9BBA-5DD449165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7713" y="5121275"/>
            <a:ext cx="4419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CCCCFF"/>
                </a:solidFill>
                <a:sym typeface="Symbol" panose="05050102010706020507" pitchFamily="18" charset="2"/>
              </a:rPr>
              <a:t></a:t>
            </a:r>
            <a:r>
              <a:rPr lang="en-US" altLang="zh-CN">
                <a:solidFill>
                  <a:srgbClr val="CCCCFF"/>
                </a:solidFill>
              </a:rPr>
              <a:t>   </a:t>
            </a:r>
            <a:r>
              <a:rPr lang="en-US" altLang="zh-CN">
                <a:solidFill>
                  <a:srgbClr val="66FFFF"/>
                </a:solidFill>
              </a:rPr>
              <a:t>R+T=1  </a:t>
            </a:r>
            <a:r>
              <a:rPr lang="en-US" altLang="zh-CN">
                <a:solidFill>
                  <a:schemeClr val="bg1"/>
                </a:solidFill>
              </a:rPr>
              <a:t>( </a:t>
            </a:r>
            <a:r>
              <a:rPr lang="zh-CN" altLang="en-US">
                <a:solidFill>
                  <a:schemeClr val="bg1"/>
                </a:solidFill>
              </a:rPr>
              <a:t>能量守恒 </a:t>
            </a:r>
            <a:r>
              <a:rPr lang="en-US" altLang="zh-CN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0254" name="Text Box 17">
            <a:extLst>
              <a:ext uri="{FF2B5EF4-FFF2-40B4-BE49-F238E27FC236}">
                <a16:creationId xmlns:a16="http://schemas.microsoft.com/office/drawing/2014/main" id="{70C5B86B-A309-4B46-9140-6359E25C0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7713" y="5700713"/>
            <a:ext cx="5943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CCCCFF"/>
                </a:solidFill>
                <a:sym typeface="Symbol" panose="05050102010706020507" pitchFamily="18" charset="2"/>
              </a:rPr>
              <a:t></a:t>
            </a:r>
            <a:r>
              <a:rPr lang="en-US" altLang="zh-CN">
                <a:solidFill>
                  <a:srgbClr val="CCCCFF"/>
                </a:solidFill>
              </a:rPr>
              <a:t>   </a:t>
            </a:r>
            <a:r>
              <a:rPr lang="en-US" altLang="zh-CN">
                <a:solidFill>
                  <a:srgbClr val="66FFFF"/>
                </a:solidFill>
              </a:rPr>
              <a:t>Z</a:t>
            </a:r>
            <a:r>
              <a:rPr lang="en-US" altLang="zh-CN" baseline="-25000">
                <a:solidFill>
                  <a:srgbClr val="66FFFF"/>
                </a:solidFill>
              </a:rPr>
              <a:t>1</a:t>
            </a:r>
            <a:r>
              <a:rPr lang="zh-CN" altLang="en-US" baseline="-25000">
                <a:solidFill>
                  <a:srgbClr val="CCCCFF"/>
                </a:solidFill>
              </a:rPr>
              <a:t>、</a:t>
            </a:r>
            <a:r>
              <a:rPr lang="en-US" altLang="zh-CN">
                <a:solidFill>
                  <a:srgbClr val="66FFFF"/>
                </a:solidFill>
              </a:rPr>
              <a:t>Z</a:t>
            </a:r>
            <a:r>
              <a:rPr lang="en-US" altLang="zh-CN" baseline="-25000">
                <a:solidFill>
                  <a:srgbClr val="66FFFF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</a:rPr>
              <a:t>互换</a:t>
            </a:r>
            <a:r>
              <a:rPr lang="zh-CN" altLang="en-US">
                <a:solidFill>
                  <a:srgbClr val="CCCCFF"/>
                </a:solidFill>
              </a:rPr>
              <a:t>，</a:t>
            </a:r>
            <a:r>
              <a:rPr lang="en-US" altLang="zh-CN">
                <a:solidFill>
                  <a:srgbClr val="66FFFF"/>
                </a:solidFill>
              </a:rPr>
              <a:t>R</a:t>
            </a:r>
            <a:r>
              <a:rPr lang="zh-CN" altLang="en-US">
                <a:solidFill>
                  <a:srgbClr val="CCCCFF"/>
                </a:solidFill>
              </a:rPr>
              <a:t>、</a:t>
            </a:r>
            <a:r>
              <a:rPr lang="en-US" altLang="zh-CN">
                <a:solidFill>
                  <a:srgbClr val="66FFFF"/>
                </a:solidFill>
              </a:rPr>
              <a:t>T</a:t>
            </a:r>
            <a:r>
              <a:rPr lang="zh-CN" altLang="en-US">
                <a:solidFill>
                  <a:schemeClr val="bg1"/>
                </a:solidFill>
              </a:rPr>
              <a:t>不变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0255" name="Text Box 4">
            <a:extLst>
              <a:ext uri="{FF2B5EF4-FFF2-40B4-BE49-F238E27FC236}">
                <a16:creationId xmlns:a16="http://schemas.microsoft.com/office/drawing/2014/main" id="{BA6F3A27-D68A-499A-B7B5-9D12EC6CB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025" y="5075238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讨论</a:t>
            </a:r>
          </a:p>
        </p:txBody>
      </p:sp>
      <p:sp>
        <p:nvSpPr>
          <p:cNvPr id="10256" name="AutoShape 5">
            <a:extLst>
              <a:ext uri="{FF2B5EF4-FFF2-40B4-BE49-F238E27FC236}">
                <a16:creationId xmlns:a16="http://schemas.microsoft.com/office/drawing/2014/main" id="{1BFBE182-ECDC-488C-91EE-00AC591D0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3" y="5016500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0257" name="灯片编号占位符 1">
            <a:extLst>
              <a:ext uri="{FF2B5EF4-FFF2-40B4-BE49-F238E27FC236}">
                <a16:creationId xmlns:a16="http://schemas.microsoft.com/office/drawing/2014/main" id="{4DE44B86-03CA-42AF-BF14-413BEB853F8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1218791-8485-4CF9-91DA-5A744C3E8EFD}" type="slidenum">
              <a:rPr lang="en-US" altLang="zh-CN" b="0">
                <a:solidFill>
                  <a:srgbClr val="FF00FF"/>
                </a:solidFill>
              </a:rPr>
              <a:pPr eaLnBrk="1" hangingPunct="1"/>
              <a:t>3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87B6A88F-6550-447C-B212-F9B4DCAC9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268413"/>
            <a:ext cx="4979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sym typeface="Symbol" panose="05050102010706020507" pitchFamily="18" charset="2"/>
              </a:rPr>
              <a:t>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如 </a:t>
            </a:r>
            <a:r>
              <a:rPr lang="en-US" altLang="zh-CN">
                <a:solidFill>
                  <a:srgbClr val="66FFFF"/>
                </a:solidFill>
              </a:rPr>
              <a:t>Z</a:t>
            </a:r>
            <a:r>
              <a:rPr lang="en-US" altLang="zh-CN" baseline="-25000">
                <a:solidFill>
                  <a:srgbClr val="66FFFF"/>
                </a:solidFill>
              </a:rPr>
              <a:t>1 </a:t>
            </a:r>
            <a:r>
              <a:rPr lang="en-US" altLang="zh-CN">
                <a:solidFill>
                  <a:srgbClr val="66FFFF"/>
                </a:solidFill>
              </a:rPr>
              <a:t>&gt;&gt; Z</a:t>
            </a:r>
            <a:r>
              <a:rPr lang="en-US" altLang="zh-CN" baseline="-25000">
                <a:solidFill>
                  <a:srgbClr val="66FFFF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</a:rPr>
              <a:t>，或</a:t>
            </a:r>
            <a:r>
              <a:rPr lang="zh-CN" altLang="en-US">
                <a:solidFill>
                  <a:srgbClr val="66FFFF"/>
                </a:solidFill>
              </a:rPr>
              <a:t> </a:t>
            </a:r>
            <a:r>
              <a:rPr lang="en-US" altLang="zh-CN">
                <a:solidFill>
                  <a:srgbClr val="66FFFF"/>
                </a:solidFill>
              </a:rPr>
              <a:t>Z</a:t>
            </a:r>
            <a:r>
              <a:rPr lang="en-US" altLang="zh-CN" baseline="-25000">
                <a:solidFill>
                  <a:srgbClr val="66FFFF"/>
                </a:solidFill>
              </a:rPr>
              <a:t>2 </a:t>
            </a:r>
            <a:r>
              <a:rPr lang="en-US" altLang="zh-CN">
                <a:solidFill>
                  <a:srgbClr val="66FFFF"/>
                </a:solidFill>
              </a:rPr>
              <a:t>&gt;&gt; Z</a:t>
            </a:r>
            <a:r>
              <a:rPr lang="en-US" altLang="zh-CN" baseline="-25000">
                <a:solidFill>
                  <a:srgbClr val="66FFFF"/>
                </a:solidFill>
              </a:rPr>
              <a:t>1</a:t>
            </a:r>
            <a:endParaRPr lang="en-US" altLang="zh-CN">
              <a:solidFill>
                <a:srgbClr val="66FFFF"/>
              </a:solidFill>
            </a:endParaRPr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86E86CC0-7FD7-40F0-89C9-D443E9DB6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997200"/>
            <a:ext cx="5419725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>
                <a:solidFill>
                  <a:schemeClr val="bg1"/>
                </a:solidFill>
              </a:rPr>
              <a:t>    </a:t>
            </a:r>
            <a:r>
              <a:rPr lang="en-US" altLang="zh-CN">
                <a:solidFill>
                  <a:schemeClr val="bg1"/>
                </a:solidFill>
                <a:sym typeface="Symbol" panose="05050102010706020507" pitchFamily="18" charset="2"/>
              </a:rPr>
              <a:t> </a:t>
            </a:r>
            <a:r>
              <a:rPr lang="zh-CN" altLang="en-US">
                <a:solidFill>
                  <a:schemeClr val="bg1"/>
                </a:solidFill>
              </a:rPr>
              <a:t>如 </a:t>
            </a:r>
            <a:r>
              <a:rPr lang="en-US" altLang="zh-CN">
                <a:solidFill>
                  <a:srgbClr val="66FFFF"/>
                </a:solidFill>
              </a:rPr>
              <a:t>Z</a:t>
            </a:r>
            <a:r>
              <a:rPr lang="en-US" altLang="zh-CN" baseline="-25000">
                <a:solidFill>
                  <a:srgbClr val="66FFFF"/>
                </a:solidFill>
              </a:rPr>
              <a:t>1 </a:t>
            </a:r>
            <a:r>
              <a:rPr lang="en-US" altLang="zh-CN">
                <a:solidFill>
                  <a:srgbClr val="66FFFF"/>
                </a:solidFill>
                <a:sym typeface="Symbol" panose="05050102010706020507" pitchFamily="18" charset="2"/>
              </a:rPr>
              <a:t></a:t>
            </a:r>
            <a:r>
              <a:rPr lang="en-US" altLang="zh-CN">
                <a:solidFill>
                  <a:srgbClr val="66FFFF"/>
                </a:solidFill>
              </a:rPr>
              <a:t> Z</a:t>
            </a:r>
            <a:r>
              <a:rPr lang="en-US" altLang="zh-CN" baseline="-25000">
                <a:solidFill>
                  <a:srgbClr val="66FFFF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</a:rPr>
              <a:t>，则     </a:t>
            </a:r>
            <a:endParaRPr lang="en-US" altLang="zh-CN">
              <a:solidFill>
                <a:schemeClr val="bg1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>
                <a:solidFill>
                  <a:srgbClr val="0000FF"/>
                </a:solidFill>
              </a:rPr>
              <a:t>         </a:t>
            </a:r>
            <a:r>
              <a:rPr lang="en-US" altLang="zh-CN">
                <a:solidFill>
                  <a:srgbClr val="66FFFF"/>
                </a:solidFill>
              </a:rPr>
              <a:t>R </a:t>
            </a:r>
            <a:r>
              <a:rPr lang="en-US" altLang="zh-CN">
                <a:solidFill>
                  <a:srgbClr val="66FFFF"/>
                </a:solidFill>
                <a:sym typeface="Symbol" panose="05050102010706020507" pitchFamily="18" charset="2"/>
              </a:rPr>
              <a:t></a:t>
            </a:r>
            <a:r>
              <a:rPr lang="en-US" altLang="zh-CN">
                <a:solidFill>
                  <a:srgbClr val="66FFFF"/>
                </a:solidFill>
              </a:rPr>
              <a:t> 0 </a:t>
            </a: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zh-CN" altLang="en-US">
                <a:solidFill>
                  <a:schemeClr val="bg1"/>
                </a:solidFill>
              </a:rPr>
              <a:t>无反射</a:t>
            </a:r>
            <a:r>
              <a:rPr lang="en-US" altLang="zh-CN">
                <a:solidFill>
                  <a:schemeClr val="bg1"/>
                </a:solidFill>
              </a:rPr>
              <a:t>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>
                <a:solidFill>
                  <a:srgbClr val="CCCCFF"/>
                </a:solidFill>
              </a:rPr>
              <a:t>         </a:t>
            </a:r>
            <a:r>
              <a:rPr lang="en-US" altLang="zh-CN">
                <a:solidFill>
                  <a:srgbClr val="66FFFF"/>
                </a:solidFill>
              </a:rPr>
              <a:t>T </a:t>
            </a:r>
            <a:r>
              <a:rPr lang="en-US" altLang="zh-CN">
                <a:solidFill>
                  <a:srgbClr val="66FFFF"/>
                </a:solidFill>
                <a:sym typeface="Symbol" panose="05050102010706020507" pitchFamily="18" charset="2"/>
              </a:rPr>
              <a:t></a:t>
            </a:r>
            <a:r>
              <a:rPr lang="en-US" altLang="zh-CN">
                <a:solidFill>
                  <a:srgbClr val="66FFFF"/>
                </a:solidFill>
              </a:rPr>
              <a:t> 1 </a:t>
            </a: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zh-CN" altLang="en-US">
                <a:solidFill>
                  <a:schemeClr val="bg1"/>
                </a:solidFill>
              </a:rPr>
              <a:t>能量几乎全部透射</a:t>
            </a:r>
            <a:r>
              <a:rPr lang="en-US" altLang="zh-CN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11268" name="Text Box 10">
            <a:extLst>
              <a:ext uri="{FF2B5EF4-FFF2-40B4-BE49-F238E27FC236}">
                <a16:creationId xmlns:a16="http://schemas.microsoft.com/office/drawing/2014/main" id="{E39D9EAF-DA0C-4E41-B5C9-F32B33CBE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847850"/>
            <a:ext cx="525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R</a:t>
            </a:r>
            <a:r>
              <a:rPr lang="en-US" altLang="zh-CN">
                <a:solidFill>
                  <a:srgbClr val="66FFFF"/>
                </a:solidFill>
                <a:sym typeface="Symbol" panose="05050102010706020507" pitchFamily="18" charset="2"/>
              </a:rPr>
              <a:t> </a:t>
            </a:r>
            <a:r>
              <a:rPr lang="en-US" altLang="zh-CN">
                <a:solidFill>
                  <a:srgbClr val="66FFFF"/>
                </a:solidFill>
              </a:rPr>
              <a:t>1   </a:t>
            </a: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zh-CN" altLang="en-US">
                <a:solidFill>
                  <a:schemeClr val="bg1"/>
                </a:solidFill>
              </a:rPr>
              <a:t>能量几乎全部反射</a:t>
            </a:r>
            <a:r>
              <a:rPr lang="en-US" altLang="zh-CN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1269" name="Text Box 11">
            <a:extLst>
              <a:ext uri="{FF2B5EF4-FFF2-40B4-BE49-F238E27FC236}">
                <a16:creationId xmlns:a16="http://schemas.microsoft.com/office/drawing/2014/main" id="{AC25BC1F-F63B-4991-8328-64BDDF26B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500313"/>
            <a:ext cx="3886200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>
                <a:solidFill>
                  <a:srgbClr val="66FFFF"/>
                </a:solidFill>
              </a:rPr>
              <a:t>T</a:t>
            </a:r>
            <a:r>
              <a:rPr lang="en-US" altLang="zh-CN">
                <a:solidFill>
                  <a:srgbClr val="66FFFF"/>
                </a:solidFill>
                <a:sym typeface="Symbol" panose="05050102010706020507" pitchFamily="18" charset="2"/>
              </a:rPr>
              <a:t> </a:t>
            </a:r>
            <a:r>
              <a:rPr lang="en-US" altLang="zh-CN">
                <a:solidFill>
                  <a:srgbClr val="66FFFF"/>
                </a:solidFill>
              </a:rPr>
              <a:t>0   </a:t>
            </a: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zh-CN" altLang="en-US">
                <a:solidFill>
                  <a:schemeClr val="bg1"/>
                </a:solidFill>
              </a:rPr>
              <a:t>无透射</a:t>
            </a:r>
            <a:r>
              <a:rPr lang="en-US" altLang="zh-CN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1270" name="Text Box 12">
            <a:extLst>
              <a:ext uri="{FF2B5EF4-FFF2-40B4-BE49-F238E27FC236}">
                <a16:creationId xmlns:a16="http://schemas.microsoft.com/office/drawing/2014/main" id="{7275DC7C-1326-4011-B249-EF77F75C9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921250"/>
            <a:ext cx="75930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例如： 空气</a:t>
            </a:r>
            <a:r>
              <a:rPr lang="en-US" altLang="zh-CN">
                <a:solidFill>
                  <a:schemeClr val="bg1"/>
                </a:solidFill>
              </a:rPr>
              <a:t>--</a:t>
            </a:r>
            <a:r>
              <a:rPr lang="zh-CN" altLang="en-US">
                <a:solidFill>
                  <a:schemeClr val="bg1"/>
                </a:solidFill>
              </a:rPr>
              <a:t>水  </a:t>
            </a:r>
            <a:r>
              <a:rPr lang="en-US" altLang="zh-CN">
                <a:solidFill>
                  <a:srgbClr val="66FFFF"/>
                </a:solidFill>
              </a:rPr>
              <a:t>T=0.1 %</a:t>
            </a:r>
          </a:p>
          <a:p>
            <a:pPr eaLnBrk="1" hangingPunct="1"/>
            <a:r>
              <a:rPr lang="en-US" altLang="zh-CN"/>
              <a:t>             </a:t>
            </a:r>
            <a:r>
              <a:rPr lang="zh-CN" altLang="en-US">
                <a:solidFill>
                  <a:schemeClr val="bg1"/>
                </a:solidFill>
              </a:rPr>
              <a:t>空气</a:t>
            </a:r>
            <a:r>
              <a:rPr lang="en-US" altLang="zh-CN">
                <a:solidFill>
                  <a:schemeClr val="bg1"/>
                </a:solidFill>
              </a:rPr>
              <a:t>--</a:t>
            </a:r>
            <a:r>
              <a:rPr lang="zh-CN" altLang="en-US">
                <a:solidFill>
                  <a:schemeClr val="bg1"/>
                </a:solidFill>
              </a:rPr>
              <a:t>钢  </a:t>
            </a:r>
            <a:r>
              <a:rPr lang="en-US" altLang="zh-CN">
                <a:solidFill>
                  <a:srgbClr val="66FFFF"/>
                </a:solidFill>
              </a:rPr>
              <a:t>T=0.004 %</a:t>
            </a:r>
          </a:p>
          <a:p>
            <a:pPr eaLnBrk="1" hangingPunct="1"/>
            <a:r>
              <a:rPr lang="en-US" altLang="zh-CN"/>
              <a:t>             </a:t>
            </a:r>
            <a:r>
              <a:rPr lang="zh-CN" altLang="en-US">
                <a:solidFill>
                  <a:schemeClr val="bg1"/>
                </a:solidFill>
              </a:rPr>
              <a:t>水 </a:t>
            </a:r>
            <a:r>
              <a:rPr lang="en-US" altLang="zh-CN">
                <a:solidFill>
                  <a:schemeClr val="bg1"/>
                </a:solidFill>
              </a:rPr>
              <a:t>--   </a:t>
            </a:r>
            <a:r>
              <a:rPr lang="zh-CN" altLang="en-US">
                <a:solidFill>
                  <a:schemeClr val="bg1"/>
                </a:solidFill>
              </a:rPr>
              <a:t>钢  </a:t>
            </a:r>
            <a:r>
              <a:rPr lang="en-US" altLang="zh-CN">
                <a:solidFill>
                  <a:srgbClr val="66FFFF"/>
                </a:solidFill>
              </a:rPr>
              <a:t>T=12 %</a:t>
            </a:r>
          </a:p>
        </p:txBody>
      </p:sp>
      <p:sp>
        <p:nvSpPr>
          <p:cNvPr id="11271" name="Text Box 17">
            <a:extLst>
              <a:ext uri="{FF2B5EF4-FFF2-40B4-BE49-F238E27FC236}">
                <a16:creationId xmlns:a16="http://schemas.microsoft.com/office/drawing/2014/main" id="{4B747878-F019-4681-B01C-AD47569DB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5813" y="604838"/>
            <a:ext cx="2819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CC00"/>
                </a:solidFill>
              </a:rPr>
              <a:t>T = 4Z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Z</a:t>
            </a:r>
            <a:r>
              <a:rPr lang="en-US" altLang="zh-CN" baseline="-25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/(Z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 + Z</a:t>
            </a:r>
            <a:r>
              <a:rPr lang="en-US" altLang="zh-CN" baseline="-25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)</a:t>
            </a:r>
            <a:r>
              <a:rPr lang="en-US" altLang="zh-CN" baseline="30000">
                <a:solidFill>
                  <a:srgbClr val="FFCC00"/>
                </a:solidFill>
              </a:rPr>
              <a:t>2</a:t>
            </a:r>
            <a:endParaRPr lang="en-US" altLang="zh-CN">
              <a:solidFill>
                <a:srgbClr val="FFCC00"/>
              </a:solidFill>
            </a:endParaRPr>
          </a:p>
        </p:txBody>
      </p:sp>
      <p:sp>
        <p:nvSpPr>
          <p:cNvPr id="11272" name="Text Box 18">
            <a:extLst>
              <a:ext uri="{FF2B5EF4-FFF2-40B4-BE49-F238E27FC236}">
                <a16:creationId xmlns:a16="http://schemas.microsoft.com/office/drawing/2014/main" id="{BAAA1A03-3474-49CE-BC12-7F4877907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3432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CC00"/>
                </a:solidFill>
              </a:rPr>
              <a:t>R = [(Z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 - Z</a:t>
            </a:r>
            <a:r>
              <a:rPr lang="en-US" altLang="zh-CN" baseline="-25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)/( Z</a:t>
            </a:r>
            <a:r>
              <a:rPr lang="en-US" altLang="zh-CN" baseline="-25000">
                <a:solidFill>
                  <a:srgbClr val="FFCC00"/>
                </a:solidFill>
              </a:rPr>
              <a:t>1</a:t>
            </a:r>
            <a:r>
              <a:rPr lang="en-US" altLang="zh-CN">
                <a:solidFill>
                  <a:srgbClr val="FFCC00"/>
                </a:solidFill>
              </a:rPr>
              <a:t> + Z</a:t>
            </a:r>
            <a:r>
              <a:rPr lang="en-US" altLang="zh-CN" baseline="-25000">
                <a:solidFill>
                  <a:srgbClr val="FFCC00"/>
                </a:solidFill>
              </a:rPr>
              <a:t>2</a:t>
            </a:r>
            <a:r>
              <a:rPr lang="en-US" altLang="zh-CN">
                <a:solidFill>
                  <a:srgbClr val="FFCC00"/>
                </a:solidFill>
              </a:rPr>
              <a:t>)]</a:t>
            </a:r>
            <a:r>
              <a:rPr lang="en-US" altLang="zh-CN" baseline="30000">
                <a:solidFill>
                  <a:srgbClr val="FFCC00"/>
                </a:solidFill>
              </a:rPr>
              <a:t>2</a:t>
            </a:r>
          </a:p>
        </p:txBody>
      </p:sp>
      <p:grpSp>
        <p:nvGrpSpPr>
          <p:cNvPr id="11273" name="Group 34">
            <a:extLst>
              <a:ext uri="{FF2B5EF4-FFF2-40B4-BE49-F238E27FC236}">
                <a16:creationId xmlns:a16="http://schemas.microsoft.com/office/drawing/2014/main" id="{9BB5220C-A40B-4024-98B5-DFF990A1B137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670050"/>
            <a:ext cx="3657600" cy="2597150"/>
            <a:chOff x="3284" y="2232"/>
            <a:chExt cx="2304" cy="1636"/>
          </a:xfrm>
        </p:grpSpPr>
        <p:sp>
          <p:nvSpPr>
            <p:cNvPr id="11275" name="Line 17">
              <a:extLst>
                <a:ext uri="{FF2B5EF4-FFF2-40B4-BE49-F238E27FC236}">
                  <a16:creationId xmlns:a16="http://schemas.microsoft.com/office/drawing/2014/main" id="{FBAE4FBC-30EF-4AB8-B360-EFA7C5AAA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" y="2433"/>
              <a:ext cx="0" cy="123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6" name="Line 18">
              <a:extLst>
                <a:ext uri="{FF2B5EF4-FFF2-40B4-BE49-F238E27FC236}">
                  <a16:creationId xmlns:a16="http://schemas.microsoft.com/office/drawing/2014/main" id="{28FB8FB4-F9AD-4F4C-B4F8-8E9B9E9AF3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4" y="3074"/>
              <a:ext cx="2132" cy="1"/>
            </a:xfrm>
            <a:prstGeom prst="line">
              <a:avLst/>
            </a:prstGeom>
            <a:noFill/>
            <a:ln w="25400">
              <a:solidFill>
                <a:srgbClr val="CCCCFF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7" name="Line 19">
              <a:extLst>
                <a:ext uri="{FF2B5EF4-FFF2-40B4-BE49-F238E27FC236}">
                  <a16:creationId xmlns:a16="http://schemas.microsoft.com/office/drawing/2014/main" id="{14FD44D2-6F9D-4FF6-AEF4-BE0D31F09E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6" y="2894"/>
              <a:ext cx="662" cy="0"/>
            </a:xfrm>
            <a:prstGeom prst="line">
              <a:avLst/>
            </a:prstGeom>
            <a:noFill/>
            <a:ln w="63500">
              <a:solidFill>
                <a:srgbClr val="00FF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8" name="Line 20">
              <a:extLst>
                <a:ext uri="{FF2B5EF4-FFF2-40B4-BE49-F238E27FC236}">
                  <a16:creationId xmlns:a16="http://schemas.microsoft.com/office/drawing/2014/main" id="{78136172-2A3E-497B-A868-CDF800FFF6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2" y="2894"/>
              <a:ext cx="463" cy="0"/>
            </a:xfrm>
            <a:prstGeom prst="line">
              <a:avLst/>
            </a:prstGeom>
            <a:noFill/>
            <a:ln w="25400">
              <a:solidFill>
                <a:srgbClr val="FF99FF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9" name="Line 21">
              <a:extLst>
                <a:ext uri="{FF2B5EF4-FFF2-40B4-BE49-F238E27FC236}">
                  <a16:creationId xmlns:a16="http://schemas.microsoft.com/office/drawing/2014/main" id="{96D3746F-B31A-4864-9BBD-61C99B6D44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15" y="3246"/>
              <a:ext cx="463" cy="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0" name="Rectangle 22">
              <a:extLst>
                <a:ext uri="{FF2B5EF4-FFF2-40B4-BE49-F238E27FC236}">
                  <a16:creationId xmlns:a16="http://schemas.microsoft.com/office/drawing/2014/main" id="{E4D76C7F-3C47-4EC2-B150-73BA6110E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2634"/>
              <a:ext cx="62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入射波</a:t>
              </a:r>
              <a:endParaRPr lang="zh-CN" altLang="en-US" sz="2000" b="0">
                <a:solidFill>
                  <a:schemeClr val="bg1"/>
                </a:solidFill>
              </a:endParaRPr>
            </a:p>
          </p:txBody>
        </p:sp>
        <p:sp>
          <p:nvSpPr>
            <p:cNvPr id="11281" name="Rectangle 23">
              <a:extLst>
                <a:ext uri="{FF2B5EF4-FFF2-40B4-BE49-F238E27FC236}">
                  <a16:creationId xmlns:a16="http://schemas.microsoft.com/office/drawing/2014/main" id="{CF229560-FDB9-46C3-8D7D-7A4C325C0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" y="2638"/>
              <a:ext cx="60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透射波</a:t>
              </a:r>
              <a:endParaRPr lang="zh-CN" altLang="en-US" sz="2000" b="0">
                <a:solidFill>
                  <a:schemeClr val="bg1"/>
                </a:solidFill>
              </a:endParaRPr>
            </a:p>
          </p:txBody>
        </p:sp>
        <p:sp>
          <p:nvSpPr>
            <p:cNvPr id="11282" name="Rectangle 24">
              <a:extLst>
                <a:ext uri="{FF2B5EF4-FFF2-40B4-BE49-F238E27FC236}">
                  <a16:creationId xmlns:a16="http://schemas.microsoft.com/office/drawing/2014/main" id="{9DDEAA31-64A3-4C2E-B6C5-12079FC15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" y="3307"/>
              <a:ext cx="675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反射波</a:t>
              </a:r>
              <a:endParaRPr lang="zh-CN" altLang="en-US" sz="2000" b="0">
                <a:solidFill>
                  <a:schemeClr val="bg1"/>
                </a:solidFill>
              </a:endParaRPr>
            </a:p>
          </p:txBody>
        </p:sp>
        <p:sp>
          <p:nvSpPr>
            <p:cNvPr id="11283" name="Rectangle 25">
              <a:extLst>
                <a:ext uri="{FF2B5EF4-FFF2-40B4-BE49-F238E27FC236}">
                  <a16:creationId xmlns:a16="http://schemas.microsoft.com/office/drawing/2014/main" id="{03D8E523-2479-466F-991C-FD04DF883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1" y="3037"/>
              <a:ext cx="26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CCCCFF"/>
                  </a:solidFill>
                </a:rPr>
                <a:t>o</a:t>
              </a:r>
              <a:endParaRPr lang="en-US" altLang="zh-CN" sz="1800" b="0" i="1">
                <a:solidFill>
                  <a:srgbClr val="CCCCFF"/>
                </a:solidFill>
              </a:endParaRPr>
            </a:p>
          </p:txBody>
        </p:sp>
        <p:sp>
          <p:nvSpPr>
            <p:cNvPr id="11284" name="Rectangle 26">
              <a:extLst>
                <a:ext uri="{FF2B5EF4-FFF2-40B4-BE49-F238E27FC236}">
                  <a16:creationId xmlns:a16="http://schemas.microsoft.com/office/drawing/2014/main" id="{D61128DD-29F0-4C04-9D5E-5A1E7931D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3" y="3046"/>
              <a:ext cx="305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x</a:t>
              </a:r>
              <a:endParaRPr lang="en-US" altLang="zh-CN" b="0" i="1">
                <a:solidFill>
                  <a:schemeClr val="bg1"/>
                </a:solidFill>
              </a:endParaRPr>
            </a:p>
          </p:txBody>
        </p:sp>
        <p:sp>
          <p:nvSpPr>
            <p:cNvPr id="11285" name="Rectangle 27">
              <a:extLst>
                <a:ext uri="{FF2B5EF4-FFF2-40B4-BE49-F238E27FC236}">
                  <a16:creationId xmlns:a16="http://schemas.microsoft.com/office/drawing/2014/main" id="{2BB35C32-73C1-498B-88FA-F3E989D2C9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3" y="2292"/>
              <a:ext cx="675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媒质</a:t>
              </a:r>
              <a:r>
                <a:rPr lang="en-US" altLang="zh-CN" sz="2000">
                  <a:solidFill>
                    <a:schemeClr val="bg1"/>
                  </a:solidFill>
                </a:rPr>
                <a:t>1</a:t>
              </a:r>
              <a:endParaRPr lang="en-US" altLang="zh-CN" sz="2000" b="0">
                <a:solidFill>
                  <a:schemeClr val="bg1"/>
                </a:solidFill>
              </a:endParaRPr>
            </a:p>
          </p:txBody>
        </p:sp>
        <p:sp>
          <p:nvSpPr>
            <p:cNvPr id="11286" name="Rectangle 28">
              <a:extLst>
                <a:ext uri="{FF2B5EF4-FFF2-40B4-BE49-F238E27FC236}">
                  <a16:creationId xmlns:a16="http://schemas.microsoft.com/office/drawing/2014/main" id="{FC8AC8AD-3006-436C-8FA4-5E4831A6E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292"/>
              <a:ext cx="662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媒质</a:t>
              </a:r>
              <a:r>
                <a:rPr lang="en-US" altLang="zh-CN" sz="2000">
                  <a:solidFill>
                    <a:schemeClr val="bg1"/>
                  </a:solidFill>
                </a:rPr>
                <a:t>2</a:t>
              </a:r>
              <a:endParaRPr lang="en-US" altLang="zh-CN" sz="2000" b="0">
                <a:solidFill>
                  <a:schemeClr val="bg1"/>
                </a:solidFill>
              </a:endParaRPr>
            </a:p>
          </p:txBody>
        </p:sp>
        <p:sp>
          <p:nvSpPr>
            <p:cNvPr id="11287" name="Rectangle 29">
              <a:extLst>
                <a:ext uri="{FF2B5EF4-FFF2-40B4-BE49-F238E27FC236}">
                  <a16:creationId xmlns:a16="http://schemas.microsoft.com/office/drawing/2014/main" id="{D6C1AA50-83F4-47D0-8BAF-FB42C8910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2232"/>
              <a:ext cx="490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界面</a:t>
              </a:r>
              <a:endParaRPr lang="zh-CN" altLang="en-US" sz="2000" b="0">
                <a:solidFill>
                  <a:schemeClr val="bg1"/>
                </a:solidFill>
              </a:endParaRPr>
            </a:p>
          </p:txBody>
        </p:sp>
        <p:sp>
          <p:nvSpPr>
            <p:cNvPr id="11288" name="Rectangle 30">
              <a:extLst>
                <a:ext uri="{FF2B5EF4-FFF2-40B4-BE49-F238E27FC236}">
                  <a16:creationId xmlns:a16="http://schemas.microsoft.com/office/drawing/2014/main" id="{F9697580-C12D-412B-82D2-3EF14DCF6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2" y="3660"/>
              <a:ext cx="927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000" b="0">
                <a:solidFill>
                  <a:srgbClr val="CCCCFF"/>
                </a:solidFill>
              </a:endParaRPr>
            </a:p>
          </p:txBody>
        </p:sp>
      </p:grpSp>
      <p:sp>
        <p:nvSpPr>
          <p:cNvPr id="11274" name="灯片编号占位符 1">
            <a:extLst>
              <a:ext uri="{FF2B5EF4-FFF2-40B4-BE49-F238E27FC236}">
                <a16:creationId xmlns:a16="http://schemas.microsoft.com/office/drawing/2014/main" id="{7BB678EF-F576-443F-9116-CAC4704A8F9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2D9C2C6-C848-486C-9F69-0829228419BD}" type="slidenum">
              <a:rPr lang="en-US" altLang="zh-CN" b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4">
            <a:extLst>
              <a:ext uri="{FF2B5EF4-FFF2-40B4-BE49-F238E27FC236}">
                <a16:creationId xmlns:a16="http://schemas.microsoft.com/office/drawing/2014/main" id="{5C096A18-B744-4027-8336-BBE689C78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038225"/>
            <a:ext cx="28194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>
                <a:solidFill>
                  <a:srgbClr val="66FFFF"/>
                </a:solidFill>
              </a:rPr>
              <a:t>1. </a:t>
            </a:r>
            <a:r>
              <a:rPr lang="zh-CN" altLang="en-US">
                <a:solidFill>
                  <a:srgbClr val="66FFFF"/>
                </a:solidFill>
              </a:rPr>
              <a:t>反射波</a:t>
            </a:r>
          </a:p>
        </p:txBody>
      </p:sp>
      <p:sp>
        <p:nvSpPr>
          <p:cNvPr id="118789" name="Text Box 5">
            <a:extLst>
              <a:ext uri="{FF2B5EF4-FFF2-40B4-BE49-F238E27FC236}">
                <a16:creationId xmlns:a16="http://schemas.microsoft.com/office/drawing/2014/main" id="{F2D33CA3-34B3-406F-84B1-90D4465EC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" y="401638"/>
            <a:ext cx="2819400" cy="5905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eaLnBrk="1" hangingPunct="1">
              <a:lnSpc>
                <a:spcPct val="135000"/>
              </a:lnSpc>
              <a:defRPr/>
            </a:pPr>
            <a:r>
              <a:rPr lang="zh-CN" altLang="en-US" dirty="0">
                <a:solidFill>
                  <a:srgbClr val="FFFF00"/>
                </a:solidFill>
                <a:latin typeface="+mj-ea"/>
                <a:ea typeface="+mj-ea"/>
              </a:rPr>
              <a:t>二</a:t>
            </a:r>
            <a:r>
              <a:rPr lang="en-US" altLang="zh-CN" dirty="0">
                <a:solidFill>
                  <a:srgbClr val="FFFF00"/>
                </a:solidFill>
                <a:latin typeface="+mj-ea"/>
                <a:ea typeface="+mj-ea"/>
              </a:rPr>
              <a:t>. </a:t>
            </a:r>
            <a:r>
              <a:rPr lang="zh-CN" altLang="en-US" dirty="0">
                <a:solidFill>
                  <a:srgbClr val="FFFF00"/>
                </a:solidFill>
                <a:latin typeface="+mj-ea"/>
                <a:ea typeface="+mj-ea"/>
              </a:rPr>
              <a:t>相位关系</a:t>
            </a:r>
          </a:p>
        </p:txBody>
      </p:sp>
      <p:sp>
        <p:nvSpPr>
          <p:cNvPr id="12292" name="Text Box 3">
            <a:extLst>
              <a:ext uri="{FF2B5EF4-FFF2-40B4-BE49-F238E27FC236}">
                <a16:creationId xmlns:a16="http://schemas.microsoft.com/office/drawing/2014/main" id="{AECC3550-B7EB-4AD3-B445-7C3BB4ED1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7588" y="1771650"/>
            <a:ext cx="7467600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若 </a:t>
            </a:r>
            <a:r>
              <a:rPr lang="en-US" altLang="zh-CN">
                <a:solidFill>
                  <a:srgbClr val="66FFFF"/>
                </a:solidFill>
              </a:rPr>
              <a:t>Z</a:t>
            </a:r>
            <a:r>
              <a:rPr lang="en-US" altLang="zh-CN" baseline="-25000">
                <a:solidFill>
                  <a:srgbClr val="66FFFF"/>
                </a:solidFill>
              </a:rPr>
              <a:t>1</a:t>
            </a:r>
            <a:r>
              <a:rPr lang="en-US" altLang="zh-CN">
                <a:solidFill>
                  <a:srgbClr val="66FFFF"/>
                </a:solidFill>
              </a:rPr>
              <a:t>&gt;Z</a:t>
            </a:r>
            <a:r>
              <a:rPr lang="en-US" altLang="zh-CN" baseline="-25000">
                <a:solidFill>
                  <a:srgbClr val="66FFFF"/>
                </a:solidFill>
              </a:rPr>
              <a:t>2  </a:t>
            </a: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zh-CN" altLang="en-US">
                <a:solidFill>
                  <a:srgbClr val="66FFFF"/>
                </a:solidFill>
              </a:rPr>
              <a:t>波密</a:t>
            </a:r>
            <a:r>
              <a:rPr lang="zh-CN" altLang="en-US">
                <a:solidFill>
                  <a:schemeClr val="bg1"/>
                </a:solidFill>
              </a:rPr>
              <a:t>到</a:t>
            </a:r>
            <a:r>
              <a:rPr lang="zh-CN" altLang="en-US">
                <a:solidFill>
                  <a:srgbClr val="66FFFF"/>
                </a:solidFill>
              </a:rPr>
              <a:t>波疏</a:t>
            </a:r>
            <a:r>
              <a:rPr lang="en-US" altLang="zh-CN">
                <a:solidFill>
                  <a:schemeClr val="bg1"/>
                </a:solidFill>
              </a:rPr>
              <a:t>)</a:t>
            </a:r>
            <a:r>
              <a:rPr lang="en-US" altLang="zh-CN">
                <a:solidFill>
                  <a:srgbClr val="CCCCFF"/>
                </a:solidFill>
              </a:rPr>
              <a:t>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>
                <a:solidFill>
                  <a:srgbClr val="CCCCFF"/>
                </a:solidFill>
              </a:rPr>
              <a:t>      </a:t>
            </a:r>
            <a:r>
              <a:rPr lang="zh-CN" altLang="en-US">
                <a:solidFill>
                  <a:schemeClr val="bg1"/>
                </a:solidFill>
              </a:rPr>
              <a:t>则</a:t>
            </a:r>
            <a:r>
              <a:rPr lang="en-US" altLang="zh-CN">
                <a:solidFill>
                  <a:srgbClr val="66FFFF"/>
                </a:solidFill>
              </a:rPr>
              <a:t>A</a:t>
            </a:r>
            <a:r>
              <a:rPr lang="en-US" altLang="zh-CN" baseline="-25000">
                <a:solidFill>
                  <a:srgbClr val="66FFFF"/>
                </a:solidFill>
              </a:rPr>
              <a:t>1</a:t>
            </a:r>
            <a:r>
              <a:rPr lang="en-US" altLang="zh-CN">
                <a:solidFill>
                  <a:srgbClr val="66FFFF"/>
                </a:solidFill>
                <a:sym typeface="Symbol" panose="05050102010706020507" pitchFamily="18" charset="2"/>
              </a:rPr>
              <a:t></a:t>
            </a:r>
            <a:r>
              <a:rPr lang="en-US" altLang="zh-CN">
                <a:solidFill>
                  <a:srgbClr val="CCCCFF"/>
                </a:solidFill>
                <a:sym typeface="Symbol" panose="05050102010706020507" pitchFamily="18" charset="2"/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和</a:t>
            </a:r>
            <a:r>
              <a:rPr lang="en-US" altLang="zh-CN">
                <a:solidFill>
                  <a:srgbClr val="66FFFF"/>
                </a:solidFill>
              </a:rPr>
              <a:t>A</a:t>
            </a:r>
            <a:r>
              <a:rPr lang="en-US" altLang="zh-CN" baseline="-25000">
                <a:solidFill>
                  <a:srgbClr val="66FFFF"/>
                </a:solidFill>
              </a:rPr>
              <a:t>1 </a:t>
            </a:r>
            <a:r>
              <a:rPr lang="zh-CN" altLang="en-US">
                <a:solidFill>
                  <a:srgbClr val="FF99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同号</a:t>
            </a:r>
            <a:r>
              <a:rPr lang="en-US" altLang="zh-CN">
                <a:solidFill>
                  <a:schemeClr val="bg1"/>
                </a:solidFill>
              </a:rPr>
              <a:t>,   </a:t>
            </a:r>
            <a:r>
              <a:rPr lang="zh-CN" altLang="en-US">
                <a:solidFill>
                  <a:schemeClr val="bg1"/>
                </a:solidFill>
              </a:rPr>
              <a:t>说明在界面处，两波的振动同相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18791" name="Text Box 7">
            <a:extLst>
              <a:ext uri="{FF2B5EF4-FFF2-40B4-BE49-F238E27FC236}">
                <a16:creationId xmlns:a16="http://schemas.microsoft.com/office/drawing/2014/main" id="{351D42BB-23AF-46AB-87B8-3E7FF73BD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275" y="2722563"/>
            <a:ext cx="4672013" cy="46196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+mj-ea"/>
                <a:ea typeface="+mj-ea"/>
              </a:rPr>
              <a:t>反射波无位相损失、无位相突变</a:t>
            </a:r>
            <a:r>
              <a:rPr lang="en-US" altLang="zh-CN" dirty="0">
                <a:solidFill>
                  <a:srgbClr val="FFFF00"/>
                </a:solidFill>
                <a:latin typeface="+mj-ea"/>
                <a:ea typeface="+mj-ea"/>
              </a:rPr>
              <a:t>!</a:t>
            </a:r>
          </a:p>
        </p:txBody>
      </p:sp>
      <p:graphicFrame>
        <p:nvGraphicFramePr>
          <p:cNvPr id="12294" name="Object 2">
            <a:extLst>
              <a:ext uri="{FF2B5EF4-FFF2-40B4-BE49-F238E27FC236}">
                <a16:creationId xmlns:a16="http://schemas.microsoft.com/office/drawing/2014/main" id="{C2A11FA0-DF52-42E8-8A47-D13E1BB7F3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94163" y="247650"/>
          <a:ext cx="18986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92" name="Equation" r:id="rId3" imgW="863225" imgH="431613" progId="">
                  <p:embed/>
                </p:oleObj>
              </mc:Choice>
              <mc:Fallback>
                <p:oleObj name="Equation" r:id="rId3" imgW="863225" imgH="431613" progId="">
                  <p:embed/>
                  <p:pic>
                    <p:nvPicPr>
                      <p:cNvPr id="12294" name="Object 2">
                        <a:extLst>
                          <a:ext uri="{FF2B5EF4-FFF2-40B4-BE49-F238E27FC236}">
                            <a16:creationId xmlns:a16="http://schemas.microsoft.com/office/drawing/2014/main" id="{C2A11FA0-DF52-42E8-8A47-D13E1BB7F3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4163" y="247650"/>
                        <a:ext cx="18986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3">
            <a:extLst>
              <a:ext uri="{FF2B5EF4-FFF2-40B4-BE49-F238E27FC236}">
                <a16:creationId xmlns:a16="http://schemas.microsoft.com/office/drawing/2014/main" id="{FAA9AF28-4471-4DCF-92AA-65ECBB39F0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254000"/>
          <a:ext cx="184467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93" name="Equation" r:id="rId5" imgW="837836" imgH="431613" progId="">
                  <p:embed/>
                </p:oleObj>
              </mc:Choice>
              <mc:Fallback>
                <p:oleObj name="Equation" r:id="rId5" imgW="837836" imgH="431613" progId="">
                  <p:embed/>
                  <p:pic>
                    <p:nvPicPr>
                      <p:cNvPr id="12295" name="Object 3">
                        <a:extLst>
                          <a:ext uri="{FF2B5EF4-FFF2-40B4-BE49-F238E27FC236}">
                            <a16:creationId xmlns:a16="http://schemas.microsoft.com/office/drawing/2014/main" id="{FAA9AF28-4471-4DCF-92AA-65ECBB39F0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254000"/>
                        <a:ext cx="1844675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Text Box 2">
            <a:extLst>
              <a:ext uri="{FF2B5EF4-FFF2-40B4-BE49-F238E27FC236}">
                <a16:creationId xmlns:a16="http://schemas.microsoft.com/office/drawing/2014/main" id="{F79185EC-8C9B-4EFB-830F-00A458FA5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7588" y="3260725"/>
            <a:ext cx="7620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>
                <a:solidFill>
                  <a:schemeClr val="bg1"/>
                </a:solidFill>
              </a:rPr>
              <a:t>(2)  </a:t>
            </a:r>
            <a:r>
              <a:rPr lang="zh-CN" altLang="en-US">
                <a:solidFill>
                  <a:schemeClr val="bg1"/>
                </a:solidFill>
              </a:rPr>
              <a:t>若 </a:t>
            </a:r>
            <a:r>
              <a:rPr lang="en-US" altLang="zh-CN">
                <a:solidFill>
                  <a:srgbClr val="66FFFF"/>
                </a:solidFill>
              </a:rPr>
              <a:t>Z</a:t>
            </a:r>
            <a:r>
              <a:rPr lang="en-US" altLang="zh-CN" baseline="-25000">
                <a:solidFill>
                  <a:srgbClr val="66FFFF"/>
                </a:solidFill>
              </a:rPr>
              <a:t>1 </a:t>
            </a:r>
            <a:r>
              <a:rPr lang="en-US" altLang="zh-CN">
                <a:solidFill>
                  <a:srgbClr val="66FFFF"/>
                </a:solidFill>
              </a:rPr>
              <a:t>&lt; Z</a:t>
            </a:r>
            <a:r>
              <a:rPr lang="en-US" altLang="zh-CN" baseline="-25000">
                <a:solidFill>
                  <a:srgbClr val="66FFFF"/>
                </a:solidFill>
              </a:rPr>
              <a:t>2  </a:t>
            </a: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zh-CN" altLang="en-US">
                <a:solidFill>
                  <a:srgbClr val="66FFFF"/>
                </a:solidFill>
              </a:rPr>
              <a:t>波疏</a:t>
            </a:r>
            <a:r>
              <a:rPr lang="zh-CN" altLang="en-US">
                <a:solidFill>
                  <a:schemeClr val="bg1"/>
                </a:solidFill>
              </a:rPr>
              <a:t>到</a:t>
            </a:r>
            <a:r>
              <a:rPr lang="zh-CN" altLang="en-US">
                <a:solidFill>
                  <a:srgbClr val="66FFFF"/>
                </a:solidFill>
              </a:rPr>
              <a:t>波密</a:t>
            </a:r>
            <a:r>
              <a:rPr lang="en-US" altLang="zh-CN">
                <a:solidFill>
                  <a:schemeClr val="bg1"/>
                </a:solidFill>
              </a:rPr>
              <a:t>)</a:t>
            </a:r>
            <a:endParaRPr lang="en-US" altLang="zh-CN" baseline="-25000">
              <a:solidFill>
                <a:schemeClr val="bg1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aseline="-25000">
                <a:solidFill>
                  <a:schemeClr val="bg1"/>
                </a:solidFill>
              </a:rPr>
              <a:t>          </a:t>
            </a:r>
            <a:r>
              <a:rPr lang="zh-CN" altLang="en-US">
                <a:solidFill>
                  <a:schemeClr val="bg1"/>
                </a:solidFill>
              </a:rPr>
              <a:t>则 </a:t>
            </a:r>
            <a:r>
              <a:rPr lang="en-US" altLang="zh-CN">
                <a:solidFill>
                  <a:srgbClr val="66FFFF"/>
                </a:solidFill>
              </a:rPr>
              <a:t>A</a:t>
            </a:r>
            <a:r>
              <a:rPr lang="en-US" altLang="zh-CN" baseline="-25000">
                <a:solidFill>
                  <a:srgbClr val="66FFFF"/>
                </a:solidFill>
              </a:rPr>
              <a:t>1</a:t>
            </a:r>
            <a:r>
              <a:rPr lang="en-US" altLang="zh-CN">
                <a:solidFill>
                  <a:srgbClr val="66FFFF"/>
                </a:solidFill>
                <a:sym typeface="Symbol" panose="05050102010706020507" pitchFamily="18" charset="2"/>
              </a:rPr>
              <a:t> </a:t>
            </a:r>
            <a:r>
              <a:rPr lang="zh-CN" altLang="en-US">
                <a:solidFill>
                  <a:schemeClr val="bg1"/>
                </a:solidFill>
              </a:rPr>
              <a:t>和</a:t>
            </a:r>
            <a:r>
              <a:rPr lang="zh-CN" altLang="en-US">
                <a:solidFill>
                  <a:srgbClr val="CCCCFF"/>
                </a:solidFill>
              </a:rPr>
              <a:t> </a:t>
            </a:r>
            <a:r>
              <a:rPr lang="en-US" altLang="zh-CN">
                <a:solidFill>
                  <a:srgbClr val="66FFFF"/>
                </a:solidFill>
              </a:rPr>
              <a:t>A</a:t>
            </a:r>
            <a:r>
              <a:rPr lang="en-US" altLang="zh-CN" baseline="-25000">
                <a:solidFill>
                  <a:srgbClr val="66FFFF"/>
                </a:solidFill>
              </a:rPr>
              <a:t>1 </a:t>
            </a:r>
            <a:r>
              <a:rPr lang="zh-CN" altLang="en-US">
                <a:solidFill>
                  <a:srgbClr val="FF99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反号</a:t>
            </a:r>
          </a:p>
        </p:txBody>
      </p:sp>
      <p:sp>
        <p:nvSpPr>
          <p:cNvPr id="12297" name="Text Box 3">
            <a:extLst>
              <a:ext uri="{FF2B5EF4-FFF2-40B4-BE49-F238E27FC236}">
                <a16:creationId xmlns:a16="http://schemas.microsoft.com/office/drawing/2014/main" id="{83EA8E77-E490-43C4-A70A-4C9E1B0E6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889375"/>
            <a:ext cx="4502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反射波</a:t>
            </a:r>
            <a:r>
              <a:rPr lang="zh-CN" altLang="en-US"/>
              <a:t>    </a:t>
            </a:r>
            <a:r>
              <a:rPr lang="zh-CN" altLang="en-US">
                <a:solidFill>
                  <a:srgbClr val="66FFFF"/>
                </a:solidFill>
                <a:sym typeface="Symbol" panose="05050102010706020507" pitchFamily="18" charset="2"/>
              </a:rPr>
              <a:t></a:t>
            </a:r>
            <a:r>
              <a:rPr lang="en-US" altLang="zh-CN" baseline="-25000">
                <a:solidFill>
                  <a:srgbClr val="66FFFF"/>
                </a:solidFill>
              </a:rPr>
              <a:t>1</a:t>
            </a:r>
            <a:r>
              <a:rPr lang="en-US" altLang="zh-CN">
                <a:solidFill>
                  <a:srgbClr val="66FFFF"/>
                </a:solidFill>
                <a:sym typeface="Symbol" panose="05050102010706020507" pitchFamily="18" charset="2"/>
              </a:rPr>
              <a:t></a:t>
            </a:r>
            <a:r>
              <a:rPr lang="en-US" altLang="zh-CN">
                <a:solidFill>
                  <a:srgbClr val="66FFFF"/>
                </a:solidFill>
              </a:rPr>
              <a:t>=|A</a:t>
            </a:r>
            <a:r>
              <a:rPr lang="en-US" altLang="zh-CN" baseline="-25000">
                <a:solidFill>
                  <a:srgbClr val="66FFFF"/>
                </a:solidFill>
              </a:rPr>
              <a:t>1</a:t>
            </a:r>
            <a:r>
              <a:rPr lang="en-US" altLang="zh-CN">
                <a:solidFill>
                  <a:srgbClr val="66FFFF"/>
                </a:solidFill>
                <a:sym typeface="Symbol" panose="05050102010706020507" pitchFamily="18" charset="2"/>
              </a:rPr>
              <a:t></a:t>
            </a:r>
            <a:r>
              <a:rPr lang="en-US" altLang="zh-CN">
                <a:solidFill>
                  <a:srgbClr val="66FFFF"/>
                </a:solidFill>
              </a:rPr>
              <a:t>|cos(</a:t>
            </a:r>
            <a:r>
              <a:rPr lang="en-US" altLang="zh-CN">
                <a:solidFill>
                  <a:srgbClr val="66FFFF"/>
                </a:solidFill>
                <a:sym typeface="Symbol" panose="05050102010706020507" pitchFamily="18" charset="2"/>
              </a:rPr>
              <a:t></a:t>
            </a:r>
            <a:r>
              <a:rPr lang="en-US" altLang="zh-CN">
                <a:solidFill>
                  <a:srgbClr val="66FFFF"/>
                </a:solidFill>
              </a:rPr>
              <a:t>t+k</a:t>
            </a:r>
            <a:r>
              <a:rPr lang="en-US" altLang="zh-CN" baseline="-25000">
                <a:solidFill>
                  <a:srgbClr val="66FFFF"/>
                </a:solidFill>
              </a:rPr>
              <a:t>1</a:t>
            </a:r>
            <a:r>
              <a:rPr lang="en-US" altLang="zh-CN">
                <a:solidFill>
                  <a:srgbClr val="66FFFF"/>
                </a:solidFill>
              </a:rPr>
              <a:t>x</a:t>
            </a:r>
            <a:r>
              <a:rPr lang="en-US" altLang="zh-CN">
                <a:solidFill>
                  <a:srgbClr val="FF99FF"/>
                </a:solidFill>
              </a:rPr>
              <a:t>+</a:t>
            </a:r>
            <a:r>
              <a:rPr lang="en-US" altLang="zh-CN">
                <a:solidFill>
                  <a:srgbClr val="FF99FF"/>
                </a:solidFill>
                <a:sym typeface="Symbol" panose="05050102010706020507" pitchFamily="18" charset="2"/>
              </a:rPr>
              <a:t></a:t>
            </a:r>
            <a:r>
              <a:rPr lang="en-US" altLang="zh-CN">
                <a:solidFill>
                  <a:srgbClr val="66FFFF"/>
                </a:solidFill>
              </a:rPr>
              <a:t>)</a:t>
            </a:r>
          </a:p>
        </p:txBody>
      </p:sp>
      <p:sp>
        <p:nvSpPr>
          <p:cNvPr id="12298" name="Text Box 4">
            <a:extLst>
              <a:ext uri="{FF2B5EF4-FFF2-40B4-BE49-F238E27FC236}">
                <a16:creationId xmlns:a16="http://schemas.microsoft.com/office/drawing/2014/main" id="{5BD9D12C-D49C-4A26-8DBB-96C613441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463" y="4478338"/>
            <a:ext cx="7010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说明在界面 </a:t>
            </a:r>
            <a:r>
              <a:rPr lang="en-US" altLang="zh-CN" i="1">
                <a:solidFill>
                  <a:srgbClr val="FFFF00"/>
                </a:solidFill>
              </a:rPr>
              <a:t>x</a:t>
            </a:r>
            <a:r>
              <a:rPr lang="en-US" altLang="zh-CN">
                <a:solidFill>
                  <a:srgbClr val="FFFF00"/>
                </a:solidFill>
              </a:rPr>
              <a:t>=0 </a:t>
            </a:r>
            <a:r>
              <a:rPr lang="zh-CN" altLang="en-US">
                <a:solidFill>
                  <a:srgbClr val="FFFF00"/>
                </a:solidFill>
              </a:rPr>
              <a:t>处，两波的振动反相</a:t>
            </a:r>
          </a:p>
        </p:txBody>
      </p:sp>
      <p:sp>
        <p:nvSpPr>
          <p:cNvPr id="29" name="Text Box 5">
            <a:extLst>
              <a:ext uri="{FF2B5EF4-FFF2-40B4-BE49-F238E27FC236}">
                <a16:creationId xmlns:a16="http://schemas.microsoft.com/office/drawing/2014/main" id="{1E5C4F18-BBF0-45D4-A8E0-F4D09D0C5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175" y="5057775"/>
            <a:ext cx="3390900" cy="4619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FF99FF"/>
                </a:solidFill>
                <a:latin typeface="+mj-ea"/>
                <a:ea typeface="+mj-ea"/>
              </a:rPr>
              <a:t>  </a:t>
            </a:r>
            <a:r>
              <a:rPr lang="zh-CN" altLang="en-US" dirty="0">
                <a:solidFill>
                  <a:srgbClr val="FF99FF"/>
                </a:solidFill>
                <a:latin typeface="+mj-ea"/>
                <a:ea typeface="+mj-ea"/>
              </a:rPr>
              <a:t>反射波有位相突变</a:t>
            </a:r>
            <a:r>
              <a:rPr lang="zh-CN" altLang="en-US" dirty="0">
                <a:solidFill>
                  <a:srgbClr val="FF99FF"/>
                </a:solidFill>
                <a:latin typeface="+mj-ea"/>
                <a:ea typeface="+mj-ea"/>
                <a:sym typeface="Symbol" panose="05050102010706020507" pitchFamily="18" charset="2"/>
              </a:rPr>
              <a:t></a:t>
            </a:r>
          </a:p>
        </p:txBody>
      </p:sp>
      <p:sp>
        <p:nvSpPr>
          <p:cNvPr id="7180" name="Text Box 6">
            <a:extLst>
              <a:ext uri="{FF2B5EF4-FFF2-40B4-BE49-F238E27FC236}">
                <a16:creationId xmlns:a16="http://schemas.microsoft.com/office/drawing/2014/main" id="{38914009-471C-421E-ADFE-567BDAF5C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213" y="5057775"/>
            <a:ext cx="38766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或</a:t>
            </a:r>
            <a:r>
              <a:rPr lang="zh-CN" altLang="en-US" dirty="0">
                <a:solidFill>
                  <a:srgbClr val="CCCCFF"/>
                </a:solidFill>
                <a:latin typeface="+mj-ea"/>
                <a:ea typeface="+mj-ea"/>
              </a:rPr>
              <a:t> </a:t>
            </a:r>
            <a:r>
              <a:rPr lang="zh-CN" altLang="en-US" i="1" dirty="0">
                <a:solidFill>
                  <a:srgbClr val="CCCCFF"/>
                </a:solidFill>
                <a:latin typeface="+mj-ea"/>
                <a:ea typeface="+mj-ea"/>
              </a:rPr>
              <a:t> </a:t>
            </a:r>
            <a:r>
              <a:rPr lang="zh-CN" altLang="en-US" dirty="0">
                <a:solidFill>
                  <a:srgbClr val="FF99FF"/>
                </a:solidFill>
                <a:latin typeface="+mj-ea"/>
                <a:ea typeface="+mj-ea"/>
              </a:rPr>
              <a:t>波在反射时有半波损失</a:t>
            </a:r>
            <a:r>
              <a:rPr lang="en-US" altLang="zh-CN" dirty="0">
                <a:solidFill>
                  <a:srgbClr val="FF99FF"/>
                </a:solidFill>
                <a:latin typeface="+mj-ea"/>
                <a:ea typeface="+mj-ea"/>
              </a:rPr>
              <a:t>!</a:t>
            </a:r>
          </a:p>
        </p:txBody>
      </p:sp>
      <p:sp>
        <p:nvSpPr>
          <p:cNvPr id="12301" name="Text Box 7">
            <a:extLst>
              <a:ext uri="{FF2B5EF4-FFF2-40B4-BE49-F238E27FC236}">
                <a16:creationId xmlns:a16="http://schemas.microsoft.com/office/drawing/2014/main" id="{AAD5B418-109E-4BF5-8490-3456CE6A2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638800"/>
            <a:ext cx="289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66FFFF"/>
                </a:solidFill>
              </a:rPr>
              <a:t>2.   </a:t>
            </a:r>
            <a:r>
              <a:rPr lang="zh-CN" altLang="en-US">
                <a:solidFill>
                  <a:srgbClr val="66FFFF"/>
                </a:solidFill>
              </a:rPr>
              <a:t>透射波</a:t>
            </a:r>
          </a:p>
        </p:txBody>
      </p:sp>
      <p:sp>
        <p:nvSpPr>
          <p:cNvPr id="7182" name="Text Box 8">
            <a:extLst>
              <a:ext uri="{FF2B5EF4-FFF2-40B4-BE49-F238E27FC236}">
                <a16:creationId xmlns:a16="http://schemas.microsoft.com/office/drawing/2014/main" id="{2F465905-2C6D-44C6-90FB-40C4AD54A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6075363"/>
            <a:ext cx="6096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CCCCFF"/>
                </a:solidFill>
              </a:rPr>
              <a:t>     </a:t>
            </a:r>
            <a:r>
              <a:rPr lang="en-US" altLang="zh-CN" dirty="0">
                <a:solidFill>
                  <a:srgbClr val="66FFFF"/>
                </a:solidFill>
              </a:rPr>
              <a:t>A</a:t>
            </a:r>
            <a:r>
              <a:rPr lang="en-US" altLang="zh-CN" baseline="-25000" dirty="0">
                <a:solidFill>
                  <a:srgbClr val="66FFFF"/>
                </a:solidFill>
              </a:rPr>
              <a:t>2</a:t>
            </a:r>
            <a:r>
              <a:rPr lang="en-US" altLang="zh-CN" baseline="-25000" dirty="0">
                <a:solidFill>
                  <a:srgbClr val="CCCCFF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总与</a:t>
            </a:r>
            <a:r>
              <a:rPr lang="zh-CN" altLang="en-US" dirty="0">
                <a:solidFill>
                  <a:srgbClr val="CCCCFF"/>
                </a:solidFill>
              </a:rPr>
              <a:t> </a:t>
            </a:r>
            <a:r>
              <a:rPr lang="en-US" altLang="zh-CN" dirty="0">
                <a:solidFill>
                  <a:srgbClr val="66FFFF"/>
                </a:solidFill>
              </a:rPr>
              <a:t>A</a:t>
            </a:r>
            <a:r>
              <a:rPr lang="en-US" altLang="zh-CN" baseline="-25000" dirty="0">
                <a:solidFill>
                  <a:srgbClr val="66FFFF"/>
                </a:solidFill>
              </a:rPr>
              <a:t>1 </a:t>
            </a:r>
            <a:r>
              <a:rPr lang="zh-CN" altLang="en-US" dirty="0">
                <a:solidFill>
                  <a:srgbClr val="FF99FF"/>
                </a:solidFill>
                <a:latin typeface="+mj-ea"/>
                <a:ea typeface="+mj-ea"/>
              </a:rPr>
              <a:t>同号</a:t>
            </a:r>
            <a:r>
              <a:rPr lang="zh-CN" altLang="en-US" dirty="0">
                <a:solidFill>
                  <a:srgbClr val="CCCCFF"/>
                </a:solidFill>
                <a:latin typeface="+mj-ea"/>
                <a:ea typeface="+mj-ea"/>
              </a:rPr>
              <a:t>，</a:t>
            </a:r>
            <a:r>
              <a:rPr lang="zh-CN" altLang="en-US" dirty="0">
                <a:solidFill>
                  <a:srgbClr val="FF99FF"/>
                </a:solidFill>
                <a:latin typeface="+mj-ea"/>
                <a:ea typeface="+mj-ea"/>
              </a:rPr>
              <a:t>无位相突变！</a:t>
            </a:r>
            <a:endParaRPr lang="en-US" altLang="zh-CN" dirty="0">
              <a:solidFill>
                <a:srgbClr val="CCCCFF"/>
              </a:solidFill>
              <a:latin typeface="+mj-ea"/>
              <a:ea typeface="+mj-ea"/>
            </a:endParaRPr>
          </a:p>
        </p:txBody>
      </p:sp>
      <p:sp>
        <p:nvSpPr>
          <p:cNvPr id="12303" name="灯片编号占位符 1">
            <a:extLst>
              <a:ext uri="{FF2B5EF4-FFF2-40B4-BE49-F238E27FC236}">
                <a16:creationId xmlns:a16="http://schemas.microsoft.com/office/drawing/2014/main" id="{EAD794FC-9078-4212-A0EA-9FB1471E911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3E6F0B1-8C01-4D69-BC54-4DB582A6F151}" type="slidenum">
              <a:rPr lang="en-US" altLang="zh-CN" b="0">
                <a:solidFill>
                  <a:srgbClr val="FF00FF"/>
                </a:solidFill>
              </a:rPr>
              <a:pPr eaLnBrk="1" hangingPunct="1"/>
              <a:t>5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</p:spTree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3777</TotalTime>
  <Words>654</Words>
  <Application>Microsoft Office PowerPoint</Application>
  <PresentationFormat>全屏显示(4:3)</PresentationFormat>
  <Paragraphs>94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Monotype Sorts</vt:lpstr>
      <vt:lpstr>华文中宋</vt:lpstr>
      <vt:lpstr>宋体</vt:lpstr>
      <vt:lpstr>微软雅黑</vt:lpstr>
      <vt:lpstr>Symbol</vt:lpstr>
      <vt:lpstr>Times New Roman</vt:lpstr>
      <vt:lpstr>Wingdings</vt:lpstr>
      <vt:lpstr>默认设计模板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1338</cp:revision>
  <cp:lastPrinted>2023-09-21T12:52:32Z</cp:lastPrinted>
  <dcterms:created xsi:type="dcterms:W3CDTF">1998-11-21T01:35:00Z</dcterms:created>
  <dcterms:modified xsi:type="dcterms:W3CDTF">2024-10-09T07:17:04Z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96AF3BE1952E4DCDBD98A291AC89CE38_12</vt:lpwstr>
  </property>
  <property fmtid="{D5CDD505-2E9C-101B-9397-08002B2CF9AE}" pid="3" name="KSOProductBuildVer">
    <vt:lpwstr>2052-12.1.0.15358</vt:lpwstr>
  </property>
</Properties>
</file>