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439" r:id="rId2"/>
    <p:sldId id="570" r:id="rId3"/>
    <p:sldId id="531" r:id="rId4"/>
    <p:sldId id="565" r:id="rId5"/>
    <p:sldId id="532" r:id="rId6"/>
    <p:sldId id="533" r:id="rId7"/>
    <p:sldId id="561" r:id="rId8"/>
    <p:sldId id="562" r:id="rId9"/>
    <p:sldId id="563" r:id="rId10"/>
    <p:sldId id="564" r:id="rId11"/>
    <p:sldId id="544" r:id="rId12"/>
    <p:sldId id="545" r:id="rId13"/>
    <p:sldId id="566" r:id="rId14"/>
    <p:sldId id="567" r:id="rId15"/>
    <p:sldId id="568" r:id="rId16"/>
    <p:sldId id="605" r:id="rId17"/>
    <p:sldId id="543" r:id="rId18"/>
    <p:sldId id="569" r:id="rId19"/>
    <p:sldId id="542" r:id="rId20"/>
  </p:sldIdLst>
  <p:sldSz cx="9144000" cy="6858000" type="screen4x3"/>
  <p:notesSz cx="6797675" cy="9928225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0.emf"/><Relationship Id="rId1" Type="http://schemas.openxmlformats.org/officeDocument/2006/relationships/image" Target="../media/image11.emf"/><Relationship Id="rId4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4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3.emf"/><Relationship Id="rId7" Type="http://schemas.openxmlformats.org/officeDocument/2006/relationships/image" Target="../media/image37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6" Type="http://schemas.openxmlformats.org/officeDocument/2006/relationships/image" Target="../media/image36.emf"/><Relationship Id="rId11" Type="http://schemas.openxmlformats.org/officeDocument/2006/relationships/image" Target="../media/image41.emf"/><Relationship Id="rId5" Type="http://schemas.openxmlformats.org/officeDocument/2006/relationships/image" Target="../media/image35.emf"/><Relationship Id="rId10" Type="http://schemas.openxmlformats.org/officeDocument/2006/relationships/image" Target="../media/image40.emf"/><Relationship Id="rId4" Type="http://schemas.openxmlformats.org/officeDocument/2006/relationships/image" Target="../media/image34.emf"/><Relationship Id="rId9" Type="http://schemas.openxmlformats.org/officeDocument/2006/relationships/image" Target="../media/image3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8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image" Target="../media/image54.emf"/><Relationship Id="rId7" Type="http://schemas.openxmlformats.org/officeDocument/2006/relationships/image" Target="../media/image58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Relationship Id="rId6" Type="http://schemas.openxmlformats.org/officeDocument/2006/relationships/image" Target="../media/image57.emf"/><Relationship Id="rId11" Type="http://schemas.openxmlformats.org/officeDocument/2006/relationships/image" Target="../media/image62.emf"/><Relationship Id="rId5" Type="http://schemas.openxmlformats.org/officeDocument/2006/relationships/image" Target="../media/image56.emf"/><Relationship Id="rId10" Type="http://schemas.openxmlformats.org/officeDocument/2006/relationships/image" Target="../media/image61.emf"/><Relationship Id="rId4" Type="http://schemas.openxmlformats.org/officeDocument/2006/relationships/image" Target="../media/image55.emf"/><Relationship Id="rId9" Type="http://schemas.openxmlformats.org/officeDocument/2006/relationships/image" Target="../media/image60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image" Target="../media/image65.emf"/><Relationship Id="rId7" Type="http://schemas.openxmlformats.org/officeDocument/2006/relationships/image" Target="../media/image69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6" Type="http://schemas.openxmlformats.org/officeDocument/2006/relationships/image" Target="../media/image68.emf"/><Relationship Id="rId11" Type="http://schemas.openxmlformats.org/officeDocument/2006/relationships/image" Target="../media/image73.emf"/><Relationship Id="rId5" Type="http://schemas.openxmlformats.org/officeDocument/2006/relationships/image" Target="../media/image67.emf"/><Relationship Id="rId10" Type="http://schemas.openxmlformats.org/officeDocument/2006/relationships/image" Target="../media/image72.emf"/><Relationship Id="rId4" Type="http://schemas.openxmlformats.org/officeDocument/2006/relationships/image" Target="../media/image66.emf"/><Relationship Id="rId9" Type="http://schemas.openxmlformats.org/officeDocument/2006/relationships/image" Target="../media/image7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78.emf"/><Relationship Id="rId7" Type="http://schemas.openxmlformats.org/officeDocument/2006/relationships/image" Target="../media/image82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Relationship Id="rId6" Type="http://schemas.openxmlformats.org/officeDocument/2006/relationships/image" Target="../media/image81.emf"/><Relationship Id="rId11" Type="http://schemas.openxmlformats.org/officeDocument/2006/relationships/image" Target="../media/image86.emf"/><Relationship Id="rId5" Type="http://schemas.openxmlformats.org/officeDocument/2006/relationships/image" Target="../media/image80.emf"/><Relationship Id="rId10" Type="http://schemas.openxmlformats.org/officeDocument/2006/relationships/image" Target="../media/image85.emf"/><Relationship Id="rId4" Type="http://schemas.openxmlformats.org/officeDocument/2006/relationships/image" Target="../media/image79.emf"/><Relationship Id="rId9" Type="http://schemas.openxmlformats.org/officeDocument/2006/relationships/image" Target="../media/image84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13" Type="http://schemas.openxmlformats.org/officeDocument/2006/relationships/image" Target="../media/image100.emf"/><Relationship Id="rId3" Type="http://schemas.openxmlformats.org/officeDocument/2006/relationships/image" Target="../media/image90.emf"/><Relationship Id="rId7" Type="http://schemas.openxmlformats.org/officeDocument/2006/relationships/image" Target="../media/image94.emf"/><Relationship Id="rId12" Type="http://schemas.openxmlformats.org/officeDocument/2006/relationships/image" Target="../media/image99.emf"/><Relationship Id="rId17" Type="http://schemas.openxmlformats.org/officeDocument/2006/relationships/image" Target="../media/image104.emf"/><Relationship Id="rId2" Type="http://schemas.openxmlformats.org/officeDocument/2006/relationships/image" Target="../media/image89.emf"/><Relationship Id="rId16" Type="http://schemas.openxmlformats.org/officeDocument/2006/relationships/image" Target="../media/image103.emf"/><Relationship Id="rId1" Type="http://schemas.openxmlformats.org/officeDocument/2006/relationships/image" Target="../media/image88.emf"/><Relationship Id="rId6" Type="http://schemas.openxmlformats.org/officeDocument/2006/relationships/image" Target="../media/image93.emf"/><Relationship Id="rId11" Type="http://schemas.openxmlformats.org/officeDocument/2006/relationships/image" Target="../media/image98.emf"/><Relationship Id="rId5" Type="http://schemas.openxmlformats.org/officeDocument/2006/relationships/image" Target="../media/image92.emf"/><Relationship Id="rId15" Type="http://schemas.openxmlformats.org/officeDocument/2006/relationships/image" Target="../media/image102.emf"/><Relationship Id="rId10" Type="http://schemas.openxmlformats.org/officeDocument/2006/relationships/image" Target="../media/image97.emf"/><Relationship Id="rId4" Type="http://schemas.openxmlformats.org/officeDocument/2006/relationships/image" Target="../media/image91.emf"/><Relationship Id="rId9" Type="http://schemas.openxmlformats.org/officeDocument/2006/relationships/image" Target="../media/image96.emf"/><Relationship Id="rId14" Type="http://schemas.openxmlformats.org/officeDocument/2006/relationships/image" Target="../media/image101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" Type="http://schemas.openxmlformats.org/officeDocument/2006/relationships/image" Target="../media/image105.emf"/><Relationship Id="rId4" Type="http://schemas.openxmlformats.org/officeDocument/2006/relationships/image" Target="../media/image108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3" Type="http://schemas.openxmlformats.org/officeDocument/2006/relationships/image" Target="../media/image111.emf"/><Relationship Id="rId7" Type="http://schemas.openxmlformats.org/officeDocument/2006/relationships/image" Target="../media/image115.emf"/><Relationship Id="rId2" Type="http://schemas.openxmlformats.org/officeDocument/2006/relationships/image" Target="../media/image110.emf"/><Relationship Id="rId1" Type="http://schemas.openxmlformats.org/officeDocument/2006/relationships/image" Target="../media/image109.emf"/><Relationship Id="rId6" Type="http://schemas.openxmlformats.org/officeDocument/2006/relationships/image" Target="../media/image114.emf"/><Relationship Id="rId11" Type="http://schemas.openxmlformats.org/officeDocument/2006/relationships/image" Target="../media/image119.emf"/><Relationship Id="rId5" Type="http://schemas.openxmlformats.org/officeDocument/2006/relationships/image" Target="../media/image113.emf"/><Relationship Id="rId10" Type="http://schemas.openxmlformats.org/officeDocument/2006/relationships/image" Target="../media/image118.emf"/><Relationship Id="rId4" Type="http://schemas.openxmlformats.org/officeDocument/2006/relationships/image" Target="../media/image112.emf"/><Relationship Id="rId9" Type="http://schemas.openxmlformats.org/officeDocument/2006/relationships/image" Target="../media/image1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CCBF7E13-0443-41B5-AB0D-CB741FDD340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4105FFD-BA82-46C6-9E61-9275CD08F8A5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F0327E39-C77A-4F6D-B214-405F22450B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A9100D12-EE76-45F8-9C31-1064C70FE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603B48E2-A1B4-46CD-900E-183E0575C42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FFFC1A8-5424-472F-B4E9-F04DC4D9058D}" type="slidenum">
              <a:rPr lang="en-US" altLang="zh-CN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E32AEA4-77E8-454E-AF74-BED9BFD456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7999B57E-EE3B-4F4B-A6A8-19F0A65E6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330D7212-8712-4F40-8693-93AA8857E5B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7ECCFD-DF4B-4DA3-94AC-0722638FC921}" type="slidenum">
              <a:rPr lang="en-US" altLang="zh-CN"/>
              <a:pPr algn="r" eaLnBrk="1" hangingPunct="1"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1E08A0C-1CED-41C0-9781-1F4125D584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05885B3-0BA3-482D-A7ED-21D698AADC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image" Target="../media/image8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png"/><Relationship Id="rId4" Type="http://schemas.openxmlformats.org/officeDocument/2006/relationships/image" Target="../media/image2.emf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0.emf"/><Relationship Id="rId4" Type="http://schemas.openxmlformats.org/officeDocument/2006/relationships/image" Target="../media/image142.png"/><Relationship Id="rId9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3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7.e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e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6.emf"/><Relationship Id="rId4" Type="http://schemas.openxmlformats.org/officeDocument/2006/relationships/image" Target="../media/image23.e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38.emf"/><Relationship Id="rId3" Type="http://schemas.openxmlformats.org/officeDocument/2006/relationships/oleObject" Target="../embeddings/oleObject26.bin"/><Relationship Id="rId21" Type="http://schemas.openxmlformats.org/officeDocument/2006/relationships/oleObject" Target="../embeddings/oleObject35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5.emf"/><Relationship Id="rId1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.emf"/><Relationship Id="rId20" Type="http://schemas.openxmlformats.org/officeDocument/2006/relationships/image" Target="../media/image39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30.bin"/><Relationship Id="rId24" Type="http://schemas.openxmlformats.org/officeDocument/2006/relationships/image" Target="../media/image41.emf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23" Type="http://schemas.openxmlformats.org/officeDocument/2006/relationships/oleObject" Target="../embeddings/oleObject36.bin"/><Relationship Id="rId10" Type="http://schemas.openxmlformats.org/officeDocument/2006/relationships/image" Target="../media/image34.emf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31.e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6.emf"/><Relationship Id="rId22" Type="http://schemas.openxmlformats.org/officeDocument/2006/relationships/image" Target="../media/image4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45.emf"/><Relationship Id="rId4" Type="http://schemas.openxmlformats.org/officeDocument/2006/relationships/image" Target="../media/image42.e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9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9.e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6.emf"/><Relationship Id="rId17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emf"/><Relationship Id="rId20" Type="http://schemas.openxmlformats.org/officeDocument/2006/relationships/image" Target="../media/image60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emf"/><Relationship Id="rId11" Type="http://schemas.openxmlformats.org/officeDocument/2006/relationships/oleObject" Target="../embeddings/oleObject51.bin"/><Relationship Id="rId24" Type="http://schemas.openxmlformats.org/officeDocument/2006/relationships/image" Target="../media/image62.emf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7.bin"/><Relationship Id="rId10" Type="http://schemas.openxmlformats.org/officeDocument/2006/relationships/image" Target="../media/image55.e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52.e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7.emf"/><Relationship Id="rId22" Type="http://schemas.openxmlformats.org/officeDocument/2006/relationships/image" Target="../media/image6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67.emf"/><Relationship Id="rId18" Type="http://schemas.openxmlformats.org/officeDocument/2006/relationships/oleObject" Target="../embeddings/oleObject65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71.emf"/><Relationship Id="rId7" Type="http://schemas.openxmlformats.org/officeDocument/2006/relationships/image" Target="../media/image64.e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69.emf"/><Relationship Id="rId25" Type="http://schemas.openxmlformats.org/officeDocument/2006/relationships/image" Target="../media/image7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4.bin"/><Relationship Id="rId20" Type="http://schemas.openxmlformats.org/officeDocument/2006/relationships/oleObject" Target="../embeddings/oleObject66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6.emf"/><Relationship Id="rId24" Type="http://schemas.openxmlformats.org/officeDocument/2006/relationships/oleObject" Target="../embeddings/oleObject68.bin"/><Relationship Id="rId5" Type="http://schemas.openxmlformats.org/officeDocument/2006/relationships/image" Target="../media/image63.emf"/><Relationship Id="rId15" Type="http://schemas.openxmlformats.org/officeDocument/2006/relationships/image" Target="../media/image68.emf"/><Relationship Id="rId23" Type="http://schemas.openxmlformats.org/officeDocument/2006/relationships/image" Target="../media/image72.emf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70.e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5.emf"/><Relationship Id="rId14" Type="http://schemas.openxmlformats.org/officeDocument/2006/relationships/oleObject" Target="../embeddings/oleObject63.bin"/><Relationship Id="rId22" Type="http://schemas.openxmlformats.org/officeDocument/2006/relationships/oleObject" Target="../embeddings/oleObject6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5.jpeg"/><Relationship Id="rId5" Type="http://schemas.openxmlformats.org/officeDocument/2006/relationships/image" Target="../media/image74.emf"/><Relationship Id="rId4" Type="http://schemas.openxmlformats.org/officeDocument/2006/relationships/oleObject" Target="../embeddings/oleObject6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80.emf"/><Relationship Id="rId18" Type="http://schemas.openxmlformats.org/officeDocument/2006/relationships/oleObject" Target="../embeddings/oleObject77.bin"/><Relationship Id="rId3" Type="http://schemas.openxmlformats.org/officeDocument/2006/relationships/oleObject" Target="../embeddings/oleObject70.bin"/><Relationship Id="rId21" Type="http://schemas.openxmlformats.org/officeDocument/2006/relationships/image" Target="../media/image84.emf"/><Relationship Id="rId7" Type="http://schemas.openxmlformats.org/officeDocument/2006/relationships/image" Target="../media/image77.e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82.emf"/><Relationship Id="rId25" Type="http://schemas.openxmlformats.org/officeDocument/2006/relationships/image" Target="../media/image8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6.bin"/><Relationship Id="rId20" Type="http://schemas.openxmlformats.org/officeDocument/2006/relationships/oleObject" Target="../embeddings/oleObject78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9.emf"/><Relationship Id="rId24" Type="http://schemas.openxmlformats.org/officeDocument/2006/relationships/oleObject" Target="../embeddings/oleObject80.bin"/><Relationship Id="rId5" Type="http://schemas.openxmlformats.org/officeDocument/2006/relationships/image" Target="../media/image87.jpeg"/><Relationship Id="rId15" Type="http://schemas.openxmlformats.org/officeDocument/2006/relationships/image" Target="../media/image81.emf"/><Relationship Id="rId23" Type="http://schemas.openxmlformats.org/officeDocument/2006/relationships/image" Target="../media/image85.emf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83.emf"/><Relationship Id="rId4" Type="http://schemas.openxmlformats.org/officeDocument/2006/relationships/image" Target="../media/image76.emf"/><Relationship Id="rId9" Type="http://schemas.openxmlformats.org/officeDocument/2006/relationships/image" Target="../media/image78.emf"/><Relationship Id="rId14" Type="http://schemas.openxmlformats.org/officeDocument/2006/relationships/oleObject" Target="../embeddings/oleObject75.bin"/><Relationship Id="rId22" Type="http://schemas.openxmlformats.org/officeDocument/2006/relationships/oleObject" Target="../embeddings/oleObject79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6.bin"/><Relationship Id="rId18" Type="http://schemas.openxmlformats.org/officeDocument/2006/relationships/image" Target="../media/image95.emf"/><Relationship Id="rId26" Type="http://schemas.openxmlformats.org/officeDocument/2006/relationships/image" Target="../media/image99.emf"/><Relationship Id="rId3" Type="http://schemas.openxmlformats.org/officeDocument/2006/relationships/oleObject" Target="../embeddings/oleObject81.bin"/><Relationship Id="rId21" Type="http://schemas.openxmlformats.org/officeDocument/2006/relationships/oleObject" Target="../embeddings/oleObject90.bin"/><Relationship Id="rId34" Type="http://schemas.openxmlformats.org/officeDocument/2006/relationships/image" Target="../media/image103.emf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92.emf"/><Relationship Id="rId17" Type="http://schemas.openxmlformats.org/officeDocument/2006/relationships/oleObject" Target="../embeddings/oleObject88.bin"/><Relationship Id="rId25" Type="http://schemas.openxmlformats.org/officeDocument/2006/relationships/oleObject" Target="../embeddings/oleObject92.bin"/><Relationship Id="rId33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4.emf"/><Relationship Id="rId20" Type="http://schemas.openxmlformats.org/officeDocument/2006/relationships/image" Target="../media/image96.emf"/><Relationship Id="rId29" Type="http://schemas.openxmlformats.org/officeDocument/2006/relationships/oleObject" Target="../embeddings/oleObject94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9.emf"/><Relationship Id="rId11" Type="http://schemas.openxmlformats.org/officeDocument/2006/relationships/oleObject" Target="../embeddings/oleObject85.bin"/><Relationship Id="rId24" Type="http://schemas.openxmlformats.org/officeDocument/2006/relationships/image" Target="../media/image98.emf"/><Relationship Id="rId32" Type="http://schemas.openxmlformats.org/officeDocument/2006/relationships/image" Target="../media/image102.emf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23" Type="http://schemas.openxmlformats.org/officeDocument/2006/relationships/oleObject" Target="../embeddings/oleObject91.bin"/><Relationship Id="rId28" Type="http://schemas.openxmlformats.org/officeDocument/2006/relationships/image" Target="../media/image100.emf"/><Relationship Id="rId36" Type="http://schemas.openxmlformats.org/officeDocument/2006/relationships/image" Target="../media/image104.emf"/><Relationship Id="rId10" Type="http://schemas.openxmlformats.org/officeDocument/2006/relationships/image" Target="../media/image91.emf"/><Relationship Id="rId19" Type="http://schemas.openxmlformats.org/officeDocument/2006/relationships/oleObject" Target="../embeddings/oleObject89.bin"/><Relationship Id="rId31" Type="http://schemas.openxmlformats.org/officeDocument/2006/relationships/oleObject" Target="../embeddings/oleObject95.bin"/><Relationship Id="rId4" Type="http://schemas.openxmlformats.org/officeDocument/2006/relationships/image" Target="../media/image88.e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93.emf"/><Relationship Id="rId22" Type="http://schemas.openxmlformats.org/officeDocument/2006/relationships/image" Target="../media/image97.emf"/><Relationship Id="rId27" Type="http://schemas.openxmlformats.org/officeDocument/2006/relationships/oleObject" Target="../embeddings/oleObject93.bin"/><Relationship Id="rId30" Type="http://schemas.openxmlformats.org/officeDocument/2006/relationships/image" Target="../media/image101.emf"/><Relationship Id="rId35" Type="http://schemas.openxmlformats.org/officeDocument/2006/relationships/oleObject" Target="../embeddings/oleObject97.bin"/><Relationship Id="rId8" Type="http://schemas.openxmlformats.org/officeDocument/2006/relationships/image" Target="../media/image90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6.emf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108.emf"/><Relationship Id="rId4" Type="http://schemas.openxmlformats.org/officeDocument/2006/relationships/image" Target="../media/image105.emf"/><Relationship Id="rId9" Type="http://schemas.openxmlformats.org/officeDocument/2006/relationships/oleObject" Target="../embeddings/oleObject10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13" Type="http://schemas.openxmlformats.org/officeDocument/2006/relationships/image" Target="../media/image120.png"/><Relationship Id="rId18" Type="http://schemas.openxmlformats.org/officeDocument/2006/relationships/oleObject" Target="../embeddings/oleObject109.bin"/><Relationship Id="rId3" Type="http://schemas.openxmlformats.org/officeDocument/2006/relationships/oleObject" Target="../embeddings/oleObject102.bin"/><Relationship Id="rId21" Type="http://schemas.openxmlformats.org/officeDocument/2006/relationships/image" Target="../media/image117.emf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13.emf"/><Relationship Id="rId17" Type="http://schemas.openxmlformats.org/officeDocument/2006/relationships/image" Target="../media/image115.emf"/><Relationship Id="rId25" Type="http://schemas.openxmlformats.org/officeDocument/2006/relationships/image" Target="../media/image11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8.bin"/><Relationship Id="rId20" Type="http://schemas.openxmlformats.org/officeDocument/2006/relationships/oleObject" Target="../embeddings/oleObject110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0.emf"/><Relationship Id="rId11" Type="http://schemas.openxmlformats.org/officeDocument/2006/relationships/oleObject" Target="../embeddings/oleObject106.bin"/><Relationship Id="rId24" Type="http://schemas.openxmlformats.org/officeDocument/2006/relationships/oleObject" Target="../embeddings/oleObject112.bin"/><Relationship Id="rId5" Type="http://schemas.openxmlformats.org/officeDocument/2006/relationships/oleObject" Target="../embeddings/oleObject103.bin"/><Relationship Id="rId15" Type="http://schemas.openxmlformats.org/officeDocument/2006/relationships/image" Target="../media/image114.emf"/><Relationship Id="rId23" Type="http://schemas.openxmlformats.org/officeDocument/2006/relationships/image" Target="../media/image118.emf"/><Relationship Id="rId10" Type="http://schemas.openxmlformats.org/officeDocument/2006/relationships/image" Target="../media/image112.emf"/><Relationship Id="rId19" Type="http://schemas.openxmlformats.org/officeDocument/2006/relationships/image" Target="../media/image116.emf"/><Relationship Id="rId4" Type="http://schemas.openxmlformats.org/officeDocument/2006/relationships/image" Target="../media/image109.emf"/><Relationship Id="rId9" Type="http://schemas.openxmlformats.org/officeDocument/2006/relationships/oleObject" Target="../embeddings/oleObject105.bin"/><Relationship Id="rId14" Type="http://schemas.openxmlformats.org/officeDocument/2006/relationships/oleObject" Target="../embeddings/oleObject107.bin"/><Relationship Id="rId22" Type="http://schemas.openxmlformats.org/officeDocument/2006/relationships/oleObject" Target="../embeddings/oleObject111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Nov. 18,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0">
            <a:extLst>
              <a:ext uri="{FF2B5EF4-FFF2-40B4-BE49-F238E27FC236}">
                <a16:creationId xmlns:a16="http://schemas.microsoft.com/office/drawing/2014/main" id="{4ACDD331-3BD2-460A-BCE6-BF3F5AA89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51520"/>
            <a:ext cx="359963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ea typeface="仿宋_GB2312"/>
                <a:cs typeface="仿宋_GB2312"/>
              </a:rPr>
              <a:t>回顾：</a:t>
            </a:r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循环过程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3CA9E87E-1552-41A1-8AEF-72C9787DD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401" y="404664"/>
            <a:ext cx="7993063" cy="966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                          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----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如果系统（</a:t>
            </a:r>
            <a:r>
              <a:rPr lang="zh-CN" altLang="en-US" dirty="0">
                <a:solidFill>
                  <a:srgbClr val="FFFF00"/>
                </a:solidFill>
                <a:latin typeface="Arial" panose="020B0604020202020204" pitchFamily="34" charset="0"/>
              </a:rPr>
              <a:t>工质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）的状态经历一系列的变化后，又回到初始状态（ 循环过程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P-V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：闭合曲线）</a:t>
            </a: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E323A217-65C9-45D3-860E-801049FB7C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699794"/>
              </p:ext>
            </p:extLst>
          </p:nvPr>
        </p:nvGraphicFramePr>
        <p:xfrm>
          <a:off x="2998540" y="1585484"/>
          <a:ext cx="100488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16" name="公式" r:id="rId3" imgW="971588" imgH="266666" progId="Equation.3">
                  <p:embed/>
                </p:oleObj>
              </mc:Choice>
              <mc:Fallback>
                <p:oleObj name="公式" r:id="rId3" imgW="971588" imgH="266666" progId="Equation.3">
                  <p:embed/>
                  <p:pic>
                    <p:nvPicPr>
                      <p:cNvPr id="10" name="Object 2">
                        <a:extLst>
                          <a:ext uri="{FF2B5EF4-FFF2-40B4-BE49-F238E27FC236}">
                            <a16:creationId xmlns:a16="http://schemas.microsoft.com/office/drawing/2014/main" id="{E323A217-65C9-45D3-860E-801049FB7C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540" y="1585484"/>
                        <a:ext cx="1004888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>
            <a:extLst>
              <a:ext uri="{FF2B5EF4-FFF2-40B4-BE49-F238E27FC236}">
                <a16:creationId xmlns:a16="http://schemas.microsoft.com/office/drawing/2014/main" id="{726DC215-8019-4D46-9CF0-322FAD644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377" y="1526878"/>
            <a:ext cx="2571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300" b="0" dirty="0">
                <a:solidFill>
                  <a:schemeClr val="bg1"/>
                </a:solidFill>
                <a:ea typeface="楷体_GB2312" pitchFamily="49" charset="-122"/>
              </a:rPr>
              <a:t>内能的变化：</a:t>
            </a:r>
            <a:endParaRPr lang="zh-CN" altLang="en-US" sz="2300" b="0" dirty="0">
              <a:solidFill>
                <a:srgbClr val="66FFFF"/>
              </a:solidFill>
            </a:endParaRP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36F862AB-1512-4DED-9B47-280BBAF789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330222"/>
              </p:ext>
            </p:extLst>
          </p:nvPr>
        </p:nvGraphicFramePr>
        <p:xfrm>
          <a:off x="4111786" y="1988840"/>
          <a:ext cx="42576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17" name="公式" r:id="rId5" imgW="4257618" imgH="533332" progId="Equation.3">
                  <p:embed/>
                </p:oleObj>
              </mc:Choice>
              <mc:Fallback>
                <p:oleObj name="公式" r:id="rId5" imgW="4257618" imgH="533332" progId="Equation.3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36F862AB-1512-4DED-9B47-280BBAF789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786" y="1988840"/>
                        <a:ext cx="425767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>
            <a:extLst>
              <a:ext uri="{FF2B5EF4-FFF2-40B4-BE49-F238E27FC236}">
                <a16:creationId xmlns:a16="http://schemas.microsoft.com/office/drawing/2014/main" id="{F10335CD-1EEC-4677-A0FB-14EFC311D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30" y="2035205"/>
            <a:ext cx="364817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300" b="0" dirty="0">
                <a:solidFill>
                  <a:schemeClr val="bg1"/>
                </a:solidFill>
                <a:ea typeface="楷体_GB2312" pitchFamily="49" charset="-122"/>
              </a:rPr>
              <a:t>系统对外所作的</a:t>
            </a:r>
            <a:r>
              <a:rPr lang="zh-CN" altLang="en-US" sz="2300" b="0" dirty="0">
                <a:solidFill>
                  <a:srgbClr val="FFFF00"/>
                </a:solidFill>
                <a:ea typeface="楷体_GB2312" pitchFamily="49" charset="-122"/>
              </a:rPr>
              <a:t>净功</a:t>
            </a:r>
            <a:r>
              <a:rPr lang="zh-CN" altLang="en-US" sz="2300" b="0" dirty="0">
                <a:solidFill>
                  <a:schemeClr val="bg1"/>
                </a:solidFill>
                <a:ea typeface="楷体_GB2312" pitchFamily="49" charset="-122"/>
              </a:rPr>
              <a:t>：</a:t>
            </a:r>
            <a:endParaRPr lang="zh-CN" altLang="en-US" sz="2300" b="0" dirty="0">
              <a:solidFill>
                <a:schemeClr val="bg1"/>
              </a:solidFill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071A231-BE96-4FFC-9217-E1F4FFC77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708920"/>
            <a:ext cx="5016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66FFFF"/>
                </a:solidFill>
              </a:rPr>
              <a:t>正循环（热机循环）</a:t>
            </a:r>
            <a:r>
              <a:rPr lang="en-US" altLang="zh-CN" dirty="0">
                <a:solidFill>
                  <a:srgbClr val="66FFFF"/>
                </a:solidFill>
              </a:rPr>
              <a:t>:</a:t>
            </a:r>
            <a:r>
              <a:rPr lang="zh-CN" altLang="en-US" dirty="0">
                <a:solidFill>
                  <a:srgbClr val="66FFFF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p-V</a:t>
            </a:r>
            <a:r>
              <a:rPr lang="zh-CN" altLang="en-US" dirty="0">
                <a:solidFill>
                  <a:srgbClr val="FF0000"/>
                </a:solidFill>
              </a:rPr>
              <a:t>图</a:t>
            </a:r>
            <a:r>
              <a:rPr lang="zh-CN" altLang="en-US" dirty="0">
                <a:solidFill>
                  <a:srgbClr val="66FFFF"/>
                </a:solidFill>
              </a:rPr>
              <a:t>）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7477901-923C-4620-99A5-38A17ADCE5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4773" y="2758355"/>
            <a:ext cx="2082353" cy="1800000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9D3AE643-DA11-4A19-8711-97E4DAEF61DA}"/>
              </a:ext>
            </a:extLst>
          </p:cNvPr>
          <p:cNvSpPr>
            <a:spLocks/>
          </p:cNvSpPr>
          <p:nvPr/>
        </p:nvSpPr>
        <p:spPr bwMode="auto">
          <a:xfrm rot="10161194">
            <a:off x="6912999" y="2996233"/>
            <a:ext cx="304800" cy="371456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38100">
            <a:solidFill>
              <a:srgbClr val="FC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Freeform 16">
            <a:extLst>
              <a:ext uri="{FF2B5EF4-FFF2-40B4-BE49-F238E27FC236}">
                <a16:creationId xmlns:a16="http://schemas.microsoft.com/office/drawing/2014/main" id="{AA6E6ABD-815A-4348-9A97-06CA6E4D4A4E}"/>
              </a:ext>
            </a:extLst>
          </p:cNvPr>
          <p:cNvSpPr>
            <a:spLocks/>
          </p:cNvSpPr>
          <p:nvPr/>
        </p:nvSpPr>
        <p:spPr bwMode="auto">
          <a:xfrm rot="-10438251">
            <a:off x="7162644" y="3666505"/>
            <a:ext cx="173692" cy="351559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38100">
            <a:solidFill>
              <a:srgbClr val="FC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8BBD0890-DCA2-41C0-9C04-570AFF1A3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3206" y="2636912"/>
            <a:ext cx="15827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 dirty="0">
                <a:solidFill>
                  <a:srgbClr val="FF5050"/>
                </a:solidFill>
              </a:rPr>
              <a:t>Q</a:t>
            </a:r>
            <a:r>
              <a:rPr kumimoji="0" lang="en-US" altLang="zh-CN" sz="1800" baseline="-25000" dirty="0">
                <a:solidFill>
                  <a:srgbClr val="FF5050"/>
                </a:solidFill>
              </a:rPr>
              <a:t>1</a:t>
            </a:r>
            <a:r>
              <a:rPr kumimoji="0" lang="en-US" altLang="zh-CN" sz="1800" dirty="0">
                <a:solidFill>
                  <a:srgbClr val="FF5050"/>
                </a:solidFill>
              </a:rPr>
              <a:t> ,   </a:t>
            </a:r>
            <a:r>
              <a:rPr kumimoji="0" lang="en-US" altLang="zh-CN" sz="1800" i="1" dirty="0">
                <a:solidFill>
                  <a:srgbClr val="FF5050"/>
                </a:solidFill>
              </a:rPr>
              <a:t>A</a:t>
            </a:r>
            <a:r>
              <a:rPr kumimoji="0" lang="en-US" altLang="zh-CN" sz="1800" baseline="-25000" dirty="0">
                <a:solidFill>
                  <a:srgbClr val="FF5050"/>
                </a:solidFill>
              </a:rPr>
              <a:t>1</a:t>
            </a:r>
            <a:endParaRPr kumimoji="0" lang="en-US" altLang="zh-CN" sz="1800" baseline="-25000" dirty="0">
              <a:solidFill>
                <a:schemeClr val="bg1"/>
              </a:solidFill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3DEE70B8-A032-4645-934B-3CC761038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308" y="3962991"/>
            <a:ext cx="13858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 dirty="0">
                <a:solidFill>
                  <a:srgbClr val="FF5050"/>
                </a:solidFill>
              </a:rPr>
              <a:t>Q</a:t>
            </a:r>
            <a:r>
              <a:rPr kumimoji="0" lang="en-US" altLang="zh-CN" sz="1800" baseline="-25000" dirty="0">
                <a:solidFill>
                  <a:srgbClr val="FF5050"/>
                </a:solidFill>
              </a:rPr>
              <a:t>2 </a:t>
            </a:r>
            <a:r>
              <a:rPr kumimoji="0" lang="en-US" altLang="zh-CN" sz="1800" dirty="0">
                <a:solidFill>
                  <a:srgbClr val="FF5050"/>
                </a:solidFill>
              </a:rPr>
              <a:t>,</a:t>
            </a:r>
            <a:r>
              <a:rPr kumimoji="0" lang="en-US" altLang="zh-CN" sz="1800" baseline="-25000" dirty="0">
                <a:solidFill>
                  <a:srgbClr val="FF5050"/>
                </a:solidFill>
              </a:rPr>
              <a:t>    </a:t>
            </a:r>
            <a:r>
              <a:rPr kumimoji="0" lang="en-US" altLang="zh-CN" sz="1800" i="1" dirty="0">
                <a:solidFill>
                  <a:srgbClr val="FF5050"/>
                </a:solidFill>
              </a:rPr>
              <a:t>A</a:t>
            </a:r>
            <a:r>
              <a:rPr kumimoji="0" lang="en-US" altLang="zh-CN" sz="1800" baseline="-25000" dirty="0">
                <a:solidFill>
                  <a:srgbClr val="FF505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EF4A57FC-F403-49AF-9ABA-7D511F8AB401}"/>
                  </a:ext>
                </a:extLst>
              </p:cNvPr>
              <p:cNvSpPr txBox="1"/>
              <p:nvPr/>
            </p:nvSpPr>
            <p:spPr bwMode="auto">
              <a:xfrm>
                <a:off x="3179299" y="3387331"/>
                <a:ext cx="2564295" cy="4953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EF4A57FC-F403-49AF-9ABA-7D511F8AB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9299" y="3387331"/>
                <a:ext cx="2564295" cy="495300"/>
              </a:xfrm>
              <a:prstGeom prst="rect">
                <a:avLst/>
              </a:prstGeom>
              <a:blipFill>
                <a:blip r:embed="rId8"/>
                <a:stretch>
                  <a:fillRect l="-714" r="-714" b="-11111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8">
            <a:extLst>
              <a:ext uri="{FF2B5EF4-FFF2-40B4-BE49-F238E27FC236}">
                <a16:creationId xmlns:a16="http://schemas.microsoft.com/office/drawing/2014/main" id="{671EC81C-DE8E-41F6-B34A-1BB3F9916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355" y="3434926"/>
            <a:ext cx="26750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 dirty="0">
                <a:solidFill>
                  <a:schemeClr val="bg1"/>
                </a:solidFill>
                <a:ea typeface="楷体_GB2312" pitchFamily="49" charset="-122"/>
              </a:rPr>
              <a:t>对外所作的</a:t>
            </a:r>
            <a:r>
              <a:rPr lang="zh-CN" altLang="en-US" sz="2000" b="0" dirty="0">
                <a:solidFill>
                  <a:srgbClr val="FFFF00"/>
                </a:solidFill>
                <a:ea typeface="楷体_GB2312" pitchFamily="49" charset="-122"/>
              </a:rPr>
              <a:t>净功</a:t>
            </a:r>
            <a:r>
              <a:rPr lang="zh-CN" altLang="en-US" sz="2000" b="0" dirty="0">
                <a:solidFill>
                  <a:schemeClr val="bg1"/>
                </a:solidFill>
                <a:ea typeface="楷体_GB2312" pitchFamily="49" charset="-122"/>
              </a:rPr>
              <a:t>：</a:t>
            </a:r>
            <a:endParaRPr lang="zh-CN" altLang="en-US" sz="2000" b="0" dirty="0">
              <a:solidFill>
                <a:schemeClr val="bg1"/>
              </a:solidFill>
            </a:endParaRPr>
          </a:p>
        </p:txBody>
      </p:sp>
      <p:sp>
        <p:nvSpPr>
          <p:cNvPr id="20" name="Text Box 27">
            <a:extLst>
              <a:ext uri="{FF2B5EF4-FFF2-40B4-BE49-F238E27FC236}">
                <a16:creationId xmlns:a16="http://schemas.microsoft.com/office/drawing/2014/main" id="{B78BF907-F0B6-484E-ABD4-2ADCB9A23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679" y="3978777"/>
            <a:ext cx="26597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</a:rPr>
              <a:t>热力学第一定律：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">
                <a:extLst>
                  <a:ext uri="{FF2B5EF4-FFF2-40B4-BE49-F238E27FC236}">
                    <a16:creationId xmlns:a16="http://schemas.microsoft.com/office/drawing/2014/main" id="{27B2CB4E-E77D-4209-A71C-B4C06E1362FC}"/>
                  </a:ext>
                </a:extLst>
              </p:cNvPr>
              <p:cNvSpPr txBox="1"/>
              <p:nvPr/>
            </p:nvSpPr>
            <p:spPr bwMode="auto">
              <a:xfrm>
                <a:off x="3399249" y="3970048"/>
                <a:ext cx="2396887" cy="51593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1" name="Object 3">
                <a:extLst>
                  <a:ext uri="{FF2B5EF4-FFF2-40B4-BE49-F238E27FC236}">
                    <a16:creationId xmlns:a16="http://schemas.microsoft.com/office/drawing/2014/main" id="{27B2CB4E-E77D-4209-A71C-B4C06E136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9249" y="3970048"/>
                <a:ext cx="2396887" cy="515937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4">
            <a:extLst>
              <a:ext uri="{FF2B5EF4-FFF2-40B4-BE49-F238E27FC236}">
                <a16:creationId xmlns:a16="http://schemas.microsoft.com/office/drawing/2014/main" id="{CCCE2130-FF2F-4C62-8295-CE0B1ABF5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753" y="4709339"/>
            <a:ext cx="5016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66FFFF"/>
                </a:solidFill>
              </a:rPr>
              <a:t>逆循环（制冷循环）</a:t>
            </a:r>
            <a:r>
              <a:rPr lang="en-US" altLang="zh-CN" dirty="0">
                <a:solidFill>
                  <a:srgbClr val="66FFFF"/>
                </a:solidFill>
              </a:rPr>
              <a:t>:</a:t>
            </a:r>
            <a:r>
              <a:rPr lang="zh-CN" altLang="en-US" dirty="0">
                <a:solidFill>
                  <a:srgbClr val="66FFFF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p-V</a:t>
            </a:r>
            <a:r>
              <a:rPr lang="zh-CN" altLang="en-US" dirty="0">
                <a:solidFill>
                  <a:srgbClr val="FF0000"/>
                </a:solidFill>
              </a:rPr>
              <a:t>图</a:t>
            </a:r>
            <a:r>
              <a:rPr lang="zh-CN" altLang="en-US" dirty="0">
                <a:solidFill>
                  <a:srgbClr val="66FFFF"/>
                </a:solidFill>
              </a:rPr>
              <a:t>）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8CC54A-9EDD-4308-B828-EC62AB8E3C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1160" y="4878929"/>
            <a:ext cx="2129578" cy="1800000"/>
          </a:xfrm>
          <a:prstGeom prst="rect">
            <a:avLst/>
          </a:prstGeom>
        </p:spPr>
      </p:pic>
      <p:sp>
        <p:nvSpPr>
          <p:cNvPr id="23" name="Rectangle 8">
            <a:extLst>
              <a:ext uri="{FF2B5EF4-FFF2-40B4-BE49-F238E27FC236}">
                <a16:creationId xmlns:a16="http://schemas.microsoft.com/office/drawing/2014/main" id="{23FCC68C-0369-4F43-BDF7-EA48C36A0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701" y="5377391"/>
            <a:ext cx="26750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 dirty="0">
                <a:solidFill>
                  <a:schemeClr val="bg1"/>
                </a:solidFill>
                <a:ea typeface="楷体_GB2312" pitchFamily="49" charset="-122"/>
              </a:rPr>
              <a:t>对外所作的</a:t>
            </a:r>
            <a:r>
              <a:rPr lang="zh-CN" altLang="en-US" sz="2000" b="0" dirty="0">
                <a:solidFill>
                  <a:srgbClr val="FFFF00"/>
                </a:solidFill>
                <a:ea typeface="楷体_GB2312" pitchFamily="49" charset="-122"/>
              </a:rPr>
              <a:t>净功</a:t>
            </a:r>
            <a:r>
              <a:rPr lang="zh-CN" altLang="en-US" sz="2000" b="0" dirty="0">
                <a:solidFill>
                  <a:schemeClr val="bg1"/>
                </a:solidFill>
                <a:ea typeface="楷体_GB2312" pitchFamily="49" charset="-122"/>
              </a:rPr>
              <a:t>：</a:t>
            </a:r>
            <a:endParaRPr lang="zh-CN" altLang="en-US" sz="2000" b="0" dirty="0">
              <a:solidFill>
                <a:schemeClr val="bg1"/>
              </a:solidFill>
            </a:endParaRPr>
          </a:p>
        </p:txBody>
      </p:sp>
      <p:sp>
        <p:nvSpPr>
          <p:cNvPr id="24" name="Text Box 27">
            <a:extLst>
              <a:ext uri="{FF2B5EF4-FFF2-40B4-BE49-F238E27FC236}">
                <a16:creationId xmlns:a16="http://schemas.microsoft.com/office/drawing/2014/main" id="{45EE4154-7D6F-4DB8-8EAD-B5534420D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710" y="5972083"/>
            <a:ext cx="26597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</a:rPr>
              <a:t>热力学第一定律：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5">
                <a:extLst>
                  <a:ext uri="{FF2B5EF4-FFF2-40B4-BE49-F238E27FC236}">
                    <a16:creationId xmlns:a16="http://schemas.microsoft.com/office/drawing/2014/main" id="{77BD3F8D-84AF-410B-8AD9-C8AF9CE27DC7}"/>
                  </a:ext>
                </a:extLst>
              </p:cNvPr>
              <p:cNvSpPr txBox="1"/>
              <p:nvPr/>
            </p:nvSpPr>
            <p:spPr bwMode="auto">
              <a:xfrm>
                <a:off x="3182504" y="5325049"/>
                <a:ext cx="2757648" cy="59646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5" name="Object 5">
                <a:extLst>
                  <a:ext uri="{FF2B5EF4-FFF2-40B4-BE49-F238E27FC236}">
                    <a16:creationId xmlns:a16="http://schemas.microsoft.com/office/drawing/2014/main" id="{77BD3F8D-84AF-410B-8AD9-C8AF9CE27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2504" y="5325049"/>
                <a:ext cx="2757648" cy="5964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4">
                <a:extLst>
                  <a:ext uri="{FF2B5EF4-FFF2-40B4-BE49-F238E27FC236}">
                    <a16:creationId xmlns:a16="http://schemas.microsoft.com/office/drawing/2014/main" id="{3F9CCB3F-9E87-4972-A397-433EFA28C482}"/>
                  </a:ext>
                </a:extLst>
              </p:cNvPr>
              <p:cNvSpPr txBox="1"/>
              <p:nvPr/>
            </p:nvSpPr>
            <p:spPr bwMode="auto">
              <a:xfrm>
                <a:off x="3386100" y="5946580"/>
                <a:ext cx="2338028" cy="54768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6" name="Object 4">
                <a:extLst>
                  <a:ext uri="{FF2B5EF4-FFF2-40B4-BE49-F238E27FC236}">
                    <a16:creationId xmlns:a16="http://schemas.microsoft.com/office/drawing/2014/main" id="{3F9CCB3F-9E87-4972-A397-433EFA28C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6100" y="5946580"/>
                <a:ext cx="2338028" cy="5476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reeform 36">
            <a:extLst>
              <a:ext uri="{FF2B5EF4-FFF2-40B4-BE49-F238E27FC236}">
                <a16:creationId xmlns:a16="http://schemas.microsoft.com/office/drawing/2014/main" id="{3B5CDAE5-2BB5-466A-8EBC-002101632A40}"/>
              </a:ext>
            </a:extLst>
          </p:cNvPr>
          <p:cNvSpPr>
            <a:spLocks/>
          </p:cNvSpPr>
          <p:nvPr/>
        </p:nvSpPr>
        <p:spPr bwMode="auto">
          <a:xfrm rot="10161194">
            <a:off x="7054670" y="5049040"/>
            <a:ext cx="183709" cy="319026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38100">
            <a:solidFill>
              <a:srgbClr val="FC5050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41">
            <a:extLst>
              <a:ext uri="{FF2B5EF4-FFF2-40B4-BE49-F238E27FC236}">
                <a16:creationId xmlns:a16="http://schemas.microsoft.com/office/drawing/2014/main" id="{B9EC1058-11E6-48FA-B5CC-EB78A1881457}"/>
              </a:ext>
            </a:extLst>
          </p:cNvPr>
          <p:cNvSpPr>
            <a:spLocks/>
          </p:cNvSpPr>
          <p:nvPr/>
        </p:nvSpPr>
        <p:spPr bwMode="auto">
          <a:xfrm rot="11161749">
            <a:off x="7181589" y="5679483"/>
            <a:ext cx="217631" cy="340887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38100">
            <a:solidFill>
              <a:srgbClr val="FC5050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42">
            <a:extLst>
              <a:ext uri="{FF2B5EF4-FFF2-40B4-BE49-F238E27FC236}">
                <a16:creationId xmlns:a16="http://schemas.microsoft.com/office/drawing/2014/main" id="{3D8D1DA3-8206-484A-B3F0-95A8095FD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010" y="4797152"/>
            <a:ext cx="14398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 dirty="0">
                <a:solidFill>
                  <a:srgbClr val="FF5050"/>
                </a:solidFill>
              </a:rPr>
              <a:t>Q</a:t>
            </a:r>
            <a:r>
              <a:rPr kumimoji="0" lang="en-US" altLang="zh-CN" sz="1800" baseline="-25000" dirty="0">
                <a:solidFill>
                  <a:srgbClr val="FF5050"/>
                </a:solidFill>
              </a:rPr>
              <a:t>1 </a:t>
            </a:r>
            <a:r>
              <a:rPr kumimoji="0" lang="en-US" altLang="zh-CN" sz="1800" dirty="0">
                <a:solidFill>
                  <a:srgbClr val="FF5050"/>
                </a:solidFill>
              </a:rPr>
              <a:t>,   </a:t>
            </a:r>
            <a:r>
              <a:rPr kumimoji="0" lang="en-US" altLang="zh-CN" sz="1800" i="1" dirty="0">
                <a:solidFill>
                  <a:srgbClr val="FF5050"/>
                </a:solidFill>
              </a:rPr>
              <a:t>A</a:t>
            </a:r>
            <a:r>
              <a:rPr kumimoji="0" lang="en-US" altLang="zh-CN" sz="1800" baseline="-25000" dirty="0">
                <a:solidFill>
                  <a:srgbClr val="FF5050"/>
                </a:solidFill>
              </a:rPr>
              <a:t>1</a:t>
            </a:r>
          </a:p>
        </p:txBody>
      </p:sp>
      <p:sp>
        <p:nvSpPr>
          <p:cNvPr id="30" name="Rectangle 43">
            <a:extLst>
              <a:ext uri="{FF2B5EF4-FFF2-40B4-BE49-F238E27FC236}">
                <a16:creationId xmlns:a16="http://schemas.microsoft.com/office/drawing/2014/main" id="{55C789B2-82E5-4AB4-9998-E33F33135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308" y="6026022"/>
            <a:ext cx="13874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 dirty="0">
                <a:solidFill>
                  <a:srgbClr val="FF5050"/>
                </a:solidFill>
              </a:rPr>
              <a:t>Q</a:t>
            </a:r>
            <a:r>
              <a:rPr kumimoji="0" lang="en-US" altLang="zh-CN" sz="1800" baseline="-25000" dirty="0">
                <a:solidFill>
                  <a:srgbClr val="FF5050"/>
                </a:solidFill>
              </a:rPr>
              <a:t>2 </a:t>
            </a:r>
            <a:r>
              <a:rPr kumimoji="0" lang="en-US" altLang="zh-CN" sz="1800" dirty="0">
                <a:solidFill>
                  <a:srgbClr val="FF5050"/>
                </a:solidFill>
              </a:rPr>
              <a:t>,   </a:t>
            </a:r>
            <a:r>
              <a:rPr kumimoji="0" lang="en-US" altLang="zh-CN" sz="1800" i="1" dirty="0">
                <a:solidFill>
                  <a:srgbClr val="FF5050"/>
                </a:solidFill>
              </a:rPr>
              <a:t>A</a:t>
            </a:r>
            <a:r>
              <a:rPr kumimoji="0" lang="en-US" altLang="zh-CN" sz="1800" baseline="-25000" dirty="0">
                <a:solidFill>
                  <a:srgbClr val="FF505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8697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8" grpId="0" autoUpdateAnimBg="0"/>
      <p:bldP spid="16" grpId="0"/>
      <p:bldP spid="17" grpId="0"/>
      <p:bldP spid="18" grpId="0"/>
      <p:bldP spid="19" grpId="0"/>
      <p:bldP spid="20" grpId="0"/>
      <p:bldP spid="21" grpId="0"/>
      <p:bldP spid="22" grpId="0" autoUpdateAnimBg="0"/>
      <p:bldP spid="23" grpId="0"/>
      <p:bldP spid="24" grpId="0"/>
      <p:bldP spid="25" grpId="0"/>
      <p:bldP spid="26" grpId="0"/>
      <p:bldP spid="29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0D5B616D-6915-4125-9614-7EE5303D1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66725"/>
            <a:ext cx="2606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二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循环效率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Object 2">
                <a:extLst>
                  <a:ext uri="{FF2B5EF4-FFF2-40B4-BE49-F238E27FC236}">
                    <a16:creationId xmlns:a16="http://schemas.microsoft.com/office/drawing/2014/main" id="{1039EF7E-2151-4139-835E-1DC519BD2D19}"/>
                  </a:ext>
                </a:extLst>
              </p:cNvPr>
              <p:cNvSpPr txBox="1"/>
              <p:nvPr/>
            </p:nvSpPr>
            <p:spPr bwMode="auto">
              <a:xfrm>
                <a:off x="1989026" y="2103437"/>
                <a:ext cx="4589686" cy="90348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4819" name="Object 2">
                <a:extLst>
                  <a:ext uri="{FF2B5EF4-FFF2-40B4-BE49-F238E27FC236}">
                    <a16:creationId xmlns:a16="http://schemas.microsoft.com/office/drawing/2014/main" id="{1039EF7E-2151-4139-835E-1DC519BD2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9026" y="2103437"/>
                <a:ext cx="4589686" cy="9034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Text Box 4">
            <a:extLst>
              <a:ext uri="{FF2B5EF4-FFF2-40B4-BE49-F238E27FC236}">
                <a16:creationId xmlns:a16="http://schemas.microsoft.com/office/drawing/2014/main" id="{016FDBC6-95C3-4225-960C-B98AC194C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1041400"/>
            <a:ext cx="79930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dirty="0">
                <a:solidFill>
                  <a:schemeClr val="bg1"/>
                </a:solidFill>
              </a:rPr>
              <a:t>在热机循环中，工质对外所作的功</a:t>
            </a:r>
            <a:r>
              <a:rPr kumimoji="0" lang="en-US" altLang="zh-CN" i="1" dirty="0">
                <a:solidFill>
                  <a:srgbClr val="FFFF00"/>
                </a:solidFill>
              </a:rPr>
              <a:t>A</a:t>
            </a:r>
            <a:r>
              <a:rPr kumimoji="0" lang="en-US" altLang="zh-CN" i="1" dirty="0">
                <a:solidFill>
                  <a:srgbClr val="66FFFF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与它吸收的热量</a:t>
            </a:r>
            <a:r>
              <a:rPr kumimoji="0" lang="en-US" altLang="zh-CN" i="1" dirty="0">
                <a:solidFill>
                  <a:srgbClr val="FFFF00"/>
                </a:solidFill>
              </a:rPr>
              <a:t>Q</a:t>
            </a:r>
            <a:r>
              <a:rPr kumimoji="0" lang="en-US" altLang="zh-CN" baseline="-25000" dirty="0">
                <a:solidFill>
                  <a:srgbClr val="FFFF00"/>
                </a:solidFill>
              </a:rPr>
              <a:t>1</a:t>
            </a:r>
            <a:r>
              <a:rPr kumimoji="0" lang="zh-CN" altLang="en-US" dirty="0">
                <a:solidFill>
                  <a:schemeClr val="bg1"/>
                </a:solidFill>
              </a:rPr>
              <a:t>的比值，称为</a:t>
            </a:r>
            <a:r>
              <a:rPr kumimoji="0" lang="zh-CN" altLang="en-US" dirty="0">
                <a:solidFill>
                  <a:srgbClr val="FFFF00"/>
                </a:solidFill>
              </a:rPr>
              <a:t>热机效率</a:t>
            </a:r>
            <a:r>
              <a:rPr kumimoji="0" lang="zh-CN" altLang="en-US" dirty="0">
                <a:solidFill>
                  <a:schemeClr val="bg1"/>
                </a:solidFill>
              </a:rPr>
              <a:t>（</a:t>
            </a:r>
            <a:r>
              <a:rPr kumimoji="0" lang="zh-CN" altLang="en-US" dirty="0">
                <a:solidFill>
                  <a:srgbClr val="FFFF00"/>
                </a:solidFill>
              </a:rPr>
              <a:t>循环效率</a:t>
            </a:r>
            <a:r>
              <a:rPr kumimoji="0" lang="zh-CN" altLang="en-US" dirty="0">
                <a:solidFill>
                  <a:schemeClr val="bg1"/>
                </a:solidFill>
              </a:rPr>
              <a:t>）：			 </a:t>
            </a:r>
          </a:p>
        </p:txBody>
      </p:sp>
      <p:sp>
        <p:nvSpPr>
          <p:cNvPr id="34821" name="Text Box 5">
            <a:extLst>
              <a:ext uri="{FF2B5EF4-FFF2-40B4-BE49-F238E27FC236}">
                <a16:creationId xmlns:a16="http://schemas.microsoft.com/office/drawing/2014/main" id="{8F1562B5-8CA9-4068-AC35-B31F67B5D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143375"/>
            <a:ext cx="8286750" cy="96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dirty="0">
                <a:solidFill>
                  <a:schemeClr val="bg1"/>
                </a:solidFill>
              </a:rPr>
              <a:t>在制冷循环中，工质从</a:t>
            </a:r>
            <a:r>
              <a:rPr kumimoji="0" lang="zh-CN" altLang="en-US" dirty="0">
                <a:solidFill>
                  <a:srgbClr val="FF0000"/>
                </a:solidFill>
              </a:rPr>
              <a:t>冷库（低温热源）</a:t>
            </a:r>
            <a:r>
              <a:rPr kumimoji="0" lang="zh-CN" altLang="en-US" dirty="0">
                <a:solidFill>
                  <a:schemeClr val="bg1"/>
                </a:solidFill>
              </a:rPr>
              <a:t>中吸收的热量</a:t>
            </a:r>
            <a:r>
              <a:rPr kumimoji="0" lang="en-US" altLang="zh-CN" i="1" dirty="0">
                <a:solidFill>
                  <a:srgbClr val="FFFF00"/>
                </a:solidFill>
              </a:rPr>
              <a:t>Q</a:t>
            </a:r>
            <a:r>
              <a:rPr kumimoji="0" lang="en-US" altLang="zh-CN" baseline="-25000" dirty="0">
                <a:solidFill>
                  <a:srgbClr val="FFFF00"/>
                </a:solidFill>
              </a:rPr>
              <a:t>2</a:t>
            </a:r>
            <a:r>
              <a:rPr kumimoji="0" lang="zh-CN" altLang="en-US" dirty="0">
                <a:solidFill>
                  <a:schemeClr val="bg1"/>
                </a:solidFill>
              </a:rPr>
              <a:t>与外界对工质所作的功 </a:t>
            </a:r>
            <a:r>
              <a:rPr kumimoji="0" lang="en-US" altLang="zh-CN" i="1" dirty="0">
                <a:solidFill>
                  <a:srgbClr val="FFFF00"/>
                </a:solidFill>
              </a:rPr>
              <a:t>A</a:t>
            </a:r>
            <a:r>
              <a:rPr kumimoji="0" lang="en-US" altLang="zh-CN" i="1" dirty="0">
                <a:solidFill>
                  <a:srgbClr val="66FFFF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大小的比值，称为循环的</a:t>
            </a:r>
            <a:r>
              <a:rPr kumimoji="0" lang="zh-CN" altLang="en-US" dirty="0">
                <a:solidFill>
                  <a:srgbClr val="FFFF00"/>
                </a:solidFill>
              </a:rPr>
              <a:t>致冷系数</a:t>
            </a:r>
            <a:r>
              <a:rPr kumimoji="0" lang="zh-CN" altLang="en-US" dirty="0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F67E6F11-B50D-49BF-B90B-D854A41FD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055938"/>
            <a:ext cx="8143875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sz="2200">
                <a:solidFill>
                  <a:srgbClr val="FFFF00"/>
                </a:solidFill>
              </a:rPr>
              <a:t>热机效率：</a:t>
            </a:r>
            <a:r>
              <a:rPr kumimoji="0" lang="zh-CN" altLang="en-US" sz="2200">
                <a:solidFill>
                  <a:schemeClr val="bg1"/>
                </a:solidFill>
              </a:rPr>
              <a:t>标志循环过程中吸收的热量有多少转化为对外作功</a:t>
            </a:r>
          </a:p>
        </p:txBody>
      </p:sp>
      <p:graphicFrame>
        <p:nvGraphicFramePr>
          <p:cNvPr id="2" name="Object 7">
            <a:extLst>
              <a:ext uri="{FF2B5EF4-FFF2-40B4-BE49-F238E27FC236}">
                <a16:creationId xmlns:a16="http://schemas.microsoft.com/office/drawing/2014/main" id="{430B5E4E-1ECC-4FD1-BC8A-EC0B610F9C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3" y="3668713"/>
          <a:ext cx="41386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18" name="公式" r:id="rId5" imgW="2152663" imgH="152468" progId="Equation.3">
                  <p:embed/>
                </p:oleObj>
              </mc:Choice>
              <mc:Fallback>
                <p:oleObj name="公式" r:id="rId5" imgW="2152663" imgH="152468" progId="Equation.3">
                  <p:embed/>
                  <p:pic>
                    <p:nvPicPr>
                      <p:cNvPr id="2" name="Object 7">
                        <a:extLst>
                          <a:ext uri="{FF2B5EF4-FFF2-40B4-BE49-F238E27FC236}">
                            <a16:creationId xmlns:a16="http://schemas.microsoft.com/office/drawing/2014/main" id="{430B5E4E-1ECC-4FD1-BC8A-EC0B610F9C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3668713"/>
                        <a:ext cx="41386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88E6225E-54A3-4C7C-8491-BEB84E64AA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4538" y="6072188"/>
          <a:ext cx="77565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19" name="公式" r:id="rId7" imgW="4095839" imgH="152468" progId="Equation.3">
                  <p:embed/>
                </p:oleObj>
              </mc:Choice>
              <mc:Fallback>
                <p:oleObj name="公式" r:id="rId7" imgW="4095839" imgH="152468" progId="Equation.3">
                  <p:embed/>
                  <p:pic>
                    <p:nvPicPr>
                      <p:cNvPr id="3" name="Object 8">
                        <a:extLst>
                          <a:ext uri="{FF2B5EF4-FFF2-40B4-BE49-F238E27FC236}">
                            <a16:creationId xmlns:a16="http://schemas.microsoft.com/office/drawing/2014/main" id="{88E6225E-54A3-4C7C-8491-BEB84E64AA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6072188"/>
                        <a:ext cx="77565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灯片编号占位符 1">
            <a:extLst>
              <a:ext uri="{FF2B5EF4-FFF2-40B4-BE49-F238E27FC236}">
                <a16:creationId xmlns:a16="http://schemas.microsoft.com/office/drawing/2014/main" id="{144D8F33-3A5B-41CB-88B7-924D7F14A17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0800A8-20E2-4DE7-96EC-C7981730A36C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graphicFrame>
        <p:nvGraphicFramePr>
          <p:cNvPr id="11" name="Object 28">
            <a:extLst>
              <a:ext uri="{FF2B5EF4-FFF2-40B4-BE49-F238E27FC236}">
                <a16:creationId xmlns:a16="http://schemas.microsoft.com/office/drawing/2014/main" id="{8063C367-2606-42D8-B220-84FBA1A37DE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915816" y="5153118"/>
          <a:ext cx="2461064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0" name="公式" r:id="rId9" imgW="1181075" imgH="361882" progId="Equation.3">
                  <p:embed/>
                </p:oleObj>
              </mc:Choice>
              <mc:Fallback>
                <p:oleObj name="公式" r:id="rId9" imgW="1181075" imgH="361882" progId="Equation.3">
                  <p:embed/>
                  <p:pic>
                    <p:nvPicPr>
                      <p:cNvPr id="11" name="Object 28">
                        <a:extLst>
                          <a:ext uri="{FF2B5EF4-FFF2-40B4-BE49-F238E27FC236}">
                            <a16:creationId xmlns:a16="http://schemas.microsoft.com/office/drawing/2014/main" id="{8063C367-2606-42D8-B220-84FBA1A37D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5153118"/>
                        <a:ext cx="2461064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19" grpId="0"/>
      <p:bldP spid="34820" grpId="0"/>
      <p:bldP spid="34821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9">
            <a:extLst>
              <a:ext uri="{FF2B5EF4-FFF2-40B4-BE49-F238E27FC236}">
                <a16:creationId xmlns:a16="http://schemas.microsoft.com/office/drawing/2014/main" id="{9ABE5F7F-B9AD-4EE8-B69F-1B32078C4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7338" y="27606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  <a:ea typeface="仿宋_GB2312"/>
              <a:cs typeface="仿宋_GB2312"/>
            </a:endParaRPr>
          </a:p>
        </p:txBody>
      </p:sp>
      <p:sp>
        <p:nvSpPr>
          <p:cNvPr id="11267" name="Rectangle 12">
            <a:extLst>
              <a:ext uri="{FF2B5EF4-FFF2-40B4-BE49-F238E27FC236}">
                <a16:creationId xmlns:a16="http://schemas.microsoft.com/office/drawing/2014/main" id="{B5990F47-866D-4543-9B05-AD50CC90A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7338" y="27606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  <a:ea typeface="仿宋_GB2312"/>
              <a:cs typeface="仿宋_GB2312"/>
            </a:endParaRPr>
          </a:p>
        </p:txBody>
      </p:sp>
      <p:sp>
        <p:nvSpPr>
          <p:cNvPr id="11268" name="Rectangle 15">
            <a:extLst>
              <a:ext uri="{FF2B5EF4-FFF2-40B4-BE49-F238E27FC236}">
                <a16:creationId xmlns:a16="http://schemas.microsoft.com/office/drawing/2014/main" id="{2ADBAE9A-5866-4A38-93E1-C0E832616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7338" y="27606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  <a:ea typeface="仿宋_GB2312"/>
              <a:cs typeface="仿宋_GB2312"/>
            </a:endParaRPr>
          </a:p>
        </p:txBody>
      </p:sp>
      <p:sp>
        <p:nvSpPr>
          <p:cNvPr id="11269" name="Rectangle 18">
            <a:extLst>
              <a:ext uri="{FF2B5EF4-FFF2-40B4-BE49-F238E27FC236}">
                <a16:creationId xmlns:a16="http://schemas.microsoft.com/office/drawing/2014/main" id="{596C5801-E068-42C8-BD7F-1D2B6DD26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7338" y="27606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  <a:ea typeface="仿宋_GB2312"/>
              <a:cs typeface="仿宋_GB2312"/>
            </a:endParaRPr>
          </a:p>
        </p:txBody>
      </p:sp>
      <p:sp>
        <p:nvSpPr>
          <p:cNvPr id="164887" name="Text Box 23">
            <a:extLst>
              <a:ext uri="{FF2B5EF4-FFF2-40B4-BE49-F238E27FC236}">
                <a16:creationId xmlns:a16="http://schemas.microsoft.com/office/drawing/2014/main" id="{91864613-4F22-4D3D-8AE2-DEE4701E4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3375"/>
            <a:ext cx="81772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计算热机的效率与致冷机的致冷系数是与工程实践相关的问题，处理这类问题的一般</a:t>
            </a:r>
            <a:r>
              <a:rPr kumimoji="0"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思路</a:t>
            </a: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是：</a:t>
            </a:r>
          </a:p>
        </p:txBody>
      </p:sp>
      <p:sp>
        <p:nvSpPr>
          <p:cNvPr id="164888" name="Rectangle 24">
            <a:extLst>
              <a:ext uri="{FF2B5EF4-FFF2-40B4-BE49-F238E27FC236}">
                <a16:creationId xmlns:a16="http://schemas.microsoft.com/office/drawing/2014/main" id="{00E4B4BE-7B9B-4B73-93D9-0A9DCDC83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314450"/>
            <a:ext cx="671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>
                <a:solidFill>
                  <a:schemeClr val="bg1"/>
                </a:solidFill>
                <a:ea typeface="楷体_GB2312" pitchFamily="49" charset="-122"/>
              </a:rPr>
              <a:t>(1)</a:t>
            </a:r>
            <a:r>
              <a:rPr kumimoji="0" lang="en-US" altLang="zh-CN" dirty="0">
                <a:solidFill>
                  <a:srgbClr val="00FF00"/>
                </a:solidFill>
                <a:ea typeface="楷体_GB2312" pitchFamily="49" charset="-122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根据循环过程作出该循环的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kumimoji="0" lang="en-US" altLang="zh-CN" i="1" dirty="0">
                <a:solidFill>
                  <a:srgbClr val="FFCC66"/>
                </a:solidFill>
                <a:ea typeface="楷体_GB2312" pitchFamily="49" charset="-122"/>
              </a:rPr>
              <a:t>p-V </a:t>
            </a:r>
            <a:r>
              <a:rPr kumimoji="0"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图；</a:t>
            </a:r>
          </a:p>
        </p:txBody>
      </p:sp>
      <p:sp>
        <p:nvSpPr>
          <p:cNvPr id="164889" name="Rectangle 25">
            <a:extLst>
              <a:ext uri="{FF2B5EF4-FFF2-40B4-BE49-F238E27FC236}">
                <a16:creationId xmlns:a16="http://schemas.microsoft.com/office/drawing/2014/main" id="{FCBB619E-4EAF-4CD3-A65E-4BA00C231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917700"/>
            <a:ext cx="680824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>
                <a:solidFill>
                  <a:schemeClr val="bg1"/>
                </a:solidFill>
                <a:ea typeface="楷体_GB2312" pitchFamily="49" charset="-122"/>
              </a:rPr>
              <a:t>(2)</a:t>
            </a:r>
            <a:r>
              <a:rPr kumimoji="0" lang="en-US" altLang="zh-CN" dirty="0">
                <a:solidFill>
                  <a:srgbClr val="00FF00"/>
                </a:solidFill>
                <a:ea typeface="楷体_GB2312" pitchFamily="49" charset="-122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一般热机的循环效率                         ；</a:t>
            </a:r>
            <a:r>
              <a:rPr kumimoji="0" lang="en-US" altLang="zh-CN" sz="1800" b="0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164890" name="Object 26">
            <a:extLst>
              <a:ext uri="{FF2B5EF4-FFF2-40B4-BE49-F238E27FC236}">
                <a16:creationId xmlns:a16="http://schemas.microsoft.com/office/drawing/2014/main" id="{840E3C20-9958-4B27-82BB-F964ACFB12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6850" y="1785938"/>
          <a:ext cx="185102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66" name="公式" r:id="rId3" imgW="1990578" imgH="733561" progId="Equation.3">
                  <p:embed/>
                </p:oleObj>
              </mc:Choice>
              <mc:Fallback>
                <p:oleObj name="公式" r:id="rId3" imgW="1990578" imgH="733561" progId="Equation.3">
                  <p:embed/>
                  <p:pic>
                    <p:nvPicPr>
                      <p:cNvPr id="164890" name="Object 26">
                        <a:extLst>
                          <a:ext uri="{FF2B5EF4-FFF2-40B4-BE49-F238E27FC236}">
                            <a16:creationId xmlns:a16="http://schemas.microsoft.com/office/drawing/2014/main" id="{840E3C20-9958-4B27-82BB-F964ACFB12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6850" y="1785938"/>
                        <a:ext cx="1851025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91" name="Rectangle 27">
            <a:extLst>
              <a:ext uri="{FF2B5EF4-FFF2-40B4-BE49-F238E27FC236}">
                <a16:creationId xmlns:a16="http://schemas.microsoft.com/office/drawing/2014/main" id="{CF97B777-2431-4B90-9336-68ED1D6AD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8" y="2660650"/>
            <a:ext cx="659564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一般致冷机的致冷系数                          ；</a:t>
            </a:r>
            <a:r>
              <a:rPr kumimoji="0" lang="en-US" altLang="zh-CN" sz="1800" b="0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164892" name="Object 28">
            <a:extLst>
              <a:ext uri="{FF2B5EF4-FFF2-40B4-BE49-F238E27FC236}">
                <a16:creationId xmlns:a16="http://schemas.microsoft.com/office/drawing/2014/main" id="{DD44EF02-6CF4-4A5C-92CD-98F6783E9A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9575" y="2565400"/>
          <a:ext cx="208915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67" name="公式" r:id="rId5" imgW="1181075" imgH="361882" progId="Equation.3">
                  <p:embed/>
                </p:oleObj>
              </mc:Choice>
              <mc:Fallback>
                <p:oleObj name="公式" r:id="rId5" imgW="1181075" imgH="361882" progId="Equation.3">
                  <p:embed/>
                  <p:pic>
                    <p:nvPicPr>
                      <p:cNvPr id="164892" name="Object 28">
                        <a:extLst>
                          <a:ext uri="{FF2B5EF4-FFF2-40B4-BE49-F238E27FC236}">
                            <a16:creationId xmlns:a16="http://schemas.microsoft.com/office/drawing/2014/main" id="{DD44EF02-6CF4-4A5C-92CD-98F6783E9A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575" y="2565400"/>
                        <a:ext cx="208915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3" name="Text Box 5">
            <a:extLst>
              <a:ext uri="{FF2B5EF4-FFF2-40B4-BE49-F238E27FC236}">
                <a16:creationId xmlns:a16="http://schemas.microsoft.com/office/drawing/2014/main" id="{E8FF3CAC-B790-4FD0-82C7-26E0EE991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3235325"/>
            <a:ext cx="8135938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4013" indent="-35401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en-US" altLang="zh-CN" dirty="0">
                <a:solidFill>
                  <a:schemeClr val="bg1"/>
                </a:solidFill>
                <a:ea typeface="楷体_GB2312" pitchFamily="49" charset="-122"/>
              </a:rPr>
              <a:t>(3) 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根据题设条件，计算出循环过程中吸收的热量</a:t>
            </a:r>
            <a:r>
              <a:rPr kumimoji="0" lang="en-US" altLang="zh-CN" dirty="0">
                <a:solidFill>
                  <a:schemeClr val="bg1"/>
                </a:solidFill>
                <a:ea typeface="楷体_GB2312" pitchFamily="49" charset="-122"/>
              </a:rPr>
              <a:t>﹑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放出的热量及作功的数值（</a:t>
            </a:r>
            <a:r>
              <a:rPr kumimoji="0" lang="zh-CN" altLang="en-US" dirty="0">
                <a:solidFill>
                  <a:srgbClr val="FFFF00"/>
                </a:solidFill>
                <a:ea typeface="楷体_GB2312" pitchFamily="49" charset="-122"/>
              </a:rPr>
              <a:t>绝对值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）；</a:t>
            </a:r>
            <a:endParaRPr kumimoji="0" lang="en-US" altLang="zh-CN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5907" name="Text Box 19">
            <a:extLst>
              <a:ext uri="{FF2B5EF4-FFF2-40B4-BE49-F238E27FC236}">
                <a16:creationId xmlns:a16="http://schemas.microsoft.com/office/drawing/2014/main" id="{4DC0650C-A92B-4EF8-8038-82FAF6069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4175125"/>
            <a:ext cx="8135938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4013" indent="-35401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(4)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计算循环效率和致冷系数，根据实际情况选用</a:t>
            </a:r>
            <a:r>
              <a:rPr kumimoji="0" lang="en-US" altLang="zh-CN" i="1">
                <a:solidFill>
                  <a:srgbClr val="FFCC66"/>
                </a:solidFill>
                <a:ea typeface="楷体_GB2312" pitchFamily="49" charset="-122"/>
              </a:rPr>
              <a:t>η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或</a:t>
            </a:r>
            <a:r>
              <a:rPr kumimoji="0" lang="en-US" altLang="zh-CN" i="1">
                <a:solidFill>
                  <a:srgbClr val="FFCC66"/>
                </a:solidFill>
                <a:ea typeface="楷体_GB2312" pitchFamily="49" charset="-122"/>
              </a:rPr>
              <a:t>w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的不同表达式</a:t>
            </a:r>
            <a:r>
              <a:rPr kumimoji="0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kumimoji="0" lang="en-US" altLang="zh-CN" b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5910" name="Text Box 22">
            <a:extLst>
              <a:ext uri="{FF2B5EF4-FFF2-40B4-BE49-F238E27FC236}">
                <a16:creationId xmlns:a16="http://schemas.microsoft.com/office/drawing/2014/main" id="{FB99BC6D-A9FF-4E76-A6AC-9474D54B6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5059363"/>
            <a:ext cx="719931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  <a:buClr>
                <a:srgbClr val="00FFFF"/>
              </a:buClr>
              <a:buSzPct val="80000"/>
              <a:buFont typeface="Wingdings" panose="05000000000000000000" pitchFamily="2" charset="2"/>
              <a:buChar char="l"/>
            </a:pP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如果吸热 </a:t>
            </a:r>
            <a:r>
              <a:rPr kumimoji="0" lang="en-US" altLang="zh-CN" i="1">
                <a:solidFill>
                  <a:srgbClr val="FFCC66"/>
                </a:solidFill>
                <a:ea typeface="楷体_GB2312" pitchFamily="49" charset="-122"/>
              </a:rPr>
              <a:t>Q</a:t>
            </a:r>
            <a:r>
              <a:rPr kumimoji="0" lang="en-US" altLang="zh-CN" baseline="-25000">
                <a:solidFill>
                  <a:srgbClr val="FFCC66"/>
                </a:solidFill>
                <a:ea typeface="楷体_GB2312" pitchFamily="49" charset="-122"/>
              </a:rPr>
              <a:t>1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和放热 </a:t>
            </a:r>
            <a:r>
              <a:rPr kumimoji="0" lang="en-US" altLang="zh-CN" i="1">
                <a:solidFill>
                  <a:srgbClr val="FFCC66"/>
                </a:solidFill>
                <a:ea typeface="楷体_GB2312" pitchFamily="49" charset="-122"/>
              </a:rPr>
              <a:t>Q</a:t>
            </a:r>
            <a:r>
              <a:rPr kumimoji="0" lang="en-US" altLang="zh-CN" baseline="-25000">
                <a:solidFill>
                  <a:srgbClr val="FFCC66"/>
                </a:solidFill>
                <a:ea typeface="楷体_GB2312" pitchFamily="49" charset="-122"/>
              </a:rPr>
              <a:t>2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容易求出，选用</a:t>
            </a:r>
          </a:p>
        </p:txBody>
      </p:sp>
      <p:graphicFrame>
        <p:nvGraphicFramePr>
          <p:cNvPr id="165912" name="Object 24">
            <a:extLst>
              <a:ext uri="{FF2B5EF4-FFF2-40B4-BE49-F238E27FC236}">
                <a16:creationId xmlns:a16="http://schemas.microsoft.com/office/drawing/2014/main" id="{566B4C4F-4168-46F9-A0EC-6E87CFCD7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7938" y="5059363"/>
          <a:ext cx="1423987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68" name="公式" r:id="rId7" imgW="1371600" imgH="733561" progId="Equation.3">
                  <p:embed/>
                </p:oleObj>
              </mc:Choice>
              <mc:Fallback>
                <p:oleObj name="公式" r:id="rId7" imgW="1371600" imgH="733561" progId="Equation.3">
                  <p:embed/>
                  <p:pic>
                    <p:nvPicPr>
                      <p:cNvPr id="165912" name="Object 24">
                        <a:extLst>
                          <a:ext uri="{FF2B5EF4-FFF2-40B4-BE49-F238E27FC236}">
                            <a16:creationId xmlns:a16="http://schemas.microsoft.com/office/drawing/2014/main" id="{566B4C4F-4168-46F9-A0EC-6E87CFCD7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38" y="5059363"/>
                        <a:ext cx="1423987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13" name="Text Box 25">
            <a:extLst>
              <a:ext uri="{FF2B5EF4-FFF2-40B4-BE49-F238E27FC236}">
                <a16:creationId xmlns:a16="http://schemas.microsoft.com/office/drawing/2014/main" id="{4C7E5BE8-9B72-4747-8E8E-70BDAAFB8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707063"/>
            <a:ext cx="79930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  <a:buClr>
                <a:srgbClr val="00FFFF"/>
              </a:buClr>
              <a:buSzPct val="80000"/>
              <a:buFont typeface="Wingdings" panose="05000000000000000000" pitchFamily="2" charset="2"/>
              <a:buChar char="l"/>
            </a:pP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如果吸热 </a:t>
            </a:r>
            <a:r>
              <a:rPr kumimoji="0" lang="en-US" altLang="zh-CN" i="1">
                <a:solidFill>
                  <a:srgbClr val="FFCC66"/>
                </a:solidFill>
                <a:ea typeface="楷体_GB2312" pitchFamily="49" charset="-122"/>
              </a:rPr>
              <a:t>Q</a:t>
            </a:r>
            <a:r>
              <a:rPr kumimoji="0" lang="en-US" altLang="zh-CN" baseline="-25000">
                <a:solidFill>
                  <a:srgbClr val="FFCC66"/>
                </a:solidFill>
                <a:ea typeface="楷体_GB2312" pitchFamily="49" charset="-122"/>
              </a:rPr>
              <a:t>1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和对外作功 </a:t>
            </a:r>
            <a:r>
              <a:rPr kumimoji="0" lang="en-US" altLang="zh-CN" i="1">
                <a:solidFill>
                  <a:srgbClr val="FFCC66"/>
                </a:solidFill>
                <a:ea typeface="楷体_GB2312" pitchFamily="49" charset="-122"/>
              </a:rPr>
              <a:t>A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容易求出，就选用</a:t>
            </a:r>
          </a:p>
        </p:txBody>
      </p:sp>
      <p:graphicFrame>
        <p:nvGraphicFramePr>
          <p:cNvPr id="165915" name="Object 27">
            <a:extLst>
              <a:ext uri="{FF2B5EF4-FFF2-40B4-BE49-F238E27FC236}">
                <a16:creationId xmlns:a16="http://schemas.microsoft.com/office/drawing/2014/main" id="{023BF2F7-E8F4-4974-93EA-C6599B21B0C2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7215188" y="5715000"/>
          <a:ext cx="838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69" name="公式" r:id="rId9" imgW="771582" imgH="733561" progId="Equation.3">
                  <p:embed/>
                </p:oleObj>
              </mc:Choice>
              <mc:Fallback>
                <p:oleObj name="公式" r:id="rId9" imgW="771582" imgH="733561" progId="Equation.3">
                  <p:embed/>
                  <p:pic>
                    <p:nvPicPr>
                      <p:cNvPr id="165915" name="Object 27">
                        <a:extLst>
                          <a:ext uri="{FF2B5EF4-FFF2-40B4-BE49-F238E27FC236}">
                            <a16:creationId xmlns:a16="http://schemas.microsoft.com/office/drawing/2014/main" id="{023BF2F7-E8F4-4974-93EA-C6599B21B0C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5715000"/>
                        <a:ext cx="838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2" name="灯片编号占位符 1">
            <a:extLst>
              <a:ext uri="{FF2B5EF4-FFF2-40B4-BE49-F238E27FC236}">
                <a16:creationId xmlns:a16="http://schemas.microsoft.com/office/drawing/2014/main" id="{576E9FCA-506F-42B4-BE2E-F9BA954043B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C4FBC0E-C9F6-4B36-9A56-1E109338118D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5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6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87" grpId="0"/>
      <p:bldP spid="164888" grpId="0"/>
      <p:bldP spid="164889" grpId="0"/>
      <p:bldP spid="164891" grpId="0"/>
      <p:bldP spid="165893" grpId="0"/>
      <p:bldP spid="165907" grpId="0"/>
      <p:bldP spid="165910" grpId="0"/>
      <p:bldP spid="1659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30E7D757-216D-4793-9154-91A856980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04800"/>
            <a:ext cx="41497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rgbClr val="66FFFF"/>
                </a:solidFill>
              </a:rPr>
              <a:t>1 mol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单原子分子的理想气</a:t>
            </a:r>
            <a:endParaRPr lang="en-US" altLang="zh-CN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体，循环过程如图   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98F24E6-2537-4E29-818C-08E27F74C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8" y="1268413"/>
            <a:ext cx="42941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判断循环类型？</a:t>
            </a:r>
            <a:endParaRPr lang="en-US" altLang="zh-CN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此循环效率</a:t>
            </a:r>
            <a:r>
              <a:rPr lang="en-US" altLang="zh-CN">
                <a:solidFill>
                  <a:schemeClr val="bg1"/>
                </a:solidFill>
              </a:rPr>
              <a:t>?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07C03B50-2F5E-406A-B070-CB1447A6E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2320925"/>
            <a:ext cx="110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  <a:endParaRPr lang="zh-CN" altLang="en-US" sz="2800" i="1">
              <a:solidFill>
                <a:srgbClr val="FFFF00"/>
              </a:solidFill>
            </a:endParaRP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C140F417-9B4C-4AA6-8454-29B4D25E5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571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3A863781-D333-4528-B0F2-73F81514F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3430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求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A86C9D18-9DBB-4D02-B933-47DF0CA6D679}"/>
              </a:ext>
            </a:extLst>
          </p:cNvPr>
          <p:cNvGrpSpPr>
            <a:grpSpLocks/>
          </p:cNvGrpSpPr>
          <p:nvPr/>
        </p:nvGrpSpPr>
        <p:grpSpPr bwMode="auto">
          <a:xfrm>
            <a:off x="4521200" y="668338"/>
            <a:ext cx="2800350" cy="2689225"/>
            <a:chOff x="2744" y="361"/>
            <a:chExt cx="1764" cy="1694"/>
          </a:xfrm>
        </p:grpSpPr>
        <p:sp>
          <p:nvSpPr>
            <p:cNvPr id="9272" name="Text Box 8">
              <a:extLst>
                <a:ext uri="{FF2B5EF4-FFF2-40B4-BE49-F238E27FC236}">
                  <a16:creationId xmlns:a16="http://schemas.microsoft.com/office/drawing/2014/main" id="{5BD7383F-BD82-43A0-A9E1-7D7E0EB04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3" y="1117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0">
                  <a:solidFill>
                    <a:schemeClr val="bg1"/>
                  </a:solidFill>
                </a:rPr>
                <a:t>c</a:t>
              </a:r>
            </a:p>
          </p:txBody>
        </p:sp>
        <p:grpSp>
          <p:nvGrpSpPr>
            <p:cNvPr id="9273" name="Group 9">
              <a:extLst>
                <a:ext uri="{FF2B5EF4-FFF2-40B4-BE49-F238E27FC236}">
                  <a16:creationId xmlns:a16="http://schemas.microsoft.com/office/drawing/2014/main" id="{AD6C5E61-9A99-4BB9-A165-63390ABFEF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361"/>
              <a:ext cx="1764" cy="1694"/>
              <a:chOff x="2744" y="361"/>
              <a:chExt cx="1764" cy="1694"/>
            </a:xfrm>
          </p:grpSpPr>
          <p:grpSp>
            <p:nvGrpSpPr>
              <p:cNvPr id="9274" name="Group 10">
                <a:extLst>
                  <a:ext uri="{FF2B5EF4-FFF2-40B4-BE49-F238E27FC236}">
                    <a16:creationId xmlns:a16="http://schemas.microsoft.com/office/drawing/2014/main" id="{40C5EAAB-C668-47D6-90C8-B888E1BEC8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" y="361"/>
                <a:ext cx="1764" cy="1694"/>
                <a:chOff x="2744" y="361"/>
                <a:chExt cx="1764" cy="1694"/>
              </a:xfrm>
            </p:grpSpPr>
            <p:sp>
              <p:nvSpPr>
                <p:cNvPr id="9276" name="AutoShape 11">
                  <a:extLst>
                    <a:ext uri="{FF2B5EF4-FFF2-40B4-BE49-F238E27FC236}">
                      <a16:creationId xmlns:a16="http://schemas.microsoft.com/office/drawing/2014/main" id="{F9E8D7B9-0F66-48C4-97CE-689D49FE02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3704" y="680"/>
                  <a:ext cx="576" cy="576"/>
                </a:xfrm>
                <a:prstGeom prst="rtTriangle">
                  <a:avLst/>
                </a:prstGeom>
                <a:noFill/>
                <a:ln w="38100">
                  <a:solidFill>
                    <a:srgbClr val="FFFF6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kumimoji="0"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277" name="Line 12">
                  <a:extLst>
                    <a:ext uri="{FF2B5EF4-FFF2-40B4-BE49-F238E27FC236}">
                      <a16:creationId xmlns:a16="http://schemas.microsoft.com/office/drawing/2014/main" id="{7F6DC75E-CF22-43F1-84EB-2BDF47E348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76" y="1208"/>
                  <a:ext cx="576" cy="576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78" name="Line 13">
                  <a:extLst>
                    <a:ext uri="{FF2B5EF4-FFF2-40B4-BE49-F238E27FC236}">
                      <a16:creationId xmlns:a16="http://schemas.microsoft.com/office/drawing/2014/main" id="{F86BF793-E61B-4051-8635-995EB3B439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4" y="1160"/>
                  <a:ext cx="0" cy="624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79" name="Line 14">
                  <a:extLst>
                    <a:ext uri="{FF2B5EF4-FFF2-40B4-BE49-F238E27FC236}">
                      <a16:creationId xmlns:a16="http://schemas.microsoft.com/office/drawing/2014/main" id="{736A5837-DF07-4D50-946B-A8CA4502E3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86" y="680"/>
                  <a:ext cx="0" cy="1104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80" name="Line 15">
                  <a:extLst>
                    <a:ext uri="{FF2B5EF4-FFF2-40B4-BE49-F238E27FC236}">
                      <a16:creationId xmlns:a16="http://schemas.microsoft.com/office/drawing/2014/main" id="{FE6BC64C-977D-47E0-B158-0160CAE47C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6" y="680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81" name="Text Box 16">
                  <a:extLst>
                    <a:ext uri="{FF2B5EF4-FFF2-40B4-BE49-F238E27FC236}">
                      <a16:creationId xmlns:a16="http://schemas.microsoft.com/office/drawing/2014/main" id="{28631D68-0B97-4D7E-9D10-4E5FE168FC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0" y="361"/>
                  <a:ext cx="215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 b="0">
                      <a:solidFill>
                        <a:schemeClr val="bg1"/>
                      </a:solidFill>
                    </a:rPr>
                    <a:t>a</a:t>
                  </a:r>
                </a:p>
              </p:txBody>
            </p:sp>
            <p:sp>
              <p:nvSpPr>
                <p:cNvPr id="9282" name="Text Box 17">
                  <a:extLst>
                    <a:ext uri="{FF2B5EF4-FFF2-40B4-BE49-F238E27FC236}">
                      <a16:creationId xmlns:a16="http://schemas.microsoft.com/office/drawing/2014/main" id="{8A3612F8-F6FF-4816-A861-984D2BD766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0" y="397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 b="0">
                      <a:solidFill>
                        <a:schemeClr val="bg1"/>
                      </a:solidFill>
                    </a:rPr>
                    <a:t>b</a:t>
                  </a:r>
                </a:p>
              </p:txBody>
            </p:sp>
            <p:sp>
              <p:nvSpPr>
                <p:cNvPr id="9283" name="Text Box 18">
                  <a:extLst>
                    <a:ext uri="{FF2B5EF4-FFF2-40B4-BE49-F238E27FC236}">
                      <a16:creationId xmlns:a16="http://schemas.microsoft.com/office/drawing/2014/main" id="{B5EAA5BD-17D9-4C54-9284-53EE8CF255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44" y="536"/>
                  <a:ext cx="40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0">
                      <a:solidFill>
                        <a:schemeClr val="bg1"/>
                      </a:solidFill>
                    </a:rPr>
                    <a:t>600</a:t>
                  </a:r>
                </a:p>
              </p:txBody>
            </p:sp>
            <p:sp>
              <p:nvSpPr>
                <p:cNvPr id="9284" name="Text Box 19">
                  <a:extLst>
                    <a:ext uri="{FF2B5EF4-FFF2-40B4-BE49-F238E27FC236}">
                      <a16:creationId xmlns:a16="http://schemas.microsoft.com/office/drawing/2014/main" id="{512C955A-718A-401F-BA34-AFA8CD953E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95" y="1752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0">
                      <a:solidFill>
                        <a:schemeClr val="bg1"/>
                      </a:solidFill>
                    </a:rPr>
                    <a:t>2</a:t>
                  </a:r>
                </a:p>
              </p:txBody>
            </p:sp>
            <p:sp>
              <p:nvSpPr>
                <p:cNvPr id="9285" name="Text Box 20">
                  <a:extLst>
                    <a:ext uri="{FF2B5EF4-FFF2-40B4-BE49-F238E27FC236}">
                      <a16:creationId xmlns:a16="http://schemas.microsoft.com/office/drawing/2014/main" id="{DE64D33C-0DA5-4008-B46E-294CA6AD8D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98" y="1767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9275" name="Line 21">
                <a:extLst>
                  <a:ext uri="{FF2B5EF4-FFF2-40B4-BE49-F238E27FC236}">
                    <a16:creationId xmlns:a16="http://schemas.microsoft.com/office/drawing/2014/main" id="{1131AA0A-C164-4729-A84C-BEA0896CA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850"/>
                <a:ext cx="0" cy="240"/>
              </a:xfrm>
              <a:prstGeom prst="line">
                <a:avLst/>
              </a:prstGeom>
              <a:noFill/>
              <a:ln w="57150">
                <a:solidFill>
                  <a:srgbClr val="00FF99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5862" name="Freeform 22">
            <a:extLst>
              <a:ext uri="{FF2B5EF4-FFF2-40B4-BE49-F238E27FC236}">
                <a16:creationId xmlns:a16="http://schemas.microsoft.com/office/drawing/2014/main" id="{CFA4F38E-6E47-4D5B-B2BE-A5DC55685AC4}"/>
              </a:ext>
            </a:extLst>
          </p:cNvPr>
          <p:cNvSpPr>
            <a:spLocks/>
          </p:cNvSpPr>
          <p:nvPr/>
        </p:nvSpPr>
        <p:spPr bwMode="auto">
          <a:xfrm>
            <a:off x="5964238" y="4271963"/>
            <a:ext cx="914400" cy="1066800"/>
          </a:xfrm>
          <a:custGeom>
            <a:avLst/>
            <a:gdLst>
              <a:gd name="T0" fmla="*/ 0 w 576"/>
              <a:gd name="T1" fmla="*/ 0 h 672"/>
              <a:gd name="T2" fmla="*/ 2147483646 w 576"/>
              <a:gd name="T3" fmla="*/ 2147483646 h 672"/>
              <a:gd name="T4" fmla="*/ 2147483646 w 576"/>
              <a:gd name="T5" fmla="*/ 2147483646 h 672"/>
              <a:gd name="T6" fmla="*/ 2147483646 w 576"/>
              <a:gd name="T7" fmla="*/ 2147483646 h 672"/>
              <a:gd name="T8" fmla="*/ 2147483646 w 576"/>
              <a:gd name="T9" fmla="*/ 2147483646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672"/>
              <a:gd name="T17" fmla="*/ 576 w 576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672">
                <a:moveTo>
                  <a:pt x="0" y="0"/>
                </a:moveTo>
                <a:cubicBezTo>
                  <a:pt x="28" y="64"/>
                  <a:pt x="56" y="128"/>
                  <a:pt x="96" y="192"/>
                </a:cubicBezTo>
                <a:cubicBezTo>
                  <a:pt x="136" y="256"/>
                  <a:pt x="192" y="328"/>
                  <a:pt x="240" y="384"/>
                </a:cubicBezTo>
                <a:cubicBezTo>
                  <a:pt x="288" y="440"/>
                  <a:pt x="328" y="480"/>
                  <a:pt x="384" y="528"/>
                </a:cubicBezTo>
                <a:cubicBezTo>
                  <a:pt x="440" y="576"/>
                  <a:pt x="544" y="648"/>
                  <a:pt x="576" y="672"/>
                </a:cubicBezTo>
              </a:path>
            </a:pathLst>
          </a:cu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3" name="Line 23">
            <a:extLst>
              <a:ext uri="{FF2B5EF4-FFF2-40B4-BE49-F238E27FC236}">
                <a16:creationId xmlns:a16="http://schemas.microsoft.com/office/drawing/2014/main" id="{1A2037C8-40E6-48DC-90E7-9FC70D8872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4238" y="4271963"/>
            <a:ext cx="0" cy="106680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4" name="Text Box 24">
            <a:extLst>
              <a:ext uri="{FF2B5EF4-FFF2-40B4-BE49-F238E27FC236}">
                <a16:creationId xmlns:a16="http://schemas.microsoft.com/office/drawing/2014/main" id="{EE7C4D15-EFB1-49E8-B150-3CDA4240B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5025" y="3917950"/>
            <a:ext cx="34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5865" name="Text Box 25">
            <a:extLst>
              <a:ext uri="{FF2B5EF4-FFF2-40B4-BE49-F238E27FC236}">
                <a16:creationId xmlns:a16="http://schemas.microsoft.com/office/drawing/2014/main" id="{DB130DDE-6626-4659-A9CE-8914F6BB3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238" y="5203825"/>
            <a:ext cx="341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0" dirty="0">
                <a:solidFill>
                  <a:schemeClr val="bg1"/>
                </a:solidFill>
              </a:rPr>
              <a:t>c</a:t>
            </a:r>
          </a:p>
        </p:txBody>
      </p:sp>
      <p:grpSp>
        <p:nvGrpSpPr>
          <p:cNvPr id="6" name="Group 26">
            <a:extLst>
              <a:ext uri="{FF2B5EF4-FFF2-40B4-BE49-F238E27FC236}">
                <a16:creationId xmlns:a16="http://schemas.microsoft.com/office/drawing/2014/main" id="{9BB4F93F-03E2-4939-91F9-0F925BF7D10A}"/>
              </a:ext>
            </a:extLst>
          </p:cNvPr>
          <p:cNvGrpSpPr>
            <a:grpSpLocks/>
          </p:cNvGrpSpPr>
          <p:nvPr/>
        </p:nvGrpSpPr>
        <p:grpSpPr bwMode="auto">
          <a:xfrm>
            <a:off x="5811838" y="5338763"/>
            <a:ext cx="336550" cy="1089025"/>
            <a:chOff x="3557" y="3091"/>
            <a:chExt cx="212" cy="686"/>
          </a:xfrm>
        </p:grpSpPr>
        <p:sp>
          <p:nvSpPr>
            <p:cNvPr id="9270" name="Line 27">
              <a:extLst>
                <a:ext uri="{FF2B5EF4-FFF2-40B4-BE49-F238E27FC236}">
                  <a16:creationId xmlns:a16="http://schemas.microsoft.com/office/drawing/2014/main" id="{A6DBC09B-774E-4BCE-ACBE-9B646B780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3" y="3091"/>
              <a:ext cx="0" cy="43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1" name="Text Box 28">
              <a:extLst>
                <a:ext uri="{FF2B5EF4-FFF2-40B4-BE49-F238E27FC236}">
                  <a16:creationId xmlns:a16="http://schemas.microsoft.com/office/drawing/2014/main" id="{3A8851AD-D3CD-494E-9D01-46DAB0E48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348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oup 29">
            <a:extLst>
              <a:ext uri="{FF2B5EF4-FFF2-40B4-BE49-F238E27FC236}">
                <a16:creationId xmlns:a16="http://schemas.microsoft.com/office/drawing/2014/main" id="{0C722648-6E8F-4754-A93D-5EAC2A9E5A4D}"/>
              </a:ext>
            </a:extLst>
          </p:cNvPr>
          <p:cNvGrpSpPr>
            <a:grpSpLocks/>
          </p:cNvGrpSpPr>
          <p:nvPr/>
        </p:nvGrpSpPr>
        <p:grpSpPr bwMode="auto">
          <a:xfrm>
            <a:off x="4592638" y="4043363"/>
            <a:ext cx="1371600" cy="457200"/>
            <a:chOff x="2789" y="2275"/>
            <a:chExt cx="864" cy="288"/>
          </a:xfrm>
        </p:grpSpPr>
        <p:sp>
          <p:nvSpPr>
            <p:cNvPr id="9268" name="Line 30">
              <a:extLst>
                <a:ext uri="{FF2B5EF4-FFF2-40B4-BE49-F238E27FC236}">
                  <a16:creationId xmlns:a16="http://schemas.microsoft.com/office/drawing/2014/main" id="{5344B2A2-4E83-458D-B6FD-E552DFBF3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" y="2419"/>
              <a:ext cx="48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9" name="Text Box 31">
              <a:extLst>
                <a:ext uri="{FF2B5EF4-FFF2-40B4-BE49-F238E27FC236}">
                  <a16:creationId xmlns:a16="http://schemas.microsoft.com/office/drawing/2014/main" id="{A6F97506-FC65-4DF6-925C-23AD68B71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2275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0">
                  <a:solidFill>
                    <a:schemeClr val="bg1"/>
                  </a:solidFill>
                </a:rPr>
                <a:t>600</a:t>
              </a:r>
            </a:p>
          </p:txBody>
        </p:sp>
      </p:grpSp>
      <p:grpSp>
        <p:nvGrpSpPr>
          <p:cNvPr id="8" name="Group 32">
            <a:extLst>
              <a:ext uri="{FF2B5EF4-FFF2-40B4-BE49-F238E27FC236}">
                <a16:creationId xmlns:a16="http://schemas.microsoft.com/office/drawing/2014/main" id="{73E25951-3462-4F34-9208-FF3C3B55D6BB}"/>
              </a:ext>
            </a:extLst>
          </p:cNvPr>
          <p:cNvGrpSpPr>
            <a:grpSpLocks/>
          </p:cNvGrpSpPr>
          <p:nvPr/>
        </p:nvGrpSpPr>
        <p:grpSpPr bwMode="auto">
          <a:xfrm>
            <a:off x="4592638" y="5033963"/>
            <a:ext cx="1371600" cy="457200"/>
            <a:chOff x="2789" y="2899"/>
            <a:chExt cx="864" cy="288"/>
          </a:xfrm>
        </p:grpSpPr>
        <p:sp>
          <p:nvSpPr>
            <p:cNvPr id="9266" name="Line 33">
              <a:extLst>
                <a:ext uri="{FF2B5EF4-FFF2-40B4-BE49-F238E27FC236}">
                  <a16:creationId xmlns:a16="http://schemas.microsoft.com/office/drawing/2014/main" id="{CCD05474-43D8-4BD3-9A4F-A0A32961D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" y="3091"/>
              <a:ext cx="48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7" name="Text Box 34">
              <a:extLst>
                <a:ext uri="{FF2B5EF4-FFF2-40B4-BE49-F238E27FC236}">
                  <a16:creationId xmlns:a16="http://schemas.microsoft.com/office/drawing/2014/main" id="{58BB0160-8519-417C-8814-3D9B9BB33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2899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0" dirty="0">
                  <a:solidFill>
                    <a:schemeClr val="bg1"/>
                  </a:solidFill>
                </a:rPr>
                <a:t>300</a:t>
              </a:r>
            </a:p>
          </p:txBody>
        </p:sp>
      </p:grpSp>
      <p:sp>
        <p:nvSpPr>
          <p:cNvPr id="35875" name="Text Box 35">
            <a:extLst>
              <a:ext uri="{FF2B5EF4-FFF2-40B4-BE49-F238E27FC236}">
                <a16:creationId xmlns:a16="http://schemas.microsoft.com/office/drawing/2014/main" id="{27324D49-D08C-4269-8AE6-A8EDCD0FE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638" y="5110163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5876" name="Line 36">
            <a:extLst>
              <a:ext uri="{FF2B5EF4-FFF2-40B4-BE49-F238E27FC236}">
                <a16:creationId xmlns:a16="http://schemas.microsoft.com/office/drawing/2014/main" id="{C2470E04-DC4F-408D-ABDB-F51EF3A7F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4238" y="5338763"/>
            <a:ext cx="9144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37">
            <a:extLst>
              <a:ext uri="{FF2B5EF4-FFF2-40B4-BE49-F238E27FC236}">
                <a16:creationId xmlns:a16="http://schemas.microsoft.com/office/drawing/2014/main" id="{0E623585-5D24-4B66-BCD2-E572D341B590}"/>
              </a:ext>
            </a:extLst>
          </p:cNvPr>
          <p:cNvGrpSpPr>
            <a:grpSpLocks/>
          </p:cNvGrpSpPr>
          <p:nvPr/>
        </p:nvGrpSpPr>
        <p:grpSpPr bwMode="auto">
          <a:xfrm>
            <a:off x="6726238" y="5338763"/>
            <a:ext cx="336550" cy="1089025"/>
            <a:chOff x="4133" y="3091"/>
            <a:chExt cx="212" cy="686"/>
          </a:xfrm>
        </p:grpSpPr>
        <p:sp>
          <p:nvSpPr>
            <p:cNvPr id="9264" name="Text Box 38">
              <a:extLst>
                <a:ext uri="{FF2B5EF4-FFF2-40B4-BE49-F238E27FC236}">
                  <a16:creationId xmlns:a16="http://schemas.microsoft.com/office/drawing/2014/main" id="{2CAE4AC1-9C49-4EEA-8865-FF76ADF88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3" y="348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265" name="Line 39">
              <a:extLst>
                <a:ext uri="{FF2B5EF4-FFF2-40B4-BE49-F238E27FC236}">
                  <a16:creationId xmlns:a16="http://schemas.microsoft.com/office/drawing/2014/main" id="{1B7AEE8A-F31F-4438-A165-C0ED4C11C6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091"/>
              <a:ext cx="0" cy="43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40">
            <a:extLst>
              <a:ext uri="{FF2B5EF4-FFF2-40B4-BE49-F238E27FC236}">
                <a16:creationId xmlns:a16="http://schemas.microsoft.com/office/drawing/2014/main" id="{614616D0-9769-4323-8804-A93EAA6B4D72}"/>
              </a:ext>
            </a:extLst>
          </p:cNvPr>
          <p:cNvGrpSpPr>
            <a:grpSpLocks/>
          </p:cNvGrpSpPr>
          <p:nvPr/>
        </p:nvGrpSpPr>
        <p:grpSpPr bwMode="auto">
          <a:xfrm>
            <a:off x="4808538" y="355600"/>
            <a:ext cx="5164137" cy="2978150"/>
            <a:chOff x="2925" y="164"/>
            <a:chExt cx="3253" cy="1876"/>
          </a:xfrm>
        </p:grpSpPr>
        <p:sp>
          <p:nvSpPr>
            <p:cNvPr id="9259" name="Line 41">
              <a:extLst>
                <a:ext uri="{FF2B5EF4-FFF2-40B4-BE49-F238E27FC236}">
                  <a16:creationId xmlns:a16="http://schemas.microsoft.com/office/drawing/2014/main" id="{DE240E08-474D-43F9-ACB6-297470FD0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72"/>
              <a:ext cx="0" cy="1519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60" name="Line 42">
              <a:extLst>
                <a:ext uri="{FF2B5EF4-FFF2-40B4-BE49-F238E27FC236}">
                  <a16:creationId xmlns:a16="http://schemas.microsoft.com/office/drawing/2014/main" id="{7F1F9FDB-6F2D-48AF-AAA0-01B87D44B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5" y="1784"/>
              <a:ext cx="1519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61" name="Text Box 43">
              <a:extLst>
                <a:ext uri="{FF2B5EF4-FFF2-40B4-BE49-F238E27FC236}">
                  <a16:creationId xmlns:a16="http://schemas.microsoft.com/office/drawing/2014/main" id="{83096647-F234-447C-9BBE-D2FEACC659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" y="164"/>
              <a:ext cx="5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</a:rPr>
                <a:t>T </a:t>
              </a:r>
              <a:r>
                <a:rPr lang="en-US" altLang="zh-CN" b="0" dirty="0">
                  <a:solidFill>
                    <a:schemeClr val="bg1"/>
                  </a:solidFill>
                </a:rPr>
                <a:t>(K)</a:t>
              </a:r>
              <a:endParaRPr lang="zh-CN" altLang="en-US" b="0" dirty="0">
                <a:solidFill>
                  <a:schemeClr val="bg1"/>
                </a:solidFill>
              </a:endParaRPr>
            </a:p>
          </p:txBody>
        </p:sp>
        <p:sp>
          <p:nvSpPr>
            <p:cNvPr id="9262" name="Text Box 44">
              <a:extLst>
                <a:ext uri="{FF2B5EF4-FFF2-40B4-BE49-F238E27FC236}">
                  <a16:creationId xmlns:a16="http://schemas.microsoft.com/office/drawing/2014/main" id="{6C65E245-C75D-48B7-8ABC-E86EE92DE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752"/>
              <a:ext cx="17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0" i="1">
                  <a:solidFill>
                    <a:schemeClr val="bg1"/>
                  </a:solidFill>
                </a:rPr>
                <a:t>V</a:t>
              </a:r>
              <a:r>
                <a:rPr lang="zh-CN" altLang="en-US">
                  <a:solidFill>
                    <a:schemeClr val="bg1"/>
                  </a:solidFill>
                </a:rPr>
                <a:t>（</a:t>
              </a:r>
              <a:r>
                <a:rPr lang="en-US" altLang="zh-CN" b="0">
                  <a:solidFill>
                    <a:schemeClr val="bg1"/>
                  </a:solidFill>
                </a:rPr>
                <a:t>10</a:t>
              </a:r>
              <a:r>
                <a:rPr lang="en-US" altLang="zh-CN" b="0" baseline="50000">
                  <a:solidFill>
                    <a:schemeClr val="bg1"/>
                  </a:solidFill>
                </a:rPr>
                <a:t>-3 </a:t>
              </a:r>
              <a:r>
                <a:rPr lang="en-US" altLang="zh-CN" b="0">
                  <a:solidFill>
                    <a:schemeClr val="bg1"/>
                  </a:solidFill>
                </a:rPr>
                <a:t>m</a:t>
              </a:r>
              <a:r>
                <a:rPr lang="en-US" altLang="zh-CN" b="0" baseline="50000">
                  <a:solidFill>
                    <a:schemeClr val="bg1"/>
                  </a:solidFill>
                </a:rPr>
                <a:t>3</a:t>
              </a:r>
              <a:r>
                <a:rPr lang="zh-CN" altLang="en-US">
                  <a:solidFill>
                    <a:schemeClr val="bg1"/>
                  </a:solidFill>
                </a:rPr>
                <a:t>）</a:t>
              </a:r>
            </a:p>
          </p:txBody>
        </p:sp>
        <p:sp>
          <p:nvSpPr>
            <p:cNvPr id="9263" name="Text Box 45">
              <a:extLst>
                <a:ext uri="{FF2B5EF4-FFF2-40B4-BE49-F238E27FC236}">
                  <a16:creationId xmlns:a16="http://schemas.microsoft.com/office/drawing/2014/main" id="{78C9BE42-21D7-4D26-8548-6A5854EFA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173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0" i="1">
                  <a:solidFill>
                    <a:schemeClr val="bg1"/>
                  </a:solidFill>
                </a:rPr>
                <a:t>O</a:t>
              </a:r>
            </a:p>
          </p:txBody>
        </p:sp>
      </p:grpSp>
      <p:sp>
        <p:nvSpPr>
          <p:cNvPr id="35886" name="Line 46">
            <a:extLst>
              <a:ext uri="{FF2B5EF4-FFF2-40B4-BE49-F238E27FC236}">
                <a16:creationId xmlns:a16="http://schemas.microsoft.com/office/drawing/2014/main" id="{EC59FDA7-BEB9-4EE1-BBD4-6925B5ED51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5825" y="4556125"/>
            <a:ext cx="0" cy="381000"/>
          </a:xfrm>
          <a:prstGeom prst="line">
            <a:avLst/>
          </a:prstGeom>
          <a:noFill/>
          <a:ln w="57150">
            <a:solidFill>
              <a:srgbClr val="00FF99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7" name="Freeform 47">
            <a:extLst>
              <a:ext uri="{FF2B5EF4-FFF2-40B4-BE49-F238E27FC236}">
                <a16:creationId xmlns:a16="http://schemas.microsoft.com/office/drawing/2014/main" id="{053C1E3B-7196-4A80-AA5D-24FB30842239}"/>
              </a:ext>
            </a:extLst>
          </p:cNvPr>
          <p:cNvSpPr>
            <a:spLocks/>
          </p:cNvSpPr>
          <p:nvPr/>
        </p:nvSpPr>
        <p:spPr bwMode="auto">
          <a:xfrm rot="-10028271">
            <a:off x="6291263" y="4518025"/>
            <a:ext cx="215900" cy="609600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C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8" name="Freeform 48">
            <a:extLst>
              <a:ext uri="{FF2B5EF4-FFF2-40B4-BE49-F238E27FC236}">
                <a16:creationId xmlns:a16="http://schemas.microsoft.com/office/drawing/2014/main" id="{7383C33C-FFAB-4AF0-9EBD-6EFD5C523F05}"/>
              </a:ext>
            </a:extLst>
          </p:cNvPr>
          <p:cNvSpPr>
            <a:spLocks/>
          </p:cNvSpPr>
          <p:nvPr/>
        </p:nvSpPr>
        <p:spPr bwMode="auto">
          <a:xfrm rot="-10028271">
            <a:off x="6137275" y="5087938"/>
            <a:ext cx="215900" cy="609600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C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9" name="Freeform 49">
            <a:extLst>
              <a:ext uri="{FF2B5EF4-FFF2-40B4-BE49-F238E27FC236}">
                <a16:creationId xmlns:a16="http://schemas.microsoft.com/office/drawing/2014/main" id="{55B35718-FCB0-47F4-BD88-13085479EA5D}"/>
              </a:ext>
            </a:extLst>
          </p:cNvPr>
          <p:cNvSpPr>
            <a:spLocks/>
          </p:cNvSpPr>
          <p:nvPr/>
        </p:nvSpPr>
        <p:spPr bwMode="auto">
          <a:xfrm rot="8354261" flipH="1">
            <a:off x="5843588" y="4711700"/>
            <a:ext cx="215900" cy="609600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C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5890" name="Object 2">
            <a:extLst>
              <a:ext uri="{FF2B5EF4-FFF2-40B4-BE49-F238E27FC236}">
                <a16:creationId xmlns:a16="http://schemas.microsoft.com/office/drawing/2014/main" id="{77C3607C-73CA-4DA7-8FFC-833BCB07A9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4563" y="3357563"/>
          <a:ext cx="291306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90" name="公式" r:id="rId3" imgW="1181075" imgH="571602" progId="Equation.3">
                  <p:embed/>
                </p:oleObj>
              </mc:Choice>
              <mc:Fallback>
                <p:oleObj name="公式" r:id="rId3" imgW="1181075" imgH="571602" progId="Equation.3">
                  <p:embed/>
                  <p:pic>
                    <p:nvPicPr>
                      <p:cNvPr id="35890" name="Object 2">
                        <a:extLst>
                          <a:ext uri="{FF2B5EF4-FFF2-40B4-BE49-F238E27FC236}">
                            <a16:creationId xmlns:a16="http://schemas.microsoft.com/office/drawing/2014/main" id="{77C3607C-73CA-4DA7-8FFC-833BCB07A9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3357563"/>
                        <a:ext cx="2913062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51">
            <a:extLst>
              <a:ext uri="{FF2B5EF4-FFF2-40B4-BE49-F238E27FC236}">
                <a16:creationId xmlns:a16="http://schemas.microsoft.com/office/drawing/2014/main" id="{D5D59AB9-C8AB-4150-A907-805C937EFD40}"/>
              </a:ext>
            </a:extLst>
          </p:cNvPr>
          <p:cNvGrpSpPr>
            <a:grpSpLocks/>
          </p:cNvGrpSpPr>
          <p:nvPr/>
        </p:nvGrpSpPr>
        <p:grpSpPr bwMode="auto">
          <a:xfrm>
            <a:off x="4808538" y="3429000"/>
            <a:ext cx="4192587" cy="3024188"/>
            <a:chOff x="2925" y="1888"/>
            <a:chExt cx="2641" cy="1905"/>
          </a:xfrm>
        </p:grpSpPr>
        <p:grpSp>
          <p:nvGrpSpPr>
            <p:cNvPr id="9252" name="Group 52">
              <a:extLst>
                <a:ext uri="{FF2B5EF4-FFF2-40B4-BE49-F238E27FC236}">
                  <a16:creationId xmlns:a16="http://schemas.microsoft.com/office/drawing/2014/main" id="{E5C2F283-F8BD-40CC-955D-4D3BAA7522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5" y="1904"/>
              <a:ext cx="2641" cy="1889"/>
              <a:chOff x="2925" y="151"/>
              <a:chExt cx="2641" cy="1889"/>
            </a:xfrm>
          </p:grpSpPr>
          <p:sp>
            <p:nvSpPr>
              <p:cNvPr id="9254" name="Line 53">
                <a:extLst>
                  <a:ext uri="{FF2B5EF4-FFF2-40B4-BE49-F238E27FC236}">
                    <a16:creationId xmlns:a16="http://schemas.microsoft.com/office/drawing/2014/main" id="{079D1DE4-59F9-4D8C-9421-2DE572B7CF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6" y="272"/>
                <a:ext cx="0" cy="1519"/>
              </a:xfrm>
              <a:prstGeom prst="line">
                <a:avLst/>
              </a:prstGeom>
              <a:noFill/>
              <a:ln w="28575" cap="sq">
                <a:solidFill>
                  <a:schemeClr val="bg1"/>
                </a:solidFill>
                <a:miter lim="800000"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55" name="Line 54">
                <a:extLst>
                  <a:ext uri="{FF2B5EF4-FFF2-40B4-BE49-F238E27FC236}">
                    <a16:creationId xmlns:a16="http://schemas.microsoft.com/office/drawing/2014/main" id="{D4046636-4A5D-457F-8FFF-1BE4DCD635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5" y="1784"/>
                <a:ext cx="1519" cy="0"/>
              </a:xfrm>
              <a:prstGeom prst="line">
                <a:avLst/>
              </a:prstGeom>
              <a:noFill/>
              <a:ln w="28575" cap="sq">
                <a:solidFill>
                  <a:schemeClr val="bg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56" name="Text Box 55">
                <a:extLst>
                  <a:ext uri="{FF2B5EF4-FFF2-40B4-BE49-F238E27FC236}">
                    <a16:creationId xmlns:a16="http://schemas.microsoft.com/office/drawing/2014/main" id="{B9AF8F4A-5C37-400A-927A-DDF7824122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151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zh-CN" b="0">
                  <a:solidFill>
                    <a:schemeClr val="bg1"/>
                  </a:solidFill>
                </a:endParaRPr>
              </a:p>
            </p:txBody>
          </p:sp>
          <p:sp>
            <p:nvSpPr>
              <p:cNvPr id="9257" name="Text Box 56">
                <a:extLst>
                  <a:ext uri="{FF2B5EF4-FFF2-40B4-BE49-F238E27FC236}">
                    <a16:creationId xmlns:a16="http://schemas.microsoft.com/office/drawing/2014/main" id="{F31D15E0-4BF5-4A11-AA0F-644789F15A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1" y="1752"/>
                <a:ext cx="112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0" i="1">
                    <a:solidFill>
                      <a:schemeClr val="bg1"/>
                    </a:solidFill>
                  </a:rPr>
                  <a:t>V</a:t>
                </a:r>
                <a:r>
                  <a:rPr lang="zh-CN" altLang="en-US">
                    <a:solidFill>
                      <a:schemeClr val="bg1"/>
                    </a:solidFill>
                  </a:rPr>
                  <a:t>（</a:t>
                </a:r>
                <a:r>
                  <a:rPr lang="en-US" altLang="zh-CN" b="0">
                    <a:solidFill>
                      <a:schemeClr val="bg1"/>
                    </a:solidFill>
                  </a:rPr>
                  <a:t>10</a:t>
                </a:r>
                <a:r>
                  <a:rPr lang="en-US" altLang="zh-CN" b="0" baseline="50000">
                    <a:solidFill>
                      <a:schemeClr val="bg1"/>
                    </a:solidFill>
                  </a:rPr>
                  <a:t>-3 </a:t>
                </a:r>
                <a:r>
                  <a:rPr lang="en-US" altLang="zh-CN" b="0">
                    <a:solidFill>
                      <a:schemeClr val="bg1"/>
                    </a:solidFill>
                  </a:rPr>
                  <a:t>m</a:t>
                </a:r>
                <a:r>
                  <a:rPr lang="en-US" altLang="zh-CN" b="0" baseline="50000">
                    <a:solidFill>
                      <a:schemeClr val="bg1"/>
                    </a:solidFill>
                  </a:rPr>
                  <a:t>3</a:t>
                </a:r>
                <a:r>
                  <a:rPr lang="zh-CN" altLang="en-US">
                    <a:solidFill>
                      <a:schemeClr val="bg1"/>
                    </a:solidFill>
                  </a:rPr>
                  <a:t>）</a:t>
                </a:r>
              </a:p>
            </p:txBody>
          </p:sp>
          <p:sp>
            <p:nvSpPr>
              <p:cNvPr id="9258" name="Text Box 57">
                <a:extLst>
                  <a:ext uri="{FF2B5EF4-FFF2-40B4-BE49-F238E27FC236}">
                    <a16:creationId xmlns:a16="http://schemas.microsoft.com/office/drawing/2014/main" id="{217B3BD0-F6DB-4A95-A011-2B25C9D542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1736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b="0" i="1">
                    <a:solidFill>
                      <a:schemeClr val="bg1"/>
                    </a:solidFill>
                  </a:rPr>
                  <a:t>O</a:t>
                </a:r>
              </a:p>
            </p:txBody>
          </p:sp>
        </p:grpSp>
        <p:sp>
          <p:nvSpPr>
            <p:cNvPr id="9253" name="Rectangle 58">
              <a:extLst>
                <a:ext uri="{FF2B5EF4-FFF2-40B4-BE49-F238E27FC236}">
                  <a16:creationId xmlns:a16="http://schemas.microsoft.com/office/drawing/2014/main" id="{020B6F96-E68F-40C0-83DE-21CFEBAB2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4" y="1888"/>
              <a:ext cx="13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</a:rPr>
                <a:t>p</a:t>
              </a:r>
              <a:r>
                <a:rPr lang="zh-CN" altLang="en-US" b="0" dirty="0">
                  <a:solidFill>
                    <a:schemeClr val="bg1"/>
                  </a:solidFill>
                </a:rPr>
                <a:t>（</a:t>
              </a:r>
              <a:r>
                <a:rPr lang="en-US" altLang="zh-CN" b="0" dirty="0">
                  <a:solidFill>
                    <a:schemeClr val="bg1"/>
                  </a:solidFill>
                </a:rPr>
                <a:t>10</a:t>
              </a:r>
              <a:r>
                <a:rPr lang="en-US" altLang="zh-CN" b="0" baseline="50000" dirty="0">
                  <a:solidFill>
                    <a:schemeClr val="bg1"/>
                  </a:solidFill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</a:rPr>
                <a:t> R   Pa</a:t>
              </a:r>
              <a:r>
                <a:rPr lang="zh-CN" altLang="en-US" b="0" dirty="0">
                  <a:solidFill>
                    <a:schemeClr val="bg1"/>
                  </a:solidFill>
                </a:rPr>
                <a:t>）</a:t>
              </a:r>
            </a:p>
          </p:txBody>
        </p:sp>
      </p:grpSp>
      <p:sp>
        <p:nvSpPr>
          <p:cNvPr id="9241" name="Text Box 59">
            <a:extLst>
              <a:ext uri="{FF2B5EF4-FFF2-40B4-BE49-F238E27FC236}">
                <a16:creationId xmlns:a16="http://schemas.microsoft.com/office/drawing/2014/main" id="{07BCD9B3-295F-42C6-8B80-DCDBB1F90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363" y="44370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zh-CN">
              <a:solidFill>
                <a:schemeClr val="bg1"/>
              </a:solidFill>
            </a:endParaRPr>
          </a:p>
        </p:txBody>
      </p:sp>
      <p:sp>
        <p:nvSpPr>
          <p:cNvPr id="35900" name="Text Box 60">
            <a:extLst>
              <a:ext uri="{FF2B5EF4-FFF2-40B4-BE49-F238E27FC236}">
                <a16:creationId xmlns:a16="http://schemas.microsoft.com/office/drawing/2014/main" id="{E5F9D2DC-15A1-4062-93CE-F319FAF01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2852738"/>
            <a:ext cx="4075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 </a:t>
            </a:r>
            <a:r>
              <a:rPr lang="en-US" altLang="zh-CN" sz="2800" i="1">
                <a:solidFill>
                  <a:srgbClr val="66FFFF"/>
                </a:solidFill>
              </a:rPr>
              <a:t>ab </a:t>
            </a:r>
            <a:r>
              <a:rPr lang="zh-CN" altLang="en-US">
                <a:solidFill>
                  <a:schemeClr val="bg1"/>
                </a:solidFill>
              </a:rPr>
              <a:t>是等温膨胀过程</a:t>
            </a:r>
          </a:p>
        </p:txBody>
      </p:sp>
      <p:sp>
        <p:nvSpPr>
          <p:cNvPr id="9243" name="Text Box 61">
            <a:extLst>
              <a:ext uri="{FF2B5EF4-FFF2-40B4-BE49-F238E27FC236}">
                <a16:creationId xmlns:a16="http://schemas.microsoft.com/office/drawing/2014/main" id="{4B7D7691-69D7-4F69-B166-0D75CC98E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975" y="54451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zh-CN">
              <a:solidFill>
                <a:schemeClr val="bg1"/>
              </a:solidFill>
            </a:endParaRPr>
          </a:p>
        </p:txBody>
      </p:sp>
      <p:sp>
        <p:nvSpPr>
          <p:cNvPr id="35902" name="Text Box 62">
            <a:extLst>
              <a:ext uri="{FF2B5EF4-FFF2-40B4-BE49-F238E27FC236}">
                <a16:creationId xmlns:a16="http://schemas.microsoft.com/office/drawing/2014/main" id="{26339FD8-601A-4205-81A7-FB18D04AA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4857750"/>
            <a:ext cx="3552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66FFFF"/>
                </a:solidFill>
              </a:rPr>
              <a:t>bc </a:t>
            </a:r>
            <a:r>
              <a:rPr lang="zh-CN" altLang="en-US">
                <a:solidFill>
                  <a:schemeClr val="bg1"/>
                </a:solidFill>
              </a:rPr>
              <a:t>是等压压缩过程</a:t>
            </a:r>
          </a:p>
        </p:txBody>
      </p:sp>
      <p:graphicFrame>
        <p:nvGraphicFramePr>
          <p:cNvPr id="35903" name="Object 3">
            <a:extLst>
              <a:ext uri="{FF2B5EF4-FFF2-40B4-BE49-F238E27FC236}">
                <a16:creationId xmlns:a16="http://schemas.microsoft.com/office/drawing/2014/main" id="{7CAB4F49-EC4F-4110-BAC2-1BD2E03CD1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5502275"/>
          <a:ext cx="23717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91" name="公式" r:id="rId5" imgW="1085965" imgH="171450" progId="Equation.3">
                  <p:embed/>
                </p:oleObj>
              </mc:Choice>
              <mc:Fallback>
                <p:oleObj name="公式" r:id="rId5" imgW="1085965" imgH="171450" progId="Equation.3">
                  <p:embed/>
                  <p:pic>
                    <p:nvPicPr>
                      <p:cNvPr id="35903" name="Object 3">
                        <a:extLst>
                          <a:ext uri="{FF2B5EF4-FFF2-40B4-BE49-F238E27FC236}">
                            <a16:creationId xmlns:a16="http://schemas.microsoft.com/office/drawing/2014/main" id="{7CAB4F49-EC4F-4110-BAC2-1BD2E03CD1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5502275"/>
                        <a:ext cx="237172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04" name="Text Box 64">
            <a:extLst>
              <a:ext uri="{FF2B5EF4-FFF2-40B4-BE49-F238E27FC236}">
                <a16:creationId xmlns:a16="http://schemas.microsoft.com/office/drawing/2014/main" id="{1D90ADA8-5E3B-4D8B-8773-98D02591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2286000"/>
            <a:ext cx="1789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en-US" altLang="zh-CN" i="1">
                <a:solidFill>
                  <a:srgbClr val="FFFF00"/>
                </a:solidFill>
              </a:rPr>
              <a:t>p</a:t>
            </a:r>
            <a:r>
              <a:rPr lang="en-US" altLang="zh-CN" i="1">
                <a:solidFill>
                  <a:srgbClr val="FFFF00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>
                <a:solidFill>
                  <a:srgbClr val="FFFF00"/>
                </a:solidFill>
              </a:rPr>
              <a:t>V</a:t>
            </a:r>
            <a:r>
              <a:rPr lang="en-US" altLang="zh-CN" i="1">
                <a:solidFill>
                  <a:srgbClr val="66FFFF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图 </a:t>
            </a:r>
          </a:p>
        </p:txBody>
      </p:sp>
      <p:graphicFrame>
        <p:nvGraphicFramePr>
          <p:cNvPr id="3" name="Object 65">
            <a:extLst>
              <a:ext uri="{FF2B5EF4-FFF2-40B4-BE49-F238E27FC236}">
                <a16:creationId xmlns:a16="http://schemas.microsoft.com/office/drawing/2014/main" id="{1E6CCFF3-741B-4B8C-95BE-67ED2EC5A0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7563" y="5500688"/>
          <a:ext cx="12858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92" name="公式" r:id="rId7" imgW="514388" imgH="114198" progId="Equation.3">
                  <p:embed/>
                </p:oleObj>
              </mc:Choice>
              <mc:Fallback>
                <p:oleObj name="公式" r:id="rId7" imgW="514388" imgH="114198" progId="Equation.3">
                  <p:embed/>
                  <p:pic>
                    <p:nvPicPr>
                      <p:cNvPr id="3" name="Object 65">
                        <a:extLst>
                          <a:ext uri="{FF2B5EF4-FFF2-40B4-BE49-F238E27FC236}">
                            <a16:creationId xmlns:a16="http://schemas.microsoft.com/office/drawing/2014/main" id="{1E6CCFF3-741B-4B8C-95BE-67ED2EC5A0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5500688"/>
                        <a:ext cx="128587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5">
            <a:extLst>
              <a:ext uri="{FF2B5EF4-FFF2-40B4-BE49-F238E27FC236}">
                <a16:creationId xmlns:a16="http://schemas.microsoft.com/office/drawing/2014/main" id="{B14A7688-D62E-4FA4-9C69-E23B6000E3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6215063"/>
          <a:ext cx="23574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93" name="公式" r:id="rId9" imgW="1047737" imgH="161959" progId="Equation.3">
                  <p:embed/>
                </p:oleObj>
              </mc:Choice>
              <mc:Fallback>
                <p:oleObj name="公式" r:id="rId9" imgW="1047737" imgH="161959" progId="Equation.3">
                  <p:embed/>
                  <p:pic>
                    <p:nvPicPr>
                      <p:cNvPr id="36867" name="Object 5">
                        <a:extLst>
                          <a:ext uri="{FF2B5EF4-FFF2-40B4-BE49-F238E27FC236}">
                            <a16:creationId xmlns:a16="http://schemas.microsoft.com/office/drawing/2014/main" id="{B14A7688-D62E-4FA4-9C69-E23B6000E3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6215063"/>
                        <a:ext cx="235743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任意多边形 66">
            <a:extLst>
              <a:ext uri="{FF2B5EF4-FFF2-40B4-BE49-F238E27FC236}">
                <a16:creationId xmlns:a16="http://schemas.microsoft.com/office/drawing/2014/main" id="{7DCF221F-21D4-415C-8A76-729FA0948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288" y="5930900"/>
            <a:ext cx="327025" cy="498475"/>
          </a:xfrm>
          <a:custGeom>
            <a:avLst/>
            <a:gdLst>
              <a:gd name="T0" fmla="*/ 0 w 327171"/>
              <a:gd name="T1" fmla="*/ 457471 h 499144"/>
              <a:gd name="T2" fmla="*/ 173592 w 327171"/>
              <a:gd name="T3" fmla="*/ 401291 h 499144"/>
              <a:gd name="T4" fmla="*/ 322387 w 327171"/>
              <a:gd name="T5" fmla="*/ 0 h 499144"/>
              <a:gd name="T6" fmla="*/ 0 60000 65536"/>
              <a:gd name="T7" fmla="*/ 0 60000 65536"/>
              <a:gd name="T8" fmla="*/ 0 60000 65536"/>
              <a:gd name="T9" fmla="*/ 0 w 327171"/>
              <a:gd name="T10" fmla="*/ 0 h 499144"/>
              <a:gd name="T11" fmla="*/ 327171 w 327171"/>
              <a:gd name="T12" fmla="*/ 499144 h 499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7171" h="499144">
                <a:moveTo>
                  <a:pt x="0" y="478172"/>
                </a:moveTo>
                <a:cubicBezTo>
                  <a:pt x="60820" y="488658"/>
                  <a:pt x="121641" y="499144"/>
                  <a:pt x="176169" y="419449"/>
                </a:cubicBezTo>
                <a:cubicBezTo>
                  <a:pt x="230697" y="339754"/>
                  <a:pt x="278934" y="169877"/>
                  <a:pt x="327171" y="0"/>
                </a:cubicBezTo>
              </a:path>
            </a:pathLst>
          </a:custGeom>
          <a:noFill/>
          <a:ln w="444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50" name="灯片编号占位符 1">
            <a:extLst>
              <a:ext uri="{FF2B5EF4-FFF2-40B4-BE49-F238E27FC236}">
                <a16:creationId xmlns:a16="http://schemas.microsoft.com/office/drawing/2014/main" id="{58840EA2-6596-4CCA-9B3C-941604A71F8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140C1D-F052-476C-B364-7A2DC491E053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sp>
        <p:nvSpPr>
          <p:cNvPr id="69" name="Text Box 64">
            <a:extLst>
              <a:ext uri="{FF2B5EF4-FFF2-40B4-BE49-F238E27FC236}">
                <a16:creationId xmlns:a16="http://schemas.microsoft.com/office/drawing/2014/main" id="{7D0BBDA1-1A56-408D-B312-7088EFF50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4263" y="2286000"/>
            <a:ext cx="1789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正循环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5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5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5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3" grpId="0"/>
      <p:bldP spid="35844" grpId="0" autoUpdateAnimBg="0"/>
      <p:bldP spid="35845" grpId="0"/>
      <p:bldP spid="35846" grpId="0"/>
      <p:bldP spid="35864" grpId="0"/>
      <p:bldP spid="35865" grpId="0"/>
      <p:bldP spid="35875" grpId="0"/>
      <p:bldP spid="35900" grpId="0" autoUpdateAnimBg="0"/>
      <p:bldP spid="35902" grpId="0" autoUpdateAnimBg="0"/>
      <p:bldP spid="35904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C14C801B-F1D7-4225-8039-64752DB10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714375"/>
            <a:ext cx="3295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66FFFF"/>
                </a:solidFill>
              </a:rPr>
              <a:t>ca</a:t>
            </a:r>
            <a:r>
              <a:rPr lang="en-US" altLang="zh-CN">
                <a:solidFill>
                  <a:srgbClr val="66FFFF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是等体升压过程</a:t>
            </a:r>
          </a:p>
        </p:txBody>
      </p:sp>
      <p:graphicFrame>
        <p:nvGraphicFramePr>
          <p:cNvPr id="36867" name="Object 2">
            <a:extLst>
              <a:ext uri="{FF2B5EF4-FFF2-40B4-BE49-F238E27FC236}">
                <a16:creationId xmlns:a16="http://schemas.microsoft.com/office/drawing/2014/main" id="{EC1438A3-631A-4CB0-BD1E-D51D94A67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1304925"/>
          <a:ext cx="36179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38" name="公式" r:id="rId3" imgW="1447749" imgH="161959" progId="Equation.3">
                  <p:embed/>
                </p:oleObj>
              </mc:Choice>
              <mc:Fallback>
                <p:oleObj name="公式" r:id="rId3" imgW="1447749" imgH="161959" progId="Equation.3">
                  <p:embed/>
                  <p:pic>
                    <p:nvPicPr>
                      <p:cNvPr id="36867" name="Object 2">
                        <a:extLst>
                          <a:ext uri="{FF2B5EF4-FFF2-40B4-BE49-F238E27FC236}">
                            <a16:creationId xmlns:a16="http://schemas.microsoft.com/office/drawing/2014/main" id="{EC1438A3-631A-4CB0-BD1E-D51D94A672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1304925"/>
                        <a:ext cx="361791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>
            <a:extLst>
              <a:ext uri="{FF2B5EF4-FFF2-40B4-BE49-F238E27FC236}">
                <a16:creationId xmlns:a16="http://schemas.microsoft.com/office/drawing/2014/main" id="{3E1615BE-2702-4254-B916-F996D45E7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650" y="49403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zh-CN">
              <a:solidFill>
                <a:schemeClr val="bg1"/>
              </a:solidFill>
            </a:endParaRP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6E3B9C5D-DD19-4356-AC60-6DEC6012C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168525"/>
            <a:ext cx="401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循环过程中系统吸热</a:t>
            </a:r>
          </a:p>
        </p:txBody>
      </p:sp>
      <p:graphicFrame>
        <p:nvGraphicFramePr>
          <p:cNvPr id="36870" name="Object 3">
            <a:extLst>
              <a:ext uri="{FF2B5EF4-FFF2-40B4-BE49-F238E27FC236}">
                <a16:creationId xmlns:a16="http://schemas.microsoft.com/office/drawing/2014/main" id="{3828EEF7-77CF-436F-A7E8-D94E43B51B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2475" y="2892425"/>
          <a:ext cx="58356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39" name="公式" r:id="rId5" imgW="5867451" imgH="361882" progId="Equation.3">
                  <p:embed/>
                </p:oleObj>
              </mc:Choice>
              <mc:Fallback>
                <p:oleObj name="公式" r:id="rId5" imgW="5867451" imgH="361882" progId="Equation.3">
                  <p:embed/>
                  <p:pic>
                    <p:nvPicPr>
                      <p:cNvPr id="36870" name="Object 3">
                        <a:extLst>
                          <a:ext uri="{FF2B5EF4-FFF2-40B4-BE49-F238E27FC236}">
                            <a16:creationId xmlns:a16="http://schemas.microsoft.com/office/drawing/2014/main" id="{3828EEF7-77CF-436F-A7E8-D94E43B51B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2892425"/>
                        <a:ext cx="58356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Text Box 7">
            <a:extLst>
              <a:ext uri="{FF2B5EF4-FFF2-40B4-BE49-F238E27FC236}">
                <a16:creationId xmlns:a16="http://schemas.microsoft.com/office/drawing/2014/main" id="{073323E3-B20B-4EC6-9DCC-C688B9EA9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536950"/>
            <a:ext cx="4879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循环过程中系统放热</a:t>
            </a:r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36872" name="Object 4">
            <a:extLst>
              <a:ext uri="{FF2B5EF4-FFF2-40B4-BE49-F238E27FC236}">
                <a16:creationId xmlns:a16="http://schemas.microsoft.com/office/drawing/2014/main" id="{8B8AF335-F365-4E6D-A0CE-5B6D31BA92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6475" y="4113213"/>
          <a:ext cx="2436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40" name="公式" r:id="rId7" imgW="2400376" imgH="390661" progId="Equation.3">
                  <p:embed/>
                </p:oleObj>
              </mc:Choice>
              <mc:Fallback>
                <p:oleObj name="公式" r:id="rId7" imgW="2400376" imgH="390661" progId="Equation.3">
                  <p:embed/>
                  <p:pic>
                    <p:nvPicPr>
                      <p:cNvPr id="36872" name="Object 4">
                        <a:extLst>
                          <a:ext uri="{FF2B5EF4-FFF2-40B4-BE49-F238E27FC236}">
                            <a16:creationId xmlns:a16="http://schemas.microsoft.com/office/drawing/2014/main" id="{8B8AF335-F365-4E6D-A0CE-5B6D31BA92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475" y="4113213"/>
                        <a:ext cx="24368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5">
            <a:extLst>
              <a:ext uri="{FF2B5EF4-FFF2-40B4-BE49-F238E27FC236}">
                <a16:creationId xmlns:a16="http://schemas.microsoft.com/office/drawing/2014/main" id="{885BA807-4317-4727-AA23-C79BDE332C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9100" y="5121275"/>
          <a:ext cx="44227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41" name="公式" r:id="rId9" imgW="4343553" imgH="847759" progId="Equation.3">
                  <p:embed/>
                </p:oleObj>
              </mc:Choice>
              <mc:Fallback>
                <p:oleObj name="公式" r:id="rId9" imgW="4343553" imgH="847759" progId="Equation.3">
                  <p:embed/>
                  <p:pic>
                    <p:nvPicPr>
                      <p:cNvPr id="36873" name="Object 5">
                        <a:extLst>
                          <a:ext uri="{FF2B5EF4-FFF2-40B4-BE49-F238E27FC236}">
                            <a16:creationId xmlns:a16="http://schemas.microsoft.com/office/drawing/2014/main" id="{885BA807-4317-4727-AA23-C79BDE332C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5121275"/>
                        <a:ext cx="442277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Text Box 10">
            <a:extLst>
              <a:ext uri="{FF2B5EF4-FFF2-40B4-BE49-F238E27FC236}">
                <a16:creationId xmlns:a16="http://schemas.microsoft.com/office/drawing/2014/main" id="{A1BC04C0-0B1B-4B0C-A59A-7F9438C92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613" y="46529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zh-CN">
              <a:solidFill>
                <a:schemeClr val="bg1"/>
              </a:solidFill>
            </a:endParaRPr>
          </a:p>
        </p:txBody>
      </p:sp>
      <p:sp>
        <p:nvSpPr>
          <p:cNvPr id="36875" name="Text Box 11">
            <a:extLst>
              <a:ext uri="{FF2B5EF4-FFF2-40B4-BE49-F238E27FC236}">
                <a16:creationId xmlns:a16="http://schemas.microsoft.com/office/drawing/2014/main" id="{6BFC385A-74D4-42AF-927C-D0D4D69A6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689475"/>
            <a:ext cx="3509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此循环效率</a:t>
            </a:r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" name="Object 12">
            <a:extLst>
              <a:ext uri="{FF2B5EF4-FFF2-40B4-BE49-F238E27FC236}">
                <a16:creationId xmlns:a16="http://schemas.microsoft.com/office/drawing/2014/main" id="{4A9A7CAA-65E5-4B65-AF5A-7CFB4223DD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4513" y="1357313"/>
          <a:ext cx="11620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42" name="公式" r:id="rId11" imgW="428759" imgH="114198" progId="Equation.3">
                  <p:embed/>
                </p:oleObj>
              </mc:Choice>
              <mc:Fallback>
                <p:oleObj name="公式" r:id="rId11" imgW="428759" imgH="114198" progId="Equation.3">
                  <p:embed/>
                  <p:pic>
                    <p:nvPicPr>
                      <p:cNvPr id="2" name="Object 12">
                        <a:extLst>
                          <a:ext uri="{FF2B5EF4-FFF2-40B4-BE49-F238E27FC236}">
                            <a16:creationId xmlns:a16="http://schemas.microsoft.com/office/drawing/2014/main" id="{4A9A7CAA-65E5-4B65-AF5A-7CFB4223DD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513" y="1357313"/>
                        <a:ext cx="116205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灯片编号占位符 1">
            <a:extLst>
              <a:ext uri="{FF2B5EF4-FFF2-40B4-BE49-F238E27FC236}">
                <a16:creationId xmlns:a16="http://schemas.microsoft.com/office/drawing/2014/main" id="{C1AFBF18-2C8D-4707-8E62-828D587B4EB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6539074-D330-4C9D-BCBE-A9ECA43495E2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869" grpId="0"/>
      <p:bldP spid="36871" grpId="0"/>
      <p:bldP spid="368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E0745E5-B0B1-4A3B-B737-1C24177AE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42875"/>
            <a:ext cx="8281988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bg1"/>
                </a:solidFill>
              </a:rPr>
              <a:t>图为逆向斯特林致冷循环的热力学循环原理，该循环由四个过程组成，先把工质由初态 </a:t>
            </a:r>
            <a:r>
              <a:rPr lang="en-US" altLang="zh-CN" dirty="0">
                <a:solidFill>
                  <a:srgbClr val="66FFFF"/>
                </a:solidFill>
                <a:latin typeface="+mn-lt"/>
              </a:rPr>
              <a:t>A (</a:t>
            </a:r>
            <a:r>
              <a:rPr lang="en-US" altLang="zh-CN" i="1" dirty="0">
                <a:solidFill>
                  <a:srgbClr val="66FFFF"/>
                </a:solidFill>
                <a:latin typeface="+mn-lt"/>
              </a:rPr>
              <a:t>V</a:t>
            </a:r>
            <a:r>
              <a:rPr lang="en-US" altLang="zh-CN" baseline="-25000" dirty="0">
                <a:solidFill>
                  <a:srgbClr val="66FFFF"/>
                </a:solidFill>
                <a:latin typeface="+mn-lt"/>
              </a:rPr>
              <a:t>1 </a:t>
            </a:r>
            <a:r>
              <a:rPr lang="en-US" altLang="zh-CN" dirty="0">
                <a:solidFill>
                  <a:srgbClr val="66FFFF"/>
                </a:solidFill>
                <a:latin typeface="+mn-lt"/>
              </a:rPr>
              <a:t>, </a:t>
            </a:r>
            <a:r>
              <a:rPr lang="en-US" altLang="zh-CN" i="1" dirty="0">
                <a:solidFill>
                  <a:srgbClr val="66FFFF"/>
                </a:solidFill>
                <a:latin typeface="+mn-lt"/>
              </a:rPr>
              <a:t>T</a:t>
            </a:r>
            <a:r>
              <a:rPr lang="en-US" altLang="zh-CN" baseline="-25000" dirty="0">
                <a:solidFill>
                  <a:srgbClr val="66FFFF"/>
                </a:solidFill>
                <a:latin typeface="+mn-lt"/>
              </a:rPr>
              <a:t>1</a:t>
            </a:r>
            <a:r>
              <a:rPr lang="en-US" altLang="zh-CN" dirty="0">
                <a:solidFill>
                  <a:srgbClr val="66FFFF"/>
                </a:solidFill>
                <a:latin typeface="+mn-lt"/>
              </a:rPr>
              <a:t>) </a:t>
            </a:r>
            <a:r>
              <a:rPr lang="zh-CN" altLang="en-US" dirty="0">
                <a:solidFill>
                  <a:schemeClr val="bg1"/>
                </a:solidFill>
              </a:rPr>
              <a:t>等温压缩到 </a:t>
            </a:r>
            <a:r>
              <a:rPr lang="en-US" altLang="zh-CN" dirty="0">
                <a:solidFill>
                  <a:srgbClr val="66FFFF"/>
                </a:solidFill>
                <a:latin typeface="+mn-lt"/>
              </a:rPr>
              <a:t>B (</a:t>
            </a:r>
            <a:r>
              <a:rPr lang="en-US" altLang="zh-CN" i="1" dirty="0">
                <a:solidFill>
                  <a:srgbClr val="66FFFF"/>
                </a:solidFill>
                <a:latin typeface="+mn-lt"/>
              </a:rPr>
              <a:t>V</a:t>
            </a:r>
            <a:r>
              <a:rPr lang="en-US" altLang="zh-CN" baseline="-25000" dirty="0">
                <a:solidFill>
                  <a:srgbClr val="66FFFF"/>
                </a:solidFill>
                <a:latin typeface="+mn-lt"/>
              </a:rPr>
              <a:t>2 </a:t>
            </a:r>
            <a:r>
              <a:rPr lang="en-US" altLang="zh-CN" dirty="0">
                <a:solidFill>
                  <a:srgbClr val="66FFFF"/>
                </a:solidFill>
                <a:latin typeface="+mn-lt"/>
                <a:cs typeface="Times New Roman" pitchFamily="18" charset="0"/>
              </a:rPr>
              <a:t>, </a:t>
            </a:r>
            <a:r>
              <a:rPr lang="en-US" altLang="zh-CN" i="1" dirty="0">
                <a:solidFill>
                  <a:srgbClr val="66FFFF"/>
                </a:solidFill>
                <a:latin typeface="+mn-lt"/>
              </a:rPr>
              <a:t>T</a:t>
            </a:r>
            <a:r>
              <a:rPr lang="en-US" altLang="zh-CN" baseline="-25000" dirty="0">
                <a:solidFill>
                  <a:srgbClr val="66FFFF"/>
                </a:solidFill>
                <a:latin typeface="+mn-lt"/>
              </a:rPr>
              <a:t>1</a:t>
            </a:r>
            <a:r>
              <a:rPr lang="en-US" altLang="zh-CN" dirty="0">
                <a:solidFill>
                  <a:srgbClr val="66FFFF"/>
                </a:solidFill>
                <a:latin typeface="+mn-lt"/>
              </a:rPr>
              <a:t>)</a:t>
            </a:r>
            <a:r>
              <a:rPr lang="en-US" altLang="zh-CN" dirty="0">
                <a:solidFill>
                  <a:schemeClr val="bg1"/>
                </a:solidFill>
                <a:latin typeface="+mn-lt"/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状态，再等体降温到 </a:t>
            </a:r>
            <a:r>
              <a:rPr lang="en-US" altLang="zh-CN" dirty="0">
                <a:solidFill>
                  <a:srgbClr val="66FFFF"/>
                </a:solidFill>
              </a:rPr>
              <a:t>C (</a:t>
            </a:r>
            <a:r>
              <a:rPr lang="en-US" altLang="zh-CN" i="1" dirty="0">
                <a:solidFill>
                  <a:srgbClr val="66FFFF"/>
                </a:solidFill>
              </a:rPr>
              <a:t>V</a:t>
            </a:r>
            <a:r>
              <a:rPr lang="en-US" altLang="zh-CN" baseline="-25000" dirty="0">
                <a:solidFill>
                  <a:srgbClr val="66FFFF"/>
                </a:solidFill>
              </a:rPr>
              <a:t>2</a:t>
            </a:r>
            <a:r>
              <a:rPr lang="zh-CN" altLang="en-US" dirty="0">
                <a:solidFill>
                  <a:srgbClr val="66FFFF"/>
                </a:solidFill>
              </a:rPr>
              <a:t>，</a:t>
            </a:r>
            <a:r>
              <a:rPr lang="en-US" altLang="zh-CN" i="1" dirty="0">
                <a:solidFill>
                  <a:srgbClr val="66FFFF"/>
                </a:solidFill>
              </a:rPr>
              <a:t>T</a:t>
            </a:r>
            <a:r>
              <a:rPr lang="en-US" altLang="zh-CN" baseline="-25000" dirty="0">
                <a:solidFill>
                  <a:srgbClr val="66FFFF"/>
                </a:solidFill>
              </a:rPr>
              <a:t>2</a:t>
            </a:r>
            <a:r>
              <a:rPr lang="en-US" altLang="zh-CN" dirty="0">
                <a:solidFill>
                  <a:srgbClr val="66FFFF"/>
                </a:solidFill>
              </a:rPr>
              <a:t>) </a:t>
            </a:r>
            <a:r>
              <a:rPr lang="zh-CN" altLang="en-US" dirty="0">
                <a:solidFill>
                  <a:schemeClr val="bg1"/>
                </a:solidFill>
              </a:rPr>
              <a:t>状态，然后经等温膨胀达到</a:t>
            </a:r>
            <a:r>
              <a:rPr lang="en-US" altLang="zh-CN" dirty="0">
                <a:solidFill>
                  <a:srgbClr val="66FFFF"/>
                </a:solidFill>
              </a:rPr>
              <a:t>D (</a:t>
            </a:r>
            <a:r>
              <a:rPr lang="en-US" altLang="zh-CN" i="1" dirty="0">
                <a:solidFill>
                  <a:srgbClr val="66FFFF"/>
                </a:solidFill>
              </a:rPr>
              <a:t>V</a:t>
            </a:r>
            <a:r>
              <a:rPr lang="en-US" altLang="zh-CN" baseline="-25000" dirty="0">
                <a:solidFill>
                  <a:srgbClr val="66FFFF"/>
                </a:solidFill>
              </a:rPr>
              <a:t>1</a:t>
            </a:r>
            <a:r>
              <a:rPr lang="zh-CN" altLang="en-US" dirty="0">
                <a:solidFill>
                  <a:srgbClr val="66FFFF"/>
                </a:solidFill>
              </a:rPr>
              <a:t>，</a:t>
            </a:r>
            <a:r>
              <a:rPr lang="en-US" altLang="zh-CN" i="1" dirty="0">
                <a:solidFill>
                  <a:srgbClr val="66FFFF"/>
                </a:solidFill>
              </a:rPr>
              <a:t>T</a:t>
            </a:r>
            <a:r>
              <a:rPr lang="en-US" altLang="zh-CN" baseline="-25000" dirty="0">
                <a:solidFill>
                  <a:srgbClr val="66FFFF"/>
                </a:solidFill>
              </a:rPr>
              <a:t>2</a:t>
            </a:r>
            <a:r>
              <a:rPr lang="en-US" altLang="zh-CN" dirty="0">
                <a:solidFill>
                  <a:srgbClr val="66FFFF"/>
                </a:solidFill>
              </a:rPr>
              <a:t>)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状态，最后经等体升温回到初状态 </a:t>
            </a:r>
            <a:r>
              <a:rPr lang="en-US" altLang="zh-CN" dirty="0">
                <a:solidFill>
                  <a:srgbClr val="66FFFF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</a:rPr>
              <a:t>，完成一个循环。 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6A0312C-9040-4907-ABA3-64DB38C1C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88" y="2000250"/>
            <a:ext cx="5072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  <a:r>
              <a:rPr lang="zh-CN" altLang="en-US">
                <a:solidFill>
                  <a:schemeClr val="bg1"/>
                </a:solidFill>
              </a:rPr>
              <a:t>：该致冷循环的致冷系数？</a:t>
            </a:r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39E64A9B-D3DC-433B-889C-167A189F4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2571750"/>
            <a:ext cx="110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  <a:endParaRPr lang="zh-CN" altLang="en-US" sz="2800" i="1">
              <a:solidFill>
                <a:srgbClr val="FFFF00"/>
              </a:solidFill>
            </a:endParaRP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004449FC-C516-4903-8BDD-733370396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43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5D28A4FD-D001-4512-B77C-707CECF03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517775"/>
            <a:ext cx="4929188" cy="50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i="1" dirty="0">
                <a:solidFill>
                  <a:srgbClr val="66FFFF"/>
                </a:solidFill>
              </a:rPr>
              <a:t>CD </a:t>
            </a:r>
            <a:r>
              <a:rPr lang="zh-CN" altLang="en-US" dirty="0">
                <a:solidFill>
                  <a:schemeClr val="bg1"/>
                </a:solidFill>
              </a:rPr>
              <a:t>过程，工质从</a:t>
            </a:r>
            <a:r>
              <a:rPr lang="zh-CN" altLang="en-US" dirty="0">
                <a:solidFill>
                  <a:srgbClr val="FF0000"/>
                </a:solidFill>
              </a:rPr>
              <a:t>冷库</a:t>
            </a:r>
            <a:r>
              <a:rPr lang="zh-CN" altLang="en-US" u="sng" dirty="0">
                <a:solidFill>
                  <a:schemeClr val="bg1"/>
                </a:solidFill>
              </a:rPr>
              <a:t>吸取</a:t>
            </a:r>
            <a:r>
              <a:rPr lang="zh-CN" altLang="en-US" dirty="0">
                <a:solidFill>
                  <a:schemeClr val="bg1"/>
                </a:solidFill>
              </a:rPr>
              <a:t>的热量：</a:t>
            </a:r>
          </a:p>
        </p:txBody>
      </p:sp>
      <p:graphicFrame>
        <p:nvGraphicFramePr>
          <p:cNvPr id="37896" name="Object 2">
            <a:extLst>
              <a:ext uri="{FF2B5EF4-FFF2-40B4-BE49-F238E27FC236}">
                <a16:creationId xmlns:a16="http://schemas.microsoft.com/office/drawing/2014/main" id="{0C975CBE-F6C3-40A1-81BD-78E8F16430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4863" y="3000375"/>
          <a:ext cx="18542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86" name="公式" r:id="rId3" imgW="2076514" imgH="847759" progId="Equation.3">
                  <p:embed/>
                </p:oleObj>
              </mc:Choice>
              <mc:Fallback>
                <p:oleObj name="公式" r:id="rId3" imgW="2076514" imgH="847759" progId="Equation.3">
                  <p:embed/>
                  <p:pic>
                    <p:nvPicPr>
                      <p:cNvPr id="37896" name="Object 2">
                        <a:extLst>
                          <a:ext uri="{FF2B5EF4-FFF2-40B4-BE49-F238E27FC236}">
                            <a16:creationId xmlns:a16="http://schemas.microsoft.com/office/drawing/2014/main" id="{0C975CBE-F6C3-40A1-81BD-78E8F16430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3000375"/>
                        <a:ext cx="18542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3">
            <a:extLst>
              <a:ext uri="{FF2B5EF4-FFF2-40B4-BE49-F238E27FC236}">
                <a16:creationId xmlns:a16="http://schemas.microsoft.com/office/drawing/2014/main" id="{E96FC85F-D869-47BA-9D92-510CFFC89A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1688" y="4173538"/>
          <a:ext cx="185737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87" name="公式" r:id="rId5" imgW="1990578" imgH="847759" progId="Equation.3">
                  <p:embed/>
                </p:oleObj>
              </mc:Choice>
              <mc:Fallback>
                <p:oleObj name="公式" r:id="rId5" imgW="1990578" imgH="847759" progId="Equation.3">
                  <p:embed/>
                  <p:pic>
                    <p:nvPicPr>
                      <p:cNvPr id="37897" name="Object 3">
                        <a:extLst>
                          <a:ext uri="{FF2B5EF4-FFF2-40B4-BE49-F238E27FC236}">
                            <a16:creationId xmlns:a16="http://schemas.microsoft.com/office/drawing/2014/main" id="{E96FC85F-D869-47BA-9D92-510CFFC89A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4173538"/>
                        <a:ext cx="185737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Text Box 10">
            <a:extLst>
              <a:ext uri="{FF2B5EF4-FFF2-40B4-BE49-F238E27FC236}">
                <a16:creationId xmlns:a16="http://schemas.microsoft.com/office/drawing/2014/main" id="{83DC73E1-F948-4A62-B978-BE02D14BA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714750"/>
            <a:ext cx="5214938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i="1" dirty="0">
                <a:solidFill>
                  <a:srgbClr val="66FFFF"/>
                </a:solidFill>
              </a:rPr>
              <a:t>AB </a:t>
            </a:r>
            <a:r>
              <a:rPr lang="zh-CN" altLang="en-US" dirty="0">
                <a:solidFill>
                  <a:schemeClr val="bg1"/>
                </a:solidFill>
              </a:rPr>
              <a:t>过程，系统向外界</a:t>
            </a:r>
            <a:r>
              <a:rPr lang="zh-CN" altLang="en-US" u="sng" dirty="0">
                <a:solidFill>
                  <a:schemeClr val="bg1"/>
                </a:solidFill>
              </a:rPr>
              <a:t>放出</a:t>
            </a:r>
            <a:r>
              <a:rPr lang="zh-CN" altLang="en-US" dirty="0">
                <a:solidFill>
                  <a:schemeClr val="bg1"/>
                </a:solidFill>
              </a:rPr>
              <a:t>的热量：</a:t>
            </a:r>
          </a:p>
        </p:txBody>
      </p:sp>
      <p:sp>
        <p:nvSpPr>
          <p:cNvPr id="37899" name="Freeform 11">
            <a:extLst>
              <a:ext uri="{FF2B5EF4-FFF2-40B4-BE49-F238E27FC236}">
                <a16:creationId xmlns:a16="http://schemas.microsoft.com/office/drawing/2014/main" id="{4B9B8258-9B95-4374-A46E-EFEA65102B25}"/>
              </a:ext>
            </a:extLst>
          </p:cNvPr>
          <p:cNvSpPr>
            <a:spLocks/>
          </p:cNvSpPr>
          <p:nvPr/>
        </p:nvSpPr>
        <p:spPr bwMode="auto">
          <a:xfrm rot="-903195">
            <a:off x="7004050" y="3790950"/>
            <a:ext cx="944563" cy="673100"/>
          </a:xfrm>
          <a:custGeom>
            <a:avLst/>
            <a:gdLst>
              <a:gd name="T0" fmla="*/ 0 w 576"/>
              <a:gd name="T1" fmla="*/ 0 h 672"/>
              <a:gd name="T2" fmla="*/ 2147483646 w 576"/>
              <a:gd name="T3" fmla="*/ 2147483646 h 672"/>
              <a:gd name="T4" fmla="*/ 2147483646 w 576"/>
              <a:gd name="T5" fmla="*/ 2147483646 h 672"/>
              <a:gd name="T6" fmla="*/ 2147483646 w 576"/>
              <a:gd name="T7" fmla="*/ 2147483646 h 672"/>
              <a:gd name="T8" fmla="*/ 2147483646 w 576"/>
              <a:gd name="T9" fmla="*/ 2147483646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672"/>
              <a:gd name="T17" fmla="*/ 576 w 576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672">
                <a:moveTo>
                  <a:pt x="0" y="0"/>
                </a:moveTo>
                <a:cubicBezTo>
                  <a:pt x="28" y="64"/>
                  <a:pt x="56" y="128"/>
                  <a:pt x="96" y="192"/>
                </a:cubicBezTo>
                <a:cubicBezTo>
                  <a:pt x="136" y="256"/>
                  <a:pt x="192" y="328"/>
                  <a:pt x="240" y="384"/>
                </a:cubicBezTo>
                <a:cubicBezTo>
                  <a:pt x="288" y="440"/>
                  <a:pt x="328" y="480"/>
                  <a:pt x="384" y="528"/>
                </a:cubicBezTo>
                <a:cubicBezTo>
                  <a:pt x="440" y="576"/>
                  <a:pt x="544" y="648"/>
                  <a:pt x="576" y="672"/>
                </a:cubicBezTo>
              </a:path>
            </a:pathLst>
          </a:cu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0" name="Freeform 12">
            <a:extLst>
              <a:ext uri="{FF2B5EF4-FFF2-40B4-BE49-F238E27FC236}">
                <a16:creationId xmlns:a16="http://schemas.microsoft.com/office/drawing/2014/main" id="{D516A77C-F29A-4560-914B-046BF89A7C4C}"/>
              </a:ext>
            </a:extLst>
          </p:cNvPr>
          <p:cNvSpPr>
            <a:spLocks/>
          </p:cNvSpPr>
          <p:nvPr/>
        </p:nvSpPr>
        <p:spPr bwMode="auto">
          <a:xfrm rot="-903195">
            <a:off x="7053263" y="2622550"/>
            <a:ext cx="865187" cy="936625"/>
          </a:xfrm>
          <a:custGeom>
            <a:avLst/>
            <a:gdLst>
              <a:gd name="T0" fmla="*/ 0 w 576"/>
              <a:gd name="T1" fmla="*/ 0 h 672"/>
              <a:gd name="T2" fmla="*/ 2147483646 w 576"/>
              <a:gd name="T3" fmla="*/ 2147483646 h 672"/>
              <a:gd name="T4" fmla="*/ 2147483646 w 576"/>
              <a:gd name="T5" fmla="*/ 2147483646 h 672"/>
              <a:gd name="T6" fmla="*/ 2147483646 w 576"/>
              <a:gd name="T7" fmla="*/ 2147483646 h 672"/>
              <a:gd name="T8" fmla="*/ 2147483646 w 576"/>
              <a:gd name="T9" fmla="*/ 2147483646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672"/>
              <a:gd name="T17" fmla="*/ 576 w 576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672">
                <a:moveTo>
                  <a:pt x="0" y="0"/>
                </a:moveTo>
                <a:cubicBezTo>
                  <a:pt x="28" y="64"/>
                  <a:pt x="56" y="128"/>
                  <a:pt x="96" y="192"/>
                </a:cubicBezTo>
                <a:cubicBezTo>
                  <a:pt x="136" y="256"/>
                  <a:pt x="192" y="328"/>
                  <a:pt x="240" y="384"/>
                </a:cubicBezTo>
                <a:cubicBezTo>
                  <a:pt x="288" y="440"/>
                  <a:pt x="328" y="480"/>
                  <a:pt x="384" y="528"/>
                </a:cubicBezTo>
                <a:cubicBezTo>
                  <a:pt x="440" y="576"/>
                  <a:pt x="544" y="648"/>
                  <a:pt x="576" y="672"/>
                </a:cubicBezTo>
              </a:path>
            </a:pathLst>
          </a:cu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1" name="Line 13">
            <a:extLst>
              <a:ext uri="{FF2B5EF4-FFF2-40B4-BE49-F238E27FC236}">
                <a16:creationId xmlns:a16="http://schemas.microsoft.com/office/drawing/2014/main" id="{1FB538DC-64E4-4C5C-BB69-E148C7536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5763" y="3413125"/>
            <a:ext cx="0" cy="942975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2" name="Line 14">
            <a:extLst>
              <a:ext uri="{FF2B5EF4-FFF2-40B4-BE49-F238E27FC236}">
                <a16:creationId xmlns:a16="http://schemas.microsoft.com/office/drawing/2014/main" id="{919B8E60-A639-428C-9E01-E873D0DA7E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9438" y="2741613"/>
            <a:ext cx="9525" cy="121285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3" name="Text Box 15">
            <a:extLst>
              <a:ext uri="{FF2B5EF4-FFF2-40B4-BE49-F238E27FC236}">
                <a16:creationId xmlns:a16="http://schemas.microsoft.com/office/drawing/2014/main" id="{CE12A9C2-C65D-4EC7-AE3C-0B1D6FB06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0050" y="3181350"/>
            <a:ext cx="623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7904" name="Text Box 16">
            <a:extLst>
              <a:ext uri="{FF2B5EF4-FFF2-40B4-BE49-F238E27FC236}">
                <a16:creationId xmlns:a16="http://schemas.microsoft.com/office/drawing/2014/main" id="{711A769C-8E66-4B8A-9C99-677CD6047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400300"/>
            <a:ext cx="519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7905" name="Text Box 17">
            <a:extLst>
              <a:ext uri="{FF2B5EF4-FFF2-40B4-BE49-F238E27FC236}">
                <a16:creationId xmlns:a16="http://schemas.microsoft.com/office/drawing/2014/main" id="{BC902460-4C88-42ED-B43C-EA7B89F08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716338"/>
            <a:ext cx="519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37906" name="Text Box 18">
            <a:extLst>
              <a:ext uri="{FF2B5EF4-FFF2-40B4-BE49-F238E27FC236}">
                <a16:creationId xmlns:a16="http://schemas.microsoft.com/office/drawing/2014/main" id="{94069EBB-7CF8-4324-9C9C-3BF0159CC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0050" y="41433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ACD641CA-39E9-481E-886E-8EF84E0CEC2D}"/>
              </a:ext>
            </a:extLst>
          </p:cNvPr>
          <p:cNvGrpSpPr>
            <a:grpSpLocks/>
          </p:cNvGrpSpPr>
          <p:nvPr/>
        </p:nvGrpSpPr>
        <p:grpSpPr bwMode="auto">
          <a:xfrm>
            <a:off x="7231063" y="2676525"/>
            <a:ext cx="627062" cy="609600"/>
            <a:chOff x="4468" y="2160"/>
            <a:chExt cx="395" cy="384"/>
          </a:xfrm>
        </p:grpSpPr>
        <p:graphicFrame>
          <p:nvGraphicFramePr>
            <p:cNvPr id="12327" name="Object 5">
              <a:extLst>
                <a:ext uri="{FF2B5EF4-FFF2-40B4-BE49-F238E27FC236}">
                  <a16:creationId xmlns:a16="http://schemas.microsoft.com/office/drawing/2014/main" id="{83B1E7D2-C774-4007-966F-6AE2ADA96C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9" y="2160"/>
            <a:ext cx="21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88" name="公式" r:id="rId7" imgW="276155" imgH="352391" progId="Equation.3">
                    <p:embed/>
                  </p:oleObj>
                </mc:Choice>
                <mc:Fallback>
                  <p:oleObj name="公式" r:id="rId7" imgW="276155" imgH="352391" progId="Equation.3">
                    <p:embed/>
                    <p:pic>
                      <p:nvPicPr>
                        <p:cNvPr id="12327" name="Object 5">
                          <a:extLst>
                            <a:ext uri="{FF2B5EF4-FFF2-40B4-BE49-F238E27FC236}">
                              <a16:creationId xmlns:a16="http://schemas.microsoft.com/office/drawing/2014/main" id="{83B1E7D2-C774-4007-966F-6AE2ADA96C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2160"/>
                          <a:ext cx="214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8" name="Freeform 21">
              <a:extLst>
                <a:ext uri="{FF2B5EF4-FFF2-40B4-BE49-F238E27FC236}">
                  <a16:creationId xmlns:a16="http://schemas.microsoft.com/office/drawing/2014/main" id="{8A156BCA-139D-411A-83BF-6D67ACFBCDB6}"/>
                </a:ext>
              </a:extLst>
            </p:cNvPr>
            <p:cNvSpPr>
              <a:spLocks/>
            </p:cNvSpPr>
            <p:nvPr/>
          </p:nvSpPr>
          <p:spPr bwMode="auto">
            <a:xfrm rot="724237">
              <a:off x="4468" y="2160"/>
              <a:ext cx="136" cy="384"/>
            </a:xfrm>
            <a:custGeom>
              <a:avLst/>
              <a:gdLst>
                <a:gd name="T0" fmla="*/ 0 w 192"/>
                <a:gd name="T1" fmla="*/ 384 h 384"/>
                <a:gd name="T2" fmla="*/ 1 w 192"/>
                <a:gd name="T3" fmla="*/ 192 h 384"/>
                <a:gd name="T4" fmla="*/ 1 w 192"/>
                <a:gd name="T5" fmla="*/ 0 h 384"/>
                <a:gd name="T6" fmla="*/ 0 60000 65536"/>
                <a:gd name="T7" fmla="*/ 0 60000 65536"/>
                <a:gd name="T8" fmla="*/ 0 60000 65536"/>
                <a:gd name="T9" fmla="*/ 0 w 192"/>
                <a:gd name="T10" fmla="*/ 0 h 384"/>
                <a:gd name="T11" fmla="*/ 192 w 19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384">
                  <a:moveTo>
                    <a:pt x="0" y="384"/>
                  </a:moveTo>
                  <a:cubicBezTo>
                    <a:pt x="8" y="320"/>
                    <a:pt x="16" y="256"/>
                    <a:pt x="48" y="192"/>
                  </a:cubicBezTo>
                  <a:cubicBezTo>
                    <a:pt x="80" y="128"/>
                    <a:pt x="136" y="64"/>
                    <a:pt x="192" y="0"/>
                  </a:cubicBezTo>
                </a:path>
              </a:pathLst>
            </a:custGeom>
            <a:noFill/>
            <a:ln w="57150">
              <a:solidFill>
                <a:srgbClr val="FC5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C11318CF-C38A-432D-A0B3-1AB1E3F89BCC}"/>
              </a:ext>
            </a:extLst>
          </p:cNvPr>
          <p:cNvGrpSpPr>
            <a:grpSpLocks/>
          </p:cNvGrpSpPr>
          <p:nvPr/>
        </p:nvGrpSpPr>
        <p:grpSpPr bwMode="auto">
          <a:xfrm>
            <a:off x="7143750" y="3957638"/>
            <a:ext cx="731838" cy="747712"/>
            <a:chOff x="4279" y="2976"/>
            <a:chExt cx="461" cy="471"/>
          </a:xfrm>
        </p:grpSpPr>
        <p:graphicFrame>
          <p:nvGraphicFramePr>
            <p:cNvPr id="12325" name="Object 4">
              <a:extLst>
                <a:ext uri="{FF2B5EF4-FFF2-40B4-BE49-F238E27FC236}">
                  <a16:creationId xmlns:a16="http://schemas.microsoft.com/office/drawing/2014/main" id="{8C1F96AB-BB66-4906-B42E-BAA3AF7F04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9" y="3183"/>
            <a:ext cx="23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89" name="公式" r:id="rId9" imgW="314382" imgH="352391" progId="Equation.3">
                    <p:embed/>
                  </p:oleObj>
                </mc:Choice>
                <mc:Fallback>
                  <p:oleObj name="公式" r:id="rId9" imgW="314382" imgH="352391" progId="Equation.3">
                    <p:embed/>
                    <p:pic>
                      <p:nvPicPr>
                        <p:cNvPr id="12325" name="Object 4">
                          <a:extLst>
                            <a:ext uri="{FF2B5EF4-FFF2-40B4-BE49-F238E27FC236}">
                              <a16:creationId xmlns:a16="http://schemas.microsoft.com/office/drawing/2014/main" id="{8C1F96AB-BB66-4906-B42E-BAA3AF7F04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9" y="3183"/>
                          <a:ext cx="23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6" name="Freeform 24">
              <a:extLst>
                <a:ext uri="{FF2B5EF4-FFF2-40B4-BE49-F238E27FC236}">
                  <a16:creationId xmlns:a16="http://schemas.microsoft.com/office/drawing/2014/main" id="{462F42C8-F868-407D-8600-3D18AFA4B743}"/>
                </a:ext>
              </a:extLst>
            </p:cNvPr>
            <p:cNvSpPr>
              <a:spLocks/>
            </p:cNvSpPr>
            <p:nvPr/>
          </p:nvSpPr>
          <p:spPr bwMode="auto">
            <a:xfrm rot="724237">
              <a:off x="4604" y="2976"/>
              <a:ext cx="136" cy="384"/>
            </a:xfrm>
            <a:custGeom>
              <a:avLst/>
              <a:gdLst>
                <a:gd name="T0" fmla="*/ 0 w 192"/>
                <a:gd name="T1" fmla="*/ 384 h 384"/>
                <a:gd name="T2" fmla="*/ 1 w 192"/>
                <a:gd name="T3" fmla="*/ 192 h 384"/>
                <a:gd name="T4" fmla="*/ 1 w 192"/>
                <a:gd name="T5" fmla="*/ 0 h 384"/>
                <a:gd name="T6" fmla="*/ 0 60000 65536"/>
                <a:gd name="T7" fmla="*/ 0 60000 65536"/>
                <a:gd name="T8" fmla="*/ 0 60000 65536"/>
                <a:gd name="T9" fmla="*/ 0 w 192"/>
                <a:gd name="T10" fmla="*/ 0 h 384"/>
                <a:gd name="T11" fmla="*/ 192 w 19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384">
                  <a:moveTo>
                    <a:pt x="0" y="384"/>
                  </a:moveTo>
                  <a:cubicBezTo>
                    <a:pt x="8" y="320"/>
                    <a:pt x="16" y="256"/>
                    <a:pt x="48" y="192"/>
                  </a:cubicBezTo>
                  <a:cubicBezTo>
                    <a:pt x="80" y="128"/>
                    <a:pt x="136" y="64"/>
                    <a:pt x="192" y="0"/>
                  </a:cubicBezTo>
                </a:path>
              </a:pathLst>
            </a:custGeom>
            <a:noFill/>
            <a:ln w="57150">
              <a:solidFill>
                <a:srgbClr val="FC5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913" name="Freeform 25">
            <a:extLst>
              <a:ext uri="{FF2B5EF4-FFF2-40B4-BE49-F238E27FC236}">
                <a16:creationId xmlns:a16="http://schemas.microsoft.com/office/drawing/2014/main" id="{F33BFB2B-54B4-4E65-A27E-A076B57D11F8}"/>
              </a:ext>
            </a:extLst>
          </p:cNvPr>
          <p:cNvSpPr>
            <a:spLocks/>
          </p:cNvSpPr>
          <p:nvPr/>
        </p:nvSpPr>
        <p:spPr bwMode="auto">
          <a:xfrm rot="-1879776">
            <a:off x="7445375" y="3030538"/>
            <a:ext cx="209550" cy="369887"/>
          </a:xfrm>
          <a:custGeom>
            <a:avLst/>
            <a:gdLst>
              <a:gd name="T0" fmla="*/ 0 w 576"/>
              <a:gd name="T1" fmla="*/ 0 h 672"/>
              <a:gd name="T2" fmla="*/ 2147483646 w 576"/>
              <a:gd name="T3" fmla="*/ 2147483646 h 672"/>
              <a:gd name="T4" fmla="*/ 2147483646 w 576"/>
              <a:gd name="T5" fmla="*/ 2147483646 h 672"/>
              <a:gd name="T6" fmla="*/ 2147483646 w 576"/>
              <a:gd name="T7" fmla="*/ 2147483646 h 672"/>
              <a:gd name="T8" fmla="*/ 2147483646 w 576"/>
              <a:gd name="T9" fmla="*/ 2147483646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672"/>
              <a:gd name="T17" fmla="*/ 576 w 576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672">
                <a:moveTo>
                  <a:pt x="0" y="0"/>
                </a:moveTo>
                <a:cubicBezTo>
                  <a:pt x="28" y="64"/>
                  <a:pt x="56" y="128"/>
                  <a:pt x="96" y="192"/>
                </a:cubicBezTo>
                <a:cubicBezTo>
                  <a:pt x="136" y="256"/>
                  <a:pt x="192" y="328"/>
                  <a:pt x="240" y="384"/>
                </a:cubicBezTo>
                <a:cubicBezTo>
                  <a:pt x="288" y="440"/>
                  <a:pt x="328" y="480"/>
                  <a:pt x="384" y="528"/>
                </a:cubicBezTo>
                <a:cubicBezTo>
                  <a:pt x="440" y="576"/>
                  <a:pt x="544" y="648"/>
                  <a:pt x="576" y="672"/>
                </a:cubicBezTo>
              </a:path>
            </a:pathLst>
          </a:custGeom>
          <a:noFill/>
          <a:ln w="38100">
            <a:solidFill>
              <a:srgbClr val="66FF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4" name="Freeform 26">
            <a:extLst>
              <a:ext uri="{FF2B5EF4-FFF2-40B4-BE49-F238E27FC236}">
                <a16:creationId xmlns:a16="http://schemas.microsoft.com/office/drawing/2014/main" id="{FD095DD9-F049-4400-8980-146745028080}"/>
              </a:ext>
            </a:extLst>
          </p:cNvPr>
          <p:cNvSpPr>
            <a:spLocks/>
          </p:cNvSpPr>
          <p:nvPr/>
        </p:nvSpPr>
        <p:spPr bwMode="auto">
          <a:xfrm rot="-1879776">
            <a:off x="7267575" y="4011613"/>
            <a:ext cx="258763" cy="311150"/>
          </a:xfrm>
          <a:custGeom>
            <a:avLst/>
            <a:gdLst>
              <a:gd name="T0" fmla="*/ 0 w 576"/>
              <a:gd name="T1" fmla="*/ 0 h 672"/>
              <a:gd name="T2" fmla="*/ 2147483646 w 576"/>
              <a:gd name="T3" fmla="*/ 2147483646 h 672"/>
              <a:gd name="T4" fmla="*/ 2147483646 w 576"/>
              <a:gd name="T5" fmla="*/ 2147483646 h 672"/>
              <a:gd name="T6" fmla="*/ 2147483646 w 576"/>
              <a:gd name="T7" fmla="*/ 2147483646 h 672"/>
              <a:gd name="T8" fmla="*/ 2147483646 w 576"/>
              <a:gd name="T9" fmla="*/ 2147483646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672"/>
              <a:gd name="T17" fmla="*/ 576 w 576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672">
                <a:moveTo>
                  <a:pt x="0" y="0"/>
                </a:moveTo>
                <a:cubicBezTo>
                  <a:pt x="28" y="64"/>
                  <a:pt x="56" y="128"/>
                  <a:pt x="96" y="192"/>
                </a:cubicBezTo>
                <a:cubicBezTo>
                  <a:pt x="136" y="256"/>
                  <a:pt x="192" y="328"/>
                  <a:pt x="240" y="384"/>
                </a:cubicBezTo>
                <a:cubicBezTo>
                  <a:pt x="288" y="440"/>
                  <a:pt x="328" y="480"/>
                  <a:pt x="384" y="528"/>
                </a:cubicBezTo>
                <a:cubicBezTo>
                  <a:pt x="440" y="576"/>
                  <a:pt x="544" y="648"/>
                  <a:pt x="576" y="672"/>
                </a:cubicBezTo>
              </a:path>
            </a:pathLst>
          </a:cu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7">
            <a:extLst>
              <a:ext uri="{FF2B5EF4-FFF2-40B4-BE49-F238E27FC236}">
                <a16:creationId xmlns:a16="http://schemas.microsoft.com/office/drawing/2014/main" id="{326FCF51-85C7-485F-B97A-A7599E5F3507}"/>
              </a:ext>
            </a:extLst>
          </p:cNvPr>
          <p:cNvGrpSpPr>
            <a:grpSpLocks/>
          </p:cNvGrpSpPr>
          <p:nvPr/>
        </p:nvGrpSpPr>
        <p:grpSpPr bwMode="auto">
          <a:xfrm>
            <a:off x="5500688" y="2214563"/>
            <a:ext cx="3455987" cy="3182937"/>
            <a:chOff x="3243" y="1062"/>
            <a:chExt cx="2177" cy="2005"/>
          </a:xfrm>
        </p:grpSpPr>
        <p:sp>
          <p:nvSpPr>
            <p:cNvPr id="12320" name="Line 28">
              <a:extLst>
                <a:ext uri="{FF2B5EF4-FFF2-40B4-BE49-F238E27FC236}">
                  <a16:creationId xmlns:a16="http://schemas.microsoft.com/office/drawing/2014/main" id="{1FD079E4-1489-4EF5-93C3-825C76962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6" y="2790"/>
              <a:ext cx="1904" cy="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1" name="Line 29">
              <a:extLst>
                <a:ext uri="{FF2B5EF4-FFF2-40B4-BE49-F238E27FC236}">
                  <a16:creationId xmlns:a16="http://schemas.microsoft.com/office/drawing/2014/main" id="{3A359F58-602F-4055-8E40-C22393BF75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5" y="1162"/>
              <a:ext cx="12" cy="1639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2" name="Text Box 30">
              <a:extLst>
                <a:ext uri="{FF2B5EF4-FFF2-40B4-BE49-F238E27FC236}">
                  <a16:creationId xmlns:a16="http://schemas.microsoft.com/office/drawing/2014/main" id="{C157CE99-C892-42B4-9788-DBC8E1A19A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6" y="277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solidFill>
                    <a:schemeClr val="bg1"/>
                  </a:solidFill>
                </a:rPr>
                <a:t>V</a:t>
              </a:r>
            </a:p>
          </p:txBody>
        </p:sp>
        <p:sp>
          <p:nvSpPr>
            <p:cNvPr id="12323" name="Text Box 31">
              <a:extLst>
                <a:ext uri="{FF2B5EF4-FFF2-40B4-BE49-F238E27FC236}">
                  <a16:creationId xmlns:a16="http://schemas.microsoft.com/office/drawing/2014/main" id="{086E961B-9685-4B4C-83DE-A06D0CD34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106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12324" name="Text Box 32">
              <a:extLst>
                <a:ext uri="{FF2B5EF4-FFF2-40B4-BE49-F238E27FC236}">
                  <a16:creationId xmlns:a16="http://schemas.microsoft.com/office/drawing/2014/main" id="{1EFA543C-5C09-4FFC-BCA2-B2D667D1E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273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</p:grpSp>
      <p:graphicFrame>
        <p:nvGraphicFramePr>
          <p:cNvPr id="33" name="Object 33">
            <a:extLst>
              <a:ext uri="{FF2B5EF4-FFF2-40B4-BE49-F238E27FC236}">
                <a16:creationId xmlns:a16="http://schemas.microsoft.com/office/drawing/2014/main" id="{AFC6DFF1-C7D9-475F-A383-359104885A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657322"/>
              </p:ext>
            </p:extLst>
          </p:nvPr>
        </p:nvGraphicFramePr>
        <p:xfrm>
          <a:off x="1857375" y="5429250"/>
          <a:ext cx="16573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90" name="公式" r:id="rId11" imgW="1581086" imgH="352391" progId="Equation.3">
                  <p:embed/>
                </p:oleObj>
              </mc:Choice>
              <mc:Fallback>
                <p:oleObj name="公式" r:id="rId11" imgW="1581086" imgH="352391" progId="Equation.3">
                  <p:embed/>
                  <p:pic>
                    <p:nvPicPr>
                      <p:cNvPr id="33" name="Object 33">
                        <a:extLst>
                          <a:ext uri="{FF2B5EF4-FFF2-40B4-BE49-F238E27FC236}">
                            <a16:creationId xmlns:a16="http://schemas.microsoft.com/office/drawing/2014/main" id="{AFC6DFF1-C7D9-475F-A383-359104885A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5429250"/>
                        <a:ext cx="16573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3">
            <a:extLst>
              <a:ext uri="{FF2B5EF4-FFF2-40B4-BE49-F238E27FC236}">
                <a16:creationId xmlns:a16="http://schemas.microsoft.com/office/drawing/2014/main" id="{349384F0-28D8-4CD6-BBB3-80ACD5E67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929188"/>
            <a:ext cx="473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整个循环中外界对工质所作的功为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30BE35C7-F87B-496D-8CCC-610B435BB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5929313"/>
            <a:ext cx="262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循环的致冷系数为</a:t>
            </a:r>
          </a:p>
        </p:txBody>
      </p:sp>
      <p:graphicFrame>
        <p:nvGraphicFramePr>
          <p:cNvPr id="36" name="Object 34">
            <a:extLst>
              <a:ext uri="{FF2B5EF4-FFF2-40B4-BE49-F238E27FC236}">
                <a16:creationId xmlns:a16="http://schemas.microsoft.com/office/drawing/2014/main" id="{E18EB5BA-FAED-4B86-A0E6-F101E90F10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9063" y="5715000"/>
          <a:ext cx="37274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91" name="公式" r:id="rId13" imgW="3676561" imgH="847759" progId="Equation.3">
                  <p:embed/>
                </p:oleObj>
              </mc:Choice>
              <mc:Fallback>
                <p:oleObj name="公式" r:id="rId13" imgW="3676561" imgH="847759" progId="Equation.3">
                  <p:embed/>
                  <p:pic>
                    <p:nvPicPr>
                      <p:cNvPr id="36" name="Object 34">
                        <a:extLst>
                          <a:ext uri="{FF2B5EF4-FFF2-40B4-BE49-F238E27FC236}">
                            <a16:creationId xmlns:a16="http://schemas.microsoft.com/office/drawing/2014/main" id="{E18EB5BA-FAED-4B86-A0E6-F101E90F10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63" y="5715000"/>
                        <a:ext cx="372745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437" name="直接连接符 37">
            <a:extLst>
              <a:ext uri="{FF2B5EF4-FFF2-40B4-BE49-F238E27FC236}">
                <a16:creationId xmlns:a16="http://schemas.microsoft.com/office/drawing/2014/main" id="{CF9B5A87-861E-4E25-9577-A3AB2F8F42EE}"/>
              </a:ext>
            </a:extLst>
          </p:cNvPr>
          <p:cNvCxnSpPr>
            <a:cxnSpLocks noChangeShapeType="1"/>
            <a:stCxn id="37902" idx="1"/>
          </p:cNvCxnSpPr>
          <p:nvPr/>
        </p:nvCxnSpPr>
        <p:spPr bwMode="auto">
          <a:xfrm rot="16200000" flipH="1">
            <a:off x="6406357" y="4477544"/>
            <a:ext cx="1046162" cy="0"/>
          </a:xfrm>
          <a:prstGeom prst="line">
            <a:avLst/>
          </a:prstGeom>
          <a:noFill/>
          <a:ln w="28575" algn="ctr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8" name="直接连接符 38">
            <a:extLst>
              <a:ext uri="{FF2B5EF4-FFF2-40B4-BE49-F238E27FC236}">
                <a16:creationId xmlns:a16="http://schemas.microsoft.com/office/drawing/2014/main" id="{8766209B-CEC6-4484-8733-AB44CFC8D0B4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7679531" y="4679157"/>
            <a:ext cx="642937" cy="0"/>
          </a:xfrm>
          <a:prstGeom prst="line">
            <a:avLst/>
          </a:prstGeom>
          <a:noFill/>
          <a:ln w="28575" algn="ctr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 Box 17">
            <a:extLst>
              <a:ext uri="{FF2B5EF4-FFF2-40B4-BE49-F238E27FC236}">
                <a16:creationId xmlns:a16="http://schemas.microsoft.com/office/drawing/2014/main" id="{2CD48284-D963-47BA-8D75-E2131FEC8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929188"/>
            <a:ext cx="5095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2" name="Text Box 17">
            <a:extLst>
              <a:ext uri="{FF2B5EF4-FFF2-40B4-BE49-F238E27FC236}">
                <a16:creationId xmlns:a16="http://schemas.microsoft.com/office/drawing/2014/main" id="{CFA9FB47-1F68-4793-AC74-F59554B60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7163" y="4929188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319" name="灯片编号占位符 1">
            <a:extLst>
              <a:ext uri="{FF2B5EF4-FFF2-40B4-BE49-F238E27FC236}">
                <a16:creationId xmlns:a16="http://schemas.microsoft.com/office/drawing/2014/main" id="{A73EE7EA-9588-4CEC-AE0B-CA262F349E83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39ECF91-5F67-4AF0-94C7-88A974A88389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/>
      <p:bldP spid="37892" grpId="0" autoUpdateAnimBg="0"/>
      <p:bldP spid="37893" grpId="0"/>
      <p:bldP spid="37895" grpId="0" autoUpdateAnimBg="0"/>
      <p:bldP spid="37898" grpId="0" autoUpdateAnimBg="0"/>
      <p:bldP spid="37903" grpId="0" autoUpdateAnimBg="0"/>
      <p:bldP spid="37904" grpId="0" autoUpdateAnimBg="0"/>
      <p:bldP spid="37905" grpId="0" autoUpdateAnimBg="0"/>
      <p:bldP spid="37906" grpId="0" autoUpdateAnimBg="0"/>
      <p:bldP spid="34" grpId="0" autoUpdateAnimBg="0"/>
      <p:bldP spid="35" grpId="0" autoUpdateAnimBg="0"/>
      <p:bldP spid="41" grpId="0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Object 34">
            <a:extLst>
              <a:ext uri="{FF2B5EF4-FFF2-40B4-BE49-F238E27FC236}">
                <a16:creationId xmlns:a16="http://schemas.microsoft.com/office/drawing/2014/main" id="{188C1A89-9083-4EBB-A526-4EDB09A47C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0313" y="500063"/>
          <a:ext cx="3360737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114" name="公式" r:id="rId3" imgW="3676561" imgH="847759" progId="Equation.3">
                  <p:embed/>
                </p:oleObj>
              </mc:Choice>
              <mc:Fallback>
                <p:oleObj name="公式" r:id="rId3" imgW="3676561" imgH="847759" progId="Equation.3">
                  <p:embed/>
                  <p:pic>
                    <p:nvPicPr>
                      <p:cNvPr id="36" name="Object 34">
                        <a:extLst>
                          <a:ext uri="{FF2B5EF4-FFF2-40B4-BE49-F238E27FC236}">
                            <a16:creationId xmlns:a16="http://schemas.microsoft.com/office/drawing/2014/main" id="{188C1A89-9083-4EBB-A526-4EDB09A47C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500063"/>
                        <a:ext cx="3360737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4">
            <a:extLst>
              <a:ext uri="{FF2B5EF4-FFF2-40B4-BE49-F238E27FC236}">
                <a16:creationId xmlns:a16="http://schemas.microsoft.com/office/drawing/2014/main" id="{6D41C0BA-A408-4A72-B38A-639B002B5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642938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讨论：</a:t>
            </a:r>
          </a:p>
        </p:txBody>
      </p:sp>
      <p:sp>
        <p:nvSpPr>
          <p:cNvPr id="4" name="下箭头 3">
            <a:extLst>
              <a:ext uri="{FF2B5EF4-FFF2-40B4-BE49-F238E27FC236}">
                <a16:creationId xmlns:a16="http://schemas.microsoft.com/office/drawing/2014/main" id="{1547F157-2248-410D-9D4E-1A3C2DBAD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1571625"/>
            <a:ext cx="285750" cy="571500"/>
          </a:xfrm>
          <a:prstGeom prst="downArrow">
            <a:avLst>
              <a:gd name="adj1" fmla="val 50000"/>
              <a:gd name="adj2" fmla="val 688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41660800-1CFF-4A83-82B5-E79C59406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1875" y="2286000"/>
          <a:ext cx="181768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115" name="公式" r:id="rId5" imgW="809504" imgH="361882" progId="Equation.3">
                  <p:embed/>
                </p:oleObj>
              </mc:Choice>
              <mc:Fallback>
                <p:oleObj name="公式" r:id="rId5" imgW="809504" imgH="361882" progId="Equation.3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41660800-1CFF-4A83-82B5-E79C59406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286000"/>
                        <a:ext cx="1817688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>
            <a:extLst>
              <a:ext uri="{FF2B5EF4-FFF2-40B4-BE49-F238E27FC236}">
                <a16:creationId xmlns:a16="http://schemas.microsoft.com/office/drawing/2014/main" id="{270EF27A-6638-4F49-B84F-ABA63C253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3214688"/>
            <a:ext cx="81438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</a:rPr>
              <a:t>T</a:t>
            </a:r>
            <a:r>
              <a:rPr lang="en-US" altLang="zh-CN" baseline="-25000">
                <a:solidFill>
                  <a:srgbClr val="FFFF00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高温热源温度，</a:t>
            </a:r>
            <a:r>
              <a:rPr lang="en-US" altLang="zh-CN">
                <a:solidFill>
                  <a:srgbClr val="FFFF00"/>
                </a:solidFill>
              </a:rPr>
              <a:t>T</a:t>
            </a:r>
            <a:r>
              <a:rPr lang="en-US" altLang="zh-CN" baseline="-25000">
                <a:solidFill>
                  <a:srgbClr val="FFFF00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低温热源温度，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rgbClr val="FFFF00"/>
                </a:solidFill>
              </a:rPr>
              <a:t>Q</a:t>
            </a:r>
            <a:r>
              <a:rPr lang="en-US" altLang="zh-CN" baseline="-25000">
                <a:solidFill>
                  <a:srgbClr val="FFFF00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从低温热源吸收的热量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44D8120A-10DA-45C1-B9CD-C5CF2A18E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038600"/>
            <a:ext cx="3643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设 </a:t>
            </a:r>
            <a:r>
              <a:rPr lang="en-US" altLang="zh-CN" dirty="0">
                <a:solidFill>
                  <a:srgbClr val="FFFF00"/>
                </a:solidFill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</a:rPr>
              <a:t>1 </a:t>
            </a:r>
            <a:r>
              <a:rPr lang="en-US" altLang="zh-CN" dirty="0">
                <a:solidFill>
                  <a:srgbClr val="FFFF00"/>
                </a:solidFill>
              </a:rPr>
              <a:t>= 300 K</a:t>
            </a:r>
            <a:r>
              <a:rPr lang="zh-CN" altLang="en-US" dirty="0">
                <a:solidFill>
                  <a:srgbClr val="FFFF00"/>
                </a:solidFill>
              </a:rPr>
              <a:t>，</a:t>
            </a:r>
            <a:r>
              <a:rPr lang="en-US" altLang="zh-CN" dirty="0">
                <a:solidFill>
                  <a:srgbClr val="FFFF00"/>
                </a:solidFill>
              </a:rPr>
              <a:t>Q</a:t>
            </a:r>
            <a:r>
              <a:rPr lang="en-US" altLang="zh-CN" baseline="-25000" dirty="0">
                <a:solidFill>
                  <a:srgbClr val="FFFF00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一定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73094A39-1354-41FF-BCCC-6DD70E3B7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8" y="4214813"/>
            <a:ext cx="1285875" cy="214312"/>
          </a:xfrm>
          <a:prstGeom prst="rightArrow">
            <a:avLst>
              <a:gd name="adj1" fmla="val 50000"/>
              <a:gd name="adj2" fmla="val 12119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1728EB2-5EEA-4E5D-BBA6-B97D2C227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4071938"/>
            <a:ext cx="2857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</a:rPr>
              <a:t>T</a:t>
            </a:r>
            <a:r>
              <a:rPr lang="en-US" altLang="zh-CN" baseline="-25000">
                <a:solidFill>
                  <a:srgbClr val="FFFF00"/>
                </a:solidFill>
              </a:rPr>
              <a:t>2 </a:t>
            </a:r>
            <a:r>
              <a:rPr lang="zh-CN" altLang="en-US">
                <a:solidFill>
                  <a:schemeClr val="bg1"/>
                </a:solidFill>
              </a:rPr>
              <a:t>越小，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rgbClr val="FFFF00"/>
                </a:solidFill>
              </a:rPr>
              <a:t>A </a:t>
            </a:r>
            <a:r>
              <a:rPr lang="zh-CN" altLang="en-US">
                <a:solidFill>
                  <a:schemeClr val="bg1"/>
                </a:solidFill>
              </a:rPr>
              <a:t>越大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3FDC020F-D36C-471D-BF76-9AA1E266E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643438"/>
            <a:ext cx="7715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极限状态：</a:t>
            </a:r>
            <a:r>
              <a:rPr lang="en-US" altLang="zh-CN" dirty="0">
                <a:solidFill>
                  <a:srgbClr val="FFFF00"/>
                </a:solidFill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</a:rPr>
              <a:t>2 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dirty="0">
                <a:solidFill>
                  <a:schemeClr val="bg1"/>
                </a:solidFill>
              </a:rPr>
              <a:t>0 K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rgbClr val="FFFF00"/>
                </a:solidFill>
              </a:rPr>
              <a:t>A 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∞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2C5E249-840B-4E1A-B8C7-4940DC0F6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5286375"/>
            <a:ext cx="7286625" cy="114300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>
                <a:solidFill>
                  <a:srgbClr val="FFFF00"/>
                </a:solidFill>
              </a:rPr>
              <a:t>结论：</a:t>
            </a:r>
            <a:r>
              <a:rPr lang="zh-CN" altLang="en-US">
                <a:solidFill>
                  <a:schemeClr val="bg1"/>
                </a:solidFill>
              </a:rPr>
              <a:t>不可能用有限的手段将物体冷却到绝对零度。</a:t>
            </a:r>
            <a:endParaRPr lang="en-US" altLang="zh-CN">
              <a:solidFill>
                <a:schemeClr val="bg1"/>
              </a:solidFill>
            </a:endParaRPr>
          </a:p>
          <a:p>
            <a:pPr eaLnBrk="1" hangingPunct="1">
              <a:lnSpc>
                <a:spcPts val="3500"/>
              </a:lnSpc>
            </a:pPr>
            <a:r>
              <a:rPr lang="zh-CN" altLang="en-US">
                <a:solidFill>
                  <a:srgbClr val="FFFF00"/>
                </a:solidFill>
              </a:rPr>
              <a:t>热力学第三定律：</a:t>
            </a:r>
            <a:r>
              <a:rPr lang="zh-CN" altLang="en-US">
                <a:solidFill>
                  <a:schemeClr val="bg1"/>
                </a:solidFill>
              </a:rPr>
              <a:t>绝对零度是不可能达到的。</a:t>
            </a:r>
          </a:p>
        </p:txBody>
      </p:sp>
      <p:sp>
        <p:nvSpPr>
          <p:cNvPr id="13324" name="灯片编号占位符 1">
            <a:extLst>
              <a:ext uri="{FF2B5EF4-FFF2-40B4-BE49-F238E27FC236}">
                <a16:creationId xmlns:a16="http://schemas.microsoft.com/office/drawing/2014/main" id="{A8C4B88C-EC19-4A8A-9973-DCF8BCD1A57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99BB2D5-4E64-485F-B38D-6F0EB628D728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7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770" decel="100000"/>
                                        <p:tgtEl>
                                          <p:spTgt spid="1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3" dur="7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5" dur="7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/>
      <p:bldP spid="6" grpId="0" autoUpdateAnimBg="0"/>
      <p:bldP spid="7" grpId="0" autoUpdateAnimBg="0"/>
      <p:bldP spid="8" grpId="0" animBg="1"/>
      <p:bldP spid="9" grpId="0" autoUpdateAnimBg="0"/>
      <p:bldP spid="10" grpId="0" autoUpdateAnimBg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Text Box 5">
            <a:extLst>
              <a:ext uri="{FF2B5EF4-FFF2-40B4-BE49-F238E27FC236}">
                <a16:creationId xmlns:a16="http://schemas.microsoft.com/office/drawing/2014/main" id="{E257DD3F-ECA9-4FD1-8EF7-578AC50D0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189A9E08-9C3D-46D5-92AB-BA7B21DC2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9288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求</a:t>
            </a:r>
          </a:p>
        </p:txBody>
      </p:sp>
      <p:sp>
        <p:nvSpPr>
          <p:cNvPr id="52232" name="Text Box 8">
            <a:extLst>
              <a:ext uri="{FF2B5EF4-FFF2-40B4-BE49-F238E27FC236}">
                <a16:creationId xmlns:a16="http://schemas.microsoft.com/office/drawing/2014/main" id="{E160D46E-5C54-4C1F-A92D-6ADC03DDD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3" y="366713"/>
            <a:ext cx="81295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rgbClr val="FFFFFF"/>
                </a:solidFill>
              </a:rPr>
              <a:t>一定量的理想气体经历如图所示的循环过程，</a:t>
            </a:r>
            <a:r>
              <a:rPr lang="en-US" altLang="zh-CN" i="1" dirty="0">
                <a:solidFill>
                  <a:srgbClr val="00FFFF"/>
                </a:solidFill>
              </a:rPr>
              <a:t>A</a:t>
            </a:r>
            <a:r>
              <a:rPr lang="en-US" altLang="zh-CN" dirty="0">
                <a:solidFill>
                  <a:srgbClr val="00FFFF"/>
                </a:solidFill>
              </a:rPr>
              <a:t>→</a:t>
            </a:r>
            <a:r>
              <a:rPr lang="en-US" altLang="zh-CN" i="1" dirty="0">
                <a:solidFill>
                  <a:srgbClr val="00FFFF"/>
                </a:solidFill>
              </a:rPr>
              <a:t>B</a:t>
            </a:r>
            <a:r>
              <a:rPr lang="zh-CN" altLang="en-US" dirty="0">
                <a:solidFill>
                  <a:schemeClr val="bg1"/>
                </a:solidFill>
              </a:rPr>
              <a:t>和</a:t>
            </a:r>
            <a:r>
              <a:rPr lang="en-US" altLang="zh-CN" i="1" dirty="0">
                <a:solidFill>
                  <a:srgbClr val="00FFFF"/>
                </a:solidFill>
              </a:rPr>
              <a:t>C</a:t>
            </a:r>
            <a:r>
              <a:rPr lang="en-US" altLang="zh-CN" dirty="0">
                <a:solidFill>
                  <a:srgbClr val="00FFFF"/>
                </a:solidFill>
              </a:rPr>
              <a:t>→</a:t>
            </a:r>
            <a:r>
              <a:rPr lang="en-US" altLang="zh-CN" i="1" dirty="0">
                <a:solidFill>
                  <a:srgbClr val="00FFFF"/>
                </a:solidFill>
              </a:rPr>
              <a:t>D</a:t>
            </a:r>
            <a:r>
              <a:rPr lang="zh-CN" altLang="en-US" dirty="0">
                <a:solidFill>
                  <a:schemeClr val="bg1"/>
                </a:solidFill>
              </a:rPr>
              <a:t>是</a:t>
            </a:r>
            <a:r>
              <a:rPr lang="zh-CN" altLang="en-US" dirty="0">
                <a:solidFill>
                  <a:srgbClr val="FFFFFF"/>
                </a:solidFill>
              </a:rPr>
              <a:t>等压过程， </a:t>
            </a:r>
            <a:r>
              <a:rPr lang="en-US" altLang="zh-CN" i="1" dirty="0">
                <a:solidFill>
                  <a:srgbClr val="00FFFF"/>
                </a:solidFill>
              </a:rPr>
              <a:t>B</a:t>
            </a:r>
            <a:r>
              <a:rPr lang="en-US" altLang="zh-CN" dirty="0">
                <a:solidFill>
                  <a:srgbClr val="00FFFF"/>
                </a:solidFill>
              </a:rPr>
              <a:t>→</a:t>
            </a:r>
            <a:r>
              <a:rPr lang="en-US" altLang="zh-CN" i="1" dirty="0">
                <a:solidFill>
                  <a:srgbClr val="00FFFF"/>
                </a:solidFill>
              </a:rPr>
              <a:t>C </a:t>
            </a:r>
            <a:r>
              <a:rPr lang="zh-CN" altLang="en-US" dirty="0">
                <a:solidFill>
                  <a:schemeClr val="bg1"/>
                </a:solidFill>
              </a:rPr>
              <a:t>和</a:t>
            </a:r>
            <a:r>
              <a:rPr lang="en-US" altLang="zh-CN" i="1" dirty="0">
                <a:solidFill>
                  <a:srgbClr val="00FFFF"/>
                </a:solidFill>
              </a:rPr>
              <a:t>D</a:t>
            </a:r>
            <a:r>
              <a:rPr lang="en-US" altLang="zh-CN" dirty="0">
                <a:solidFill>
                  <a:srgbClr val="00FFFF"/>
                </a:solidFill>
              </a:rPr>
              <a:t>→</a:t>
            </a:r>
            <a:r>
              <a:rPr lang="en-US" altLang="zh-CN" i="1" dirty="0">
                <a:solidFill>
                  <a:srgbClr val="00FFFF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</a:rPr>
              <a:t>是绝热过程。</a:t>
            </a:r>
            <a:endParaRPr lang="zh-CN" altLang="en-US" dirty="0">
              <a:solidFill>
                <a:srgbClr val="FFFFFF"/>
              </a:solidFill>
            </a:endParaRPr>
          </a:p>
        </p:txBody>
      </p:sp>
      <p:graphicFrame>
        <p:nvGraphicFramePr>
          <p:cNvPr id="52234" name="Object 2">
            <a:extLst>
              <a:ext uri="{FF2B5EF4-FFF2-40B4-BE49-F238E27FC236}">
                <a16:creationId xmlns:a16="http://schemas.microsoft.com/office/drawing/2014/main" id="{A32771B6-5433-411E-8354-F78C4C96C4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9738" y="1397000"/>
          <a:ext cx="34337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71" name="公式" r:id="rId3" imgW="1523898" imgH="199923" progId="Equation.3">
                  <p:embed/>
                </p:oleObj>
              </mc:Choice>
              <mc:Fallback>
                <p:oleObj name="公式" r:id="rId3" imgW="1523898" imgH="199923" progId="Equation.3">
                  <p:embed/>
                  <p:pic>
                    <p:nvPicPr>
                      <p:cNvPr id="52234" name="Object 2">
                        <a:extLst>
                          <a:ext uri="{FF2B5EF4-FFF2-40B4-BE49-F238E27FC236}">
                            <a16:creationId xmlns:a16="http://schemas.microsoft.com/office/drawing/2014/main" id="{A32771B6-5433-411E-8354-F78C4C96C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1397000"/>
                        <a:ext cx="34337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5" name="Rectangle 11">
            <a:extLst>
              <a:ext uri="{FF2B5EF4-FFF2-40B4-BE49-F238E27FC236}">
                <a16:creationId xmlns:a16="http://schemas.microsoft.com/office/drawing/2014/main" id="{01DDF726-9065-4B7F-B4CE-0237499EC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357313"/>
            <a:ext cx="15843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已知：</a:t>
            </a:r>
          </a:p>
        </p:txBody>
      </p:sp>
      <p:sp>
        <p:nvSpPr>
          <p:cNvPr id="52236" name="Text Box 12">
            <a:extLst>
              <a:ext uri="{FF2B5EF4-FFF2-40B4-BE49-F238E27FC236}">
                <a16:creationId xmlns:a16="http://schemas.microsoft.com/office/drawing/2014/main" id="{AEC61450-0317-48C3-93F4-8B830DCF0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1936750"/>
            <a:ext cx="347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此循环的效率？</a:t>
            </a:r>
          </a:p>
        </p:txBody>
      </p:sp>
      <p:sp>
        <p:nvSpPr>
          <p:cNvPr id="52237" name="Freeform 13">
            <a:extLst>
              <a:ext uri="{FF2B5EF4-FFF2-40B4-BE49-F238E27FC236}">
                <a16:creationId xmlns:a16="http://schemas.microsoft.com/office/drawing/2014/main" id="{98AEFD49-66E4-4ECB-85B7-BC81FA846304}"/>
              </a:ext>
            </a:extLst>
          </p:cNvPr>
          <p:cNvSpPr>
            <a:spLocks/>
          </p:cNvSpPr>
          <p:nvPr/>
        </p:nvSpPr>
        <p:spPr bwMode="auto">
          <a:xfrm rot="1618482">
            <a:off x="6151563" y="3074988"/>
            <a:ext cx="1047750" cy="735012"/>
          </a:xfrm>
          <a:custGeom>
            <a:avLst/>
            <a:gdLst>
              <a:gd name="T0" fmla="*/ 0 w 576"/>
              <a:gd name="T1" fmla="*/ 0 h 672"/>
              <a:gd name="T2" fmla="*/ 2147483646 w 576"/>
              <a:gd name="T3" fmla="*/ 2147483646 h 672"/>
              <a:gd name="T4" fmla="*/ 2147483646 w 576"/>
              <a:gd name="T5" fmla="*/ 2147483646 h 672"/>
              <a:gd name="T6" fmla="*/ 2147483646 w 576"/>
              <a:gd name="T7" fmla="*/ 2147483646 h 672"/>
              <a:gd name="T8" fmla="*/ 2147483646 w 576"/>
              <a:gd name="T9" fmla="*/ 2147483646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672"/>
              <a:gd name="T17" fmla="*/ 576 w 576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672">
                <a:moveTo>
                  <a:pt x="0" y="0"/>
                </a:moveTo>
                <a:cubicBezTo>
                  <a:pt x="28" y="64"/>
                  <a:pt x="56" y="128"/>
                  <a:pt x="96" y="192"/>
                </a:cubicBezTo>
                <a:cubicBezTo>
                  <a:pt x="136" y="256"/>
                  <a:pt x="192" y="328"/>
                  <a:pt x="240" y="384"/>
                </a:cubicBezTo>
                <a:cubicBezTo>
                  <a:pt x="288" y="440"/>
                  <a:pt x="328" y="480"/>
                  <a:pt x="384" y="528"/>
                </a:cubicBezTo>
                <a:cubicBezTo>
                  <a:pt x="440" y="576"/>
                  <a:pt x="544" y="648"/>
                  <a:pt x="576" y="672"/>
                </a:cubicBezTo>
              </a:path>
            </a:pathLst>
          </a:cu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8" name="Freeform 14">
            <a:extLst>
              <a:ext uri="{FF2B5EF4-FFF2-40B4-BE49-F238E27FC236}">
                <a16:creationId xmlns:a16="http://schemas.microsoft.com/office/drawing/2014/main" id="{EFBD3C64-8EE2-451F-B2CE-20E7FE62EDB2}"/>
              </a:ext>
            </a:extLst>
          </p:cNvPr>
          <p:cNvSpPr>
            <a:spLocks/>
          </p:cNvSpPr>
          <p:nvPr/>
        </p:nvSpPr>
        <p:spPr bwMode="auto">
          <a:xfrm rot="634760">
            <a:off x="7526338" y="2976563"/>
            <a:ext cx="865187" cy="936625"/>
          </a:xfrm>
          <a:custGeom>
            <a:avLst/>
            <a:gdLst>
              <a:gd name="T0" fmla="*/ 0 w 576"/>
              <a:gd name="T1" fmla="*/ 0 h 672"/>
              <a:gd name="T2" fmla="*/ 2147483646 w 576"/>
              <a:gd name="T3" fmla="*/ 2147483646 h 672"/>
              <a:gd name="T4" fmla="*/ 2147483646 w 576"/>
              <a:gd name="T5" fmla="*/ 2147483646 h 672"/>
              <a:gd name="T6" fmla="*/ 2147483646 w 576"/>
              <a:gd name="T7" fmla="*/ 2147483646 h 672"/>
              <a:gd name="T8" fmla="*/ 2147483646 w 576"/>
              <a:gd name="T9" fmla="*/ 2147483646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672"/>
              <a:gd name="T17" fmla="*/ 576 w 576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672">
                <a:moveTo>
                  <a:pt x="0" y="0"/>
                </a:moveTo>
                <a:cubicBezTo>
                  <a:pt x="28" y="64"/>
                  <a:pt x="56" y="128"/>
                  <a:pt x="96" y="192"/>
                </a:cubicBezTo>
                <a:cubicBezTo>
                  <a:pt x="136" y="256"/>
                  <a:pt x="192" y="328"/>
                  <a:pt x="240" y="384"/>
                </a:cubicBezTo>
                <a:cubicBezTo>
                  <a:pt x="288" y="440"/>
                  <a:pt x="328" y="480"/>
                  <a:pt x="384" y="528"/>
                </a:cubicBezTo>
                <a:cubicBezTo>
                  <a:pt x="440" y="576"/>
                  <a:pt x="544" y="648"/>
                  <a:pt x="576" y="672"/>
                </a:cubicBezTo>
              </a:path>
            </a:pathLst>
          </a:cu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9" name="Line 15">
            <a:extLst>
              <a:ext uri="{FF2B5EF4-FFF2-40B4-BE49-F238E27FC236}">
                <a16:creationId xmlns:a16="http://schemas.microsoft.com/office/drawing/2014/main" id="{DCDA2B84-8320-4E80-B370-C3DED0DAF81C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03257" y="2267744"/>
            <a:ext cx="0" cy="1258887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0" name="Line 16">
            <a:extLst>
              <a:ext uri="{FF2B5EF4-FFF2-40B4-BE49-F238E27FC236}">
                <a16:creationId xmlns:a16="http://schemas.microsoft.com/office/drawing/2014/main" id="{2D87EA42-440C-4ABB-A63A-259E8DF01B2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631907" y="3302794"/>
            <a:ext cx="0" cy="1366837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1" name="Text Box 17">
            <a:extLst>
              <a:ext uri="{FF2B5EF4-FFF2-40B4-BE49-F238E27FC236}">
                <a16:creationId xmlns:a16="http://schemas.microsoft.com/office/drawing/2014/main" id="{A649739F-9F09-45CB-8B3A-11FE90EBB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7275" y="25066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2242" name="Text Box 18">
            <a:extLst>
              <a:ext uri="{FF2B5EF4-FFF2-40B4-BE49-F238E27FC236}">
                <a16:creationId xmlns:a16="http://schemas.microsoft.com/office/drawing/2014/main" id="{A27A46CF-6157-4274-90E1-F7E1DCFDA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8563" y="25114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2243" name="Text Box 19">
            <a:extLst>
              <a:ext uri="{FF2B5EF4-FFF2-40B4-BE49-F238E27FC236}">
                <a16:creationId xmlns:a16="http://schemas.microsoft.com/office/drawing/2014/main" id="{F53D9B5B-F12C-4A88-8661-9218DF8FF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5463" y="38798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52244" name="Text Box 20">
            <a:extLst>
              <a:ext uri="{FF2B5EF4-FFF2-40B4-BE49-F238E27FC236}">
                <a16:creationId xmlns:a16="http://schemas.microsoft.com/office/drawing/2014/main" id="{9BC52FB5-CFE5-496D-A202-6474E0E36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8862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D</a:t>
            </a:r>
          </a:p>
        </p:txBody>
      </p:sp>
      <p:graphicFrame>
        <p:nvGraphicFramePr>
          <p:cNvPr id="52246" name="Object 3">
            <a:extLst>
              <a:ext uri="{FF2B5EF4-FFF2-40B4-BE49-F238E27FC236}">
                <a16:creationId xmlns:a16="http://schemas.microsoft.com/office/drawing/2014/main" id="{303F63F2-A9DD-4C00-80EA-2CFDA04DEB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2468563"/>
          <a:ext cx="3397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72" name="公式" r:id="rId5" imgW="314382" imgH="390661" progId="Equation.3">
                  <p:embed/>
                </p:oleObj>
              </mc:Choice>
              <mc:Fallback>
                <p:oleObj name="公式" r:id="rId5" imgW="314382" imgH="390661" progId="Equation.3">
                  <p:embed/>
                  <p:pic>
                    <p:nvPicPr>
                      <p:cNvPr id="52246" name="Object 3">
                        <a:extLst>
                          <a:ext uri="{FF2B5EF4-FFF2-40B4-BE49-F238E27FC236}">
                            <a16:creationId xmlns:a16="http://schemas.microsoft.com/office/drawing/2014/main" id="{303F63F2-A9DD-4C00-80EA-2CFDA04DEB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2468563"/>
                        <a:ext cx="3397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7" name="Freeform 23">
            <a:extLst>
              <a:ext uri="{FF2B5EF4-FFF2-40B4-BE49-F238E27FC236}">
                <a16:creationId xmlns:a16="http://schemas.microsoft.com/office/drawing/2014/main" id="{902E5355-EC09-475C-BD58-60B46AAEED49}"/>
              </a:ext>
            </a:extLst>
          </p:cNvPr>
          <p:cNvSpPr>
            <a:spLocks/>
          </p:cNvSpPr>
          <p:nvPr/>
        </p:nvSpPr>
        <p:spPr bwMode="auto">
          <a:xfrm rot="7710089">
            <a:off x="6856413" y="2670175"/>
            <a:ext cx="215900" cy="609600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C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2249" name="Object 4">
            <a:extLst>
              <a:ext uri="{FF2B5EF4-FFF2-40B4-BE49-F238E27FC236}">
                <a16:creationId xmlns:a16="http://schemas.microsoft.com/office/drawing/2014/main" id="{59E0A469-8387-42EA-AF37-8B8F3B6F4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288" y="3979863"/>
          <a:ext cx="3778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73" name="公式" r:id="rId7" imgW="352304" imgH="390661" progId="Equation.3">
                  <p:embed/>
                </p:oleObj>
              </mc:Choice>
              <mc:Fallback>
                <p:oleObj name="公式" r:id="rId7" imgW="352304" imgH="390661" progId="Equation.3">
                  <p:embed/>
                  <p:pic>
                    <p:nvPicPr>
                      <p:cNvPr id="52249" name="Object 4">
                        <a:extLst>
                          <a:ext uri="{FF2B5EF4-FFF2-40B4-BE49-F238E27FC236}">
                            <a16:creationId xmlns:a16="http://schemas.microsoft.com/office/drawing/2014/main" id="{59E0A469-8387-42EA-AF37-8B8F3B6F40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3979863"/>
                        <a:ext cx="3778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0" name="Freeform 26">
            <a:extLst>
              <a:ext uri="{FF2B5EF4-FFF2-40B4-BE49-F238E27FC236}">
                <a16:creationId xmlns:a16="http://schemas.microsoft.com/office/drawing/2014/main" id="{7C38E1E8-DBE3-478D-BF74-B2A507A90A11}"/>
              </a:ext>
            </a:extLst>
          </p:cNvPr>
          <p:cNvSpPr>
            <a:spLocks/>
          </p:cNvSpPr>
          <p:nvPr/>
        </p:nvSpPr>
        <p:spPr bwMode="auto">
          <a:xfrm rot="10429486">
            <a:off x="7164388" y="3657600"/>
            <a:ext cx="215900" cy="609600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C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1" name="Freeform 27">
            <a:extLst>
              <a:ext uri="{FF2B5EF4-FFF2-40B4-BE49-F238E27FC236}">
                <a16:creationId xmlns:a16="http://schemas.microsoft.com/office/drawing/2014/main" id="{AE97769A-C846-4C02-94AC-5B7FD101D816}"/>
              </a:ext>
            </a:extLst>
          </p:cNvPr>
          <p:cNvSpPr>
            <a:spLocks/>
          </p:cNvSpPr>
          <p:nvPr/>
        </p:nvSpPr>
        <p:spPr bwMode="auto">
          <a:xfrm rot="7277146" flipH="1">
            <a:off x="7760494" y="3258344"/>
            <a:ext cx="209550" cy="369888"/>
          </a:xfrm>
          <a:custGeom>
            <a:avLst/>
            <a:gdLst>
              <a:gd name="T0" fmla="*/ 0 w 576"/>
              <a:gd name="T1" fmla="*/ 0 h 672"/>
              <a:gd name="T2" fmla="*/ 2147483646 w 576"/>
              <a:gd name="T3" fmla="*/ 2147483646 h 672"/>
              <a:gd name="T4" fmla="*/ 2147483646 w 576"/>
              <a:gd name="T5" fmla="*/ 2147483646 h 672"/>
              <a:gd name="T6" fmla="*/ 2147483646 w 576"/>
              <a:gd name="T7" fmla="*/ 2147483646 h 672"/>
              <a:gd name="T8" fmla="*/ 2147483646 w 576"/>
              <a:gd name="T9" fmla="*/ 2147483646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672"/>
              <a:gd name="T17" fmla="*/ 576 w 576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672">
                <a:moveTo>
                  <a:pt x="0" y="0"/>
                </a:moveTo>
                <a:cubicBezTo>
                  <a:pt x="28" y="64"/>
                  <a:pt x="56" y="128"/>
                  <a:pt x="96" y="192"/>
                </a:cubicBezTo>
                <a:cubicBezTo>
                  <a:pt x="136" y="256"/>
                  <a:pt x="192" y="328"/>
                  <a:pt x="240" y="384"/>
                </a:cubicBezTo>
                <a:cubicBezTo>
                  <a:pt x="288" y="440"/>
                  <a:pt x="328" y="480"/>
                  <a:pt x="384" y="528"/>
                </a:cubicBezTo>
                <a:cubicBezTo>
                  <a:pt x="440" y="576"/>
                  <a:pt x="544" y="648"/>
                  <a:pt x="576" y="672"/>
                </a:cubicBezTo>
              </a:path>
            </a:pathLst>
          </a:custGeom>
          <a:noFill/>
          <a:ln w="38100">
            <a:solidFill>
              <a:srgbClr val="66FF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2" name="Freeform 28">
            <a:extLst>
              <a:ext uri="{FF2B5EF4-FFF2-40B4-BE49-F238E27FC236}">
                <a16:creationId xmlns:a16="http://schemas.microsoft.com/office/drawing/2014/main" id="{5D11FA1A-9299-40E3-845F-259B32B11C41}"/>
              </a:ext>
            </a:extLst>
          </p:cNvPr>
          <p:cNvSpPr>
            <a:spLocks/>
          </p:cNvSpPr>
          <p:nvPr/>
        </p:nvSpPr>
        <p:spPr bwMode="auto">
          <a:xfrm rot="6382338" flipH="1">
            <a:off x="6534943" y="3399632"/>
            <a:ext cx="258763" cy="311150"/>
          </a:xfrm>
          <a:custGeom>
            <a:avLst/>
            <a:gdLst>
              <a:gd name="T0" fmla="*/ 0 w 576"/>
              <a:gd name="T1" fmla="*/ 0 h 672"/>
              <a:gd name="T2" fmla="*/ 2147483646 w 576"/>
              <a:gd name="T3" fmla="*/ 2147483646 h 672"/>
              <a:gd name="T4" fmla="*/ 2147483646 w 576"/>
              <a:gd name="T5" fmla="*/ 2147483646 h 672"/>
              <a:gd name="T6" fmla="*/ 2147483646 w 576"/>
              <a:gd name="T7" fmla="*/ 2147483646 h 672"/>
              <a:gd name="T8" fmla="*/ 2147483646 w 576"/>
              <a:gd name="T9" fmla="*/ 2147483646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672"/>
              <a:gd name="T17" fmla="*/ 576 w 576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672">
                <a:moveTo>
                  <a:pt x="0" y="0"/>
                </a:moveTo>
                <a:cubicBezTo>
                  <a:pt x="28" y="64"/>
                  <a:pt x="56" y="128"/>
                  <a:pt x="96" y="192"/>
                </a:cubicBezTo>
                <a:cubicBezTo>
                  <a:pt x="136" y="256"/>
                  <a:pt x="192" y="328"/>
                  <a:pt x="240" y="384"/>
                </a:cubicBezTo>
                <a:cubicBezTo>
                  <a:pt x="288" y="440"/>
                  <a:pt x="328" y="480"/>
                  <a:pt x="384" y="528"/>
                </a:cubicBezTo>
                <a:cubicBezTo>
                  <a:pt x="440" y="576"/>
                  <a:pt x="544" y="648"/>
                  <a:pt x="576" y="672"/>
                </a:cubicBezTo>
              </a:path>
            </a:pathLst>
          </a:cu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D100F898-39CA-40AE-91CA-9FB42EFB84E7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916113"/>
            <a:ext cx="3455988" cy="3182937"/>
            <a:chOff x="3243" y="1062"/>
            <a:chExt cx="2177" cy="2005"/>
          </a:xfrm>
        </p:grpSpPr>
        <p:sp>
          <p:nvSpPr>
            <p:cNvPr id="14376" name="Line 30">
              <a:extLst>
                <a:ext uri="{FF2B5EF4-FFF2-40B4-BE49-F238E27FC236}">
                  <a16:creationId xmlns:a16="http://schemas.microsoft.com/office/drawing/2014/main" id="{9DA1638C-05FC-4EE8-87EE-F08FC9BA7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6" y="2790"/>
              <a:ext cx="1904" cy="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7" name="Line 31">
              <a:extLst>
                <a:ext uri="{FF2B5EF4-FFF2-40B4-BE49-F238E27FC236}">
                  <a16:creationId xmlns:a16="http://schemas.microsoft.com/office/drawing/2014/main" id="{C6C69EC7-A215-44FD-A5F4-68B0326CF7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5" y="1162"/>
              <a:ext cx="12" cy="1639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8" name="Text Box 32">
              <a:extLst>
                <a:ext uri="{FF2B5EF4-FFF2-40B4-BE49-F238E27FC236}">
                  <a16:creationId xmlns:a16="http://schemas.microsoft.com/office/drawing/2014/main" id="{F9C51710-4E0C-4996-A651-92BBF1A40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6" y="277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solidFill>
                    <a:schemeClr val="bg1"/>
                  </a:solidFill>
                </a:rPr>
                <a:t>V</a:t>
              </a:r>
            </a:p>
          </p:txBody>
        </p:sp>
        <p:sp>
          <p:nvSpPr>
            <p:cNvPr id="14379" name="Text Box 33">
              <a:extLst>
                <a:ext uri="{FF2B5EF4-FFF2-40B4-BE49-F238E27FC236}">
                  <a16:creationId xmlns:a16="http://schemas.microsoft.com/office/drawing/2014/main" id="{A34D8750-3E15-48D2-A85E-998E5047E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106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14380" name="Text Box 34">
              <a:extLst>
                <a:ext uri="{FF2B5EF4-FFF2-40B4-BE49-F238E27FC236}">
                  <a16:creationId xmlns:a16="http://schemas.microsoft.com/office/drawing/2014/main" id="{C29C6801-33D0-4D77-9319-01A823E22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273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</p:grpSp>
      <p:graphicFrame>
        <p:nvGraphicFramePr>
          <p:cNvPr id="52259" name="Object 5">
            <a:extLst>
              <a:ext uri="{FF2B5EF4-FFF2-40B4-BE49-F238E27FC236}">
                <a16:creationId xmlns:a16="http://schemas.microsoft.com/office/drawing/2014/main" id="{6651B780-11E0-4433-AA4D-643301B381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4438" y="2500313"/>
          <a:ext cx="40417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74" name="公式" r:id="rId9" imgW="2076514" imgH="209414" progId="Equation.3">
                  <p:embed/>
                </p:oleObj>
              </mc:Choice>
              <mc:Fallback>
                <p:oleObj name="公式" r:id="rId9" imgW="2076514" imgH="209414" progId="Equation.3">
                  <p:embed/>
                  <p:pic>
                    <p:nvPicPr>
                      <p:cNvPr id="52259" name="Object 5">
                        <a:extLst>
                          <a:ext uri="{FF2B5EF4-FFF2-40B4-BE49-F238E27FC236}">
                            <a16:creationId xmlns:a16="http://schemas.microsoft.com/office/drawing/2014/main" id="{6651B780-11E0-4433-AA4D-643301B38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500313"/>
                        <a:ext cx="40417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0" name="Object 6">
            <a:extLst>
              <a:ext uri="{FF2B5EF4-FFF2-40B4-BE49-F238E27FC236}">
                <a16:creationId xmlns:a16="http://schemas.microsoft.com/office/drawing/2014/main" id="{B93BE216-89DF-440E-B722-609642763A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1100" y="3071813"/>
          <a:ext cx="41052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75" name="公式" r:id="rId11" imgW="2114435" imgH="209414" progId="Equation.3">
                  <p:embed/>
                </p:oleObj>
              </mc:Choice>
              <mc:Fallback>
                <p:oleObj name="公式" r:id="rId11" imgW="2114435" imgH="209414" progId="Equation.3">
                  <p:embed/>
                  <p:pic>
                    <p:nvPicPr>
                      <p:cNvPr id="52260" name="Object 6">
                        <a:extLst>
                          <a:ext uri="{FF2B5EF4-FFF2-40B4-BE49-F238E27FC236}">
                            <a16:creationId xmlns:a16="http://schemas.microsoft.com/office/drawing/2014/main" id="{B93BE216-89DF-440E-B722-609642763A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3071813"/>
                        <a:ext cx="41052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61" name="Text Box 37">
            <a:extLst>
              <a:ext uri="{FF2B5EF4-FFF2-40B4-BE49-F238E27FC236}">
                <a16:creationId xmlns:a16="http://schemas.microsoft.com/office/drawing/2014/main" id="{5890B2B8-B031-44D7-90B6-14BE5155E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506663"/>
            <a:ext cx="110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33"/>
                </a:solidFill>
              </a:rPr>
              <a:t>分析</a:t>
            </a:r>
          </a:p>
        </p:txBody>
      </p:sp>
      <p:graphicFrame>
        <p:nvGraphicFramePr>
          <p:cNvPr id="52262" name="Object 7">
            <a:extLst>
              <a:ext uri="{FF2B5EF4-FFF2-40B4-BE49-F238E27FC236}">
                <a16:creationId xmlns:a16="http://schemas.microsoft.com/office/drawing/2014/main" id="{16A8DED6-AD2C-437C-BE15-3718984B22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3571875"/>
          <a:ext cx="14287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76" name="公式" r:id="rId13" imgW="666686" imgH="428625" progId="Equation.3">
                  <p:embed/>
                </p:oleObj>
              </mc:Choice>
              <mc:Fallback>
                <p:oleObj name="公式" r:id="rId13" imgW="666686" imgH="428625" progId="Equation.3">
                  <p:embed/>
                  <p:pic>
                    <p:nvPicPr>
                      <p:cNvPr id="52262" name="Object 7">
                        <a:extLst>
                          <a:ext uri="{FF2B5EF4-FFF2-40B4-BE49-F238E27FC236}">
                            <a16:creationId xmlns:a16="http://schemas.microsoft.com/office/drawing/2014/main" id="{16A8DED6-AD2C-437C-BE15-3718984B2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3571875"/>
                        <a:ext cx="142875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3" name="Object 8">
            <a:extLst>
              <a:ext uri="{FF2B5EF4-FFF2-40B4-BE49-F238E27FC236}">
                <a16:creationId xmlns:a16="http://schemas.microsoft.com/office/drawing/2014/main" id="{04941372-FD4D-425B-981E-746700C926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7513" y="4572000"/>
          <a:ext cx="1828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77" name="公式" r:id="rId15" imgW="1790573" imgH="457098" progId="Equation.3">
                  <p:embed/>
                </p:oleObj>
              </mc:Choice>
              <mc:Fallback>
                <p:oleObj name="公式" r:id="rId15" imgW="1790573" imgH="457098" progId="Equation.3">
                  <p:embed/>
                  <p:pic>
                    <p:nvPicPr>
                      <p:cNvPr id="52263" name="Object 8">
                        <a:extLst>
                          <a:ext uri="{FF2B5EF4-FFF2-40B4-BE49-F238E27FC236}">
                            <a16:creationId xmlns:a16="http://schemas.microsoft.com/office/drawing/2014/main" id="{04941372-FD4D-425B-981E-746700C926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4572000"/>
                        <a:ext cx="18288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64" name="Text Box 40">
            <a:extLst>
              <a:ext uri="{FF2B5EF4-FFF2-40B4-BE49-F238E27FC236}">
                <a16:creationId xmlns:a16="http://schemas.microsoft.com/office/drawing/2014/main" id="{03EDEFA8-6EDC-4F81-9C13-F04C4B49D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5229225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00FFFF"/>
                </a:solidFill>
              </a:rPr>
              <a:t>BC</a:t>
            </a:r>
            <a:r>
              <a:rPr kumimoji="0" lang="zh-CN" altLang="en-US">
                <a:solidFill>
                  <a:schemeClr val="bg1"/>
                </a:solidFill>
              </a:rPr>
              <a:t>绝热过程</a:t>
            </a:r>
          </a:p>
        </p:txBody>
      </p:sp>
      <p:graphicFrame>
        <p:nvGraphicFramePr>
          <p:cNvPr id="52266" name="Object 9">
            <a:extLst>
              <a:ext uri="{FF2B5EF4-FFF2-40B4-BE49-F238E27FC236}">
                <a16:creationId xmlns:a16="http://schemas.microsoft.com/office/drawing/2014/main" id="{5D050BED-C670-499F-B1CD-FD63301289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5214938"/>
          <a:ext cx="2868613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78" name="公式" r:id="rId17" imgW="1295451" imgH="228702" progId="Equation.3">
                  <p:embed/>
                </p:oleObj>
              </mc:Choice>
              <mc:Fallback>
                <p:oleObj name="公式" r:id="rId17" imgW="1295451" imgH="228702" progId="Equation.3">
                  <p:embed/>
                  <p:pic>
                    <p:nvPicPr>
                      <p:cNvPr id="52266" name="Object 9">
                        <a:extLst>
                          <a:ext uri="{FF2B5EF4-FFF2-40B4-BE49-F238E27FC236}">
                            <a16:creationId xmlns:a16="http://schemas.microsoft.com/office/drawing/2014/main" id="{5D050BED-C670-499F-B1CD-FD63301289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5214938"/>
                        <a:ext cx="2868613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67" name="Rectangle 43">
            <a:extLst>
              <a:ext uri="{FF2B5EF4-FFF2-40B4-BE49-F238E27FC236}">
                <a16:creationId xmlns:a16="http://schemas.microsoft.com/office/drawing/2014/main" id="{2F458442-62A7-445E-912A-919D18A24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6021388"/>
            <a:ext cx="245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00FFFF"/>
                </a:solidFill>
              </a:rPr>
              <a:t>AD</a:t>
            </a:r>
            <a:r>
              <a:rPr kumimoji="0" lang="zh-CN" altLang="en-US">
                <a:solidFill>
                  <a:schemeClr val="bg1"/>
                </a:solidFill>
              </a:rPr>
              <a:t>绝热过程</a:t>
            </a:r>
          </a:p>
        </p:txBody>
      </p:sp>
      <p:graphicFrame>
        <p:nvGraphicFramePr>
          <p:cNvPr id="52268" name="Object 10">
            <a:extLst>
              <a:ext uri="{FF2B5EF4-FFF2-40B4-BE49-F238E27FC236}">
                <a16:creationId xmlns:a16="http://schemas.microsoft.com/office/drawing/2014/main" id="{2B84C9C0-6614-4DCE-9215-5545B0954F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5984875"/>
          <a:ext cx="292893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79" name="公式" r:id="rId19" imgW="1304931" imgH="209414" progId="Equation.3">
                  <p:embed/>
                </p:oleObj>
              </mc:Choice>
              <mc:Fallback>
                <p:oleObj name="公式" r:id="rId19" imgW="1304931" imgH="209414" progId="Equation.3">
                  <p:embed/>
                  <p:pic>
                    <p:nvPicPr>
                      <p:cNvPr id="52268" name="Object 10">
                        <a:extLst>
                          <a:ext uri="{FF2B5EF4-FFF2-40B4-BE49-F238E27FC236}">
                            <a16:creationId xmlns:a16="http://schemas.microsoft.com/office/drawing/2014/main" id="{2B84C9C0-6614-4DCE-9215-5545B0954F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5984875"/>
                        <a:ext cx="2928938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69" name="AutoShape 45">
            <a:extLst>
              <a:ext uri="{FF2B5EF4-FFF2-40B4-BE49-F238E27FC236}">
                <a16:creationId xmlns:a16="http://schemas.microsoft.com/office/drawing/2014/main" id="{4CACAADB-4200-4F35-807B-8804662256B5}"/>
              </a:ext>
            </a:extLst>
          </p:cNvPr>
          <p:cNvSpPr>
            <a:spLocks/>
          </p:cNvSpPr>
          <p:nvPr/>
        </p:nvSpPr>
        <p:spPr bwMode="auto">
          <a:xfrm>
            <a:off x="5848350" y="5500688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52270" name="Object 11">
            <a:extLst>
              <a:ext uri="{FF2B5EF4-FFF2-40B4-BE49-F238E27FC236}">
                <a16:creationId xmlns:a16="http://schemas.microsoft.com/office/drawing/2014/main" id="{4212D534-A299-40C9-BC88-AF1CE004ED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3738" y="5572125"/>
          <a:ext cx="11001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80" name="公式" r:id="rId21" imgW="514388" imgH="400152" progId="Equation.3">
                  <p:embed/>
                </p:oleObj>
              </mc:Choice>
              <mc:Fallback>
                <p:oleObj name="公式" r:id="rId21" imgW="514388" imgH="400152" progId="Equation.3">
                  <p:embed/>
                  <p:pic>
                    <p:nvPicPr>
                      <p:cNvPr id="52270" name="Object 11">
                        <a:extLst>
                          <a:ext uri="{FF2B5EF4-FFF2-40B4-BE49-F238E27FC236}">
                            <a16:creationId xmlns:a16="http://schemas.microsoft.com/office/drawing/2014/main" id="{4212D534-A299-40C9-BC88-AF1CE004ED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738" y="5572125"/>
                        <a:ext cx="110013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71" name="AutoShape 47">
            <a:extLst>
              <a:ext uri="{FF2B5EF4-FFF2-40B4-BE49-F238E27FC236}">
                <a16:creationId xmlns:a16="http://schemas.microsoft.com/office/drawing/2014/main" id="{1A88359A-67B7-4308-AA03-4C7ED65776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5063" y="5848350"/>
            <a:ext cx="714375" cy="223838"/>
          </a:xfrm>
          <a:prstGeom prst="rightArrow">
            <a:avLst>
              <a:gd name="adj1" fmla="val 50000"/>
              <a:gd name="adj2" fmla="val 10229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4371" name="灯片编号占位符 1">
            <a:extLst>
              <a:ext uri="{FF2B5EF4-FFF2-40B4-BE49-F238E27FC236}">
                <a16:creationId xmlns:a16="http://schemas.microsoft.com/office/drawing/2014/main" id="{1DE7BE6F-AF3F-478A-86BB-113E351E3833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A83C51-ED6C-44F3-8CF5-4F168C172D15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41" name="Text Box 40">
            <a:extLst>
              <a:ext uri="{FF2B5EF4-FFF2-40B4-BE49-F238E27FC236}">
                <a16:creationId xmlns:a16="http://schemas.microsoft.com/office/drawing/2014/main" id="{F475C317-1B1B-4945-9D87-9DB178D34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614863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绝热过程方程</a:t>
            </a:r>
          </a:p>
        </p:txBody>
      </p:sp>
      <p:graphicFrame>
        <p:nvGraphicFramePr>
          <p:cNvPr id="51210" name="Object 42">
            <a:extLst>
              <a:ext uri="{FF2B5EF4-FFF2-40B4-BE49-F238E27FC236}">
                <a16:creationId xmlns:a16="http://schemas.microsoft.com/office/drawing/2014/main" id="{99CACFFD-AC92-48A2-AB04-98A0ABA77B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6063" y="3643313"/>
          <a:ext cx="164306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81" name="公式" r:id="rId23" imgW="781063" imgH="400152" progId="Equation.3">
                  <p:embed/>
                </p:oleObj>
              </mc:Choice>
              <mc:Fallback>
                <p:oleObj name="公式" r:id="rId23" imgW="781063" imgH="400152" progId="Equation.3">
                  <p:embed/>
                  <p:pic>
                    <p:nvPicPr>
                      <p:cNvPr id="51210" name="Object 42">
                        <a:extLst>
                          <a:ext uri="{FF2B5EF4-FFF2-40B4-BE49-F238E27FC236}">
                            <a16:creationId xmlns:a16="http://schemas.microsoft.com/office/drawing/2014/main" id="{99CACFFD-AC92-48A2-AB04-98A0ABA77B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3643313"/>
                        <a:ext cx="1643062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左大括号 42">
            <a:extLst>
              <a:ext uri="{FF2B5EF4-FFF2-40B4-BE49-F238E27FC236}">
                <a16:creationId xmlns:a16="http://schemas.microsoft.com/office/drawing/2014/main" id="{5EC22615-F24A-43DB-B365-99A3D4382200}"/>
              </a:ext>
            </a:extLst>
          </p:cNvPr>
          <p:cNvSpPr>
            <a:spLocks/>
          </p:cNvSpPr>
          <p:nvPr/>
        </p:nvSpPr>
        <p:spPr bwMode="auto">
          <a:xfrm>
            <a:off x="1000125" y="2714625"/>
            <a:ext cx="142875" cy="642938"/>
          </a:xfrm>
          <a:prstGeom prst="leftBrace">
            <a:avLst>
              <a:gd name="adj1" fmla="val 55313"/>
              <a:gd name="adj2" fmla="val 50000"/>
            </a:avLst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" name="任意多边形 43">
            <a:extLst>
              <a:ext uri="{FF2B5EF4-FFF2-40B4-BE49-F238E27FC236}">
                <a16:creationId xmlns:a16="http://schemas.microsoft.com/office/drawing/2014/main" id="{8C0574A8-CBBD-475F-811D-9686875C2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3028950"/>
            <a:ext cx="584200" cy="1031875"/>
          </a:xfrm>
          <a:custGeom>
            <a:avLst/>
            <a:gdLst>
              <a:gd name="T0" fmla="*/ 328657 w 584434"/>
              <a:gd name="T1" fmla="*/ 0 h 1031846"/>
              <a:gd name="T2" fmla="*/ 80102 w 584434"/>
              <a:gd name="T3" fmla="*/ 109150 h 1031846"/>
              <a:gd name="T4" fmla="*/ 5531 w 584434"/>
              <a:gd name="T5" fmla="*/ 512162 h 1031846"/>
              <a:gd name="T6" fmla="*/ 113232 w 584434"/>
              <a:gd name="T7" fmla="*/ 915206 h 1031846"/>
              <a:gd name="T8" fmla="*/ 577223 w 584434"/>
              <a:gd name="T9" fmla="*/ 1032745 h 10318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4434"/>
              <a:gd name="T16" fmla="*/ 0 h 1031846"/>
              <a:gd name="T17" fmla="*/ 584434 w 584434"/>
              <a:gd name="T18" fmla="*/ 1031846 h 10318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4434" h="1031846">
                <a:moveTo>
                  <a:pt x="332764" y="0"/>
                </a:moveTo>
                <a:cubicBezTo>
                  <a:pt x="234193" y="11884"/>
                  <a:pt x="135622" y="23769"/>
                  <a:pt x="81094" y="109057"/>
                </a:cubicBezTo>
                <a:cubicBezTo>
                  <a:pt x="26566" y="194345"/>
                  <a:pt x="0" y="377504"/>
                  <a:pt x="5593" y="511728"/>
                </a:cubicBezTo>
                <a:cubicBezTo>
                  <a:pt x="11186" y="645952"/>
                  <a:pt x="18177" y="827714"/>
                  <a:pt x="114650" y="914400"/>
                </a:cubicBezTo>
                <a:cubicBezTo>
                  <a:pt x="211124" y="1001086"/>
                  <a:pt x="397779" y="1016466"/>
                  <a:pt x="584434" y="1031846"/>
                </a:cubicBezTo>
              </a:path>
            </a:pathLst>
          </a:custGeom>
          <a:noFill/>
          <a:ln w="317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2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5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/>
      <p:bldP spid="52230" grpId="0"/>
      <p:bldP spid="52232" grpId="0"/>
      <p:bldP spid="52235" grpId="0"/>
      <p:bldP spid="52241" grpId="0" autoUpdateAnimBg="0"/>
      <p:bldP spid="52242" grpId="0" autoUpdateAnimBg="0"/>
      <p:bldP spid="52243" grpId="0" autoUpdateAnimBg="0"/>
      <p:bldP spid="52244" grpId="0" autoUpdateAnimBg="0"/>
      <p:bldP spid="52261" grpId="0" autoUpdateAnimBg="0"/>
      <p:bldP spid="52264" grpId="0"/>
      <p:bldP spid="52267" grpId="0"/>
      <p:bldP spid="52269" grpId="0" animBg="1"/>
      <p:bldP spid="41" grpId="0"/>
      <p:bldP spid="4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Text Box 4">
            <a:extLst>
              <a:ext uri="{FF2B5EF4-FFF2-40B4-BE49-F238E27FC236}">
                <a16:creationId xmlns:a16="http://schemas.microsoft.com/office/drawing/2014/main" id="{F6E6014F-0BDE-4EB7-9DFA-4691954AB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329113"/>
            <a:ext cx="110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解：</a:t>
            </a:r>
            <a:endParaRPr lang="zh-CN" altLang="en-US" sz="2800" i="1">
              <a:solidFill>
                <a:srgbClr val="FFFF00"/>
              </a:solidFill>
            </a:endParaRPr>
          </a:p>
        </p:txBody>
      </p:sp>
      <p:graphicFrame>
        <p:nvGraphicFramePr>
          <p:cNvPr id="51205" name="Object 2">
            <a:extLst>
              <a:ext uri="{FF2B5EF4-FFF2-40B4-BE49-F238E27FC236}">
                <a16:creationId xmlns:a16="http://schemas.microsoft.com/office/drawing/2014/main" id="{5D0AAADD-ECCC-491E-B144-306B881E04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8838" y="512763"/>
          <a:ext cx="2474912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35" name="公式" r:id="rId3" imgW="1085965" imgH="400152" progId="Equation.3">
                  <p:embed/>
                </p:oleObj>
              </mc:Choice>
              <mc:Fallback>
                <p:oleObj name="公式" r:id="rId3" imgW="1085965" imgH="400152" progId="Equation.3">
                  <p:embed/>
                  <p:pic>
                    <p:nvPicPr>
                      <p:cNvPr id="51205" name="Object 2">
                        <a:extLst>
                          <a:ext uri="{FF2B5EF4-FFF2-40B4-BE49-F238E27FC236}">
                            <a16:creationId xmlns:a16="http://schemas.microsoft.com/office/drawing/2014/main" id="{5D0AAADD-ECCC-491E-B144-306B881E04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8838" y="512763"/>
                        <a:ext cx="2474912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AutoShape 6">
            <a:extLst>
              <a:ext uri="{FF2B5EF4-FFF2-40B4-BE49-F238E27FC236}">
                <a16:creationId xmlns:a16="http://schemas.microsoft.com/office/drawing/2014/main" id="{685FEE8A-A458-42C3-9E3B-7AFCBA331B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7563" y="928688"/>
            <a:ext cx="1143000" cy="136525"/>
          </a:xfrm>
          <a:prstGeom prst="rightArrow">
            <a:avLst>
              <a:gd name="adj1" fmla="val 50000"/>
              <a:gd name="adj2" fmla="val 122519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51208" name="Object 3">
            <a:extLst>
              <a:ext uri="{FF2B5EF4-FFF2-40B4-BE49-F238E27FC236}">
                <a16:creationId xmlns:a16="http://schemas.microsoft.com/office/drawing/2014/main" id="{B5D5A34C-66E7-43EF-B405-B4953AC645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9313" y="1714500"/>
          <a:ext cx="1785937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36" name="公式" r:id="rId5" imgW="809504" imgH="400152" progId="Equation.3">
                  <p:embed/>
                </p:oleObj>
              </mc:Choice>
              <mc:Fallback>
                <p:oleObj name="公式" r:id="rId5" imgW="809504" imgH="400152" progId="Equation.3">
                  <p:embed/>
                  <p:pic>
                    <p:nvPicPr>
                      <p:cNvPr id="51208" name="Object 3">
                        <a:extLst>
                          <a:ext uri="{FF2B5EF4-FFF2-40B4-BE49-F238E27FC236}">
                            <a16:creationId xmlns:a16="http://schemas.microsoft.com/office/drawing/2014/main" id="{B5D5A34C-66E7-43EF-B405-B4953AC645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1714500"/>
                        <a:ext cx="1785937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6">
            <a:extLst>
              <a:ext uri="{FF2B5EF4-FFF2-40B4-BE49-F238E27FC236}">
                <a16:creationId xmlns:a16="http://schemas.microsoft.com/office/drawing/2014/main" id="{A9EDA8D4-1A0E-4169-B666-805EF6CD9D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2857500"/>
          <a:ext cx="1552575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37" name="公式" r:id="rId7" imgW="609498" imgH="400152" progId="Equation.3">
                  <p:embed/>
                </p:oleObj>
              </mc:Choice>
              <mc:Fallback>
                <p:oleObj name="公式" r:id="rId7" imgW="609498" imgH="400152" progId="Equation.3">
                  <p:embed/>
                  <p:pic>
                    <p:nvPicPr>
                      <p:cNvPr id="51211" name="Object 6">
                        <a:extLst>
                          <a:ext uri="{FF2B5EF4-FFF2-40B4-BE49-F238E27FC236}">
                            <a16:creationId xmlns:a16="http://schemas.microsoft.com/office/drawing/2014/main" id="{A9EDA8D4-1A0E-4169-B666-805EF6CD9D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857500"/>
                        <a:ext cx="1552575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5" name="Object 14">
            <a:extLst>
              <a:ext uri="{FF2B5EF4-FFF2-40B4-BE49-F238E27FC236}">
                <a16:creationId xmlns:a16="http://schemas.microsoft.com/office/drawing/2014/main" id="{2D62ADD0-2A8E-4A77-BFE8-53CBE39956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4071938"/>
          <a:ext cx="4068763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38" name="公式" r:id="rId9" imgW="1638275" imgH="400152" progId="Equation.3">
                  <p:embed/>
                </p:oleObj>
              </mc:Choice>
              <mc:Fallback>
                <p:oleObj name="公式" r:id="rId9" imgW="1638275" imgH="400152" progId="Equation.3">
                  <p:embed/>
                  <p:pic>
                    <p:nvPicPr>
                      <p:cNvPr id="51225" name="Object 14">
                        <a:extLst>
                          <a:ext uri="{FF2B5EF4-FFF2-40B4-BE49-F238E27FC236}">
                            <a16:creationId xmlns:a16="http://schemas.microsoft.com/office/drawing/2014/main" id="{2D62ADD0-2A8E-4A77-BFE8-53CBE39956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4071938"/>
                        <a:ext cx="4068763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灯片编号占位符 1">
            <a:extLst>
              <a:ext uri="{FF2B5EF4-FFF2-40B4-BE49-F238E27FC236}">
                <a16:creationId xmlns:a16="http://schemas.microsoft.com/office/drawing/2014/main" id="{54940EF5-4204-4A8F-BF35-F2DB9C1E279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78E5F97-1D4F-4E77-9C77-702D5F2CA636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graphicFrame>
        <p:nvGraphicFramePr>
          <p:cNvPr id="52270" name="Object 11">
            <a:extLst>
              <a:ext uri="{FF2B5EF4-FFF2-40B4-BE49-F238E27FC236}">
                <a16:creationId xmlns:a16="http://schemas.microsoft.com/office/drawing/2014/main" id="{D6365CCE-CFA1-415A-851B-34B6C3FCDB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5938" y="538163"/>
          <a:ext cx="121443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39" name="公式" r:id="rId11" imgW="514388" imgH="400152" progId="Equation.3">
                  <p:embed/>
                </p:oleObj>
              </mc:Choice>
              <mc:Fallback>
                <p:oleObj name="公式" r:id="rId11" imgW="514388" imgH="400152" progId="Equation.3">
                  <p:embed/>
                  <p:pic>
                    <p:nvPicPr>
                      <p:cNvPr id="52270" name="Object 11">
                        <a:extLst>
                          <a:ext uri="{FF2B5EF4-FFF2-40B4-BE49-F238E27FC236}">
                            <a16:creationId xmlns:a16="http://schemas.microsoft.com/office/drawing/2014/main" id="{D6365CCE-CFA1-415A-851B-34B6C3FCDB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538163"/>
                        <a:ext cx="121443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2" name="Object 7">
            <a:extLst>
              <a:ext uri="{FF2B5EF4-FFF2-40B4-BE49-F238E27FC236}">
                <a16:creationId xmlns:a16="http://schemas.microsoft.com/office/drawing/2014/main" id="{DA873F88-2665-4FCE-B009-C9C2BEB20C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5100" y="1643063"/>
          <a:ext cx="30654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40" name="公式" r:id="rId13" imgW="1466710" imgH="428625" progId="Equation.3">
                  <p:embed/>
                </p:oleObj>
              </mc:Choice>
              <mc:Fallback>
                <p:oleObj name="公式" r:id="rId13" imgW="1466710" imgH="428625" progId="Equation.3">
                  <p:embed/>
                  <p:pic>
                    <p:nvPicPr>
                      <p:cNvPr id="52262" name="Object 7">
                        <a:extLst>
                          <a:ext uri="{FF2B5EF4-FFF2-40B4-BE49-F238E27FC236}">
                            <a16:creationId xmlns:a16="http://schemas.microsoft.com/office/drawing/2014/main" id="{DA873F88-2665-4FCE-B009-C9C2BEB20C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1643063"/>
                        <a:ext cx="306546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29">
            <a:extLst>
              <a:ext uri="{FF2B5EF4-FFF2-40B4-BE49-F238E27FC236}">
                <a16:creationId xmlns:a16="http://schemas.microsoft.com/office/drawing/2014/main" id="{0C242B47-0700-4897-9B7D-BCE18B16E8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5163" y="3286125"/>
          <a:ext cx="2317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41" name="公式" r:id="rId15" imgW="85629" imgH="190432" progId="Equation.3">
                  <p:embed/>
                </p:oleObj>
              </mc:Choice>
              <mc:Fallback>
                <p:oleObj name="公式" r:id="rId15" imgW="85629" imgH="190432" progId="Equation.3">
                  <p:embed/>
                  <p:pic>
                    <p:nvPicPr>
                      <p:cNvPr id="15371" name="Object 29">
                        <a:extLst>
                          <a:ext uri="{FF2B5EF4-FFF2-40B4-BE49-F238E27FC236}">
                            <a16:creationId xmlns:a16="http://schemas.microsoft.com/office/drawing/2014/main" id="{0C242B47-0700-4897-9B7D-BCE18B16E8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3286125"/>
                        <a:ext cx="2317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任意多边形 26">
            <a:extLst>
              <a:ext uri="{FF2B5EF4-FFF2-40B4-BE49-F238E27FC236}">
                <a16:creationId xmlns:a16="http://schemas.microsoft.com/office/drawing/2014/main" id="{01A0F29B-D808-49C7-AF2F-9A4137AF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4738" y="955675"/>
            <a:ext cx="781050" cy="1116013"/>
          </a:xfrm>
          <a:custGeom>
            <a:avLst/>
            <a:gdLst>
              <a:gd name="T0" fmla="*/ 0 w 781574"/>
              <a:gd name="T1" fmla="*/ 0 h 1115736"/>
              <a:gd name="T2" fmla="*/ 632662 w 781574"/>
              <a:gd name="T3" fmla="*/ 185984 h 1115736"/>
              <a:gd name="T4" fmla="*/ 764123 w 781574"/>
              <a:gd name="T5" fmla="*/ 701663 h 1115736"/>
              <a:gd name="T6" fmla="*/ 640878 w 781574"/>
              <a:gd name="T7" fmla="*/ 1022902 h 1115736"/>
              <a:gd name="T8" fmla="*/ 443684 w 781574"/>
              <a:gd name="T9" fmla="*/ 1124355 h 11157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1574"/>
              <a:gd name="T16" fmla="*/ 0 h 1115736"/>
              <a:gd name="T17" fmla="*/ 781574 w 781574"/>
              <a:gd name="T18" fmla="*/ 1115736 h 11157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1574" h="1115736">
                <a:moveTo>
                  <a:pt x="0" y="0"/>
                </a:moveTo>
                <a:cubicBezTo>
                  <a:pt x="257961" y="34255"/>
                  <a:pt x="515923" y="68510"/>
                  <a:pt x="645952" y="184558"/>
                </a:cubicBezTo>
                <a:cubicBezTo>
                  <a:pt x="775981" y="300606"/>
                  <a:pt x="778778" y="557868"/>
                  <a:pt x="780176" y="696286"/>
                </a:cubicBezTo>
                <a:cubicBezTo>
                  <a:pt x="781574" y="834704"/>
                  <a:pt x="708869" y="945160"/>
                  <a:pt x="654341" y="1015068"/>
                </a:cubicBezTo>
                <a:cubicBezTo>
                  <a:pt x="599813" y="1084976"/>
                  <a:pt x="526409" y="1100356"/>
                  <a:pt x="453005" y="1115736"/>
                </a:cubicBezTo>
              </a:path>
            </a:pathLst>
          </a:custGeom>
          <a:noFill/>
          <a:ln w="317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AutoShape 6">
            <a:extLst>
              <a:ext uri="{FF2B5EF4-FFF2-40B4-BE49-F238E27FC236}">
                <a16:creationId xmlns:a16="http://schemas.microsoft.com/office/drawing/2014/main" id="{F8BFCA39-D1F8-4CD3-96CD-0A64EF510A0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4643438" y="2071688"/>
            <a:ext cx="1195387" cy="142875"/>
          </a:xfrm>
          <a:prstGeom prst="rightArrow">
            <a:avLst>
              <a:gd name="adj1" fmla="val 50000"/>
              <a:gd name="adj2" fmla="val 12244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1" name="任意多边形 30">
            <a:extLst>
              <a:ext uri="{FF2B5EF4-FFF2-40B4-BE49-F238E27FC236}">
                <a16:creationId xmlns:a16="http://schemas.microsoft.com/office/drawing/2014/main" id="{D35067AB-E80A-4A5C-804A-2FDD7011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500313"/>
            <a:ext cx="911225" cy="904875"/>
          </a:xfrm>
          <a:custGeom>
            <a:avLst/>
            <a:gdLst>
              <a:gd name="T0" fmla="*/ 30357 w 911604"/>
              <a:gd name="T1" fmla="*/ 0 h 904613"/>
              <a:gd name="T2" fmla="*/ 30357 w 911604"/>
              <a:gd name="T3" fmla="*/ 643315 h 904613"/>
              <a:gd name="T4" fmla="*/ 212561 w 911604"/>
              <a:gd name="T5" fmla="*/ 871857 h 904613"/>
              <a:gd name="T6" fmla="*/ 899928 w 911604"/>
              <a:gd name="T7" fmla="*/ 888786 h 904613"/>
              <a:gd name="T8" fmla="*/ 0 60000 65536"/>
              <a:gd name="T9" fmla="*/ 0 60000 65536"/>
              <a:gd name="T10" fmla="*/ 0 60000 65536"/>
              <a:gd name="T11" fmla="*/ 0 60000 65536"/>
              <a:gd name="T12" fmla="*/ 0 w 911604"/>
              <a:gd name="T13" fmla="*/ 0 h 904613"/>
              <a:gd name="T14" fmla="*/ 911604 w 911604"/>
              <a:gd name="T15" fmla="*/ 904613 h 90461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1604" h="904613">
                <a:moveTo>
                  <a:pt x="30760" y="0"/>
                </a:moveTo>
                <a:cubicBezTo>
                  <a:pt x="15380" y="246776"/>
                  <a:pt x="0" y="493553"/>
                  <a:pt x="30760" y="637564"/>
                </a:cubicBezTo>
                <a:cubicBezTo>
                  <a:pt x="61520" y="781575"/>
                  <a:pt x="68511" y="823519"/>
                  <a:pt x="215318" y="864066"/>
                </a:cubicBezTo>
                <a:cubicBezTo>
                  <a:pt x="362125" y="904613"/>
                  <a:pt x="636864" y="892728"/>
                  <a:pt x="911604" y="880844"/>
                </a:cubicBezTo>
              </a:path>
            </a:pathLst>
          </a:custGeom>
          <a:noFill/>
          <a:ln w="317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 Box 5">
            <a:extLst>
              <a:ext uri="{FF2B5EF4-FFF2-40B4-BE49-F238E27FC236}">
                <a16:creationId xmlns:a16="http://schemas.microsoft.com/office/drawing/2014/main" id="{A9AA94A6-5556-4239-94FE-59DDCC4B3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428625"/>
            <a:ext cx="8208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  </a:t>
            </a:r>
            <a:r>
              <a:rPr lang="en-US" altLang="zh-CN" b="0" i="1">
                <a:solidFill>
                  <a:srgbClr val="FFFF00"/>
                </a:solidFill>
              </a:rPr>
              <a:t>v</a:t>
            </a:r>
            <a:r>
              <a:rPr lang="en-US" altLang="zh-CN" b="0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摩尔的单原子分子理想气体，经历如图的热力学过程。</a:t>
            </a:r>
            <a:r>
              <a:rPr lang="en-US" altLang="zh-CN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EE8EFB66-C2D7-4B16-B0BE-E1CA2E23A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508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grpSp>
        <p:nvGrpSpPr>
          <p:cNvPr id="2" name="Group 73">
            <a:extLst>
              <a:ext uri="{FF2B5EF4-FFF2-40B4-BE49-F238E27FC236}">
                <a16:creationId xmlns:a16="http://schemas.microsoft.com/office/drawing/2014/main" id="{3BECC785-1537-4A9E-8232-2A8FBC16E7FF}"/>
              </a:ext>
            </a:extLst>
          </p:cNvPr>
          <p:cNvGrpSpPr>
            <a:grpSpLocks/>
          </p:cNvGrpSpPr>
          <p:nvPr/>
        </p:nvGrpSpPr>
        <p:grpSpPr bwMode="auto">
          <a:xfrm>
            <a:off x="6029325" y="1916113"/>
            <a:ext cx="2790825" cy="3049587"/>
            <a:chOff x="3498" y="1207"/>
            <a:chExt cx="1758" cy="1921"/>
          </a:xfrm>
        </p:grpSpPr>
        <p:sp>
          <p:nvSpPr>
            <p:cNvPr id="18460" name="Line 29">
              <a:extLst>
                <a:ext uri="{FF2B5EF4-FFF2-40B4-BE49-F238E27FC236}">
                  <a16:creationId xmlns:a16="http://schemas.microsoft.com/office/drawing/2014/main" id="{734D742F-5B69-46A7-9B3C-B9266830F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4" y="2750"/>
              <a:ext cx="1515" cy="19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1" name="Line 30">
              <a:extLst>
                <a:ext uri="{FF2B5EF4-FFF2-40B4-BE49-F238E27FC236}">
                  <a16:creationId xmlns:a16="http://schemas.microsoft.com/office/drawing/2014/main" id="{002DA57C-E8B2-488F-A766-D3E0B69E49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4" y="1353"/>
              <a:ext cx="1" cy="141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2" name="Text Box 31">
              <a:extLst>
                <a:ext uri="{FF2B5EF4-FFF2-40B4-BE49-F238E27FC236}">
                  <a16:creationId xmlns:a16="http://schemas.microsoft.com/office/drawing/2014/main" id="{A5900A35-83D7-4C9A-B33B-DF5B504AB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2" y="2840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18463" name="Text Box 32">
              <a:extLst>
                <a:ext uri="{FF2B5EF4-FFF2-40B4-BE49-F238E27FC236}">
                  <a16:creationId xmlns:a16="http://schemas.microsoft.com/office/drawing/2014/main" id="{B1AC0365-12D2-4D84-A146-F39F86302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" y="120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18464" name="Text Box 33">
              <a:extLst>
                <a:ext uri="{FF2B5EF4-FFF2-40B4-BE49-F238E27FC236}">
                  <a16:creationId xmlns:a16="http://schemas.microsoft.com/office/drawing/2014/main" id="{6B2A0DF4-F710-43DD-9356-5AE844395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" y="270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29730" name="Line 34">
            <a:extLst>
              <a:ext uri="{FF2B5EF4-FFF2-40B4-BE49-F238E27FC236}">
                <a16:creationId xmlns:a16="http://schemas.microsoft.com/office/drawing/2014/main" id="{577DE88B-6BBA-44AB-9387-7D9184FB8D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4075" y="2874963"/>
            <a:ext cx="914400" cy="914400"/>
          </a:xfrm>
          <a:prstGeom prst="line">
            <a:avLst/>
          </a:prstGeom>
          <a:noFill/>
          <a:ln w="571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2" name="Line 36">
            <a:extLst>
              <a:ext uri="{FF2B5EF4-FFF2-40B4-BE49-F238E27FC236}">
                <a16:creationId xmlns:a16="http://schemas.microsoft.com/office/drawing/2014/main" id="{9BC79D32-3999-4ADB-8C8A-E6E5EDD8D6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45463" y="3789363"/>
            <a:ext cx="1587" cy="59055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5" name="Line 39">
            <a:extLst>
              <a:ext uri="{FF2B5EF4-FFF2-40B4-BE49-F238E27FC236}">
                <a16:creationId xmlns:a16="http://schemas.microsoft.com/office/drawing/2014/main" id="{0CA70ECE-4119-4005-83F5-AC6E47CA9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2075" y="2874963"/>
            <a:ext cx="7620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9" name="Line 43">
            <a:extLst>
              <a:ext uri="{FF2B5EF4-FFF2-40B4-BE49-F238E27FC236}">
                <a16:creationId xmlns:a16="http://schemas.microsoft.com/office/drawing/2014/main" id="{091412C3-43F2-439E-9023-403B8AAAB7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1275" y="3332163"/>
            <a:ext cx="304800" cy="304800"/>
          </a:xfrm>
          <a:prstGeom prst="line">
            <a:avLst/>
          </a:prstGeom>
          <a:noFill/>
          <a:ln w="57150">
            <a:solidFill>
              <a:srgbClr val="00FF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0" name="Line 54">
            <a:extLst>
              <a:ext uri="{FF2B5EF4-FFF2-40B4-BE49-F238E27FC236}">
                <a16:creationId xmlns:a16="http://schemas.microsoft.com/office/drawing/2014/main" id="{EEF51297-38BC-4B2F-B505-AAFBA6D83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2075" y="3789363"/>
            <a:ext cx="16764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3" name="Line 57">
            <a:extLst>
              <a:ext uri="{FF2B5EF4-FFF2-40B4-BE49-F238E27FC236}">
                <a16:creationId xmlns:a16="http://schemas.microsoft.com/office/drawing/2014/main" id="{260E0D42-6212-442C-95B1-75E72D818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4075" y="2874963"/>
            <a:ext cx="0" cy="152400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5" name="Rectangle 59">
            <a:extLst>
              <a:ext uri="{FF2B5EF4-FFF2-40B4-BE49-F238E27FC236}">
                <a16:creationId xmlns:a16="http://schemas.microsoft.com/office/drawing/2014/main" id="{0C95A8AD-9084-4297-AF97-89B537EDA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7188" y="3298825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29756" name="Rectangle 60">
            <a:extLst>
              <a:ext uri="{FF2B5EF4-FFF2-40B4-BE49-F238E27FC236}">
                <a16:creationId xmlns:a16="http://schemas.microsoft.com/office/drawing/2014/main" id="{1B36CE58-A144-4884-8FEC-5ED96B4CB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3100" y="2365375"/>
            <a:ext cx="3746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00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29757" name="Text Box 61">
            <a:extLst>
              <a:ext uri="{FF2B5EF4-FFF2-40B4-BE49-F238E27FC236}">
                <a16:creationId xmlns:a16="http://schemas.microsoft.com/office/drawing/2014/main" id="{1CE0EF65-8B6E-44B9-BED1-F78DF29E8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950" y="43291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 baseline="-25000">
                <a:solidFill>
                  <a:schemeClr val="bg1"/>
                </a:solidFill>
              </a:rPr>
              <a:t>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9758" name="Text Box 62">
            <a:extLst>
              <a:ext uri="{FF2B5EF4-FFF2-40B4-BE49-F238E27FC236}">
                <a16:creationId xmlns:a16="http://schemas.microsoft.com/office/drawing/2014/main" id="{D711E0BC-969F-411B-9631-0C3905241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329113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 baseline="-2500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9759" name="Text Box 63">
            <a:extLst>
              <a:ext uri="{FF2B5EF4-FFF2-40B4-BE49-F238E27FC236}">
                <a16:creationId xmlns:a16="http://schemas.microsoft.com/office/drawing/2014/main" id="{E534971F-72B6-4AF3-AA22-17E383AC3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3490913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p</a:t>
            </a:r>
            <a:r>
              <a:rPr lang="en-US" altLang="zh-CN" baseline="-2500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9760" name="Text Box 64">
            <a:extLst>
              <a:ext uri="{FF2B5EF4-FFF2-40B4-BE49-F238E27FC236}">
                <a16:creationId xmlns:a16="http://schemas.microsoft.com/office/drawing/2014/main" id="{4C67B333-BF40-4955-91A8-9301456CF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138" y="2600325"/>
            <a:ext cx="5953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en-US" altLang="zh-CN" i="1">
                <a:solidFill>
                  <a:schemeClr val="bg1"/>
                </a:solidFill>
              </a:rPr>
              <a:t>p</a:t>
            </a:r>
            <a:r>
              <a:rPr lang="en-US" altLang="zh-CN" baseline="-25000">
                <a:solidFill>
                  <a:schemeClr val="bg1"/>
                </a:solidFill>
              </a:rPr>
              <a:t>0</a:t>
            </a:r>
          </a:p>
          <a:p>
            <a:pPr eaLnBrk="1" hangingPunct="1"/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9763" name="Rectangle 67">
            <a:extLst>
              <a:ext uri="{FF2B5EF4-FFF2-40B4-BE49-F238E27FC236}">
                <a16:creationId xmlns:a16="http://schemas.microsoft.com/office/drawing/2014/main" id="{4565FA01-2943-4CA6-BBB4-2CB2D6E81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981075"/>
            <a:ext cx="534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在该过程中，放热和吸热的区域</a:t>
            </a:r>
            <a:r>
              <a:rPr lang="en-US" altLang="zh-CN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29764" name="Text Box 68">
            <a:extLst>
              <a:ext uri="{FF2B5EF4-FFF2-40B4-BE49-F238E27FC236}">
                <a16:creationId xmlns:a16="http://schemas.microsoft.com/office/drawing/2014/main" id="{F6FA978A-0A7C-40DA-BDE4-2F0DC98DE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1557338"/>
            <a:ext cx="110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  <a:endParaRPr lang="zh-CN" altLang="en-US" i="1">
              <a:solidFill>
                <a:srgbClr val="FFFF00"/>
              </a:solidFill>
            </a:endParaRPr>
          </a:p>
        </p:txBody>
      </p:sp>
      <p:sp>
        <p:nvSpPr>
          <p:cNvPr id="29765" name="Rectangle 69">
            <a:extLst>
              <a:ext uri="{FF2B5EF4-FFF2-40B4-BE49-F238E27FC236}">
                <a16:creationId xmlns:a16="http://schemas.microsoft.com/office/drawing/2014/main" id="{3D1C408E-2A5B-48E6-9C27-BDCE1F450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求</a:t>
            </a:r>
          </a:p>
        </p:txBody>
      </p:sp>
      <p:sp>
        <p:nvSpPr>
          <p:cNvPr id="29766" name="Text Box 70">
            <a:extLst>
              <a:ext uri="{FF2B5EF4-FFF2-40B4-BE49-F238E27FC236}">
                <a16:creationId xmlns:a16="http://schemas.microsoft.com/office/drawing/2014/main" id="{78B058E4-CFE9-49A4-8C7F-15CCFA454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557338"/>
            <a:ext cx="4459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从图中可以求得过程方程：</a:t>
            </a:r>
          </a:p>
        </p:txBody>
      </p:sp>
      <p:graphicFrame>
        <p:nvGraphicFramePr>
          <p:cNvPr id="29767" name="Object 2">
            <a:extLst>
              <a:ext uri="{FF2B5EF4-FFF2-40B4-BE49-F238E27FC236}">
                <a16:creationId xmlns:a16="http://schemas.microsoft.com/office/drawing/2014/main" id="{488D5A29-867C-48AF-9D53-E214908ED4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4175" y="1989138"/>
          <a:ext cx="234156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94" name="公式" r:id="rId3" imgW="2286000" imgH="866741" progId="Equation.3">
                  <p:embed/>
                </p:oleObj>
              </mc:Choice>
              <mc:Fallback>
                <p:oleObj name="公式" r:id="rId3" imgW="2286000" imgH="866741" progId="Equation.3">
                  <p:embed/>
                  <p:pic>
                    <p:nvPicPr>
                      <p:cNvPr id="29767" name="Object 2">
                        <a:extLst>
                          <a:ext uri="{FF2B5EF4-FFF2-40B4-BE49-F238E27FC236}">
                            <a16:creationId xmlns:a16="http://schemas.microsoft.com/office/drawing/2014/main" id="{488D5A29-867C-48AF-9D53-E214908ED4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1989138"/>
                        <a:ext cx="2341563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68" name="Text Box 72">
            <a:extLst>
              <a:ext uri="{FF2B5EF4-FFF2-40B4-BE49-F238E27FC236}">
                <a16:creationId xmlns:a16="http://schemas.microsoft.com/office/drawing/2014/main" id="{4749B5ED-A8FC-42B8-9282-129DD0EDE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851150"/>
            <a:ext cx="36020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将理想气体的状态方程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代入上式并消去 </a:t>
            </a:r>
            <a:r>
              <a:rPr lang="en-US" altLang="zh-CN" i="1">
                <a:solidFill>
                  <a:schemeClr val="bg1"/>
                </a:solidFill>
              </a:rPr>
              <a:t>p</a:t>
            </a:r>
            <a:r>
              <a:rPr lang="zh-CN" altLang="en-US" i="1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</a:rPr>
              <a:t>有</a:t>
            </a:r>
          </a:p>
        </p:txBody>
      </p:sp>
      <p:graphicFrame>
        <p:nvGraphicFramePr>
          <p:cNvPr id="29771" name="Object 3">
            <a:extLst>
              <a:ext uri="{FF2B5EF4-FFF2-40B4-BE49-F238E27FC236}">
                <a16:creationId xmlns:a16="http://schemas.microsoft.com/office/drawing/2014/main" id="{91C309E8-4622-40E0-B541-EB8FBB5158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3884613"/>
          <a:ext cx="370363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95" name="公式" r:id="rId5" imgW="3648120" imgH="942975" progId="Equation.3">
                  <p:embed/>
                </p:oleObj>
              </mc:Choice>
              <mc:Fallback>
                <p:oleObj name="公式" r:id="rId5" imgW="3648120" imgH="942975" progId="Equation.3">
                  <p:embed/>
                  <p:pic>
                    <p:nvPicPr>
                      <p:cNvPr id="29771" name="Object 3">
                        <a:extLst>
                          <a:ext uri="{FF2B5EF4-FFF2-40B4-BE49-F238E27FC236}">
                            <a16:creationId xmlns:a16="http://schemas.microsoft.com/office/drawing/2014/main" id="{91C309E8-4622-40E0-B541-EB8FBB5158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884613"/>
                        <a:ext cx="3703637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6" name="Text Box 76">
            <a:extLst>
              <a:ext uri="{FF2B5EF4-FFF2-40B4-BE49-F238E27FC236}">
                <a16:creationId xmlns:a16="http://schemas.microsoft.com/office/drawing/2014/main" id="{7459E006-8F19-4B24-BE30-B3ED26CAA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5963" y="60928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9773" name="Text Box 77">
            <a:extLst>
              <a:ext uri="{FF2B5EF4-FFF2-40B4-BE49-F238E27FC236}">
                <a16:creationId xmlns:a16="http://schemas.microsoft.com/office/drawing/2014/main" id="{D268A86A-041B-4217-8A96-292822C28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987925"/>
            <a:ext cx="5816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对该过程中的任一无限小的过程，有</a:t>
            </a:r>
          </a:p>
        </p:txBody>
      </p:sp>
      <p:graphicFrame>
        <p:nvGraphicFramePr>
          <p:cNvPr id="29774" name="Object 4">
            <a:extLst>
              <a:ext uri="{FF2B5EF4-FFF2-40B4-BE49-F238E27FC236}">
                <a16:creationId xmlns:a16="http://schemas.microsoft.com/office/drawing/2014/main" id="{DB566C5E-C45A-4A8B-A239-C7E1CF0138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4188" y="5540375"/>
          <a:ext cx="36385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96" name="公式" r:id="rId7" imgW="3581451" imgH="942975" progId="Equation.3">
                  <p:embed/>
                </p:oleObj>
              </mc:Choice>
              <mc:Fallback>
                <p:oleObj name="公式" r:id="rId7" imgW="3581451" imgH="942975" progId="Equation.3">
                  <p:embed/>
                  <p:pic>
                    <p:nvPicPr>
                      <p:cNvPr id="29774" name="Object 4">
                        <a:extLst>
                          <a:ext uri="{FF2B5EF4-FFF2-40B4-BE49-F238E27FC236}">
                            <a16:creationId xmlns:a16="http://schemas.microsoft.com/office/drawing/2014/main" id="{DB566C5E-C45A-4A8B-A239-C7E1CF0138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5540375"/>
                        <a:ext cx="363855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9" name="灯片编号占位符 1">
            <a:extLst>
              <a:ext uri="{FF2B5EF4-FFF2-40B4-BE49-F238E27FC236}">
                <a16:creationId xmlns:a16="http://schemas.microsoft.com/office/drawing/2014/main" id="{E7C00CE7-2A87-4AF0-BB5C-9CC4D5DD5DC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8C563B6-1AED-4D58-8102-2FF4A7ECD637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autoUpdateAnimBg="0"/>
      <p:bldP spid="29702" grpId="0"/>
      <p:bldP spid="29755" grpId="0"/>
      <p:bldP spid="29756" grpId="0"/>
      <p:bldP spid="29757" grpId="0"/>
      <p:bldP spid="29758" grpId="0"/>
      <p:bldP spid="29759" grpId="0"/>
      <p:bldP spid="29760" grpId="0"/>
      <p:bldP spid="29763" grpId="0"/>
      <p:bldP spid="29764" grpId="0" autoUpdateAnimBg="0"/>
      <p:bldP spid="29765" grpId="0"/>
      <p:bldP spid="29766" grpId="0"/>
      <p:bldP spid="29768" grpId="0"/>
      <p:bldP spid="2977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Text Box 4">
            <a:extLst>
              <a:ext uri="{FF2B5EF4-FFF2-40B4-BE49-F238E27FC236}">
                <a16:creationId xmlns:a16="http://schemas.microsoft.com/office/drawing/2014/main" id="{D6187807-D135-4A1B-8749-0095D85EB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30188"/>
            <a:ext cx="3278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由热力学第一定律，有</a:t>
            </a:r>
          </a:p>
        </p:txBody>
      </p:sp>
      <p:graphicFrame>
        <p:nvGraphicFramePr>
          <p:cNvPr id="30725" name="Object 2">
            <a:extLst>
              <a:ext uri="{FF2B5EF4-FFF2-40B4-BE49-F238E27FC236}">
                <a16:creationId xmlns:a16="http://schemas.microsoft.com/office/drawing/2014/main" id="{5DF7C552-4BBB-4C5B-99CF-0BA6A61E0E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1288" y="779463"/>
          <a:ext cx="27257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78" name="公式" r:id="rId3" imgW="2724239" imgH="380864" progId="Equation.3">
                  <p:embed/>
                </p:oleObj>
              </mc:Choice>
              <mc:Fallback>
                <p:oleObj name="公式" r:id="rId3" imgW="2724239" imgH="380864" progId="Equation.3">
                  <p:embed/>
                  <p:pic>
                    <p:nvPicPr>
                      <p:cNvPr id="30725" name="Object 2">
                        <a:extLst>
                          <a:ext uri="{FF2B5EF4-FFF2-40B4-BE49-F238E27FC236}">
                            <a16:creationId xmlns:a16="http://schemas.microsoft.com/office/drawing/2014/main" id="{5DF7C552-4BBB-4C5B-99CF-0BA6A61E0E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288" y="779463"/>
                        <a:ext cx="27257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3">
            <a:extLst>
              <a:ext uri="{FF2B5EF4-FFF2-40B4-BE49-F238E27FC236}">
                <a16:creationId xmlns:a16="http://schemas.microsoft.com/office/drawing/2014/main" id="{8968BD0E-FBFE-4DE4-8DA6-64C2F47B92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7375" y="1493838"/>
          <a:ext cx="343376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79" name="公式" r:id="rId5" imgW="1371600" imgH="380864" progId="Equation.3">
                  <p:embed/>
                </p:oleObj>
              </mc:Choice>
              <mc:Fallback>
                <p:oleObj name="公式" r:id="rId5" imgW="1371600" imgH="380864" progId="Equation.3">
                  <p:embed/>
                  <p:pic>
                    <p:nvPicPr>
                      <p:cNvPr id="30726" name="Object 3">
                        <a:extLst>
                          <a:ext uri="{FF2B5EF4-FFF2-40B4-BE49-F238E27FC236}">
                            <a16:creationId xmlns:a16="http://schemas.microsoft.com/office/drawing/2014/main" id="{8968BD0E-FBFE-4DE4-8DA6-64C2F47B92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1493838"/>
                        <a:ext cx="3433763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C505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Text Box 7">
            <a:extLst>
              <a:ext uri="{FF2B5EF4-FFF2-40B4-BE49-F238E27FC236}">
                <a16:creationId xmlns:a16="http://schemas.microsoft.com/office/drawing/2014/main" id="{B259D6D9-76CD-4854-B86B-FE9DC5B89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2565400"/>
            <a:ext cx="5284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由题知 ，过程中系统体积膨胀</a:t>
            </a:r>
          </a:p>
        </p:txBody>
      </p:sp>
      <p:graphicFrame>
        <p:nvGraphicFramePr>
          <p:cNvPr id="30729" name="Object 4">
            <a:extLst>
              <a:ext uri="{FF2B5EF4-FFF2-40B4-BE49-F238E27FC236}">
                <a16:creationId xmlns:a16="http://schemas.microsoft.com/office/drawing/2014/main" id="{58D0A6A9-A230-406E-8139-EDC4411736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068638"/>
          <a:ext cx="19431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80" name="公式" r:id="rId7" imgW="1895469" imgH="781016" progId="Equation.3">
                  <p:embed/>
                </p:oleObj>
              </mc:Choice>
              <mc:Fallback>
                <p:oleObj name="公式" r:id="rId7" imgW="1895469" imgH="781016" progId="Equation.3">
                  <p:embed/>
                  <p:pic>
                    <p:nvPicPr>
                      <p:cNvPr id="30729" name="Object 4">
                        <a:extLst>
                          <a:ext uri="{FF2B5EF4-FFF2-40B4-BE49-F238E27FC236}">
                            <a16:creationId xmlns:a16="http://schemas.microsoft.com/office/drawing/2014/main" id="{58D0A6A9-A230-406E-8139-EDC4411736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068638"/>
                        <a:ext cx="194310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5">
            <a:extLst>
              <a:ext uri="{FF2B5EF4-FFF2-40B4-BE49-F238E27FC236}">
                <a16:creationId xmlns:a16="http://schemas.microsoft.com/office/drawing/2014/main" id="{CE4A7F82-1E5F-44F4-8B36-985E7139B6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076700"/>
          <a:ext cx="1281113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81" name="公式" r:id="rId9" imgW="1238263" imgH="781016" progId="Equation.3">
                  <p:embed/>
                </p:oleObj>
              </mc:Choice>
              <mc:Fallback>
                <p:oleObj name="公式" r:id="rId9" imgW="1238263" imgH="781016" progId="Equation.3">
                  <p:embed/>
                  <p:pic>
                    <p:nvPicPr>
                      <p:cNvPr id="30730" name="Object 5">
                        <a:extLst>
                          <a:ext uri="{FF2B5EF4-FFF2-40B4-BE49-F238E27FC236}">
                            <a16:creationId xmlns:a16="http://schemas.microsoft.com/office/drawing/2014/main" id="{CE4A7F82-1E5F-44F4-8B36-985E7139B6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76700"/>
                        <a:ext cx="1281113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6">
            <a:extLst>
              <a:ext uri="{FF2B5EF4-FFF2-40B4-BE49-F238E27FC236}">
                <a16:creationId xmlns:a16="http://schemas.microsoft.com/office/drawing/2014/main" id="{219A8858-8A65-46F0-837A-88BC51C1A1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5084763"/>
          <a:ext cx="21701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82" name="公式" r:id="rId11" imgW="2124222" imgH="781016" progId="Equation.3">
                  <p:embed/>
                </p:oleObj>
              </mc:Choice>
              <mc:Fallback>
                <p:oleObj name="公式" r:id="rId11" imgW="2124222" imgH="781016" progId="Equation.3">
                  <p:embed/>
                  <p:pic>
                    <p:nvPicPr>
                      <p:cNvPr id="30731" name="Object 6">
                        <a:extLst>
                          <a:ext uri="{FF2B5EF4-FFF2-40B4-BE49-F238E27FC236}">
                            <a16:creationId xmlns:a16="http://schemas.microsoft.com/office/drawing/2014/main" id="{219A8858-8A65-46F0-837A-88BC51C1A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084763"/>
                        <a:ext cx="217011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AutoShape 12">
            <a:extLst>
              <a:ext uri="{FF2B5EF4-FFF2-40B4-BE49-F238E27FC236}">
                <a16:creationId xmlns:a16="http://schemas.microsoft.com/office/drawing/2014/main" id="{75B14879-DFD1-4053-A003-88389214AB56}"/>
              </a:ext>
            </a:extLst>
          </p:cNvPr>
          <p:cNvSpPr>
            <a:spLocks/>
          </p:cNvSpPr>
          <p:nvPr/>
        </p:nvSpPr>
        <p:spPr bwMode="auto">
          <a:xfrm>
            <a:off x="755650" y="3484563"/>
            <a:ext cx="288925" cy="2032000"/>
          </a:xfrm>
          <a:prstGeom prst="leftBrace">
            <a:avLst>
              <a:gd name="adj1" fmla="val 68544"/>
              <a:gd name="adj2" fmla="val 50000"/>
            </a:avLst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aphicFrame>
        <p:nvGraphicFramePr>
          <p:cNvPr id="30733" name="Object 7">
            <a:extLst>
              <a:ext uri="{FF2B5EF4-FFF2-40B4-BE49-F238E27FC236}">
                <a16:creationId xmlns:a16="http://schemas.microsoft.com/office/drawing/2014/main" id="{EF29FD2C-F914-452D-820B-EBA4E36198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3246438"/>
          <a:ext cx="9874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83" name="公式" r:id="rId13" imgW="952627" imgH="342900" progId="Equation.3">
                  <p:embed/>
                </p:oleObj>
              </mc:Choice>
              <mc:Fallback>
                <p:oleObj name="公式" r:id="rId13" imgW="952627" imgH="342900" progId="Equation.3">
                  <p:embed/>
                  <p:pic>
                    <p:nvPicPr>
                      <p:cNvPr id="30733" name="Object 7">
                        <a:extLst>
                          <a:ext uri="{FF2B5EF4-FFF2-40B4-BE49-F238E27FC236}">
                            <a16:creationId xmlns:a16="http://schemas.microsoft.com/office/drawing/2014/main" id="{EF29FD2C-F914-452D-820B-EBA4E36198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246438"/>
                        <a:ext cx="9874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8">
            <a:extLst>
              <a:ext uri="{FF2B5EF4-FFF2-40B4-BE49-F238E27FC236}">
                <a16:creationId xmlns:a16="http://schemas.microsoft.com/office/drawing/2014/main" id="{63C18E5E-06C3-47E5-BD94-67B69C96C6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5335588"/>
          <a:ext cx="9763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84" name="公式" r:id="rId15" imgW="942841" imgH="342900" progId="Equation.3">
                  <p:embed/>
                </p:oleObj>
              </mc:Choice>
              <mc:Fallback>
                <p:oleObj name="公式" r:id="rId15" imgW="942841" imgH="342900" progId="Equation.3">
                  <p:embed/>
                  <p:pic>
                    <p:nvPicPr>
                      <p:cNvPr id="30734" name="Object 8">
                        <a:extLst>
                          <a:ext uri="{FF2B5EF4-FFF2-40B4-BE49-F238E27FC236}">
                            <a16:creationId xmlns:a16="http://schemas.microsoft.com/office/drawing/2014/main" id="{63C18E5E-06C3-47E5-BD94-67B69C96C6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335588"/>
                        <a:ext cx="97631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5" name="Object 9">
            <a:extLst>
              <a:ext uri="{FF2B5EF4-FFF2-40B4-BE49-F238E27FC236}">
                <a16:creationId xmlns:a16="http://schemas.microsoft.com/office/drawing/2014/main" id="{4148813C-B278-4A4B-AD80-21DD33A66C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4291013"/>
          <a:ext cx="9874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85" name="公式" r:id="rId17" imgW="952627" imgH="342900" progId="Equation.3">
                  <p:embed/>
                </p:oleObj>
              </mc:Choice>
              <mc:Fallback>
                <p:oleObj name="公式" r:id="rId17" imgW="952627" imgH="342900" progId="Equation.3">
                  <p:embed/>
                  <p:pic>
                    <p:nvPicPr>
                      <p:cNvPr id="30735" name="Object 9">
                        <a:extLst>
                          <a:ext uri="{FF2B5EF4-FFF2-40B4-BE49-F238E27FC236}">
                            <a16:creationId xmlns:a16="http://schemas.microsoft.com/office/drawing/2014/main" id="{4148813C-B278-4A4B-AD80-21DD33A66C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291013"/>
                        <a:ext cx="9874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6" name="Rectangle 16">
            <a:extLst>
              <a:ext uri="{FF2B5EF4-FFF2-40B4-BE49-F238E27FC236}">
                <a16:creationId xmlns:a16="http://schemas.microsoft.com/office/drawing/2014/main" id="{5FD7025A-D0E6-4EC2-8E1D-7BAD2C1F6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176588"/>
            <a:ext cx="803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吸热</a:t>
            </a:r>
          </a:p>
        </p:txBody>
      </p:sp>
      <p:sp>
        <p:nvSpPr>
          <p:cNvPr id="30737" name="Rectangle 17">
            <a:extLst>
              <a:ext uri="{FF2B5EF4-FFF2-40B4-BE49-F238E27FC236}">
                <a16:creationId xmlns:a16="http://schemas.microsoft.com/office/drawing/2014/main" id="{23BBF8CD-3C8C-4548-8832-ECC68A7A0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88" y="5262563"/>
            <a:ext cx="8032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放热</a:t>
            </a:r>
          </a:p>
        </p:txBody>
      </p:sp>
      <p:sp>
        <p:nvSpPr>
          <p:cNvPr id="19471" name="灯片编号占位符 1">
            <a:extLst>
              <a:ext uri="{FF2B5EF4-FFF2-40B4-BE49-F238E27FC236}">
                <a16:creationId xmlns:a16="http://schemas.microsoft.com/office/drawing/2014/main" id="{7544A2E5-32E9-4DD2-8ECD-0456F556A1C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FCCA7A-552B-41CE-8F14-4B1FA7E53607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graphicFrame>
        <p:nvGraphicFramePr>
          <p:cNvPr id="29767" name="Object 16">
            <a:extLst>
              <a:ext uri="{FF2B5EF4-FFF2-40B4-BE49-F238E27FC236}">
                <a16:creationId xmlns:a16="http://schemas.microsoft.com/office/drawing/2014/main" id="{37C65EBE-5D16-46A7-8E01-21A6EE955C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6563" y="65088"/>
          <a:ext cx="21272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86" name="公式" r:id="rId19" imgW="2286000" imgH="866741" progId="Equation.3">
                  <p:embed/>
                </p:oleObj>
              </mc:Choice>
              <mc:Fallback>
                <p:oleObj name="公式" r:id="rId19" imgW="2286000" imgH="866741" progId="Equation.3">
                  <p:embed/>
                  <p:pic>
                    <p:nvPicPr>
                      <p:cNvPr id="29767" name="Object 16">
                        <a:extLst>
                          <a:ext uri="{FF2B5EF4-FFF2-40B4-BE49-F238E27FC236}">
                            <a16:creationId xmlns:a16="http://schemas.microsoft.com/office/drawing/2014/main" id="{37C65EBE-5D16-46A7-8E01-21A6EE955C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563" y="65088"/>
                        <a:ext cx="21272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74" name="Object 17">
            <a:extLst>
              <a:ext uri="{FF2B5EF4-FFF2-40B4-BE49-F238E27FC236}">
                <a16:creationId xmlns:a16="http://schemas.microsoft.com/office/drawing/2014/main" id="{5F546C3A-C9D7-4BC9-940E-C818D387A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9250" y="993775"/>
          <a:ext cx="335756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87" name="公式" r:id="rId21" imgW="3581451" imgH="942975" progId="Equation.3">
                  <p:embed/>
                </p:oleObj>
              </mc:Choice>
              <mc:Fallback>
                <p:oleObj name="公式" r:id="rId21" imgW="3581451" imgH="942975" progId="Equation.3">
                  <p:embed/>
                  <p:pic>
                    <p:nvPicPr>
                      <p:cNvPr id="29774" name="Object 17">
                        <a:extLst>
                          <a:ext uri="{FF2B5EF4-FFF2-40B4-BE49-F238E27FC236}">
                            <a16:creationId xmlns:a16="http://schemas.microsoft.com/office/drawing/2014/main" id="{5F546C3A-C9D7-4BC9-940E-C818D387A6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993775"/>
                        <a:ext cx="3357563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12">
            <a:extLst>
              <a:ext uri="{FF2B5EF4-FFF2-40B4-BE49-F238E27FC236}">
                <a16:creationId xmlns:a16="http://schemas.microsoft.com/office/drawing/2014/main" id="{5139E41F-7FA9-419E-955C-0AAABC7B4119}"/>
              </a:ext>
            </a:extLst>
          </p:cNvPr>
          <p:cNvSpPr>
            <a:spLocks/>
          </p:cNvSpPr>
          <p:nvPr/>
        </p:nvSpPr>
        <p:spPr bwMode="auto">
          <a:xfrm>
            <a:off x="5072063" y="422275"/>
            <a:ext cx="288925" cy="1000125"/>
          </a:xfrm>
          <a:prstGeom prst="leftBrace">
            <a:avLst>
              <a:gd name="adj1" fmla="val 68542"/>
              <a:gd name="adj2" fmla="val 50000"/>
            </a:avLst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77D273B4-0241-4289-B223-9DAFDD00D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0" y="944563"/>
            <a:ext cx="973138" cy="90487"/>
          </a:xfrm>
          <a:custGeom>
            <a:avLst/>
            <a:gdLst>
              <a:gd name="T0" fmla="*/ 1029917 w 971724"/>
              <a:gd name="T1" fmla="*/ 0 h 89481"/>
              <a:gd name="T2" fmla="*/ 149673 w 971724"/>
              <a:gd name="T3" fmla="*/ 118128 h 89481"/>
              <a:gd name="T4" fmla="*/ 131889 w 971724"/>
              <a:gd name="T5" fmla="*/ 131251 h 89481"/>
              <a:gd name="T6" fmla="*/ 0 60000 65536"/>
              <a:gd name="T7" fmla="*/ 0 60000 65536"/>
              <a:gd name="T8" fmla="*/ 0 60000 65536"/>
              <a:gd name="T9" fmla="*/ 0 w 971724"/>
              <a:gd name="T10" fmla="*/ 0 h 89481"/>
              <a:gd name="T11" fmla="*/ 971724 w 971724"/>
              <a:gd name="T12" fmla="*/ 89481 h 894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1724" h="89481">
                <a:moveTo>
                  <a:pt x="971724" y="0"/>
                </a:moveTo>
                <a:lnTo>
                  <a:pt x="141214" y="75500"/>
                </a:lnTo>
                <a:cubicBezTo>
                  <a:pt x="0" y="89481"/>
                  <a:pt x="62218" y="86685"/>
                  <a:pt x="124436" y="83889"/>
                </a:cubicBezTo>
              </a:path>
            </a:pathLst>
          </a:custGeom>
          <a:noFill/>
          <a:ln w="412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任意多边形 20">
            <a:extLst>
              <a:ext uri="{FF2B5EF4-FFF2-40B4-BE49-F238E27FC236}">
                <a16:creationId xmlns:a16="http://schemas.microsoft.com/office/drawing/2014/main" id="{6999B297-5520-45AB-9BC8-EEDBA7BE2BF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57625" y="1198563"/>
            <a:ext cx="46038" cy="438150"/>
          </a:xfrm>
          <a:custGeom>
            <a:avLst/>
            <a:gdLst>
              <a:gd name="T0" fmla="*/ 0 w 9787"/>
              <a:gd name="T1" fmla="*/ 0 h 335560"/>
              <a:gd name="T2" fmla="*/ 2147483646 w 9787"/>
              <a:gd name="T3" fmla="*/ 2147483646 h 335560"/>
              <a:gd name="T4" fmla="*/ 2147483646 w 9787"/>
              <a:gd name="T5" fmla="*/ 2147483646 h 335560"/>
              <a:gd name="T6" fmla="*/ 0 60000 65536"/>
              <a:gd name="T7" fmla="*/ 0 60000 65536"/>
              <a:gd name="T8" fmla="*/ 0 60000 65536"/>
              <a:gd name="T9" fmla="*/ 0 w 9787"/>
              <a:gd name="T10" fmla="*/ 0 h 335560"/>
              <a:gd name="T11" fmla="*/ 9787 w 9787"/>
              <a:gd name="T12" fmla="*/ 335560 h 3355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87" h="335560">
                <a:moveTo>
                  <a:pt x="0" y="0"/>
                </a:moveTo>
                <a:cubicBezTo>
                  <a:pt x="3495" y="125835"/>
                  <a:pt x="6991" y="251670"/>
                  <a:pt x="8389" y="293615"/>
                </a:cubicBezTo>
                <a:cubicBezTo>
                  <a:pt x="9787" y="335560"/>
                  <a:pt x="9088" y="293615"/>
                  <a:pt x="8389" y="251670"/>
                </a:cubicBezTo>
              </a:path>
            </a:pathLst>
          </a:custGeom>
          <a:noFill/>
          <a:ln w="3810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右箭头 21">
            <a:extLst>
              <a:ext uri="{FF2B5EF4-FFF2-40B4-BE49-F238E27FC236}">
                <a16:creationId xmlns:a16="http://schemas.microsoft.com/office/drawing/2014/main" id="{821F93DD-87C4-414B-AB7F-DA8D59C13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2713038"/>
            <a:ext cx="785812" cy="214312"/>
          </a:xfrm>
          <a:prstGeom prst="rightArrow">
            <a:avLst>
              <a:gd name="adj1" fmla="val 50000"/>
              <a:gd name="adj2" fmla="val 13220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" name="Object 18">
            <a:extLst>
              <a:ext uri="{FF2B5EF4-FFF2-40B4-BE49-F238E27FC236}">
                <a16:creationId xmlns:a16="http://schemas.microsoft.com/office/drawing/2014/main" id="{CC56196D-30CA-4481-9FEE-E0CAC4BF1F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2570163"/>
          <a:ext cx="11350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88" name="公式" r:id="rId23" imgW="418973" imgH="133486" progId="Equation.3">
                  <p:embed/>
                </p:oleObj>
              </mc:Choice>
              <mc:Fallback>
                <p:oleObj name="公式" r:id="rId23" imgW="418973" imgH="133486" progId="Equation.3">
                  <p:embed/>
                  <p:pic>
                    <p:nvPicPr>
                      <p:cNvPr id="2" name="Object 18">
                        <a:extLst>
                          <a:ext uri="{FF2B5EF4-FFF2-40B4-BE49-F238E27FC236}">
                            <a16:creationId xmlns:a16="http://schemas.microsoft.com/office/drawing/2014/main" id="{CC56196D-30CA-4481-9FEE-E0CAC4BF1F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2570163"/>
                        <a:ext cx="11350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C505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E155F3E3-C210-4898-9C9E-6B34A278B462}"/>
              </a:ext>
            </a:extLst>
          </p:cNvPr>
          <p:cNvGrpSpPr>
            <a:grpSpLocks/>
          </p:cNvGrpSpPr>
          <p:nvPr/>
        </p:nvGrpSpPr>
        <p:grpSpPr bwMode="auto">
          <a:xfrm>
            <a:off x="5872163" y="3500438"/>
            <a:ext cx="3165475" cy="2879725"/>
            <a:chOff x="5799138" y="1916113"/>
            <a:chExt cx="3165476" cy="2879726"/>
          </a:xfrm>
        </p:grpSpPr>
        <p:grpSp>
          <p:nvGrpSpPr>
            <p:cNvPr id="19487" name="Group 73">
              <a:extLst>
                <a:ext uri="{FF2B5EF4-FFF2-40B4-BE49-F238E27FC236}">
                  <a16:creationId xmlns:a16="http://schemas.microsoft.com/office/drawing/2014/main" id="{5A81F127-94F7-4087-B806-A9F7802785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29326" y="1916113"/>
              <a:ext cx="2935288" cy="2879726"/>
              <a:chOff x="3498" y="1207"/>
              <a:chExt cx="1849" cy="1814"/>
            </a:xfrm>
          </p:grpSpPr>
          <p:sp>
            <p:nvSpPr>
              <p:cNvPr id="19500" name="Line 29">
                <a:extLst>
                  <a:ext uri="{FF2B5EF4-FFF2-40B4-BE49-F238E27FC236}">
                    <a16:creationId xmlns:a16="http://schemas.microsoft.com/office/drawing/2014/main" id="{082EC196-3B43-4CAE-89F5-3AABA4348C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4" y="2750"/>
                <a:ext cx="1515" cy="19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1" name="Line 30">
                <a:extLst>
                  <a:ext uri="{FF2B5EF4-FFF2-40B4-BE49-F238E27FC236}">
                    <a16:creationId xmlns:a16="http://schemas.microsoft.com/office/drawing/2014/main" id="{BA7A67C3-2925-4313-B9B8-B18FA69A6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4" y="1353"/>
                <a:ext cx="1" cy="1416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2" name="Text Box 31">
                <a:extLst>
                  <a:ext uri="{FF2B5EF4-FFF2-40B4-BE49-F238E27FC236}">
                    <a16:creationId xmlns:a16="http://schemas.microsoft.com/office/drawing/2014/main" id="{89A0EBD5-C047-4D69-AAC8-CF44737B9A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3" y="2733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FF00"/>
                    </a:solidFill>
                  </a:rPr>
                  <a:t>V</a:t>
                </a:r>
              </a:p>
            </p:txBody>
          </p:sp>
          <p:sp>
            <p:nvSpPr>
              <p:cNvPr id="19503" name="Text Box 32">
                <a:extLst>
                  <a:ext uri="{FF2B5EF4-FFF2-40B4-BE49-F238E27FC236}">
                    <a16:creationId xmlns:a16="http://schemas.microsoft.com/office/drawing/2014/main" id="{BC997269-3965-4C58-8F7F-05A3BE6CBB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8" y="1207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rgbClr val="FFFF00"/>
                    </a:solidFill>
                  </a:rPr>
                  <a:t>p</a:t>
                </a:r>
              </a:p>
            </p:txBody>
          </p:sp>
          <p:sp>
            <p:nvSpPr>
              <p:cNvPr id="19504" name="Text Box 33">
                <a:extLst>
                  <a:ext uri="{FF2B5EF4-FFF2-40B4-BE49-F238E27FC236}">
                    <a16:creationId xmlns:a16="http://schemas.microsoft.com/office/drawing/2014/main" id="{ABEADF34-C525-4540-88A3-85C6BDDE4D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8" y="2708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FF00"/>
                    </a:solidFill>
                  </a:rPr>
                  <a:t>O</a:t>
                </a:r>
              </a:p>
            </p:txBody>
          </p:sp>
        </p:grpSp>
        <p:sp>
          <p:nvSpPr>
            <p:cNvPr id="19488" name="Line 34">
              <a:extLst>
                <a:ext uri="{FF2B5EF4-FFF2-40B4-BE49-F238E27FC236}">
                  <a16:creationId xmlns:a16="http://schemas.microsoft.com/office/drawing/2014/main" id="{540BFCC6-1A91-4391-A87A-28F994F75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7678" y="2874963"/>
              <a:ext cx="914400" cy="914400"/>
            </a:xfrm>
            <a:prstGeom prst="line">
              <a:avLst/>
            </a:prstGeom>
            <a:noFill/>
            <a:ln w="412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Line 36">
              <a:extLst>
                <a:ext uri="{FF2B5EF4-FFF2-40B4-BE49-F238E27FC236}">
                  <a16:creationId xmlns:a16="http://schemas.microsoft.com/office/drawing/2014/main" id="{6C2213F7-CF66-4963-B855-CA6B8847B4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45463" y="3789363"/>
              <a:ext cx="1587" cy="59055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0" name="Line 39">
              <a:extLst>
                <a:ext uri="{FF2B5EF4-FFF2-40B4-BE49-F238E27FC236}">
                  <a16:creationId xmlns:a16="http://schemas.microsoft.com/office/drawing/2014/main" id="{61310D1C-AB25-4E00-B2CC-355ED6B42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2075" y="2874963"/>
              <a:ext cx="76200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1" name="Line 43">
              <a:extLst>
                <a:ext uri="{FF2B5EF4-FFF2-40B4-BE49-F238E27FC236}">
                  <a16:creationId xmlns:a16="http://schemas.microsoft.com/office/drawing/2014/main" id="{0D2A40DC-0415-4C41-9227-BFB148349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9990" y="2996233"/>
              <a:ext cx="304800" cy="304800"/>
            </a:xfrm>
            <a:prstGeom prst="line">
              <a:avLst/>
            </a:prstGeom>
            <a:noFill/>
            <a:ln w="57150">
              <a:solidFill>
                <a:srgbClr val="00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Line 54">
              <a:extLst>
                <a:ext uri="{FF2B5EF4-FFF2-40B4-BE49-F238E27FC236}">
                  <a16:creationId xmlns:a16="http://schemas.microsoft.com/office/drawing/2014/main" id="{8456258B-6F8E-407E-9FC5-F74BE0EABC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2075" y="3789363"/>
              <a:ext cx="167640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3" name="Line 57">
              <a:extLst>
                <a:ext uri="{FF2B5EF4-FFF2-40B4-BE49-F238E27FC236}">
                  <a16:creationId xmlns:a16="http://schemas.microsoft.com/office/drawing/2014/main" id="{122FF8BD-4156-4E0D-96AE-DEFE91B97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4075" y="2874963"/>
              <a:ext cx="0" cy="15240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4" name="Rectangle 59">
              <a:extLst>
                <a:ext uri="{FF2B5EF4-FFF2-40B4-BE49-F238E27FC236}">
                  <a16:creationId xmlns:a16="http://schemas.microsoft.com/office/drawing/2014/main" id="{1089B5F9-5E16-40CB-AF6C-4E3CF39BF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7188" y="3298825"/>
              <a:ext cx="3556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5400">
                  <a:solidFill>
                    <a:srgbClr val="66FFFF"/>
                  </a:solidFill>
                  <a:cs typeface="Times New Roman" panose="02020603050405020304" pitchFamily="18" charset="0"/>
                </a:rPr>
                <a:t>·</a:t>
              </a:r>
            </a:p>
          </p:txBody>
        </p:sp>
        <p:sp>
          <p:nvSpPr>
            <p:cNvPr id="19495" name="Rectangle 60">
              <a:extLst>
                <a:ext uri="{FF2B5EF4-FFF2-40B4-BE49-F238E27FC236}">
                  <a16:creationId xmlns:a16="http://schemas.microsoft.com/office/drawing/2014/main" id="{DE20C286-EF89-411A-A976-4DBB43C9B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3100" y="2365375"/>
              <a:ext cx="374650" cy="1006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6000">
                  <a:solidFill>
                    <a:srgbClr val="66FFFF"/>
                  </a:solidFill>
                  <a:cs typeface="Times New Roman" panose="02020603050405020304" pitchFamily="18" charset="0"/>
                </a:rPr>
                <a:t>·</a:t>
              </a:r>
            </a:p>
          </p:txBody>
        </p:sp>
        <p:sp>
          <p:nvSpPr>
            <p:cNvPr id="19496" name="Text Box 61">
              <a:extLst>
                <a:ext uri="{FF2B5EF4-FFF2-40B4-BE49-F238E27FC236}">
                  <a16:creationId xmlns:a16="http://schemas.microsoft.com/office/drawing/2014/main" id="{C1F9A076-2262-4494-A101-4CECCF263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5950" y="43291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V</a:t>
              </a:r>
              <a:r>
                <a:rPr lang="en-US" altLang="zh-CN" baseline="-25000">
                  <a:solidFill>
                    <a:schemeClr val="bg1"/>
                  </a:solidFill>
                </a:rPr>
                <a:t>0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sp>
          <p:nvSpPr>
            <p:cNvPr id="19497" name="Text Box 62">
              <a:extLst>
                <a:ext uri="{FF2B5EF4-FFF2-40B4-BE49-F238E27FC236}">
                  <a16:creationId xmlns:a16="http://schemas.microsoft.com/office/drawing/2014/main" id="{26532111-62F0-4BFA-A0BE-EA7391D9C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0768" y="4329113"/>
              <a:ext cx="641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bg1"/>
                  </a:solidFill>
                </a:rPr>
                <a:t>2</a:t>
              </a:r>
              <a:r>
                <a:rPr lang="en-US" altLang="zh-CN" i="1">
                  <a:solidFill>
                    <a:schemeClr val="bg1"/>
                  </a:solidFill>
                </a:rPr>
                <a:t>V</a:t>
              </a:r>
              <a:r>
                <a:rPr lang="en-US" altLang="zh-CN" baseline="-250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9498" name="Text Box 63">
              <a:extLst>
                <a:ext uri="{FF2B5EF4-FFF2-40B4-BE49-F238E27FC236}">
                  <a16:creationId xmlns:a16="http://schemas.microsoft.com/office/drawing/2014/main" id="{6C36493D-23DF-4A80-B6AC-6479593AA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7875" y="3490913"/>
              <a:ext cx="438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p</a:t>
              </a:r>
              <a:r>
                <a:rPr lang="en-US" altLang="zh-CN" baseline="-250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9499" name="Text Box 64">
              <a:extLst>
                <a:ext uri="{FF2B5EF4-FFF2-40B4-BE49-F238E27FC236}">
                  <a16:creationId xmlns:a16="http://schemas.microsoft.com/office/drawing/2014/main" id="{1DCEA124-4166-4F8F-894F-7B5DCC92F9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9138" y="2600325"/>
              <a:ext cx="595312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bg1"/>
                  </a:solidFill>
                </a:rPr>
                <a:t>2</a:t>
              </a:r>
              <a:r>
                <a:rPr lang="en-US" altLang="zh-CN" i="1">
                  <a:solidFill>
                    <a:schemeClr val="bg1"/>
                  </a:solidFill>
                </a:rPr>
                <a:t>p</a:t>
              </a:r>
              <a:r>
                <a:rPr lang="en-US" altLang="zh-CN" baseline="-25000">
                  <a:solidFill>
                    <a:schemeClr val="bg1"/>
                  </a:solidFill>
                </a:rPr>
                <a:t>0</a:t>
              </a:r>
            </a:p>
            <a:p>
              <a:pPr eaLnBrk="1" hangingPunct="1"/>
              <a:endParaRPr lang="en-US" altLang="zh-CN">
                <a:solidFill>
                  <a:schemeClr val="bg1"/>
                </a:solidFill>
              </a:endParaRPr>
            </a:p>
          </p:txBody>
        </p:sp>
      </p:grpSp>
      <p:sp>
        <p:nvSpPr>
          <p:cNvPr id="42" name="Arc 7">
            <a:extLst>
              <a:ext uri="{FF2B5EF4-FFF2-40B4-BE49-F238E27FC236}">
                <a16:creationId xmlns:a16="http://schemas.microsoft.com/office/drawing/2014/main" id="{CE1DB495-84BD-41BC-88A6-C0ABEA441D12}"/>
              </a:ext>
            </a:extLst>
          </p:cNvPr>
          <p:cNvSpPr>
            <a:spLocks noChangeAspect="1"/>
          </p:cNvSpPr>
          <p:nvPr/>
        </p:nvSpPr>
        <p:spPr bwMode="auto">
          <a:xfrm>
            <a:off x="7632694" y="4353723"/>
            <a:ext cx="828685" cy="847722"/>
          </a:xfrm>
          <a:custGeom>
            <a:avLst/>
            <a:gdLst>
              <a:gd name="T0" fmla="*/ 2147483646 w 21600"/>
              <a:gd name="T1" fmla="*/ 2147483646 h 21058"/>
              <a:gd name="T2" fmla="*/ 0 w 21600"/>
              <a:gd name="T3" fmla="*/ 0 h 21058"/>
              <a:gd name="T4" fmla="*/ 2147483646 w 21600"/>
              <a:gd name="T5" fmla="*/ 2147483646 h 21058"/>
              <a:gd name="T6" fmla="*/ 0 60000 65536"/>
              <a:gd name="T7" fmla="*/ 0 60000 65536"/>
              <a:gd name="T8" fmla="*/ 0 60000 65536"/>
              <a:gd name="T9" fmla="*/ 0 w 21600"/>
              <a:gd name="T10" fmla="*/ 0 h 21058"/>
              <a:gd name="T11" fmla="*/ 21600 w 21600"/>
              <a:gd name="T12" fmla="*/ 21058 h 210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058" fill="none" extrusionOk="0">
                <a:moveTo>
                  <a:pt x="16744" y="21058"/>
                </a:moveTo>
                <a:cubicBezTo>
                  <a:pt x="6943" y="18797"/>
                  <a:pt x="0" y="10069"/>
                  <a:pt x="0" y="11"/>
                </a:cubicBezTo>
                <a:cubicBezTo>
                  <a:pt x="-1" y="7"/>
                  <a:pt x="0" y="3"/>
                  <a:pt x="0" y="0"/>
                </a:cubicBezTo>
              </a:path>
              <a:path w="21600" h="21058" stroke="0" extrusionOk="0">
                <a:moveTo>
                  <a:pt x="16744" y="21058"/>
                </a:moveTo>
                <a:cubicBezTo>
                  <a:pt x="6943" y="18797"/>
                  <a:pt x="0" y="10069"/>
                  <a:pt x="0" y="11"/>
                </a:cubicBezTo>
                <a:cubicBezTo>
                  <a:pt x="-1" y="7"/>
                  <a:pt x="0" y="3"/>
                  <a:pt x="0" y="0"/>
                </a:cubicBezTo>
                <a:lnTo>
                  <a:pt x="21600" y="11"/>
                </a:lnTo>
                <a:lnTo>
                  <a:pt x="16744" y="21058"/>
                </a:lnTo>
                <a:close/>
              </a:path>
            </a:pathLst>
          </a:custGeom>
          <a:noFill/>
          <a:ln w="31750">
            <a:solidFill>
              <a:srgbClr val="C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Rectangle 17">
            <a:extLst>
              <a:ext uri="{FF2B5EF4-FFF2-40B4-BE49-F238E27FC236}">
                <a16:creationId xmlns:a16="http://schemas.microsoft.com/office/drawing/2014/main" id="{03DF29C4-0C9C-4C71-AE32-18261AAE1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3789363"/>
            <a:ext cx="152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0000"/>
                </a:solidFill>
              </a:rPr>
              <a:t>绝热线</a:t>
            </a:r>
          </a:p>
        </p:txBody>
      </p:sp>
      <p:sp>
        <p:nvSpPr>
          <p:cNvPr id="44" name="Rectangle 16">
            <a:extLst>
              <a:ext uri="{FF2B5EF4-FFF2-40B4-BE49-F238E27FC236}">
                <a16:creationId xmlns:a16="http://schemas.microsoft.com/office/drawing/2014/main" id="{F31CBD6C-05BE-431C-B045-710E64806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3243263"/>
            <a:ext cx="145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dirty="0">
                <a:solidFill>
                  <a:srgbClr val="FFFF00"/>
                </a:solidFill>
              </a:rPr>
              <a:t>另解：</a:t>
            </a:r>
          </a:p>
        </p:txBody>
      </p:sp>
      <p:sp>
        <p:nvSpPr>
          <p:cNvPr id="45" name="Line 57">
            <a:extLst>
              <a:ext uri="{FF2B5EF4-FFF2-40B4-BE49-F238E27FC236}">
                <a16:creationId xmlns:a16="http://schemas.microsoft.com/office/drawing/2014/main" id="{B890EAF0-87AC-4900-8832-FA2FCB119A3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0525" y="5084763"/>
            <a:ext cx="0" cy="900112"/>
          </a:xfrm>
          <a:prstGeom prst="line">
            <a:avLst/>
          </a:prstGeom>
          <a:noFill/>
          <a:ln w="254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Box 61">
            <a:extLst>
              <a:ext uri="{FF2B5EF4-FFF2-40B4-BE49-F238E27FC236}">
                <a16:creationId xmlns:a16="http://schemas.microsoft.com/office/drawing/2014/main" id="{088BA549-B64A-4051-8388-9D5035A76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6196" y="4600227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chemeClr val="bg1"/>
                </a:solidFill>
              </a:rPr>
              <a:t>A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6A3B88F4-C1D4-4CBD-9BC5-550F151D0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021388"/>
            <a:ext cx="145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>
                <a:solidFill>
                  <a:srgbClr val="FF0000"/>
                </a:solidFill>
              </a:rPr>
              <a:t>问题：</a:t>
            </a:r>
          </a:p>
        </p:txBody>
      </p:sp>
      <p:sp>
        <p:nvSpPr>
          <p:cNvPr id="48" name="Text Box 7">
            <a:extLst>
              <a:ext uri="{FF2B5EF4-FFF2-40B4-BE49-F238E27FC236}">
                <a16:creationId xmlns:a16="http://schemas.microsoft.com/office/drawing/2014/main" id="{732DC9E9-4894-4C35-8C5C-61AE2A3A7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6021388"/>
            <a:ext cx="5284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>
                <a:solidFill>
                  <a:schemeClr val="bg1"/>
                </a:solidFill>
              </a:rPr>
              <a:t>直线过程中最高温度在哪？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  <p:bldP spid="30727" grpId="0"/>
      <p:bldP spid="30732" grpId="0" animBg="1"/>
      <p:bldP spid="30736" grpId="0"/>
      <p:bldP spid="30737" grpId="0"/>
      <p:bldP spid="18" grpId="0" animBg="1"/>
      <p:bldP spid="22" grpId="0" animBg="1"/>
      <p:bldP spid="43" grpId="0"/>
      <p:bldP spid="44" grpId="0"/>
      <p:bldP spid="46" grpId="0"/>
      <p:bldP spid="47" grpId="0"/>
      <p:bldP spid="4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DC92528C-3A4E-403C-9B73-4ABE3895D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63500"/>
            <a:ext cx="53451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>
                <a:solidFill>
                  <a:srgbClr val="00FF00"/>
                </a:solidFill>
                <a:ea typeface="黑体" panose="02010609060101010101" pitchFamily="49" charset="-122"/>
              </a:rPr>
              <a:t>11.9  </a:t>
            </a:r>
            <a:r>
              <a:rPr lang="zh-CN" altLang="en-US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热力学第二定律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826B1936-E697-4DDF-A440-86EBE9202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642938"/>
            <a:ext cx="4337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热力学第二定律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DD31C786-74D7-4C92-A826-CCEF7CED2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1155700"/>
            <a:ext cx="4094163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热机循环，</a:t>
            </a:r>
            <a:r>
              <a:rPr lang="en-US" altLang="zh-CN" b="0" i="1" dirty="0">
                <a:solidFill>
                  <a:srgbClr val="FFFF00"/>
                </a:solidFill>
              </a:rPr>
              <a:t>Q</a:t>
            </a:r>
            <a:r>
              <a:rPr lang="en-US" altLang="zh-CN" b="0" baseline="-25000" dirty="0">
                <a:solidFill>
                  <a:srgbClr val="FFFF00"/>
                </a:solidFill>
              </a:rPr>
              <a:t>1 </a:t>
            </a:r>
            <a:r>
              <a:rPr lang="en-US" altLang="zh-CN" b="0" dirty="0">
                <a:solidFill>
                  <a:srgbClr val="FFFF00"/>
                </a:solidFill>
              </a:rPr>
              <a:t>- </a:t>
            </a:r>
            <a:r>
              <a:rPr lang="en-US" altLang="zh-CN" b="0" i="1" dirty="0">
                <a:solidFill>
                  <a:srgbClr val="FFFF00"/>
                </a:solidFill>
              </a:rPr>
              <a:t>Q</a:t>
            </a:r>
            <a:r>
              <a:rPr lang="en-US" altLang="zh-CN" b="0" baseline="-25000" dirty="0">
                <a:solidFill>
                  <a:srgbClr val="FFFF00"/>
                </a:solidFill>
              </a:rPr>
              <a:t>2 </a:t>
            </a:r>
            <a:r>
              <a:rPr lang="en-US" altLang="zh-CN" b="0" dirty="0">
                <a:solidFill>
                  <a:srgbClr val="FFFF00"/>
                </a:solidFill>
              </a:rPr>
              <a:t>= </a:t>
            </a:r>
            <a:r>
              <a:rPr lang="en-US" altLang="zh-CN" b="0" i="1" dirty="0">
                <a:solidFill>
                  <a:srgbClr val="FFFF00"/>
                </a:solidFill>
              </a:rPr>
              <a:t>A</a:t>
            </a:r>
            <a:endParaRPr lang="zh-CN" altLang="en-US" b="0" dirty="0">
              <a:solidFill>
                <a:srgbClr val="FFFF00"/>
              </a:solidFill>
            </a:endParaRPr>
          </a:p>
        </p:txBody>
      </p:sp>
      <p:sp>
        <p:nvSpPr>
          <p:cNvPr id="87" name="Rectangle 8">
            <a:extLst>
              <a:ext uri="{FF2B5EF4-FFF2-40B4-BE49-F238E27FC236}">
                <a16:creationId xmlns:a16="http://schemas.microsoft.com/office/drawing/2014/main" id="{CD25DAE5-5419-49DE-B3A0-C5F50A86E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286000"/>
            <a:ext cx="1752600" cy="457200"/>
          </a:xfrm>
          <a:prstGeom prst="rect">
            <a:avLst/>
          </a:prstGeom>
          <a:solidFill>
            <a:srgbClr val="FFCC00"/>
          </a:solidFill>
          <a:ln w="22225">
            <a:solidFill>
              <a:srgbClr val="FF6600"/>
            </a:solidFill>
            <a:miter lim="800000"/>
            <a:headEnd/>
            <a:tailEnd/>
          </a:ln>
        </p:spPr>
        <p:txBody>
          <a:bodyPr wrap="none" lIns="90000" tIns="46800" rIns="90000" bIns="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" name="Rectangle 9">
            <a:extLst>
              <a:ext uri="{FF2B5EF4-FFF2-40B4-BE49-F238E27FC236}">
                <a16:creationId xmlns:a16="http://schemas.microsoft.com/office/drawing/2014/main" id="{0AA3AF44-26CD-4646-9851-114FE3E90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962400"/>
            <a:ext cx="1752600" cy="457200"/>
          </a:xfrm>
          <a:prstGeom prst="rect">
            <a:avLst/>
          </a:prstGeom>
          <a:solidFill>
            <a:srgbClr val="808080"/>
          </a:solidFill>
          <a:ln w="22225">
            <a:solidFill>
              <a:srgbClr val="FF6600"/>
            </a:solidFill>
            <a:miter lim="800000"/>
            <a:headEnd/>
            <a:tailEnd/>
          </a:ln>
        </p:spPr>
        <p:txBody>
          <a:bodyPr wrap="none" lIns="90000" tIns="46800" rIns="90000" bIns="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" name="Oval 10">
            <a:extLst>
              <a:ext uri="{FF2B5EF4-FFF2-40B4-BE49-F238E27FC236}">
                <a16:creationId xmlns:a16="http://schemas.microsoft.com/office/drawing/2014/main" id="{8BA70C7F-DC58-476B-A41C-E13F4F677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971800"/>
            <a:ext cx="838200" cy="838200"/>
          </a:xfrm>
          <a:prstGeom prst="ellipse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" name="AutoShape 11">
            <a:extLst>
              <a:ext uri="{FF2B5EF4-FFF2-40B4-BE49-F238E27FC236}">
                <a16:creationId xmlns:a16="http://schemas.microsoft.com/office/drawing/2014/main" id="{CA953E43-8F37-47E5-B607-6216D995E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667000"/>
            <a:ext cx="533400" cy="685800"/>
          </a:xfrm>
          <a:prstGeom prst="downArrow">
            <a:avLst>
              <a:gd name="adj1" fmla="val 50000"/>
              <a:gd name="adj2" fmla="val 32143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" name="AutoShape 12">
            <a:extLst>
              <a:ext uri="{FF2B5EF4-FFF2-40B4-BE49-F238E27FC236}">
                <a16:creationId xmlns:a16="http://schemas.microsoft.com/office/drawing/2014/main" id="{7DF4522D-64DE-4FC5-9815-1359AFD8667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239000" y="3048000"/>
            <a:ext cx="533400" cy="685800"/>
          </a:xfrm>
          <a:prstGeom prst="downArrow">
            <a:avLst>
              <a:gd name="adj1" fmla="val 50000"/>
              <a:gd name="adj2" fmla="val 32143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" name="Object 66">
            <a:extLst>
              <a:ext uri="{FF2B5EF4-FFF2-40B4-BE49-F238E27FC236}">
                <a16:creationId xmlns:a16="http://schemas.microsoft.com/office/drawing/2014/main" id="{592DD6DB-3928-40C4-B354-CB0CA5D69909}"/>
              </a:ext>
            </a:extLst>
          </p:cNvPr>
          <p:cNvGraphicFramePr>
            <a:graphicFrameLocks/>
          </p:cNvGraphicFramePr>
          <p:nvPr/>
        </p:nvGraphicFramePr>
        <p:xfrm>
          <a:off x="6526213" y="2714625"/>
          <a:ext cx="4032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43" name="Equation" r:id="rId4" imgW="152298" imgH="190432" progId="Equation.3">
                  <p:embed/>
                </p:oleObj>
              </mc:Choice>
              <mc:Fallback>
                <p:oleObj name="Equation" r:id="rId4" imgW="152298" imgH="190432" progId="Equation.3">
                  <p:embed/>
                  <p:pic>
                    <p:nvPicPr>
                      <p:cNvPr id="92" name="Object 66">
                        <a:extLst>
                          <a:ext uri="{FF2B5EF4-FFF2-40B4-BE49-F238E27FC236}">
                            <a16:creationId xmlns:a16="http://schemas.microsoft.com/office/drawing/2014/main" id="{592DD6DB-3928-40C4-B354-CB0CA5D6990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6213" y="2714625"/>
                        <a:ext cx="40322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67">
            <a:extLst>
              <a:ext uri="{FF2B5EF4-FFF2-40B4-BE49-F238E27FC236}">
                <a16:creationId xmlns:a16="http://schemas.microsoft.com/office/drawing/2014/main" id="{AC29C876-40E9-4AD8-A9D5-5CC1D98E2CA8}"/>
              </a:ext>
            </a:extLst>
          </p:cNvPr>
          <p:cNvGraphicFramePr>
            <a:graphicFrameLocks/>
          </p:cNvGraphicFramePr>
          <p:nvPr/>
        </p:nvGraphicFramePr>
        <p:xfrm>
          <a:off x="7858125" y="3143250"/>
          <a:ext cx="10445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44" name="公式" r:id="rId6" imgW="495427" imgH="190432" progId="Equation.3">
                  <p:embed/>
                </p:oleObj>
              </mc:Choice>
              <mc:Fallback>
                <p:oleObj name="公式" r:id="rId6" imgW="495427" imgH="190432" progId="Equation.3">
                  <p:embed/>
                  <p:pic>
                    <p:nvPicPr>
                      <p:cNvPr id="93" name="Object 67">
                        <a:extLst>
                          <a:ext uri="{FF2B5EF4-FFF2-40B4-BE49-F238E27FC236}">
                            <a16:creationId xmlns:a16="http://schemas.microsoft.com/office/drawing/2014/main" id="{AC29C876-40E9-4AD8-A9D5-5CC1D98E2C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25" y="3143250"/>
                        <a:ext cx="10445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68">
            <a:extLst>
              <a:ext uri="{FF2B5EF4-FFF2-40B4-BE49-F238E27FC236}">
                <a16:creationId xmlns:a16="http://schemas.microsoft.com/office/drawing/2014/main" id="{56BE4A87-D8DC-4B74-83C4-806E08A4E135}"/>
              </a:ext>
            </a:extLst>
          </p:cNvPr>
          <p:cNvGraphicFramePr>
            <a:graphicFrameLocks/>
          </p:cNvGraphicFramePr>
          <p:nvPr/>
        </p:nvGraphicFramePr>
        <p:xfrm>
          <a:off x="6629400" y="2286000"/>
          <a:ext cx="9810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45" name="Equation" r:id="rId8" imgW="400012" imgH="190432" progId="Equation.3">
                  <p:embed/>
                </p:oleObj>
              </mc:Choice>
              <mc:Fallback>
                <p:oleObj name="Equation" r:id="rId8" imgW="400012" imgH="190432" progId="Equation.3">
                  <p:embed/>
                  <p:pic>
                    <p:nvPicPr>
                      <p:cNvPr id="94" name="Object 68">
                        <a:extLst>
                          <a:ext uri="{FF2B5EF4-FFF2-40B4-BE49-F238E27FC236}">
                            <a16:creationId xmlns:a16="http://schemas.microsoft.com/office/drawing/2014/main" id="{56BE4A87-D8DC-4B74-83C4-806E08A4E13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286000"/>
                        <a:ext cx="9810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69">
            <a:extLst>
              <a:ext uri="{FF2B5EF4-FFF2-40B4-BE49-F238E27FC236}">
                <a16:creationId xmlns:a16="http://schemas.microsoft.com/office/drawing/2014/main" id="{0A55B534-00D9-43C5-B54D-C096030B7AB2}"/>
              </a:ext>
            </a:extLst>
          </p:cNvPr>
          <p:cNvGraphicFramePr>
            <a:graphicFrameLocks/>
          </p:cNvGraphicFramePr>
          <p:nvPr/>
        </p:nvGraphicFramePr>
        <p:xfrm>
          <a:off x="6934200" y="3962400"/>
          <a:ext cx="3746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46" name="Equation" r:id="rId10" imgW="133337" imgH="190432" progId="Equation.3">
                  <p:embed/>
                </p:oleObj>
              </mc:Choice>
              <mc:Fallback>
                <p:oleObj name="Equation" r:id="rId10" imgW="133337" imgH="190432" progId="Equation.3">
                  <p:embed/>
                  <p:pic>
                    <p:nvPicPr>
                      <p:cNvPr id="95" name="Object 69">
                        <a:extLst>
                          <a:ext uri="{FF2B5EF4-FFF2-40B4-BE49-F238E27FC236}">
                            <a16:creationId xmlns:a16="http://schemas.microsoft.com/office/drawing/2014/main" id="{0A55B534-00D9-43C5-B54D-C096030B7A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962400"/>
                        <a:ext cx="3746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39">
            <a:extLst>
              <a:ext uri="{FF2B5EF4-FFF2-40B4-BE49-F238E27FC236}">
                <a16:creationId xmlns:a16="http://schemas.microsoft.com/office/drawing/2014/main" id="{2FC48496-1412-4164-BA15-7026DDD3FFCB}"/>
              </a:ext>
            </a:extLst>
          </p:cNvPr>
          <p:cNvGrpSpPr>
            <a:grpSpLocks/>
          </p:cNvGrpSpPr>
          <p:nvPr/>
        </p:nvGrpSpPr>
        <p:grpSpPr bwMode="auto">
          <a:xfrm>
            <a:off x="904875" y="2705100"/>
            <a:ext cx="3881438" cy="1081088"/>
            <a:chOff x="762000" y="2743200"/>
            <a:chExt cx="3881438" cy="1081088"/>
          </a:xfrm>
        </p:grpSpPr>
        <p:sp>
          <p:nvSpPr>
            <p:cNvPr id="16423" name="Oval 17">
              <a:extLst>
                <a:ext uri="{FF2B5EF4-FFF2-40B4-BE49-F238E27FC236}">
                  <a16:creationId xmlns:a16="http://schemas.microsoft.com/office/drawing/2014/main" id="{283B6F62-0C42-476E-98C5-2B19530CA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2743200"/>
              <a:ext cx="1219200" cy="1081088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rgbClr val="00FF99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  <a:ea typeface="楷体_GB2312" pitchFamily="49" charset="-122"/>
                </a:rPr>
                <a:t>地球</a:t>
              </a:r>
            </a:p>
          </p:txBody>
        </p:sp>
        <p:sp>
          <p:nvSpPr>
            <p:cNvPr id="16424" name="Oval 18">
              <a:extLst>
                <a:ext uri="{FF2B5EF4-FFF2-40B4-BE49-F238E27FC236}">
                  <a16:creationId xmlns:a16="http://schemas.microsoft.com/office/drawing/2014/main" id="{84F35FAC-F478-4F5B-A032-B6F7008A3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2895600"/>
              <a:ext cx="931863" cy="8810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ea typeface="楷体_GB2312" pitchFamily="49" charset="-122"/>
                </a:rPr>
                <a:t>热机</a:t>
              </a:r>
            </a:p>
          </p:txBody>
        </p:sp>
        <p:sp>
          <p:nvSpPr>
            <p:cNvPr id="16425" name="AutoShape 19">
              <a:extLst>
                <a:ext uri="{FF2B5EF4-FFF2-40B4-BE49-F238E27FC236}">
                  <a16:creationId xmlns:a16="http://schemas.microsoft.com/office/drawing/2014/main" id="{A19598FF-50BA-4D30-899C-18C4AC0A0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3200400"/>
              <a:ext cx="1008063" cy="215900"/>
            </a:xfrm>
            <a:prstGeom prst="rightArrow">
              <a:avLst>
                <a:gd name="adj1" fmla="val 42500"/>
                <a:gd name="adj2" fmla="val 221070"/>
              </a:avLst>
            </a:prstGeom>
            <a:solidFill>
              <a:srgbClr val="FFCCFF"/>
            </a:solidFill>
            <a:ln w="9525">
              <a:solidFill>
                <a:srgbClr val="FFC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26" name="AutoShape 20">
              <a:extLst>
                <a:ext uri="{FF2B5EF4-FFF2-40B4-BE49-F238E27FC236}">
                  <a16:creationId xmlns:a16="http://schemas.microsoft.com/office/drawing/2014/main" id="{9FBE2EA9-0045-462A-9D99-EE9BB40C5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306" y="3221038"/>
              <a:ext cx="877887" cy="207962"/>
            </a:xfrm>
            <a:prstGeom prst="rightArrow">
              <a:avLst>
                <a:gd name="adj1" fmla="val 42500"/>
                <a:gd name="adj2" fmla="val 199871"/>
              </a:avLst>
            </a:prstGeom>
            <a:solidFill>
              <a:srgbClr val="FFCCFF"/>
            </a:solidFill>
            <a:ln w="9525">
              <a:solidFill>
                <a:srgbClr val="FFC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27" name="Rectangle 21">
              <a:extLst>
                <a:ext uri="{FF2B5EF4-FFF2-40B4-BE49-F238E27FC236}">
                  <a16:creationId xmlns:a16="http://schemas.microsoft.com/office/drawing/2014/main" id="{603B103A-E507-45A3-9491-B4956BF14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232" y="2757486"/>
              <a:ext cx="1066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  <a:ea typeface="楷体_GB2312" pitchFamily="49" charset="-122"/>
                </a:rPr>
                <a:t>Q</a:t>
              </a:r>
              <a:r>
                <a:rPr lang="en-US" altLang="zh-CN" baseline="-25000">
                  <a:solidFill>
                    <a:srgbClr val="FFFF00"/>
                  </a:solidFill>
                  <a:ea typeface="楷体_GB2312" pitchFamily="49" charset="-122"/>
                </a:rPr>
                <a:t>1</a:t>
              </a:r>
            </a:p>
          </p:txBody>
        </p:sp>
        <p:sp>
          <p:nvSpPr>
            <p:cNvPr id="16428" name="Rectangle 22">
              <a:extLst>
                <a:ext uri="{FF2B5EF4-FFF2-40B4-BE49-F238E27FC236}">
                  <a16:creationId xmlns:a16="http://schemas.microsoft.com/office/drawing/2014/main" id="{3B978886-9875-4E50-B795-1AB58E0C4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9038" y="2828924"/>
              <a:ext cx="914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  <a:ea typeface="楷体_GB2312" pitchFamily="49" charset="-122"/>
                </a:rPr>
                <a:t>A</a:t>
              </a:r>
            </a:p>
          </p:txBody>
        </p:sp>
      </p:grpSp>
      <p:sp>
        <p:nvSpPr>
          <p:cNvPr id="102" name="Text Box 23">
            <a:extLst>
              <a:ext uri="{FF2B5EF4-FFF2-40B4-BE49-F238E27FC236}">
                <a16:creationId xmlns:a16="http://schemas.microsoft.com/office/drawing/2014/main" id="{DFCAD23A-6A05-4C94-BA2E-6A490C21B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962400"/>
            <a:ext cx="5191125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若热机效率能达到 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100%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则仅使地球上的海水冷却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1℃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所获得的功相当于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10</a:t>
            </a:r>
            <a:r>
              <a:rPr lang="en-US" altLang="zh-CN" baseline="56000">
                <a:solidFill>
                  <a:srgbClr val="FFFF00"/>
                </a:solidFill>
                <a:ea typeface="楷体_GB2312" pitchFamily="49" charset="-122"/>
              </a:rPr>
              <a:t>14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t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煤燃烧后放出的热量。</a:t>
            </a:r>
          </a:p>
        </p:txBody>
      </p:sp>
      <p:sp>
        <p:nvSpPr>
          <p:cNvPr id="103" name="Text Box 24">
            <a:extLst>
              <a:ext uri="{FF2B5EF4-FFF2-40B4-BE49-F238E27FC236}">
                <a16:creationId xmlns:a16="http://schemas.microsoft.com/office/drawing/2014/main" id="{B69554E7-6DAB-4DFC-A0DF-8B1783B97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5422900"/>
            <a:ext cx="43529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单热源热机（第二类永动机）</a:t>
            </a:r>
            <a:endParaRPr lang="en-US" altLang="zh-CN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1989AD8A-2364-4823-A03E-798988701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5441950"/>
            <a:ext cx="22098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想法一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:</a:t>
            </a:r>
            <a:r>
              <a:rPr lang="zh-CN" altLang="en-US">
                <a:solidFill>
                  <a:schemeClr val="accent2"/>
                </a:solidFill>
                <a:ea typeface="楷体_GB2312" pitchFamily="49" charset="-122"/>
              </a:rPr>
              <a:t>  </a:t>
            </a:r>
          </a:p>
        </p:txBody>
      </p:sp>
      <p:sp>
        <p:nvSpPr>
          <p:cNvPr id="105" name="Rectangle 26">
            <a:extLst>
              <a:ext uri="{FF2B5EF4-FFF2-40B4-BE49-F238E27FC236}">
                <a16:creationId xmlns:a16="http://schemas.microsoft.com/office/drawing/2014/main" id="{0F044D0B-7F47-4660-9162-B44189D98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6015038"/>
            <a:ext cx="18288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想法二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:</a:t>
            </a:r>
            <a:r>
              <a:rPr lang="zh-CN" altLang="en-US">
                <a:solidFill>
                  <a:srgbClr val="FF6600"/>
                </a:solidFill>
                <a:ea typeface="楷体_GB2312" pitchFamily="49" charset="-122"/>
              </a:rPr>
              <a:t>   </a:t>
            </a:r>
          </a:p>
        </p:txBody>
      </p:sp>
      <p:sp>
        <p:nvSpPr>
          <p:cNvPr id="106" name="Text Box 27">
            <a:extLst>
              <a:ext uri="{FF2B5EF4-FFF2-40B4-BE49-F238E27FC236}">
                <a16:creationId xmlns:a16="http://schemas.microsoft.com/office/drawing/2014/main" id="{127EE5FC-CAEC-45AD-A908-DCAB192FD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5994400"/>
            <a:ext cx="38862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不消耗外界功的致冷机 </a:t>
            </a:r>
          </a:p>
        </p:txBody>
      </p:sp>
      <p:sp>
        <p:nvSpPr>
          <p:cNvPr id="107" name="Rectangle 28">
            <a:extLst>
              <a:ext uri="{FF2B5EF4-FFF2-40B4-BE49-F238E27FC236}">
                <a16:creationId xmlns:a16="http://schemas.microsoft.com/office/drawing/2014/main" id="{93DE1D13-08D2-4C78-B4EC-E61F2434B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648200"/>
            <a:ext cx="1752600" cy="457200"/>
          </a:xfrm>
          <a:prstGeom prst="rect">
            <a:avLst/>
          </a:prstGeom>
          <a:solidFill>
            <a:srgbClr val="FFCC00"/>
          </a:solidFill>
          <a:ln w="22225">
            <a:solidFill>
              <a:srgbClr val="FF6600"/>
            </a:solidFill>
            <a:miter lim="800000"/>
            <a:headEnd/>
            <a:tailEnd/>
          </a:ln>
        </p:spPr>
        <p:txBody>
          <a:bodyPr wrap="none" lIns="90000" tIns="46800" rIns="90000" bIns="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8" name="Rectangle 29">
            <a:extLst>
              <a:ext uri="{FF2B5EF4-FFF2-40B4-BE49-F238E27FC236}">
                <a16:creationId xmlns:a16="http://schemas.microsoft.com/office/drawing/2014/main" id="{D750A258-333A-4CCC-8892-886633AA6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6096000"/>
            <a:ext cx="1752600" cy="457200"/>
          </a:xfrm>
          <a:prstGeom prst="rect">
            <a:avLst/>
          </a:prstGeom>
          <a:solidFill>
            <a:srgbClr val="808080"/>
          </a:solidFill>
          <a:ln w="22225">
            <a:solidFill>
              <a:srgbClr val="FF6600"/>
            </a:solidFill>
            <a:miter lim="800000"/>
            <a:headEnd/>
            <a:tailEnd/>
          </a:ln>
        </p:spPr>
        <p:txBody>
          <a:bodyPr wrap="none" lIns="90000" tIns="46800" rIns="90000" bIns="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9" name="Oval 30">
            <a:extLst>
              <a:ext uri="{FF2B5EF4-FFF2-40B4-BE49-F238E27FC236}">
                <a16:creationId xmlns:a16="http://schemas.microsoft.com/office/drawing/2014/main" id="{D8565811-0032-47F0-A8B3-377E2C6A4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5181600"/>
            <a:ext cx="838200" cy="838200"/>
          </a:xfrm>
          <a:prstGeom prst="ellipse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0" name="AutoShape 31">
            <a:extLst>
              <a:ext uri="{FF2B5EF4-FFF2-40B4-BE49-F238E27FC236}">
                <a16:creationId xmlns:a16="http://schemas.microsoft.com/office/drawing/2014/main" id="{AD152253-E4BB-4DC1-899D-EFC010377F5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858000" y="4953000"/>
            <a:ext cx="533400" cy="609600"/>
          </a:xfrm>
          <a:prstGeom prst="downArrow">
            <a:avLst>
              <a:gd name="adj1" fmla="val 50000"/>
              <a:gd name="adj2" fmla="val 28571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1" name="Object 70">
            <a:extLst>
              <a:ext uri="{FF2B5EF4-FFF2-40B4-BE49-F238E27FC236}">
                <a16:creationId xmlns:a16="http://schemas.microsoft.com/office/drawing/2014/main" id="{F490DD64-A8DF-4F7F-83AD-19084F0E459C}"/>
              </a:ext>
            </a:extLst>
          </p:cNvPr>
          <p:cNvGraphicFramePr>
            <a:graphicFrameLocks/>
          </p:cNvGraphicFramePr>
          <p:nvPr/>
        </p:nvGraphicFramePr>
        <p:xfrm>
          <a:off x="5643563" y="5072063"/>
          <a:ext cx="11239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47" name="公式" r:id="rId12" imgW="466680" imgH="190432" progId="Equation.3">
                  <p:embed/>
                </p:oleObj>
              </mc:Choice>
              <mc:Fallback>
                <p:oleObj name="公式" r:id="rId12" imgW="466680" imgH="190432" progId="Equation.3">
                  <p:embed/>
                  <p:pic>
                    <p:nvPicPr>
                      <p:cNvPr id="111" name="Object 70">
                        <a:extLst>
                          <a:ext uri="{FF2B5EF4-FFF2-40B4-BE49-F238E27FC236}">
                            <a16:creationId xmlns:a16="http://schemas.microsoft.com/office/drawing/2014/main" id="{F490DD64-A8DF-4F7F-83AD-19084F0E459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5072063"/>
                        <a:ext cx="11239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71">
            <a:extLst>
              <a:ext uri="{FF2B5EF4-FFF2-40B4-BE49-F238E27FC236}">
                <a16:creationId xmlns:a16="http://schemas.microsoft.com/office/drawing/2014/main" id="{5B83D22B-E47A-484F-B507-2D5C230D29A7}"/>
              </a:ext>
            </a:extLst>
          </p:cNvPr>
          <p:cNvGraphicFramePr>
            <a:graphicFrameLocks/>
          </p:cNvGraphicFramePr>
          <p:nvPr/>
        </p:nvGraphicFramePr>
        <p:xfrm>
          <a:off x="7707313" y="5410200"/>
          <a:ext cx="8651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48" name="Equation" r:id="rId14" imgW="352304" imgH="152468" progId="Equation.3">
                  <p:embed/>
                </p:oleObj>
              </mc:Choice>
              <mc:Fallback>
                <p:oleObj name="Equation" r:id="rId14" imgW="352304" imgH="152468" progId="Equation.3">
                  <p:embed/>
                  <p:pic>
                    <p:nvPicPr>
                      <p:cNvPr id="112" name="Object 71">
                        <a:extLst>
                          <a:ext uri="{FF2B5EF4-FFF2-40B4-BE49-F238E27FC236}">
                            <a16:creationId xmlns:a16="http://schemas.microsoft.com/office/drawing/2014/main" id="{5B83D22B-E47A-484F-B507-2D5C230D2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7313" y="5410200"/>
                        <a:ext cx="8651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72">
            <a:extLst>
              <a:ext uri="{FF2B5EF4-FFF2-40B4-BE49-F238E27FC236}">
                <a16:creationId xmlns:a16="http://schemas.microsoft.com/office/drawing/2014/main" id="{6771A53E-EC5C-41ED-8D4A-1AAF676B0910}"/>
              </a:ext>
            </a:extLst>
          </p:cNvPr>
          <p:cNvGraphicFramePr>
            <a:graphicFrameLocks/>
          </p:cNvGraphicFramePr>
          <p:nvPr/>
        </p:nvGraphicFramePr>
        <p:xfrm>
          <a:off x="6629400" y="4648200"/>
          <a:ext cx="9810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49" name="Equation" r:id="rId16" imgW="400012" imgH="190432" progId="Equation.3">
                  <p:embed/>
                </p:oleObj>
              </mc:Choice>
              <mc:Fallback>
                <p:oleObj name="Equation" r:id="rId16" imgW="400012" imgH="190432" progId="Equation.3">
                  <p:embed/>
                  <p:pic>
                    <p:nvPicPr>
                      <p:cNvPr id="113" name="Object 72">
                        <a:extLst>
                          <a:ext uri="{FF2B5EF4-FFF2-40B4-BE49-F238E27FC236}">
                            <a16:creationId xmlns:a16="http://schemas.microsoft.com/office/drawing/2014/main" id="{6771A53E-EC5C-41ED-8D4A-1AAF676B09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648200"/>
                        <a:ext cx="9810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73">
            <a:extLst>
              <a:ext uri="{FF2B5EF4-FFF2-40B4-BE49-F238E27FC236}">
                <a16:creationId xmlns:a16="http://schemas.microsoft.com/office/drawing/2014/main" id="{DE665F6D-1D45-4CCE-95C7-C4381D6645CA}"/>
              </a:ext>
            </a:extLst>
          </p:cNvPr>
          <p:cNvGraphicFramePr>
            <a:graphicFrameLocks/>
          </p:cNvGraphicFramePr>
          <p:nvPr/>
        </p:nvGraphicFramePr>
        <p:xfrm>
          <a:off x="6934200" y="6172200"/>
          <a:ext cx="3746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50" name="Equation" r:id="rId18" imgW="133337" imgH="190432" progId="Equation.3">
                  <p:embed/>
                </p:oleObj>
              </mc:Choice>
              <mc:Fallback>
                <p:oleObj name="Equation" r:id="rId18" imgW="133337" imgH="190432" progId="Equation.3">
                  <p:embed/>
                  <p:pic>
                    <p:nvPicPr>
                      <p:cNvPr id="114" name="Object 73">
                        <a:extLst>
                          <a:ext uri="{FF2B5EF4-FFF2-40B4-BE49-F238E27FC236}">
                            <a16:creationId xmlns:a16="http://schemas.microsoft.com/office/drawing/2014/main" id="{DE665F6D-1D45-4CCE-95C7-C4381D6645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6172200"/>
                        <a:ext cx="3746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AutoShape 36">
            <a:extLst>
              <a:ext uri="{FF2B5EF4-FFF2-40B4-BE49-F238E27FC236}">
                <a16:creationId xmlns:a16="http://schemas.microsoft.com/office/drawing/2014/main" id="{93CC0C2F-1648-4593-B2F7-6ABB09CC754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858000" y="5562600"/>
            <a:ext cx="533400" cy="609600"/>
          </a:xfrm>
          <a:prstGeom prst="downArrow">
            <a:avLst>
              <a:gd name="adj1" fmla="val 50000"/>
              <a:gd name="adj2" fmla="val 28571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6" name="Object 74">
            <a:extLst>
              <a:ext uri="{FF2B5EF4-FFF2-40B4-BE49-F238E27FC236}">
                <a16:creationId xmlns:a16="http://schemas.microsoft.com/office/drawing/2014/main" id="{CBD66E8B-4FCA-48EA-8A8A-B2B7DA40CC14}"/>
              </a:ext>
            </a:extLst>
          </p:cNvPr>
          <p:cNvGraphicFramePr>
            <a:graphicFrameLocks/>
          </p:cNvGraphicFramePr>
          <p:nvPr/>
        </p:nvGraphicFramePr>
        <p:xfrm>
          <a:off x="6296025" y="5638800"/>
          <a:ext cx="4603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51" name="Equation" r:id="rId20" imgW="171565" imgH="190432" progId="Equation.3">
                  <p:embed/>
                </p:oleObj>
              </mc:Choice>
              <mc:Fallback>
                <p:oleObj name="Equation" r:id="rId20" imgW="171565" imgH="190432" progId="Equation.3">
                  <p:embed/>
                  <p:pic>
                    <p:nvPicPr>
                      <p:cNvPr id="116" name="Object 74">
                        <a:extLst>
                          <a:ext uri="{FF2B5EF4-FFF2-40B4-BE49-F238E27FC236}">
                            <a16:creationId xmlns:a16="http://schemas.microsoft.com/office/drawing/2014/main" id="{CBD66E8B-4FCA-48EA-8A8A-B2B7DA40CC1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6025" y="5638800"/>
                        <a:ext cx="4603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38">
            <a:extLst>
              <a:ext uri="{FF2B5EF4-FFF2-40B4-BE49-F238E27FC236}">
                <a16:creationId xmlns:a16="http://schemas.microsoft.com/office/drawing/2014/main" id="{CDC36B49-DD79-4C4C-83CF-93C95ACE7DD9}"/>
              </a:ext>
            </a:extLst>
          </p:cNvPr>
          <p:cNvGrpSpPr>
            <a:grpSpLocks/>
          </p:cNvGrpSpPr>
          <p:nvPr/>
        </p:nvGrpSpPr>
        <p:grpSpPr bwMode="auto">
          <a:xfrm>
            <a:off x="714375" y="1736725"/>
            <a:ext cx="6858000" cy="549275"/>
            <a:chOff x="1785938" y="1714500"/>
            <a:chExt cx="6858000" cy="549275"/>
          </a:xfrm>
        </p:grpSpPr>
        <p:sp>
          <p:nvSpPr>
            <p:cNvPr id="16421" name="Text Box 4">
              <a:extLst>
                <a:ext uri="{FF2B5EF4-FFF2-40B4-BE49-F238E27FC236}">
                  <a16:creationId xmlns:a16="http://schemas.microsoft.com/office/drawing/2014/main" id="{F90286F4-2939-4202-932D-DE60978E4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938" y="1714500"/>
              <a:ext cx="68580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zh-CN" altLang="en-US">
                  <a:solidFill>
                    <a:schemeClr val="bg1"/>
                  </a:solidFill>
                  <a:ea typeface="楷体_GB2312" pitchFamily="49" charset="-122"/>
                </a:rPr>
                <a:t>那么热机效率能否</a:t>
              </a:r>
              <a:r>
                <a:rPr lang="zh-CN" altLang="en-US">
                  <a:solidFill>
                    <a:srgbClr val="FFFF00"/>
                  </a:solidFill>
                  <a:ea typeface="楷体_GB2312" pitchFamily="49" charset="-122"/>
                </a:rPr>
                <a:t>等于 </a:t>
              </a:r>
              <a:r>
                <a:rPr lang="en-US" altLang="zh-CN">
                  <a:solidFill>
                    <a:srgbClr val="FFFF00"/>
                  </a:solidFill>
                  <a:ea typeface="楷体_GB2312" pitchFamily="49" charset="-122"/>
                </a:rPr>
                <a:t>100%</a:t>
              </a:r>
              <a:r>
                <a:rPr lang="zh-CN" altLang="en-US">
                  <a:solidFill>
                    <a:schemeClr val="bg1"/>
                  </a:solidFill>
                  <a:ea typeface="楷体_GB2312" pitchFamily="49" charset="-122"/>
                </a:rPr>
                <a:t>（            ）呢？  </a:t>
              </a:r>
            </a:p>
          </p:txBody>
        </p:sp>
        <p:graphicFrame>
          <p:nvGraphicFramePr>
            <p:cNvPr id="16422" name="Object 75">
              <a:extLst>
                <a:ext uri="{FF2B5EF4-FFF2-40B4-BE49-F238E27FC236}">
                  <a16:creationId xmlns:a16="http://schemas.microsoft.com/office/drawing/2014/main" id="{98869F27-FBF5-4BFB-8DE4-4AB0E6262CF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6143625" y="1824038"/>
            <a:ext cx="809625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352" name="公式" r:id="rId22" imgW="923880" imgH="390661" progId="Equation.3">
                    <p:embed/>
                  </p:oleObj>
                </mc:Choice>
                <mc:Fallback>
                  <p:oleObj name="公式" r:id="rId22" imgW="923880" imgH="390661" progId="Equation.3">
                    <p:embed/>
                    <p:pic>
                      <p:nvPicPr>
                        <p:cNvPr id="16422" name="Object 75">
                          <a:extLst>
                            <a:ext uri="{FF2B5EF4-FFF2-40B4-BE49-F238E27FC236}">
                              <a16:creationId xmlns:a16="http://schemas.microsoft.com/office/drawing/2014/main" id="{98869F27-FBF5-4BFB-8DE4-4AB0E6262CF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3625" y="1824038"/>
                          <a:ext cx="809625" cy="357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15" name="灯片编号占位符 1">
            <a:extLst>
              <a:ext uri="{FF2B5EF4-FFF2-40B4-BE49-F238E27FC236}">
                <a16:creationId xmlns:a16="http://schemas.microsoft.com/office/drawing/2014/main" id="{057F6E0E-6256-4DD1-8C25-8D5CBC08883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319D6B-95F5-494F-A698-7DF83D749687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BD9ECAC-D57B-4923-8DF9-53393F627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1143000"/>
            <a:ext cx="178593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热机效率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2" name="右箭头 41">
            <a:extLst>
              <a:ext uri="{FF2B5EF4-FFF2-40B4-BE49-F238E27FC236}">
                <a16:creationId xmlns:a16="http://schemas.microsoft.com/office/drawing/2014/main" id="{D3227C50-A239-4425-9815-F3E8E3CD0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1285875"/>
            <a:ext cx="714375" cy="285750"/>
          </a:xfrm>
          <a:prstGeom prst="rightArrow">
            <a:avLst>
              <a:gd name="adj1" fmla="val 50000"/>
              <a:gd name="adj2" fmla="val 764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组合 44">
            <a:extLst>
              <a:ext uri="{FF2B5EF4-FFF2-40B4-BE49-F238E27FC236}">
                <a16:creationId xmlns:a16="http://schemas.microsoft.com/office/drawing/2014/main" id="{A6F3BF74-770A-42C4-9FBE-3BE3403EB4AD}"/>
              </a:ext>
            </a:extLst>
          </p:cNvPr>
          <p:cNvGrpSpPr>
            <a:grpSpLocks/>
          </p:cNvGrpSpPr>
          <p:nvPr/>
        </p:nvGrpSpPr>
        <p:grpSpPr bwMode="auto">
          <a:xfrm>
            <a:off x="6286500" y="1000125"/>
            <a:ext cx="1935163" cy="857250"/>
            <a:chOff x="6286512" y="1000108"/>
            <a:chExt cx="1935162" cy="857250"/>
          </a:xfrm>
        </p:grpSpPr>
        <p:graphicFrame>
          <p:nvGraphicFramePr>
            <p:cNvPr id="16419" name="Object 76">
              <a:extLst>
                <a:ext uri="{FF2B5EF4-FFF2-40B4-BE49-F238E27FC236}">
                  <a16:creationId xmlns:a16="http://schemas.microsoft.com/office/drawing/2014/main" id="{824A4D84-6BBF-451F-B7D0-46411F01305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6286512" y="1000108"/>
            <a:ext cx="1935162" cy="857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353" name="公式" r:id="rId24" imgW="923880" imgH="400152" progId="Equation.3">
                    <p:embed/>
                  </p:oleObj>
                </mc:Choice>
                <mc:Fallback>
                  <p:oleObj name="公式" r:id="rId24" imgW="923880" imgH="400152" progId="Equation.3">
                    <p:embed/>
                    <p:pic>
                      <p:nvPicPr>
                        <p:cNvPr id="16419" name="Object 76">
                          <a:extLst>
                            <a:ext uri="{FF2B5EF4-FFF2-40B4-BE49-F238E27FC236}">
                              <a16:creationId xmlns:a16="http://schemas.microsoft.com/office/drawing/2014/main" id="{824A4D84-6BBF-451F-B7D0-46411F01305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6512" y="1000108"/>
                          <a:ext cx="1935162" cy="857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420" name="直接连接符 43">
              <a:extLst>
                <a:ext uri="{FF2B5EF4-FFF2-40B4-BE49-F238E27FC236}">
                  <a16:creationId xmlns:a16="http://schemas.microsoft.com/office/drawing/2014/main" id="{B0D384E0-9B4A-484E-A748-92EBD87B89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072330" y="1357298"/>
              <a:ext cx="500066" cy="71438"/>
            </a:xfrm>
            <a:prstGeom prst="line">
              <a:avLst/>
            </a:prstGeom>
            <a:noFill/>
            <a:ln w="22225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19" grpId="0" autoUpdateAnimBg="0"/>
      <p:bldP spid="9220" grpId="0"/>
      <p:bldP spid="87" grpId="0" animBg="1"/>
      <p:bldP spid="88" grpId="0" animBg="1"/>
      <p:bldP spid="89" grpId="0" animBg="1"/>
      <p:bldP spid="90" grpId="0" animBg="1"/>
      <p:bldP spid="91" grpId="0" animBg="1"/>
      <p:bldP spid="102" grpId="0" autoUpdateAnimBg="0"/>
      <p:bldP spid="103" grpId="0" autoUpdateAnimBg="0"/>
      <p:bldP spid="104" grpId="0" autoUpdateAnimBg="0"/>
      <p:bldP spid="105" grpId="0" autoUpdateAnimBg="0"/>
      <p:bldP spid="106" grpId="0" autoUpdateAnimBg="0"/>
      <p:bldP spid="107" grpId="0" animBg="1"/>
      <p:bldP spid="108" grpId="0" animBg="1"/>
      <p:bldP spid="109" grpId="0" animBg="1"/>
      <p:bldP spid="110" grpId="0" animBg="1"/>
      <p:bldP spid="115" grpId="0" animBg="1"/>
      <p:bldP spid="41" grpId="0"/>
      <p:bldP spid="4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>
            <a:extLst>
              <a:ext uri="{FF2B5EF4-FFF2-40B4-BE49-F238E27FC236}">
                <a16:creationId xmlns:a16="http://schemas.microsoft.com/office/drawing/2014/main" id="{F66812CD-E263-48ED-AD5A-5EF6C453B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214313"/>
            <a:ext cx="8320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</a:rPr>
              <a:t>1. </a:t>
            </a:r>
            <a:r>
              <a:rPr lang="zh-CN" altLang="en-US">
                <a:solidFill>
                  <a:srgbClr val="FFFF00"/>
                </a:solidFill>
              </a:rPr>
              <a:t>热力学第二定律的开尔文表述</a:t>
            </a: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1851</a:t>
            </a:r>
            <a:r>
              <a:rPr lang="zh-CN" altLang="en-US">
                <a:solidFill>
                  <a:schemeClr val="bg1"/>
                </a:solidFill>
              </a:rPr>
              <a:t>年，英国</a:t>
            </a:r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开尔文）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D0F26403-C99B-42CA-B7BE-2834F430A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95325"/>
            <a:ext cx="79200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不可能只从</a:t>
            </a:r>
            <a:r>
              <a:rPr lang="zh-CN" altLang="en-US" dirty="0">
                <a:solidFill>
                  <a:srgbClr val="FFFF00"/>
                </a:solidFill>
              </a:rPr>
              <a:t>单一热源</a:t>
            </a:r>
            <a:r>
              <a:rPr lang="zh-CN" altLang="en-US" dirty="0">
                <a:solidFill>
                  <a:schemeClr val="bg1"/>
                </a:solidFill>
              </a:rPr>
              <a:t>吸收热量，使之完全转化为功而</a:t>
            </a:r>
            <a:r>
              <a:rPr lang="zh-CN" altLang="en-US" dirty="0">
                <a:solidFill>
                  <a:srgbClr val="FFFF00"/>
                </a:solidFill>
              </a:rPr>
              <a:t>不引起其它变化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37D9603B-7355-40C1-BADD-B07BF08CC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143125"/>
            <a:ext cx="5032375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(1)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开尔文表述的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另一叙述形式：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第</a:t>
            </a:r>
            <a:endParaRPr lang="en-US" altLang="zh-CN">
              <a:solidFill>
                <a:schemeClr val="bg1"/>
              </a:solidFill>
              <a:ea typeface="楷体_GB2312" pitchFamily="49" charset="-122"/>
            </a:endParaRPr>
          </a:p>
          <a:p>
            <a:pPr eaLnBrk="1" hangingPunct="1">
              <a:lnSpc>
                <a:spcPts val="32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    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二类永动机是不可能制成的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34D292B2-B4F5-4599-ABC6-FA279272D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700213"/>
            <a:ext cx="180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10246" name="AutoShape 6">
            <a:extLst>
              <a:ext uri="{FF2B5EF4-FFF2-40B4-BE49-F238E27FC236}">
                <a16:creationId xmlns:a16="http://schemas.microsoft.com/office/drawing/2014/main" id="{92B3171B-90B0-4AD9-A43E-3368D898C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28775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B8ACDDA7-E5B2-4221-BECA-15A9960BB2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4143375"/>
          <a:ext cx="230822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137" name="公式" r:id="rId4" imgW="2600382" imgH="885723" progId="Equation.3">
                  <p:embed/>
                </p:oleObj>
              </mc:Choice>
              <mc:Fallback>
                <p:oleObj name="公式" r:id="rId4" imgW="2600382" imgH="885723" progId="Equation.3">
                  <p:embed/>
                  <p:pic>
                    <p:nvPicPr>
                      <p:cNvPr id="10247" name="Object 7">
                        <a:extLst>
                          <a:ext uri="{FF2B5EF4-FFF2-40B4-BE49-F238E27FC236}">
                            <a16:creationId xmlns:a16="http://schemas.microsoft.com/office/drawing/2014/main" id="{B8ACDDA7-E5B2-4221-BECA-15A9960BB2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4143375"/>
                        <a:ext cx="230822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8">
            <a:extLst>
              <a:ext uri="{FF2B5EF4-FFF2-40B4-BE49-F238E27FC236}">
                <a16:creationId xmlns:a16="http://schemas.microsoft.com/office/drawing/2014/main" id="{291752C2-F820-4545-9C39-3A24C1956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3143250"/>
            <a:ext cx="4824413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热力学第二定律的开尔文表述  </a:t>
            </a:r>
          </a:p>
          <a:p>
            <a:pPr eaLnBrk="1" hangingPunct="1">
              <a:lnSpc>
                <a:spcPts val="32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     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实际上表明了</a:t>
            </a:r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B189D69F-D43D-40F4-8B71-F232E34B5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000625"/>
            <a:ext cx="795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实质：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自发过程中，功热转换过程具有一定的方向性 </a:t>
            </a:r>
          </a:p>
        </p:txBody>
      </p:sp>
      <p:sp>
        <p:nvSpPr>
          <p:cNvPr id="10250" name="Text Box 10">
            <a:extLst>
              <a:ext uri="{FF2B5EF4-FFF2-40B4-BE49-F238E27FC236}">
                <a16:creationId xmlns:a16="http://schemas.microsoft.com/office/drawing/2014/main" id="{352D3D52-2743-4888-A9C0-A06EDBF4B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3" y="5564188"/>
            <a:ext cx="5307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</a:rPr>
              <a:t>2. </a:t>
            </a:r>
            <a:r>
              <a:rPr lang="zh-CN" altLang="en-US">
                <a:solidFill>
                  <a:srgbClr val="FFFF00"/>
                </a:solidFill>
              </a:rPr>
              <a:t>热力学第二定律的克劳修斯表述</a:t>
            </a:r>
          </a:p>
        </p:txBody>
      </p:sp>
      <p:sp>
        <p:nvSpPr>
          <p:cNvPr id="10251" name="Text Box 11">
            <a:extLst>
              <a:ext uri="{FF2B5EF4-FFF2-40B4-BE49-F238E27FC236}">
                <a16:creationId xmlns:a16="http://schemas.microsoft.com/office/drawing/2014/main" id="{64CC402D-5364-417B-A277-800889CB6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6072188"/>
            <a:ext cx="8286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不可能使热量从低温物体传向高温物体而</a:t>
            </a:r>
            <a:r>
              <a:rPr lang="zh-CN" altLang="en-US" dirty="0">
                <a:solidFill>
                  <a:srgbClr val="FFFF00"/>
                </a:solidFill>
              </a:rPr>
              <a:t>不引起其它变化</a:t>
            </a:r>
            <a:r>
              <a:rPr lang="zh-CN" altLang="en-US" dirty="0">
                <a:solidFill>
                  <a:schemeClr val="bg1"/>
                </a:solidFill>
              </a:rPr>
              <a:t>。 </a:t>
            </a:r>
          </a:p>
        </p:txBody>
      </p:sp>
      <p:pic>
        <p:nvPicPr>
          <p:cNvPr id="10252" name="Picture 12" descr="理想热机">
            <a:extLst>
              <a:ext uri="{FF2B5EF4-FFF2-40B4-BE49-F238E27FC236}">
                <a16:creationId xmlns:a16="http://schemas.microsoft.com/office/drawing/2014/main" id="{8F03269E-B285-4B16-9AAE-2DE67A2C5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2" t="6284" r="6390" b="7651"/>
          <a:stretch>
            <a:fillRect/>
          </a:stretch>
        </p:blipFill>
        <p:spPr bwMode="auto">
          <a:xfrm>
            <a:off x="5929313" y="1500188"/>
            <a:ext cx="2771775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5" name="灯片编号占位符 1">
            <a:extLst>
              <a:ext uri="{FF2B5EF4-FFF2-40B4-BE49-F238E27FC236}">
                <a16:creationId xmlns:a16="http://schemas.microsoft.com/office/drawing/2014/main" id="{A44295F0-3257-4DCC-BBA5-867F70B6E8F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6A69CA-7846-48F5-BED9-D8B0BBE47A07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10243" grpId="0" autoUpdateAnimBg="0"/>
      <p:bldP spid="10244" grpId="0" autoUpdateAnimBg="0"/>
      <p:bldP spid="10245" grpId="0" autoUpdateAnimBg="0"/>
      <p:bldP spid="10246" grpId="0" animBg="1"/>
      <p:bldP spid="10248" grpId="0"/>
      <p:bldP spid="10249" grpId="0" autoUpdateAnimBg="0"/>
      <p:bldP spid="10250" grpId="0" autoUpdateAnimBg="0"/>
      <p:bldP spid="102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3" name="AutoShape 60">
            <a:extLst>
              <a:ext uri="{FF2B5EF4-FFF2-40B4-BE49-F238E27FC236}">
                <a16:creationId xmlns:a16="http://schemas.microsoft.com/office/drawing/2014/main" id="{6A537BF0-DFA4-42A8-8758-C79381412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75" y="4918075"/>
            <a:ext cx="1295400" cy="762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制冷机</a:t>
            </a:r>
          </a:p>
        </p:txBody>
      </p:sp>
      <p:sp>
        <p:nvSpPr>
          <p:cNvPr id="9284" name="AutoShape 25">
            <a:extLst>
              <a:ext uri="{FF2B5EF4-FFF2-40B4-BE49-F238E27FC236}">
                <a16:creationId xmlns:a16="http://schemas.microsoft.com/office/drawing/2014/main" id="{0C703233-B942-440F-9430-B00D16691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4986338"/>
            <a:ext cx="1295400" cy="762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热机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772BA2BE-A9EF-45E8-8C6A-DB44FB2F6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143250"/>
            <a:ext cx="6572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实质：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自发过程中</a:t>
            </a:r>
            <a:r>
              <a:rPr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热传导具有方向性</a:t>
            </a:r>
            <a:r>
              <a:rPr lang="zh-CN" altLang="en-US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38B52FE-8480-4961-A357-019FDF06256C}"/>
              </a:ext>
            </a:extLst>
          </p:cNvPr>
          <p:cNvGrpSpPr>
            <a:grpSpLocks/>
          </p:cNvGrpSpPr>
          <p:nvPr/>
        </p:nvGrpSpPr>
        <p:grpSpPr bwMode="auto">
          <a:xfrm>
            <a:off x="3071813" y="2366963"/>
            <a:ext cx="1604962" cy="781050"/>
            <a:chOff x="2138" y="3268"/>
            <a:chExt cx="508" cy="248"/>
          </a:xfrm>
        </p:grpSpPr>
        <p:graphicFrame>
          <p:nvGraphicFramePr>
            <p:cNvPr id="20545" name="Object 4">
              <a:extLst>
                <a:ext uri="{FF2B5EF4-FFF2-40B4-BE49-F238E27FC236}">
                  <a16:creationId xmlns:a16="http://schemas.microsoft.com/office/drawing/2014/main" id="{FAD5E8DF-7036-4362-BFAF-FC1823F93E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38" y="3268"/>
            <a:ext cx="50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391" name="公式" r:id="rId3" imgW="781063" imgH="361882" progId="Equation.3">
                    <p:embed/>
                  </p:oleObj>
                </mc:Choice>
                <mc:Fallback>
                  <p:oleObj name="公式" r:id="rId3" imgW="781063" imgH="361882" progId="Equation.3">
                    <p:embed/>
                    <p:pic>
                      <p:nvPicPr>
                        <p:cNvPr id="20545" name="Object 4">
                          <a:extLst>
                            <a:ext uri="{FF2B5EF4-FFF2-40B4-BE49-F238E27FC236}">
                              <a16:creationId xmlns:a16="http://schemas.microsoft.com/office/drawing/2014/main" id="{FAD5E8DF-7036-4362-BFAF-FC1823F93E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8" y="3268"/>
                          <a:ext cx="50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46" name="Line 5">
              <a:extLst>
                <a:ext uri="{FF2B5EF4-FFF2-40B4-BE49-F238E27FC236}">
                  <a16:creationId xmlns:a16="http://schemas.microsoft.com/office/drawing/2014/main" id="{878A825A-A899-496E-8085-D0B03D4D03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54" y="3336"/>
              <a:ext cx="68" cy="113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Text Box 6">
            <a:extLst>
              <a:ext uri="{FF2B5EF4-FFF2-40B4-BE49-F238E27FC236}">
                <a16:creationId xmlns:a16="http://schemas.microsoft.com/office/drawing/2014/main" id="{B9F891EC-6872-4723-9CA6-7BF09231D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77900"/>
            <a:ext cx="5832475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(1)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克劳修斯表述的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另一叙述形式：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理想</a:t>
            </a:r>
            <a:endParaRPr lang="en-US" altLang="zh-CN">
              <a:solidFill>
                <a:schemeClr val="bg1"/>
              </a:solidFill>
              <a:ea typeface="楷体_GB2312" pitchFamily="49" charset="-122"/>
            </a:endParaRPr>
          </a:p>
          <a:p>
            <a:pPr eaLnBrk="1" hangingPunct="1">
              <a:lnSpc>
                <a:spcPts val="32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    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制冷机是不可能制成的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8F89F98-F12D-4E76-9F4D-7C5899181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568325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A384C74A-0A38-406B-88BE-93942CF4E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" y="1857375"/>
            <a:ext cx="56499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热力学第二定律的克劳修斯表述实际</a:t>
            </a:r>
            <a:endParaRPr lang="en-US" altLang="zh-CN">
              <a:solidFill>
                <a:schemeClr val="bg1"/>
              </a:solidFill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  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上表明了</a:t>
            </a:r>
          </a:p>
        </p:txBody>
      </p:sp>
      <p:pic>
        <p:nvPicPr>
          <p:cNvPr id="9" name="Picture 9" descr="理想致冷机">
            <a:extLst>
              <a:ext uri="{FF2B5EF4-FFF2-40B4-BE49-F238E27FC236}">
                <a16:creationId xmlns:a16="http://schemas.microsoft.com/office/drawing/2014/main" id="{BE61B3A9-DE03-4551-B819-97D40F2DE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60" t="4814" r="23518" b="8379"/>
          <a:stretch>
            <a:fillRect/>
          </a:stretch>
        </p:blipFill>
        <p:spPr bwMode="auto">
          <a:xfrm>
            <a:off x="6650038" y="642938"/>
            <a:ext cx="1636712" cy="335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3B5568FE-0C9B-40EB-A711-6478A02E1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8" y="495300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9C82FBE2-4E00-4EEC-8EAE-DF139F588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3643313"/>
            <a:ext cx="6067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</a:rPr>
              <a:t>3. </a:t>
            </a:r>
            <a:r>
              <a:rPr lang="zh-CN" altLang="en-US">
                <a:solidFill>
                  <a:srgbClr val="FFFF00"/>
                </a:solidFill>
              </a:rPr>
              <a:t>热机、制冷机的能流图示方法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F67F8E88-3236-46F6-8A2E-E9AAC16E1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4357688"/>
            <a:ext cx="6096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FF00"/>
                </a:solidFill>
                <a:ea typeface="楷体_GB2312" pitchFamily="49" charset="-122"/>
              </a:rPr>
              <a:t>热机的能流图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D6AC4A69-04B2-4F25-8162-E1968F855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925" y="4283075"/>
            <a:ext cx="625475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FF00"/>
                </a:solidFill>
                <a:ea typeface="楷体_GB2312" pitchFamily="49" charset="-122"/>
              </a:rPr>
              <a:t>致冷机的能流图</a:t>
            </a:r>
          </a:p>
          <a:p>
            <a:pPr eaLnBrk="1" hangingPunct="1"/>
            <a:endParaRPr lang="en-US" altLang="zh-CN" sz="2000">
              <a:ea typeface="楷体_GB2312" pitchFamily="49" charset="-122"/>
            </a:endParaRP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BB0FE8BD-044E-4458-A21C-959705DD1D67}"/>
              </a:ext>
            </a:extLst>
          </p:cNvPr>
          <p:cNvGrpSpPr>
            <a:grpSpLocks/>
          </p:cNvGrpSpPr>
          <p:nvPr/>
        </p:nvGrpSpPr>
        <p:grpSpPr bwMode="auto">
          <a:xfrm>
            <a:off x="2606675" y="4927600"/>
            <a:ext cx="846138" cy="1295400"/>
            <a:chOff x="1487" y="2931"/>
            <a:chExt cx="533" cy="816"/>
          </a:xfrm>
        </p:grpSpPr>
        <p:sp>
          <p:nvSpPr>
            <p:cNvPr id="20542" name="Rectangle 15">
              <a:extLst>
                <a:ext uri="{FF2B5EF4-FFF2-40B4-BE49-F238E27FC236}">
                  <a16:creationId xmlns:a16="http://schemas.microsoft.com/office/drawing/2014/main" id="{855276A9-E8DC-4100-879F-C94346005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" y="2931"/>
              <a:ext cx="288" cy="81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43" name="Line 16">
              <a:extLst>
                <a:ext uri="{FF2B5EF4-FFF2-40B4-BE49-F238E27FC236}">
                  <a16:creationId xmlns:a16="http://schemas.microsoft.com/office/drawing/2014/main" id="{67C6CEEF-6ABB-4039-A539-62518B481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5" y="3475"/>
              <a:ext cx="0" cy="2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44" name="Object 17">
              <a:extLst>
                <a:ext uri="{FF2B5EF4-FFF2-40B4-BE49-F238E27FC236}">
                  <a16:creationId xmlns:a16="http://schemas.microsoft.com/office/drawing/2014/main" id="{D38C7F58-5BB4-48E1-9025-31BB421123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80" y="3448"/>
            <a:ext cx="24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392" name="公式" r:id="rId6" imgW="352304" imgH="390661" progId="Equation.3">
                    <p:embed/>
                  </p:oleObj>
                </mc:Choice>
                <mc:Fallback>
                  <p:oleObj name="公式" r:id="rId6" imgW="352304" imgH="390661" progId="Equation.3">
                    <p:embed/>
                    <p:pic>
                      <p:nvPicPr>
                        <p:cNvPr id="20544" name="Object 17">
                          <a:extLst>
                            <a:ext uri="{FF2B5EF4-FFF2-40B4-BE49-F238E27FC236}">
                              <a16:creationId xmlns:a16="http://schemas.microsoft.com/office/drawing/2014/main" id="{D38C7F58-5BB4-48E1-9025-31BB421123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0" y="3448"/>
                          <a:ext cx="24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6">
            <a:extLst>
              <a:ext uri="{FF2B5EF4-FFF2-40B4-BE49-F238E27FC236}">
                <a16:creationId xmlns:a16="http://schemas.microsoft.com/office/drawing/2014/main" id="{C2C7521B-482D-4B0A-93F6-BD74592BB2E4}"/>
              </a:ext>
            </a:extLst>
          </p:cNvPr>
          <p:cNvGrpSpPr>
            <a:grpSpLocks/>
          </p:cNvGrpSpPr>
          <p:nvPr/>
        </p:nvGrpSpPr>
        <p:grpSpPr bwMode="auto">
          <a:xfrm>
            <a:off x="2606675" y="4576763"/>
            <a:ext cx="685800" cy="422275"/>
            <a:chOff x="1487" y="2710"/>
            <a:chExt cx="432" cy="266"/>
          </a:xfrm>
        </p:grpSpPr>
        <p:grpSp>
          <p:nvGrpSpPr>
            <p:cNvPr id="20538" name="Group 27">
              <a:extLst>
                <a:ext uri="{FF2B5EF4-FFF2-40B4-BE49-F238E27FC236}">
                  <a16:creationId xmlns:a16="http://schemas.microsoft.com/office/drawing/2014/main" id="{9B595028-8F06-4A14-84BF-E2725A44FE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" y="2713"/>
              <a:ext cx="432" cy="263"/>
              <a:chOff x="1487" y="2713"/>
              <a:chExt cx="432" cy="263"/>
            </a:xfrm>
          </p:grpSpPr>
          <p:sp>
            <p:nvSpPr>
              <p:cNvPr id="20540" name="Rectangle 28">
                <a:extLst>
                  <a:ext uri="{FF2B5EF4-FFF2-40B4-BE49-F238E27FC236}">
                    <a16:creationId xmlns:a16="http://schemas.microsoft.com/office/drawing/2014/main" id="{FF41F0EB-8E2B-464C-87C5-B80852D3F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7" y="2713"/>
                <a:ext cx="432" cy="245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41" name="Line 29">
                <a:extLst>
                  <a:ext uri="{FF2B5EF4-FFF2-40B4-BE49-F238E27FC236}">
                    <a16:creationId xmlns:a16="http://schemas.microsoft.com/office/drawing/2014/main" id="{8E0974A7-E939-41A3-B0AC-2160E130D3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3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0539" name="Object 30">
              <a:extLst>
                <a:ext uri="{FF2B5EF4-FFF2-40B4-BE49-F238E27FC236}">
                  <a16:creationId xmlns:a16="http://schemas.microsoft.com/office/drawing/2014/main" id="{C05BF98A-426C-4C8F-98D3-B2EC850DF3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4" y="2710"/>
            <a:ext cx="21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393" name="公式" r:id="rId8" imgW="314382" imgH="390661" progId="Equation.3">
                    <p:embed/>
                  </p:oleObj>
                </mc:Choice>
                <mc:Fallback>
                  <p:oleObj name="公式" r:id="rId8" imgW="314382" imgH="390661" progId="Equation.3">
                    <p:embed/>
                    <p:pic>
                      <p:nvPicPr>
                        <p:cNvPr id="20539" name="Object 30">
                          <a:extLst>
                            <a:ext uri="{FF2B5EF4-FFF2-40B4-BE49-F238E27FC236}">
                              <a16:creationId xmlns:a16="http://schemas.microsoft.com/office/drawing/2014/main" id="{C05BF98A-426C-4C8F-98D3-B2EC850DF3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2710"/>
                          <a:ext cx="21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31">
            <a:extLst>
              <a:ext uri="{FF2B5EF4-FFF2-40B4-BE49-F238E27FC236}">
                <a16:creationId xmlns:a16="http://schemas.microsoft.com/office/drawing/2014/main" id="{388B1BB5-842F-4533-A26A-1A7BD0D255F0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4149725"/>
            <a:ext cx="2879725" cy="517525"/>
            <a:chOff x="911" y="2614"/>
            <a:chExt cx="1584" cy="326"/>
          </a:xfrm>
        </p:grpSpPr>
        <p:sp>
          <p:nvSpPr>
            <p:cNvPr id="20535" name="Rectangle 32">
              <a:extLst>
                <a:ext uri="{FF2B5EF4-FFF2-40B4-BE49-F238E27FC236}">
                  <a16:creationId xmlns:a16="http://schemas.microsoft.com/office/drawing/2014/main" id="{1005F4A5-A2E2-4931-B574-1A9286E4B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2678"/>
              <a:ext cx="1584" cy="245"/>
            </a:xfrm>
            <a:prstGeom prst="rect">
              <a:avLst/>
            </a:prstGeom>
            <a:gradFill rotWithShape="1">
              <a:gsLst>
                <a:gs pos="0">
                  <a:srgbClr val="762F47"/>
                </a:gs>
                <a:gs pos="50000">
                  <a:srgbClr val="FF6699"/>
                </a:gs>
                <a:gs pos="100000">
                  <a:srgbClr val="762F4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0536" name="Object 33">
              <a:extLst>
                <a:ext uri="{FF2B5EF4-FFF2-40B4-BE49-F238E27FC236}">
                  <a16:creationId xmlns:a16="http://schemas.microsoft.com/office/drawing/2014/main" id="{11950DE7-A848-4475-942D-D9827B1653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7" y="2614"/>
            <a:ext cx="249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394" name="Equation" r:id="rId10" imgW="133337" imgH="190432" progId="Equation.3">
                    <p:embed/>
                  </p:oleObj>
                </mc:Choice>
                <mc:Fallback>
                  <p:oleObj name="Equation" r:id="rId10" imgW="133337" imgH="190432" progId="Equation.3">
                    <p:embed/>
                    <p:pic>
                      <p:nvPicPr>
                        <p:cNvPr id="20536" name="Object 33">
                          <a:extLst>
                            <a:ext uri="{FF2B5EF4-FFF2-40B4-BE49-F238E27FC236}">
                              <a16:creationId xmlns:a16="http://schemas.microsoft.com/office/drawing/2014/main" id="{11950DE7-A848-4475-942D-D9827B1653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7" y="2614"/>
                          <a:ext cx="249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37" name="Text Box 34">
              <a:extLst>
                <a:ext uri="{FF2B5EF4-FFF2-40B4-BE49-F238E27FC236}">
                  <a16:creationId xmlns:a16="http://schemas.microsoft.com/office/drawing/2014/main" id="{8FB92962-6D64-47B3-97C4-66F217ED6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3" y="2614"/>
              <a:ext cx="7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高温热源</a:t>
              </a:r>
            </a:p>
          </p:txBody>
        </p:sp>
      </p:grpSp>
      <p:grpSp>
        <p:nvGrpSpPr>
          <p:cNvPr id="17" name="Group 35">
            <a:extLst>
              <a:ext uri="{FF2B5EF4-FFF2-40B4-BE49-F238E27FC236}">
                <a16:creationId xmlns:a16="http://schemas.microsoft.com/office/drawing/2014/main" id="{5F2AD620-EA9F-4946-AFD6-E3F2D79CB73B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6080125"/>
            <a:ext cx="2880651" cy="517525"/>
            <a:chOff x="911" y="3830"/>
            <a:chExt cx="1474" cy="326"/>
          </a:xfrm>
        </p:grpSpPr>
        <p:sp>
          <p:nvSpPr>
            <p:cNvPr id="20532" name="Rectangle 36">
              <a:extLst>
                <a:ext uri="{FF2B5EF4-FFF2-40B4-BE49-F238E27FC236}">
                  <a16:creationId xmlns:a16="http://schemas.microsoft.com/office/drawing/2014/main" id="{9271E3F1-349C-436A-8483-B1D302524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3884"/>
              <a:ext cx="1474" cy="236"/>
            </a:xfrm>
            <a:prstGeom prst="rect">
              <a:avLst/>
            </a:prstGeom>
            <a:gradFill rotWithShape="1">
              <a:gsLst>
                <a:gs pos="0">
                  <a:srgbClr val="521B00"/>
                </a:gs>
                <a:gs pos="50000">
                  <a:srgbClr val="993300"/>
                </a:gs>
                <a:gs pos="100000">
                  <a:srgbClr val="521B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0533" name="Object 37">
              <a:extLst>
                <a:ext uri="{FF2B5EF4-FFF2-40B4-BE49-F238E27FC236}">
                  <a16:creationId xmlns:a16="http://schemas.microsoft.com/office/drawing/2014/main" id="{71695A1C-3EB0-454B-9879-C0B2DE5E70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5" y="3830"/>
            <a:ext cx="268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395" name="Equation" r:id="rId12" imgW="152298" imgH="190432" progId="Equation.3">
                    <p:embed/>
                  </p:oleObj>
                </mc:Choice>
                <mc:Fallback>
                  <p:oleObj name="Equation" r:id="rId12" imgW="152298" imgH="190432" progId="Equation.3">
                    <p:embed/>
                    <p:pic>
                      <p:nvPicPr>
                        <p:cNvPr id="20533" name="Object 37">
                          <a:extLst>
                            <a:ext uri="{FF2B5EF4-FFF2-40B4-BE49-F238E27FC236}">
                              <a16:creationId xmlns:a16="http://schemas.microsoft.com/office/drawing/2014/main" id="{71695A1C-3EB0-454B-9879-C0B2DE5E70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5" y="3830"/>
                          <a:ext cx="268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34" name="Text Box 38">
              <a:extLst>
                <a:ext uri="{FF2B5EF4-FFF2-40B4-BE49-F238E27FC236}">
                  <a16:creationId xmlns:a16="http://schemas.microsoft.com/office/drawing/2014/main" id="{B5C8ED71-55EC-4D5D-A1B7-64008FC77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" y="3830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低温热源</a:t>
              </a:r>
            </a:p>
          </p:txBody>
        </p:sp>
      </p:grpSp>
      <p:grpSp>
        <p:nvGrpSpPr>
          <p:cNvPr id="18" name="Group 43">
            <a:extLst>
              <a:ext uri="{FF2B5EF4-FFF2-40B4-BE49-F238E27FC236}">
                <a16:creationId xmlns:a16="http://schemas.microsoft.com/office/drawing/2014/main" id="{B1340E40-8EBF-43AD-8D22-07E853D78D65}"/>
              </a:ext>
            </a:extLst>
          </p:cNvPr>
          <p:cNvGrpSpPr>
            <a:grpSpLocks/>
          </p:cNvGrpSpPr>
          <p:nvPr/>
        </p:nvGrpSpPr>
        <p:grpSpPr bwMode="auto">
          <a:xfrm>
            <a:off x="6770688" y="4918075"/>
            <a:ext cx="873125" cy="1295400"/>
            <a:chOff x="4264" y="3098"/>
            <a:chExt cx="550" cy="816"/>
          </a:xfrm>
        </p:grpSpPr>
        <p:sp>
          <p:nvSpPr>
            <p:cNvPr id="20528" name="Rectangle 44">
              <a:extLst>
                <a:ext uri="{FF2B5EF4-FFF2-40B4-BE49-F238E27FC236}">
                  <a16:creationId xmlns:a16="http://schemas.microsoft.com/office/drawing/2014/main" id="{58848CF2-4CDC-4467-A0CB-EDE26CB11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3098"/>
              <a:ext cx="288" cy="81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0529" name="Group 45">
              <a:extLst>
                <a:ext uri="{FF2B5EF4-FFF2-40B4-BE49-F238E27FC236}">
                  <a16:creationId xmlns:a16="http://schemas.microsoft.com/office/drawing/2014/main" id="{468B3D1E-BE81-4402-B93F-F1E84000EE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4" y="3597"/>
              <a:ext cx="360" cy="266"/>
              <a:chOff x="4454" y="3498"/>
              <a:chExt cx="360" cy="266"/>
            </a:xfrm>
          </p:grpSpPr>
          <p:sp>
            <p:nvSpPr>
              <p:cNvPr id="20530" name="Line 46">
                <a:extLst>
                  <a:ext uri="{FF2B5EF4-FFF2-40B4-BE49-F238E27FC236}">
                    <a16:creationId xmlns:a16="http://schemas.microsoft.com/office/drawing/2014/main" id="{9111C8D9-39FC-46E0-A62F-279CB8928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4" y="354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531" name="Object 47">
                <a:extLst>
                  <a:ext uri="{FF2B5EF4-FFF2-40B4-BE49-F238E27FC236}">
                    <a16:creationId xmlns:a16="http://schemas.microsoft.com/office/drawing/2014/main" id="{DDAE71B1-590A-45F1-BF05-E2F0B5EC03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2" y="3498"/>
              <a:ext cx="242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7396" name="公式" r:id="rId14" imgW="352304" imgH="390661" progId="Equation.3">
                      <p:embed/>
                    </p:oleObj>
                  </mc:Choice>
                  <mc:Fallback>
                    <p:oleObj name="公式" r:id="rId14" imgW="352304" imgH="390661" progId="Equation.3">
                      <p:embed/>
                      <p:pic>
                        <p:nvPicPr>
                          <p:cNvPr id="20531" name="Object 47">
                            <a:extLst>
                              <a:ext uri="{FF2B5EF4-FFF2-40B4-BE49-F238E27FC236}">
                                <a16:creationId xmlns:a16="http://schemas.microsoft.com/office/drawing/2014/main" id="{DDAE71B1-590A-45F1-BF05-E2F0B5EC034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2" y="3498"/>
                            <a:ext cx="242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0" name="Group 48">
            <a:extLst>
              <a:ext uri="{FF2B5EF4-FFF2-40B4-BE49-F238E27FC236}">
                <a16:creationId xmlns:a16="http://schemas.microsoft.com/office/drawing/2014/main" id="{09B18E4E-775F-421E-B2E4-38B614F8D134}"/>
              </a:ext>
            </a:extLst>
          </p:cNvPr>
          <p:cNvGrpSpPr>
            <a:grpSpLocks/>
          </p:cNvGrpSpPr>
          <p:nvPr/>
        </p:nvGrpSpPr>
        <p:grpSpPr bwMode="auto">
          <a:xfrm>
            <a:off x="5730875" y="6129338"/>
            <a:ext cx="2944813" cy="539750"/>
            <a:chOff x="3609" y="3861"/>
            <a:chExt cx="1584" cy="340"/>
          </a:xfrm>
        </p:grpSpPr>
        <p:sp>
          <p:nvSpPr>
            <p:cNvPr id="20525" name="Rectangle 49">
              <a:extLst>
                <a:ext uri="{FF2B5EF4-FFF2-40B4-BE49-F238E27FC236}">
                  <a16:creationId xmlns:a16="http://schemas.microsoft.com/office/drawing/2014/main" id="{A39E6089-A66A-4602-9399-32C679110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3875"/>
              <a:ext cx="1584" cy="274"/>
            </a:xfrm>
            <a:prstGeom prst="rect">
              <a:avLst/>
            </a:prstGeom>
            <a:gradFill rotWithShape="1">
              <a:gsLst>
                <a:gs pos="0">
                  <a:srgbClr val="471800"/>
                </a:gs>
                <a:gs pos="50000">
                  <a:srgbClr val="993300"/>
                </a:gs>
                <a:gs pos="100000">
                  <a:srgbClr val="4718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0526" name="Object 50">
              <a:extLst>
                <a:ext uri="{FF2B5EF4-FFF2-40B4-BE49-F238E27FC236}">
                  <a16:creationId xmlns:a16="http://schemas.microsoft.com/office/drawing/2014/main" id="{D0CFC543-DE78-4A34-80CB-1702B42B94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3" y="3875"/>
            <a:ext cx="268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397" name="Equation" r:id="rId16" imgW="152298" imgH="190432" progId="Equation.3">
                    <p:embed/>
                  </p:oleObj>
                </mc:Choice>
                <mc:Fallback>
                  <p:oleObj name="Equation" r:id="rId16" imgW="152298" imgH="190432" progId="Equation.3">
                    <p:embed/>
                    <p:pic>
                      <p:nvPicPr>
                        <p:cNvPr id="20526" name="Object 50">
                          <a:extLst>
                            <a:ext uri="{FF2B5EF4-FFF2-40B4-BE49-F238E27FC236}">
                              <a16:creationId xmlns:a16="http://schemas.microsoft.com/office/drawing/2014/main" id="{D0CFC543-DE78-4A34-80CB-1702B42B94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3" y="3875"/>
                          <a:ext cx="268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1">
                                <a:gsLst>
                                  <a:gs pos="0">
                                    <a:srgbClr val="007070"/>
                                  </a:gs>
                                  <a:gs pos="50000">
                                    <a:srgbClr val="009999"/>
                                  </a:gs>
                                  <a:gs pos="100000">
                                    <a:srgbClr val="007070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7" name="Text Box 51">
              <a:extLst>
                <a:ext uri="{FF2B5EF4-FFF2-40B4-BE49-F238E27FC236}">
                  <a16:creationId xmlns:a16="http://schemas.microsoft.com/office/drawing/2014/main" id="{092CDABD-4425-4859-96A4-7CB96E3B7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9" y="3861"/>
              <a:ext cx="7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低温热源</a:t>
              </a:r>
            </a:p>
          </p:txBody>
        </p:sp>
      </p:grpSp>
      <p:grpSp>
        <p:nvGrpSpPr>
          <p:cNvPr id="21" name="Group 67">
            <a:extLst>
              <a:ext uri="{FF2B5EF4-FFF2-40B4-BE49-F238E27FC236}">
                <a16:creationId xmlns:a16="http://schemas.microsoft.com/office/drawing/2014/main" id="{981075D0-C5F0-4A4E-9653-B90DB8E0C492}"/>
              </a:ext>
            </a:extLst>
          </p:cNvPr>
          <p:cNvGrpSpPr>
            <a:grpSpLocks/>
          </p:cNvGrpSpPr>
          <p:nvPr/>
        </p:nvGrpSpPr>
        <p:grpSpPr bwMode="auto">
          <a:xfrm>
            <a:off x="6767513" y="4408488"/>
            <a:ext cx="685800" cy="533400"/>
            <a:chOff x="4262" y="2768"/>
            <a:chExt cx="432" cy="336"/>
          </a:xfrm>
        </p:grpSpPr>
        <p:sp>
          <p:nvSpPr>
            <p:cNvPr id="20521" name="Rectangle 68">
              <a:extLst>
                <a:ext uri="{FF2B5EF4-FFF2-40B4-BE49-F238E27FC236}">
                  <a16:creationId xmlns:a16="http://schemas.microsoft.com/office/drawing/2014/main" id="{50D86259-0B30-4E9D-AA44-C9284EA64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" y="2768"/>
              <a:ext cx="432" cy="33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0522" name="Group 69">
              <a:extLst>
                <a:ext uri="{FF2B5EF4-FFF2-40B4-BE49-F238E27FC236}">
                  <a16:creationId xmlns:a16="http://schemas.microsoft.com/office/drawing/2014/main" id="{D682811C-D727-4C1B-AD05-21761BB606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8" y="2833"/>
              <a:ext cx="289" cy="266"/>
              <a:chOff x="4358" y="2643"/>
              <a:chExt cx="289" cy="266"/>
            </a:xfrm>
          </p:grpSpPr>
          <p:sp>
            <p:nvSpPr>
              <p:cNvPr id="20523" name="Line 70">
                <a:extLst>
                  <a:ext uri="{FF2B5EF4-FFF2-40B4-BE49-F238E27FC236}">
                    <a16:creationId xmlns:a16="http://schemas.microsoft.com/office/drawing/2014/main" id="{D51321CC-90BB-43E0-A4FF-2D55455287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8" y="2688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524" name="Object 71">
                <a:extLst>
                  <a:ext uri="{FF2B5EF4-FFF2-40B4-BE49-F238E27FC236}">
                    <a16:creationId xmlns:a16="http://schemas.microsoft.com/office/drawing/2014/main" id="{CC3A07F8-1E76-4E66-845E-57FF8EAECE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30" y="2643"/>
              <a:ext cx="217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7398" name="公式" r:id="rId18" imgW="314382" imgH="390661" progId="Equation.3">
                      <p:embed/>
                    </p:oleObj>
                  </mc:Choice>
                  <mc:Fallback>
                    <p:oleObj name="公式" r:id="rId18" imgW="314382" imgH="390661" progId="Equation.3">
                      <p:embed/>
                      <p:pic>
                        <p:nvPicPr>
                          <p:cNvPr id="20524" name="Object 71">
                            <a:extLst>
                              <a:ext uri="{FF2B5EF4-FFF2-40B4-BE49-F238E27FC236}">
                                <a16:creationId xmlns:a16="http://schemas.microsoft.com/office/drawing/2014/main" id="{CC3A07F8-1E76-4E66-845E-57FF8EAECEC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0" y="2643"/>
                            <a:ext cx="217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3" name="Group 72">
            <a:extLst>
              <a:ext uri="{FF2B5EF4-FFF2-40B4-BE49-F238E27FC236}">
                <a16:creationId xmlns:a16="http://schemas.microsoft.com/office/drawing/2014/main" id="{B7EEEE08-E81F-4C68-84FC-ACF76AE548C2}"/>
              </a:ext>
            </a:extLst>
          </p:cNvPr>
          <p:cNvGrpSpPr>
            <a:grpSpLocks/>
          </p:cNvGrpSpPr>
          <p:nvPr/>
        </p:nvGrpSpPr>
        <p:grpSpPr bwMode="auto">
          <a:xfrm>
            <a:off x="5730875" y="4078288"/>
            <a:ext cx="2873375" cy="517525"/>
            <a:chOff x="3609" y="2569"/>
            <a:chExt cx="1584" cy="326"/>
          </a:xfrm>
        </p:grpSpPr>
        <p:sp>
          <p:nvSpPr>
            <p:cNvPr id="20518" name="Rectangle 73">
              <a:extLst>
                <a:ext uri="{FF2B5EF4-FFF2-40B4-BE49-F238E27FC236}">
                  <a16:creationId xmlns:a16="http://schemas.microsoft.com/office/drawing/2014/main" id="{297637B6-47A4-4518-A5ED-E14D763B3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2623"/>
              <a:ext cx="1584" cy="252"/>
            </a:xfrm>
            <a:prstGeom prst="rect">
              <a:avLst/>
            </a:prstGeom>
            <a:gradFill rotWithShape="1">
              <a:gsLst>
                <a:gs pos="0">
                  <a:srgbClr val="761847"/>
                </a:gs>
                <a:gs pos="50000">
                  <a:srgbClr val="FF3399"/>
                </a:gs>
                <a:gs pos="100000">
                  <a:srgbClr val="76184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0519" name="Object 74">
              <a:extLst>
                <a:ext uri="{FF2B5EF4-FFF2-40B4-BE49-F238E27FC236}">
                  <a16:creationId xmlns:a16="http://schemas.microsoft.com/office/drawing/2014/main" id="{0C764EDC-B84C-45BE-857C-584AFB2852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65" y="2569"/>
            <a:ext cx="249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399" name="Equation" r:id="rId20" imgW="133337" imgH="190432" progId="Equation.3">
                    <p:embed/>
                  </p:oleObj>
                </mc:Choice>
                <mc:Fallback>
                  <p:oleObj name="Equation" r:id="rId20" imgW="133337" imgH="190432" progId="Equation.3">
                    <p:embed/>
                    <p:pic>
                      <p:nvPicPr>
                        <p:cNvPr id="20519" name="Object 74">
                          <a:extLst>
                            <a:ext uri="{FF2B5EF4-FFF2-40B4-BE49-F238E27FC236}">
                              <a16:creationId xmlns:a16="http://schemas.microsoft.com/office/drawing/2014/main" id="{0C764EDC-B84C-45BE-857C-584AFB2852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5" y="2569"/>
                          <a:ext cx="249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0" name="Text Box 75">
              <a:extLst>
                <a:ext uri="{FF2B5EF4-FFF2-40B4-BE49-F238E27FC236}">
                  <a16:creationId xmlns:a16="http://schemas.microsoft.com/office/drawing/2014/main" id="{370A8DA2-163C-44C5-81E2-31E719B4D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1" y="2569"/>
              <a:ext cx="7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高温热源</a:t>
              </a:r>
            </a:p>
          </p:txBody>
        </p:sp>
      </p:grpSp>
      <p:sp>
        <p:nvSpPr>
          <p:cNvPr id="20502" name="灯片编号占位符 1">
            <a:extLst>
              <a:ext uri="{FF2B5EF4-FFF2-40B4-BE49-F238E27FC236}">
                <a16:creationId xmlns:a16="http://schemas.microsoft.com/office/drawing/2014/main" id="{1347FBF6-4A18-4E07-B285-A5EA2025D0C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68522A-B406-44D6-A12C-56E6D478ECFC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77" name="Text Box 11">
            <a:extLst>
              <a:ext uri="{FF2B5EF4-FFF2-40B4-BE49-F238E27FC236}">
                <a16:creationId xmlns:a16="http://schemas.microsoft.com/office/drawing/2014/main" id="{C653E812-CC11-4B27-AE1A-F96936E1F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42875"/>
            <a:ext cx="8286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理解为：热量不能自动地从低温物体传向高温物体传递 </a:t>
            </a:r>
          </a:p>
        </p:txBody>
      </p:sp>
      <p:grpSp>
        <p:nvGrpSpPr>
          <p:cNvPr id="24" name="组合 80">
            <a:extLst>
              <a:ext uri="{FF2B5EF4-FFF2-40B4-BE49-F238E27FC236}">
                <a16:creationId xmlns:a16="http://schemas.microsoft.com/office/drawing/2014/main" id="{9075B762-2710-42F1-BED7-77BB9FE83E39}"/>
              </a:ext>
            </a:extLst>
          </p:cNvPr>
          <p:cNvGrpSpPr>
            <a:grpSpLocks/>
          </p:cNvGrpSpPr>
          <p:nvPr/>
        </p:nvGrpSpPr>
        <p:grpSpPr bwMode="auto">
          <a:xfrm>
            <a:off x="3062288" y="4975225"/>
            <a:ext cx="1449387" cy="404813"/>
            <a:chOff x="3061982" y="4974672"/>
            <a:chExt cx="1449693" cy="405377"/>
          </a:xfrm>
        </p:grpSpPr>
        <p:grpSp>
          <p:nvGrpSpPr>
            <p:cNvPr id="20512" name="Group 39">
              <a:extLst>
                <a:ext uri="{FF2B5EF4-FFF2-40B4-BE49-F238E27FC236}">
                  <a16:creationId xmlns:a16="http://schemas.microsoft.com/office/drawing/2014/main" id="{E2C33FC7-CF29-49D7-9E8D-46BF4854CC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7275" y="5072074"/>
              <a:ext cx="914400" cy="307975"/>
              <a:chOff x="2939" y="1787"/>
              <a:chExt cx="576" cy="194"/>
            </a:xfrm>
          </p:grpSpPr>
          <p:sp>
            <p:nvSpPr>
              <p:cNvPr id="20515" name="Rectangle 40">
                <a:extLst>
                  <a:ext uri="{FF2B5EF4-FFF2-40B4-BE49-F238E27FC236}">
                    <a16:creationId xmlns:a16="http://schemas.microsoft.com/office/drawing/2014/main" id="{F6C4DF5B-EB0A-4BDD-871E-1CC7E09B7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1813"/>
                <a:ext cx="576" cy="168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rgbClr val="FFCC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16" name="Line 41">
                <a:extLst>
                  <a:ext uri="{FF2B5EF4-FFF2-40B4-BE49-F238E27FC236}">
                    <a16:creationId xmlns:a16="http://schemas.microsoft.com/office/drawing/2014/main" id="{F7D1CD63-3C28-40DF-A0C5-2B0D12FB42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3" y="1900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517" name="Object 42">
                <a:extLst>
                  <a:ext uri="{FF2B5EF4-FFF2-40B4-BE49-F238E27FC236}">
                    <a16:creationId xmlns:a16="http://schemas.microsoft.com/office/drawing/2014/main" id="{144CCE35-3EF9-4FF4-B99D-505997951C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98" y="1787"/>
              <a:ext cx="17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7400" name="公式" r:id="rId22" imgW="247714" imgH="276157" progId="Equation.3">
                      <p:embed/>
                    </p:oleObj>
                  </mc:Choice>
                  <mc:Fallback>
                    <p:oleObj name="公式" r:id="rId22" imgW="247714" imgH="276157" progId="Equation.3">
                      <p:embed/>
                      <p:pic>
                        <p:nvPicPr>
                          <p:cNvPr id="20517" name="Object 42">
                            <a:extLst>
                              <a:ext uri="{FF2B5EF4-FFF2-40B4-BE49-F238E27FC236}">
                                <a16:creationId xmlns:a16="http://schemas.microsoft.com/office/drawing/2014/main" id="{144CCE35-3EF9-4FF4-B99D-505997951C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98" y="1787"/>
                            <a:ext cx="17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513" name="任意多边形 78">
              <a:extLst>
                <a:ext uri="{FF2B5EF4-FFF2-40B4-BE49-F238E27FC236}">
                  <a16:creationId xmlns:a16="http://schemas.microsoft.com/office/drawing/2014/main" id="{5E1F6949-2B4C-4FF4-86E1-DAE7350E0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982" y="4974672"/>
              <a:ext cx="536895" cy="376106"/>
            </a:xfrm>
            <a:custGeom>
              <a:avLst/>
              <a:gdLst>
                <a:gd name="T0" fmla="*/ 0 w 536895"/>
                <a:gd name="T1" fmla="*/ 0 h 376106"/>
                <a:gd name="T2" fmla="*/ 50334 w 536895"/>
                <a:gd name="T3" fmla="*/ 226502 h 376106"/>
                <a:gd name="T4" fmla="*/ 201335 w 536895"/>
                <a:gd name="T5" fmla="*/ 352337 h 376106"/>
                <a:gd name="T6" fmla="*/ 536895 w 536895"/>
                <a:gd name="T7" fmla="*/ 369115 h 3761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6895"/>
                <a:gd name="T13" fmla="*/ 0 h 376106"/>
                <a:gd name="T14" fmla="*/ 536895 w 536895"/>
                <a:gd name="T15" fmla="*/ 376106 h 3761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6895" h="376106">
                  <a:moveTo>
                    <a:pt x="0" y="0"/>
                  </a:moveTo>
                  <a:cubicBezTo>
                    <a:pt x="8389" y="83889"/>
                    <a:pt x="16778" y="167779"/>
                    <a:pt x="50334" y="226502"/>
                  </a:cubicBezTo>
                  <a:cubicBezTo>
                    <a:pt x="83890" y="285225"/>
                    <a:pt x="120242" y="328568"/>
                    <a:pt x="201335" y="352337"/>
                  </a:cubicBezTo>
                  <a:cubicBezTo>
                    <a:pt x="282428" y="376106"/>
                    <a:pt x="409661" y="372610"/>
                    <a:pt x="536895" y="369115"/>
                  </a:cubicBezTo>
                </a:path>
              </a:pathLst>
            </a:custGeom>
            <a:noFill/>
            <a:ln w="22225" algn="ctr">
              <a:solidFill>
                <a:srgbClr val="FFC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4" name="任意多边形 79">
              <a:extLst>
                <a:ext uri="{FF2B5EF4-FFF2-40B4-BE49-F238E27FC236}">
                  <a16:creationId xmlns:a16="http://schemas.microsoft.com/office/drawing/2014/main" id="{FF3DAB88-EE1F-4779-930B-21799A203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484" y="4974672"/>
              <a:ext cx="310393" cy="202733"/>
            </a:xfrm>
            <a:custGeom>
              <a:avLst/>
              <a:gdLst>
                <a:gd name="T0" fmla="*/ 0 w 310393"/>
                <a:gd name="T1" fmla="*/ 0 h 202733"/>
                <a:gd name="T2" fmla="*/ 33556 w 310393"/>
                <a:gd name="T3" fmla="*/ 134223 h 202733"/>
                <a:gd name="T4" fmla="*/ 184558 w 310393"/>
                <a:gd name="T5" fmla="*/ 192946 h 202733"/>
                <a:gd name="T6" fmla="*/ 310393 w 310393"/>
                <a:gd name="T7" fmla="*/ 192946 h 2027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0393"/>
                <a:gd name="T13" fmla="*/ 0 h 202733"/>
                <a:gd name="T14" fmla="*/ 310393 w 310393"/>
                <a:gd name="T15" fmla="*/ 202733 h 2027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0393" h="202733">
                  <a:moveTo>
                    <a:pt x="0" y="0"/>
                  </a:moveTo>
                  <a:cubicBezTo>
                    <a:pt x="1398" y="51032"/>
                    <a:pt x="2796" y="102065"/>
                    <a:pt x="33556" y="134223"/>
                  </a:cubicBezTo>
                  <a:cubicBezTo>
                    <a:pt x="64316" y="166381"/>
                    <a:pt x="138419" y="183159"/>
                    <a:pt x="184558" y="192946"/>
                  </a:cubicBezTo>
                  <a:cubicBezTo>
                    <a:pt x="230697" y="202733"/>
                    <a:pt x="270545" y="197839"/>
                    <a:pt x="310393" y="192946"/>
                  </a:cubicBezTo>
                </a:path>
              </a:pathLst>
            </a:custGeom>
            <a:noFill/>
            <a:ln w="25400" algn="ctr">
              <a:solidFill>
                <a:srgbClr val="FFC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" name="组合 83">
            <a:extLst>
              <a:ext uri="{FF2B5EF4-FFF2-40B4-BE49-F238E27FC236}">
                <a16:creationId xmlns:a16="http://schemas.microsoft.com/office/drawing/2014/main" id="{197B6A65-2954-43B3-8C8D-360FFC5F9462}"/>
              </a:ext>
            </a:extLst>
          </p:cNvPr>
          <p:cNvGrpSpPr>
            <a:grpSpLocks/>
          </p:cNvGrpSpPr>
          <p:nvPr/>
        </p:nvGrpSpPr>
        <p:grpSpPr bwMode="auto">
          <a:xfrm>
            <a:off x="7215188" y="4929188"/>
            <a:ext cx="1460500" cy="428625"/>
            <a:chOff x="7215206" y="4929198"/>
            <a:chExt cx="1460482" cy="428628"/>
          </a:xfrm>
        </p:grpSpPr>
        <p:grpSp>
          <p:nvGrpSpPr>
            <p:cNvPr id="20506" name="Group 62">
              <a:extLst>
                <a:ext uri="{FF2B5EF4-FFF2-40B4-BE49-F238E27FC236}">
                  <a16:creationId xmlns:a16="http://schemas.microsoft.com/office/drawing/2014/main" id="{245679DD-B8B4-4FF5-BDBA-64BBEBFC8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2238" y="5048263"/>
              <a:ext cx="933450" cy="309563"/>
              <a:chOff x="4876" y="3156"/>
              <a:chExt cx="588" cy="195"/>
            </a:xfrm>
          </p:grpSpPr>
          <p:sp>
            <p:nvSpPr>
              <p:cNvPr id="20509" name="Rectangle 63">
                <a:extLst>
                  <a:ext uri="{FF2B5EF4-FFF2-40B4-BE49-F238E27FC236}">
                    <a16:creationId xmlns:a16="http://schemas.microsoft.com/office/drawing/2014/main" id="{DE3A93E4-0072-4969-90FF-46AD8CD08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3183"/>
                <a:ext cx="576" cy="168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rgbClr val="FFCC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10" name="Line 64">
                <a:extLst>
                  <a:ext uri="{FF2B5EF4-FFF2-40B4-BE49-F238E27FC236}">
                    <a16:creationId xmlns:a16="http://schemas.microsoft.com/office/drawing/2014/main" id="{22B313E9-A711-4089-BCD6-64D14485C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" y="3264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511" name="Object 65">
                <a:extLst>
                  <a:ext uri="{FF2B5EF4-FFF2-40B4-BE49-F238E27FC236}">
                    <a16:creationId xmlns:a16="http://schemas.microsoft.com/office/drawing/2014/main" id="{FAB01656-8790-41C1-90E1-550AA322F7C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53" y="3156"/>
              <a:ext cx="17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7401" name="公式" r:id="rId24" imgW="247714" imgH="276157" progId="Equation.3">
                      <p:embed/>
                    </p:oleObj>
                  </mc:Choice>
                  <mc:Fallback>
                    <p:oleObj name="公式" r:id="rId24" imgW="247714" imgH="276157" progId="Equation.3">
                      <p:embed/>
                      <p:pic>
                        <p:nvPicPr>
                          <p:cNvPr id="20511" name="Object 65">
                            <a:extLst>
                              <a:ext uri="{FF2B5EF4-FFF2-40B4-BE49-F238E27FC236}">
                                <a16:creationId xmlns:a16="http://schemas.microsoft.com/office/drawing/2014/main" id="{FAB01656-8790-41C1-90E1-550AA322F7C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3" y="3156"/>
                            <a:ext cx="17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507" name="任意多边形 81">
              <a:extLst>
                <a:ext uri="{FF2B5EF4-FFF2-40B4-BE49-F238E27FC236}">
                  <a16:creationId xmlns:a16="http://schemas.microsoft.com/office/drawing/2014/main" id="{DCAE4CF3-E1DB-4F8A-8BAA-3FB11410A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9520" y="4929198"/>
              <a:ext cx="310393" cy="202733"/>
            </a:xfrm>
            <a:custGeom>
              <a:avLst/>
              <a:gdLst>
                <a:gd name="T0" fmla="*/ 0 w 310393"/>
                <a:gd name="T1" fmla="*/ 0 h 202733"/>
                <a:gd name="T2" fmla="*/ 33556 w 310393"/>
                <a:gd name="T3" fmla="*/ 134223 h 202733"/>
                <a:gd name="T4" fmla="*/ 184558 w 310393"/>
                <a:gd name="T5" fmla="*/ 192946 h 202733"/>
                <a:gd name="T6" fmla="*/ 310393 w 310393"/>
                <a:gd name="T7" fmla="*/ 192946 h 2027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0393"/>
                <a:gd name="T13" fmla="*/ 0 h 202733"/>
                <a:gd name="T14" fmla="*/ 310393 w 310393"/>
                <a:gd name="T15" fmla="*/ 202733 h 2027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0393" h="202733">
                  <a:moveTo>
                    <a:pt x="0" y="0"/>
                  </a:moveTo>
                  <a:cubicBezTo>
                    <a:pt x="1398" y="51032"/>
                    <a:pt x="2796" y="102065"/>
                    <a:pt x="33556" y="134223"/>
                  </a:cubicBezTo>
                  <a:cubicBezTo>
                    <a:pt x="64316" y="166381"/>
                    <a:pt x="138419" y="183159"/>
                    <a:pt x="184558" y="192946"/>
                  </a:cubicBezTo>
                  <a:cubicBezTo>
                    <a:pt x="230697" y="202733"/>
                    <a:pt x="270545" y="197839"/>
                    <a:pt x="310393" y="192946"/>
                  </a:cubicBezTo>
                </a:path>
              </a:pathLst>
            </a:custGeom>
            <a:noFill/>
            <a:ln w="25400" algn="ctr">
              <a:solidFill>
                <a:srgbClr val="FFC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8" name="任意多边形 82">
              <a:extLst>
                <a:ext uri="{FF2B5EF4-FFF2-40B4-BE49-F238E27FC236}">
                  <a16:creationId xmlns:a16="http://schemas.microsoft.com/office/drawing/2014/main" id="{B574C83F-D005-49FC-9A95-A6D3D9F94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5206" y="4929198"/>
              <a:ext cx="536895" cy="376106"/>
            </a:xfrm>
            <a:custGeom>
              <a:avLst/>
              <a:gdLst>
                <a:gd name="T0" fmla="*/ 0 w 536895"/>
                <a:gd name="T1" fmla="*/ 0 h 376106"/>
                <a:gd name="T2" fmla="*/ 50334 w 536895"/>
                <a:gd name="T3" fmla="*/ 226502 h 376106"/>
                <a:gd name="T4" fmla="*/ 201335 w 536895"/>
                <a:gd name="T5" fmla="*/ 352337 h 376106"/>
                <a:gd name="T6" fmla="*/ 536895 w 536895"/>
                <a:gd name="T7" fmla="*/ 369115 h 3761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6895"/>
                <a:gd name="T13" fmla="*/ 0 h 376106"/>
                <a:gd name="T14" fmla="*/ 536895 w 536895"/>
                <a:gd name="T15" fmla="*/ 376106 h 3761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6895" h="376106">
                  <a:moveTo>
                    <a:pt x="0" y="0"/>
                  </a:moveTo>
                  <a:cubicBezTo>
                    <a:pt x="8389" y="83889"/>
                    <a:pt x="16778" y="167779"/>
                    <a:pt x="50334" y="226502"/>
                  </a:cubicBezTo>
                  <a:cubicBezTo>
                    <a:pt x="83890" y="285225"/>
                    <a:pt x="120242" y="328568"/>
                    <a:pt x="201335" y="352337"/>
                  </a:cubicBezTo>
                  <a:cubicBezTo>
                    <a:pt x="282428" y="376106"/>
                    <a:pt x="409661" y="372610"/>
                    <a:pt x="536895" y="369115"/>
                  </a:cubicBezTo>
                </a:path>
              </a:pathLst>
            </a:custGeom>
            <a:noFill/>
            <a:ln w="22225" algn="ctr">
              <a:solidFill>
                <a:srgbClr val="FFC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3" grpId="0" animBg="1"/>
      <p:bldP spid="9284" grpId="0" animBg="1"/>
      <p:bldP spid="2" grpId="0"/>
      <p:bldP spid="6" grpId="0"/>
      <p:bldP spid="7" grpId="0"/>
      <p:bldP spid="8" grpId="0"/>
      <p:bldP spid="10" grpId="0" animBg="1"/>
      <p:bldP spid="11" grpId="0"/>
      <p:bldP spid="12" grpId="0"/>
      <p:bldP spid="13" grpId="0"/>
      <p:bldP spid="7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6BD523FD-DB83-4CA8-B25E-2BA717DAF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28625"/>
            <a:ext cx="6929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</a:rPr>
              <a:t>4. </a:t>
            </a:r>
            <a:r>
              <a:rPr lang="zh-CN" altLang="en-US">
                <a:solidFill>
                  <a:srgbClr val="FFFF00"/>
                </a:solidFill>
              </a:rPr>
              <a:t>热力学第二定律的两种表述等价</a:t>
            </a:r>
            <a:r>
              <a:rPr lang="zh-CN" altLang="en-US">
                <a:solidFill>
                  <a:schemeClr val="bg1"/>
                </a:solidFill>
              </a:rPr>
              <a:t>（反证法） </a:t>
            </a: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4C5CB4E4-DECE-429C-9C60-89CC32590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28688"/>
            <a:ext cx="23749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rgbClr val="FFFFFF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假设开尔文 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      表述不成立 </a:t>
            </a:r>
            <a:r>
              <a:rPr lang="zh-CN" altLang="en-US"/>
              <a:t>          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8627B0FD-7EE8-41C3-BE6E-AC7B3B7BA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2405063"/>
            <a:ext cx="18018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克劳修斯表述不成立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F2216EBB-5DB9-41E7-B16C-B41D7CF61363}"/>
              </a:ext>
            </a:extLst>
          </p:cNvPr>
          <p:cNvGrpSpPr>
            <a:grpSpLocks/>
          </p:cNvGrpSpPr>
          <p:nvPr/>
        </p:nvGrpSpPr>
        <p:grpSpPr bwMode="auto">
          <a:xfrm>
            <a:off x="4179888" y="2255838"/>
            <a:ext cx="2246312" cy="457200"/>
            <a:chOff x="912" y="912"/>
            <a:chExt cx="816" cy="384"/>
          </a:xfrm>
        </p:grpSpPr>
        <p:sp>
          <p:nvSpPr>
            <p:cNvPr id="21578" name="Rectangle 6">
              <a:extLst>
                <a:ext uri="{FF2B5EF4-FFF2-40B4-BE49-F238E27FC236}">
                  <a16:creationId xmlns:a16="http://schemas.microsoft.com/office/drawing/2014/main" id="{DC748D73-D760-49C3-A45D-79CE62DB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912"/>
              <a:ext cx="816" cy="384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1579" name="Group 7">
              <a:extLst>
                <a:ext uri="{FF2B5EF4-FFF2-40B4-BE49-F238E27FC236}">
                  <a16:creationId xmlns:a16="http://schemas.microsoft.com/office/drawing/2014/main" id="{41CD3ABF-ABF3-492D-9125-259AEE4E84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937"/>
              <a:ext cx="379" cy="272"/>
              <a:chOff x="1296" y="937"/>
              <a:chExt cx="379" cy="272"/>
            </a:xfrm>
          </p:grpSpPr>
          <p:graphicFrame>
            <p:nvGraphicFramePr>
              <p:cNvPr id="21580" name="Object 8">
                <a:extLst>
                  <a:ext uri="{FF2B5EF4-FFF2-40B4-BE49-F238E27FC236}">
                    <a16:creationId xmlns:a16="http://schemas.microsoft.com/office/drawing/2014/main" id="{3F93431C-47C5-4F76-A355-934169B7621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45" y="937"/>
              <a:ext cx="13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570" name="Equation" r:id="rId3" imgW="133337" imgH="133486" progId="Equation.3">
                      <p:embed/>
                    </p:oleObj>
                  </mc:Choice>
                  <mc:Fallback>
                    <p:oleObj name="Equation" r:id="rId3" imgW="133337" imgH="133486" progId="Equation.3">
                      <p:embed/>
                      <p:pic>
                        <p:nvPicPr>
                          <p:cNvPr id="21580" name="Object 8">
                            <a:extLst>
                              <a:ext uri="{FF2B5EF4-FFF2-40B4-BE49-F238E27FC236}">
                                <a16:creationId xmlns:a16="http://schemas.microsoft.com/office/drawing/2014/main" id="{3F93431C-47C5-4F76-A355-934169B7621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45" y="937"/>
                            <a:ext cx="130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81" name="Line 9">
                <a:extLst>
                  <a:ext uri="{FF2B5EF4-FFF2-40B4-BE49-F238E27FC236}">
                    <a16:creationId xmlns:a16="http://schemas.microsoft.com/office/drawing/2014/main" id="{6C81531A-5B0A-481F-9583-6030E8632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1104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FAB34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2FB701E7-7A03-4F1A-B7AC-B20FD07BFE4E}"/>
              </a:ext>
            </a:extLst>
          </p:cNvPr>
          <p:cNvGrpSpPr>
            <a:grpSpLocks/>
          </p:cNvGrpSpPr>
          <p:nvPr/>
        </p:nvGrpSpPr>
        <p:grpSpPr bwMode="auto">
          <a:xfrm>
            <a:off x="5973763" y="1700213"/>
            <a:ext cx="990600" cy="555625"/>
            <a:chOff x="2512" y="754"/>
            <a:chExt cx="624" cy="350"/>
          </a:xfrm>
        </p:grpSpPr>
        <p:sp>
          <p:nvSpPr>
            <p:cNvPr id="21575" name="Rectangle 11">
              <a:extLst>
                <a:ext uri="{FF2B5EF4-FFF2-40B4-BE49-F238E27FC236}">
                  <a16:creationId xmlns:a16="http://schemas.microsoft.com/office/drawing/2014/main" id="{866C61BB-DA79-4319-911B-BDC11B8F6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768"/>
              <a:ext cx="624" cy="33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76" name="Line 12">
              <a:extLst>
                <a:ext uri="{FF2B5EF4-FFF2-40B4-BE49-F238E27FC236}">
                  <a16:creationId xmlns:a16="http://schemas.microsoft.com/office/drawing/2014/main" id="{F049325D-CFA7-4A0B-BAD6-93377160E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7" y="768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77" name="Object 13">
              <a:extLst>
                <a:ext uri="{FF2B5EF4-FFF2-40B4-BE49-F238E27FC236}">
                  <a16:creationId xmlns:a16="http://schemas.microsoft.com/office/drawing/2014/main" id="{A667E4BF-2A97-4149-8B91-F61DB69FE6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99" y="754"/>
            <a:ext cx="18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71" name="公式" r:id="rId5" imgW="314382" imgH="390661" progId="Equation.3">
                    <p:embed/>
                  </p:oleObj>
                </mc:Choice>
                <mc:Fallback>
                  <p:oleObj name="公式" r:id="rId5" imgW="314382" imgH="390661" progId="Equation.3">
                    <p:embed/>
                    <p:pic>
                      <p:nvPicPr>
                        <p:cNvPr id="21577" name="Object 13">
                          <a:extLst>
                            <a:ext uri="{FF2B5EF4-FFF2-40B4-BE49-F238E27FC236}">
                              <a16:creationId xmlns:a16="http://schemas.microsoft.com/office/drawing/2014/main" id="{A667E4BF-2A97-4149-8B91-F61DB69FE6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754"/>
                          <a:ext cx="18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782" name="Object 14">
            <a:extLst>
              <a:ext uri="{FF2B5EF4-FFF2-40B4-BE49-F238E27FC236}">
                <a16:creationId xmlns:a16="http://schemas.microsoft.com/office/drawing/2014/main" id="{F40D9B1B-0201-4893-88F6-AD38E420B9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1928813"/>
          <a:ext cx="7286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72" name="公式" r:id="rId7" imgW="390531" imgH="171450" progId="Equation.3">
                  <p:embed/>
                </p:oleObj>
              </mc:Choice>
              <mc:Fallback>
                <p:oleObj name="公式" r:id="rId7" imgW="390531" imgH="171450" progId="Equation.3">
                  <p:embed/>
                  <p:pic>
                    <p:nvPicPr>
                      <p:cNvPr id="32782" name="Object 14">
                        <a:extLst>
                          <a:ext uri="{FF2B5EF4-FFF2-40B4-BE49-F238E27FC236}">
                            <a16:creationId xmlns:a16="http://schemas.microsoft.com/office/drawing/2014/main" id="{F40D9B1B-0201-4893-88F6-AD38E420B9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928813"/>
                        <a:ext cx="72866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5">
            <a:extLst>
              <a:ext uri="{FF2B5EF4-FFF2-40B4-BE49-F238E27FC236}">
                <a16:creationId xmlns:a16="http://schemas.microsoft.com/office/drawing/2014/main" id="{1829462E-1DE1-42F3-B56D-19EB375C1450}"/>
              </a:ext>
            </a:extLst>
          </p:cNvPr>
          <p:cNvGrpSpPr>
            <a:grpSpLocks/>
          </p:cNvGrpSpPr>
          <p:nvPr/>
        </p:nvGrpSpPr>
        <p:grpSpPr bwMode="auto">
          <a:xfrm>
            <a:off x="6413500" y="2252663"/>
            <a:ext cx="552450" cy="819150"/>
            <a:chOff x="3651" y="1162"/>
            <a:chExt cx="348" cy="499"/>
          </a:xfrm>
        </p:grpSpPr>
        <p:sp>
          <p:nvSpPr>
            <p:cNvPr id="21572" name="Rectangle 16">
              <a:extLst>
                <a:ext uri="{FF2B5EF4-FFF2-40B4-BE49-F238E27FC236}">
                  <a16:creationId xmlns:a16="http://schemas.microsoft.com/office/drawing/2014/main" id="{518A42A4-5466-42D0-9DCB-7521A8EA6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162"/>
              <a:ext cx="348" cy="499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73" name="Line 17">
              <a:extLst>
                <a:ext uri="{FF2B5EF4-FFF2-40B4-BE49-F238E27FC236}">
                  <a16:creationId xmlns:a16="http://schemas.microsoft.com/office/drawing/2014/main" id="{5E9BB72B-ACB1-4ABE-AFC7-F9ADE22E2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7" y="1407"/>
              <a:ext cx="0" cy="2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74" name="Object 18">
              <a:extLst>
                <a:ext uri="{FF2B5EF4-FFF2-40B4-BE49-F238E27FC236}">
                  <a16:creationId xmlns:a16="http://schemas.microsoft.com/office/drawing/2014/main" id="{50B3F6D2-D677-47E4-A86A-ED0B5D8A05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2" y="1362"/>
            <a:ext cx="23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73" name="公式" r:id="rId9" imgW="352304" imgH="390661" progId="Equation.3">
                    <p:embed/>
                  </p:oleObj>
                </mc:Choice>
                <mc:Fallback>
                  <p:oleObj name="公式" r:id="rId9" imgW="352304" imgH="390661" progId="Equation.3">
                    <p:embed/>
                    <p:pic>
                      <p:nvPicPr>
                        <p:cNvPr id="21574" name="Object 18">
                          <a:extLst>
                            <a:ext uri="{FF2B5EF4-FFF2-40B4-BE49-F238E27FC236}">
                              <a16:creationId xmlns:a16="http://schemas.microsoft.com/office/drawing/2014/main" id="{50B3F6D2-D677-47E4-A86A-ED0B5D8A05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1362"/>
                          <a:ext cx="236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A49324FC-DEAA-486B-AC65-D05B6013F0E7}"/>
              </a:ext>
            </a:extLst>
          </p:cNvPr>
          <p:cNvGrpSpPr>
            <a:grpSpLocks/>
          </p:cNvGrpSpPr>
          <p:nvPr/>
        </p:nvGrpSpPr>
        <p:grpSpPr bwMode="auto">
          <a:xfrm>
            <a:off x="3656013" y="1268413"/>
            <a:ext cx="3657600" cy="468312"/>
            <a:chOff x="2415" y="799"/>
            <a:chExt cx="2304" cy="295"/>
          </a:xfrm>
        </p:grpSpPr>
        <p:sp>
          <p:nvSpPr>
            <p:cNvPr id="21569" name="Rectangle 20">
              <a:extLst>
                <a:ext uri="{FF2B5EF4-FFF2-40B4-BE49-F238E27FC236}">
                  <a16:creationId xmlns:a16="http://schemas.microsoft.com/office/drawing/2014/main" id="{D49FBDFD-4393-402A-B389-B869E0D61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799"/>
              <a:ext cx="2304" cy="295"/>
            </a:xfrm>
            <a:prstGeom prst="rect">
              <a:avLst/>
            </a:prstGeom>
            <a:gradFill rotWithShape="1">
              <a:gsLst>
                <a:gs pos="0">
                  <a:srgbClr val="761847"/>
                </a:gs>
                <a:gs pos="50000">
                  <a:srgbClr val="FF3399"/>
                </a:gs>
                <a:gs pos="100000">
                  <a:srgbClr val="76184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1570" name="Object 21">
              <a:extLst>
                <a:ext uri="{FF2B5EF4-FFF2-40B4-BE49-F238E27FC236}">
                  <a16:creationId xmlns:a16="http://schemas.microsoft.com/office/drawing/2014/main" id="{DC3B438D-A415-49C6-B1C0-A4C349D7E0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05" y="814"/>
            <a:ext cx="235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74" name="公式" r:id="rId11" imgW="238233" imgH="390661" progId="Equation.3">
                    <p:embed/>
                  </p:oleObj>
                </mc:Choice>
                <mc:Fallback>
                  <p:oleObj name="公式" r:id="rId11" imgW="238233" imgH="390661" progId="Equation.3">
                    <p:embed/>
                    <p:pic>
                      <p:nvPicPr>
                        <p:cNvPr id="21570" name="Object 21">
                          <a:extLst>
                            <a:ext uri="{FF2B5EF4-FFF2-40B4-BE49-F238E27FC236}">
                              <a16:creationId xmlns:a16="http://schemas.microsoft.com/office/drawing/2014/main" id="{DC3B438D-A415-49C6-B1C0-A4C349D7E0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5" y="814"/>
                          <a:ext cx="235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71" name="Text Box 22">
              <a:extLst>
                <a:ext uri="{FF2B5EF4-FFF2-40B4-BE49-F238E27FC236}">
                  <a16:creationId xmlns:a16="http://schemas.microsoft.com/office/drawing/2014/main" id="{0E73F78B-E123-466C-820F-4B943A9C0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4" y="799"/>
              <a:ext cx="116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高温热源</a:t>
              </a:r>
            </a:p>
          </p:txBody>
        </p:sp>
      </p:grpSp>
      <p:grpSp>
        <p:nvGrpSpPr>
          <p:cNvPr id="7" name="Group 23">
            <a:extLst>
              <a:ext uri="{FF2B5EF4-FFF2-40B4-BE49-F238E27FC236}">
                <a16:creationId xmlns:a16="http://schemas.microsoft.com/office/drawing/2014/main" id="{B21A1966-827A-49FD-8468-681BAB743775}"/>
              </a:ext>
            </a:extLst>
          </p:cNvPr>
          <p:cNvGrpSpPr>
            <a:grpSpLocks/>
          </p:cNvGrpSpPr>
          <p:nvPr/>
        </p:nvGrpSpPr>
        <p:grpSpPr bwMode="auto">
          <a:xfrm>
            <a:off x="3656013" y="2997200"/>
            <a:ext cx="3733800" cy="461963"/>
            <a:chOff x="2415" y="1888"/>
            <a:chExt cx="2352" cy="291"/>
          </a:xfrm>
        </p:grpSpPr>
        <p:sp>
          <p:nvSpPr>
            <p:cNvPr id="21566" name="Rectangle 24">
              <a:extLst>
                <a:ext uri="{FF2B5EF4-FFF2-40B4-BE49-F238E27FC236}">
                  <a16:creationId xmlns:a16="http://schemas.microsoft.com/office/drawing/2014/main" id="{F83A4E9A-481F-404B-84F5-0E8AD9185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1907"/>
              <a:ext cx="2352" cy="272"/>
            </a:xfrm>
            <a:prstGeom prst="rect">
              <a:avLst/>
            </a:prstGeom>
            <a:gradFill rotWithShape="1">
              <a:gsLst>
                <a:gs pos="0">
                  <a:srgbClr val="471800"/>
                </a:gs>
                <a:gs pos="50000">
                  <a:srgbClr val="993300"/>
                </a:gs>
                <a:gs pos="100000">
                  <a:srgbClr val="4718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1567" name="Object 25">
              <a:extLst>
                <a:ext uri="{FF2B5EF4-FFF2-40B4-BE49-F238E27FC236}">
                  <a16:creationId xmlns:a16="http://schemas.microsoft.com/office/drawing/2014/main" id="{27C4AF94-C7A0-4B76-8BCB-4D6B51E5B0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4" y="1917"/>
            <a:ext cx="26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75" name="公式" r:id="rId13" imgW="276155" imgH="390661" progId="Equation.3">
                    <p:embed/>
                  </p:oleObj>
                </mc:Choice>
                <mc:Fallback>
                  <p:oleObj name="公式" r:id="rId13" imgW="276155" imgH="390661" progId="Equation.3">
                    <p:embed/>
                    <p:pic>
                      <p:nvPicPr>
                        <p:cNvPr id="21567" name="Object 25">
                          <a:extLst>
                            <a:ext uri="{FF2B5EF4-FFF2-40B4-BE49-F238E27FC236}">
                              <a16:creationId xmlns:a16="http://schemas.microsoft.com/office/drawing/2014/main" id="{27C4AF94-C7A0-4B76-8BCB-4D6B51E5B0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4" y="1917"/>
                          <a:ext cx="26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68" name="Text Box 26">
              <a:extLst>
                <a:ext uri="{FF2B5EF4-FFF2-40B4-BE49-F238E27FC236}">
                  <a16:creationId xmlns:a16="http://schemas.microsoft.com/office/drawing/2014/main" id="{AFCA6143-1587-4E62-888B-9673F567F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0" y="1888"/>
              <a:ext cx="11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低温热源</a:t>
              </a:r>
            </a:p>
          </p:txBody>
        </p:sp>
      </p:grpSp>
      <p:grpSp>
        <p:nvGrpSpPr>
          <p:cNvPr id="8" name="Group 27">
            <a:extLst>
              <a:ext uri="{FF2B5EF4-FFF2-40B4-BE49-F238E27FC236}">
                <a16:creationId xmlns:a16="http://schemas.microsoft.com/office/drawing/2014/main" id="{9BE529A5-90E3-4D6A-83D3-B43FD3F2E25A}"/>
              </a:ext>
            </a:extLst>
          </p:cNvPr>
          <p:cNvGrpSpPr>
            <a:grpSpLocks/>
          </p:cNvGrpSpPr>
          <p:nvPr/>
        </p:nvGrpSpPr>
        <p:grpSpPr bwMode="auto">
          <a:xfrm>
            <a:off x="4189413" y="1716088"/>
            <a:ext cx="608012" cy="542925"/>
            <a:chOff x="1408" y="764"/>
            <a:chExt cx="383" cy="342"/>
          </a:xfrm>
        </p:grpSpPr>
        <p:sp>
          <p:nvSpPr>
            <p:cNvPr id="21563" name="Rectangle 28">
              <a:extLst>
                <a:ext uri="{FF2B5EF4-FFF2-40B4-BE49-F238E27FC236}">
                  <a16:creationId xmlns:a16="http://schemas.microsoft.com/office/drawing/2014/main" id="{6A34A5F1-7A4D-4DB4-9E51-32AEFB7E3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770"/>
              <a:ext cx="383" cy="33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1564" name="Object 29">
              <a:extLst>
                <a:ext uri="{FF2B5EF4-FFF2-40B4-BE49-F238E27FC236}">
                  <a16:creationId xmlns:a16="http://schemas.microsoft.com/office/drawing/2014/main" id="{142F525A-CB89-4F80-A5F5-19FB3A270D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6" y="764"/>
            <a:ext cx="201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76" name="公式" r:id="rId15" imgW="152298" imgH="171450" progId="Equation.3">
                    <p:embed/>
                  </p:oleObj>
                </mc:Choice>
                <mc:Fallback>
                  <p:oleObj name="公式" r:id="rId15" imgW="152298" imgH="171450" progId="Equation.3">
                    <p:embed/>
                    <p:pic>
                      <p:nvPicPr>
                        <p:cNvPr id="21564" name="Object 29">
                          <a:extLst>
                            <a:ext uri="{FF2B5EF4-FFF2-40B4-BE49-F238E27FC236}">
                              <a16:creationId xmlns:a16="http://schemas.microsoft.com/office/drawing/2014/main" id="{142F525A-CB89-4F80-A5F5-19FB3A270D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6" y="764"/>
                          <a:ext cx="201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65" name="Line 30">
              <a:extLst>
                <a:ext uri="{FF2B5EF4-FFF2-40B4-BE49-F238E27FC236}">
                  <a16:creationId xmlns:a16="http://schemas.microsoft.com/office/drawing/2014/main" id="{0B7745CD-2756-45CD-9373-71A32DAB3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786"/>
              <a:ext cx="0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799" name="AutoShape 31">
            <a:extLst>
              <a:ext uri="{FF2B5EF4-FFF2-40B4-BE49-F238E27FC236}">
                <a16:creationId xmlns:a16="http://schemas.microsoft.com/office/drawing/2014/main" id="{577BE3D5-D132-4603-85C6-1EE93695A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2103438"/>
            <a:ext cx="1295400" cy="6858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800" name="Object 32">
            <a:extLst>
              <a:ext uri="{FF2B5EF4-FFF2-40B4-BE49-F238E27FC236}">
                <a16:creationId xmlns:a16="http://schemas.microsoft.com/office/drawing/2014/main" id="{84C294C0-AE83-49BD-ABC1-9888FC8F5C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7725" y="1724025"/>
          <a:ext cx="3746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77" name="公式" r:id="rId17" imgW="352304" imgH="390661" progId="Equation.3">
                  <p:embed/>
                </p:oleObj>
              </mc:Choice>
              <mc:Fallback>
                <p:oleObj name="公式" r:id="rId17" imgW="352304" imgH="390661" progId="Equation.3">
                  <p:embed/>
                  <p:pic>
                    <p:nvPicPr>
                      <p:cNvPr id="32800" name="Object 32">
                        <a:extLst>
                          <a:ext uri="{FF2B5EF4-FFF2-40B4-BE49-F238E27FC236}">
                            <a16:creationId xmlns:a16="http://schemas.microsoft.com/office/drawing/2014/main" id="{84C294C0-AE83-49BD-ABC1-9888FC8F5C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7725" y="1724025"/>
                        <a:ext cx="3746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01" name="Object 33">
            <a:extLst>
              <a:ext uri="{FF2B5EF4-FFF2-40B4-BE49-F238E27FC236}">
                <a16:creationId xmlns:a16="http://schemas.microsoft.com/office/drawing/2014/main" id="{47A6DAFE-2732-496B-A4CF-415A91FA1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3913" y="2511425"/>
          <a:ext cx="16129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78" name="公式" r:id="rId19" imgW="1619314" imgH="390661" progId="Equation.3">
                  <p:embed/>
                </p:oleObj>
              </mc:Choice>
              <mc:Fallback>
                <p:oleObj name="公式" r:id="rId19" imgW="1619314" imgH="390661" progId="Equation.3">
                  <p:embed/>
                  <p:pic>
                    <p:nvPicPr>
                      <p:cNvPr id="32801" name="Object 33">
                        <a:extLst>
                          <a:ext uri="{FF2B5EF4-FFF2-40B4-BE49-F238E27FC236}">
                            <a16:creationId xmlns:a16="http://schemas.microsoft.com/office/drawing/2014/main" id="{47A6DAFE-2732-496B-A4CF-415A91FA19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3913" y="2511425"/>
                        <a:ext cx="16129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02" name="Text Box 34">
            <a:extLst>
              <a:ext uri="{FF2B5EF4-FFF2-40B4-BE49-F238E27FC236}">
                <a16:creationId xmlns:a16="http://schemas.microsoft.com/office/drawing/2014/main" id="{9A20FD0F-6DD6-4E2E-A37F-4339C362C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3763963"/>
            <a:ext cx="26638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rgbClr val="FFFFFF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假设克劳修斯   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      表述不成立            </a:t>
            </a:r>
          </a:p>
        </p:txBody>
      </p:sp>
      <p:sp>
        <p:nvSpPr>
          <p:cNvPr id="32803" name="Rectangle 35">
            <a:extLst>
              <a:ext uri="{FF2B5EF4-FFF2-40B4-BE49-F238E27FC236}">
                <a16:creationId xmlns:a16="http://schemas.microsoft.com/office/drawing/2014/main" id="{91273375-E260-411B-B062-8FE7F2D5E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351463"/>
            <a:ext cx="20716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开尔文表述不成立</a:t>
            </a:r>
          </a:p>
        </p:txBody>
      </p:sp>
      <p:grpSp>
        <p:nvGrpSpPr>
          <p:cNvPr id="9" name="Group 36">
            <a:extLst>
              <a:ext uri="{FF2B5EF4-FFF2-40B4-BE49-F238E27FC236}">
                <a16:creationId xmlns:a16="http://schemas.microsoft.com/office/drawing/2014/main" id="{DB0BF6D3-CF77-4074-BCE3-1568111D9058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4870450"/>
            <a:ext cx="452438" cy="1143000"/>
            <a:chOff x="691" y="2789"/>
            <a:chExt cx="285" cy="720"/>
          </a:xfrm>
        </p:grpSpPr>
        <p:sp>
          <p:nvSpPr>
            <p:cNvPr id="21560" name="Rectangle 37">
              <a:extLst>
                <a:ext uri="{FF2B5EF4-FFF2-40B4-BE49-F238E27FC236}">
                  <a16:creationId xmlns:a16="http://schemas.microsoft.com/office/drawing/2014/main" id="{5329CE3A-605D-4922-B3AF-9DD631B84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" y="2789"/>
              <a:ext cx="284" cy="72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61" name="Line 38">
              <a:extLst>
                <a:ext uri="{FF2B5EF4-FFF2-40B4-BE49-F238E27FC236}">
                  <a16:creationId xmlns:a16="http://schemas.microsoft.com/office/drawing/2014/main" id="{25D799CF-A3D3-4A07-9369-4A146E5D0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3199"/>
              <a:ext cx="0" cy="2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62" name="Object 39">
              <a:extLst>
                <a:ext uri="{FF2B5EF4-FFF2-40B4-BE49-F238E27FC236}">
                  <a16:creationId xmlns:a16="http://schemas.microsoft.com/office/drawing/2014/main" id="{3E00DD25-13BA-4055-BF27-12B74F9328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0" y="3204"/>
            <a:ext cx="206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79" name="公式" r:id="rId21" imgW="352304" imgH="390661" progId="Equation.3">
                    <p:embed/>
                  </p:oleObj>
                </mc:Choice>
                <mc:Fallback>
                  <p:oleObj name="公式" r:id="rId21" imgW="352304" imgH="390661" progId="Equation.3">
                    <p:embed/>
                    <p:pic>
                      <p:nvPicPr>
                        <p:cNvPr id="21562" name="Object 39">
                          <a:extLst>
                            <a:ext uri="{FF2B5EF4-FFF2-40B4-BE49-F238E27FC236}">
                              <a16:creationId xmlns:a16="http://schemas.microsoft.com/office/drawing/2014/main" id="{3E00DD25-13BA-4055-BF27-12B74F9328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" y="3204"/>
                          <a:ext cx="206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0">
            <a:extLst>
              <a:ext uri="{FF2B5EF4-FFF2-40B4-BE49-F238E27FC236}">
                <a16:creationId xmlns:a16="http://schemas.microsoft.com/office/drawing/2014/main" id="{27823D82-88D5-4381-8215-4073F6F5C33E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4467225"/>
            <a:ext cx="450850" cy="533400"/>
            <a:chOff x="691" y="2453"/>
            <a:chExt cx="284" cy="336"/>
          </a:xfrm>
        </p:grpSpPr>
        <p:sp>
          <p:nvSpPr>
            <p:cNvPr id="21557" name="Rectangle 41">
              <a:extLst>
                <a:ext uri="{FF2B5EF4-FFF2-40B4-BE49-F238E27FC236}">
                  <a16:creationId xmlns:a16="http://schemas.microsoft.com/office/drawing/2014/main" id="{4DA447A6-1303-4805-8019-958640626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" y="2453"/>
              <a:ext cx="284" cy="33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58" name="Line 42">
              <a:extLst>
                <a:ext uri="{FF2B5EF4-FFF2-40B4-BE49-F238E27FC236}">
                  <a16:creationId xmlns:a16="http://schemas.microsoft.com/office/drawing/2014/main" id="{97559FF7-D905-4BA1-927E-F9F06B463D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8" y="2474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59" name="Object 43">
              <a:extLst>
                <a:ext uri="{FF2B5EF4-FFF2-40B4-BE49-F238E27FC236}">
                  <a16:creationId xmlns:a16="http://schemas.microsoft.com/office/drawing/2014/main" id="{C24645E3-5AE4-4C11-818A-BC437BED6B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2482"/>
            <a:ext cx="207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80" name="公式" r:id="rId23" imgW="352304" imgH="390661" progId="Equation.3">
                    <p:embed/>
                  </p:oleObj>
                </mc:Choice>
                <mc:Fallback>
                  <p:oleObj name="公式" r:id="rId23" imgW="352304" imgH="390661" progId="Equation.3">
                    <p:embed/>
                    <p:pic>
                      <p:nvPicPr>
                        <p:cNvPr id="21559" name="Object 43">
                          <a:extLst>
                            <a:ext uri="{FF2B5EF4-FFF2-40B4-BE49-F238E27FC236}">
                              <a16:creationId xmlns:a16="http://schemas.microsoft.com/office/drawing/2014/main" id="{C24645E3-5AE4-4C11-818A-BC437BED6B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482"/>
                          <a:ext cx="207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44">
            <a:extLst>
              <a:ext uri="{FF2B5EF4-FFF2-40B4-BE49-F238E27FC236}">
                <a16:creationId xmlns:a16="http://schemas.microsoft.com/office/drawing/2014/main" id="{E9F87E45-F978-445E-BCCE-AE37974EBB9F}"/>
              </a:ext>
            </a:extLst>
          </p:cNvPr>
          <p:cNvGrpSpPr>
            <a:grpSpLocks/>
          </p:cNvGrpSpPr>
          <p:nvPr/>
        </p:nvGrpSpPr>
        <p:grpSpPr bwMode="auto">
          <a:xfrm>
            <a:off x="3741738" y="5924550"/>
            <a:ext cx="3384550" cy="457200"/>
            <a:chOff x="2472" y="3732"/>
            <a:chExt cx="2132" cy="288"/>
          </a:xfrm>
        </p:grpSpPr>
        <p:sp>
          <p:nvSpPr>
            <p:cNvPr id="21554" name="Rectangle 45">
              <a:extLst>
                <a:ext uri="{FF2B5EF4-FFF2-40B4-BE49-F238E27FC236}">
                  <a16:creationId xmlns:a16="http://schemas.microsoft.com/office/drawing/2014/main" id="{F6ACF4A5-EEF1-486D-AD96-2339C5F73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3748"/>
              <a:ext cx="2132" cy="272"/>
            </a:xfrm>
            <a:prstGeom prst="rect">
              <a:avLst/>
            </a:prstGeom>
            <a:gradFill rotWithShape="1">
              <a:gsLst>
                <a:gs pos="0">
                  <a:srgbClr val="471800"/>
                </a:gs>
                <a:gs pos="50000">
                  <a:srgbClr val="993300"/>
                </a:gs>
                <a:gs pos="100000">
                  <a:srgbClr val="4718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1555" name="Object 46">
              <a:extLst>
                <a:ext uri="{FF2B5EF4-FFF2-40B4-BE49-F238E27FC236}">
                  <a16:creationId xmlns:a16="http://schemas.microsoft.com/office/drawing/2014/main" id="{B42631F9-C9DF-4EC4-80A2-18191EC2BC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1" y="3753"/>
            <a:ext cx="257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81" name="公式" r:id="rId25" imgW="276155" imgH="390661" progId="Equation.3">
                    <p:embed/>
                  </p:oleObj>
                </mc:Choice>
                <mc:Fallback>
                  <p:oleObj name="公式" r:id="rId25" imgW="276155" imgH="390661" progId="Equation.3">
                    <p:embed/>
                    <p:pic>
                      <p:nvPicPr>
                        <p:cNvPr id="21555" name="Object 46">
                          <a:extLst>
                            <a:ext uri="{FF2B5EF4-FFF2-40B4-BE49-F238E27FC236}">
                              <a16:creationId xmlns:a16="http://schemas.microsoft.com/office/drawing/2014/main" id="{B42631F9-C9DF-4EC4-80A2-18191EC2BC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1" y="3753"/>
                          <a:ext cx="257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6" name="Text Box 47">
              <a:extLst>
                <a:ext uri="{FF2B5EF4-FFF2-40B4-BE49-F238E27FC236}">
                  <a16:creationId xmlns:a16="http://schemas.microsoft.com/office/drawing/2014/main" id="{56A8642A-6405-41A9-A1B2-81785D621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9" y="3732"/>
              <a:ext cx="11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低温热源</a:t>
              </a:r>
            </a:p>
          </p:txBody>
        </p:sp>
      </p:grpSp>
      <p:sp>
        <p:nvSpPr>
          <p:cNvPr id="32816" name="AutoShape 48">
            <a:extLst>
              <a:ext uri="{FF2B5EF4-FFF2-40B4-BE49-F238E27FC236}">
                <a16:creationId xmlns:a16="http://schemas.microsoft.com/office/drawing/2014/main" id="{ECF4CCA0-3E0D-47FD-B57C-E564A76F2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4951413"/>
            <a:ext cx="719138" cy="493712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2" name="Group 49">
            <a:extLst>
              <a:ext uri="{FF2B5EF4-FFF2-40B4-BE49-F238E27FC236}">
                <a16:creationId xmlns:a16="http://schemas.microsoft.com/office/drawing/2014/main" id="{EB7CBE7E-BD8C-45E7-9B89-7EA140FC2926}"/>
              </a:ext>
            </a:extLst>
          </p:cNvPr>
          <p:cNvGrpSpPr>
            <a:grpSpLocks/>
          </p:cNvGrpSpPr>
          <p:nvPr/>
        </p:nvGrpSpPr>
        <p:grpSpPr bwMode="auto">
          <a:xfrm>
            <a:off x="5432425" y="4797425"/>
            <a:ext cx="842963" cy="1203325"/>
            <a:chOff x="3851" y="3067"/>
            <a:chExt cx="531" cy="758"/>
          </a:xfrm>
        </p:grpSpPr>
        <p:sp>
          <p:nvSpPr>
            <p:cNvPr id="21551" name="Rectangle 50">
              <a:extLst>
                <a:ext uri="{FF2B5EF4-FFF2-40B4-BE49-F238E27FC236}">
                  <a16:creationId xmlns:a16="http://schemas.microsoft.com/office/drawing/2014/main" id="{DB6A9A19-160D-48B5-9E54-34E59CDB4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3067"/>
              <a:ext cx="288" cy="737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52" name="Line 51">
              <a:extLst>
                <a:ext uri="{FF2B5EF4-FFF2-40B4-BE49-F238E27FC236}">
                  <a16:creationId xmlns:a16="http://schemas.microsoft.com/office/drawing/2014/main" id="{3D45F830-01C3-4C36-B15D-FBD5356724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2" y="3600"/>
              <a:ext cx="0" cy="2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53" name="Object 52">
              <a:extLst>
                <a:ext uri="{FF2B5EF4-FFF2-40B4-BE49-F238E27FC236}">
                  <a16:creationId xmlns:a16="http://schemas.microsoft.com/office/drawing/2014/main" id="{3502CFD0-DA52-4A09-B4E0-75A5747375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2" y="3561"/>
            <a:ext cx="24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82" name="公式" r:id="rId27" imgW="352304" imgH="390661" progId="Equation.3">
                    <p:embed/>
                  </p:oleObj>
                </mc:Choice>
                <mc:Fallback>
                  <p:oleObj name="公式" r:id="rId27" imgW="352304" imgH="390661" progId="Equation.3">
                    <p:embed/>
                    <p:pic>
                      <p:nvPicPr>
                        <p:cNvPr id="21553" name="Object 52">
                          <a:extLst>
                            <a:ext uri="{FF2B5EF4-FFF2-40B4-BE49-F238E27FC236}">
                              <a16:creationId xmlns:a16="http://schemas.microsoft.com/office/drawing/2014/main" id="{3502CFD0-DA52-4A09-B4E0-75A5747375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2" y="3561"/>
                          <a:ext cx="24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53">
            <a:extLst>
              <a:ext uri="{FF2B5EF4-FFF2-40B4-BE49-F238E27FC236}">
                <a16:creationId xmlns:a16="http://schemas.microsoft.com/office/drawing/2014/main" id="{ACA36CCC-AC49-4B0B-935B-5C509D813C2F}"/>
              </a:ext>
            </a:extLst>
          </p:cNvPr>
          <p:cNvGrpSpPr>
            <a:grpSpLocks/>
          </p:cNvGrpSpPr>
          <p:nvPr/>
        </p:nvGrpSpPr>
        <p:grpSpPr bwMode="auto">
          <a:xfrm>
            <a:off x="5127625" y="4537075"/>
            <a:ext cx="1905000" cy="1066800"/>
            <a:chOff x="3659" y="2903"/>
            <a:chExt cx="1200" cy="672"/>
          </a:xfrm>
        </p:grpSpPr>
        <p:grpSp>
          <p:nvGrpSpPr>
            <p:cNvPr id="21544" name="Group 54">
              <a:extLst>
                <a:ext uri="{FF2B5EF4-FFF2-40B4-BE49-F238E27FC236}">
                  <a16:creationId xmlns:a16="http://schemas.microsoft.com/office/drawing/2014/main" id="{FA2B0E3C-5E10-4752-898E-003E5D8A79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9" y="2903"/>
              <a:ext cx="720" cy="672"/>
              <a:chOff x="1775" y="1685"/>
              <a:chExt cx="720" cy="672"/>
            </a:xfrm>
          </p:grpSpPr>
          <p:sp>
            <p:nvSpPr>
              <p:cNvPr id="21546" name="Oval 55">
                <a:extLst>
                  <a:ext uri="{FF2B5EF4-FFF2-40B4-BE49-F238E27FC236}">
                    <a16:creationId xmlns:a16="http://schemas.microsoft.com/office/drawing/2014/main" id="{6F0767D5-9237-4936-A5B2-F698DA4C7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9" y="1781"/>
                <a:ext cx="336" cy="240"/>
              </a:xfrm>
              <a:prstGeom prst="ellipse">
                <a:avLst/>
              </a:prstGeom>
              <a:noFill/>
              <a:ln w="28575">
                <a:solidFill>
                  <a:srgbClr val="FFCC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21547" name="Group 56">
                <a:extLst>
                  <a:ext uri="{FF2B5EF4-FFF2-40B4-BE49-F238E27FC236}">
                    <a16:creationId xmlns:a16="http://schemas.microsoft.com/office/drawing/2014/main" id="{5FBB4734-68DF-40E3-A97F-909CF9D0B2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5" y="1685"/>
                <a:ext cx="720" cy="672"/>
                <a:chOff x="2603" y="1494"/>
                <a:chExt cx="720" cy="672"/>
              </a:xfrm>
            </p:grpSpPr>
            <p:sp>
              <p:nvSpPr>
                <p:cNvPr id="21548" name="Oval 57">
                  <a:extLst>
                    <a:ext uri="{FF2B5EF4-FFF2-40B4-BE49-F238E27FC236}">
                      <a16:creationId xmlns:a16="http://schemas.microsoft.com/office/drawing/2014/main" id="{7348D434-ED13-499C-9971-1F4D95A33F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61456">
                  <a:off x="2603" y="1590"/>
                  <a:ext cx="528" cy="384"/>
                </a:xfrm>
                <a:prstGeom prst="ellipse">
                  <a:avLst/>
                </a:prstGeom>
                <a:noFill/>
                <a:ln w="28575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1549" name="Rectangle 58">
                  <a:extLst>
                    <a:ext uri="{FF2B5EF4-FFF2-40B4-BE49-F238E27FC236}">
                      <a16:creationId xmlns:a16="http://schemas.microsoft.com/office/drawing/2014/main" id="{89732CD6-3972-4D9A-B082-A27667728B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7" y="1494"/>
                  <a:ext cx="576" cy="240"/>
                </a:xfrm>
                <a:prstGeom prst="rect">
                  <a:avLst/>
                </a:prstGeom>
                <a:solidFill>
                  <a:srgbClr val="006699"/>
                </a:solidFill>
                <a:ln w="9525">
                  <a:solidFill>
                    <a:srgbClr val="006699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1550" name="Rectangle 59">
                  <a:extLst>
                    <a:ext uri="{FF2B5EF4-FFF2-40B4-BE49-F238E27FC236}">
                      <a16:creationId xmlns:a16="http://schemas.microsoft.com/office/drawing/2014/main" id="{7CA87B6C-7F8D-45B6-AE59-5E90264E11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9" y="1734"/>
                  <a:ext cx="240" cy="432"/>
                </a:xfrm>
                <a:prstGeom prst="rect">
                  <a:avLst/>
                </a:prstGeom>
                <a:solidFill>
                  <a:srgbClr val="006699"/>
                </a:solidFill>
                <a:ln w="9525">
                  <a:solidFill>
                    <a:srgbClr val="006699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21545" name="AutoShape 60">
              <a:extLst>
                <a:ext uri="{FF2B5EF4-FFF2-40B4-BE49-F238E27FC236}">
                  <a16:creationId xmlns:a16="http://schemas.microsoft.com/office/drawing/2014/main" id="{FBFDD2A2-2F2C-4CDC-A1F7-FC62AAFC2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9" y="3143"/>
              <a:ext cx="809" cy="423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FF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6" name="Group 61">
            <a:extLst>
              <a:ext uri="{FF2B5EF4-FFF2-40B4-BE49-F238E27FC236}">
                <a16:creationId xmlns:a16="http://schemas.microsoft.com/office/drawing/2014/main" id="{2A005197-3B05-4021-96DF-FAF11A33B537}"/>
              </a:ext>
            </a:extLst>
          </p:cNvPr>
          <p:cNvGrpSpPr>
            <a:grpSpLocks/>
          </p:cNvGrpSpPr>
          <p:nvPr/>
        </p:nvGrpSpPr>
        <p:grpSpPr bwMode="auto">
          <a:xfrm>
            <a:off x="5432425" y="4445000"/>
            <a:ext cx="685800" cy="481013"/>
            <a:chOff x="2315" y="1398"/>
            <a:chExt cx="432" cy="336"/>
          </a:xfrm>
        </p:grpSpPr>
        <p:sp>
          <p:nvSpPr>
            <p:cNvPr id="21541" name="Rectangle 62">
              <a:extLst>
                <a:ext uri="{FF2B5EF4-FFF2-40B4-BE49-F238E27FC236}">
                  <a16:creationId xmlns:a16="http://schemas.microsoft.com/office/drawing/2014/main" id="{572D7A44-F0B1-4219-B73A-D07349BF8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" y="1398"/>
              <a:ext cx="432" cy="33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2" name="Line 63">
              <a:extLst>
                <a:ext uri="{FF2B5EF4-FFF2-40B4-BE49-F238E27FC236}">
                  <a16:creationId xmlns:a16="http://schemas.microsoft.com/office/drawing/2014/main" id="{C5837BFD-B34B-4F72-8C70-C665EAF4D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1" y="1471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43" name="Object 64">
              <a:extLst>
                <a:ext uri="{FF2B5EF4-FFF2-40B4-BE49-F238E27FC236}">
                  <a16:creationId xmlns:a16="http://schemas.microsoft.com/office/drawing/2014/main" id="{83C979FB-0B9E-4E44-82CB-F2CC6EE061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82" y="1420"/>
            <a:ext cx="21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83" name="公式" r:id="rId29" imgW="314382" imgH="390661" progId="Equation.3">
                    <p:embed/>
                  </p:oleObj>
                </mc:Choice>
                <mc:Fallback>
                  <p:oleObj name="公式" r:id="rId29" imgW="314382" imgH="390661" progId="Equation.3">
                    <p:embed/>
                    <p:pic>
                      <p:nvPicPr>
                        <p:cNvPr id="21543" name="Object 64">
                          <a:extLst>
                            <a:ext uri="{FF2B5EF4-FFF2-40B4-BE49-F238E27FC236}">
                              <a16:creationId xmlns:a16="http://schemas.microsoft.com/office/drawing/2014/main" id="{83C979FB-0B9E-4E44-82CB-F2CC6EE061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2" y="1420"/>
                          <a:ext cx="21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65">
            <a:extLst>
              <a:ext uri="{FF2B5EF4-FFF2-40B4-BE49-F238E27FC236}">
                <a16:creationId xmlns:a16="http://schemas.microsoft.com/office/drawing/2014/main" id="{37DC34FA-FAA0-49CE-9B19-3700CD76D1BB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5002213"/>
            <a:ext cx="730250" cy="304800"/>
            <a:chOff x="4461" y="3196"/>
            <a:chExt cx="460" cy="192"/>
          </a:xfrm>
        </p:grpSpPr>
        <p:sp>
          <p:nvSpPr>
            <p:cNvPr id="21538" name="Rectangle 66">
              <a:extLst>
                <a:ext uri="{FF2B5EF4-FFF2-40B4-BE49-F238E27FC236}">
                  <a16:creationId xmlns:a16="http://schemas.microsoft.com/office/drawing/2014/main" id="{F376597C-FE60-493C-9DF3-FB59736A5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5" y="3222"/>
              <a:ext cx="446" cy="163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9" name="Line 67">
              <a:extLst>
                <a:ext uri="{FF2B5EF4-FFF2-40B4-BE49-F238E27FC236}">
                  <a16:creationId xmlns:a16="http://schemas.microsoft.com/office/drawing/2014/main" id="{CA0392A7-B41B-4B8E-9884-C67210867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1" y="3309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40" name="Object 68">
              <a:extLst>
                <a:ext uri="{FF2B5EF4-FFF2-40B4-BE49-F238E27FC236}">
                  <a16:creationId xmlns:a16="http://schemas.microsoft.com/office/drawing/2014/main" id="{20133250-607E-4E81-A562-F13299204F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34" y="3196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84" name="公式" r:id="rId31" imgW="247714" imgH="276157" progId="Equation.3">
                    <p:embed/>
                  </p:oleObj>
                </mc:Choice>
                <mc:Fallback>
                  <p:oleObj name="公式" r:id="rId31" imgW="247714" imgH="276157" progId="Equation.3">
                    <p:embed/>
                    <p:pic>
                      <p:nvPicPr>
                        <p:cNvPr id="21540" name="Object 68">
                          <a:extLst>
                            <a:ext uri="{FF2B5EF4-FFF2-40B4-BE49-F238E27FC236}">
                              <a16:creationId xmlns:a16="http://schemas.microsoft.com/office/drawing/2014/main" id="{20133250-607E-4E81-A562-F13299204F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4" y="3196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837" name="Object 69">
            <a:extLst>
              <a:ext uri="{FF2B5EF4-FFF2-40B4-BE49-F238E27FC236}">
                <a16:creationId xmlns:a16="http://schemas.microsoft.com/office/drawing/2014/main" id="{E5589A65-F293-4CE9-AA62-AF27E550ED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8825" y="4000500"/>
          <a:ext cx="17097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85" name="公式" r:id="rId33" imgW="723875" imgH="190432" progId="Equation.3">
                  <p:embed/>
                </p:oleObj>
              </mc:Choice>
              <mc:Fallback>
                <p:oleObj name="公式" r:id="rId33" imgW="723875" imgH="190432" progId="Equation.3">
                  <p:embed/>
                  <p:pic>
                    <p:nvPicPr>
                      <p:cNvPr id="32837" name="Object 69">
                        <a:extLst>
                          <a:ext uri="{FF2B5EF4-FFF2-40B4-BE49-F238E27FC236}">
                            <a16:creationId xmlns:a16="http://schemas.microsoft.com/office/drawing/2014/main" id="{E5589A65-F293-4CE9-AA62-AF27E550ED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8825" y="4000500"/>
                        <a:ext cx="170973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71">
            <a:extLst>
              <a:ext uri="{FF2B5EF4-FFF2-40B4-BE49-F238E27FC236}">
                <a16:creationId xmlns:a16="http://schemas.microsoft.com/office/drawing/2014/main" id="{2A597BDB-FFD7-43E0-A327-18C345DC1F2E}"/>
              </a:ext>
            </a:extLst>
          </p:cNvPr>
          <p:cNvGrpSpPr>
            <a:grpSpLocks/>
          </p:cNvGrpSpPr>
          <p:nvPr/>
        </p:nvGrpSpPr>
        <p:grpSpPr bwMode="auto">
          <a:xfrm>
            <a:off x="3741738" y="4022725"/>
            <a:ext cx="3313112" cy="487363"/>
            <a:chOff x="2472" y="2534"/>
            <a:chExt cx="2087" cy="307"/>
          </a:xfrm>
        </p:grpSpPr>
        <p:sp>
          <p:nvSpPr>
            <p:cNvPr id="21535" name="Rectangle 72">
              <a:extLst>
                <a:ext uri="{FF2B5EF4-FFF2-40B4-BE49-F238E27FC236}">
                  <a16:creationId xmlns:a16="http://schemas.microsoft.com/office/drawing/2014/main" id="{46404E0A-0015-471D-B29D-5B106F438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2548"/>
              <a:ext cx="2087" cy="293"/>
            </a:xfrm>
            <a:prstGeom prst="rect">
              <a:avLst/>
            </a:prstGeom>
            <a:gradFill rotWithShape="1">
              <a:gsLst>
                <a:gs pos="0">
                  <a:srgbClr val="761847"/>
                </a:gs>
                <a:gs pos="50000">
                  <a:srgbClr val="FF3399"/>
                </a:gs>
                <a:gs pos="100000">
                  <a:srgbClr val="76184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6" name="Text Box 73">
              <a:extLst>
                <a:ext uri="{FF2B5EF4-FFF2-40B4-BE49-F238E27FC236}">
                  <a16:creationId xmlns:a16="http://schemas.microsoft.com/office/drawing/2014/main" id="{42E82452-E138-4506-827D-5878296DF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8" y="2534"/>
              <a:ext cx="12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高温热源</a:t>
              </a:r>
            </a:p>
          </p:txBody>
        </p:sp>
        <p:graphicFrame>
          <p:nvGraphicFramePr>
            <p:cNvPr id="21537" name="Object 74">
              <a:extLst>
                <a:ext uri="{FF2B5EF4-FFF2-40B4-BE49-F238E27FC236}">
                  <a16:creationId xmlns:a16="http://schemas.microsoft.com/office/drawing/2014/main" id="{EDD7E80A-9C55-43EA-9B7A-CA9F006D52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69" y="2548"/>
            <a:ext cx="245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86" name="公式" r:id="rId35" imgW="238233" imgH="390661" progId="Equation.3">
                    <p:embed/>
                  </p:oleObj>
                </mc:Choice>
                <mc:Fallback>
                  <p:oleObj name="公式" r:id="rId35" imgW="238233" imgH="390661" progId="Equation.3">
                    <p:embed/>
                    <p:pic>
                      <p:nvPicPr>
                        <p:cNvPr id="21537" name="Object 74">
                          <a:extLst>
                            <a:ext uri="{FF2B5EF4-FFF2-40B4-BE49-F238E27FC236}">
                              <a16:creationId xmlns:a16="http://schemas.microsoft.com/office/drawing/2014/main" id="{EDD7E80A-9C55-43EA-9B7A-CA9F006D52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9" y="2548"/>
                          <a:ext cx="245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843" name="AutoShape 75">
            <a:extLst>
              <a:ext uri="{FF2B5EF4-FFF2-40B4-BE49-F238E27FC236}">
                <a16:creationId xmlns:a16="http://schemas.microsoft.com/office/drawing/2014/main" id="{DB7BDC02-7678-4B90-B129-9B71D4116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955800"/>
            <a:ext cx="503238" cy="50323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44" name="AutoShape 76">
            <a:extLst>
              <a:ext uri="{FF2B5EF4-FFF2-40B4-BE49-F238E27FC236}">
                <a16:creationId xmlns:a16="http://schemas.microsoft.com/office/drawing/2014/main" id="{0CB823FB-27E0-4557-8E20-94BFC1485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4786313"/>
            <a:ext cx="503238" cy="50323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33" name="灯片编号占位符 1">
            <a:extLst>
              <a:ext uri="{FF2B5EF4-FFF2-40B4-BE49-F238E27FC236}">
                <a16:creationId xmlns:a16="http://schemas.microsoft.com/office/drawing/2014/main" id="{50B18BDD-4F45-4CBC-97A6-9A049BC6CD7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4E789A-AC9E-414D-AA38-7D8CA08EBF6E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77" name="Line 106">
            <a:extLst>
              <a:ext uri="{FF2B5EF4-FFF2-40B4-BE49-F238E27FC236}">
                <a16:creationId xmlns:a16="http://schemas.microsoft.com/office/drawing/2014/main" id="{CAE2F46F-6971-4EF8-9C56-627B908318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72313" y="1739900"/>
            <a:ext cx="0" cy="1260475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0" anchor="ctr"/>
          <a:lstStyle/>
          <a:p>
            <a:endParaRPr lang="zh-CN" altLang="en-US"/>
          </a:p>
        </p:txBody>
      </p:sp>
      <p:sp>
        <p:nvSpPr>
          <p:cNvPr id="78" name="AutoShape 31">
            <a:extLst>
              <a:ext uri="{FF2B5EF4-FFF2-40B4-BE49-F238E27FC236}">
                <a16:creationId xmlns:a16="http://schemas.microsoft.com/office/drawing/2014/main" id="{38C6BE53-4F9E-487E-BD52-CF1056964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4148" y="2116182"/>
            <a:ext cx="1295400" cy="6858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  <p:bldP spid="32771" grpId="0"/>
      <p:bldP spid="32772" grpId="0"/>
      <p:bldP spid="32799" grpId="0" animBg="1"/>
      <p:bldP spid="32802" grpId="0" autoUpdateAnimBg="0"/>
      <p:bldP spid="32803" grpId="0" autoUpdateAnimBg="0"/>
      <p:bldP spid="32816" grpId="0" animBg="1"/>
      <p:bldP spid="32843" grpId="0" animBg="1"/>
      <p:bldP spid="32844" grpId="0" animBg="1"/>
      <p:bldP spid="7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26892BA1-4DFC-4569-B51B-1156B2419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57188"/>
            <a:ext cx="7888288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用热力学第二定律证明：任意两条绝热线不可能相交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A6F3F6AF-1560-4EEA-903C-96A5E2116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1039813"/>
            <a:ext cx="1816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反证法</a:t>
            </a: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B5D6F81B-BFFA-4DAA-A537-7FF3342E2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404664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93D59B80-FB1B-4849-9B03-5D6C21A66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0429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证</a:t>
            </a:r>
          </a:p>
        </p:txBody>
      </p:sp>
      <p:sp>
        <p:nvSpPr>
          <p:cNvPr id="13318" name="Arc 6">
            <a:extLst>
              <a:ext uri="{FF2B5EF4-FFF2-40B4-BE49-F238E27FC236}">
                <a16:creationId xmlns:a16="http://schemas.microsoft.com/office/drawing/2014/main" id="{219BD76F-D759-4DA4-8B06-24CDEFAD3C37}"/>
              </a:ext>
            </a:extLst>
          </p:cNvPr>
          <p:cNvSpPr>
            <a:spLocks/>
          </p:cNvSpPr>
          <p:nvPr/>
        </p:nvSpPr>
        <p:spPr bwMode="auto">
          <a:xfrm rot="-1356993">
            <a:off x="6845300" y="1754188"/>
            <a:ext cx="2119313" cy="1982787"/>
          </a:xfrm>
          <a:custGeom>
            <a:avLst/>
            <a:gdLst>
              <a:gd name="T0" fmla="*/ 2147483646 w 21600"/>
              <a:gd name="T1" fmla="*/ 2147483646 h 15357"/>
              <a:gd name="T2" fmla="*/ 0 w 21600"/>
              <a:gd name="T3" fmla="*/ 0 h 15357"/>
              <a:gd name="T4" fmla="*/ 2147483646 w 21600"/>
              <a:gd name="T5" fmla="*/ 2147483646 h 15357"/>
              <a:gd name="T6" fmla="*/ 0 60000 65536"/>
              <a:gd name="T7" fmla="*/ 0 60000 65536"/>
              <a:gd name="T8" fmla="*/ 0 60000 65536"/>
              <a:gd name="T9" fmla="*/ 0 w 21600"/>
              <a:gd name="T10" fmla="*/ 0 h 15357"/>
              <a:gd name="T11" fmla="*/ 21600 w 21600"/>
              <a:gd name="T12" fmla="*/ 15357 h 153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5357" fill="none" extrusionOk="0">
                <a:moveTo>
                  <a:pt x="6399" y="15357"/>
                </a:moveTo>
                <a:cubicBezTo>
                  <a:pt x="2304" y="11300"/>
                  <a:pt x="0" y="5775"/>
                  <a:pt x="0" y="11"/>
                </a:cubicBezTo>
                <a:cubicBezTo>
                  <a:pt x="-1" y="7"/>
                  <a:pt x="0" y="3"/>
                  <a:pt x="0" y="0"/>
                </a:cubicBezTo>
              </a:path>
              <a:path w="21600" h="15357" stroke="0" extrusionOk="0">
                <a:moveTo>
                  <a:pt x="6399" y="15357"/>
                </a:moveTo>
                <a:cubicBezTo>
                  <a:pt x="2304" y="11300"/>
                  <a:pt x="0" y="5775"/>
                  <a:pt x="0" y="11"/>
                </a:cubicBezTo>
                <a:cubicBezTo>
                  <a:pt x="-1" y="7"/>
                  <a:pt x="0" y="3"/>
                  <a:pt x="0" y="0"/>
                </a:cubicBezTo>
                <a:lnTo>
                  <a:pt x="21600" y="11"/>
                </a:lnTo>
                <a:lnTo>
                  <a:pt x="6399" y="15357"/>
                </a:lnTo>
                <a:close/>
              </a:path>
            </a:pathLst>
          </a:custGeom>
          <a:noFill/>
          <a:ln w="38100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" name="Arc 7">
            <a:extLst>
              <a:ext uri="{FF2B5EF4-FFF2-40B4-BE49-F238E27FC236}">
                <a16:creationId xmlns:a16="http://schemas.microsoft.com/office/drawing/2014/main" id="{54A467CA-1A8F-4593-8050-872C256D5171}"/>
              </a:ext>
            </a:extLst>
          </p:cNvPr>
          <p:cNvSpPr>
            <a:spLocks/>
          </p:cNvSpPr>
          <p:nvPr/>
        </p:nvSpPr>
        <p:spPr bwMode="auto">
          <a:xfrm rot="-837198">
            <a:off x="6249988" y="1144588"/>
            <a:ext cx="2279650" cy="2657475"/>
          </a:xfrm>
          <a:custGeom>
            <a:avLst/>
            <a:gdLst>
              <a:gd name="T0" fmla="*/ 2147483646 w 20913"/>
              <a:gd name="T1" fmla="*/ 2147483646 h 20727"/>
              <a:gd name="T2" fmla="*/ 0 w 20913"/>
              <a:gd name="T3" fmla="*/ 2147483646 h 20727"/>
              <a:gd name="T4" fmla="*/ 2147483646 w 20913"/>
              <a:gd name="T5" fmla="*/ 0 h 20727"/>
              <a:gd name="T6" fmla="*/ 0 60000 65536"/>
              <a:gd name="T7" fmla="*/ 0 60000 65536"/>
              <a:gd name="T8" fmla="*/ 0 60000 65536"/>
              <a:gd name="T9" fmla="*/ 0 w 20913"/>
              <a:gd name="T10" fmla="*/ 0 h 20727"/>
              <a:gd name="T11" fmla="*/ 20913 w 20913"/>
              <a:gd name="T12" fmla="*/ 20727 h 207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13" h="20727" fill="none" extrusionOk="0">
                <a:moveTo>
                  <a:pt x="14834" y="20726"/>
                </a:moveTo>
                <a:cubicBezTo>
                  <a:pt x="7537" y="18586"/>
                  <a:pt x="1902" y="12767"/>
                  <a:pt x="0" y="5404"/>
                </a:cubicBezTo>
              </a:path>
              <a:path w="20913" h="20727" stroke="0" extrusionOk="0">
                <a:moveTo>
                  <a:pt x="14834" y="20726"/>
                </a:moveTo>
                <a:cubicBezTo>
                  <a:pt x="7537" y="18586"/>
                  <a:pt x="1902" y="12767"/>
                  <a:pt x="0" y="5404"/>
                </a:cubicBezTo>
                <a:lnTo>
                  <a:pt x="20913" y="0"/>
                </a:lnTo>
                <a:lnTo>
                  <a:pt x="14834" y="20726"/>
                </a:lnTo>
                <a:close/>
              </a:path>
            </a:pathLst>
          </a:custGeom>
          <a:noFill/>
          <a:ln w="38100">
            <a:solidFill>
              <a:srgbClr val="FC505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" name="Arc 8">
            <a:extLst>
              <a:ext uri="{FF2B5EF4-FFF2-40B4-BE49-F238E27FC236}">
                <a16:creationId xmlns:a16="http://schemas.microsoft.com/office/drawing/2014/main" id="{BADFA400-37F3-4621-8300-7D4F483CEBB1}"/>
              </a:ext>
            </a:extLst>
          </p:cNvPr>
          <p:cNvSpPr>
            <a:spLocks/>
          </p:cNvSpPr>
          <p:nvPr/>
        </p:nvSpPr>
        <p:spPr bwMode="auto">
          <a:xfrm rot="-1075569">
            <a:off x="5749925" y="117475"/>
            <a:ext cx="1889125" cy="2562225"/>
          </a:xfrm>
          <a:custGeom>
            <a:avLst/>
            <a:gdLst>
              <a:gd name="T0" fmla="*/ 2147483646 w 17337"/>
              <a:gd name="T1" fmla="*/ 2147483646 h 19986"/>
              <a:gd name="T2" fmla="*/ 0 w 17337"/>
              <a:gd name="T3" fmla="*/ 2147483646 h 19986"/>
              <a:gd name="T4" fmla="*/ 2147483646 w 17337"/>
              <a:gd name="T5" fmla="*/ 0 h 19986"/>
              <a:gd name="T6" fmla="*/ 0 60000 65536"/>
              <a:gd name="T7" fmla="*/ 0 60000 65536"/>
              <a:gd name="T8" fmla="*/ 0 60000 65536"/>
              <a:gd name="T9" fmla="*/ 0 w 17337"/>
              <a:gd name="T10" fmla="*/ 0 h 19986"/>
              <a:gd name="T11" fmla="*/ 17337 w 17337"/>
              <a:gd name="T12" fmla="*/ 19986 h 199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37" h="19986" fill="none" extrusionOk="0">
                <a:moveTo>
                  <a:pt x="9144" y="19985"/>
                </a:moveTo>
                <a:cubicBezTo>
                  <a:pt x="5506" y="18494"/>
                  <a:pt x="2345" y="16039"/>
                  <a:pt x="0" y="12883"/>
                </a:cubicBezTo>
              </a:path>
              <a:path w="17337" h="19986" stroke="0" extrusionOk="0">
                <a:moveTo>
                  <a:pt x="9144" y="19985"/>
                </a:moveTo>
                <a:cubicBezTo>
                  <a:pt x="5506" y="18494"/>
                  <a:pt x="2345" y="16039"/>
                  <a:pt x="0" y="12883"/>
                </a:cubicBezTo>
                <a:lnTo>
                  <a:pt x="17337" y="0"/>
                </a:lnTo>
                <a:lnTo>
                  <a:pt x="9144" y="19985"/>
                </a:lnTo>
                <a:close/>
              </a:path>
            </a:pathLst>
          </a:custGeom>
          <a:noFill/>
          <a:ln w="38100">
            <a:solidFill>
              <a:srgbClr val="66FF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5E284FB-76BB-4E3C-96F5-EA6DE21207BF}"/>
              </a:ext>
            </a:extLst>
          </p:cNvPr>
          <p:cNvGrpSpPr>
            <a:grpSpLocks/>
          </p:cNvGrpSpPr>
          <p:nvPr/>
        </p:nvGrpSpPr>
        <p:grpSpPr bwMode="auto">
          <a:xfrm>
            <a:off x="5853113" y="2124075"/>
            <a:ext cx="446087" cy="519113"/>
            <a:chOff x="3969" y="1471"/>
            <a:chExt cx="281" cy="327"/>
          </a:xfrm>
        </p:grpSpPr>
        <p:sp>
          <p:nvSpPr>
            <p:cNvPr id="23583" name="Text Box 10">
              <a:extLst>
                <a:ext uri="{FF2B5EF4-FFF2-40B4-BE49-F238E27FC236}">
                  <a16:creationId xmlns:a16="http://schemas.microsoft.com/office/drawing/2014/main" id="{46E656C0-AA1B-4C40-8EA0-6DE8F053F0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147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a</a:t>
              </a:r>
            </a:p>
          </p:txBody>
        </p:sp>
        <p:graphicFrame>
          <p:nvGraphicFramePr>
            <p:cNvPr id="23584" name="Object 11">
              <a:extLst>
                <a:ext uri="{FF2B5EF4-FFF2-40B4-BE49-F238E27FC236}">
                  <a16:creationId xmlns:a16="http://schemas.microsoft.com/office/drawing/2014/main" id="{F14D58AE-1DB3-4814-8EF0-96E0B75962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1480"/>
            <a:ext cx="122" cy="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282" name="公式" r:id="rId3" imgW="161778" imgH="161959" progId="Equation.3">
                    <p:embed/>
                  </p:oleObj>
                </mc:Choice>
                <mc:Fallback>
                  <p:oleObj name="公式" r:id="rId3" imgW="161778" imgH="161959" progId="Equation.3">
                    <p:embed/>
                    <p:pic>
                      <p:nvPicPr>
                        <p:cNvPr id="23584" name="Object 11">
                          <a:extLst>
                            <a:ext uri="{FF2B5EF4-FFF2-40B4-BE49-F238E27FC236}">
                              <a16:creationId xmlns:a16="http://schemas.microsoft.com/office/drawing/2014/main" id="{F14D58AE-1DB3-4814-8EF0-96E0B75962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480"/>
                          <a:ext cx="122" cy="1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F762D6E3-DC83-46F0-8D10-33767DAF8AA6}"/>
              </a:ext>
            </a:extLst>
          </p:cNvPr>
          <p:cNvGrpSpPr>
            <a:grpSpLocks/>
          </p:cNvGrpSpPr>
          <p:nvPr/>
        </p:nvGrpSpPr>
        <p:grpSpPr bwMode="auto">
          <a:xfrm>
            <a:off x="6581775" y="2000250"/>
            <a:ext cx="415925" cy="569913"/>
            <a:chOff x="4434" y="1378"/>
            <a:chExt cx="262" cy="359"/>
          </a:xfrm>
        </p:grpSpPr>
        <p:sp>
          <p:nvSpPr>
            <p:cNvPr id="23581" name="Text Box 13">
              <a:extLst>
                <a:ext uri="{FF2B5EF4-FFF2-40B4-BE49-F238E27FC236}">
                  <a16:creationId xmlns:a16="http://schemas.microsoft.com/office/drawing/2014/main" id="{6C0F36B6-38E8-4AE2-8E8B-27A68819A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37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b</a:t>
              </a:r>
            </a:p>
          </p:txBody>
        </p:sp>
        <p:graphicFrame>
          <p:nvGraphicFramePr>
            <p:cNvPr id="23582" name="Object 14">
              <a:extLst>
                <a:ext uri="{FF2B5EF4-FFF2-40B4-BE49-F238E27FC236}">
                  <a16:creationId xmlns:a16="http://schemas.microsoft.com/office/drawing/2014/main" id="{1E555646-185F-4CD2-8E44-457646706F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34" y="1616"/>
            <a:ext cx="122" cy="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283" name="公式" r:id="rId5" imgW="161778" imgH="161959" progId="Equation.3">
                    <p:embed/>
                  </p:oleObj>
                </mc:Choice>
                <mc:Fallback>
                  <p:oleObj name="公式" r:id="rId5" imgW="161778" imgH="161959" progId="Equation.3">
                    <p:embed/>
                    <p:pic>
                      <p:nvPicPr>
                        <p:cNvPr id="23582" name="Object 14">
                          <a:extLst>
                            <a:ext uri="{FF2B5EF4-FFF2-40B4-BE49-F238E27FC236}">
                              <a16:creationId xmlns:a16="http://schemas.microsoft.com/office/drawing/2014/main" id="{1E555646-185F-4CD2-8E44-457646706F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4" y="1616"/>
                          <a:ext cx="122" cy="1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689B9140-9C64-4EE3-9009-A99F5A75BF1E}"/>
              </a:ext>
            </a:extLst>
          </p:cNvPr>
          <p:cNvGrpSpPr>
            <a:grpSpLocks/>
          </p:cNvGrpSpPr>
          <p:nvPr/>
        </p:nvGrpSpPr>
        <p:grpSpPr bwMode="auto">
          <a:xfrm>
            <a:off x="6945313" y="3214688"/>
            <a:ext cx="471487" cy="519112"/>
            <a:chOff x="4461" y="2164"/>
            <a:chExt cx="297" cy="327"/>
          </a:xfrm>
        </p:grpSpPr>
        <p:sp>
          <p:nvSpPr>
            <p:cNvPr id="23579" name="Text Box 16">
              <a:extLst>
                <a:ext uri="{FF2B5EF4-FFF2-40B4-BE49-F238E27FC236}">
                  <a16:creationId xmlns:a16="http://schemas.microsoft.com/office/drawing/2014/main" id="{2193B9BA-2635-41FA-8678-54A91C8D4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1" y="2164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c</a:t>
              </a:r>
            </a:p>
          </p:txBody>
        </p:sp>
        <p:graphicFrame>
          <p:nvGraphicFramePr>
            <p:cNvPr id="23580" name="Object 17">
              <a:extLst>
                <a:ext uri="{FF2B5EF4-FFF2-40B4-BE49-F238E27FC236}">
                  <a16:creationId xmlns:a16="http://schemas.microsoft.com/office/drawing/2014/main" id="{8B18152A-E5AF-4579-90FF-01398C0CC2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36" y="2206"/>
            <a:ext cx="122" cy="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284" name="公式" r:id="rId7" imgW="161778" imgH="161959" progId="Equation.3">
                    <p:embed/>
                  </p:oleObj>
                </mc:Choice>
                <mc:Fallback>
                  <p:oleObj name="公式" r:id="rId7" imgW="161778" imgH="161959" progId="Equation.3">
                    <p:embed/>
                    <p:pic>
                      <p:nvPicPr>
                        <p:cNvPr id="23580" name="Object 17">
                          <a:extLst>
                            <a:ext uri="{FF2B5EF4-FFF2-40B4-BE49-F238E27FC236}">
                              <a16:creationId xmlns:a16="http://schemas.microsoft.com/office/drawing/2014/main" id="{8B18152A-E5AF-4579-90FF-01398C0CC2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6" y="2206"/>
                          <a:ext cx="122" cy="1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30" name="Rectangle 18">
            <a:extLst>
              <a:ext uri="{FF2B5EF4-FFF2-40B4-BE49-F238E27FC236}">
                <a16:creationId xmlns:a16="http://schemas.microsoft.com/office/drawing/2014/main" id="{0AB25E1F-1F57-45D5-9C07-645749986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688" y="3643313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6600"/>
                </a:solidFill>
              </a:rPr>
              <a:t>绝热线</a:t>
            </a:r>
          </a:p>
        </p:txBody>
      </p:sp>
      <p:sp>
        <p:nvSpPr>
          <p:cNvPr id="13331" name="Rectangle 19">
            <a:extLst>
              <a:ext uri="{FF2B5EF4-FFF2-40B4-BE49-F238E27FC236}">
                <a16:creationId xmlns:a16="http://schemas.microsoft.com/office/drawing/2014/main" id="{27F48AF9-B8B7-4124-8CCB-571B6195E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0" y="2357438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等温线</a:t>
            </a:r>
          </a:p>
        </p:txBody>
      </p:sp>
      <p:graphicFrame>
        <p:nvGraphicFramePr>
          <p:cNvPr id="13332" name="Object 20">
            <a:extLst>
              <a:ext uri="{FF2B5EF4-FFF2-40B4-BE49-F238E27FC236}">
                <a16:creationId xmlns:a16="http://schemas.microsoft.com/office/drawing/2014/main" id="{D3F0EAF9-85F7-461F-8E39-3972797D4E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7188" y="4071938"/>
          <a:ext cx="11033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85" name="公式" r:id="rId9" imgW="1104925" imgH="400152" progId="Equation.3">
                  <p:embed/>
                </p:oleObj>
              </mc:Choice>
              <mc:Fallback>
                <p:oleObj name="公式" r:id="rId9" imgW="1104925" imgH="400152" progId="Equation.3">
                  <p:embed/>
                  <p:pic>
                    <p:nvPicPr>
                      <p:cNvPr id="13332" name="Object 20">
                        <a:extLst>
                          <a:ext uri="{FF2B5EF4-FFF2-40B4-BE49-F238E27FC236}">
                            <a16:creationId xmlns:a16="http://schemas.microsoft.com/office/drawing/2014/main" id="{D3F0EAF9-85F7-461F-8E39-3972797D4E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8" y="4071938"/>
                        <a:ext cx="11033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3" name="Line 21">
            <a:extLst>
              <a:ext uri="{FF2B5EF4-FFF2-40B4-BE49-F238E27FC236}">
                <a16:creationId xmlns:a16="http://schemas.microsoft.com/office/drawing/2014/main" id="{B055FEAE-C91C-4096-AF3B-3E67DE4C08DF}"/>
              </a:ext>
            </a:extLst>
          </p:cNvPr>
          <p:cNvSpPr>
            <a:spLocks noChangeShapeType="1"/>
          </p:cNvSpPr>
          <p:nvPr/>
        </p:nvSpPr>
        <p:spPr bwMode="auto">
          <a:xfrm rot="-180000">
            <a:off x="6751638" y="2651125"/>
            <a:ext cx="200025" cy="331788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34" name="Text Box 22">
            <a:extLst>
              <a:ext uri="{FF2B5EF4-FFF2-40B4-BE49-F238E27FC236}">
                <a16:creationId xmlns:a16="http://schemas.microsoft.com/office/drawing/2014/main" id="{AC565080-77F3-467F-B8AA-499E74FD9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600200"/>
            <a:ext cx="385762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假设两绝热线相交于 </a:t>
            </a:r>
            <a:r>
              <a:rPr lang="en-US" altLang="zh-CN" i="1" dirty="0">
                <a:solidFill>
                  <a:srgbClr val="FFFF00"/>
                </a:solidFill>
              </a:rPr>
              <a:t>c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点，在两绝热线上寻找温度相同的两点</a:t>
            </a:r>
            <a:r>
              <a:rPr lang="en-US" altLang="zh-CN" i="1" dirty="0">
                <a:solidFill>
                  <a:srgbClr val="FFFF00"/>
                </a:solidFill>
              </a:rPr>
              <a:t>a</a:t>
            </a:r>
            <a:r>
              <a:rPr lang="zh-CN" altLang="en-US" i="1" dirty="0">
                <a:solidFill>
                  <a:schemeClr val="bg1"/>
                </a:solidFill>
              </a:rPr>
              <a:t>、</a:t>
            </a:r>
            <a:r>
              <a:rPr lang="en-US" altLang="zh-CN" i="1" dirty="0">
                <a:solidFill>
                  <a:srgbClr val="FFFF00"/>
                </a:solidFill>
              </a:rPr>
              <a:t>b</a:t>
            </a:r>
            <a:r>
              <a:rPr lang="zh-CN" altLang="en-US" dirty="0">
                <a:solidFill>
                  <a:schemeClr val="bg1"/>
                </a:solidFill>
              </a:rPr>
              <a:t>，过</a:t>
            </a:r>
            <a:r>
              <a:rPr lang="en-US" altLang="zh-CN" i="1" dirty="0">
                <a:solidFill>
                  <a:srgbClr val="FFFF00"/>
                </a:solidFill>
              </a:rPr>
              <a:t>ab</a:t>
            </a:r>
            <a:r>
              <a:rPr lang="zh-CN" altLang="en-US" dirty="0">
                <a:solidFill>
                  <a:schemeClr val="bg1"/>
                </a:solidFill>
              </a:rPr>
              <a:t>作一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条等温线，</a:t>
            </a:r>
            <a:r>
              <a:rPr lang="en-US" altLang="zh-CN" i="1" dirty="0" err="1">
                <a:solidFill>
                  <a:srgbClr val="FFFF00"/>
                </a:solidFill>
              </a:rPr>
              <a:t>abca</a:t>
            </a:r>
            <a:r>
              <a:rPr lang="en-US" altLang="zh-CN" i="1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构成一循环过程。</a:t>
            </a:r>
          </a:p>
        </p:txBody>
      </p:sp>
      <p:grpSp>
        <p:nvGrpSpPr>
          <p:cNvPr id="5" name="Group 23">
            <a:extLst>
              <a:ext uri="{FF2B5EF4-FFF2-40B4-BE49-F238E27FC236}">
                <a16:creationId xmlns:a16="http://schemas.microsoft.com/office/drawing/2014/main" id="{3AB7BAB6-B814-4F7D-BC26-F192EB2DA876}"/>
              </a:ext>
            </a:extLst>
          </p:cNvPr>
          <p:cNvGrpSpPr>
            <a:grpSpLocks/>
          </p:cNvGrpSpPr>
          <p:nvPr/>
        </p:nvGrpSpPr>
        <p:grpSpPr bwMode="auto">
          <a:xfrm>
            <a:off x="5316538" y="1647825"/>
            <a:ext cx="3314700" cy="2952750"/>
            <a:chOff x="3423" y="2024"/>
            <a:chExt cx="2088" cy="1860"/>
          </a:xfrm>
        </p:grpSpPr>
        <p:sp>
          <p:nvSpPr>
            <p:cNvPr id="23574" name="Line 24">
              <a:extLst>
                <a:ext uri="{FF2B5EF4-FFF2-40B4-BE49-F238E27FC236}">
                  <a16:creationId xmlns:a16="http://schemas.microsoft.com/office/drawing/2014/main" id="{EC22353F-984D-4670-889E-880D3A524A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1" y="3596"/>
              <a:ext cx="1791" cy="1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5" name="Line 25">
              <a:extLst>
                <a:ext uri="{FF2B5EF4-FFF2-40B4-BE49-F238E27FC236}">
                  <a16:creationId xmlns:a16="http://schemas.microsoft.com/office/drawing/2014/main" id="{DA87E1C2-E2F4-448B-A611-1822068248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51" y="2160"/>
              <a:ext cx="11" cy="1458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6" name="Text Box 26">
              <a:extLst>
                <a:ext uri="{FF2B5EF4-FFF2-40B4-BE49-F238E27FC236}">
                  <a16:creationId xmlns:a16="http://schemas.microsoft.com/office/drawing/2014/main" id="{E0DCBC8B-0D4B-479E-803D-8F8EF1C80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7" y="35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23577" name="Text Box 27">
              <a:extLst>
                <a:ext uri="{FF2B5EF4-FFF2-40B4-BE49-F238E27FC236}">
                  <a16:creationId xmlns:a16="http://schemas.microsoft.com/office/drawing/2014/main" id="{000CC7AD-DB04-4E88-B197-18D6AAD55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3" y="202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23578" name="Text Box 28">
              <a:extLst>
                <a:ext uri="{FF2B5EF4-FFF2-40B4-BE49-F238E27FC236}">
                  <a16:creationId xmlns:a16="http://schemas.microsoft.com/office/drawing/2014/main" id="{2B2B4F1B-ADE0-4D67-8C01-0D07D8AFB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5" y="355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13341" name="Text Box 29">
            <a:extLst>
              <a:ext uri="{FF2B5EF4-FFF2-40B4-BE49-F238E27FC236}">
                <a16:creationId xmlns:a16="http://schemas.microsoft.com/office/drawing/2014/main" id="{D1381556-CFA7-426F-9FB5-91861C04C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4708525"/>
            <a:ext cx="81756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这就构成了从单一热源吸收热量的热机，违背了热力学第二定律的开尔文表述；因此任意两条绝热线不可能相交。</a:t>
            </a:r>
          </a:p>
        </p:txBody>
      </p:sp>
      <p:sp>
        <p:nvSpPr>
          <p:cNvPr id="13348" name="Rectangle 36">
            <a:extLst>
              <a:ext uri="{FF2B5EF4-FFF2-40B4-BE49-F238E27FC236}">
                <a16:creationId xmlns:a16="http://schemas.microsoft.com/office/drawing/2014/main" id="{59C61CB9-91FD-4BA6-9FF7-532FBE50A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000500"/>
            <a:ext cx="201612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循环过程中：</a:t>
            </a:r>
          </a:p>
        </p:txBody>
      </p:sp>
      <p:sp>
        <p:nvSpPr>
          <p:cNvPr id="27686" name="Text Box 38">
            <a:extLst>
              <a:ext uri="{FF2B5EF4-FFF2-40B4-BE49-F238E27FC236}">
                <a16:creationId xmlns:a16="http://schemas.microsoft.com/office/drawing/2014/main" id="{314B0398-12D4-4FB1-A501-1F6C6BD48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86438"/>
            <a:ext cx="821531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思考：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一条等温线与一条绝热线可能有两个交点吗？</a:t>
            </a:r>
          </a:p>
        </p:txBody>
      </p:sp>
      <p:sp>
        <p:nvSpPr>
          <p:cNvPr id="23573" name="灯片编号占位符 1">
            <a:extLst>
              <a:ext uri="{FF2B5EF4-FFF2-40B4-BE49-F238E27FC236}">
                <a16:creationId xmlns:a16="http://schemas.microsoft.com/office/drawing/2014/main" id="{BDB3A172-4A5C-40CE-A1B4-70375250A17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3F5536-6859-4195-A8D6-14DA1216E4A5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 autoUpdateAnimBg="0"/>
      <p:bldP spid="13316" grpId="0"/>
      <p:bldP spid="13317" grpId="0"/>
      <p:bldP spid="13330" grpId="0"/>
      <p:bldP spid="13334" grpId="0"/>
      <p:bldP spid="13341" grpId="0"/>
      <p:bldP spid="13348" grpId="0"/>
      <p:bldP spid="276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FDC0B765-0828-4409-A88A-7696DBF03153}"/>
              </a:ext>
            </a:extLst>
          </p:cNvPr>
          <p:cNvGrpSpPr>
            <a:grpSpLocks/>
          </p:cNvGrpSpPr>
          <p:nvPr/>
        </p:nvGrpSpPr>
        <p:grpSpPr bwMode="auto">
          <a:xfrm>
            <a:off x="6397625" y="1952625"/>
            <a:ext cx="2209800" cy="1905000"/>
            <a:chOff x="1152" y="2544"/>
            <a:chExt cx="1152" cy="1200"/>
          </a:xfrm>
        </p:grpSpPr>
        <p:sp>
          <p:nvSpPr>
            <p:cNvPr id="24603" name="Line 5">
              <a:extLst>
                <a:ext uri="{FF2B5EF4-FFF2-40B4-BE49-F238E27FC236}">
                  <a16:creationId xmlns:a16="http://schemas.microsoft.com/office/drawing/2014/main" id="{8F7C9246-59EF-491F-B28E-30DC2BC70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744"/>
              <a:ext cx="1152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0" anchor="ctr"/>
            <a:lstStyle/>
            <a:p>
              <a:endParaRPr lang="zh-CN" altLang="en-US"/>
            </a:p>
          </p:txBody>
        </p:sp>
        <p:sp>
          <p:nvSpPr>
            <p:cNvPr id="24604" name="Line 6">
              <a:extLst>
                <a:ext uri="{FF2B5EF4-FFF2-40B4-BE49-F238E27FC236}">
                  <a16:creationId xmlns:a16="http://schemas.microsoft.com/office/drawing/2014/main" id="{52EB23F9-1988-451C-8978-19E3FC2A37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544"/>
              <a:ext cx="0" cy="120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0" anchor="ctr"/>
            <a:lstStyle/>
            <a:p>
              <a:endParaRPr lang="zh-CN" altLang="en-US"/>
            </a:p>
          </p:txBody>
        </p:sp>
      </p:grpSp>
      <p:sp>
        <p:nvSpPr>
          <p:cNvPr id="120839" name="Freeform 7">
            <a:extLst>
              <a:ext uri="{FF2B5EF4-FFF2-40B4-BE49-F238E27FC236}">
                <a16:creationId xmlns:a16="http://schemas.microsoft.com/office/drawing/2014/main" id="{7CA50073-E476-4EA0-8EC6-5946F7A19908}"/>
              </a:ext>
            </a:extLst>
          </p:cNvPr>
          <p:cNvSpPr>
            <a:spLocks/>
          </p:cNvSpPr>
          <p:nvPr/>
        </p:nvSpPr>
        <p:spPr bwMode="auto">
          <a:xfrm>
            <a:off x="6869113" y="2252663"/>
            <a:ext cx="1243012" cy="1322387"/>
          </a:xfrm>
          <a:custGeom>
            <a:avLst/>
            <a:gdLst>
              <a:gd name="T0" fmla="*/ 2147483646 w 783"/>
              <a:gd name="T1" fmla="*/ 2147483646 h 833"/>
              <a:gd name="T2" fmla="*/ 2147483646 w 783"/>
              <a:gd name="T3" fmla="*/ 2147483646 h 833"/>
              <a:gd name="T4" fmla="*/ 2147483646 w 783"/>
              <a:gd name="T5" fmla="*/ 2147483646 h 833"/>
              <a:gd name="T6" fmla="*/ 2147483646 w 783"/>
              <a:gd name="T7" fmla="*/ 2147483646 h 833"/>
              <a:gd name="T8" fmla="*/ 2147483646 w 783"/>
              <a:gd name="T9" fmla="*/ 2147483646 h 833"/>
              <a:gd name="T10" fmla="*/ 2147483646 w 783"/>
              <a:gd name="T11" fmla="*/ 2147483646 h 833"/>
              <a:gd name="T12" fmla="*/ 2147483646 w 783"/>
              <a:gd name="T13" fmla="*/ 2147483646 h 833"/>
              <a:gd name="T14" fmla="*/ 2147483646 w 783"/>
              <a:gd name="T15" fmla="*/ 2147483646 h 833"/>
              <a:gd name="T16" fmla="*/ 2147483646 w 783"/>
              <a:gd name="T17" fmla="*/ 2147483646 h 833"/>
              <a:gd name="T18" fmla="*/ 2147483646 w 783"/>
              <a:gd name="T19" fmla="*/ 2147483646 h 833"/>
              <a:gd name="T20" fmla="*/ 2147483646 w 783"/>
              <a:gd name="T21" fmla="*/ 2147483646 h 833"/>
              <a:gd name="T22" fmla="*/ 2147483646 w 783"/>
              <a:gd name="T23" fmla="*/ 2147483646 h 833"/>
              <a:gd name="T24" fmla="*/ 2147483646 w 783"/>
              <a:gd name="T25" fmla="*/ 2147483646 h 833"/>
              <a:gd name="T26" fmla="*/ 2147483646 w 783"/>
              <a:gd name="T27" fmla="*/ 2147483646 h 833"/>
              <a:gd name="T28" fmla="*/ 2147483646 w 783"/>
              <a:gd name="T29" fmla="*/ 2147483646 h 83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83"/>
              <a:gd name="T46" fmla="*/ 0 h 833"/>
              <a:gd name="T47" fmla="*/ 783 w 783"/>
              <a:gd name="T48" fmla="*/ 833 h 83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83" h="833">
                <a:moveTo>
                  <a:pt x="137" y="11"/>
                </a:moveTo>
                <a:cubicBezTo>
                  <a:pt x="424" y="27"/>
                  <a:pt x="171" y="0"/>
                  <a:pt x="350" y="43"/>
                </a:cubicBezTo>
                <a:cubicBezTo>
                  <a:pt x="400" y="55"/>
                  <a:pt x="452" y="53"/>
                  <a:pt x="500" y="74"/>
                </a:cubicBezTo>
                <a:cubicBezTo>
                  <a:pt x="544" y="93"/>
                  <a:pt x="582" y="120"/>
                  <a:pt x="626" y="138"/>
                </a:cubicBezTo>
                <a:cubicBezTo>
                  <a:pt x="711" y="220"/>
                  <a:pt x="727" y="319"/>
                  <a:pt x="752" y="429"/>
                </a:cubicBezTo>
                <a:cubicBezTo>
                  <a:pt x="762" y="532"/>
                  <a:pt x="783" y="642"/>
                  <a:pt x="760" y="745"/>
                </a:cubicBezTo>
                <a:cubicBezTo>
                  <a:pt x="756" y="764"/>
                  <a:pt x="721" y="807"/>
                  <a:pt x="705" y="816"/>
                </a:cubicBezTo>
                <a:cubicBezTo>
                  <a:pt x="691" y="824"/>
                  <a:pt x="658" y="832"/>
                  <a:pt x="658" y="832"/>
                </a:cubicBezTo>
                <a:cubicBezTo>
                  <a:pt x="445" y="825"/>
                  <a:pt x="469" y="833"/>
                  <a:pt x="342" y="808"/>
                </a:cubicBezTo>
                <a:cubicBezTo>
                  <a:pt x="261" y="775"/>
                  <a:pt x="182" y="777"/>
                  <a:pt x="137" y="690"/>
                </a:cubicBezTo>
                <a:cubicBezTo>
                  <a:pt x="125" y="643"/>
                  <a:pt x="111" y="592"/>
                  <a:pt x="90" y="548"/>
                </a:cubicBezTo>
                <a:cubicBezTo>
                  <a:pt x="80" y="479"/>
                  <a:pt x="60" y="411"/>
                  <a:pt x="42" y="343"/>
                </a:cubicBezTo>
                <a:cubicBezTo>
                  <a:pt x="34" y="272"/>
                  <a:pt x="0" y="61"/>
                  <a:pt x="42" y="19"/>
                </a:cubicBezTo>
                <a:cubicBezTo>
                  <a:pt x="46" y="15"/>
                  <a:pt x="98" y="3"/>
                  <a:pt x="98" y="3"/>
                </a:cubicBezTo>
                <a:cubicBezTo>
                  <a:pt x="126" y="13"/>
                  <a:pt x="113" y="11"/>
                  <a:pt x="137" y="11"/>
                </a:cubicBezTo>
                <a:close/>
              </a:path>
            </a:pathLst>
          </a:custGeom>
          <a:noFill/>
          <a:ln w="222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0" anchor="ctr"/>
          <a:lstStyle/>
          <a:p>
            <a:endParaRPr lang="zh-CN" altLang="en-US"/>
          </a:p>
        </p:txBody>
      </p:sp>
      <p:graphicFrame>
        <p:nvGraphicFramePr>
          <p:cNvPr id="120842" name="Object 10">
            <a:extLst>
              <a:ext uri="{FF2B5EF4-FFF2-40B4-BE49-F238E27FC236}">
                <a16:creationId xmlns:a16="http://schemas.microsoft.com/office/drawing/2014/main" id="{A17F5386-92A6-45F7-83F4-90E419D02C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9313" y="1857375"/>
          <a:ext cx="4286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63" name="Equation" r:id="rId3" imgW="123857" imgH="133486" progId="Equation.3">
                  <p:embed/>
                </p:oleObj>
              </mc:Choice>
              <mc:Fallback>
                <p:oleObj name="Equation" r:id="rId3" imgW="123857" imgH="133486" progId="Equation.3">
                  <p:embed/>
                  <p:pic>
                    <p:nvPicPr>
                      <p:cNvPr id="120842" name="Object 10">
                        <a:extLst>
                          <a:ext uri="{FF2B5EF4-FFF2-40B4-BE49-F238E27FC236}">
                            <a16:creationId xmlns:a16="http://schemas.microsoft.com/office/drawing/2014/main" id="{A17F5386-92A6-45F7-83F4-90E419D02C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1857375"/>
                        <a:ext cx="4286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3" name="Object 11">
            <a:extLst>
              <a:ext uri="{FF2B5EF4-FFF2-40B4-BE49-F238E27FC236}">
                <a16:creationId xmlns:a16="http://schemas.microsoft.com/office/drawing/2014/main" id="{7E2C69F6-BFD2-4E2D-8BB0-C874FFD4A8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6750" y="3408363"/>
          <a:ext cx="42862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64" name="Equation" r:id="rId5" imgW="123857" imgH="152468" progId="Equation.3">
                  <p:embed/>
                </p:oleObj>
              </mc:Choice>
              <mc:Fallback>
                <p:oleObj name="Equation" r:id="rId5" imgW="123857" imgH="152468" progId="Equation.3">
                  <p:embed/>
                  <p:pic>
                    <p:nvPicPr>
                      <p:cNvPr id="120843" name="Object 11">
                        <a:extLst>
                          <a:ext uri="{FF2B5EF4-FFF2-40B4-BE49-F238E27FC236}">
                            <a16:creationId xmlns:a16="http://schemas.microsoft.com/office/drawing/2014/main" id="{7E2C69F6-BFD2-4E2D-8BB0-C874FFD4A8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0" y="3408363"/>
                        <a:ext cx="428625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4" name="Rectangle 12">
            <a:extLst>
              <a:ext uri="{FF2B5EF4-FFF2-40B4-BE49-F238E27FC236}">
                <a16:creationId xmlns:a16="http://schemas.microsoft.com/office/drawing/2014/main" id="{4F3F1967-F787-4596-B695-4205ECA23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1357313"/>
            <a:ext cx="32893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证明：反证法   </a:t>
            </a:r>
          </a:p>
        </p:txBody>
      </p:sp>
      <p:sp>
        <p:nvSpPr>
          <p:cNvPr id="120845" name="Rectangle 13">
            <a:extLst>
              <a:ext uri="{FF2B5EF4-FFF2-40B4-BE49-F238E27FC236}">
                <a16:creationId xmlns:a16="http://schemas.microsoft.com/office/drawing/2014/main" id="{5BCB68C4-2DFA-46F0-9717-C19C0CB96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7775"/>
            <a:ext cx="39846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在该循环过程中</a:t>
            </a:r>
          </a:p>
        </p:txBody>
      </p:sp>
      <p:graphicFrame>
        <p:nvGraphicFramePr>
          <p:cNvPr id="120846" name="Object 14">
            <a:extLst>
              <a:ext uri="{FF2B5EF4-FFF2-40B4-BE49-F238E27FC236}">
                <a16:creationId xmlns:a16="http://schemas.microsoft.com/office/drawing/2014/main" id="{CE6CCE86-FF4F-4F60-8D47-FBC7AF4953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6125" y="2000250"/>
          <a:ext cx="17859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65" name="Equation" r:id="rId7" imgW="609498" imgH="152468" progId="Equation.3">
                  <p:embed/>
                </p:oleObj>
              </mc:Choice>
              <mc:Fallback>
                <p:oleObj name="Equation" r:id="rId7" imgW="609498" imgH="152468" progId="Equation.3">
                  <p:embed/>
                  <p:pic>
                    <p:nvPicPr>
                      <p:cNvPr id="120846" name="Object 14">
                        <a:extLst>
                          <a:ext uri="{FF2B5EF4-FFF2-40B4-BE49-F238E27FC236}">
                            <a16:creationId xmlns:a16="http://schemas.microsoft.com/office/drawing/2014/main" id="{CE6CCE86-FF4F-4F60-8D47-FBC7AF4953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2000250"/>
                        <a:ext cx="178593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7" name="Object 15">
            <a:extLst>
              <a:ext uri="{FF2B5EF4-FFF2-40B4-BE49-F238E27FC236}">
                <a16:creationId xmlns:a16="http://schemas.microsoft.com/office/drawing/2014/main" id="{10786044-6A0D-4EE3-B72F-26ED801A0E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5938" y="3143250"/>
          <a:ext cx="13573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66" name="Equation" r:id="rId9" imgW="438239" imgH="152468" progId="Equation.3">
                  <p:embed/>
                </p:oleObj>
              </mc:Choice>
              <mc:Fallback>
                <p:oleObj name="Equation" r:id="rId9" imgW="438239" imgH="152468" progId="Equation.3">
                  <p:embed/>
                  <p:pic>
                    <p:nvPicPr>
                      <p:cNvPr id="120847" name="Object 15">
                        <a:extLst>
                          <a:ext uri="{FF2B5EF4-FFF2-40B4-BE49-F238E27FC236}">
                            <a16:creationId xmlns:a16="http://schemas.microsoft.com/office/drawing/2014/main" id="{10786044-6A0D-4EE3-B72F-26ED801A0E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3143250"/>
                        <a:ext cx="13573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8" name="Object 16">
            <a:extLst>
              <a:ext uri="{FF2B5EF4-FFF2-40B4-BE49-F238E27FC236}">
                <a16:creationId xmlns:a16="http://schemas.microsoft.com/office/drawing/2014/main" id="{1DF09CAC-272B-4109-99AD-9C3F6CEE03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438" y="3143250"/>
          <a:ext cx="10763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67" name="公式" r:id="rId11" imgW="352304" imgH="152468" progId="Equation.3">
                  <p:embed/>
                </p:oleObj>
              </mc:Choice>
              <mc:Fallback>
                <p:oleObj name="公式" r:id="rId11" imgW="352304" imgH="152468" progId="Equation.3">
                  <p:embed/>
                  <p:pic>
                    <p:nvPicPr>
                      <p:cNvPr id="120848" name="Object 16">
                        <a:extLst>
                          <a:ext uri="{FF2B5EF4-FFF2-40B4-BE49-F238E27FC236}">
                            <a16:creationId xmlns:a16="http://schemas.microsoft.com/office/drawing/2014/main" id="{1DF09CAC-272B-4109-99AD-9C3F6CEE0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3143250"/>
                        <a:ext cx="10763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9" name="Freeform 17" descr="宽上对角线">
            <a:extLst>
              <a:ext uri="{FF2B5EF4-FFF2-40B4-BE49-F238E27FC236}">
                <a16:creationId xmlns:a16="http://schemas.microsoft.com/office/drawing/2014/main" id="{1B68622B-176F-411D-8A86-C80EA513DAB9}"/>
              </a:ext>
            </a:extLst>
          </p:cNvPr>
          <p:cNvSpPr>
            <a:spLocks/>
          </p:cNvSpPr>
          <p:nvPr/>
        </p:nvSpPr>
        <p:spPr bwMode="auto">
          <a:xfrm>
            <a:off x="6869113" y="2252663"/>
            <a:ext cx="1243012" cy="1322387"/>
          </a:xfrm>
          <a:custGeom>
            <a:avLst/>
            <a:gdLst>
              <a:gd name="T0" fmla="*/ 2147483646 w 783"/>
              <a:gd name="T1" fmla="*/ 2147483646 h 833"/>
              <a:gd name="T2" fmla="*/ 2147483646 w 783"/>
              <a:gd name="T3" fmla="*/ 2147483646 h 833"/>
              <a:gd name="T4" fmla="*/ 2147483646 w 783"/>
              <a:gd name="T5" fmla="*/ 2147483646 h 833"/>
              <a:gd name="T6" fmla="*/ 2147483646 w 783"/>
              <a:gd name="T7" fmla="*/ 2147483646 h 833"/>
              <a:gd name="T8" fmla="*/ 2147483646 w 783"/>
              <a:gd name="T9" fmla="*/ 2147483646 h 833"/>
              <a:gd name="T10" fmla="*/ 2147483646 w 783"/>
              <a:gd name="T11" fmla="*/ 2147483646 h 833"/>
              <a:gd name="T12" fmla="*/ 2147483646 w 783"/>
              <a:gd name="T13" fmla="*/ 2147483646 h 833"/>
              <a:gd name="T14" fmla="*/ 2147483646 w 783"/>
              <a:gd name="T15" fmla="*/ 2147483646 h 833"/>
              <a:gd name="T16" fmla="*/ 2147483646 w 783"/>
              <a:gd name="T17" fmla="*/ 2147483646 h 833"/>
              <a:gd name="T18" fmla="*/ 2147483646 w 783"/>
              <a:gd name="T19" fmla="*/ 2147483646 h 833"/>
              <a:gd name="T20" fmla="*/ 2147483646 w 783"/>
              <a:gd name="T21" fmla="*/ 2147483646 h 833"/>
              <a:gd name="T22" fmla="*/ 2147483646 w 783"/>
              <a:gd name="T23" fmla="*/ 2147483646 h 833"/>
              <a:gd name="T24" fmla="*/ 2147483646 w 783"/>
              <a:gd name="T25" fmla="*/ 2147483646 h 833"/>
              <a:gd name="T26" fmla="*/ 2147483646 w 783"/>
              <a:gd name="T27" fmla="*/ 2147483646 h 833"/>
              <a:gd name="T28" fmla="*/ 2147483646 w 783"/>
              <a:gd name="T29" fmla="*/ 2147483646 h 83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83"/>
              <a:gd name="T46" fmla="*/ 0 h 833"/>
              <a:gd name="T47" fmla="*/ 783 w 783"/>
              <a:gd name="T48" fmla="*/ 833 h 83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83" h="833">
                <a:moveTo>
                  <a:pt x="137" y="11"/>
                </a:moveTo>
                <a:cubicBezTo>
                  <a:pt x="424" y="27"/>
                  <a:pt x="171" y="0"/>
                  <a:pt x="350" y="43"/>
                </a:cubicBezTo>
                <a:cubicBezTo>
                  <a:pt x="400" y="55"/>
                  <a:pt x="452" y="53"/>
                  <a:pt x="500" y="74"/>
                </a:cubicBezTo>
                <a:cubicBezTo>
                  <a:pt x="544" y="93"/>
                  <a:pt x="582" y="120"/>
                  <a:pt x="626" y="138"/>
                </a:cubicBezTo>
                <a:cubicBezTo>
                  <a:pt x="711" y="220"/>
                  <a:pt x="727" y="319"/>
                  <a:pt x="752" y="429"/>
                </a:cubicBezTo>
                <a:cubicBezTo>
                  <a:pt x="762" y="532"/>
                  <a:pt x="783" y="642"/>
                  <a:pt x="760" y="745"/>
                </a:cubicBezTo>
                <a:cubicBezTo>
                  <a:pt x="756" y="764"/>
                  <a:pt x="721" y="807"/>
                  <a:pt x="705" y="816"/>
                </a:cubicBezTo>
                <a:cubicBezTo>
                  <a:pt x="691" y="824"/>
                  <a:pt x="658" y="832"/>
                  <a:pt x="658" y="832"/>
                </a:cubicBezTo>
                <a:cubicBezTo>
                  <a:pt x="445" y="825"/>
                  <a:pt x="469" y="833"/>
                  <a:pt x="342" y="808"/>
                </a:cubicBezTo>
                <a:cubicBezTo>
                  <a:pt x="261" y="775"/>
                  <a:pt x="182" y="777"/>
                  <a:pt x="137" y="690"/>
                </a:cubicBezTo>
                <a:cubicBezTo>
                  <a:pt x="125" y="643"/>
                  <a:pt x="111" y="592"/>
                  <a:pt x="90" y="548"/>
                </a:cubicBezTo>
                <a:cubicBezTo>
                  <a:pt x="80" y="479"/>
                  <a:pt x="60" y="411"/>
                  <a:pt x="42" y="343"/>
                </a:cubicBezTo>
                <a:cubicBezTo>
                  <a:pt x="34" y="272"/>
                  <a:pt x="0" y="61"/>
                  <a:pt x="42" y="19"/>
                </a:cubicBezTo>
                <a:cubicBezTo>
                  <a:pt x="46" y="15"/>
                  <a:pt x="98" y="3"/>
                  <a:pt x="98" y="3"/>
                </a:cubicBezTo>
                <a:cubicBezTo>
                  <a:pt x="126" y="13"/>
                  <a:pt x="113" y="11"/>
                  <a:pt x="137" y="11"/>
                </a:cubicBezTo>
                <a:close/>
              </a:path>
            </a:pathLst>
          </a:custGeom>
          <a:blipFill dpi="0" rotWithShape="0">
            <a:blip r:embed="rId1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0" anchor="ctr"/>
          <a:lstStyle/>
          <a:p>
            <a:endParaRPr lang="zh-CN" altLang="en-US"/>
          </a:p>
        </p:txBody>
      </p:sp>
      <p:graphicFrame>
        <p:nvGraphicFramePr>
          <p:cNvPr id="120850" name="Object 18">
            <a:extLst>
              <a:ext uri="{FF2B5EF4-FFF2-40B4-BE49-F238E27FC236}">
                <a16:creationId xmlns:a16="http://schemas.microsoft.com/office/drawing/2014/main" id="{4F09B587-C8D4-42EC-978C-193027C4E8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6313" y="2633663"/>
          <a:ext cx="4286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68" name="Equation" r:id="rId14" imgW="123857" imgH="133486" progId="Equation.3">
                  <p:embed/>
                </p:oleObj>
              </mc:Choice>
              <mc:Fallback>
                <p:oleObj name="Equation" r:id="rId14" imgW="123857" imgH="133486" progId="Equation.3">
                  <p:embed/>
                  <p:pic>
                    <p:nvPicPr>
                      <p:cNvPr id="120850" name="Object 18">
                        <a:extLst>
                          <a:ext uri="{FF2B5EF4-FFF2-40B4-BE49-F238E27FC236}">
                            <a16:creationId xmlns:a16="http://schemas.microsoft.com/office/drawing/2014/main" id="{4F09B587-C8D4-42EC-978C-193027C4E8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313" y="2633663"/>
                        <a:ext cx="4286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51" name="Object 19">
            <a:extLst>
              <a:ext uri="{FF2B5EF4-FFF2-40B4-BE49-F238E27FC236}">
                <a16:creationId xmlns:a16="http://schemas.microsoft.com/office/drawing/2014/main" id="{495CF25C-4237-4B26-9B8B-DE7C23044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2375" y="3714750"/>
          <a:ext cx="3465513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69" name="公式" r:id="rId16" imgW="1200035" imgH="171450" progId="Equation.3">
                  <p:embed/>
                </p:oleObj>
              </mc:Choice>
              <mc:Fallback>
                <p:oleObj name="公式" r:id="rId16" imgW="1200035" imgH="171450" progId="Equation.3">
                  <p:embed/>
                  <p:pic>
                    <p:nvPicPr>
                      <p:cNvPr id="120851" name="Object 19">
                        <a:extLst>
                          <a:ext uri="{FF2B5EF4-FFF2-40B4-BE49-F238E27FC236}">
                            <a16:creationId xmlns:a16="http://schemas.microsoft.com/office/drawing/2014/main" id="{495CF25C-4237-4B26-9B8B-DE7C23044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3714750"/>
                        <a:ext cx="3465513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52" name="Rectangle 20">
            <a:extLst>
              <a:ext uri="{FF2B5EF4-FFF2-40B4-BE49-F238E27FC236}">
                <a16:creationId xmlns:a16="http://schemas.microsoft.com/office/drawing/2014/main" id="{C2707D25-9EAE-4289-BCA8-8175FE9FF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75" y="4400550"/>
            <a:ext cx="39846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对于任一元过程</a:t>
            </a:r>
          </a:p>
        </p:txBody>
      </p:sp>
      <p:graphicFrame>
        <p:nvGraphicFramePr>
          <p:cNvPr id="120853" name="Object 21">
            <a:extLst>
              <a:ext uri="{FF2B5EF4-FFF2-40B4-BE49-F238E27FC236}">
                <a16:creationId xmlns:a16="http://schemas.microsoft.com/office/drawing/2014/main" id="{BD308BF0-814B-462A-96CE-B554CB23CD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4100" y="4429125"/>
          <a:ext cx="20288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70" name="公式" r:id="rId18" imgW="742835" imgH="171450" progId="Equation.3">
                  <p:embed/>
                </p:oleObj>
              </mc:Choice>
              <mc:Fallback>
                <p:oleObj name="公式" r:id="rId18" imgW="742835" imgH="171450" progId="Equation.3">
                  <p:embed/>
                  <p:pic>
                    <p:nvPicPr>
                      <p:cNvPr id="120853" name="Object 21">
                        <a:extLst>
                          <a:ext uri="{FF2B5EF4-FFF2-40B4-BE49-F238E27FC236}">
                            <a16:creationId xmlns:a16="http://schemas.microsoft.com/office/drawing/2014/main" id="{BD308BF0-814B-462A-96CE-B554CB23CD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4429125"/>
                        <a:ext cx="202882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54" name="Rectangle 22">
            <a:extLst>
              <a:ext uri="{FF2B5EF4-FFF2-40B4-BE49-F238E27FC236}">
                <a16:creationId xmlns:a16="http://schemas.microsoft.com/office/drawing/2014/main" id="{AA269D46-47C8-4734-A810-FB6A9D324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75" y="5072063"/>
            <a:ext cx="32067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整个循环过程：</a:t>
            </a:r>
          </a:p>
        </p:txBody>
      </p:sp>
      <p:graphicFrame>
        <p:nvGraphicFramePr>
          <p:cNvPr id="120855" name="Object 23">
            <a:extLst>
              <a:ext uri="{FF2B5EF4-FFF2-40B4-BE49-F238E27FC236}">
                <a16:creationId xmlns:a16="http://schemas.microsoft.com/office/drawing/2014/main" id="{CFDB78C2-C284-4104-B481-A7E4C7438D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5629275"/>
          <a:ext cx="21494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71" name="公式" r:id="rId20" imgW="762102" imgH="247684" progId="Equation.3">
                  <p:embed/>
                </p:oleObj>
              </mc:Choice>
              <mc:Fallback>
                <p:oleObj name="公式" r:id="rId20" imgW="762102" imgH="247684" progId="Equation.3">
                  <p:embed/>
                  <p:pic>
                    <p:nvPicPr>
                      <p:cNvPr id="120855" name="Object 23">
                        <a:extLst>
                          <a:ext uri="{FF2B5EF4-FFF2-40B4-BE49-F238E27FC236}">
                            <a16:creationId xmlns:a16="http://schemas.microsoft.com/office/drawing/2014/main" id="{CFDB78C2-C284-4104-B481-A7E4C7438D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629275"/>
                        <a:ext cx="214947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56" name="Object 24">
            <a:extLst>
              <a:ext uri="{FF2B5EF4-FFF2-40B4-BE49-F238E27FC236}">
                <a16:creationId xmlns:a16="http://schemas.microsoft.com/office/drawing/2014/main" id="{A7A881CC-E609-4041-9701-DEBC255954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6213" y="5643563"/>
          <a:ext cx="179228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72" name="公式" r:id="rId22" imgW="628765" imgH="247684" progId="Equation.3">
                  <p:embed/>
                </p:oleObj>
              </mc:Choice>
              <mc:Fallback>
                <p:oleObj name="公式" r:id="rId22" imgW="628765" imgH="247684" progId="Equation.3">
                  <p:embed/>
                  <p:pic>
                    <p:nvPicPr>
                      <p:cNvPr id="120856" name="Object 24">
                        <a:extLst>
                          <a:ext uri="{FF2B5EF4-FFF2-40B4-BE49-F238E27FC236}">
                            <a16:creationId xmlns:a16="http://schemas.microsoft.com/office/drawing/2014/main" id="{A7A881CC-E609-4041-9701-DEBC255954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5643563"/>
                        <a:ext cx="179228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57" name="Object 25">
            <a:extLst>
              <a:ext uri="{FF2B5EF4-FFF2-40B4-BE49-F238E27FC236}">
                <a16:creationId xmlns:a16="http://schemas.microsoft.com/office/drawing/2014/main" id="{00A9DD88-1CD4-4A0D-BDEE-BE4D64D555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0713" y="5699125"/>
          <a:ext cx="749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73" name="Equation" r:id="rId24" imgW="209486" imgH="152468" progId="Equation.3">
                  <p:embed/>
                </p:oleObj>
              </mc:Choice>
              <mc:Fallback>
                <p:oleObj name="Equation" r:id="rId24" imgW="209486" imgH="152468" progId="Equation.3">
                  <p:embed/>
                  <p:pic>
                    <p:nvPicPr>
                      <p:cNvPr id="120857" name="Object 25">
                        <a:extLst>
                          <a:ext uri="{FF2B5EF4-FFF2-40B4-BE49-F238E27FC236}">
                            <a16:creationId xmlns:a16="http://schemas.microsoft.com/office/drawing/2014/main" id="{00A9DD88-1CD4-4A0D-BDEE-BE4D64D55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0713" y="5699125"/>
                        <a:ext cx="749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6">
            <a:extLst>
              <a:ext uri="{FF2B5EF4-FFF2-40B4-BE49-F238E27FC236}">
                <a16:creationId xmlns:a16="http://schemas.microsoft.com/office/drawing/2014/main" id="{02EA88A9-C376-4711-A9BC-4DC4E0DCBC23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3960813"/>
            <a:ext cx="1004887" cy="1628775"/>
            <a:chOff x="2688" y="2880"/>
            <a:chExt cx="672" cy="720"/>
          </a:xfrm>
        </p:grpSpPr>
        <p:sp>
          <p:nvSpPr>
            <p:cNvPr id="24601" name="Line 27">
              <a:extLst>
                <a:ext uri="{FF2B5EF4-FFF2-40B4-BE49-F238E27FC236}">
                  <a16:creationId xmlns:a16="http://schemas.microsoft.com/office/drawing/2014/main" id="{D9A0BC05-494E-46C7-9D25-107C64AECD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880"/>
              <a:ext cx="672" cy="0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0" anchor="ctr"/>
            <a:lstStyle/>
            <a:p>
              <a:endParaRPr lang="zh-CN" altLang="en-US"/>
            </a:p>
          </p:txBody>
        </p:sp>
        <p:sp>
          <p:nvSpPr>
            <p:cNvPr id="24602" name="Line 28">
              <a:extLst>
                <a:ext uri="{FF2B5EF4-FFF2-40B4-BE49-F238E27FC236}">
                  <a16:creationId xmlns:a16="http://schemas.microsoft.com/office/drawing/2014/main" id="{48FFBC8A-7ADE-4D41-9656-AD125BDEE6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880"/>
              <a:ext cx="0" cy="720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0" anchor="ctr"/>
            <a:lstStyle/>
            <a:p>
              <a:endParaRPr lang="zh-CN" altLang="en-US"/>
            </a:p>
          </p:txBody>
        </p:sp>
      </p:grpSp>
      <p:sp>
        <p:nvSpPr>
          <p:cNvPr id="120861" name="Rectangle 29">
            <a:extLst>
              <a:ext uri="{FF2B5EF4-FFF2-40B4-BE49-F238E27FC236}">
                <a16:creationId xmlns:a16="http://schemas.microsoft.com/office/drawing/2014/main" id="{04C900AD-91E4-4E48-90D5-7F822EACE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350" y="4375150"/>
            <a:ext cx="231140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与假设矛盾，</a:t>
            </a:r>
            <a:endParaRPr kumimoji="0" lang="en-US" altLang="zh-CN">
              <a:solidFill>
                <a:schemeClr val="bg1"/>
              </a:solidFill>
              <a:ea typeface="楷体_GB2312" pitchFamily="49" charset="-122"/>
            </a:endParaRPr>
          </a:p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原命题成立  </a:t>
            </a:r>
          </a:p>
        </p:txBody>
      </p:sp>
      <p:sp>
        <p:nvSpPr>
          <p:cNvPr id="120862" name="Rectangle 30">
            <a:extLst>
              <a:ext uri="{FF2B5EF4-FFF2-40B4-BE49-F238E27FC236}">
                <a16:creationId xmlns:a16="http://schemas.microsoft.com/office/drawing/2014/main" id="{6A81F50B-3A27-4223-B277-46D9A1542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785813"/>
            <a:ext cx="613568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证明： 循环过程中摩尔热容不可能是常数    </a:t>
            </a:r>
          </a:p>
        </p:txBody>
      </p:sp>
      <p:sp>
        <p:nvSpPr>
          <p:cNvPr id="24599" name="灯片编号占位符 1">
            <a:extLst>
              <a:ext uri="{FF2B5EF4-FFF2-40B4-BE49-F238E27FC236}">
                <a16:creationId xmlns:a16="http://schemas.microsoft.com/office/drawing/2014/main" id="{BA9AAA83-B189-43D0-9F1E-59395D35D35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AA9AA57-E487-4F0B-94F0-43655698FE34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EE9161D8-006F-458C-9ECD-A99E7AC29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000250"/>
            <a:ext cx="242887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假设摩尔热容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3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20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0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20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0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20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20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0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44" grpId="0" autoUpdateAnimBg="0"/>
      <p:bldP spid="120845" grpId="0" autoUpdateAnimBg="0"/>
      <p:bldP spid="120852" grpId="0" autoUpdateAnimBg="0"/>
      <p:bldP spid="120854" grpId="0" autoUpdateAnimBg="0"/>
      <p:bldP spid="120861" grpId="0" autoUpdateAnimBg="0"/>
      <p:bldP spid="120862" grpId="0" autoUpdateAnimBg="0"/>
      <p:bldP spid="3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>
            <a:extLst>
              <a:ext uri="{FF2B5EF4-FFF2-40B4-BE49-F238E27FC236}">
                <a16:creationId xmlns:a16="http://schemas.microsoft.com/office/drawing/2014/main" id="{550A21BA-31AC-451F-B9ED-752B311D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8" y="328613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9E69740B-9816-4182-B38E-0801D7185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293688"/>
            <a:ext cx="79835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下列图示表示某人设想的理想气体的四个循环过程，其中一个是可能实现的循环过程，请指出。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D333CC9C-2E3F-49F4-83F3-4D9E6F0E4741}"/>
              </a:ext>
            </a:extLst>
          </p:cNvPr>
          <p:cNvGrpSpPr>
            <a:grpSpLocks/>
          </p:cNvGrpSpPr>
          <p:nvPr/>
        </p:nvGrpSpPr>
        <p:grpSpPr bwMode="auto">
          <a:xfrm>
            <a:off x="800100" y="1484313"/>
            <a:ext cx="3195638" cy="2535237"/>
            <a:chOff x="657" y="1389"/>
            <a:chExt cx="2013" cy="1597"/>
          </a:xfrm>
        </p:grpSpPr>
        <p:sp>
          <p:nvSpPr>
            <p:cNvPr id="22597" name="Line 8">
              <a:extLst>
                <a:ext uri="{FF2B5EF4-FFF2-40B4-BE49-F238E27FC236}">
                  <a16:creationId xmlns:a16="http://schemas.microsoft.com/office/drawing/2014/main" id="{61450480-F7F6-4970-ABD7-E92E250AEE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" y="2698"/>
              <a:ext cx="1757" cy="1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8" name="Line 9">
              <a:extLst>
                <a:ext uri="{FF2B5EF4-FFF2-40B4-BE49-F238E27FC236}">
                  <a16:creationId xmlns:a16="http://schemas.microsoft.com/office/drawing/2014/main" id="{2C29272D-CC4A-41AF-ADED-6259C241FA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893" y="1605"/>
              <a:ext cx="1" cy="110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9" name="Text Box 10">
              <a:extLst>
                <a:ext uri="{FF2B5EF4-FFF2-40B4-BE49-F238E27FC236}">
                  <a16:creationId xmlns:a16="http://schemas.microsoft.com/office/drawing/2014/main" id="{EB413862-C443-4EC0-AC63-E0C5F1486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69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22600" name="Text Box 11">
              <a:extLst>
                <a:ext uri="{FF2B5EF4-FFF2-40B4-BE49-F238E27FC236}">
                  <a16:creationId xmlns:a16="http://schemas.microsoft.com/office/drawing/2014/main" id="{2291DA94-7B1E-4B0B-9C8F-F7784EACF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" y="138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22601" name="Text Box 12">
              <a:extLst>
                <a:ext uri="{FF2B5EF4-FFF2-40B4-BE49-F238E27FC236}">
                  <a16:creationId xmlns:a16="http://schemas.microsoft.com/office/drawing/2014/main" id="{D24F1374-EB48-4AC3-B2CD-6030FA7DC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6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24597" name="Arc 21">
            <a:extLst>
              <a:ext uri="{FF2B5EF4-FFF2-40B4-BE49-F238E27FC236}">
                <a16:creationId xmlns:a16="http://schemas.microsoft.com/office/drawing/2014/main" id="{0656CD8E-5E39-4F39-A0E8-422A84B560B9}"/>
              </a:ext>
            </a:extLst>
          </p:cNvPr>
          <p:cNvSpPr>
            <a:spLocks/>
          </p:cNvSpPr>
          <p:nvPr/>
        </p:nvSpPr>
        <p:spPr bwMode="auto">
          <a:xfrm rot="-2049804">
            <a:off x="2411413" y="1268413"/>
            <a:ext cx="2119312" cy="1325562"/>
          </a:xfrm>
          <a:custGeom>
            <a:avLst/>
            <a:gdLst>
              <a:gd name="T0" fmla="*/ 2147483646 w 21600"/>
              <a:gd name="T1" fmla="*/ 2147483646 h 10261"/>
              <a:gd name="T2" fmla="*/ 0 w 21600"/>
              <a:gd name="T3" fmla="*/ 0 h 10261"/>
              <a:gd name="T4" fmla="*/ 2147483646 w 21600"/>
              <a:gd name="T5" fmla="*/ 2147483646 h 10261"/>
              <a:gd name="T6" fmla="*/ 0 60000 65536"/>
              <a:gd name="T7" fmla="*/ 0 60000 65536"/>
              <a:gd name="T8" fmla="*/ 0 60000 65536"/>
              <a:gd name="T9" fmla="*/ 0 w 21600"/>
              <a:gd name="T10" fmla="*/ 0 h 10261"/>
              <a:gd name="T11" fmla="*/ 21600 w 21600"/>
              <a:gd name="T12" fmla="*/ 10261 h 102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0261" fill="none" extrusionOk="0">
                <a:moveTo>
                  <a:pt x="2586" y="10261"/>
                </a:moveTo>
                <a:cubicBezTo>
                  <a:pt x="888" y="7111"/>
                  <a:pt x="0" y="3589"/>
                  <a:pt x="0" y="11"/>
                </a:cubicBezTo>
                <a:cubicBezTo>
                  <a:pt x="-1" y="7"/>
                  <a:pt x="0" y="3"/>
                  <a:pt x="0" y="0"/>
                </a:cubicBezTo>
              </a:path>
              <a:path w="21600" h="10261" stroke="0" extrusionOk="0">
                <a:moveTo>
                  <a:pt x="2586" y="10261"/>
                </a:moveTo>
                <a:cubicBezTo>
                  <a:pt x="888" y="7111"/>
                  <a:pt x="0" y="3589"/>
                  <a:pt x="0" y="11"/>
                </a:cubicBezTo>
                <a:cubicBezTo>
                  <a:pt x="-1" y="7"/>
                  <a:pt x="0" y="3"/>
                  <a:pt x="0" y="0"/>
                </a:cubicBezTo>
                <a:lnTo>
                  <a:pt x="21600" y="11"/>
                </a:lnTo>
                <a:lnTo>
                  <a:pt x="2586" y="10261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8" name="Line 22">
            <a:extLst>
              <a:ext uri="{FF2B5EF4-FFF2-40B4-BE49-F238E27FC236}">
                <a16:creationId xmlns:a16="http://schemas.microsoft.com/office/drawing/2014/main" id="{19E823C2-B9FB-4E47-8F9D-3281F65CAD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0" y="2933700"/>
            <a:ext cx="0" cy="53975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9" name="Arc 23">
            <a:extLst>
              <a:ext uri="{FF2B5EF4-FFF2-40B4-BE49-F238E27FC236}">
                <a16:creationId xmlns:a16="http://schemas.microsoft.com/office/drawing/2014/main" id="{0286DDC6-A885-46AD-B8AA-E59F2F7CF497}"/>
              </a:ext>
            </a:extLst>
          </p:cNvPr>
          <p:cNvSpPr>
            <a:spLocks/>
          </p:cNvSpPr>
          <p:nvPr/>
        </p:nvSpPr>
        <p:spPr bwMode="auto">
          <a:xfrm rot="235284">
            <a:off x="2203450" y="1057275"/>
            <a:ext cx="2203450" cy="2413000"/>
          </a:xfrm>
          <a:custGeom>
            <a:avLst/>
            <a:gdLst>
              <a:gd name="T0" fmla="*/ 2147483646 w 20218"/>
              <a:gd name="T1" fmla="*/ 2147483646 h 18807"/>
              <a:gd name="T2" fmla="*/ 0 w 20218"/>
              <a:gd name="T3" fmla="*/ 2147483646 h 18807"/>
              <a:gd name="T4" fmla="*/ 2147483646 w 20218"/>
              <a:gd name="T5" fmla="*/ 0 h 18807"/>
              <a:gd name="T6" fmla="*/ 0 60000 65536"/>
              <a:gd name="T7" fmla="*/ 0 60000 65536"/>
              <a:gd name="T8" fmla="*/ 0 60000 65536"/>
              <a:gd name="T9" fmla="*/ 0 w 20218"/>
              <a:gd name="T10" fmla="*/ 0 h 18807"/>
              <a:gd name="T11" fmla="*/ 20218 w 20218"/>
              <a:gd name="T12" fmla="*/ 18807 h 188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18" h="18807" fill="none" extrusionOk="0">
                <a:moveTo>
                  <a:pt x="9594" y="18807"/>
                </a:moveTo>
                <a:cubicBezTo>
                  <a:pt x="5181" y="16314"/>
                  <a:pt x="1784" y="12347"/>
                  <a:pt x="0" y="7602"/>
                </a:cubicBezTo>
              </a:path>
              <a:path w="20218" h="18807" stroke="0" extrusionOk="0">
                <a:moveTo>
                  <a:pt x="9594" y="18807"/>
                </a:moveTo>
                <a:cubicBezTo>
                  <a:pt x="5181" y="16314"/>
                  <a:pt x="1784" y="12347"/>
                  <a:pt x="0" y="7602"/>
                </a:cubicBezTo>
                <a:lnTo>
                  <a:pt x="20218" y="0"/>
                </a:lnTo>
                <a:lnTo>
                  <a:pt x="9594" y="18807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0" name="Line 24">
            <a:extLst>
              <a:ext uri="{FF2B5EF4-FFF2-40B4-BE49-F238E27FC236}">
                <a16:creationId xmlns:a16="http://schemas.microsoft.com/office/drawing/2014/main" id="{1B325787-B202-49E2-B68E-31C7F6683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0" y="3068638"/>
            <a:ext cx="0" cy="2159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1" name="Text Box 25">
            <a:extLst>
              <a:ext uri="{FF2B5EF4-FFF2-40B4-BE49-F238E27FC236}">
                <a16:creationId xmlns:a16="http://schemas.microsoft.com/office/drawing/2014/main" id="{07654271-E321-49DA-AC1E-2817E13C7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2168525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02" name="Text Box 26">
            <a:extLst>
              <a:ext uri="{FF2B5EF4-FFF2-40B4-BE49-F238E27FC236}">
                <a16:creationId xmlns:a16="http://schemas.microsoft.com/office/drawing/2014/main" id="{13D06B29-10A7-42C5-A052-D35C4AB74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75" y="2973388"/>
            <a:ext cx="1238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等容</a:t>
            </a:r>
          </a:p>
        </p:txBody>
      </p:sp>
      <p:sp>
        <p:nvSpPr>
          <p:cNvPr id="24603" name="Text Box 27">
            <a:extLst>
              <a:ext uri="{FF2B5EF4-FFF2-40B4-BE49-F238E27FC236}">
                <a16:creationId xmlns:a16="http://schemas.microsoft.com/office/drawing/2014/main" id="{0BC12233-C224-4356-830C-E1AB7910C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400" y="2757488"/>
            <a:ext cx="1057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等温</a:t>
            </a:r>
          </a:p>
        </p:txBody>
      </p:sp>
      <p:sp>
        <p:nvSpPr>
          <p:cNvPr id="24604" name="Text Box 28">
            <a:extLst>
              <a:ext uri="{FF2B5EF4-FFF2-40B4-BE49-F238E27FC236}">
                <a16:creationId xmlns:a16="http://schemas.microsoft.com/office/drawing/2014/main" id="{823E2F09-81A0-4F8E-834A-F3761CB76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8338" y="2157413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sp>
        <p:nvSpPr>
          <p:cNvPr id="24605" name="Text Box 29">
            <a:extLst>
              <a:ext uri="{FF2B5EF4-FFF2-40B4-BE49-F238E27FC236}">
                <a16:creationId xmlns:a16="http://schemas.microsoft.com/office/drawing/2014/main" id="{F6A93D01-5276-4AAD-AC56-F5CB61AED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2960688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GB" altLang="zh-CN" sz="2000">
                <a:solidFill>
                  <a:schemeClr val="bg1"/>
                </a:solidFill>
              </a:rPr>
              <a:t>&lt;0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24606" name="Text Box 30">
            <a:extLst>
              <a:ext uri="{FF2B5EF4-FFF2-40B4-BE49-F238E27FC236}">
                <a16:creationId xmlns:a16="http://schemas.microsoft.com/office/drawing/2014/main" id="{DB5A1198-E597-494C-BA9D-EF386AEAA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2786063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000" i="1">
                <a:solidFill>
                  <a:schemeClr val="bg1"/>
                </a:solidFill>
              </a:rPr>
              <a:t>Q</a:t>
            </a:r>
            <a:r>
              <a:rPr lang="en-GB" altLang="zh-CN" sz="2000">
                <a:solidFill>
                  <a:schemeClr val="bg1"/>
                </a:solidFill>
              </a:rPr>
              <a:t>&lt;0</a:t>
            </a:r>
            <a:endParaRPr lang="en-US" altLang="zh-CN" sz="2000">
              <a:solidFill>
                <a:schemeClr val="bg1"/>
              </a:solidFill>
            </a:endParaRPr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92857441-02E2-4C84-9CFC-B5E997D431FB}"/>
              </a:ext>
            </a:extLst>
          </p:cNvPr>
          <p:cNvGrpSpPr>
            <a:grpSpLocks/>
          </p:cNvGrpSpPr>
          <p:nvPr/>
        </p:nvGrpSpPr>
        <p:grpSpPr bwMode="auto">
          <a:xfrm>
            <a:off x="4946650" y="1460500"/>
            <a:ext cx="3195638" cy="2535238"/>
            <a:chOff x="657" y="1389"/>
            <a:chExt cx="2013" cy="1597"/>
          </a:xfrm>
        </p:grpSpPr>
        <p:sp>
          <p:nvSpPr>
            <p:cNvPr id="22592" name="Line 32">
              <a:extLst>
                <a:ext uri="{FF2B5EF4-FFF2-40B4-BE49-F238E27FC236}">
                  <a16:creationId xmlns:a16="http://schemas.microsoft.com/office/drawing/2014/main" id="{65638F29-42C1-4B51-8C77-88C0035BB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" y="2698"/>
              <a:ext cx="1757" cy="1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3" name="Line 33">
              <a:extLst>
                <a:ext uri="{FF2B5EF4-FFF2-40B4-BE49-F238E27FC236}">
                  <a16:creationId xmlns:a16="http://schemas.microsoft.com/office/drawing/2014/main" id="{53850181-105A-4C61-97F0-D4F9EE2C102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893" y="1605"/>
              <a:ext cx="1" cy="110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4" name="Text Box 34">
              <a:extLst>
                <a:ext uri="{FF2B5EF4-FFF2-40B4-BE49-F238E27FC236}">
                  <a16:creationId xmlns:a16="http://schemas.microsoft.com/office/drawing/2014/main" id="{6BE3899E-54C9-4145-9385-6873EFA16B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69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22595" name="Text Box 35">
              <a:extLst>
                <a:ext uri="{FF2B5EF4-FFF2-40B4-BE49-F238E27FC236}">
                  <a16:creationId xmlns:a16="http://schemas.microsoft.com/office/drawing/2014/main" id="{BCDE0A81-8E9F-48AB-AAE9-4AE29E7BA2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" y="138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22596" name="Text Box 36">
              <a:extLst>
                <a:ext uri="{FF2B5EF4-FFF2-40B4-BE49-F238E27FC236}">
                  <a16:creationId xmlns:a16="http://schemas.microsoft.com/office/drawing/2014/main" id="{9198A4DE-2499-4B54-A193-CACEE0096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6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24613" name="Arc 37">
            <a:extLst>
              <a:ext uri="{FF2B5EF4-FFF2-40B4-BE49-F238E27FC236}">
                <a16:creationId xmlns:a16="http://schemas.microsoft.com/office/drawing/2014/main" id="{7361717F-E6AC-42D7-A67D-B2182B7746A3}"/>
              </a:ext>
            </a:extLst>
          </p:cNvPr>
          <p:cNvSpPr>
            <a:spLocks/>
          </p:cNvSpPr>
          <p:nvPr/>
        </p:nvSpPr>
        <p:spPr bwMode="auto">
          <a:xfrm rot="-2049804">
            <a:off x="6989763" y="1235075"/>
            <a:ext cx="2119312" cy="1430338"/>
          </a:xfrm>
          <a:custGeom>
            <a:avLst/>
            <a:gdLst>
              <a:gd name="T0" fmla="*/ 2147483646 w 21600"/>
              <a:gd name="T1" fmla="*/ 2147483646 h 11089"/>
              <a:gd name="T2" fmla="*/ 0 w 21600"/>
              <a:gd name="T3" fmla="*/ 0 h 11089"/>
              <a:gd name="T4" fmla="*/ 2147483646 w 21600"/>
              <a:gd name="T5" fmla="*/ 2147483646 h 11089"/>
              <a:gd name="T6" fmla="*/ 0 60000 65536"/>
              <a:gd name="T7" fmla="*/ 0 60000 65536"/>
              <a:gd name="T8" fmla="*/ 0 60000 65536"/>
              <a:gd name="T9" fmla="*/ 0 w 21600"/>
              <a:gd name="T10" fmla="*/ 0 h 11089"/>
              <a:gd name="T11" fmla="*/ 21600 w 21600"/>
              <a:gd name="T12" fmla="*/ 11089 h 110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089" fill="none" extrusionOk="0">
                <a:moveTo>
                  <a:pt x="3057" y="11088"/>
                </a:moveTo>
                <a:cubicBezTo>
                  <a:pt x="1056" y="7740"/>
                  <a:pt x="0" y="3911"/>
                  <a:pt x="0" y="11"/>
                </a:cubicBezTo>
                <a:cubicBezTo>
                  <a:pt x="-1" y="7"/>
                  <a:pt x="0" y="3"/>
                  <a:pt x="0" y="0"/>
                </a:cubicBezTo>
              </a:path>
              <a:path w="21600" h="11089" stroke="0" extrusionOk="0">
                <a:moveTo>
                  <a:pt x="3057" y="11088"/>
                </a:moveTo>
                <a:cubicBezTo>
                  <a:pt x="1056" y="7740"/>
                  <a:pt x="0" y="3911"/>
                  <a:pt x="0" y="11"/>
                </a:cubicBezTo>
                <a:cubicBezTo>
                  <a:pt x="-1" y="7"/>
                  <a:pt x="0" y="3"/>
                  <a:pt x="0" y="0"/>
                </a:cubicBezTo>
                <a:lnTo>
                  <a:pt x="21600" y="11"/>
                </a:lnTo>
                <a:lnTo>
                  <a:pt x="3057" y="11088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14" name="Line 38">
            <a:extLst>
              <a:ext uri="{FF2B5EF4-FFF2-40B4-BE49-F238E27FC236}">
                <a16:creationId xmlns:a16="http://schemas.microsoft.com/office/drawing/2014/main" id="{D0E3F6C9-8DD1-49BA-AAEC-4F39EB8EC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0688" y="1963738"/>
            <a:ext cx="0" cy="53975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5" name="Arc 39">
            <a:extLst>
              <a:ext uri="{FF2B5EF4-FFF2-40B4-BE49-F238E27FC236}">
                <a16:creationId xmlns:a16="http://schemas.microsoft.com/office/drawing/2014/main" id="{F90339BB-52CD-4FF7-9D72-64E4AA888626}"/>
              </a:ext>
            </a:extLst>
          </p:cNvPr>
          <p:cNvSpPr>
            <a:spLocks/>
          </p:cNvSpPr>
          <p:nvPr/>
        </p:nvSpPr>
        <p:spPr bwMode="auto">
          <a:xfrm rot="-2184256">
            <a:off x="6556375" y="849313"/>
            <a:ext cx="2203450" cy="1998662"/>
          </a:xfrm>
          <a:custGeom>
            <a:avLst/>
            <a:gdLst>
              <a:gd name="T0" fmla="*/ 2147483646 w 20218"/>
              <a:gd name="T1" fmla="*/ 2147483646 h 15581"/>
              <a:gd name="T2" fmla="*/ 0 w 20218"/>
              <a:gd name="T3" fmla="*/ 2147483646 h 15581"/>
              <a:gd name="T4" fmla="*/ 2147483646 w 20218"/>
              <a:gd name="T5" fmla="*/ 0 h 15581"/>
              <a:gd name="T6" fmla="*/ 0 60000 65536"/>
              <a:gd name="T7" fmla="*/ 0 60000 65536"/>
              <a:gd name="T8" fmla="*/ 0 60000 65536"/>
              <a:gd name="T9" fmla="*/ 0 w 20218"/>
              <a:gd name="T10" fmla="*/ 0 h 15581"/>
              <a:gd name="T11" fmla="*/ 20218 w 20218"/>
              <a:gd name="T12" fmla="*/ 15581 h 155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18" h="15581" fill="none" extrusionOk="0">
                <a:moveTo>
                  <a:pt x="5258" y="15581"/>
                </a:moveTo>
                <a:cubicBezTo>
                  <a:pt x="2932" y="13347"/>
                  <a:pt x="1135" y="10621"/>
                  <a:pt x="0" y="7602"/>
                </a:cubicBezTo>
              </a:path>
              <a:path w="20218" h="15581" stroke="0" extrusionOk="0">
                <a:moveTo>
                  <a:pt x="5258" y="15581"/>
                </a:moveTo>
                <a:cubicBezTo>
                  <a:pt x="2932" y="13347"/>
                  <a:pt x="1135" y="10621"/>
                  <a:pt x="0" y="7602"/>
                </a:cubicBezTo>
                <a:lnTo>
                  <a:pt x="20218" y="0"/>
                </a:lnTo>
                <a:lnTo>
                  <a:pt x="5258" y="15581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16" name="Line 40">
            <a:extLst>
              <a:ext uri="{FF2B5EF4-FFF2-40B4-BE49-F238E27FC236}">
                <a16:creationId xmlns:a16="http://schemas.microsoft.com/office/drawing/2014/main" id="{21761164-E7CB-4CDB-AA4D-081F12DA2F29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770688" y="2098675"/>
            <a:ext cx="0" cy="2159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7" name="Text Box 41">
            <a:extLst>
              <a:ext uri="{FF2B5EF4-FFF2-40B4-BE49-F238E27FC236}">
                <a16:creationId xmlns:a16="http://schemas.microsoft.com/office/drawing/2014/main" id="{11A5D072-6E83-4DD8-A483-5C5BE2660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7088" y="2144713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18" name="Text Box 42">
            <a:extLst>
              <a:ext uri="{FF2B5EF4-FFF2-40B4-BE49-F238E27FC236}">
                <a16:creationId xmlns:a16="http://schemas.microsoft.com/office/drawing/2014/main" id="{8D085B9E-A357-471E-96E6-06930079F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75" y="2095500"/>
            <a:ext cx="1238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等容</a:t>
            </a:r>
          </a:p>
        </p:txBody>
      </p:sp>
      <p:sp>
        <p:nvSpPr>
          <p:cNvPr id="24619" name="Text Box 43">
            <a:extLst>
              <a:ext uri="{FF2B5EF4-FFF2-40B4-BE49-F238E27FC236}">
                <a16:creationId xmlns:a16="http://schemas.microsoft.com/office/drawing/2014/main" id="{319A8872-73EC-4418-811A-F98C5438F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538" y="2714625"/>
            <a:ext cx="1057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等温</a:t>
            </a:r>
          </a:p>
        </p:txBody>
      </p:sp>
      <p:sp>
        <p:nvSpPr>
          <p:cNvPr id="24620" name="Text Box 44">
            <a:extLst>
              <a:ext uri="{FF2B5EF4-FFF2-40B4-BE49-F238E27FC236}">
                <a16:creationId xmlns:a16="http://schemas.microsoft.com/office/drawing/2014/main" id="{311EE26C-36FF-412D-8CCE-01E6CC043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688" y="2103438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sp>
        <p:nvSpPr>
          <p:cNvPr id="24621" name="Text Box 45">
            <a:extLst>
              <a:ext uri="{FF2B5EF4-FFF2-40B4-BE49-F238E27FC236}">
                <a16:creationId xmlns:a16="http://schemas.microsoft.com/office/drawing/2014/main" id="{A6EB161D-466C-4E09-A70E-E9F074109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2103438"/>
            <a:ext cx="1100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Q&gt;</a:t>
            </a:r>
            <a:r>
              <a:rPr lang="en-GB" altLang="zh-CN" sz="2000">
                <a:solidFill>
                  <a:schemeClr val="bg1"/>
                </a:solidFill>
              </a:rPr>
              <a:t>0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24622" name="Text Box 46">
            <a:extLst>
              <a:ext uri="{FF2B5EF4-FFF2-40B4-BE49-F238E27FC236}">
                <a16:creationId xmlns:a16="http://schemas.microsoft.com/office/drawing/2014/main" id="{07B6B123-426D-43B4-9FDC-D26975BF5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188" y="2714625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000" i="1">
                <a:solidFill>
                  <a:schemeClr val="bg1"/>
                </a:solidFill>
              </a:rPr>
              <a:t>Q</a:t>
            </a:r>
            <a:r>
              <a:rPr lang="en-GB" altLang="zh-CN" sz="2000">
                <a:solidFill>
                  <a:schemeClr val="bg1"/>
                </a:solidFill>
              </a:rPr>
              <a:t>&lt;0</a:t>
            </a:r>
            <a:endParaRPr lang="en-US" altLang="zh-CN" sz="2000">
              <a:solidFill>
                <a:schemeClr val="bg1"/>
              </a:solidFill>
            </a:endParaRPr>
          </a:p>
        </p:txBody>
      </p:sp>
      <p:grpSp>
        <p:nvGrpSpPr>
          <p:cNvPr id="4" name="Group 48">
            <a:extLst>
              <a:ext uri="{FF2B5EF4-FFF2-40B4-BE49-F238E27FC236}">
                <a16:creationId xmlns:a16="http://schemas.microsoft.com/office/drawing/2014/main" id="{797DC42A-5A4B-4368-B207-4BBDCE4E9C74}"/>
              </a:ext>
            </a:extLst>
          </p:cNvPr>
          <p:cNvGrpSpPr>
            <a:grpSpLocks/>
          </p:cNvGrpSpPr>
          <p:nvPr/>
        </p:nvGrpSpPr>
        <p:grpSpPr bwMode="auto">
          <a:xfrm>
            <a:off x="862013" y="4132263"/>
            <a:ext cx="3195637" cy="2535237"/>
            <a:chOff x="657" y="1389"/>
            <a:chExt cx="2013" cy="1597"/>
          </a:xfrm>
        </p:grpSpPr>
        <p:sp>
          <p:nvSpPr>
            <p:cNvPr id="22587" name="Line 49">
              <a:extLst>
                <a:ext uri="{FF2B5EF4-FFF2-40B4-BE49-F238E27FC236}">
                  <a16:creationId xmlns:a16="http://schemas.microsoft.com/office/drawing/2014/main" id="{EDEF16B7-CD9E-4661-9668-8F5E77FBD8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" y="2698"/>
              <a:ext cx="1757" cy="1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8" name="Line 50">
              <a:extLst>
                <a:ext uri="{FF2B5EF4-FFF2-40B4-BE49-F238E27FC236}">
                  <a16:creationId xmlns:a16="http://schemas.microsoft.com/office/drawing/2014/main" id="{8B818A24-6550-46E3-9CF8-4F248EF307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893" y="1605"/>
              <a:ext cx="1" cy="110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9" name="Text Box 51">
              <a:extLst>
                <a:ext uri="{FF2B5EF4-FFF2-40B4-BE49-F238E27FC236}">
                  <a16:creationId xmlns:a16="http://schemas.microsoft.com/office/drawing/2014/main" id="{7EC9BAC0-E454-40B8-88CA-53A00F2C3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69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22590" name="Text Box 52">
              <a:extLst>
                <a:ext uri="{FF2B5EF4-FFF2-40B4-BE49-F238E27FC236}">
                  <a16:creationId xmlns:a16="http://schemas.microsoft.com/office/drawing/2014/main" id="{CA5C1490-0CBA-4AE8-AAEE-BCB80CB84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" y="138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22591" name="Text Box 53">
              <a:extLst>
                <a:ext uri="{FF2B5EF4-FFF2-40B4-BE49-F238E27FC236}">
                  <a16:creationId xmlns:a16="http://schemas.microsoft.com/office/drawing/2014/main" id="{4D6EB6D0-D39B-4546-A303-1A73A96E3C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6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24630" name="Arc 54">
            <a:extLst>
              <a:ext uri="{FF2B5EF4-FFF2-40B4-BE49-F238E27FC236}">
                <a16:creationId xmlns:a16="http://schemas.microsoft.com/office/drawing/2014/main" id="{D1E1FCA6-E224-496B-827D-76EA565E2216}"/>
              </a:ext>
            </a:extLst>
          </p:cNvPr>
          <p:cNvSpPr>
            <a:spLocks/>
          </p:cNvSpPr>
          <p:nvPr/>
        </p:nvSpPr>
        <p:spPr bwMode="auto">
          <a:xfrm rot="-2049804">
            <a:off x="2740025" y="4186238"/>
            <a:ext cx="2119313" cy="1325562"/>
          </a:xfrm>
          <a:custGeom>
            <a:avLst/>
            <a:gdLst>
              <a:gd name="T0" fmla="*/ 2147483646 w 21600"/>
              <a:gd name="T1" fmla="*/ 2147483646 h 10261"/>
              <a:gd name="T2" fmla="*/ 0 w 21600"/>
              <a:gd name="T3" fmla="*/ 0 h 10261"/>
              <a:gd name="T4" fmla="*/ 2147483646 w 21600"/>
              <a:gd name="T5" fmla="*/ 2147483646 h 10261"/>
              <a:gd name="T6" fmla="*/ 0 60000 65536"/>
              <a:gd name="T7" fmla="*/ 0 60000 65536"/>
              <a:gd name="T8" fmla="*/ 0 60000 65536"/>
              <a:gd name="T9" fmla="*/ 0 w 21600"/>
              <a:gd name="T10" fmla="*/ 0 h 10261"/>
              <a:gd name="T11" fmla="*/ 21600 w 21600"/>
              <a:gd name="T12" fmla="*/ 10261 h 102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0261" fill="none" extrusionOk="0">
                <a:moveTo>
                  <a:pt x="2586" y="10261"/>
                </a:moveTo>
                <a:cubicBezTo>
                  <a:pt x="888" y="7111"/>
                  <a:pt x="0" y="3589"/>
                  <a:pt x="0" y="11"/>
                </a:cubicBezTo>
                <a:cubicBezTo>
                  <a:pt x="-1" y="7"/>
                  <a:pt x="0" y="3"/>
                  <a:pt x="0" y="0"/>
                </a:cubicBezTo>
              </a:path>
              <a:path w="21600" h="10261" stroke="0" extrusionOk="0">
                <a:moveTo>
                  <a:pt x="2586" y="10261"/>
                </a:moveTo>
                <a:cubicBezTo>
                  <a:pt x="888" y="7111"/>
                  <a:pt x="0" y="3589"/>
                  <a:pt x="0" y="11"/>
                </a:cubicBezTo>
                <a:cubicBezTo>
                  <a:pt x="-1" y="7"/>
                  <a:pt x="0" y="3"/>
                  <a:pt x="0" y="0"/>
                </a:cubicBezTo>
                <a:lnTo>
                  <a:pt x="21600" y="11"/>
                </a:lnTo>
                <a:lnTo>
                  <a:pt x="2586" y="10261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31" name="Line 55">
            <a:extLst>
              <a:ext uri="{FF2B5EF4-FFF2-40B4-BE49-F238E27FC236}">
                <a16:creationId xmlns:a16="http://schemas.microsoft.com/office/drawing/2014/main" id="{70152E2C-97C8-48DB-8F6E-83C5FA32651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0444" y="4615657"/>
            <a:ext cx="1587" cy="53975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32" name="Arc 56">
            <a:extLst>
              <a:ext uri="{FF2B5EF4-FFF2-40B4-BE49-F238E27FC236}">
                <a16:creationId xmlns:a16="http://schemas.microsoft.com/office/drawing/2014/main" id="{15ED6D97-8E3D-46A0-888A-EF6F7767282B}"/>
              </a:ext>
            </a:extLst>
          </p:cNvPr>
          <p:cNvSpPr>
            <a:spLocks/>
          </p:cNvSpPr>
          <p:nvPr/>
        </p:nvSpPr>
        <p:spPr bwMode="auto">
          <a:xfrm rot="-1300963">
            <a:off x="2016125" y="3489325"/>
            <a:ext cx="2203450" cy="2413000"/>
          </a:xfrm>
          <a:custGeom>
            <a:avLst/>
            <a:gdLst>
              <a:gd name="T0" fmla="*/ 2147483646 w 20218"/>
              <a:gd name="T1" fmla="*/ 2147483646 h 18807"/>
              <a:gd name="T2" fmla="*/ 0 w 20218"/>
              <a:gd name="T3" fmla="*/ 2147483646 h 18807"/>
              <a:gd name="T4" fmla="*/ 2147483646 w 20218"/>
              <a:gd name="T5" fmla="*/ 0 h 18807"/>
              <a:gd name="T6" fmla="*/ 0 60000 65536"/>
              <a:gd name="T7" fmla="*/ 0 60000 65536"/>
              <a:gd name="T8" fmla="*/ 0 60000 65536"/>
              <a:gd name="T9" fmla="*/ 0 w 20218"/>
              <a:gd name="T10" fmla="*/ 0 h 18807"/>
              <a:gd name="T11" fmla="*/ 20218 w 20218"/>
              <a:gd name="T12" fmla="*/ 18807 h 188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18" h="18807" fill="none" extrusionOk="0">
                <a:moveTo>
                  <a:pt x="9594" y="18807"/>
                </a:moveTo>
                <a:cubicBezTo>
                  <a:pt x="5181" y="16314"/>
                  <a:pt x="1784" y="12347"/>
                  <a:pt x="0" y="7602"/>
                </a:cubicBezTo>
              </a:path>
              <a:path w="20218" h="18807" stroke="0" extrusionOk="0">
                <a:moveTo>
                  <a:pt x="9594" y="18807"/>
                </a:moveTo>
                <a:cubicBezTo>
                  <a:pt x="5181" y="16314"/>
                  <a:pt x="1784" y="12347"/>
                  <a:pt x="0" y="7602"/>
                </a:cubicBezTo>
                <a:lnTo>
                  <a:pt x="20218" y="0"/>
                </a:lnTo>
                <a:lnTo>
                  <a:pt x="9594" y="18807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33" name="Line 57">
            <a:extLst>
              <a:ext uri="{FF2B5EF4-FFF2-40B4-BE49-F238E27FC236}">
                <a16:creationId xmlns:a16="http://schemas.microsoft.com/office/drawing/2014/main" id="{1845197E-6881-4451-B4A8-C63B86EB690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0444" y="4779169"/>
            <a:ext cx="1588" cy="2159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34" name="Text Box 58">
            <a:extLst>
              <a:ext uri="{FF2B5EF4-FFF2-40B4-BE49-F238E27FC236}">
                <a16:creationId xmlns:a16="http://schemas.microsoft.com/office/drawing/2014/main" id="{C9E506FD-7A90-4461-B72C-9BA867D7C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925" y="5086350"/>
            <a:ext cx="1223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35" name="Text Box 59">
            <a:extLst>
              <a:ext uri="{FF2B5EF4-FFF2-40B4-BE49-F238E27FC236}">
                <a16:creationId xmlns:a16="http://schemas.microsoft.com/office/drawing/2014/main" id="{D4C3F36F-B6B5-4E16-BAEC-71B743E3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975" y="4435475"/>
            <a:ext cx="1238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等压</a:t>
            </a:r>
          </a:p>
        </p:txBody>
      </p:sp>
      <p:sp>
        <p:nvSpPr>
          <p:cNvPr id="24637" name="Text Box 61">
            <a:extLst>
              <a:ext uri="{FF2B5EF4-FFF2-40B4-BE49-F238E27FC236}">
                <a16:creationId xmlns:a16="http://schemas.microsoft.com/office/drawing/2014/main" id="{E791828E-917C-4BB4-8BF0-F9B956BEA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950" y="5072063"/>
            <a:ext cx="1100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sp>
        <p:nvSpPr>
          <p:cNvPr id="24638" name="Text Box 62">
            <a:extLst>
              <a:ext uri="{FF2B5EF4-FFF2-40B4-BE49-F238E27FC236}">
                <a16:creationId xmlns:a16="http://schemas.microsoft.com/office/drawing/2014/main" id="{1D77AF5F-5484-4F4F-9F34-9A8EC82D0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4421188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000" i="1">
                <a:solidFill>
                  <a:schemeClr val="bg1"/>
                </a:solidFill>
              </a:rPr>
              <a:t>Q</a:t>
            </a:r>
            <a:r>
              <a:rPr lang="en-GB" altLang="zh-CN" sz="2000">
                <a:solidFill>
                  <a:schemeClr val="bg1"/>
                </a:solidFill>
              </a:rPr>
              <a:t>&gt;0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24639" name="Text Box 63">
            <a:extLst>
              <a:ext uri="{FF2B5EF4-FFF2-40B4-BE49-F238E27FC236}">
                <a16:creationId xmlns:a16="http://schemas.microsoft.com/office/drawing/2014/main" id="{46A9E9F5-BA05-40B5-A7B5-C124A0815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5286375"/>
            <a:ext cx="1223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40" name="Text Box 64">
            <a:extLst>
              <a:ext uri="{FF2B5EF4-FFF2-40B4-BE49-F238E27FC236}">
                <a16:creationId xmlns:a16="http://schemas.microsoft.com/office/drawing/2014/main" id="{13EE8896-C3E2-45D7-8ADC-E4973C720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5643563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grpSp>
        <p:nvGrpSpPr>
          <p:cNvPr id="5" name="Group 65">
            <a:extLst>
              <a:ext uri="{FF2B5EF4-FFF2-40B4-BE49-F238E27FC236}">
                <a16:creationId xmlns:a16="http://schemas.microsoft.com/office/drawing/2014/main" id="{29D72A52-16E4-4EFD-A007-58A1836DB474}"/>
              </a:ext>
            </a:extLst>
          </p:cNvPr>
          <p:cNvGrpSpPr>
            <a:grpSpLocks/>
          </p:cNvGrpSpPr>
          <p:nvPr/>
        </p:nvGrpSpPr>
        <p:grpSpPr bwMode="auto">
          <a:xfrm>
            <a:off x="4968875" y="4121150"/>
            <a:ext cx="3195638" cy="2535238"/>
            <a:chOff x="657" y="1389"/>
            <a:chExt cx="2013" cy="1597"/>
          </a:xfrm>
        </p:grpSpPr>
        <p:sp>
          <p:nvSpPr>
            <p:cNvPr id="22582" name="Line 66">
              <a:extLst>
                <a:ext uri="{FF2B5EF4-FFF2-40B4-BE49-F238E27FC236}">
                  <a16:creationId xmlns:a16="http://schemas.microsoft.com/office/drawing/2014/main" id="{F7E6CB60-1193-42AF-9C56-C9A7E0F439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" y="2698"/>
              <a:ext cx="1757" cy="1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3" name="Line 67">
              <a:extLst>
                <a:ext uri="{FF2B5EF4-FFF2-40B4-BE49-F238E27FC236}">
                  <a16:creationId xmlns:a16="http://schemas.microsoft.com/office/drawing/2014/main" id="{37527863-C684-4658-8D1E-2CEEA1FE638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893" y="1605"/>
              <a:ext cx="1" cy="110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4" name="Text Box 68">
              <a:extLst>
                <a:ext uri="{FF2B5EF4-FFF2-40B4-BE49-F238E27FC236}">
                  <a16:creationId xmlns:a16="http://schemas.microsoft.com/office/drawing/2014/main" id="{38436DFA-D478-4F6E-AE80-1EFD16AF4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69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22585" name="Text Box 69">
              <a:extLst>
                <a:ext uri="{FF2B5EF4-FFF2-40B4-BE49-F238E27FC236}">
                  <a16:creationId xmlns:a16="http://schemas.microsoft.com/office/drawing/2014/main" id="{3D2F3961-8984-4B3D-B8BD-7E755727B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" y="138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22586" name="Text Box 70">
              <a:extLst>
                <a:ext uri="{FF2B5EF4-FFF2-40B4-BE49-F238E27FC236}">
                  <a16:creationId xmlns:a16="http://schemas.microsoft.com/office/drawing/2014/main" id="{3D86A9DF-B3C9-46B1-A949-4C8EF38EC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6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24647" name="Arc 71">
            <a:extLst>
              <a:ext uri="{FF2B5EF4-FFF2-40B4-BE49-F238E27FC236}">
                <a16:creationId xmlns:a16="http://schemas.microsoft.com/office/drawing/2014/main" id="{466D99C4-81CC-4BFE-AA26-4B1BD413F3A8}"/>
              </a:ext>
            </a:extLst>
          </p:cNvPr>
          <p:cNvSpPr>
            <a:spLocks/>
          </p:cNvSpPr>
          <p:nvPr/>
        </p:nvSpPr>
        <p:spPr bwMode="auto">
          <a:xfrm rot="-2049804">
            <a:off x="6937375" y="4364038"/>
            <a:ext cx="2119313" cy="1033462"/>
          </a:xfrm>
          <a:custGeom>
            <a:avLst/>
            <a:gdLst>
              <a:gd name="T0" fmla="*/ 2147483646 w 21600"/>
              <a:gd name="T1" fmla="*/ 2147483646 h 8000"/>
              <a:gd name="T2" fmla="*/ 0 w 21600"/>
              <a:gd name="T3" fmla="*/ 2147483646 h 8000"/>
              <a:gd name="T4" fmla="*/ 2147483646 w 21600"/>
              <a:gd name="T5" fmla="*/ 0 h 8000"/>
              <a:gd name="T6" fmla="*/ 0 60000 65536"/>
              <a:gd name="T7" fmla="*/ 0 60000 65536"/>
              <a:gd name="T8" fmla="*/ 0 60000 65536"/>
              <a:gd name="T9" fmla="*/ 0 w 21600"/>
              <a:gd name="T10" fmla="*/ 0 h 8000"/>
              <a:gd name="T11" fmla="*/ 21600 w 21600"/>
              <a:gd name="T12" fmla="*/ 8000 h 8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8000" fill="none" extrusionOk="0">
                <a:moveTo>
                  <a:pt x="1536" y="7999"/>
                </a:moveTo>
                <a:cubicBezTo>
                  <a:pt x="533" y="5484"/>
                  <a:pt x="12" y="2802"/>
                  <a:pt x="0" y="94"/>
                </a:cubicBezTo>
              </a:path>
              <a:path w="21600" h="8000" stroke="0" extrusionOk="0">
                <a:moveTo>
                  <a:pt x="1536" y="7999"/>
                </a:moveTo>
                <a:cubicBezTo>
                  <a:pt x="533" y="5484"/>
                  <a:pt x="12" y="2802"/>
                  <a:pt x="0" y="94"/>
                </a:cubicBezTo>
                <a:lnTo>
                  <a:pt x="21600" y="0"/>
                </a:lnTo>
                <a:lnTo>
                  <a:pt x="1536" y="7999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49" name="Arc 73">
            <a:extLst>
              <a:ext uri="{FF2B5EF4-FFF2-40B4-BE49-F238E27FC236}">
                <a16:creationId xmlns:a16="http://schemas.microsoft.com/office/drawing/2014/main" id="{8E6A9535-3CE1-45D1-A831-EAA10AAF52B8}"/>
              </a:ext>
            </a:extLst>
          </p:cNvPr>
          <p:cNvSpPr>
            <a:spLocks/>
          </p:cNvSpPr>
          <p:nvPr/>
        </p:nvSpPr>
        <p:spPr bwMode="auto">
          <a:xfrm rot="-1300963">
            <a:off x="6111875" y="3479800"/>
            <a:ext cx="2203450" cy="2352675"/>
          </a:xfrm>
          <a:custGeom>
            <a:avLst/>
            <a:gdLst>
              <a:gd name="T0" fmla="*/ 2147483646 w 20218"/>
              <a:gd name="T1" fmla="*/ 2147483646 h 18341"/>
              <a:gd name="T2" fmla="*/ 0 w 20218"/>
              <a:gd name="T3" fmla="*/ 2147483646 h 18341"/>
              <a:gd name="T4" fmla="*/ 2147483646 w 20218"/>
              <a:gd name="T5" fmla="*/ 0 h 18341"/>
              <a:gd name="T6" fmla="*/ 0 60000 65536"/>
              <a:gd name="T7" fmla="*/ 0 60000 65536"/>
              <a:gd name="T8" fmla="*/ 0 60000 65536"/>
              <a:gd name="T9" fmla="*/ 0 w 20218"/>
              <a:gd name="T10" fmla="*/ 0 h 18341"/>
              <a:gd name="T11" fmla="*/ 20218 w 20218"/>
              <a:gd name="T12" fmla="*/ 18341 h 183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18" h="18341" fill="none" extrusionOk="0">
                <a:moveTo>
                  <a:pt x="8808" y="18340"/>
                </a:moveTo>
                <a:cubicBezTo>
                  <a:pt x="4770" y="15828"/>
                  <a:pt x="1674" y="12054"/>
                  <a:pt x="0" y="7602"/>
                </a:cubicBezTo>
              </a:path>
              <a:path w="20218" h="18341" stroke="0" extrusionOk="0">
                <a:moveTo>
                  <a:pt x="8808" y="18340"/>
                </a:moveTo>
                <a:cubicBezTo>
                  <a:pt x="4770" y="15828"/>
                  <a:pt x="1674" y="12054"/>
                  <a:pt x="0" y="7602"/>
                </a:cubicBezTo>
                <a:lnTo>
                  <a:pt x="20218" y="0"/>
                </a:lnTo>
                <a:lnTo>
                  <a:pt x="8808" y="18340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50" name="Line 74">
            <a:extLst>
              <a:ext uri="{FF2B5EF4-FFF2-40B4-BE49-F238E27FC236}">
                <a16:creationId xmlns:a16="http://schemas.microsoft.com/office/drawing/2014/main" id="{39183D83-AE06-4772-8D6E-B78EE762B4DD}"/>
              </a:ext>
            </a:extLst>
          </p:cNvPr>
          <p:cNvSpPr>
            <a:spLocks noChangeShapeType="1"/>
          </p:cNvSpPr>
          <p:nvPr/>
        </p:nvSpPr>
        <p:spPr bwMode="auto">
          <a:xfrm rot="-2597457">
            <a:off x="7026275" y="5194300"/>
            <a:ext cx="1588" cy="2159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51" name="Text Box 75">
            <a:extLst>
              <a:ext uri="{FF2B5EF4-FFF2-40B4-BE49-F238E27FC236}">
                <a16:creationId xmlns:a16="http://schemas.microsoft.com/office/drawing/2014/main" id="{FDD3BA86-C086-4B21-B1EC-CBEDFCA0E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788" y="5075238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52" name="Text Box 76">
            <a:extLst>
              <a:ext uri="{FF2B5EF4-FFF2-40B4-BE49-F238E27FC236}">
                <a16:creationId xmlns:a16="http://schemas.microsoft.com/office/drawing/2014/main" id="{5AB2ADE3-9014-4E29-920E-B20DE68E1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838" y="4424363"/>
            <a:ext cx="1238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等温</a:t>
            </a:r>
          </a:p>
        </p:txBody>
      </p:sp>
      <p:sp>
        <p:nvSpPr>
          <p:cNvPr id="24653" name="Text Box 77">
            <a:extLst>
              <a:ext uri="{FF2B5EF4-FFF2-40B4-BE49-F238E27FC236}">
                <a16:creationId xmlns:a16="http://schemas.microsoft.com/office/drawing/2014/main" id="{05DC51CA-CE22-444F-A833-6E2F44DBD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3" y="5064125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sp>
        <p:nvSpPr>
          <p:cNvPr id="24654" name="Text Box 78">
            <a:extLst>
              <a:ext uri="{FF2B5EF4-FFF2-40B4-BE49-F238E27FC236}">
                <a16:creationId xmlns:a16="http://schemas.microsoft.com/office/drawing/2014/main" id="{C99B81EB-2E84-4B70-B364-545A6AF50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3538" y="4410075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000" i="1">
                <a:solidFill>
                  <a:schemeClr val="bg1"/>
                </a:solidFill>
              </a:rPr>
              <a:t>Q</a:t>
            </a:r>
            <a:r>
              <a:rPr lang="en-GB" altLang="zh-CN" sz="2000">
                <a:solidFill>
                  <a:schemeClr val="bg1"/>
                </a:solidFill>
              </a:rPr>
              <a:t>&gt;0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24655" name="Text Box 79">
            <a:extLst>
              <a:ext uri="{FF2B5EF4-FFF2-40B4-BE49-F238E27FC236}">
                <a16:creationId xmlns:a16="http://schemas.microsoft.com/office/drawing/2014/main" id="{203BF740-9A0F-48F3-91CD-350472F75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3588" y="5557838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56" name="Text Box 80">
            <a:extLst>
              <a:ext uri="{FF2B5EF4-FFF2-40B4-BE49-F238E27FC236}">
                <a16:creationId xmlns:a16="http://schemas.microsoft.com/office/drawing/2014/main" id="{EB3B5762-0CC3-4DDA-940D-DEA4CC29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613" y="5546725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sp>
        <p:nvSpPr>
          <p:cNvPr id="24657" name="Arc 81">
            <a:extLst>
              <a:ext uri="{FF2B5EF4-FFF2-40B4-BE49-F238E27FC236}">
                <a16:creationId xmlns:a16="http://schemas.microsoft.com/office/drawing/2014/main" id="{F9E48C92-BE33-409A-9FF9-F45BAC7C675C}"/>
              </a:ext>
            </a:extLst>
          </p:cNvPr>
          <p:cNvSpPr>
            <a:spLocks/>
          </p:cNvSpPr>
          <p:nvPr/>
        </p:nvSpPr>
        <p:spPr bwMode="auto">
          <a:xfrm rot="-3174625">
            <a:off x="5574507" y="3102768"/>
            <a:ext cx="2203450" cy="1630363"/>
          </a:xfrm>
          <a:custGeom>
            <a:avLst/>
            <a:gdLst>
              <a:gd name="T0" fmla="*/ 2147483646 w 20218"/>
              <a:gd name="T1" fmla="*/ 2147483646 h 12706"/>
              <a:gd name="T2" fmla="*/ 0 w 20218"/>
              <a:gd name="T3" fmla="*/ 2147483646 h 12706"/>
              <a:gd name="T4" fmla="*/ 2147483646 w 20218"/>
              <a:gd name="T5" fmla="*/ 0 h 12706"/>
              <a:gd name="T6" fmla="*/ 0 60000 65536"/>
              <a:gd name="T7" fmla="*/ 0 60000 65536"/>
              <a:gd name="T8" fmla="*/ 0 60000 65536"/>
              <a:gd name="T9" fmla="*/ 0 w 20218"/>
              <a:gd name="T10" fmla="*/ 0 h 12706"/>
              <a:gd name="T11" fmla="*/ 20218 w 20218"/>
              <a:gd name="T12" fmla="*/ 12706 h 127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18" h="12706" fill="none" extrusionOk="0">
                <a:moveTo>
                  <a:pt x="2750" y="12705"/>
                </a:moveTo>
                <a:cubicBezTo>
                  <a:pt x="1608" y="11136"/>
                  <a:pt x="683" y="9419"/>
                  <a:pt x="0" y="7602"/>
                </a:cubicBezTo>
              </a:path>
              <a:path w="20218" h="12706" stroke="0" extrusionOk="0">
                <a:moveTo>
                  <a:pt x="2750" y="12705"/>
                </a:moveTo>
                <a:cubicBezTo>
                  <a:pt x="1608" y="11136"/>
                  <a:pt x="683" y="9419"/>
                  <a:pt x="0" y="7602"/>
                </a:cubicBezTo>
                <a:lnTo>
                  <a:pt x="20218" y="0"/>
                </a:lnTo>
                <a:lnTo>
                  <a:pt x="2750" y="12705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Text Box 28">
            <a:extLst>
              <a:ext uri="{FF2B5EF4-FFF2-40B4-BE49-F238E27FC236}">
                <a16:creationId xmlns:a16="http://schemas.microsoft.com/office/drawing/2014/main" id="{5E402002-AF6C-4364-876F-635BF22F8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863" y="3643313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FF00"/>
                </a:solidFill>
              </a:rPr>
              <a:t>(1)</a:t>
            </a:r>
          </a:p>
        </p:txBody>
      </p:sp>
      <p:sp>
        <p:nvSpPr>
          <p:cNvPr id="71" name="Text Box 28">
            <a:extLst>
              <a:ext uri="{FF2B5EF4-FFF2-40B4-BE49-F238E27FC236}">
                <a16:creationId xmlns:a16="http://schemas.microsoft.com/office/drawing/2014/main" id="{9B8DF872-736A-4932-A732-B58B46868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238" y="3603625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FF00"/>
                </a:solidFill>
              </a:rPr>
              <a:t>(2)</a:t>
            </a:r>
          </a:p>
        </p:txBody>
      </p:sp>
      <p:sp>
        <p:nvSpPr>
          <p:cNvPr id="72" name="Text Box 28">
            <a:extLst>
              <a:ext uri="{FF2B5EF4-FFF2-40B4-BE49-F238E27FC236}">
                <a16:creationId xmlns:a16="http://schemas.microsoft.com/office/drawing/2014/main" id="{BAFCBE83-92E9-468B-8454-FE3A353EC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863" y="6286500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FF00"/>
                </a:solidFill>
              </a:rPr>
              <a:t>(3)</a:t>
            </a:r>
          </a:p>
        </p:txBody>
      </p:sp>
      <p:sp>
        <p:nvSpPr>
          <p:cNvPr id="73" name="Text Box 28">
            <a:extLst>
              <a:ext uri="{FF2B5EF4-FFF2-40B4-BE49-F238E27FC236}">
                <a16:creationId xmlns:a16="http://schemas.microsoft.com/office/drawing/2014/main" id="{E6E486D3-58F6-426E-9B32-1D6A693EB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6286500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FF00"/>
                </a:solidFill>
              </a:rPr>
              <a:t>(4)</a:t>
            </a:r>
          </a:p>
        </p:txBody>
      </p:sp>
      <p:sp>
        <p:nvSpPr>
          <p:cNvPr id="24628" name="任意多边形 73">
            <a:extLst>
              <a:ext uri="{FF2B5EF4-FFF2-40B4-BE49-F238E27FC236}">
                <a16:creationId xmlns:a16="http://schemas.microsoft.com/office/drawing/2014/main" id="{6D554460-DED2-4BC0-94A9-8694F751F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3246438"/>
            <a:ext cx="1317625" cy="881062"/>
          </a:xfrm>
          <a:custGeom>
            <a:avLst/>
            <a:gdLst>
              <a:gd name="T0" fmla="*/ 0 w 1317072"/>
              <a:gd name="T1" fmla="*/ 465390 h 880845"/>
              <a:gd name="T2" fmla="*/ 255395 w 1317072"/>
              <a:gd name="T3" fmla="*/ 795395 h 880845"/>
              <a:gd name="T4" fmla="*/ 408629 w 1317072"/>
              <a:gd name="T5" fmla="*/ 863086 h 880845"/>
              <a:gd name="T6" fmla="*/ 570383 w 1317072"/>
              <a:gd name="T7" fmla="*/ 744623 h 880845"/>
              <a:gd name="T8" fmla="*/ 1336565 w 1317072"/>
              <a:gd name="T9" fmla="*/ 0 h 8808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17072"/>
              <a:gd name="T16" fmla="*/ 0 h 880845"/>
              <a:gd name="T17" fmla="*/ 1317072 w 1317072"/>
              <a:gd name="T18" fmla="*/ 880845 h 8808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17072" h="880845">
                <a:moveTo>
                  <a:pt x="0" y="461395"/>
                </a:moveTo>
                <a:cubicBezTo>
                  <a:pt x="92279" y="592123"/>
                  <a:pt x="184558" y="722852"/>
                  <a:pt x="251670" y="788566"/>
                </a:cubicBezTo>
                <a:cubicBezTo>
                  <a:pt x="318782" y="854280"/>
                  <a:pt x="350940" y="864067"/>
                  <a:pt x="402672" y="855678"/>
                </a:cubicBezTo>
                <a:cubicBezTo>
                  <a:pt x="454404" y="847289"/>
                  <a:pt x="409663" y="880845"/>
                  <a:pt x="562063" y="738232"/>
                </a:cubicBezTo>
                <a:cubicBezTo>
                  <a:pt x="714463" y="595619"/>
                  <a:pt x="1015767" y="297809"/>
                  <a:pt x="1317072" y="0"/>
                </a:cubicBezTo>
              </a:path>
            </a:pathLst>
          </a:cu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81" name="灯片编号占位符 1">
            <a:extLst>
              <a:ext uri="{FF2B5EF4-FFF2-40B4-BE49-F238E27FC236}">
                <a16:creationId xmlns:a16="http://schemas.microsoft.com/office/drawing/2014/main" id="{56A378C4-F301-4737-806D-C8CF9B29402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579377C-F627-471B-8949-BCF13625E506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4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4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4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2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4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2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24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4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2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2" grpId="0"/>
      <p:bldP spid="24601" grpId="0"/>
      <p:bldP spid="24602" grpId="0"/>
      <p:bldP spid="24603" grpId="0"/>
      <p:bldP spid="24604" grpId="0"/>
      <p:bldP spid="24605" grpId="0"/>
      <p:bldP spid="24606" grpId="0"/>
      <p:bldP spid="24617" grpId="0"/>
      <p:bldP spid="24618" grpId="0"/>
      <p:bldP spid="24619" grpId="0"/>
      <p:bldP spid="24620" grpId="0"/>
      <p:bldP spid="24621" grpId="0"/>
      <p:bldP spid="24622" grpId="0"/>
      <p:bldP spid="24634" grpId="0"/>
      <p:bldP spid="24635" grpId="0"/>
      <p:bldP spid="24637" grpId="0"/>
      <p:bldP spid="24638" grpId="0"/>
      <p:bldP spid="24639" grpId="0"/>
      <p:bldP spid="24640" grpId="0"/>
      <p:bldP spid="24651" grpId="0"/>
      <p:bldP spid="24652" grpId="0"/>
      <p:bldP spid="24653" grpId="0"/>
      <p:bldP spid="24654" grpId="0"/>
      <p:bldP spid="24655" grpId="0"/>
      <p:bldP spid="24656" grpId="0"/>
      <p:bldP spid="70" grpId="0"/>
      <p:bldP spid="71" grpId="0"/>
      <p:bldP spid="72" grpId="0"/>
      <p:bldP spid="7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16718</TotalTime>
  <Words>1387</Words>
  <Application>Microsoft Office PowerPoint</Application>
  <PresentationFormat>全屏显示(4:3)</PresentationFormat>
  <Paragraphs>286</Paragraphs>
  <Slides>19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仿宋_GB2312</vt:lpstr>
      <vt:lpstr>黑体</vt:lpstr>
      <vt:lpstr>华文仿宋</vt:lpstr>
      <vt:lpstr>楷体_GB2312</vt:lpstr>
      <vt:lpstr>宋体</vt:lpstr>
      <vt:lpstr>Arial</vt:lpstr>
      <vt:lpstr>Cambria Math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1459</cp:revision>
  <cp:lastPrinted>2025-11-13T08:50:40Z</cp:lastPrinted>
  <dcterms:created xsi:type="dcterms:W3CDTF">1998-11-21T01:35:00Z</dcterms:created>
  <dcterms:modified xsi:type="dcterms:W3CDTF">2025-11-18T02:09:14Z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