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wmf" ContentType="image/x-wmf"/>
  <Default Extension="rels" ContentType="application/vnd.openxmlformats-package.relationships+xml"/>
  <Default Extension="xml" ContentType="application/xml"/>
  <Default Extension="wav" ContentType="audio/x-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handoutMasterIdLst>
    <p:handoutMasterId r:id="rId24"/>
  </p:handoutMasterIdLst>
  <p:sldIdLst>
    <p:sldId id="439" r:id="rId2"/>
    <p:sldId id="466" r:id="rId3"/>
    <p:sldId id="470" r:id="rId4"/>
    <p:sldId id="471" r:id="rId5"/>
    <p:sldId id="472" r:id="rId6"/>
    <p:sldId id="475" r:id="rId7"/>
    <p:sldId id="474" r:id="rId8"/>
    <p:sldId id="473" r:id="rId9"/>
    <p:sldId id="476" r:id="rId10"/>
    <p:sldId id="477" r:id="rId11"/>
    <p:sldId id="478" r:id="rId12"/>
    <p:sldId id="479" r:id="rId13"/>
    <p:sldId id="480" r:id="rId14"/>
    <p:sldId id="481" r:id="rId15"/>
    <p:sldId id="482" r:id="rId16"/>
    <p:sldId id="483" r:id="rId17"/>
    <p:sldId id="484" r:id="rId18"/>
    <p:sldId id="485" r:id="rId19"/>
    <p:sldId id="486" r:id="rId20"/>
    <p:sldId id="488" r:id="rId21"/>
    <p:sldId id="489" r:id="rId22"/>
  </p:sldIdLst>
  <p:sldSz cx="9144000" cy="6858000" type="screen4x3"/>
  <p:notesSz cx="6797675" cy="9928225"/>
  <p:custDataLst>
    <p:tags r:id="rId25"/>
  </p:custDataLst>
  <p:defaultTextStyle>
    <a:defPPr>
      <a:defRPr lang="zh-CN"/>
    </a:defPPr>
    <a:lvl1pPr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523" userDrawn="1">
          <p15:clr>
            <a:srgbClr val="A4A3A4"/>
          </p15:clr>
        </p15:guide>
        <p15:guide id="2" pos="507" userDrawn="1">
          <p15:clr>
            <a:srgbClr val="A4A3A4"/>
          </p15:clr>
        </p15:guide>
      </p15:sldGuideLst>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CC99"/>
    <a:srgbClr val="FFFF00"/>
    <a:srgbClr val="0000FF"/>
    <a:srgbClr val="800000"/>
    <a:srgbClr val="CC6600"/>
    <a:srgbClr val="009999"/>
    <a:srgbClr val="FF0000"/>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32" autoAdjust="0"/>
    <p:restoredTop sz="94830" autoAdjust="0"/>
  </p:normalViewPr>
  <p:slideViewPr>
    <p:cSldViewPr showGuides="1">
      <p:cViewPr varScale="1">
        <p:scale>
          <a:sx n="110" d="100"/>
          <a:sy n="110" d="100"/>
        </p:scale>
        <p:origin x="1482" y="78"/>
      </p:cViewPr>
      <p:guideLst>
        <p:guide orient="horz" pos="2523"/>
        <p:guide pos="50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0" d="100"/>
          <a:sy n="60" d="100"/>
        </p:scale>
        <p:origin x="-1764" y="-84"/>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image" Target="../media/image9.emf"/><Relationship Id="rId6" Type="http://schemas.openxmlformats.org/officeDocument/2006/relationships/image" Target="../media/image14.emf"/><Relationship Id="rId5" Type="http://schemas.openxmlformats.org/officeDocument/2006/relationships/image" Target="../media/image13.emf"/><Relationship Id="rId4" Type="http://schemas.openxmlformats.org/officeDocument/2006/relationships/image" Target="../media/image12.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0.emf"/><Relationship Id="rId7" Type="http://schemas.openxmlformats.org/officeDocument/2006/relationships/image" Target="../media/image24.emf"/><Relationship Id="rId2" Type="http://schemas.openxmlformats.org/officeDocument/2006/relationships/image" Target="../media/image19.emf"/><Relationship Id="rId1" Type="http://schemas.openxmlformats.org/officeDocument/2006/relationships/image" Target="../media/image18.emf"/><Relationship Id="rId6" Type="http://schemas.openxmlformats.org/officeDocument/2006/relationships/image" Target="../media/image23.emf"/><Relationship Id="rId5" Type="http://schemas.openxmlformats.org/officeDocument/2006/relationships/image" Target="../media/image22.emf"/><Relationship Id="rId4" Type="http://schemas.openxmlformats.org/officeDocument/2006/relationships/image" Target="../media/image21.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image" Target="../media/image31.e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40.emf"/><Relationship Id="rId3" Type="http://schemas.openxmlformats.org/officeDocument/2006/relationships/image" Target="../media/image35.emf"/><Relationship Id="rId7" Type="http://schemas.openxmlformats.org/officeDocument/2006/relationships/image" Target="../media/image39.emf"/><Relationship Id="rId2" Type="http://schemas.openxmlformats.org/officeDocument/2006/relationships/image" Target="../media/image34.emf"/><Relationship Id="rId1" Type="http://schemas.openxmlformats.org/officeDocument/2006/relationships/image" Target="../media/image33.emf"/><Relationship Id="rId6" Type="http://schemas.openxmlformats.org/officeDocument/2006/relationships/image" Target="../media/image38.emf"/><Relationship Id="rId5" Type="http://schemas.openxmlformats.org/officeDocument/2006/relationships/image" Target="../media/image37.emf"/><Relationship Id="rId4" Type="http://schemas.openxmlformats.org/officeDocument/2006/relationships/image" Target="../media/image36.emf"/><Relationship Id="rId9" Type="http://schemas.openxmlformats.org/officeDocument/2006/relationships/image" Target="../media/image41.e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49.emf"/><Relationship Id="rId13" Type="http://schemas.openxmlformats.org/officeDocument/2006/relationships/image" Target="../media/image54.emf"/><Relationship Id="rId3" Type="http://schemas.openxmlformats.org/officeDocument/2006/relationships/image" Target="../media/image44.emf"/><Relationship Id="rId7" Type="http://schemas.openxmlformats.org/officeDocument/2006/relationships/image" Target="../media/image48.emf"/><Relationship Id="rId12" Type="http://schemas.openxmlformats.org/officeDocument/2006/relationships/image" Target="../media/image53.emf"/><Relationship Id="rId2" Type="http://schemas.openxmlformats.org/officeDocument/2006/relationships/image" Target="../media/image43.emf"/><Relationship Id="rId1" Type="http://schemas.openxmlformats.org/officeDocument/2006/relationships/image" Target="../media/image42.emf"/><Relationship Id="rId6" Type="http://schemas.openxmlformats.org/officeDocument/2006/relationships/image" Target="../media/image47.emf"/><Relationship Id="rId11" Type="http://schemas.openxmlformats.org/officeDocument/2006/relationships/image" Target="../media/image52.emf"/><Relationship Id="rId5" Type="http://schemas.openxmlformats.org/officeDocument/2006/relationships/image" Target="../media/image46.emf"/><Relationship Id="rId10" Type="http://schemas.openxmlformats.org/officeDocument/2006/relationships/image" Target="../media/image51.emf"/><Relationship Id="rId4" Type="http://schemas.openxmlformats.org/officeDocument/2006/relationships/image" Target="../media/image45.emf"/><Relationship Id="rId9" Type="http://schemas.openxmlformats.org/officeDocument/2006/relationships/image" Target="../media/image50.emf"/><Relationship Id="rId14" Type="http://schemas.openxmlformats.org/officeDocument/2006/relationships/image" Target="../media/image55.e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63.emf"/><Relationship Id="rId3" Type="http://schemas.openxmlformats.org/officeDocument/2006/relationships/image" Target="../media/image58.emf"/><Relationship Id="rId7" Type="http://schemas.openxmlformats.org/officeDocument/2006/relationships/image" Target="../media/image62.emf"/><Relationship Id="rId2" Type="http://schemas.openxmlformats.org/officeDocument/2006/relationships/image" Target="../media/image57.emf"/><Relationship Id="rId1" Type="http://schemas.openxmlformats.org/officeDocument/2006/relationships/image" Target="../media/image56.emf"/><Relationship Id="rId6" Type="http://schemas.openxmlformats.org/officeDocument/2006/relationships/image" Target="../media/image61.emf"/><Relationship Id="rId5" Type="http://schemas.openxmlformats.org/officeDocument/2006/relationships/image" Target="../media/image60.emf"/><Relationship Id="rId4" Type="http://schemas.openxmlformats.org/officeDocument/2006/relationships/image" Target="../media/image59.emf"/><Relationship Id="rId9" Type="http://schemas.openxmlformats.org/officeDocument/2006/relationships/image" Target="../media/image64.e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72.emf"/><Relationship Id="rId3" Type="http://schemas.openxmlformats.org/officeDocument/2006/relationships/image" Target="../media/image67.emf"/><Relationship Id="rId7" Type="http://schemas.openxmlformats.org/officeDocument/2006/relationships/image" Target="../media/image71.emf"/><Relationship Id="rId2" Type="http://schemas.openxmlformats.org/officeDocument/2006/relationships/image" Target="../media/image66.emf"/><Relationship Id="rId1" Type="http://schemas.openxmlformats.org/officeDocument/2006/relationships/image" Target="../media/image65.emf"/><Relationship Id="rId6" Type="http://schemas.openxmlformats.org/officeDocument/2006/relationships/image" Target="../media/image70.emf"/><Relationship Id="rId5" Type="http://schemas.openxmlformats.org/officeDocument/2006/relationships/image" Target="../media/image69.emf"/><Relationship Id="rId4" Type="http://schemas.openxmlformats.org/officeDocument/2006/relationships/image" Target="../media/image68.emf"/><Relationship Id="rId9" Type="http://schemas.openxmlformats.org/officeDocument/2006/relationships/image" Target="../media/image73.e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84.emf"/><Relationship Id="rId3" Type="http://schemas.openxmlformats.org/officeDocument/2006/relationships/image" Target="../media/image79.emf"/><Relationship Id="rId7" Type="http://schemas.openxmlformats.org/officeDocument/2006/relationships/image" Target="../media/image83.emf"/><Relationship Id="rId2" Type="http://schemas.openxmlformats.org/officeDocument/2006/relationships/image" Target="../media/image78.emf"/><Relationship Id="rId1" Type="http://schemas.openxmlformats.org/officeDocument/2006/relationships/image" Target="../media/image77.emf"/><Relationship Id="rId6" Type="http://schemas.openxmlformats.org/officeDocument/2006/relationships/image" Target="../media/image82.emf"/><Relationship Id="rId11" Type="http://schemas.openxmlformats.org/officeDocument/2006/relationships/image" Target="../media/image87.emf"/><Relationship Id="rId5" Type="http://schemas.openxmlformats.org/officeDocument/2006/relationships/image" Target="../media/image81.emf"/><Relationship Id="rId10" Type="http://schemas.openxmlformats.org/officeDocument/2006/relationships/image" Target="../media/image86.emf"/><Relationship Id="rId4" Type="http://schemas.openxmlformats.org/officeDocument/2006/relationships/image" Target="../media/image80.emf"/><Relationship Id="rId9" Type="http://schemas.openxmlformats.org/officeDocument/2006/relationships/image" Target="../media/image85.e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91.wmf"/><Relationship Id="rId2" Type="http://schemas.openxmlformats.org/officeDocument/2006/relationships/image" Target="../media/image90.wmf"/><Relationship Id="rId1" Type="http://schemas.openxmlformats.org/officeDocument/2006/relationships/image" Target="../media/image89.wmf"/><Relationship Id="rId5" Type="http://schemas.openxmlformats.org/officeDocument/2006/relationships/image" Target="../media/image93.wmf"/><Relationship Id="rId4" Type="http://schemas.openxmlformats.org/officeDocument/2006/relationships/image" Target="../media/image9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2098"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a:lvl1pPr>
          </a:lstStyle>
          <a:p>
            <a:pPr>
              <a:defRPr/>
            </a:pPr>
            <a:endParaRPr lang="en-US" altLang="zh-CN"/>
          </a:p>
        </p:txBody>
      </p:sp>
      <p:sp>
        <p:nvSpPr>
          <p:cNvPr id="132099" name="Rectangle 3"/>
          <p:cNvSpPr>
            <a:spLocks noGrp="1" noChangeArrowheads="1"/>
          </p:cNvSpPr>
          <p:nvPr>
            <p:ph type="dt" sz="quarter" idx="1"/>
          </p:nvPr>
        </p:nvSpPr>
        <p:spPr bwMode="auto">
          <a:xfrm>
            <a:off x="3851275"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vl1pPr>
          </a:lstStyle>
          <a:p>
            <a:pPr>
              <a:defRPr/>
            </a:pPr>
            <a:endParaRPr lang="en-US" altLang="zh-CN"/>
          </a:p>
        </p:txBody>
      </p:sp>
      <p:sp>
        <p:nvSpPr>
          <p:cNvPr id="132100" name="Rectangle 4"/>
          <p:cNvSpPr>
            <a:spLocks noGrp="1" noChangeArrowheads="1"/>
          </p:cNvSpPr>
          <p:nvPr>
            <p:ph type="ftr" sz="quarter" idx="2"/>
          </p:nvPr>
        </p:nvSpPr>
        <p:spPr bwMode="auto">
          <a:xfrm>
            <a:off x="0" y="9431338"/>
            <a:ext cx="2946400" cy="496887"/>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200"/>
            </a:lvl1pPr>
          </a:lstStyle>
          <a:p>
            <a:pPr>
              <a:defRPr/>
            </a:pPr>
            <a:endParaRPr lang="en-US" altLang="zh-CN"/>
          </a:p>
        </p:txBody>
      </p:sp>
      <p:sp>
        <p:nvSpPr>
          <p:cNvPr id="132101" name="Rectangle 5"/>
          <p:cNvSpPr>
            <a:spLocks noGrp="1" noChangeArrowheads="1"/>
          </p:cNvSpPr>
          <p:nvPr>
            <p:ph type="sldNum" sz="quarter" idx="3"/>
          </p:nvPr>
        </p:nvSpPr>
        <p:spPr bwMode="auto">
          <a:xfrm>
            <a:off x="3851275" y="9431338"/>
            <a:ext cx="2946400" cy="496887"/>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a:defRPr/>
            </a:pPr>
            <a:fld id="{37FF4DE6-1985-490C-B7E0-EDBA30F6E0FB}" type="slidenum">
              <a:rPr lang="en-US" altLang="zh-CN"/>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8482"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a:lvl1pPr>
          </a:lstStyle>
          <a:p>
            <a:pPr>
              <a:defRPr/>
            </a:pPr>
            <a:endParaRPr lang="en-US" altLang="zh-CN"/>
          </a:p>
        </p:txBody>
      </p:sp>
      <p:sp>
        <p:nvSpPr>
          <p:cNvPr id="148483" name="Rectangle 3"/>
          <p:cNvSpPr>
            <a:spLocks noGrp="1" noChangeArrowheads="1"/>
          </p:cNvSpPr>
          <p:nvPr>
            <p:ph type="dt" idx="1"/>
          </p:nvPr>
        </p:nvSpPr>
        <p:spPr bwMode="auto">
          <a:xfrm>
            <a:off x="3851275"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148485" name="Rectangle 5"/>
          <p:cNvSpPr>
            <a:spLocks noGrp="1" noChangeArrowheads="1"/>
          </p:cNvSpPr>
          <p:nvPr>
            <p:ph type="body" sz="quarter" idx="3"/>
          </p:nvPr>
        </p:nvSpPr>
        <p:spPr bwMode="auto">
          <a:xfrm>
            <a:off x="906463" y="4716463"/>
            <a:ext cx="4984750" cy="4467225"/>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48486" name="Rectangle 6"/>
          <p:cNvSpPr>
            <a:spLocks noGrp="1" noChangeArrowheads="1"/>
          </p:cNvSpPr>
          <p:nvPr>
            <p:ph type="ftr" sz="quarter" idx="4"/>
          </p:nvPr>
        </p:nvSpPr>
        <p:spPr bwMode="auto">
          <a:xfrm>
            <a:off x="0" y="9431338"/>
            <a:ext cx="2946400" cy="496887"/>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200"/>
            </a:lvl1pPr>
          </a:lstStyle>
          <a:p>
            <a:pPr>
              <a:defRPr/>
            </a:pPr>
            <a:endParaRPr lang="en-US" altLang="zh-CN"/>
          </a:p>
        </p:txBody>
      </p:sp>
      <p:sp>
        <p:nvSpPr>
          <p:cNvPr id="148487" name="Rectangle 7"/>
          <p:cNvSpPr>
            <a:spLocks noGrp="1" noChangeArrowheads="1"/>
          </p:cNvSpPr>
          <p:nvPr>
            <p:ph type="sldNum" sz="quarter" idx="5"/>
          </p:nvPr>
        </p:nvSpPr>
        <p:spPr bwMode="auto">
          <a:xfrm>
            <a:off x="3851275" y="9431338"/>
            <a:ext cx="2946400" cy="496887"/>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a:defRPr/>
            </a:pPr>
            <a:fld id="{16216DFA-5E0B-4E3C-A3A7-5CFDC691FED5}"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DE1890FE-6035-4760-86F5-639FD7252BB5}"/>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DA230A0C-1659-40AA-A4A8-5867CCAEF00B}"/>
              </a:ext>
            </a:extLst>
          </p:cNvPr>
          <p:cNvSpPr>
            <a:spLocks noGrp="1" noChangeArrowheads="1"/>
          </p:cNvSpPr>
          <p:nvPr>
            <p:ph type="body" idx="1"/>
          </p:nvPr>
        </p:nvSpPr>
        <p:spPr>
          <a:xfrm>
            <a:off x="679450" y="4716463"/>
            <a:ext cx="5438775"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D69AB3BC-8F1D-40F2-8104-447C87D6C6D2}"/>
              </a:ext>
            </a:extLst>
          </p:cNvPr>
          <p:cNvSpPr>
            <a:spLocks noGrp="1" noRot="1" noChangeAspect="1" noChangeArrowheads="1" noTextEdit="1"/>
          </p:cNvSpPr>
          <p:nvPr>
            <p:ph type="sldImg"/>
          </p:nvPr>
        </p:nvSpPr>
        <p:spPr>
          <a:ln/>
        </p:spPr>
      </p:sp>
      <p:sp>
        <p:nvSpPr>
          <p:cNvPr id="7171" name="Rectangle 3">
            <a:extLst>
              <a:ext uri="{FF2B5EF4-FFF2-40B4-BE49-F238E27FC236}">
                <a16:creationId xmlns:a16="http://schemas.microsoft.com/office/drawing/2014/main" id="{7AD7E514-BE3A-4AFB-A6C5-22812AA699B4}"/>
              </a:ext>
            </a:extLst>
          </p:cNvPr>
          <p:cNvSpPr>
            <a:spLocks noGrp="1" noChangeArrowheads="1"/>
          </p:cNvSpPr>
          <p:nvPr>
            <p:ph type="body" idx="1"/>
          </p:nvPr>
        </p:nvSpPr>
        <p:spPr>
          <a:xfrm>
            <a:off x="679450" y="4716463"/>
            <a:ext cx="5438775"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9CE756C4-04D4-48AB-A3E5-C52230427FCA}"/>
              </a:ext>
            </a:extLst>
          </p:cNvPr>
          <p:cNvSpPr>
            <a:spLocks noGrp="1" noRot="1" noChangeAspect="1" noChangeArrowheads="1" noTextEdit="1"/>
          </p:cNvSpPr>
          <p:nvPr>
            <p:ph type="sldImg"/>
          </p:nvPr>
        </p:nvSpPr>
        <p:spPr>
          <a:ln/>
        </p:spPr>
      </p:sp>
      <p:sp>
        <p:nvSpPr>
          <p:cNvPr id="9219" name="Rectangle 3">
            <a:extLst>
              <a:ext uri="{FF2B5EF4-FFF2-40B4-BE49-F238E27FC236}">
                <a16:creationId xmlns:a16="http://schemas.microsoft.com/office/drawing/2014/main" id="{7B711C85-B501-4711-B207-BB36D1B71919}"/>
              </a:ext>
            </a:extLst>
          </p:cNvPr>
          <p:cNvSpPr>
            <a:spLocks noGrp="1" noChangeArrowheads="1"/>
          </p:cNvSpPr>
          <p:nvPr>
            <p:ph type="body" idx="1"/>
          </p:nvPr>
        </p:nvSpPr>
        <p:spPr>
          <a:xfrm>
            <a:off x="679450" y="4716463"/>
            <a:ext cx="5438775"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quarter" idx="1"/>
          </p:nvPr>
        </p:nvSpPr>
        <p:spPr>
          <a:xfrm>
            <a:off x="457200" y="1600200"/>
            <a:ext cx="4038600" cy="21859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59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57200" y="3938588"/>
            <a:ext cx="4038600" cy="21875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48200" y="3938588"/>
            <a:ext cx="4038600" cy="21875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00182F"/>
            </a:gs>
            <a:gs pos="100000">
              <a:srgbClr val="003366"/>
            </a:gs>
          </a:gsLst>
          <a:lin ang="5400000" scaled="1"/>
        </a:gradFill>
        <a:effectLst/>
      </p:bgPr>
    </p:bg>
    <p:spTree>
      <p:nvGrpSpPr>
        <p:cNvPr id="1" name=""/>
        <p:cNvGrpSpPr/>
        <p:nvPr/>
      </p:nvGrpSpPr>
      <p:grpSpPr>
        <a:xfrm>
          <a:off x="0" y="0"/>
          <a:ext cx="0" cy="0"/>
          <a:chOff x="0" y="0"/>
          <a:chExt cx="0" cy="0"/>
        </a:xfrm>
      </p:grpSpPr>
      <p:sp>
        <p:nvSpPr>
          <p:cNvPr id="1026" name="AutoShape 7"/>
          <p:cNvSpPr>
            <a:spLocks noChangeArrowheads="1"/>
          </p:cNvSpPr>
          <p:nvPr/>
        </p:nvSpPr>
        <p:spPr bwMode="auto">
          <a:xfrm>
            <a:off x="-25400" y="0"/>
            <a:ext cx="9204325" cy="6858000"/>
          </a:xfrm>
          <a:prstGeom prst="bevel">
            <a:avLst>
              <a:gd name="adj" fmla="val 1273"/>
            </a:avLst>
          </a:prstGeom>
          <a:solidFill>
            <a:srgbClr val="006699"/>
          </a:solidFill>
          <a:ln w="9525">
            <a:solidFill>
              <a:srgbClr val="006699"/>
            </a:solidFill>
            <a:miter lim="800000"/>
          </a:ln>
        </p:spPr>
        <p:txBody>
          <a:bodyPr wrap="none" anchor="ctr"/>
          <a:lstStyle>
            <a:lvl1pPr algn="ctr">
              <a:defRPr kumimoji="1" sz="2400" b="1">
                <a:solidFill>
                  <a:schemeClr val="tx1"/>
                </a:solidFill>
                <a:latin typeface="Times New Roman" panose="02020603050405020304" pitchFamily="18" charset="0"/>
                <a:ea typeface="宋体" panose="02010600030101010101" pitchFamily="2" charset="-122"/>
              </a:defRPr>
            </a:lvl1pPr>
            <a:lvl2pPr marL="742950" indent="-285750" algn="ctr">
              <a:defRPr kumimoji="1" sz="2400" b="1">
                <a:solidFill>
                  <a:schemeClr val="tx1"/>
                </a:solidFill>
                <a:latin typeface="Times New Roman" panose="02020603050405020304" pitchFamily="18" charset="0"/>
                <a:ea typeface="宋体" panose="02010600030101010101" pitchFamily="2" charset="-122"/>
              </a:defRPr>
            </a:lvl2pPr>
            <a:lvl3pPr marL="1143000" indent="-228600" algn="ctr">
              <a:defRPr kumimoji="1" sz="2400" b="1">
                <a:solidFill>
                  <a:schemeClr val="tx1"/>
                </a:solidFill>
                <a:latin typeface="Times New Roman" panose="02020603050405020304" pitchFamily="18" charset="0"/>
                <a:ea typeface="宋体" panose="02010600030101010101" pitchFamily="2" charset="-122"/>
              </a:defRPr>
            </a:lvl3pPr>
            <a:lvl4pPr marL="1600200" indent="-228600" algn="ctr">
              <a:defRPr kumimoji="1" sz="2400" b="1">
                <a:solidFill>
                  <a:schemeClr val="tx1"/>
                </a:solidFill>
                <a:latin typeface="Times New Roman" panose="02020603050405020304" pitchFamily="18" charset="0"/>
                <a:ea typeface="宋体" panose="02010600030101010101" pitchFamily="2" charset="-122"/>
              </a:defRPr>
            </a:lvl4pPr>
            <a:lvl5pPr marL="2057400" indent="-228600" algn="ctr">
              <a:defRPr kumimoji="1" sz="24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a:p>
        </p:txBody>
      </p:sp>
      <p:sp>
        <p:nvSpPr>
          <p:cNvPr id="1027" name="Rectangle 8"/>
          <p:cNvSpPr>
            <a:spLocks noChangeArrowheads="1"/>
          </p:cNvSpPr>
          <p:nvPr/>
        </p:nvSpPr>
        <p:spPr bwMode="auto">
          <a:xfrm>
            <a:off x="250825" y="265113"/>
            <a:ext cx="8626475" cy="6330950"/>
          </a:xfrm>
          <a:prstGeom prst="rect">
            <a:avLst/>
          </a:prstGeom>
          <a:noFill/>
          <a:ln w="12700">
            <a:solidFill>
              <a:srgbClr val="FF0000"/>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lvl1pPr algn="ctr">
              <a:defRPr kumimoji="1" sz="2400" b="1">
                <a:solidFill>
                  <a:schemeClr val="tx1"/>
                </a:solidFill>
                <a:latin typeface="Times New Roman" panose="02020603050405020304" pitchFamily="18" charset="0"/>
                <a:ea typeface="宋体" panose="02010600030101010101" pitchFamily="2" charset="-122"/>
              </a:defRPr>
            </a:lvl1pPr>
            <a:lvl2pPr marL="742950" indent="-285750" algn="ctr">
              <a:defRPr kumimoji="1" sz="2400" b="1">
                <a:solidFill>
                  <a:schemeClr val="tx1"/>
                </a:solidFill>
                <a:latin typeface="Times New Roman" panose="02020603050405020304" pitchFamily="18" charset="0"/>
                <a:ea typeface="宋体" panose="02010600030101010101" pitchFamily="2" charset="-122"/>
              </a:defRPr>
            </a:lvl2pPr>
            <a:lvl3pPr marL="1143000" indent="-228600" algn="ctr">
              <a:defRPr kumimoji="1" sz="2400" b="1">
                <a:solidFill>
                  <a:schemeClr val="tx1"/>
                </a:solidFill>
                <a:latin typeface="Times New Roman" panose="02020603050405020304" pitchFamily="18" charset="0"/>
                <a:ea typeface="宋体" panose="02010600030101010101" pitchFamily="2" charset="-122"/>
              </a:defRPr>
            </a:lvl3pPr>
            <a:lvl4pPr marL="1600200" indent="-228600" algn="ctr">
              <a:defRPr kumimoji="1" sz="2400" b="1">
                <a:solidFill>
                  <a:schemeClr val="tx1"/>
                </a:solidFill>
                <a:latin typeface="Times New Roman" panose="02020603050405020304" pitchFamily="18" charset="0"/>
                <a:ea typeface="宋体" panose="02010600030101010101" pitchFamily="2" charset="-122"/>
              </a:defRPr>
            </a:lvl4pPr>
            <a:lvl5pPr marL="2057400" indent="-228600" algn="ctr">
              <a:defRPr kumimoji="1" sz="24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3.emf"/><Relationship Id="rId5" Type="http://schemas.openxmlformats.org/officeDocument/2006/relationships/oleObject" Target="../embeddings/oleObject2.bin"/><Relationship Id="rId4" Type="http://schemas.openxmlformats.org/officeDocument/2006/relationships/image" Target="../media/image2.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5.emf"/></Relationships>
</file>

<file path=ppt/slides/_rels/slide5.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7.emf"/><Relationship Id="rId5" Type="http://schemas.openxmlformats.org/officeDocument/2006/relationships/oleObject" Target="../embeddings/oleObject6.bin"/><Relationship Id="rId4" Type="http://schemas.openxmlformats.org/officeDocument/2006/relationships/image" Target="../media/image6.emf"/></Relationships>
</file>

<file path=ppt/slides/_rels/slide6.xml.rels><?xml version="1.0" encoding="UTF-8" standalone="yes"?>
<Relationships xmlns="http://schemas.openxmlformats.org/package/2006/relationships"><Relationship Id="rId8" Type="http://schemas.openxmlformats.org/officeDocument/2006/relationships/image" Target="../media/image11.emf"/><Relationship Id="rId13" Type="http://schemas.openxmlformats.org/officeDocument/2006/relationships/oleObject" Target="../embeddings/oleObject13.bin"/><Relationship Id="rId3" Type="http://schemas.openxmlformats.org/officeDocument/2006/relationships/oleObject" Target="../embeddings/oleObject8.bin"/><Relationship Id="rId7" Type="http://schemas.openxmlformats.org/officeDocument/2006/relationships/oleObject" Target="../embeddings/oleObject10.bin"/><Relationship Id="rId12" Type="http://schemas.openxmlformats.org/officeDocument/2006/relationships/image" Target="../media/image13.e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0.emf"/><Relationship Id="rId11" Type="http://schemas.openxmlformats.org/officeDocument/2006/relationships/oleObject" Target="../embeddings/oleObject12.bin"/><Relationship Id="rId5" Type="http://schemas.openxmlformats.org/officeDocument/2006/relationships/oleObject" Target="../embeddings/oleObject9.bin"/><Relationship Id="rId10" Type="http://schemas.openxmlformats.org/officeDocument/2006/relationships/image" Target="../media/image12.emf"/><Relationship Id="rId4" Type="http://schemas.openxmlformats.org/officeDocument/2006/relationships/image" Target="../media/image9.emf"/><Relationship Id="rId9" Type="http://schemas.openxmlformats.org/officeDocument/2006/relationships/oleObject" Target="../embeddings/oleObject11.bin"/><Relationship Id="rId14" Type="http://schemas.openxmlformats.org/officeDocument/2006/relationships/image" Target="../media/image14.emf"/></Relationships>
</file>

<file path=ppt/slides/_rels/slide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image" Target="../media/image22.emf"/><Relationship Id="rId18" Type="http://schemas.openxmlformats.org/officeDocument/2006/relationships/image" Target="../media/image26.jpeg"/><Relationship Id="rId3" Type="http://schemas.openxmlformats.org/officeDocument/2006/relationships/image" Target="../media/image25.jpeg"/><Relationship Id="rId21" Type="http://schemas.openxmlformats.org/officeDocument/2006/relationships/image" Target="../media/image29.jpeg"/><Relationship Id="rId7" Type="http://schemas.openxmlformats.org/officeDocument/2006/relationships/image" Target="../media/image19.emf"/><Relationship Id="rId12" Type="http://schemas.openxmlformats.org/officeDocument/2006/relationships/oleObject" Target="../embeddings/oleObject18.bin"/><Relationship Id="rId17" Type="http://schemas.openxmlformats.org/officeDocument/2006/relationships/image" Target="../media/image24.emf"/><Relationship Id="rId2" Type="http://schemas.openxmlformats.org/officeDocument/2006/relationships/slideLayout" Target="../slideLayouts/slideLayout7.xml"/><Relationship Id="rId16" Type="http://schemas.openxmlformats.org/officeDocument/2006/relationships/oleObject" Target="../embeddings/oleObject20.bin"/><Relationship Id="rId20" Type="http://schemas.openxmlformats.org/officeDocument/2006/relationships/image" Target="../media/image28.jpeg"/><Relationship Id="rId1" Type="http://schemas.openxmlformats.org/officeDocument/2006/relationships/vmlDrawing" Target="../drawings/vmlDrawing5.vml"/><Relationship Id="rId6" Type="http://schemas.openxmlformats.org/officeDocument/2006/relationships/oleObject" Target="../embeddings/oleObject15.bin"/><Relationship Id="rId11" Type="http://schemas.openxmlformats.org/officeDocument/2006/relationships/image" Target="../media/image21.emf"/><Relationship Id="rId5" Type="http://schemas.openxmlformats.org/officeDocument/2006/relationships/image" Target="../media/image18.emf"/><Relationship Id="rId15" Type="http://schemas.openxmlformats.org/officeDocument/2006/relationships/image" Target="../media/image23.emf"/><Relationship Id="rId10" Type="http://schemas.openxmlformats.org/officeDocument/2006/relationships/oleObject" Target="../embeddings/oleObject17.bin"/><Relationship Id="rId19" Type="http://schemas.openxmlformats.org/officeDocument/2006/relationships/image" Target="../media/image27.jpeg"/><Relationship Id="rId4" Type="http://schemas.openxmlformats.org/officeDocument/2006/relationships/oleObject" Target="../embeddings/oleObject14.bin"/><Relationship Id="rId9" Type="http://schemas.openxmlformats.org/officeDocument/2006/relationships/image" Target="../media/image20.emf"/><Relationship Id="rId14" Type="http://schemas.openxmlformats.org/officeDocument/2006/relationships/oleObject" Target="../embeddings/oleObject19.bin"/><Relationship Id="rId22" Type="http://schemas.openxmlformats.org/officeDocument/2006/relationships/image" Target="../media/image30.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32.e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22.bin"/><Relationship Id="rId5" Type="http://schemas.openxmlformats.org/officeDocument/2006/relationships/image" Target="../media/image31.emf"/><Relationship Id="rId4" Type="http://schemas.openxmlformats.org/officeDocument/2006/relationships/oleObject" Target="../embeddings/oleObject21.bin"/></Relationships>
</file>

<file path=ppt/slides/_rels/slide11.xml.rels><?xml version="1.0" encoding="UTF-8" standalone="yes"?>
<Relationships xmlns="http://schemas.openxmlformats.org/package/2006/relationships"><Relationship Id="rId8" Type="http://schemas.openxmlformats.org/officeDocument/2006/relationships/image" Target="../media/image35.emf"/><Relationship Id="rId13" Type="http://schemas.openxmlformats.org/officeDocument/2006/relationships/oleObject" Target="../embeddings/oleObject28.bin"/><Relationship Id="rId18" Type="http://schemas.openxmlformats.org/officeDocument/2006/relationships/image" Target="../media/image40.emf"/><Relationship Id="rId3" Type="http://schemas.openxmlformats.org/officeDocument/2006/relationships/oleObject" Target="../embeddings/oleObject23.bin"/><Relationship Id="rId7" Type="http://schemas.openxmlformats.org/officeDocument/2006/relationships/oleObject" Target="../embeddings/oleObject25.bin"/><Relationship Id="rId12" Type="http://schemas.openxmlformats.org/officeDocument/2006/relationships/image" Target="../media/image37.emf"/><Relationship Id="rId17" Type="http://schemas.openxmlformats.org/officeDocument/2006/relationships/oleObject" Target="../embeddings/oleObject30.bin"/><Relationship Id="rId2" Type="http://schemas.openxmlformats.org/officeDocument/2006/relationships/slideLayout" Target="../slideLayouts/slideLayout7.xml"/><Relationship Id="rId16" Type="http://schemas.openxmlformats.org/officeDocument/2006/relationships/image" Target="../media/image39.emf"/><Relationship Id="rId20" Type="http://schemas.openxmlformats.org/officeDocument/2006/relationships/image" Target="../media/image41.emf"/><Relationship Id="rId1" Type="http://schemas.openxmlformats.org/officeDocument/2006/relationships/vmlDrawing" Target="../drawings/vmlDrawing7.vml"/><Relationship Id="rId6" Type="http://schemas.openxmlformats.org/officeDocument/2006/relationships/image" Target="../media/image34.emf"/><Relationship Id="rId11" Type="http://schemas.openxmlformats.org/officeDocument/2006/relationships/oleObject" Target="../embeddings/oleObject27.bin"/><Relationship Id="rId5" Type="http://schemas.openxmlformats.org/officeDocument/2006/relationships/oleObject" Target="../embeddings/oleObject24.bin"/><Relationship Id="rId15" Type="http://schemas.openxmlformats.org/officeDocument/2006/relationships/oleObject" Target="../embeddings/oleObject29.bin"/><Relationship Id="rId10" Type="http://schemas.openxmlformats.org/officeDocument/2006/relationships/image" Target="../media/image36.emf"/><Relationship Id="rId19" Type="http://schemas.openxmlformats.org/officeDocument/2006/relationships/oleObject" Target="../embeddings/oleObject31.bin"/><Relationship Id="rId4" Type="http://schemas.openxmlformats.org/officeDocument/2006/relationships/image" Target="../media/image33.emf"/><Relationship Id="rId9" Type="http://schemas.openxmlformats.org/officeDocument/2006/relationships/oleObject" Target="../embeddings/oleObject26.bin"/><Relationship Id="rId14" Type="http://schemas.openxmlformats.org/officeDocument/2006/relationships/image" Target="../media/image38.emf"/></Relationships>
</file>

<file path=ppt/slides/_rels/slide12.xml.rels><?xml version="1.0" encoding="UTF-8" standalone="yes"?>
<Relationships xmlns="http://schemas.openxmlformats.org/package/2006/relationships"><Relationship Id="rId8" Type="http://schemas.openxmlformats.org/officeDocument/2006/relationships/image" Target="../media/image44.emf"/><Relationship Id="rId13" Type="http://schemas.openxmlformats.org/officeDocument/2006/relationships/oleObject" Target="../embeddings/oleObject37.bin"/><Relationship Id="rId18" Type="http://schemas.openxmlformats.org/officeDocument/2006/relationships/image" Target="../media/image49.emf"/><Relationship Id="rId26" Type="http://schemas.openxmlformats.org/officeDocument/2006/relationships/image" Target="../media/image53.emf"/><Relationship Id="rId3" Type="http://schemas.openxmlformats.org/officeDocument/2006/relationships/oleObject" Target="../embeddings/oleObject32.bin"/><Relationship Id="rId21" Type="http://schemas.openxmlformats.org/officeDocument/2006/relationships/oleObject" Target="../embeddings/oleObject41.bin"/><Relationship Id="rId7" Type="http://schemas.openxmlformats.org/officeDocument/2006/relationships/oleObject" Target="../embeddings/oleObject34.bin"/><Relationship Id="rId12" Type="http://schemas.openxmlformats.org/officeDocument/2006/relationships/image" Target="../media/image46.emf"/><Relationship Id="rId17" Type="http://schemas.openxmlformats.org/officeDocument/2006/relationships/oleObject" Target="../embeddings/oleObject39.bin"/><Relationship Id="rId25" Type="http://schemas.openxmlformats.org/officeDocument/2006/relationships/oleObject" Target="../embeddings/oleObject43.bin"/><Relationship Id="rId2" Type="http://schemas.openxmlformats.org/officeDocument/2006/relationships/slideLayout" Target="../slideLayouts/slideLayout7.xml"/><Relationship Id="rId16" Type="http://schemas.openxmlformats.org/officeDocument/2006/relationships/image" Target="../media/image48.emf"/><Relationship Id="rId20" Type="http://schemas.openxmlformats.org/officeDocument/2006/relationships/image" Target="../media/image50.emf"/><Relationship Id="rId29" Type="http://schemas.openxmlformats.org/officeDocument/2006/relationships/oleObject" Target="../embeddings/oleObject45.bin"/><Relationship Id="rId1" Type="http://schemas.openxmlformats.org/officeDocument/2006/relationships/vmlDrawing" Target="../drawings/vmlDrawing8.vml"/><Relationship Id="rId6" Type="http://schemas.openxmlformats.org/officeDocument/2006/relationships/image" Target="../media/image43.emf"/><Relationship Id="rId11" Type="http://schemas.openxmlformats.org/officeDocument/2006/relationships/oleObject" Target="../embeddings/oleObject36.bin"/><Relationship Id="rId24" Type="http://schemas.openxmlformats.org/officeDocument/2006/relationships/image" Target="../media/image52.emf"/><Relationship Id="rId5" Type="http://schemas.openxmlformats.org/officeDocument/2006/relationships/oleObject" Target="../embeddings/oleObject33.bin"/><Relationship Id="rId15" Type="http://schemas.openxmlformats.org/officeDocument/2006/relationships/oleObject" Target="../embeddings/oleObject38.bin"/><Relationship Id="rId23" Type="http://schemas.openxmlformats.org/officeDocument/2006/relationships/oleObject" Target="../embeddings/oleObject42.bin"/><Relationship Id="rId28" Type="http://schemas.openxmlformats.org/officeDocument/2006/relationships/image" Target="../media/image54.emf"/><Relationship Id="rId10" Type="http://schemas.openxmlformats.org/officeDocument/2006/relationships/image" Target="../media/image45.emf"/><Relationship Id="rId19" Type="http://schemas.openxmlformats.org/officeDocument/2006/relationships/oleObject" Target="../embeddings/oleObject40.bin"/><Relationship Id="rId4" Type="http://schemas.openxmlformats.org/officeDocument/2006/relationships/image" Target="../media/image42.emf"/><Relationship Id="rId9" Type="http://schemas.openxmlformats.org/officeDocument/2006/relationships/oleObject" Target="../embeddings/oleObject35.bin"/><Relationship Id="rId14" Type="http://schemas.openxmlformats.org/officeDocument/2006/relationships/image" Target="../media/image47.emf"/><Relationship Id="rId22" Type="http://schemas.openxmlformats.org/officeDocument/2006/relationships/image" Target="../media/image51.emf"/><Relationship Id="rId27" Type="http://schemas.openxmlformats.org/officeDocument/2006/relationships/oleObject" Target="../embeddings/oleObject44.bin"/><Relationship Id="rId30" Type="http://schemas.openxmlformats.org/officeDocument/2006/relationships/image" Target="../media/image55.emf"/></Relationships>
</file>

<file path=ppt/slides/_rels/slide13.xml.rels><?xml version="1.0" encoding="UTF-8" standalone="yes"?>
<Relationships xmlns="http://schemas.openxmlformats.org/package/2006/relationships"><Relationship Id="rId8" Type="http://schemas.openxmlformats.org/officeDocument/2006/relationships/image" Target="../media/image58.emf"/><Relationship Id="rId13" Type="http://schemas.openxmlformats.org/officeDocument/2006/relationships/oleObject" Target="../embeddings/oleObject51.bin"/><Relationship Id="rId18" Type="http://schemas.openxmlformats.org/officeDocument/2006/relationships/image" Target="../media/image63.emf"/><Relationship Id="rId3" Type="http://schemas.openxmlformats.org/officeDocument/2006/relationships/oleObject" Target="../embeddings/oleObject46.bin"/><Relationship Id="rId7" Type="http://schemas.openxmlformats.org/officeDocument/2006/relationships/oleObject" Target="../embeddings/oleObject48.bin"/><Relationship Id="rId12" Type="http://schemas.openxmlformats.org/officeDocument/2006/relationships/image" Target="../media/image60.emf"/><Relationship Id="rId17" Type="http://schemas.openxmlformats.org/officeDocument/2006/relationships/oleObject" Target="../embeddings/oleObject53.bin"/><Relationship Id="rId2" Type="http://schemas.openxmlformats.org/officeDocument/2006/relationships/slideLayout" Target="../slideLayouts/slideLayout7.xml"/><Relationship Id="rId16" Type="http://schemas.openxmlformats.org/officeDocument/2006/relationships/image" Target="../media/image62.emf"/><Relationship Id="rId20" Type="http://schemas.openxmlformats.org/officeDocument/2006/relationships/image" Target="../media/image64.emf"/><Relationship Id="rId1" Type="http://schemas.openxmlformats.org/officeDocument/2006/relationships/vmlDrawing" Target="../drawings/vmlDrawing9.vml"/><Relationship Id="rId6" Type="http://schemas.openxmlformats.org/officeDocument/2006/relationships/image" Target="../media/image57.emf"/><Relationship Id="rId11" Type="http://schemas.openxmlformats.org/officeDocument/2006/relationships/oleObject" Target="../embeddings/oleObject50.bin"/><Relationship Id="rId5" Type="http://schemas.openxmlformats.org/officeDocument/2006/relationships/oleObject" Target="../embeddings/oleObject47.bin"/><Relationship Id="rId15" Type="http://schemas.openxmlformats.org/officeDocument/2006/relationships/oleObject" Target="../embeddings/oleObject52.bin"/><Relationship Id="rId10" Type="http://schemas.openxmlformats.org/officeDocument/2006/relationships/image" Target="../media/image59.emf"/><Relationship Id="rId19" Type="http://schemas.openxmlformats.org/officeDocument/2006/relationships/oleObject" Target="../embeddings/oleObject54.bin"/><Relationship Id="rId4" Type="http://schemas.openxmlformats.org/officeDocument/2006/relationships/image" Target="../media/image56.emf"/><Relationship Id="rId9" Type="http://schemas.openxmlformats.org/officeDocument/2006/relationships/oleObject" Target="../embeddings/oleObject49.bin"/><Relationship Id="rId14" Type="http://schemas.openxmlformats.org/officeDocument/2006/relationships/image" Target="../media/image61.emf"/></Relationships>
</file>

<file path=ppt/slides/_rels/slide14.xml.rels><?xml version="1.0" encoding="UTF-8" standalone="yes"?>
<Relationships xmlns="http://schemas.openxmlformats.org/package/2006/relationships"><Relationship Id="rId8" Type="http://schemas.openxmlformats.org/officeDocument/2006/relationships/image" Target="../media/image67.emf"/><Relationship Id="rId13" Type="http://schemas.openxmlformats.org/officeDocument/2006/relationships/oleObject" Target="../embeddings/oleObject60.bin"/><Relationship Id="rId18" Type="http://schemas.openxmlformats.org/officeDocument/2006/relationships/image" Target="../media/image72.emf"/><Relationship Id="rId3" Type="http://schemas.openxmlformats.org/officeDocument/2006/relationships/oleObject" Target="../embeddings/oleObject55.bin"/><Relationship Id="rId7" Type="http://schemas.openxmlformats.org/officeDocument/2006/relationships/oleObject" Target="../embeddings/oleObject57.bin"/><Relationship Id="rId12" Type="http://schemas.openxmlformats.org/officeDocument/2006/relationships/image" Target="../media/image69.emf"/><Relationship Id="rId17" Type="http://schemas.openxmlformats.org/officeDocument/2006/relationships/oleObject" Target="../embeddings/oleObject62.bin"/><Relationship Id="rId2" Type="http://schemas.openxmlformats.org/officeDocument/2006/relationships/slideLayout" Target="../slideLayouts/slideLayout7.xml"/><Relationship Id="rId16" Type="http://schemas.openxmlformats.org/officeDocument/2006/relationships/image" Target="../media/image71.emf"/><Relationship Id="rId20" Type="http://schemas.openxmlformats.org/officeDocument/2006/relationships/image" Target="../media/image73.emf"/><Relationship Id="rId1" Type="http://schemas.openxmlformats.org/officeDocument/2006/relationships/vmlDrawing" Target="../drawings/vmlDrawing10.vml"/><Relationship Id="rId6" Type="http://schemas.openxmlformats.org/officeDocument/2006/relationships/image" Target="../media/image66.emf"/><Relationship Id="rId11" Type="http://schemas.openxmlformats.org/officeDocument/2006/relationships/oleObject" Target="../embeddings/oleObject59.bin"/><Relationship Id="rId5" Type="http://schemas.openxmlformats.org/officeDocument/2006/relationships/oleObject" Target="../embeddings/oleObject56.bin"/><Relationship Id="rId15" Type="http://schemas.openxmlformats.org/officeDocument/2006/relationships/oleObject" Target="../embeddings/oleObject61.bin"/><Relationship Id="rId10" Type="http://schemas.openxmlformats.org/officeDocument/2006/relationships/image" Target="../media/image68.emf"/><Relationship Id="rId19" Type="http://schemas.openxmlformats.org/officeDocument/2006/relationships/oleObject" Target="../embeddings/oleObject63.bin"/><Relationship Id="rId4" Type="http://schemas.openxmlformats.org/officeDocument/2006/relationships/image" Target="../media/image65.emf"/><Relationship Id="rId9" Type="http://schemas.openxmlformats.org/officeDocument/2006/relationships/oleObject" Target="../embeddings/oleObject58.bin"/><Relationship Id="rId14" Type="http://schemas.openxmlformats.org/officeDocument/2006/relationships/image" Target="../media/image70.e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75.jpeg"/></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76.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image" Target="../media/image79.emf"/><Relationship Id="rId13" Type="http://schemas.openxmlformats.org/officeDocument/2006/relationships/image" Target="../media/image81.emf"/><Relationship Id="rId18" Type="http://schemas.openxmlformats.org/officeDocument/2006/relationships/oleObject" Target="../embeddings/oleObject71.bin"/><Relationship Id="rId3" Type="http://schemas.openxmlformats.org/officeDocument/2006/relationships/oleObject" Target="../embeddings/oleObject64.bin"/><Relationship Id="rId21" Type="http://schemas.openxmlformats.org/officeDocument/2006/relationships/image" Target="../media/image85.emf"/><Relationship Id="rId7" Type="http://schemas.openxmlformats.org/officeDocument/2006/relationships/oleObject" Target="../embeddings/oleObject66.bin"/><Relationship Id="rId12" Type="http://schemas.openxmlformats.org/officeDocument/2006/relationships/oleObject" Target="../embeddings/oleObject68.bin"/><Relationship Id="rId17" Type="http://schemas.openxmlformats.org/officeDocument/2006/relationships/image" Target="../media/image83.emf"/><Relationship Id="rId25" Type="http://schemas.openxmlformats.org/officeDocument/2006/relationships/image" Target="../media/image87.emf"/><Relationship Id="rId2" Type="http://schemas.openxmlformats.org/officeDocument/2006/relationships/slideLayout" Target="../slideLayouts/slideLayout7.xml"/><Relationship Id="rId16" Type="http://schemas.openxmlformats.org/officeDocument/2006/relationships/oleObject" Target="../embeddings/oleObject70.bin"/><Relationship Id="rId20" Type="http://schemas.openxmlformats.org/officeDocument/2006/relationships/oleObject" Target="../embeddings/oleObject72.bin"/><Relationship Id="rId1" Type="http://schemas.openxmlformats.org/officeDocument/2006/relationships/vmlDrawing" Target="../drawings/vmlDrawing11.vml"/><Relationship Id="rId6" Type="http://schemas.openxmlformats.org/officeDocument/2006/relationships/image" Target="../media/image78.emf"/><Relationship Id="rId11" Type="http://schemas.openxmlformats.org/officeDocument/2006/relationships/image" Target="../media/image80.emf"/><Relationship Id="rId24" Type="http://schemas.openxmlformats.org/officeDocument/2006/relationships/oleObject" Target="../embeddings/oleObject74.bin"/><Relationship Id="rId5" Type="http://schemas.openxmlformats.org/officeDocument/2006/relationships/oleObject" Target="../embeddings/oleObject65.bin"/><Relationship Id="rId15" Type="http://schemas.openxmlformats.org/officeDocument/2006/relationships/image" Target="../media/image82.emf"/><Relationship Id="rId23" Type="http://schemas.openxmlformats.org/officeDocument/2006/relationships/image" Target="../media/image86.emf"/><Relationship Id="rId10" Type="http://schemas.openxmlformats.org/officeDocument/2006/relationships/oleObject" Target="../embeddings/oleObject67.bin"/><Relationship Id="rId19" Type="http://schemas.openxmlformats.org/officeDocument/2006/relationships/image" Target="../media/image84.emf"/><Relationship Id="rId4" Type="http://schemas.openxmlformats.org/officeDocument/2006/relationships/image" Target="../media/image77.emf"/><Relationship Id="rId9" Type="http://schemas.openxmlformats.org/officeDocument/2006/relationships/image" Target="../media/image88.jpeg"/><Relationship Id="rId14" Type="http://schemas.openxmlformats.org/officeDocument/2006/relationships/oleObject" Target="../embeddings/oleObject69.bin"/><Relationship Id="rId22" Type="http://schemas.openxmlformats.org/officeDocument/2006/relationships/oleObject" Target="../embeddings/oleObject73.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image" Target="../media/image91.wmf"/><Relationship Id="rId3" Type="http://schemas.openxmlformats.org/officeDocument/2006/relationships/oleObject" Target="../embeddings/oleObject75.bin"/><Relationship Id="rId7" Type="http://schemas.openxmlformats.org/officeDocument/2006/relationships/oleObject" Target="../embeddings/oleObject77.bin"/><Relationship Id="rId12" Type="http://schemas.openxmlformats.org/officeDocument/2006/relationships/image" Target="../media/image93.wmf"/><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90.wmf"/><Relationship Id="rId11" Type="http://schemas.openxmlformats.org/officeDocument/2006/relationships/oleObject" Target="../embeddings/oleObject79.bin"/><Relationship Id="rId5" Type="http://schemas.openxmlformats.org/officeDocument/2006/relationships/oleObject" Target="../embeddings/oleObject76.bin"/><Relationship Id="rId10" Type="http://schemas.openxmlformats.org/officeDocument/2006/relationships/image" Target="../media/image92.wmf"/><Relationship Id="rId4" Type="http://schemas.openxmlformats.org/officeDocument/2006/relationships/image" Target="../media/image89.wmf"/><Relationship Id="rId9" Type="http://schemas.openxmlformats.org/officeDocument/2006/relationships/oleObject" Target="../embeddings/oleObject78.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 name="组合 5">
            <a:extLst>
              <a:ext uri="{FF2B5EF4-FFF2-40B4-BE49-F238E27FC236}">
                <a16:creationId xmlns:a16="http://schemas.microsoft.com/office/drawing/2014/main" id="{07E43EF3-D066-4373-A94E-07BA3884BEF6}"/>
              </a:ext>
            </a:extLst>
          </p:cNvPr>
          <p:cNvGrpSpPr>
            <a:grpSpLocks/>
          </p:cNvGrpSpPr>
          <p:nvPr/>
        </p:nvGrpSpPr>
        <p:grpSpPr bwMode="auto">
          <a:xfrm>
            <a:off x="-571500" y="0"/>
            <a:ext cx="10293350" cy="6858000"/>
            <a:chOff x="-571500" y="0"/>
            <a:chExt cx="10293350" cy="6858024"/>
          </a:xfrm>
        </p:grpSpPr>
        <p:pic>
          <p:nvPicPr>
            <p:cNvPr id="5" name="Picture 4">
              <a:extLst>
                <a:ext uri="{FF2B5EF4-FFF2-40B4-BE49-F238E27FC236}">
                  <a16:creationId xmlns:a16="http://schemas.microsoft.com/office/drawing/2014/main" id="{B454AEDA-DF76-464B-B275-DA37D0B06A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 y="0"/>
              <a:ext cx="102933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4">
              <a:extLst>
                <a:ext uri="{FF2B5EF4-FFF2-40B4-BE49-F238E27FC236}">
                  <a16:creationId xmlns:a16="http://schemas.microsoft.com/office/drawing/2014/main" id="{957412E8-7F55-49AC-9415-861153D003C5}"/>
                </a:ext>
              </a:extLst>
            </p:cNvPr>
            <p:cNvSpPr>
              <a:spLocks noChangeArrowheads="1"/>
            </p:cNvSpPr>
            <p:nvPr/>
          </p:nvSpPr>
          <p:spPr bwMode="auto">
            <a:xfrm>
              <a:off x="6444208" y="6457914"/>
              <a:ext cx="2619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0" dirty="0">
                  <a:solidFill>
                    <a:srgbClr val="FF0000"/>
                  </a:solidFill>
                </a:rPr>
                <a:t>Yosemite National Park</a:t>
              </a:r>
              <a:endParaRPr lang="zh-CN" altLang="en-US" sz="2000" dirty="0">
                <a:solidFill>
                  <a:srgbClr val="FF0000"/>
                </a:solidFill>
              </a:endParaRPr>
            </a:p>
          </p:txBody>
        </p:sp>
      </p:grpSp>
      <p:sp>
        <p:nvSpPr>
          <p:cNvPr id="7" name="Text Box 1039"/>
          <p:cNvSpPr txBox="1">
            <a:spLocks noChangeArrowheads="1"/>
          </p:cNvSpPr>
          <p:nvPr/>
        </p:nvSpPr>
        <p:spPr bwMode="auto">
          <a:xfrm>
            <a:off x="1295400" y="3705225"/>
            <a:ext cx="6705600" cy="1758950"/>
          </a:xfrm>
          <a:prstGeom prst="rect">
            <a:avLst/>
          </a:prstGeom>
          <a:noFill/>
          <a:ln w="9525">
            <a:noFill/>
            <a:miter lim="800000"/>
          </a:ln>
          <a:effectLst/>
        </p:spPr>
        <p:txBody>
          <a:bodyPr>
            <a:spAutoFit/>
          </a:bodyPr>
          <a:lstStyle/>
          <a:p>
            <a:pPr algn="ctr" eaLnBrk="1" hangingPunct="1">
              <a:lnSpc>
                <a:spcPct val="75000"/>
              </a:lnSpc>
              <a:defRPr/>
            </a:pPr>
            <a:r>
              <a:rPr lang="en-US" altLang="zh-CN" sz="4000" dirty="0">
                <a:solidFill>
                  <a:srgbClr val="FFFF00"/>
                </a:solidFill>
                <a:effectLst>
                  <a:outerShdw blurRad="38100" dist="38100" dir="2700000" algn="tl">
                    <a:srgbClr val="000000"/>
                  </a:outerShdw>
                </a:effectLst>
              </a:rPr>
              <a:t>Xi’an  </a:t>
            </a:r>
            <a:r>
              <a:rPr lang="en-US" altLang="zh-CN" sz="4000" dirty="0" err="1">
                <a:solidFill>
                  <a:srgbClr val="FFFF00"/>
                </a:solidFill>
                <a:effectLst>
                  <a:outerShdw blurRad="38100" dist="38100" dir="2700000" algn="tl">
                    <a:srgbClr val="000000"/>
                  </a:outerShdw>
                </a:effectLst>
              </a:rPr>
              <a:t>Jiaotong</a:t>
            </a:r>
            <a:r>
              <a:rPr lang="en-US" altLang="zh-CN" sz="4000" dirty="0">
                <a:solidFill>
                  <a:srgbClr val="FFFF00"/>
                </a:solidFill>
                <a:effectLst>
                  <a:outerShdw blurRad="38100" dist="38100" dir="2700000" algn="tl">
                    <a:srgbClr val="000000"/>
                  </a:outerShdw>
                </a:effectLst>
              </a:rPr>
              <a:t>  University</a:t>
            </a:r>
          </a:p>
          <a:p>
            <a:pPr algn="ctr" eaLnBrk="1" hangingPunct="1">
              <a:lnSpc>
                <a:spcPct val="75000"/>
              </a:lnSpc>
              <a:defRPr/>
            </a:pPr>
            <a:endParaRPr lang="zh-CN" altLang="en-US" sz="4000" dirty="0">
              <a:solidFill>
                <a:srgbClr val="FFFF00"/>
              </a:solidFill>
              <a:effectLst>
                <a:outerShdw blurRad="38100" dist="38100" dir="2700000" algn="tl">
                  <a:srgbClr val="000000"/>
                </a:outerShdw>
              </a:effectLst>
              <a:latin typeface="Arial" panose="020B0604020202020204" pitchFamily="34" charset="0"/>
              <a:ea typeface="楷体_GB2312" pitchFamily="49" charset="-122"/>
            </a:endParaRPr>
          </a:p>
          <a:p>
            <a:pPr algn="ctr" eaLnBrk="1" hangingPunct="1">
              <a:lnSpc>
                <a:spcPct val="75000"/>
              </a:lnSpc>
              <a:defRPr/>
            </a:pPr>
            <a:endParaRPr lang="en-US" altLang="zh-CN" sz="2800" dirty="0">
              <a:solidFill>
                <a:srgbClr val="FFFF00"/>
              </a:solidFill>
              <a:effectLst>
                <a:outerShdw blurRad="38100" dist="38100" dir="2700000" algn="tl">
                  <a:srgbClr val="000000"/>
                </a:outerShdw>
              </a:effectLst>
              <a:latin typeface="Arial" panose="020B0604020202020204" pitchFamily="34" charset="0"/>
              <a:ea typeface="华文仿宋" panose="02010600040101010101" pitchFamily="17" charset="-122"/>
            </a:endParaRPr>
          </a:p>
          <a:p>
            <a:pPr algn="ctr" eaLnBrk="1" hangingPunct="1">
              <a:lnSpc>
                <a:spcPct val="75000"/>
              </a:lnSpc>
              <a:defRPr/>
            </a:pPr>
            <a:r>
              <a:rPr lang="en-US" altLang="zh-CN" sz="3600" dirty="0">
                <a:solidFill>
                  <a:srgbClr val="FFFF00"/>
                </a:solidFill>
                <a:effectLst>
                  <a:outerShdw blurRad="38100" dist="38100" dir="2700000" algn="tl">
                    <a:srgbClr val="000000"/>
                  </a:outerShdw>
                </a:effectLst>
                <a:ea typeface="华文仿宋" panose="02010600040101010101" pitchFamily="17" charset="-122"/>
              </a:rPr>
              <a:t>Dec. 09, 2025</a:t>
            </a:r>
          </a:p>
        </p:txBody>
      </p:sp>
      <p:sp>
        <p:nvSpPr>
          <p:cNvPr id="4099" name="WordArt 1044"/>
          <p:cNvSpPr>
            <a:spLocks noChangeArrowheads="1" noChangeShapeType="1" noTextEdit="1"/>
          </p:cNvSpPr>
          <p:nvPr/>
        </p:nvSpPr>
        <p:spPr bwMode="auto">
          <a:xfrm>
            <a:off x="539750" y="1268413"/>
            <a:ext cx="8077200" cy="1296987"/>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pPr algn="ctr"/>
            <a:r>
              <a:rPr lang="en-US" altLang="zh-CN" sz="4800" i="1" kern="10" dirty="0">
                <a:solidFill>
                  <a:srgbClr val="FF0000"/>
                </a:solidFill>
                <a:effectLst>
                  <a:outerShdw dist="35921" dir="2700000" algn="ctr" rotWithShape="0">
                    <a:srgbClr val="808080"/>
                  </a:outerShdw>
                </a:effectLst>
                <a:cs typeface="Times New Roman" panose="02020603050405020304" pitchFamily="18" charset="0"/>
              </a:rPr>
              <a:t>University Physics</a:t>
            </a:r>
            <a:endParaRPr lang="zh-CN" altLang="en-US" sz="4800" i="1" kern="10" dirty="0">
              <a:solidFill>
                <a:srgbClr val="FF0000"/>
              </a:solidFill>
              <a:effectLst>
                <a:outerShdw dist="35921" dir="2700000" algn="ctr" rotWithShape="0">
                  <a:srgbClr val="808080"/>
                </a:outerShdw>
              </a:effectLst>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a:extLst>
              <a:ext uri="{FF2B5EF4-FFF2-40B4-BE49-F238E27FC236}">
                <a16:creationId xmlns:a16="http://schemas.microsoft.com/office/drawing/2014/main" id="{7B276C49-8554-405D-82BD-CE1FB81BEA5F}"/>
              </a:ext>
            </a:extLst>
          </p:cNvPr>
          <p:cNvSpPr txBox="1">
            <a:spLocks noChangeArrowheads="1"/>
          </p:cNvSpPr>
          <p:nvPr/>
        </p:nvSpPr>
        <p:spPr bwMode="auto">
          <a:xfrm>
            <a:off x="428625" y="409575"/>
            <a:ext cx="2000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solidFill>
                  <a:srgbClr val="66FF33"/>
                </a:solidFill>
                <a:ea typeface="华文中宋" panose="02010600040101010101" pitchFamily="2" charset="-122"/>
              </a:rPr>
              <a:t>回顾：</a:t>
            </a:r>
          </a:p>
        </p:txBody>
      </p:sp>
      <p:sp>
        <p:nvSpPr>
          <p:cNvPr id="17411" name="Text Box 3">
            <a:extLst>
              <a:ext uri="{FF2B5EF4-FFF2-40B4-BE49-F238E27FC236}">
                <a16:creationId xmlns:a16="http://schemas.microsoft.com/office/drawing/2014/main" id="{B44B6F14-453C-4F0E-A8E2-1F78FFBDFA77}"/>
              </a:ext>
            </a:extLst>
          </p:cNvPr>
          <p:cNvSpPr txBox="1">
            <a:spLocks noChangeArrowheads="1"/>
          </p:cNvSpPr>
          <p:nvPr/>
        </p:nvSpPr>
        <p:spPr bwMode="auto">
          <a:xfrm>
            <a:off x="4214813" y="1257300"/>
            <a:ext cx="426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FFFF00"/>
                </a:solidFill>
                <a:latin typeface="华文中宋" panose="02010600040101010101" pitchFamily="2" charset="-122"/>
                <a:ea typeface="华文中宋" panose="02010600040101010101" pitchFamily="2" charset="-122"/>
              </a:rPr>
              <a:t>1.  </a:t>
            </a:r>
            <a:r>
              <a:rPr lang="zh-CN" altLang="en-US">
                <a:solidFill>
                  <a:srgbClr val="FFFF00"/>
                </a:solidFill>
                <a:latin typeface="华文中宋" panose="02010600040101010101" pitchFamily="2" charset="-122"/>
                <a:ea typeface="华文中宋" panose="02010600040101010101" pitchFamily="2" charset="-122"/>
              </a:rPr>
              <a:t>斯特藩</a:t>
            </a:r>
            <a:r>
              <a:rPr lang="en-US" altLang="zh-CN">
                <a:solidFill>
                  <a:srgbClr val="FFFF00"/>
                </a:solidFill>
                <a:latin typeface="华文中宋" panose="02010600040101010101" pitchFamily="2" charset="-122"/>
                <a:ea typeface="华文中宋" panose="02010600040101010101" pitchFamily="2" charset="-122"/>
              </a:rPr>
              <a:t>——</a:t>
            </a:r>
            <a:r>
              <a:rPr lang="zh-CN" altLang="en-US">
                <a:solidFill>
                  <a:srgbClr val="FFFF00"/>
                </a:solidFill>
                <a:latin typeface="华文中宋" panose="02010600040101010101" pitchFamily="2" charset="-122"/>
                <a:ea typeface="华文中宋" panose="02010600040101010101" pitchFamily="2" charset="-122"/>
              </a:rPr>
              <a:t>玻耳兹曼定律</a:t>
            </a:r>
          </a:p>
        </p:txBody>
      </p:sp>
      <p:graphicFrame>
        <p:nvGraphicFramePr>
          <p:cNvPr id="17412" name="Object 4">
            <a:extLst>
              <a:ext uri="{FF2B5EF4-FFF2-40B4-BE49-F238E27FC236}">
                <a16:creationId xmlns:a16="http://schemas.microsoft.com/office/drawing/2014/main" id="{D808DC6F-18D1-419E-B78B-3BBCB2B17754}"/>
              </a:ext>
            </a:extLst>
          </p:cNvPr>
          <p:cNvGraphicFramePr>
            <a:graphicFrameLocks noChangeAspect="1"/>
          </p:cNvGraphicFramePr>
          <p:nvPr/>
        </p:nvGraphicFramePr>
        <p:xfrm>
          <a:off x="4695825" y="1990725"/>
          <a:ext cx="3876675" cy="581025"/>
        </p:xfrm>
        <a:graphic>
          <a:graphicData uri="http://schemas.openxmlformats.org/presentationml/2006/ole">
            <mc:AlternateContent xmlns:mc="http://schemas.openxmlformats.org/markup-compatibility/2006">
              <mc:Choice xmlns:v="urn:schemas-microsoft-com:vml" Requires="v">
                <p:oleObj spid="_x0000_s484369" name="Equation" r:id="rId3" imgW="4200429" imgH="657327" progId="Equation.3">
                  <p:embed/>
                </p:oleObj>
              </mc:Choice>
              <mc:Fallback>
                <p:oleObj name="Equation" r:id="rId3" imgW="4200429" imgH="657327" progId="Equation.3">
                  <p:embed/>
                  <p:pic>
                    <p:nvPicPr>
                      <p:cNvPr id="17412" name="Object 4">
                        <a:extLst>
                          <a:ext uri="{FF2B5EF4-FFF2-40B4-BE49-F238E27FC236}">
                            <a16:creationId xmlns:a16="http://schemas.microsoft.com/office/drawing/2014/main" id="{D808DC6F-18D1-419E-B78B-3BBCB2B177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5825" y="1990725"/>
                        <a:ext cx="38766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13" name="Object 5">
            <a:extLst>
              <a:ext uri="{FF2B5EF4-FFF2-40B4-BE49-F238E27FC236}">
                <a16:creationId xmlns:a16="http://schemas.microsoft.com/office/drawing/2014/main" id="{61D4E607-E51A-4428-957C-9E77EE1AC8B2}"/>
              </a:ext>
            </a:extLst>
          </p:cNvPr>
          <p:cNvGraphicFramePr>
            <a:graphicFrameLocks noChangeAspect="1"/>
          </p:cNvGraphicFramePr>
          <p:nvPr/>
        </p:nvGraphicFramePr>
        <p:xfrm>
          <a:off x="4819650" y="3554413"/>
          <a:ext cx="3275013" cy="446087"/>
        </p:xfrm>
        <a:graphic>
          <a:graphicData uri="http://schemas.openxmlformats.org/presentationml/2006/ole">
            <mc:AlternateContent xmlns:mc="http://schemas.openxmlformats.org/markup-compatibility/2006">
              <mc:Choice xmlns:v="urn:schemas-microsoft-com:vml" Requires="v">
                <p:oleObj spid="_x0000_s484370" name="公式" r:id="rId5" imgW="3238627" imgH="457098" progId="Equation.3">
                  <p:embed/>
                </p:oleObj>
              </mc:Choice>
              <mc:Fallback>
                <p:oleObj name="公式" r:id="rId5" imgW="3238627" imgH="457098" progId="Equation.3">
                  <p:embed/>
                  <p:pic>
                    <p:nvPicPr>
                      <p:cNvPr id="17413" name="Object 5">
                        <a:extLst>
                          <a:ext uri="{FF2B5EF4-FFF2-40B4-BE49-F238E27FC236}">
                            <a16:creationId xmlns:a16="http://schemas.microsoft.com/office/drawing/2014/main" id="{61D4E607-E51A-4428-957C-9E77EE1AC8B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19650" y="3554413"/>
                        <a:ext cx="3275013"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14" name="Rectangle 6">
            <a:extLst>
              <a:ext uri="{FF2B5EF4-FFF2-40B4-BE49-F238E27FC236}">
                <a16:creationId xmlns:a16="http://schemas.microsoft.com/office/drawing/2014/main" id="{84B5BF81-D723-4FAA-A831-3067C14D82CC}"/>
              </a:ext>
            </a:extLst>
          </p:cNvPr>
          <p:cNvSpPr>
            <a:spLocks noChangeArrowheads="1"/>
          </p:cNvSpPr>
          <p:nvPr/>
        </p:nvSpPr>
        <p:spPr bwMode="auto">
          <a:xfrm>
            <a:off x="4238625" y="2828925"/>
            <a:ext cx="274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FFFF00"/>
                </a:solidFill>
                <a:latin typeface="华文中宋" panose="02010600040101010101" pitchFamily="2" charset="-122"/>
                <a:ea typeface="华文中宋" panose="02010600040101010101" pitchFamily="2" charset="-122"/>
              </a:rPr>
              <a:t>2.  </a:t>
            </a:r>
            <a:r>
              <a:rPr lang="zh-CN" altLang="en-US">
                <a:solidFill>
                  <a:srgbClr val="FFFF00"/>
                </a:solidFill>
                <a:latin typeface="华文中宋" panose="02010600040101010101" pitchFamily="2" charset="-122"/>
                <a:ea typeface="华文中宋" panose="02010600040101010101" pitchFamily="2" charset="-122"/>
              </a:rPr>
              <a:t>维恩位移定律</a:t>
            </a:r>
          </a:p>
        </p:txBody>
      </p:sp>
      <p:sp>
        <p:nvSpPr>
          <p:cNvPr id="17415" name="Text Box 7">
            <a:extLst>
              <a:ext uri="{FF2B5EF4-FFF2-40B4-BE49-F238E27FC236}">
                <a16:creationId xmlns:a16="http://schemas.microsoft.com/office/drawing/2014/main" id="{62480CC2-40C4-4B90-9241-1E96B0CB90F9}"/>
              </a:ext>
            </a:extLst>
          </p:cNvPr>
          <p:cNvSpPr txBox="1">
            <a:spLocks noChangeArrowheads="1"/>
          </p:cNvSpPr>
          <p:nvPr/>
        </p:nvSpPr>
        <p:spPr bwMode="auto">
          <a:xfrm>
            <a:off x="642938" y="4929188"/>
            <a:ext cx="5672137"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600">
                <a:solidFill>
                  <a:srgbClr val="FFFF00"/>
                </a:solidFill>
                <a:ea typeface="华文中宋" panose="02010600040101010101" pitchFamily="2" charset="-122"/>
              </a:rPr>
              <a:t>普朗克公式和能量子假说</a:t>
            </a:r>
          </a:p>
        </p:txBody>
      </p:sp>
      <p:sp>
        <p:nvSpPr>
          <p:cNvPr id="17416" name="Rectangle 8">
            <a:extLst>
              <a:ext uri="{FF2B5EF4-FFF2-40B4-BE49-F238E27FC236}">
                <a16:creationId xmlns:a16="http://schemas.microsoft.com/office/drawing/2014/main" id="{EA02AD1F-6253-4473-A39E-9936C96CE486}"/>
              </a:ext>
            </a:extLst>
          </p:cNvPr>
          <p:cNvSpPr>
            <a:spLocks noChangeArrowheads="1"/>
          </p:cNvSpPr>
          <p:nvPr/>
        </p:nvSpPr>
        <p:spPr bwMode="auto">
          <a:xfrm>
            <a:off x="642938" y="5586413"/>
            <a:ext cx="806608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a:solidFill>
                  <a:schemeClr val="hlink"/>
                </a:solidFill>
                <a:ea typeface="华文中宋" panose="02010600040101010101" pitchFamily="2" charset="-122"/>
              </a:rPr>
              <a:t>若谐振子频率为</a:t>
            </a:r>
            <a:r>
              <a:rPr lang="zh-CN" altLang="en-US">
                <a:solidFill>
                  <a:schemeClr val="hlink"/>
                </a:solidFill>
              </a:rPr>
              <a:t> </a:t>
            </a:r>
            <a:r>
              <a:rPr lang="en-US" altLang="zh-CN" b="0" i="1">
                <a:solidFill>
                  <a:schemeClr val="hlink"/>
                </a:solidFill>
              </a:rPr>
              <a:t>v</a:t>
            </a:r>
            <a:r>
              <a:rPr lang="en-US" altLang="zh-CN" i="1">
                <a:solidFill>
                  <a:schemeClr val="hlink"/>
                </a:solidFill>
              </a:rPr>
              <a:t> </a:t>
            </a:r>
            <a:r>
              <a:rPr lang="zh-CN" altLang="en-US">
                <a:solidFill>
                  <a:schemeClr val="hlink"/>
                </a:solidFill>
              </a:rPr>
              <a:t>，</a:t>
            </a:r>
            <a:r>
              <a:rPr lang="zh-CN" altLang="en-US">
                <a:solidFill>
                  <a:schemeClr val="hlink"/>
                </a:solidFill>
                <a:ea typeface="华文中宋" panose="02010600040101010101" pitchFamily="2" charset="-122"/>
              </a:rPr>
              <a:t>则其能量是</a:t>
            </a:r>
            <a:r>
              <a:rPr lang="en-US" altLang="zh-CN" b="0" i="1">
                <a:solidFill>
                  <a:schemeClr val="hlink"/>
                </a:solidFill>
              </a:rPr>
              <a:t>hv </a:t>
            </a:r>
            <a:r>
              <a:rPr lang="en-US" altLang="zh-CN" b="0">
                <a:solidFill>
                  <a:schemeClr val="hlink"/>
                </a:solidFill>
              </a:rPr>
              <a:t>,  2</a:t>
            </a:r>
            <a:r>
              <a:rPr lang="en-US" altLang="zh-CN" b="0" i="1">
                <a:solidFill>
                  <a:schemeClr val="hlink"/>
                </a:solidFill>
              </a:rPr>
              <a:t>hv</a:t>
            </a:r>
            <a:r>
              <a:rPr lang="en-US" altLang="zh-CN" b="0">
                <a:solidFill>
                  <a:schemeClr val="hlink"/>
                </a:solidFill>
              </a:rPr>
              <a:t>,  3</a:t>
            </a:r>
            <a:r>
              <a:rPr lang="en-US" altLang="zh-CN" b="0" i="1">
                <a:solidFill>
                  <a:schemeClr val="hlink"/>
                </a:solidFill>
              </a:rPr>
              <a:t>hv </a:t>
            </a:r>
            <a:r>
              <a:rPr lang="en-US" altLang="zh-CN" b="0">
                <a:solidFill>
                  <a:schemeClr val="hlink"/>
                </a:solidFill>
              </a:rPr>
              <a:t>, </a:t>
            </a:r>
            <a:r>
              <a:rPr lang="en-US" altLang="zh-CN" b="0">
                <a:solidFill>
                  <a:schemeClr val="hlink"/>
                </a:solidFill>
                <a:latin typeface="Arial" panose="020B0604020202020204" pitchFamily="34" charset="0"/>
              </a:rPr>
              <a:t>…</a:t>
            </a:r>
            <a:r>
              <a:rPr lang="en-US" altLang="zh-CN" b="0">
                <a:solidFill>
                  <a:schemeClr val="hlink"/>
                </a:solidFill>
              </a:rPr>
              <a:t>, </a:t>
            </a:r>
            <a:r>
              <a:rPr lang="en-US" altLang="zh-CN" b="0" i="1">
                <a:solidFill>
                  <a:schemeClr val="hlink"/>
                </a:solidFill>
              </a:rPr>
              <a:t> nhv </a:t>
            </a:r>
            <a:r>
              <a:rPr lang="en-US" altLang="zh-CN" b="0">
                <a:solidFill>
                  <a:schemeClr val="hlink"/>
                </a:solidFill>
              </a:rPr>
              <a:t>, </a:t>
            </a:r>
            <a:r>
              <a:rPr lang="en-US" altLang="zh-CN" b="0">
                <a:solidFill>
                  <a:schemeClr val="hlink"/>
                </a:solidFill>
                <a:latin typeface="Arial" panose="020B0604020202020204" pitchFamily="34" charset="0"/>
              </a:rPr>
              <a:t>…</a:t>
            </a:r>
            <a:endParaRPr lang="en-US" altLang="zh-CN" b="0">
              <a:solidFill>
                <a:schemeClr val="hlink"/>
              </a:solidFill>
            </a:endParaRPr>
          </a:p>
          <a:p>
            <a:pPr eaLnBrk="1" hangingPunct="1">
              <a:lnSpc>
                <a:spcPct val="125000"/>
              </a:lnSpc>
            </a:pPr>
            <a:r>
              <a:rPr lang="zh-CN" altLang="en-US">
                <a:solidFill>
                  <a:schemeClr val="hlink"/>
                </a:solidFill>
                <a:latin typeface="华文中宋" panose="02010600040101010101" pitchFamily="2" charset="-122"/>
                <a:ea typeface="华文中宋" panose="02010600040101010101" pitchFamily="2" charset="-122"/>
              </a:rPr>
              <a:t>与电磁场交换能量时，谐振子能量的变化是 </a:t>
            </a:r>
            <a:r>
              <a:rPr lang="en-US" altLang="zh-CN" i="1">
                <a:solidFill>
                  <a:srgbClr val="66FFFF"/>
                </a:solidFill>
              </a:rPr>
              <a:t>h</a:t>
            </a:r>
            <a:r>
              <a:rPr lang="el-GR" altLang="zh-CN" i="1">
                <a:solidFill>
                  <a:srgbClr val="66FFFF"/>
                </a:solidFill>
              </a:rPr>
              <a:t>ν</a:t>
            </a:r>
            <a:r>
              <a:rPr lang="en-US" altLang="zh-CN" i="1">
                <a:solidFill>
                  <a:srgbClr val="66FFFF"/>
                </a:solidFill>
              </a:rPr>
              <a:t> </a:t>
            </a:r>
            <a:r>
              <a:rPr lang="zh-CN" altLang="en-US">
                <a:solidFill>
                  <a:schemeClr val="hlink"/>
                </a:solidFill>
                <a:latin typeface="华文中宋" panose="02010600040101010101" pitchFamily="2" charset="-122"/>
                <a:ea typeface="华文中宋" panose="02010600040101010101" pitchFamily="2" charset="-122"/>
              </a:rPr>
              <a:t>的整数倍</a:t>
            </a:r>
            <a:endParaRPr lang="zh-CN" altLang="en-US" b="0">
              <a:solidFill>
                <a:schemeClr val="hlink"/>
              </a:solidFill>
              <a:latin typeface="华文中宋" panose="02010600040101010101" pitchFamily="2" charset="-122"/>
              <a:ea typeface="华文中宋" panose="02010600040101010101" pitchFamily="2" charset="-122"/>
            </a:endParaRPr>
          </a:p>
        </p:txBody>
      </p:sp>
      <p:sp>
        <p:nvSpPr>
          <p:cNvPr id="5129" name="灯片编号占位符 1">
            <a:extLst>
              <a:ext uri="{FF2B5EF4-FFF2-40B4-BE49-F238E27FC236}">
                <a16:creationId xmlns:a16="http://schemas.microsoft.com/office/drawing/2014/main" id="{B93E6E67-0E96-4CE7-8DC3-ACDE7EED47C7}"/>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4833B24A-AD29-4C57-9C18-EF2317CCE226}" type="slidenum">
              <a:rPr lang="en-US" altLang="zh-CN" b="0">
                <a:solidFill>
                  <a:srgbClr val="FF00FF"/>
                </a:solidFill>
              </a:rPr>
              <a:pPr eaLnBrk="1" hangingPunct="1"/>
              <a:t>2</a:t>
            </a:fld>
            <a:r>
              <a:rPr lang="en-US" altLang="zh-CN" b="0">
                <a:solidFill>
                  <a:srgbClr val="FF00FF"/>
                </a:solidFill>
              </a:rPr>
              <a:t>/22</a:t>
            </a:r>
          </a:p>
        </p:txBody>
      </p:sp>
      <p:graphicFrame>
        <p:nvGraphicFramePr>
          <p:cNvPr id="21524" name="Object 20">
            <a:extLst>
              <a:ext uri="{FF2B5EF4-FFF2-40B4-BE49-F238E27FC236}">
                <a16:creationId xmlns:a16="http://schemas.microsoft.com/office/drawing/2014/main" id="{D7CD2C55-AA94-45A9-805E-6B5A14D3701E}"/>
              </a:ext>
            </a:extLst>
          </p:cNvPr>
          <p:cNvGraphicFramePr>
            <a:graphicFrameLocks noChangeAspect="1"/>
          </p:cNvGraphicFramePr>
          <p:nvPr/>
        </p:nvGraphicFramePr>
        <p:xfrm>
          <a:off x="4856163" y="4500563"/>
          <a:ext cx="3502025" cy="863600"/>
        </p:xfrm>
        <a:graphic>
          <a:graphicData uri="http://schemas.openxmlformats.org/presentationml/2006/ole">
            <mc:AlternateContent xmlns:mc="http://schemas.openxmlformats.org/markup-compatibility/2006">
              <mc:Choice xmlns:v="urn:schemas-microsoft-com:vml" Requires="v">
                <p:oleObj spid="_x0000_s484371" r:id="rId7" imgW="1609833" imgH="390661" progId="Equation.DSMT4">
                  <p:embed/>
                </p:oleObj>
              </mc:Choice>
              <mc:Fallback>
                <p:oleObj r:id="rId7" imgW="1609833" imgH="390661" progId="Equation.DSMT4">
                  <p:embed/>
                  <p:pic>
                    <p:nvPicPr>
                      <p:cNvPr id="21524" name="Object 20">
                        <a:extLst>
                          <a:ext uri="{FF2B5EF4-FFF2-40B4-BE49-F238E27FC236}">
                            <a16:creationId xmlns:a16="http://schemas.microsoft.com/office/drawing/2014/main" id="{D7CD2C55-AA94-45A9-805E-6B5A14D3701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56163" y="4500563"/>
                        <a:ext cx="3502025"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组合 44">
            <a:extLst>
              <a:ext uri="{FF2B5EF4-FFF2-40B4-BE49-F238E27FC236}">
                <a16:creationId xmlns:a16="http://schemas.microsoft.com/office/drawing/2014/main" id="{88D7890B-2D41-4429-BDE1-367E6E71C5ED}"/>
              </a:ext>
            </a:extLst>
          </p:cNvPr>
          <p:cNvGrpSpPr>
            <a:grpSpLocks noChangeAspect="1"/>
          </p:cNvGrpSpPr>
          <p:nvPr/>
        </p:nvGrpSpPr>
        <p:grpSpPr bwMode="auto">
          <a:xfrm>
            <a:off x="365125" y="1143000"/>
            <a:ext cx="4421188" cy="3595688"/>
            <a:chOff x="222250" y="874711"/>
            <a:chExt cx="7364415" cy="5989642"/>
          </a:xfrm>
        </p:grpSpPr>
        <p:sp>
          <p:nvSpPr>
            <p:cNvPr id="5139" name="未知">
              <a:extLst>
                <a:ext uri="{FF2B5EF4-FFF2-40B4-BE49-F238E27FC236}">
                  <a16:creationId xmlns:a16="http://schemas.microsoft.com/office/drawing/2014/main" id="{3E84677B-941E-49B3-9C2B-A8EE3B826B83}"/>
                </a:ext>
              </a:extLst>
            </p:cNvPr>
            <p:cNvSpPr>
              <a:spLocks/>
            </p:cNvSpPr>
            <p:nvPr/>
          </p:nvSpPr>
          <p:spPr bwMode="auto">
            <a:xfrm>
              <a:off x="1216025" y="2220913"/>
              <a:ext cx="5284788" cy="3914775"/>
            </a:xfrm>
            <a:custGeom>
              <a:avLst/>
              <a:gdLst>
                <a:gd name="T0" fmla="*/ 0 w 3329"/>
                <a:gd name="T1" fmla="*/ 2147483646 h 2466"/>
                <a:gd name="T2" fmla="*/ 2147483646 w 3329"/>
                <a:gd name="T3" fmla="*/ 2147483646 h 2466"/>
                <a:gd name="T4" fmla="*/ 2147483646 w 3329"/>
                <a:gd name="T5" fmla="*/ 2147483646 h 2466"/>
                <a:gd name="T6" fmla="*/ 0 60000 65536"/>
                <a:gd name="T7" fmla="*/ 0 60000 65536"/>
                <a:gd name="T8" fmla="*/ 0 60000 65536"/>
                <a:gd name="T9" fmla="*/ 0 w 3329"/>
                <a:gd name="T10" fmla="*/ 0 h 2466"/>
                <a:gd name="T11" fmla="*/ 3329 w 3329"/>
                <a:gd name="T12" fmla="*/ 2466 h 2466"/>
              </a:gdLst>
              <a:ahLst/>
              <a:cxnLst>
                <a:cxn ang="T6">
                  <a:pos x="T0" y="T1"/>
                </a:cxn>
                <a:cxn ang="T7">
                  <a:pos x="T2" y="T3"/>
                </a:cxn>
                <a:cxn ang="T8">
                  <a:pos x="T4" y="T5"/>
                </a:cxn>
              </a:cxnLst>
              <a:rect l="T9" t="T10" r="T11" b="T12"/>
              <a:pathLst>
                <a:path w="3329" h="2466">
                  <a:moveTo>
                    <a:pt x="0" y="2466"/>
                  </a:moveTo>
                  <a:cubicBezTo>
                    <a:pt x="436" y="2365"/>
                    <a:pt x="355" y="0"/>
                    <a:pt x="813" y="23"/>
                  </a:cubicBezTo>
                  <a:cubicBezTo>
                    <a:pt x="1248" y="15"/>
                    <a:pt x="1429" y="2232"/>
                    <a:pt x="3329" y="2292"/>
                  </a:cubicBezTo>
                </a:path>
              </a:pathLst>
            </a:custGeom>
            <a:gradFill rotWithShape="1">
              <a:gsLst>
                <a:gs pos="0">
                  <a:srgbClr val="008080">
                    <a:alpha val="75000"/>
                  </a:srgbClr>
                </a:gs>
                <a:gs pos="100000">
                  <a:srgbClr val="003B3B">
                    <a:alpha val="71999"/>
                  </a:srgbClr>
                </a:gs>
              </a:gsLst>
              <a:lin ang="0" scaled="1"/>
            </a:gradFill>
            <a:ln w="28575">
              <a:solidFill>
                <a:srgbClr val="FFCC00"/>
              </a:solidFill>
              <a:round/>
              <a:headEnd/>
              <a:tailEnd/>
            </a:ln>
          </p:spPr>
          <p:txBody>
            <a:bodyPr/>
            <a:lstStyle/>
            <a:p>
              <a:endParaRPr lang="zh-CN" altLang="en-US"/>
            </a:p>
          </p:txBody>
        </p:sp>
        <p:sp>
          <p:nvSpPr>
            <p:cNvPr id="5140" name="未知">
              <a:extLst>
                <a:ext uri="{FF2B5EF4-FFF2-40B4-BE49-F238E27FC236}">
                  <a16:creationId xmlns:a16="http://schemas.microsoft.com/office/drawing/2014/main" id="{9F8105E9-4E42-4D2F-A79B-EAB837298750}"/>
                </a:ext>
              </a:extLst>
            </p:cNvPr>
            <p:cNvSpPr>
              <a:spLocks/>
            </p:cNvSpPr>
            <p:nvPr/>
          </p:nvSpPr>
          <p:spPr bwMode="auto">
            <a:xfrm>
              <a:off x="1516063" y="4559300"/>
              <a:ext cx="5003800" cy="1593850"/>
            </a:xfrm>
            <a:custGeom>
              <a:avLst/>
              <a:gdLst>
                <a:gd name="T0" fmla="*/ 0 w 3152"/>
                <a:gd name="T1" fmla="*/ 2147483646 h 1004"/>
                <a:gd name="T2" fmla="*/ 2147483646 w 3152"/>
                <a:gd name="T3" fmla="*/ 2147483646 h 1004"/>
                <a:gd name="T4" fmla="*/ 2147483646 w 3152"/>
                <a:gd name="T5" fmla="*/ 2147483646 h 1004"/>
                <a:gd name="T6" fmla="*/ 0 60000 65536"/>
                <a:gd name="T7" fmla="*/ 0 60000 65536"/>
                <a:gd name="T8" fmla="*/ 0 60000 65536"/>
                <a:gd name="T9" fmla="*/ 0 w 3152"/>
                <a:gd name="T10" fmla="*/ 0 h 1004"/>
                <a:gd name="T11" fmla="*/ 3152 w 3152"/>
                <a:gd name="T12" fmla="*/ 1004 h 1004"/>
              </a:gdLst>
              <a:ahLst/>
              <a:cxnLst>
                <a:cxn ang="T6">
                  <a:pos x="T0" y="T1"/>
                </a:cxn>
                <a:cxn ang="T7">
                  <a:pos x="T2" y="T3"/>
                </a:cxn>
                <a:cxn ang="T8">
                  <a:pos x="T4" y="T5"/>
                </a:cxn>
              </a:cxnLst>
              <a:rect l="T9" t="T10" r="T11" b="T12"/>
              <a:pathLst>
                <a:path w="3152" h="1004">
                  <a:moveTo>
                    <a:pt x="0" y="1004"/>
                  </a:moveTo>
                  <a:cubicBezTo>
                    <a:pt x="273" y="943"/>
                    <a:pt x="334" y="0"/>
                    <a:pt x="777" y="8"/>
                  </a:cubicBezTo>
                  <a:cubicBezTo>
                    <a:pt x="1155" y="37"/>
                    <a:pt x="1212" y="854"/>
                    <a:pt x="3152" y="878"/>
                  </a:cubicBezTo>
                </a:path>
              </a:pathLst>
            </a:custGeom>
            <a:gradFill rotWithShape="1">
              <a:gsLst>
                <a:gs pos="0">
                  <a:srgbClr val="336600"/>
                </a:gs>
                <a:gs pos="100000">
                  <a:srgbClr val="182F00"/>
                </a:gs>
              </a:gsLst>
              <a:lin ang="0" scaled="1"/>
            </a:gradFill>
            <a:ln w="28575">
              <a:solidFill>
                <a:srgbClr val="FFCC00"/>
              </a:solidFill>
              <a:round/>
              <a:headEnd/>
              <a:tailEnd/>
            </a:ln>
          </p:spPr>
          <p:txBody>
            <a:bodyPr/>
            <a:lstStyle/>
            <a:p>
              <a:endParaRPr lang="zh-CN" altLang="en-US"/>
            </a:p>
          </p:txBody>
        </p:sp>
        <p:sp>
          <p:nvSpPr>
            <p:cNvPr id="5141" name="未知">
              <a:extLst>
                <a:ext uri="{FF2B5EF4-FFF2-40B4-BE49-F238E27FC236}">
                  <a16:creationId xmlns:a16="http://schemas.microsoft.com/office/drawing/2014/main" id="{A9EF0F59-97B2-49A3-BB0B-E2E064721B7B}"/>
                </a:ext>
              </a:extLst>
            </p:cNvPr>
            <p:cNvSpPr>
              <a:spLocks/>
            </p:cNvSpPr>
            <p:nvPr/>
          </p:nvSpPr>
          <p:spPr bwMode="auto">
            <a:xfrm>
              <a:off x="1890713" y="5645150"/>
              <a:ext cx="4684712" cy="493713"/>
            </a:xfrm>
            <a:custGeom>
              <a:avLst/>
              <a:gdLst>
                <a:gd name="T0" fmla="*/ 0 w 2951"/>
                <a:gd name="T1" fmla="*/ 2147483646 h 311"/>
                <a:gd name="T2" fmla="*/ 2147483646 w 2951"/>
                <a:gd name="T3" fmla="*/ 2147483646 h 311"/>
                <a:gd name="T4" fmla="*/ 2147483646 w 2951"/>
                <a:gd name="T5" fmla="*/ 2147483646 h 311"/>
                <a:gd name="T6" fmla="*/ 0 60000 65536"/>
                <a:gd name="T7" fmla="*/ 0 60000 65536"/>
                <a:gd name="T8" fmla="*/ 0 60000 65536"/>
                <a:gd name="T9" fmla="*/ 0 w 2951"/>
                <a:gd name="T10" fmla="*/ 0 h 311"/>
                <a:gd name="T11" fmla="*/ 2951 w 2951"/>
                <a:gd name="T12" fmla="*/ 311 h 311"/>
              </a:gdLst>
              <a:ahLst/>
              <a:cxnLst>
                <a:cxn ang="T6">
                  <a:pos x="T0" y="T1"/>
                </a:cxn>
                <a:cxn ang="T7">
                  <a:pos x="T2" y="T3"/>
                </a:cxn>
                <a:cxn ang="T8">
                  <a:pos x="T4" y="T5"/>
                </a:cxn>
              </a:cxnLst>
              <a:rect l="T9" t="T10" r="T11" b="T12"/>
              <a:pathLst>
                <a:path w="2951" h="311">
                  <a:moveTo>
                    <a:pt x="0" y="311"/>
                  </a:moveTo>
                  <a:cubicBezTo>
                    <a:pt x="362" y="194"/>
                    <a:pt x="533" y="0"/>
                    <a:pt x="929" y="6"/>
                  </a:cubicBezTo>
                  <a:cubicBezTo>
                    <a:pt x="1397" y="11"/>
                    <a:pt x="1495" y="208"/>
                    <a:pt x="2951" y="241"/>
                  </a:cubicBezTo>
                </a:path>
              </a:pathLst>
            </a:custGeom>
            <a:solidFill>
              <a:srgbClr val="663300"/>
            </a:solidFill>
            <a:ln w="28575">
              <a:solidFill>
                <a:srgbClr val="FFCC00"/>
              </a:solidFill>
              <a:round/>
              <a:headEnd/>
              <a:tailEnd/>
            </a:ln>
          </p:spPr>
          <p:txBody>
            <a:bodyPr/>
            <a:lstStyle/>
            <a:p>
              <a:endParaRPr lang="zh-CN" altLang="en-US"/>
            </a:p>
          </p:txBody>
        </p:sp>
        <p:sp>
          <p:nvSpPr>
            <p:cNvPr id="5142" name="未知">
              <a:extLst>
                <a:ext uri="{FF2B5EF4-FFF2-40B4-BE49-F238E27FC236}">
                  <a16:creationId xmlns:a16="http://schemas.microsoft.com/office/drawing/2014/main" id="{19AC479F-0018-4416-ACEC-FAF7E1AB5729}"/>
                </a:ext>
              </a:extLst>
            </p:cNvPr>
            <p:cNvSpPr>
              <a:spLocks/>
            </p:cNvSpPr>
            <p:nvPr/>
          </p:nvSpPr>
          <p:spPr bwMode="auto">
            <a:xfrm>
              <a:off x="2489200" y="5905500"/>
              <a:ext cx="4030663" cy="233363"/>
            </a:xfrm>
            <a:custGeom>
              <a:avLst/>
              <a:gdLst>
                <a:gd name="T0" fmla="*/ 0 w 2539"/>
                <a:gd name="T1" fmla="*/ 2147483646 h 147"/>
                <a:gd name="T2" fmla="*/ 2147483646 w 2539"/>
                <a:gd name="T3" fmla="*/ 2147483646 h 147"/>
                <a:gd name="T4" fmla="*/ 2147483646 w 2539"/>
                <a:gd name="T5" fmla="*/ 2147483646 h 147"/>
                <a:gd name="T6" fmla="*/ 0 60000 65536"/>
                <a:gd name="T7" fmla="*/ 0 60000 65536"/>
                <a:gd name="T8" fmla="*/ 0 60000 65536"/>
                <a:gd name="T9" fmla="*/ 0 w 2539"/>
                <a:gd name="T10" fmla="*/ 0 h 147"/>
                <a:gd name="T11" fmla="*/ 2539 w 2539"/>
                <a:gd name="T12" fmla="*/ 147 h 147"/>
              </a:gdLst>
              <a:ahLst/>
              <a:cxnLst>
                <a:cxn ang="T6">
                  <a:pos x="T0" y="T1"/>
                </a:cxn>
                <a:cxn ang="T7">
                  <a:pos x="T2" y="T3"/>
                </a:cxn>
                <a:cxn ang="T8">
                  <a:pos x="T4" y="T5"/>
                </a:cxn>
              </a:cxnLst>
              <a:rect l="T9" t="T10" r="T11" b="T12"/>
              <a:pathLst>
                <a:path w="2539" h="147">
                  <a:moveTo>
                    <a:pt x="0" y="147"/>
                  </a:moveTo>
                  <a:cubicBezTo>
                    <a:pt x="357" y="49"/>
                    <a:pt x="929" y="0"/>
                    <a:pt x="1184" y="17"/>
                  </a:cubicBezTo>
                  <a:cubicBezTo>
                    <a:pt x="1432" y="17"/>
                    <a:pt x="1857" y="134"/>
                    <a:pt x="2539" y="124"/>
                  </a:cubicBezTo>
                </a:path>
              </a:pathLst>
            </a:custGeom>
            <a:solidFill>
              <a:srgbClr val="003366">
                <a:alpha val="69019"/>
              </a:srgbClr>
            </a:solidFill>
            <a:ln w="28575">
              <a:solidFill>
                <a:srgbClr val="FFCC00"/>
              </a:solidFill>
              <a:round/>
              <a:headEnd/>
              <a:tailEnd/>
            </a:ln>
          </p:spPr>
          <p:txBody>
            <a:bodyPr/>
            <a:lstStyle/>
            <a:p>
              <a:endParaRPr lang="zh-CN" altLang="en-US"/>
            </a:p>
          </p:txBody>
        </p:sp>
        <p:grpSp>
          <p:nvGrpSpPr>
            <p:cNvPr id="5143" name="Group 14">
              <a:extLst>
                <a:ext uri="{FF2B5EF4-FFF2-40B4-BE49-F238E27FC236}">
                  <a16:creationId xmlns:a16="http://schemas.microsoft.com/office/drawing/2014/main" id="{76D74098-3A95-4538-A401-7135C76E1E17}"/>
                </a:ext>
              </a:extLst>
            </p:cNvPr>
            <p:cNvGrpSpPr>
              <a:grpSpLocks/>
            </p:cNvGrpSpPr>
            <p:nvPr/>
          </p:nvGrpSpPr>
          <p:grpSpPr bwMode="auto">
            <a:xfrm>
              <a:off x="1042991" y="1196975"/>
              <a:ext cx="5976979" cy="4968876"/>
              <a:chOff x="317" y="0"/>
              <a:chExt cx="3765" cy="3130"/>
            </a:xfrm>
          </p:grpSpPr>
          <p:grpSp>
            <p:nvGrpSpPr>
              <p:cNvPr id="5158" name="Group 17">
                <a:extLst>
                  <a:ext uri="{FF2B5EF4-FFF2-40B4-BE49-F238E27FC236}">
                    <a16:creationId xmlns:a16="http://schemas.microsoft.com/office/drawing/2014/main" id="{6BC8A4F7-75CD-4633-9D28-6171A79F5BBE}"/>
                  </a:ext>
                </a:extLst>
              </p:cNvPr>
              <p:cNvGrpSpPr>
                <a:grpSpLocks/>
              </p:cNvGrpSpPr>
              <p:nvPr/>
            </p:nvGrpSpPr>
            <p:grpSpPr bwMode="auto">
              <a:xfrm>
                <a:off x="317" y="0"/>
                <a:ext cx="3765" cy="3130"/>
                <a:chOff x="0" y="0"/>
                <a:chExt cx="3765" cy="3130"/>
              </a:xfrm>
            </p:grpSpPr>
            <p:sp>
              <p:nvSpPr>
                <p:cNvPr id="5162" name="Line 18">
                  <a:extLst>
                    <a:ext uri="{FF2B5EF4-FFF2-40B4-BE49-F238E27FC236}">
                      <a16:creationId xmlns:a16="http://schemas.microsoft.com/office/drawing/2014/main" id="{A77489C4-E30D-49D5-A51C-F7B09CE62F21}"/>
                    </a:ext>
                  </a:extLst>
                </p:cNvPr>
                <p:cNvSpPr>
                  <a:spLocks noChangeShapeType="1"/>
                </p:cNvSpPr>
                <p:nvPr/>
              </p:nvSpPr>
              <p:spPr bwMode="auto">
                <a:xfrm flipV="1">
                  <a:off x="0" y="0"/>
                  <a:ext cx="0" cy="3129"/>
                </a:xfrm>
                <a:prstGeom prst="line">
                  <a:avLst/>
                </a:prstGeom>
                <a:noFill/>
                <a:ln w="28575">
                  <a:solidFill>
                    <a:schemeClr val="hlink">
                      <a:alpha val="69019"/>
                    </a:schemeClr>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163" name="Line 19">
                  <a:extLst>
                    <a:ext uri="{FF2B5EF4-FFF2-40B4-BE49-F238E27FC236}">
                      <a16:creationId xmlns:a16="http://schemas.microsoft.com/office/drawing/2014/main" id="{A976F69F-DE6E-41D1-BDC8-69EF16DB33B7}"/>
                    </a:ext>
                  </a:extLst>
                </p:cNvPr>
                <p:cNvSpPr>
                  <a:spLocks noChangeShapeType="1"/>
                </p:cNvSpPr>
                <p:nvPr/>
              </p:nvSpPr>
              <p:spPr bwMode="auto">
                <a:xfrm>
                  <a:off x="0" y="3130"/>
                  <a:ext cx="3765" cy="0"/>
                </a:xfrm>
                <a:prstGeom prst="line">
                  <a:avLst/>
                </a:prstGeom>
                <a:noFill/>
                <a:ln w="28575">
                  <a:solidFill>
                    <a:schemeClr val="hlink">
                      <a:alpha val="81960"/>
                    </a:schemeClr>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grpSp>
            <p:nvGrpSpPr>
              <p:cNvPr id="5159" name="Group 20">
                <a:extLst>
                  <a:ext uri="{FF2B5EF4-FFF2-40B4-BE49-F238E27FC236}">
                    <a16:creationId xmlns:a16="http://schemas.microsoft.com/office/drawing/2014/main" id="{CA326B9A-5D79-4744-830B-469BFBE3392E}"/>
                  </a:ext>
                </a:extLst>
              </p:cNvPr>
              <p:cNvGrpSpPr>
                <a:grpSpLocks/>
              </p:cNvGrpSpPr>
              <p:nvPr/>
            </p:nvGrpSpPr>
            <p:grpSpPr bwMode="auto">
              <a:xfrm>
                <a:off x="317" y="635"/>
                <a:ext cx="45" cy="1270"/>
                <a:chOff x="0" y="0"/>
                <a:chExt cx="91" cy="1270"/>
              </a:xfrm>
            </p:grpSpPr>
            <p:sp>
              <p:nvSpPr>
                <p:cNvPr id="5160" name="Line 21">
                  <a:extLst>
                    <a:ext uri="{FF2B5EF4-FFF2-40B4-BE49-F238E27FC236}">
                      <a16:creationId xmlns:a16="http://schemas.microsoft.com/office/drawing/2014/main" id="{C4CAD4D8-3051-45AC-B48D-09D818E538AB}"/>
                    </a:ext>
                  </a:extLst>
                </p:cNvPr>
                <p:cNvSpPr>
                  <a:spLocks noChangeShapeType="1"/>
                </p:cNvSpPr>
                <p:nvPr/>
              </p:nvSpPr>
              <p:spPr bwMode="auto">
                <a:xfrm>
                  <a:off x="0" y="0"/>
                  <a:ext cx="91"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61" name="Line 22">
                  <a:extLst>
                    <a:ext uri="{FF2B5EF4-FFF2-40B4-BE49-F238E27FC236}">
                      <a16:creationId xmlns:a16="http://schemas.microsoft.com/office/drawing/2014/main" id="{A916A2D3-C800-4651-87D6-0B498ACDDEDB}"/>
                    </a:ext>
                  </a:extLst>
                </p:cNvPr>
                <p:cNvSpPr>
                  <a:spLocks noChangeShapeType="1"/>
                </p:cNvSpPr>
                <p:nvPr/>
              </p:nvSpPr>
              <p:spPr bwMode="auto">
                <a:xfrm>
                  <a:off x="0" y="1270"/>
                  <a:ext cx="91"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5144" name="Group 23">
              <a:extLst>
                <a:ext uri="{FF2B5EF4-FFF2-40B4-BE49-F238E27FC236}">
                  <a16:creationId xmlns:a16="http://schemas.microsoft.com/office/drawing/2014/main" id="{FDCB3850-6558-4D6D-9BE4-CE0AE7FA7415}"/>
                </a:ext>
              </a:extLst>
            </p:cNvPr>
            <p:cNvGrpSpPr>
              <a:grpSpLocks/>
            </p:cNvGrpSpPr>
            <p:nvPr/>
          </p:nvGrpSpPr>
          <p:grpSpPr bwMode="auto">
            <a:xfrm>
              <a:off x="222250" y="874711"/>
              <a:ext cx="7364415" cy="5989642"/>
              <a:chOff x="0" y="-115"/>
              <a:chExt cx="4639" cy="3773"/>
            </a:xfrm>
          </p:grpSpPr>
          <p:grpSp>
            <p:nvGrpSpPr>
              <p:cNvPr id="5154" name="Group 24">
                <a:extLst>
                  <a:ext uri="{FF2B5EF4-FFF2-40B4-BE49-F238E27FC236}">
                    <a16:creationId xmlns:a16="http://schemas.microsoft.com/office/drawing/2014/main" id="{385AAD12-FB93-4AD3-BEBD-33A3FA6D67D2}"/>
                  </a:ext>
                </a:extLst>
              </p:cNvPr>
              <p:cNvGrpSpPr>
                <a:grpSpLocks/>
              </p:cNvGrpSpPr>
              <p:nvPr/>
            </p:nvGrpSpPr>
            <p:grpSpPr bwMode="auto">
              <a:xfrm>
                <a:off x="516" y="-115"/>
                <a:ext cx="4123" cy="3773"/>
                <a:chOff x="-91" y="-115"/>
                <a:chExt cx="4123" cy="3773"/>
              </a:xfrm>
            </p:grpSpPr>
            <p:sp>
              <p:nvSpPr>
                <p:cNvPr id="5156" name="Text Box 25">
                  <a:extLst>
                    <a:ext uri="{FF2B5EF4-FFF2-40B4-BE49-F238E27FC236}">
                      <a16:creationId xmlns:a16="http://schemas.microsoft.com/office/drawing/2014/main" id="{4AEDD288-E3DD-4EC5-9256-2C6E117DAC0A}"/>
                    </a:ext>
                  </a:extLst>
                </p:cNvPr>
                <p:cNvSpPr txBox="1">
                  <a:spLocks noChangeArrowheads="1"/>
                </p:cNvSpPr>
                <p:nvPr/>
              </p:nvSpPr>
              <p:spPr bwMode="auto">
                <a:xfrm>
                  <a:off x="-91" y="-115"/>
                  <a:ext cx="176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zh-CN" sz="2000" i="1">
                      <a:solidFill>
                        <a:schemeClr val="hlink"/>
                      </a:solidFill>
                    </a:rPr>
                    <a:t>M</a:t>
                  </a:r>
                  <a:r>
                    <a:rPr lang="zh-CN" altLang="zh-CN" sz="2000" i="1" baseline="-22000">
                      <a:solidFill>
                        <a:schemeClr val="hlink"/>
                      </a:solidFill>
                    </a:rPr>
                    <a:t>B</a:t>
                  </a:r>
                  <a:r>
                    <a:rPr lang="zh-CN" altLang="zh-CN" sz="2000" i="1" baseline="-22000">
                      <a:solidFill>
                        <a:schemeClr val="hlink"/>
                      </a:solidFill>
                      <a:sym typeface="Symbol" panose="05050102010706020507" pitchFamily="18" charset="2"/>
                    </a:rPr>
                    <a:t> </a:t>
                  </a:r>
                  <a:r>
                    <a:rPr lang="zh-CN" altLang="zh-CN" sz="2000">
                      <a:solidFill>
                        <a:schemeClr val="hlink"/>
                      </a:solidFill>
                      <a:sym typeface="Symbol" panose="05050102010706020507" pitchFamily="18" charset="2"/>
                    </a:rPr>
                    <a:t>(</a:t>
                  </a:r>
                  <a:r>
                    <a:rPr lang="zh-CN" altLang="zh-CN" sz="2000">
                      <a:solidFill>
                        <a:schemeClr val="hlink"/>
                      </a:solidFill>
                    </a:rPr>
                    <a:t>10</a:t>
                  </a:r>
                  <a:r>
                    <a:rPr lang="zh-CN" altLang="zh-CN" sz="2000" baseline="30000">
                      <a:solidFill>
                        <a:schemeClr val="hlink"/>
                      </a:solidFill>
                    </a:rPr>
                    <a:t>-7</a:t>
                  </a:r>
                  <a:r>
                    <a:rPr lang="zh-CN" altLang="zh-CN" sz="2000">
                      <a:solidFill>
                        <a:schemeClr val="hlink"/>
                      </a:solidFill>
                      <a:sym typeface="Symbol" panose="05050102010706020507" pitchFamily="18" charset="2"/>
                    </a:rPr>
                    <a:t> </a:t>
                  </a:r>
                  <a:r>
                    <a:rPr lang="zh-CN" altLang="zh-CN" sz="2000">
                      <a:solidFill>
                        <a:schemeClr val="hlink"/>
                      </a:solidFill>
                    </a:rPr>
                    <a:t>×</a:t>
                  </a:r>
                  <a:r>
                    <a:rPr lang="zh-CN" altLang="zh-CN" sz="2000">
                      <a:solidFill>
                        <a:schemeClr val="hlink"/>
                      </a:solidFill>
                      <a:sym typeface="Symbol" panose="05050102010706020507" pitchFamily="18" charset="2"/>
                    </a:rPr>
                    <a:t> W / m</a:t>
                  </a:r>
                  <a:r>
                    <a:rPr lang="zh-CN" altLang="zh-CN" sz="2000" baseline="30000">
                      <a:solidFill>
                        <a:schemeClr val="hlink"/>
                      </a:solidFill>
                      <a:sym typeface="Symbol" panose="05050102010706020507" pitchFamily="18" charset="2"/>
                    </a:rPr>
                    <a:t>2 </a:t>
                  </a:r>
                  <a:r>
                    <a:rPr lang="zh-CN" altLang="zh-CN" sz="2000" b="0">
                      <a:solidFill>
                        <a:schemeClr val="hlink"/>
                      </a:solidFill>
                      <a:cs typeface="Times New Roman" panose="02020603050405020304" pitchFamily="18" charset="0"/>
                      <a:sym typeface="Symbol" panose="05050102010706020507" pitchFamily="18" charset="2"/>
                    </a:rPr>
                    <a:t>·</a:t>
                  </a:r>
                  <a:r>
                    <a:rPr lang="zh-CN" altLang="zh-CN" sz="2000">
                      <a:solidFill>
                        <a:schemeClr val="hlink"/>
                      </a:solidFill>
                      <a:cs typeface="Times New Roman" panose="02020603050405020304" pitchFamily="18" charset="0"/>
                      <a:sym typeface="Symbol" panose="05050102010706020507" pitchFamily="18" charset="2"/>
                    </a:rPr>
                    <a:t> </a:t>
                  </a:r>
                  <a:r>
                    <a:rPr lang="zh-CN" altLang="zh-CN" sz="2000">
                      <a:solidFill>
                        <a:schemeClr val="hlink"/>
                      </a:solidFill>
                      <a:sym typeface="Symbol" panose="05050102010706020507" pitchFamily="18" charset="2"/>
                    </a:rPr>
                    <a:t>m)</a:t>
                  </a:r>
                </a:p>
              </p:txBody>
            </p:sp>
            <p:sp>
              <p:nvSpPr>
                <p:cNvPr id="5157" name="Rectangle 26">
                  <a:extLst>
                    <a:ext uri="{FF2B5EF4-FFF2-40B4-BE49-F238E27FC236}">
                      <a16:creationId xmlns:a16="http://schemas.microsoft.com/office/drawing/2014/main" id="{5F4AA921-7A56-460A-8B00-4254E4025602}"/>
                    </a:ext>
                  </a:extLst>
                </p:cNvPr>
                <p:cNvSpPr>
                  <a:spLocks noChangeArrowheads="1"/>
                </p:cNvSpPr>
                <p:nvPr/>
              </p:nvSpPr>
              <p:spPr bwMode="auto">
                <a:xfrm>
                  <a:off x="2833" y="3238"/>
                  <a:ext cx="1199"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zh-CN" sz="2000" i="1">
                      <a:solidFill>
                        <a:schemeClr val="hlink"/>
                      </a:solidFill>
                      <a:sym typeface="Symbol" panose="05050102010706020507" pitchFamily="18" charset="2"/>
                    </a:rPr>
                    <a:t> </a:t>
                  </a:r>
                  <a:r>
                    <a:rPr lang="zh-CN" altLang="zh-CN" sz="2000">
                      <a:solidFill>
                        <a:schemeClr val="hlink"/>
                      </a:solidFill>
                      <a:sym typeface="Symbol" panose="05050102010706020507" pitchFamily="18" charset="2"/>
                    </a:rPr>
                    <a:t>( m)</a:t>
                  </a:r>
                </a:p>
              </p:txBody>
            </p:sp>
          </p:grpSp>
          <p:sp>
            <p:nvSpPr>
              <p:cNvPr id="5155" name="Text Box 27">
                <a:extLst>
                  <a:ext uri="{FF2B5EF4-FFF2-40B4-BE49-F238E27FC236}">
                    <a16:creationId xmlns:a16="http://schemas.microsoft.com/office/drawing/2014/main" id="{BFC86482-D562-4A92-8B9F-FB243B5F9AA0}"/>
                  </a:ext>
                </a:extLst>
              </p:cNvPr>
              <p:cNvSpPr txBox="1">
                <a:spLocks noChangeArrowheads="1"/>
              </p:cNvSpPr>
              <p:nvPr/>
            </p:nvSpPr>
            <p:spPr bwMode="auto">
              <a:xfrm>
                <a:off x="0" y="219"/>
                <a:ext cx="1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endParaRPr lang="en-US" altLang="zh-CN" sz="2000">
                  <a:solidFill>
                    <a:srgbClr val="DDDDDD"/>
                  </a:solidFill>
                </a:endParaRPr>
              </a:p>
            </p:txBody>
          </p:sp>
        </p:grpSp>
        <p:sp>
          <p:nvSpPr>
            <p:cNvPr id="5145" name="Text Box 31">
              <a:extLst>
                <a:ext uri="{FF2B5EF4-FFF2-40B4-BE49-F238E27FC236}">
                  <a16:creationId xmlns:a16="http://schemas.microsoft.com/office/drawing/2014/main" id="{388D2E55-2954-49A6-A09A-8387045A0EFE}"/>
                </a:ext>
              </a:extLst>
            </p:cNvPr>
            <p:cNvSpPr txBox="1">
              <a:spLocks noChangeArrowheads="1"/>
            </p:cNvSpPr>
            <p:nvPr/>
          </p:nvSpPr>
          <p:spPr bwMode="auto">
            <a:xfrm>
              <a:off x="3211513" y="1463675"/>
              <a:ext cx="18415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endParaRPr lang="en-US" altLang="zh-CN" sz="800"/>
            </a:p>
          </p:txBody>
        </p:sp>
        <p:sp>
          <p:nvSpPr>
            <p:cNvPr id="5146" name="Text Box 32">
              <a:extLst>
                <a:ext uri="{FF2B5EF4-FFF2-40B4-BE49-F238E27FC236}">
                  <a16:creationId xmlns:a16="http://schemas.microsoft.com/office/drawing/2014/main" id="{625CB939-F5A6-4C2E-BD83-4F3FE9AD0839}"/>
                </a:ext>
              </a:extLst>
            </p:cNvPr>
            <p:cNvSpPr txBox="1">
              <a:spLocks noChangeArrowheads="1"/>
            </p:cNvSpPr>
            <p:nvPr/>
          </p:nvSpPr>
          <p:spPr bwMode="auto">
            <a:xfrm>
              <a:off x="2707957" y="4008377"/>
              <a:ext cx="1471831" cy="666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zh-CN" sz="2000" b="0">
                  <a:solidFill>
                    <a:schemeClr val="hlink"/>
                  </a:solidFill>
                </a:rPr>
                <a:t>5000K</a:t>
              </a:r>
            </a:p>
          </p:txBody>
        </p:sp>
        <p:sp>
          <p:nvSpPr>
            <p:cNvPr id="5147" name="Text Box 33">
              <a:extLst>
                <a:ext uri="{FF2B5EF4-FFF2-40B4-BE49-F238E27FC236}">
                  <a16:creationId xmlns:a16="http://schemas.microsoft.com/office/drawing/2014/main" id="{5109EDD7-02FA-485C-AD13-C7BE3A6F0EA2}"/>
                </a:ext>
              </a:extLst>
            </p:cNvPr>
            <p:cNvSpPr txBox="1">
              <a:spLocks noChangeArrowheads="1"/>
            </p:cNvSpPr>
            <p:nvPr/>
          </p:nvSpPr>
          <p:spPr bwMode="auto">
            <a:xfrm>
              <a:off x="2707957" y="1985394"/>
              <a:ext cx="1471831" cy="666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zh-CN" sz="2000" b="0">
                  <a:solidFill>
                    <a:schemeClr val="hlink"/>
                  </a:solidFill>
                </a:rPr>
                <a:t>6000K</a:t>
              </a:r>
            </a:p>
          </p:txBody>
        </p:sp>
        <p:sp>
          <p:nvSpPr>
            <p:cNvPr id="5148" name="Line 34">
              <a:extLst>
                <a:ext uri="{FF2B5EF4-FFF2-40B4-BE49-F238E27FC236}">
                  <a16:creationId xmlns:a16="http://schemas.microsoft.com/office/drawing/2014/main" id="{11E296E3-1126-4231-BC59-849A26ADA229}"/>
                </a:ext>
              </a:extLst>
            </p:cNvPr>
            <p:cNvSpPr>
              <a:spLocks noChangeShapeType="1"/>
            </p:cNvSpPr>
            <p:nvPr/>
          </p:nvSpPr>
          <p:spPr bwMode="auto">
            <a:xfrm>
              <a:off x="4284663" y="5949950"/>
              <a:ext cx="0" cy="215900"/>
            </a:xfrm>
            <a:prstGeom prst="line">
              <a:avLst/>
            </a:prstGeom>
            <a:noFill/>
            <a:ln w="19050">
              <a:solidFill>
                <a:srgbClr val="00FF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49" name="Line 35">
              <a:extLst>
                <a:ext uri="{FF2B5EF4-FFF2-40B4-BE49-F238E27FC236}">
                  <a16:creationId xmlns:a16="http://schemas.microsoft.com/office/drawing/2014/main" id="{A573AA80-8448-4FEB-A9AD-1A738D8EA457}"/>
                </a:ext>
              </a:extLst>
            </p:cNvPr>
            <p:cNvSpPr>
              <a:spLocks noChangeShapeType="1"/>
            </p:cNvSpPr>
            <p:nvPr/>
          </p:nvSpPr>
          <p:spPr bwMode="auto">
            <a:xfrm>
              <a:off x="2733675" y="4581525"/>
              <a:ext cx="0" cy="1584325"/>
            </a:xfrm>
            <a:prstGeom prst="line">
              <a:avLst/>
            </a:prstGeom>
            <a:noFill/>
            <a:ln w="19050">
              <a:solidFill>
                <a:srgbClr val="00FF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50" name="Line 36">
              <a:extLst>
                <a:ext uri="{FF2B5EF4-FFF2-40B4-BE49-F238E27FC236}">
                  <a16:creationId xmlns:a16="http://schemas.microsoft.com/office/drawing/2014/main" id="{61AECF10-902B-4FC8-B6F3-845951C125CF}"/>
                </a:ext>
              </a:extLst>
            </p:cNvPr>
            <p:cNvSpPr>
              <a:spLocks noChangeShapeType="1"/>
            </p:cNvSpPr>
            <p:nvPr/>
          </p:nvSpPr>
          <p:spPr bwMode="auto">
            <a:xfrm>
              <a:off x="2484438" y="2276475"/>
              <a:ext cx="0" cy="3889375"/>
            </a:xfrm>
            <a:prstGeom prst="line">
              <a:avLst/>
            </a:prstGeom>
            <a:noFill/>
            <a:ln w="19050">
              <a:solidFill>
                <a:srgbClr val="00FF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51" name="Text Box 37">
              <a:extLst>
                <a:ext uri="{FF2B5EF4-FFF2-40B4-BE49-F238E27FC236}">
                  <a16:creationId xmlns:a16="http://schemas.microsoft.com/office/drawing/2014/main" id="{BE01C56D-3AE6-486C-82C5-A47DC76A76A8}"/>
                </a:ext>
              </a:extLst>
            </p:cNvPr>
            <p:cNvSpPr txBox="1">
              <a:spLocks noChangeArrowheads="1"/>
            </p:cNvSpPr>
            <p:nvPr/>
          </p:nvSpPr>
          <p:spPr bwMode="auto">
            <a:xfrm>
              <a:off x="3302952" y="5602868"/>
              <a:ext cx="1471831" cy="666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zh-CN" sz="2000" b="0">
                  <a:solidFill>
                    <a:schemeClr val="hlink"/>
                  </a:solidFill>
                </a:rPr>
                <a:t>3000K</a:t>
              </a:r>
            </a:p>
          </p:txBody>
        </p:sp>
        <p:sp>
          <p:nvSpPr>
            <p:cNvPr id="5152" name="Text Box 38">
              <a:extLst>
                <a:ext uri="{FF2B5EF4-FFF2-40B4-BE49-F238E27FC236}">
                  <a16:creationId xmlns:a16="http://schemas.microsoft.com/office/drawing/2014/main" id="{46376127-D4DE-4FB4-A1CC-4007E706DE0D}"/>
                </a:ext>
              </a:extLst>
            </p:cNvPr>
            <p:cNvSpPr txBox="1">
              <a:spLocks noChangeArrowheads="1"/>
            </p:cNvSpPr>
            <p:nvPr/>
          </p:nvSpPr>
          <p:spPr bwMode="auto">
            <a:xfrm>
              <a:off x="2943225" y="5126872"/>
              <a:ext cx="1471831" cy="666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zh-CN" sz="2000" b="0">
                  <a:solidFill>
                    <a:schemeClr val="hlink"/>
                  </a:solidFill>
                </a:rPr>
                <a:t>4000K</a:t>
              </a:r>
            </a:p>
          </p:txBody>
        </p:sp>
        <p:sp>
          <p:nvSpPr>
            <p:cNvPr id="5153" name="Line 39">
              <a:extLst>
                <a:ext uri="{FF2B5EF4-FFF2-40B4-BE49-F238E27FC236}">
                  <a16:creationId xmlns:a16="http://schemas.microsoft.com/office/drawing/2014/main" id="{CBE9A7C5-842D-4F26-9254-D33362C90582}"/>
                </a:ext>
              </a:extLst>
            </p:cNvPr>
            <p:cNvSpPr>
              <a:spLocks noChangeShapeType="1"/>
            </p:cNvSpPr>
            <p:nvPr/>
          </p:nvSpPr>
          <p:spPr bwMode="auto">
            <a:xfrm>
              <a:off x="3348038" y="5661025"/>
              <a:ext cx="0" cy="504825"/>
            </a:xfrm>
            <a:prstGeom prst="line">
              <a:avLst/>
            </a:prstGeom>
            <a:noFill/>
            <a:ln w="19050">
              <a:solidFill>
                <a:srgbClr val="00FF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1" name="Rectangle 19">
            <a:extLst>
              <a:ext uri="{FF2B5EF4-FFF2-40B4-BE49-F238E27FC236}">
                <a16:creationId xmlns:a16="http://schemas.microsoft.com/office/drawing/2014/main" id="{FD270BE3-8DB1-4124-A175-88E659A3DCD3}"/>
              </a:ext>
            </a:extLst>
          </p:cNvPr>
          <p:cNvSpPr>
            <a:spLocks noChangeArrowheads="1"/>
          </p:cNvSpPr>
          <p:nvPr/>
        </p:nvSpPr>
        <p:spPr bwMode="auto">
          <a:xfrm>
            <a:off x="4143375" y="461963"/>
            <a:ext cx="1828800" cy="466725"/>
          </a:xfrm>
          <a:prstGeom prst="rect">
            <a:avLst/>
          </a:prstGeom>
          <a:solidFill>
            <a:schemeClr val="tx1"/>
          </a:solidFill>
          <a:ln w="9525">
            <a:solidFill>
              <a:schemeClr val="folHlink"/>
            </a:solidFill>
            <a:miter lim="800000"/>
            <a:headEnd/>
            <a:tailEnd/>
          </a:ln>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a:r>
              <a:rPr lang="zh-CN" altLang="en-US">
                <a:solidFill>
                  <a:srgbClr val="66FFFF"/>
                </a:solidFill>
                <a:ea typeface="楷体_GB2312" pitchFamily="49" charset="-122"/>
              </a:rPr>
              <a:t>黑体热辐射</a:t>
            </a:r>
          </a:p>
        </p:txBody>
      </p:sp>
      <p:sp>
        <p:nvSpPr>
          <p:cNvPr id="72" name="Rectangle 20">
            <a:extLst>
              <a:ext uri="{FF2B5EF4-FFF2-40B4-BE49-F238E27FC236}">
                <a16:creationId xmlns:a16="http://schemas.microsoft.com/office/drawing/2014/main" id="{1B302F64-50B4-4990-9F37-DFCCEC0D26E3}"/>
              </a:ext>
            </a:extLst>
          </p:cNvPr>
          <p:cNvSpPr>
            <a:spLocks noChangeArrowheads="1"/>
          </p:cNvSpPr>
          <p:nvPr/>
        </p:nvSpPr>
        <p:spPr bwMode="auto">
          <a:xfrm>
            <a:off x="2500313" y="461963"/>
            <a:ext cx="914400" cy="46672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a:r>
              <a:rPr lang="zh-CN" altLang="en-US">
                <a:solidFill>
                  <a:srgbClr val="66FFFF"/>
                </a:solidFill>
                <a:ea typeface="楷体_GB2312" pitchFamily="49" charset="-122"/>
              </a:rPr>
              <a:t>温度</a:t>
            </a:r>
          </a:p>
        </p:txBody>
      </p:sp>
      <p:sp>
        <p:nvSpPr>
          <p:cNvPr id="73" name="Line 21">
            <a:extLst>
              <a:ext uri="{FF2B5EF4-FFF2-40B4-BE49-F238E27FC236}">
                <a16:creationId xmlns:a16="http://schemas.microsoft.com/office/drawing/2014/main" id="{961ADC26-66AF-457D-B748-203D69CA9365}"/>
              </a:ext>
            </a:extLst>
          </p:cNvPr>
          <p:cNvSpPr>
            <a:spLocks noChangeShapeType="1"/>
          </p:cNvSpPr>
          <p:nvPr/>
        </p:nvSpPr>
        <p:spPr bwMode="auto">
          <a:xfrm flipH="1">
            <a:off x="3571875" y="695325"/>
            <a:ext cx="431800" cy="0"/>
          </a:xfrm>
          <a:prstGeom prst="line">
            <a:avLst/>
          </a:prstGeom>
          <a:noFill/>
          <a:ln w="57150">
            <a:solidFill>
              <a:schemeClr val="accent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74" name="Rectangle 22">
            <a:extLst>
              <a:ext uri="{FF2B5EF4-FFF2-40B4-BE49-F238E27FC236}">
                <a16:creationId xmlns:a16="http://schemas.microsoft.com/office/drawing/2014/main" id="{36390F2E-C41F-4D02-A0B9-F30E198A84B6}"/>
              </a:ext>
            </a:extLst>
          </p:cNvPr>
          <p:cNvSpPr>
            <a:spLocks noChangeArrowheads="1"/>
          </p:cNvSpPr>
          <p:nvPr/>
        </p:nvSpPr>
        <p:spPr bwMode="auto">
          <a:xfrm>
            <a:off x="6856413" y="461963"/>
            <a:ext cx="1501775" cy="46672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a:solidFill>
                  <a:srgbClr val="66FFFF"/>
                </a:solidFill>
                <a:ea typeface="楷体_GB2312" pitchFamily="49" charset="-122"/>
              </a:rPr>
              <a:t>材料性质</a:t>
            </a:r>
          </a:p>
        </p:txBody>
      </p:sp>
      <p:grpSp>
        <p:nvGrpSpPr>
          <p:cNvPr id="8" name="Group 23">
            <a:extLst>
              <a:ext uri="{FF2B5EF4-FFF2-40B4-BE49-F238E27FC236}">
                <a16:creationId xmlns:a16="http://schemas.microsoft.com/office/drawing/2014/main" id="{694CFCD5-1904-4597-92C1-3FA0E26DBCF7}"/>
              </a:ext>
            </a:extLst>
          </p:cNvPr>
          <p:cNvGrpSpPr>
            <a:grpSpLocks/>
          </p:cNvGrpSpPr>
          <p:nvPr/>
        </p:nvGrpSpPr>
        <p:grpSpPr bwMode="auto">
          <a:xfrm>
            <a:off x="6103938" y="557213"/>
            <a:ext cx="539750" cy="304800"/>
            <a:chOff x="0" y="0"/>
            <a:chExt cx="340" cy="192"/>
          </a:xfrm>
        </p:grpSpPr>
        <p:sp>
          <p:nvSpPr>
            <p:cNvPr id="5137" name="Line 24">
              <a:extLst>
                <a:ext uri="{FF2B5EF4-FFF2-40B4-BE49-F238E27FC236}">
                  <a16:creationId xmlns:a16="http://schemas.microsoft.com/office/drawing/2014/main" id="{0305BD3B-FA25-4226-A793-6868B32E483B}"/>
                </a:ext>
              </a:extLst>
            </p:cNvPr>
            <p:cNvSpPr>
              <a:spLocks noChangeShapeType="1"/>
            </p:cNvSpPr>
            <p:nvPr/>
          </p:nvSpPr>
          <p:spPr bwMode="auto">
            <a:xfrm flipH="1">
              <a:off x="0" y="99"/>
              <a:ext cx="340" cy="0"/>
            </a:xfrm>
            <a:prstGeom prst="line">
              <a:avLst/>
            </a:prstGeom>
            <a:noFill/>
            <a:ln w="571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38" name="Line 25">
              <a:extLst>
                <a:ext uri="{FF2B5EF4-FFF2-40B4-BE49-F238E27FC236}">
                  <a16:creationId xmlns:a16="http://schemas.microsoft.com/office/drawing/2014/main" id="{C9596624-AAD5-4E91-8394-76768BAE108B}"/>
                </a:ext>
              </a:extLst>
            </p:cNvPr>
            <p:cNvSpPr>
              <a:spLocks noChangeShapeType="1"/>
            </p:cNvSpPr>
            <p:nvPr/>
          </p:nvSpPr>
          <p:spPr bwMode="auto">
            <a:xfrm>
              <a:off x="153" y="0"/>
              <a:ext cx="159" cy="192"/>
            </a:xfrm>
            <a:prstGeom prst="line">
              <a:avLst/>
            </a:prstGeom>
            <a:noFill/>
            <a:ln w="57150">
              <a:solidFill>
                <a:srgbClr val="FFCC66"/>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7410"/>
                                        </p:tgtEl>
                                        <p:attrNameLst>
                                          <p:attrName>style.visibility</p:attrName>
                                        </p:attrNameLst>
                                      </p:cBhvr>
                                      <p:to>
                                        <p:strVal val="visible"/>
                                      </p:to>
                                    </p:set>
                                    <p:animEffect transition="in" filter="dissolve">
                                      <p:cBhvr>
                                        <p:cTn id="7" dur="500"/>
                                        <p:tgtEl>
                                          <p:spTgt spid="17410"/>
                                        </p:tgtEl>
                                      </p:cBhvr>
                                    </p:animEffect>
                                  </p:childTnLst>
                                </p:cTn>
                              </p:par>
                            </p:childTnLst>
                          </p:cTn>
                        </p:par>
                        <p:par>
                          <p:cTn id="8" fill="hold" nodeType="afterGroup">
                            <p:stCondLst>
                              <p:cond delay="500"/>
                            </p:stCondLst>
                            <p:childTnLst>
                              <p:par>
                                <p:cTn id="9" presetID="23" presetClass="entr" presetSubtype="288" fill="hold" grpId="0" nodeType="afterEffect">
                                  <p:stCondLst>
                                    <p:cond delay="0"/>
                                  </p:stCondLst>
                                  <p:childTnLst>
                                    <p:set>
                                      <p:cBhvr>
                                        <p:cTn id="10" dur="1" fill="hold">
                                          <p:stCondLst>
                                            <p:cond delay="0"/>
                                          </p:stCondLst>
                                        </p:cTn>
                                        <p:tgtEl>
                                          <p:spTgt spid="71"/>
                                        </p:tgtEl>
                                        <p:attrNameLst>
                                          <p:attrName>style.visibility</p:attrName>
                                        </p:attrNameLst>
                                      </p:cBhvr>
                                      <p:to>
                                        <p:strVal val="visible"/>
                                      </p:to>
                                    </p:set>
                                    <p:anim calcmode="lin" valueType="num">
                                      <p:cBhvr>
                                        <p:cTn id="11" dur="500" fill="hold"/>
                                        <p:tgtEl>
                                          <p:spTgt spid="71"/>
                                        </p:tgtEl>
                                        <p:attrNameLst>
                                          <p:attrName>ppt_w</p:attrName>
                                        </p:attrNameLst>
                                      </p:cBhvr>
                                      <p:tavLst>
                                        <p:tav tm="0">
                                          <p:val>
                                            <p:strVal val="4/3*#ppt_w"/>
                                          </p:val>
                                        </p:tav>
                                        <p:tav tm="100000">
                                          <p:val>
                                            <p:strVal val="#ppt_w"/>
                                          </p:val>
                                        </p:tav>
                                      </p:tavLst>
                                    </p:anim>
                                    <p:anim calcmode="lin" valueType="num">
                                      <p:cBhvr>
                                        <p:cTn id="12" dur="500" fill="hold"/>
                                        <p:tgtEl>
                                          <p:spTgt spid="71"/>
                                        </p:tgtEl>
                                        <p:attrNameLst>
                                          <p:attrName>ppt_h</p:attrName>
                                        </p:attrNameLst>
                                      </p:cBhvr>
                                      <p:tavLst>
                                        <p:tav tm="0">
                                          <p:val>
                                            <p:strVal val="4/3*#ppt_h"/>
                                          </p:val>
                                        </p:tav>
                                        <p:tav tm="100000">
                                          <p:val>
                                            <p:strVal val="#ppt_h"/>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2"/>
                                        </p:tgtEl>
                                        <p:attrNameLst>
                                          <p:attrName>style.visibility</p:attrName>
                                        </p:attrNameLst>
                                      </p:cBhvr>
                                      <p:to>
                                        <p:strVal val="visible"/>
                                      </p:to>
                                    </p:set>
                                    <p:animEffect transition="in" filter="dissolve">
                                      <p:cBhvr>
                                        <p:cTn id="17" dur="500"/>
                                        <p:tgtEl>
                                          <p:spTgt spid="72"/>
                                        </p:tgtEl>
                                      </p:cBhvr>
                                    </p:animEffect>
                                  </p:childTnLst>
                                </p:cTn>
                              </p:par>
                            </p:childTnLst>
                          </p:cTn>
                        </p:par>
                        <p:par>
                          <p:cTn id="18" fill="hold" nodeType="afterGroup">
                            <p:stCondLst>
                              <p:cond delay="500"/>
                            </p:stCondLst>
                            <p:childTnLst>
                              <p:par>
                                <p:cTn id="19" presetID="9" presetClass="entr" presetSubtype="0" fill="hold" nodeType="afterEffect">
                                  <p:stCondLst>
                                    <p:cond delay="0"/>
                                  </p:stCondLst>
                                  <p:childTnLst>
                                    <p:set>
                                      <p:cBhvr>
                                        <p:cTn id="20" dur="1" fill="hold">
                                          <p:stCondLst>
                                            <p:cond delay="0"/>
                                          </p:stCondLst>
                                        </p:cTn>
                                        <p:tgtEl>
                                          <p:spTgt spid="73"/>
                                        </p:tgtEl>
                                        <p:attrNameLst>
                                          <p:attrName>style.visibility</p:attrName>
                                        </p:attrNameLst>
                                      </p:cBhvr>
                                      <p:to>
                                        <p:strVal val="visible"/>
                                      </p:to>
                                    </p:set>
                                    <p:animEffect transition="in" filter="dissolve">
                                      <p:cBhvr>
                                        <p:cTn id="21" dur="500"/>
                                        <p:tgtEl>
                                          <p:spTgt spid="73"/>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74"/>
                                        </p:tgtEl>
                                        <p:attrNameLst>
                                          <p:attrName>style.visibility</p:attrName>
                                        </p:attrNameLst>
                                      </p:cBhvr>
                                      <p:to>
                                        <p:strVal val="visible"/>
                                      </p:to>
                                    </p:set>
                                    <p:animEffect transition="in" filter="dissolve">
                                      <p:cBhvr>
                                        <p:cTn id="24" dur="500"/>
                                        <p:tgtEl>
                                          <p:spTgt spid="74"/>
                                        </p:tgtEl>
                                      </p:cBhvr>
                                    </p:animEffect>
                                  </p:childTnLst>
                                </p:cTn>
                              </p:par>
                            </p:childTnLst>
                          </p:cTn>
                        </p:par>
                        <p:par>
                          <p:cTn id="25" fill="hold" nodeType="afterGroup">
                            <p:stCondLst>
                              <p:cond delay="1000"/>
                            </p:stCondLst>
                            <p:childTnLst>
                              <p:par>
                                <p:cTn id="26" presetID="22" presetClass="entr" presetSubtype="2" fill="hold" nodeType="after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right)">
                                      <p:cBhvr>
                                        <p:cTn id="28" dur="500"/>
                                        <p:tgtEl>
                                          <p:spTgt spid="8"/>
                                        </p:tgtEl>
                                      </p:cBhvr>
                                    </p:animEffect>
                                  </p:childTnLst>
                                </p:cTn>
                              </p:par>
                            </p:childTnLst>
                          </p:cTn>
                        </p:par>
                        <p:par>
                          <p:cTn id="29" fill="hold" nodeType="afterGroup">
                            <p:stCondLst>
                              <p:cond delay="1500"/>
                            </p:stCondLst>
                            <p:childTnLst>
                              <p:par>
                                <p:cTn id="30" presetID="35" presetClass="emph" presetSubtype="0" repeatCount="3000" fill="hold" nodeType="afterEffect">
                                  <p:stCondLst>
                                    <p:cond delay="0"/>
                                  </p:stCondLst>
                                  <p:childTnLst>
                                    <p:anim calcmode="discrete" valueType="str">
                                      <p:cBhvr>
                                        <p:cTn id="31"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9" presetClass="entr" presetSubtype="0" fill="hold" nodeType="click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dissolve">
                                      <p:cBhvr>
                                        <p:cTn id="36" dur="500"/>
                                        <p:tgtEl>
                                          <p:spTgt spid="2"/>
                                        </p:tgtEl>
                                      </p:cBhvr>
                                    </p:animEffect>
                                  </p:childTnLst>
                                </p:cTn>
                              </p:par>
                            </p:childTnLst>
                          </p:cTn>
                        </p:par>
                        <p:par>
                          <p:cTn id="37" fill="hold" nodeType="afterGroup">
                            <p:stCondLst>
                              <p:cond delay="500"/>
                            </p:stCondLst>
                            <p:childTnLst>
                              <p:par>
                                <p:cTn id="38" presetID="3" presetClass="entr" presetSubtype="10" fill="hold" grpId="0" nodeType="afterEffect">
                                  <p:stCondLst>
                                    <p:cond delay="0"/>
                                  </p:stCondLst>
                                  <p:childTnLst>
                                    <p:set>
                                      <p:cBhvr>
                                        <p:cTn id="39" dur="1" fill="hold">
                                          <p:stCondLst>
                                            <p:cond delay="0"/>
                                          </p:stCondLst>
                                        </p:cTn>
                                        <p:tgtEl>
                                          <p:spTgt spid="17411"/>
                                        </p:tgtEl>
                                        <p:attrNameLst>
                                          <p:attrName>style.visibility</p:attrName>
                                        </p:attrNameLst>
                                      </p:cBhvr>
                                      <p:to>
                                        <p:strVal val="visible"/>
                                      </p:to>
                                    </p:set>
                                    <p:animEffect transition="in" filter="blinds(horizontal)">
                                      <p:cBhvr>
                                        <p:cTn id="40" dur="500"/>
                                        <p:tgtEl>
                                          <p:spTgt spid="17411"/>
                                        </p:tgtEl>
                                      </p:cBhvr>
                                    </p:animEffect>
                                  </p:childTnLst>
                                </p:cTn>
                              </p:par>
                              <p:par>
                                <p:cTn id="41" presetID="3" presetClass="entr" presetSubtype="10" fill="hold" nodeType="withEffect">
                                  <p:stCondLst>
                                    <p:cond delay="0"/>
                                  </p:stCondLst>
                                  <p:childTnLst>
                                    <p:set>
                                      <p:cBhvr>
                                        <p:cTn id="42" dur="1" fill="hold">
                                          <p:stCondLst>
                                            <p:cond delay="0"/>
                                          </p:stCondLst>
                                        </p:cTn>
                                        <p:tgtEl>
                                          <p:spTgt spid="17412"/>
                                        </p:tgtEl>
                                        <p:attrNameLst>
                                          <p:attrName>style.visibility</p:attrName>
                                        </p:attrNameLst>
                                      </p:cBhvr>
                                      <p:to>
                                        <p:strVal val="visible"/>
                                      </p:to>
                                    </p:set>
                                    <p:animEffect transition="in" filter="blinds(horizontal)">
                                      <p:cBhvr>
                                        <p:cTn id="43" dur="500"/>
                                        <p:tgtEl>
                                          <p:spTgt spid="17412"/>
                                        </p:tgtEl>
                                      </p:cBhvr>
                                    </p:animEffect>
                                  </p:childTnLst>
                                </p:cTn>
                              </p:par>
                            </p:childTnLst>
                          </p:cTn>
                        </p:par>
                        <p:par>
                          <p:cTn id="44" fill="hold" nodeType="afterGroup">
                            <p:stCondLst>
                              <p:cond delay="1000"/>
                            </p:stCondLst>
                            <p:childTnLst>
                              <p:par>
                                <p:cTn id="45" presetID="3" presetClass="entr" presetSubtype="10" fill="hold" grpId="0" nodeType="afterEffect">
                                  <p:stCondLst>
                                    <p:cond delay="0"/>
                                  </p:stCondLst>
                                  <p:childTnLst>
                                    <p:set>
                                      <p:cBhvr>
                                        <p:cTn id="46" dur="1" fill="hold">
                                          <p:stCondLst>
                                            <p:cond delay="0"/>
                                          </p:stCondLst>
                                        </p:cTn>
                                        <p:tgtEl>
                                          <p:spTgt spid="17414"/>
                                        </p:tgtEl>
                                        <p:attrNameLst>
                                          <p:attrName>style.visibility</p:attrName>
                                        </p:attrNameLst>
                                      </p:cBhvr>
                                      <p:to>
                                        <p:strVal val="visible"/>
                                      </p:to>
                                    </p:set>
                                    <p:animEffect transition="in" filter="blinds(horizontal)">
                                      <p:cBhvr>
                                        <p:cTn id="47" dur="500"/>
                                        <p:tgtEl>
                                          <p:spTgt spid="17414"/>
                                        </p:tgtEl>
                                      </p:cBhvr>
                                    </p:animEffect>
                                  </p:childTnLst>
                                </p:cTn>
                              </p:par>
                              <p:par>
                                <p:cTn id="48" presetID="3" presetClass="entr" presetSubtype="10" fill="hold" nodeType="withEffect">
                                  <p:stCondLst>
                                    <p:cond delay="0"/>
                                  </p:stCondLst>
                                  <p:childTnLst>
                                    <p:set>
                                      <p:cBhvr>
                                        <p:cTn id="49" dur="1" fill="hold">
                                          <p:stCondLst>
                                            <p:cond delay="0"/>
                                          </p:stCondLst>
                                        </p:cTn>
                                        <p:tgtEl>
                                          <p:spTgt spid="17413"/>
                                        </p:tgtEl>
                                        <p:attrNameLst>
                                          <p:attrName>style.visibility</p:attrName>
                                        </p:attrNameLst>
                                      </p:cBhvr>
                                      <p:to>
                                        <p:strVal val="visible"/>
                                      </p:to>
                                    </p:set>
                                    <p:animEffect transition="in" filter="blinds(horizontal)">
                                      <p:cBhvr>
                                        <p:cTn id="50" dur="500"/>
                                        <p:tgtEl>
                                          <p:spTgt spid="17413"/>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7415"/>
                                        </p:tgtEl>
                                        <p:attrNameLst>
                                          <p:attrName>style.visibility</p:attrName>
                                        </p:attrNameLst>
                                      </p:cBhvr>
                                      <p:to>
                                        <p:strVal val="visible"/>
                                      </p:to>
                                    </p:set>
                                    <p:animEffect transition="in" filter="blinds(horizontal)">
                                      <p:cBhvr>
                                        <p:cTn id="55" dur="500"/>
                                        <p:tgtEl>
                                          <p:spTgt spid="17415"/>
                                        </p:tgtEl>
                                      </p:cBhvr>
                                    </p:animEffect>
                                  </p:childTnLst>
                                </p:cTn>
                              </p:par>
                            </p:childTnLst>
                          </p:cTn>
                        </p:par>
                        <p:par>
                          <p:cTn id="56" fill="hold" nodeType="afterGroup">
                            <p:stCondLst>
                              <p:cond delay="500"/>
                            </p:stCondLst>
                            <p:childTnLst>
                              <p:par>
                                <p:cTn id="57" presetID="22" presetClass="entr" presetSubtype="8" fill="hold" nodeType="afterEffect">
                                  <p:stCondLst>
                                    <p:cond delay="0"/>
                                  </p:stCondLst>
                                  <p:childTnLst>
                                    <p:set>
                                      <p:cBhvr>
                                        <p:cTn id="58" dur="1" fill="hold">
                                          <p:stCondLst>
                                            <p:cond delay="0"/>
                                          </p:stCondLst>
                                        </p:cTn>
                                        <p:tgtEl>
                                          <p:spTgt spid="21524"/>
                                        </p:tgtEl>
                                        <p:attrNameLst>
                                          <p:attrName>style.visibility</p:attrName>
                                        </p:attrNameLst>
                                      </p:cBhvr>
                                      <p:to>
                                        <p:strVal val="visible"/>
                                      </p:to>
                                    </p:set>
                                    <p:animEffect transition="in" filter="wipe(left)">
                                      <p:cBhvr>
                                        <p:cTn id="59" dur="500"/>
                                        <p:tgtEl>
                                          <p:spTgt spid="21524"/>
                                        </p:tgtEl>
                                      </p:cBhvr>
                                    </p:animEffect>
                                  </p:childTnLst>
                                </p:cTn>
                              </p:par>
                            </p:childTnLst>
                          </p:cTn>
                        </p:par>
                        <p:par>
                          <p:cTn id="60" fill="hold" nodeType="afterGroup">
                            <p:stCondLst>
                              <p:cond delay="1000"/>
                            </p:stCondLst>
                            <p:childTnLst>
                              <p:par>
                                <p:cTn id="61" presetID="3" presetClass="entr" presetSubtype="10" fill="hold" grpId="0" nodeType="afterEffect">
                                  <p:stCondLst>
                                    <p:cond delay="0"/>
                                  </p:stCondLst>
                                  <p:childTnLst>
                                    <p:set>
                                      <p:cBhvr>
                                        <p:cTn id="62" dur="1" fill="hold">
                                          <p:stCondLst>
                                            <p:cond delay="0"/>
                                          </p:stCondLst>
                                        </p:cTn>
                                        <p:tgtEl>
                                          <p:spTgt spid="17416"/>
                                        </p:tgtEl>
                                        <p:attrNameLst>
                                          <p:attrName>style.visibility</p:attrName>
                                        </p:attrNameLst>
                                      </p:cBhvr>
                                      <p:to>
                                        <p:strVal val="visible"/>
                                      </p:to>
                                    </p:set>
                                    <p:animEffect transition="in" filter="blinds(horizontal)">
                                      <p:cBhvr>
                                        <p:cTn id="63" dur="500"/>
                                        <p:tgtEl>
                                          <p:spTgt spid="174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autoUpdateAnimBg="0"/>
      <p:bldP spid="17411" grpId="0"/>
      <p:bldP spid="17414" grpId="0" autoUpdateAnimBg="0"/>
      <p:bldP spid="17415" grpId="0"/>
      <p:bldP spid="17416" grpId="0"/>
      <p:bldP spid="71" grpId="0" animBg="1" autoUpdateAnimBg="0"/>
      <p:bldP spid="72" grpId="0" animBg="1" autoUpdateAnimBg="0"/>
      <p:bldP spid="74" grpId="0" animBg="1"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p:nvPr/>
        </p:nvSpPr>
        <p:spPr>
          <a:xfrm>
            <a:off x="285750" y="3409950"/>
            <a:ext cx="6157913" cy="519113"/>
          </a:xfrm>
          <a:prstGeom prst="rect">
            <a:avLst/>
          </a:prstGeom>
          <a:noFill/>
          <a:ln w="9525">
            <a:noFill/>
          </a:ln>
        </p:spPr>
        <p:txBody>
          <a:bodyPr>
            <a:spAutoFit/>
          </a:bodyPr>
          <a:lstStyle/>
          <a:p>
            <a:r>
              <a:rPr lang="zh-CN" altLang="en-US" sz="2800" b="0" dirty="0">
                <a:solidFill>
                  <a:srgbClr val="FFFF00"/>
                </a:solidFill>
                <a:latin typeface="华文中宋" panose="02010600040101010101" pitchFamily="2" charset="-122"/>
                <a:ea typeface="华文中宋" panose="02010600040101010101" pitchFamily="2" charset="-122"/>
              </a:rPr>
              <a:t>三</a:t>
            </a:r>
            <a:r>
              <a:rPr lang="zh-CN" altLang="zh-CN" sz="2800" b="0" dirty="0">
                <a:solidFill>
                  <a:srgbClr val="FFFF00"/>
                </a:solidFill>
                <a:latin typeface="华文中宋" panose="02010600040101010101" pitchFamily="2" charset="-122"/>
                <a:ea typeface="华文中宋" panose="02010600040101010101" pitchFamily="2" charset="-122"/>
              </a:rPr>
              <a:t>. </a:t>
            </a:r>
            <a:r>
              <a:rPr lang="zh-CN" altLang="en-US" sz="2800" b="0" dirty="0">
                <a:solidFill>
                  <a:srgbClr val="FFFF00"/>
                </a:solidFill>
                <a:latin typeface="华文中宋" panose="02010600040101010101" pitchFamily="2" charset="-122"/>
                <a:ea typeface="华文中宋" panose="02010600040101010101" pitchFamily="2" charset="-122"/>
              </a:rPr>
              <a:t>经典物理与实验规律的矛盾 </a:t>
            </a:r>
          </a:p>
        </p:txBody>
      </p:sp>
      <p:sp>
        <p:nvSpPr>
          <p:cNvPr id="27651" name="Rectangle 3"/>
          <p:cNvSpPr/>
          <p:nvPr/>
        </p:nvSpPr>
        <p:spPr>
          <a:xfrm>
            <a:off x="700088" y="4035425"/>
            <a:ext cx="7988300" cy="1006475"/>
          </a:xfrm>
          <a:prstGeom prst="rect">
            <a:avLst/>
          </a:prstGeom>
          <a:noFill/>
          <a:ln w="9525">
            <a:noFill/>
          </a:ln>
        </p:spPr>
        <p:txBody>
          <a:bodyPr>
            <a:spAutoFit/>
          </a:bodyPr>
          <a:lstStyle/>
          <a:p>
            <a:pPr>
              <a:lnSpc>
                <a:spcPct val="125000"/>
              </a:lnSpc>
              <a:buClr>
                <a:srgbClr val="00FF99"/>
              </a:buClr>
              <a:buFont typeface="Arial" panose="020B0604020202020204" pitchFamily="34" charset="0"/>
              <a:buChar char="•"/>
            </a:pPr>
            <a:r>
              <a:rPr lang="zh-CN" altLang="zh-CN" b="0" dirty="0">
                <a:solidFill>
                  <a:schemeClr val="bg1"/>
                </a:solidFill>
                <a:latin typeface="Times New Roman" panose="02020603050405020304" pitchFamily="18" charset="0"/>
              </a:rPr>
              <a:t> </a:t>
            </a:r>
            <a:r>
              <a:rPr lang="zh-CN" altLang="en-US" b="0" dirty="0">
                <a:solidFill>
                  <a:schemeClr val="hlink"/>
                </a:solidFill>
                <a:latin typeface="Times New Roman" panose="02020603050405020304" pitchFamily="18" charset="0"/>
                <a:ea typeface="华文中宋" panose="02010600040101010101" pitchFamily="2" charset="-122"/>
              </a:rPr>
              <a:t>电子在电磁波作用下作受迫振动，直到获得足够能量</a:t>
            </a:r>
            <a:r>
              <a:rPr lang="zh-CN" altLang="zh-CN" b="0" dirty="0">
                <a:solidFill>
                  <a:schemeClr val="hlink"/>
                </a:solidFill>
                <a:latin typeface="Times New Roman" panose="02020603050405020304" pitchFamily="18" charset="0"/>
              </a:rPr>
              <a:t>(</a:t>
            </a:r>
            <a:r>
              <a:rPr lang="zh-CN" altLang="en-US" b="0" dirty="0">
                <a:solidFill>
                  <a:schemeClr val="hlink"/>
                </a:solidFill>
                <a:latin typeface="华文中宋" panose="02010600040101010101" pitchFamily="2" charset="-122"/>
                <a:ea typeface="华文中宋" panose="02010600040101010101" pitchFamily="2" charset="-122"/>
              </a:rPr>
              <a:t>与</a:t>
            </a:r>
          </a:p>
          <a:p>
            <a:pPr>
              <a:lnSpc>
                <a:spcPct val="125000"/>
              </a:lnSpc>
            </a:pPr>
            <a:r>
              <a:rPr lang="zh-CN" altLang="zh-CN" b="0" dirty="0">
                <a:solidFill>
                  <a:schemeClr val="hlink"/>
                </a:solidFill>
                <a:latin typeface="华文中宋" panose="02010600040101010101" pitchFamily="2" charset="-122"/>
                <a:ea typeface="华文中宋" panose="02010600040101010101" pitchFamily="2" charset="-122"/>
              </a:rPr>
              <a:t>   </a:t>
            </a:r>
            <a:r>
              <a:rPr lang="zh-CN" altLang="en-US" b="0" dirty="0">
                <a:solidFill>
                  <a:schemeClr val="hlink"/>
                </a:solidFill>
                <a:latin typeface="华文中宋" panose="02010600040101010101" pitchFamily="2" charset="-122"/>
                <a:ea typeface="华文中宋" panose="02010600040101010101" pitchFamily="2" charset="-122"/>
              </a:rPr>
              <a:t>光强</a:t>
            </a:r>
            <a:r>
              <a:rPr lang="zh-CN" altLang="en-US" b="0" dirty="0">
                <a:solidFill>
                  <a:schemeClr val="bg1"/>
                </a:solidFill>
                <a:latin typeface="Times New Roman" panose="02020603050405020304" pitchFamily="18" charset="0"/>
              </a:rPr>
              <a:t> </a:t>
            </a:r>
            <a:r>
              <a:rPr lang="zh-CN" altLang="zh-CN" b="0" i="1" dirty="0">
                <a:solidFill>
                  <a:srgbClr val="66FFFF"/>
                </a:solidFill>
                <a:latin typeface="Times New Roman" panose="02020603050405020304" pitchFamily="18" charset="0"/>
              </a:rPr>
              <a:t>I  </a:t>
            </a:r>
            <a:r>
              <a:rPr lang="zh-CN" altLang="en-US" b="0" dirty="0">
                <a:solidFill>
                  <a:schemeClr val="hlink"/>
                </a:solidFill>
                <a:latin typeface="Times New Roman" panose="02020603050405020304" pitchFamily="18" charset="0"/>
                <a:ea typeface="华文中宋" panose="02010600040101010101" pitchFamily="2" charset="-122"/>
              </a:rPr>
              <a:t>有关</a:t>
            </a:r>
            <a:r>
              <a:rPr lang="zh-CN" altLang="zh-CN" b="0" dirty="0">
                <a:solidFill>
                  <a:schemeClr val="hlink"/>
                </a:solidFill>
                <a:latin typeface="Times New Roman" panose="02020603050405020304" pitchFamily="18" charset="0"/>
              </a:rPr>
              <a:t>) </a:t>
            </a:r>
            <a:r>
              <a:rPr lang="zh-CN" altLang="en-US" b="0" dirty="0">
                <a:solidFill>
                  <a:schemeClr val="hlink"/>
                </a:solidFill>
                <a:latin typeface="Times New Roman" panose="02020603050405020304" pitchFamily="18" charset="0"/>
                <a:ea typeface="华文中宋" panose="02010600040101010101" pitchFamily="2" charset="-122"/>
              </a:rPr>
              <a:t>逸出，不应存在截止</a:t>
            </a:r>
            <a:r>
              <a:rPr lang="zh-CN" altLang="en-US" b="0" dirty="0">
                <a:solidFill>
                  <a:schemeClr val="bg1"/>
                </a:solidFill>
                <a:latin typeface="Times New Roman" panose="02020603050405020304" pitchFamily="18" charset="0"/>
              </a:rPr>
              <a:t> </a:t>
            </a:r>
            <a:r>
              <a:rPr lang="zh-CN" altLang="en-US" b="0" i="1" dirty="0">
                <a:solidFill>
                  <a:srgbClr val="66FFFF"/>
                </a:solidFill>
                <a:latin typeface="Times New Roman" panose="02020603050405020304" pitchFamily="18" charset="0"/>
                <a:sym typeface="Symbol" panose="05050102010706020507" pitchFamily="18" charset="2"/>
              </a:rPr>
              <a:t></a:t>
            </a:r>
            <a:r>
              <a:rPr lang="zh-CN" altLang="zh-CN" b="0" baseline="-25000" dirty="0">
                <a:solidFill>
                  <a:srgbClr val="66FFFF"/>
                </a:solidFill>
                <a:latin typeface="Times New Roman" panose="02020603050405020304" pitchFamily="18" charset="0"/>
                <a:sym typeface="Symbol" panose="05050102010706020507" pitchFamily="18" charset="2"/>
              </a:rPr>
              <a:t>0  </a:t>
            </a:r>
            <a:r>
              <a:rPr lang="zh-CN" altLang="en-US" b="0" dirty="0">
                <a:solidFill>
                  <a:schemeClr val="hlink"/>
                </a:solidFill>
                <a:latin typeface="Times New Roman" panose="02020603050405020304" pitchFamily="18" charset="0"/>
              </a:rPr>
              <a:t>。</a:t>
            </a:r>
          </a:p>
        </p:txBody>
      </p:sp>
      <p:sp>
        <p:nvSpPr>
          <p:cNvPr id="27652" name="Rectangle 4"/>
          <p:cNvSpPr/>
          <p:nvPr/>
        </p:nvSpPr>
        <p:spPr>
          <a:xfrm>
            <a:off x="719138" y="5608638"/>
            <a:ext cx="8210550" cy="573087"/>
          </a:xfrm>
          <a:prstGeom prst="rect">
            <a:avLst/>
          </a:prstGeom>
          <a:noFill/>
          <a:ln w="9525">
            <a:noFill/>
          </a:ln>
        </p:spPr>
        <p:txBody>
          <a:bodyPr>
            <a:spAutoFit/>
          </a:bodyPr>
          <a:lstStyle/>
          <a:p>
            <a:pPr marL="177800" indent="-177800">
              <a:lnSpc>
                <a:spcPct val="130000"/>
              </a:lnSpc>
              <a:buClr>
                <a:srgbClr val="00FF99"/>
              </a:buClr>
              <a:buFont typeface="Arial" panose="020B0604020202020204" pitchFamily="34" charset="0"/>
              <a:buChar char="•"/>
            </a:pPr>
            <a:r>
              <a:rPr lang="zh-CN" altLang="en-US" b="0" dirty="0">
                <a:solidFill>
                  <a:schemeClr val="hlink"/>
                </a:solidFill>
                <a:latin typeface="Times New Roman" panose="02020603050405020304" pitchFamily="18" charset="0"/>
                <a:ea typeface="华文中宋" panose="02010600040101010101" pitchFamily="2" charset="-122"/>
              </a:rPr>
              <a:t>当光强很小时，电子要逸出，必须经较长时间的能量积累</a:t>
            </a:r>
          </a:p>
        </p:txBody>
      </p:sp>
      <p:sp>
        <p:nvSpPr>
          <p:cNvPr id="27653" name="Text Box 5"/>
          <p:cNvSpPr txBox="1"/>
          <p:nvPr/>
        </p:nvSpPr>
        <p:spPr>
          <a:xfrm>
            <a:off x="727075" y="1042988"/>
            <a:ext cx="7988300" cy="457200"/>
          </a:xfrm>
          <a:prstGeom prst="rect">
            <a:avLst/>
          </a:prstGeom>
          <a:noFill/>
          <a:ln w="9525">
            <a:noFill/>
          </a:ln>
        </p:spPr>
        <p:txBody>
          <a:bodyPr>
            <a:spAutoFit/>
          </a:bodyPr>
          <a:lstStyle/>
          <a:p>
            <a:pPr>
              <a:buClr>
                <a:srgbClr val="00FF99"/>
              </a:buClr>
              <a:buFont typeface="Arial" panose="020B0604020202020204" pitchFamily="34" charset="0"/>
              <a:buChar char="•"/>
            </a:pPr>
            <a:r>
              <a:rPr lang="zh-CN" altLang="zh-CN" b="0" dirty="0">
                <a:solidFill>
                  <a:schemeClr val="bg1"/>
                </a:solidFill>
                <a:latin typeface="Times New Roman" panose="02020603050405020304" pitchFamily="18" charset="0"/>
              </a:rPr>
              <a:t> </a:t>
            </a:r>
            <a:r>
              <a:rPr lang="zh-CN" altLang="en-US" b="0" dirty="0">
                <a:solidFill>
                  <a:schemeClr val="hlink"/>
                </a:solidFill>
                <a:latin typeface="Times New Roman" panose="02020603050405020304" pitchFamily="18" charset="0"/>
                <a:ea typeface="华文中宋" panose="02010600040101010101" pitchFamily="2" charset="-122"/>
              </a:rPr>
              <a:t>只有光的频率</a:t>
            </a:r>
            <a:r>
              <a:rPr lang="zh-CN" altLang="en-US" b="0" dirty="0">
                <a:solidFill>
                  <a:schemeClr val="bg1"/>
                </a:solidFill>
                <a:latin typeface="Times New Roman" panose="02020603050405020304" pitchFamily="18" charset="0"/>
              </a:rPr>
              <a:t> </a:t>
            </a:r>
            <a:r>
              <a:rPr lang="zh-CN" altLang="en-US" i="1" dirty="0">
                <a:solidFill>
                  <a:srgbClr val="66FFFF"/>
                </a:solidFill>
                <a:latin typeface="Times New Roman" panose="02020603050405020304" pitchFamily="18" charset="0"/>
                <a:sym typeface="Symbol" panose="05050102010706020507" pitchFamily="18" charset="2"/>
              </a:rPr>
              <a:t> </a:t>
            </a:r>
            <a:r>
              <a:rPr lang="zh-CN" altLang="en-US" dirty="0">
                <a:solidFill>
                  <a:srgbClr val="66FFFF"/>
                </a:solidFill>
                <a:latin typeface="Times New Roman" panose="02020603050405020304" pitchFamily="18" charset="0"/>
                <a:sym typeface="Symbol" panose="05050102010706020507" pitchFamily="18" charset="2"/>
              </a:rPr>
              <a:t> </a:t>
            </a:r>
            <a:r>
              <a:rPr lang="zh-CN" altLang="en-US" i="1" dirty="0">
                <a:solidFill>
                  <a:srgbClr val="66FFFF"/>
                </a:solidFill>
                <a:latin typeface="Times New Roman" panose="02020603050405020304" pitchFamily="18" charset="0"/>
                <a:sym typeface="Symbol" panose="05050102010706020507" pitchFamily="18" charset="2"/>
              </a:rPr>
              <a:t></a:t>
            </a:r>
            <a:r>
              <a:rPr lang="zh-CN" altLang="zh-CN" baseline="-22000" dirty="0">
                <a:solidFill>
                  <a:srgbClr val="66FFFF"/>
                </a:solidFill>
                <a:latin typeface="Times New Roman" panose="02020603050405020304" pitchFamily="18" charset="0"/>
                <a:sym typeface="Symbol" panose="05050102010706020507" pitchFamily="18" charset="2"/>
              </a:rPr>
              <a:t>0</a:t>
            </a:r>
            <a:r>
              <a:rPr lang="zh-CN" altLang="zh-CN" b="0" i="1" baseline="-22000" dirty="0">
                <a:solidFill>
                  <a:srgbClr val="66FFFF"/>
                </a:solidFill>
                <a:latin typeface="Times New Roman" panose="02020603050405020304" pitchFamily="18" charset="0"/>
                <a:sym typeface="Symbol" panose="05050102010706020507" pitchFamily="18" charset="2"/>
              </a:rPr>
              <a:t> </a:t>
            </a:r>
            <a:r>
              <a:rPr lang="zh-CN" altLang="en-US" b="0" dirty="0">
                <a:solidFill>
                  <a:schemeClr val="hlink"/>
                </a:solidFill>
                <a:latin typeface="Times New Roman" panose="02020603050405020304" pitchFamily="18" charset="0"/>
                <a:ea typeface="华文中宋" panose="02010600040101010101" pitchFamily="2" charset="-122"/>
              </a:rPr>
              <a:t>时，电子才会逸出</a:t>
            </a:r>
            <a:r>
              <a:rPr lang="zh-CN" altLang="en-US" b="0" dirty="0">
                <a:solidFill>
                  <a:schemeClr val="hlink"/>
                </a:solidFill>
                <a:latin typeface="Times New Roman" panose="02020603050405020304" pitchFamily="18" charset="0"/>
              </a:rPr>
              <a:t>。</a:t>
            </a:r>
            <a:endParaRPr lang="zh-CN" altLang="en-US" b="0" i="1" baseline="-22000" dirty="0">
              <a:solidFill>
                <a:schemeClr val="hlink"/>
              </a:solidFill>
              <a:latin typeface="Times New Roman" panose="02020603050405020304" pitchFamily="18" charset="0"/>
            </a:endParaRPr>
          </a:p>
        </p:txBody>
      </p:sp>
      <p:sp>
        <p:nvSpPr>
          <p:cNvPr id="27654" name="Rectangle 6"/>
          <p:cNvSpPr/>
          <p:nvPr/>
        </p:nvSpPr>
        <p:spPr>
          <a:xfrm>
            <a:off x="727075" y="2220913"/>
            <a:ext cx="7773988" cy="461962"/>
          </a:xfrm>
          <a:prstGeom prst="rect">
            <a:avLst/>
          </a:prstGeom>
          <a:noFill/>
          <a:ln w="9525">
            <a:noFill/>
          </a:ln>
        </p:spPr>
        <p:txBody>
          <a:bodyPr>
            <a:spAutoFit/>
          </a:bodyPr>
          <a:lstStyle/>
          <a:p>
            <a:pPr>
              <a:buClr>
                <a:srgbClr val="00FF99"/>
              </a:buClr>
              <a:buFont typeface="Arial" panose="020B0604020202020204" pitchFamily="34" charset="0"/>
              <a:buChar char="•"/>
            </a:pPr>
            <a:r>
              <a:rPr lang="zh-CN" altLang="zh-CN" b="0" dirty="0">
                <a:solidFill>
                  <a:schemeClr val="bg1"/>
                </a:solidFill>
                <a:latin typeface="Times New Roman" panose="02020603050405020304" pitchFamily="18" charset="0"/>
              </a:rPr>
              <a:t> </a:t>
            </a:r>
            <a:r>
              <a:rPr lang="zh-CN" altLang="en-US" b="0" dirty="0">
                <a:solidFill>
                  <a:schemeClr val="hlink"/>
                </a:solidFill>
                <a:latin typeface="Times New Roman" panose="02020603050405020304" pitchFamily="18" charset="0"/>
                <a:ea typeface="华文中宋" panose="02010600040101010101" pitchFamily="2" charset="-122"/>
              </a:rPr>
              <a:t>逸出光电子的多少（饱和电流）取决于光强</a:t>
            </a:r>
            <a:r>
              <a:rPr lang="zh-CN" altLang="en-US" b="0" dirty="0">
                <a:solidFill>
                  <a:schemeClr val="bg1"/>
                </a:solidFill>
                <a:latin typeface="Times New Roman" panose="02020603050405020304" pitchFamily="18" charset="0"/>
              </a:rPr>
              <a:t> </a:t>
            </a:r>
            <a:r>
              <a:rPr lang="zh-CN" altLang="zh-CN" b="0" i="1" dirty="0">
                <a:solidFill>
                  <a:srgbClr val="66FFFF"/>
                </a:solidFill>
                <a:latin typeface="Times New Roman" panose="02020603050405020304" pitchFamily="18" charset="0"/>
              </a:rPr>
              <a:t>I</a:t>
            </a:r>
            <a:r>
              <a:rPr lang="zh-CN" altLang="zh-CN" dirty="0">
                <a:latin typeface="Times New Roman" panose="02020603050405020304" pitchFamily="18" charset="0"/>
              </a:rPr>
              <a:t> </a:t>
            </a:r>
            <a:r>
              <a:rPr lang="zh-CN" altLang="en-US" b="0" dirty="0">
                <a:solidFill>
                  <a:schemeClr val="hlink"/>
                </a:solidFill>
                <a:latin typeface="Times New Roman" panose="02020603050405020304" pitchFamily="18" charset="0"/>
              </a:rPr>
              <a:t>。</a:t>
            </a:r>
          </a:p>
        </p:txBody>
      </p:sp>
      <p:sp>
        <p:nvSpPr>
          <p:cNvPr id="27655" name="Rectangle 7"/>
          <p:cNvSpPr/>
          <p:nvPr/>
        </p:nvSpPr>
        <p:spPr>
          <a:xfrm>
            <a:off x="727075" y="2779713"/>
            <a:ext cx="7040563" cy="457200"/>
          </a:xfrm>
          <a:prstGeom prst="rect">
            <a:avLst/>
          </a:prstGeom>
          <a:noFill/>
          <a:ln w="9525">
            <a:noFill/>
          </a:ln>
        </p:spPr>
        <p:txBody>
          <a:bodyPr>
            <a:spAutoFit/>
          </a:bodyPr>
          <a:lstStyle/>
          <a:p>
            <a:pPr>
              <a:buClr>
                <a:srgbClr val="00FF99"/>
              </a:buClr>
              <a:buFont typeface="Arial" panose="020B0604020202020204" pitchFamily="34" charset="0"/>
              <a:buChar char="•"/>
            </a:pPr>
            <a:r>
              <a:rPr lang="zh-CN" altLang="zh-CN" b="0" dirty="0">
                <a:solidFill>
                  <a:schemeClr val="bg1"/>
                </a:solidFill>
                <a:latin typeface="Times New Roman" panose="02020603050405020304" pitchFamily="18" charset="0"/>
              </a:rPr>
              <a:t> </a:t>
            </a:r>
            <a:r>
              <a:rPr lang="zh-CN" altLang="en-US" b="0" dirty="0">
                <a:solidFill>
                  <a:schemeClr val="hlink"/>
                </a:solidFill>
                <a:latin typeface="Times New Roman" panose="02020603050405020304" pitchFamily="18" charset="0"/>
                <a:ea typeface="华文中宋" panose="02010600040101010101" pitchFamily="2" charset="-122"/>
              </a:rPr>
              <a:t>光电子即时发射，滞后时间不超过</a:t>
            </a:r>
            <a:r>
              <a:rPr lang="zh-CN" altLang="en-US" b="0" dirty="0">
                <a:solidFill>
                  <a:schemeClr val="bg1"/>
                </a:solidFill>
                <a:latin typeface="Times New Roman" panose="02020603050405020304" pitchFamily="18" charset="0"/>
              </a:rPr>
              <a:t> </a:t>
            </a:r>
            <a:r>
              <a:rPr lang="zh-CN" altLang="zh-CN" dirty="0">
                <a:solidFill>
                  <a:srgbClr val="00FFFF"/>
                </a:solidFill>
                <a:latin typeface="Times New Roman" panose="02020603050405020304" pitchFamily="18" charset="0"/>
              </a:rPr>
              <a:t>10</a:t>
            </a:r>
            <a:r>
              <a:rPr lang="zh-CN" altLang="zh-CN" baseline="30000" dirty="0">
                <a:solidFill>
                  <a:srgbClr val="00FFFF"/>
                </a:solidFill>
                <a:latin typeface="Times New Roman" panose="02020603050405020304" pitchFamily="18" charset="0"/>
                <a:cs typeface="Times New Roman" panose="02020603050405020304" pitchFamily="18" charset="0"/>
              </a:rPr>
              <a:t>–</a:t>
            </a:r>
            <a:r>
              <a:rPr lang="zh-CN" altLang="zh-CN" baseline="30000" dirty="0">
                <a:solidFill>
                  <a:srgbClr val="00FFFF"/>
                </a:solidFill>
                <a:latin typeface="Times New Roman" panose="02020603050405020304" pitchFamily="18" charset="0"/>
              </a:rPr>
              <a:t>9</a:t>
            </a:r>
            <a:r>
              <a:rPr lang="zh-CN" altLang="zh-CN" b="0" dirty="0">
                <a:solidFill>
                  <a:schemeClr val="bg1"/>
                </a:solidFill>
                <a:latin typeface="Times New Roman" panose="02020603050405020304" pitchFamily="18" charset="0"/>
              </a:rPr>
              <a:t> </a:t>
            </a:r>
            <a:r>
              <a:rPr lang="zh-CN" altLang="en-US" b="0" dirty="0">
                <a:solidFill>
                  <a:schemeClr val="hlink"/>
                </a:solidFill>
                <a:latin typeface="Times New Roman" panose="02020603050405020304" pitchFamily="18" charset="0"/>
                <a:ea typeface="华文中宋" panose="02010600040101010101" pitchFamily="2" charset="-122"/>
              </a:rPr>
              <a:t>秒</a:t>
            </a:r>
            <a:r>
              <a:rPr lang="zh-CN" altLang="en-US" b="0" dirty="0">
                <a:solidFill>
                  <a:schemeClr val="hlink"/>
                </a:solidFill>
                <a:latin typeface="Times New Roman" panose="02020603050405020304" pitchFamily="18" charset="0"/>
                <a:sym typeface="Symbol" panose="05050102010706020507" pitchFamily="18" charset="2"/>
              </a:rPr>
              <a:t>。</a:t>
            </a:r>
          </a:p>
        </p:txBody>
      </p:sp>
      <p:sp>
        <p:nvSpPr>
          <p:cNvPr id="27656" name="Rectangle 8"/>
          <p:cNvSpPr/>
          <p:nvPr/>
        </p:nvSpPr>
        <p:spPr>
          <a:xfrm>
            <a:off x="611560" y="476672"/>
            <a:ext cx="4058344" cy="461665"/>
          </a:xfrm>
          <a:prstGeom prst="rect">
            <a:avLst/>
          </a:prstGeom>
          <a:noFill/>
          <a:ln w="9525">
            <a:noFill/>
          </a:ln>
        </p:spPr>
        <p:txBody>
          <a:bodyPr wrap="square">
            <a:spAutoFit/>
          </a:bodyPr>
          <a:lstStyle/>
          <a:p>
            <a:r>
              <a:rPr lang="zh-CN" altLang="en-US" b="0" dirty="0">
                <a:solidFill>
                  <a:srgbClr val="FFFF00"/>
                </a:solidFill>
                <a:ea typeface="华文中宋" panose="02010600040101010101" pitchFamily="2" charset="-122"/>
              </a:rPr>
              <a:t>光电效应：</a:t>
            </a:r>
            <a:endParaRPr lang="zh-CN" altLang="en-US" b="0" dirty="0">
              <a:solidFill>
                <a:srgbClr val="FFFF00"/>
              </a:solidFill>
              <a:latin typeface="Times New Roman" panose="02020603050405020304" pitchFamily="18" charset="0"/>
              <a:ea typeface="华文中宋" panose="02010600040101010101" pitchFamily="2" charset="-122"/>
            </a:endParaRPr>
          </a:p>
        </p:txBody>
      </p:sp>
      <p:sp>
        <p:nvSpPr>
          <p:cNvPr id="27658" name="Rectangle 10"/>
          <p:cNvSpPr/>
          <p:nvPr/>
        </p:nvSpPr>
        <p:spPr>
          <a:xfrm>
            <a:off x="727075" y="1538288"/>
            <a:ext cx="7916863" cy="554037"/>
          </a:xfrm>
          <a:prstGeom prst="rect">
            <a:avLst/>
          </a:prstGeom>
          <a:noFill/>
          <a:ln w="9525">
            <a:noFill/>
          </a:ln>
        </p:spPr>
        <p:txBody>
          <a:bodyPr>
            <a:spAutoFit/>
          </a:bodyPr>
          <a:lstStyle/>
          <a:p>
            <a:pPr>
              <a:lnSpc>
                <a:spcPct val="125000"/>
              </a:lnSpc>
              <a:buClr>
                <a:srgbClr val="00FF99"/>
              </a:buClr>
              <a:buFont typeface="Arial" panose="020B0604020202020204" pitchFamily="34" charset="0"/>
              <a:buChar char="•"/>
            </a:pPr>
            <a:r>
              <a:rPr lang="zh-CN" altLang="zh-CN" b="0" dirty="0">
                <a:solidFill>
                  <a:schemeClr val="bg1"/>
                </a:solidFill>
                <a:latin typeface="Times New Roman" panose="02020603050405020304" pitchFamily="18" charset="0"/>
              </a:rPr>
              <a:t> </a:t>
            </a:r>
            <a:r>
              <a:rPr lang="zh-CN" altLang="en-US" b="0" dirty="0">
                <a:solidFill>
                  <a:schemeClr val="hlink"/>
                </a:solidFill>
                <a:latin typeface="Times New Roman" panose="02020603050405020304" pitchFamily="18" charset="0"/>
                <a:ea typeface="华文中宋" panose="02010600040101010101" pitchFamily="2" charset="-122"/>
              </a:rPr>
              <a:t>光电子最大初动能和光频率</a:t>
            </a:r>
            <a:r>
              <a:rPr lang="zh-CN" altLang="en-US" b="0" i="1" dirty="0">
                <a:solidFill>
                  <a:srgbClr val="66FFFF"/>
                </a:solidFill>
                <a:latin typeface="Times New Roman" panose="02020603050405020304" pitchFamily="18" charset="0"/>
                <a:sym typeface="Symbol" panose="05050102010706020507" pitchFamily="18" charset="2"/>
              </a:rPr>
              <a:t></a:t>
            </a:r>
            <a:r>
              <a:rPr lang="zh-CN" altLang="en-US" i="1" dirty="0">
                <a:solidFill>
                  <a:srgbClr val="66FFFF"/>
                </a:solidFill>
                <a:latin typeface="Times New Roman" panose="02020603050405020304" pitchFamily="18" charset="0"/>
                <a:sym typeface="Symbol" panose="05050102010706020507" pitchFamily="18" charset="2"/>
              </a:rPr>
              <a:t> </a:t>
            </a:r>
            <a:r>
              <a:rPr lang="zh-CN" altLang="en-US" b="0" dirty="0">
                <a:solidFill>
                  <a:schemeClr val="hlink"/>
                </a:solidFill>
                <a:latin typeface="Times New Roman" panose="02020603050405020304" pitchFamily="18" charset="0"/>
                <a:ea typeface="华文中宋" panose="02010600040101010101" pitchFamily="2" charset="-122"/>
                <a:sym typeface="Symbol" panose="05050102010706020507" pitchFamily="18" charset="2"/>
              </a:rPr>
              <a:t>成线性关系，与光强无关。</a:t>
            </a:r>
            <a:r>
              <a:rPr lang="zh-CN" altLang="en-US" dirty="0">
                <a:latin typeface="Times New Roman" panose="02020603050405020304" pitchFamily="18" charset="0"/>
                <a:sym typeface="Symbol" panose="05050102010706020507" pitchFamily="18" charset="2"/>
              </a:rPr>
              <a:t> </a:t>
            </a:r>
          </a:p>
        </p:txBody>
      </p:sp>
      <p:sp>
        <p:nvSpPr>
          <p:cNvPr id="27659" name="Rectangle 11"/>
          <p:cNvSpPr/>
          <p:nvPr/>
        </p:nvSpPr>
        <p:spPr>
          <a:xfrm>
            <a:off x="728663" y="5060950"/>
            <a:ext cx="8281987" cy="549275"/>
          </a:xfrm>
          <a:prstGeom prst="rect">
            <a:avLst/>
          </a:prstGeom>
          <a:noFill/>
          <a:ln w="9525">
            <a:noFill/>
          </a:ln>
        </p:spPr>
        <p:txBody>
          <a:bodyPr>
            <a:spAutoFit/>
          </a:bodyPr>
          <a:lstStyle/>
          <a:p>
            <a:pPr>
              <a:lnSpc>
                <a:spcPct val="125000"/>
              </a:lnSpc>
              <a:buClr>
                <a:srgbClr val="00FF99"/>
              </a:buClr>
              <a:buFont typeface="Arial" panose="020B0604020202020204" pitchFamily="34" charset="0"/>
              <a:buChar char="•"/>
            </a:pPr>
            <a:r>
              <a:rPr lang="zh-CN" altLang="zh-CN" b="0" dirty="0">
                <a:solidFill>
                  <a:schemeClr val="bg1"/>
                </a:solidFill>
                <a:latin typeface="Times New Roman" panose="02020603050405020304" pitchFamily="18" charset="0"/>
              </a:rPr>
              <a:t> </a:t>
            </a:r>
            <a:r>
              <a:rPr lang="zh-CN" altLang="en-US" b="0" dirty="0">
                <a:solidFill>
                  <a:schemeClr val="hlink"/>
                </a:solidFill>
                <a:latin typeface="Times New Roman" panose="02020603050405020304" pitchFamily="18" charset="0"/>
                <a:ea typeface="华文中宋" panose="02010600040101010101" pitchFamily="2" charset="-122"/>
              </a:rPr>
              <a:t>光电子最大初动能取决于光强，和光的频率</a:t>
            </a:r>
            <a:r>
              <a:rPr lang="zh-CN" altLang="en-US" b="0" dirty="0">
                <a:solidFill>
                  <a:schemeClr val="bg1"/>
                </a:solidFill>
                <a:latin typeface="Times New Roman" panose="02020603050405020304" pitchFamily="18" charset="0"/>
              </a:rPr>
              <a:t> </a:t>
            </a:r>
            <a:r>
              <a:rPr lang="zh-CN" altLang="en-US" b="0" i="1" dirty="0">
                <a:solidFill>
                  <a:srgbClr val="66FFFF"/>
                </a:solidFill>
                <a:latin typeface="Times New Roman" panose="02020603050405020304" pitchFamily="18" charset="0"/>
                <a:sym typeface="Symbol" panose="05050102010706020507" pitchFamily="18" charset="2"/>
              </a:rPr>
              <a:t> </a:t>
            </a:r>
            <a:r>
              <a:rPr lang="zh-CN" altLang="en-US" b="0" dirty="0">
                <a:solidFill>
                  <a:schemeClr val="hlink"/>
                </a:solidFill>
                <a:latin typeface="Times New Roman" panose="02020603050405020304" pitchFamily="18" charset="0"/>
                <a:ea typeface="华文中宋" panose="02010600040101010101" pitchFamily="2" charset="-122"/>
              </a:rPr>
              <a:t>无关</a:t>
            </a:r>
            <a:r>
              <a:rPr lang="zh-CN" altLang="en-US" b="0" dirty="0">
                <a:solidFill>
                  <a:schemeClr val="hlink"/>
                </a:solidFill>
                <a:latin typeface="Times New Roman" panose="02020603050405020304" pitchFamily="18" charset="0"/>
              </a:rPr>
              <a:t>。</a:t>
            </a:r>
          </a:p>
        </p:txBody>
      </p:sp>
      <p:sp>
        <p:nvSpPr>
          <p:cNvPr id="8204" name="灯片编号占位符 1"/>
          <p:cNvSpPr txBox="1"/>
          <p:nvPr/>
        </p:nvSpPr>
        <p:spPr>
          <a:xfrm>
            <a:off x="0" y="6381750"/>
            <a:ext cx="2133600" cy="476250"/>
          </a:xfrm>
          <a:prstGeom prst="rect">
            <a:avLst/>
          </a:prstGeom>
          <a:noFill/>
          <a:ln w="9525">
            <a:noFill/>
          </a:ln>
        </p:spPr>
        <p:txBody>
          <a:bodyPr/>
          <a:lstStyle/>
          <a:p>
            <a:pPr eaLnBrk="1" hangingPunct="1"/>
            <a:fld id="{9A0DB2DC-4C9A-4742-B13C-FB6460FD3503}" type="slidenum">
              <a:rPr lang="en-US" altLang="zh-CN" b="0" dirty="0">
                <a:solidFill>
                  <a:srgbClr val="FF00FF"/>
                </a:solidFill>
                <a:latin typeface="Times New Roman" panose="02020603050405020304" pitchFamily="18" charset="0"/>
              </a:rPr>
              <a:t>3</a:t>
            </a:fld>
            <a:r>
              <a:rPr lang="en-US" altLang="zh-CN" b="0" dirty="0">
                <a:solidFill>
                  <a:srgbClr val="FF00FF"/>
                </a:solidFill>
                <a:latin typeface="Times New Roman" panose="02020603050405020304" pitchFamily="18" charset="0"/>
              </a:rPr>
              <a:t>/22</a:t>
            </a:r>
          </a:p>
        </p:txBody>
      </p:sp>
      <p:sp>
        <p:nvSpPr>
          <p:cNvPr id="12" name="Rectangle 7">
            <a:extLst>
              <a:ext uri="{FF2B5EF4-FFF2-40B4-BE49-F238E27FC236}">
                <a16:creationId xmlns:a16="http://schemas.microsoft.com/office/drawing/2014/main" id="{B591338D-1C5E-4679-8063-33FBE51C5ACD}"/>
              </a:ext>
            </a:extLst>
          </p:cNvPr>
          <p:cNvSpPr/>
          <p:nvPr/>
        </p:nvSpPr>
        <p:spPr>
          <a:xfrm>
            <a:off x="2400286" y="478353"/>
            <a:ext cx="6340431" cy="461665"/>
          </a:xfrm>
          <a:prstGeom prst="rect">
            <a:avLst/>
          </a:prstGeom>
          <a:noFill/>
          <a:ln w="9525">
            <a:noFill/>
          </a:ln>
        </p:spPr>
        <p:txBody>
          <a:bodyPr wrap="square">
            <a:spAutoFit/>
          </a:bodyPr>
          <a:lstStyle/>
          <a:p>
            <a:pPr>
              <a:buClr>
                <a:srgbClr val="00FF99"/>
              </a:buClr>
            </a:pPr>
            <a:r>
              <a:rPr lang="zh-CN" altLang="en-US" b="0" dirty="0">
                <a:solidFill>
                  <a:schemeClr val="hlink"/>
                </a:solidFill>
                <a:latin typeface="Times New Roman" panose="02020603050405020304" pitchFamily="18" charset="0"/>
                <a:ea typeface="华文中宋" panose="02010600040101010101" pitchFamily="2" charset="-122"/>
              </a:rPr>
              <a:t>光照射金属阴极向外发射电子的现象</a:t>
            </a:r>
            <a:endParaRPr lang="zh-CN" altLang="en-US" b="0" dirty="0">
              <a:solidFill>
                <a:schemeClr val="hlink"/>
              </a:solidFill>
              <a:latin typeface="Times New Roman" panose="02020603050405020304" pitchFamily="18" charset="0"/>
              <a:sym typeface="Symbol" panose="05050102010706020507" pitchFamily="18"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7656"/>
                                        </p:tgtEl>
                                        <p:attrNameLst>
                                          <p:attrName>style.visibility</p:attrName>
                                        </p:attrNameLst>
                                      </p:cBhvr>
                                      <p:to>
                                        <p:strVal val="visible"/>
                                      </p:to>
                                    </p:set>
                                    <p:animEffect transition="in" filter="dissolve">
                                      <p:cBhvr>
                                        <p:cTn id="7" dur="500"/>
                                        <p:tgtEl>
                                          <p:spTgt spid="27656"/>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blinds(horizontal)">
                                      <p:cBhvr>
                                        <p:cTn id="11" dur="5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27653"/>
                                        </p:tgtEl>
                                        <p:attrNameLst>
                                          <p:attrName>style.visibility</p:attrName>
                                        </p:attrNameLst>
                                      </p:cBhvr>
                                      <p:to>
                                        <p:strVal val="visible"/>
                                      </p:to>
                                    </p:set>
                                    <p:animEffect transition="in" filter="blinds(horizontal)">
                                      <p:cBhvr>
                                        <p:cTn id="16" dur="500"/>
                                        <p:tgtEl>
                                          <p:spTgt spid="27653"/>
                                        </p:tgtEl>
                                      </p:cBhvr>
                                    </p:animEffect>
                                  </p:childTnLst>
                                </p:cTn>
                              </p:par>
                            </p:childTnLst>
                          </p:cTn>
                        </p:par>
                        <p:par>
                          <p:cTn id="17" fill="hold">
                            <p:stCondLst>
                              <p:cond delay="500"/>
                            </p:stCondLst>
                            <p:childTnLst>
                              <p:par>
                                <p:cTn id="18" presetID="3" presetClass="entr" presetSubtype="10" fill="hold" grpId="0" nodeType="afterEffect">
                                  <p:stCondLst>
                                    <p:cond delay="1000"/>
                                  </p:stCondLst>
                                  <p:childTnLst>
                                    <p:set>
                                      <p:cBhvr>
                                        <p:cTn id="19" dur="1" fill="hold">
                                          <p:stCondLst>
                                            <p:cond delay="0"/>
                                          </p:stCondLst>
                                        </p:cTn>
                                        <p:tgtEl>
                                          <p:spTgt spid="27658"/>
                                        </p:tgtEl>
                                        <p:attrNameLst>
                                          <p:attrName>style.visibility</p:attrName>
                                        </p:attrNameLst>
                                      </p:cBhvr>
                                      <p:to>
                                        <p:strVal val="visible"/>
                                      </p:to>
                                    </p:set>
                                    <p:animEffect transition="in" filter="blinds(horizontal)">
                                      <p:cBhvr>
                                        <p:cTn id="20" dur="500"/>
                                        <p:tgtEl>
                                          <p:spTgt spid="27658"/>
                                        </p:tgtEl>
                                      </p:cBhvr>
                                    </p:animEffect>
                                  </p:childTnLst>
                                </p:cTn>
                              </p:par>
                            </p:childTnLst>
                          </p:cTn>
                        </p:par>
                        <p:par>
                          <p:cTn id="21" fill="hold">
                            <p:stCondLst>
                              <p:cond delay="2000"/>
                            </p:stCondLst>
                            <p:childTnLst>
                              <p:par>
                                <p:cTn id="22" presetID="3" presetClass="entr" presetSubtype="10" fill="hold" grpId="0" nodeType="afterEffect">
                                  <p:stCondLst>
                                    <p:cond delay="1000"/>
                                  </p:stCondLst>
                                  <p:childTnLst>
                                    <p:set>
                                      <p:cBhvr>
                                        <p:cTn id="23" dur="1" fill="hold">
                                          <p:stCondLst>
                                            <p:cond delay="0"/>
                                          </p:stCondLst>
                                        </p:cTn>
                                        <p:tgtEl>
                                          <p:spTgt spid="27654"/>
                                        </p:tgtEl>
                                        <p:attrNameLst>
                                          <p:attrName>style.visibility</p:attrName>
                                        </p:attrNameLst>
                                      </p:cBhvr>
                                      <p:to>
                                        <p:strVal val="visible"/>
                                      </p:to>
                                    </p:set>
                                    <p:animEffect transition="in" filter="blinds(horizontal)">
                                      <p:cBhvr>
                                        <p:cTn id="24" dur="500"/>
                                        <p:tgtEl>
                                          <p:spTgt spid="27654"/>
                                        </p:tgtEl>
                                      </p:cBhvr>
                                    </p:animEffect>
                                  </p:childTnLst>
                                </p:cTn>
                              </p:par>
                            </p:childTnLst>
                          </p:cTn>
                        </p:par>
                        <p:par>
                          <p:cTn id="25" fill="hold">
                            <p:stCondLst>
                              <p:cond delay="3500"/>
                            </p:stCondLst>
                            <p:childTnLst>
                              <p:par>
                                <p:cTn id="26" presetID="3" presetClass="entr" presetSubtype="10" fill="hold" grpId="0" nodeType="afterEffect">
                                  <p:stCondLst>
                                    <p:cond delay="1000"/>
                                  </p:stCondLst>
                                  <p:childTnLst>
                                    <p:set>
                                      <p:cBhvr>
                                        <p:cTn id="27" dur="1" fill="hold">
                                          <p:stCondLst>
                                            <p:cond delay="0"/>
                                          </p:stCondLst>
                                        </p:cTn>
                                        <p:tgtEl>
                                          <p:spTgt spid="27655"/>
                                        </p:tgtEl>
                                        <p:attrNameLst>
                                          <p:attrName>style.visibility</p:attrName>
                                        </p:attrNameLst>
                                      </p:cBhvr>
                                      <p:to>
                                        <p:strVal val="visible"/>
                                      </p:to>
                                    </p:set>
                                    <p:animEffect transition="in" filter="blinds(horizontal)">
                                      <p:cBhvr>
                                        <p:cTn id="28" dur="500"/>
                                        <p:tgtEl>
                                          <p:spTgt spid="2765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7650"/>
                                        </p:tgtEl>
                                        <p:attrNameLst>
                                          <p:attrName>style.visibility</p:attrName>
                                        </p:attrNameLst>
                                      </p:cBhvr>
                                      <p:to>
                                        <p:strVal val="visible"/>
                                      </p:to>
                                    </p:set>
                                    <p:animEffect transition="in" filter="wipe(left)">
                                      <p:cBhvr>
                                        <p:cTn id="33" dur="500"/>
                                        <p:tgtEl>
                                          <p:spTgt spid="2765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8" fill="hold" nodeType="clickEffect">
                                  <p:stCondLst>
                                    <p:cond delay="0"/>
                                  </p:stCondLst>
                                  <p:childTnLst>
                                    <p:set>
                                      <p:cBhvr>
                                        <p:cTn id="37" dur="1" fill="hold">
                                          <p:stCondLst>
                                            <p:cond delay="0"/>
                                          </p:stCondLst>
                                        </p:cTn>
                                        <p:tgtEl>
                                          <p:spTgt spid="27651"/>
                                        </p:tgtEl>
                                        <p:attrNameLst>
                                          <p:attrName>style.visibility</p:attrName>
                                        </p:attrNameLst>
                                      </p:cBhvr>
                                      <p:to>
                                        <p:strVal val="visible"/>
                                      </p:to>
                                    </p:set>
                                    <p:animEffect transition="in" filter="slide(fromLeft)">
                                      <p:cBhvr>
                                        <p:cTn id="38" dur="500"/>
                                        <p:tgtEl>
                                          <p:spTgt spid="27651"/>
                                        </p:tgtEl>
                                      </p:cBhvr>
                                    </p:animEffect>
                                  </p:childTnLst>
                                </p:cTn>
                              </p:par>
                            </p:childTnLst>
                          </p:cTn>
                        </p:par>
                        <p:par>
                          <p:cTn id="39" fill="hold">
                            <p:stCondLst>
                              <p:cond delay="500"/>
                            </p:stCondLst>
                            <p:childTnLst>
                              <p:par>
                                <p:cTn id="40" presetID="22" presetClass="entr" presetSubtype="8" fill="hold" grpId="0" nodeType="afterEffect">
                                  <p:stCondLst>
                                    <p:cond delay="0"/>
                                  </p:stCondLst>
                                  <p:childTnLst>
                                    <p:set>
                                      <p:cBhvr>
                                        <p:cTn id="41" dur="1" fill="hold">
                                          <p:stCondLst>
                                            <p:cond delay="0"/>
                                          </p:stCondLst>
                                        </p:cTn>
                                        <p:tgtEl>
                                          <p:spTgt spid="27659"/>
                                        </p:tgtEl>
                                        <p:attrNameLst>
                                          <p:attrName>style.visibility</p:attrName>
                                        </p:attrNameLst>
                                      </p:cBhvr>
                                      <p:to>
                                        <p:strVal val="visible"/>
                                      </p:to>
                                    </p:set>
                                    <p:animEffect transition="in" filter="wipe(left)">
                                      <p:cBhvr>
                                        <p:cTn id="42" dur="500"/>
                                        <p:tgtEl>
                                          <p:spTgt spid="27659"/>
                                        </p:tgtEl>
                                      </p:cBhvr>
                                    </p:animEffect>
                                  </p:childTnLst>
                                </p:cTn>
                              </p:par>
                            </p:childTnLst>
                          </p:cTn>
                        </p:par>
                        <p:par>
                          <p:cTn id="43" fill="hold">
                            <p:stCondLst>
                              <p:cond delay="1000"/>
                            </p:stCondLst>
                            <p:childTnLst>
                              <p:par>
                                <p:cTn id="44" presetID="12" presetClass="entr" presetSubtype="8" fill="hold" grpId="0" nodeType="afterEffect">
                                  <p:stCondLst>
                                    <p:cond delay="0"/>
                                  </p:stCondLst>
                                  <p:childTnLst>
                                    <p:set>
                                      <p:cBhvr>
                                        <p:cTn id="45" dur="1" fill="hold">
                                          <p:stCondLst>
                                            <p:cond delay="0"/>
                                          </p:stCondLst>
                                        </p:cTn>
                                        <p:tgtEl>
                                          <p:spTgt spid="27652"/>
                                        </p:tgtEl>
                                        <p:attrNameLst>
                                          <p:attrName>style.visibility</p:attrName>
                                        </p:attrNameLst>
                                      </p:cBhvr>
                                      <p:to>
                                        <p:strVal val="visible"/>
                                      </p:to>
                                    </p:set>
                                    <p:animEffect transition="in" filter="slide(fromLeft)">
                                      <p:cBhvr>
                                        <p:cTn id="46" dur="500"/>
                                        <p:tgtEl>
                                          <p:spTgt spid="276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P spid="27652" grpId="0"/>
      <p:bldP spid="27653" grpId="0"/>
      <p:bldP spid="27654" grpId="0"/>
      <p:bldP spid="27655" grpId="0"/>
      <p:bldP spid="27656" grpId="0"/>
      <p:bldP spid="27658" grpId="0"/>
      <p:bldP spid="27659"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p:cNvSpPr txBox="1"/>
          <p:nvPr/>
        </p:nvSpPr>
        <p:spPr>
          <a:xfrm>
            <a:off x="539750" y="779463"/>
            <a:ext cx="8280400" cy="2078037"/>
          </a:xfrm>
          <a:prstGeom prst="rect">
            <a:avLst/>
          </a:prstGeom>
          <a:noFill/>
          <a:ln w="9525">
            <a:noFill/>
          </a:ln>
        </p:spPr>
        <p:txBody>
          <a:bodyPr>
            <a:spAutoFit/>
          </a:bodyPr>
          <a:lstStyle/>
          <a:p>
            <a:pPr>
              <a:spcAft>
                <a:spcPts val="600"/>
              </a:spcAft>
            </a:pPr>
            <a:r>
              <a:rPr lang="zh-CN" altLang="zh-CN" sz="2800" b="0" dirty="0">
                <a:solidFill>
                  <a:srgbClr val="66FFFF"/>
                </a:solidFill>
                <a:latin typeface="Times New Roman" panose="02020603050405020304" pitchFamily="18" charset="0"/>
                <a:ea typeface="楷体_GB2312" pitchFamily="49" charset="-122"/>
              </a:rPr>
              <a:t>1</a:t>
            </a:r>
            <a:r>
              <a:rPr lang="zh-CN" altLang="en-US" sz="2800" b="0" dirty="0">
                <a:solidFill>
                  <a:srgbClr val="66FFFF"/>
                </a:solidFill>
                <a:latin typeface="Times New Roman" panose="02020603050405020304" pitchFamily="18" charset="0"/>
                <a:ea typeface="楷体_GB2312" pitchFamily="49" charset="-122"/>
              </a:rPr>
              <a:t>、光子假说</a:t>
            </a:r>
            <a:r>
              <a:rPr lang="zh-CN" altLang="en-US" sz="2800" b="0" dirty="0">
                <a:solidFill>
                  <a:srgbClr val="D6D6F5"/>
                </a:solidFill>
                <a:latin typeface="Times New Roman" panose="02020603050405020304" pitchFamily="18" charset="0"/>
                <a:ea typeface="楷体_GB2312" pitchFamily="49" charset="-122"/>
              </a:rPr>
              <a:t>（</a:t>
            </a:r>
            <a:r>
              <a:rPr lang="zh-CN" altLang="zh-CN" sz="2800" b="0" dirty="0">
                <a:solidFill>
                  <a:srgbClr val="D6D6F5"/>
                </a:solidFill>
                <a:latin typeface="Times New Roman" panose="02020603050405020304" pitchFamily="18" charset="0"/>
              </a:rPr>
              <a:t>1905</a:t>
            </a:r>
            <a:r>
              <a:rPr lang="zh-CN" altLang="en-US" sz="2800" b="0" dirty="0">
                <a:solidFill>
                  <a:srgbClr val="D6D6F5"/>
                </a:solidFill>
                <a:latin typeface="Times New Roman" panose="02020603050405020304" pitchFamily="18" charset="0"/>
                <a:ea typeface="华文中宋" panose="02010600040101010101" pitchFamily="2" charset="-122"/>
              </a:rPr>
              <a:t>年</a:t>
            </a:r>
            <a:r>
              <a:rPr lang="zh-CN" altLang="en-US" sz="2800" b="0" dirty="0">
                <a:solidFill>
                  <a:srgbClr val="D6D6F5"/>
                </a:solidFill>
                <a:latin typeface="Times New Roman" panose="02020603050405020304" pitchFamily="18" charset="0"/>
                <a:ea typeface="楷体_GB2312" pitchFamily="49" charset="-122"/>
              </a:rPr>
              <a:t>）</a:t>
            </a:r>
          </a:p>
          <a:p>
            <a:pPr marL="0" lvl="1" indent="0"/>
            <a:r>
              <a:rPr lang="en-US" altLang="zh-CN" b="0" dirty="0">
                <a:solidFill>
                  <a:schemeClr val="hlink"/>
                </a:solidFill>
                <a:latin typeface="Times New Roman" panose="02020603050405020304" pitchFamily="18" charset="0"/>
                <a:ea typeface="华文中宋" panose="02010600040101010101" pitchFamily="2" charset="-122"/>
              </a:rPr>
              <a:t>        </a:t>
            </a:r>
            <a:r>
              <a:rPr lang="zh-CN" altLang="en-US" b="0" dirty="0">
                <a:solidFill>
                  <a:schemeClr val="hlink"/>
                </a:solidFill>
                <a:latin typeface="Times New Roman" panose="02020603050405020304" pitchFamily="18" charset="0"/>
                <a:ea typeface="华文中宋" panose="02010600040101010101" pitchFamily="2" charset="-122"/>
              </a:rPr>
              <a:t>光束可以看成是由微粒构成的粒子流，这些粒子叫做</a:t>
            </a:r>
            <a:r>
              <a:rPr lang="zh-CN" altLang="en-US" b="0" dirty="0">
                <a:solidFill>
                  <a:srgbClr val="FFFF00"/>
                </a:solidFill>
                <a:latin typeface="Times New Roman" panose="02020603050405020304" pitchFamily="18" charset="0"/>
                <a:ea typeface="华文中宋" panose="02010600040101010101" pitchFamily="2" charset="-122"/>
              </a:rPr>
              <a:t>光量子</a:t>
            </a:r>
            <a:r>
              <a:rPr lang="zh-CN" altLang="en-US" b="0" dirty="0">
                <a:solidFill>
                  <a:schemeClr val="hlink"/>
                </a:solidFill>
                <a:latin typeface="Times New Roman" panose="02020603050405020304" pitchFamily="18" charset="0"/>
                <a:ea typeface="华文中宋" panose="02010600040101010101" pitchFamily="2" charset="-122"/>
              </a:rPr>
              <a:t>，简称</a:t>
            </a:r>
            <a:r>
              <a:rPr lang="zh-CN" altLang="en-US" b="0" dirty="0">
                <a:solidFill>
                  <a:srgbClr val="FFFF00"/>
                </a:solidFill>
                <a:latin typeface="Times New Roman" panose="02020603050405020304" pitchFamily="18" charset="0"/>
                <a:ea typeface="华文中宋" panose="02010600040101010101" pitchFamily="2" charset="-122"/>
              </a:rPr>
              <a:t>光子</a:t>
            </a:r>
            <a:r>
              <a:rPr lang="zh-CN" altLang="en-US" b="0" dirty="0">
                <a:solidFill>
                  <a:schemeClr val="hlink"/>
                </a:solidFill>
                <a:latin typeface="Times New Roman" panose="02020603050405020304" pitchFamily="18" charset="0"/>
                <a:ea typeface="华文中宋" panose="02010600040101010101" pitchFamily="2" charset="-122"/>
              </a:rPr>
              <a:t>。在真空中，光子以光速 </a:t>
            </a:r>
            <a:r>
              <a:rPr lang="zh-CN" altLang="zh-CN" b="0" i="1" dirty="0">
                <a:solidFill>
                  <a:srgbClr val="FFFF00"/>
                </a:solidFill>
                <a:latin typeface="Times New Roman" panose="02020603050405020304" pitchFamily="18" charset="0"/>
              </a:rPr>
              <a:t>c </a:t>
            </a:r>
            <a:r>
              <a:rPr lang="zh-CN" altLang="en-US" b="0" dirty="0">
                <a:solidFill>
                  <a:schemeClr val="hlink"/>
                </a:solidFill>
                <a:latin typeface="Times New Roman" panose="02020603050405020304" pitchFamily="18" charset="0"/>
                <a:ea typeface="华文中宋" panose="02010600040101010101" pitchFamily="2" charset="-122"/>
              </a:rPr>
              <a:t>运动，一个频率为</a:t>
            </a:r>
            <a:r>
              <a:rPr lang="zh-CN" altLang="zh-CN" b="0" i="1" dirty="0">
                <a:solidFill>
                  <a:srgbClr val="FFFF00"/>
                </a:solidFill>
                <a:latin typeface="Symbol" panose="05050102010706020507" pitchFamily="18" charset="2"/>
              </a:rPr>
              <a:t>n </a:t>
            </a:r>
            <a:r>
              <a:rPr lang="zh-CN" altLang="en-US" b="0" dirty="0">
                <a:solidFill>
                  <a:schemeClr val="hlink"/>
                </a:solidFill>
                <a:latin typeface="Times New Roman" panose="02020603050405020304" pitchFamily="18" charset="0"/>
                <a:ea typeface="华文中宋" panose="02010600040101010101" pitchFamily="2" charset="-122"/>
              </a:rPr>
              <a:t>的光子具有能量 </a:t>
            </a:r>
            <a:r>
              <a:rPr lang="zh-CN" altLang="zh-CN" b="0" dirty="0">
                <a:solidFill>
                  <a:srgbClr val="FFFF00"/>
                </a:solidFill>
                <a:latin typeface="Symbol" panose="05050102010706020507" pitchFamily="18" charset="2"/>
              </a:rPr>
              <a:t>e=</a:t>
            </a:r>
            <a:r>
              <a:rPr lang="zh-CN" altLang="zh-CN" b="0" i="1" dirty="0">
                <a:solidFill>
                  <a:srgbClr val="FFFF00"/>
                </a:solidFill>
                <a:latin typeface="Times New Roman" panose="02020603050405020304" pitchFamily="18" charset="0"/>
              </a:rPr>
              <a:t>h</a:t>
            </a:r>
            <a:r>
              <a:rPr lang="zh-CN" altLang="zh-CN" b="0" i="1" dirty="0">
                <a:solidFill>
                  <a:srgbClr val="FFFF00"/>
                </a:solidFill>
                <a:latin typeface="Symbol" panose="05050102010706020507" pitchFamily="18" charset="2"/>
              </a:rPr>
              <a:t>n</a:t>
            </a:r>
            <a:r>
              <a:rPr lang="zh-CN" altLang="en-US" b="0" dirty="0">
                <a:solidFill>
                  <a:srgbClr val="D6D6F5"/>
                </a:solidFill>
                <a:latin typeface="华文中宋" panose="02010600040101010101" pitchFamily="2" charset="-122"/>
                <a:ea typeface="华文中宋" panose="02010600040101010101" pitchFamily="2" charset="-122"/>
              </a:rPr>
              <a:t>，它不能再分割，只能整个的被吸收或者产生。</a:t>
            </a:r>
            <a:endParaRPr lang="zh-CN" altLang="zh-CN" b="0" dirty="0">
              <a:solidFill>
                <a:srgbClr val="D6D6F5"/>
              </a:solidFill>
              <a:latin typeface="华文中宋" panose="02010600040101010101" pitchFamily="2" charset="-122"/>
              <a:ea typeface="华文中宋" panose="02010600040101010101" pitchFamily="2" charset="-122"/>
            </a:endParaRPr>
          </a:p>
        </p:txBody>
      </p:sp>
      <p:sp>
        <p:nvSpPr>
          <p:cNvPr id="28675" name="Text Box 3"/>
          <p:cNvSpPr txBox="1"/>
          <p:nvPr/>
        </p:nvSpPr>
        <p:spPr>
          <a:xfrm>
            <a:off x="571500" y="2857500"/>
            <a:ext cx="6697663" cy="519113"/>
          </a:xfrm>
          <a:prstGeom prst="rect">
            <a:avLst/>
          </a:prstGeom>
          <a:noFill/>
          <a:ln w="9525">
            <a:noFill/>
          </a:ln>
        </p:spPr>
        <p:txBody>
          <a:bodyPr>
            <a:spAutoFit/>
          </a:bodyPr>
          <a:lstStyle/>
          <a:p>
            <a:r>
              <a:rPr lang="zh-CN" altLang="zh-CN" sz="2800" b="0" dirty="0">
                <a:solidFill>
                  <a:srgbClr val="66FFFF"/>
                </a:solidFill>
                <a:latin typeface="Times New Roman" panose="02020603050405020304" pitchFamily="18" charset="0"/>
                <a:ea typeface="楷体_GB2312" pitchFamily="49" charset="-122"/>
              </a:rPr>
              <a:t>2 </a:t>
            </a:r>
            <a:r>
              <a:rPr lang="zh-CN" altLang="en-US" sz="2800" b="0" dirty="0">
                <a:solidFill>
                  <a:srgbClr val="66FFFF"/>
                </a:solidFill>
                <a:latin typeface="Times New Roman" panose="02020603050405020304" pitchFamily="18" charset="0"/>
                <a:ea typeface="楷体_GB2312" pitchFamily="49" charset="-122"/>
              </a:rPr>
              <a:t>、光电效应的爱因斯坦方程</a:t>
            </a:r>
            <a:endParaRPr lang="zh-CN" altLang="en-US" sz="2800" b="0" dirty="0">
              <a:solidFill>
                <a:srgbClr val="66FFFF"/>
              </a:solidFill>
              <a:latin typeface="Times New Roman" panose="02020603050405020304" pitchFamily="18" charset="0"/>
            </a:endParaRPr>
          </a:p>
        </p:txBody>
      </p:sp>
      <p:graphicFrame>
        <p:nvGraphicFramePr>
          <p:cNvPr id="28676" name="Object 4"/>
          <p:cNvGraphicFramePr>
            <a:graphicFrameLocks noChangeAspect="1"/>
          </p:cNvGraphicFramePr>
          <p:nvPr/>
        </p:nvGraphicFramePr>
        <p:xfrm>
          <a:off x="3540125" y="3429000"/>
          <a:ext cx="2389188" cy="857250"/>
        </p:xfrm>
        <a:graphic>
          <a:graphicData uri="http://schemas.openxmlformats.org/presentationml/2006/ole">
            <mc:AlternateContent xmlns:mc="http://schemas.openxmlformats.org/markup-compatibility/2006">
              <mc:Choice xmlns:v="urn:schemas-microsoft-com:vml" Requires="v">
                <p:oleObj spid="_x0000_s459795" r:id="rId3" imgW="1259840" imgH="434975" progId="Equation.3">
                  <p:embed/>
                </p:oleObj>
              </mc:Choice>
              <mc:Fallback>
                <p:oleObj r:id="rId3" imgW="1259840" imgH="434975" progId="Equation.3">
                  <p:embed/>
                  <p:pic>
                    <p:nvPicPr>
                      <p:cNvPr id="28676" name="Object 4"/>
                      <p:cNvPicPr/>
                      <p:nvPr/>
                    </p:nvPicPr>
                    <p:blipFill>
                      <a:blip r:embed="rId4">
                        <a:clrChange>
                          <a:clrFrom>
                            <a:srgbClr val="000000"/>
                          </a:clrFrom>
                          <a:clrTo>
                            <a:srgbClr val="FFCC00"/>
                          </a:clrTo>
                        </a:clrChange>
                      </a:blip>
                      <a:stretch>
                        <a:fillRect/>
                      </a:stretch>
                    </p:blipFill>
                    <p:spPr>
                      <a:xfrm>
                        <a:off x="3540125" y="3429000"/>
                        <a:ext cx="2389188" cy="857250"/>
                      </a:xfrm>
                      <a:prstGeom prst="rect">
                        <a:avLst/>
                      </a:prstGeom>
                      <a:noFill/>
                      <a:ln w="38100">
                        <a:noFill/>
                        <a:miter/>
                      </a:ln>
                    </p:spPr>
                  </p:pic>
                </p:oleObj>
              </mc:Fallback>
            </mc:AlternateContent>
          </a:graphicData>
        </a:graphic>
      </p:graphicFrame>
      <p:sp>
        <p:nvSpPr>
          <p:cNvPr id="28677" name="Text Box 5"/>
          <p:cNvSpPr txBox="1"/>
          <p:nvPr/>
        </p:nvSpPr>
        <p:spPr>
          <a:xfrm>
            <a:off x="571500" y="4143375"/>
            <a:ext cx="5761038" cy="519113"/>
          </a:xfrm>
          <a:prstGeom prst="rect">
            <a:avLst/>
          </a:prstGeom>
          <a:noFill/>
          <a:ln w="9525">
            <a:noFill/>
          </a:ln>
        </p:spPr>
        <p:txBody>
          <a:bodyPr>
            <a:spAutoFit/>
          </a:bodyPr>
          <a:lstStyle/>
          <a:p>
            <a:r>
              <a:rPr lang="zh-CN" altLang="zh-CN" sz="2800" b="0" dirty="0">
                <a:solidFill>
                  <a:srgbClr val="66FFFF"/>
                </a:solidFill>
                <a:latin typeface="Times New Roman" panose="02020603050405020304" pitchFamily="18" charset="0"/>
                <a:ea typeface="楷体_GB2312" pitchFamily="49" charset="-122"/>
              </a:rPr>
              <a:t>3</a:t>
            </a:r>
            <a:r>
              <a:rPr lang="zh-CN" altLang="en-US" sz="2800" b="0" dirty="0">
                <a:solidFill>
                  <a:srgbClr val="66FFFF"/>
                </a:solidFill>
                <a:latin typeface="Times New Roman" panose="02020603050405020304" pitchFamily="18" charset="0"/>
                <a:ea typeface="楷体_GB2312" pitchFamily="49" charset="-122"/>
              </a:rPr>
              <a:t>、光电效应解释</a:t>
            </a:r>
            <a:endParaRPr lang="zh-CN" altLang="en-US" sz="2800" b="0" dirty="0">
              <a:solidFill>
                <a:srgbClr val="66FFFF"/>
              </a:solidFill>
              <a:latin typeface="Times New Roman" panose="02020603050405020304" pitchFamily="18" charset="0"/>
            </a:endParaRPr>
          </a:p>
        </p:txBody>
      </p:sp>
      <p:sp>
        <p:nvSpPr>
          <p:cNvPr id="28678" name="Text Box 6"/>
          <p:cNvSpPr txBox="1"/>
          <p:nvPr/>
        </p:nvSpPr>
        <p:spPr>
          <a:xfrm>
            <a:off x="571500" y="4684713"/>
            <a:ext cx="8208963" cy="1649412"/>
          </a:xfrm>
          <a:prstGeom prst="rect">
            <a:avLst/>
          </a:prstGeom>
          <a:noFill/>
          <a:ln w="9525">
            <a:noFill/>
          </a:ln>
        </p:spPr>
        <p:txBody>
          <a:bodyPr lIns="90000" tIns="46800" rIns="90000" bIns="46800">
            <a:spAutoFit/>
          </a:bodyPr>
          <a:lstStyle/>
          <a:p>
            <a:pPr>
              <a:spcAft>
                <a:spcPts val="600"/>
              </a:spcAft>
            </a:pPr>
            <a:r>
              <a:rPr lang="zh-CN" altLang="zh-CN" b="0" dirty="0">
                <a:solidFill>
                  <a:srgbClr val="66FFFF"/>
                </a:solidFill>
                <a:latin typeface="Times New Roman" panose="02020603050405020304" pitchFamily="18" charset="0"/>
              </a:rPr>
              <a:t>(1) </a:t>
            </a:r>
            <a:r>
              <a:rPr lang="zh-CN" altLang="en-US" b="0" dirty="0">
                <a:solidFill>
                  <a:srgbClr val="66FFFF"/>
                </a:solidFill>
                <a:latin typeface="Times New Roman" panose="02020603050405020304" pitchFamily="18" charset="0"/>
                <a:ea typeface="华文中宋" panose="02010600040101010101" pitchFamily="2" charset="-122"/>
              </a:rPr>
              <a:t>饱和光电流大小与光强成正比</a:t>
            </a:r>
            <a:endParaRPr lang="zh-CN" altLang="en-US" b="0" dirty="0">
              <a:latin typeface="Times New Roman" panose="02020603050405020304" pitchFamily="18" charset="0"/>
            </a:endParaRPr>
          </a:p>
          <a:p>
            <a:r>
              <a:rPr lang="zh-CN" altLang="en-US" b="0" dirty="0">
                <a:solidFill>
                  <a:schemeClr val="hlink"/>
                </a:solidFill>
                <a:latin typeface="Times New Roman" panose="02020603050405020304" pitchFamily="18" charset="0"/>
              </a:rPr>
              <a:t>     </a:t>
            </a:r>
            <a:r>
              <a:rPr lang="en-US" altLang="zh-CN" b="0" dirty="0">
                <a:solidFill>
                  <a:schemeClr val="hlink"/>
                </a:solidFill>
                <a:latin typeface="Times New Roman" panose="02020603050405020304" pitchFamily="18" charset="0"/>
              </a:rPr>
              <a:t>   </a:t>
            </a:r>
            <a:r>
              <a:rPr lang="zh-CN" altLang="en-US" b="0" dirty="0">
                <a:solidFill>
                  <a:schemeClr val="hlink"/>
                </a:solidFill>
                <a:latin typeface="华文中宋" panose="02010600040101010101" pitchFamily="2" charset="-122"/>
                <a:ea typeface="华文中宋" panose="02010600040101010101" pitchFamily="2" charset="-122"/>
              </a:rPr>
              <a:t>对于给定频率的光束来说，单位时间通过与光线垂直的单位面积上的光子数为 </a:t>
            </a:r>
            <a:r>
              <a:rPr lang="zh-CN" altLang="zh-CN" i="1" dirty="0">
                <a:solidFill>
                  <a:srgbClr val="FFFF00"/>
                </a:solidFill>
                <a:latin typeface="Times New Roman" panose="02020603050405020304" pitchFamily="18" charset="0"/>
              </a:rPr>
              <a:t>N</a:t>
            </a:r>
            <a:r>
              <a:rPr lang="zh-CN" altLang="en-US" b="0" dirty="0">
                <a:solidFill>
                  <a:schemeClr val="hlink"/>
                </a:solidFill>
                <a:latin typeface="Times New Roman" panose="02020603050405020304" pitchFamily="18" charset="0"/>
              </a:rPr>
              <a:t>，</a:t>
            </a:r>
            <a:r>
              <a:rPr lang="zh-CN" altLang="en-US" b="0" dirty="0">
                <a:solidFill>
                  <a:schemeClr val="hlink"/>
                </a:solidFill>
                <a:latin typeface="Times New Roman" panose="02020603050405020304" pitchFamily="18" charset="0"/>
                <a:ea typeface="华文中宋" panose="02010600040101010101" pitchFamily="2" charset="-122"/>
              </a:rPr>
              <a:t>则光强</a:t>
            </a:r>
            <a:r>
              <a:rPr lang="zh-CN" altLang="en-US" b="0" dirty="0">
                <a:solidFill>
                  <a:schemeClr val="bg1"/>
                </a:solidFill>
                <a:latin typeface="Times New Roman" panose="02020603050405020304" pitchFamily="18" charset="0"/>
              </a:rPr>
              <a:t> </a:t>
            </a:r>
            <a:r>
              <a:rPr lang="zh-CN" altLang="zh-CN" i="1" dirty="0">
                <a:solidFill>
                  <a:srgbClr val="FFFF00"/>
                </a:solidFill>
                <a:latin typeface="Times New Roman" panose="02020603050405020304" pitchFamily="18" charset="0"/>
              </a:rPr>
              <a:t>I = Nh</a:t>
            </a:r>
            <a:r>
              <a:rPr lang="zh-CN" altLang="zh-CN" i="1" dirty="0">
                <a:solidFill>
                  <a:srgbClr val="FFFF00"/>
                </a:solidFill>
                <a:latin typeface="Times New Roman" panose="02020603050405020304" pitchFamily="18" charset="0"/>
                <a:sym typeface="Symbol" panose="05050102010706020507" pitchFamily="18" charset="2"/>
              </a:rPr>
              <a:t></a:t>
            </a:r>
            <a:r>
              <a:rPr lang="zh-CN" altLang="zh-CN" dirty="0">
                <a:solidFill>
                  <a:srgbClr val="FFFF00"/>
                </a:solidFill>
                <a:latin typeface="Times New Roman" panose="02020603050405020304" pitchFamily="18" charset="0"/>
              </a:rPr>
              <a:t> </a:t>
            </a:r>
            <a:r>
              <a:rPr lang="zh-CN" altLang="en-US" dirty="0">
                <a:solidFill>
                  <a:srgbClr val="D6D6F5"/>
                </a:solidFill>
                <a:latin typeface="Times New Roman" panose="02020603050405020304" pitchFamily="18" charset="0"/>
              </a:rPr>
              <a:t>。</a:t>
            </a:r>
            <a:r>
              <a:rPr lang="zh-CN" altLang="zh-CN" i="1" dirty="0">
                <a:solidFill>
                  <a:srgbClr val="66FFFF"/>
                </a:solidFill>
                <a:latin typeface="Times New Roman" panose="02020603050405020304" pitchFamily="18" charset="0"/>
              </a:rPr>
              <a:t> </a:t>
            </a:r>
            <a:r>
              <a:rPr lang="zh-CN" altLang="zh-CN" i="1" dirty="0">
                <a:solidFill>
                  <a:srgbClr val="FFFF00"/>
                </a:solidFill>
                <a:latin typeface="Times New Roman" panose="02020603050405020304" pitchFamily="18" charset="0"/>
              </a:rPr>
              <a:t>I</a:t>
            </a:r>
            <a:r>
              <a:rPr lang="zh-CN" altLang="zh-CN" i="1" dirty="0">
                <a:solidFill>
                  <a:srgbClr val="66FFFF"/>
                </a:solidFill>
                <a:latin typeface="Times New Roman" panose="02020603050405020304" pitchFamily="18" charset="0"/>
              </a:rPr>
              <a:t> </a:t>
            </a:r>
            <a:r>
              <a:rPr lang="zh-CN" altLang="en-US" b="0" dirty="0">
                <a:solidFill>
                  <a:schemeClr val="hlink"/>
                </a:solidFill>
                <a:latin typeface="华文中宋" panose="02010600040101010101" pitchFamily="2" charset="-122"/>
                <a:ea typeface="华文中宋" panose="02010600040101010101" pitchFamily="2" charset="-122"/>
              </a:rPr>
              <a:t>越强，到阴极的光子越多，则</a:t>
            </a:r>
            <a:r>
              <a:rPr lang="zh-CN" altLang="en-US" b="0" dirty="0">
                <a:solidFill>
                  <a:schemeClr val="hlink"/>
                </a:solidFill>
                <a:latin typeface="华文中宋" panose="02010600040101010101" pitchFamily="2" charset="-122"/>
                <a:ea typeface="华文中宋" panose="02010600040101010101" pitchFamily="2" charset="-122"/>
                <a:sym typeface="Symbol" panose="05050102010706020507" pitchFamily="18" charset="2"/>
              </a:rPr>
              <a:t>逸</a:t>
            </a:r>
            <a:r>
              <a:rPr lang="zh-CN" altLang="en-US" b="0" dirty="0">
                <a:solidFill>
                  <a:schemeClr val="hlink"/>
                </a:solidFill>
                <a:latin typeface="华文中宋" panose="02010600040101010101" pitchFamily="2" charset="-122"/>
                <a:ea typeface="华文中宋" panose="02010600040101010101" pitchFamily="2" charset="-122"/>
              </a:rPr>
              <a:t>出的光电子越多，光电流越大。</a:t>
            </a:r>
          </a:p>
        </p:txBody>
      </p:sp>
      <p:sp>
        <p:nvSpPr>
          <p:cNvPr id="9223" name="Rectangle 7"/>
          <p:cNvSpPr/>
          <p:nvPr/>
        </p:nvSpPr>
        <p:spPr>
          <a:xfrm>
            <a:off x="225425" y="195263"/>
            <a:ext cx="7010400" cy="519112"/>
          </a:xfrm>
          <a:prstGeom prst="rect">
            <a:avLst/>
          </a:prstGeom>
          <a:noFill/>
          <a:ln w="9525">
            <a:noFill/>
          </a:ln>
        </p:spPr>
        <p:txBody>
          <a:bodyPr>
            <a:spAutoFit/>
          </a:bodyPr>
          <a:lstStyle/>
          <a:p>
            <a:r>
              <a:rPr lang="zh-CN" altLang="en-US" sz="2800" b="0" dirty="0">
                <a:solidFill>
                  <a:srgbClr val="FFFF00"/>
                </a:solidFill>
                <a:latin typeface="华文中宋" panose="02010600040101010101" pitchFamily="2" charset="-122"/>
                <a:ea typeface="华文中宋" panose="02010600040101010101" pitchFamily="2" charset="-122"/>
              </a:rPr>
              <a:t>四</a:t>
            </a:r>
            <a:r>
              <a:rPr lang="zh-CN" altLang="zh-CN" sz="2800" b="0" dirty="0">
                <a:solidFill>
                  <a:srgbClr val="FFFF00"/>
                </a:solidFill>
                <a:latin typeface="华文中宋" panose="02010600040101010101" pitchFamily="2" charset="-122"/>
                <a:ea typeface="华文中宋" panose="02010600040101010101" pitchFamily="2" charset="-122"/>
              </a:rPr>
              <a:t>. </a:t>
            </a:r>
            <a:r>
              <a:rPr lang="zh-CN" altLang="en-US" sz="2800" b="0" dirty="0">
                <a:solidFill>
                  <a:srgbClr val="FFFF00"/>
                </a:solidFill>
                <a:latin typeface="华文中宋" panose="02010600040101010101" pitchFamily="2" charset="-122"/>
                <a:ea typeface="华文中宋" panose="02010600040101010101" pitchFamily="2" charset="-122"/>
              </a:rPr>
              <a:t>爱因斯坦光子假说    光电效应方程</a:t>
            </a:r>
            <a:r>
              <a:rPr lang="zh-CN" altLang="en-US" sz="2800" b="0" dirty="0">
                <a:solidFill>
                  <a:srgbClr val="FFFF99"/>
                </a:solidFill>
                <a:latin typeface="华文中宋" panose="02010600040101010101" pitchFamily="2" charset="-122"/>
                <a:ea typeface="华文中宋" panose="02010600040101010101" pitchFamily="2" charset="-122"/>
              </a:rPr>
              <a:t> </a:t>
            </a:r>
          </a:p>
        </p:txBody>
      </p:sp>
      <p:sp>
        <p:nvSpPr>
          <p:cNvPr id="9224" name="灯片编号占位符 1"/>
          <p:cNvSpPr txBox="1"/>
          <p:nvPr/>
        </p:nvSpPr>
        <p:spPr>
          <a:xfrm>
            <a:off x="0" y="6381750"/>
            <a:ext cx="2133600" cy="476250"/>
          </a:xfrm>
          <a:prstGeom prst="rect">
            <a:avLst/>
          </a:prstGeom>
          <a:noFill/>
          <a:ln w="9525">
            <a:noFill/>
          </a:ln>
        </p:spPr>
        <p:txBody>
          <a:bodyPr/>
          <a:lstStyle/>
          <a:p>
            <a:pPr eaLnBrk="1" hangingPunct="1"/>
            <a:fld id="{9A0DB2DC-4C9A-4742-B13C-FB6460FD3503}" type="slidenum">
              <a:rPr lang="en-US" altLang="zh-CN" b="0" smtClean="0">
                <a:solidFill>
                  <a:srgbClr val="FF00FF"/>
                </a:solidFill>
                <a:latin typeface="Times New Roman" panose="02020603050405020304" pitchFamily="18" charset="0"/>
              </a:rPr>
              <a:t>4</a:t>
            </a:fld>
            <a:r>
              <a:rPr lang="en-US" altLang="zh-CN" b="0" dirty="0">
                <a:solidFill>
                  <a:srgbClr val="FF00FF"/>
                </a:solidFill>
                <a:latin typeface="Times New Roman" panose="02020603050405020304" pitchFamily="18" charset="0"/>
              </a:rPr>
              <a:t>/30</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674">
                                            <p:txEl>
                                              <p:pRg st="0" end="0"/>
                                            </p:txEl>
                                          </p:spTgt>
                                        </p:tgtEl>
                                        <p:attrNameLst>
                                          <p:attrName>style.visibility</p:attrName>
                                        </p:attrNameLst>
                                      </p:cBhvr>
                                      <p:to>
                                        <p:strVal val="visible"/>
                                      </p:to>
                                    </p:set>
                                    <p:animEffect transition="in" filter="wipe(left)">
                                      <p:cBhvr>
                                        <p:cTn id="7" dur="500"/>
                                        <p:tgtEl>
                                          <p:spTgt spid="2867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674">
                                            <p:txEl>
                                              <p:pRg st="1" end="1"/>
                                            </p:txEl>
                                          </p:spTgt>
                                        </p:tgtEl>
                                        <p:attrNameLst>
                                          <p:attrName>style.visibility</p:attrName>
                                        </p:attrNameLst>
                                      </p:cBhvr>
                                      <p:to>
                                        <p:strVal val="visible"/>
                                      </p:to>
                                    </p:set>
                                    <p:animEffect transition="in" filter="wipe(left)">
                                      <p:cBhvr>
                                        <p:cTn id="12" dur="500"/>
                                        <p:tgtEl>
                                          <p:spTgt spid="2867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8675"/>
                                        </p:tgtEl>
                                        <p:attrNameLst>
                                          <p:attrName>style.visibility</p:attrName>
                                        </p:attrNameLst>
                                      </p:cBhvr>
                                      <p:to>
                                        <p:strVal val="visible"/>
                                      </p:to>
                                    </p:set>
                                    <p:animEffect transition="in" filter="wipe(left)">
                                      <p:cBhvr>
                                        <p:cTn id="17" dur="500"/>
                                        <p:tgtEl>
                                          <p:spTgt spid="2867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8676"/>
                                        </p:tgtEl>
                                        <p:attrNameLst>
                                          <p:attrName>style.visibility</p:attrName>
                                        </p:attrNameLst>
                                      </p:cBhvr>
                                      <p:to>
                                        <p:strVal val="visible"/>
                                      </p:to>
                                    </p:set>
                                    <p:animEffect transition="in" filter="wipe(left)">
                                      <p:cBhvr>
                                        <p:cTn id="22" dur="500"/>
                                        <p:tgtEl>
                                          <p:spTgt spid="2867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8677"/>
                                        </p:tgtEl>
                                        <p:attrNameLst>
                                          <p:attrName>style.visibility</p:attrName>
                                        </p:attrNameLst>
                                      </p:cBhvr>
                                      <p:to>
                                        <p:strVal val="visible"/>
                                      </p:to>
                                    </p:set>
                                    <p:animEffect transition="in" filter="wipe(left)">
                                      <p:cBhvr>
                                        <p:cTn id="27" dur="500"/>
                                        <p:tgtEl>
                                          <p:spTgt spid="2867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8678">
                                            <p:txEl>
                                              <p:pRg st="0" end="0"/>
                                            </p:txEl>
                                          </p:spTgt>
                                        </p:tgtEl>
                                        <p:attrNameLst>
                                          <p:attrName>style.visibility</p:attrName>
                                        </p:attrNameLst>
                                      </p:cBhvr>
                                      <p:to>
                                        <p:strVal val="visible"/>
                                      </p:to>
                                    </p:set>
                                    <p:animEffect transition="in" filter="wipe(left)">
                                      <p:cBhvr>
                                        <p:cTn id="32" dur="500"/>
                                        <p:tgtEl>
                                          <p:spTgt spid="28678">
                                            <p:txEl>
                                              <p:pRg st="0" end="0"/>
                                            </p:txEl>
                                          </p:spTgt>
                                        </p:tgtEl>
                                      </p:cBhvr>
                                    </p:animEffect>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28678">
                                            <p:txEl>
                                              <p:pRg st="1" end="1"/>
                                            </p:txEl>
                                          </p:spTgt>
                                        </p:tgtEl>
                                        <p:attrNameLst>
                                          <p:attrName>style.visibility</p:attrName>
                                        </p:attrNameLst>
                                      </p:cBhvr>
                                      <p:to>
                                        <p:strVal val="visible"/>
                                      </p:to>
                                    </p:set>
                                    <p:animEffect transition="in" filter="wipe(left)">
                                      <p:cBhvr>
                                        <p:cTn id="36" dur="500"/>
                                        <p:tgtEl>
                                          <p:spTgt spid="2867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build="p" bldLvl="2"/>
      <p:bldP spid="28675" grpId="0"/>
      <p:bldP spid="28677" grpId="0"/>
      <p:bldP spid="28678" grpId="0" uiExpand="1" build="p" bldLvl="2"/>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p:cNvSpPr txBox="1"/>
          <p:nvPr/>
        </p:nvSpPr>
        <p:spPr>
          <a:xfrm>
            <a:off x="395288" y="373063"/>
            <a:ext cx="8534400" cy="1709737"/>
          </a:xfrm>
          <a:prstGeom prst="rect">
            <a:avLst/>
          </a:prstGeom>
          <a:noFill/>
          <a:ln w="9525">
            <a:noFill/>
          </a:ln>
        </p:spPr>
        <p:txBody>
          <a:bodyPr lIns="90000" tIns="46800" rIns="90000" bIns="46800">
            <a:spAutoFit/>
          </a:bodyPr>
          <a:lstStyle/>
          <a:p>
            <a:pPr>
              <a:spcAft>
                <a:spcPts val="600"/>
              </a:spcAft>
            </a:pPr>
            <a:r>
              <a:rPr lang="zh-CN" altLang="zh-CN" b="0" dirty="0">
                <a:solidFill>
                  <a:srgbClr val="66FFFF"/>
                </a:solidFill>
                <a:latin typeface="Times New Roman" panose="02020603050405020304" pitchFamily="18" charset="0"/>
              </a:rPr>
              <a:t>(2) </a:t>
            </a:r>
            <a:r>
              <a:rPr lang="zh-CN" altLang="en-US" b="0" dirty="0">
                <a:solidFill>
                  <a:srgbClr val="66FFFF"/>
                </a:solidFill>
                <a:latin typeface="华文中宋" panose="02010600040101010101" pitchFamily="2" charset="-122"/>
                <a:ea typeface="华文中宋" panose="02010600040101010101" pitchFamily="2" charset="-122"/>
              </a:rPr>
              <a:t>截止频率（红</a:t>
            </a:r>
            <a:r>
              <a:rPr lang="zh-CN" altLang="en-US" b="0" dirty="0">
                <a:solidFill>
                  <a:srgbClr val="66FFFF"/>
                </a:solidFill>
                <a:latin typeface="Times New Roman" panose="02020603050405020304" pitchFamily="18" charset="0"/>
                <a:ea typeface="华文中宋" panose="02010600040101010101" pitchFamily="2" charset="-122"/>
              </a:rPr>
              <a:t>限频率）</a:t>
            </a:r>
            <a:endParaRPr lang="zh-CN" altLang="en-US" sz="2000" b="0" dirty="0">
              <a:solidFill>
                <a:srgbClr val="66FFFF"/>
              </a:solidFill>
              <a:latin typeface="Times New Roman" panose="02020603050405020304" pitchFamily="18" charset="0"/>
              <a:ea typeface="华文中宋" panose="02010600040101010101" pitchFamily="2" charset="-122"/>
            </a:endParaRPr>
          </a:p>
          <a:p>
            <a:pPr marL="0" lvl="1" indent="0"/>
            <a:r>
              <a:rPr lang="en-US" altLang="zh-CN" b="0" dirty="0">
                <a:solidFill>
                  <a:schemeClr val="hlink"/>
                </a:solidFill>
                <a:latin typeface="Times New Roman" panose="02020603050405020304" pitchFamily="18" charset="0"/>
                <a:ea typeface="华文中宋" panose="02010600040101010101" pitchFamily="2" charset="-122"/>
              </a:rPr>
              <a:t>        </a:t>
            </a:r>
            <a:r>
              <a:rPr lang="zh-CN" altLang="en-US" b="0" dirty="0">
                <a:solidFill>
                  <a:schemeClr val="hlink"/>
                </a:solidFill>
                <a:latin typeface="Times New Roman" panose="02020603050405020304" pitchFamily="18" charset="0"/>
                <a:ea typeface="华文中宋" panose="02010600040101010101" pitchFamily="2" charset="-122"/>
              </a:rPr>
              <a:t>当入射光频率低于红限频率</a:t>
            </a:r>
            <a:r>
              <a:rPr lang="zh-CN" altLang="zh-CN" b="0" dirty="0">
                <a:solidFill>
                  <a:srgbClr val="FFFF00"/>
                </a:solidFill>
                <a:latin typeface="Symbol" panose="05050102010706020507" pitchFamily="18" charset="2"/>
              </a:rPr>
              <a:t>n</a:t>
            </a:r>
            <a:r>
              <a:rPr lang="zh-CN" altLang="zh-CN" b="0" baseline="-25000" dirty="0">
                <a:solidFill>
                  <a:srgbClr val="FFFF00"/>
                </a:solidFill>
                <a:latin typeface="Times New Roman" panose="02020603050405020304" pitchFamily="18" charset="0"/>
              </a:rPr>
              <a:t>0</a:t>
            </a:r>
            <a:r>
              <a:rPr lang="zh-CN" altLang="en-US" b="0" dirty="0">
                <a:solidFill>
                  <a:schemeClr val="hlink"/>
                </a:solidFill>
                <a:latin typeface="Times New Roman" panose="02020603050405020304" pitchFamily="18" charset="0"/>
              </a:rPr>
              <a:t>，</a:t>
            </a:r>
            <a:r>
              <a:rPr lang="zh-CN" altLang="zh-CN" b="0" i="1" dirty="0">
                <a:solidFill>
                  <a:srgbClr val="FFFF00"/>
                </a:solidFill>
                <a:latin typeface="Times New Roman" panose="02020603050405020304" pitchFamily="18" charset="0"/>
              </a:rPr>
              <a:t>h</a:t>
            </a:r>
            <a:r>
              <a:rPr lang="zh-CN" altLang="zh-CN" b="0" dirty="0">
                <a:solidFill>
                  <a:srgbClr val="FFFF00"/>
                </a:solidFill>
                <a:latin typeface="Symbol" panose="05050102010706020507" pitchFamily="18" charset="2"/>
              </a:rPr>
              <a:t>n</a:t>
            </a:r>
            <a:r>
              <a:rPr lang="zh-CN" altLang="zh-CN" b="0" dirty="0">
                <a:solidFill>
                  <a:srgbClr val="FFFF00"/>
                </a:solidFill>
                <a:latin typeface="Times New Roman" panose="02020603050405020304" pitchFamily="18" charset="0"/>
              </a:rPr>
              <a:t>&lt;</a:t>
            </a:r>
            <a:r>
              <a:rPr lang="zh-CN" altLang="zh-CN" b="0" i="1" dirty="0">
                <a:solidFill>
                  <a:srgbClr val="FFFF00"/>
                </a:solidFill>
                <a:latin typeface="Times New Roman" panose="02020603050405020304" pitchFamily="18" charset="0"/>
              </a:rPr>
              <a:t>W</a:t>
            </a:r>
            <a:r>
              <a:rPr lang="zh-CN" altLang="en-US" b="0" dirty="0">
                <a:solidFill>
                  <a:schemeClr val="hlink"/>
                </a:solidFill>
                <a:latin typeface="Times New Roman" panose="02020603050405020304" pitchFamily="18" charset="0"/>
                <a:ea typeface="华文中宋" panose="02010600040101010101" pitchFamily="2" charset="-122"/>
              </a:rPr>
              <a:t>不会有光电子逸出。只有当入射光频率足够高</a:t>
            </a:r>
            <a:r>
              <a:rPr lang="zh-CN" altLang="en-US" b="0" dirty="0">
                <a:solidFill>
                  <a:schemeClr val="hlink"/>
                </a:solidFill>
                <a:latin typeface="Times New Roman" panose="02020603050405020304" pitchFamily="18" charset="0"/>
              </a:rPr>
              <a:t>（</a:t>
            </a:r>
            <a:r>
              <a:rPr lang="zh-CN" altLang="zh-CN" b="0" dirty="0">
                <a:solidFill>
                  <a:srgbClr val="FFFF00"/>
                </a:solidFill>
                <a:latin typeface="Symbol" panose="05050102010706020507" pitchFamily="18" charset="2"/>
              </a:rPr>
              <a:t>n</a:t>
            </a:r>
            <a:r>
              <a:rPr lang="zh-CN" altLang="zh-CN" b="0" dirty="0">
                <a:solidFill>
                  <a:srgbClr val="FFFF00"/>
                </a:solidFill>
                <a:latin typeface="Times New Roman" panose="02020603050405020304" pitchFamily="18" charset="0"/>
              </a:rPr>
              <a:t> &gt;</a:t>
            </a:r>
            <a:r>
              <a:rPr lang="zh-CN" altLang="zh-CN" b="0" i="1" dirty="0">
                <a:solidFill>
                  <a:srgbClr val="FFFF00"/>
                </a:solidFill>
                <a:latin typeface="Times New Roman" panose="02020603050405020304" pitchFamily="18" charset="0"/>
              </a:rPr>
              <a:t>W/h</a:t>
            </a:r>
            <a:r>
              <a:rPr lang="zh-CN" altLang="en-US" b="0" dirty="0">
                <a:solidFill>
                  <a:schemeClr val="hlink"/>
                </a:solidFill>
                <a:latin typeface="Times New Roman" panose="02020603050405020304" pitchFamily="18" charset="0"/>
              </a:rPr>
              <a:t>），</a:t>
            </a:r>
            <a:r>
              <a:rPr lang="zh-CN" altLang="en-US" b="0" dirty="0">
                <a:solidFill>
                  <a:schemeClr val="hlink"/>
                </a:solidFill>
                <a:latin typeface="Times New Roman" panose="02020603050405020304" pitchFamily="18" charset="0"/>
                <a:ea typeface="华文中宋" panose="02010600040101010101" pitchFamily="2" charset="-122"/>
              </a:rPr>
              <a:t>以致每个光子的能量足够大，电子才能克服逸出功而逸出金属表面</a:t>
            </a:r>
            <a:r>
              <a:rPr lang="zh-CN" altLang="en-US" b="0" dirty="0">
                <a:solidFill>
                  <a:schemeClr val="hlink"/>
                </a:solidFill>
                <a:latin typeface="Times New Roman" panose="02020603050405020304" pitchFamily="18" charset="0"/>
              </a:rPr>
              <a:t>。</a:t>
            </a:r>
          </a:p>
        </p:txBody>
      </p:sp>
      <p:sp>
        <p:nvSpPr>
          <p:cNvPr id="29699" name="Text Box 3"/>
          <p:cNvSpPr txBox="1"/>
          <p:nvPr/>
        </p:nvSpPr>
        <p:spPr>
          <a:xfrm>
            <a:off x="427038" y="2251075"/>
            <a:ext cx="7859712" cy="463550"/>
          </a:xfrm>
          <a:prstGeom prst="rect">
            <a:avLst/>
          </a:prstGeom>
          <a:noFill/>
          <a:ln w="9525">
            <a:noFill/>
          </a:ln>
        </p:spPr>
        <p:txBody>
          <a:bodyPr lIns="90000" tIns="46800" rIns="90000" bIns="46800">
            <a:spAutoFit/>
          </a:bodyPr>
          <a:lstStyle/>
          <a:p>
            <a:pPr>
              <a:spcBef>
                <a:spcPct val="20000"/>
              </a:spcBef>
            </a:pPr>
            <a:r>
              <a:rPr lang="zh-CN" altLang="zh-CN" b="0" dirty="0">
                <a:solidFill>
                  <a:srgbClr val="66FFFF"/>
                </a:solidFill>
                <a:latin typeface="Times New Roman" panose="02020603050405020304" pitchFamily="18" charset="0"/>
              </a:rPr>
              <a:t>(3) </a:t>
            </a:r>
            <a:r>
              <a:rPr lang="zh-CN" altLang="en-US" b="0" dirty="0">
                <a:solidFill>
                  <a:srgbClr val="66FFFF"/>
                </a:solidFill>
                <a:latin typeface="Times New Roman" panose="02020603050405020304" pitchFamily="18" charset="0"/>
              </a:rPr>
              <a:t>遏止</a:t>
            </a:r>
            <a:r>
              <a:rPr lang="zh-CN" altLang="en-US" b="0" dirty="0">
                <a:solidFill>
                  <a:srgbClr val="66FFFF"/>
                </a:solidFill>
                <a:latin typeface="Times New Roman" panose="02020603050405020304" pitchFamily="18" charset="0"/>
                <a:ea typeface="华文中宋" panose="02010600040101010101" pitchFamily="2" charset="-122"/>
              </a:rPr>
              <a:t>电压与频率呈线性关系</a:t>
            </a:r>
          </a:p>
        </p:txBody>
      </p:sp>
      <p:graphicFrame>
        <p:nvGraphicFramePr>
          <p:cNvPr id="29700" name="Object 4"/>
          <p:cNvGraphicFramePr>
            <a:graphicFrameLocks noChangeAspect="1"/>
          </p:cNvGraphicFramePr>
          <p:nvPr/>
        </p:nvGraphicFramePr>
        <p:xfrm>
          <a:off x="3071813" y="3786188"/>
          <a:ext cx="1819275" cy="879475"/>
        </p:xfrm>
        <a:graphic>
          <a:graphicData uri="http://schemas.openxmlformats.org/presentationml/2006/ole">
            <mc:AlternateContent xmlns:mc="http://schemas.openxmlformats.org/markup-compatibility/2006">
              <mc:Choice xmlns:v="urn:schemas-microsoft-com:vml" Requires="v">
                <p:oleObj spid="_x0000_s460853" r:id="rId3" imgW="1003300" imgH="434975" progId="Equation.3">
                  <p:embed/>
                </p:oleObj>
              </mc:Choice>
              <mc:Fallback>
                <p:oleObj r:id="rId3" imgW="1003300" imgH="434975" progId="Equation.3">
                  <p:embed/>
                  <p:pic>
                    <p:nvPicPr>
                      <p:cNvPr id="29700" name="Object 4"/>
                      <p:cNvPicPr/>
                      <p:nvPr/>
                    </p:nvPicPr>
                    <p:blipFill>
                      <a:blip r:embed="rId4">
                        <a:clrChange>
                          <a:clrFrom>
                            <a:srgbClr val="000000"/>
                          </a:clrFrom>
                          <a:clrTo>
                            <a:srgbClr val="FFCC00"/>
                          </a:clrTo>
                        </a:clrChange>
                      </a:blip>
                      <a:stretch>
                        <a:fillRect/>
                      </a:stretch>
                    </p:blipFill>
                    <p:spPr>
                      <a:xfrm>
                        <a:off x="3071813" y="3786188"/>
                        <a:ext cx="1819275" cy="879475"/>
                      </a:xfrm>
                      <a:prstGeom prst="rect">
                        <a:avLst/>
                      </a:prstGeom>
                      <a:noFill/>
                      <a:ln w="38100">
                        <a:noFill/>
                        <a:miter/>
                      </a:ln>
                    </p:spPr>
                  </p:pic>
                </p:oleObj>
              </mc:Fallback>
            </mc:AlternateContent>
          </a:graphicData>
        </a:graphic>
      </p:graphicFrame>
      <p:graphicFrame>
        <p:nvGraphicFramePr>
          <p:cNvPr id="29701" name="Object 5"/>
          <p:cNvGraphicFramePr>
            <a:graphicFrameLocks noChangeAspect="1"/>
          </p:cNvGraphicFramePr>
          <p:nvPr/>
        </p:nvGraphicFramePr>
        <p:xfrm>
          <a:off x="1444625" y="2709863"/>
          <a:ext cx="2479675" cy="966787"/>
        </p:xfrm>
        <a:graphic>
          <a:graphicData uri="http://schemas.openxmlformats.org/presentationml/2006/ole">
            <mc:AlternateContent xmlns:mc="http://schemas.openxmlformats.org/markup-compatibility/2006">
              <mc:Choice xmlns:v="urn:schemas-microsoft-com:vml" Requires="v">
                <p:oleObj spid="_x0000_s460854" r:id="rId5" imgW="1181735" imgH="434975" progId="Equation.3">
                  <p:embed/>
                </p:oleObj>
              </mc:Choice>
              <mc:Fallback>
                <p:oleObj r:id="rId5" imgW="1181735" imgH="434975" progId="Equation.3">
                  <p:embed/>
                  <p:pic>
                    <p:nvPicPr>
                      <p:cNvPr id="29701" name="Object 5"/>
                      <p:cNvPicPr/>
                      <p:nvPr/>
                    </p:nvPicPr>
                    <p:blipFill>
                      <a:blip r:embed="rId6">
                        <a:clrChange>
                          <a:clrFrom>
                            <a:srgbClr val="000000"/>
                          </a:clrFrom>
                          <a:clrTo>
                            <a:srgbClr val="FFCC00"/>
                          </a:clrTo>
                        </a:clrChange>
                      </a:blip>
                      <a:stretch>
                        <a:fillRect/>
                      </a:stretch>
                    </p:blipFill>
                    <p:spPr>
                      <a:xfrm>
                        <a:off x="1444625" y="2709863"/>
                        <a:ext cx="2479675" cy="966787"/>
                      </a:xfrm>
                      <a:prstGeom prst="rect">
                        <a:avLst/>
                      </a:prstGeom>
                      <a:noFill/>
                      <a:ln w="38100">
                        <a:noFill/>
                        <a:miter/>
                      </a:ln>
                    </p:spPr>
                  </p:pic>
                </p:oleObj>
              </mc:Fallback>
            </mc:AlternateContent>
          </a:graphicData>
        </a:graphic>
      </p:graphicFrame>
      <p:graphicFrame>
        <p:nvGraphicFramePr>
          <p:cNvPr id="29702" name="Object 6"/>
          <p:cNvGraphicFramePr>
            <a:graphicFrameLocks noChangeAspect="1"/>
          </p:cNvGraphicFramePr>
          <p:nvPr/>
        </p:nvGraphicFramePr>
        <p:xfrm>
          <a:off x="4932363" y="2765425"/>
          <a:ext cx="1936750" cy="876300"/>
        </p:xfrm>
        <a:graphic>
          <a:graphicData uri="http://schemas.openxmlformats.org/presentationml/2006/ole">
            <mc:AlternateContent xmlns:mc="http://schemas.openxmlformats.org/markup-compatibility/2006">
              <mc:Choice xmlns:v="urn:schemas-microsoft-com:vml" Requires="v">
                <p:oleObj spid="_x0000_s460855" r:id="rId7" imgW="948055" imgH="434975" progId="Equation.3">
                  <p:embed/>
                </p:oleObj>
              </mc:Choice>
              <mc:Fallback>
                <p:oleObj r:id="rId7" imgW="948055" imgH="434975" progId="Equation.3">
                  <p:embed/>
                  <p:pic>
                    <p:nvPicPr>
                      <p:cNvPr id="29702" name="Object 6"/>
                      <p:cNvPicPr/>
                      <p:nvPr/>
                    </p:nvPicPr>
                    <p:blipFill>
                      <a:blip r:embed="rId8">
                        <a:clrChange>
                          <a:clrFrom>
                            <a:srgbClr val="000000"/>
                          </a:clrFrom>
                          <a:clrTo>
                            <a:srgbClr val="FFCC00"/>
                          </a:clrTo>
                        </a:clrChange>
                      </a:blip>
                      <a:stretch>
                        <a:fillRect/>
                      </a:stretch>
                    </p:blipFill>
                    <p:spPr>
                      <a:xfrm>
                        <a:off x="4932363" y="2765425"/>
                        <a:ext cx="1936750" cy="876300"/>
                      </a:xfrm>
                      <a:prstGeom prst="rect">
                        <a:avLst/>
                      </a:prstGeom>
                      <a:noFill/>
                      <a:ln w="38100">
                        <a:noFill/>
                        <a:miter/>
                      </a:ln>
                    </p:spPr>
                  </p:pic>
                </p:oleObj>
              </mc:Fallback>
            </mc:AlternateContent>
          </a:graphicData>
        </a:graphic>
      </p:graphicFrame>
      <p:sp>
        <p:nvSpPr>
          <p:cNvPr id="29704" name="Text Box 8"/>
          <p:cNvSpPr txBox="1"/>
          <p:nvPr/>
        </p:nvSpPr>
        <p:spPr>
          <a:xfrm>
            <a:off x="468313" y="4883150"/>
            <a:ext cx="8135937" cy="1279525"/>
          </a:xfrm>
          <a:prstGeom prst="rect">
            <a:avLst/>
          </a:prstGeom>
          <a:noFill/>
          <a:ln w="9525">
            <a:noFill/>
          </a:ln>
        </p:spPr>
        <p:txBody>
          <a:bodyPr lIns="90000" tIns="46800" rIns="90000" bIns="46800">
            <a:spAutoFit/>
          </a:bodyPr>
          <a:lstStyle/>
          <a:p>
            <a:pPr>
              <a:spcAft>
                <a:spcPts val="600"/>
              </a:spcAft>
            </a:pPr>
            <a:r>
              <a:rPr lang="zh-CN" altLang="zh-CN" b="0" dirty="0">
                <a:solidFill>
                  <a:srgbClr val="66FFFF"/>
                </a:solidFill>
                <a:latin typeface="Times New Roman" panose="02020603050405020304" pitchFamily="18" charset="0"/>
              </a:rPr>
              <a:t>(4)</a:t>
            </a:r>
            <a:r>
              <a:rPr lang="zh-CN" altLang="en-US" b="0" dirty="0">
                <a:solidFill>
                  <a:srgbClr val="66FFFF"/>
                </a:solidFill>
                <a:latin typeface="Times New Roman" panose="02020603050405020304" pitchFamily="18" charset="0"/>
                <a:ea typeface="华文中宋" panose="02010600040101010101" pitchFamily="2" charset="-122"/>
              </a:rPr>
              <a:t>光电效应的瞬时性</a:t>
            </a:r>
            <a:endParaRPr lang="zh-CN" altLang="en-US" b="0" dirty="0">
              <a:solidFill>
                <a:srgbClr val="66FFFF"/>
              </a:solidFill>
              <a:latin typeface="Times New Roman" panose="02020603050405020304" pitchFamily="18" charset="0"/>
            </a:endParaRPr>
          </a:p>
          <a:p>
            <a:pPr marL="0" lvl="1" indent="0"/>
            <a:r>
              <a:rPr lang="en-US" altLang="zh-CN" b="0" dirty="0">
                <a:solidFill>
                  <a:schemeClr val="hlink"/>
                </a:solidFill>
                <a:latin typeface="Times New Roman" panose="02020603050405020304" pitchFamily="18" charset="0"/>
                <a:ea typeface="华文中宋" panose="02010600040101010101" pitchFamily="2" charset="-122"/>
              </a:rPr>
              <a:t>        </a:t>
            </a:r>
            <a:r>
              <a:rPr lang="zh-CN" altLang="en-US" b="0" dirty="0">
                <a:solidFill>
                  <a:schemeClr val="hlink"/>
                </a:solidFill>
                <a:latin typeface="Times New Roman" panose="02020603050405020304" pitchFamily="18" charset="0"/>
                <a:ea typeface="华文中宋" panose="02010600040101010101" pitchFamily="2" charset="-122"/>
              </a:rPr>
              <a:t>当电子一次性地吸收了一个光子后，便获得了</a:t>
            </a:r>
            <a:r>
              <a:rPr lang="zh-CN" altLang="en-US" b="0" dirty="0">
                <a:solidFill>
                  <a:schemeClr val="hlink"/>
                </a:solidFill>
                <a:latin typeface="Times New Roman" panose="02020603050405020304" pitchFamily="18" charset="0"/>
              </a:rPr>
              <a:t> </a:t>
            </a:r>
            <a:r>
              <a:rPr lang="zh-CN" altLang="zh-CN" b="0" i="1" dirty="0">
                <a:solidFill>
                  <a:srgbClr val="FFFF00"/>
                </a:solidFill>
                <a:latin typeface="Times New Roman" panose="02020603050405020304" pitchFamily="18" charset="0"/>
              </a:rPr>
              <a:t>h</a:t>
            </a:r>
            <a:r>
              <a:rPr lang="zh-CN" altLang="zh-CN" b="0" i="1" dirty="0">
                <a:solidFill>
                  <a:srgbClr val="FFFF00"/>
                </a:solidFill>
                <a:latin typeface="Symbol" panose="05050102010706020507" pitchFamily="18" charset="2"/>
              </a:rPr>
              <a:t>n</a:t>
            </a:r>
            <a:r>
              <a:rPr lang="zh-CN" altLang="zh-CN" b="0" dirty="0">
                <a:solidFill>
                  <a:schemeClr val="hlink"/>
                </a:solidFill>
                <a:latin typeface="Symbol" panose="05050102010706020507" pitchFamily="18" charset="2"/>
              </a:rPr>
              <a:t> </a:t>
            </a:r>
            <a:r>
              <a:rPr lang="zh-CN" altLang="en-US" b="0" dirty="0">
                <a:solidFill>
                  <a:schemeClr val="hlink"/>
                </a:solidFill>
                <a:latin typeface="华文中宋" panose="02010600040101010101" pitchFamily="2" charset="-122"/>
                <a:ea typeface="华文中宋" panose="02010600040101010101" pitchFamily="2" charset="-122"/>
              </a:rPr>
              <a:t>的能量而立刻从金属表面逸出，没有明显的时间滞后。 </a:t>
            </a:r>
          </a:p>
        </p:txBody>
      </p:sp>
      <p:sp>
        <p:nvSpPr>
          <p:cNvPr id="10248" name="灯片编号占位符 1"/>
          <p:cNvSpPr txBox="1"/>
          <p:nvPr/>
        </p:nvSpPr>
        <p:spPr>
          <a:xfrm>
            <a:off x="0" y="6381750"/>
            <a:ext cx="2133600" cy="476250"/>
          </a:xfrm>
          <a:prstGeom prst="rect">
            <a:avLst/>
          </a:prstGeom>
          <a:noFill/>
          <a:ln w="9525">
            <a:noFill/>
          </a:ln>
        </p:spPr>
        <p:txBody>
          <a:bodyPr/>
          <a:lstStyle/>
          <a:p>
            <a:pPr eaLnBrk="1" hangingPunct="1"/>
            <a:fld id="{9A0DB2DC-4C9A-4742-B13C-FB6460FD3503}" type="slidenum">
              <a:rPr lang="en-US" altLang="zh-CN" b="0" smtClean="0">
                <a:solidFill>
                  <a:srgbClr val="FF00FF"/>
                </a:solidFill>
                <a:latin typeface="Times New Roman" panose="02020603050405020304" pitchFamily="18" charset="0"/>
              </a:rPr>
              <a:t>5</a:t>
            </a:fld>
            <a:r>
              <a:rPr lang="en-US" altLang="zh-CN" b="0" dirty="0">
                <a:solidFill>
                  <a:srgbClr val="FF00FF"/>
                </a:solidFill>
                <a:latin typeface="Times New Roman" panose="02020603050405020304" pitchFamily="18" charset="0"/>
              </a:rPr>
              <a:t>/30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9698">
                                            <p:txEl>
                                              <p:pRg st="0" end="0"/>
                                            </p:txEl>
                                          </p:spTgt>
                                        </p:tgtEl>
                                        <p:attrNameLst>
                                          <p:attrName>style.visibility</p:attrName>
                                        </p:attrNameLst>
                                      </p:cBhvr>
                                      <p:to>
                                        <p:strVal val="visible"/>
                                      </p:to>
                                    </p:set>
                                    <p:animEffect transition="in" filter="wipe(left)">
                                      <p:cBhvr>
                                        <p:cTn id="7" dur="500"/>
                                        <p:tgtEl>
                                          <p:spTgt spid="29698">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9698">
                                            <p:txEl>
                                              <p:pRg st="1" end="1"/>
                                            </p:txEl>
                                          </p:spTgt>
                                        </p:tgtEl>
                                        <p:attrNameLst>
                                          <p:attrName>style.visibility</p:attrName>
                                        </p:attrNameLst>
                                      </p:cBhvr>
                                      <p:to>
                                        <p:strVal val="visible"/>
                                      </p:to>
                                    </p:set>
                                    <p:animEffect transition="in" filter="wipe(left)">
                                      <p:cBhvr>
                                        <p:cTn id="11" dur="500"/>
                                        <p:tgtEl>
                                          <p:spTgt spid="29698">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9699"/>
                                        </p:tgtEl>
                                        <p:attrNameLst>
                                          <p:attrName>style.visibility</p:attrName>
                                        </p:attrNameLst>
                                      </p:cBhvr>
                                      <p:to>
                                        <p:strVal val="visible"/>
                                      </p:to>
                                    </p:set>
                                    <p:animEffect transition="in" filter="wipe(left)">
                                      <p:cBhvr>
                                        <p:cTn id="16" dur="500"/>
                                        <p:tgtEl>
                                          <p:spTgt spid="2969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9701"/>
                                        </p:tgtEl>
                                        <p:attrNameLst>
                                          <p:attrName>style.visibility</p:attrName>
                                        </p:attrNameLst>
                                      </p:cBhvr>
                                      <p:to>
                                        <p:strVal val="visible"/>
                                      </p:to>
                                    </p:set>
                                    <p:animEffect transition="in" filter="wipe(left)">
                                      <p:cBhvr>
                                        <p:cTn id="21" dur="500"/>
                                        <p:tgtEl>
                                          <p:spTgt spid="29701"/>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29702"/>
                                        </p:tgtEl>
                                        <p:attrNameLst>
                                          <p:attrName>style.visibility</p:attrName>
                                        </p:attrNameLst>
                                      </p:cBhvr>
                                      <p:to>
                                        <p:strVal val="visible"/>
                                      </p:to>
                                    </p:set>
                                    <p:animEffect transition="in" filter="wipe(left)">
                                      <p:cBhvr>
                                        <p:cTn id="25" dur="500"/>
                                        <p:tgtEl>
                                          <p:spTgt spid="2970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29700"/>
                                        </p:tgtEl>
                                        <p:attrNameLst>
                                          <p:attrName>style.visibility</p:attrName>
                                        </p:attrNameLst>
                                      </p:cBhvr>
                                      <p:to>
                                        <p:strVal val="visible"/>
                                      </p:to>
                                    </p:set>
                                    <p:animEffect transition="in" filter="wipe(left)">
                                      <p:cBhvr>
                                        <p:cTn id="30" dur="500"/>
                                        <p:tgtEl>
                                          <p:spTgt spid="29700"/>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9704">
                                            <p:txEl>
                                              <p:pRg st="0" end="0"/>
                                            </p:txEl>
                                          </p:spTgt>
                                        </p:tgtEl>
                                        <p:attrNameLst>
                                          <p:attrName>style.visibility</p:attrName>
                                        </p:attrNameLst>
                                      </p:cBhvr>
                                      <p:to>
                                        <p:strVal val="visible"/>
                                      </p:to>
                                    </p:set>
                                    <p:animEffect transition="in" filter="wipe(left)">
                                      <p:cBhvr>
                                        <p:cTn id="35" dur="500"/>
                                        <p:tgtEl>
                                          <p:spTgt spid="29704">
                                            <p:txEl>
                                              <p:pRg st="0" end="0"/>
                                            </p:txEl>
                                          </p:spTgt>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29704">
                                            <p:txEl>
                                              <p:pRg st="1" end="1"/>
                                            </p:txEl>
                                          </p:spTgt>
                                        </p:tgtEl>
                                        <p:attrNameLst>
                                          <p:attrName>style.visibility</p:attrName>
                                        </p:attrNameLst>
                                      </p:cBhvr>
                                      <p:to>
                                        <p:strVal val="visible"/>
                                      </p:to>
                                    </p:set>
                                    <p:animEffect transition="in" filter="wipe(left)">
                                      <p:cBhvr>
                                        <p:cTn id="39" dur="500"/>
                                        <p:tgtEl>
                                          <p:spTgt spid="2970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build="p" bldLvl="2"/>
      <p:bldP spid="29699" grpId="0"/>
      <p:bldP spid="29704" grpId="0" build="p" bldLvl="2"/>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p:nvPr/>
        </p:nvSpPr>
        <p:spPr>
          <a:xfrm>
            <a:off x="895350" y="2043113"/>
            <a:ext cx="2819400" cy="457200"/>
          </a:xfrm>
          <a:prstGeom prst="rect">
            <a:avLst/>
          </a:prstGeom>
          <a:noFill/>
          <a:ln w="9525">
            <a:noFill/>
          </a:ln>
        </p:spPr>
        <p:txBody>
          <a:bodyPr>
            <a:spAutoFit/>
          </a:bodyPr>
          <a:lstStyle/>
          <a:p>
            <a:r>
              <a:rPr lang="en-US" altLang="zh-CN" b="0" dirty="0">
                <a:solidFill>
                  <a:schemeClr val="hlink"/>
                </a:solidFill>
                <a:latin typeface="Times New Roman" panose="02020603050405020304" pitchFamily="18" charset="0"/>
                <a:ea typeface="华文中宋" panose="02010600040101010101" pitchFamily="2" charset="-122"/>
              </a:rPr>
              <a:t>(1) </a:t>
            </a:r>
            <a:r>
              <a:rPr lang="zh-CN" altLang="en-US" b="0" dirty="0">
                <a:solidFill>
                  <a:schemeClr val="hlink"/>
                </a:solidFill>
                <a:latin typeface="Times New Roman" panose="02020603050405020304" pitchFamily="18" charset="0"/>
                <a:ea typeface="华文中宋" panose="02010600040101010101" pitchFamily="2" charset="-122"/>
              </a:rPr>
              <a:t>逸出功</a:t>
            </a:r>
          </a:p>
        </p:txBody>
      </p:sp>
      <p:sp>
        <p:nvSpPr>
          <p:cNvPr id="13315" name="Text Box 11"/>
          <p:cNvSpPr txBox="1"/>
          <p:nvPr/>
        </p:nvSpPr>
        <p:spPr>
          <a:xfrm>
            <a:off x="898525" y="357188"/>
            <a:ext cx="8102600" cy="511487"/>
          </a:xfrm>
          <a:prstGeom prst="rect">
            <a:avLst/>
          </a:prstGeom>
          <a:noFill/>
          <a:ln w="9525">
            <a:noFill/>
          </a:ln>
        </p:spPr>
        <p:txBody>
          <a:bodyPr>
            <a:spAutoFit/>
          </a:bodyPr>
          <a:lstStyle/>
          <a:p>
            <a:pPr>
              <a:lnSpc>
                <a:spcPct val="125000"/>
              </a:lnSpc>
            </a:pPr>
            <a:r>
              <a:rPr lang="zh-CN" altLang="en-US" b="0" dirty="0">
                <a:solidFill>
                  <a:schemeClr val="hlink"/>
                </a:solidFill>
                <a:latin typeface="Times New Roman" panose="02020603050405020304" pitchFamily="18" charset="0"/>
                <a:ea typeface="华文中宋" panose="02010600040101010101" pitchFamily="2" charset="-122"/>
              </a:rPr>
              <a:t>钨的光电效应红限波长（截止频率对应的波长）</a:t>
            </a:r>
            <a:r>
              <a:rPr lang="en-US" altLang="zh-CN" b="0" dirty="0">
                <a:solidFill>
                  <a:schemeClr val="hlink"/>
                </a:solidFill>
                <a:latin typeface="Times New Roman" panose="02020603050405020304" pitchFamily="18" charset="0"/>
                <a:ea typeface="华文中宋" panose="02010600040101010101" pitchFamily="2" charset="-122"/>
              </a:rPr>
              <a:t>274 nm</a:t>
            </a:r>
            <a:endParaRPr lang="zh-CN" altLang="zh-CN" b="0" dirty="0">
              <a:solidFill>
                <a:schemeClr val="hlink"/>
              </a:solidFill>
              <a:latin typeface="Times New Roman" panose="02020603050405020304" pitchFamily="18" charset="0"/>
              <a:ea typeface="华文中宋" panose="02010600040101010101" pitchFamily="2" charset="-122"/>
            </a:endParaRPr>
          </a:p>
        </p:txBody>
      </p:sp>
      <p:sp>
        <p:nvSpPr>
          <p:cNvPr id="13316" name="Rectangle 12"/>
          <p:cNvSpPr/>
          <p:nvPr/>
        </p:nvSpPr>
        <p:spPr>
          <a:xfrm>
            <a:off x="296863" y="400050"/>
            <a:ext cx="989012" cy="461963"/>
          </a:xfrm>
          <a:prstGeom prst="rect">
            <a:avLst/>
          </a:prstGeom>
          <a:noFill/>
          <a:ln w="9525">
            <a:noFill/>
          </a:ln>
        </p:spPr>
        <p:txBody>
          <a:bodyPr>
            <a:spAutoFit/>
          </a:bodyPr>
          <a:lstStyle/>
          <a:p>
            <a:r>
              <a:rPr lang="zh-CN" altLang="en-US" b="0" dirty="0">
                <a:solidFill>
                  <a:srgbClr val="FFFF00"/>
                </a:solidFill>
                <a:latin typeface="Times New Roman" panose="02020603050405020304" pitchFamily="18" charset="0"/>
                <a:ea typeface="华文中宋" panose="02010600040101010101" pitchFamily="2" charset="-122"/>
              </a:rPr>
              <a:t>例：</a:t>
            </a:r>
          </a:p>
        </p:txBody>
      </p:sp>
      <p:sp>
        <p:nvSpPr>
          <p:cNvPr id="13317" name="Rectangle 16"/>
          <p:cNvSpPr/>
          <p:nvPr/>
        </p:nvSpPr>
        <p:spPr>
          <a:xfrm>
            <a:off x="323850" y="2039938"/>
            <a:ext cx="819150" cy="461962"/>
          </a:xfrm>
          <a:prstGeom prst="rect">
            <a:avLst/>
          </a:prstGeom>
          <a:noFill/>
          <a:ln w="9525">
            <a:noFill/>
          </a:ln>
        </p:spPr>
        <p:txBody>
          <a:bodyPr>
            <a:spAutoFit/>
          </a:bodyPr>
          <a:lstStyle/>
          <a:p>
            <a:r>
              <a:rPr lang="zh-CN" altLang="en-US" b="0" dirty="0">
                <a:solidFill>
                  <a:srgbClr val="FFFF00"/>
                </a:solidFill>
                <a:latin typeface="Times New Roman" panose="02020603050405020304" pitchFamily="18" charset="0"/>
                <a:ea typeface="华文中宋" panose="02010600040101010101" pitchFamily="2" charset="-122"/>
              </a:rPr>
              <a:t>解：</a:t>
            </a:r>
          </a:p>
        </p:txBody>
      </p:sp>
      <p:sp>
        <p:nvSpPr>
          <p:cNvPr id="13318" name="Text Box 11"/>
          <p:cNvSpPr txBox="1"/>
          <p:nvPr/>
        </p:nvSpPr>
        <p:spPr>
          <a:xfrm>
            <a:off x="285750" y="946150"/>
            <a:ext cx="8102600" cy="1016000"/>
          </a:xfrm>
          <a:prstGeom prst="rect">
            <a:avLst/>
          </a:prstGeom>
          <a:noFill/>
          <a:ln w="9525">
            <a:noFill/>
          </a:ln>
        </p:spPr>
        <p:txBody>
          <a:bodyPr>
            <a:spAutoFit/>
          </a:bodyPr>
          <a:lstStyle/>
          <a:p>
            <a:pPr>
              <a:lnSpc>
                <a:spcPct val="125000"/>
              </a:lnSpc>
            </a:pPr>
            <a:r>
              <a:rPr lang="zh-CN" altLang="en-US" b="0" dirty="0">
                <a:solidFill>
                  <a:srgbClr val="FFFF00"/>
                </a:solidFill>
                <a:latin typeface="Times New Roman" panose="02020603050405020304" pitchFamily="18" charset="0"/>
                <a:ea typeface="华文中宋" panose="02010600040101010101" pitchFamily="2" charset="-122"/>
              </a:rPr>
              <a:t>求：</a:t>
            </a:r>
            <a:r>
              <a:rPr lang="en-US" altLang="zh-CN" b="0" dirty="0">
                <a:solidFill>
                  <a:schemeClr val="hlink"/>
                </a:solidFill>
                <a:latin typeface="Times New Roman" panose="02020603050405020304" pitchFamily="18" charset="0"/>
                <a:ea typeface="华文中宋" panose="02010600040101010101" pitchFamily="2" charset="-122"/>
              </a:rPr>
              <a:t>(1) </a:t>
            </a:r>
            <a:r>
              <a:rPr lang="zh-CN" altLang="en-US" b="0" dirty="0">
                <a:solidFill>
                  <a:schemeClr val="hlink"/>
                </a:solidFill>
                <a:latin typeface="Times New Roman" panose="02020603050405020304" pitchFamily="18" charset="0"/>
                <a:ea typeface="华文中宋" panose="02010600040101010101" pitchFamily="2" charset="-122"/>
              </a:rPr>
              <a:t>钨电子的逸出功？</a:t>
            </a:r>
            <a:endParaRPr lang="en-US" altLang="zh-CN" b="0" dirty="0">
              <a:solidFill>
                <a:schemeClr val="hlink"/>
              </a:solidFill>
              <a:latin typeface="Times New Roman" panose="02020603050405020304" pitchFamily="18" charset="0"/>
              <a:ea typeface="华文中宋" panose="02010600040101010101" pitchFamily="2" charset="-122"/>
            </a:endParaRPr>
          </a:p>
          <a:p>
            <a:pPr>
              <a:lnSpc>
                <a:spcPct val="125000"/>
              </a:lnSpc>
            </a:pPr>
            <a:r>
              <a:rPr lang="en-US" altLang="zh-CN" b="0" dirty="0">
                <a:solidFill>
                  <a:schemeClr val="hlink"/>
                </a:solidFill>
                <a:latin typeface="Times New Roman" panose="02020603050405020304" pitchFamily="18" charset="0"/>
                <a:ea typeface="华文中宋" panose="02010600040101010101" pitchFamily="2" charset="-122"/>
              </a:rPr>
              <a:t>        (2) </a:t>
            </a:r>
            <a:r>
              <a:rPr lang="zh-CN" altLang="en-US" b="0" dirty="0">
                <a:solidFill>
                  <a:schemeClr val="hlink"/>
                </a:solidFill>
                <a:latin typeface="Times New Roman" panose="02020603050405020304" pitchFamily="18" charset="0"/>
                <a:ea typeface="华文中宋" panose="02010600040101010101" pitchFamily="2" charset="-122"/>
              </a:rPr>
              <a:t>在波长为</a:t>
            </a:r>
            <a:r>
              <a:rPr lang="en-US" altLang="zh-CN" b="0" dirty="0">
                <a:solidFill>
                  <a:schemeClr val="hlink"/>
                </a:solidFill>
                <a:latin typeface="Times New Roman" panose="02020603050405020304" pitchFamily="18" charset="0"/>
                <a:ea typeface="华文中宋" panose="02010600040101010101" pitchFamily="2" charset="-122"/>
              </a:rPr>
              <a:t>200nm</a:t>
            </a:r>
            <a:r>
              <a:rPr lang="zh-CN" altLang="en-US" b="0" dirty="0">
                <a:solidFill>
                  <a:schemeClr val="hlink"/>
                </a:solidFill>
                <a:latin typeface="Times New Roman" panose="02020603050405020304" pitchFamily="18" charset="0"/>
                <a:ea typeface="华文中宋" panose="02010600040101010101" pitchFamily="2" charset="-122"/>
              </a:rPr>
              <a:t>的紫光照射下，遏止电压为多少？</a:t>
            </a:r>
          </a:p>
        </p:txBody>
      </p:sp>
      <p:graphicFrame>
        <p:nvGraphicFramePr>
          <p:cNvPr id="2" name="Object 8"/>
          <p:cNvGraphicFramePr>
            <a:graphicFrameLocks noChangeAspect="1"/>
          </p:cNvGraphicFramePr>
          <p:nvPr/>
        </p:nvGraphicFramePr>
        <p:xfrm>
          <a:off x="1352550" y="2735263"/>
          <a:ext cx="1892300" cy="908050"/>
        </p:xfrm>
        <a:graphic>
          <a:graphicData uri="http://schemas.openxmlformats.org/presentationml/2006/ole">
            <mc:AlternateContent xmlns:mc="http://schemas.openxmlformats.org/markup-compatibility/2006">
              <mc:Choice xmlns:v="urn:schemas-microsoft-com:vml" Requires="v">
                <p:oleObj spid="_x0000_s461928" r:id="rId3" imgW="1036955" imgH="479425" progId="Equation.3">
                  <p:embed/>
                </p:oleObj>
              </mc:Choice>
              <mc:Fallback>
                <p:oleObj r:id="rId3" imgW="1036955" imgH="479425" progId="Equation.3">
                  <p:embed/>
                  <p:pic>
                    <p:nvPicPr>
                      <p:cNvPr id="2" name="Object 8"/>
                      <p:cNvPicPr/>
                      <p:nvPr/>
                    </p:nvPicPr>
                    <p:blipFill>
                      <a:blip r:embed="rId4">
                        <a:clrChange>
                          <a:clrFrom>
                            <a:srgbClr val="000000"/>
                          </a:clrFrom>
                          <a:clrTo>
                            <a:srgbClr val="FFCC66"/>
                          </a:clrTo>
                        </a:clrChange>
                      </a:blip>
                      <a:stretch>
                        <a:fillRect/>
                      </a:stretch>
                    </p:blipFill>
                    <p:spPr>
                      <a:xfrm>
                        <a:off x="1352550" y="2735263"/>
                        <a:ext cx="1892300" cy="908050"/>
                      </a:xfrm>
                      <a:prstGeom prst="rect">
                        <a:avLst/>
                      </a:prstGeom>
                      <a:noFill/>
                      <a:ln w="38100">
                        <a:noFill/>
                        <a:miter/>
                      </a:ln>
                    </p:spPr>
                  </p:pic>
                </p:oleObj>
              </mc:Fallback>
            </mc:AlternateContent>
          </a:graphicData>
        </a:graphic>
      </p:graphicFrame>
      <p:graphicFrame>
        <p:nvGraphicFramePr>
          <p:cNvPr id="3" name="Object 6"/>
          <p:cNvGraphicFramePr>
            <a:graphicFrameLocks noChangeAspect="1"/>
          </p:cNvGraphicFramePr>
          <p:nvPr/>
        </p:nvGraphicFramePr>
        <p:xfrm>
          <a:off x="3286125" y="2690813"/>
          <a:ext cx="4745038" cy="881062"/>
        </p:xfrm>
        <a:graphic>
          <a:graphicData uri="http://schemas.openxmlformats.org/presentationml/2006/ole">
            <mc:AlternateContent xmlns:mc="http://schemas.openxmlformats.org/markup-compatibility/2006">
              <mc:Choice xmlns:v="urn:schemas-microsoft-com:vml" Requires="v">
                <p:oleObj spid="_x0000_s461929" r:id="rId5" imgW="2620645" imgH="468630" progId="Equation.3">
                  <p:embed/>
                </p:oleObj>
              </mc:Choice>
              <mc:Fallback>
                <p:oleObj r:id="rId5" imgW="2620645" imgH="468630" progId="Equation.3">
                  <p:embed/>
                  <p:pic>
                    <p:nvPicPr>
                      <p:cNvPr id="3" name="Object 6"/>
                      <p:cNvPicPr/>
                      <p:nvPr/>
                    </p:nvPicPr>
                    <p:blipFill>
                      <a:blip r:embed="rId6">
                        <a:clrChange>
                          <a:clrFrom>
                            <a:srgbClr val="000000"/>
                          </a:clrFrom>
                          <a:clrTo>
                            <a:srgbClr val="FFCC66"/>
                          </a:clrTo>
                        </a:clrChange>
                      </a:blip>
                      <a:stretch>
                        <a:fillRect/>
                      </a:stretch>
                    </p:blipFill>
                    <p:spPr>
                      <a:xfrm>
                        <a:off x="3286125" y="2690813"/>
                        <a:ext cx="4745038" cy="881062"/>
                      </a:xfrm>
                      <a:prstGeom prst="rect">
                        <a:avLst/>
                      </a:prstGeom>
                      <a:noFill/>
                      <a:ln w="38100">
                        <a:noFill/>
                        <a:miter/>
                      </a:ln>
                    </p:spPr>
                  </p:pic>
                </p:oleObj>
              </mc:Fallback>
            </mc:AlternateContent>
          </a:graphicData>
        </a:graphic>
      </p:graphicFrame>
      <p:sp>
        <p:nvSpPr>
          <p:cNvPr id="21" name="Text Box 2"/>
          <p:cNvSpPr txBox="1"/>
          <p:nvPr/>
        </p:nvSpPr>
        <p:spPr>
          <a:xfrm>
            <a:off x="895350" y="3757613"/>
            <a:ext cx="7391400" cy="461962"/>
          </a:xfrm>
          <a:prstGeom prst="rect">
            <a:avLst/>
          </a:prstGeom>
          <a:noFill/>
          <a:ln w="9525">
            <a:noFill/>
          </a:ln>
        </p:spPr>
        <p:txBody>
          <a:bodyPr>
            <a:spAutoFit/>
          </a:bodyPr>
          <a:lstStyle/>
          <a:p>
            <a:r>
              <a:rPr lang="en-US" altLang="zh-CN" b="0" dirty="0">
                <a:solidFill>
                  <a:schemeClr val="hlink"/>
                </a:solidFill>
                <a:latin typeface="Times New Roman" panose="02020603050405020304" pitchFamily="18" charset="0"/>
                <a:ea typeface="华文中宋" panose="02010600040101010101" pitchFamily="2" charset="-122"/>
              </a:rPr>
              <a:t>(2) </a:t>
            </a:r>
            <a:r>
              <a:rPr lang="zh-CN" altLang="en-US" b="0" dirty="0">
                <a:solidFill>
                  <a:schemeClr val="hlink"/>
                </a:solidFill>
                <a:latin typeface="Times New Roman" panose="02020603050405020304" pitchFamily="18" charset="0"/>
                <a:ea typeface="华文中宋" panose="02010600040101010101" pitchFamily="2" charset="-122"/>
              </a:rPr>
              <a:t>设遏止电压为 </a:t>
            </a:r>
            <a:r>
              <a:rPr lang="en-US" altLang="zh-CN" b="0" i="1" dirty="0">
                <a:solidFill>
                  <a:srgbClr val="FFFF00"/>
                </a:solidFill>
                <a:latin typeface="Times New Roman" panose="02020603050405020304" pitchFamily="18" charset="0"/>
                <a:ea typeface="华文中宋" panose="02010600040101010101" pitchFamily="2" charset="-122"/>
              </a:rPr>
              <a:t>U</a:t>
            </a:r>
            <a:r>
              <a:rPr lang="en-US" altLang="zh-CN" b="0" i="1" baseline="-25000" dirty="0">
                <a:solidFill>
                  <a:srgbClr val="FFFF00"/>
                </a:solidFill>
                <a:latin typeface="Times New Roman" panose="02020603050405020304" pitchFamily="18" charset="0"/>
                <a:ea typeface="华文中宋" panose="02010600040101010101" pitchFamily="2" charset="-122"/>
              </a:rPr>
              <a:t>s</a:t>
            </a:r>
            <a:r>
              <a:rPr lang="zh-CN" altLang="en-US" b="0" dirty="0">
                <a:solidFill>
                  <a:schemeClr val="hlink"/>
                </a:solidFill>
                <a:latin typeface="Times New Roman" panose="02020603050405020304" pitchFamily="18" charset="0"/>
                <a:ea typeface="华文中宋" panose="02010600040101010101" pitchFamily="2" charset="-122"/>
              </a:rPr>
              <a:t>，逸出光电子的最大动能为 </a:t>
            </a:r>
            <a:r>
              <a:rPr lang="en-US" altLang="zh-CN" b="0" i="1" dirty="0">
                <a:solidFill>
                  <a:srgbClr val="FFFF00"/>
                </a:solidFill>
                <a:latin typeface="Times New Roman" panose="02020603050405020304" pitchFamily="18" charset="0"/>
                <a:ea typeface="华文中宋" panose="02010600040101010101" pitchFamily="2" charset="-122"/>
              </a:rPr>
              <a:t>E</a:t>
            </a:r>
            <a:r>
              <a:rPr lang="en-US" altLang="zh-CN" b="0" i="1" baseline="-25000" dirty="0">
                <a:solidFill>
                  <a:srgbClr val="FFFF00"/>
                </a:solidFill>
                <a:latin typeface="Times New Roman" panose="02020603050405020304" pitchFamily="18" charset="0"/>
                <a:ea typeface="华文中宋" panose="02010600040101010101" pitchFamily="2" charset="-122"/>
              </a:rPr>
              <a:t>k</a:t>
            </a:r>
            <a:endParaRPr lang="zh-CN" altLang="zh-CN" b="0" i="1" baseline="-25000" dirty="0">
              <a:solidFill>
                <a:srgbClr val="FFFF00"/>
              </a:solidFill>
              <a:latin typeface="Times New Roman" panose="02020603050405020304" pitchFamily="18" charset="0"/>
              <a:ea typeface="华文中宋" panose="02010600040101010101" pitchFamily="2" charset="-122"/>
            </a:endParaRPr>
          </a:p>
        </p:txBody>
      </p:sp>
      <p:graphicFrame>
        <p:nvGraphicFramePr>
          <p:cNvPr id="4" name="Object 9"/>
          <p:cNvGraphicFramePr>
            <a:graphicFrameLocks noChangeAspect="1"/>
          </p:cNvGraphicFramePr>
          <p:nvPr/>
        </p:nvGraphicFramePr>
        <p:xfrm>
          <a:off x="3929063" y="4389438"/>
          <a:ext cx="1417637" cy="539750"/>
        </p:xfrm>
        <a:graphic>
          <a:graphicData uri="http://schemas.openxmlformats.org/presentationml/2006/ole">
            <mc:AlternateContent xmlns:mc="http://schemas.openxmlformats.org/markup-compatibility/2006">
              <mc:Choice xmlns:v="urn:schemas-microsoft-com:vml" Requires="v">
                <p:oleObj spid="_x0000_s461930" r:id="rId7" imgW="680085" imgH="245110" progId="Equation.3">
                  <p:embed/>
                </p:oleObj>
              </mc:Choice>
              <mc:Fallback>
                <p:oleObj r:id="rId7" imgW="680085" imgH="245110" progId="Equation.3">
                  <p:embed/>
                  <p:pic>
                    <p:nvPicPr>
                      <p:cNvPr id="4" name="Object 9"/>
                      <p:cNvPicPr/>
                      <p:nvPr/>
                    </p:nvPicPr>
                    <p:blipFill>
                      <a:blip r:embed="rId8">
                        <a:clrChange>
                          <a:clrFrom>
                            <a:srgbClr val="000000"/>
                          </a:clrFrom>
                          <a:clrTo>
                            <a:srgbClr val="FFCC66"/>
                          </a:clrTo>
                        </a:clrChange>
                      </a:blip>
                      <a:stretch>
                        <a:fillRect/>
                      </a:stretch>
                    </p:blipFill>
                    <p:spPr>
                      <a:xfrm>
                        <a:off x="3929063" y="4389438"/>
                        <a:ext cx="1417637" cy="539750"/>
                      </a:xfrm>
                      <a:prstGeom prst="rect">
                        <a:avLst/>
                      </a:prstGeom>
                      <a:noFill/>
                      <a:ln w="38100">
                        <a:noFill/>
                        <a:miter/>
                      </a:ln>
                    </p:spPr>
                  </p:pic>
                </p:oleObj>
              </mc:Fallback>
            </mc:AlternateContent>
          </a:graphicData>
        </a:graphic>
      </p:graphicFrame>
      <p:sp>
        <p:nvSpPr>
          <p:cNvPr id="23" name="Text Box 2"/>
          <p:cNvSpPr txBox="1"/>
          <p:nvPr/>
        </p:nvSpPr>
        <p:spPr>
          <a:xfrm>
            <a:off x="1143000" y="5072063"/>
            <a:ext cx="3857625" cy="457200"/>
          </a:xfrm>
          <a:prstGeom prst="rect">
            <a:avLst/>
          </a:prstGeom>
          <a:noFill/>
          <a:ln w="9525">
            <a:noFill/>
          </a:ln>
        </p:spPr>
        <p:txBody>
          <a:bodyPr>
            <a:spAutoFit/>
          </a:bodyPr>
          <a:lstStyle/>
          <a:p>
            <a:r>
              <a:rPr lang="zh-CN" altLang="en-US" b="0" dirty="0">
                <a:solidFill>
                  <a:schemeClr val="hlink"/>
                </a:solidFill>
                <a:latin typeface="Times New Roman" panose="02020603050405020304" pitchFamily="18" charset="0"/>
                <a:ea typeface="华文中宋" panose="02010600040101010101" pitchFamily="2" charset="-122"/>
              </a:rPr>
              <a:t>由光电效应方程，</a:t>
            </a:r>
          </a:p>
        </p:txBody>
      </p:sp>
      <p:graphicFrame>
        <p:nvGraphicFramePr>
          <p:cNvPr id="5" name="Object 5"/>
          <p:cNvGraphicFramePr>
            <a:graphicFrameLocks noChangeAspect="1"/>
          </p:cNvGraphicFramePr>
          <p:nvPr/>
        </p:nvGraphicFramePr>
        <p:xfrm>
          <a:off x="3714750" y="5072063"/>
          <a:ext cx="1930400" cy="539750"/>
        </p:xfrm>
        <a:graphic>
          <a:graphicData uri="http://schemas.openxmlformats.org/presentationml/2006/ole">
            <mc:AlternateContent xmlns:mc="http://schemas.openxmlformats.org/markup-compatibility/2006">
              <mc:Choice xmlns:v="urn:schemas-microsoft-com:vml" Requires="v">
                <p:oleObj spid="_x0000_s461931" r:id="rId9" imgW="925830" imgH="245110" progId="Equation.3">
                  <p:embed/>
                </p:oleObj>
              </mc:Choice>
              <mc:Fallback>
                <p:oleObj r:id="rId9" imgW="925830" imgH="245110" progId="Equation.3">
                  <p:embed/>
                  <p:pic>
                    <p:nvPicPr>
                      <p:cNvPr id="5" name="Object 5"/>
                      <p:cNvPicPr/>
                      <p:nvPr/>
                    </p:nvPicPr>
                    <p:blipFill>
                      <a:blip r:embed="rId10">
                        <a:clrChange>
                          <a:clrFrom>
                            <a:srgbClr val="000000"/>
                          </a:clrFrom>
                          <a:clrTo>
                            <a:srgbClr val="FFCC66"/>
                          </a:clrTo>
                        </a:clrChange>
                      </a:blip>
                      <a:stretch>
                        <a:fillRect/>
                      </a:stretch>
                    </p:blipFill>
                    <p:spPr>
                      <a:xfrm>
                        <a:off x="3714750" y="5072063"/>
                        <a:ext cx="1930400" cy="539750"/>
                      </a:xfrm>
                      <a:prstGeom prst="rect">
                        <a:avLst/>
                      </a:prstGeom>
                      <a:noFill/>
                      <a:ln w="38100">
                        <a:noFill/>
                        <a:miter/>
                      </a:ln>
                    </p:spPr>
                  </p:pic>
                </p:oleObj>
              </mc:Fallback>
            </mc:AlternateContent>
          </a:graphicData>
        </a:graphic>
      </p:graphicFrame>
      <p:sp>
        <p:nvSpPr>
          <p:cNvPr id="25" name="右大括号 24"/>
          <p:cNvSpPr/>
          <p:nvPr/>
        </p:nvSpPr>
        <p:spPr>
          <a:xfrm>
            <a:off x="5786438" y="4514850"/>
            <a:ext cx="227012" cy="914400"/>
          </a:xfrm>
          <a:prstGeom prst="rightBrace">
            <a:avLst>
              <a:gd name="adj1" fmla="val 70303"/>
              <a:gd name="adj2" fmla="val 50000"/>
            </a:avLst>
          </a:prstGeom>
          <a:noFill/>
          <a:ln w="25400" cap="flat" cmpd="sng">
            <a:solidFill>
              <a:srgbClr val="FF0000"/>
            </a:solidFill>
            <a:prstDash val="solid"/>
            <a:headEnd type="none" w="med" len="med"/>
            <a:tailEnd type="none" w="med" len="med"/>
          </a:ln>
        </p:spPr>
        <p:txBody>
          <a:bodyPr wrap="none" anchor="ctr" anchorCtr="0"/>
          <a:lstStyle/>
          <a:p>
            <a:pPr eaLnBrk="1" hangingPunct="1"/>
            <a:endParaRPr lang="zh-CN" altLang="en-US" dirty="0">
              <a:latin typeface="Times New Roman" panose="02020603050405020304" pitchFamily="18" charset="0"/>
            </a:endParaRPr>
          </a:p>
        </p:txBody>
      </p:sp>
      <p:sp>
        <p:nvSpPr>
          <p:cNvPr id="26" name="右弧形箭头 25"/>
          <p:cNvSpPr/>
          <p:nvPr/>
        </p:nvSpPr>
        <p:spPr>
          <a:xfrm>
            <a:off x="6357938" y="4929188"/>
            <a:ext cx="571500" cy="1285875"/>
          </a:xfrm>
          <a:prstGeom prst="curvedLeftArrow">
            <a:avLst>
              <a:gd name="adj1" fmla="val 24997"/>
              <a:gd name="adj2" fmla="val 49999"/>
              <a:gd name="adj3" fmla="val 25000"/>
            </a:avLst>
          </a:prstGeom>
          <a:solidFill>
            <a:srgbClr val="FF0000"/>
          </a:solidFill>
          <a:ln w="9525">
            <a:noFill/>
          </a:ln>
        </p:spPr>
        <p:txBody>
          <a:bodyPr wrap="none" anchor="ctr" anchorCtr="0"/>
          <a:lstStyle/>
          <a:p>
            <a:pPr eaLnBrk="1" hangingPunct="1"/>
            <a:endParaRPr lang="zh-CN" altLang="en-US" dirty="0">
              <a:latin typeface="Times New Roman" panose="02020603050405020304" pitchFamily="18" charset="0"/>
            </a:endParaRPr>
          </a:p>
        </p:txBody>
      </p:sp>
      <p:graphicFrame>
        <p:nvGraphicFramePr>
          <p:cNvPr id="6" name="Object 6"/>
          <p:cNvGraphicFramePr>
            <a:graphicFrameLocks noChangeAspect="1"/>
          </p:cNvGraphicFramePr>
          <p:nvPr/>
        </p:nvGraphicFramePr>
        <p:xfrm>
          <a:off x="2368550" y="5735638"/>
          <a:ext cx="1774825" cy="828675"/>
        </p:xfrm>
        <a:graphic>
          <a:graphicData uri="http://schemas.openxmlformats.org/presentationml/2006/ole">
            <mc:AlternateContent xmlns:mc="http://schemas.openxmlformats.org/markup-compatibility/2006">
              <mc:Choice xmlns:v="urn:schemas-microsoft-com:vml" Requires="v">
                <p:oleObj spid="_x0000_s461932" r:id="rId11" imgW="958850" imgH="434975" progId="Equation.3">
                  <p:embed/>
                </p:oleObj>
              </mc:Choice>
              <mc:Fallback>
                <p:oleObj r:id="rId11" imgW="958850" imgH="434975" progId="Equation.3">
                  <p:embed/>
                  <p:pic>
                    <p:nvPicPr>
                      <p:cNvPr id="6" name="Object 6"/>
                      <p:cNvPicPr/>
                      <p:nvPr/>
                    </p:nvPicPr>
                    <p:blipFill>
                      <a:blip r:embed="rId12">
                        <a:clrChange>
                          <a:clrFrom>
                            <a:srgbClr val="000000"/>
                          </a:clrFrom>
                          <a:clrTo>
                            <a:srgbClr val="FFCC66"/>
                          </a:clrTo>
                        </a:clrChange>
                      </a:blip>
                      <a:stretch>
                        <a:fillRect/>
                      </a:stretch>
                    </p:blipFill>
                    <p:spPr>
                      <a:xfrm>
                        <a:off x="2368550" y="5735638"/>
                        <a:ext cx="1774825" cy="828675"/>
                      </a:xfrm>
                      <a:prstGeom prst="rect">
                        <a:avLst/>
                      </a:prstGeom>
                      <a:noFill/>
                      <a:ln w="38100">
                        <a:noFill/>
                        <a:miter/>
                      </a:ln>
                    </p:spPr>
                  </p:pic>
                </p:oleObj>
              </mc:Fallback>
            </mc:AlternateContent>
          </a:graphicData>
        </a:graphic>
      </p:graphicFrame>
      <p:graphicFrame>
        <p:nvGraphicFramePr>
          <p:cNvPr id="7" name="Object 10"/>
          <p:cNvGraphicFramePr>
            <a:graphicFrameLocks noChangeAspect="1"/>
          </p:cNvGraphicFramePr>
          <p:nvPr/>
        </p:nvGraphicFramePr>
        <p:xfrm>
          <a:off x="4214813" y="5929313"/>
          <a:ext cx="1184275" cy="374650"/>
        </p:xfrm>
        <a:graphic>
          <a:graphicData uri="http://schemas.openxmlformats.org/presentationml/2006/ole">
            <mc:AlternateContent xmlns:mc="http://schemas.openxmlformats.org/markup-compatibility/2006">
              <mc:Choice xmlns:v="urn:schemas-microsoft-com:vml" Requires="v">
                <p:oleObj spid="_x0000_s461933" r:id="rId13" imgW="635635" imgH="189865" progId="Equation.3">
                  <p:embed/>
                </p:oleObj>
              </mc:Choice>
              <mc:Fallback>
                <p:oleObj r:id="rId13" imgW="635635" imgH="189865" progId="Equation.3">
                  <p:embed/>
                  <p:pic>
                    <p:nvPicPr>
                      <p:cNvPr id="7" name="Object 10"/>
                      <p:cNvPicPr/>
                      <p:nvPr/>
                    </p:nvPicPr>
                    <p:blipFill>
                      <a:blip r:embed="rId14">
                        <a:clrChange>
                          <a:clrFrom>
                            <a:srgbClr val="000000"/>
                          </a:clrFrom>
                          <a:clrTo>
                            <a:srgbClr val="FFCC66"/>
                          </a:clrTo>
                        </a:clrChange>
                      </a:blip>
                      <a:stretch>
                        <a:fillRect/>
                      </a:stretch>
                    </p:blipFill>
                    <p:spPr>
                      <a:xfrm>
                        <a:off x="4214813" y="5929313"/>
                        <a:ext cx="1184275" cy="374650"/>
                      </a:xfrm>
                      <a:prstGeom prst="rect">
                        <a:avLst/>
                      </a:prstGeom>
                      <a:noFill/>
                      <a:ln w="38100">
                        <a:noFill/>
                        <a:miter/>
                      </a:ln>
                    </p:spPr>
                  </p:pic>
                </p:oleObj>
              </mc:Fallback>
            </mc:AlternateContent>
          </a:graphicData>
        </a:graphic>
      </p:graphicFrame>
      <p:sp>
        <p:nvSpPr>
          <p:cNvPr id="13329" name="灯片编号占位符 1"/>
          <p:cNvSpPr txBox="1"/>
          <p:nvPr/>
        </p:nvSpPr>
        <p:spPr>
          <a:xfrm>
            <a:off x="0" y="6381750"/>
            <a:ext cx="2133600" cy="476250"/>
          </a:xfrm>
          <a:prstGeom prst="rect">
            <a:avLst/>
          </a:prstGeom>
          <a:noFill/>
          <a:ln w="9525">
            <a:noFill/>
          </a:ln>
        </p:spPr>
        <p:txBody>
          <a:bodyPr/>
          <a:lstStyle/>
          <a:p>
            <a:pPr eaLnBrk="1" hangingPunct="1"/>
            <a:fld id="{9A0DB2DC-4C9A-4742-B13C-FB6460FD3503}" type="slidenum">
              <a:rPr lang="en-US" altLang="zh-CN" b="0" smtClean="0">
                <a:solidFill>
                  <a:srgbClr val="FF00FF"/>
                </a:solidFill>
                <a:latin typeface="Times New Roman" panose="02020603050405020304" pitchFamily="18" charset="0"/>
              </a:rPr>
              <a:t>6</a:t>
            </a:fld>
            <a:r>
              <a:rPr lang="en-US" altLang="zh-CN" b="0" dirty="0">
                <a:solidFill>
                  <a:srgbClr val="FF00FF"/>
                </a:solidFill>
                <a:latin typeface="Times New Roman" panose="02020603050405020304" pitchFamily="18" charset="0"/>
              </a:rPr>
              <a:t>/30</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434"/>
                                        </p:tgtEl>
                                        <p:attrNameLst>
                                          <p:attrName>style.visibility</p:attrName>
                                        </p:attrNameLst>
                                      </p:cBhvr>
                                      <p:to>
                                        <p:strVal val="visible"/>
                                      </p:to>
                                    </p:set>
                                    <p:animEffect transition="in" filter="wipe(left)">
                                      <p:cBhvr>
                                        <p:cTn id="7" dur="500"/>
                                        <p:tgtEl>
                                          <p:spTgt spid="184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wipe(left)">
                                      <p:cBhvr>
                                        <p:cTn id="21" dur="500"/>
                                        <p:tgtEl>
                                          <p:spTgt spid="21"/>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left)">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wipe(left)">
                                      <p:cBhvr>
                                        <p:cTn id="30" dur="500"/>
                                        <p:tgtEl>
                                          <p:spTgt spid="23"/>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wipe(left)">
                                      <p:cBhvr>
                                        <p:cTn id="34" dur="500"/>
                                        <p:tgtEl>
                                          <p:spTgt spid="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wipe(left)">
                                      <p:cBhvr>
                                        <p:cTn id="39" dur="500"/>
                                        <p:tgtEl>
                                          <p:spTgt spid="25"/>
                                        </p:tgtEl>
                                      </p:cBhvr>
                                    </p:animEffect>
                                  </p:childTnLst>
                                </p:cTn>
                              </p:par>
                            </p:childTnLst>
                          </p:cTn>
                        </p:par>
                        <p:par>
                          <p:cTn id="40" fill="hold">
                            <p:stCondLst>
                              <p:cond delay="500"/>
                            </p:stCondLst>
                            <p:childTnLst>
                              <p:par>
                                <p:cTn id="41" presetID="22" presetClass="entr" presetSubtype="1" fill="hold" grpId="0" nodeType="after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wipe(up)">
                                      <p:cBhvr>
                                        <p:cTn id="43" dur="500"/>
                                        <p:tgtEl>
                                          <p:spTgt spid="2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6"/>
                                        </p:tgtEl>
                                        <p:attrNameLst>
                                          <p:attrName>style.visibility</p:attrName>
                                        </p:attrNameLst>
                                      </p:cBhvr>
                                      <p:to>
                                        <p:strVal val="visible"/>
                                      </p:to>
                                    </p:set>
                                    <p:animEffect transition="in" filter="wipe(left)">
                                      <p:cBhvr>
                                        <p:cTn id="48" dur="500"/>
                                        <p:tgtEl>
                                          <p:spTgt spid="6"/>
                                        </p:tgtEl>
                                      </p:cBhvr>
                                    </p:animEffect>
                                  </p:childTnLst>
                                </p:cTn>
                              </p:par>
                            </p:childTnLst>
                          </p:cTn>
                        </p:par>
                        <p:par>
                          <p:cTn id="49" fill="hold">
                            <p:stCondLst>
                              <p:cond delay="500"/>
                            </p:stCondLst>
                            <p:childTnLst>
                              <p:par>
                                <p:cTn id="50" presetID="22" presetClass="entr" presetSubtype="8" fill="hold" nodeType="after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wipe(left)">
                                      <p:cBhvr>
                                        <p:cTn id="5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p:bldP spid="21" grpId="0"/>
      <p:bldP spid="23" grpId="0"/>
      <p:bldP spid="25" grpId="0" animBg="1"/>
      <p:bldP spid="2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p:nvPr/>
        </p:nvSpPr>
        <p:spPr>
          <a:xfrm>
            <a:off x="188913" y="333375"/>
            <a:ext cx="3748087" cy="519113"/>
          </a:xfrm>
          <a:prstGeom prst="rect">
            <a:avLst/>
          </a:prstGeom>
          <a:noFill/>
          <a:ln w="9525">
            <a:noFill/>
          </a:ln>
        </p:spPr>
        <p:txBody>
          <a:bodyPr>
            <a:spAutoFit/>
          </a:bodyPr>
          <a:lstStyle/>
          <a:p>
            <a:r>
              <a:rPr lang="zh-CN" altLang="en-US" sz="2800" b="0" dirty="0">
                <a:solidFill>
                  <a:srgbClr val="FFFF66"/>
                </a:solidFill>
                <a:latin typeface="华文中宋" panose="02010600040101010101" pitchFamily="2" charset="-122"/>
                <a:ea typeface="华文中宋" panose="02010600040101010101" pitchFamily="2" charset="-122"/>
              </a:rPr>
              <a:t>五</a:t>
            </a:r>
            <a:r>
              <a:rPr lang="zh-CN" altLang="zh-CN" sz="2800" b="0" dirty="0">
                <a:solidFill>
                  <a:srgbClr val="FFFF66"/>
                </a:solidFill>
                <a:latin typeface="华文中宋" panose="02010600040101010101" pitchFamily="2" charset="-122"/>
                <a:ea typeface="华文中宋" panose="02010600040101010101" pitchFamily="2" charset="-122"/>
              </a:rPr>
              <a:t>. </a:t>
            </a:r>
            <a:r>
              <a:rPr lang="zh-CN" altLang="en-US" sz="2800" b="0" dirty="0">
                <a:solidFill>
                  <a:srgbClr val="FFFF66"/>
                </a:solidFill>
                <a:latin typeface="华文中宋" panose="02010600040101010101" pitchFamily="2" charset="-122"/>
                <a:ea typeface="华文中宋" panose="02010600040101010101" pitchFamily="2" charset="-122"/>
              </a:rPr>
              <a:t>光电效应的应用</a:t>
            </a:r>
            <a:r>
              <a:rPr lang="zh-CN" altLang="en-US" sz="2800" b="0" dirty="0">
                <a:solidFill>
                  <a:schemeClr val="bg1"/>
                </a:solidFill>
                <a:latin typeface="华文中宋" panose="02010600040101010101" pitchFamily="2" charset="-122"/>
                <a:ea typeface="华文中宋" panose="02010600040101010101" pitchFamily="2" charset="-122"/>
              </a:rPr>
              <a:t> </a:t>
            </a:r>
          </a:p>
        </p:txBody>
      </p:sp>
      <p:sp>
        <p:nvSpPr>
          <p:cNvPr id="31747" name="Rectangle 3"/>
          <p:cNvSpPr/>
          <p:nvPr/>
        </p:nvSpPr>
        <p:spPr>
          <a:xfrm>
            <a:off x="762000" y="876300"/>
            <a:ext cx="7986713" cy="1006475"/>
          </a:xfrm>
          <a:prstGeom prst="rect">
            <a:avLst/>
          </a:prstGeom>
          <a:noFill/>
          <a:ln w="9525">
            <a:noFill/>
          </a:ln>
        </p:spPr>
        <p:txBody>
          <a:bodyPr>
            <a:spAutoFit/>
          </a:bodyPr>
          <a:lstStyle/>
          <a:p>
            <a:pPr>
              <a:lnSpc>
                <a:spcPct val="125000"/>
              </a:lnSpc>
            </a:pPr>
            <a:r>
              <a:rPr lang="zh-CN" altLang="en-US" b="0" dirty="0">
                <a:solidFill>
                  <a:schemeClr val="hlink"/>
                </a:solidFill>
                <a:latin typeface="Times New Roman" panose="02020603050405020304" pitchFamily="18" charset="0"/>
                <a:ea typeface="华文中宋" panose="02010600040101010101" pitchFamily="2" charset="-122"/>
              </a:rPr>
              <a:t>光电成像器件能将可见或不可见的辐射图像转换或增强成可观察记录、传输、储存的图像。</a:t>
            </a:r>
          </a:p>
        </p:txBody>
      </p:sp>
      <p:sp>
        <p:nvSpPr>
          <p:cNvPr id="31748" name="Rectangle 4"/>
          <p:cNvSpPr/>
          <p:nvPr/>
        </p:nvSpPr>
        <p:spPr>
          <a:xfrm>
            <a:off x="806450" y="2009775"/>
            <a:ext cx="1708150" cy="457200"/>
          </a:xfrm>
          <a:prstGeom prst="rect">
            <a:avLst/>
          </a:prstGeom>
          <a:noFill/>
          <a:ln w="9525">
            <a:noFill/>
          </a:ln>
        </p:spPr>
        <p:txBody>
          <a:bodyPr wrap="none">
            <a:spAutoFit/>
          </a:bodyPr>
          <a:lstStyle/>
          <a:p>
            <a:pPr algn="dist"/>
            <a:r>
              <a:rPr lang="zh-CN" altLang="en-US" b="0" dirty="0">
                <a:solidFill>
                  <a:srgbClr val="66FFFF"/>
                </a:solidFill>
                <a:latin typeface="Times New Roman" panose="02020603050405020304" pitchFamily="18" charset="0"/>
                <a:ea typeface="华文中宋" panose="02010600040101010101" pitchFamily="2" charset="-122"/>
              </a:rPr>
              <a:t>红外变像管</a:t>
            </a:r>
          </a:p>
        </p:txBody>
      </p:sp>
      <p:sp>
        <p:nvSpPr>
          <p:cNvPr id="31749" name="Rectangle 5"/>
          <p:cNvSpPr/>
          <p:nvPr/>
        </p:nvSpPr>
        <p:spPr>
          <a:xfrm>
            <a:off x="2763838" y="2009775"/>
            <a:ext cx="4451350" cy="457200"/>
          </a:xfrm>
          <a:prstGeom prst="rect">
            <a:avLst/>
          </a:prstGeom>
          <a:noFill/>
          <a:ln w="9525">
            <a:noFill/>
          </a:ln>
        </p:spPr>
        <p:txBody>
          <a:bodyPr wrap="none">
            <a:spAutoFit/>
          </a:bodyPr>
          <a:lstStyle/>
          <a:p>
            <a:pPr algn="r"/>
            <a:r>
              <a:rPr lang="zh-CN" altLang="en-US" b="0" dirty="0">
                <a:solidFill>
                  <a:schemeClr val="hlink"/>
                </a:solidFill>
                <a:latin typeface="Times New Roman" panose="02020603050405020304" pitchFamily="18" charset="0"/>
                <a:ea typeface="华文中宋" panose="02010600040101010101" pitchFamily="2" charset="-122"/>
              </a:rPr>
              <a:t>红外辐射图像</a:t>
            </a:r>
            <a:r>
              <a:rPr lang="zh-CN" altLang="en-US" b="0" dirty="0">
                <a:solidFill>
                  <a:schemeClr val="bg1"/>
                </a:solidFill>
                <a:latin typeface="Times New Roman" panose="02020603050405020304" pitchFamily="18" charset="0"/>
                <a:ea typeface="华文中宋" panose="02010600040101010101" pitchFamily="2" charset="-122"/>
              </a:rPr>
              <a:t>　</a:t>
            </a:r>
            <a:r>
              <a:rPr lang="zh-CN" altLang="en-US" b="0" dirty="0">
                <a:solidFill>
                  <a:srgbClr val="FF99CC"/>
                </a:solidFill>
                <a:latin typeface="Times New Roman" panose="02020603050405020304" pitchFamily="18" charset="0"/>
                <a:ea typeface="华文中宋" panose="02010600040101010101" pitchFamily="2" charset="-122"/>
              </a:rPr>
              <a:t>→</a:t>
            </a:r>
            <a:r>
              <a:rPr lang="zh-CN" altLang="en-US" b="0" dirty="0">
                <a:solidFill>
                  <a:schemeClr val="bg1"/>
                </a:solidFill>
                <a:latin typeface="Times New Roman" panose="02020603050405020304" pitchFamily="18" charset="0"/>
                <a:ea typeface="华文中宋" panose="02010600040101010101" pitchFamily="2" charset="-122"/>
              </a:rPr>
              <a:t>　</a:t>
            </a:r>
            <a:r>
              <a:rPr lang="zh-CN" altLang="en-US" b="0" dirty="0">
                <a:solidFill>
                  <a:schemeClr val="hlink"/>
                </a:solidFill>
                <a:latin typeface="Times New Roman" panose="02020603050405020304" pitchFamily="18" charset="0"/>
                <a:ea typeface="华文中宋" panose="02010600040101010101" pitchFamily="2" charset="-122"/>
              </a:rPr>
              <a:t>可见光图像</a:t>
            </a:r>
          </a:p>
        </p:txBody>
      </p:sp>
      <p:sp>
        <p:nvSpPr>
          <p:cNvPr id="31750" name="Rectangle 6"/>
          <p:cNvSpPr/>
          <p:nvPr/>
        </p:nvSpPr>
        <p:spPr>
          <a:xfrm>
            <a:off x="779463" y="2522538"/>
            <a:ext cx="1751012" cy="457200"/>
          </a:xfrm>
          <a:prstGeom prst="rect">
            <a:avLst/>
          </a:prstGeom>
          <a:noFill/>
          <a:ln w="9525">
            <a:noFill/>
          </a:ln>
        </p:spPr>
        <p:txBody>
          <a:bodyPr>
            <a:spAutoFit/>
          </a:bodyPr>
          <a:lstStyle/>
          <a:p>
            <a:pPr algn="dist"/>
            <a:r>
              <a:rPr lang="zh-CN" altLang="en-US" b="0" dirty="0">
                <a:solidFill>
                  <a:srgbClr val="66FFFF"/>
                </a:solidFill>
                <a:latin typeface="Times New Roman" panose="02020603050405020304" pitchFamily="18" charset="0"/>
                <a:ea typeface="华文中宋" panose="02010600040101010101" pitchFamily="2" charset="-122"/>
              </a:rPr>
              <a:t>像增强器</a:t>
            </a:r>
          </a:p>
        </p:txBody>
      </p:sp>
      <p:sp>
        <p:nvSpPr>
          <p:cNvPr id="31751" name="Rectangle 7"/>
          <p:cNvSpPr/>
          <p:nvPr/>
        </p:nvSpPr>
        <p:spPr>
          <a:xfrm>
            <a:off x="2749550" y="2543175"/>
            <a:ext cx="6286500" cy="457200"/>
          </a:xfrm>
          <a:prstGeom prst="rect">
            <a:avLst/>
          </a:prstGeom>
          <a:noFill/>
          <a:ln w="9525">
            <a:noFill/>
          </a:ln>
        </p:spPr>
        <p:txBody>
          <a:bodyPr>
            <a:spAutoFit/>
          </a:bodyPr>
          <a:lstStyle/>
          <a:p>
            <a:r>
              <a:rPr lang="zh-CN" altLang="en-US" b="0" dirty="0">
                <a:solidFill>
                  <a:schemeClr val="hlink"/>
                </a:solidFill>
                <a:latin typeface="华文中宋" panose="02010600040101010101" pitchFamily="2" charset="-122"/>
                <a:ea typeface="华文中宋" panose="02010600040101010101" pitchFamily="2" charset="-122"/>
              </a:rPr>
              <a:t>微弱光学图像</a:t>
            </a:r>
            <a:r>
              <a:rPr lang="zh-CN" altLang="en-US" b="0" dirty="0">
                <a:solidFill>
                  <a:schemeClr val="bg1"/>
                </a:solidFill>
                <a:latin typeface="华文中宋" panose="02010600040101010101" pitchFamily="2" charset="-122"/>
                <a:ea typeface="华文中宋" panose="02010600040101010101" pitchFamily="2" charset="-122"/>
              </a:rPr>
              <a:t>  </a:t>
            </a:r>
            <a:r>
              <a:rPr lang="zh-CN" altLang="en-US" b="0" dirty="0">
                <a:solidFill>
                  <a:srgbClr val="FF99CC"/>
                </a:solidFill>
                <a:latin typeface="华文中宋" panose="02010600040101010101" pitchFamily="2" charset="-122"/>
                <a:ea typeface="华文中宋" panose="02010600040101010101" pitchFamily="2" charset="-122"/>
              </a:rPr>
              <a:t>→</a:t>
            </a:r>
            <a:r>
              <a:rPr lang="zh-CN" altLang="en-US" b="0" dirty="0">
                <a:solidFill>
                  <a:schemeClr val="bg1"/>
                </a:solidFill>
                <a:latin typeface="华文中宋" panose="02010600040101010101" pitchFamily="2" charset="-122"/>
                <a:ea typeface="华文中宋" panose="02010600040101010101" pitchFamily="2" charset="-122"/>
              </a:rPr>
              <a:t>  </a:t>
            </a:r>
            <a:r>
              <a:rPr lang="zh-CN" altLang="en-US" b="0" dirty="0">
                <a:solidFill>
                  <a:schemeClr val="hlink"/>
                </a:solidFill>
                <a:latin typeface="华文中宋" panose="02010600040101010101" pitchFamily="2" charset="-122"/>
                <a:ea typeface="华文中宋" panose="02010600040101010101" pitchFamily="2" charset="-122"/>
              </a:rPr>
              <a:t>高亮度可见光学图像</a:t>
            </a:r>
          </a:p>
        </p:txBody>
      </p:sp>
      <p:sp>
        <p:nvSpPr>
          <p:cNvPr id="31752" name="Rectangle 8"/>
          <p:cNvSpPr/>
          <p:nvPr/>
        </p:nvSpPr>
        <p:spPr>
          <a:xfrm>
            <a:off x="885825" y="5741988"/>
            <a:ext cx="6900863" cy="473075"/>
          </a:xfrm>
          <a:prstGeom prst="rect">
            <a:avLst/>
          </a:prstGeom>
          <a:noFill/>
          <a:ln w="9525">
            <a:noFill/>
          </a:ln>
        </p:spPr>
        <p:txBody>
          <a:bodyPr>
            <a:spAutoFit/>
          </a:bodyPr>
          <a:lstStyle/>
          <a:p>
            <a:pPr algn="ctr">
              <a:lnSpc>
                <a:spcPct val="125000"/>
              </a:lnSpc>
            </a:pPr>
            <a:r>
              <a:rPr lang="zh-CN" altLang="en-US" sz="2000" b="0" dirty="0">
                <a:solidFill>
                  <a:schemeClr val="hlink"/>
                </a:solidFill>
                <a:latin typeface="Times New Roman" panose="02020603050405020304" pitchFamily="18" charset="0"/>
                <a:ea typeface="楷体_GB2312" pitchFamily="49" charset="-122"/>
              </a:rPr>
              <a:t>测量波长在</a:t>
            </a:r>
            <a:r>
              <a:rPr lang="zh-CN" altLang="en-US" sz="2000" b="0" dirty="0">
                <a:solidFill>
                  <a:schemeClr val="bg1"/>
                </a:solidFill>
                <a:latin typeface="Times New Roman" panose="02020603050405020304" pitchFamily="18" charset="0"/>
                <a:ea typeface="楷体_GB2312" pitchFamily="49" charset="-122"/>
              </a:rPr>
              <a:t> </a:t>
            </a:r>
            <a:r>
              <a:rPr lang="zh-CN" altLang="zh-CN" sz="2000" b="0" dirty="0">
                <a:solidFill>
                  <a:srgbClr val="00FFFF"/>
                </a:solidFill>
                <a:latin typeface="Times New Roman" panose="02020603050405020304" pitchFamily="18" charset="0"/>
              </a:rPr>
              <a:t>200~1200 nm</a:t>
            </a:r>
            <a:r>
              <a:rPr lang="zh-CN" altLang="zh-CN" sz="2000" b="0" dirty="0">
                <a:solidFill>
                  <a:schemeClr val="bg1"/>
                </a:solidFill>
                <a:latin typeface="Times New Roman" panose="02020603050405020304" pitchFamily="18" charset="0"/>
              </a:rPr>
              <a:t>  </a:t>
            </a:r>
            <a:r>
              <a:rPr lang="zh-CN" altLang="en-US" sz="2000" b="0" dirty="0">
                <a:solidFill>
                  <a:schemeClr val="hlink"/>
                </a:solidFill>
                <a:latin typeface="Times New Roman" panose="02020603050405020304" pitchFamily="18" charset="0"/>
                <a:ea typeface="楷体_GB2312" pitchFamily="49" charset="-122"/>
              </a:rPr>
              <a:t>极微弱光的功率</a:t>
            </a:r>
          </a:p>
        </p:txBody>
      </p:sp>
      <p:sp>
        <p:nvSpPr>
          <p:cNvPr id="31753" name="Rectangle 9"/>
          <p:cNvSpPr/>
          <p:nvPr/>
        </p:nvSpPr>
        <p:spPr>
          <a:xfrm>
            <a:off x="3500438" y="5214938"/>
            <a:ext cx="1928812" cy="457200"/>
          </a:xfrm>
          <a:prstGeom prst="rect">
            <a:avLst/>
          </a:prstGeom>
          <a:noFill/>
          <a:ln w="9525">
            <a:noFill/>
          </a:ln>
        </p:spPr>
        <p:txBody>
          <a:bodyPr>
            <a:spAutoFit/>
          </a:bodyPr>
          <a:lstStyle/>
          <a:p>
            <a:r>
              <a:rPr lang="zh-CN" altLang="en-US" b="0" dirty="0">
                <a:solidFill>
                  <a:srgbClr val="66FFFF"/>
                </a:solidFill>
                <a:latin typeface="Times New Roman" panose="02020603050405020304" pitchFamily="18" charset="0"/>
                <a:ea typeface="楷体_GB2312" pitchFamily="49" charset="-122"/>
              </a:rPr>
              <a:t>光电倍增管</a:t>
            </a:r>
          </a:p>
        </p:txBody>
      </p:sp>
      <p:pic>
        <p:nvPicPr>
          <p:cNvPr id="31754" name="Picture 10" descr="s16"/>
          <p:cNvPicPr>
            <a:picLocks noChangeAspect="1"/>
          </p:cNvPicPr>
          <p:nvPr/>
        </p:nvPicPr>
        <p:blipFill>
          <a:blip r:embed="rId3"/>
          <a:stretch>
            <a:fillRect/>
          </a:stretch>
        </p:blipFill>
        <p:spPr>
          <a:xfrm>
            <a:off x="2069068" y="3191484"/>
            <a:ext cx="4652963" cy="1917700"/>
          </a:xfrm>
          <a:prstGeom prst="rect">
            <a:avLst/>
          </a:prstGeom>
          <a:noFill/>
          <a:ln w="9525">
            <a:noFill/>
          </a:ln>
        </p:spPr>
      </p:pic>
      <p:sp>
        <p:nvSpPr>
          <p:cNvPr id="12299" name="灯片编号占位符 1"/>
          <p:cNvSpPr txBox="1"/>
          <p:nvPr/>
        </p:nvSpPr>
        <p:spPr>
          <a:xfrm>
            <a:off x="0" y="6381750"/>
            <a:ext cx="2133600" cy="476250"/>
          </a:xfrm>
          <a:prstGeom prst="rect">
            <a:avLst/>
          </a:prstGeom>
          <a:noFill/>
          <a:ln w="9525">
            <a:noFill/>
          </a:ln>
        </p:spPr>
        <p:txBody>
          <a:bodyPr/>
          <a:lstStyle/>
          <a:p>
            <a:pPr eaLnBrk="1" hangingPunct="1"/>
            <a:fld id="{9A0DB2DC-4C9A-4742-B13C-FB6460FD3503}" type="slidenum">
              <a:rPr lang="en-US" altLang="zh-CN" b="0" smtClean="0">
                <a:solidFill>
                  <a:srgbClr val="FF00FF"/>
                </a:solidFill>
                <a:latin typeface="Times New Roman" panose="02020603050405020304" pitchFamily="18" charset="0"/>
              </a:rPr>
              <a:t>7</a:t>
            </a:fld>
            <a:r>
              <a:rPr lang="en-US" altLang="zh-CN" b="0" dirty="0">
                <a:solidFill>
                  <a:srgbClr val="FF00FF"/>
                </a:solidFill>
                <a:latin typeface="Times New Roman" panose="02020603050405020304" pitchFamily="18" charset="0"/>
              </a:rPr>
              <a:t>/30</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1747"/>
                                        </p:tgtEl>
                                        <p:attrNameLst>
                                          <p:attrName>style.visibility</p:attrName>
                                        </p:attrNameLst>
                                      </p:cBhvr>
                                      <p:to>
                                        <p:strVal val="visible"/>
                                      </p:to>
                                    </p:set>
                                    <p:animEffect transition="in" filter="blinds(horizontal)">
                                      <p:cBhvr>
                                        <p:cTn id="7" dur="500"/>
                                        <p:tgtEl>
                                          <p:spTgt spid="3174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1748"/>
                                        </p:tgtEl>
                                        <p:attrNameLst>
                                          <p:attrName>style.visibility</p:attrName>
                                        </p:attrNameLst>
                                      </p:cBhvr>
                                      <p:to>
                                        <p:strVal val="visible"/>
                                      </p:to>
                                    </p:set>
                                    <p:animEffect transition="in" filter="blinds(horizontal)">
                                      <p:cBhvr>
                                        <p:cTn id="12" dur="500"/>
                                        <p:tgtEl>
                                          <p:spTgt spid="31748"/>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1749"/>
                                        </p:tgtEl>
                                        <p:attrNameLst>
                                          <p:attrName>style.visibility</p:attrName>
                                        </p:attrNameLst>
                                      </p:cBhvr>
                                      <p:to>
                                        <p:strVal val="visible"/>
                                      </p:to>
                                    </p:set>
                                    <p:animEffect transition="in" filter="blinds(horizontal)">
                                      <p:cBhvr>
                                        <p:cTn id="15" dur="500"/>
                                        <p:tgtEl>
                                          <p:spTgt spid="31749"/>
                                        </p:tgtEl>
                                      </p:cBhvr>
                                    </p:animEffect>
                                  </p:childTnLst>
                                </p:cTn>
                              </p:par>
                            </p:childTnLst>
                          </p:cTn>
                        </p:par>
                        <p:par>
                          <p:cTn id="16" fill="hold">
                            <p:stCondLst>
                              <p:cond delay="500"/>
                            </p:stCondLst>
                            <p:childTnLst>
                              <p:par>
                                <p:cTn id="17" presetID="3" presetClass="entr" presetSubtype="10" fill="hold" grpId="0" nodeType="afterEffect">
                                  <p:stCondLst>
                                    <p:cond delay="0"/>
                                  </p:stCondLst>
                                  <p:childTnLst>
                                    <p:set>
                                      <p:cBhvr>
                                        <p:cTn id="18" dur="1" fill="hold">
                                          <p:stCondLst>
                                            <p:cond delay="0"/>
                                          </p:stCondLst>
                                        </p:cTn>
                                        <p:tgtEl>
                                          <p:spTgt spid="31750"/>
                                        </p:tgtEl>
                                        <p:attrNameLst>
                                          <p:attrName>style.visibility</p:attrName>
                                        </p:attrNameLst>
                                      </p:cBhvr>
                                      <p:to>
                                        <p:strVal val="visible"/>
                                      </p:to>
                                    </p:set>
                                    <p:animEffect transition="in" filter="blinds(horizontal)">
                                      <p:cBhvr>
                                        <p:cTn id="19" dur="500"/>
                                        <p:tgtEl>
                                          <p:spTgt spid="31750"/>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31751"/>
                                        </p:tgtEl>
                                        <p:attrNameLst>
                                          <p:attrName>style.visibility</p:attrName>
                                        </p:attrNameLst>
                                      </p:cBhvr>
                                      <p:to>
                                        <p:strVal val="visible"/>
                                      </p:to>
                                    </p:set>
                                    <p:animEffect transition="in" filter="blinds(horizontal)">
                                      <p:cBhvr>
                                        <p:cTn id="22" dur="500"/>
                                        <p:tgtEl>
                                          <p:spTgt spid="31751"/>
                                        </p:tgtEl>
                                      </p:cBhvr>
                                    </p:animEffect>
                                  </p:childTnLst>
                                </p:cTn>
                              </p:par>
                            </p:childTnLst>
                          </p:cTn>
                        </p:par>
                        <p:par>
                          <p:cTn id="23" fill="hold">
                            <p:stCondLst>
                              <p:cond delay="1000"/>
                            </p:stCondLst>
                            <p:childTnLst>
                              <p:par>
                                <p:cTn id="24" presetID="3" presetClass="entr" presetSubtype="10" fill="hold" nodeType="afterEffect">
                                  <p:stCondLst>
                                    <p:cond delay="0"/>
                                  </p:stCondLst>
                                  <p:childTnLst>
                                    <p:set>
                                      <p:cBhvr>
                                        <p:cTn id="25" dur="1" fill="hold">
                                          <p:stCondLst>
                                            <p:cond delay="0"/>
                                          </p:stCondLst>
                                        </p:cTn>
                                        <p:tgtEl>
                                          <p:spTgt spid="31754"/>
                                        </p:tgtEl>
                                        <p:attrNameLst>
                                          <p:attrName>style.visibility</p:attrName>
                                        </p:attrNameLst>
                                      </p:cBhvr>
                                      <p:to>
                                        <p:strVal val="visible"/>
                                      </p:to>
                                    </p:set>
                                    <p:animEffect transition="in" filter="blinds(horizontal)">
                                      <p:cBhvr>
                                        <p:cTn id="26" dur="500"/>
                                        <p:tgtEl>
                                          <p:spTgt spid="31754"/>
                                        </p:tgtEl>
                                      </p:cBhvr>
                                    </p:animEffect>
                                  </p:childTnLst>
                                  <p:subTnLst>
                                    <p:audio>
                                      <p:cMediaNode>
                                        <p:cTn display="0" masterRel="sameClick">
                                          <p:stCondLst>
                                            <p:cond evt="begin" delay="0">
                                              <p:tn val="24"/>
                                            </p:cond>
                                          </p:stCondLst>
                                          <p:endCondLst>
                                            <p:cond evt="onStopAudio" delay="0">
                                              <p:tgtEl>
                                                <p:sldTgt/>
                                              </p:tgtEl>
                                            </p:cond>
                                          </p:endCondLst>
                                        </p:cTn>
                                        <p:tgtEl>
                                          <p:sndTgt r:embed="rId2" name="camera.wav"/>
                                        </p:tgtEl>
                                      </p:cMediaNode>
                                    </p:audio>
                                  </p:subTnLst>
                                </p:cTn>
                              </p:par>
                              <p:par>
                                <p:cTn id="27" presetID="3" presetClass="entr" presetSubtype="10" fill="hold" grpId="0" nodeType="withEffect">
                                  <p:stCondLst>
                                    <p:cond delay="0"/>
                                  </p:stCondLst>
                                  <p:childTnLst>
                                    <p:set>
                                      <p:cBhvr>
                                        <p:cTn id="28" dur="1" fill="hold">
                                          <p:stCondLst>
                                            <p:cond delay="0"/>
                                          </p:stCondLst>
                                        </p:cTn>
                                        <p:tgtEl>
                                          <p:spTgt spid="31753"/>
                                        </p:tgtEl>
                                        <p:attrNameLst>
                                          <p:attrName>style.visibility</p:attrName>
                                        </p:attrNameLst>
                                      </p:cBhvr>
                                      <p:to>
                                        <p:strVal val="visible"/>
                                      </p:to>
                                    </p:set>
                                    <p:animEffect transition="in" filter="blinds(horizontal)">
                                      <p:cBhvr>
                                        <p:cTn id="29" dur="500"/>
                                        <p:tgtEl>
                                          <p:spTgt spid="31753"/>
                                        </p:tgtEl>
                                      </p:cBhvr>
                                    </p:animEffect>
                                  </p:childTnLst>
                                </p:cTn>
                              </p:par>
                            </p:childTnLst>
                          </p:cTn>
                        </p:par>
                        <p:par>
                          <p:cTn id="30" fill="hold">
                            <p:stCondLst>
                              <p:cond delay="1500"/>
                            </p:stCondLst>
                            <p:childTnLst>
                              <p:par>
                                <p:cTn id="31" presetID="3" presetClass="entr" presetSubtype="10" fill="hold" grpId="0" nodeType="afterEffect">
                                  <p:stCondLst>
                                    <p:cond delay="0"/>
                                  </p:stCondLst>
                                  <p:childTnLst>
                                    <p:set>
                                      <p:cBhvr>
                                        <p:cTn id="32" dur="1" fill="hold">
                                          <p:stCondLst>
                                            <p:cond delay="0"/>
                                          </p:stCondLst>
                                        </p:cTn>
                                        <p:tgtEl>
                                          <p:spTgt spid="31752"/>
                                        </p:tgtEl>
                                        <p:attrNameLst>
                                          <p:attrName>style.visibility</p:attrName>
                                        </p:attrNameLst>
                                      </p:cBhvr>
                                      <p:to>
                                        <p:strVal val="visible"/>
                                      </p:to>
                                    </p:set>
                                    <p:animEffect transition="in" filter="blinds(horizontal)">
                                      <p:cBhvr>
                                        <p:cTn id="33" dur="500"/>
                                        <p:tgtEl>
                                          <p:spTgt spid="317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p:bldP spid="31748" grpId="0"/>
      <p:bldP spid="31749" grpId="0"/>
      <p:bldP spid="31750" grpId="0"/>
      <p:bldP spid="31751" grpId="0"/>
      <p:bldP spid="31752" grpId="0"/>
      <p:bldP spid="3175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p:nvPr/>
        </p:nvSpPr>
        <p:spPr>
          <a:xfrm>
            <a:off x="527050" y="611188"/>
            <a:ext cx="5688013" cy="519112"/>
          </a:xfrm>
          <a:prstGeom prst="rect">
            <a:avLst/>
          </a:prstGeom>
          <a:noFill/>
          <a:ln w="9525">
            <a:noFill/>
          </a:ln>
        </p:spPr>
        <p:txBody>
          <a:bodyPr>
            <a:spAutoFit/>
          </a:bodyPr>
          <a:lstStyle/>
          <a:p>
            <a:r>
              <a:rPr lang="zh-CN" altLang="en-US" sz="2800" b="0" dirty="0">
                <a:solidFill>
                  <a:srgbClr val="66FF33"/>
                </a:solidFill>
                <a:latin typeface="Times New Roman" panose="02020603050405020304" pitchFamily="18" charset="0"/>
                <a:ea typeface="华文中宋" panose="02010600040101010101" pitchFamily="2" charset="-122"/>
              </a:rPr>
              <a:t>光量子论肯定电磁辐射的粒子性</a:t>
            </a:r>
          </a:p>
        </p:txBody>
      </p:sp>
      <p:grpSp>
        <p:nvGrpSpPr>
          <p:cNvPr id="11267" name="Group 3"/>
          <p:cNvGrpSpPr/>
          <p:nvPr/>
        </p:nvGrpSpPr>
        <p:grpSpPr>
          <a:xfrm>
            <a:off x="2906713" y="1643063"/>
            <a:ext cx="5737225" cy="1944687"/>
            <a:chOff x="-74" y="0"/>
            <a:chExt cx="3253" cy="1180"/>
          </a:xfrm>
        </p:grpSpPr>
        <p:sp>
          <p:nvSpPr>
            <p:cNvPr id="11273" name="Rectangle 4"/>
            <p:cNvSpPr/>
            <p:nvPr/>
          </p:nvSpPr>
          <p:spPr>
            <a:xfrm>
              <a:off x="521" y="72"/>
              <a:ext cx="2495" cy="241"/>
            </a:xfrm>
            <a:prstGeom prst="rect">
              <a:avLst/>
            </a:prstGeom>
            <a:noFill/>
            <a:ln w="9525">
              <a:noFill/>
            </a:ln>
          </p:spPr>
          <p:txBody>
            <a:bodyPr anchor="ctr" anchorCtr="0">
              <a:spAutoFit/>
            </a:bodyPr>
            <a:lstStyle/>
            <a:p>
              <a:r>
                <a:rPr lang="zh-CN" altLang="zh-CN" sz="2000" b="0" dirty="0">
                  <a:solidFill>
                    <a:srgbClr val="66FFFF"/>
                  </a:solidFill>
                  <a:latin typeface="Times New Roman" panose="02020603050405020304" pitchFamily="18" charset="0"/>
                  <a:cs typeface="Arial" panose="020B0604020202020204" pitchFamily="34" charset="0"/>
                </a:rPr>
                <a:t>The Nobel Prize in Physics 1921</a:t>
              </a:r>
              <a:endParaRPr lang="zh-CN" altLang="zh-CN" sz="2000" b="0" dirty="0">
                <a:solidFill>
                  <a:srgbClr val="66FFFF"/>
                </a:solidFill>
                <a:latin typeface="Times New Roman" panose="02020603050405020304" pitchFamily="18" charset="0"/>
                <a:ea typeface="Arial" panose="020B0604020202020204" pitchFamily="34" charset="0"/>
              </a:endParaRPr>
            </a:p>
          </p:txBody>
        </p:sp>
        <p:sp>
          <p:nvSpPr>
            <p:cNvPr id="11274" name="Rectangle 5"/>
            <p:cNvSpPr/>
            <p:nvPr/>
          </p:nvSpPr>
          <p:spPr>
            <a:xfrm>
              <a:off x="-74" y="521"/>
              <a:ext cx="3253" cy="659"/>
            </a:xfrm>
            <a:prstGeom prst="rect">
              <a:avLst/>
            </a:prstGeom>
            <a:noFill/>
            <a:ln w="9525">
              <a:noFill/>
            </a:ln>
          </p:spPr>
          <p:txBody>
            <a:bodyPr/>
            <a:lstStyle/>
            <a:p>
              <a:r>
                <a:rPr lang="zh-CN" altLang="zh-CN" sz="2200" dirty="0">
                  <a:solidFill>
                    <a:schemeClr val="hlink"/>
                  </a:solidFill>
                  <a:latin typeface="Times New Roman" panose="02020603050405020304" pitchFamily="18" charset="0"/>
                  <a:cs typeface="Arial" panose="020B0604020202020204" pitchFamily="34" charset="0"/>
                </a:rPr>
                <a:t>for his services to Theoretical Physics, and especially for his discovery of the law of the</a:t>
              </a:r>
              <a:r>
                <a:rPr lang="zh-CN" altLang="zh-CN" sz="2200" dirty="0">
                  <a:latin typeface="Times New Roman" panose="02020603050405020304" pitchFamily="18" charset="0"/>
                  <a:cs typeface="Arial" panose="020B0604020202020204" pitchFamily="34" charset="0"/>
                </a:rPr>
                <a:t> </a:t>
              </a:r>
              <a:r>
                <a:rPr lang="zh-CN" altLang="zh-CN" sz="2200" dirty="0">
                  <a:solidFill>
                    <a:srgbClr val="FFFF00"/>
                  </a:solidFill>
                  <a:latin typeface="Times New Roman" panose="02020603050405020304" pitchFamily="18" charset="0"/>
                  <a:cs typeface="Arial" panose="020B0604020202020204" pitchFamily="34" charset="0"/>
                </a:rPr>
                <a:t>photoelectric effect</a:t>
              </a:r>
              <a:endParaRPr lang="zh-CN" altLang="zh-CN" sz="2200" dirty="0">
                <a:solidFill>
                  <a:srgbClr val="FFFF00"/>
                </a:solidFill>
                <a:latin typeface="Times New Roman" panose="02020603050405020304" pitchFamily="18" charset="0"/>
              </a:endParaRPr>
            </a:p>
          </p:txBody>
        </p:sp>
        <p:pic>
          <p:nvPicPr>
            <p:cNvPr id="11275" name="Picture 6" descr="Medal"/>
            <p:cNvPicPr>
              <a:picLocks noChangeAspect="1"/>
            </p:cNvPicPr>
            <p:nvPr/>
          </p:nvPicPr>
          <p:blipFill>
            <a:blip r:embed="rId2"/>
            <a:stretch>
              <a:fillRect/>
            </a:stretch>
          </p:blipFill>
          <p:spPr>
            <a:xfrm>
              <a:off x="0" y="0"/>
              <a:ext cx="408" cy="408"/>
            </a:xfrm>
            <a:prstGeom prst="rect">
              <a:avLst/>
            </a:prstGeom>
            <a:noFill/>
            <a:ln w="9525">
              <a:noFill/>
            </a:ln>
          </p:spPr>
        </p:pic>
      </p:grpSp>
      <p:grpSp>
        <p:nvGrpSpPr>
          <p:cNvPr id="11268" name="Group 7"/>
          <p:cNvGrpSpPr/>
          <p:nvPr/>
        </p:nvGrpSpPr>
        <p:grpSpPr>
          <a:xfrm>
            <a:off x="395288" y="1357313"/>
            <a:ext cx="2736850" cy="3011487"/>
            <a:chOff x="0" y="0"/>
            <a:chExt cx="975" cy="1098"/>
          </a:xfrm>
        </p:grpSpPr>
        <p:pic>
          <p:nvPicPr>
            <p:cNvPr id="11271" name="Picture 8" descr="einstein"/>
            <p:cNvPicPr>
              <a:picLocks noChangeAspect="1"/>
            </p:cNvPicPr>
            <p:nvPr/>
          </p:nvPicPr>
          <p:blipFill>
            <a:blip r:embed="rId3"/>
            <a:stretch>
              <a:fillRect/>
            </a:stretch>
          </p:blipFill>
          <p:spPr>
            <a:xfrm>
              <a:off x="158" y="0"/>
              <a:ext cx="644" cy="908"/>
            </a:xfrm>
            <a:prstGeom prst="rect">
              <a:avLst/>
            </a:prstGeom>
            <a:noFill/>
            <a:ln w="9525">
              <a:noFill/>
            </a:ln>
          </p:spPr>
        </p:pic>
        <p:sp>
          <p:nvSpPr>
            <p:cNvPr id="11272" name="Text Box 9"/>
            <p:cNvSpPr txBox="1"/>
            <p:nvPr/>
          </p:nvSpPr>
          <p:spPr>
            <a:xfrm>
              <a:off x="0" y="953"/>
              <a:ext cx="975" cy="145"/>
            </a:xfrm>
            <a:prstGeom prst="rect">
              <a:avLst/>
            </a:prstGeom>
            <a:noFill/>
            <a:ln w="9525">
              <a:noFill/>
            </a:ln>
          </p:spPr>
          <p:txBody>
            <a:bodyPr>
              <a:spAutoFit/>
            </a:bodyPr>
            <a:lstStyle/>
            <a:p>
              <a:r>
                <a:rPr lang="zh-CN" altLang="zh-CN" sz="2000" b="0" dirty="0">
                  <a:solidFill>
                    <a:srgbClr val="66FFFF"/>
                  </a:solidFill>
                  <a:latin typeface="Times New Roman" panose="02020603050405020304" pitchFamily="18" charset="0"/>
                </a:rPr>
                <a:t>A. Einstein (1878-1955)</a:t>
              </a:r>
            </a:p>
          </p:txBody>
        </p:sp>
      </p:grpSp>
      <p:sp>
        <p:nvSpPr>
          <p:cNvPr id="11269" name="矩形 9"/>
          <p:cNvSpPr/>
          <p:nvPr/>
        </p:nvSpPr>
        <p:spPr>
          <a:xfrm>
            <a:off x="857250" y="4335463"/>
            <a:ext cx="7929563" cy="2308225"/>
          </a:xfrm>
          <a:prstGeom prst="rect">
            <a:avLst/>
          </a:prstGeom>
          <a:noFill/>
          <a:ln w="9525">
            <a:noFill/>
          </a:ln>
        </p:spPr>
        <p:txBody>
          <a:bodyPr>
            <a:spAutoFit/>
          </a:bodyPr>
          <a:lstStyle/>
          <a:p>
            <a:pPr eaLnBrk="1" hangingPunct="1">
              <a:lnSpc>
                <a:spcPct val="120000"/>
              </a:lnSpc>
            </a:pPr>
            <a:r>
              <a:rPr lang="en-US" altLang="zh-CN" b="0" dirty="0">
                <a:solidFill>
                  <a:schemeClr val="bg1"/>
                </a:solidFill>
                <a:latin typeface="Times New Roman" panose="02020603050405020304" pitchFamily="18" charset="0"/>
              </a:rPr>
              <a:t>(1)</a:t>
            </a:r>
            <a:r>
              <a:rPr lang="zh-CN" altLang="en-US" b="0" dirty="0">
                <a:solidFill>
                  <a:schemeClr val="bg1"/>
                </a:solidFill>
                <a:latin typeface="Times New Roman" panose="02020603050405020304" pitchFamily="18" charset="0"/>
              </a:rPr>
              <a:t>  </a:t>
            </a:r>
            <a:r>
              <a:rPr lang="en-US" altLang="zh-CN" b="0" dirty="0">
                <a:solidFill>
                  <a:schemeClr val="bg1"/>
                </a:solidFill>
                <a:latin typeface="Times New Roman" panose="02020603050405020304" pitchFamily="18" charset="0"/>
              </a:rPr>
              <a:t>Imagination is more important than knowledge.</a:t>
            </a:r>
          </a:p>
          <a:p>
            <a:pPr eaLnBrk="1" hangingPunct="1">
              <a:lnSpc>
                <a:spcPct val="120000"/>
              </a:lnSpc>
            </a:pPr>
            <a:r>
              <a:rPr lang="zh-CN" altLang="en-US" b="0" dirty="0">
                <a:solidFill>
                  <a:schemeClr val="bg1"/>
                </a:solidFill>
                <a:latin typeface="Times New Roman" panose="02020603050405020304" pitchFamily="18" charset="0"/>
              </a:rPr>
              <a:t>      想象力比知识更重要。</a:t>
            </a:r>
          </a:p>
          <a:p>
            <a:pPr eaLnBrk="1" hangingPunct="1">
              <a:lnSpc>
                <a:spcPct val="120000"/>
              </a:lnSpc>
            </a:pPr>
            <a:r>
              <a:rPr lang="en-US" altLang="zh-CN" b="0" dirty="0">
                <a:solidFill>
                  <a:schemeClr val="bg1"/>
                </a:solidFill>
                <a:latin typeface="Times New Roman" panose="02020603050405020304" pitchFamily="18" charset="0"/>
              </a:rPr>
              <a:t>(2)  Logic will get you from A to B. Imagination will take you everywhere.</a:t>
            </a:r>
          </a:p>
          <a:p>
            <a:pPr eaLnBrk="1" hangingPunct="1">
              <a:lnSpc>
                <a:spcPct val="120000"/>
              </a:lnSpc>
            </a:pPr>
            <a:r>
              <a:rPr lang="zh-CN" altLang="en-US" b="0" dirty="0">
                <a:solidFill>
                  <a:schemeClr val="bg1"/>
                </a:solidFill>
                <a:latin typeface="Times New Roman" panose="02020603050405020304" pitchFamily="18" charset="0"/>
              </a:rPr>
              <a:t>      逻辑会把你从</a:t>
            </a:r>
            <a:r>
              <a:rPr lang="en-US" altLang="zh-CN" b="0" dirty="0">
                <a:solidFill>
                  <a:schemeClr val="bg1"/>
                </a:solidFill>
                <a:latin typeface="Times New Roman" panose="02020603050405020304" pitchFamily="18" charset="0"/>
              </a:rPr>
              <a:t>A</a:t>
            </a:r>
            <a:r>
              <a:rPr lang="zh-CN" altLang="en-US" b="0" dirty="0">
                <a:solidFill>
                  <a:schemeClr val="bg1"/>
                </a:solidFill>
                <a:latin typeface="Times New Roman" panose="02020603050405020304" pitchFamily="18" charset="0"/>
              </a:rPr>
              <a:t>带到</a:t>
            </a:r>
            <a:r>
              <a:rPr lang="en-US" altLang="zh-CN" b="0" dirty="0">
                <a:solidFill>
                  <a:schemeClr val="bg1"/>
                </a:solidFill>
                <a:latin typeface="Times New Roman" panose="02020603050405020304" pitchFamily="18" charset="0"/>
              </a:rPr>
              <a:t>B，</a:t>
            </a:r>
            <a:r>
              <a:rPr lang="zh-CN" altLang="en-US" b="0" dirty="0">
                <a:solidFill>
                  <a:schemeClr val="bg1"/>
                </a:solidFill>
                <a:latin typeface="Times New Roman" panose="02020603050405020304" pitchFamily="18" charset="0"/>
              </a:rPr>
              <a:t>想象力能带你去任何地方。</a:t>
            </a:r>
          </a:p>
        </p:txBody>
      </p:sp>
      <p:sp>
        <p:nvSpPr>
          <p:cNvPr id="11270" name="灯片编号占位符 1"/>
          <p:cNvSpPr txBox="1"/>
          <p:nvPr/>
        </p:nvSpPr>
        <p:spPr>
          <a:xfrm>
            <a:off x="0" y="6381750"/>
            <a:ext cx="2133600" cy="476250"/>
          </a:xfrm>
          <a:prstGeom prst="rect">
            <a:avLst/>
          </a:prstGeom>
          <a:noFill/>
          <a:ln w="9525">
            <a:noFill/>
          </a:ln>
        </p:spPr>
        <p:txBody>
          <a:bodyPr/>
          <a:lstStyle/>
          <a:p>
            <a:pPr eaLnBrk="1" hangingPunct="1"/>
            <a:fld id="{9A0DB2DC-4C9A-4742-B13C-FB6460FD3503}" type="slidenum">
              <a:rPr lang="en-US" altLang="zh-CN" b="0" smtClean="0">
                <a:solidFill>
                  <a:srgbClr val="FF00FF"/>
                </a:solidFill>
                <a:latin typeface="Times New Roman" panose="02020603050405020304" pitchFamily="18" charset="0"/>
              </a:rPr>
              <a:t>8</a:t>
            </a:fld>
            <a:r>
              <a:rPr lang="en-US" altLang="zh-CN" b="0" dirty="0">
                <a:solidFill>
                  <a:srgbClr val="FF00FF"/>
                </a:solidFill>
                <a:latin typeface="Times New Roman" panose="02020603050405020304" pitchFamily="18" charset="0"/>
              </a:rPr>
              <a:t>/30</a:t>
            </a: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88" name="Rectangle 32">
            <a:extLst>
              <a:ext uri="{FF2B5EF4-FFF2-40B4-BE49-F238E27FC236}">
                <a16:creationId xmlns:a16="http://schemas.microsoft.com/office/drawing/2014/main" id="{D5620C31-31CC-4336-AA02-4BDBEE5C6F21}"/>
              </a:ext>
            </a:extLst>
          </p:cNvPr>
          <p:cNvSpPr>
            <a:spLocks noChangeArrowheads="1"/>
          </p:cNvSpPr>
          <p:nvPr/>
        </p:nvSpPr>
        <p:spPr bwMode="auto">
          <a:xfrm>
            <a:off x="2809875" y="257175"/>
            <a:ext cx="419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a:solidFill>
                  <a:srgbClr val="00FF00"/>
                </a:solidFill>
                <a:ea typeface="楷体_GB2312" pitchFamily="49" charset="-122"/>
              </a:rPr>
              <a:t>16-3  </a:t>
            </a:r>
            <a:r>
              <a:rPr lang="zh-CN" altLang="en-US" sz="2800">
                <a:solidFill>
                  <a:srgbClr val="00FF00"/>
                </a:solidFill>
                <a:ea typeface="楷体_GB2312" pitchFamily="49" charset="-122"/>
              </a:rPr>
              <a:t>康普顿效应</a:t>
            </a:r>
            <a:r>
              <a:rPr lang="zh-CN" altLang="en-US" sz="2800">
                <a:solidFill>
                  <a:srgbClr val="EDFE4A"/>
                </a:solidFill>
                <a:ea typeface="楷体_GB2312" pitchFamily="49" charset="-122"/>
              </a:rPr>
              <a:t> </a:t>
            </a:r>
            <a:r>
              <a:rPr lang="zh-CN" altLang="en-US" sz="2800">
                <a:solidFill>
                  <a:srgbClr val="000099"/>
                </a:solidFill>
                <a:ea typeface="楷体_GB2312" pitchFamily="49" charset="-122"/>
              </a:rPr>
              <a:t> </a:t>
            </a:r>
          </a:p>
        </p:txBody>
      </p:sp>
      <p:sp>
        <p:nvSpPr>
          <p:cNvPr id="147489" name="Rectangle 33">
            <a:extLst>
              <a:ext uri="{FF2B5EF4-FFF2-40B4-BE49-F238E27FC236}">
                <a16:creationId xmlns:a16="http://schemas.microsoft.com/office/drawing/2014/main" id="{A6B5AADB-CAB7-40C7-9A17-545338BDA41D}"/>
              </a:ext>
            </a:extLst>
          </p:cNvPr>
          <p:cNvSpPr>
            <a:spLocks noChangeArrowheads="1"/>
          </p:cNvSpPr>
          <p:nvPr/>
        </p:nvSpPr>
        <p:spPr bwMode="auto">
          <a:xfrm>
            <a:off x="228600" y="819150"/>
            <a:ext cx="8701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FFFF66"/>
                </a:solidFill>
                <a:ea typeface="楷体_GB2312" pitchFamily="49" charset="-122"/>
              </a:rPr>
              <a:t>   </a:t>
            </a:r>
            <a:r>
              <a:rPr lang="en-US" altLang="zh-CN">
                <a:solidFill>
                  <a:schemeClr val="bg1"/>
                </a:solidFill>
                <a:ea typeface="楷体_GB2312" pitchFamily="49" charset="-122"/>
              </a:rPr>
              <a:t>1923-1925</a:t>
            </a:r>
            <a:r>
              <a:rPr lang="zh-CN" altLang="en-US">
                <a:solidFill>
                  <a:schemeClr val="bg1"/>
                </a:solidFill>
                <a:ea typeface="楷体_GB2312" pitchFamily="49" charset="-122"/>
              </a:rPr>
              <a:t>年，美国物理学家康普顿研究</a:t>
            </a:r>
            <a:r>
              <a:rPr lang="en-US" altLang="zh-CN" i="1">
                <a:solidFill>
                  <a:srgbClr val="FFFF00"/>
                </a:solidFill>
                <a:ea typeface="楷体_GB2312" pitchFamily="49" charset="-122"/>
              </a:rPr>
              <a:t>X </a:t>
            </a:r>
            <a:r>
              <a:rPr lang="zh-CN" altLang="en-US">
                <a:solidFill>
                  <a:srgbClr val="FFFF00"/>
                </a:solidFill>
                <a:ea typeface="楷体_GB2312" pitchFamily="49" charset="-122"/>
              </a:rPr>
              <a:t>射线</a:t>
            </a:r>
            <a:r>
              <a:rPr lang="zh-CN" altLang="en-US">
                <a:solidFill>
                  <a:schemeClr val="bg1"/>
                </a:solidFill>
                <a:ea typeface="楷体_GB2312" pitchFamily="49" charset="-122"/>
              </a:rPr>
              <a:t>通过某些物质</a:t>
            </a:r>
          </a:p>
        </p:txBody>
      </p:sp>
      <p:sp>
        <p:nvSpPr>
          <p:cNvPr id="147490" name="Rectangle 34">
            <a:extLst>
              <a:ext uri="{FF2B5EF4-FFF2-40B4-BE49-F238E27FC236}">
                <a16:creationId xmlns:a16="http://schemas.microsoft.com/office/drawing/2014/main" id="{4232B4F0-3558-4CF8-8F6D-C27F7E1FC631}"/>
              </a:ext>
            </a:extLst>
          </p:cNvPr>
          <p:cNvSpPr>
            <a:spLocks noChangeArrowheads="1"/>
          </p:cNvSpPr>
          <p:nvPr/>
        </p:nvSpPr>
        <p:spPr bwMode="auto">
          <a:xfrm>
            <a:off x="442913" y="1276350"/>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ea typeface="楷体_GB2312" pitchFamily="49" charset="-122"/>
              </a:rPr>
              <a:t>时产生的散射光谱，发现：</a:t>
            </a:r>
          </a:p>
        </p:txBody>
      </p:sp>
      <p:sp>
        <p:nvSpPr>
          <p:cNvPr id="147491" name="Rectangle 35">
            <a:extLst>
              <a:ext uri="{FF2B5EF4-FFF2-40B4-BE49-F238E27FC236}">
                <a16:creationId xmlns:a16="http://schemas.microsoft.com/office/drawing/2014/main" id="{53296363-7CCF-4079-9657-47D341F703CA}"/>
              </a:ext>
            </a:extLst>
          </p:cNvPr>
          <p:cNvSpPr>
            <a:spLocks noChangeArrowheads="1"/>
          </p:cNvSpPr>
          <p:nvPr/>
        </p:nvSpPr>
        <p:spPr bwMode="auto">
          <a:xfrm>
            <a:off x="1371600" y="1885950"/>
            <a:ext cx="69865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FFCC66"/>
                </a:solidFill>
                <a:ea typeface="楷体_GB2312" pitchFamily="49" charset="-122"/>
              </a:rPr>
              <a:t> </a:t>
            </a:r>
            <a:r>
              <a:rPr lang="en-US" altLang="zh-CN" i="1">
                <a:solidFill>
                  <a:srgbClr val="FFFF00"/>
                </a:solidFill>
                <a:ea typeface="楷体_GB2312" pitchFamily="49" charset="-122"/>
              </a:rPr>
              <a:t>X </a:t>
            </a:r>
            <a:r>
              <a:rPr lang="zh-CN" altLang="en-US">
                <a:solidFill>
                  <a:srgbClr val="FFFF00"/>
                </a:solidFill>
                <a:ea typeface="楷体_GB2312" pitchFamily="49" charset="-122"/>
              </a:rPr>
              <a:t>射线</a:t>
            </a:r>
            <a:r>
              <a:rPr lang="zh-CN" altLang="en-US">
                <a:solidFill>
                  <a:srgbClr val="FFFFFF"/>
                </a:solidFill>
                <a:ea typeface="楷体_GB2312" pitchFamily="49" charset="-122"/>
              </a:rPr>
              <a:t>的散射谱线中除与原</a:t>
            </a:r>
            <a:r>
              <a:rPr lang="zh-CN" altLang="en-US">
                <a:solidFill>
                  <a:srgbClr val="FFFF00"/>
                </a:solidFill>
                <a:ea typeface="楷体_GB2312" pitchFamily="49" charset="-122"/>
              </a:rPr>
              <a:t>入射光波长相同</a:t>
            </a:r>
            <a:r>
              <a:rPr lang="zh-CN" altLang="en-US">
                <a:solidFill>
                  <a:srgbClr val="FFFFFF"/>
                </a:solidFill>
                <a:ea typeface="楷体_GB2312" pitchFamily="49" charset="-122"/>
              </a:rPr>
              <a:t>的成</a:t>
            </a:r>
          </a:p>
        </p:txBody>
      </p:sp>
      <p:sp>
        <p:nvSpPr>
          <p:cNvPr id="147492" name="Rectangle 36">
            <a:extLst>
              <a:ext uri="{FF2B5EF4-FFF2-40B4-BE49-F238E27FC236}">
                <a16:creationId xmlns:a16="http://schemas.microsoft.com/office/drawing/2014/main" id="{D28A4FD4-BE9E-403E-9C22-1834D48C5781}"/>
              </a:ext>
            </a:extLst>
          </p:cNvPr>
          <p:cNvSpPr>
            <a:spLocks noChangeArrowheads="1"/>
          </p:cNvSpPr>
          <p:nvPr/>
        </p:nvSpPr>
        <p:spPr bwMode="auto">
          <a:xfrm>
            <a:off x="990600" y="2343150"/>
            <a:ext cx="556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FFFF"/>
                </a:solidFill>
                <a:ea typeface="楷体_GB2312" pitchFamily="49" charset="-122"/>
              </a:rPr>
              <a:t>分外，还包括</a:t>
            </a:r>
            <a:r>
              <a:rPr lang="zh-CN" altLang="en-US">
                <a:solidFill>
                  <a:srgbClr val="FFFF00"/>
                </a:solidFill>
                <a:ea typeface="楷体_GB2312" pitchFamily="49" charset="-122"/>
              </a:rPr>
              <a:t>波长变长</a:t>
            </a:r>
            <a:r>
              <a:rPr lang="zh-CN" altLang="en-US">
                <a:solidFill>
                  <a:srgbClr val="FFFFFF"/>
                </a:solidFill>
                <a:ea typeface="楷体_GB2312" pitchFamily="49" charset="-122"/>
              </a:rPr>
              <a:t>的成分</a:t>
            </a:r>
          </a:p>
        </p:txBody>
      </p:sp>
      <p:sp>
        <p:nvSpPr>
          <p:cNvPr id="147493" name="Rectangle 37">
            <a:extLst>
              <a:ext uri="{FF2B5EF4-FFF2-40B4-BE49-F238E27FC236}">
                <a16:creationId xmlns:a16="http://schemas.microsoft.com/office/drawing/2014/main" id="{F30A20B3-68CD-4BD5-B227-A08768E60AFE}"/>
              </a:ext>
            </a:extLst>
          </p:cNvPr>
          <p:cNvSpPr>
            <a:spLocks noChangeArrowheads="1"/>
          </p:cNvSpPr>
          <p:nvPr/>
        </p:nvSpPr>
        <p:spPr bwMode="auto">
          <a:xfrm>
            <a:off x="5105400" y="2343150"/>
            <a:ext cx="3038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FFFFFF"/>
                </a:solidFill>
                <a:ea typeface="楷体_GB2312" pitchFamily="49" charset="-122"/>
              </a:rPr>
              <a:t>——</a:t>
            </a:r>
            <a:r>
              <a:rPr lang="en-US" altLang="zh-CN">
                <a:solidFill>
                  <a:srgbClr val="0000FF"/>
                </a:solidFill>
                <a:ea typeface="楷体_GB2312" pitchFamily="49" charset="-122"/>
              </a:rPr>
              <a:t> </a:t>
            </a:r>
            <a:r>
              <a:rPr lang="zh-CN" altLang="en-US">
                <a:solidFill>
                  <a:srgbClr val="FFFF00"/>
                </a:solidFill>
                <a:ea typeface="楷体_GB2312" pitchFamily="49" charset="-122"/>
              </a:rPr>
              <a:t>康普顿效应</a:t>
            </a:r>
          </a:p>
        </p:txBody>
      </p:sp>
      <p:sp>
        <p:nvSpPr>
          <p:cNvPr id="147494" name="Rectangle 38">
            <a:extLst>
              <a:ext uri="{FF2B5EF4-FFF2-40B4-BE49-F238E27FC236}">
                <a16:creationId xmlns:a16="http://schemas.microsoft.com/office/drawing/2014/main" id="{28F07703-C2B8-4547-BED7-B22B21E501AA}"/>
              </a:ext>
            </a:extLst>
          </p:cNvPr>
          <p:cNvSpPr>
            <a:spLocks noChangeArrowheads="1"/>
          </p:cNvSpPr>
          <p:nvPr/>
        </p:nvSpPr>
        <p:spPr bwMode="auto">
          <a:xfrm>
            <a:off x="838200" y="1809750"/>
            <a:ext cx="7543800" cy="106680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47495" name="Text Box 39">
            <a:extLst>
              <a:ext uri="{FF2B5EF4-FFF2-40B4-BE49-F238E27FC236}">
                <a16:creationId xmlns:a16="http://schemas.microsoft.com/office/drawing/2014/main" id="{D70A0B7F-5428-4D17-BEC6-5559067A902D}"/>
              </a:ext>
            </a:extLst>
          </p:cNvPr>
          <p:cNvSpPr txBox="1">
            <a:spLocks noChangeArrowheads="1"/>
          </p:cNvSpPr>
          <p:nvPr/>
        </p:nvSpPr>
        <p:spPr bwMode="auto">
          <a:xfrm>
            <a:off x="357188" y="2928938"/>
            <a:ext cx="2428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FF00"/>
                </a:solidFill>
                <a:ea typeface="楷体_GB2312" pitchFamily="49" charset="-122"/>
              </a:rPr>
              <a:t>一</a:t>
            </a:r>
            <a:r>
              <a:rPr lang="en-US" altLang="zh-CN">
                <a:solidFill>
                  <a:srgbClr val="FFFF00"/>
                </a:solidFill>
                <a:ea typeface="楷体_GB2312" pitchFamily="49" charset="-122"/>
              </a:rPr>
              <a:t>.  </a:t>
            </a:r>
            <a:r>
              <a:rPr lang="zh-CN" altLang="en-US">
                <a:solidFill>
                  <a:srgbClr val="FFFF00"/>
                </a:solidFill>
                <a:ea typeface="楷体_GB2312" pitchFamily="49" charset="-122"/>
              </a:rPr>
              <a:t>实验规律</a:t>
            </a:r>
          </a:p>
        </p:txBody>
      </p:sp>
      <p:pic>
        <p:nvPicPr>
          <p:cNvPr id="147496" name="Picture 40" descr="康普顿试验3">
            <a:extLst>
              <a:ext uri="{FF2B5EF4-FFF2-40B4-BE49-F238E27FC236}">
                <a16:creationId xmlns:a16="http://schemas.microsoft.com/office/drawing/2014/main" id="{A762B399-DBB4-428E-BDC8-6E46B2EB17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4688" y="3146425"/>
            <a:ext cx="5638800" cy="3200400"/>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pic>
      <p:sp>
        <p:nvSpPr>
          <p:cNvPr id="147497" name="Rectangle 41">
            <a:extLst>
              <a:ext uri="{FF2B5EF4-FFF2-40B4-BE49-F238E27FC236}">
                <a16:creationId xmlns:a16="http://schemas.microsoft.com/office/drawing/2014/main" id="{C1461F81-917F-4B37-AAF4-CF916D2610EF}"/>
              </a:ext>
            </a:extLst>
          </p:cNvPr>
          <p:cNvSpPr>
            <a:spLocks noChangeArrowheads="1"/>
          </p:cNvSpPr>
          <p:nvPr/>
        </p:nvSpPr>
        <p:spPr bwMode="auto">
          <a:xfrm>
            <a:off x="6110288" y="5813425"/>
            <a:ext cx="274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EDFE4A"/>
                </a:solidFill>
                <a:ea typeface="楷体_GB2312" pitchFamily="49" charset="-122"/>
              </a:rPr>
              <a:t>散射物质（石墨）</a:t>
            </a:r>
          </a:p>
        </p:txBody>
      </p:sp>
      <p:graphicFrame>
        <p:nvGraphicFramePr>
          <p:cNvPr id="147498" name="Object 2">
            <a:extLst>
              <a:ext uri="{FF2B5EF4-FFF2-40B4-BE49-F238E27FC236}">
                <a16:creationId xmlns:a16="http://schemas.microsoft.com/office/drawing/2014/main" id="{CD55A120-6E1B-4A32-AB40-42B741DE7851}"/>
              </a:ext>
            </a:extLst>
          </p:cNvPr>
          <p:cNvGraphicFramePr>
            <a:graphicFrameLocks noChangeAspect="1"/>
          </p:cNvGraphicFramePr>
          <p:nvPr/>
        </p:nvGraphicFramePr>
        <p:xfrm>
          <a:off x="5043488" y="5584825"/>
          <a:ext cx="390525" cy="503238"/>
        </p:xfrm>
        <a:graphic>
          <a:graphicData uri="http://schemas.openxmlformats.org/presentationml/2006/ole">
            <mc:AlternateContent xmlns:mc="http://schemas.openxmlformats.org/markup-compatibility/2006">
              <mc:Choice xmlns:v="urn:schemas-microsoft-com:vml" Requires="v">
                <p:oleObj spid="_x0000_s465964" name="Equation" r:id="rId4" imgW="152298" imgH="199923" progId="Equation.3">
                  <p:embed/>
                </p:oleObj>
              </mc:Choice>
              <mc:Fallback>
                <p:oleObj name="Equation" r:id="rId4" imgW="152298" imgH="199923" progId="Equation.3">
                  <p:embed/>
                  <p:pic>
                    <p:nvPicPr>
                      <p:cNvPr id="147498" name="Object 2">
                        <a:extLst>
                          <a:ext uri="{FF2B5EF4-FFF2-40B4-BE49-F238E27FC236}">
                            <a16:creationId xmlns:a16="http://schemas.microsoft.com/office/drawing/2014/main" id="{CD55A120-6E1B-4A32-AB40-42B741DE78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43488" y="5584825"/>
                        <a:ext cx="390525"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7499" name="Object 3">
            <a:extLst>
              <a:ext uri="{FF2B5EF4-FFF2-40B4-BE49-F238E27FC236}">
                <a16:creationId xmlns:a16="http://schemas.microsoft.com/office/drawing/2014/main" id="{EF1CF611-2F2F-4490-A1C0-84D478C7A367}"/>
              </a:ext>
            </a:extLst>
          </p:cNvPr>
          <p:cNvGraphicFramePr>
            <a:graphicFrameLocks noChangeAspect="1"/>
          </p:cNvGraphicFramePr>
          <p:nvPr>
            <p:extLst/>
          </p:nvPr>
        </p:nvGraphicFramePr>
        <p:xfrm>
          <a:off x="3390900" y="4105275"/>
          <a:ext cx="395288" cy="323850"/>
        </p:xfrm>
        <a:graphic>
          <a:graphicData uri="http://schemas.openxmlformats.org/presentationml/2006/ole">
            <mc:AlternateContent xmlns:mc="http://schemas.openxmlformats.org/markup-compatibility/2006">
              <mc:Choice xmlns:v="urn:schemas-microsoft-com:vml" Requires="v">
                <p:oleObj spid="_x0000_s465965" name="Equation" r:id="rId6" imgW="152298" imgH="133486" progId="Equation.3">
                  <p:embed/>
                </p:oleObj>
              </mc:Choice>
              <mc:Fallback>
                <p:oleObj name="Equation" r:id="rId6" imgW="152298" imgH="133486" progId="Equation.3">
                  <p:embed/>
                  <p:pic>
                    <p:nvPicPr>
                      <p:cNvPr id="147499" name="Object 3">
                        <a:extLst>
                          <a:ext uri="{FF2B5EF4-FFF2-40B4-BE49-F238E27FC236}">
                            <a16:creationId xmlns:a16="http://schemas.microsoft.com/office/drawing/2014/main" id="{EF1CF611-2F2F-4490-A1C0-84D478C7A36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90900" y="4105275"/>
                        <a:ext cx="395288" cy="323850"/>
                      </a:xfrm>
                      <a:prstGeom prst="rect">
                        <a:avLst/>
                      </a:prstGeom>
                      <a:solidFill>
                        <a:schemeClr val="bg1"/>
                      </a:solidFill>
                      <a:ln>
                        <a:noFill/>
                      </a:ln>
                      <a:extLst/>
                    </p:spPr>
                  </p:pic>
                </p:oleObj>
              </mc:Fallback>
            </mc:AlternateContent>
          </a:graphicData>
        </a:graphic>
      </p:graphicFrame>
      <p:graphicFrame>
        <p:nvGraphicFramePr>
          <p:cNvPr id="147500" name="Object 4">
            <a:extLst>
              <a:ext uri="{FF2B5EF4-FFF2-40B4-BE49-F238E27FC236}">
                <a16:creationId xmlns:a16="http://schemas.microsoft.com/office/drawing/2014/main" id="{29D8149E-189E-4E44-AEAF-6DC1B4DC1E12}"/>
              </a:ext>
            </a:extLst>
          </p:cNvPr>
          <p:cNvGraphicFramePr>
            <a:graphicFrameLocks noChangeAspect="1"/>
          </p:cNvGraphicFramePr>
          <p:nvPr/>
        </p:nvGraphicFramePr>
        <p:xfrm>
          <a:off x="7429500" y="4068763"/>
          <a:ext cx="390525" cy="503237"/>
        </p:xfrm>
        <a:graphic>
          <a:graphicData uri="http://schemas.openxmlformats.org/presentationml/2006/ole">
            <mc:AlternateContent xmlns:mc="http://schemas.openxmlformats.org/markup-compatibility/2006">
              <mc:Choice xmlns:v="urn:schemas-microsoft-com:vml" Requires="v">
                <p:oleObj spid="_x0000_s465966" name="Equation" r:id="rId8" imgW="152298" imgH="199923" progId="Equation.3">
                  <p:embed/>
                </p:oleObj>
              </mc:Choice>
              <mc:Fallback>
                <p:oleObj name="Equation" r:id="rId8" imgW="152298" imgH="199923" progId="Equation.3">
                  <p:embed/>
                  <p:pic>
                    <p:nvPicPr>
                      <p:cNvPr id="147500" name="Object 4">
                        <a:extLst>
                          <a:ext uri="{FF2B5EF4-FFF2-40B4-BE49-F238E27FC236}">
                            <a16:creationId xmlns:a16="http://schemas.microsoft.com/office/drawing/2014/main" id="{29D8149E-189E-4E44-AEAF-6DC1B4DC1E1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429500" y="4068763"/>
                        <a:ext cx="390525"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7501" name="Object 5">
            <a:extLst>
              <a:ext uri="{FF2B5EF4-FFF2-40B4-BE49-F238E27FC236}">
                <a16:creationId xmlns:a16="http://schemas.microsoft.com/office/drawing/2014/main" id="{88ADB8C6-9B10-43F4-B156-08B3779D2885}"/>
              </a:ext>
            </a:extLst>
          </p:cNvPr>
          <p:cNvGraphicFramePr>
            <a:graphicFrameLocks noChangeAspect="1"/>
          </p:cNvGraphicFramePr>
          <p:nvPr/>
        </p:nvGraphicFramePr>
        <p:xfrm>
          <a:off x="7669213" y="4640263"/>
          <a:ext cx="1117600" cy="503237"/>
        </p:xfrm>
        <a:graphic>
          <a:graphicData uri="http://schemas.openxmlformats.org/presentationml/2006/ole">
            <mc:AlternateContent xmlns:mc="http://schemas.openxmlformats.org/markup-compatibility/2006">
              <mc:Choice xmlns:v="urn:schemas-microsoft-com:vml" Requires="v">
                <p:oleObj spid="_x0000_s465967" name="Equation" r:id="rId10" imgW="476161" imgH="199923" progId="Equation.3">
                  <p:embed/>
                </p:oleObj>
              </mc:Choice>
              <mc:Fallback>
                <p:oleObj name="Equation" r:id="rId10" imgW="476161" imgH="199923" progId="Equation.3">
                  <p:embed/>
                  <p:pic>
                    <p:nvPicPr>
                      <p:cNvPr id="147501" name="Object 5">
                        <a:extLst>
                          <a:ext uri="{FF2B5EF4-FFF2-40B4-BE49-F238E27FC236}">
                            <a16:creationId xmlns:a16="http://schemas.microsoft.com/office/drawing/2014/main" id="{88ADB8C6-9B10-43F4-B156-08B3779D288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669213" y="4640263"/>
                        <a:ext cx="111760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7502" name="Object 6">
            <a:extLst>
              <a:ext uri="{FF2B5EF4-FFF2-40B4-BE49-F238E27FC236}">
                <a16:creationId xmlns:a16="http://schemas.microsoft.com/office/drawing/2014/main" id="{938959B9-5F1F-457D-AFC8-A6B58DCFDECB}"/>
              </a:ext>
            </a:extLst>
          </p:cNvPr>
          <p:cNvGraphicFramePr>
            <a:graphicFrameLocks noChangeAspect="1"/>
          </p:cNvGraphicFramePr>
          <p:nvPr/>
        </p:nvGraphicFramePr>
        <p:xfrm>
          <a:off x="7000875" y="5143500"/>
          <a:ext cx="279400" cy="390525"/>
        </p:xfrm>
        <a:graphic>
          <a:graphicData uri="http://schemas.openxmlformats.org/presentationml/2006/ole">
            <mc:AlternateContent xmlns:mc="http://schemas.openxmlformats.org/markup-compatibility/2006">
              <mc:Choice xmlns:v="urn:schemas-microsoft-com:vml" Requires="v">
                <p:oleObj spid="_x0000_s465968" name="Equation" r:id="rId12" imgW="95110" imgH="152468" progId="Equation.3">
                  <p:embed/>
                </p:oleObj>
              </mc:Choice>
              <mc:Fallback>
                <p:oleObj name="Equation" r:id="rId12" imgW="95110" imgH="152468" progId="Equation.3">
                  <p:embed/>
                  <p:pic>
                    <p:nvPicPr>
                      <p:cNvPr id="147502" name="Object 6">
                        <a:extLst>
                          <a:ext uri="{FF2B5EF4-FFF2-40B4-BE49-F238E27FC236}">
                            <a16:creationId xmlns:a16="http://schemas.microsoft.com/office/drawing/2014/main" id="{938959B9-5F1F-457D-AFC8-A6B58DCFDEC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000875" y="5143500"/>
                        <a:ext cx="2794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7503" name="Rectangle 47">
            <a:extLst>
              <a:ext uri="{FF2B5EF4-FFF2-40B4-BE49-F238E27FC236}">
                <a16:creationId xmlns:a16="http://schemas.microsoft.com/office/drawing/2014/main" id="{11B854BC-B078-4D86-8AE6-CD67964CEDF3}"/>
              </a:ext>
            </a:extLst>
          </p:cNvPr>
          <p:cNvSpPr>
            <a:spLocks noChangeArrowheads="1"/>
          </p:cNvSpPr>
          <p:nvPr/>
        </p:nvSpPr>
        <p:spPr bwMode="auto">
          <a:xfrm>
            <a:off x="428625" y="3443288"/>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bg1"/>
                </a:solidFill>
                <a:ea typeface="楷体_GB2312" pitchFamily="49" charset="-122"/>
              </a:rPr>
              <a:t>两波长</a:t>
            </a:r>
          </a:p>
        </p:txBody>
      </p:sp>
      <p:graphicFrame>
        <p:nvGraphicFramePr>
          <p:cNvPr id="147504" name="Object 7">
            <a:extLst>
              <a:ext uri="{FF2B5EF4-FFF2-40B4-BE49-F238E27FC236}">
                <a16:creationId xmlns:a16="http://schemas.microsoft.com/office/drawing/2014/main" id="{3E171CF9-8E39-4091-9DE9-886B8266089C}"/>
              </a:ext>
            </a:extLst>
          </p:cNvPr>
          <p:cNvGraphicFramePr>
            <a:graphicFrameLocks noChangeAspect="1"/>
          </p:cNvGraphicFramePr>
          <p:nvPr/>
        </p:nvGraphicFramePr>
        <p:xfrm>
          <a:off x="1500188" y="3463925"/>
          <a:ext cx="725487" cy="503238"/>
        </p:xfrm>
        <a:graphic>
          <a:graphicData uri="http://schemas.openxmlformats.org/presentationml/2006/ole">
            <mc:AlternateContent xmlns:mc="http://schemas.openxmlformats.org/markup-compatibility/2006">
              <mc:Choice xmlns:v="urn:schemas-microsoft-com:vml" Requires="v">
                <p:oleObj spid="_x0000_s465969" name="Equation" r:id="rId14" imgW="304902" imgH="199923" progId="Equation.3">
                  <p:embed/>
                </p:oleObj>
              </mc:Choice>
              <mc:Fallback>
                <p:oleObj name="Equation" r:id="rId14" imgW="304902" imgH="199923" progId="Equation.3">
                  <p:embed/>
                  <p:pic>
                    <p:nvPicPr>
                      <p:cNvPr id="147504" name="Object 7">
                        <a:extLst>
                          <a:ext uri="{FF2B5EF4-FFF2-40B4-BE49-F238E27FC236}">
                            <a16:creationId xmlns:a16="http://schemas.microsoft.com/office/drawing/2014/main" id="{3E171CF9-8E39-4091-9DE9-886B8266089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00188" y="3463925"/>
                        <a:ext cx="725487"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7505" name="Rectangle 49">
            <a:extLst>
              <a:ext uri="{FF2B5EF4-FFF2-40B4-BE49-F238E27FC236}">
                <a16:creationId xmlns:a16="http://schemas.microsoft.com/office/drawing/2014/main" id="{E07C404E-FAC9-413A-A5A5-F3DDF16DA8CD}"/>
              </a:ext>
            </a:extLst>
          </p:cNvPr>
          <p:cNvSpPr>
            <a:spLocks noChangeArrowheads="1"/>
          </p:cNvSpPr>
          <p:nvPr/>
        </p:nvSpPr>
        <p:spPr bwMode="auto">
          <a:xfrm>
            <a:off x="457200" y="3900488"/>
            <a:ext cx="228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bg1"/>
                </a:solidFill>
                <a:ea typeface="楷体_GB2312" pitchFamily="49" charset="-122"/>
              </a:rPr>
              <a:t>散射线，有</a:t>
            </a:r>
          </a:p>
        </p:txBody>
      </p:sp>
      <p:sp>
        <p:nvSpPr>
          <p:cNvPr id="147506" name="Rectangle 50">
            <a:extLst>
              <a:ext uri="{FF2B5EF4-FFF2-40B4-BE49-F238E27FC236}">
                <a16:creationId xmlns:a16="http://schemas.microsoft.com/office/drawing/2014/main" id="{66537338-A913-48FD-A45D-AD31F7DCF112}"/>
              </a:ext>
            </a:extLst>
          </p:cNvPr>
          <p:cNvSpPr>
            <a:spLocks noChangeArrowheads="1"/>
          </p:cNvSpPr>
          <p:nvPr/>
        </p:nvSpPr>
        <p:spPr bwMode="auto">
          <a:xfrm>
            <a:off x="2214563" y="3438525"/>
            <a:ext cx="9286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bg1"/>
                </a:solidFill>
                <a:ea typeface="楷体_GB2312" pitchFamily="49" charset="-122"/>
              </a:rPr>
              <a:t>的</a:t>
            </a:r>
          </a:p>
        </p:txBody>
      </p:sp>
      <p:graphicFrame>
        <p:nvGraphicFramePr>
          <p:cNvPr id="147507" name="Object 8">
            <a:extLst>
              <a:ext uri="{FF2B5EF4-FFF2-40B4-BE49-F238E27FC236}">
                <a16:creationId xmlns:a16="http://schemas.microsoft.com/office/drawing/2014/main" id="{65D68139-25AD-4183-B6BF-0E78C64C26F4}"/>
              </a:ext>
            </a:extLst>
          </p:cNvPr>
          <p:cNvGraphicFramePr>
            <a:graphicFrameLocks noChangeAspect="1"/>
          </p:cNvGraphicFramePr>
          <p:nvPr/>
        </p:nvGraphicFramePr>
        <p:xfrm>
          <a:off x="881063" y="4429125"/>
          <a:ext cx="1619250" cy="503238"/>
        </p:xfrm>
        <a:graphic>
          <a:graphicData uri="http://schemas.openxmlformats.org/presentationml/2006/ole">
            <mc:AlternateContent xmlns:mc="http://schemas.openxmlformats.org/markup-compatibility/2006">
              <mc:Choice xmlns:v="urn:schemas-microsoft-com:vml" Requires="v">
                <p:oleObj spid="_x0000_s465970" name="Equation" r:id="rId16" imgW="704914" imgH="199923" progId="Equation.3">
                  <p:embed/>
                </p:oleObj>
              </mc:Choice>
              <mc:Fallback>
                <p:oleObj name="Equation" r:id="rId16" imgW="704914" imgH="199923" progId="Equation.3">
                  <p:embed/>
                  <p:pic>
                    <p:nvPicPr>
                      <p:cNvPr id="147507" name="Object 8">
                        <a:extLst>
                          <a:ext uri="{FF2B5EF4-FFF2-40B4-BE49-F238E27FC236}">
                            <a16:creationId xmlns:a16="http://schemas.microsoft.com/office/drawing/2014/main" id="{65D68139-25AD-4183-B6BF-0E78C64C26F4}"/>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81063" y="4429125"/>
                        <a:ext cx="1619250" cy="503238"/>
                      </a:xfrm>
                      <a:prstGeom prst="rect">
                        <a:avLst/>
                      </a:prstGeom>
                      <a:noFill/>
                      <a:ln w="22225">
                        <a:solidFill>
                          <a:srgbClr val="FF66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7508" name="Rectangle 52">
            <a:extLst>
              <a:ext uri="{FF2B5EF4-FFF2-40B4-BE49-F238E27FC236}">
                <a16:creationId xmlns:a16="http://schemas.microsoft.com/office/drawing/2014/main" id="{F3601FE6-84CF-4789-9127-1607C949914A}"/>
              </a:ext>
            </a:extLst>
          </p:cNvPr>
          <p:cNvSpPr>
            <a:spLocks noChangeArrowheads="1"/>
          </p:cNvSpPr>
          <p:nvPr/>
        </p:nvSpPr>
        <p:spPr bwMode="auto">
          <a:xfrm>
            <a:off x="214313" y="5010150"/>
            <a:ext cx="3124200"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dirty="0">
                <a:solidFill>
                  <a:srgbClr val="FFCC66"/>
                </a:solidFill>
                <a:ea typeface="楷体_GB2312" pitchFamily="49" charset="-122"/>
              </a:rPr>
              <a:t>    </a:t>
            </a:r>
            <a:r>
              <a:rPr lang="zh-CN" altLang="en-US" dirty="0">
                <a:solidFill>
                  <a:srgbClr val="FFFF00"/>
                </a:solidFill>
                <a:ea typeface="楷体_GB2312" pitchFamily="49" charset="-122"/>
              </a:rPr>
              <a:t>随散射角增大而增大，与入射线波长和散射物无关</a:t>
            </a:r>
          </a:p>
        </p:txBody>
      </p:sp>
      <p:pic>
        <p:nvPicPr>
          <p:cNvPr id="147509" name="Picture 53" descr="普线1">
            <a:extLst>
              <a:ext uri="{FF2B5EF4-FFF2-40B4-BE49-F238E27FC236}">
                <a16:creationId xmlns:a16="http://schemas.microsoft.com/office/drawing/2014/main" id="{24BCD3F9-3B45-4523-8807-11BEB1D3E40C}"/>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215313" y="5148263"/>
            <a:ext cx="5334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7510" name="Picture 54" descr="谱线2">
            <a:extLst>
              <a:ext uri="{FF2B5EF4-FFF2-40B4-BE49-F238E27FC236}">
                <a16:creationId xmlns:a16="http://schemas.microsoft.com/office/drawing/2014/main" id="{0A1022F5-C352-47C2-A0C6-5D9AFBBA9390}"/>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243888" y="3679825"/>
            <a:ext cx="533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7511" name="Picture 55" descr="谱线3">
            <a:extLst>
              <a:ext uri="{FF2B5EF4-FFF2-40B4-BE49-F238E27FC236}">
                <a16:creationId xmlns:a16="http://schemas.microsoft.com/office/drawing/2014/main" id="{EF7068EA-71C4-4D02-8D6A-F0145750442B}"/>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357938" y="3429000"/>
            <a:ext cx="762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7512" name="Picture 56" descr="谱线4">
            <a:extLst>
              <a:ext uri="{FF2B5EF4-FFF2-40B4-BE49-F238E27FC236}">
                <a16:creationId xmlns:a16="http://schemas.microsoft.com/office/drawing/2014/main" id="{C7EE33B9-55C1-4526-8C15-3E40DBDBB6D2}"/>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229225" y="3879850"/>
            <a:ext cx="914400"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7513" name="Picture 57" descr="谱线5">
            <a:extLst>
              <a:ext uri="{FF2B5EF4-FFF2-40B4-BE49-F238E27FC236}">
                <a16:creationId xmlns:a16="http://schemas.microsoft.com/office/drawing/2014/main" id="{3FBDDFA1-D86D-4A0B-ABFB-9E84696E1AB3}"/>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891088" y="4786313"/>
            <a:ext cx="609600"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64" name="灯片编号占位符 1">
            <a:extLst>
              <a:ext uri="{FF2B5EF4-FFF2-40B4-BE49-F238E27FC236}">
                <a16:creationId xmlns:a16="http://schemas.microsoft.com/office/drawing/2014/main" id="{475EEEEA-BA8F-4F08-BEAB-A3DDFA7F307B}"/>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5092FCC4-6458-43B1-BADA-ECABFFBD5629}" type="slidenum">
              <a:rPr lang="en-US" altLang="zh-CN" b="0">
                <a:solidFill>
                  <a:srgbClr val="FF00FF"/>
                </a:solidFill>
              </a:rPr>
              <a:pPr eaLnBrk="1" hangingPunct="1"/>
              <a:t>9</a:t>
            </a:fld>
            <a:r>
              <a:rPr lang="en-US" altLang="zh-CN" b="0">
                <a:solidFill>
                  <a:srgbClr val="FF00FF"/>
                </a:solidFill>
              </a:rPr>
              <a:t>/22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47488"/>
                                        </p:tgtEl>
                                        <p:attrNameLst>
                                          <p:attrName>style.visibility</p:attrName>
                                        </p:attrNameLst>
                                      </p:cBhvr>
                                      <p:to>
                                        <p:strVal val="visible"/>
                                      </p:to>
                                    </p:set>
                                    <p:animEffect transition="in" filter="blinds(horizontal)">
                                      <p:cBhvr>
                                        <p:cTn id="7" dur="500"/>
                                        <p:tgtEl>
                                          <p:spTgt spid="1474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7489"/>
                                        </p:tgtEl>
                                        <p:attrNameLst>
                                          <p:attrName>style.visibility</p:attrName>
                                        </p:attrNameLst>
                                      </p:cBhvr>
                                      <p:to>
                                        <p:strVal val="visible"/>
                                      </p:to>
                                    </p:set>
                                    <p:animEffect transition="in" filter="blinds(horizontal)">
                                      <p:cBhvr>
                                        <p:cTn id="12" dur="500"/>
                                        <p:tgtEl>
                                          <p:spTgt spid="147489"/>
                                        </p:tgtEl>
                                      </p:cBhvr>
                                    </p:animEffect>
                                  </p:childTnLst>
                                </p:cTn>
                              </p:par>
                            </p:childTnLst>
                          </p:cTn>
                        </p:par>
                        <p:par>
                          <p:cTn id="13" fill="hold" nodeType="afterGroup">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147490"/>
                                        </p:tgtEl>
                                        <p:attrNameLst>
                                          <p:attrName>style.visibility</p:attrName>
                                        </p:attrNameLst>
                                      </p:cBhvr>
                                      <p:to>
                                        <p:strVal val="visible"/>
                                      </p:to>
                                    </p:set>
                                    <p:animEffect transition="in" filter="blinds(horizontal)">
                                      <p:cBhvr>
                                        <p:cTn id="16" dur="500"/>
                                        <p:tgtEl>
                                          <p:spTgt spid="14749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47491"/>
                                        </p:tgtEl>
                                        <p:attrNameLst>
                                          <p:attrName>style.visibility</p:attrName>
                                        </p:attrNameLst>
                                      </p:cBhvr>
                                      <p:to>
                                        <p:strVal val="visible"/>
                                      </p:to>
                                    </p:set>
                                    <p:animEffect transition="in" filter="blinds(horizontal)">
                                      <p:cBhvr>
                                        <p:cTn id="21" dur="500"/>
                                        <p:tgtEl>
                                          <p:spTgt spid="147491"/>
                                        </p:tgtEl>
                                      </p:cBhvr>
                                    </p:animEffect>
                                  </p:childTnLst>
                                </p:cTn>
                              </p:par>
                            </p:childTnLst>
                          </p:cTn>
                        </p:par>
                        <p:par>
                          <p:cTn id="22" fill="hold" nodeType="afterGroup">
                            <p:stCondLst>
                              <p:cond delay="500"/>
                            </p:stCondLst>
                            <p:childTnLst>
                              <p:par>
                                <p:cTn id="23" presetID="3" presetClass="entr" presetSubtype="10" fill="hold" grpId="0" nodeType="afterEffect">
                                  <p:stCondLst>
                                    <p:cond delay="0"/>
                                  </p:stCondLst>
                                  <p:childTnLst>
                                    <p:set>
                                      <p:cBhvr>
                                        <p:cTn id="24" dur="1" fill="hold">
                                          <p:stCondLst>
                                            <p:cond delay="0"/>
                                          </p:stCondLst>
                                        </p:cTn>
                                        <p:tgtEl>
                                          <p:spTgt spid="147492"/>
                                        </p:tgtEl>
                                        <p:attrNameLst>
                                          <p:attrName>style.visibility</p:attrName>
                                        </p:attrNameLst>
                                      </p:cBhvr>
                                      <p:to>
                                        <p:strVal val="visible"/>
                                      </p:to>
                                    </p:set>
                                    <p:animEffect transition="in" filter="blinds(horizontal)">
                                      <p:cBhvr>
                                        <p:cTn id="25" dur="500"/>
                                        <p:tgtEl>
                                          <p:spTgt spid="14749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47493"/>
                                        </p:tgtEl>
                                        <p:attrNameLst>
                                          <p:attrName>style.visibility</p:attrName>
                                        </p:attrNameLst>
                                      </p:cBhvr>
                                      <p:to>
                                        <p:strVal val="visible"/>
                                      </p:to>
                                    </p:set>
                                    <p:animEffect transition="in" filter="wipe(left)">
                                      <p:cBhvr>
                                        <p:cTn id="30" dur="500"/>
                                        <p:tgtEl>
                                          <p:spTgt spid="147493"/>
                                        </p:tgtEl>
                                      </p:cBhvr>
                                    </p:animEffect>
                                  </p:childTnLst>
                                </p:cTn>
                              </p:par>
                            </p:childTnLst>
                          </p:cTn>
                        </p:par>
                        <p:par>
                          <p:cTn id="31" fill="hold" nodeType="afterGroup">
                            <p:stCondLst>
                              <p:cond delay="500"/>
                            </p:stCondLst>
                            <p:childTnLst>
                              <p:par>
                                <p:cTn id="32" presetID="23" presetClass="entr" presetSubtype="16" fill="hold" grpId="0" nodeType="afterEffect">
                                  <p:stCondLst>
                                    <p:cond delay="0"/>
                                  </p:stCondLst>
                                  <p:childTnLst>
                                    <p:set>
                                      <p:cBhvr>
                                        <p:cTn id="33" dur="1" fill="hold">
                                          <p:stCondLst>
                                            <p:cond delay="0"/>
                                          </p:stCondLst>
                                        </p:cTn>
                                        <p:tgtEl>
                                          <p:spTgt spid="147494"/>
                                        </p:tgtEl>
                                        <p:attrNameLst>
                                          <p:attrName>style.visibility</p:attrName>
                                        </p:attrNameLst>
                                      </p:cBhvr>
                                      <p:to>
                                        <p:strVal val="visible"/>
                                      </p:to>
                                    </p:set>
                                    <p:anim calcmode="lin" valueType="num">
                                      <p:cBhvr>
                                        <p:cTn id="34" dur="500" fill="hold"/>
                                        <p:tgtEl>
                                          <p:spTgt spid="147494"/>
                                        </p:tgtEl>
                                        <p:attrNameLst>
                                          <p:attrName>ppt_w</p:attrName>
                                        </p:attrNameLst>
                                      </p:cBhvr>
                                      <p:tavLst>
                                        <p:tav tm="0">
                                          <p:val>
                                            <p:fltVal val="0"/>
                                          </p:val>
                                        </p:tav>
                                        <p:tav tm="100000">
                                          <p:val>
                                            <p:strVal val="#ppt_w"/>
                                          </p:val>
                                        </p:tav>
                                      </p:tavLst>
                                    </p:anim>
                                    <p:anim calcmode="lin" valueType="num">
                                      <p:cBhvr>
                                        <p:cTn id="35" dur="500" fill="hold"/>
                                        <p:tgtEl>
                                          <p:spTgt spid="147494"/>
                                        </p:tgtEl>
                                        <p:attrNameLst>
                                          <p:attrName>ppt_h</p:attrName>
                                        </p:attrNameLst>
                                      </p:cBhvr>
                                      <p:tavLst>
                                        <p:tav tm="0">
                                          <p:val>
                                            <p:fltVal val="0"/>
                                          </p:val>
                                        </p:tav>
                                        <p:tav tm="100000">
                                          <p:val>
                                            <p:strVal val="#ppt_h"/>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147495"/>
                                        </p:tgtEl>
                                        <p:attrNameLst>
                                          <p:attrName>style.visibility</p:attrName>
                                        </p:attrNameLst>
                                      </p:cBhvr>
                                      <p:to>
                                        <p:strVal val="visible"/>
                                      </p:to>
                                    </p:set>
                                    <p:animEffect transition="in" filter="dissolve">
                                      <p:cBhvr>
                                        <p:cTn id="40" dur="500"/>
                                        <p:tgtEl>
                                          <p:spTgt spid="147495"/>
                                        </p:tgtEl>
                                      </p:cBhvr>
                                    </p:animEffect>
                                  </p:childTnLst>
                                </p:cTn>
                              </p:par>
                            </p:childTnLst>
                          </p:cTn>
                        </p:par>
                        <p:par>
                          <p:cTn id="41" fill="hold" nodeType="afterGroup">
                            <p:stCondLst>
                              <p:cond delay="500"/>
                            </p:stCondLst>
                            <p:childTnLst>
                              <p:par>
                                <p:cTn id="42" presetID="9" presetClass="entr" presetSubtype="0" fill="hold" nodeType="afterEffect">
                                  <p:stCondLst>
                                    <p:cond delay="0"/>
                                  </p:stCondLst>
                                  <p:childTnLst>
                                    <p:set>
                                      <p:cBhvr>
                                        <p:cTn id="43" dur="1" fill="hold">
                                          <p:stCondLst>
                                            <p:cond delay="0"/>
                                          </p:stCondLst>
                                        </p:cTn>
                                        <p:tgtEl>
                                          <p:spTgt spid="147496"/>
                                        </p:tgtEl>
                                        <p:attrNameLst>
                                          <p:attrName>style.visibility</p:attrName>
                                        </p:attrNameLst>
                                      </p:cBhvr>
                                      <p:to>
                                        <p:strVal val="visible"/>
                                      </p:to>
                                    </p:set>
                                    <p:animEffect transition="in" filter="dissolve">
                                      <p:cBhvr>
                                        <p:cTn id="44" dur="500"/>
                                        <p:tgtEl>
                                          <p:spTgt spid="147496"/>
                                        </p:tgtEl>
                                      </p:cBhvr>
                                    </p:animEffect>
                                  </p:childTnLst>
                                </p:cTn>
                              </p:par>
                              <p:par>
                                <p:cTn id="45" presetID="9" presetClass="entr" presetSubtype="0" fill="hold" grpId="0" nodeType="withEffect">
                                  <p:stCondLst>
                                    <p:cond delay="0"/>
                                  </p:stCondLst>
                                  <p:childTnLst>
                                    <p:set>
                                      <p:cBhvr>
                                        <p:cTn id="46" dur="1" fill="hold">
                                          <p:stCondLst>
                                            <p:cond delay="0"/>
                                          </p:stCondLst>
                                        </p:cTn>
                                        <p:tgtEl>
                                          <p:spTgt spid="147497"/>
                                        </p:tgtEl>
                                        <p:attrNameLst>
                                          <p:attrName>style.visibility</p:attrName>
                                        </p:attrNameLst>
                                      </p:cBhvr>
                                      <p:to>
                                        <p:strVal val="visible"/>
                                      </p:to>
                                    </p:set>
                                    <p:animEffect transition="in" filter="dissolve">
                                      <p:cBhvr>
                                        <p:cTn id="47" dur="500"/>
                                        <p:tgtEl>
                                          <p:spTgt spid="147497"/>
                                        </p:tgtEl>
                                      </p:cBhvr>
                                    </p:animEffect>
                                  </p:childTnLst>
                                </p:cTn>
                              </p:par>
                              <p:par>
                                <p:cTn id="48" presetID="9" presetClass="entr" presetSubtype="0" fill="hold" nodeType="withEffect">
                                  <p:stCondLst>
                                    <p:cond delay="0"/>
                                  </p:stCondLst>
                                  <p:childTnLst>
                                    <p:set>
                                      <p:cBhvr>
                                        <p:cTn id="49" dur="1" fill="hold">
                                          <p:stCondLst>
                                            <p:cond delay="0"/>
                                          </p:stCondLst>
                                        </p:cTn>
                                        <p:tgtEl>
                                          <p:spTgt spid="147499"/>
                                        </p:tgtEl>
                                        <p:attrNameLst>
                                          <p:attrName>style.visibility</p:attrName>
                                        </p:attrNameLst>
                                      </p:cBhvr>
                                      <p:to>
                                        <p:strVal val="visible"/>
                                      </p:to>
                                    </p:set>
                                    <p:animEffect transition="in" filter="dissolve">
                                      <p:cBhvr>
                                        <p:cTn id="50" dur="500"/>
                                        <p:tgtEl>
                                          <p:spTgt spid="147499"/>
                                        </p:tgtEl>
                                      </p:cBhvr>
                                    </p:animEffect>
                                  </p:childTnLst>
                                </p:cTn>
                              </p:par>
                              <p:par>
                                <p:cTn id="51" presetID="9" presetClass="entr" presetSubtype="0" fill="hold" nodeType="withEffect">
                                  <p:stCondLst>
                                    <p:cond delay="0"/>
                                  </p:stCondLst>
                                  <p:childTnLst>
                                    <p:set>
                                      <p:cBhvr>
                                        <p:cTn id="52" dur="1" fill="hold">
                                          <p:stCondLst>
                                            <p:cond delay="0"/>
                                          </p:stCondLst>
                                        </p:cTn>
                                        <p:tgtEl>
                                          <p:spTgt spid="147502"/>
                                        </p:tgtEl>
                                        <p:attrNameLst>
                                          <p:attrName>style.visibility</p:attrName>
                                        </p:attrNameLst>
                                      </p:cBhvr>
                                      <p:to>
                                        <p:strVal val="visible"/>
                                      </p:to>
                                    </p:set>
                                    <p:animEffect transition="in" filter="dissolve">
                                      <p:cBhvr>
                                        <p:cTn id="53" dur="500"/>
                                        <p:tgtEl>
                                          <p:spTgt spid="147502"/>
                                        </p:tgtEl>
                                      </p:cBhvr>
                                    </p:animEffect>
                                  </p:childTnLst>
                                </p:cTn>
                              </p:par>
                              <p:par>
                                <p:cTn id="54" presetID="9" presetClass="entr" presetSubtype="0" fill="hold" nodeType="withEffect">
                                  <p:stCondLst>
                                    <p:cond delay="0"/>
                                  </p:stCondLst>
                                  <p:childTnLst>
                                    <p:set>
                                      <p:cBhvr>
                                        <p:cTn id="55" dur="1" fill="hold">
                                          <p:stCondLst>
                                            <p:cond delay="0"/>
                                          </p:stCondLst>
                                        </p:cTn>
                                        <p:tgtEl>
                                          <p:spTgt spid="147498"/>
                                        </p:tgtEl>
                                        <p:attrNameLst>
                                          <p:attrName>style.visibility</p:attrName>
                                        </p:attrNameLst>
                                      </p:cBhvr>
                                      <p:to>
                                        <p:strVal val="visible"/>
                                      </p:to>
                                    </p:set>
                                    <p:animEffect transition="in" filter="dissolve">
                                      <p:cBhvr>
                                        <p:cTn id="56" dur="500"/>
                                        <p:tgtEl>
                                          <p:spTgt spid="147498"/>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9" presetClass="entr" presetSubtype="0" fill="hold" grpId="0" nodeType="clickEffect">
                                  <p:stCondLst>
                                    <p:cond delay="0"/>
                                  </p:stCondLst>
                                  <p:childTnLst>
                                    <p:set>
                                      <p:cBhvr>
                                        <p:cTn id="60" dur="1" fill="hold">
                                          <p:stCondLst>
                                            <p:cond delay="0"/>
                                          </p:stCondLst>
                                        </p:cTn>
                                        <p:tgtEl>
                                          <p:spTgt spid="147503"/>
                                        </p:tgtEl>
                                        <p:attrNameLst>
                                          <p:attrName>style.visibility</p:attrName>
                                        </p:attrNameLst>
                                      </p:cBhvr>
                                      <p:to>
                                        <p:strVal val="visible"/>
                                      </p:to>
                                    </p:set>
                                    <p:animEffect transition="in" filter="dissolve">
                                      <p:cBhvr>
                                        <p:cTn id="61" dur="500"/>
                                        <p:tgtEl>
                                          <p:spTgt spid="147503"/>
                                        </p:tgtEl>
                                      </p:cBhvr>
                                    </p:animEffect>
                                  </p:childTnLst>
                                </p:cTn>
                              </p:par>
                              <p:par>
                                <p:cTn id="62" presetID="12" presetClass="entr" presetSubtype="4" fill="hold" nodeType="withEffect">
                                  <p:stCondLst>
                                    <p:cond delay="0"/>
                                  </p:stCondLst>
                                  <p:childTnLst>
                                    <p:set>
                                      <p:cBhvr>
                                        <p:cTn id="63" dur="1" fill="hold">
                                          <p:stCondLst>
                                            <p:cond delay="0"/>
                                          </p:stCondLst>
                                        </p:cTn>
                                        <p:tgtEl>
                                          <p:spTgt spid="147504"/>
                                        </p:tgtEl>
                                        <p:attrNameLst>
                                          <p:attrName>style.visibility</p:attrName>
                                        </p:attrNameLst>
                                      </p:cBhvr>
                                      <p:to>
                                        <p:strVal val="visible"/>
                                      </p:to>
                                    </p:set>
                                    <p:animEffect transition="in" filter="slide(fromBottom)">
                                      <p:cBhvr>
                                        <p:cTn id="64" dur="500"/>
                                        <p:tgtEl>
                                          <p:spTgt spid="147504"/>
                                        </p:tgtEl>
                                      </p:cBhvr>
                                    </p:animEffect>
                                  </p:childTnLst>
                                </p:cTn>
                              </p:par>
                              <p:par>
                                <p:cTn id="65" presetID="1" presetClass="entr" presetSubtype="0" fill="hold" grpId="0" nodeType="withEffect">
                                  <p:stCondLst>
                                    <p:cond delay="0"/>
                                  </p:stCondLst>
                                  <p:childTnLst>
                                    <p:set>
                                      <p:cBhvr>
                                        <p:cTn id="66" dur="1" fill="hold">
                                          <p:stCondLst>
                                            <p:cond delay="499"/>
                                          </p:stCondLst>
                                        </p:cTn>
                                        <p:tgtEl>
                                          <p:spTgt spid="147506"/>
                                        </p:tgtEl>
                                        <p:attrNameLst>
                                          <p:attrName>style.visibility</p:attrName>
                                        </p:attrNameLst>
                                      </p:cBhvr>
                                      <p:to>
                                        <p:strVal val="visible"/>
                                      </p:to>
                                    </p:set>
                                  </p:childTnLst>
                                </p:cTn>
                              </p:par>
                              <p:par>
                                <p:cTn id="67" presetID="9" presetClass="entr" presetSubtype="0" fill="hold" grpId="0" nodeType="withEffect">
                                  <p:stCondLst>
                                    <p:cond delay="0"/>
                                  </p:stCondLst>
                                  <p:childTnLst>
                                    <p:set>
                                      <p:cBhvr>
                                        <p:cTn id="68" dur="1" fill="hold">
                                          <p:stCondLst>
                                            <p:cond delay="0"/>
                                          </p:stCondLst>
                                        </p:cTn>
                                        <p:tgtEl>
                                          <p:spTgt spid="147505"/>
                                        </p:tgtEl>
                                        <p:attrNameLst>
                                          <p:attrName>style.visibility</p:attrName>
                                        </p:attrNameLst>
                                      </p:cBhvr>
                                      <p:to>
                                        <p:strVal val="visible"/>
                                      </p:to>
                                    </p:set>
                                    <p:animEffect transition="in" filter="dissolve">
                                      <p:cBhvr>
                                        <p:cTn id="69" dur="500"/>
                                        <p:tgtEl>
                                          <p:spTgt spid="147505"/>
                                        </p:tgtEl>
                                      </p:cBhvr>
                                    </p:animEffect>
                                  </p:childTnLst>
                                </p:cTn>
                              </p:par>
                            </p:childTnLst>
                          </p:cTn>
                        </p:par>
                        <p:par>
                          <p:cTn id="70" fill="hold" nodeType="afterGroup">
                            <p:stCondLst>
                              <p:cond delay="500"/>
                            </p:stCondLst>
                            <p:childTnLst>
                              <p:par>
                                <p:cTn id="71" presetID="23" presetClass="entr" presetSubtype="16" fill="hold" nodeType="afterEffect">
                                  <p:stCondLst>
                                    <p:cond delay="0"/>
                                  </p:stCondLst>
                                  <p:childTnLst>
                                    <p:set>
                                      <p:cBhvr>
                                        <p:cTn id="72" dur="1" fill="hold">
                                          <p:stCondLst>
                                            <p:cond delay="0"/>
                                          </p:stCondLst>
                                        </p:cTn>
                                        <p:tgtEl>
                                          <p:spTgt spid="147500"/>
                                        </p:tgtEl>
                                        <p:attrNameLst>
                                          <p:attrName>style.visibility</p:attrName>
                                        </p:attrNameLst>
                                      </p:cBhvr>
                                      <p:to>
                                        <p:strVal val="visible"/>
                                      </p:to>
                                    </p:set>
                                    <p:anim calcmode="lin" valueType="num">
                                      <p:cBhvr>
                                        <p:cTn id="73" dur="500" fill="hold"/>
                                        <p:tgtEl>
                                          <p:spTgt spid="147500"/>
                                        </p:tgtEl>
                                        <p:attrNameLst>
                                          <p:attrName>ppt_w</p:attrName>
                                        </p:attrNameLst>
                                      </p:cBhvr>
                                      <p:tavLst>
                                        <p:tav tm="0">
                                          <p:val>
                                            <p:fltVal val="0"/>
                                          </p:val>
                                        </p:tav>
                                        <p:tav tm="100000">
                                          <p:val>
                                            <p:strVal val="#ppt_w"/>
                                          </p:val>
                                        </p:tav>
                                      </p:tavLst>
                                    </p:anim>
                                    <p:anim calcmode="lin" valueType="num">
                                      <p:cBhvr>
                                        <p:cTn id="74" dur="500" fill="hold"/>
                                        <p:tgtEl>
                                          <p:spTgt spid="147500"/>
                                        </p:tgtEl>
                                        <p:attrNameLst>
                                          <p:attrName>ppt_h</p:attrName>
                                        </p:attrNameLst>
                                      </p:cBhvr>
                                      <p:tavLst>
                                        <p:tav tm="0">
                                          <p:val>
                                            <p:fltVal val="0"/>
                                          </p:val>
                                        </p:tav>
                                        <p:tav tm="100000">
                                          <p:val>
                                            <p:strVal val="#ppt_h"/>
                                          </p:val>
                                        </p:tav>
                                      </p:tavLst>
                                    </p:anim>
                                  </p:childTnLst>
                                </p:cTn>
                              </p:par>
                            </p:childTnLst>
                          </p:cTn>
                        </p:par>
                        <p:par>
                          <p:cTn id="75" fill="hold" nodeType="afterGroup">
                            <p:stCondLst>
                              <p:cond delay="1000"/>
                            </p:stCondLst>
                            <p:childTnLst>
                              <p:par>
                                <p:cTn id="76" presetID="23" presetClass="entr" presetSubtype="16" fill="hold" nodeType="afterEffect">
                                  <p:stCondLst>
                                    <p:cond delay="0"/>
                                  </p:stCondLst>
                                  <p:childTnLst>
                                    <p:set>
                                      <p:cBhvr>
                                        <p:cTn id="77" dur="1" fill="hold">
                                          <p:stCondLst>
                                            <p:cond delay="0"/>
                                          </p:stCondLst>
                                        </p:cTn>
                                        <p:tgtEl>
                                          <p:spTgt spid="147501"/>
                                        </p:tgtEl>
                                        <p:attrNameLst>
                                          <p:attrName>style.visibility</p:attrName>
                                        </p:attrNameLst>
                                      </p:cBhvr>
                                      <p:to>
                                        <p:strVal val="visible"/>
                                      </p:to>
                                    </p:set>
                                    <p:anim calcmode="lin" valueType="num">
                                      <p:cBhvr>
                                        <p:cTn id="78" dur="500" fill="hold"/>
                                        <p:tgtEl>
                                          <p:spTgt spid="147501"/>
                                        </p:tgtEl>
                                        <p:attrNameLst>
                                          <p:attrName>ppt_w</p:attrName>
                                        </p:attrNameLst>
                                      </p:cBhvr>
                                      <p:tavLst>
                                        <p:tav tm="0">
                                          <p:val>
                                            <p:fltVal val="0"/>
                                          </p:val>
                                        </p:tav>
                                        <p:tav tm="100000">
                                          <p:val>
                                            <p:strVal val="#ppt_w"/>
                                          </p:val>
                                        </p:tav>
                                      </p:tavLst>
                                    </p:anim>
                                    <p:anim calcmode="lin" valueType="num">
                                      <p:cBhvr>
                                        <p:cTn id="79" dur="500" fill="hold"/>
                                        <p:tgtEl>
                                          <p:spTgt spid="147501"/>
                                        </p:tgtEl>
                                        <p:attrNameLst>
                                          <p:attrName>ppt_h</p:attrName>
                                        </p:attrNameLst>
                                      </p:cBhvr>
                                      <p:tavLst>
                                        <p:tav tm="0">
                                          <p:val>
                                            <p:fltVal val="0"/>
                                          </p:val>
                                        </p:tav>
                                        <p:tav tm="100000">
                                          <p:val>
                                            <p:strVal val="#ppt_h"/>
                                          </p:val>
                                        </p:tav>
                                      </p:tavLst>
                                    </p:anim>
                                  </p:childTnLst>
                                </p:cTn>
                              </p:par>
                            </p:childTnLst>
                          </p:cTn>
                        </p:par>
                        <p:par>
                          <p:cTn id="80" fill="hold" nodeType="afterGroup">
                            <p:stCondLst>
                              <p:cond delay="1500"/>
                            </p:stCondLst>
                            <p:childTnLst>
                              <p:par>
                                <p:cTn id="81" presetID="22" presetClass="entr" presetSubtype="8" fill="hold" nodeType="afterEffect">
                                  <p:stCondLst>
                                    <p:cond delay="500"/>
                                  </p:stCondLst>
                                  <p:childTnLst>
                                    <p:set>
                                      <p:cBhvr>
                                        <p:cTn id="82" dur="1" fill="hold">
                                          <p:stCondLst>
                                            <p:cond delay="0"/>
                                          </p:stCondLst>
                                        </p:cTn>
                                        <p:tgtEl>
                                          <p:spTgt spid="147507"/>
                                        </p:tgtEl>
                                        <p:attrNameLst>
                                          <p:attrName>style.visibility</p:attrName>
                                        </p:attrNameLst>
                                      </p:cBhvr>
                                      <p:to>
                                        <p:strVal val="visible"/>
                                      </p:to>
                                    </p:set>
                                    <p:animEffect transition="in" filter="wipe(left)">
                                      <p:cBhvr>
                                        <p:cTn id="83" dur="500"/>
                                        <p:tgtEl>
                                          <p:spTgt spid="147507"/>
                                        </p:tgtEl>
                                      </p:cBhvr>
                                    </p:animEffect>
                                  </p:childTnLst>
                                </p:cTn>
                              </p:par>
                            </p:childTnLst>
                          </p:cTn>
                        </p:par>
                        <p:par>
                          <p:cTn id="84" fill="hold" nodeType="withGroup">
                            <p:stCondLst>
                              <p:cond delay="2500"/>
                            </p:stCondLst>
                            <p:childTnLst>
                              <p:par>
                                <p:cTn id="85" presetID="22" presetClass="entr" presetSubtype="8" fill="hold" grpId="0" nodeType="afterEffect">
                                  <p:stCondLst>
                                    <p:cond delay="0"/>
                                  </p:stCondLst>
                                  <p:childTnLst>
                                    <p:set>
                                      <p:cBhvr>
                                        <p:cTn id="86" dur="1" fill="hold">
                                          <p:stCondLst>
                                            <p:cond delay="0"/>
                                          </p:stCondLst>
                                        </p:cTn>
                                        <p:tgtEl>
                                          <p:spTgt spid="147508"/>
                                        </p:tgtEl>
                                        <p:attrNameLst>
                                          <p:attrName>style.visibility</p:attrName>
                                        </p:attrNameLst>
                                      </p:cBhvr>
                                      <p:to>
                                        <p:strVal val="visible"/>
                                      </p:to>
                                    </p:set>
                                    <p:animEffect transition="in" filter="wipe(left)">
                                      <p:cBhvr>
                                        <p:cTn id="87" dur="500"/>
                                        <p:tgtEl>
                                          <p:spTgt spid="147508"/>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2" fill="hold" nodeType="clickEffect">
                                  <p:stCondLst>
                                    <p:cond delay="0"/>
                                  </p:stCondLst>
                                  <p:childTnLst>
                                    <p:set>
                                      <p:cBhvr>
                                        <p:cTn id="91" dur="1" fill="hold">
                                          <p:stCondLst>
                                            <p:cond delay="0"/>
                                          </p:stCondLst>
                                        </p:cTn>
                                        <p:tgtEl>
                                          <p:spTgt spid="147509"/>
                                        </p:tgtEl>
                                        <p:attrNameLst>
                                          <p:attrName>style.visibility</p:attrName>
                                        </p:attrNameLst>
                                      </p:cBhvr>
                                      <p:to>
                                        <p:strVal val="visible"/>
                                      </p:to>
                                    </p:set>
                                    <p:animEffect transition="in" filter="wipe(right)">
                                      <p:cBhvr>
                                        <p:cTn id="92" dur="500"/>
                                        <p:tgtEl>
                                          <p:spTgt spid="147509"/>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9" presetClass="entr" presetSubtype="0" fill="hold" nodeType="clickEffect">
                                  <p:stCondLst>
                                    <p:cond delay="0"/>
                                  </p:stCondLst>
                                  <p:childTnLst>
                                    <p:set>
                                      <p:cBhvr>
                                        <p:cTn id="96" dur="1" fill="hold">
                                          <p:stCondLst>
                                            <p:cond delay="0"/>
                                          </p:stCondLst>
                                        </p:cTn>
                                        <p:tgtEl>
                                          <p:spTgt spid="147510"/>
                                        </p:tgtEl>
                                        <p:attrNameLst>
                                          <p:attrName>style.visibility</p:attrName>
                                        </p:attrNameLst>
                                      </p:cBhvr>
                                      <p:to>
                                        <p:strVal val="visible"/>
                                      </p:to>
                                    </p:set>
                                    <p:animEffect transition="in" filter="dissolve">
                                      <p:cBhvr>
                                        <p:cTn id="97" dur="500"/>
                                        <p:tgtEl>
                                          <p:spTgt spid="147510"/>
                                        </p:tgtEl>
                                      </p:cBhvr>
                                    </p:animEffect>
                                  </p:childTnLst>
                                </p:cTn>
                              </p:par>
                            </p:childTnLst>
                          </p:cTn>
                        </p:par>
                        <p:par>
                          <p:cTn id="98" fill="hold" nodeType="afterGroup">
                            <p:stCondLst>
                              <p:cond delay="500"/>
                            </p:stCondLst>
                            <p:childTnLst>
                              <p:par>
                                <p:cTn id="99" presetID="22" presetClass="entr" presetSubtype="2" fill="hold" nodeType="afterEffect">
                                  <p:stCondLst>
                                    <p:cond delay="0"/>
                                  </p:stCondLst>
                                  <p:childTnLst>
                                    <p:set>
                                      <p:cBhvr>
                                        <p:cTn id="100" dur="1" fill="hold">
                                          <p:stCondLst>
                                            <p:cond delay="0"/>
                                          </p:stCondLst>
                                        </p:cTn>
                                        <p:tgtEl>
                                          <p:spTgt spid="147511"/>
                                        </p:tgtEl>
                                        <p:attrNameLst>
                                          <p:attrName>style.visibility</p:attrName>
                                        </p:attrNameLst>
                                      </p:cBhvr>
                                      <p:to>
                                        <p:strVal val="visible"/>
                                      </p:to>
                                    </p:set>
                                    <p:animEffect transition="in" filter="wipe(right)">
                                      <p:cBhvr>
                                        <p:cTn id="101" dur="500"/>
                                        <p:tgtEl>
                                          <p:spTgt spid="147511"/>
                                        </p:tgtEl>
                                      </p:cBhvr>
                                    </p:animEffect>
                                  </p:childTnLst>
                                </p:cTn>
                              </p:par>
                            </p:childTnLst>
                          </p:cTn>
                        </p:par>
                        <p:par>
                          <p:cTn id="102" fill="hold" nodeType="afterGroup">
                            <p:stCondLst>
                              <p:cond delay="1000"/>
                            </p:stCondLst>
                            <p:childTnLst>
                              <p:par>
                                <p:cTn id="103" presetID="22" presetClass="entr" presetSubtype="2" fill="hold" nodeType="afterEffect">
                                  <p:stCondLst>
                                    <p:cond delay="0"/>
                                  </p:stCondLst>
                                  <p:childTnLst>
                                    <p:set>
                                      <p:cBhvr>
                                        <p:cTn id="104" dur="1" fill="hold">
                                          <p:stCondLst>
                                            <p:cond delay="0"/>
                                          </p:stCondLst>
                                        </p:cTn>
                                        <p:tgtEl>
                                          <p:spTgt spid="147512"/>
                                        </p:tgtEl>
                                        <p:attrNameLst>
                                          <p:attrName>style.visibility</p:attrName>
                                        </p:attrNameLst>
                                      </p:cBhvr>
                                      <p:to>
                                        <p:strVal val="visible"/>
                                      </p:to>
                                    </p:set>
                                    <p:animEffect transition="in" filter="wipe(right)">
                                      <p:cBhvr>
                                        <p:cTn id="105" dur="500"/>
                                        <p:tgtEl>
                                          <p:spTgt spid="147512"/>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2" fill="hold" nodeType="clickEffect">
                                  <p:stCondLst>
                                    <p:cond delay="0"/>
                                  </p:stCondLst>
                                  <p:childTnLst>
                                    <p:set>
                                      <p:cBhvr>
                                        <p:cTn id="109" dur="1" fill="hold">
                                          <p:stCondLst>
                                            <p:cond delay="0"/>
                                          </p:stCondLst>
                                        </p:cTn>
                                        <p:tgtEl>
                                          <p:spTgt spid="147513"/>
                                        </p:tgtEl>
                                        <p:attrNameLst>
                                          <p:attrName>style.visibility</p:attrName>
                                        </p:attrNameLst>
                                      </p:cBhvr>
                                      <p:to>
                                        <p:strVal val="visible"/>
                                      </p:to>
                                    </p:set>
                                    <p:animEffect transition="in" filter="wipe(right)">
                                      <p:cBhvr>
                                        <p:cTn id="110" dur="500"/>
                                        <p:tgtEl>
                                          <p:spTgt spid="1475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88" grpId="0" autoUpdateAnimBg="0"/>
      <p:bldP spid="147489" grpId="0" autoUpdateAnimBg="0"/>
      <p:bldP spid="147490" grpId="0" autoUpdateAnimBg="0"/>
      <p:bldP spid="147491" grpId="0" autoUpdateAnimBg="0"/>
      <p:bldP spid="147492" grpId="0" autoUpdateAnimBg="0"/>
      <p:bldP spid="147493" grpId="0" autoUpdateAnimBg="0"/>
      <p:bldP spid="147494" grpId="0" animBg="1"/>
      <p:bldP spid="147495" grpId="0" autoUpdateAnimBg="0"/>
      <p:bldP spid="147497" grpId="0" autoUpdateAnimBg="0"/>
      <p:bldP spid="147503" grpId="0" autoUpdateAnimBg="0"/>
      <p:bldP spid="147505" grpId="0" autoUpdateAnimBg="0"/>
      <p:bldP spid="147506" grpId="0" autoUpdateAnimBg="0"/>
      <p:bldP spid="147508"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Text Box 2">
            <a:extLst>
              <a:ext uri="{FF2B5EF4-FFF2-40B4-BE49-F238E27FC236}">
                <a16:creationId xmlns:a16="http://schemas.microsoft.com/office/drawing/2014/main" id="{8C3D8CBA-8DA3-49C9-A2F0-B8A8589E5F0A}"/>
              </a:ext>
            </a:extLst>
          </p:cNvPr>
          <p:cNvSpPr txBox="1">
            <a:spLocks noChangeArrowheads="1"/>
          </p:cNvSpPr>
          <p:nvPr/>
        </p:nvSpPr>
        <p:spPr bwMode="auto">
          <a:xfrm>
            <a:off x="187325" y="622300"/>
            <a:ext cx="37369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solidFill>
                  <a:srgbClr val="FFFF00"/>
                </a:solidFill>
                <a:latin typeface="华文中宋" panose="02010600040101010101" pitchFamily="2" charset="-122"/>
                <a:ea typeface="华文中宋" panose="02010600040101010101" pitchFamily="2" charset="-122"/>
              </a:rPr>
              <a:t>二</a:t>
            </a:r>
            <a:r>
              <a:rPr lang="en-US" altLang="zh-CN" sz="2800">
                <a:solidFill>
                  <a:srgbClr val="FFFF00"/>
                </a:solidFill>
                <a:latin typeface="华文中宋" panose="02010600040101010101" pitchFamily="2" charset="-122"/>
                <a:ea typeface="华文中宋" panose="02010600040101010101" pitchFamily="2" charset="-122"/>
              </a:rPr>
              <a:t>. </a:t>
            </a:r>
            <a:r>
              <a:rPr lang="zh-CN" altLang="en-US" sz="2800">
                <a:solidFill>
                  <a:srgbClr val="FFFF00"/>
                </a:solidFill>
                <a:latin typeface="华文中宋" panose="02010600040101010101" pitchFamily="2" charset="-122"/>
                <a:ea typeface="华文中宋" panose="02010600040101010101" pitchFamily="2" charset="-122"/>
              </a:rPr>
              <a:t>经典物理的解释</a:t>
            </a:r>
          </a:p>
        </p:txBody>
      </p:sp>
      <p:sp>
        <p:nvSpPr>
          <p:cNvPr id="20483" name="Rectangle 3">
            <a:extLst>
              <a:ext uri="{FF2B5EF4-FFF2-40B4-BE49-F238E27FC236}">
                <a16:creationId xmlns:a16="http://schemas.microsoft.com/office/drawing/2014/main" id="{C2FB5B45-68EB-45C4-8005-981E42C3D30A}"/>
              </a:ext>
            </a:extLst>
          </p:cNvPr>
          <p:cNvSpPr>
            <a:spLocks noChangeArrowheads="1"/>
          </p:cNvSpPr>
          <p:nvPr/>
        </p:nvSpPr>
        <p:spPr bwMode="auto">
          <a:xfrm>
            <a:off x="1403350" y="5300663"/>
            <a:ext cx="6121400"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dirty="0">
                <a:solidFill>
                  <a:schemeClr val="hlink"/>
                </a:solidFill>
                <a:latin typeface="华文中宋" panose="02010600040101010101" pitchFamily="2" charset="-122"/>
                <a:ea typeface="华文中宋" panose="02010600040101010101" pitchFamily="2" charset="-122"/>
              </a:rPr>
              <a:t>经典理论只能说明波长不变的散射波，</a:t>
            </a:r>
          </a:p>
          <a:p>
            <a:pPr eaLnBrk="1" hangingPunct="1">
              <a:lnSpc>
                <a:spcPct val="120000"/>
              </a:lnSpc>
            </a:pPr>
            <a:r>
              <a:rPr lang="zh-CN" altLang="en-US" dirty="0">
                <a:solidFill>
                  <a:schemeClr val="hlink"/>
                </a:solidFill>
                <a:latin typeface="华文中宋" panose="02010600040101010101" pitchFamily="2" charset="-122"/>
                <a:ea typeface="华文中宋" panose="02010600040101010101" pitchFamily="2" charset="-122"/>
              </a:rPr>
              <a:t>而</a:t>
            </a:r>
            <a:r>
              <a:rPr lang="zh-CN" altLang="en-US" dirty="0">
                <a:solidFill>
                  <a:srgbClr val="66FFFF"/>
                </a:solidFill>
                <a:latin typeface="华文中宋" panose="02010600040101010101" pitchFamily="2" charset="-122"/>
                <a:ea typeface="华文中宋" panose="02010600040101010101" pitchFamily="2" charset="-122"/>
              </a:rPr>
              <a:t>不能</a:t>
            </a:r>
            <a:r>
              <a:rPr lang="zh-CN" altLang="en-US" dirty="0">
                <a:solidFill>
                  <a:schemeClr val="hlink"/>
                </a:solidFill>
                <a:latin typeface="华文中宋" panose="02010600040101010101" pitchFamily="2" charset="-122"/>
                <a:ea typeface="华文中宋" panose="02010600040101010101" pitchFamily="2" charset="-122"/>
              </a:rPr>
              <a:t>说明</a:t>
            </a:r>
            <a:r>
              <a:rPr lang="zh-CN" altLang="en-US" dirty="0">
                <a:solidFill>
                  <a:srgbClr val="66FFFF"/>
                </a:solidFill>
                <a:latin typeface="华文中宋" panose="02010600040101010101" pitchFamily="2" charset="-122"/>
                <a:ea typeface="华文中宋" panose="02010600040101010101" pitchFamily="2" charset="-122"/>
              </a:rPr>
              <a:t>康普顿散射</a:t>
            </a:r>
            <a:r>
              <a:rPr lang="zh-CN" altLang="en-US" dirty="0">
                <a:solidFill>
                  <a:schemeClr val="hlink"/>
                </a:solidFill>
                <a:latin typeface="华文中宋" panose="02010600040101010101" pitchFamily="2" charset="-122"/>
                <a:ea typeface="华文中宋" panose="02010600040101010101" pitchFamily="2" charset="-122"/>
              </a:rPr>
              <a:t>。</a:t>
            </a:r>
          </a:p>
        </p:txBody>
      </p:sp>
      <p:sp>
        <p:nvSpPr>
          <p:cNvPr id="20484" name="Rectangle 4">
            <a:extLst>
              <a:ext uri="{FF2B5EF4-FFF2-40B4-BE49-F238E27FC236}">
                <a16:creationId xmlns:a16="http://schemas.microsoft.com/office/drawing/2014/main" id="{4095E1DB-17A0-498D-8AFE-8439D7D9E139}"/>
              </a:ext>
            </a:extLst>
          </p:cNvPr>
          <p:cNvSpPr>
            <a:spLocks noChangeArrowheads="1"/>
          </p:cNvSpPr>
          <p:nvPr/>
        </p:nvSpPr>
        <p:spPr bwMode="auto">
          <a:xfrm>
            <a:off x="3857625" y="3573463"/>
            <a:ext cx="1433513" cy="830262"/>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a:solidFill>
                  <a:schemeClr val="hlink"/>
                </a:solidFill>
                <a:ea typeface="华文中宋" panose="02010600040101010101" pitchFamily="2" charset="-122"/>
              </a:rPr>
              <a:t>带电粒子受迫振动</a:t>
            </a:r>
          </a:p>
        </p:txBody>
      </p:sp>
      <p:sp>
        <p:nvSpPr>
          <p:cNvPr id="20485" name="Rectangle 5">
            <a:extLst>
              <a:ext uri="{FF2B5EF4-FFF2-40B4-BE49-F238E27FC236}">
                <a16:creationId xmlns:a16="http://schemas.microsoft.com/office/drawing/2014/main" id="{E7C43522-0216-4A8B-8F4E-1ABA70FF3B6D}"/>
              </a:ext>
            </a:extLst>
          </p:cNvPr>
          <p:cNvSpPr>
            <a:spLocks noChangeArrowheads="1"/>
          </p:cNvSpPr>
          <p:nvPr/>
        </p:nvSpPr>
        <p:spPr bwMode="auto">
          <a:xfrm>
            <a:off x="6572250" y="3597275"/>
            <a:ext cx="1143000" cy="831850"/>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dirty="0">
                <a:solidFill>
                  <a:schemeClr val="hlink"/>
                </a:solidFill>
                <a:ea typeface="华文中宋" panose="02010600040101010101" pitchFamily="2" charset="-122"/>
              </a:rPr>
              <a:t>同频率散射线</a:t>
            </a:r>
          </a:p>
        </p:txBody>
      </p:sp>
      <p:sp>
        <p:nvSpPr>
          <p:cNvPr id="20486" name="Line 6">
            <a:extLst>
              <a:ext uri="{FF2B5EF4-FFF2-40B4-BE49-F238E27FC236}">
                <a16:creationId xmlns:a16="http://schemas.microsoft.com/office/drawing/2014/main" id="{13187449-6C42-46A2-841A-64F88A87589E}"/>
              </a:ext>
            </a:extLst>
          </p:cNvPr>
          <p:cNvSpPr>
            <a:spLocks noChangeShapeType="1"/>
          </p:cNvSpPr>
          <p:nvPr/>
        </p:nvSpPr>
        <p:spPr bwMode="auto">
          <a:xfrm flipV="1">
            <a:off x="2700338" y="4005263"/>
            <a:ext cx="1152525" cy="14287"/>
          </a:xfrm>
          <a:prstGeom prst="line">
            <a:avLst/>
          </a:prstGeom>
          <a:noFill/>
          <a:ln w="57150">
            <a:solidFill>
              <a:schemeClr val="accent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0487" name="Rectangle 7">
            <a:extLst>
              <a:ext uri="{FF2B5EF4-FFF2-40B4-BE49-F238E27FC236}">
                <a16:creationId xmlns:a16="http://schemas.microsoft.com/office/drawing/2014/main" id="{66E81A97-B1FD-45CC-8ACB-3670C0238A68}"/>
              </a:ext>
            </a:extLst>
          </p:cNvPr>
          <p:cNvSpPr>
            <a:spLocks noChangeArrowheads="1"/>
          </p:cNvSpPr>
          <p:nvPr/>
        </p:nvSpPr>
        <p:spPr bwMode="auto">
          <a:xfrm>
            <a:off x="5508625" y="3573463"/>
            <a:ext cx="911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chemeClr val="accent1"/>
                </a:solidFill>
                <a:ea typeface="华文中宋" panose="02010600040101010101" pitchFamily="2" charset="-122"/>
              </a:rPr>
              <a:t>发射</a:t>
            </a:r>
          </a:p>
        </p:txBody>
      </p:sp>
      <p:sp>
        <p:nvSpPr>
          <p:cNvPr id="20488" name="Line 8">
            <a:extLst>
              <a:ext uri="{FF2B5EF4-FFF2-40B4-BE49-F238E27FC236}">
                <a16:creationId xmlns:a16="http://schemas.microsoft.com/office/drawing/2014/main" id="{D876ACC2-1C8C-4182-80FB-3B143A97604E}"/>
              </a:ext>
            </a:extLst>
          </p:cNvPr>
          <p:cNvSpPr>
            <a:spLocks noChangeShapeType="1"/>
          </p:cNvSpPr>
          <p:nvPr/>
        </p:nvSpPr>
        <p:spPr bwMode="auto">
          <a:xfrm>
            <a:off x="5354638" y="4011613"/>
            <a:ext cx="1136650" cy="0"/>
          </a:xfrm>
          <a:prstGeom prst="line">
            <a:avLst/>
          </a:prstGeom>
          <a:noFill/>
          <a:ln w="57150">
            <a:solidFill>
              <a:schemeClr val="accent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0489" name="Rectangle 9">
            <a:extLst>
              <a:ext uri="{FF2B5EF4-FFF2-40B4-BE49-F238E27FC236}">
                <a16:creationId xmlns:a16="http://schemas.microsoft.com/office/drawing/2014/main" id="{EF5006A5-354A-4209-A71E-5862DA0399E0}"/>
              </a:ext>
            </a:extLst>
          </p:cNvPr>
          <p:cNvSpPr>
            <a:spLocks noChangeArrowheads="1"/>
          </p:cNvSpPr>
          <p:nvPr/>
        </p:nvSpPr>
        <p:spPr bwMode="auto">
          <a:xfrm>
            <a:off x="1474788" y="3605213"/>
            <a:ext cx="1143000" cy="830997"/>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dirty="0">
                <a:solidFill>
                  <a:schemeClr val="hlink"/>
                </a:solidFill>
                <a:latin typeface="华文中宋" panose="02010600040101010101" pitchFamily="2" charset="-122"/>
                <a:ea typeface="华文中宋" panose="02010600040101010101" pitchFamily="2" charset="-122"/>
              </a:rPr>
              <a:t> 单色</a:t>
            </a:r>
            <a:endParaRPr lang="en-US" altLang="zh-CN" dirty="0">
              <a:solidFill>
                <a:schemeClr val="hlink"/>
              </a:solidFill>
              <a:latin typeface="华文中宋" panose="02010600040101010101" pitchFamily="2" charset="-122"/>
              <a:ea typeface="华文中宋" panose="02010600040101010101" pitchFamily="2" charset="-122"/>
            </a:endParaRPr>
          </a:p>
          <a:p>
            <a:pPr algn="ctr" eaLnBrk="1" hangingPunct="1"/>
            <a:r>
              <a:rPr lang="en-US" altLang="zh-CN" dirty="0">
                <a:solidFill>
                  <a:schemeClr val="hlink"/>
                </a:solidFill>
                <a:latin typeface="华文中宋" panose="02010600040101010101" pitchFamily="2" charset="-122"/>
                <a:ea typeface="华文中宋" panose="02010600040101010101" pitchFamily="2" charset="-122"/>
              </a:rPr>
              <a:t>X</a:t>
            </a:r>
            <a:r>
              <a:rPr lang="zh-CN" altLang="en-US" dirty="0">
                <a:solidFill>
                  <a:schemeClr val="hlink"/>
                </a:solidFill>
                <a:latin typeface="华文中宋" panose="02010600040101010101" pitchFamily="2" charset="-122"/>
                <a:ea typeface="华文中宋" panose="02010600040101010101" pitchFamily="2" charset="-122"/>
              </a:rPr>
              <a:t>射线</a:t>
            </a:r>
          </a:p>
        </p:txBody>
      </p:sp>
      <p:sp>
        <p:nvSpPr>
          <p:cNvPr id="15370" name="Line 10">
            <a:extLst>
              <a:ext uri="{FF2B5EF4-FFF2-40B4-BE49-F238E27FC236}">
                <a16:creationId xmlns:a16="http://schemas.microsoft.com/office/drawing/2014/main" id="{3A40B45B-107E-4375-9FFA-871BB40AF9C4}"/>
              </a:ext>
            </a:extLst>
          </p:cNvPr>
          <p:cNvSpPr>
            <a:spLocks noChangeShapeType="1"/>
          </p:cNvSpPr>
          <p:nvPr/>
        </p:nvSpPr>
        <p:spPr bwMode="auto">
          <a:xfrm>
            <a:off x="2051050" y="2446338"/>
            <a:ext cx="4392613" cy="0"/>
          </a:xfrm>
          <a:prstGeom prst="line">
            <a:avLst/>
          </a:prstGeom>
          <a:noFill/>
          <a:ln w="19050">
            <a:solidFill>
              <a:schemeClr val="folHlink">
                <a:alpha val="58823"/>
              </a:scheme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91" name="Freeform 11">
            <a:extLst>
              <a:ext uri="{FF2B5EF4-FFF2-40B4-BE49-F238E27FC236}">
                <a16:creationId xmlns:a16="http://schemas.microsoft.com/office/drawing/2014/main" id="{267BCF3D-7425-451C-896B-E453DF101738}"/>
              </a:ext>
            </a:extLst>
          </p:cNvPr>
          <p:cNvSpPr>
            <a:spLocks/>
          </p:cNvSpPr>
          <p:nvPr/>
        </p:nvSpPr>
        <p:spPr bwMode="auto">
          <a:xfrm>
            <a:off x="2700338" y="2205038"/>
            <a:ext cx="790575" cy="503237"/>
          </a:xfrm>
          <a:custGeom>
            <a:avLst/>
            <a:gdLst>
              <a:gd name="T0" fmla="*/ 0 w 4106"/>
              <a:gd name="T1" fmla="*/ 2147483646 h 1940"/>
              <a:gd name="T2" fmla="*/ 2147483646 w 4106"/>
              <a:gd name="T3" fmla="*/ 2147483646 h 1940"/>
              <a:gd name="T4" fmla="*/ 2147483646 w 4106"/>
              <a:gd name="T5" fmla="*/ 2147483646 h 1940"/>
              <a:gd name="T6" fmla="*/ 2147483646 w 4106"/>
              <a:gd name="T7" fmla="*/ 2147483646 h 1940"/>
              <a:gd name="T8" fmla="*/ 2147483646 w 4106"/>
              <a:gd name="T9" fmla="*/ 2147483646 h 1940"/>
              <a:gd name="T10" fmla="*/ 2147483646 w 4106"/>
              <a:gd name="T11" fmla="*/ 2147483646 h 1940"/>
              <a:gd name="T12" fmla="*/ 2147483646 w 4106"/>
              <a:gd name="T13" fmla="*/ 2147483646 h 1940"/>
              <a:gd name="T14" fmla="*/ 2147483646 w 4106"/>
              <a:gd name="T15" fmla="*/ 2147483646 h 1940"/>
              <a:gd name="T16" fmla="*/ 2147483646 w 4106"/>
              <a:gd name="T17" fmla="*/ 2147483646 h 1940"/>
              <a:gd name="T18" fmla="*/ 2147483646 w 4106"/>
              <a:gd name="T19" fmla="*/ 2147483646 h 1940"/>
              <a:gd name="T20" fmla="*/ 2147483646 w 4106"/>
              <a:gd name="T21" fmla="*/ 2147483646 h 19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106"/>
              <a:gd name="T34" fmla="*/ 0 h 1940"/>
              <a:gd name="T35" fmla="*/ 4106 w 4106"/>
              <a:gd name="T36" fmla="*/ 1940 h 19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106" h="1940">
                <a:moveTo>
                  <a:pt x="0" y="1082"/>
                </a:moveTo>
                <a:cubicBezTo>
                  <a:pt x="37" y="925"/>
                  <a:pt x="137" y="0"/>
                  <a:pt x="258" y="139"/>
                </a:cubicBezTo>
                <a:cubicBezTo>
                  <a:pt x="454" y="139"/>
                  <a:pt x="573" y="1916"/>
                  <a:pt x="723" y="1916"/>
                </a:cubicBezTo>
                <a:cubicBezTo>
                  <a:pt x="873" y="1916"/>
                  <a:pt x="999" y="137"/>
                  <a:pt x="1159" y="138"/>
                </a:cubicBezTo>
                <a:cubicBezTo>
                  <a:pt x="1319" y="139"/>
                  <a:pt x="1527" y="1927"/>
                  <a:pt x="1681" y="1923"/>
                </a:cubicBezTo>
                <a:cubicBezTo>
                  <a:pt x="1835" y="1919"/>
                  <a:pt x="1943" y="113"/>
                  <a:pt x="2084" y="114"/>
                </a:cubicBezTo>
                <a:cubicBezTo>
                  <a:pt x="2225" y="115"/>
                  <a:pt x="2374" y="1926"/>
                  <a:pt x="2525" y="1928"/>
                </a:cubicBezTo>
                <a:cubicBezTo>
                  <a:pt x="2676" y="1930"/>
                  <a:pt x="2840" y="125"/>
                  <a:pt x="2991" y="127"/>
                </a:cubicBezTo>
                <a:cubicBezTo>
                  <a:pt x="3142" y="129"/>
                  <a:pt x="3285" y="1940"/>
                  <a:pt x="3432" y="1940"/>
                </a:cubicBezTo>
                <a:cubicBezTo>
                  <a:pt x="3579" y="1940"/>
                  <a:pt x="3714" y="127"/>
                  <a:pt x="3873" y="127"/>
                </a:cubicBezTo>
                <a:cubicBezTo>
                  <a:pt x="4032" y="127"/>
                  <a:pt x="4057" y="844"/>
                  <a:pt x="4106" y="1033"/>
                </a:cubicBezTo>
              </a:path>
            </a:pathLst>
          </a:cu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492" name="Freeform 12">
            <a:extLst>
              <a:ext uri="{FF2B5EF4-FFF2-40B4-BE49-F238E27FC236}">
                <a16:creationId xmlns:a16="http://schemas.microsoft.com/office/drawing/2014/main" id="{1B98663C-5641-4D81-8AD4-9E624121D2CD}"/>
              </a:ext>
            </a:extLst>
          </p:cNvPr>
          <p:cNvSpPr>
            <a:spLocks/>
          </p:cNvSpPr>
          <p:nvPr/>
        </p:nvSpPr>
        <p:spPr bwMode="auto">
          <a:xfrm rot="-2225896">
            <a:off x="5435600" y="1341438"/>
            <a:ext cx="790575" cy="288925"/>
          </a:xfrm>
          <a:custGeom>
            <a:avLst/>
            <a:gdLst>
              <a:gd name="T0" fmla="*/ 0 w 4106"/>
              <a:gd name="T1" fmla="*/ 2147483646 h 1940"/>
              <a:gd name="T2" fmla="*/ 2147483646 w 4106"/>
              <a:gd name="T3" fmla="*/ 2147483646 h 1940"/>
              <a:gd name="T4" fmla="*/ 2147483646 w 4106"/>
              <a:gd name="T5" fmla="*/ 2147483646 h 1940"/>
              <a:gd name="T6" fmla="*/ 2147483646 w 4106"/>
              <a:gd name="T7" fmla="*/ 2147483646 h 1940"/>
              <a:gd name="T8" fmla="*/ 2147483646 w 4106"/>
              <a:gd name="T9" fmla="*/ 2147483646 h 1940"/>
              <a:gd name="T10" fmla="*/ 2147483646 w 4106"/>
              <a:gd name="T11" fmla="*/ 2147483646 h 1940"/>
              <a:gd name="T12" fmla="*/ 2147483646 w 4106"/>
              <a:gd name="T13" fmla="*/ 2147483646 h 1940"/>
              <a:gd name="T14" fmla="*/ 2147483646 w 4106"/>
              <a:gd name="T15" fmla="*/ 2147483646 h 1940"/>
              <a:gd name="T16" fmla="*/ 2147483646 w 4106"/>
              <a:gd name="T17" fmla="*/ 2147483646 h 1940"/>
              <a:gd name="T18" fmla="*/ 2147483646 w 4106"/>
              <a:gd name="T19" fmla="*/ 2147483646 h 1940"/>
              <a:gd name="T20" fmla="*/ 2147483646 w 4106"/>
              <a:gd name="T21" fmla="*/ 2147483646 h 19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106"/>
              <a:gd name="T34" fmla="*/ 0 h 1940"/>
              <a:gd name="T35" fmla="*/ 4106 w 4106"/>
              <a:gd name="T36" fmla="*/ 1940 h 19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106" h="1940">
                <a:moveTo>
                  <a:pt x="0" y="1082"/>
                </a:moveTo>
                <a:cubicBezTo>
                  <a:pt x="37" y="925"/>
                  <a:pt x="137" y="0"/>
                  <a:pt x="258" y="139"/>
                </a:cubicBezTo>
                <a:cubicBezTo>
                  <a:pt x="454" y="139"/>
                  <a:pt x="573" y="1916"/>
                  <a:pt x="723" y="1916"/>
                </a:cubicBezTo>
                <a:cubicBezTo>
                  <a:pt x="873" y="1916"/>
                  <a:pt x="999" y="137"/>
                  <a:pt x="1159" y="138"/>
                </a:cubicBezTo>
                <a:cubicBezTo>
                  <a:pt x="1319" y="139"/>
                  <a:pt x="1527" y="1927"/>
                  <a:pt x="1681" y="1923"/>
                </a:cubicBezTo>
                <a:cubicBezTo>
                  <a:pt x="1835" y="1919"/>
                  <a:pt x="1943" y="113"/>
                  <a:pt x="2084" y="114"/>
                </a:cubicBezTo>
                <a:cubicBezTo>
                  <a:pt x="2225" y="115"/>
                  <a:pt x="2374" y="1926"/>
                  <a:pt x="2525" y="1928"/>
                </a:cubicBezTo>
                <a:cubicBezTo>
                  <a:pt x="2676" y="1930"/>
                  <a:pt x="2840" y="125"/>
                  <a:pt x="2991" y="127"/>
                </a:cubicBezTo>
                <a:cubicBezTo>
                  <a:pt x="3142" y="129"/>
                  <a:pt x="3285" y="1940"/>
                  <a:pt x="3432" y="1940"/>
                </a:cubicBezTo>
                <a:cubicBezTo>
                  <a:pt x="3579" y="1940"/>
                  <a:pt x="3714" y="127"/>
                  <a:pt x="3873" y="127"/>
                </a:cubicBezTo>
                <a:cubicBezTo>
                  <a:pt x="4032" y="127"/>
                  <a:pt x="4057" y="844"/>
                  <a:pt x="4106" y="1033"/>
                </a:cubicBezTo>
              </a:path>
            </a:pathLst>
          </a:cu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493" name="Text Box 13">
            <a:extLst>
              <a:ext uri="{FF2B5EF4-FFF2-40B4-BE49-F238E27FC236}">
                <a16:creationId xmlns:a16="http://schemas.microsoft.com/office/drawing/2014/main" id="{63107FF7-9398-4056-8FC8-29F176DA5C20}"/>
              </a:ext>
            </a:extLst>
          </p:cNvPr>
          <p:cNvSpPr txBox="1">
            <a:spLocks noChangeArrowheads="1"/>
          </p:cNvSpPr>
          <p:nvPr/>
        </p:nvSpPr>
        <p:spPr bwMode="auto">
          <a:xfrm>
            <a:off x="5000625" y="204311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0" i="1">
                <a:solidFill>
                  <a:srgbClr val="FFFF99"/>
                </a:solidFill>
              </a:rPr>
              <a:t>θ</a:t>
            </a:r>
          </a:p>
        </p:txBody>
      </p:sp>
      <p:sp>
        <p:nvSpPr>
          <p:cNvPr id="20494" name="Freeform 14">
            <a:extLst>
              <a:ext uri="{FF2B5EF4-FFF2-40B4-BE49-F238E27FC236}">
                <a16:creationId xmlns:a16="http://schemas.microsoft.com/office/drawing/2014/main" id="{517A299D-407B-4D60-98E3-1C4E4D06AFD2}"/>
              </a:ext>
            </a:extLst>
          </p:cNvPr>
          <p:cNvSpPr>
            <a:spLocks/>
          </p:cNvSpPr>
          <p:nvPr/>
        </p:nvSpPr>
        <p:spPr bwMode="auto">
          <a:xfrm>
            <a:off x="4930775" y="2225675"/>
            <a:ext cx="73025" cy="215900"/>
          </a:xfrm>
          <a:custGeom>
            <a:avLst/>
            <a:gdLst>
              <a:gd name="T0" fmla="*/ 0 w 363"/>
              <a:gd name="T1" fmla="*/ 0 h 726"/>
              <a:gd name="T2" fmla="*/ 2147483646 w 363"/>
              <a:gd name="T3" fmla="*/ 2147483646 h 726"/>
              <a:gd name="T4" fmla="*/ 2147483646 w 363"/>
              <a:gd name="T5" fmla="*/ 2147483646 h 726"/>
              <a:gd name="T6" fmla="*/ 0 60000 65536"/>
              <a:gd name="T7" fmla="*/ 0 60000 65536"/>
              <a:gd name="T8" fmla="*/ 0 60000 65536"/>
              <a:gd name="T9" fmla="*/ 0 w 363"/>
              <a:gd name="T10" fmla="*/ 0 h 726"/>
              <a:gd name="T11" fmla="*/ 363 w 363"/>
              <a:gd name="T12" fmla="*/ 726 h 726"/>
            </a:gdLst>
            <a:ahLst/>
            <a:cxnLst>
              <a:cxn ang="T6">
                <a:pos x="T0" y="T1"/>
              </a:cxn>
              <a:cxn ang="T7">
                <a:pos x="T2" y="T3"/>
              </a:cxn>
              <a:cxn ang="T8">
                <a:pos x="T4" y="T5"/>
              </a:cxn>
            </a:cxnLst>
            <a:rect l="T9" t="T10" r="T11" b="T12"/>
            <a:pathLst>
              <a:path w="363" h="726">
                <a:moveTo>
                  <a:pt x="0" y="0"/>
                </a:moveTo>
                <a:cubicBezTo>
                  <a:pt x="106" y="98"/>
                  <a:pt x="212" y="197"/>
                  <a:pt x="272" y="318"/>
                </a:cubicBezTo>
                <a:cubicBezTo>
                  <a:pt x="332" y="439"/>
                  <a:pt x="348" y="658"/>
                  <a:pt x="363" y="726"/>
                </a:cubicBezTo>
              </a:path>
            </a:pathLst>
          </a:custGeom>
          <a:noFill/>
          <a:ln w="19050">
            <a:solidFill>
              <a:srgbClr val="B2B2B2"/>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495" name="Line 15">
            <a:extLst>
              <a:ext uri="{FF2B5EF4-FFF2-40B4-BE49-F238E27FC236}">
                <a16:creationId xmlns:a16="http://schemas.microsoft.com/office/drawing/2014/main" id="{CE56FCF0-5143-4DFD-AE90-CBADF2549C32}"/>
              </a:ext>
            </a:extLst>
          </p:cNvPr>
          <p:cNvSpPr>
            <a:spLocks noChangeShapeType="1"/>
          </p:cNvSpPr>
          <p:nvPr/>
        </p:nvSpPr>
        <p:spPr bwMode="auto">
          <a:xfrm flipV="1">
            <a:off x="4572000" y="1052513"/>
            <a:ext cx="1873250" cy="1403350"/>
          </a:xfrm>
          <a:prstGeom prst="line">
            <a:avLst/>
          </a:prstGeom>
          <a:noFill/>
          <a:ln w="19050">
            <a:solidFill>
              <a:schemeClr val="folHlink">
                <a:alpha val="59999"/>
              </a:schemeClr>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96" name="Rectangle 16">
            <a:extLst>
              <a:ext uri="{FF2B5EF4-FFF2-40B4-BE49-F238E27FC236}">
                <a16:creationId xmlns:a16="http://schemas.microsoft.com/office/drawing/2014/main" id="{AC397077-EFE3-4F7C-898E-0C91F11C7BD8}"/>
              </a:ext>
            </a:extLst>
          </p:cNvPr>
          <p:cNvSpPr>
            <a:spLocks noChangeArrowheads="1"/>
          </p:cNvSpPr>
          <p:nvPr/>
        </p:nvSpPr>
        <p:spPr bwMode="auto">
          <a:xfrm>
            <a:off x="760413" y="4783138"/>
            <a:ext cx="1508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FF00"/>
                </a:solidFill>
                <a:ea typeface="华文中宋" panose="02010600040101010101" pitchFamily="2" charset="-122"/>
              </a:rPr>
              <a:t>说明</a:t>
            </a:r>
          </a:p>
        </p:txBody>
      </p:sp>
      <p:sp>
        <p:nvSpPr>
          <p:cNvPr id="20497" name="AutoShape 17">
            <a:extLst>
              <a:ext uri="{FF2B5EF4-FFF2-40B4-BE49-F238E27FC236}">
                <a16:creationId xmlns:a16="http://schemas.microsoft.com/office/drawing/2014/main" id="{4A379E83-257E-49C4-9008-FC5E30489438}"/>
              </a:ext>
            </a:extLst>
          </p:cNvPr>
          <p:cNvSpPr>
            <a:spLocks noChangeArrowheads="1"/>
          </p:cNvSpPr>
          <p:nvPr/>
        </p:nvSpPr>
        <p:spPr bwMode="auto">
          <a:xfrm>
            <a:off x="5435600" y="2636838"/>
            <a:ext cx="1511300" cy="504825"/>
          </a:xfrm>
          <a:prstGeom prst="wedgeRectCallout">
            <a:avLst>
              <a:gd name="adj1" fmla="val -104935"/>
              <a:gd name="adj2" fmla="val -70440"/>
            </a:avLst>
          </a:prstGeom>
          <a:solidFill>
            <a:srgbClr val="003366">
              <a:alpha val="81960"/>
            </a:srgbClr>
          </a:solidFill>
          <a:ln w="9525">
            <a:solidFill>
              <a:schemeClr val="folHlink"/>
            </a:solidFill>
            <a:miter lim="800000"/>
            <a:headEnd/>
            <a:tailEnd/>
          </a:ln>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solidFill>
                  <a:schemeClr val="hlink"/>
                </a:solidFill>
                <a:ea typeface="楷体_GB2312" pitchFamily="49" charset="-122"/>
              </a:rPr>
              <a:t>受迫振动</a:t>
            </a:r>
            <a:r>
              <a:rPr lang="en-US" altLang="zh-CN" b="0" i="1">
                <a:solidFill>
                  <a:srgbClr val="66FFFF"/>
                </a:solidFill>
                <a:latin typeface="宋体" panose="02010600030101010101" pitchFamily="2" charset="-122"/>
              </a:rPr>
              <a:t>v</a:t>
            </a:r>
            <a:r>
              <a:rPr lang="en-US" altLang="zh-CN" i="1" baseline="-22000">
                <a:solidFill>
                  <a:srgbClr val="99FFCC"/>
                </a:solidFill>
              </a:rPr>
              <a:t>0</a:t>
            </a:r>
            <a:endParaRPr lang="en-US" altLang="zh-CN" b="0"/>
          </a:p>
        </p:txBody>
      </p:sp>
      <p:grpSp>
        <p:nvGrpSpPr>
          <p:cNvPr id="15378" name="Group 18">
            <a:extLst>
              <a:ext uri="{FF2B5EF4-FFF2-40B4-BE49-F238E27FC236}">
                <a16:creationId xmlns:a16="http://schemas.microsoft.com/office/drawing/2014/main" id="{6F4DEE76-50DE-46A1-91A9-0A057CBA2E65}"/>
              </a:ext>
            </a:extLst>
          </p:cNvPr>
          <p:cNvGrpSpPr>
            <a:grpSpLocks/>
          </p:cNvGrpSpPr>
          <p:nvPr/>
        </p:nvGrpSpPr>
        <p:grpSpPr bwMode="auto">
          <a:xfrm>
            <a:off x="4413250" y="2354263"/>
            <a:ext cx="215900" cy="215900"/>
            <a:chOff x="2780" y="902"/>
            <a:chExt cx="136" cy="136"/>
          </a:xfrm>
        </p:grpSpPr>
        <p:sp>
          <p:nvSpPr>
            <p:cNvPr id="15386" name="Oval 19">
              <a:extLst>
                <a:ext uri="{FF2B5EF4-FFF2-40B4-BE49-F238E27FC236}">
                  <a16:creationId xmlns:a16="http://schemas.microsoft.com/office/drawing/2014/main" id="{9317777F-5E5C-466A-9ED1-94BD4F2F852D}"/>
                </a:ext>
              </a:extLst>
            </p:cNvPr>
            <p:cNvSpPr>
              <a:spLocks noChangeArrowheads="1"/>
            </p:cNvSpPr>
            <p:nvPr/>
          </p:nvSpPr>
          <p:spPr bwMode="auto">
            <a:xfrm>
              <a:off x="2780" y="902"/>
              <a:ext cx="136" cy="136"/>
            </a:xfrm>
            <a:prstGeom prst="ellipse">
              <a:avLst/>
            </a:prstGeom>
            <a:gradFill rotWithShape="1">
              <a:gsLst>
                <a:gs pos="0">
                  <a:srgbClr val="FFFF00"/>
                </a:gs>
                <a:gs pos="100000">
                  <a:srgbClr val="FF9966"/>
                </a:gs>
              </a:gsLst>
              <a:path path="shape">
                <a:fillToRect l="50000" t="50000" r="50000" b="50000"/>
              </a:path>
            </a:gra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5387" name="Line 20">
              <a:extLst>
                <a:ext uri="{FF2B5EF4-FFF2-40B4-BE49-F238E27FC236}">
                  <a16:creationId xmlns:a16="http://schemas.microsoft.com/office/drawing/2014/main" id="{4A0E7D39-3485-476C-A102-7B3938BC192A}"/>
                </a:ext>
              </a:extLst>
            </p:cNvPr>
            <p:cNvSpPr>
              <a:spLocks noChangeShapeType="1"/>
            </p:cNvSpPr>
            <p:nvPr/>
          </p:nvSpPr>
          <p:spPr bwMode="auto">
            <a:xfrm>
              <a:off x="2802" y="970"/>
              <a:ext cx="91"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5379" name="Rectangle 21">
            <a:extLst>
              <a:ext uri="{FF2B5EF4-FFF2-40B4-BE49-F238E27FC236}">
                <a16:creationId xmlns:a16="http://schemas.microsoft.com/office/drawing/2014/main" id="{55ED8FF4-C00F-492A-9119-9400908F9BD2}"/>
              </a:ext>
            </a:extLst>
          </p:cNvPr>
          <p:cNvSpPr>
            <a:spLocks noChangeArrowheads="1"/>
          </p:cNvSpPr>
          <p:nvPr/>
        </p:nvSpPr>
        <p:spPr bwMode="auto">
          <a:xfrm>
            <a:off x="4210050" y="2225675"/>
            <a:ext cx="504825" cy="576263"/>
          </a:xfrm>
          <a:prstGeom prst="rect">
            <a:avLst/>
          </a:prstGeom>
          <a:solidFill>
            <a:srgbClr val="808000">
              <a:alpha val="32156"/>
            </a:srgbClr>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808000"/>
            </a:extrusionClr>
            <a:contourClr>
              <a:srgbClr val="808000"/>
            </a:contourClr>
          </a:sp3d>
        </p:spPr>
        <p:txBody>
          <a:bodyPr wrap="none" anchor="ctr">
            <a:flatTx/>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20502" name="Object 22">
            <a:extLst>
              <a:ext uri="{FF2B5EF4-FFF2-40B4-BE49-F238E27FC236}">
                <a16:creationId xmlns:a16="http://schemas.microsoft.com/office/drawing/2014/main" id="{06E27ABF-53E1-4DFE-8DFE-944E232AC52D}"/>
              </a:ext>
            </a:extLst>
          </p:cNvPr>
          <p:cNvGraphicFramePr>
            <a:graphicFrameLocks/>
          </p:cNvGraphicFramePr>
          <p:nvPr/>
        </p:nvGraphicFramePr>
        <p:xfrm>
          <a:off x="5076825" y="908050"/>
          <a:ext cx="641350" cy="346075"/>
        </p:xfrm>
        <a:graphic>
          <a:graphicData uri="http://schemas.openxmlformats.org/presentationml/2006/ole">
            <mc:AlternateContent xmlns:mc="http://schemas.openxmlformats.org/markup-compatibility/2006">
              <mc:Choice xmlns:v="urn:schemas-microsoft-com:vml" Requires="v">
                <p:oleObj spid="_x0000_s466958" name="公式" r:id="rId4" imgW="771582" imgH="400152" progId="Equation.3">
                  <p:embed/>
                </p:oleObj>
              </mc:Choice>
              <mc:Fallback>
                <p:oleObj name="公式" r:id="rId4" imgW="771582" imgH="400152" progId="Equation.3">
                  <p:embed/>
                  <p:pic>
                    <p:nvPicPr>
                      <p:cNvPr id="20502" name="Object 22">
                        <a:extLst>
                          <a:ext uri="{FF2B5EF4-FFF2-40B4-BE49-F238E27FC236}">
                            <a16:creationId xmlns:a16="http://schemas.microsoft.com/office/drawing/2014/main" id="{06E27ABF-53E1-4DFE-8DFE-944E232AC52D}"/>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76825" y="908050"/>
                        <a:ext cx="641350" cy="346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03" name="Object 23">
            <a:extLst>
              <a:ext uri="{FF2B5EF4-FFF2-40B4-BE49-F238E27FC236}">
                <a16:creationId xmlns:a16="http://schemas.microsoft.com/office/drawing/2014/main" id="{2FFBD58C-46D3-4989-8D5F-5E7C38ED2A43}"/>
              </a:ext>
            </a:extLst>
          </p:cNvPr>
          <p:cNvGraphicFramePr>
            <a:graphicFrameLocks/>
          </p:cNvGraphicFramePr>
          <p:nvPr/>
        </p:nvGraphicFramePr>
        <p:xfrm>
          <a:off x="2771775" y="1773238"/>
          <a:ext cx="641350" cy="346075"/>
        </p:xfrm>
        <a:graphic>
          <a:graphicData uri="http://schemas.openxmlformats.org/presentationml/2006/ole">
            <mc:AlternateContent xmlns:mc="http://schemas.openxmlformats.org/markup-compatibility/2006">
              <mc:Choice xmlns:v="urn:schemas-microsoft-com:vml" Requires="v">
                <p:oleObj spid="_x0000_s466959" name="公式" r:id="rId6" imgW="771582" imgH="400152" progId="Equation.3">
                  <p:embed/>
                </p:oleObj>
              </mc:Choice>
              <mc:Fallback>
                <p:oleObj name="公式" r:id="rId6" imgW="771582" imgH="400152" progId="Equation.3">
                  <p:embed/>
                  <p:pic>
                    <p:nvPicPr>
                      <p:cNvPr id="20503" name="Object 23">
                        <a:extLst>
                          <a:ext uri="{FF2B5EF4-FFF2-40B4-BE49-F238E27FC236}">
                            <a16:creationId xmlns:a16="http://schemas.microsoft.com/office/drawing/2014/main" id="{2FFBD58C-46D3-4989-8D5F-5E7C38ED2A43}"/>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71775" y="1773238"/>
                        <a:ext cx="641350" cy="346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04" name="Text Box 24">
            <a:extLst>
              <a:ext uri="{FF2B5EF4-FFF2-40B4-BE49-F238E27FC236}">
                <a16:creationId xmlns:a16="http://schemas.microsoft.com/office/drawing/2014/main" id="{033F0640-7BB4-4974-B642-1F748F9C5A4C}"/>
              </a:ext>
            </a:extLst>
          </p:cNvPr>
          <p:cNvSpPr txBox="1">
            <a:spLocks noChangeArrowheads="1"/>
          </p:cNvSpPr>
          <p:nvPr/>
        </p:nvSpPr>
        <p:spPr bwMode="auto">
          <a:xfrm>
            <a:off x="2843213" y="3573463"/>
            <a:ext cx="8651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chemeClr val="accent1"/>
                </a:solidFill>
                <a:ea typeface="华文中宋" panose="02010600040101010101" pitchFamily="2" charset="-122"/>
              </a:rPr>
              <a:t>照射</a:t>
            </a:r>
          </a:p>
        </p:txBody>
      </p:sp>
      <p:sp>
        <p:nvSpPr>
          <p:cNvPr id="15383" name="Rectangle 25">
            <a:extLst>
              <a:ext uri="{FF2B5EF4-FFF2-40B4-BE49-F238E27FC236}">
                <a16:creationId xmlns:a16="http://schemas.microsoft.com/office/drawing/2014/main" id="{6D2B104A-BCBA-44E4-ACC8-C0FF555936D3}"/>
              </a:ext>
            </a:extLst>
          </p:cNvPr>
          <p:cNvSpPr>
            <a:spLocks noChangeArrowheads="1"/>
          </p:cNvSpPr>
          <p:nvPr/>
        </p:nvSpPr>
        <p:spPr bwMode="auto">
          <a:xfrm>
            <a:off x="3924300" y="2852738"/>
            <a:ext cx="1200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chemeClr val="hlink"/>
                </a:solidFill>
                <a:ea typeface="楷体_GB2312" pitchFamily="49" charset="-122"/>
              </a:rPr>
              <a:t>散射物体</a:t>
            </a:r>
          </a:p>
        </p:txBody>
      </p:sp>
      <p:sp>
        <p:nvSpPr>
          <p:cNvPr id="20506" name="AutoShape 26">
            <a:extLst>
              <a:ext uri="{FF2B5EF4-FFF2-40B4-BE49-F238E27FC236}">
                <a16:creationId xmlns:a16="http://schemas.microsoft.com/office/drawing/2014/main" id="{F946029A-D882-41CF-8AB2-0DF9ED4E07F0}"/>
              </a:ext>
            </a:extLst>
          </p:cNvPr>
          <p:cNvSpPr>
            <a:spLocks noChangeArrowheads="1"/>
          </p:cNvSpPr>
          <p:nvPr/>
        </p:nvSpPr>
        <p:spPr bwMode="auto">
          <a:xfrm>
            <a:off x="466725" y="4724400"/>
            <a:ext cx="360363"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5385" name="灯片编号占位符 1">
            <a:extLst>
              <a:ext uri="{FF2B5EF4-FFF2-40B4-BE49-F238E27FC236}">
                <a16:creationId xmlns:a16="http://schemas.microsoft.com/office/drawing/2014/main" id="{8F2EC879-17EE-44A7-8A3C-85D74468F9F4}"/>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2DE7219C-B16C-4581-A71E-C25723E7E567}" type="slidenum">
              <a:rPr lang="en-US" altLang="zh-CN" b="0">
                <a:solidFill>
                  <a:srgbClr val="FF00FF"/>
                </a:solidFill>
              </a:rPr>
              <a:pPr eaLnBrk="1" hangingPunct="1"/>
              <a:t>10</a:t>
            </a:fld>
            <a:r>
              <a:rPr lang="en-US" altLang="zh-CN" b="0">
                <a:solidFill>
                  <a:srgbClr val="FF00FF"/>
                </a:solidFill>
              </a:rPr>
              <a:t>/22</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nodeType="clickEffect">
                                  <p:stCondLst>
                                    <p:cond delay="0"/>
                                  </p:stCondLst>
                                  <p:childTnLst>
                                    <p:set>
                                      <p:cBhvr>
                                        <p:cTn id="6" dur="1" fill="hold">
                                          <p:stCondLst>
                                            <p:cond delay="0"/>
                                          </p:stCondLst>
                                        </p:cTn>
                                        <p:tgtEl>
                                          <p:spTgt spid="20491"/>
                                        </p:tgtEl>
                                        <p:attrNameLst>
                                          <p:attrName>style.visibility</p:attrName>
                                        </p:attrNameLst>
                                      </p:cBhvr>
                                      <p:to>
                                        <p:strVal val="visible"/>
                                      </p:to>
                                    </p:set>
                                    <p:animEffect transition="in" filter="slide(fromLeft)">
                                      <p:cBhvr>
                                        <p:cTn id="7" dur="500"/>
                                        <p:tgtEl>
                                          <p:spTgt spid="20491"/>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0503"/>
                                        </p:tgtEl>
                                        <p:attrNameLst>
                                          <p:attrName>style.visibility</p:attrName>
                                        </p:attrNameLst>
                                      </p:cBhvr>
                                      <p:to>
                                        <p:strVal val="visible"/>
                                      </p:to>
                                    </p:set>
                                    <p:animEffect transition="in" filter="wipe(left)">
                                      <p:cBhvr>
                                        <p:cTn id="11" dur="500"/>
                                        <p:tgtEl>
                                          <p:spTgt spid="20503"/>
                                        </p:tgtEl>
                                      </p:cBhvr>
                                    </p:animEffect>
                                  </p:childTnLst>
                                </p:cTn>
                              </p:par>
                            </p:childTnLst>
                          </p:cTn>
                        </p:par>
                        <p:par>
                          <p:cTn id="12" fill="hold" nodeType="afterGroup">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20489"/>
                                        </p:tgtEl>
                                        <p:attrNameLst>
                                          <p:attrName>style.visibility</p:attrName>
                                        </p:attrNameLst>
                                      </p:cBhvr>
                                      <p:to>
                                        <p:strVal val="visible"/>
                                      </p:to>
                                    </p:set>
                                    <p:animEffect transition="in" filter="dissolve">
                                      <p:cBhvr>
                                        <p:cTn id="15" dur="500"/>
                                        <p:tgtEl>
                                          <p:spTgt spid="20489"/>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20486"/>
                                        </p:tgtEl>
                                        <p:attrNameLst>
                                          <p:attrName>style.visibility</p:attrName>
                                        </p:attrNameLst>
                                      </p:cBhvr>
                                      <p:to>
                                        <p:strVal val="visible"/>
                                      </p:to>
                                    </p:set>
                                    <p:animEffect transition="in" filter="wipe(left)">
                                      <p:cBhvr>
                                        <p:cTn id="19" dur="500"/>
                                        <p:tgtEl>
                                          <p:spTgt spid="20486"/>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20504"/>
                                        </p:tgtEl>
                                        <p:attrNameLst>
                                          <p:attrName>style.visibility</p:attrName>
                                        </p:attrNameLst>
                                      </p:cBhvr>
                                      <p:to>
                                        <p:strVal val="visible"/>
                                      </p:to>
                                    </p:set>
                                    <p:animEffect transition="in" filter="dissolve">
                                      <p:cBhvr>
                                        <p:cTn id="22" dur="500"/>
                                        <p:tgtEl>
                                          <p:spTgt spid="2050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20497"/>
                                        </p:tgtEl>
                                        <p:attrNameLst>
                                          <p:attrName>style.visibility</p:attrName>
                                        </p:attrNameLst>
                                      </p:cBhvr>
                                      <p:to>
                                        <p:strVal val="visible"/>
                                      </p:to>
                                    </p:set>
                                    <p:animEffect transition="in" filter="strips(downRight)">
                                      <p:cBhvr>
                                        <p:cTn id="27" dur="500"/>
                                        <p:tgtEl>
                                          <p:spTgt spid="20497"/>
                                        </p:tgtEl>
                                      </p:cBhvr>
                                    </p:animEffect>
                                  </p:childTnLst>
                                </p:cTn>
                              </p:par>
                            </p:childTnLst>
                          </p:cTn>
                        </p:par>
                        <p:par>
                          <p:cTn id="28" fill="hold" nodeType="afterGroup">
                            <p:stCondLst>
                              <p:cond delay="500"/>
                            </p:stCondLst>
                            <p:childTnLst>
                              <p:par>
                                <p:cTn id="29" presetID="9" presetClass="entr" presetSubtype="0" fill="hold" grpId="0" nodeType="afterEffect">
                                  <p:stCondLst>
                                    <p:cond delay="0"/>
                                  </p:stCondLst>
                                  <p:childTnLst>
                                    <p:set>
                                      <p:cBhvr>
                                        <p:cTn id="30" dur="1" fill="hold">
                                          <p:stCondLst>
                                            <p:cond delay="0"/>
                                          </p:stCondLst>
                                        </p:cTn>
                                        <p:tgtEl>
                                          <p:spTgt spid="20484"/>
                                        </p:tgtEl>
                                        <p:attrNameLst>
                                          <p:attrName>style.visibility</p:attrName>
                                        </p:attrNameLst>
                                      </p:cBhvr>
                                      <p:to>
                                        <p:strVal val="visible"/>
                                      </p:to>
                                    </p:set>
                                    <p:animEffect transition="in" filter="dissolve">
                                      <p:cBhvr>
                                        <p:cTn id="31" dur="500"/>
                                        <p:tgtEl>
                                          <p:spTgt spid="2048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20488"/>
                                        </p:tgtEl>
                                        <p:attrNameLst>
                                          <p:attrName>style.visibility</p:attrName>
                                        </p:attrNameLst>
                                      </p:cBhvr>
                                      <p:to>
                                        <p:strVal val="visible"/>
                                      </p:to>
                                    </p:set>
                                    <p:animEffect transition="in" filter="wipe(left)">
                                      <p:cBhvr>
                                        <p:cTn id="36" dur="500"/>
                                        <p:tgtEl>
                                          <p:spTgt spid="20488"/>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20487"/>
                                        </p:tgtEl>
                                        <p:attrNameLst>
                                          <p:attrName>style.visibility</p:attrName>
                                        </p:attrNameLst>
                                      </p:cBhvr>
                                      <p:to>
                                        <p:strVal val="visible"/>
                                      </p:to>
                                    </p:set>
                                    <p:animEffect transition="in" filter="wipe(left)">
                                      <p:cBhvr>
                                        <p:cTn id="39" dur="500"/>
                                        <p:tgtEl>
                                          <p:spTgt spid="20487"/>
                                        </p:tgtEl>
                                      </p:cBhvr>
                                    </p:animEffect>
                                  </p:childTnLst>
                                </p:cTn>
                              </p:par>
                            </p:childTnLst>
                          </p:cTn>
                        </p:par>
                        <p:par>
                          <p:cTn id="40" fill="hold" nodeType="afterGroup">
                            <p:stCondLst>
                              <p:cond delay="500"/>
                            </p:stCondLst>
                            <p:childTnLst>
                              <p:par>
                                <p:cTn id="41" presetID="9" presetClass="entr" presetSubtype="0" fill="hold" grpId="0" nodeType="afterEffect">
                                  <p:stCondLst>
                                    <p:cond delay="0"/>
                                  </p:stCondLst>
                                  <p:childTnLst>
                                    <p:set>
                                      <p:cBhvr>
                                        <p:cTn id="42" dur="1" fill="hold">
                                          <p:stCondLst>
                                            <p:cond delay="0"/>
                                          </p:stCondLst>
                                        </p:cTn>
                                        <p:tgtEl>
                                          <p:spTgt spid="20485"/>
                                        </p:tgtEl>
                                        <p:attrNameLst>
                                          <p:attrName>style.visibility</p:attrName>
                                        </p:attrNameLst>
                                      </p:cBhvr>
                                      <p:to>
                                        <p:strVal val="visible"/>
                                      </p:to>
                                    </p:set>
                                    <p:animEffect transition="in" filter="dissolve">
                                      <p:cBhvr>
                                        <p:cTn id="43" dur="500"/>
                                        <p:tgtEl>
                                          <p:spTgt spid="20485"/>
                                        </p:tgtEl>
                                      </p:cBhvr>
                                    </p:animEffect>
                                  </p:childTnLst>
                                </p:cTn>
                              </p:par>
                            </p:childTnLst>
                          </p:cTn>
                        </p:par>
                        <p:par>
                          <p:cTn id="44" fill="hold" nodeType="withGroup">
                            <p:stCondLst>
                              <p:cond delay="1000"/>
                            </p:stCondLst>
                            <p:childTnLst>
                              <p:par>
                                <p:cTn id="45" presetID="18" presetClass="entr" presetSubtype="3" fill="hold" nodeType="afterEffect">
                                  <p:stCondLst>
                                    <p:cond delay="0"/>
                                  </p:stCondLst>
                                  <p:childTnLst>
                                    <p:set>
                                      <p:cBhvr>
                                        <p:cTn id="46" dur="1" fill="hold">
                                          <p:stCondLst>
                                            <p:cond delay="0"/>
                                          </p:stCondLst>
                                        </p:cTn>
                                        <p:tgtEl>
                                          <p:spTgt spid="20495"/>
                                        </p:tgtEl>
                                        <p:attrNameLst>
                                          <p:attrName>style.visibility</p:attrName>
                                        </p:attrNameLst>
                                      </p:cBhvr>
                                      <p:to>
                                        <p:strVal val="visible"/>
                                      </p:to>
                                    </p:set>
                                    <p:animEffect transition="in" filter="strips(upRight)">
                                      <p:cBhvr>
                                        <p:cTn id="47" dur="500"/>
                                        <p:tgtEl>
                                          <p:spTgt spid="20495"/>
                                        </p:tgtEl>
                                      </p:cBhvr>
                                    </p:animEffect>
                                  </p:childTnLst>
                                </p:cTn>
                              </p:par>
                            </p:childTnLst>
                          </p:cTn>
                        </p:par>
                        <p:par>
                          <p:cTn id="48" fill="hold" nodeType="afterGroup">
                            <p:stCondLst>
                              <p:cond delay="1500"/>
                            </p:stCondLst>
                            <p:childTnLst>
                              <p:par>
                                <p:cTn id="49" presetID="18" presetClass="entr" presetSubtype="3" fill="hold" nodeType="afterEffect">
                                  <p:stCondLst>
                                    <p:cond delay="0"/>
                                  </p:stCondLst>
                                  <p:childTnLst>
                                    <p:set>
                                      <p:cBhvr>
                                        <p:cTn id="50" dur="1" fill="hold">
                                          <p:stCondLst>
                                            <p:cond delay="0"/>
                                          </p:stCondLst>
                                        </p:cTn>
                                        <p:tgtEl>
                                          <p:spTgt spid="20492"/>
                                        </p:tgtEl>
                                        <p:attrNameLst>
                                          <p:attrName>style.visibility</p:attrName>
                                        </p:attrNameLst>
                                      </p:cBhvr>
                                      <p:to>
                                        <p:strVal val="visible"/>
                                      </p:to>
                                    </p:set>
                                    <p:animEffect transition="in" filter="strips(upRight)">
                                      <p:cBhvr>
                                        <p:cTn id="51" dur="500"/>
                                        <p:tgtEl>
                                          <p:spTgt spid="20492"/>
                                        </p:tgtEl>
                                      </p:cBhvr>
                                    </p:animEffect>
                                  </p:childTnLst>
                                </p:cTn>
                              </p:par>
                            </p:childTnLst>
                          </p:cTn>
                        </p:par>
                        <p:par>
                          <p:cTn id="52" fill="hold" nodeType="afterGroup">
                            <p:stCondLst>
                              <p:cond delay="2000"/>
                            </p:stCondLst>
                            <p:childTnLst>
                              <p:par>
                                <p:cTn id="53" presetID="1" presetClass="entr" presetSubtype="0" fill="hold" grpId="0" nodeType="afterEffect">
                                  <p:stCondLst>
                                    <p:cond delay="0"/>
                                  </p:stCondLst>
                                  <p:childTnLst>
                                    <p:set>
                                      <p:cBhvr>
                                        <p:cTn id="54" dur="1" fill="hold">
                                          <p:stCondLst>
                                            <p:cond delay="0"/>
                                          </p:stCondLst>
                                        </p:cTn>
                                        <p:tgtEl>
                                          <p:spTgt spid="2049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0494"/>
                                        </p:tgtEl>
                                        <p:attrNameLst>
                                          <p:attrName>style.visibility</p:attrName>
                                        </p:attrNameLst>
                                      </p:cBhvr>
                                      <p:to>
                                        <p:strVal val="visible"/>
                                      </p:to>
                                    </p:set>
                                  </p:childTnLst>
                                </p:cTn>
                              </p:par>
                            </p:childTnLst>
                          </p:cTn>
                        </p:par>
                        <p:par>
                          <p:cTn id="57" fill="hold" nodeType="afterGroup">
                            <p:stCondLst>
                              <p:cond delay="2000"/>
                            </p:stCondLst>
                            <p:childTnLst>
                              <p:par>
                                <p:cTn id="58" presetID="9" presetClass="entr" presetSubtype="0" fill="hold" nodeType="afterEffect">
                                  <p:stCondLst>
                                    <p:cond delay="0"/>
                                  </p:stCondLst>
                                  <p:childTnLst>
                                    <p:set>
                                      <p:cBhvr>
                                        <p:cTn id="59" dur="1" fill="hold">
                                          <p:stCondLst>
                                            <p:cond delay="0"/>
                                          </p:stCondLst>
                                        </p:cTn>
                                        <p:tgtEl>
                                          <p:spTgt spid="20502"/>
                                        </p:tgtEl>
                                        <p:attrNameLst>
                                          <p:attrName>style.visibility</p:attrName>
                                        </p:attrNameLst>
                                      </p:cBhvr>
                                      <p:to>
                                        <p:strVal val="visible"/>
                                      </p:to>
                                    </p:set>
                                    <p:animEffect transition="in" filter="dissolve">
                                      <p:cBhvr>
                                        <p:cTn id="60" dur="500"/>
                                        <p:tgtEl>
                                          <p:spTgt spid="20502"/>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50" presetClass="entr" presetSubtype="0" decel="100000" fill="hold" grpId="0" nodeType="clickEffect">
                                  <p:stCondLst>
                                    <p:cond delay="0"/>
                                  </p:stCondLst>
                                  <p:childTnLst>
                                    <p:set>
                                      <p:cBhvr>
                                        <p:cTn id="64" dur="1" fill="hold">
                                          <p:stCondLst>
                                            <p:cond delay="0"/>
                                          </p:stCondLst>
                                        </p:cTn>
                                        <p:tgtEl>
                                          <p:spTgt spid="20506"/>
                                        </p:tgtEl>
                                        <p:attrNameLst>
                                          <p:attrName>style.visibility</p:attrName>
                                        </p:attrNameLst>
                                      </p:cBhvr>
                                      <p:to>
                                        <p:strVal val="visible"/>
                                      </p:to>
                                    </p:set>
                                    <p:anim calcmode="lin" valueType="num">
                                      <p:cBhvr>
                                        <p:cTn id="65" dur="1000" fill="hold"/>
                                        <p:tgtEl>
                                          <p:spTgt spid="20506"/>
                                        </p:tgtEl>
                                        <p:attrNameLst>
                                          <p:attrName>ppt_w</p:attrName>
                                        </p:attrNameLst>
                                      </p:cBhvr>
                                      <p:tavLst>
                                        <p:tav tm="0">
                                          <p:val>
                                            <p:strVal val="#ppt_w+.3"/>
                                          </p:val>
                                        </p:tav>
                                        <p:tav tm="100000">
                                          <p:val>
                                            <p:strVal val="#ppt_w"/>
                                          </p:val>
                                        </p:tav>
                                      </p:tavLst>
                                    </p:anim>
                                    <p:anim calcmode="lin" valueType="num">
                                      <p:cBhvr>
                                        <p:cTn id="66" dur="1000" fill="hold"/>
                                        <p:tgtEl>
                                          <p:spTgt spid="20506"/>
                                        </p:tgtEl>
                                        <p:attrNameLst>
                                          <p:attrName>ppt_h</p:attrName>
                                        </p:attrNameLst>
                                      </p:cBhvr>
                                      <p:tavLst>
                                        <p:tav tm="0">
                                          <p:val>
                                            <p:strVal val="#ppt_h"/>
                                          </p:val>
                                        </p:tav>
                                        <p:tav tm="100000">
                                          <p:val>
                                            <p:strVal val="#ppt_h"/>
                                          </p:val>
                                        </p:tav>
                                      </p:tavLst>
                                    </p:anim>
                                    <p:animEffect transition="in" filter="fade">
                                      <p:cBhvr>
                                        <p:cTn id="67" dur="1000"/>
                                        <p:tgtEl>
                                          <p:spTgt spid="20506"/>
                                        </p:tgtEl>
                                      </p:cBhvr>
                                    </p:animEffect>
                                  </p:childTnLst>
                                </p:cTn>
                              </p:par>
                            </p:childTnLst>
                          </p:cTn>
                        </p:par>
                        <p:par>
                          <p:cTn id="68" fill="hold" nodeType="afterGroup">
                            <p:stCondLst>
                              <p:cond delay="1000"/>
                            </p:stCondLst>
                            <p:childTnLst>
                              <p:par>
                                <p:cTn id="69" presetID="9" presetClass="entr" presetSubtype="0" fill="hold" grpId="0" nodeType="afterEffect">
                                  <p:stCondLst>
                                    <p:cond delay="0"/>
                                  </p:stCondLst>
                                  <p:childTnLst>
                                    <p:set>
                                      <p:cBhvr>
                                        <p:cTn id="70" dur="1" fill="hold">
                                          <p:stCondLst>
                                            <p:cond delay="0"/>
                                          </p:stCondLst>
                                        </p:cTn>
                                        <p:tgtEl>
                                          <p:spTgt spid="20496"/>
                                        </p:tgtEl>
                                        <p:attrNameLst>
                                          <p:attrName>style.visibility</p:attrName>
                                        </p:attrNameLst>
                                      </p:cBhvr>
                                      <p:to>
                                        <p:strVal val="visible"/>
                                      </p:to>
                                    </p:set>
                                    <p:animEffect transition="in" filter="dissolve">
                                      <p:cBhvr>
                                        <p:cTn id="71" dur="500"/>
                                        <p:tgtEl>
                                          <p:spTgt spid="20496"/>
                                        </p:tgtEl>
                                      </p:cBhvr>
                                    </p:animEffect>
                                  </p:childTnLst>
                                </p:cTn>
                              </p:par>
                            </p:childTnLst>
                          </p:cTn>
                        </p:par>
                        <p:par>
                          <p:cTn id="72" fill="hold" nodeType="afterGroup">
                            <p:stCondLst>
                              <p:cond delay="1500"/>
                            </p:stCondLst>
                            <p:childTnLst>
                              <p:par>
                                <p:cTn id="73" presetID="9" presetClass="entr" presetSubtype="0" fill="hold" grpId="0" nodeType="afterEffect">
                                  <p:stCondLst>
                                    <p:cond delay="0"/>
                                  </p:stCondLst>
                                  <p:childTnLst>
                                    <p:set>
                                      <p:cBhvr>
                                        <p:cTn id="74" dur="1" fill="hold">
                                          <p:stCondLst>
                                            <p:cond delay="0"/>
                                          </p:stCondLst>
                                        </p:cTn>
                                        <p:tgtEl>
                                          <p:spTgt spid="20483"/>
                                        </p:tgtEl>
                                        <p:attrNameLst>
                                          <p:attrName>style.visibility</p:attrName>
                                        </p:attrNameLst>
                                      </p:cBhvr>
                                      <p:to>
                                        <p:strVal val="visible"/>
                                      </p:to>
                                    </p:set>
                                    <p:animEffect transition="in" filter="dissolve">
                                      <p:cBhvr>
                                        <p:cTn id="75" dur="500"/>
                                        <p:tgtEl>
                                          <p:spTgt spid="204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autoUpdateAnimBg="0"/>
      <p:bldP spid="20484" grpId="0" animBg="1" autoUpdateAnimBg="0"/>
      <p:bldP spid="20485" grpId="0" animBg="1" autoUpdateAnimBg="0"/>
      <p:bldP spid="20487" grpId="0"/>
      <p:bldP spid="20489" grpId="0" animBg="1" autoUpdateAnimBg="0"/>
      <p:bldP spid="20493" grpId="0"/>
      <p:bldP spid="20496" grpId="0" autoUpdateAnimBg="0"/>
      <p:bldP spid="20497" grpId="0" animBg="1" autoUpdateAnimBg="0"/>
      <p:bldP spid="20504" grpId="0"/>
      <p:bldP spid="2050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46" name="Text Box 42">
            <a:extLst>
              <a:ext uri="{FF2B5EF4-FFF2-40B4-BE49-F238E27FC236}">
                <a16:creationId xmlns:a16="http://schemas.microsoft.com/office/drawing/2014/main" id="{9F1AC87B-29E5-4E1C-983A-29845DDB07B9}"/>
              </a:ext>
            </a:extLst>
          </p:cNvPr>
          <p:cNvSpPr txBox="1">
            <a:spLocks noChangeArrowheads="1"/>
          </p:cNvSpPr>
          <p:nvPr/>
        </p:nvSpPr>
        <p:spPr bwMode="auto">
          <a:xfrm>
            <a:off x="285750" y="571500"/>
            <a:ext cx="5181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solidFill>
                  <a:srgbClr val="FFFF00"/>
                </a:solidFill>
                <a:latin typeface="楷体_GB2312" pitchFamily="49" charset="-122"/>
                <a:ea typeface="楷体_GB2312" pitchFamily="49" charset="-122"/>
              </a:rPr>
              <a:t>三、康普顿效应的理论解释</a:t>
            </a:r>
          </a:p>
        </p:txBody>
      </p:sp>
      <p:sp>
        <p:nvSpPr>
          <p:cNvPr id="149547" name="Oval 43">
            <a:extLst>
              <a:ext uri="{FF2B5EF4-FFF2-40B4-BE49-F238E27FC236}">
                <a16:creationId xmlns:a16="http://schemas.microsoft.com/office/drawing/2014/main" id="{60575795-8021-492D-AC2C-5F2577F0A4D6}"/>
              </a:ext>
            </a:extLst>
          </p:cNvPr>
          <p:cNvSpPr>
            <a:spLocks noChangeArrowheads="1"/>
          </p:cNvSpPr>
          <p:nvPr/>
        </p:nvSpPr>
        <p:spPr bwMode="auto">
          <a:xfrm>
            <a:off x="6615113" y="4760913"/>
            <a:ext cx="457200" cy="457200"/>
          </a:xfrm>
          <a:prstGeom prst="ellipse">
            <a:avLst/>
          </a:prstGeom>
          <a:gradFill rotWithShape="0">
            <a:gsLst>
              <a:gs pos="0">
                <a:srgbClr val="FF9900"/>
              </a:gs>
              <a:gs pos="100000">
                <a:srgbClr val="764700"/>
              </a:gs>
            </a:gsLst>
            <a:path path="shape">
              <a:fillToRect l="50000" t="50000" r="50000" b="50000"/>
            </a:path>
          </a:gradFill>
          <a:ln>
            <a:noFill/>
          </a:ln>
          <a:extLst>
            <a:ext uri="{91240B29-F687-4F45-9708-019B960494DF}">
              <a14:hiddenLine xmlns:a14="http://schemas.microsoft.com/office/drawing/2010/main" w="22225">
                <a:solidFill>
                  <a:srgbClr val="000000"/>
                </a:solidFill>
                <a:round/>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49548" name="Line 44">
            <a:extLst>
              <a:ext uri="{FF2B5EF4-FFF2-40B4-BE49-F238E27FC236}">
                <a16:creationId xmlns:a16="http://schemas.microsoft.com/office/drawing/2014/main" id="{CD72F4A2-CD95-4A6D-BA43-33E1C22683E6}"/>
              </a:ext>
            </a:extLst>
          </p:cNvPr>
          <p:cNvSpPr>
            <a:spLocks noChangeShapeType="1"/>
          </p:cNvSpPr>
          <p:nvPr/>
        </p:nvSpPr>
        <p:spPr bwMode="auto">
          <a:xfrm>
            <a:off x="5700713" y="4989513"/>
            <a:ext cx="2819400" cy="0"/>
          </a:xfrm>
          <a:prstGeom prst="line">
            <a:avLst/>
          </a:prstGeom>
          <a:noFill/>
          <a:ln w="22225">
            <a:solidFill>
              <a:srgbClr val="FFFFFF"/>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9550" name="Line 46">
            <a:extLst>
              <a:ext uri="{FF2B5EF4-FFF2-40B4-BE49-F238E27FC236}">
                <a16:creationId xmlns:a16="http://schemas.microsoft.com/office/drawing/2014/main" id="{B1CC5B89-CA57-41D0-9450-0818EF0BC632}"/>
              </a:ext>
            </a:extLst>
          </p:cNvPr>
          <p:cNvSpPr>
            <a:spLocks noChangeShapeType="1"/>
          </p:cNvSpPr>
          <p:nvPr/>
        </p:nvSpPr>
        <p:spPr bwMode="auto">
          <a:xfrm flipV="1">
            <a:off x="6843713" y="3571875"/>
            <a:ext cx="1514475" cy="1417638"/>
          </a:xfrm>
          <a:prstGeom prst="line">
            <a:avLst/>
          </a:prstGeom>
          <a:noFill/>
          <a:ln w="31750">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9551" name="Line 47">
            <a:extLst>
              <a:ext uri="{FF2B5EF4-FFF2-40B4-BE49-F238E27FC236}">
                <a16:creationId xmlns:a16="http://schemas.microsoft.com/office/drawing/2014/main" id="{9C112EAE-5F01-49A1-824F-228A08339FC8}"/>
              </a:ext>
            </a:extLst>
          </p:cNvPr>
          <p:cNvSpPr>
            <a:spLocks noChangeShapeType="1"/>
          </p:cNvSpPr>
          <p:nvPr/>
        </p:nvSpPr>
        <p:spPr bwMode="auto">
          <a:xfrm>
            <a:off x="6843713" y="4989513"/>
            <a:ext cx="1524000" cy="1143000"/>
          </a:xfrm>
          <a:prstGeom prst="line">
            <a:avLst/>
          </a:prstGeom>
          <a:noFill/>
          <a:ln w="22225">
            <a:solidFill>
              <a:srgbClr val="FF99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49552" name="Object 2">
            <a:extLst>
              <a:ext uri="{FF2B5EF4-FFF2-40B4-BE49-F238E27FC236}">
                <a16:creationId xmlns:a16="http://schemas.microsoft.com/office/drawing/2014/main" id="{89C1D428-E811-4FAE-9FBD-05117D4778B7}"/>
              </a:ext>
            </a:extLst>
          </p:cNvPr>
          <p:cNvGraphicFramePr>
            <a:graphicFrameLocks noChangeAspect="1"/>
          </p:cNvGraphicFramePr>
          <p:nvPr/>
        </p:nvGraphicFramePr>
        <p:xfrm>
          <a:off x="7473950" y="3429000"/>
          <a:ext cx="1312863" cy="503238"/>
        </p:xfrm>
        <a:graphic>
          <a:graphicData uri="http://schemas.openxmlformats.org/presentationml/2006/ole">
            <mc:AlternateContent xmlns:mc="http://schemas.openxmlformats.org/markup-compatibility/2006">
              <mc:Choice xmlns:v="urn:schemas-microsoft-com:vml" Requires="v">
                <p:oleObj spid="_x0000_s468024" name="Equation" r:id="rId3" imgW="571576" imgH="199923" progId="Equation.3">
                  <p:embed/>
                </p:oleObj>
              </mc:Choice>
              <mc:Fallback>
                <p:oleObj name="Equation" r:id="rId3" imgW="571576" imgH="199923" progId="Equation.3">
                  <p:embed/>
                  <p:pic>
                    <p:nvPicPr>
                      <p:cNvPr id="149552" name="Object 2">
                        <a:extLst>
                          <a:ext uri="{FF2B5EF4-FFF2-40B4-BE49-F238E27FC236}">
                            <a16:creationId xmlns:a16="http://schemas.microsoft.com/office/drawing/2014/main" id="{89C1D428-E811-4FAE-9FBD-05117D4778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73950" y="3429000"/>
                        <a:ext cx="1312863"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9553" name="Object 3">
            <a:extLst>
              <a:ext uri="{FF2B5EF4-FFF2-40B4-BE49-F238E27FC236}">
                <a16:creationId xmlns:a16="http://schemas.microsoft.com/office/drawing/2014/main" id="{EB9FD7F5-52B5-4D9F-B43E-125C27282CE4}"/>
              </a:ext>
            </a:extLst>
          </p:cNvPr>
          <p:cNvGraphicFramePr>
            <a:graphicFrameLocks noChangeAspect="1"/>
          </p:cNvGraphicFramePr>
          <p:nvPr/>
        </p:nvGraphicFramePr>
        <p:xfrm>
          <a:off x="6005513" y="4303713"/>
          <a:ext cx="390525" cy="503237"/>
        </p:xfrm>
        <a:graphic>
          <a:graphicData uri="http://schemas.openxmlformats.org/presentationml/2006/ole">
            <mc:AlternateContent xmlns:mc="http://schemas.openxmlformats.org/markup-compatibility/2006">
              <mc:Choice xmlns:v="urn:schemas-microsoft-com:vml" Requires="v">
                <p:oleObj spid="_x0000_s468025" name="Equation" r:id="rId5" imgW="152298" imgH="199923" progId="Equation.3">
                  <p:embed/>
                </p:oleObj>
              </mc:Choice>
              <mc:Fallback>
                <p:oleObj name="Equation" r:id="rId5" imgW="152298" imgH="199923" progId="Equation.3">
                  <p:embed/>
                  <p:pic>
                    <p:nvPicPr>
                      <p:cNvPr id="149553" name="Object 3">
                        <a:extLst>
                          <a:ext uri="{FF2B5EF4-FFF2-40B4-BE49-F238E27FC236}">
                            <a16:creationId xmlns:a16="http://schemas.microsoft.com/office/drawing/2014/main" id="{EB9FD7F5-52B5-4D9F-B43E-125C27282CE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05513" y="4303713"/>
                        <a:ext cx="390525"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9556" name="Object 6">
            <a:extLst>
              <a:ext uri="{FF2B5EF4-FFF2-40B4-BE49-F238E27FC236}">
                <a16:creationId xmlns:a16="http://schemas.microsoft.com/office/drawing/2014/main" id="{BEA35163-61AF-4736-AD61-E7954CBB1657}"/>
              </a:ext>
            </a:extLst>
          </p:cNvPr>
          <p:cNvGraphicFramePr>
            <a:graphicFrameLocks noChangeAspect="1"/>
          </p:cNvGraphicFramePr>
          <p:nvPr/>
        </p:nvGraphicFramePr>
        <p:xfrm>
          <a:off x="6554788" y="5143500"/>
          <a:ext cx="446087" cy="503238"/>
        </p:xfrm>
        <a:graphic>
          <a:graphicData uri="http://schemas.openxmlformats.org/presentationml/2006/ole">
            <mc:AlternateContent xmlns:mc="http://schemas.openxmlformats.org/markup-compatibility/2006">
              <mc:Choice xmlns:v="urn:schemas-microsoft-com:vml" Requires="v">
                <p:oleObj spid="_x0000_s468026" name="Equation" r:id="rId7" imgW="171565" imgH="199923" progId="Equation.3">
                  <p:embed/>
                </p:oleObj>
              </mc:Choice>
              <mc:Fallback>
                <p:oleObj name="Equation" r:id="rId7" imgW="171565" imgH="199923" progId="Equation.3">
                  <p:embed/>
                  <p:pic>
                    <p:nvPicPr>
                      <p:cNvPr id="149556" name="Object 6">
                        <a:extLst>
                          <a:ext uri="{FF2B5EF4-FFF2-40B4-BE49-F238E27FC236}">
                            <a16:creationId xmlns:a16="http://schemas.microsoft.com/office/drawing/2014/main" id="{BEA35163-61AF-4736-AD61-E7954CBB165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54788" y="5143500"/>
                        <a:ext cx="446087"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9557" name="Object 7">
            <a:extLst>
              <a:ext uri="{FF2B5EF4-FFF2-40B4-BE49-F238E27FC236}">
                <a16:creationId xmlns:a16="http://schemas.microsoft.com/office/drawing/2014/main" id="{6785FB96-0920-4A03-9922-F1F560CB2564}"/>
              </a:ext>
            </a:extLst>
          </p:cNvPr>
          <p:cNvGraphicFramePr>
            <a:graphicFrameLocks noChangeAspect="1"/>
          </p:cNvGraphicFramePr>
          <p:nvPr/>
        </p:nvGraphicFramePr>
        <p:xfrm>
          <a:off x="7215188" y="4572000"/>
          <a:ext cx="279400" cy="390525"/>
        </p:xfrm>
        <a:graphic>
          <a:graphicData uri="http://schemas.openxmlformats.org/presentationml/2006/ole">
            <mc:AlternateContent xmlns:mc="http://schemas.openxmlformats.org/markup-compatibility/2006">
              <mc:Choice xmlns:v="urn:schemas-microsoft-com:vml" Requires="v">
                <p:oleObj spid="_x0000_s468027" name="Equation" r:id="rId9" imgW="95110" imgH="152468" progId="Equation.3">
                  <p:embed/>
                </p:oleObj>
              </mc:Choice>
              <mc:Fallback>
                <p:oleObj name="Equation" r:id="rId9" imgW="95110" imgH="152468" progId="Equation.3">
                  <p:embed/>
                  <p:pic>
                    <p:nvPicPr>
                      <p:cNvPr id="149557" name="Object 7">
                        <a:extLst>
                          <a:ext uri="{FF2B5EF4-FFF2-40B4-BE49-F238E27FC236}">
                            <a16:creationId xmlns:a16="http://schemas.microsoft.com/office/drawing/2014/main" id="{6785FB96-0920-4A03-9922-F1F560CB256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215188" y="4572000"/>
                        <a:ext cx="2794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9558" name="Object 8">
            <a:extLst>
              <a:ext uri="{FF2B5EF4-FFF2-40B4-BE49-F238E27FC236}">
                <a16:creationId xmlns:a16="http://schemas.microsoft.com/office/drawing/2014/main" id="{6FA9229C-73FA-4555-AEF7-FAC4962FD421}"/>
              </a:ext>
            </a:extLst>
          </p:cNvPr>
          <p:cNvGraphicFramePr>
            <a:graphicFrameLocks noChangeAspect="1"/>
          </p:cNvGraphicFramePr>
          <p:nvPr/>
        </p:nvGraphicFramePr>
        <p:xfrm>
          <a:off x="7364413" y="4983163"/>
          <a:ext cx="279400" cy="446087"/>
        </p:xfrm>
        <a:graphic>
          <a:graphicData uri="http://schemas.openxmlformats.org/presentationml/2006/ole">
            <mc:AlternateContent xmlns:mc="http://schemas.openxmlformats.org/markup-compatibility/2006">
              <mc:Choice xmlns:v="urn:schemas-microsoft-com:vml" Requires="v">
                <p:oleObj spid="_x0000_s468028" name="Equation" r:id="rId11" imgW="95110" imgH="171450" progId="Equation.3">
                  <p:embed/>
                </p:oleObj>
              </mc:Choice>
              <mc:Fallback>
                <p:oleObj name="Equation" r:id="rId11" imgW="95110" imgH="171450" progId="Equation.3">
                  <p:embed/>
                  <p:pic>
                    <p:nvPicPr>
                      <p:cNvPr id="149558" name="Object 8">
                        <a:extLst>
                          <a:ext uri="{FF2B5EF4-FFF2-40B4-BE49-F238E27FC236}">
                            <a16:creationId xmlns:a16="http://schemas.microsoft.com/office/drawing/2014/main" id="{6FA9229C-73FA-4555-AEF7-FAC4962FD42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364413" y="4983163"/>
                        <a:ext cx="279400"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9559" name="Rectangle 55">
            <a:extLst>
              <a:ext uri="{FF2B5EF4-FFF2-40B4-BE49-F238E27FC236}">
                <a16:creationId xmlns:a16="http://schemas.microsoft.com/office/drawing/2014/main" id="{C7682301-54F2-4DDD-884F-DA466603D09F}"/>
              </a:ext>
            </a:extLst>
          </p:cNvPr>
          <p:cNvSpPr>
            <a:spLocks noChangeArrowheads="1"/>
          </p:cNvSpPr>
          <p:nvPr/>
        </p:nvSpPr>
        <p:spPr bwMode="auto">
          <a:xfrm>
            <a:off x="671513" y="1857375"/>
            <a:ext cx="1219200"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i="1">
                <a:solidFill>
                  <a:srgbClr val="FFFFFF"/>
                </a:solidFill>
                <a:ea typeface="楷体_GB2312" pitchFamily="49" charset="-122"/>
              </a:rPr>
              <a:t>X </a:t>
            </a:r>
            <a:r>
              <a:rPr lang="zh-CN" altLang="en-US">
                <a:solidFill>
                  <a:srgbClr val="FFFFFF"/>
                </a:solidFill>
                <a:ea typeface="楷体_GB2312" pitchFamily="49" charset="-122"/>
              </a:rPr>
              <a:t>射线的光子</a:t>
            </a:r>
          </a:p>
        </p:txBody>
      </p:sp>
      <p:sp>
        <p:nvSpPr>
          <p:cNvPr id="149560" name="AutoShape 56">
            <a:extLst>
              <a:ext uri="{FF2B5EF4-FFF2-40B4-BE49-F238E27FC236}">
                <a16:creationId xmlns:a16="http://schemas.microsoft.com/office/drawing/2014/main" id="{688587DA-FBA9-40E8-9BCE-7CC637924521}"/>
              </a:ext>
            </a:extLst>
          </p:cNvPr>
          <p:cNvSpPr>
            <a:spLocks noChangeArrowheads="1"/>
          </p:cNvSpPr>
          <p:nvPr/>
        </p:nvSpPr>
        <p:spPr bwMode="auto">
          <a:xfrm>
            <a:off x="1966913" y="2162175"/>
            <a:ext cx="1447800" cy="381000"/>
          </a:xfrm>
          <a:prstGeom prst="rightArrow">
            <a:avLst>
              <a:gd name="adj1" fmla="val 50000"/>
              <a:gd name="adj2" fmla="val 95000"/>
            </a:avLst>
          </a:prstGeom>
          <a:noFill/>
          <a:ln w="222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a:solidFill>
                <a:schemeClr val="bg1"/>
              </a:solidFill>
              <a:latin typeface="楷体_GB2312" pitchFamily="49" charset="-122"/>
              <a:ea typeface="楷体_GB2312" pitchFamily="49" charset="-122"/>
            </a:endParaRPr>
          </a:p>
        </p:txBody>
      </p:sp>
      <p:sp>
        <p:nvSpPr>
          <p:cNvPr id="149561" name="Rectangle 57">
            <a:extLst>
              <a:ext uri="{FF2B5EF4-FFF2-40B4-BE49-F238E27FC236}">
                <a16:creationId xmlns:a16="http://schemas.microsoft.com/office/drawing/2014/main" id="{9D59014B-9937-4F0C-9CE2-739AFEA1C303}"/>
              </a:ext>
            </a:extLst>
          </p:cNvPr>
          <p:cNvSpPr>
            <a:spLocks noChangeArrowheads="1"/>
          </p:cNvSpPr>
          <p:nvPr/>
        </p:nvSpPr>
        <p:spPr bwMode="auto">
          <a:xfrm>
            <a:off x="2119313" y="2820988"/>
            <a:ext cx="1143000" cy="822325"/>
          </a:xfrm>
          <a:prstGeom prst="rect">
            <a:avLst/>
          </a:prstGeom>
          <a:solidFill>
            <a:srgbClr val="FF6600"/>
          </a:solidFill>
          <a:ln>
            <a:noFill/>
          </a:ln>
          <a:extLs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000000"/>
                </a:solidFill>
                <a:latin typeface="楷体_GB2312" pitchFamily="49" charset="-122"/>
                <a:ea typeface="楷体_GB2312" pitchFamily="49" charset="-122"/>
              </a:rPr>
              <a:t>完全弹性碰撞</a:t>
            </a:r>
          </a:p>
        </p:txBody>
      </p:sp>
      <p:sp>
        <p:nvSpPr>
          <p:cNvPr id="149562" name="Rectangle 58">
            <a:extLst>
              <a:ext uri="{FF2B5EF4-FFF2-40B4-BE49-F238E27FC236}">
                <a16:creationId xmlns:a16="http://schemas.microsoft.com/office/drawing/2014/main" id="{61E6DEA1-255A-4CE3-8FDA-B8E5FC33AD0E}"/>
              </a:ext>
            </a:extLst>
          </p:cNvPr>
          <p:cNvSpPr>
            <a:spLocks noChangeArrowheads="1"/>
          </p:cNvSpPr>
          <p:nvPr/>
        </p:nvSpPr>
        <p:spPr bwMode="auto">
          <a:xfrm>
            <a:off x="3448141" y="1912149"/>
            <a:ext cx="1509712" cy="908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15000"/>
              </a:lnSpc>
            </a:pPr>
            <a:r>
              <a:rPr lang="zh-CN" altLang="en-US" dirty="0">
                <a:solidFill>
                  <a:srgbClr val="FFFF00"/>
                </a:solidFill>
                <a:latin typeface="楷体_GB2312" pitchFamily="49" charset="-122"/>
                <a:ea typeface="楷体_GB2312" pitchFamily="49" charset="-122"/>
              </a:rPr>
              <a:t>散射物中外层电子</a:t>
            </a:r>
          </a:p>
        </p:txBody>
      </p:sp>
      <p:sp>
        <p:nvSpPr>
          <p:cNvPr id="149563" name="AutoShape 59">
            <a:extLst>
              <a:ext uri="{FF2B5EF4-FFF2-40B4-BE49-F238E27FC236}">
                <a16:creationId xmlns:a16="http://schemas.microsoft.com/office/drawing/2014/main" id="{79A94AFB-98B1-4F05-8BB7-889AADF8B9A7}"/>
              </a:ext>
            </a:extLst>
          </p:cNvPr>
          <p:cNvSpPr>
            <a:spLocks noChangeArrowheads="1"/>
          </p:cNvSpPr>
          <p:nvPr/>
        </p:nvSpPr>
        <p:spPr bwMode="auto">
          <a:xfrm>
            <a:off x="928688" y="3000375"/>
            <a:ext cx="681037" cy="1119188"/>
          </a:xfrm>
          <a:prstGeom prst="downArrow">
            <a:avLst>
              <a:gd name="adj1" fmla="val 50000"/>
              <a:gd name="adj2" fmla="val 48076"/>
            </a:avLst>
          </a:prstGeom>
          <a:noFill/>
          <a:ln w="222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49564" name="Rectangle 60">
            <a:extLst>
              <a:ext uri="{FF2B5EF4-FFF2-40B4-BE49-F238E27FC236}">
                <a16:creationId xmlns:a16="http://schemas.microsoft.com/office/drawing/2014/main" id="{0EE28D2E-A79E-46FB-8E6F-0B81BCADD1AA}"/>
              </a:ext>
            </a:extLst>
          </p:cNvPr>
          <p:cNvSpPr>
            <a:spLocks noChangeArrowheads="1"/>
          </p:cNvSpPr>
          <p:nvPr/>
        </p:nvSpPr>
        <p:spPr bwMode="auto">
          <a:xfrm>
            <a:off x="5170490" y="1340715"/>
            <a:ext cx="3571875"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en-US" altLang="zh-CN" dirty="0">
                <a:solidFill>
                  <a:srgbClr val="FFFFFF"/>
                </a:solidFill>
                <a:latin typeface="楷体_GB2312" pitchFamily="49" charset="-122"/>
                <a:ea typeface="楷体_GB2312" pitchFamily="49" charset="-122"/>
              </a:rPr>
              <a:t>  </a:t>
            </a:r>
            <a:r>
              <a:rPr lang="zh-CN" altLang="en-US" dirty="0">
                <a:solidFill>
                  <a:srgbClr val="FFFFFF"/>
                </a:solidFill>
                <a:latin typeface="楷体_GB2312" pitchFamily="49" charset="-122"/>
                <a:ea typeface="楷体_GB2312" pitchFamily="49" charset="-122"/>
              </a:rPr>
              <a:t>轻原子的核外电子或重原子的外层电子</a:t>
            </a:r>
            <a:r>
              <a:rPr lang="en-US" altLang="zh-CN" dirty="0">
                <a:solidFill>
                  <a:srgbClr val="FFFFFF"/>
                </a:solidFill>
                <a:ea typeface="楷体_GB2312" pitchFamily="49" charset="-122"/>
              </a:rPr>
              <a:t>——</a:t>
            </a:r>
            <a:r>
              <a:rPr lang="zh-CN" altLang="en-US" dirty="0">
                <a:solidFill>
                  <a:srgbClr val="FFFF00"/>
                </a:solidFill>
                <a:latin typeface="楷体_GB2312" pitchFamily="49" charset="-122"/>
                <a:ea typeface="楷体_GB2312" pitchFamily="49" charset="-122"/>
              </a:rPr>
              <a:t>自由电子</a:t>
            </a:r>
            <a:r>
              <a:rPr lang="zh-CN" altLang="en-US" dirty="0">
                <a:solidFill>
                  <a:srgbClr val="FFFFFF"/>
                </a:solidFill>
                <a:latin typeface="楷体_GB2312" pitchFamily="49" charset="-122"/>
                <a:ea typeface="楷体_GB2312" pitchFamily="49" charset="-122"/>
              </a:rPr>
              <a:t>；且热运动能量 </a:t>
            </a:r>
            <a:r>
              <a:rPr lang="en-US" altLang="zh-CN" dirty="0">
                <a:solidFill>
                  <a:srgbClr val="FFFFFF"/>
                </a:solidFill>
                <a:ea typeface="楷体_GB2312" pitchFamily="49" charset="-122"/>
              </a:rPr>
              <a:t>&lt;&lt; </a:t>
            </a:r>
            <a:r>
              <a:rPr lang="zh-CN" altLang="en-US" dirty="0">
                <a:solidFill>
                  <a:srgbClr val="FFFFFF"/>
                </a:solidFill>
                <a:ea typeface="楷体_GB2312" pitchFamily="49" charset="-122"/>
              </a:rPr>
              <a:t>光子能量，电子是</a:t>
            </a:r>
            <a:r>
              <a:rPr lang="zh-CN" altLang="en-US" dirty="0">
                <a:solidFill>
                  <a:srgbClr val="FFFF00"/>
                </a:solidFill>
                <a:ea typeface="楷体_GB2312" pitchFamily="49" charset="-122"/>
              </a:rPr>
              <a:t>静止的</a:t>
            </a:r>
          </a:p>
        </p:txBody>
      </p:sp>
      <p:sp>
        <p:nvSpPr>
          <p:cNvPr id="149565" name="AutoShape 61">
            <a:extLst>
              <a:ext uri="{FF2B5EF4-FFF2-40B4-BE49-F238E27FC236}">
                <a16:creationId xmlns:a16="http://schemas.microsoft.com/office/drawing/2014/main" id="{7DBFD71C-EEEB-4E8C-8101-BD5E663180A0}"/>
              </a:ext>
            </a:extLst>
          </p:cNvPr>
          <p:cNvSpPr>
            <a:spLocks noChangeArrowheads="1"/>
          </p:cNvSpPr>
          <p:nvPr/>
        </p:nvSpPr>
        <p:spPr bwMode="auto">
          <a:xfrm>
            <a:off x="3795713" y="3000375"/>
            <a:ext cx="704850" cy="1190625"/>
          </a:xfrm>
          <a:prstGeom prst="downArrow">
            <a:avLst>
              <a:gd name="adj1" fmla="val 50000"/>
              <a:gd name="adj2" fmla="val 47587"/>
            </a:avLst>
          </a:prstGeom>
          <a:noFill/>
          <a:ln w="222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49566" name="Rectangle 62">
            <a:extLst>
              <a:ext uri="{FF2B5EF4-FFF2-40B4-BE49-F238E27FC236}">
                <a16:creationId xmlns:a16="http://schemas.microsoft.com/office/drawing/2014/main" id="{44BD3C3F-08B3-4034-B28B-3F0453B91818}"/>
              </a:ext>
            </a:extLst>
          </p:cNvPr>
          <p:cNvSpPr>
            <a:spLocks noChangeArrowheads="1"/>
          </p:cNvSpPr>
          <p:nvPr/>
        </p:nvSpPr>
        <p:spPr bwMode="auto">
          <a:xfrm>
            <a:off x="3405188" y="4175125"/>
            <a:ext cx="1524000"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dirty="0">
                <a:solidFill>
                  <a:srgbClr val="FFFFFF"/>
                </a:solidFill>
                <a:latin typeface="楷体_GB2312" pitchFamily="49" charset="-122"/>
                <a:ea typeface="楷体_GB2312" pitchFamily="49" charset="-122"/>
              </a:rPr>
              <a:t>电子获得反冲能量</a:t>
            </a:r>
          </a:p>
        </p:txBody>
      </p:sp>
      <p:sp>
        <p:nvSpPr>
          <p:cNvPr id="149567" name="Rectangle 63">
            <a:extLst>
              <a:ext uri="{FF2B5EF4-FFF2-40B4-BE49-F238E27FC236}">
                <a16:creationId xmlns:a16="http://schemas.microsoft.com/office/drawing/2014/main" id="{39CD0C54-80EA-44DF-83E5-4223A117A746}"/>
              </a:ext>
            </a:extLst>
          </p:cNvPr>
          <p:cNvSpPr>
            <a:spLocks noChangeArrowheads="1"/>
          </p:cNvSpPr>
          <p:nvPr/>
        </p:nvSpPr>
        <p:spPr bwMode="auto">
          <a:xfrm>
            <a:off x="595313" y="4175125"/>
            <a:ext cx="1828800"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dirty="0">
                <a:solidFill>
                  <a:schemeClr val="bg1"/>
                </a:solidFill>
                <a:latin typeface="楷体_GB2312" pitchFamily="49" charset="-122"/>
                <a:ea typeface="楷体_GB2312" pitchFamily="49" charset="-122"/>
              </a:rPr>
              <a:t>光子散射</a:t>
            </a:r>
          </a:p>
          <a:p>
            <a:pPr eaLnBrk="1" hangingPunct="1">
              <a:lnSpc>
                <a:spcPct val="120000"/>
              </a:lnSpc>
            </a:pPr>
            <a:r>
              <a:rPr lang="zh-CN" altLang="en-US" dirty="0">
                <a:solidFill>
                  <a:schemeClr val="bg1"/>
                </a:solidFill>
                <a:latin typeface="楷体_GB2312" pitchFamily="49" charset="-122"/>
                <a:ea typeface="楷体_GB2312" pitchFamily="49" charset="-122"/>
              </a:rPr>
              <a:t>损失能量</a:t>
            </a:r>
          </a:p>
        </p:txBody>
      </p:sp>
      <p:graphicFrame>
        <p:nvGraphicFramePr>
          <p:cNvPr id="149568" name="Object 9">
            <a:extLst>
              <a:ext uri="{FF2B5EF4-FFF2-40B4-BE49-F238E27FC236}">
                <a16:creationId xmlns:a16="http://schemas.microsoft.com/office/drawing/2014/main" id="{B60D8B5E-BB61-4443-8F14-0AC1CA84A420}"/>
              </a:ext>
            </a:extLst>
          </p:cNvPr>
          <p:cNvGraphicFramePr>
            <a:graphicFrameLocks noChangeAspect="1"/>
          </p:cNvGraphicFramePr>
          <p:nvPr/>
        </p:nvGraphicFramePr>
        <p:xfrm>
          <a:off x="614363" y="5143500"/>
          <a:ext cx="1479550" cy="503238"/>
        </p:xfrm>
        <a:graphic>
          <a:graphicData uri="http://schemas.openxmlformats.org/presentationml/2006/ole">
            <mc:AlternateContent xmlns:mc="http://schemas.openxmlformats.org/markup-compatibility/2006">
              <mc:Choice xmlns:v="urn:schemas-microsoft-com:vml" Requires="v">
                <p:oleObj spid="_x0000_s468029" name="Equation" r:id="rId13" imgW="647725" imgH="199923" progId="Equation.3">
                  <p:embed/>
                </p:oleObj>
              </mc:Choice>
              <mc:Fallback>
                <p:oleObj name="Equation" r:id="rId13" imgW="647725" imgH="199923" progId="Equation.3">
                  <p:embed/>
                  <p:pic>
                    <p:nvPicPr>
                      <p:cNvPr id="149568" name="Object 9">
                        <a:extLst>
                          <a:ext uri="{FF2B5EF4-FFF2-40B4-BE49-F238E27FC236}">
                            <a16:creationId xmlns:a16="http://schemas.microsoft.com/office/drawing/2014/main" id="{B60D8B5E-BB61-4443-8F14-0AC1CA84A420}"/>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14363" y="5143500"/>
                        <a:ext cx="147955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9569" name="Object 10">
            <a:extLst>
              <a:ext uri="{FF2B5EF4-FFF2-40B4-BE49-F238E27FC236}">
                <a16:creationId xmlns:a16="http://schemas.microsoft.com/office/drawing/2014/main" id="{36DB78A1-CCA0-4919-A148-C4BFB3534C3D}"/>
              </a:ext>
            </a:extLst>
          </p:cNvPr>
          <p:cNvGraphicFramePr>
            <a:graphicFrameLocks noChangeAspect="1"/>
          </p:cNvGraphicFramePr>
          <p:nvPr/>
        </p:nvGraphicFramePr>
        <p:xfrm>
          <a:off x="671513" y="5786438"/>
          <a:ext cx="1423987" cy="446087"/>
        </p:xfrm>
        <a:graphic>
          <a:graphicData uri="http://schemas.openxmlformats.org/presentationml/2006/ole">
            <mc:AlternateContent xmlns:mc="http://schemas.openxmlformats.org/markup-compatibility/2006">
              <mc:Choice xmlns:v="urn:schemas-microsoft-com:vml" Requires="v">
                <p:oleObj spid="_x0000_s468030" name="Equation" r:id="rId15" imgW="618978" imgH="171450" progId="Equation.3">
                  <p:embed/>
                </p:oleObj>
              </mc:Choice>
              <mc:Fallback>
                <p:oleObj name="Equation" r:id="rId15" imgW="618978" imgH="171450" progId="Equation.3">
                  <p:embed/>
                  <p:pic>
                    <p:nvPicPr>
                      <p:cNvPr id="149569" name="Object 10">
                        <a:extLst>
                          <a:ext uri="{FF2B5EF4-FFF2-40B4-BE49-F238E27FC236}">
                            <a16:creationId xmlns:a16="http://schemas.microsoft.com/office/drawing/2014/main" id="{36DB78A1-CCA0-4919-A148-C4BFB3534C3D}"/>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71513" y="5786438"/>
                        <a:ext cx="1423987"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9570" name="Object 11">
            <a:extLst>
              <a:ext uri="{FF2B5EF4-FFF2-40B4-BE49-F238E27FC236}">
                <a16:creationId xmlns:a16="http://schemas.microsoft.com/office/drawing/2014/main" id="{24DDE551-CE3F-4450-823B-8DB412089E9E}"/>
              </a:ext>
            </a:extLst>
          </p:cNvPr>
          <p:cNvGraphicFramePr>
            <a:graphicFrameLocks noChangeAspect="1"/>
          </p:cNvGraphicFramePr>
          <p:nvPr/>
        </p:nvGraphicFramePr>
        <p:xfrm>
          <a:off x="8215313" y="5599113"/>
          <a:ext cx="279400" cy="390525"/>
        </p:xfrm>
        <a:graphic>
          <a:graphicData uri="http://schemas.openxmlformats.org/presentationml/2006/ole">
            <mc:AlternateContent xmlns:mc="http://schemas.openxmlformats.org/markup-compatibility/2006">
              <mc:Choice xmlns:v="urn:schemas-microsoft-com:vml" Requires="v">
                <p:oleObj spid="_x0000_s468031" name="Equation" r:id="rId17" imgW="95110" imgH="152468" progId="Equation.3">
                  <p:embed/>
                </p:oleObj>
              </mc:Choice>
              <mc:Fallback>
                <p:oleObj name="Equation" r:id="rId17" imgW="95110" imgH="152468" progId="Equation.3">
                  <p:embed/>
                  <p:pic>
                    <p:nvPicPr>
                      <p:cNvPr id="149570" name="Object 11">
                        <a:extLst>
                          <a:ext uri="{FF2B5EF4-FFF2-40B4-BE49-F238E27FC236}">
                            <a16:creationId xmlns:a16="http://schemas.microsoft.com/office/drawing/2014/main" id="{24DDE551-CE3F-4450-823B-8DB412089E9E}"/>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215313" y="5599113"/>
                        <a:ext cx="2794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9571" name="Rectangle 67">
            <a:extLst>
              <a:ext uri="{FF2B5EF4-FFF2-40B4-BE49-F238E27FC236}">
                <a16:creationId xmlns:a16="http://schemas.microsoft.com/office/drawing/2014/main" id="{4509AB75-35C9-48C5-AE60-FF851DD83CBA}"/>
              </a:ext>
            </a:extLst>
          </p:cNvPr>
          <p:cNvSpPr>
            <a:spLocks noChangeArrowheads="1"/>
          </p:cNvSpPr>
          <p:nvPr/>
        </p:nvSpPr>
        <p:spPr bwMode="auto">
          <a:xfrm>
            <a:off x="595313" y="1257300"/>
            <a:ext cx="33734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00FFFF"/>
                </a:solidFill>
                <a:ea typeface="楷体_GB2312" pitchFamily="49" charset="-122"/>
              </a:rPr>
              <a:t>1. </a:t>
            </a:r>
            <a:r>
              <a:rPr lang="zh-CN" altLang="en-US">
                <a:solidFill>
                  <a:srgbClr val="00FFFF"/>
                </a:solidFill>
                <a:ea typeface="楷体_GB2312" pitchFamily="49" charset="-122"/>
              </a:rPr>
              <a:t>定性解释：</a:t>
            </a:r>
          </a:p>
        </p:txBody>
      </p:sp>
      <p:graphicFrame>
        <p:nvGraphicFramePr>
          <p:cNvPr id="149572" name="Object 12">
            <a:extLst>
              <a:ext uri="{FF2B5EF4-FFF2-40B4-BE49-F238E27FC236}">
                <a16:creationId xmlns:a16="http://schemas.microsoft.com/office/drawing/2014/main" id="{21592F4D-3D42-4A4C-9636-4C422277AFDE}"/>
              </a:ext>
            </a:extLst>
          </p:cNvPr>
          <p:cNvGraphicFramePr>
            <a:graphicFrameLocks noChangeAspect="1"/>
          </p:cNvGraphicFramePr>
          <p:nvPr/>
        </p:nvGraphicFramePr>
        <p:xfrm>
          <a:off x="3143250" y="5143500"/>
          <a:ext cx="1982788" cy="503238"/>
        </p:xfrm>
        <a:graphic>
          <a:graphicData uri="http://schemas.openxmlformats.org/presentationml/2006/ole">
            <mc:AlternateContent xmlns:mc="http://schemas.openxmlformats.org/markup-compatibility/2006">
              <mc:Choice xmlns:v="urn:schemas-microsoft-com:vml" Requires="v">
                <p:oleObj spid="_x0000_s468032" name="Equation" r:id="rId19" imgW="876173" imgH="199923" progId="Equation.3">
                  <p:embed/>
                </p:oleObj>
              </mc:Choice>
              <mc:Fallback>
                <p:oleObj name="Equation" r:id="rId19" imgW="876173" imgH="199923" progId="Equation.3">
                  <p:embed/>
                  <p:pic>
                    <p:nvPicPr>
                      <p:cNvPr id="149572" name="Object 12">
                        <a:extLst>
                          <a:ext uri="{FF2B5EF4-FFF2-40B4-BE49-F238E27FC236}">
                            <a16:creationId xmlns:a16="http://schemas.microsoft.com/office/drawing/2014/main" id="{21592F4D-3D42-4A4C-9636-4C422277AFDE}"/>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143250" y="5143500"/>
                        <a:ext cx="198278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69">
            <a:extLst>
              <a:ext uri="{FF2B5EF4-FFF2-40B4-BE49-F238E27FC236}">
                <a16:creationId xmlns:a16="http://schemas.microsoft.com/office/drawing/2014/main" id="{7AB69480-0304-46C8-880B-4DE4F375DC0B}"/>
              </a:ext>
            </a:extLst>
          </p:cNvPr>
          <p:cNvGrpSpPr>
            <a:grpSpLocks/>
          </p:cNvGrpSpPr>
          <p:nvPr/>
        </p:nvGrpSpPr>
        <p:grpSpPr bwMode="auto">
          <a:xfrm>
            <a:off x="5624513" y="4837113"/>
            <a:ext cx="839787" cy="304800"/>
            <a:chOff x="5039" y="2352"/>
            <a:chExt cx="529" cy="192"/>
          </a:xfrm>
        </p:grpSpPr>
        <p:sp>
          <p:nvSpPr>
            <p:cNvPr id="17439" name="Freeform 70">
              <a:extLst>
                <a:ext uri="{FF2B5EF4-FFF2-40B4-BE49-F238E27FC236}">
                  <a16:creationId xmlns:a16="http://schemas.microsoft.com/office/drawing/2014/main" id="{5208FF4E-EFF8-49A8-B1CE-5ADC8A860C2E}"/>
                </a:ext>
              </a:extLst>
            </p:cNvPr>
            <p:cNvSpPr>
              <a:spLocks/>
            </p:cNvSpPr>
            <p:nvPr/>
          </p:nvSpPr>
          <p:spPr bwMode="auto">
            <a:xfrm rot="10773799">
              <a:off x="5039" y="2352"/>
              <a:ext cx="384" cy="192"/>
            </a:xfrm>
            <a:custGeom>
              <a:avLst/>
              <a:gdLst>
                <a:gd name="T0" fmla="*/ 0 w 2544"/>
                <a:gd name="T1" fmla="*/ 0 h 880"/>
                <a:gd name="T2" fmla="*/ 0 w 2544"/>
                <a:gd name="T3" fmla="*/ 0 h 880"/>
                <a:gd name="T4" fmla="*/ 0 w 2544"/>
                <a:gd name="T5" fmla="*/ 0 h 880"/>
                <a:gd name="T6" fmla="*/ 0 w 2544"/>
                <a:gd name="T7" fmla="*/ 0 h 880"/>
                <a:gd name="T8" fmla="*/ 0 w 2544"/>
                <a:gd name="T9" fmla="*/ 0 h 880"/>
                <a:gd name="T10" fmla="*/ 0 w 2544"/>
                <a:gd name="T11" fmla="*/ 0 h 880"/>
                <a:gd name="T12" fmla="*/ 0 w 2544"/>
                <a:gd name="T13" fmla="*/ 0 h 880"/>
                <a:gd name="T14" fmla="*/ 0 w 2544"/>
                <a:gd name="T15" fmla="*/ 0 h 880"/>
                <a:gd name="T16" fmla="*/ 0 w 2544"/>
                <a:gd name="T17" fmla="*/ 0 h 880"/>
                <a:gd name="T18" fmla="*/ 0 w 2544"/>
                <a:gd name="T19" fmla="*/ 0 h 8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44"/>
                <a:gd name="T31" fmla="*/ 0 h 880"/>
                <a:gd name="T32" fmla="*/ 2544 w 2544"/>
                <a:gd name="T33" fmla="*/ 880 h 88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44" h="880">
                  <a:moveTo>
                    <a:pt x="2544" y="816"/>
                  </a:moveTo>
                  <a:cubicBezTo>
                    <a:pt x="2468" y="432"/>
                    <a:pt x="2392" y="48"/>
                    <a:pt x="2304" y="48"/>
                  </a:cubicBezTo>
                  <a:cubicBezTo>
                    <a:pt x="2216" y="48"/>
                    <a:pt x="2120" y="816"/>
                    <a:pt x="2016" y="816"/>
                  </a:cubicBezTo>
                  <a:cubicBezTo>
                    <a:pt x="1912" y="816"/>
                    <a:pt x="1792" y="48"/>
                    <a:pt x="1680" y="48"/>
                  </a:cubicBezTo>
                  <a:cubicBezTo>
                    <a:pt x="1568" y="48"/>
                    <a:pt x="1440" y="816"/>
                    <a:pt x="1344" y="816"/>
                  </a:cubicBezTo>
                  <a:cubicBezTo>
                    <a:pt x="1248" y="816"/>
                    <a:pt x="1192" y="48"/>
                    <a:pt x="1104" y="48"/>
                  </a:cubicBezTo>
                  <a:cubicBezTo>
                    <a:pt x="1016" y="48"/>
                    <a:pt x="912" y="824"/>
                    <a:pt x="816" y="816"/>
                  </a:cubicBezTo>
                  <a:cubicBezTo>
                    <a:pt x="720" y="808"/>
                    <a:pt x="632" y="0"/>
                    <a:pt x="528" y="0"/>
                  </a:cubicBezTo>
                  <a:cubicBezTo>
                    <a:pt x="424" y="0"/>
                    <a:pt x="280" y="752"/>
                    <a:pt x="192" y="816"/>
                  </a:cubicBezTo>
                  <a:cubicBezTo>
                    <a:pt x="104" y="880"/>
                    <a:pt x="32" y="456"/>
                    <a:pt x="0" y="384"/>
                  </a:cubicBezTo>
                </a:path>
              </a:pathLst>
            </a:custGeom>
            <a:noFill/>
            <a:ln w="38100">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440" name="Line 71">
              <a:extLst>
                <a:ext uri="{FF2B5EF4-FFF2-40B4-BE49-F238E27FC236}">
                  <a16:creationId xmlns:a16="http://schemas.microsoft.com/office/drawing/2014/main" id="{FB347E9B-22C9-4BD9-889A-0070CB61138D}"/>
                </a:ext>
              </a:extLst>
            </p:cNvPr>
            <p:cNvSpPr>
              <a:spLocks noChangeShapeType="1"/>
            </p:cNvSpPr>
            <p:nvPr/>
          </p:nvSpPr>
          <p:spPr bwMode="auto">
            <a:xfrm>
              <a:off x="5424" y="2448"/>
              <a:ext cx="144" cy="0"/>
            </a:xfrm>
            <a:prstGeom prst="line">
              <a:avLst/>
            </a:prstGeom>
            <a:noFill/>
            <a:ln w="28575">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72">
            <a:extLst>
              <a:ext uri="{FF2B5EF4-FFF2-40B4-BE49-F238E27FC236}">
                <a16:creationId xmlns:a16="http://schemas.microsoft.com/office/drawing/2014/main" id="{9F6BE0E4-82F4-4F75-B371-8AA7F0A03CDE}"/>
              </a:ext>
            </a:extLst>
          </p:cNvPr>
          <p:cNvGrpSpPr>
            <a:grpSpLocks/>
          </p:cNvGrpSpPr>
          <p:nvPr/>
        </p:nvGrpSpPr>
        <p:grpSpPr bwMode="auto">
          <a:xfrm rot="-2425182">
            <a:off x="7224713" y="4075113"/>
            <a:ext cx="839787" cy="304800"/>
            <a:chOff x="5039" y="2352"/>
            <a:chExt cx="529" cy="192"/>
          </a:xfrm>
        </p:grpSpPr>
        <p:sp>
          <p:nvSpPr>
            <p:cNvPr id="17437" name="Freeform 73">
              <a:extLst>
                <a:ext uri="{FF2B5EF4-FFF2-40B4-BE49-F238E27FC236}">
                  <a16:creationId xmlns:a16="http://schemas.microsoft.com/office/drawing/2014/main" id="{AC51E7F1-A8A1-49AD-9413-111F4F7D27DD}"/>
                </a:ext>
              </a:extLst>
            </p:cNvPr>
            <p:cNvSpPr>
              <a:spLocks/>
            </p:cNvSpPr>
            <p:nvPr/>
          </p:nvSpPr>
          <p:spPr bwMode="auto">
            <a:xfrm rot="10773799">
              <a:off x="5039" y="2352"/>
              <a:ext cx="384" cy="192"/>
            </a:xfrm>
            <a:custGeom>
              <a:avLst/>
              <a:gdLst>
                <a:gd name="T0" fmla="*/ 0 w 2544"/>
                <a:gd name="T1" fmla="*/ 0 h 880"/>
                <a:gd name="T2" fmla="*/ 0 w 2544"/>
                <a:gd name="T3" fmla="*/ 0 h 880"/>
                <a:gd name="T4" fmla="*/ 0 w 2544"/>
                <a:gd name="T5" fmla="*/ 0 h 880"/>
                <a:gd name="T6" fmla="*/ 0 w 2544"/>
                <a:gd name="T7" fmla="*/ 0 h 880"/>
                <a:gd name="T8" fmla="*/ 0 w 2544"/>
                <a:gd name="T9" fmla="*/ 0 h 880"/>
                <a:gd name="T10" fmla="*/ 0 w 2544"/>
                <a:gd name="T11" fmla="*/ 0 h 880"/>
                <a:gd name="T12" fmla="*/ 0 w 2544"/>
                <a:gd name="T13" fmla="*/ 0 h 880"/>
                <a:gd name="T14" fmla="*/ 0 w 2544"/>
                <a:gd name="T15" fmla="*/ 0 h 880"/>
                <a:gd name="T16" fmla="*/ 0 w 2544"/>
                <a:gd name="T17" fmla="*/ 0 h 880"/>
                <a:gd name="T18" fmla="*/ 0 w 2544"/>
                <a:gd name="T19" fmla="*/ 0 h 8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44"/>
                <a:gd name="T31" fmla="*/ 0 h 880"/>
                <a:gd name="T32" fmla="*/ 2544 w 2544"/>
                <a:gd name="T33" fmla="*/ 880 h 88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44" h="880">
                  <a:moveTo>
                    <a:pt x="2544" y="816"/>
                  </a:moveTo>
                  <a:cubicBezTo>
                    <a:pt x="2468" y="432"/>
                    <a:pt x="2392" y="48"/>
                    <a:pt x="2304" y="48"/>
                  </a:cubicBezTo>
                  <a:cubicBezTo>
                    <a:pt x="2216" y="48"/>
                    <a:pt x="2120" y="816"/>
                    <a:pt x="2016" y="816"/>
                  </a:cubicBezTo>
                  <a:cubicBezTo>
                    <a:pt x="1912" y="816"/>
                    <a:pt x="1792" y="48"/>
                    <a:pt x="1680" y="48"/>
                  </a:cubicBezTo>
                  <a:cubicBezTo>
                    <a:pt x="1568" y="48"/>
                    <a:pt x="1440" y="816"/>
                    <a:pt x="1344" y="816"/>
                  </a:cubicBezTo>
                  <a:cubicBezTo>
                    <a:pt x="1248" y="816"/>
                    <a:pt x="1192" y="48"/>
                    <a:pt x="1104" y="48"/>
                  </a:cubicBezTo>
                  <a:cubicBezTo>
                    <a:pt x="1016" y="48"/>
                    <a:pt x="912" y="824"/>
                    <a:pt x="816" y="816"/>
                  </a:cubicBezTo>
                  <a:cubicBezTo>
                    <a:pt x="720" y="808"/>
                    <a:pt x="632" y="0"/>
                    <a:pt x="528" y="0"/>
                  </a:cubicBezTo>
                  <a:cubicBezTo>
                    <a:pt x="424" y="0"/>
                    <a:pt x="280" y="752"/>
                    <a:pt x="192" y="816"/>
                  </a:cubicBezTo>
                  <a:cubicBezTo>
                    <a:pt x="104" y="880"/>
                    <a:pt x="32" y="456"/>
                    <a:pt x="0" y="384"/>
                  </a:cubicBezTo>
                </a:path>
              </a:pathLst>
            </a:custGeom>
            <a:noFill/>
            <a:ln w="38100">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438" name="Line 74">
              <a:extLst>
                <a:ext uri="{FF2B5EF4-FFF2-40B4-BE49-F238E27FC236}">
                  <a16:creationId xmlns:a16="http://schemas.microsoft.com/office/drawing/2014/main" id="{0BA63BF6-EDB6-4535-B0B5-1239D8062A8B}"/>
                </a:ext>
              </a:extLst>
            </p:cNvPr>
            <p:cNvSpPr>
              <a:spLocks noChangeShapeType="1"/>
            </p:cNvSpPr>
            <p:nvPr/>
          </p:nvSpPr>
          <p:spPr bwMode="auto">
            <a:xfrm>
              <a:off x="5424" y="2448"/>
              <a:ext cx="144" cy="0"/>
            </a:xfrm>
            <a:prstGeom prst="line">
              <a:avLst/>
            </a:prstGeom>
            <a:noFill/>
            <a:ln w="28575">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7436" name="灯片编号占位符 1">
            <a:extLst>
              <a:ext uri="{FF2B5EF4-FFF2-40B4-BE49-F238E27FC236}">
                <a16:creationId xmlns:a16="http://schemas.microsoft.com/office/drawing/2014/main" id="{F44B4F4B-799B-47D1-9530-37393FFAF59D}"/>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37BD4D2A-3A4F-479C-8D1C-31F4171E376E}" type="slidenum">
              <a:rPr lang="en-US" altLang="zh-CN" b="0">
                <a:solidFill>
                  <a:srgbClr val="FF00FF"/>
                </a:solidFill>
              </a:rPr>
              <a:pPr eaLnBrk="1" hangingPunct="1"/>
              <a:t>11</a:t>
            </a:fld>
            <a:r>
              <a:rPr lang="en-US" altLang="zh-CN" b="0">
                <a:solidFill>
                  <a:srgbClr val="FF00FF"/>
                </a:solidFill>
              </a:rPr>
              <a:t>/22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49546"/>
                                        </p:tgtEl>
                                        <p:attrNameLst>
                                          <p:attrName>style.visibility</p:attrName>
                                        </p:attrNameLst>
                                      </p:cBhvr>
                                      <p:to>
                                        <p:strVal val="visible"/>
                                      </p:to>
                                    </p:set>
                                    <p:animEffect transition="in" filter="blinds(horizontal)">
                                      <p:cBhvr>
                                        <p:cTn id="7" dur="500"/>
                                        <p:tgtEl>
                                          <p:spTgt spid="149546"/>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49571"/>
                                        </p:tgtEl>
                                        <p:attrNameLst>
                                          <p:attrName>style.visibility</p:attrName>
                                        </p:attrNameLst>
                                      </p:cBhvr>
                                      <p:to>
                                        <p:strVal val="visible"/>
                                      </p:to>
                                    </p:set>
                                    <p:animEffect transition="in" filter="blinds(horizontal)">
                                      <p:cBhvr>
                                        <p:cTn id="11" dur="500"/>
                                        <p:tgtEl>
                                          <p:spTgt spid="14957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49547"/>
                                        </p:tgtEl>
                                        <p:attrNameLst>
                                          <p:attrName>style.visibility</p:attrName>
                                        </p:attrNameLst>
                                      </p:cBhvr>
                                      <p:to>
                                        <p:strVal val="visible"/>
                                      </p:to>
                                    </p:set>
                                    <p:animEffect transition="in" filter="dissolve">
                                      <p:cBhvr>
                                        <p:cTn id="16" dur="500"/>
                                        <p:tgtEl>
                                          <p:spTgt spid="149547"/>
                                        </p:tgtEl>
                                      </p:cBhvr>
                                    </p:animEffect>
                                  </p:childTnLst>
                                </p:cTn>
                              </p:par>
                              <p:par>
                                <p:cTn id="17" presetID="9" presetClass="entr" presetSubtype="0" fill="hold" nodeType="withEffect">
                                  <p:stCondLst>
                                    <p:cond delay="0"/>
                                  </p:stCondLst>
                                  <p:childTnLst>
                                    <p:set>
                                      <p:cBhvr>
                                        <p:cTn id="18" dur="1" fill="hold">
                                          <p:stCondLst>
                                            <p:cond delay="0"/>
                                          </p:stCondLst>
                                        </p:cTn>
                                        <p:tgtEl>
                                          <p:spTgt spid="149556"/>
                                        </p:tgtEl>
                                        <p:attrNameLst>
                                          <p:attrName>style.visibility</p:attrName>
                                        </p:attrNameLst>
                                      </p:cBhvr>
                                      <p:to>
                                        <p:strVal val="visible"/>
                                      </p:to>
                                    </p:set>
                                    <p:animEffect transition="in" filter="dissolve">
                                      <p:cBhvr>
                                        <p:cTn id="19" dur="500"/>
                                        <p:tgtEl>
                                          <p:spTgt spid="149556"/>
                                        </p:tgtEl>
                                      </p:cBhvr>
                                    </p:animEffect>
                                  </p:childTnLst>
                                </p:cTn>
                              </p:par>
                            </p:childTnLst>
                          </p:cTn>
                        </p:par>
                        <p:par>
                          <p:cTn id="20" fill="hold" nodeType="afterGroup">
                            <p:stCondLst>
                              <p:cond delay="500"/>
                            </p:stCondLst>
                            <p:childTnLst>
                              <p:par>
                                <p:cTn id="21" presetID="3" presetClass="entr" presetSubtype="10" fill="hold" grpId="0" nodeType="afterEffect">
                                  <p:stCondLst>
                                    <p:cond delay="0"/>
                                  </p:stCondLst>
                                  <p:childTnLst>
                                    <p:set>
                                      <p:cBhvr>
                                        <p:cTn id="22" dur="1" fill="hold">
                                          <p:stCondLst>
                                            <p:cond delay="0"/>
                                          </p:stCondLst>
                                        </p:cTn>
                                        <p:tgtEl>
                                          <p:spTgt spid="149564"/>
                                        </p:tgtEl>
                                        <p:attrNameLst>
                                          <p:attrName>style.visibility</p:attrName>
                                        </p:attrNameLst>
                                      </p:cBhvr>
                                      <p:to>
                                        <p:strVal val="visible"/>
                                      </p:to>
                                    </p:set>
                                    <p:animEffect transition="in" filter="blinds(horizontal)">
                                      <p:cBhvr>
                                        <p:cTn id="23" dur="500"/>
                                        <p:tgtEl>
                                          <p:spTgt spid="14956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left)">
                                      <p:cBhvr>
                                        <p:cTn id="28" dur="500"/>
                                        <p:tgtEl>
                                          <p:spTgt spid="2"/>
                                        </p:tgtEl>
                                      </p:cBhvr>
                                    </p:animEffect>
                                  </p:childTnLst>
                                </p:cTn>
                              </p:par>
                              <p:par>
                                <p:cTn id="29" presetID="22" presetClass="entr" presetSubtype="8" fill="hold" nodeType="withEffect">
                                  <p:stCondLst>
                                    <p:cond delay="0"/>
                                  </p:stCondLst>
                                  <p:childTnLst>
                                    <p:set>
                                      <p:cBhvr>
                                        <p:cTn id="30" dur="1" fill="hold">
                                          <p:stCondLst>
                                            <p:cond delay="0"/>
                                          </p:stCondLst>
                                        </p:cTn>
                                        <p:tgtEl>
                                          <p:spTgt spid="149548"/>
                                        </p:tgtEl>
                                        <p:attrNameLst>
                                          <p:attrName>style.visibility</p:attrName>
                                        </p:attrNameLst>
                                      </p:cBhvr>
                                      <p:to>
                                        <p:strVal val="visible"/>
                                      </p:to>
                                    </p:set>
                                    <p:animEffect transition="in" filter="wipe(left)">
                                      <p:cBhvr>
                                        <p:cTn id="31" dur="500"/>
                                        <p:tgtEl>
                                          <p:spTgt spid="149548"/>
                                        </p:tgtEl>
                                      </p:cBhvr>
                                    </p:animEffect>
                                  </p:childTnLst>
                                </p:cTn>
                              </p:par>
                            </p:childTnLst>
                          </p:cTn>
                        </p:par>
                        <p:par>
                          <p:cTn id="32" fill="hold" nodeType="afterGroup">
                            <p:stCondLst>
                              <p:cond delay="500"/>
                            </p:stCondLst>
                            <p:childTnLst>
                              <p:par>
                                <p:cTn id="33" presetID="9" presetClass="entr" presetSubtype="0" fill="hold" nodeType="afterEffect">
                                  <p:stCondLst>
                                    <p:cond delay="0"/>
                                  </p:stCondLst>
                                  <p:childTnLst>
                                    <p:set>
                                      <p:cBhvr>
                                        <p:cTn id="34" dur="1" fill="hold">
                                          <p:stCondLst>
                                            <p:cond delay="0"/>
                                          </p:stCondLst>
                                        </p:cTn>
                                        <p:tgtEl>
                                          <p:spTgt spid="149553"/>
                                        </p:tgtEl>
                                        <p:attrNameLst>
                                          <p:attrName>style.visibility</p:attrName>
                                        </p:attrNameLst>
                                      </p:cBhvr>
                                      <p:to>
                                        <p:strVal val="visible"/>
                                      </p:to>
                                    </p:set>
                                    <p:animEffect transition="in" filter="dissolve">
                                      <p:cBhvr>
                                        <p:cTn id="35" dur="500"/>
                                        <p:tgtEl>
                                          <p:spTgt spid="14955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149550"/>
                                        </p:tgtEl>
                                        <p:attrNameLst>
                                          <p:attrName>style.visibility</p:attrName>
                                        </p:attrNameLst>
                                      </p:cBhvr>
                                      <p:to>
                                        <p:strVal val="visible"/>
                                      </p:to>
                                    </p:set>
                                    <p:animEffect transition="in" filter="wipe(left)">
                                      <p:cBhvr>
                                        <p:cTn id="40" dur="500"/>
                                        <p:tgtEl>
                                          <p:spTgt spid="149550"/>
                                        </p:tgtEl>
                                      </p:cBhvr>
                                    </p:animEffect>
                                  </p:childTnLst>
                                </p:cTn>
                              </p:par>
                            </p:childTnLst>
                          </p:cTn>
                        </p:par>
                        <p:par>
                          <p:cTn id="41" fill="hold" nodeType="afterGroup">
                            <p:stCondLst>
                              <p:cond delay="500"/>
                            </p:stCondLst>
                            <p:childTnLst>
                              <p:par>
                                <p:cTn id="42" presetID="12" presetClass="entr" presetSubtype="4" fill="hold" nodeType="afterEffect">
                                  <p:stCondLst>
                                    <p:cond delay="0"/>
                                  </p:stCondLst>
                                  <p:childTnLst>
                                    <p:set>
                                      <p:cBhvr>
                                        <p:cTn id="43" dur="1" fill="hold">
                                          <p:stCondLst>
                                            <p:cond delay="0"/>
                                          </p:stCondLst>
                                        </p:cTn>
                                        <p:tgtEl>
                                          <p:spTgt spid="149557"/>
                                        </p:tgtEl>
                                        <p:attrNameLst>
                                          <p:attrName>style.visibility</p:attrName>
                                        </p:attrNameLst>
                                      </p:cBhvr>
                                      <p:to>
                                        <p:strVal val="visible"/>
                                      </p:to>
                                    </p:set>
                                    <p:animEffect transition="in" filter="slide(fromBottom)">
                                      <p:cBhvr>
                                        <p:cTn id="44" dur="500"/>
                                        <p:tgtEl>
                                          <p:spTgt spid="149557"/>
                                        </p:tgtEl>
                                      </p:cBhvr>
                                    </p:animEffect>
                                  </p:childTnLst>
                                </p:cTn>
                              </p:par>
                            </p:childTnLst>
                          </p:cTn>
                        </p:par>
                        <p:par>
                          <p:cTn id="45" fill="hold" nodeType="afterGroup">
                            <p:stCondLst>
                              <p:cond delay="1000"/>
                            </p:stCondLst>
                            <p:childTnLst>
                              <p:par>
                                <p:cTn id="46" presetID="22" presetClass="entr" presetSubtype="8" fill="hold" nodeType="afterEffect">
                                  <p:stCondLst>
                                    <p:cond delay="0"/>
                                  </p:stCondLst>
                                  <p:childTnLst>
                                    <p:set>
                                      <p:cBhvr>
                                        <p:cTn id="47" dur="1" fill="hold">
                                          <p:stCondLst>
                                            <p:cond delay="0"/>
                                          </p:stCondLst>
                                        </p:cTn>
                                        <p:tgtEl>
                                          <p:spTgt spid="3"/>
                                        </p:tgtEl>
                                        <p:attrNameLst>
                                          <p:attrName>style.visibility</p:attrName>
                                        </p:attrNameLst>
                                      </p:cBhvr>
                                      <p:to>
                                        <p:strVal val="visible"/>
                                      </p:to>
                                    </p:set>
                                    <p:animEffect transition="in" filter="wipe(left)">
                                      <p:cBhvr>
                                        <p:cTn id="48" dur="500"/>
                                        <p:tgtEl>
                                          <p:spTgt spid="3"/>
                                        </p:tgtEl>
                                      </p:cBhvr>
                                    </p:animEffect>
                                  </p:childTnLst>
                                </p:cTn>
                              </p:par>
                            </p:childTnLst>
                          </p:cTn>
                        </p:par>
                        <p:par>
                          <p:cTn id="49" fill="hold" nodeType="afterGroup">
                            <p:stCondLst>
                              <p:cond delay="1500"/>
                            </p:stCondLst>
                            <p:childTnLst>
                              <p:par>
                                <p:cTn id="50" presetID="12" presetClass="entr" presetSubtype="4" fill="hold" nodeType="afterEffect">
                                  <p:stCondLst>
                                    <p:cond delay="0"/>
                                  </p:stCondLst>
                                  <p:childTnLst>
                                    <p:set>
                                      <p:cBhvr>
                                        <p:cTn id="51" dur="1" fill="hold">
                                          <p:stCondLst>
                                            <p:cond delay="0"/>
                                          </p:stCondLst>
                                        </p:cTn>
                                        <p:tgtEl>
                                          <p:spTgt spid="149552"/>
                                        </p:tgtEl>
                                        <p:attrNameLst>
                                          <p:attrName>style.visibility</p:attrName>
                                        </p:attrNameLst>
                                      </p:cBhvr>
                                      <p:to>
                                        <p:strVal val="visible"/>
                                      </p:to>
                                    </p:set>
                                    <p:animEffect transition="in" filter="slide(fromBottom)">
                                      <p:cBhvr>
                                        <p:cTn id="52" dur="500"/>
                                        <p:tgtEl>
                                          <p:spTgt spid="14955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149551"/>
                                        </p:tgtEl>
                                        <p:attrNameLst>
                                          <p:attrName>style.visibility</p:attrName>
                                        </p:attrNameLst>
                                      </p:cBhvr>
                                      <p:to>
                                        <p:strVal val="visible"/>
                                      </p:to>
                                    </p:set>
                                    <p:animEffect transition="in" filter="wipe(left)">
                                      <p:cBhvr>
                                        <p:cTn id="57" dur="500"/>
                                        <p:tgtEl>
                                          <p:spTgt spid="149551"/>
                                        </p:tgtEl>
                                      </p:cBhvr>
                                    </p:animEffect>
                                  </p:childTnLst>
                                </p:cTn>
                              </p:par>
                            </p:childTnLst>
                          </p:cTn>
                        </p:par>
                        <p:par>
                          <p:cTn id="58" fill="hold" nodeType="afterGroup">
                            <p:stCondLst>
                              <p:cond delay="500"/>
                            </p:stCondLst>
                            <p:childTnLst>
                              <p:par>
                                <p:cTn id="59" presetID="12" presetClass="entr" presetSubtype="4" fill="hold" nodeType="afterEffect">
                                  <p:stCondLst>
                                    <p:cond delay="0"/>
                                  </p:stCondLst>
                                  <p:childTnLst>
                                    <p:set>
                                      <p:cBhvr>
                                        <p:cTn id="60" dur="1" fill="hold">
                                          <p:stCondLst>
                                            <p:cond delay="0"/>
                                          </p:stCondLst>
                                        </p:cTn>
                                        <p:tgtEl>
                                          <p:spTgt spid="149570"/>
                                        </p:tgtEl>
                                        <p:attrNameLst>
                                          <p:attrName>style.visibility</p:attrName>
                                        </p:attrNameLst>
                                      </p:cBhvr>
                                      <p:to>
                                        <p:strVal val="visible"/>
                                      </p:to>
                                    </p:set>
                                    <p:animEffect transition="in" filter="slide(fromBottom)">
                                      <p:cBhvr>
                                        <p:cTn id="61" dur="500"/>
                                        <p:tgtEl>
                                          <p:spTgt spid="149570"/>
                                        </p:tgtEl>
                                      </p:cBhvr>
                                    </p:animEffect>
                                  </p:childTnLst>
                                </p:cTn>
                              </p:par>
                            </p:childTnLst>
                          </p:cTn>
                        </p:par>
                        <p:par>
                          <p:cTn id="62" fill="hold" nodeType="afterGroup">
                            <p:stCondLst>
                              <p:cond delay="1000"/>
                            </p:stCondLst>
                            <p:childTnLst>
                              <p:par>
                                <p:cTn id="63" presetID="12" presetClass="entr" presetSubtype="4" fill="hold" nodeType="afterEffect">
                                  <p:stCondLst>
                                    <p:cond delay="0"/>
                                  </p:stCondLst>
                                  <p:childTnLst>
                                    <p:set>
                                      <p:cBhvr>
                                        <p:cTn id="64" dur="1" fill="hold">
                                          <p:stCondLst>
                                            <p:cond delay="0"/>
                                          </p:stCondLst>
                                        </p:cTn>
                                        <p:tgtEl>
                                          <p:spTgt spid="149558"/>
                                        </p:tgtEl>
                                        <p:attrNameLst>
                                          <p:attrName>style.visibility</p:attrName>
                                        </p:attrNameLst>
                                      </p:cBhvr>
                                      <p:to>
                                        <p:strVal val="visible"/>
                                      </p:to>
                                    </p:set>
                                    <p:animEffect transition="in" filter="slide(fromBottom)">
                                      <p:cBhvr>
                                        <p:cTn id="65" dur="500"/>
                                        <p:tgtEl>
                                          <p:spTgt spid="149558"/>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12" presetClass="entr" presetSubtype="8" fill="hold" grpId="0" nodeType="clickEffect">
                                  <p:stCondLst>
                                    <p:cond delay="0"/>
                                  </p:stCondLst>
                                  <p:childTnLst>
                                    <p:set>
                                      <p:cBhvr>
                                        <p:cTn id="69" dur="1" fill="hold">
                                          <p:stCondLst>
                                            <p:cond delay="0"/>
                                          </p:stCondLst>
                                        </p:cTn>
                                        <p:tgtEl>
                                          <p:spTgt spid="149559"/>
                                        </p:tgtEl>
                                        <p:attrNameLst>
                                          <p:attrName>style.visibility</p:attrName>
                                        </p:attrNameLst>
                                      </p:cBhvr>
                                      <p:to>
                                        <p:strVal val="visible"/>
                                      </p:to>
                                    </p:set>
                                    <p:animEffect transition="in" filter="slide(fromLeft)">
                                      <p:cBhvr>
                                        <p:cTn id="70" dur="500"/>
                                        <p:tgtEl>
                                          <p:spTgt spid="149559"/>
                                        </p:tgtEl>
                                      </p:cBhvr>
                                    </p:animEffect>
                                  </p:childTnLst>
                                </p:cTn>
                              </p:par>
                            </p:childTnLst>
                          </p:cTn>
                        </p:par>
                        <p:par>
                          <p:cTn id="71" fill="hold" nodeType="afterGroup">
                            <p:stCondLst>
                              <p:cond delay="500"/>
                            </p:stCondLst>
                            <p:childTnLst>
                              <p:par>
                                <p:cTn id="72" presetID="22" presetClass="entr" presetSubtype="8" fill="hold" grpId="0" nodeType="afterEffect">
                                  <p:stCondLst>
                                    <p:cond delay="0"/>
                                  </p:stCondLst>
                                  <p:childTnLst>
                                    <p:set>
                                      <p:cBhvr>
                                        <p:cTn id="73" dur="1" fill="hold">
                                          <p:stCondLst>
                                            <p:cond delay="0"/>
                                          </p:stCondLst>
                                        </p:cTn>
                                        <p:tgtEl>
                                          <p:spTgt spid="149560"/>
                                        </p:tgtEl>
                                        <p:attrNameLst>
                                          <p:attrName>style.visibility</p:attrName>
                                        </p:attrNameLst>
                                      </p:cBhvr>
                                      <p:to>
                                        <p:strVal val="visible"/>
                                      </p:to>
                                    </p:set>
                                    <p:animEffect transition="in" filter="wipe(left)">
                                      <p:cBhvr>
                                        <p:cTn id="74" dur="500"/>
                                        <p:tgtEl>
                                          <p:spTgt spid="149560"/>
                                        </p:tgtEl>
                                      </p:cBhvr>
                                    </p:animEffect>
                                  </p:childTnLst>
                                </p:cTn>
                              </p:par>
                            </p:childTnLst>
                          </p:cTn>
                        </p:par>
                        <p:par>
                          <p:cTn id="75" fill="hold" nodeType="withGroup">
                            <p:stCondLst>
                              <p:cond delay="1000"/>
                            </p:stCondLst>
                            <p:childTnLst>
                              <p:par>
                                <p:cTn id="76" presetID="22" presetClass="entr" presetSubtype="4" fill="hold" grpId="0" nodeType="afterEffect">
                                  <p:stCondLst>
                                    <p:cond delay="0"/>
                                  </p:stCondLst>
                                  <p:childTnLst>
                                    <p:set>
                                      <p:cBhvr>
                                        <p:cTn id="77" dur="1" fill="hold">
                                          <p:stCondLst>
                                            <p:cond delay="0"/>
                                          </p:stCondLst>
                                        </p:cTn>
                                        <p:tgtEl>
                                          <p:spTgt spid="149562"/>
                                        </p:tgtEl>
                                        <p:attrNameLst>
                                          <p:attrName>style.visibility</p:attrName>
                                        </p:attrNameLst>
                                      </p:cBhvr>
                                      <p:to>
                                        <p:strVal val="visible"/>
                                      </p:to>
                                    </p:set>
                                    <p:animEffect transition="in" filter="wipe(down)">
                                      <p:cBhvr>
                                        <p:cTn id="78" dur="500"/>
                                        <p:tgtEl>
                                          <p:spTgt spid="149562"/>
                                        </p:tgtEl>
                                      </p:cBhvr>
                                    </p:animEffect>
                                  </p:childTnLst>
                                </p:cTn>
                              </p:par>
                            </p:childTnLst>
                          </p:cTn>
                        </p:par>
                        <p:par>
                          <p:cTn id="79" fill="hold" nodeType="afterGroup">
                            <p:stCondLst>
                              <p:cond delay="1500"/>
                            </p:stCondLst>
                            <p:childTnLst>
                              <p:par>
                                <p:cTn id="80" presetID="23" presetClass="entr" presetSubtype="16" fill="hold" grpId="0" nodeType="afterEffect">
                                  <p:stCondLst>
                                    <p:cond delay="0"/>
                                  </p:stCondLst>
                                  <p:childTnLst>
                                    <p:set>
                                      <p:cBhvr>
                                        <p:cTn id="81" dur="1" fill="hold">
                                          <p:stCondLst>
                                            <p:cond delay="0"/>
                                          </p:stCondLst>
                                        </p:cTn>
                                        <p:tgtEl>
                                          <p:spTgt spid="149561"/>
                                        </p:tgtEl>
                                        <p:attrNameLst>
                                          <p:attrName>style.visibility</p:attrName>
                                        </p:attrNameLst>
                                      </p:cBhvr>
                                      <p:to>
                                        <p:strVal val="visible"/>
                                      </p:to>
                                    </p:set>
                                    <p:anim calcmode="lin" valueType="num">
                                      <p:cBhvr>
                                        <p:cTn id="82" dur="500" fill="hold"/>
                                        <p:tgtEl>
                                          <p:spTgt spid="149561"/>
                                        </p:tgtEl>
                                        <p:attrNameLst>
                                          <p:attrName>ppt_w</p:attrName>
                                        </p:attrNameLst>
                                      </p:cBhvr>
                                      <p:tavLst>
                                        <p:tav tm="0">
                                          <p:val>
                                            <p:fltVal val="0"/>
                                          </p:val>
                                        </p:tav>
                                        <p:tav tm="100000">
                                          <p:val>
                                            <p:strVal val="#ppt_w"/>
                                          </p:val>
                                        </p:tav>
                                      </p:tavLst>
                                    </p:anim>
                                    <p:anim calcmode="lin" valueType="num">
                                      <p:cBhvr>
                                        <p:cTn id="83" dur="500" fill="hold"/>
                                        <p:tgtEl>
                                          <p:spTgt spid="149561"/>
                                        </p:tgtEl>
                                        <p:attrNameLst>
                                          <p:attrName>ppt_h</p:attrName>
                                        </p:attrNameLst>
                                      </p:cBhvr>
                                      <p:tavLst>
                                        <p:tav tm="0">
                                          <p:val>
                                            <p:fltVal val="0"/>
                                          </p:val>
                                        </p:tav>
                                        <p:tav tm="100000">
                                          <p:val>
                                            <p:strVal val="#ppt_h"/>
                                          </p:val>
                                        </p:tav>
                                      </p:tavLst>
                                    </p:anim>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1" fill="hold" nodeType="clickEffect">
                                  <p:stCondLst>
                                    <p:cond delay="0"/>
                                  </p:stCondLst>
                                  <p:childTnLst>
                                    <p:set>
                                      <p:cBhvr>
                                        <p:cTn id="87" dur="1" fill="hold">
                                          <p:stCondLst>
                                            <p:cond delay="0"/>
                                          </p:stCondLst>
                                        </p:cTn>
                                        <p:tgtEl>
                                          <p:spTgt spid="149563"/>
                                        </p:tgtEl>
                                        <p:attrNameLst>
                                          <p:attrName>style.visibility</p:attrName>
                                        </p:attrNameLst>
                                      </p:cBhvr>
                                      <p:to>
                                        <p:strVal val="visible"/>
                                      </p:to>
                                    </p:set>
                                    <p:animEffect transition="in" filter="wipe(up)">
                                      <p:cBhvr>
                                        <p:cTn id="88" dur="500"/>
                                        <p:tgtEl>
                                          <p:spTgt spid="149563"/>
                                        </p:tgtEl>
                                      </p:cBhvr>
                                    </p:animEffect>
                                  </p:childTnLst>
                                </p:cTn>
                              </p:par>
                            </p:childTnLst>
                          </p:cTn>
                        </p:par>
                        <p:par>
                          <p:cTn id="89" fill="hold" nodeType="afterGroup">
                            <p:stCondLst>
                              <p:cond delay="500"/>
                            </p:stCondLst>
                            <p:childTnLst>
                              <p:par>
                                <p:cTn id="90" presetID="22" presetClass="entr" presetSubtype="1" fill="hold" grpId="0" nodeType="afterEffect">
                                  <p:stCondLst>
                                    <p:cond delay="0"/>
                                  </p:stCondLst>
                                  <p:childTnLst>
                                    <p:set>
                                      <p:cBhvr>
                                        <p:cTn id="91" dur="1" fill="hold">
                                          <p:stCondLst>
                                            <p:cond delay="0"/>
                                          </p:stCondLst>
                                        </p:cTn>
                                        <p:tgtEl>
                                          <p:spTgt spid="149567"/>
                                        </p:tgtEl>
                                        <p:attrNameLst>
                                          <p:attrName>style.visibility</p:attrName>
                                        </p:attrNameLst>
                                      </p:cBhvr>
                                      <p:to>
                                        <p:strVal val="visible"/>
                                      </p:to>
                                    </p:set>
                                    <p:animEffect transition="in" filter="wipe(up)">
                                      <p:cBhvr>
                                        <p:cTn id="92" dur="500"/>
                                        <p:tgtEl>
                                          <p:spTgt spid="149567"/>
                                        </p:tgtEl>
                                      </p:cBhvr>
                                    </p:animEffect>
                                  </p:childTnLst>
                                </p:cTn>
                              </p:par>
                            </p:childTnLst>
                          </p:cTn>
                        </p:par>
                        <p:par>
                          <p:cTn id="93" fill="hold" nodeType="withGroup">
                            <p:stCondLst>
                              <p:cond delay="1000"/>
                            </p:stCondLst>
                            <p:childTnLst>
                              <p:par>
                                <p:cTn id="94" presetID="12" presetClass="entr" presetSubtype="8" fill="hold" nodeType="afterEffect">
                                  <p:stCondLst>
                                    <p:cond delay="0"/>
                                  </p:stCondLst>
                                  <p:childTnLst>
                                    <p:set>
                                      <p:cBhvr>
                                        <p:cTn id="95" dur="1" fill="hold">
                                          <p:stCondLst>
                                            <p:cond delay="0"/>
                                          </p:stCondLst>
                                        </p:cTn>
                                        <p:tgtEl>
                                          <p:spTgt spid="149568"/>
                                        </p:tgtEl>
                                        <p:attrNameLst>
                                          <p:attrName>style.visibility</p:attrName>
                                        </p:attrNameLst>
                                      </p:cBhvr>
                                      <p:to>
                                        <p:strVal val="visible"/>
                                      </p:to>
                                    </p:set>
                                    <p:animEffect transition="in" filter="slide(fromLeft)">
                                      <p:cBhvr>
                                        <p:cTn id="96" dur="500"/>
                                        <p:tgtEl>
                                          <p:spTgt spid="149568"/>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12" presetClass="entr" presetSubtype="8" fill="hold" nodeType="clickEffect">
                                  <p:stCondLst>
                                    <p:cond delay="0"/>
                                  </p:stCondLst>
                                  <p:childTnLst>
                                    <p:set>
                                      <p:cBhvr>
                                        <p:cTn id="100" dur="1" fill="hold">
                                          <p:stCondLst>
                                            <p:cond delay="0"/>
                                          </p:stCondLst>
                                        </p:cTn>
                                        <p:tgtEl>
                                          <p:spTgt spid="149569"/>
                                        </p:tgtEl>
                                        <p:attrNameLst>
                                          <p:attrName>style.visibility</p:attrName>
                                        </p:attrNameLst>
                                      </p:cBhvr>
                                      <p:to>
                                        <p:strVal val="visible"/>
                                      </p:to>
                                    </p:set>
                                    <p:animEffect transition="in" filter="slide(fromLeft)">
                                      <p:cBhvr>
                                        <p:cTn id="101" dur="500"/>
                                        <p:tgtEl>
                                          <p:spTgt spid="149569"/>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1" fill="hold" grpId="0" nodeType="clickEffect">
                                  <p:stCondLst>
                                    <p:cond delay="0"/>
                                  </p:stCondLst>
                                  <p:childTnLst>
                                    <p:set>
                                      <p:cBhvr>
                                        <p:cTn id="105" dur="1" fill="hold">
                                          <p:stCondLst>
                                            <p:cond delay="0"/>
                                          </p:stCondLst>
                                        </p:cTn>
                                        <p:tgtEl>
                                          <p:spTgt spid="149565"/>
                                        </p:tgtEl>
                                        <p:attrNameLst>
                                          <p:attrName>style.visibility</p:attrName>
                                        </p:attrNameLst>
                                      </p:cBhvr>
                                      <p:to>
                                        <p:strVal val="visible"/>
                                      </p:to>
                                    </p:set>
                                    <p:animEffect transition="in" filter="wipe(up)">
                                      <p:cBhvr>
                                        <p:cTn id="106" dur="500"/>
                                        <p:tgtEl>
                                          <p:spTgt spid="149565"/>
                                        </p:tgtEl>
                                      </p:cBhvr>
                                    </p:animEffect>
                                  </p:childTnLst>
                                </p:cTn>
                              </p:par>
                            </p:childTnLst>
                          </p:cTn>
                        </p:par>
                        <p:par>
                          <p:cTn id="107" fill="hold" nodeType="afterGroup">
                            <p:stCondLst>
                              <p:cond delay="500"/>
                            </p:stCondLst>
                            <p:childTnLst>
                              <p:par>
                                <p:cTn id="108" presetID="22" presetClass="entr" presetSubtype="1" fill="hold" grpId="0" nodeType="afterEffect">
                                  <p:stCondLst>
                                    <p:cond delay="0"/>
                                  </p:stCondLst>
                                  <p:childTnLst>
                                    <p:set>
                                      <p:cBhvr>
                                        <p:cTn id="109" dur="1" fill="hold">
                                          <p:stCondLst>
                                            <p:cond delay="0"/>
                                          </p:stCondLst>
                                        </p:cTn>
                                        <p:tgtEl>
                                          <p:spTgt spid="149566"/>
                                        </p:tgtEl>
                                        <p:attrNameLst>
                                          <p:attrName>style.visibility</p:attrName>
                                        </p:attrNameLst>
                                      </p:cBhvr>
                                      <p:to>
                                        <p:strVal val="visible"/>
                                      </p:to>
                                    </p:set>
                                    <p:animEffect transition="in" filter="wipe(up)">
                                      <p:cBhvr>
                                        <p:cTn id="110" dur="500"/>
                                        <p:tgtEl>
                                          <p:spTgt spid="149566"/>
                                        </p:tgtEl>
                                      </p:cBhvr>
                                    </p:animEffect>
                                  </p:childTnLst>
                                </p:cTn>
                              </p:par>
                            </p:childTnLst>
                          </p:cTn>
                        </p:par>
                        <p:par>
                          <p:cTn id="111" fill="hold" nodeType="afterGroup">
                            <p:stCondLst>
                              <p:cond delay="1000"/>
                            </p:stCondLst>
                            <p:childTnLst>
                              <p:par>
                                <p:cTn id="112" presetID="12" presetClass="entr" presetSubtype="4" fill="hold" nodeType="afterEffect">
                                  <p:stCondLst>
                                    <p:cond delay="0"/>
                                  </p:stCondLst>
                                  <p:childTnLst>
                                    <p:set>
                                      <p:cBhvr>
                                        <p:cTn id="113" dur="1" fill="hold">
                                          <p:stCondLst>
                                            <p:cond delay="0"/>
                                          </p:stCondLst>
                                        </p:cTn>
                                        <p:tgtEl>
                                          <p:spTgt spid="149572"/>
                                        </p:tgtEl>
                                        <p:attrNameLst>
                                          <p:attrName>style.visibility</p:attrName>
                                        </p:attrNameLst>
                                      </p:cBhvr>
                                      <p:to>
                                        <p:strVal val="visible"/>
                                      </p:to>
                                    </p:set>
                                    <p:animEffect transition="in" filter="slide(fromBottom)">
                                      <p:cBhvr>
                                        <p:cTn id="114" dur="500"/>
                                        <p:tgtEl>
                                          <p:spTgt spid="1495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46" grpId="0" autoUpdateAnimBg="0"/>
      <p:bldP spid="149547" grpId="0" animBg="1"/>
      <p:bldP spid="149559" grpId="0" autoUpdateAnimBg="0"/>
      <p:bldP spid="149560" grpId="0" animBg="1" autoUpdateAnimBg="0"/>
      <p:bldP spid="149561" grpId="0" animBg="1" autoUpdateAnimBg="0"/>
      <p:bldP spid="149562" grpId="0" autoUpdateAnimBg="0"/>
      <p:bldP spid="149564" grpId="0" autoUpdateAnimBg="0"/>
      <p:bldP spid="149565" grpId="0" animBg="1"/>
      <p:bldP spid="149566" grpId="0" autoUpdateAnimBg="0"/>
      <p:bldP spid="149567" grpId="0" autoUpdateAnimBg="0"/>
      <p:bldP spid="149571"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69" name="Rectangle 41">
            <a:extLst>
              <a:ext uri="{FF2B5EF4-FFF2-40B4-BE49-F238E27FC236}">
                <a16:creationId xmlns:a16="http://schemas.microsoft.com/office/drawing/2014/main" id="{14E7A0CE-457B-41EC-AC4E-7C7A61620420}"/>
              </a:ext>
            </a:extLst>
          </p:cNvPr>
          <p:cNvSpPr>
            <a:spLocks noChangeArrowheads="1"/>
          </p:cNvSpPr>
          <p:nvPr/>
        </p:nvSpPr>
        <p:spPr bwMode="auto">
          <a:xfrm>
            <a:off x="366713" y="285750"/>
            <a:ext cx="419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00FFFF"/>
                </a:solidFill>
                <a:ea typeface="楷体_GB2312" pitchFamily="49" charset="-122"/>
              </a:rPr>
              <a:t>2. </a:t>
            </a:r>
            <a:r>
              <a:rPr lang="zh-CN" altLang="en-US">
                <a:solidFill>
                  <a:srgbClr val="00FFFF"/>
                </a:solidFill>
                <a:ea typeface="楷体_GB2312" pitchFamily="49" charset="-122"/>
              </a:rPr>
              <a:t>定量分析：</a:t>
            </a:r>
            <a:r>
              <a:rPr lang="zh-CN" altLang="en-US">
                <a:solidFill>
                  <a:srgbClr val="FFFF00"/>
                </a:solidFill>
                <a:ea typeface="楷体_GB2312" pitchFamily="49" charset="-122"/>
              </a:rPr>
              <a:t>  </a:t>
            </a:r>
          </a:p>
        </p:txBody>
      </p:sp>
      <p:sp>
        <p:nvSpPr>
          <p:cNvPr id="150570" name="Oval 42">
            <a:extLst>
              <a:ext uri="{FF2B5EF4-FFF2-40B4-BE49-F238E27FC236}">
                <a16:creationId xmlns:a16="http://schemas.microsoft.com/office/drawing/2014/main" id="{2A4426CB-FAC4-467C-BD48-66FAF76BBBA4}"/>
              </a:ext>
            </a:extLst>
          </p:cNvPr>
          <p:cNvSpPr>
            <a:spLocks noChangeArrowheads="1"/>
          </p:cNvSpPr>
          <p:nvPr/>
        </p:nvSpPr>
        <p:spPr bwMode="auto">
          <a:xfrm>
            <a:off x="6996113" y="1581150"/>
            <a:ext cx="457200" cy="457200"/>
          </a:xfrm>
          <a:prstGeom prst="ellipse">
            <a:avLst/>
          </a:prstGeom>
          <a:gradFill rotWithShape="0">
            <a:gsLst>
              <a:gs pos="0">
                <a:srgbClr val="00FFFF"/>
              </a:gs>
              <a:gs pos="100000">
                <a:srgbClr val="007676"/>
              </a:gs>
            </a:gsLst>
            <a:path path="shape">
              <a:fillToRect l="50000" t="50000" r="50000" b="50000"/>
            </a:path>
          </a:gradFill>
          <a:ln>
            <a:noFill/>
          </a:ln>
          <a:extLst>
            <a:ext uri="{91240B29-F687-4F45-9708-019B960494DF}">
              <a14:hiddenLine xmlns:a14="http://schemas.microsoft.com/office/drawing/2010/main" w="22225">
                <a:solidFill>
                  <a:srgbClr val="000000"/>
                </a:solidFill>
                <a:round/>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50571" name="Line 43">
            <a:extLst>
              <a:ext uri="{FF2B5EF4-FFF2-40B4-BE49-F238E27FC236}">
                <a16:creationId xmlns:a16="http://schemas.microsoft.com/office/drawing/2014/main" id="{DA378122-05AD-4699-9D75-E4FFE0DC66E2}"/>
              </a:ext>
            </a:extLst>
          </p:cNvPr>
          <p:cNvSpPr>
            <a:spLocks noChangeShapeType="1"/>
          </p:cNvSpPr>
          <p:nvPr/>
        </p:nvSpPr>
        <p:spPr bwMode="auto">
          <a:xfrm>
            <a:off x="6615113" y="1809750"/>
            <a:ext cx="2133600" cy="0"/>
          </a:xfrm>
          <a:prstGeom prst="line">
            <a:avLst/>
          </a:prstGeom>
          <a:noFill/>
          <a:ln w="22225">
            <a:solidFill>
              <a:srgbClr val="FFFFFF"/>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0572" name="Line 44">
            <a:extLst>
              <a:ext uri="{FF2B5EF4-FFF2-40B4-BE49-F238E27FC236}">
                <a16:creationId xmlns:a16="http://schemas.microsoft.com/office/drawing/2014/main" id="{77AC871A-E9BD-4172-9C22-6B554654FC4A}"/>
              </a:ext>
            </a:extLst>
          </p:cNvPr>
          <p:cNvSpPr>
            <a:spLocks noChangeShapeType="1"/>
          </p:cNvSpPr>
          <p:nvPr/>
        </p:nvSpPr>
        <p:spPr bwMode="auto">
          <a:xfrm flipV="1">
            <a:off x="7377113" y="971550"/>
            <a:ext cx="990600" cy="685800"/>
          </a:xfrm>
          <a:prstGeom prst="line">
            <a:avLst/>
          </a:prstGeom>
          <a:noFill/>
          <a:ln w="31750">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0573" name="Line 45">
            <a:extLst>
              <a:ext uri="{FF2B5EF4-FFF2-40B4-BE49-F238E27FC236}">
                <a16:creationId xmlns:a16="http://schemas.microsoft.com/office/drawing/2014/main" id="{0DB89506-D496-415A-8D3E-8AD142314CBE}"/>
              </a:ext>
            </a:extLst>
          </p:cNvPr>
          <p:cNvSpPr>
            <a:spLocks noChangeShapeType="1"/>
          </p:cNvSpPr>
          <p:nvPr/>
        </p:nvSpPr>
        <p:spPr bwMode="auto">
          <a:xfrm>
            <a:off x="7224713" y="1809750"/>
            <a:ext cx="914400" cy="685800"/>
          </a:xfrm>
          <a:prstGeom prst="line">
            <a:avLst/>
          </a:prstGeom>
          <a:noFill/>
          <a:ln w="22225">
            <a:solidFill>
              <a:srgbClr val="FF99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50574" name="Object 2">
            <a:extLst>
              <a:ext uri="{FF2B5EF4-FFF2-40B4-BE49-F238E27FC236}">
                <a16:creationId xmlns:a16="http://schemas.microsoft.com/office/drawing/2014/main" id="{EB252E3D-3C6D-438C-950E-E6D1ED52BC04}"/>
              </a:ext>
            </a:extLst>
          </p:cNvPr>
          <p:cNvGraphicFramePr>
            <a:graphicFrameLocks noChangeAspect="1"/>
          </p:cNvGraphicFramePr>
          <p:nvPr/>
        </p:nvGraphicFramePr>
        <p:xfrm>
          <a:off x="7681913" y="666750"/>
          <a:ext cx="503237" cy="390525"/>
        </p:xfrm>
        <a:graphic>
          <a:graphicData uri="http://schemas.openxmlformats.org/presentationml/2006/ole">
            <mc:AlternateContent xmlns:mc="http://schemas.openxmlformats.org/markup-compatibility/2006">
              <mc:Choice xmlns:v="urn:schemas-microsoft-com:vml" Requires="v">
                <p:oleObj spid="_x0000_s469078" name="Equation" r:id="rId3" imgW="200006" imgH="152468" progId="Equation.3">
                  <p:embed/>
                </p:oleObj>
              </mc:Choice>
              <mc:Fallback>
                <p:oleObj name="Equation" r:id="rId3" imgW="200006" imgH="152468" progId="Equation.3">
                  <p:embed/>
                  <p:pic>
                    <p:nvPicPr>
                      <p:cNvPr id="150574" name="Object 2">
                        <a:extLst>
                          <a:ext uri="{FF2B5EF4-FFF2-40B4-BE49-F238E27FC236}">
                            <a16:creationId xmlns:a16="http://schemas.microsoft.com/office/drawing/2014/main" id="{EB252E3D-3C6D-438C-950E-E6D1ED52BC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81913" y="666750"/>
                        <a:ext cx="503237"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0575" name="Object 3">
            <a:extLst>
              <a:ext uri="{FF2B5EF4-FFF2-40B4-BE49-F238E27FC236}">
                <a16:creationId xmlns:a16="http://schemas.microsoft.com/office/drawing/2014/main" id="{ABEFCC64-FECF-4B41-94B6-3D7B221CD822}"/>
              </a:ext>
            </a:extLst>
          </p:cNvPr>
          <p:cNvGraphicFramePr>
            <a:graphicFrameLocks noChangeAspect="1"/>
          </p:cNvGraphicFramePr>
          <p:nvPr/>
        </p:nvGraphicFramePr>
        <p:xfrm>
          <a:off x="6157913" y="1352550"/>
          <a:ext cx="585787" cy="503238"/>
        </p:xfrm>
        <a:graphic>
          <a:graphicData uri="http://schemas.openxmlformats.org/presentationml/2006/ole">
            <mc:AlternateContent xmlns:mc="http://schemas.openxmlformats.org/markup-compatibility/2006">
              <mc:Choice xmlns:v="urn:schemas-microsoft-com:vml" Requires="v">
                <p:oleObj spid="_x0000_s469079" name="Equation" r:id="rId5" imgW="238233" imgH="199923" progId="Equation.3">
                  <p:embed/>
                </p:oleObj>
              </mc:Choice>
              <mc:Fallback>
                <p:oleObj name="Equation" r:id="rId5" imgW="238233" imgH="199923" progId="Equation.3">
                  <p:embed/>
                  <p:pic>
                    <p:nvPicPr>
                      <p:cNvPr id="150575" name="Object 3">
                        <a:extLst>
                          <a:ext uri="{FF2B5EF4-FFF2-40B4-BE49-F238E27FC236}">
                            <a16:creationId xmlns:a16="http://schemas.microsoft.com/office/drawing/2014/main" id="{ABEFCC64-FECF-4B41-94B6-3D7B221CD82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57913" y="1352550"/>
                        <a:ext cx="585787"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0576" name="Object 4">
            <a:extLst>
              <a:ext uri="{FF2B5EF4-FFF2-40B4-BE49-F238E27FC236}">
                <a16:creationId xmlns:a16="http://schemas.microsoft.com/office/drawing/2014/main" id="{0C4FD64E-E9B7-49DC-A96B-30B72BC09915}"/>
              </a:ext>
            </a:extLst>
          </p:cNvPr>
          <p:cNvGraphicFramePr>
            <a:graphicFrameLocks noChangeAspect="1"/>
          </p:cNvGraphicFramePr>
          <p:nvPr/>
        </p:nvGraphicFramePr>
        <p:xfrm>
          <a:off x="6919913" y="2038350"/>
          <a:ext cx="446087" cy="503238"/>
        </p:xfrm>
        <a:graphic>
          <a:graphicData uri="http://schemas.openxmlformats.org/presentationml/2006/ole">
            <mc:AlternateContent xmlns:mc="http://schemas.openxmlformats.org/markup-compatibility/2006">
              <mc:Choice xmlns:v="urn:schemas-microsoft-com:vml" Requires="v">
                <p:oleObj spid="_x0000_s469080" name="Equation" r:id="rId7" imgW="171565" imgH="199923" progId="Equation.3">
                  <p:embed/>
                </p:oleObj>
              </mc:Choice>
              <mc:Fallback>
                <p:oleObj name="Equation" r:id="rId7" imgW="171565" imgH="199923" progId="Equation.3">
                  <p:embed/>
                  <p:pic>
                    <p:nvPicPr>
                      <p:cNvPr id="150576" name="Object 4">
                        <a:extLst>
                          <a:ext uri="{FF2B5EF4-FFF2-40B4-BE49-F238E27FC236}">
                            <a16:creationId xmlns:a16="http://schemas.microsoft.com/office/drawing/2014/main" id="{0C4FD64E-E9B7-49DC-A96B-30B72BC0991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19913" y="2038350"/>
                        <a:ext cx="446087"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0577" name="Object 5">
            <a:extLst>
              <a:ext uri="{FF2B5EF4-FFF2-40B4-BE49-F238E27FC236}">
                <a16:creationId xmlns:a16="http://schemas.microsoft.com/office/drawing/2014/main" id="{56758C42-B461-4957-93EE-DD399FF6C2C9}"/>
              </a:ext>
            </a:extLst>
          </p:cNvPr>
          <p:cNvGraphicFramePr>
            <a:graphicFrameLocks noChangeAspect="1"/>
          </p:cNvGraphicFramePr>
          <p:nvPr/>
        </p:nvGraphicFramePr>
        <p:xfrm>
          <a:off x="7910513" y="1352550"/>
          <a:ext cx="279400" cy="390525"/>
        </p:xfrm>
        <a:graphic>
          <a:graphicData uri="http://schemas.openxmlformats.org/presentationml/2006/ole">
            <mc:AlternateContent xmlns:mc="http://schemas.openxmlformats.org/markup-compatibility/2006">
              <mc:Choice xmlns:v="urn:schemas-microsoft-com:vml" Requires="v">
                <p:oleObj spid="_x0000_s469081" name="Equation" r:id="rId9" imgW="95110" imgH="152468" progId="Equation.3">
                  <p:embed/>
                </p:oleObj>
              </mc:Choice>
              <mc:Fallback>
                <p:oleObj name="Equation" r:id="rId9" imgW="95110" imgH="152468" progId="Equation.3">
                  <p:embed/>
                  <p:pic>
                    <p:nvPicPr>
                      <p:cNvPr id="150577" name="Object 5">
                        <a:extLst>
                          <a:ext uri="{FF2B5EF4-FFF2-40B4-BE49-F238E27FC236}">
                            <a16:creationId xmlns:a16="http://schemas.microsoft.com/office/drawing/2014/main" id="{56758C42-B461-4957-93EE-DD399FF6C2C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10513" y="1352550"/>
                        <a:ext cx="2794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0578" name="Object 6">
            <a:extLst>
              <a:ext uri="{FF2B5EF4-FFF2-40B4-BE49-F238E27FC236}">
                <a16:creationId xmlns:a16="http://schemas.microsoft.com/office/drawing/2014/main" id="{A29E98D7-400E-4A3F-995D-E1DFCB5F8D6D}"/>
              </a:ext>
            </a:extLst>
          </p:cNvPr>
          <p:cNvGraphicFramePr>
            <a:graphicFrameLocks noChangeAspect="1"/>
          </p:cNvGraphicFramePr>
          <p:nvPr/>
        </p:nvGraphicFramePr>
        <p:xfrm>
          <a:off x="7758113" y="1809750"/>
          <a:ext cx="279400" cy="446088"/>
        </p:xfrm>
        <a:graphic>
          <a:graphicData uri="http://schemas.openxmlformats.org/presentationml/2006/ole">
            <mc:AlternateContent xmlns:mc="http://schemas.openxmlformats.org/markup-compatibility/2006">
              <mc:Choice xmlns:v="urn:schemas-microsoft-com:vml" Requires="v">
                <p:oleObj spid="_x0000_s469082" name="Equation" r:id="rId11" imgW="95110" imgH="171450" progId="Equation.3">
                  <p:embed/>
                </p:oleObj>
              </mc:Choice>
              <mc:Fallback>
                <p:oleObj name="Equation" r:id="rId11" imgW="95110" imgH="171450" progId="Equation.3">
                  <p:embed/>
                  <p:pic>
                    <p:nvPicPr>
                      <p:cNvPr id="150578" name="Object 6">
                        <a:extLst>
                          <a:ext uri="{FF2B5EF4-FFF2-40B4-BE49-F238E27FC236}">
                            <a16:creationId xmlns:a16="http://schemas.microsoft.com/office/drawing/2014/main" id="{A29E98D7-400E-4A3F-995D-E1DFCB5F8D6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58113" y="1809750"/>
                        <a:ext cx="279400"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0579" name="Line 51">
            <a:extLst>
              <a:ext uri="{FF2B5EF4-FFF2-40B4-BE49-F238E27FC236}">
                <a16:creationId xmlns:a16="http://schemas.microsoft.com/office/drawing/2014/main" id="{8EA230A0-C00F-4C79-8900-19D8759B2EF1}"/>
              </a:ext>
            </a:extLst>
          </p:cNvPr>
          <p:cNvSpPr>
            <a:spLocks noChangeShapeType="1"/>
          </p:cNvSpPr>
          <p:nvPr/>
        </p:nvSpPr>
        <p:spPr bwMode="auto">
          <a:xfrm>
            <a:off x="6005513" y="1809750"/>
            <a:ext cx="914400" cy="0"/>
          </a:xfrm>
          <a:prstGeom prst="line">
            <a:avLst/>
          </a:prstGeom>
          <a:noFill/>
          <a:ln w="41275">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50580" name="Object 7">
            <a:extLst>
              <a:ext uri="{FF2B5EF4-FFF2-40B4-BE49-F238E27FC236}">
                <a16:creationId xmlns:a16="http://schemas.microsoft.com/office/drawing/2014/main" id="{4DE9532C-A8A5-482D-9765-3346C8EA8EA4}"/>
              </a:ext>
            </a:extLst>
          </p:cNvPr>
          <p:cNvGraphicFramePr>
            <a:graphicFrameLocks noChangeAspect="1"/>
          </p:cNvGraphicFramePr>
          <p:nvPr/>
        </p:nvGraphicFramePr>
        <p:xfrm>
          <a:off x="8215313" y="2114550"/>
          <a:ext cx="279400" cy="390525"/>
        </p:xfrm>
        <a:graphic>
          <a:graphicData uri="http://schemas.openxmlformats.org/presentationml/2006/ole">
            <mc:AlternateContent xmlns:mc="http://schemas.openxmlformats.org/markup-compatibility/2006">
              <mc:Choice xmlns:v="urn:schemas-microsoft-com:vml" Requires="v">
                <p:oleObj spid="_x0000_s469083" name="Equation" r:id="rId13" imgW="95110" imgH="152468" progId="Equation.3">
                  <p:embed/>
                </p:oleObj>
              </mc:Choice>
              <mc:Fallback>
                <p:oleObj name="Equation" r:id="rId13" imgW="95110" imgH="152468" progId="Equation.3">
                  <p:embed/>
                  <p:pic>
                    <p:nvPicPr>
                      <p:cNvPr id="150580" name="Object 7">
                        <a:extLst>
                          <a:ext uri="{FF2B5EF4-FFF2-40B4-BE49-F238E27FC236}">
                            <a16:creationId xmlns:a16="http://schemas.microsoft.com/office/drawing/2014/main" id="{4DE9532C-A8A5-482D-9765-3346C8EA8EA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215313" y="2114550"/>
                        <a:ext cx="2794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0581" name="Rectangle 53">
            <a:extLst>
              <a:ext uri="{FF2B5EF4-FFF2-40B4-BE49-F238E27FC236}">
                <a16:creationId xmlns:a16="http://schemas.microsoft.com/office/drawing/2014/main" id="{089AA238-4774-4D99-B63E-79740641D975}"/>
              </a:ext>
            </a:extLst>
          </p:cNvPr>
          <p:cNvSpPr>
            <a:spLocks noChangeArrowheads="1"/>
          </p:cNvSpPr>
          <p:nvPr/>
        </p:nvSpPr>
        <p:spPr bwMode="auto">
          <a:xfrm>
            <a:off x="290513" y="2800350"/>
            <a:ext cx="6477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ea typeface="楷体_GB2312" pitchFamily="49" charset="-122"/>
              </a:rPr>
              <a:t>（</a:t>
            </a:r>
            <a:r>
              <a:rPr lang="en-US" altLang="zh-CN">
                <a:solidFill>
                  <a:schemeClr val="bg1"/>
                </a:solidFill>
                <a:ea typeface="楷体_GB2312" pitchFamily="49" charset="-122"/>
              </a:rPr>
              <a:t>3</a:t>
            </a:r>
            <a:r>
              <a:rPr lang="zh-CN" altLang="en-US">
                <a:solidFill>
                  <a:schemeClr val="bg1"/>
                </a:solidFill>
                <a:ea typeface="楷体_GB2312" pitchFamily="49" charset="-122"/>
              </a:rPr>
              <a:t>）</a:t>
            </a:r>
            <a:r>
              <a:rPr lang="zh-CN" altLang="en-US">
                <a:solidFill>
                  <a:srgbClr val="FFFFFF"/>
                </a:solidFill>
                <a:ea typeface="楷体_GB2312" pitchFamily="49" charset="-122"/>
              </a:rPr>
              <a:t>光子与散射物的电子构成一个系统</a:t>
            </a:r>
          </a:p>
        </p:txBody>
      </p:sp>
      <p:sp>
        <p:nvSpPr>
          <p:cNvPr id="150582" name="Rectangle 54">
            <a:extLst>
              <a:ext uri="{FF2B5EF4-FFF2-40B4-BE49-F238E27FC236}">
                <a16:creationId xmlns:a16="http://schemas.microsoft.com/office/drawing/2014/main" id="{2A7144DB-4CCD-4AAA-8867-493D4BDA9347}"/>
              </a:ext>
            </a:extLst>
          </p:cNvPr>
          <p:cNvSpPr>
            <a:spLocks noChangeArrowheads="1"/>
          </p:cNvSpPr>
          <p:nvPr/>
        </p:nvSpPr>
        <p:spPr bwMode="auto">
          <a:xfrm>
            <a:off x="1071563" y="3286125"/>
            <a:ext cx="548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FFFF"/>
                </a:solidFill>
                <a:ea typeface="楷体_GB2312" pitchFamily="49" charset="-122"/>
              </a:rPr>
              <a:t>光子与电子发生完全弹性碰撞</a:t>
            </a:r>
          </a:p>
        </p:txBody>
      </p:sp>
      <p:sp>
        <p:nvSpPr>
          <p:cNvPr id="150583" name="Rectangle 55">
            <a:extLst>
              <a:ext uri="{FF2B5EF4-FFF2-40B4-BE49-F238E27FC236}">
                <a16:creationId xmlns:a16="http://schemas.microsoft.com/office/drawing/2014/main" id="{B48A1C49-9D52-4E44-BC5C-8E82DCE472F9}"/>
              </a:ext>
            </a:extLst>
          </p:cNvPr>
          <p:cNvSpPr>
            <a:spLocks noChangeArrowheads="1"/>
          </p:cNvSpPr>
          <p:nvPr/>
        </p:nvSpPr>
        <p:spPr bwMode="auto">
          <a:xfrm>
            <a:off x="5257800" y="3286125"/>
            <a:ext cx="358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solidFill>
                  <a:srgbClr val="FFFF00"/>
                </a:solidFill>
                <a:ea typeface="楷体_GB2312" pitchFamily="49" charset="-122"/>
              </a:rPr>
              <a:t>—— </a:t>
            </a:r>
            <a:r>
              <a:rPr lang="zh-CN" altLang="en-US" dirty="0">
                <a:solidFill>
                  <a:srgbClr val="FFFF00"/>
                </a:solidFill>
                <a:ea typeface="楷体_GB2312" pitchFamily="49" charset="-122"/>
              </a:rPr>
              <a:t>动量和能量守恒</a:t>
            </a:r>
          </a:p>
        </p:txBody>
      </p:sp>
      <p:sp>
        <p:nvSpPr>
          <p:cNvPr id="150584" name="Rectangle 56">
            <a:extLst>
              <a:ext uri="{FF2B5EF4-FFF2-40B4-BE49-F238E27FC236}">
                <a16:creationId xmlns:a16="http://schemas.microsoft.com/office/drawing/2014/main" id="{E9AB9F43-E3C9-4BCE-BC07-3A14A2ED0EBE}"/>
              </a:ext>
            </a:extLst>
          </p:cNvPr>
          <p:cNvSpPr>
            <a:spLocks noChangeArrowheads="1"/>
          </p:cNvSpPr>
          <p:nvPr/>
        </p:nvSpPr>
        <p:spPr bwMode="auto">
          <a:xfrm>
            <a:off x="2500313" y="285750"/>
            <a:ext cx="335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rgbClr val="FF0000"/>
                </a:solidFill>
                <a:latin typeface="楷体_GB2312" pitchFamily="49" charset="-122"/>
                <a:ea typeface="楷体_GB2312" pitchFamily="49" charset="-122"/>
              </a:rPr>
              <a:t>前提：</a:t>
            </a:r>
          </a:p>
        </p:txBody>
      </p:sp>
      <p:sp>
        <p:nvSpPr>
          <p:cNvPr id="150585" name="Rectangle 57">
            <a:extLst>
              <a:ext uri="{FF2B5EF4-FFF2-40B4-BE49-F238E27FC236}">
                <a16:creationId xmlns:a16="http://schemas.microsoft.com/office/drawing/2014/main" id="{A663695E-84C8-4298-976B-B69538771AC0}"/>
              </a:ext>
            </a:extLst>
          </p:cNvPr>
          <p:cNvSpPr>
            <a:spLocks noChangeArrowheads="1"/>
          </p:cNvSpPr>
          <p:nvPr/>
        </p:nvSpPr>
        <p:spPr bwMode="auto">
          <a:xfrm>
            <a:off x="290513" y="819150"/>
            <a:ext cx="64246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ea typeface="楷体_GB2312" pitchFamily="49" charset="-122"/>
              </a:rPr>
              <a:t>（</a:t>
            </a:r>
            <a:r>
              <a:rPr lang="en-US" altLang="zh-CN">
                <a:solidFill>
                  <a:schemeClr val="bg1"/>
                </a:solidFill>
                <a:ea typeface="楷体_GB2312" pitchFamily="49" charset="-122"/>
              </a:rPr>
              <a:t>1</a:t>
            </a:r>
            <a:r>
              <a:rPr lang="zh-CN" altLang="en-US">
                <a:solidFill>
                  <a:schemeClr val="bg1"/>
                </a:solidFill>
                <a:ea typeface="楷体_GB2312" pitchFamily="49" charset="-122"/>
              </a:rPr>
              <a:t>）</a:t>
            </a:r>
            <a:r>
              <a:rPr lang="en-US" altLang="zh-CN">
                <a:solidFill>
                  <a:schemeClr val="bg1"/>
                </a:solidFill>
                <a:ea typeface="楷体_GB2312" pitchFamily="49" charset="-122"/>
              </a:rPr>
              <a:t>X</a:t>
            </a:r>
            <a:r>
              <a:rPr lang="zh-CN" altLang="en-US">
                <a:solidFill>
                  <a:schemeClr val="bg1"/>
                </a:solidFill>
                <a:ea typeface="楷体_GB2312" pitchFamily="49" charset="-122"/>
              </a:rPr>
              <a:t>射线光子能量 </a:t>
            </a:r>
            <a:r>
              <a:rPr lang="en-US" altLang="zh-CN">
                <a:solidFill>
                  <a:schemeClr val="bg1"/>
                </a:solidFill>
                <a:ea typeface="楷体_GB2312" pitchFamily="49" charset="-122"/>
              </a:rPr>
              <a:t>&gt;&gt; </a:t>
            </a:r>
            <a:r>
              <a:rPr lang="zh-CN" altLang="en-US">
                <a:solidFill>
                  <a:schemeClr val="bg1"/>
                </a:solidFill>
                <a:ea typeface="楷体_GB2312" pitchFamily="49" charset="-122"/>
              </a:rPr>
              <a:t>外层电子</a:t>
            </a:r>
            <a:r>
              <a:rPr lang="zh-CN" altLang="en-US">
                <a:solidFill>
                  <a:schemeClr val="bg1"/>
                </a:solidFill>
                <a:latin typeface="楷体" panose="02010609060101010101" pitchFamily="49" charset="-122"/>
                <a:ea typeface="楷体_GB2312" pitchFamily="49" charset="-122"/>
              </a:rPr>
              <a:t>束缚能</a:t>
            </a:r>
          </a:p>
        </p:txBody>
      </p:sp>
      <p:sp>
        <p:nvSpPr>
          <p:cNvPr id="150586" name="Rectangle 58">
            <a:extLst>
              <a:ext uri="{FF2B5EF4-FFF2-40B4-BE49-F238E27FC236}">
                <a16:creationId xmlns:a16="http://schemas.microsoft.com/office/drawing/2014/main" id="{00D4BDBA-E2BD-4C08-AF40-ADEB5CDE3F95}"/>
              </a:ext>
            </a:extLst>
          </p:cNvPr>
          <p:cNvSpPr>
            <a:spLocks noChangeArrowheads="1"/>
          </p:cNvSpPr>
          <p:nvPr/>
        </p:nvSpPr>
        <p:spPr bwMode="auto">
          <a:xfrm>
            <a:off x="290513" y="1809750"/>
            <a:ext cx="6096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ea typeface="楷体_GB2312" pitchFamily="49" charset="-122"/>
              </a:rPr>
              <a:t>（</a:t>
            </a:r>
            <a:r>
              <a:rPr lang="en-US" altLang="zh-CN">
                <a:solidFill>
                  <a:schemeClr val="bg1"/>
                </a:solidFill>
                <a:ea typeface="楷体_GB2312" pitchFamily="49" charset="-122"/>
              </a:rPr>
              <a:t>2</a:t>
            </a:r>
            <a:r>
              <a:rPr lang="zh-CN" altLang="en-US">
                <a:solidFill>
                  <a:schemeClr val="bg1"/>
                </a:solidFill>
                <a:ea typeface="楷体_GB2312" pitchFamily="49" charset="-122"/>
              </a:rPr>
              <a:t>）电子热运动能量  </a:t>
            </a:r>
            <a:r>
              <a:rPr lang="en-US" altLang="zh-CN">
                <a:solidFill>
                  <a:schemeClr val="bg1"/>
                </a:solidFill>
                <a:ea typeface="楷体_GB2312" pitchFamily="49" charset="-122"/>
              </a:rPr>
              <a:t>&lt;&lt; X</a:t>
            </a:r>
            <a:r>
              <a:rPr lang="zh-CN" altLang="en-US">
                <a:solidFill>
                  <a:schemeClr val="bg1"/>
                </a:solidFill>
                <a:ea typeface="楷体_GB2312" pitchFamily="49" charset="-122"/>
              </a:rPr>
              <a:t>射线光子能量</a:t>
            </a:r>
          </a:p>
        </p:txBody>
      </p:sp>
      <p:sp>
        <p:nvSpPr>
          <p:cNvPr id="150587" name="Rectangle 59">
            <a:extLst>
              <a:ext uri="{FF2B5EF4-FFF2-40B4-BE49-F238E27FC236}">
                <a16:creationId xmlns:a16="http://schemas.microsoft.com/office/drawing/2014/main" id="{B6457A7D-A6AD-4D86-91A4-8F9D80B6BA51}"/>
              </a:ext>
            </a:extLst>
          </p:cNvPr>
          <p:cNvSpPr>
            <a:spLocks noChangeArrowheads="1"/>
          </p:cNvSpPr>
          <p:nvPr/>
        </p:nvSpPr>
        <p:spPr bwMode="auto">
          <a:xfrm>
            <a:off x="1052513" y="1328738"/>
            <a:ext cx="4019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solidFill>
                  <a:srgbClr val="EDFE4A"/>
                </a:solidFill>
                <a:ea typeface="楷体_GB2312" pitchFamily="49" charset="-122"/>
              </a:rPr>
              <a:t>—— </a:t>
            </a:r>
            <a:r>
              <a:rPr lang="zh-CN" altLang="en-US" dirty="0">
                <a:solidFill>
                  <a:srgbClr val="EDFE4A"/>
                </a:solidFill>
                <a:ea typeface="楷体_GB2312" pitchFamily="49" charset="-122"/>
              </a:rPr>
              <a:t>电子视为自由的</a:t>
            </a:r>
          </a:p>
        </p:txBody>
      </p:sp>
      <p:sp>
        <p:nvSpPr>
          <p:cNvPr id="150588" name="Rectangle 60">
            <a:extLst>
              <a:ext uri="{FF2B5EF4-FFF2-40B4-BE49-F238E27FC236}">
                <a16:creationId xmlns:a16="http://schemas.microsoft.com/office/drawing/2014/main" id="{5AFA0191-23AE-481B-B88C-605C7360201E}"/>
              </a:ext>
            </a:extLst>
          </p:cNvPr>
          <p:cNvSpPr>
            <a:spLocks noChangeArrowheads="1"/>
          </p:cNvSpPr>
          <p:nvPr/>
        </p:nvSpPr>
        <p:spPr bwMode="auto">
          <a:xfrm>
            <a:off x="1052513" y="2286000"/>
            <a:ext cx="39481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solidFill>
                  <a:srgbClr val="EDFE4A"/>
                </a:solidFill>
                <a:ea typeface="楷体_GB2312" pitchFamily="49" charset="-122"/>
              </a:rPr>
              <a:t>—— </a:t>
            </a:r>
            <a:r>
              <a:rPr lang="zh-CN" altLang="en-US" dirty="0">
                <a:solidFill>
                  <a:srgbClr val="EDFE4A"/>
                </a:solidFill>
                <a:ea typeface="楷体_GB2312" pitchFamily="49" charset="-122"/>
              </a:rPr>
              <a:t>电子视为静止的</a:t>
            </a:r>
            <a:endParaRPr lang="zh-CN" altLang="en-US" dirty="0">
              <a:solidFill>
                <a:srgbClr val="FFCC66"/>
              </a:solidFill>
              <a:ea typeface="楷体_GB2312" pitchFamily="49" charset="-122"/>
            </a:endParaRPr>
          </a:p>
        </p:txBody>
      </p:sp>
      <p:sp>
        <p:nvSpPr>
          <p:cNvPr id="150591" name="Rectangle 63">
            <a:extLst>
              <a:ext uri="{FF2B5EF4-FFF2-40B4-BE49-F238E27FC236}">
                <a16:creationId xmlns:a16="http://schemas.microsoft.com/office/drawing/2014/main" id="{AF5DFEFA-DC37-4918-A92C-7342145282FF}"/>
              </a:ext>
            </a:extLst>
          </p:cNvPr>
          <p:cNvSpPr>
            <a:spLocks noChangeArrowheads="1"/>
          </p:cNvSpPr>
          <p:nvPr/>
        </p:nvSpPr>
        <p:spPr bwMode="auto">
          <a:xfrm>
            <a:off x="857250" y="3889375"/>
            <a:ext cx="419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rgbClr val="FFCC00"/>
                </a:solidFill>
                <a:ea typeface="楷体_GB2312" pitchFamily="49" charset="-122"/>
              </a:rPr>
              <a:t>碰撞前，光子：</a:t>
            </a:r>
          </a:p>
        </p:txBody>
      </p:sp>
      <p:sp>
        <p:nvSpPr>
          <p:cNvPr id="150592" name="Rectangle 64">
            <a:extLst>
              <a:ext uri="{FF2B5EF4-FFF2-40B4-BE49-F238E27FC236}">
                <a16:creationId xmlns:a16="http://schemas.microsoft.com/office/drawing/2014/main" id="{779E20FC-34E4-4B30-89D0-0711A92D04E5}"/>
              </a:ext>
            </a:extLst>
          </p:cNvPr>
          <p:cNvSpPr>
            <a:spLocks noChangeArrowheads="1"/>
          </p:cNvSpPr>
          <p:nvPr/>
        </p:nvSpPr>
        <p:spPr bwMode="auto">
          <a:xfrm>
            <a:off x="857250" y="5186363"/>
            <a:ext cx="236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CC00"/>
                </a:solidFill>
                <a:ea typeface="楷体_GB2312" pitchFamily="49" charset="-122"/>
              </a:rPr>
              <a:t>碰撞后，</a:t>
            </a:r>
          </a:p>
        </p:txBody>
      </p:sp>
      <p:graphicFrame>
        <p:nvGraphicFramePr>
          <p:cNvPr id="150593" name="Object 10">
            <a:extLst>
              <a:ext uri="{FF2B5EF4-FFF2-40B4-BE49-F238E27FC236}">
                <a16:creationId xmlns:a16="http://schemas.microsoft.com/office/drawing/2014/main" id="{386E7FE2-937D-484B-A642-04A903316D2A}"/>
              </a:ext>
            </a:extLst>
          </p:cNvPr>
          <p:cNvGraphicFramePr>
            <a:graphicFrameLocks noChangeAspect="1"/>
          </p:cNvGraphicFramePr>
          <p:nvPr/>
        </p:nvGraphicFramePr>
        <p:xfrm>
          <a:off x="3414713" y="3871913"/>
          <a:ext cx="530225" cy="503237"/>
        </p:xfrm>
        <a:graphic>
          <a:graphicData uri="http://schemas.openxmlformats.org/presentationml/2006/ole">
            <mc:AlternateContent xmlns:mc="http://schemas.openxmlformats.org/markup-compatibility/2006">
              <mc:Choice xmlns:v="urn:schemas-microsoft-com:vml" Requires="v">
                <p:oleObj spid="_x0000_s469084" name="Equation" r:id="rId15" imgW="209486" imgH="199923" progId="Equation.DSMT4">
                  <p:embed/>
                </p:oleObj>
              </mc:Choice>
              <mc:Fallback>
                <p:oleObj name="Equation" r:id="rId15" imgW="209486" imgH="199923" progId="Equation.DSMT4">
                  <p:embed/>
                  <p:pic>
                    <p:nvPicPr>
                      <p:cNvPr id="150593" name="Object 10">
                        <a:extLst>
                          <a:ext uri="{FF2B5EF4-FFF2-40B4-BE49-F238E27FC236}">
                            <a16:creationId xmlns:a16="http://schemas.microsoft.com/office/drawing/2014/main" id="{386E7FE2-937D-484B-A642-04A903316D2A}"/>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14713" y="3871913"/>
                        <a:ext cx="530225"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0594" name="Rectangle 66">
            <a:extLst>
              <a:ext uri="{FF2B5EF4-FFF2-40B4-BE49-F238E27FC236}">
                <a16:creationId xmlns:a16="http://schemas.microsoft.com/office/drawing/2014/main" id="{49EF45B6-903E-4111-80E5-CEF1B6AEF1F5}"/>
              </a:ext>
            </a:extLst>
          </p:cNvPr>
          <p:cNvSpPr>
            <a:spLocks noChangeArrowheads="1"/>
          </p:cNvSpPr>
          <p:nvPr/>
        </p:nvSpPr>
        <p:spPr bwMode="auto">
          <a:xfrm>
            <a:off x="2076450" y="4530725"/>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CC00"/>
                </a:solidFill>
                <a:ea typeface="楷体_GB2312" pitchFamily="49" charset="-122"/>
              </a:rPr>
              <a:t>电子：</a:t>
            </a:r>
            <a:r>
              <a:rPr lang="zh-CN" altLang="en-US">
                <a:solidFill>
                  <a:srgbClr val="EDFE4A"/>
                </a:solidFill>
                <a:ea typeface="楷体_GB2312" pitchFamily="49" charset="-122"/>
              </a:rPr>
              <a:t> </a:t>
            </a:r>
          </a:p>
        </p:txBody>
      </p:sp>
      <p:graphicFrame>
        <p:nvGraphicFramePr>
          <p:cNvPr id="150595" name="Object 11">
            <a:extLst>
              <a:ext uri="{FF2B5EF4-FFF2-40B4-BE49-F238E27FC236}">
                <a16:creationId xmlns:a16="http://schemas.microsoft.com/office/drawing/2014/main" id="{084B69CC-1210-4744-B6E9-1B18E8B4EDE7}"/>
              </a:ext>
            </a:extLst>
          </p:cNvPr>
          <p:cNvGraphicFramePr>
            <a:graphicFrameLocks noChangeAspect="1"/>
          </p:cNvGraphicFramePr>
          <p:nvPr/>
        </p:nvGraphicFramePr>
        <p:xfrm>
          <a:off x="3421063" y="4483100"/>
          <a:ext cx="725487" cy="530225"/>
        </p:xfrm>
        <a:graphic>
          <a:graphicData uri="http://schemas.openxmlformats.org/presentationml/2006/ole">
            <mc:AlternateContent xmlns:mc="http://schemas.openxmlformats.org/markup-compatibility/2006">
              <mc:Choice xmlns:v="urn:schemas-microsoft-com:vml" Requires="v">
                <p:oleObj spid="_x0000_s469085" name="Equation" r:id="rId17" imgW="304902" imgH="209414" progId="Equation.DSMT4">
                  <p:embed/>
                </p:oleObj>
              </mc:Choice>
              <mc:Fallback>
                <p:oleObj name="Equation" r:id="rId17" imgW="304902" imgH="209414" progId="Equation.DSMT4">
                  <p:embed/>
                  <p:pic>
                    <p:nvPicPr>
                      <p:cNvPr id="150595" name="Object 11">
                        <a:extLst>
                          <a:ext uri="{FF2B5EF4-FFF2-40B4-BE49-F238E27FC236}">
                            <a16:creationId xmlns:a16="http://schemas.microsoft.com/office/drawing/2014/main" id="{084B69CC-1210-4744-B6E9-1B18E8B4EDE7}"/>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421063" y="4483100"/>
                        <a:ext cx="725487"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0596" name="Object 12">
            <a:extLst>
              <a:ext uri="{FF2B5EF4-FFF2-40B4-BE49-F238E27FC236}">
                <a16:creationId xmlns:a16="http://schemas.microsoft.com/office/drawing/2014/main" id="{22FC8F30-12FA-45E5-9140-465E63F4E8D3}"/>
              </a:ext>
            </a:extLst>
          </p:cNvPr>
          <p:cNvGraphicFramePr>
            <a:graphicFrameLocks noChangeAspect="1"/>
          </p:cNvGraphicFramePr>
          <p:nvPr/>
        </p:nvGraphicFramePr>
        <p:xfrm>
          <a:off x="4465638" y="4503738"/>
          <a:ext cx="949325" cy="503237"/>
        </p:xfrm>
        <a:graphic>
          <a:graphicData uri="http://schemas.openxmlformats.org/presentationml/2006/ole">
            <mc:AlternateContent xmlns:mc="http://schemas.openxmlformats.org/markup-compatibility/2006">
              <mc:Choice xmlns:v="urn:schemas-microsoft-com:vml" Requires="v">
                <p:oleObj spid="_x0000_s469086" name="Equation" r:id="rId19" imgW="400012" imgH="199923" progId="Equation.DSMT4">
                  <p:embed/>
                </p:oleObj>
              </mc:Choice>
              <mc:Fallback>
                <p:oleObj name="Equation" r:id="rId19" imgW="400012" imgH="199923" progId="Equation.DSMT4">
                  <p:embed/>
                  <p:pic>
                    <p:nvPicPr>
                      <p:cNvPr id="150596" name="Object 12">
                        <a:extLst>
                          <a:ext uri="{FF2B5EF4-FFF2-40B4-BE49-F238E27FC236}">
                            <a16:creationId xmlns:a16="http://schemas.microsoft.com/office/drawing/2014/main" id="{22FC8F30-12FA-45E5-9140-465E63F4E8D3}"/>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465638" y="4503738"/>
                        <a:ext cx="949325" cy="503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0597" name="Object 13">
            <a:extLst>
              <a:ext uri="{FF2B5EF4-FFF2-40B4-BE49-F238E27FC236}">
                <a16:creationId xmlns:a16="http://schemas.microsoft.com/office/drawing/2014/main" id="{D77F7D2B-F27E-44A7-B691-15E210E2D7F9}"/>
              </a:ext>
            </a:extLst>
          </p:cNvPr>
          <p:cNvGraphicFramePr>
            <a:graphicFrameLocks noChangeAspect="1"/>
          </p:cNvGraphicFramePr>
          <p:nvPr>
            <p:extLst/>
          </p:nvPr>
        </p:nvGraphicFramePr>
        <p:xfrm>
          <a:off x="4459288" y="3860800"/>
          <a:ext cx="1395412" cy="503238"/>
        </p:xfrm>
        <a:graphic>
          <a:graphicData uri="http://schemas.openxmlformats.org/presentationml/2006/ole">
            <mc:AlternateContent xmlns:mc="http://schemas.openxmlformats.org/markup-compatibility/2006">
              <mc:Choice xmlns:v="urn:schemas-microsoft-com:vml" Requires="v">
                <p:oleObj spid="_x0000_s469087" name="Equation" r:id="rId21" imgW="609498" imgH="199923" progId="Equation.DSMT4">
                  <p:embed/>
                </p:oleObj>
              </mc:Choice>
              <mc:Fallback>
                <p:oleObj name="Equation" r:id="rId21" imgW="609498" imgH="199923" progId="Equation.DSMT4">
                  <p:embed/>
                  <p:pic>
                    <p:nvPicPr>
                      <p:cNvPr id="150597" name="Object 13">
                        <a:extLst>
                          <a:ext uri="{FF2B5EF4-FFF2-40B4-BE49-F238E27FC236}">
                            <a16:creationId xmlns:a16="http://schemas.microsoft.com/office/drawing/2014/main" id="{D77F7D2B-F27E-44A7-B691-15E210E2D7F9}"/>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459288" y="3860800"/>
                        <a:ext cx="1395412" cy="503238"/>
                      </a:xfrm>
                      <a:prstGeom prst="rect">
                        <a:avLst/>
                      </a:prstGeom>
                      <a:solidFill>
                        <a:srgbClr val="FFFF00"/>
                      </a:solidFill>
                      <a:ln>
                        <a:noFill/>
                      </a:ln>
                      <a:effectLst/>
                      <a:extLst/>
                    </p:spPr>
                  </p:pic>
                </p:oleObj>
              </mc:Fallback>
            </mc:AlternateContent>
          </a:graphicData>
        </a:graphic>
      </p:graphicFrame>
      <p:sp>
        <p:nvSpPr>
          <p:cNvPr id="150598" name="Rectangle 70">
            <a:extLst>
              <a:ext uri="{FF2B5EF4-FFF2-40B4-BE49-F238E27FC236}">
                <a16:creationId xmlns:a16="http://schemas.microsoft.com/office/drawing/2014/main" id="{ECF1347A-40BA-4260-8004-D7108C5DAB32}"/>
              </a:ext>
            </a:extLst>
          </p:cNvPr>
          <p:cNvSpPr>
            <a:spLocks noChangeArrowheads="1"/>
          </p:cNvSpPr>
          <p:nvPr/>
        </p:nvSpPr>
        <p:spPr bwMode="auto">
          <a:xfrm>
            <a:off x="2076450" y="5203825"/>
            <a:ext cx="220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CC00"/>
                </a:solidFill>
                <a:ea typeface="楷体_GB2312" pitchFamily="49" charset="-122"/>
              </a:rPr>
              <a:t>光子：</a:t>
            </a:r>
          </a:p>
        </p:txBody>
      </p:sp>
      <p:graphicFrame>
        <p:nvGraphicFramePr>
          <p:cNvPr id="150599" name="Object 14">
            <a:extLst>
              <a:ext uri="{FF2B5EF4-FFF2-40B4-BE49-F238E27FC236}">
                <a16:creationId xmlns:a16="http://schemas.microsoft.com/office/drawing/2014/main" id="{41CCDB04-6162-41E5-9DDC-EA0B28E42430}"/>
              </a:ext>
            </a:extLst>
          </p:cNvPr>
          <p:cNvGraphicFramePr>
            <a:graphicFrameLocks noChangeAspect="1"/>
          </p:cNvGraphicFramePr>
          <p:nvPr/>
        </p:nvGraphicFramePr>
        <p:xfrm>
          <a:off x="3435350" y="5199063"/>
          <a:ext cx="503238" cy="390525"/>
        </p:xfrm>
        <a:graphic>
          <a:graphicData uri="http://schemas.openxmlformats.org/presentationml/2006/ole">
            <mc:AlternateContent xmlns:mc="http://schemas.openxmlformats.org/markup-compatibility/2006">
              <mc:Choice xmlns:v="urn:schemas-microsoft-com:vml" Requires="v">
                <p:oleObj spid="_x0000_s469088" name="Equation" r:id="rId23" imgW="200006" imgH="152468" progId="Equation.3">
                  <p:embed/>
                </p:oleObj>
              </mc:Choice>
              <mc:Fallback>
                <p:oleObj name="Equation" r:id="rId23" imgW="200006" imgH="152468" progId="Equation.3">
                  <p:embed/>
                  <p:pic>
                    <p:nvPicPr>
                      <p:cNvPr id="150599" name="Object 14">
                        <a:extLst>
                          <a:ext uri="{FF2B5EF4-FFF2-40B4-BE49-F238E27FC236}">
                            <a16:creationId xmlns:a16="http://schemas.microsoft.com/office/drawing/2014/main" id="{41CCDB04-6162-41E5-9DDC-EA0B28E42430}"/>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435350" y="5199063"/>
                        <a:ext cx="503238"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0600" name="Object 15">
            <a:extLst>
              <a:ext uri="{FF2B5EF4-FFF2-40B4-BE49-F238E27FC236}">
                <a16:creationId xmlns:a16="http://schemas.microsoft.com/office/drawing/2014/main" id="{B7CC200C-AFC0-4501-B2C1-0AEF9083B888}"/>
              </a:ext>
            </a:extLst>
          </p:cNvPr>
          <p:cNvGraphicFramePr>
            <a:graphicFrameLocks noChangeAspect="1"/>
          </p:cNvGraphicFramePr>
          <p:nvPr/>
        </p:nvGraphicFramePr>
        <p:xfrm>
          <a:off x="4562475" y="5157788"/>
          <a:ext cx="1423988" cy="503237"/>
        </p:xfrm>
        <a:graphic>
          <a:graphicData uri="http://schemas.openxmlformats.org/presentationml/2006/ole">
            <mc:AlternateContent xmlns:mc="http://schemas.openxmlformats.org/markup-compatibility/2006">
              <mc:Choice xmlns:v="urn:schemas-microsoft-com:vml" Requires="v">
                <p:oleObj spid="_x0000_s469089" name="Equation" r:id="rId25" imgW="618978" imgH="199923" progId="Equation.DSMT4">
                  <p:embed/>
                </p:oleObj>
              </mc:Choice>
              <mc:Fallback>
                <p:oleObj name="Equation" r:id="rId25" imgW="618978" imgH="199923" progId="Equation.DSMT4">
                  <p:embed/>
                  <p:pic>
                    <p:nvPicPr>
                      <p:cNvPr id="150600" name="Object 15">
                        <a:extLst>
                          <a:ext uri="{FF2B5EF4-FFF2-40B4-BE49-F238E27FC236}">
                            <a16:creationId xmlns:a16="http://schemas.microsoft.com/office/drawing/2014/main" id="{B7CC200C-AFC0-4501-B2C1-0AEF9083B888}"/>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562475" y="5157788"/>
                        <a:ext cx="1423988" cy="503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0601" name="Rectangle 73">
            <a:extLst>
              <a:ext uri="{FF2B5EF4-FFF2-40B4-BE49-F238E27FC236}">
                <a16:creationId xmlns:a16="http://schemas.microsoft.com/office/drawing/2014/main" id="{95ED0859-FDEB-4C7B-B445-5DE0C316F3C0}"/>
              </a:ext>
            </a:extLst>
          </p:cNvPr>
          <p:cNvSpPr>
            <a:spLocks noChangeArrowheads="1"/>
          </p:cNvSpPr>
          <p:nvPr/>
        </p:nvSpPr>
        <p:spPr bwMode="auto">
          <a:xfrm>
            <a:off x="2076450" y="5957888"/>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rgbClr val="FFCC00"/>
                </a:solidFill>
                <a:ea typeface="楷体_GB2312" pitchFamily="49" charset="-122"/>
              </a:rPr>
              <a:t>电子： </a:t>
            </a:r>
          </a:p>
        </p:txBody>
      </p:sp>
      <p:graphicFrame>
        <p:nvGraphicFramePr>
          <p:cNvPr id="150602" name="Object 16">
            <a:extLst>
              <a:ext uri="{FF2B5EF4-FFF2-40B4-BE49-F238E27FC236}">
                <a16:creationId xmlns:a16="http://schemas.microsoft.com/office/drawing/2014/main" id="{A2D95D19-6A5D-45FC-B1D2-EDA2A7C9DB8B}"/>
              </a:ext>
            </a:extLst>
          </p:cNvPr>
          <p:cNvGraphicFramePr>
            <a:graphicFrameLocks noChangeAspect="1"/>
          </p:cNvGraphicFramePr>
          <p:nvPr/>
        </p:nvGraphicFramePr>
        <p:xfrm>
          <a:off x="3321050" y="5653088"/>
          <a:ext cx="2093913" cy="1089025"/>
        </p:xfrm>
        <a:graphic>
          <a:graphicData uri="http://schemas.openxmlformats.org/presentationml/2006/ole">
            <mc:AlternateContent xmlns:mc="http://schemas.openxmlformats.org/markup-compatibility/2006">
              <mc:Choice xmlns:v="urn:schemas-microsoft-com:vml" Requires="v">
                <p:oleObj spid="_x0000_s469090" name="Equation" r:id="rId27" imgW="923880" imgH="466589" progId="Equation.3">
                  <p:embed/>
                </p:oleObj>
              </mc:Choice>
              <mc:Fallback>
                <p:oleObj name="Equation" r:id="rId27" imgW="923880" imgH="466589" progId="Equation.3">
                  <p:embed/>
                  <p:pic>
                    <p:nvPicPr>
                      <p:cNvPr id="150602" name="Object 16">
                        <a:extLst>
                          <a:ext uri="{FF2B5EF4-FFF2-40B4-BE49-F238E27FC236}">
                            <a16:creationId xmlns:a16="http://schemas.microsoft.com/office/drawing/2014/main" id="{A2D95D19-6A5D-45FC-B1D2-EDA2A7C9DB8B}"/>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321050" y="5653088"/>
                        <a:ext cx="2093913"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0603" name="Object 17">
            <a:extLst>
              <a:ext uri="{FF2B5EF4-FFF2-40B4-BE49-F238E27FC236}">
                <a16:creationId xmlns:a16="http://schemas.microsoft.com/office/drawing/2014/main" id="{720F45A1-918B-42F3-81C8-515372BE10F1}"/>
              </a:ext>
            </a:extLst>
          </p:cNvPr>
          <p:cNvGraphicFramePr>
            <a:graphicFrameLocks noChangeAspect="1"/>
          </p:cNvGraphicFramePr>
          <p:nvPr/>
        </p:nvGraphicFramePr>
        <p:xfrm>
          <a:off x="5961063" y="5667375"/>
          <a:ext cx="1954212" cy="1033463"/>
        </p:xfrm>
        <a:graphic>
          <a:graphicData uri="http://schemas.openxmlformats.org/presentationml/2006/ole">
            <mc:AlternateContent xmlns:mc="http://schemas.openxmlformats.org/markup-compatibility/2006">
              <mc:Choice xmlns:v="urn:schemas-microsoft-com:vml" Requires="v">
                <p:oleObj spid="_x0000_s469091" name="Equation" r:id="rId29" imgW="857212" imgH="438116" progId="Equation.DSMT4">
                  <p:embed/>
                </p:oleObj>
              </mc:Choice>
              <mc:Fallback>
                <p:oleObj name="Equation" r:id="rId29" imgW="857212" imgH="438116" progId="Equation.DSMT4">
                  <p:embed/>
                  <p:pic>
                    <p:nvPicPr>
                      <p:cNvPr id="150603" name="Object 17">
                        <a:extLst>
                          <a:ext uri="{FF2B5EF4-FFF2-40B4-BE49-F238E27FC236}">
                            <a16:creationId xmlns:a16="http://schemas.microsoft.com/office/drawing/2014/main" id="{720F45A1-918B-42F3-81C8-515372BE10F1}"/>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5961063" y="5667375"/>
                        <a:ext cx="1954212"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67" name="灯片编号占位符 1">
            <a:extLst>
              <a:ext uri="{FF2B5EF4-FFF2-40B4-BE49-F238E27FC236}">
                <a16:creationId xmlns:a16="http://schemas.microsoft.com/office/drawing/2014/main" id="{FAFD5C74-B357-46E7-9FCD-EF6C97C75B8F}"/>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3554A025-21C4-45FF-B567-A71B89F67C10}" type="slidenum">
              <a:rPr lang="en-US" altLang="zh-CN" b="0">
                <a:solidFill>
                  <a:srgbClr val="FF00FF"/>
                </a:solidFill>
              </a:rPr>
              <a:pPr eaLnBrk="1" hangingPunct="1"/>
              <a:t>12</a:t>
            </a:fld>
            <a:r>
              <a:rPr lang="en-US" altLang="zh-CN" b="0">
                <a:solidFill>
                  <a:srgbClr val="FF00FF"/>
                </a:solidFill>
              </a:rPr>
              <a:t>/22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50569"/>
                                        </p:tgtEl>
                                        <p:attrNameLst>
                                          <p:attrName>style.visibility</p:attrName>
                                        </p:attrNameLst>
                                      </p:cBhvr>
                                      <p:to>
                                        <p:strVal val="visible"/>
                                      </p:to>
                                    </p:set>
                                    <p:animEffect transition="in" filter="blinds(horizontal)">
                                      <p:cBhvr>
                                        <p:cTn id="7" dur="500"/>
                                        <p:tgtEl>
                                          <p:spTgt spid="15056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0570"/>
                                        </p:tgtEl>
                                        <p:attrNameLst>
                                          <p:attrName>style.visibility</p:attrName>
                                        </p:attrNameLst>
                                      </p:cBhvr>
                                      <p:to>
                                        <p:strVal val="visible"/>
                                      </p:to>
                                    </p:set>
                                    <p:animEffect transition="in" filter="dissolve">
                                      <p:cBhvr>
                                        <p:cTn id="12" dur="500"/>
                                        <p:tgtEl>
                                          <p:spTgt spid="150570"/>
                                        </p:tgtEl>
                                      </p:cBhvr>
                                    </p:animEffect>
                                  </p:childTnLst>
                                </p:cTn>
                              </p:par>
                              <p:par>
                                <p:cTn id="13" presetID="9" presetClass="entr" presetSubtype="0" fill="hold" nodeType="withEffect">
                                  <p:stCondLst>
                                    <p:cond delay="0"/>
                                  </p:stCondLst>
                                  <p:childTnLst>
                                    <p:set>
                                      <p:cBhvr>
                                        <p:cTn id="14" dur="1" fill="hold">
                                          <p:stCondLst>
                                            <p:cond delay="0"/>
                                          </p:stCondLst>
                                        </p:cTn>
                                        <p:tgtEl>
                                          <p:spTgt spid="150576"/>
                                        </p:tgtEl>
                                        <p:attrNameLst>
                                          <p:attrName>style.visibility</p:attrName>
                                        </p:attrNameLst>
                                      </p:cBhvr>
                                      <p:to>
                                        <p:strVal val="visible"/>
                                      </p:to>
                                    </p:set>
                                    <p:animEffect transition="in" filter="dissolve">
                                      <p:cBhvr>
                                        <p:cTn id="15" dur="500"/>
                                        <p:tgtEl>
                                          <p:spTgt spid="150576"/>
                                        </p:tgtEl>
                                      </p:cBhvr>
                                    </p:animEffect>
                                  </p:childTnLst>
                                </p:cTn>
                              </p:par>
                              <p:par>
                                <p:cTn id="16" presetID="9" presetClass="entr" presetSubtype="0" fill="hold" nodeType="withEffect">
                                  <p:stCondLst>
                                    <p:cond delay="0"/>
                                  </p:stCondLst>
                                  <p:childTnLst>
                                    <p:set>
                                      <p:cBhvr>
                                        <p:cTn id="17" dur="1" fill="hold">
                                          <p:stCondLst>
                                            <p:cond delay="0"/>
                                          </p:stCondLst>
                                        </p:cTn>
                                        <p:tgtEl>
                                          <p:spTgt spid="150579"/>
                                        </p:tgtEl>
                                        <p:attrNameLst>
                                          <p:attrName>style.visibility</p:attrName>
                                        </p:attrNameLst>
                                      </p:cBhvr>
                                      <p:to>
                                        <p:strVal val="visible"/>
                                      </p:to>
                                    </p:set>
                                    <p:animEffect transition="in" filter="dissolve">
                                      <p:cBhvr>
                                        <p:cTn id="18" dur="500"/>
                                        <p:tgtEl>
                                          <p:spTgt spid="150579"/>
                                        </p:tgtEl>
                                      </p:cBhvr>
                                    </p:animEffect>
                                  </p:childTnLst>
                                </p:cTn>
                              </p:par>
                              <p:par>
                                <p:cTn id="19" presetID="9" presetClass="entr" presetSubtype="0" fill="hold" nodeType="withEffect">
                                  <p:stCondLst>
                                    <p:cond delay="0"/>
                                  </p:stCondLst>
                                  <p:childTnLst>
                                    <p:set>
                                      <p:cBhvr>
                                        <p:cTn id="20" dur="1" fill="hold">
                                          <p:stCondLst>
                                            <p:cond delay="0"/>
                                          </p:stCondLst>
                                        </p:cTn>
                                        <p:tgtEl>
                                          <p:spTgt spid="150575"/>
                                        </p:tgtEl>
                                        <p:attrNameLst>
                                          <p:attrName>style.visibility</p:attrName>
                                        </p:attrNameLst>
                                      </p:cBhvr>
                                      <p:to>
                                        <p:strVal val="visible"/>
                                      </p:to>
                                    </p:set>
                                    <p:animEffect transition="in" filter="dissolve">
                                      <p:cBhvr>
                                        <p:cTn id="21" dur="500"/>
                                        <p:tgtEl>
                                          <p:spTgt spid="150575"/>
                                        </p:tgtEl>
                                      </p:cBhvr>
                                    </p:animEffect>
                                  </p:childTnLst>
                                </p:cTn>
                              </p:par>
                              <p:par>
                                <p:cTn id="22" presetID="9" presetClass="entr" presetSubtype="0" fill="hold" nodeType="withEffect">
                                  <p:stCondLst>
                                    <p:cond delay="0"/>
                                  </p:stCondLst>
                                  <p:childTnLst>
                                    <p:set>
                                      <p:cBhvr>
                                        <p:cTn id="23" dur="1" fill="hold">
                                          <p:stCondLst>
                                            <p:cond delay="0"/>
                                          </p:stCondLst>
                                        </p:cTn>
                                        <p:tgtEl>
                                          <p:spTgt spid="150571"/>
                                        </p:tgtEl>
                                        <p:attrNameLst>
                                          <p:attrName>style.visibility</p:attrName>
                                        </p:attrNameLst>
                                      </p:cBhvr>
                                      <p:to>
                                        <p:strVal val="visible"/>
                                      </p:to>
                                    </p:set>
                                    <p:animEffect transition="in" filter="dissolve">
                                      <p:cBhvr>
                                        <p:cTn id="24" dur="500"/>
                                        <p:tgtEl>
                                          <p:spTgt spid="150571"/>
                                        </p:tgtEl>
                                      </p:cBhvr>
                                    </p:animEffect>
                                  </p:childTnLst>
                                </p:cTn>
                              </p:par>
                              <p:par>
                                <p:cTn id="25" presetID="9" presetClass="entr" presetSubtype="0" fill="hold" nodeType="withEffect">
                                  <p:stCondLst>
                                    <p:cond delay="0"/>
                                  </p:stCondLst>
                                  <p:childTnLst>
                                    <p:set>
                                      <p:cBhvr>
                                        <p:cTn id="26" dur="1" fill="hold">
                                          <p:stCondLst>
                                            <p:cond delay="0"/>
                                          </p:stCondLst>
                                        </p:cTn>
                                        <p:tgtEl>
                                          <p:spTgt spid="150572"/>
                                        </p:tgtEl>
                                        <p:attrNameLst>
                                          <p:attrName>style.visibility</p:attrName>
                                        </p:attrNameLst>
                                      </p:cBhvr>
                                      <p:to>
                                        <p:strVal val="visible"/>
                                      </p:to>
                                    </p:set>
                                    <p:animEffect transition="in" filter="dissolve">
                                      <p:cBhvr>
                                        <p:cTn id="27" dur="500"/>
                                        <p:tgtEl>
                                          <p:spTgt spid="150572"/>
                                        </p:tgtEl>
                                      </p:cBhvr>
                                    </p:animEffect>
                                  </p:childTnLst>
                                </p:cTn>
                              </p:par>
                              <p:par>
                                <p:cTn id="28" presetID="9" presetClass="entr" presetSubtype="0" fill="hold" nodeType="withEffect">
                                  <p:stCondLst>
                                    <p:cond delay="0"/>
                                  </p:stCondLst>
                                  <p:childTnLst>
                                    <p:set>
                                      <p:cBhvr>
                                        <p:cTn id="29" dur="1" fill="hold">
                                          <p:stCondLst>
                                            <p:cond delay="0"/>
                                          </p:stCondLst>
                                        </p:cTn>
                                        <p:tgtEl>
                                          <p:spTgt spid="150574"/>
                                        </p:tgtEl>
                                        <p:attrNameLst>
                                          <p:attrName>style.visibility</p:attrName>
                                        </p:attrNameLst>
                                      </p:cBhvr>
                                      <p:to>
                                        <p:strVal val="visible"/>
                                      </p:to>
                                    </p:set>
                                    <p:animEffect transition="in" filter="dissolve">
                                      <p:cBhvr>
                                        <p:cTn id="30" dur="500"/>
                                        <p:tgtEl>
                                          <p:spTgt spid="150574"/>
                                        </p:tgtEl>
                                      </p:cBhvr>
                                    </p:animEffect>
                                  </p:childTnLst>
                                </p:cTn>
                              </p:par>
                              <p:par>
                                <p:cTn id="31" presetID="9" presetClass="entr" presetSubtype="0" fill="hold" nodeType="withEffect">
                                  <p:stCondLst>
                                    <p:cond delay="0"/>
                                  </p:stCondLst>
                                  <p:childTnLst>
                                    <p:set>
                                      <p:cBhvr>
                                        <p:cTn id="32" dur="1" fill="hold">
                                          <p:stCondLst>
                                            <p:cond delay="0"/>
                                          </p:stCondLst>
                                        </p:cTn>
                                        <p:tgtEl>
                                          <p:spTgt spid="150577"/>
                                        </p:tgtEl>
                                        <p:attrNameLst>
                                          <p:attrName>style.visibility</p:attrName>
                                        </p:attrNameLst>
                                      </p:cBhvr>
                                      <p:to>
                                        <p:strVal val="visible"/>
                                      </p:to>
                                    </p:set>
                                    <p:animEffect transition="in" filter="dissolve">
                                      <p:cBhvr>
                                        <p:cTn id="33" dur="500"/>
                                        <p:tgtEl>
                                          <p:spTgt spid="150577"/>
                                        </p:tgtEl>
                                      </p:cBhvr>
                                    </p:animEffect>
                                  </p:childTnLst>
                                </p:cTn>
                              </p:par>
                              <p:par>
                                <p:cTn id="34" presetID="9" presetClass="entr" presetSubtype="0" fill="hold" nodeType="withEffect">
                                  <p:stCondLst>
                                    <p:cond delay="0"/>
                                  </p:stCondLst>
                                  <p:childTnLst>
                                    <p:set>
                                      <p:cBhvr>
                                        <p:cTn id="35" dur="1" fill="hold">
                                          <p:stCondLst>
                                            <p:cond delay="0"/>
                                          </p:stCondLst>
                                        </p:cTn>
                                        <p:tgtEl>
                                          <p:spTgt spid="150573"/>
                                        </p:tgtEl>
                                        <p:attrNameLst>
                                          <p:attrName>style.visibility</p:attrName>
                                        </p:attrNameLst>
                                      </p:cBhvr>
                                      <p:to>
                                        <p:strVal val="visible"/>
                                      </p:to>
                                    </p:set>
                                    <p:animEffect transition="in" filter="dissolve">
                                      <p:cBhvr>
                                        <p:cTn id="36" dur="500"/>
                                        <p:tgtEl>
                                          <p:spTgt spid="150573"/>
                                        </p:tgtEl>
                                      </p:cBhvr>
                                    </p:animEffect>
                                  </p:childTnLst>
                                </p:cTn>
                              </p:par>
                              <p:par>
                                <p:cTn id="37" presetID="9" presetClass="entr" presetSubtype="0" fill="hold" nodeType="withEffect">
                                  <p:stCondLst>
                                    <p:cond delay="0"/>
                                  </p:stCondLst>
                                  <p:childTnLst>
                                    <p:set>
                                      <p:cBhvr>
                                        <p:cTn id="38" dur="1" fill="hold">
                                          <p:stCondLst>
                                            <p:cond delay="0"/>
                                          </p:stCondLst>
                                        </p:cTn>
                                        <p:tgtEl>
                                          <p:spTgt spid="150578"/>
                                        </p:tgtEl>
                                        <p:attrNameLst>
                                          <p:attrName>style.visibility</p:attrName>
                                        </p:attrNameLst>
                                      </p:cBhvr>
                                      <p:to>
                                        <p:strVal val="visible"/>
                                      </p:to>
                                    </p:set>
                                    <p:animEffect transition="in" filter="dissolve">
                                      <p:cBhvr>
                                        <p:cTn id="39" dur="500"/>
                                        <p:tgtEl>
                                          <p:spTgt spid="150578"/>
                                        </p:tgtEl>
                                      </p:cBhvr>
                                    </p:animEffect>
                                  </p:childTnLst>
                                </p:cTn>
                              </p:par>
                              <p:par>
                                <p:cTn id="40" presetID="9" presetClass="entr" presetSubtype="0" fill="hold" nodeType="withEffect">
                                  <p:stCondLst>
                                    <p:cond delay="0"/>
                                  </p:stCondLst>
                                  <p:childTnLst>
                                    <p:set>
                                      <p:cBhvr>
                                        <p:cTn id="41" dur="1" fill="hold">
                                          <p:stCondLst>
                                            <p:cond delay="0"/>
                                          </p:stCondLst>
                                        </p:cTn>
                                        <p:tgtEl>
                                          <p:spTgt spid="150580"/>
                                        </p:tgtEl>
                                        <p:attrNameLst>
                                          <p:attrName>style.visibility</p:attrName>
                                        </p:attrNameLst>
                                      </p:cBhvr>
                                      <p:to>
                                        <p:strVal val="visible"/>
                                      </p:to>
                                    </p:set>
                                    <p:animEffect transition="in" filter="dissolve">
                                      <p:cBhvr>
                                        <p:cTn id="42" dur="500"/>
                                        <p:tgtEl>
                                          <p:spTgt spid="150580"/>
                                        </p:tgtEl>
                                      </p:cBhvr>
                                    </p:animEffect>
                                  </p:childTnLst>
                                </p:cTn>
                              </p:par>
                            </p:childTnLst>
                          </p:cTn>
                        </p:par>
                        <p:par>
                          <p:cTn id="43" fill="hold" nodeType="afterGroup">
                            <p:stCondLst>
                              <p:cond delay="500"/>
                            </p:stCondLst>
                            <p:childTnLst>
                              <p:par>
                                <p:cTn id="44" presetID="9" presetClass="entr" presetSubtype="0" fill="hold" grpId="0" nodeType="afterEffect">
                                  <p:stCondLst>
                                    <p:cond delay="0"/>
                                  </p:stCondLst>
                                  <p:childTnLst>
                                    <p:set>
                                      <p:cBhvr>
                                        <p:cTn id="45" dur="1" fill="hold">
                                          <p:stCondLst>
                                            <p:cond delay="0"/>
                                          </p:stCondLst>
                                        </p:cTn>
                                        <p:tgtEl>
                                          <p:spTgt spid="150584"/>
                                        </p:tgtEl>
                                        <p:attrNameLst>
                                          <p:attrName>style.visibility</p:attrName>
                                        </p:attrNameLst>
                                      </p:cBhvr>
                                      <p:to>
                                        <p:strVal val="visible"/>
                                      </p:to>
                                    </p:set>
                                    <p:animEffect transition="in" filter="dissolve">
                                      <p:cBhvr>
                                        <p:cTn id="46" dur="500"/>
                                        <p:tgtEl>
                                          <p:spTgt spid="150584"/>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50585"/>
                                        </p:tgtEl>
                                        <p:attrNameLst>
                                          <p:attrName>style.visibility</p:attrName>
                                        </p:attrNameLst>
                                      </p:cBhvr>
                                      <p:to>
                                        <p:strVal val="visible"/>
                                      </p:to>
                                    </p:set>
                                    <p:animEffect transition="in" filter="wipe(left)">
                                      <p:cBhvr>
                                        <p:cTn id="51" dur="500"/>
                                        <p:tgtEl>
                                          <p:spTgt spid="150585"/>
                                        </p:tgtEl>
                                      </p:cBhvr>
                                    </p:animEffect>
                                  </p:childTnLst>
                                </p:cTn>
                              </p:par>
                            </p:childTnLst>
                          </p:cTn>
                        </p:par>
                        <p:par>
                          <p:cTn id="52" fill="hold" nodeType="withGroup">
                            <p:stCondLst>
                              <p:cond delay="500"/>
                            </p:stCondLst>
                            <p:childTnLst>
                              <p:par>
                                <p:cTn id="53" presetID="22" presetClass="entr" presetSubtype="8" fill="hold" grpId="0" nodeType="afterEffect">
                                  <p:stCondLst>
                                    <p:cond delay="0"/>
                                  </p:stCondLst>
                                  <p:childTnLst>
                                    <p:set>
                                      <p:cBhvr>
                                        <p:cTn id="54" dur="1" fill="hold">
                                          <p:stCondLst>
                                            <p:cond delay="0"/>
                                          </p:stCondLst>
                                        </p:cTn>
                                        <p:tgtEl>
                                          <p:spTgt spid="150587"/>
                                        </p:tgtEl>
                                        <p:attrNameLst>
                                          <p:attrName>style.visibility</p:attrName>
                                        </p:attrNameLst>
                                      </p:cBhvr>
                                      <p:to>
                                        <p:strVal val="visible"/>
                                      </p:to>
                                    </p:set>
                                    <p:animEffect transition="in" filter="wipe(left)">
                                      <p:cBhvr>
                                        <p:cTn id="55" dur="500"/>
                                        <p:tgtEl>
                                          <p:spTgt spid="150587"/>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50586"/>
                                        </p:tgtEl>
                                        <p:attrNameLst>
                                          <p:attrName>style.visibility</p:attrName>
                                        </p:attrNameLst>
                                      </p:cBhvr>
                                      <p:to>
                                        <p:strVal val="visible"/>
                                      </p:to>
                                    </p:set>
                                    <p:animEffect transition="in" filter="wipe(left)">
                                      <p:cBhvr>
                                        <p:cTn id="60" dur="500"/>
                                        <p:tgtEl>
                                          <p:spTgt spid="150586"/>
                                        </p:tgtEl>
                                      </p:cBhvr>
                                    </p:animEffect>
                                  </p:childTnLst>
                                </p:cTn>
                              </p:par>
                            </p:childTnLst>
                          </p:cTn>
                        </p:par>
                        <p:par>
                          <p:cTn id="61" fill="hold" nodeType="withGroup">
                            <p:stCondLst>
                              <p:cond delay="500"/>
                            </p:stCondLst>
                            <p:childTnLst>
                              <p:par>
                                <p:cTn id="62" presetID="22" presetClass="entr" presetSubtype="8" fill="hold" grpId="0" nodeType="afterEffect">
                                  <p:stCondLst>
                                    <p:cond delay="0"/>
                                  </p:stCondLst>
                                  <p:childTnLst>
                                    <p:set>
                                      <p:cBhvr>
                                        <p:cTn id="63" dur="1" fill="hold">
                                          <p:stCondLst>
                                            <p:cond delay="0"/>
                                          </p:stCondLst>
                                        </p:cTn>
                                        <p:tgtEl>
                                          <p:spTgt spid="150588"/>
                                        </p:tgtEl>
                                        <p:attrNameLst>
                                          <p:attrName>style.visibility</p:attrName>
                                        </p:attrNameLst>
                                      </p:cBhvr>
                                      <p:to>
                                        <p:strVal val="visible"/>
                                      </p:to>
                                    </p:set>
                                    <p:animEffect transition="in" filter="wipe(left)">
                                      <p:cBhvr>
                                        <p:cTn id="64" dur="500"/>
                                        <p:tgtEl>
                                          <p:spTgt spid="150588"/>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150581"/>
                                        </p:tgtEl>
                                        <p:attrNameLst>
                                          <p:attrName>style.visibility</p:attrName>
                                        </p:attrNameLst>
                                      </p:cBhvr>
                                      <p:to>
                                        <p:strVal val="visible"/>
                                      </p:to>
                                    </p:set>
                                    <p:animEffect transition="in" filter="wipe(left)">
                                      <p:cBhvr>
                                        <p:cTn id="69" dur="500"/>
                                        <p:tgtEl>
                                          <p:spTgt spid="150581"/>
                                        </p:tgtEl>
                                      </p:cBhvr>
                                    </p:animEffect>
                                  </p:childTnLst>
                                </p:cTn>
                              </p:par>
                            </p:childTnLst>
                          </p:cTn>
                        </p:par>
                        <p:par>
                          <p:cTn id="70" fill="hold" nodeType="afterGroup">
                            <p:stCondLst>
                              <p:cond delay="500"/>
                            </p:stCondLst>
                            <p:childTnLst>
                              <p:par>
                                <p:cTn id="71" presetID="22" presetClass="entr" presetSubtype="8" fill="hold" grpId="0" nodeType="afterEffect">
                                  <p:stCondLst>
                                    <p:cond delay="0"/>
                                  </p:stCondLst>
                                  <p:childTnLst>
                                    <p:set>
                                      <p:cBhvr>
                                        <p:cTn id="72" dur="1" fill="hold">
                                          <p:stCondLst>
                                            <p:cond delay="0"/>
                                          </p:stCondLst>
                                        </p:cTn>
                                        <p:tgtEl>
                                          <p:spTgt spid="150582"/>
                                        </p:tgtEl>
                                        <p:attrNameLst>
                                          <p:attrName>style.visibility</p:attrName>
                                        </p:attrNameLst>
                                      </p:cBhvr>
                                      <p:to>
                                        <p:strVal val="visible"/>
                                      </p:to>
                                    </p:set>
                                    <p:animEffect transition="in" filter="wipe(left)">
                                      <p:cBhvr>
                                        <p:cTn id="73" dur="500"/>
                                        <p:tgtEl>
                                          <p:spTgt spid="150582"/>
                                        </p:tgtEl>
                                      </p:cBhvr>
                                    </p:animEffect>
                                  </p:childTnLst>
                                </p:cTn>
                              </p:par>
                            </p:childTnLst>
                          </p:cTn>
                        </p:par>
                        <p:par>
                          <p:cTn id="74" fill="hold" nodeType="afterGroup">
                            <p:stCondLst>
                              <p:cond delay="1000"/>
                            </p:stCondLst>
                            <p:childTnLst>
                              <p:par>
                                <p:cTn id="75" presetID="22" presetClass="entr" presetSubtype="8" fill="hold" grpId="0" nodeType="afterEffect">
                                  <p:stCondLst>
                                    <p:cond delay="0"/>
                                  </p:stCondLst>
                                  <p:childTnLst>
                                    <p:set>
                                      <p:cBhvr>
                                        <p:cTn id="76" dur="1" fill="hold">
                                          <p:stCondLst>
                                            <p:cond delay="0"/>
                                          </p:stCondLst>
                                        </p:cTn>
                                        <p:tgtEl>
                                          <p:spTgt spid="150583"/>
                                        </p:tgtEl>
                                        <p:attrNameLst>
                                          <p:attrName>style.visibility</p:attrName>
                                        </p:attrNameLst>
                                      </p:cBhvr>
                                      <p:to>
                                        <p:strVal val="visible"/>
                                      </p:to>
                                    </p:set>
                                    <p:animEffect transition="in" filter="wipe(left)">
                                      <p:cBhvr>
                                        <p:cTn id="77" dur="500"/>
                                        <p:tgtEl>
                                          <p:spTgt spid="150583"/>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50591"/>
                                        </p:tgtEl>
                                        <p:attrNameLst>
                                          <p:attrName>style.visibility</p:attrName>
                                        </p:attrNameLst>
                                      </p:cBhvr>
                                      <p:to>
                                        <p:strVal val="visible"/>
                                      </p:to>
                                    </p:set>
                                    <p:animEffect transition="in" filter="wipe(left)">
                                      <p:cBhvr>
                                        <p:cTn id="82" dur="500"/>
                                        <p:tgtEl>
                                          <p:spTgt spid="150591"/>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9" presetClass="entr" presetSubtype="0" fill="hold" nodeType="clickEffect">
                                  <p:stCondLst>
                                    <p:cond delay="0"/>
                                  </p:stCondLst>
                                  <p:childTnLst>
                                    <p:set>
                                      <p:cBhvr>
                                        <p:cTn id="86" dur="1" fill="hold">
                                          <p:stCondLst>
                                            <p:cond delay="0"/>
                                          </p:stCondLst>
                                        </p:cTn>
                                        <p:tgtEl>
                                          <p:spTgt spid="150593"/>
                                        </p:tgtEl>
                                        <p:attrNameLst>
                                          <p:attrName>style.visibility</p:attrName>
                                        </p:attrNameLst>
                                      </p:cBhvr>
                                      <p:to>
                                        <p:strVal val="visible"/>
                                      </p:to>
                                    </p:set>
                                    <p:animEffect transition="in" filter="dissolve">
                                      <p:cBhvr>
                                        <p:cTn id="87" dur="500"/>
                                        <p:tgtEl>
                                          <p:spTgt spid="150593"/>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9" presetClass="entr" presetSubtype="0" fill="hold" nodeType="clickEffect">
                                  <p:stCondLst>
                                    <p:cond delay="0"/>
                                  </p:stCondLst>
                                  <p:childTnLst>
                                    <p:set>
                                      <p:cBhvr>
                                        <p:cTn id="91" dur="1" fill="hold">
                                          <p:stCondLst>
                                            <p:cond delay="0"/>
                                          </p:stCondLst>
                                        </p:cTn>
                                        <p:tgtEl>
                                          <p:spTgt spid="150597"/>
                                        </p:tgtEl>
                                        <p:attrNameLst>
                                          <p:attrName>style.visibility</p:attrName>
                                        </p:attrNameLst>
                                      </p:cBhvr>
                                      <p:to>
                                        <p:strVal val="visible"/>
                                      </p:to>
                                    </p:set>
                                    <p:animEffect transition="in" filter="dissolve">
                                      <p:cBhvr>
                                        <p:cTn id="92" dur="500"/>
                                        <p:tgtEl>
                                          <p:spTgt spid="150597"/>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150594"/>
                                        </p:tgtEl>
                                        <p:attrNameLst>
                                          <p:attrName>style.visibility</p:attrName>
                                        </p:attrNameLst>
                                      </p:cBhvr>
                                      <p:to>
                                        <p:strVal val="visible"/>
                                      </p:to>
                                    </p:set>
                                    <p:animEffect transition="in" filter="wipe(left)">
                                      <p:cBhvr>
                                        <p:cTn id="97" dur="500"/>
                                        <p:tgtEl>
                                          <p:spTgt spid="150594"/>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nodeType="clickEffect">
                                  <p:stCondLst>
                                    <p:cond delay="0"/>
                                  </p:stCondLst>
                                  <p:childTnLst>
                                    <p:set>
                                      <p:cBhvr>
                                        <p:cTn id="101" dur="1" fill="hold">
                                          <p:stCondLst>
                                            <p:cond delay="0"/>
                                          </p:stCondLst>
                                        </p:cTn>
                                        <p:tgtEl>
                                          <p:spTgt spid="150595"/>
                                        </p:tgtEl>
                                        <p:attrNameLst>
                                          <p:attrName>style.visibility</p:attrName>
                                        </p:attrNameLst>
                                      </p:cBhvr>
                                      <p:to>
                                        <p:strVal val="visible"/>
                                      </p:to>
                                    </p:set>
                                    <p:animEffect transition="in" filter="wipe(left)">
                                      <p:cBhvr>
                                        <p:cTn id="102" dur="500"/>
                                        <p:tgtEl>
                                          <p:spTgt spid="150595"/>
                                        </p:tgtEl>
                                      </p:cBhvr>
                                    </p:animEffect>
                                  </p:childTnLst>
                                </p:cTn>
                              </p:par>
                            </p:childTnLst>
                          </p:cTn>
                        </p:par>
                      </p:childTnLst>
                    </p:cTn>
                  </p:par>
                  <p:par>
                    <p:cTn id="103" fill="hold">
                      <p:stCondLst>
                        <p:cond delay="indefinite"/>
                      </p:stCondLst>
                      <p:childTnLst>
                        <p:par>
                          <p:cTn id="104" fill="hold" nodeType="afterGroup">
                            <p:stCondLst>
                              <p:cond delay="0"/>
                            </p:stCondLst>
                            <p:childTnLst>
                              <p:par>
                                <p:cTn id="105" presetID="22" presetClass="entr" presetSubtype="8" fill="hold" nodeType="clickEffect">
                                  <p:stCondLst>
                                    <p:cond delay="0"/>
                                  </p:stCondLst>
                                  <p:childTnLst>
                                    <p:set>
                                      <p:cBhvr>
                                        <p:cTn id="106" dur="1" fill="hold">
                                          <p:stCondLst>
                                            <p:cond delay="0"/>
                                          </p:stCondLst>
                                        </p:cTn>
                                        <p:tgtEl>
                                          <p:spTgt spid="150596"/>
                                        </p:tgtEl>
                                        <p:attrNameLst>
                                          <p:attrName>style.visibility</p:attrName>
                                        </p:attrNameLst>
                                      </p:cBhvr>
                                      <p:to>
                                        <p:strVal val="visible"/>
                                      </p:to>
                                    </p:set>
                                    <p:animEffect transition="in" filter="wipe(left)">
                                      <p:cBhvr>
                                        <p:cTn id="107" dur="500"/>
                                        <p:tgtEl>
                                          <p:spTgt spid="150596"/>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150592"/>
                                        </p:tgtEl>
                                        <p:attrNameLst>
                                          <p:attrName>style.visibility</p:attrName>
                                        </p:attrNameLst>
                                      </p:cBhvr>
                                      <p:to>
                                        <p:strVal val="visible"/>
                                      </p:to>
                                    </p:set>
                                    <p:animEffect transition="in" filter="wipe(left)">
                                      <p:cBhvr>
                                        <p:cTn id="112" dur="500"/>
                                        <p:tgtEl>
                                          <p:spTgt spid="150592"/>
                                        </p:tgtEl>
                                      </p:cBhvr>
                                    </p:animEffect>
                                  </p:childTnLst>
                                </p:cTn>
                              </p:par>
                            </p:childTnLst>
                          </p:cTn>
                        </p:par>
                        <p:par>
                          <p:cTn id="113" fill="hold" nodeType="afterGroup">
                            <p:stCondLst>
                              <p:cond delay="500"/>
                            </p:stCondLst>
                            <p:childTnLst>
                              <p:par>
                                <p:cTn id="114" presetID="22" presetClass="entr" presetSubtype="8" fill="hold" grpId="0" nodeType="afterEffect">
                                  <p:stCondLst>
                                    <p:cond delay="0"/>
                                  </p:stCondLst>
                                  <p:childTnLst>
                                    <p:set>
                                      <p:cBhvr>
                                        <p:cTn id="115" dur="1" fill="hold">
                                          <p:stCondLst>
                                            <p:cond delay="0"/>
                                          </p:stCondLst>
                                        </p:cTn>
                                        <p:tgtEl>
                                          <p:spTgt spid="150598"/>
                                        </p:tgtEl>
                                        <p:attrNameLst>
                                          <p:attrName>style.visibility</p:attrName>
                                        </p:attrNameLst>
                                      </p:cBhvr>
                                      <p:to>
                                        <p:strVal val="visible"/>
                                      </p:to>
                                    </p:set>
                                    <p:animEffect transition="in" filter="wipe(left)">
                                      <p:cBhvr>
                                        <p:cTn id="116" dur="500"/>
                                        <p:tgtEl>
                                          <p:spTgt spid="150598"/>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9" presetClass="entr" presetSubtype="0" fill="hold" nodeType="clickEffect">
                                  <p:stCondLst>
                                    <p:cond delay="0"/>
                                  </p:stCondLst>
                                  <p:childTnLst>
                                    <p:set>
                                      <p:cBhvr>
                                        <p:cTn id="120" dur="1" fill="hold">
                                          <p:stCondLst>
                                            <p:cond delay="0"/>
                                          </p:stCondLst>
                                        </p:cTn>
                                        <p:tgtEl>
                                          <p:spTgt spid="150599"/>
                                        </p:tgtEl>
                                        <p:attrNameLst>
                                          <p:attrName>style.visibility</p:attrName>
                                        </p:attrNameLst>
                                      </p:cBhvr>
                                      <p:to>
                                        <p:strVal val="visible"/>
                                      </p:to>
                                    </p:set>
                                    <p:animEffect transition="in" filter="dissolve">
                                      <p:cBhvr>
                                        <p:cTn id="121" dur="500"/>
                                        <p:tgtEl>
                                          <p:spTgt spid="150599"/>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9" presetClass="entr" presetSubtype="0" fill="hold" nodeType="clickEffect">
                                  <p:stCondLst>
                                    <p:cond delay="0"/>
                                  </p:stCondLst>
                                  <p:childTnLst>
                                    <p:set>
                                      <p:cBhvr>
                                        <p:cTn id="125" dur="1" fill="hold">
                                          <p:stCondLst>
                                            <p:cond delay="0"/>
                                          </p:stCondLst>
                                        </p:cTn>
                                        <p:tgtEl>
                                          <p:spTgt spid="150600"/>
                                        </p:tgtEl>
                                        <p:attrNameLst>
                                          <p:attrName>style.visibility</p:attrName>
                                        </p:attrNameLst>
                                      </p:cBhvr>
                                      <p:to>
                                        <p:strVal val="visible"/>
                                      </p:to>
                                    </p:set>
                                    <p:animEffect transition="in" filter="dissolve">
                                      <p:cBhvr>
                                        <p:cTn id="126" dur="500"/>
                                        <p:tgtEl>
                                          <p:spTgt spid="150600"/>
                                        </p:tgtEl>
                                      </p:cBhvr>
                                    </p:animEffec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22" presetClass="entr" presetSubtype="8" fill="hold" grpId="0" nodeType="clickEffect">
                                  <p:stCondLst>
                                    <p:cond delay="0"/>
                                  </p:stCondLst>
                                  <p:childTnLst>
                                    <p:set>
                                      <p:cBhvr>
                                        <p:cTn id="130" dur="1" fill="hold">
                                          <p:stCondLst>
                                            <p:cond delay="0"/>
                                          </p:stCondLst>
                                        </p:cTn>
                                        <p:tgtEl>
                                          <p:spTgt spid="150601"/>
                                        </p:tgtEl>
                                        <p:attrNameLst>
                                          <p:attrName>style.visibility</p:attrName>
                                        </p:attrNameLst>
                                      </p:cBhvr>
                                      <p:to>
                                        <p:strVal val="visible"/>
                                      </p:to>
                                    </p:set>
                                    <p:animEffect transition="in" filter="wipe(left)">
                                      <p:cBhvr>
                                        <p:cTn id="131" dur="500"/>
                                        <p:tgtEl>
                                          <p:spTgt spid="150601"/>
                                        </p:tgtEl>
                                      </p:cBhvr>
                                    </p:animEffect>
                                  </p:childTnLst>
                                </p:cTn>
                              </p:par>
                            </p:childTnLst>
                          </p:cTn>
                        </p:par>
                      </p:childTnLst>
                    </p:cTn>
                  </p:par>
                  <p:par>
                    <p:cTn id="132" fill="hold">
                      <p:stCondLst>
                        <p:cond delay="indefinite"/>
                      </p:stCondLst>
                      <p:childTnLst>
                        <p:par>
                          <p:cTn id="133" fill="hold" nodeType="afterGroup">
                            <p:stCondLst>
                              <p:cond delay="0"/>
                            </p:stCondLst>
                            <p:childTnLst>
                              <p:par>
                                <p:cTn id="134" presetID="12" presetClass="entr" presetSubtype="4" fill="hold" nodeType="clickEffect">
                                  <p:stCondLst>
                                    <p:cond delay="0"/>
                                  </p:stCondLst>
                                  <p:childTnLst>
                                    <p:set>
                                      <p:cBhvr>
                                        <p:cTn id="135" dur="1" fill="hold">
                                          <p:stCondLst>
                                            <p:cond delay="0"/>
                                          </p:stCondLst>
                                        </p:cTn>
                                        <p:tgtEl>
                                          <p:spTgt spid="150602"/>
                                        </p:tgtEl>
                                        <p:attrNameLst>
                                          <p:attrName>style.visibility</p:attrName>
                                        </p:attrNameLst>
                                      </p:cBhvr>
                                      <p:to>
                                        <p:strVal val="visible"/>
                                      </p:to>
                                    </p:set>
                                    <p:animEffect transition="in" filter="slide(fromBottom)">
                                      <p:cBhvr>
                                        <p:cTn id="136" dur="500"/>
                                        <p:tgtEl>
                                          <p:spTgt spid="150602"/>
                                        </p:tgtEl>
                                      </p:cBhvr>
                                    </p:animEffect>
                                  </p:childTnLst>
                                </p:cTn>
                              </p:par>
                            </p:childTnLst>
                          </p:cTn>
                        </p:par>
                      </p:childTnLst>
                    </p:cTn>
                  </p:par>
                  <p:par>
                    <p:cTn id="137" fill="hold">
                      <p:stCondLst>
                        <p:cond delay="indefinite"/>
                      </p:stCondLst>
                      <p:childTnLst>
                        <p:par>
                          <p:cTn id="138" fill="hold" nodeType="afterGroup">
                            <p:stCondLst>
                              <p:cond delay="0"/>
                            </p:stCondLst>
                            <p:childTnLst>
                              <p:par>
                                <p:cTn id="139" presetID="12" presetClass="entr" presetSubtype="4" fill="hold" nodeType="clickEffect">
                                  <p:stCondLst>
                                    <p:cond delay="0"/>
                                  </p:stCondLst>
                                  <p:childTnLst>
                                    <p:set>
                                      <p:cBhvr>
                                        <p:cTn id="140" dur="1" fill="hold">
                                          <p:stCondLst>
                                            <p:cond delay="0"/>
                                          </p:stCondLst>
                                        </p:cTn>
                                        <p:tgtEl>
                                          <p:spTgt spid="150603"/>
                                        </p:tgtEl>
                                        <p:attrNameLst>
                                          <p:attrName>style.visibility</p:attrName>
                                        </p:attrNameLst>
                                      </p:cBhvr>
                                      <p:to>
                                        <p:strVal val="visible"/>
                                      </p:to>
                                    </p:set>
                                    <p:animEffect transition="in" filter="slide(fromBottom)">
                                      <p:cBhvr>
                                        <p:cTn id="141" dur="500"/>
                                        <p:tgtEl>
                                          <p:spTgt spid="1506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69" grpId="0" autoUpdateAnimBg="0"/>
      <p:bldP spid="150570" grpId="0" animBg="1"/>
      <p:bldP spid="150581" grpId="0" autoUpdateAnimBg="0"/>
      <p:bldP spid="150582" grpId="0" autoUpdateAnimBg="0"/>
      <p:bldP spid="150583" grpId="0" autoUpdateAnimBg="0"/>
      <p:bldP spid="150584" grpId="0" autoUpdateAnimBg="0"/>
      <p:bldP spid="150585" grpId="0" autoUpdateAnimBg="0"/>
      <p:bldP spid="150586" grpId="0" autoUpdateAnimBg="0"/>
      <p:bldP spid="150587" grpId="0" autoUpdateAnimBg="0"/>
      <p:bldP spid="150588" grpId="0" autoUpdateAnimBg="0"/>
      <p:bldP spid="150591" grpId="0" autoUpdateAnimBg="0"/>
      <p:bldP spid="150592" grpId="0" autoUpdateAnimBg="0"/>
      <p:bldP spid="150594" grpId="0" autoUpdateAnimBg="0"/>
      <p:bldP spid="150598" grpId="0" autoUpdateAnimBg="0"/>
      <p:bldP spid="150601"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1582" name="Object 2">
            <a:extLst>
              <a:ext uri="{FF2B5EF4-FFF2-40B4-BE49-F238E27FC236}">
                <a16:creationId xmlns:a16="http://schemas.microsoft.com/office/drawing/2014/main" id="{EB67CAB5-31D4-4934-BCF2-129C715F4E3A}"/>
              </a:ext>
            </a:extLst>
          </p:cNvPr>
          <p:cNvGraphicFramePr>
            <a:graphicFrameLocks noChangeAspect="1"/>
          </p:cNvGraphicFramePr>
          <p:nvPr/>
        </p:nvGraphicFramePr>
        <p:xfrm>
          <a:off x="3143250" y="3613150"/>
          <a:ext cx="3100388" cy="530225"/>
        </p:xfrm>
        <a:graphic>
          <a:graphicData uri="http://schemas.openxmlformats.org/presentationml/2006/ole">
            <mc:AlternateContent xmlns:mc="http://schemas.openxmlformats.org/markup-compatibility/2006">
              <mc:Choice xmlns:v="urn:schemas-microsoft-com:vml" Requires="v">
                <p:oleObj spid="_x0000_s470072" name="Equation" r:id="rId3" imgW="1381080" imgH="209414" progId="Equation.3">
                  <p:embed/>
                </p:oleObj>
              </mc:Choice>
              <mc:Fallback>
                <p:oleObj name="Equation" r:id="rId3" imgW="1381080" imgH="209414" progId="Equation.3">
                  <p:embed/>
                  <p:pic>
                    <p:nvPicPr>
                      <p:cNvPr id="151582" name="Object 2">
                        <a:extLst>
                          <a:ext uri="{FF2B5EF4-FFF2-40B4-BE49-F238E27FC236}">
                            <a16:creationId xmlns:a16="http://schemas.microsoft.com/office/drawing/2014/main" id="{EB67CAB5-31D4-4934-BCF2-129C715F4E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3250" y="3613150"/>
                        <a:ext cx="3100388"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1583" name="Rectangle 31">
            <a:extLst>
              <a:ext uri="{FF2B5EF4-FFF2-40B4-BE49-F238E27FC236}">
                <a16:creationId xmlns:a16="http://schemas.microsoft.com/office/drawing/2014/main" id="{793DD13E-7EA5-4E41-84F3-4449FB59E63F}"/>
              </a:ext>
            </a:extLst>
          </p:cNvPr>
          <p:cNvSpPr>
            <a:spLocks noChangeArrowheads="1"/>
          </p:cNvSpPr>
          <p:nvPr/>
        </p:nvSpPr>
        <p:spPr bwMode="auto">
          <a:xfrm>
            <a:off x="590550" y="214313"/>
            <a:ext cx="426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CC00"/>
                </a:solidFill>
                <a:ea typeface="楷体_GB2312" pitchFamily="49" charset="-122"/>
              </a:rPr>
              <a:t>动量守恒定律，</a:t>
            </a:r>
          </a:p>
        </p:txBody>
      </p:sp>
      <p:graphicFrame>
        <p:nvGraphicFramePr>
          <p:cNvPr id="151584" name="Object 3">
            <a:extLst>
              <a:ext uri="{FF2B5EF4-FFF2-40B4-BE49-F238E27FC236}">
                <a16:creationId xmlns:a16="http://schemas.microsoft.com/office/drawing/2014/main" id="{D5BB1BE5-D1A6-40F7-9980-9AD4941E5C85}"/>
              </a:ext>
            </a:extLst>
          </p:cNvPr>
          <p:cNvGraphicFramePr>
            <a:graphicFrameLocks noChangeAspect="1"/>
          </p:cNvGraphicFramePr>
          <p:nvPr/>
        </p:nvGraphicFramePr>
        <p:xfrm>
          <a:off x="590550" y="671513"/>
          <a:ext cx="3797300" cy="1033462"/>
        </p:xfrm>
        <a:graphic>
          <a:graphicData uri="http://schemas.openxmlformats.org/presentationml/2006/ole">
            <mc:AlternateContent xmlns:mc="http://schemas.openxmlformats.org/markup-compatibility/2006">
              <mc:Choice xmlns:v="urn:schemas-microsoft-com:vml" Requires="v">
                <p:oleObj spid="_x0000_s470073" name="Equation" r:id="rId5" imgW="1695463" imgH="438116" progId="Equation.3">
                  <p:embed/>
                </p:oleObj>
              </mc:Choice>
              <mc:Fallback>
                <p:oleObj name="Equation" r:id="rId5" imgW="1695463" imgH="438116" progId="Equation.3">
                  <p:embed/>
                  <p:pic>
                    <p:nvPicPr>
                      <p:cNvPr id="151584" name="Object 3">
                        <a:extLst>
                          <a:ext uri="{FF2B5EF4-FFF2-40B4-BE49-F238E27FC236}">
                            <a16:creationId xmlns:a16="http://schemas.microsoft.com/office/drawing/2014/main" id="{D5BB1BE5-D1A6-40F7-9980-9AD4941E5C8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0550" y="671513"/>
                        <a:ext cx="3797300" cy="1033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1585" name="Line 33">
            <a:extLst>
              <a:ext uri="{FF2B5EF4-FFF2-40B4-BE49-F238E27FC236}">
                <a16:creationId xmlns:a16="http://schemas.microsoft.com/office/drawing/2014/main" id="{9844FD01-482E-4872-9F7B-2915D86AC65B}"/>
              </a:ext>
            </a:extLst>
          </p:cNvPr>
          <p:cNvSpPr>
            <a:spLocks noChangeShapeType="1"/>
          </p:cNvSpPr>
          <p:nvPr/>
        </p:nvSpPr>
        <p:spPr bwMode="auto">
          <a:xfrm>
            <a:off x="6157913" y="1662113"/>
            <a:ext cx="2133600" cy="0"/>
          </a:xfrm>
          <a:prstGeom prst="line">
            <a:avLst/>
          </a:prstGeom>
          <a:noFill/>
          <a:ln w="22225">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1586" name="Line 34">
            <a:extLst>
              <a:ext uri="{FF2B5EF4-FFF2-40B4-BE49-F238E27FC236}">
                <a16:creationId xmlns:a16="http://schemas.microsoft.com/office/drawing/2014/main" id="{BF6E1A57-437E-429C-961C-F87878262282}"/>
              </a:ext>
            </a:extLst>
          </p:cNvPr>
          <p:cNvSpPr>
            <a:spLocks noChangeShapeType="1"/>
          </p:cNvSpPr>
          <p:nvPr/>
        </p:nvSpPr>
        <p:spPr bwMode="auto">
          <a:xfrm flipV="1">
            <a:off x="6157913" y="442913"/>
            <a:ext cx="1295400" cy="1219200"/>
          </a:xfrm>
          <a:prstGeom prst="line">
            <a:avLst/>
          </a:prstGeom>
          <a:noFill/>
          <a:ln w="22225">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1587" name="Line 35">
            <a:extLst>
              <a:ext uri="{FF2B5EF4-FFF2-40B4-BE49-F238E27FC236}">
                <a16:creationId xmlns:a16="http://schemas.microsoft.com/office/drawing/2014/main" id="{5EAA17FB-0E39-4732-936E-56E13DD79159}"/>
              </a:ext>
            </a:extLst>
          </p:cNvPr>
          <p:cNvSpPr>
            <a:spLocks noChangeShapeType="1"/>
          </p:cNvSpPr>
          <p:nvPr/>
        </p:nvSpPr>
        <p:spPr bwMode="auto">
          <a:xfrm>
            <a:off x="7453313" y="442913"/>
            <a:ext cx="838200" cy="1219200"/>
          </a:xfrm>
          <a:prstGeom prst="line">
            <a:avLst/>
          </a:prstGeom>
          <a:noFill/>
          <a:ln w="22225">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51588" name="Object 4">
            <a:extLst>
              <a:ext uri="{FF2B5EF4-FFF2-40B4-BE49-F238E27FC236}">
                <a16:creationId xmlns:a16="http://schemas.microsoft.com/office/drawing/2014/main" id="{F4B2CA5E-E451-4008-A2E6-599DA38A254D}"/>
              </a:ext>
            </a:extLst>
          </p:cNvPr>
          <p:cNvGraphicFramePr>
            <a:graphicFrameLocks noChangeAspect="1"/>
          </p:cNvGraphicFramePr>
          <p:nvPr/>
        </p:nvGraphicFramePr>
        <p:xfrm>
          <a:off x="7377113" y="1662113"/>
          <a:ext cx="781050" cy="949325"/>
        </p:xfrm>
        <a:graphic>
          <a:graphicData uri="http://schemas.openxmlformats.org/presentationml/2006/ole">
            <mc:AlternateContent xmlns:mc="http://schemas.openxmlformats.org/markup-compatibility/2006">
              <mc:Choice xmlns:v="urn:schemas-microsoft-com:vml" Requires="v">
                <p:oleObj spid="_x0000_s470074" name="Equation" r:id="rId7" imgW="323863" imgH="400152" progId="Equation.3">
                  <p:embed/>
                </p:oleObj>
              </mc:Choice>
              <mc:Fallback>
                <p:oleObj name="Equation" r:id="rId7" imgW="323863" imgH="400152" progId="Equation.3">
                  <p:embed/>
                  <p:pic>
                    <p:nvPicPr>
                      <p:cNvPr id="151588" name="Object 4">
                        <a:extLst>
                          <a:ext uri="{FF2B5EF4-FFF2-40B4-BE49-F238E27FC236}">
                            <a16:creationId xmlns:a16="http://schemas.microsoft.com/office/drawing/2014/main" id="{F4B2CA5E-E451-4008-A2E6-599DA38A254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77113" y="1662113"/>
                        <a:ext cx="781050"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1589" name="Object 5">
            <a:extLst>
              <a:ext uri="{FF2B5EF4-FFF2-40B4-BE49-F238E27FC236}">
                <a16:creationId xmlns:a16="http://schemas.microsoft.com/office/drawing/2014/main" id="{49DAF33C-2509-4E6D-B51A-3DE5C44C6810}"/>
              </a:ext>
            </a:extLst>
          </p:cNvPr>
          <p:cNvGraphicFramePr>
            <a:graphicFrameLocks noChangeAspect="1"/>
          </p:cNvGraphicFramePr>
          <p:nvPr/>
        </p:nvGraphicFramePr>
        <p:xfrm>
          <a:off x="6161088" y="366713"/>
          <a:ext cx="585787" cy="865187"/>
        </p:xfrm>
        <a:graphic>
          <a:graphicData uri="http://schemas.openxmlformats.org/presentationml/2006/ole">
            <mc:AlternateContent xmlns:mc="http://schemas.openxmlformats.org/markup-compatibility/2006">
              <mc:Choice xmlns:v="urn:schemas-microsoft-com:vml" Requires="v">
                <p:oleObj spid="_x0000_s470075" name="Equation" r:id="rId9" imgW="238233" imgH="361882" progId="Equation.3">
                  <p:embed/>
                </p:oleObj>
              </mc:Choice>
              <mc:Fallback>
                <p:oleObj name="Equation" r:id="rId9" imgW="238233" imgH="361882" progId="Equation.3">
                  <p:embed/>
                  <p:pic>
                    <p:nvPicPr>
                      <p:cNvPr id="151589" name="Object 5">
                        <a:extLst>
                          <a:ext uri="{FF2B5EF4-FFF2-40B4-BE49-F238E27FC236}">
                            <a16:creationId xmlns:a16="http://schemas.microsoft.com/office/drawing/2014/main" id="{49DAF33C-2509-4E6D-B51A-3DE5C44C681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61088" y="366713"/>
                        <a:ext cx="585787" cy="86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1590" name="Object 6">
            <a:extLst>
              <a:ext uri="{FF2B5EF4-FFF2-40B4-BE49-F238E27FC236}">
                <a16:creationId xmlns:a16="http://schemas.microsoft.com/office/drawing/2014/main" id="{7C0A9304-DF83-47AB-99EC-3DD743C5586D}"/>
              </a:ext>
            </a:extLst>
          </p:cNvPr>
          <p:cNvGraphicFramePr>
            <a:graphicFrameLocks noChangeAspect="1"/>
          </p:cNvGraphicFramePr>
          <p:nvPr/>
        </p:nvGraphicFramePr>
        <p:xfrm>
          <a:off x="7834313" y="442913"/>
          <a:ext cx="669925" cy="503237"/>
        </p:xfrm>
        <a:graphic>
          <a:graphicData uri="http://schemas.openxmlformats.org/presentationml/2006/ole">
            <mc:AlternateContent xmlns:mc="http://schemas.openxmlformats.org/markup-compatibility/2006">
              <mc:Choice xmlns:v="urn:schemas-microsoft-com:vml" Requires="v">
                <p:oleObj spid="_x0000_s470076" name="Equation" r:id="rId11" imgW="276155" imgH="199923" progId="Equation.3">
                  <p:embed/>
                </p:oleObj>
              </mc:Choice>
              <mc:Fallback>
                <p:oleObj name="Equation" r:id="rId11" imgW="276155" imgH="199923" progId="Equation.3">
                  <p:embed/>
                  <p:pic>
                    <p:nvPicPr>
                      <p:cNvPr id="151590" name="Object 6">
                        <a:extLst>
                          <a:ext uri="{FF2B5EF4-FFF2-40B4-BE49-F238E27FC236}">
                            <a16:creationId xmlns:a16="http://schemas.microsoft.com/office/drawing/2014/main" id="{7C0A9304-DF83-47AB-99EC-3DD743C5586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834313" y="442913"/>
                        <a:ext cx="669925"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1591" name="Object 7">
            <a:extLst>
              <a:ext uri="{FF2B5EF4-FFF2-40B4-BE49-F238E27FC236}">
                <a16:creationId xmlns:a16="http://schemas.microsoft.com/office/drawing/2014/main" id="{80537553-9F24-4F2B-B53E-0B73306C0105}"/>
              </a:ext>
            </a:extLst>
          </p:cNvPr>
          <p:cNvGraphicFramePr>
            <a:graphicFrameLocks noChangeAspect="1"/>
          </p:cNvGraphicFramePr>
          <p:nvPr/>
        </p:nvGraphicFramePr>
        <p:xfrm>
          <a:off x="6615113" y="1204913"/>
          <a:ext cx="279400" cy="390525"/>
        </p:xfrm>
        <a:graphic>
          <a:graphicData uri="http://schemas.openxmlformats.org/presentationml/2006/ole">
            <mc:AlternateContent xmlns:mc="http://schemas.openxmlformats.org/markup-compatibility/2006">
              <mc:Choice xmlns:v="urn:schemas-microsoft-com:vml" Requires="v">
                <p:oleObj spid="_x0000_s470077" name="Equation" r:id="rId13" imgW="95110" imgH="152468" progId="Equation.3">
                  <p:embed/>
                </p:oleObj>
              </mc:Choice>
              <mc:Fallback>
                <p:oleObj name="Equation" r:id="rId13" imgW="95110" imgH="152468" progId="Equation.3">
                  <p:embed/>
                  <p:pic>
                    <p:nvPicPr>
                      <p:cNvPr id="151591" name="Object 7">
                        <a:extLst>
                          <a:ext uri="{FF2B5EF4-FFF2-40B4-BE49-F238E27FC236}">
                            <a16:creationId xmlns:a16="http://schemas.microsoft.com/office/drawing/2014/main" id="{80537553-9F24-4F2B-B53E-0B73306C010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615113" y="1204913"/>
                        <a:ext cx="2794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1592" name="Object 8">
            <a:extLst>
              <a:ext uri="{FF2B5EF4-FFF2-40B4-BE49-F238E27FC236}">
                <a16:creationId xmlns:a16="http://schemas.microsoft.com/office/drawing/2014/main" id="{7E8E366F-958A-4A73-9432-A2CFDD20C3B7}"/>
              </a:ext>
            </a:extLst>
          </p:cNvPr>
          <p:cNvGraphicFramePr>
            <a:graphicFrameLocks noChangeAspect="1"/>
          </p:cNvGraphicFramePr>
          <p:nvPr/>
        </p:nvGraphicFramePr>
        <p:xfrm>
          <a:off x="642938" y="2216150"/>
          <a:ext cx="5613400" cy="1284288"/>
        </p:xfrm>
        <a:graphic>
          <a:graphicData uri="http://schemas.openxmlformats.org/presentationml/2006/ole">
            <mc:AlternateContent xmlns:mc="http://schemas.openxmlformats.org/markup-compatibility/2006">
              <mc:Choice xmlns:v="urn:schemas-microsoft-com:vml" Requires="v">
                <p:oleObj spid="_x0000_s470078" name="Equation" r:id="rId15" imgW="2524233" imgH="552314" progId="Equation.DSMT4">
                  <p:embed/>
                </p:oleObj>
              </mc:Choice>
              <mc:Fallback>
                <p:oleObj name="Equation" r:id="rId15" imgW="2524233" imgH="552314" progId="Equation.DSMT4">
                  <p:embed/>
                  <p:pic>
                    <p:nvPicPr>
                      <p:cNvPr id="151592" name="Object 8">
                        <a:extLst>
                          <a:ext uri="{FF2B5EF4-FFF2-40B4-BE49-F238E27FC236}">
                            <a16:creationId xmlns:a16="http://schemas.microsoft.com/office/drawing/2014/main" id="{7E8E366F-958A-4A73-9432-A2CFDD20C3B7}"/>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42938" y="2216150"/>
                        <a:ext cx="5613400" cy="1284288"/>
                      </a:xfrm>
                      <a:prstGeom prst="rect">
                        <a:avLst/>
                      </a:prstGeom>
                      <a:noFill/>
                      <a:ln>
                        <a:noFill/>
                      </a:ln>
                      <a:extLst>
                        <a:ext uri="{909E8E84-426E-40DD-AFC4-6F175D3DCCD1}">
                          <a14:hiddenFill xmlns:a14="http://schemas.microsoft.com/office/drawing/2010/main">
                            <a:solidFill>
                              <a:srgbClr val="002B56"/>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1593" name="Rectangle 41">
            <a:extLst>
              <a:ext uri="{FF2B5EF4-FFF2-40B4-BE49-F238E27FC236}">
                <a16:creationId xmlns:a16="http://schemas.microsoft.com/office/drawing/2014/main" id="{DF2AC919-8152-4E82-A87F-3299671F3175}"/>
              </a:ext>
            </a:extLst>
          </p:cNvPr>
          <p:cNvSpPr>
            <a:spLocks noChangeArrowheads="1"/>
          </p:cNvSpPr>
          <p:nvPr/>
        </p:nvSpPr>
        <p:spPr bwMode="auto">
          <a:xfrm>
            <a:off x="571500" y="1714500"/>
            <a:ext cx="426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FFFF"/>
                </a:solidFill>
                <a:ea typeface="楷体_GB2312" pitchFamily="49" charset="-122"/>
              </a:rPr>
              <a:t>利用三角函数关系，可知</a:t>
            </a:r>
          </a:p>
        </p:txBody>
      </p:sp>
      <p:sp>
        <p:nvSpPr>
          <p:cNvPr id="151595" name="Rectangle 43">
            <a:extLst>
              <a:ext uri="{FF2B5EF4-FFF2-40B4-BE49-F238E27FC236}">
                <a16:creationId xmlns:a16="http://schemas.microsoft.com/office/drawing/2014/main" id="{C0DEDFF1-7158-49C3-9FB4-EE93CC8D747E}"/>
              </a:ext>
            </a:extLst>
          </p:cNvPr>
          <p:cNvSpPr>
            <a:spLocks noChangeArrowheads="1"/>
          </p:cNvSpPr>
          <p:nvPr/>
        </p:nvSpPr>
        <p:spPr bwMode="auto">
          <a:xfrm>
            <a:off x="590550" y="3614738"/>
            <a:ext cx="2909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CC00"/>
                </a:solidFill>
                <a:ea typeface="楷体_GB2312" pitchFamily="49" charset="-122"/>
              </a:rPr>
              <a:t>能量守恒定律，</a:t>
            </a:r>
          </a:p>
        </p:txBody>
      </p:sp>
      <p:sp>
        <p:nvSpPr>
          <p:cNvPr id="19471" name="Rectangle 45">
            <a:extLst>
              <a:ext uri="{FF2B5EF4-FFF2-40B4-BE49-F238E27FC236}">
                <a16:creationId xmlns:a16="http://schemas.microsoft.com/office/drawing/2014/main" id="{7438693A-CD91-40E8-8B85-7AFE71287098}"/>
              </a:ext>
            </a:extLst>
          </p:cNvPr>
          <p:cNvSpPr>
            <a:spLocks noChangeArrowheads="1"/>
          </p:cNvSpPr>
          <p:nvPr/>
        </p:nvSpPr>
        <p:spPr bwMode="auto">
          <a:xfrm>
            <a:off x="1352550" y="4786313"/>
            <a:ext cx="49530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graphicFrame>
        <p:nvGraphicFramePr>
          <p:cNvPr id="151598" name="Object 10">
            <a:extLst>
              <a:ext uri="{FF2B5EF4-FFF2-40B4-BE49-F238E27FC236}">
                <a16:creationId xmlns:a16="http://schemas.microsoft.com/office/drawing/2014/main" id="{852FDDE2-F4AC-4BF2-9227-949D1497C562}"/>
              </a:ext>
            </a:extLst>
          </p:cNvPr>
          <p:cNvGraphicFramePr>
            <a:graphicFrameLocks noChangeAspect="1"/>
          </p:cNvGraphicFramePr>
          <p:nvPr/>
        </p:nvGraphicFramePr>
        <p:xfrm>
          <a:off x="1000125" y="5286375"/>
          <a:ext cx="3994150" cy="1033463"/>
        </p:xfrm>
        <a:graphic>
          <a:graphicData uri="http://schemas.openxmlformats.org/presentationml/2006/ole">
            <mc:AlternateContent xmlns:mc="http://schemas.openxmlformats.org/markup-compatibility/2006">
              <mc:Choice xmlns:v="urn:schemas-microsoft-com:vml" Requires="v">
                <p:oleObj spid="_x0000_s470079" name="Equation" r:id="rId17" imgW="1790573" imgH="438116" progId="Equation.3">
                  <p:embed/>
                </p:oleObj>
              </mc:Choice>
              <mc:Fallback>
                <p:oleObj name="Equation" r:id="rId17" imgW="1790573" imgH="438116" progId="Equation.3">
                  <p:embed/>
                  <p:pic>
                    <p:nvPicPr>
                      <p:cNvPr id="151598" name="Object 10">
                        <a:extLst>
                          <a:ext uri="{FF2B5EF4-FFF2-40B4-BE49-F238E27FC236}">
                            <a16:creationId xmlns:a16="http://schemas.microsoft.com/office/drawing/2014/main" id="{852FDDE2-F4AC-4BF2-9227-949D1497C562}"/>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00125" y="5286375"/>
                        <a:ext cx="3994150"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1599" name="AutoShape 47">
            <a:extLst>
              <a:ext uri="{FF2B5EF4-FFF2-40B4-BE49-F238E27FC236}">
                <a16:creationId xmlns:a16="http://schemas.microsoft.com/office/drawing/2014/main" id="{8B7A5B16-58F7-4990-A918-AEEC33ACA5FD}"/>
              </a:ext>
            </a:extLst>
          </p:cNvPr>
          <p:cNvSpPr>
            <a:spLocks/>
          </p:cNvSpPr>
          <p:nvPr/>
        </p:nvSpPr>
        <p:spPr bwMode="auto">
          <a:xfrm flipH="1">
            <a:off x="7358063" y="2857500"/>
            <a:ext cx="457200" cy="3000375"/>
          </a:xfrm>
          <a:prstGeom prst="leftBrace">
            <a:avLst>
              <a:gd name="adj1" fmla="val 62496"/>
              <a:gd name="adj2" fmla="val 50000"/>
            </a:avLst>
          </a:prstGeom>
          <a:noFill/>
          <a:ln w="222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51604" name="Rectangle 52">
            <a:extLst>
              <a:ext uri="{FF2B5EF4-FFF2-40B4-BE49-F238E27FC236}">
                <a16:creationId xmlns:a16="http://schemas.microsoft.com/office/drawing/2014/main" id="{EA11D7C2-0C59-4D68-8080-795E8EBCF853}"/>
              </a:ext>
            </a:extLst>
          </p:cNvPr>
          <p:cNvSpPr>
            <a:spLocks noChangeArrowheads="1"/>
          </p:cNvSpPr>
          <p:nvPr/>
        </p:nvSpPr>
        <p:spPr bwMode="auto">
          <a:xfrm>
            <a:off x="6286500" y="2614613"/>
            <a:ext cx="167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ea typeface="楷体_GB2312" pitchFamily="49" charset="-122"/>
              </a:rPr>
              <a:t>（</a:t>
            </a:r>
            <a:r>
              <a:rPr lang="en-US" altLang="zh-CN">
                <a:solidFill>
                  <a:schemeClr val="bg1"/>
                </a:solidFill>
                <a:ea typeface="楷体_GB2312" pitchFamily="49" charset="-122"/>
              </a:rPr>
              <a:t>1</a:t>
            </a:r>
            <a:r>
              <a:rPr lang="zh-CN" altLang="en-US">
                <a:solidFill>
                  <a:schemeClr val="bg1"/>
                </a:solidFill>
                <a:ea typeface="楷体_GB2312" pitchFamily="49" charset="-122"/>
              </a:rPr>
              <a:t>）</a:t>
            </a:r>
          </a:p>
        </p:txBody>
      </p:sp>
      <p:sp>
        <p:nvSpPr>
          <p:cNvPr id="151605" name="Rectangle 53">
            <a:extLst>
              <a:ext uri="{FF2B5EF4-FFF2-40B4-BE49-F238E27FC236}">
                <a16:creationId xmlns:a16="http://schemas.microsoft.com/office/drawing/2014/main" id="{AE51541A-C87C-49F1-9549-80F3DA2D5107}"/>
              </a:ext>
            </a:extLst>
          </p:cNvPr>
          <p:cNvSpPr>
            <a:spLocks noChangeArrowheads="1"/>
          </p:cNvSpPr>
          <p:nvPr/>
        </p:nvSpPr>
        <p:spPr bwMode="auto">
          <a:xfrm>
            <a:off x="5324475" y="5500688"/>
            <a:ext cx="167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ea typeface="楷体_GB2312" pitchFamily="49" charset="-122"/>
              </a:rPr>
              <a:t>（</a:t>
            </a:r>
            <a:r>
              <a:rPr lang="en-US" altLang="zh-CN">
                <a:solidFill>
                  <a:schemeClr val="bg1"/>
                </a:solidFill>
                <a:ea typeface="楷体_GB2312" pitchFamily="49" charset="-122"/>
              </a:rPr>
              <a:t>2</a:t>
            </a:r>
            <a:r>
              <a:rPr lang="zh-CN" altLang="en-US">
                <a:solidFill>
                  <a:schemeClr val="bg1"/>
                </a:solidFill>
                <a:ea typeface="楷体_GB2312" pitchFamily="49" charset="-122"/>
              </a:rPr>
              <a:t>）</a:t>
            </a:r>
          </a:p>
        </p:txBody>
      </p:sp>
      <p:graphicFrame>
        <p:nvGraphicFramePr>
          <p:cNvPr id="33" name="Object 9">
            <a:extLst>
              <a:ext uri="{FF2B5EF4-FFF2-40B4-BE49-F238E27FC236}">
                <a16:creationId xmlns:a16="http://schemas.microsoft.com/office/drawing/2014/main" id="{4F41F8EC-2681-44AA-8203-51B5C74D379F}"/>
              </a:ext>
            </a:extLst>
          </p:cNvPr>
          <p:cNvGraphicFramePr>
            <a:graphicFrameLocks noChangeAspect="1"/>
          </p:cNvGraphicFramePr>
          <p:nvPr/>
        </p:nvGraphicFramePr>
        <p:xfrm>
          <a:off x="1465263" y="4241800"/>
          <a:ext cx="2825750" cy="973138"/>
        </p:xfrm>
        <a:graphic>
          <a:graphicData uri="http://schemas.openxmlformats.org/presentationml/2006/ole">
            <mc:AlternateContent xmlns:mc="http://schemas.openxmlformats.org/markup-compatibility/2006">
              <mc:Choice xmlns:v="urn:schemas-microsoft-com:vml" Requires="v">
                <p:oleObj spid="_x0000_s470080" name="Equation" r:id="rId19" imgW="1123886" imgH="400152" progId="Equation.DSMT4">
                  <p:embed/>
                </p:oleObj>
              </mc:Choice>
              <mc:Fallback>
                <p:oleObj name="Equation" r:id="rId19" imgW="1123886" imgH="400152" progId="Equation.DSMT4">
                  <p:embed/>
                  <p:pic>
                    <p:nvPicPr>
                      <p:cNvPr id="33" name="Object 9">
                        <a:extLst>
                          <a:ext uri="{FF2B5EF4-FFF2-40B4-BE49-F238E27FC236}">
                            <a16:creationId xmlns:a16="http://schemas.microsoft.com/office/drawing/2014/main" id="{4F41F8EC-2681-44AA-8203-51B5C74D379F}"/>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465263" y="4241800"/>
                        <a:ext cx="2825750" cy="9731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477" name="灯片编号占位符 1">
            <a:extLst>
              <a:ext uri="{FF2B5EF4-FFF2-40B4-BE49-F238E27FC236}">
                <a16:creationId xmlns:a16="http://schemas.microsoft.com/office/drawing/2014/main" id="{148E517C-CDC3-4F4E-B48D-EE3A9EB65785}"/>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68D85587-1D51-4DD8-96F0-3874C3D6B2C3}" type="slidenum">
              <a:rPr lang="en-US" altLang="zh-CN" b="0">
                <a:solidFill>
                  <a:srgbClr val="FF00FF"/>
                </a:solidFill>
              </a:rPr>
              <a:pPr eaLnBrk="1" hangingPunct="1"/>
              <a:t>13</a:t>
            </a:fld>
            <a:r>
              <a:rPr lang="en-US" altLang="zh-CN" b="0">
                <a:solidFill>
                  <a:srgbClr val="FF00FF"/>
                </a:solidFill>
              </a:rPr>
              <a:t>/22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51583"/>
                                        </p:tgtEl>
                                        <p:attrNameLst>
                                          <p:attrName>style.visibility</p:attrName>
                                        </p:attrNameLst>
                                      </p:cBhvr>
                                      <p:to>
                                        <p:strVal val="visible"/>
                                      </p:to>
                                    </p:set>
                                    <p:animEffect transition="in" filter="blinds(horizontal)">
                                      <p:cBhvr>
                                        <p:cTn id="7" dur="500"/>
                                        <p:tgtEl>
                                          <p:spTgt spid="1515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51585"/>
                                        </p:tgtEl>
                                        <p:attrNameLst>
                                          <p:attrName>style.visibility</p:attrName>
                                        </p:attrNameLst>
                                      </p:cBhvr>
                                      <p:to>
                                        <p:strVal val="visible"/>
                                      </p:to>
                                    </p:set>
                                    <p:animEffect transition="in" filter="wipe(left)">
                                      <p:cBhvr>
                                        <p:cTn id="12" dur="500"/>
                                        <p:tgtEl>
                                          <p:spTgt spid="151585"/>
                                        </p:tgtEl>
                                      </p:cBhvr>
                                    </p:animEffect>
                                  </p:childTnLst>
                                </p:cTn>
                              </p:par>
                            </p:childTnLst>
                          </p:cTn>
                        </p:par>
                        <p:par>
                          <p:cTn id="13" fill="hold" nodeType="afterGroup">
                            <p:stCondLst>
                              <p:cond delay="500"/>
                            </p:stCondLst>
                            <p:childTnLst>
                              <p:par>
                                <p:cTn id="14" presetID="12" presetClass="entr" presetSubtype="2" fill="hold" nodeType="afterEffect">
                                  <p:stCondLst>
                                    <p:cond delay="0"/>
                                  </p:stCondLst>
                                  <p:childTnLst>
                                    <p:set>
                                      <p:cBhvr>
                                        <p:cTn id="15" dur="1" fill="hold">
                                          <p:stCondLst>
                                            <p:cond delay="0"/>
                                          </p:stCondLst>
                                        </p:cTn>
                                        <p:tgtEl>
                                          <p:spTgt spid="151588"/>
                                        </p:tgtEl>
                                        <p:attrNameLst>
                                          <p:attrName>style.visibility</p:attrName>
                                        </p:attrNameLst>
                                      </p:cBhvr>
                                      <p:to>
                                        <p:strVal val="visible"/>
                                      </p:to>
                                    </p:set>
                                    <p:animEffect transition="in" filter="slide(fromRight)">
                                      <p:cBhvr>
                                        <p:cTn id="16" dur="500"/>
                                        <p:tgtEl>
                                          <p:spTgt spid="15158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151586"/>
                                        </p:tgtEl>
                                        <p:attrNameLst>
                                          <p:attrName>style.visibility</p:attrName>
                                        </p:attrNameLst>
                                      </p:cBhvr>
                                      <p:to>
                                        <p:strVal val="visible"/>
                                      </p:to>
                                    </p:set>
                                    <p:animEffect transition="in" filter="wipe(left)">
                                      <p:cBhvr>
                                        <p:cTn id="21" dur="500"/>
                                        <p:tgtEl>
                                          <p:spTgt spid="151586"/>
                                        </p:tgtEl>
                                      </p:cBhvr>
                                    </p:animEffect>
                                  </p:childTnLst>
                                </p:cTn>
                              </p:par>
                            </p:childTnLst>
                          </p:cTn>
                        </p:par>
                        <p:par>
                          <p:cTn id="22" fill="hold" nodeType="afterGroup">
                            <p:stCondLst>
                              <p:cond delay="500"/>
                            </p:stCondLst>
                            <p:childTnLst>
                              <p:par>
                                <p:cTn id="23" presetID="12" presetClass="entr" presetSubtype="2" fill="hold" nodeType="afterEffect">
                                  <p:stCondLst>
                                    <p:cond delay="0"/>
                                  </p:stCondLst>
                                  <p:childTnLst>
                                    <p:set>
                                      <p:cBhvr>
                                        <p:cTn id="24" dur="1" fill="hold">
                                          <p:stCondLst>
                                            <p:cond delay="0"/>
                                          </p:stCondLst>
                                        </p:cTn>
                                        <p:tgtEl>
                                          <p:spTgt spid="151589"/>
                                        </p:tgtEl>
                                        <p:attrNameLst>
                                          <p:attrName>style.visibility</p:attrName>
                                        </p:attrNameLst>
                                      </p:cBhvr>
                                      <p:to>
                                        <p:strVal val="visible"/>
                                      </p:to>
                                    </p:set>
                                    <p:animEffect transition="in" filter="slide(fromRight)">
                                      <p:cBhvr>
                                        <p:cTn id="25" dur="500"/>
                                        <p:tgtEl>
                                          <p:spTgt spid="151589"/>
                                        </p:tgtEl>
                                      </p:cBhvr>
                                    </p:animEffect>
                                  </p:childTnLst>
                                </p:cTn>
                              </p:par>
                            </p:childTnLst>
                          </p:cTn>
                        </p:par>
                        <p:par>
                          <p:cTn id="26" fill="hold" nodeType="afterGroup">
                            <p:stCondLst>
                              <p:cond delay="1000"/>
                            </p:stCondLst>
                            <p:childTnLst>
                              <p:par>
                                <p:cTn id="27" presetID="12" presetClass="entr" presetSubtype="2" fill="hold" nodeType="afterEffect">
                                  <p:stCondLst>
                                    <p:cond delay="0"/>
                                  </p:stCondLst>
                                  <p:childTnLst>
                                    <p:set>
                                      <p:cBhvr>
                                        <p:cTn id="28" dur="1" fill="hold">
                                          <p:stCondLst>
                                            <p:cond delay="0"/>
                                          </p:stCondLst>
                                        </p:cTn>
                                        <p:tgtEl>
                                          <p:spTgt spid="151591"/>
                                        </p:tgtEl>
                                        <p:attrNameLst>
                                          <p:attrName>style.visibility</p:attrName>
                                        </p:attrNameLst>
                                      </p:cBhvr>
                                      <p:to>
                                        <p:strVal val="visible"/>
                                      </p:to>
                                    </p:set>
                                    <p:animEffect transition="in" filter="slide(fromRight)">
                                      <p:cBhvr>
                                        <p:cTn id="29" dur="500"/>
                                        <p:tgtEl>
                                          <p:spTgt spid="15159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151587"/>
                                        </p:tgtEl>
                                        <p:attrNameLst>
                                          <p:attrName>style.visibility</p:attrName>
                                        </p:attrNameLst>
                                      </p:cBhvr>
                                      <p:to>
                                        <p:strVal val="visible"/>
                                      </p:to>
                                    </p:set>
                                    <p:animEffect transition="in" filter="wipe(left)">
                                      <p:cBhvr>
                                        <p:cTn id="34" dur="500"/>
                                        <p:tgtEl>
                                          <p:spTgt spid="151587"/>
                                        </p:tgtEl>
                                      </p:cBhvr>
                                    </p:animEffect>
                                  </p:childTnLst>
                                </p:cTn>
                              </p:par>
                            </p:childTnLst>
                          </p:cTn>
                        </p:par>
                        <p:par>
                          <p:cTn id="35" fill="hold" nodeType="afterGroup">
                            <p:stCondLst>
                              <p:cond delay="500"/>
                            </p:stCondLst>
                            <p:childTnLst>
                              <p:par>
                                <p:cTn id="36" presetID="12" presetClass="entr" presetSubtype="2" fill="hold" nodeType="afterEffect">
                                  <p:stCondLst>
                                    <p:cond delay="0"/>
                                  </p:stCondLst>
                                  <p:childTnLst>
                                    <p:set>
                                      <p:cBhvr>
                                        <p:cTn id="37" dur="1" fill="hold">
                                          <p:stCondLst>
                                            <p:cond delay="0"/>
                                          </p:stCondLst>
                                        </p:cTn>
                                        <p:tgtEl>
                                          <p:spTgt spid="151590"/>
                                        </p:tgtEl>
                                        <p:attrNameLst>
                                          <p:attrName>style.visibility</p:attrName>
                                        </p:attrNameLst>
                                      </p:cBhvr>
                                      <p:to>
                                        <p:strVal val="visible"/>
                                      </p:to>
                                    </p:set>
                                    <p:animEffect transition="in" filter="slide(fromRight)">
                                      <p:cBhvr>
                                        <p:cTn id="38" dur="500"/>
                                        <p:tgtEl>
                                          <p:spTgt spid="15159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2" presetClass="entr" presetSubtype="2" fill="hold" nodeType="clickEffect">
                                  <p:stCondLst>
                                    <p:cond delay="0"/>
                                  </p:stCondLst>
                                  <p:childTnLst>
                                    <p:set>
                                      <p:cBhvr>
                                        <p:cTn id="42" dur="1" fill="hold">
                                          <p:stCondLst>
                                            <p:cond delay="0"/>
                                          </p:stCondLst>
                                        </p:cTn>
                                        <p:tgtEl>
                                          <p:spTgt spid="151584"/>
                                        </p:tgtEl>
                                        <p:attrNameLst>
                                          <p:attrName>style.visibility</p:attrName>
                                        </p:attrNameLst>
                                      </p:cBhvr>
                                      <p:to>
                                        <p:strVal val="visible"/>
                                      </p:to>
                                    </p:set>
                                    <p:animEffect transition="in" filter="slide(fromRight)">
                                      <p:cBhvr>
                                        <p:cTn id="43" dur="500"/>
                                        <p:tgtEl>
                                          <p:spTgt spid="15158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51593"/>
                                        </p:tgtEl>
                                        <p:attrNameLst>
                                          <p:attrName>style.visibility</p:attrName>
                                        </p:attrNameLst>
                                      </p:cBhvr>
                                      <p:to>
                                        <p:strVal val="visible"/>
                                      </p:to>
                                    </p:set>
                                    <p:animEffect transition="in" filter="wipe(left)">
                                      <p:cBhvr>
                                        <p:cTn id="48" dur="500"/>
                                        <p:tgtEl>
                                          <p:spTgt spid="151593"/>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2" presetClass="entr" presetSubtype="2" fill="hold" nodeType="clickEffect">
                                  <p:stCondLst>
                                    <p:cond delay="0"/>
                                  </p:stCondLst>
                                  <p:childTnLst>
                                    <p:set>
                                      <p:cBhvr>
                                        <p:cTn id="52" dur="1" fill="hold">
                                          <p:stCondLst>
                                            <p:cond delay="0"/>
                                          </p:stCondLst>
                                        </p:cTn>
                                        <p:tgtEl>
                                          <p:spTgt spid="151592"/>
                                        </p:tgtEl>
                                        <p:attrNameLst>
                                          <p:attrName>style.visibility</p:attrName>
                                        </p:attrNameLst>
                                      </p:cBhvr>
                                      <p:to>
                                        <p:strVal val="visible"/>
                                      </p:to>
                                    </p:set>
                                    <p:animEffect transition="in" filter="slide(fromRight)">
                                      <p:cBhvr>
                                        <p:cTn id="53" dur="500"/>
                                        <p:tgtEl>
                                          <p:spTgt spid="151592"/>
                                        </p:tgtEl>
                                      </p:cBhvr>
                                    </p:animEffect>
                                  </p:childTnLst>
                                </p:cTn>
                              </p:par>
                            </p:childTnLst>
                          </p:cTn>
                        </p:par>
                        <p:par>
                          <p:cTn id="54" fill="hold" nodeType="afterGroup">
                            <p:stCondLst>
                              <p:cond delay="500"/>
                            </p:stCondLst>
                            <p:childTnLst>
                              <p:par>
                                <p:cTn id="55" presetID="1" presetClass="entr" presetSubtype="0" fill="hold" grpId="0" nodeType="afterEffect">
                                  <p:stCondLst>
                                    <p:cond delay="0"/>
                                  </p:stCondLst>
                                  <p:childTnLst>
                                    <p:set>
                                      <p:cBhvr>
                                        <p:cTn id="56" dur="1" fill="hold">
                                          <p:stCondLst>
                                            <p:cond delay="499"/>
                                          </p:stCondLst>
                                        </p:cTn>
                                        <p:tgtEl>
                                          <p:spTgt spid="151604"/>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2" presetClass="entr" presetSubtype="4" fill="hold" grpId="0" nodeType="clickEffect">
                                  <p:stCondLst>
                                    <p:cond delay="0"/>
                                  </p:stCondLst>
                                  <p:iterate type="wd">
                                    <p:tmPct val="100000"/>
                                  </p:iterate>
                                  <p:childTnLst>
                                    <p:set>
                                      <p:cBhvr>
                                        <p:cTn id="60" dur="1" fill="hold">
                                          <p:stCondLst>
                                            <p:cond delay="0"/>
                                          </p:stCondLst>
                                        </p:cTn>
                                        <p:tgtEl>
                                          <p:spTgt spid="151595"/>
                                        </p:tgtEl>
                                        <p:attrNameLst>
                                          <p:attrName>style.visibility</p:attrName>
                                        </p:attrNameLst>
                                      </p:cBhvr>
                                      <p:to>
                                        <p:strVal val="visible"/>
                                      </p:to>
                                    </p:set>
                                    <p:animEffect transition="in" filter="slide(fromBottom)">
                                      <p:cBhvr>
                                        <p:cTn id="61" dur="300"/>
                                        <p:tgtEl>
                                          <p:spTgt spid="151595"/>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12" presetClass="entr" presetSubtype="2" fill="hold" nodeType="clickEffect">
                                  <p:stCondLst>
                                    <p:cond delay="0"/>
                                  </p:stCondLst>
                                  <p:childTnLst>
                                    <p:set>
                                      <p:cBhvr>
                                        <p:cTn id="65" dur="1" fill="hold">
                                          <p:stCondLst>
                                            <p:cond delay="0"/>
                                          </p:stCondLst>
                                        </p:cTn>
                                        <p:tgtEl>
                                          <p:spTgt spid="151582"/>
                                        </p:tgtEl>
                                        <p:attrNameLst>
                                          <p:attrName>style.visibility</p:attrName>
                                        </p:attrNameLst>
                                      </p:cBhvr>
                                      <p:to>
                                        <p:strVal val="visible"/>
                                      </p:to>
                                    </p:set>
                                    <p:animEffect transition="in" filter="slide(fromRight)">
                                      <p:cBhvr>
                                        <p:cTn id="66" dur="500"/>
                                        <p:tgtEl>
                                          <p:spTgt spid="151582"/>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9" presetClass="entr" presetSubtype="0" fill="hold" nodeType="click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dissolve">
                                      <p:cBhvr>
                                        <p:cTn id="71" dur="500"/>
                                        <p:tgtEl>
                                          <p:spTgt spid="33"/>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12" presetClass="entr" presetSubtype="2" fill="hold" nodeType="clickEffect">
                                  <p:stCondLst>
                                    <p:cond delay="0"/>
                                  </p:stCondLst>
                                  <p:childTnLst>
                                    <p:set>
                                      <p:cBhvr>
                                        <p:cTn id="75" dur="1" fill="hold">
                                          <p:stCondLst>
                                            <p:cond delay="0"/>
                                          </p:stCondLst>
                                        </p:cTn>
                                        <p:tgtEl>
                                          <p:spTgt spid="151598"/>
                                        </p:tgtEl>
                                        <p:attrNameLst>
                                          <p:attrName>style.visibility</p:attrName>
                                        </p:attrNameLst>
                                      </p:cBhvr>
                                      <p:to>
                                        <p:strVal val="visible"/>
                                      </p:to>
                                    </p:set>
                                    <p:animEffect transition="in" filter="slide(fromRight)">
                                      <p:cBhvr>
                                        <p:cTn id="76" dur="500"/>
                                        <p:tgtEl>
                                          <p:spTgt spid="151598"/>
                                        </p:tgtEl>
                                      </p:cBhvr>
                                    </p:animEffect>
                                  </p:childTnLst>
                                </p:cTn>
                              </p:par>
                            </p:childTnLst>
                          </p:cTn>
                        </p:par>
                        <p:par>
                          <p:cTn id="77" fill="hold" nodeType="afterGroup">
                            <p:stCondLst>
                              <p:cond delay="500"/>
                            </p:stCondLst>
                            <p:childTnLst>
                              <p:par>
                                <p:cTn id="78" presetID="1" presetClass="entr" presetSubtype="0" fill="hold" grpId="0" nodeType="afterEffect">
                                  <p:stCondLst>
                                    <p:cond delay="0"/>
                                  </p:stCondLst>
                                  <p:childTnLst>
                                    <p:set>
                                      <p:cBhvr>
                                        <p:cTn id="79" dur="1" fill="hold">
                                          <p:stCondLst>
                                            <p:cond delay="499"/>
                                          </p:stCondLst>
                                        </p:cTn>
                                        <p:tgtEl>
                                          <p:spTgt spid="151605"/>
                                        </p:tgtEl>
                                        <p:attrNameLst>
                                          <p:attrName>style.visibility</p:attrName>
                                        </p:attrNameLst>
                                      </p:cBhvr>
                                      <p:to>
                                        <p:strVal val="visible"/>
                                      </p:to>
                                    </p:set>
                                  </p:childTnLst>
                                </p:cTn>
                              </p:par>
                            </p:childTnLst>
                          </p:cTn>
                        </p:par>
                        <p:par>
                          <p:cTn id="80" fill="hold" nodeType="afterGroup">
                            <p:stCondLst>
                              <p:cond delay="1000"/>
                            </p:stCondLst>
                            <p:childTnLst>
                              <p:par>
                                <p:cTn id="81" presetID="16" presetClass="entr" presetSubtype="42" fill="hold" grpId="0" nodeType="afterEffect">
                                  <p:stCondLst>
                                    <p:cond delay="0"/>
                                  </p:stCondLst>
                                  <p:childTnLst>
                                    <p:set>
                                      <p:cBhvr>
                                        <p:cTn id="82" dur="1" fill="hold">
                                          <p:stCondLst>
                                            <p:cond delay="0"/>
                                          </p:stCondLst>
                                        </p:cTn>
                                        <p:tgtEl>
                                          <p:spTgt spid="151599"/>
                                        </p:tgtEl>
                                        <p:attrNameLst>
                                          <p:attrName>style.visibility</p:attrName>
                                        </p:attrNameLst>
                                      </p:cBhvr>
                                      <p:to>
                                        <p:strVal val="visible"/>
                                      </p:to>
                                    </p:set>
                                    <p:animEffect transition="in" filter="barn(outHorizontal)">
                                      <p:cBhvr>
                                        <p:cTn id="83" dur="500"/>
                                        <p:tgtEl>
                                          <p:spTgt spid="1515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83" grpId="0" autoUpdateAnimBg="0"/>
      <p:bldP spid="151593" grpId="0" autoUpdateAnimBg="0"/>
      <p:bldP spid="151595" grpId="0" autoUpdateAnimBg="0"/>
      <p:bldP spid="151599" grpId="0" animBg="1"/>
      <p:bldP spid="151604" grpId="0" autoUpdateAnimBg="0"/>
      <p:bldP spid="151605"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2608" name="Object 2">
            <a:extLst>
              <a:ext uri="{FF2B5EF4-FFF2-40B4-BE49-F238E27FC236}">
                <a16:creationId xmlns:a16="http://schemas.microsoft.com/office/drawing/2014/main" id="{6F3A75D2-FBC0-482E-A6DD-6EBD2F9ACF0F}"/>
              </a:ext>
            </a:extLst>
          </p:cNvPr>
          <p:cNvGraphicFramePr>
            <a:graphicFrameLocks noChangeAspect="1"/>
          </p:cNvGraphicFramePr>
          <p:nvPr/>
        </p:nvGraphicFramePr>
        <p:xfrm>
          <a:off x="2428875" y="285750"/>
          <a:ext cx="4300538" cy="1004888"/>
        </p:xfrm>
        <a:graphic>
          <a:graphicData uri="http://schemas.openxmlformats.org/presentationml/2006/ole">
            <mc:AlternateContent xmlns:mc="http://schemas.openxmlformats.org/markup-compatibility/2006">
              <mc:Choice xmlns:v="urn:schemas-microsoft-com:vml" Requires="v">
                <p:oleObj spid="_x0000_s471096" name="Equation" r:id="rId3" imgW="1923910" imgH="428625" progId="Equation.3">
                  <p:embed/>
                </p:oleObj>
              </mc:Choice>
              <mc:Fallback>
                <p:oleObj name="Equation" r:id="rId3" imgW="1923910" imgH="428625" progId="Equation.3">
                  <p:embed/>
                  <p:pic>
                    <p:nvPicPr>
                      <p:cNvPr id="152608" name="Object 2">
                        <a:extLst>
                          <a:ext uri="{FF2B5EF4-FFF2-40B4-BE49-F238E27FC236}">
                            <a16:creationId xmlns:a16="http://schemas.microsoft.com/office/drawing/2014/main" id="{6F3A75D2-FBC0-482E-A6DD-6EBD2F9ACF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8875" y="285750"/>
                        <a:ext cx="4300538"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2610" name="AutoShape 34">
            <a:extLst>
              <a:ext uri="{FF2B5EF4-FFF2-40B4-BE49-F238E27FC236}">
                <a16:creationId xmlns:a16="http://schemas.microsoft.com/office/drawing/2014/main" id="{E9538D62-C4C5-4061-8C83-7BBCA272E345}"/>
              </a:ext>
            </a:extLst>
          </p:cNvPr>
          <p:cNvSpPr>
            <a:spLocks noChangeArrowheads="1"/>
          </p:cNvSpPr>
          <p:nvPr/>
        </p:nvSpPr>
        <p:spPr bwMode="auto">
          <a:xfrm rot="5400000">
            <a:off x="7086600" y="485775"/>
            <a:ext cx="685800" cy="1143000"/>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noFill/>
          <a:ln w="22225">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152611" name="Object 3">
            <a:extLst>
              <a:ext uri="{FF2B5EF4-FFF2-40B4-BE49-F238E27FC236}">
                <a16:creationId xmlns:a16="http://schemas.microsoft.com/office/drawing/2014/main" id="{4B135D6E-817E-40A3-B363-2FE319CB62DA}"/>
              </a:ext>
            </a:extLst>
          </p:cNvPr>
          <p:cNvGraphicFramePr>
            <a:graphicFrameLocks noChangeAspect="1"/>
          </p:cNvGraphicFramePr>
          <p:nvPr/>
        </p:nvGraphicFramePr>
        <p:xfrm>
          <a:off x="2047875" y="1576388"/>
          <a:ext cx="3910013" cy="949325"/>
        </p:xfrm>
        <a:graphic>
          <a:graphicData uri="http://schemas.openxmlformats.org/presentationml/2006/ole">
            <mc:AlternateContent xmlns:mc="http://schemas.openxmlformats.org/markup-compatibility/2006">
              <mc:Choice xmlns:v="urn:schemas-microsoft-com:vml" Requires="v">
                <p:oleObj spid="_x0000_s471097" name="Equation" r:id="rId5" imgW="1752651" imgH="400152" progId="Equation.3">
                  <p:embed/>
                </p:oleObj>
              </mc:Choice>
              <mc:Fallback>
                <p:oleObj name="Equation" r:id="rId5" imgW="1752651" imgH="400152" progId="Equation.3">
                  <p:embed/>
                  <p:pic>
                    <p:nvPicPr>
                      <p:cNvPr id="152611" name="Object 3">
                        <a:extLst>
                          <a:ext uri="{FF2B5EF4-FFF2-40B4-BE49-F238E27FC236}">
                            <a16:creationId xmlns:a16="http://schemas.microsoft.com/office/drawing/2014/main" id="{4B135D6E-817E-40A3-B363-2FE319CB62D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47875" y="1576388"/>
                        <a:ext cx="3910013" cy="9493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2612" name="Object 4">
            <a:extLst>
              <a:ext uri="{FF2B5EF4-FFF2-40B4-BE49-F238E27FC236}">
                <a16:creationId xmlns:a16="http://schemas.microsoft.com/office/drawing/2014/main" id="{7F9AAB3F-BFB5-444A-9C70-165A9D6B48A4}"/>
              </a:ext>
            </a:extLst>
          </p:cNvPr>
          <p:cNvGraphicFramePr>
            <a:graphicFrameLocks noChangeAspect="1"/>
          </p:cNvGraphicFramePr>
          <p:nvPr/>
        </p:nvGraphicFramePr>
        <p:xfrm>
          <a:off x="5999163" y="1576388"/>
          <a:ext cx="1787525" cy="949325"/>
        </p:xfrm>
        <a:graphic>
          <a:graphicData uri="http://schemas.openxmlformats.org/presentationml/2006/ole">
            <mc:AlternateContent xmlns:mc="http://schemas.openxmlformats.org/markup-compatibility/2006">
              <mc:Choice xmlns:v="urn:schemas-microsoft-com:vml" Requires="v">
                <p:oleObj spid="_x0000_s471098" name="Equation" r:id="rId7" imgW="781063" imgH="400152" progId="Equation.3">
                  <p:embed/>
                </p:oleObj>
              </mc:Choice>
              <mc:Fallback>
                <p:oleObj name="Equation" r:id="rId7" imgW="781063" imgH="400152" progId="Equation.3">
                  <p:embed/>
                  <p:pic>
                    <p:nvPicPr>
                      <p:cNvPr id="152612" name="Object 4">
                        <a:extLst>
                          <a:ext uri="{FF2B5EF4-FFF2-40B4-BE49-F238E27FC236}">
                            <a16:creationId xmlns:a16="http://schemas.microsoft.com/office/drawing/2014/main" id="{7F9AAB3F-BFB5-444A-9C70-165A9D6B48A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99163" y="1576388"/>
                        <a:ext cx="1787525" cy="9493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2613" name="Rectangle 37">
            <a:extLst>
              <a:ext uri="{FF2B5EF4-FFF2-40B4-BE49-F238E27FC236}">
                <a16:creationId xmlns:a16="http://schemas.microsoft.com/office/drawing/2014/main" id="{8359871C-DCEC-4702-8AC9-B9A0BF3D2EA6}"/>
              </a:ext>
            </a:extLst>
          </p:cNvPr>
          <p:cNvSpPr>
            <a:spLocks noChangeArrowheads="1"/>
          </p:cNvSpPr>
          <p:nvPr/>
        </p:nvSpPr>
        <p:spPr bwMode="auto">
          <a:xfrm>
            <a:off x="1895475" y="1490663"/>
            <a:ext cx="6105525" cy="1143000"/>
          </a:xfrm>
          <a:prstGeom prst="rect">
            <a:avLst/>
          </a:prstGeom>
          <a:noFill/>
          <a:ln w="317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52614" name="Rectangle 38">
            <a:extLst>
              <a:ext uri="{FF2B5EF4-FFF2-40B4-BE49-F238E27FC236}">
                <a16:creationId xmlns:a16="http://schemas.microsoft.com/office/drawing/2014/main" id="{3E4C3511-89E1-489E-81D9-33A75584E0DF}"/>
              </a:ext>
            </a:extLst>
          </p:cNvPr>
          <p:cNvSpPr>
            <a:spLocks noChangeArrowheads="1"/>
          </p:cNvSpPr>
          <p:nvPr/>
        </p:nvSpPr>
        <p:spPr bwMode="auto">
          <a:xfrm>
            <a:off x="428625" y="1500188"/>
            <a:ext cx="1524000"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dirty="0">
                <a:solidFill>
                  <a:srgbClr val="FFFF00"/>
                </a:solidFill>
                <a:latin typeface="楷体_GB2312" pitchFamily="49" charset="-122"/>
                <a:ea typeface="楷体_GB2312" pitchFamily="49" charset="-122"/>
              </a:rPr>
              <a:t>康普顿效应公式</a:t>
            </a:r>
          </a:p>
        </p:txBody>
      </p:sp>
      <p:sp>
        <p:nvSpPr>
          <p:cNvPr id="152615" name="AutoShape 39">
            <a:extLst>
              <a:ext uri="{FF2B5EF4-FFF2-40B4-BE49-F238E27FC236}">
                <a16:creationId xmlns:a16="http://schemas.microsoft.com/office/drawing/2014/main" id="{4C16479F-BB87-42A7-889B-28A362E06F1B}"/>
              </a:ext>
            </a:extLst>
          </p:cNvPr>
          <p:cNvSpPr>
            <a:spLocks noChangeArrowheads="1"/>
          </p:cNvSpPr>
          <p:nvPr/>
        </p:nvSpPr>
        <p:spPr bwMode="auto">
          <a:xfrm>
            <a:off x="8143875" y="1285875"/>
            <a:ext cx="457200" cy="457200"/>
          </a:xfrm>
          <a:prstGeom prst="star5">
            <a:avLst/>
          </a:prstGeom>
          <a:solidFill>
            <a:srgbClr val="FF0000"/>
          </a:solidFill>
          <a:ln w="41275">
            <a:solidFill>
              <a:srgbClr val="FF0000"/>
            </a:solidFill>
            <a:miter lim="800000"/>
            <a:headEnd/>
            <a:tailEnd/>
          </a:ln>
          <a:effectLst/>
        </p:spPr>
        <p:txBody>
          <a:bodyPr wrap="none" anchor="ctr"/>
          <a:lstStyle/>
          <a:p>
            <a:pPr algn="ctr">
              <a:defRPr/>
            </a:pPr>
            <a:endParaRPr lang="zh-CN" altLang="en-US">
              <a:solidFill>
                <a:schemeClr val="bg1"/>
              </a:solidFill>
            </a:endParaRPr>
          </a:p>
        </p:txBody>
      </p:sp>
      <p:grpSp>
        <p:nvGrpSpPr>
          <p:cNvPr id="2" name="Group 40">
            <a:extLst>
              <a:ext uri="{FF2B5EF4-FFF2-40B4-BE49-F238E27FC236}">
                <a16:creationId xmlns:a16="http://schemas.microsoft.com/office/drawing/2014/main" id="{FA43DDB6-3B70-4C7B-84FC-78DB1EF6D2D2}"/>
              </a:ext>
            </a:extLst>
          </p:cNvPr>
          <p:cNvGrpSpPr>
            <a:grpSpLocks/>
          </p:cNvGrpSpPr>
          <p:nvPr/>
        </p:nvGrpSpPr>
        <p:grpSpPr bwMode="auto">
          <a:xfrm>
            <a:off x="4286250" y="2928938"/>
            <a:ext cx="4005263" cy="927100"/>
            <a:chOff x="2843" y="1728"/>
            <a:chExt cx="2656" cy="672"/>
          </a:xfrm>
        </p:grpSpPr>
        <p:sp>
          <p:nvSpPr>
            <p:cNvPr id="20506" name="AutoShape 41">
              <a:extLst>
                <a:ext uri="{FF2B5EF4-FFF2-40B4-BE49-F238E27FC236}">
                  <a16:creationId xmlns:a16="http://schemas.microsoft.com/office/drawing/2014/main" id="{3C8465DF-21F8-4C66-B238-BF52A93E2C43}"/>
                </a:ext>
              </a:extLst>
            </p:cNvPr>
            <p:cNvSpPr>
              <a:spLocks noChangeArrowheads="1"/>
            </p:cNvSpPr>
            <p:nvPr/>
          </p:nvSpPr>
          <p:spPr bwMode="auto">
            <a:xfrm>
              <a:off x="2843" y="1728"/>
              <a:ext cx="2656" cy="672"/>
            </a:xfrm>
            <a:prstGeom prst="wedgeRectCallout">
              <a:avLst>
                <a:gd name="adj1" fmla="val 8907"/>
                <a:gd name="adj2" fmla="val -96023"/>
              </a:avLst>
            </a:prstGeom>
            <a:noFill/>
            <a:ln w="222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400">
                <a:solidFill>
                  <a:schemeClr val="bg1"/>
                </a:solidFill>
                <a:latin typeface="楷体_GB2312" pitchFamily="49" charset="-122"/>
                <a:ea typeface="楷体_GB2312" pitchFamily="49" charset="-122"/>
              </a:endParaRPr>
            </a:p>
          </p:txBody>
        </p:sp>
        <p:graphicFrame>
          <p:nvGraphicFramePr>
            <p:cNvPr id="20507" name="Object 10">
              <a:extLst>
                <a:ext uri="{FF2B5EF4-FFF2-40B4-BE49-F238E27FC236}">
                  <a16:creationId xmlns:a16="http://schemas.microsoft.com/office/drawing/2014/main" id="{DE63A237-394D-46F6-9FD5-5A8CA8D128D3}"/>
                </a:ext>
              </a:extLst>
            </p:cNvPr>
            <p:cNvGraphicFramePr>
              <a:graphicFrameLocks noChangeAspect="1"/>
            </p:cNvGraphicFramePr>
            <p:nvPr/>
          </p:nvGraphicFramePr>
          <p:xfrm>
            <a:off x="2843" y="1753"/>
            <a:ext cx="1909" cy="634"/>
          </p:xfrm>
          <a:graphic>
            <a:graphicData uri="http://schemas.openxmlformats.org/presentationml/2006/ole">
              <mc:AlternateContent xmlns:mc="http://schemas.openxmlformats.org/markup-compatibility/2006">
                <mc:Choice xmlns:v="urn:schemas-microsoft-com:vml" Requires="v">
                  <p:oleObj spid="_x0000_s471099" name="公式" r:id="rId9" imgW="1314412" imgH="400152" progId="Equation.3">
                    <p:embed/>
                  </p:oleObj>
                </mc:Choice>
                <mc:Fallback>
                  <p:oleObj name="公式" r:id="rId9" imgW="1314412" imgH="400152" progId="Equation.3">
                    <p:embed/>
                    <p:pic>
                      <p:nvPicPr>
                        <p:cNvPr id="20507" name="Object 10">
                          <a:extLst>
                            <a:ext uri="{FF2B5EF4-FFF2-40B4-BE49-F238E27FC236}">
                              <a16:creationId xmlns:a16="http://schemas.microsoft.com/office/drawing/2014/main" id="{DE63A237-394D-46F6-9FD5-5A8CA8D128D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43" y="1753"/>
                          <a:ext cx="1909" cy="63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508" name="Rectangle 43">
              <a:extLst>
                <a:ext uri="{FF2B5EF4-FFF2-40B4-BE49-F238E27FC236}">
                  <a16:creationId xmlns:a16="http://schemas.microsoft.com/office/drawing/2014/main" id="{B38FAE7B-19DD-4517-8DE7-C74553D92146}"/>
                </a:ext>
              </a:extLst>
            </p:cNvPr>
            <p:cNvSpPr>
              <a:spLocks noChangeArrowheads="1"/>
            </p:cNvSpPr>
            <p:nvPr/>
          </p:nvSpPr>
          <p:spPr bwMode="auto">
            <a:xfrm>
              <a:off x="4632" y="1766"/>
              <a:ext cx="864"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a:solidFill>
                    <a:srgbClr val="FFCC66"/>
                  </a:solidFill>
                  <a:latin typeface="楷体_GB2312" pitchFamily="49" charset="-122"/>
                  <a:ea typeface="楷体_GB2312" pitchFamily="49" charset="-122"/>
                </a:rPr>
                <a:t> </a:t>
              </a:r>
              <a:r>
                <a:rPr lang="zh-CN" altLang="en-US">
                  <a:solidFill>
                    <a:srgbClr val="FFFF00"/>
                  </a:solidFill>
                  <a:latin typeface="楷体_GB2312" pitchFamily="49" charset="-122"/>
                  <a:ea typeface="楷体_GB2312" pitchFamily="49" charset="-122"/>
                </a:rPr>
                <a:t>康普顿波长</a:t>
              </a:r>
            </a:p>
          </p:txBody>
        </p:sp>
      </p:grpSp>
      <p:graphicFrame>
        <p:nvGraphicFramePr>
          <p:cNvPr id="152620" name="Object 5">
            <a:extLst>
              <a:ext uri="{FF2B5EF4-FFF2-40B4-BE49-F238E27FC236}">
                <a16:creationId xmlns:a16="http://schemas.microsoft.com/office/drawing/2014/main" id="{18680335-935C-4213-87AE-E9178CED8EE6}"/>
              </a:ext>
            </a:extLst>
          </p:cNvPr>
          <p:cNvGraphicFramePr>
            <a:graphicFrameLocks noChangeAspect="1"/>
          </p:cNvGraphicFramePr>
          <p:nvPr/>
        </p:nvGraphicFramePr>
        <p:xfrm>
          <a:off x="723900" y="3000375"/>
          <a:ext cx="2205038" cy="865188"/>
        </p:xfrm>
        <a:graphic>
          <a:graphicData uri="http://schemas.openxmlformats.org/presentationml/2006/ole">
            <mc:AlternateContent xmlns:mc="http://schemas.openxmlformats.org/markup-compatibility/2006">
              <mc:Choice xmlns:v="urn:schemas-microsoft-com:vml" Requires="v">
                <p:oleObj spid="_x0000_s471100" name="公式" r:id="rId11" imgW="971588" imgH="361882" progId="Equation.3">
                  <p:embed/>
                </p:oleObj>
              </mc:Choice>
              <mc:Fallback>
                <p:oleObj name="公式" r:id="rId11" imgW="971588" imgH="361882" progId="Equation.3">
                  <p:embed/>
                  <p:pic>
                    <p:nvPicPr>
                      <p:cNvPr id="152620" name="Object 5">
                        <a:extLst>
                          <a:ext uri="{FF2B5EF4-FFF2-40B4-BE49-F238E27FC236}">
                            <a16:creationId xmlns:a16="http://schemas.microsoft.com/office/drawing/2014/main" id="{18680335-935C-4213-87AE-E9178CED8EE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23900" y="3000375"/>
                        <a:ext cx="2205038" cy="865188"/>
                      </a:xfrm>
                      <a:prstGeom prst="rect">
                        <a:avLst/>
                      </a:prstGeom>
                      <a:solidFill>
                        <a:schemeClr val="accent1"/>
                      </a:solidFill>
                      <a:ln w="22225">
                        <a:solidFill>
                          <a:srgbClr val="FFFF00"/>
                        </a:solidFill>
                        <a:miter lim="800000"/>
                        <a:headEnd/>
                        <a:tailEnd/>
                      </a:ln>
                    </p:spPr>
                  </p:pic>
                </p:oleObj>
              </mc:Fallback>
            </mc:AlternateContent>
          </a:graphicData>
        </a:graphic>
      </p:graphicFrame>
      <p:sp>
        <p:nvSpPr>
          <p:cNvPr id="152621" name="Rectangle 45">
            <a:extLst>
              <a:ext uri="{FF2B5EF4-FFF2-40B4-BE49-F238E27FC236}">
                <a16:creationId xmlns:a16="http://schemas.microsoft.com/office/drawing/2014/main" id="{099EA2FC-BEAC-4B2A-BC85-8E2A8F2FDF08}"/>
              </a:ext>
            </a:extLst>
          </p:cNvPr>
          <p:cNvSpPr>
            <a:spLocks noChangeArrowheads="1"/>
          </p:cNvSpPr>
          <p:nvPr/>
        </p:nvSpPr>
        <p:spPr bwMode="auto">
          <a:xfrm>
            <a:off x="219075" y="4005263"/>
            <a:ext cx="594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00FFFF"/>
                </a:solidFill>
                <a:latin typeface="楷体_GB2312" pitchFamily="49" charset="-122"/>
                <a:ea typeface="楷体_GB2312" pitchFamily="49" charset="-122"/>
              </a:rPr>
              <a:t>讨论</a:t>
            </a:r>
            <a:r>
              <a:rPr lang="zh-CN" altLang="en-US">
                <a:solidFill>
                  <a:srgbClr val="00FFFF"/>
                </a:solidFill>
                <a:latin typeface="楷体_GB2312" pitchFamily="49" charset="-122"/>
                <a:ea typeface="楷体_GB2312" pitchFamily="49" charset="-122"/>
                <a:sym typeface="Wingdings" panose="05000000000000000000" pitchFamily="2" charset="2"/>
              </a:rPr>
              <a:t>：</a:t>
            </a:r>
            <a:r>
              <a:rPr lang="en-US" altLang="zh-CN">
                <a:solidFill>
                  <a:srgbClr val="FFFF00"/>
                </a:solidFill>
                <a:latin typeface="楷体_GB2312" pitchFamily="49" charset="-122"/>
                <a:ea typeface="楷体_GB2312" pitchFamily="49" charset="-122"/>
                <a:sym typeface="Wingdings" panose="05000000000000000000" pitchFamily="2" charset="2"/>
              </a:rPr>
              <a:t>(1) </a:t>
            </a:r>
            <a:r>
              <a:rPr lang="zh-CN" altLang="en-US">
                <a:solidFill>
                  <a:schemeClr val="bg1"/>
                </a:solidFill>
                <a:latin typeface="楷体_GB2312" pitchFamily="49" charset="-122"/>
                <a:ea typeface="楷体_GB2312" pitchFamily="49" charset="-122"/>
              </a:rPr>
              <a:t>波长差与散射物质的种类、</a:t>
            </a:r>
          </a:p>
        </p:txBody>
      </p:sp>
      <p:sp>
        <p:nvSpPr>
          <p:cNvPr id="152622" name="Rectangle 46">
            <a:extLst>
              <a:ext uri="{FF2B5EF4-FFF2-40B4-BE49-F238E27FC236}">
                <a16:creationId xmlns:a16="http://schemas.microsoft.com/office/drawing/2014/main" id="{BF884867-3D77-428E-97ED-341861354D49}"/>
              </a:ext>
            </a:extLst>
          </p:cNvPr>
          <p:cNvSpPr>
            <a:spLocks noChangeArrowheads="1"/>
          </p:cNvSpPr>
          <p:nvPr/>
        </p:nvSpPr>
        <p:spPr bwMode="auto">
          <a:xfrm>
            <a:off x="5419725" y="4005263"/>
            <a:ext cx="358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bg1"/>
                </a:solidFill>
                <a:latin typeface="楷体_GB2312" pitchFamily="49" charset="-122"/>
                <a:ea typeface="楷体_GB2312" pitchFamily="49" charset="-122"/>
              </a:rPr>
              <a:t>入射光的波长都无关</a:t>
            </a:r>
          </a:p>
        </p:txBody>
      </p:sp>
      <p:sp>
        <p:nvSpPr>
          <p:cNvPr id="152623" name="AutoShape 47">
            <a:extLst>
              <a:ext uri="{FF2B5EF4-FFF2-40B4-BE49-F238E27FC236}">
                <a16:creationId xmlns:a16="http://schemas.microsoft.com/office/drawing/2014/main" id="{CC9F718C-D719-493A-A5A5-994D5E6B72C4}"/>
              </a:ext>
            </a:extLst>
          </p:cNvPr>
          <p:cNvSpPr>
            <a:spLocks noChangeArrowheads="1"/>
          </p:cNvSpPr>
          <p:nvPr/>
        </p:nvSpPr>
        <p:spPr bwMode="auto">
          <a:xfrm>
            <a:off x="3143250" y="3267075"/>
            <a:ext cx="857250" cy="304800"/>
          </a:xfrm>
          <a:prstGeom prst="leftArrow">
            <a:avLst>
              <a:gd name="adj1" fmla="val 50000"/>
              <a:gd name="adj2" fmla="val 68750"/>
            </a:avLst>
          </a:prstGeom>
          <a:noFill/>
          <a:ln w="222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52624" name="AutoShape 48">
            <a:extLst>
              <a:ext uri="{FF2B5EF4-FFF2-40B4-BE49-F238E27FC236}">
                <a16:creationId xmlns:a16="http://schemas.microsoft.com/office/drawing/2014/main" id="{7DED7A56-F547-4E43-A9E8-4237C3EA8F44}"/>
              </a:ext>
            </a:extLst>
          </p:cNvPr>
          <p:cNvSpPr>
            <a:spLocks noChangeArrowheads="1"/>
          </p:cNvSpPr>
          <p:nvPr/>
        </p:nvSpPr>
        <p:spPr bwMode="auto">
          <a:xfrm>
            <a:off x="1195388" y="2428875"/>
            <a:ext cx="304800" cy="457200"/>
          </a:xfrm>
          <a:prstGeom prst="upArrow">
            <a:avLst>
              <a:gd name="adj1" fmla="val 50000"/>
              <a:gd name="adj2" fmla="val 37500"/>
            </a:avLst>
          </a:prstGeom>
          <a:noFill/>
          <a:ln w="22225">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52625" name="Rectangle 49">
            <a:extLst>
              <a:ext uri="{FF2B5EF4-FFF2-40B4-BE49-F238E27FC236}">
                <a16:creationId xmlns:a16="http://schemas.microsoft.com/office/drawing/2014/main" id="{B56ACDBE-0A8B-48C2-B658-A16C1CF9609B}"/>
              </a:ext>
            </a:extLst>
          </p:cNvPr>
          <p:cNvSpPr>
            <a:spLocks noChangeArrowheads="1"/>
          </p:cNvSpPr>
          <p:nvPr/>
        </p:nvSpPr>
        <p:spPr bwMode="auto">
          <a:xfrm>
            <a:off x="1143000" y="4543425"/>
            <a:ext cx="594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FFFF00"/>
                </a:solidFill>
                <a:latin typeface="楷体_GB2312" pitchFamily="49" charset="-122"/>
                <a:ea typeface="楷体_GB2312" pitchFamily="49" charset="-122"/>
                <a:sym typeface="Wingdings" panose="05000000000000000000" pitchFamily="2" charset="2"/>
              </a:rPr>
              <a:t>(2) </a:t>
            </a:r>
            <a:r>
              <a:rPr lang="zh-CN" altLang="en-US">
                <a:solidFill>
                  <a:schemeClr val="bg1"/>
                </a:solidFill>
                <a:latin typeface="楷体_GB2312" pitchFamily="49" charset="-122"/>
                <a:ea typeface="楷体_GB2312" pitchFamily="49" charset="-122"/>
              </a:rPr>
              <a:t>若用可见光照射，</a:t>
            </a:r>
          </a:p>
        </p:txBody>
      </p:sp>
      <p:graphicFrame>
        <p:nvGraphicFramePr>
          <p:cNvPr id="152626" name="Object 6">
            <a:extLst>
              <a:ext uri="{FF2B5EF4-FFF2-40B4-BE49-F238E27FC236}">
                <a16:creationId xmlns:a16="http://schemas.microsoft.com/office/drawing/2014/main" id="{A7517C5C-E9CA-4874-BC77-F1BAD0BF79A8}"/>
              </a:ext>
            </a:extLst>
          </p:cNvPr>
          <p:cNvGraphicFramePr>
            <a:graphicFrameLocks noChangeAspect="1"/>
          </p:cNvGraphicFramePr>
          <p:nvPr/>
        </p:nvGraphicFramePr>
        <p:xfrm>
          <a:off x="4164013" y="4538663"/>
          <a:ext cx="1200150" cy="503237"/>
        </p:xfrm>
        <a:graphic>
          <a:graphicData uri="http://schemas.openxmlformats.org/presentationml/2006/ole">
            <mc:AlternateContent xmlns:mc="http://schemas.openxmlformats.org/markup-compatibility/2006">
              <mc:Choice xmlns:v="urn:schemas-microsoft-com:vml" Requires="v">
                <p:oleObj spid="_x0000_s471101" name="公式" r:id="rId13" imgW="514388" imgH="199923" progId="Equation.3">
                  <p:embed/>
                </p:oleObj>
              </mc:Choice>
              <mc:Fallback>
                <p:oleObj name="公式" r:id="rId13" imgW="514388" imgH="199923" progId="Equation.3">
                  <p:embed/>
                  <p:pic>
                    <p:nvPicPr>
                      <p:cNvPr id="152626" name="Object 6">
                        <a:extLst>
                          <a:ext uri="{FF2B5EF4-FFF2-40B4-BE49-F238E27FC236}">
                            <a16:creationId xmlns:a16="http://schemas.microsoft.com/office/drawing/2014/main" id="{A7517C5C-E9CA-4874-BC77-F1BAD0BF79A8}"/>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64013" y="4538663"/>
                        <a:ext cx="120015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2627" name="Object 7">
            <a:extLst>
              <a:ext uri="{FF2B5EF4-FFF2-40B4-BE49-F238E27FC236}">
                <a16:creationId xmlns:a16="http://schemas.microsoft.com/office/drawing/2014/main" id="{347C3D1C-62BE-4D13-9A63-8B1EF1227CB3}"/>
              </a:ext>
            </a:extLst>
          </p:cNvPr>
          <p:cNvGraphicFramePr>
            <a:graphicFrameLocks noChangeAspect="1"/>
          </p:cNvGraphicFramePr>
          <p:nvPr/>
        </p:nvGraphicFramePr>
        <p:xfrm>
          <a:off x="6138863" y="4538663"/>
          <a:ext cx="2290762" cy="503237"/>
        </p:xfrm>
        <a:graphic>
          <a:graphicData uri="http://schemas.openxmlformats.org/presentationml/2006/ole">
            <mc:AlternateContent xmlns:mc="http://schemas.openxmlformats.org/markup-compatibility/2006">
              <mc:Choice xmlns:v="urn:schemas-microsoft-com:vml" Requires="v">
                <p:oleObj spid="_x0000_s471102" name="公式" r:id="rId15" imgW="1009510" imgH="199923" progId="Equation.3">
                  <p:embed/>
                </p:oleObj>
              </mc:Choice>
              <mc:Fallback>
                <p:oleObj name="公式" r:id="rId15" imgW="1009510" imgH="199923" progId="Equation.3">
                  <p:embed/>
                  <p:pic>
                    <p:nvPicPr>
                      <p:cNvPr id="152627" name="Object 7">
                        <a:extLst>
                          <a:ext uri="{FF2B5EF4-FFF2-40B4-BE49-F238E27FC236}">
                            <a16:creationId xmlns:a16="http://schemas.microsoft.com/office/drawing/2014/main" id="{347C3D1C-62BE-4D13-9A63-8B1EF1227CB3}"/>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138863" y="4538663"/>
                        <a:ext cx="22907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2628" name="AutoShape 52">
            <a:extLst>
              <a:ext uri="{FF2B5EF4-FFF2-40B4-BE49-F238E27FC236}">
                <a16:creationId xmlns:a16="http://schemas.microsoft.com/office/drawing/2014/main" id="{51EF04CD-8905-4CD6-A4ED-2DEAE13FD6D5}"/>
              </a:ext>
            </a:extLst>
          </p:cNvPr>
          <p:cNvSpPr>
            <a:spLocks noChangeArrowheads="1"/>
          </p:cNvSpPr>
          <p:nvPr/>
        </p:nvSpPr>
        <p:spPr bwMode="auto">
          <a:xfrm>
            <a:off x="5500688" y="4700588"/>
            <a:ext cx="533400" cy="161925"/>
          </a:xfrm>
          <a:prstGeom prst="rightArrow">
            <a:avLst>
              <a:gd name="adj1" fmla="val 50000"/>
              <a:gd name="adj2" fmla="val 82353"/>
            </a:avLst>
          </a:prstGeom>
          <a:noFill/>
          <a:ln w="222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solidFill>
                <a:schemeClr val="bg1"/>
              </a:solidFill>
            </a:endParaRPr>
          </a:p>
        </p:txBody>
      </p:sp>
      <p:sp>
        <p:nvSpPr>
          <p:cNvPr id="152629" name="Rectangle 53">
            <a:extLst>
              <a:ext uri="{FF2B5EF4-FFF2-40B4-BE49-F238E27FC236}">
                <a16:creationId xmlns:a16="http://schemas.microsoft.com/office/drawing/2014/main" id="{71713240-78DC-4DA9-ACB1-E49AF56254AD}"/>
              </a:ext>
            </a:extLst>
          </p:cNvPr>
          <p:cNvSpPr>
            <a:spLocks noChangeArrowheads="1"/>
          </p:cNvSpPr>
          <p:nvPr/>
        </p:nvSpPr>
        <p:spPr bwMode="auto">
          <a:xfrm>
            <a:off x="1828800" y="5043488"/>
            <a:ext cx="63865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solidFill>
                  <a:schemeClr val="bg1"/>
                </a:solidFill>
                <a:ea typeface="楷体_GB2312" pitchFamily="49" charset="-122"/>
              </a:rPr>
              <a:t>——</a:t>
            </a:r>
            <a:r>
              <a:rPr lang="en-US" altLang="zh-CN" dirty="0">
                <a:solidFill>
                  <a:schemeClr val="bg1"/>
                </a:solidFill>
                <a:latin typeface="楷体_GB2312" pitchFamily="49" charset="-122"/>
                <a:ea typeface="楷体_GB2312" pitchFamily="49" charset="-122"/>
              </a:rPr>
              <a:t> </a:t>
            </a:r>
            <a:r>
              <a:rPr lang="zh-CN" altLang="en-US" dirty="0">
                <a:solidFill>
                  <a:schemeClr val="bg1"/>
                </a:solidFill>
                <a:latin typeface="楷体_GB2312" pitchFamily="49" charset="-122"/>
                <a:ea typeface="楷体_GB2312" pitchFamily="49" charset="-122"/>
              </a:rPr>
              <a:t>康普顿效应主要显示在短波长范围内</a:t>
            </a:r>
          </a:p>
        </p:txBody>
      </p:sp>
      <p:sp>
        <p:nvSpPr>
          <p:cNvPr id="152630" name="Rectangle 54">
            <a:extLst>
              <a:ext uri="{FF2B5EF4-FFF2-40B4-BE49-F238E27FC236}">
                <a16:creationId xmlns:a16="http://schemas.microsoft.com/office/drawing/2014/main" id="{42CBE38A-73AE-4574-AEC6-98D6D3AAE67E}"/>
              </a:ext>
            </a:extLst>
          </p:cNvPr>
          <p:cNvSpPr>
            <a:spLocks noChangeArrowheads="1"/>
          </p:cNvSpPr>
          <p:nvPr/>
        </p:nvSpPr>
        <p:spPr bwMode="auto">
          <a:xfrm>
            <a:off x="1133475" y="5529263"/>
            <a:ext cx="243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FFFF00"/>
                </a:solidFill>
                <a:latin typeface="楷体_GB2312" pitchFamily="49" charset="-122"/>
                <a:ea typeface="楷体_GB2312" pitchFamily="49" charset="-122"/>
                <a:sym typeface="Wingdings" panose="05000000000000000000" pitchFamily="2" charset="2"/>
              </a:rPr>
              <a:t>(3) </a:t>
            </a:r>
            <a:r>
              <a:rPr lang="zh-CN" altLang="en-US">
                <a:solidFill>
                  <a:schemeClr val="bg1"/>
                </a:solidFill>
                <a:latin typeface="楷体_GB2312" pitchFamily="49" charset="-122"/>
                <a:ea typeface="楷体_GB2312" pitchFamily="49" charset="-122"/>
              </a:rPr>
              <a:t>反冲电子</a:t>
            </a:r>
          </a:p>
        </p:txBody>
      </p:sp>
      <p:sp>
        <p:nvSpPr>
          <p:cNvPr id="152631" name="Rectangle 55">
            <a:extLst>
              <a:ext uri="{FF2B5EF4-FFF2-40B4-BE49-F238E27FC236}">
                <a16:creationId xmlns:a16="http://schemas.microsoft.com/office/drawing/2014/main" id="{34A14AAA-5458-41D5-8A1B-9D93690892BA}"/>
              </a:ext>
            </a:extLst>
          </p:cNvPr>
          <p:cNvSpPr>
            <a:spLocks noChangeArrowheads="1"/>
          </p:cNvSpPr>
          <p:nvPr/>
        </p:nvSpPr>
        <p:spPr bwMode="auto">
          <a:xfrm>
            <a:off x="1743075" y="5986463"/>
            <a:ext cx="228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latin typeface="楷体_GB2312" pitchFamily="49" charset="-122"/>
                <a:ea typeface="楷体_GB2312" pitchFamily="49" charset="-122"/>
              </a:rPr>
              <a:t>的动能</a:t>
            </a:r>
          </a:p>
        </p:txBody>
      </p:sp>
      <p:graphicFrame>
        <p:nvGraphicFramePr>
          <p:cNvPr id="152632" name="Object 8">
            <a:extLst>
              <a:ext uri="{FF2B5EF4-FFF2-40B4-BE49-F238E27FC236}">
                <a16:creationId xmlns:a16="http://schemas.microsoft.com/office/drawing/2014/main" id="{382F7F05-A6DA-42E2-8999-E618C1C0AFE0}"/>
              </a:ext>
            </a:extLst>
          </p:cNvPr>
          <p:cNvGraphicFramePr>
            <a:graphicFrameLocks noChangeAspect="1"/>
          </p:cNvGraphicFramePr>
          <p:nvPr/>
        </p:nvGraphicFramePr>
        <p:xfrm>
          <a:off x="3259138" y="5822950"/>
          <a:ext cx="2011362" cy="503238"/>
        </p:xfrm>
        <a:graphic>
          <a:graphicData uri="http://schemas.openxmlformats.org/presentationml/2006/ole">
            <mc:AlternateContent xmlns:mc="http://schemas.openxmlformats.org/markup-compatibility/2006">
              <mc:Choice xmlns:v="urn:schemas-microsoft-com:vml" Requires="v">
                <p:oleObj spid="_x0000_s471103" name="Equation" r:id="rId17" imgW="885959" imgH="199923" progId="Equation.3">
                  <p:embed/>
                </p:oleObj>
              </mc:Choice>
              <mc:Fallback>
                <p:oleObj name="Equation" r:id="rId17" imgW="885959" imgH="199923" progId="Equation.3">
                  <p:embed/>
                  <p:pic>
                    <p:nvPicPr>
                      <p:cNvPr id="152632" name="Object 8">
                        <a:extLst>
                          <a:ext uri="{FF2B5EF4-FFF2-40B4-BE49-F238E27FC236}">
                            <a16:creationId xmlns:a16="http://schemas.microsoft.com/office/drawing/2014/main" id="{382F7F05-A6DA-42E2-8999-E618C1C0AFE0}"/>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259138" y="5822950"/>
                        <a:ext cx="2011362" cy="503238"/>
                      </a:xfrm>
                      <a:prstGeom prst="rect">
                        <a:avLst/>
                      </a:prstGeom>
                      <a:solidFill>
                        <a:schemeClr val="accent1"/>
                      </a:solidFill>
                      <a:ln>
                        <a:noFill/>
                      </a:ln>
                      <a:extLst>
                        <a:ext uri="{91240B29-F687-4F45-9708-019B960494DF}">
                          <a14:hiddenLine xmlns:a14="http://schemas.microsoft.com/office/drawing/2010/main" w="22225">
                            <a:solidFill>
                              <a:srgbClr val="FFFF00"/>
                            </a:solidFill>
                            <a:miter lim="800000"/>
                            <a:headEnd/>
                            <a:tailEnd/>
                          </a14:hiddenLine>
                        </a:ext>
                      </a:extLst>
                    </p:spPr>
                  </p:pic>
                </p:oleObj>
              </mc:Fallback>
            </mc:AlternateContent>
          </a:graphicData>
        </a:graphic>
      </p:graphicFrame>
      <p:graphicFrame>
        <p:nvGraphicFramePr>
          <p:cNvPr id="152633" name="Object 9">
            <a:extLst>
              <a:ext uri="{FF2B5EF4-FFF2-40B4-BE49-F238E27FC236}">
                <a16:creationId xmlns:a16="http://schemas.microsoft.com/office/drawing/2014/main" id="{7167F796-CD46-4EF3-9D01-6C590D38B439}"/>
              </a:ext>
            </a:extLst>
          </p:cNvPr>
          <p:cNvGraphicFramePr>
            <a:graphicFrameLocks noChangeAspect="1"/>
          </p:cNvGraphicFramePr>
          <p:nvPr/>
        </p:nvGraphicFramePr>
        <p:xfrm>
          <a:off x="5357813" y="5541963"/>
          <a:ext cx="2624137" cy="1116012"/>
        </p:xfrm>
        <a:graphic>
          <a:graphicData uri="http://schemas.openxmlformats.org/presentationml/2006/ole">
            <mc:AlternateContent xmlns:mc="http://schemas.openxmlformats.org/markup-compatibility/2006">
              <mc:Choice xmlns:v="urn:schemas-microsoft-com:vml" Requires="v">
                <p:oleObj spid="_x0000_s471104" name="公式" r:id="rId19" imgW="1162114" imgH="476386" progId="Equation.3">
                  <p:embed/>
                </p:oleObj>
              </mc:Choice>
              <mc:Fallback>
                <p:oleObj name="公式" r:id="rId19" imgW="1162114" imgH="476386" progId="Equation.3">
                  <p:embed/>
                  <p:pic>
                    <p:nvPicPr>
                      <p:cNvPr id="152633" name="Object 9">
                        <a:extLst>
                          <a:ext uri="{FF2B5EF4-FFF2-40B4-BE49-F238E27FC236}">
                            <a16:creationId xmlns:a16="http://schemas.microsoft.com/office/drawing/2014/main" id="{7167F796-CD46-4EF3-9D01-6C590D38B439}"/>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357813" y="5541963"/>
                        <a:ext cx="2624137" cy="1116012"/>
                      </a:xfrm>
                      <a:prstGeom prst="rect">
                        <a:avLst/>
                      </a:prstGeom>
                      <a:solidFill>
                        <a:schemeClr val="accent1"/>
                      </a:solidFill>
                      <a:ln>
                        <a:noFill/>
                      </a:ln>
                      <a:extLst>
                        <a:ext uri="{91240B29-F687-4F45-9708-019B960494DF}">
                          <a14:hiddenLine xmlns:a14="http://schemas.microsoft.com/office/drawing/2010/main" w="22225">
                            <a:solidFill>
                              <a:srgbClr val="FFFF00"/>
                            </a:solidFill>
                            <a:miter lim="800000"/>
                            <a:headEnd/>
                            <a:tailEnd/>
                          </a14:hiddenLine>
                        </a:ext>
                      </a:extLst>
                    </p:spPr>
                  </p:pic>
                </p:oleObj>
              </mc:Fallback>
            </mc:AlternateContent>
          </a:graphicData>
        </a:graphic>
      </p:graphicFrame>
      <p:sp>
        <p:nvSpPr>
          <p:cNvPr id="29" name="Rectangle 51">
            <a:extLst>
              <a:ext uri="{FF2B5EF4-FFF2-40B4-BE49-F238E27FC236}">
                <a16:creationId xmlns:a16="http://schemas.microsoft.com/office/drawing/2014/main" id="{76AC7B04-BE13-48DA-9660-83B319B78DAE}"/>
              </a:ext>
            </a:extLst>
          </p:cNvPr>
          <p:cNvSpPr>
            <a:spLocks noChangeArrowheads="1"/>
          </p:cNvSpPr>
          <p:nvPr/>
        </p:nvSpPr>
        <p:spPr bwMode="auto">
          <a:xfrm>
            <a:off x="500063" y="500063"/>
            <a:ext cx="2357437" cy="461962"/>
          </a:xfrm>
          <a:prstGeom prst="rect">
            <a:avLst/>
          </a:prstGeom>
          <a:noFill/>
          <a:ln w="22225">
            <a:noFill/>
            <a:miter lim="800000"/>
            <a:headEnd/>
            <a:tailEnd/>
          </a:ln>
        </p:spPr>
        <p:txBody>
          <a:bodyPr>
            <a:spAutoFit/>
          </a:bodyPr>
          <a:lstStyle/>
          <a:p>
            <a:pPr>
              <a:defRPr/>
            </a:pPr>
            <a:r>
              <a:rPr lang="en-US" altLang="zh-CN" dirty="0">
                <a:solidFill>
                  <a:srgbClr val="00FFFF"/>
                </a:solidFill>
                <a:latin typeface="+mn-lt"/>
                <a:ea typeface="楷体_GB2312" pitchFamily="49" charset="-122"/>
              </a:rPr>
              <a:t>(2) - (1)</a:t>
            </a:r>
            <a:r>
              <a:rPr lang="zh-CN" altLang="en-US" dirty="0">
                <a:solidFill>
                  <a:srgbClr val="00FFFF"/>
                </a:solidFill>
                <a:ea typeface="楷体_GB2312" pitchFamily="49" charset="-122"/>
              </a:rPr>
              <a:t>，得</a:t>
            </a:r>
          </a:p>
        </p:txBody>
      </p:sp>
      <p:sp>
        <p:nvSpPr>
          <p:cNvPr id="20505" name="灯片编号占位符 1">
            <a:extLst>
              <a:ext uri="{FF2B5EF4-FFF2-40B4-BE49-F238E27FC236}">
                <a16:creationId xmlns:a16="http://schemas.microsoft.com/office/drawing/2014/main" id="{868DB194-B222-4A7E-B957-8054B6EB6DBE}"/>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23F50C6A-3D51-4DBF-8A31-A2EF339B8131}" type="slidenum">
              <a:rPr lang="en-US" altLang="zh-CN" b="0">
                <a:solidFill>
                  <a:srgbClr val="FF00FF"/>
                </a:solidFill>
              </a:rPr>
              <a:pPr eaLnBrk="1" hangingPunct="1"/>
              <a:t>14</a:t>
            </a:fld>
            <a:r>
              <a:rPr lang="en-US" altLang="zh-CN" b="0">
                <a:solidFill>
                  <a:srgbClr val="FF00FF"/>
                </a:solidFill>
              </a:rPr>
              <a:t>/22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8" fill="hold" nodeType="clickEffect">
                                  <p:stCondLst>
                                    <p:cond delay="0"/>
                                  </p:stCondLst>
                                  <p:childTnLst>
                                    <p:set>
                                      <p:cBhvr>
                                        <p:cTn id="11" dur="1" fill="hold">
                                          <p:stCondLst>
                                            <p:cond delay="0"/>
                                          </p:stCondLst>
                                        </p:cTn>
                                        <p:tgtEl>
                                          <p:spTgt spid="152608"/>
                                        </p:tgtEl>
                                        <p:attrNameLst>
                                          <p:attrName>style.visibility</p:attrName>
                                        </p:attrNameLst>
                                      </p:cBhvr>
                                      <p:to>
                                        <p:strVal val="visible"/>
                                      </p:to>
                                    </p:set>
                                    <p:animEffect transition="in" filter="slide(fromLeft)">
                                      <p:cBhvr>
                                        <p:cTn id="12" dur="500"/>
                                        <p:tgtEl>
                                          <p:spTgt spid="15260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52610"/>
                                        </p:tgtEl>
                                        <p:attrNameLst>
                                          <p:attrName>style.visibility</p:attrName>
                                        </p:attrNameLst>
                                      </p:cBhvr>
                                      <p:to>
                                        <p:strVal val="visible"/>
                                      </p:to>
                                    </p:set>
                                    <p:animEffect transition="in" filter="dissolve">
                                      <p:cBhvr>
                                        <p:cTn id="17" dur="500"/>
                                        <p:tgtEl>
                                          <p:spTgt spid="152610"/>
                                        </p:tgtEl>
                                      </p:cBhvr>
                                    </p:animEffect>
                                  </p:childTnLst>
                                </p:cTn>
                              </p:par>
                            </p:childTnLst>
                          </p:cTn>
                        </p:par>
                        <p:par>
                          <p:cTn id="18" fill="hold" nodeType="afterGroup">
                            <p:stCondLst>
                              <p:cond delay="500"/>
                            </p:stCondLst>
                            <p:childTnLst>
                              <p:par>
                                <p:cTn id="19" presetID="12" presetClass="entr" presetSubtype="2" fill="hold" nodeType="afterEffect">
                                  <p:stCondLst>
                                    <p:cond delay="0"/>
                                  </p:stCondLst>
                                  <p:childTnLst>
                                    <p:set>
                                      <p:cBhvr>
                                        <p:cTn id="20" dur="1" fill="hold">
                                          <p:stCondLst>
                                            <p:cond delay="0"/>
                                          </p:stCondLst>
                                        </p:cTn>
                                        <p:tgtEl>
                                          <p:spTgt spid="152611"/>
                                        </p:tgtEl>
                                        <p:attrNameLst>
                                          <p:attrName>style.visibility</p:attrName>
                                        </p:attrNameLst>
                                      </p:cBhvr>
                                      <p:to>
                                        <p:strVal val="visible"/>
                                      </p:to>
                                    </p:set>
                                    <p:animEffect transition="in" filter="slide(fromRight)">
                                      <p:cBhvr>
                                        <p:cTn id="21" dur="500"/>
                                        <p:tgtEl>
                                          <p:spTgt spid="15261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2" presetClass="entr" presetSubtype="2" fill="hold" nodeType="clickEffect">
                                  <p:stCondLst>
                                    <p:cond delay="0"/>
                                  </p:stCondLst>
                                  <p:childTnLst>
                                    <p:set>
                                      <p:cBhvr>
                                        <p:cTn id="25" dur="1" fill="hold">
                                          <p:stCondLst>
                                            <p:cond delay="0"/>
                                          </p:stCondLst>
                                        </p:cTn>
                                        <p:tgtEl>
                                          <p:spTgt spid="152612"/>
                                        </p:tgtEl>
                                        <p:attrNameLst>
                                          <p:attrName>style.visibility</p:attrName>
                                        </p:attrNameLst>
                                      </p:cBhvr>
                                      <p:to>
                                        <p:strVal val="visible"/>
                                      </p:to>
                                    </p:set>
                                    <p:animEffect transition="in" filter="slide(fromRight)">
                                      <p:cBhvr>
                                        <p:cTn id="26" dur="500"/>
                                        <p:tgtEl>
                                          <p:spTgt spid="152612"/>
                                        </p:tgtEl>
                                      </p:cBhvr>
                                    </p:animEffect>
                                  </p:childTnLst>
                                </p:cTn>
                              </p:par>
                            </p:childTnLst>
                          </p:cTn>
                        </p:par>
                        <p:par>
                          <p:cTn id="27" fill="hold" nodeType="afterGroup">
                            <p:stCondLst>
                              <p:cond delay="500"/>
                            </p:stCondLst>
                            <p:childTnLst>
                              <p:par>
                                <p:cTn id="28" presetID="23" presetClass="entr" presetSubtype="528" fill="hold" grpId="0" nodeType="afterEffect">
                                  <p:stCondLst>
                                    <p:cond delay="0"/>
                                  </p:stCondLst>
                                  <p:childTnLst>
                                    <p:set>
                                      <p:cBhvr>
                                        <p:cTn id="29" dur="1" fill="hold">
                                          <p:stCondLst>
                                            <p:cond delay="0"/>
                                          </p:stCondLst>
                                        </p:cTn>
                                        <p:tgtEl>
                                          <p:spTgt spid="152613"/>
                                        </p:tgtEl>
                                        <p:attrNameLst>
                                          <p:attrName>style.visibility</p:attrName>
                                        </p:attrNameLst>
                                      </p:cBhvr>
                                      <p:to>
                                        <p:strVal val="visible"/>
                                      </p:to>
                                    </p:set>
                                    <p:anim calcmode="lin" valueType="num">
                                      <p:cBhvr>
                                        <p:cTn id="30" dur="500" fill="hold"/>
                                        <p:tgtEl>
                                          <p:spTgt spid="152613"/>
                                        </p:tgtEl>
                                        <p:attrNameLst>
                                          <p:attrName>ppt_w</p:attrName>
                                        </p:attrNameLst>
                                      </p:cBhvr>
                                      <p:tavLst>
                                        <p:tav tm="0">
                                          <p:val>
                                            <p:fltVal val="0"/>
                                          </p:val>
                                        </p:tav>
                                        <p:tav tm="100000">
                                          <p:val>
                                            <p:strVal val="#ppt_w"/>
                                          </p:val>
                                        </p:tav>
                                      </p:tavLst>
                                    </p:anim>
                                    <p:anim calcmode="lin" valueType="num">
                                      <p:cBhvr>
                                        <p:cTn id="31" dur="500" fill="hold"/>
                                        <p:tgtEl>
                                          <p:spTgt spid="152613"/>
                                        </p:tgtEl>
                                        <p:attrNameLst>
                                          <p:attrName>ppt_h</p:attrName>
                                        </p:attrNameLst>
                                      </p:cBhvr>
                                      <p:tavLst>
                                        <p:tav tm="0">
                                          <p:val>
                                            <p:fltVal val="0"/>
                                          </p:val>
                                        </p:tav>
                                        <p:tav tm="100000">
                                          <p:val>
                                            <p:strVal val="#ppt_h"/>
                                          </p:val>
                                        </p:tav>
                                      </p:tavLst>
                                    </p:anim>
                                    <p:anim calcmode="lin" valueType="num">
                                      <p:cBhvr>
                                        <p:cTn id="32" dur="500" fill="hold"/>
                                        <p:tgtEl>
                                          <p:spTgt spid="152613"/>
                                        </p:tgtEl>
                                        <p:attrNameLst>
                                          <p:attrName>ppt_x</p:attrName>
                                        </p:attrNameLst>
                                      </p:cBhvr>
                                      <p:tavLst>
                                        <p:tav tm="0">
                                          <p:val>
                                            <p:fltVal val="0.5"/>
                                          </p:val>
                                        </p:tav>
                                        <p:tav tm="100000">
                                          <p:val>
                                            <p:strVal val="#ppt_x"/>
                                          </p:val>
                                        </p:tav>
                                      </p:tavLst>
                                    </p:anim>
                                    <p:anim calcmode="lin" valueType="num">
                                      <p:cBhvr>
                                        <p:cTn id="33" dur="500" fill="hold"/>
                                        <p:tgtEl>
                                          <p:spTgt spid="152613"/>
                                        </p:tgtEl>
                                        <p:attrNameLst>
                                          <p:attrName>ppt_y</p:attrName>
                                        </p:attrNameLst>
                                      </p:cBhvr>
                                      <p:tavLst>
                                        <p:tav tm="0">
                                          <p:val>
                                            <p:fltVal val="0.5"/>
                                          </p:val>
                                        </p:tav>
                                        <p:tav tm="100000">
                                          <p:val>
                                            <p:strVal val="#ppt_y"/>
                                          </p:val>
                                        </p:tav>
                                      </p:tavLst>
                                    </p:anim>
                                  </p:childTnLst>
                                </p:cTn>
                              </p:par>
                            </p:childTnLst>
                          </p:cTn>
                        </p:par>
                        <p:par>
                          <p:cTn id="34" fill="hold" nodeType="afterGroup">
                            <p:stCondLst>
                              <p:cond delay="1000"/>
                            </p:stCondLst>
                            <p:childTnLst>
                              <p:par>
                                <p:cTn id="35" presetID="9" presetClass="entr" presetSubtype="0" fill="hold" grpId="0" nodeType="afterEffect">
                                  <p:stCondLst>
                                    <p:cond delay="0"/>
                                  </p:stCondLst>
                                  <p:childTnLst>
                                    <p:set>
                                      <p:cBhvr>
                                        <p:cTn id="36" dur="1" fill="hold">
                                          <p:stCondLst>
                                            <p:cond delay="0"/>
                                          </p:stCondLst>
                                        </p:cTn>
                                        <p:tgtEl>
                                          <p:spTgt spid="152614"/>
                                        </p:tgtEl>
                                        <p:attrNameLst>
                                          <p:attrName>style.visibility</p:attrName>
                                        </p:attrNameLst>
                                      </p:cBhvr>
                                      <p:to>
                                        <p:strVal val="visible"/>
                                      </p:to>
                                    </p:set>
                                    <p:animEffect transition="in" filter="dissolve">
                                      <p:cBhvr>
                                        <p:cTn id="37" dur="500"/>
                                        <p:tgtEl>
                                          <p:spTgt spid="152614"/>
                                        </p:tgtEl>
                                      </p:cBhvr>
                                    </p:animEffect>
                                  </p:childTnLst>
                                </p:cTn>
                              </p:par>
                            </p:childTnLst>
                          </p:cTn>
                        </p:par>
                        <p:par>
                          <p:cTn id="38" fill="hold" nodeType="afterGroup">
                            <p:stCondLst>
                              <p:cond delay="1500"/>
                            </p:stCondLst>
                            <p:childTnLst>
                              <p:par>
                                <p:cTn id="39" presetID="23" presetClass="entr" presetSubtype="16" fill="hold" nodeType="afterEffect">
                                  <p:stCondLst>
                                    <p:cond delay="0"/>
                                  </p:stCondLst>
                                  <p:childTnLst>
                                    <p:set>
                                      <p:cBhvr>
                                        <p:cTn id="40" dur="1" fill="hold">
                                          <p:stCondLst>
                                            <p:cond delay="0"/>
                                          </p:stCondLst>
                                        </p:cTn>
                                        <p:tgtEl>
                                          <p:spTgt spid="152615"/>
                                        </p:tgtEl>
                                        <p:attrNameLst>
                                          <p:attrName>style.visibility</p:attrName>
                                        </p:attrNameLst>
                                      </p:cBhvr>
                                      <p:to>
                                        <p:strVal val="visible"/>
                                      </p:to>
                                    </p:set>
                                    <p:anim calcmode="lin" valueType="num">
                                      <p:cBhvr>
                                        <p:cTn id="41" dur="500" fill="hold"/>
                                        <p:tgtEl>
                                          <p:spTgt spid="152615"/>
                                        </p:tgtEl>
                                        <p:attrNameLst>
                                          <p:attrName>ppt_w</p:attrName>
                                        </p:attrNameLst>
                                      </p:cBhvr>
                                      <p:tavLst>
                                        <p:tav tm="0">
                                          <p:val>
                                            <p:fltVal val="0"/>
                                          </p:val>
                                        </p:tav>
                                        <p:tav tm="100000">
                                          <p:val>
                                            <p:strVal val="#ppt_w"/>
                                          </p:val>
                                        </p:tav>
                                      </p:tavLst>
                                    </p:anim>
                                    <p:anim calcmode="lin" valueType="num">
                                      <p:cBhvr>
                                        <p:cTn id="42" dur="500" fill="hold"/>
                                        <p:tgtEl>
                                          <p:spTgt spid="152615"/>
                                        </p:tgtEl>
                                        <p:attrNameLst>
                                          <p:attrName>ppt_h</p:attrName>
                                        </p:attrNameLst>
                                      </p:cBhvr>
                                      <p:tavLst>
                                        <p:tav tm="0">
                                          <p:val>
                                            <p:fltVal val="0"/>
                                          </p:val>
                                        </p:tav>
                                        <p:tav tm="100000">
                                          <p:val>
                                            <p:strVal val="#ppt_h"/>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dissolve">
                                      <p:cBhvr>
                                        <p:cTn id="47" dur="500"/>
                                        <p:tgtEl>
                                          <p:spTgt spid="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2" fill="hold" grpId="0" nodeType="clickEffect">
                                  <p:stCondLst>
                                    <p:cond delay="0"/>
                                  </p:stCondLst>
                                  <p:childTnLst>
                                    <p:set>
                                      <p:cBhvr>
                                        <p:cTn id="51" dur="1" fill="hold">
                                          <p:stCondLst>
                                            <p:cond delay="0"/>
                                          </p:stCondLst>
                                        </p:cTn>
                                        <p:tgtEl>
                                          <p:spTgt spid="152623"/>
                                        </p:tgtEl>
                                        <p:attrNameLst>
                                          <p:attrName>style.visibility</p:attrName>
                                        </p:attrNameLst>
                                      </p:cBhvr>
                                      <p:to>
                                        <p:strVal val="visible"/>
                                      </p:to>
                                    </p:set>
                                    <p:animEffect transition="in" filter="wipe(right)">
                                      <p:cBhvr>
                                        <p:cTn id="52" dur="500"/>
                                        <p:tgtEl>
                                          <p:spTgt spid="152623"/>
                                        </p:tgtEl>
                                      </p:cBhvr>
                                    </p:animEffect>
                                  </p:childTnLst>
                                </p:cTn>
                              </p:par>
                            </p:childTnLst>
                          </p:cTn>
                        </p:par>
                        <p:par>
                          <p:cTn id="53" fill="hold" nodeType="afterGroup">
                            <p:stCondLst>
                              <p:cond delay="500"/>
                            </p:stCondLst>
                            <p:childTnLst>
                              <p:par>
                                <p:cTn id="54" presetID="12" presetClass="entr" presetSubtype="2" fill="hold" nodeType="afterEffect">
                                  <p:stCondLst>
                                    <p:cond delay="0"/>
                                  </p:stCondLst>
                                  <p:childTnLst>
                                    <p:set>
                                      <p:cBhvr>
                                        <p:cTn id="55" dur="1" fill="hold">
                                          <p:stCondLst>
                                            <p:cond delay="0"/>
                                          </p:stCondLst>
                                        </p:cTn>
                                        <p:tgtEl>
                                          <p:spTgt spid="152620"/>
                                        </p:tgtEl>
                                        <p:attrNameLst>
                                          <p:attrName>style.visibility</p:attrName>
                                        </p:attrNameLst>
                                      </p:cBhvr>
                                      <p:to>
                                        <p:strVal val="visible"/>
                                      </p:to>
                                    </p:set>
                                    <p:animEffect transition="in" filter="slide(fromRight)">
                                      <p:cBhvr>
                                        <p:cTn id="56" dur="500"/>
                                        <p:tgtEl>
                                          <p:spTgt spid="152620"/>
                                        </p:tgtEl>
                                      </p:cBhvr>
                                    </p:animEffect>
                                  </p:childTnLst>
                                </p:cTn>
                              </p:par>
                            </p:childTnLst>
                          </p:cTn>
                        </p:par>
                        <p:par>
                          <p:cTn id="57" fill="hold" nodeType="afterGroup">
                            <p:stCondLst>
                              <p:cond delay="1000"/>
                            </p:stCondLst>
                            <p:childTnLst>
                              <p:par>
                                <p:cTn id="58" presetID="22" presetClass="entr" presetSubtype="4" fill="hold" grpId="0" nodeType="afterEffect">
                                  <p:stCondLst>
                                    <p:cond delay="0"/>
                                  </p:stCondLst>
                                  <p:childTnLst>
                                    <p:set>
                                      <p:cBhvr>
                                        <p:cTn id="59" dur="1" fill="hold">
                                          <p:stCondLst>
                                            <p:cond delay="0"/>
                                          </p:stCondLst>
                                        </p:cTn>
                                        <p:tgtEl>
                                          <p:spTgt spid="152624"/>
                                        </p:tgtEl>
                                        <p:attrNameLst>
                                          <p:attrName>style.visibility</p:attrName>
                                        </p:attrNameLst>
                                      </p:cBhvr>
                                      <p:to>
                                        <p:strVal val="visible"/>
                                      </p:to>
                                    </p:set>
                                    <p:animEffect transition="in" filter="wipe(down)">
                                      <p:cBhvr>
                                        <p:cTn id="60" dur="500"/>
                                        <p:tgtEl>
                                          <p:spTgt spid="152624"/>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152621"/>
                                        </p:tgtEl>
                                        <p:attrNameLst>
                                          <p:attrName>style.visibility</p:attrName>
                                        </p:attrNameLst>
                                      </p:cBhvr>
                                      <p:to>
                                        <p:strVal val="visible"/>
                                      </p:to>
                                    </p:set>
                                    <p:animEffect transition="in" filter="blinds(horizontal)">
                                      <p:cBhvr>
                                        <p:cTn id="65" dur="500"/>
                                        <p:tgtEl>
                                          <p:spTgt spid="152621"/>
                                        </p:tgtEl>
                                      </p:cBhvr>
                                    </p:animEffect>
                                  </p:childTnLst>
                                </p:cTn>
                              </p:par>
                            </p:childTnLst>
                          </p:cTn>
                        </p:par>
                        <p:par>
                          <p:cTn id="66" fill="hold" nodeType="afterGroup">
                            <p:stCondLst>
                              <p:cond delay="500"/>
                            </p:stCondLst>
                            <p:childTnLst>
                              <p:par>
                                <p:cTn id="67" presetID="3" presetClass="entr" presetSubtype="10" fill="hold" grpId="0" nodeType="afterEffect">
                                  <p:stCondLst>
                                    <p:cond delay="0"/>
                                  </p:stCondLst>
                                  <p:childTnLst>
                                    <p:set>
                                      <p:cBhvr>
                                        <p:cTn id="68" dur="1" fill="hold">
                                          <p:stCondLst>
                                            <p:cond delay="0"/>
                                          </p:stCondLst>
                                        </p:cTn>
                                        <p:tgtEl>
                                          <p:spTgt spid="152622"/>
                                        </p:tgtEl>
                                        <p:attrNameLst>
                                          <p:attrName>style.visibility</p:attrName>
                                        </p:attrNameLst>
                                      </p:cBhvr>
                                      <p:to>
                                        <p:strVal val="visible"/>
                                      </p:to>
                                    </p:set>
                                    <p:animEffect transition="in" filter="blinds(horizontal)">
                                      <p:cBhvr>
                                        <p:cTn id="69" dur="500"/>
                                        <p:tgtEl>
                                          <p:spTgt spid="152622"/>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4" fill="hold" grpId="0" nodeType="clickEffect">
                                  <p:stCondLst>
                                    <p:cond delay="0"/>
                                  </p:stCondLst>
                                  <p:childTnLst>
                                    <p:set>
                                      <p:cBhvr>
                                        <p:cTn id="73" dur="1" fill="hold">
                                          <p:stCondLst>
                                            <p:cond delay="0"/>
                                          </p:stCondLst>
                                        </p:cTn>
                                        <p:tgtEl>
                                          <p:spTgt spid="152625"/>
                                        </p:tgtEl>
                                        <p:attrNameLst>
                                          <p:attrName>style.visibility</p:attrName>
                                        </p:attrNameLst>
                                      </p:cBhvr>
                                      <p:to>
                                        <p:strVal val="visible"/>
                                      </p:to>
                                    </p:set>
                                    <p:animEffect transition="in" filter="wipe(down)">
                                      <p:cBhvr>
                                        <p:cTn id="74" dur="500"/>
                                        <p:tgtEl>
                                          <p:spTgt spid="152625"/>
                                        </p:tgtEl>
                                      </p:cBhvr>
                                    </p:animEffect>
                                  </p:childTnLst>
                                </p:cTn>
                              </p:par>
                            </p:childTnLst>
                          </p:cTn>
                        </p:par>
                        <p:par>
                          <p:cTn id="75" fill="hold" nodeType="afterGroup">
                            <p:stCondLst>
                              <p:cond delay="500"/>
                            </p:stCondLst>
                            <p:childTnLst>
                              <p:par>
                                <p:cTn id="76" presetID="12" presetClass="entr" presetSubtype="2" fill="hold" nodeType="afterEffect">
                                  <p:stCondLst>
                                    <p:cond delay="0"/>
                                  </p:stCondLst>
                                  <p:childTnLst>
                                    <p:set>
                                      <p:cBhvr>
                                        <p:cTn id="77" dur="1" fill="hold">
                                          <p:stCondLst>
                                            <p:cond delay="0"/>
                                          </p:stCondLst>
                                        </p:cTn>
                                        <p:tgtEl>
                                          <p:spTgt spid="152626"/>
                                        </p:tgtEl>
                                        <p:attrNameLst>
                                          <p:attrName>style.visibility</p:attrName>
                                        </p:attrNameLst>
                                      </p:cBhvr>
                                      <p:to>
                                        <p:strVal val="visible"/>
                                      </p:to>
                                    </p:set>
                                    <p:animEffect transition="in" filter="slide(fromRight)">
                                      <p:cBhvr>
                                        <p:cTn id="78" dur="500"/>
                                        <p:tgtEl>
                                          <p:spTgt spid="152626"/>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 presetClass="entr" presetSubtype="8" fill="hold" grpId="0" nodeType="clickEffect">
                                  <p:stCondLst>
                                    <p:cond delay="0"/>
                                  </p:stCondLst>
                                  <p:childTnLst>
                                    <p:set>
                                      <p:cBhvr>
                                        <p:cTn id="82" dur="1" fill="hold">
                                          <p:stCondLst>
                                            <p:cond delay="0"/>
                                          </p:stCondLst>
                                        </p:cTn>
                                        <p:tgtEl>
                                          <p:spTgt spid="152628"/>
                                        </p:tgtEl>
                                        <p:attrNameLst>
                                          <p:attrName>style.visibility</p:attrName>
                                        </p:attrNameLst>
                                      </p:cBhvr>
                                      <p:to>
                                        <p:strVal val="visible"/>
                                      </p:to>
                                    </p:set>
                                    <p:anim calcmode="lin" valueType="num">
                                      <p:cBhvr additive="base">
                                        <p:cTn id="83" dur="500" fill="hold"/>
                                        <p:tgtEl>
                                          <p:spTgt spid="152628"/>
                                        </p:tgtEl>
                                        <p:attrNameLst>
                                          <p:attrName>ppt_x</p:attrName>
                                        </p:attrNameLst>
                                      </p:cBhvr>
                                      <p:tavLst>
                                        <p:tav tm="0">
                                          <p:val>
                                            <p:strVal val="0-#ppt_w/2"/>
                                          </p:val>
                                        </p:tav>
                                        <p:tav tm="100000">
                                          <p:val>
                                            <p:strVal val="#ppt_x"/>
                                          </p:val>
                                        </p:tav>
                                      </p:tavLst>
                                    </p:anim>
                                    <p:anim calcmode="lin" valueType="num">
                                      <p:cBhvr additive="base">
                                        <p:cTn id="84" dur="500" fill="hold"/>
                                        <p:tgtEl>
                                          <p:spTgt spid="152628"/>
                                        </p:tgtEl>
                                        <p:attrNameLst>
                                          <p:attrName>ppt_y</p:attrName>
                                        </p:attrNameLst>
                                      </p:cBhvr>
                                      <p:tavLst>
                                        <p:tav tm="0">
                                          <p:val>
                                            <p:strVal val="#ppt_y"/>
                                          </p:val>
                                        </p:tav>
                                        <p:tav tm="100000">
                                          <p:val>
                                            <p:strVal val="#ppt_y"/>
                                          </p:val>
                                        </p:tav>
                                      </p:tavLst>
                                    </p:anim>
                                  </p:childTnLst>
                                </p:cTn>
                              </p:par>
                            </p:childTnLst>
                          </p:cTn>
                        </p:par>
                        <p:par>
                          <p:cTn id="85" fill="hold" nodeType="afterGroup">
                            <p:stCondLst>
                              <p:cond delay="500"/>
                            </p:stCondLst>
                            <p:childTnLst>
                              <p:par>
                                <p:cTn id="86" presetID="12" presetClass="entr" presetSubtype="2" fill="hold" nodeType="afterEffect">
                                  <p:stCondLst>
                                    <p:cond delay="0"/>
                                  </p:stCondLst>
                                  <p:childTnLst>
                                    <p:set>
                                      <p:cBhvr>
                                        <p:cTn id="87" dur="1" fill="hold">
                                          <p:stCondLst>
                                            <p:cond delay="0"/>
                                          </p:stCondLst>
                                        </p:cTn>
                                        <p:tgtEl>
                                          <p:spTgt spid="152627"/>
                                        </p:tgtEl>
                                        <p:attrNameLst>
                                          <p:attrName>style.visibility</p:attrName>
                                        </p:attrNameLst>
                                      </p:cBhvr>
                                      <p:to>
                                        <p:strVal val="visible"/>
                                      </p:to>
                                    </p:set>
                                    <p:animEffect transition="in" filter="slide(fromRight)">
                                      <p:cBhvr>
                                        <p:cTn id="88" dur="500"/>
                                        <p:tgtEl>
                                          <p:spTgt spid="152627"/>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 presetClass="entr" presetSubtype="2" fill="hold" grpId="0" nodeType="clickEffect">
                                  <p:stCondLst>
                                    <p:cond delay="0"/>
                                  </p:stCondLst>
                                  <p:iterate type="wd">
                                    <p:tmPct val="100000"/>
                                  </p:iterate>
                                  <p:childTnLst>
                                    <p:set>
                                      <p:cBhvr>
                                        <p:cTn id="92" dur="1" fill="hold">
                                          <p:stCondLst>
                                            <p:cond delay="0"/>
                                          </p:stCondLst>
                                        </p:cTn>
                                        <p:tgtEl>
                                          <p:spTgt spid="152629"/>
                                        </p:tgtEl>
                                        <p:attrNameLst>
                                          <p:attrName>style.visibility</p:attrName>
                                        </p:attrNameLst>
                                      </p:cBhvr>
                                      <p:to>
                                        <p:strVal val="visible"/>
                                      </p:to>
                                    </p:set>
                                    <p:anim calcmode="lin" valueType="num">
                                      <p:cBhvr additive="base">
                                        <p:cTn id="93" dur="300" fill="hold"/>
                                        <p:tgtEl>
                                          <p:spTgt spid="152629"/>
                                        </p:tgtEl>
                                        <p:attrNameLst>
                                          <p:attrName>ppt_x</p:attrName>
                                        </p:attrNameLst>
                                      </p:cBhvr>
                                      <p:tavLst>
                                        <p:tav tm="0">
                                          <p:val>
                                            <p:strVal val="1+#ppt_w/2"/>
                                          </p:val>
                                        </p:tav>
                                        <p:tav tm="100000">
                                          <p:val>
                                            <p:strVal val="#ppt_x"/>
                                          </p:val>
                                        </p:tav>
                                      </p:tavLst>
                                    </p:anim>
                                    <p:anim calcmode="lin" valueType="num">
                                      <p:cBhvr additive="base">
                                        <p:cTn id="94" dur="300" fill="hold"/>
                                        <p:tgtEl>
                                          <p:spTgt spid="152629"/>
                                        </p:tgtEl>
                                        <p:attrNameLst>
                                          <p:attrName>ppt_y</p:attrName>
                                        </p:attrNameLst>
                                      </p:cBhvr>
                                      <p:tavLst>
                                        <p:tav tm="0">
                                          <p:val>
                                            <p:strVal val="#ppt_y"/>
                                          </p:val>
                                        </p:tav>
                                        <p:tav tm="100000">
                                          <p:val>
                                            <p:strVal val="#ppt_y"/>
                                          </p:val>
                                        </p:tav>
                                      </p:tavLst>
                                    </p:anim>
                                  </p:childTnLst>
                                </p:cTn>
                              </p:par>
                            </p:childTnLst>
                          </p:cTn>
                        </p:par>
                      </p:childTnLst>
                    </p:cTn>
                  </p:par>
                  <p:par>
                    <p:cTn id="95" fill="hold" nodeType="clickPar">
                      <p:stCondLst>
                        <p:cond delay="indefinite"/>
                      </p:stCondLst>
                      <p:childTnLst>
                        <p:par>
                          <p:cTn id="96" fill="hold" nodeType="withGroup">
                            <p:stCondLst>
                              <p:cond delay="0"/>
                            </p:stCondLst>
                            <p:childTnLst>
                              <p:par>
                                <p:cTn id="97" presetID="9" presetClass="entr" presetSubtype="0" fill="hold" grpId="0" nodeType="clickEffect">
                                  <p:stCondLst>
                                    <p:cond delay="0"/>
                                  </p:stCondLst>
                                  <p:iterate type="wd">
                                    <p:tmPct val="100000"/>
                                  </p:iterate>
                                  <p:childTnLst>
                                    <p:set>
                                      <p:cBhvr>
                                        <p:cTn id="98" dur="1" fill="hold">
                                          <p:stCondLst>
                                            <p:cond delay="0"/>
                                          </p:stCondLst>
                                        </p:cTn>
                                        <p:tgtEl>
                                          <p:spTgt spid="152630"/>
                                        </p:tgtEl>
                                        <p:attrNameLst>
                                          <p:attrName>style.visibility</p:attrName>
                                        </p:attrNameLst>
                                      </p:cBhvr>
                                      <p:to>
                                        <p:strVal val="visible"/>
                                      </p:to>
                                    </p:set>
                                    <p:animEffect transition="in" filter="dissolve">
                                      <p:cBhvr>
                                        <p:cTn id="99" dur="300"/>
                                        <p:tgtEl>
                                          <p:spTgt spid="152630"/>
                                        </p:tgtEl>
                                      </p:cBhvr>
                                    </p:animEffect>
                                  </p:childTnLst>
                                </p:cTn>
                              </p:par>
                            </p:childTnLst>
                          </p:cTn>
                        </p:par>
                        <p:par>
                          <p:cTn id="100" fill="hold" nodeType="afterGroup">
                            <p:stCondLst>
                              <p:cond delay="1500"/>
                            </p:stCondLst>
                            <p:childTnLst>
                              <p:par>
                                <p:cTn id="101" presetID="1" presetClass="entr" presetSubtype="0" fill="hold" grpId="0" nodeType="afterEffect">
                                  <p:stCondLst>
                                    <p:cond delay="0"/>
                                  </p:stCondLst>
                                  <p:childTnLst>
                                    <p:set>
                                      <p:cBhvr>
                                        <p:cTn id="102" dur="1" fill="hold">
                                          <p:stCondLst>
                                            <p:cond delay="499"/>
                                          </p:stCondLst>
                                        </p:cTn>
                                        <p:tgtEl>
                                          <p:spTgt spid="152631"/>
                                        </p:tgtEl>
                                        <p:attrNameLst>
                                          <p:attrName>style.visibility</p:attrName>
                                        </p:attrNameLst>
                                      </p:cBhvr>
                                      <p:to>
                                        <p:strVal val="visible"/>
                                      </p:to>
                                    </p:se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2" presetClass="entr" presetSubtype="2" fill="hold" nodeType="clickEffect">
                                  <p:stCondLst>
                                    <p:cond delay="0"/>
                                  </p:stCondLst>
                                  <p:childTnLst>
                                    <p:set>
                                      <p:cBhvr>
                                        <p:cTn id="106" dur="1" fill="hold">
                                          <p:stCondLst>
                                            <p:cond delay="0"/>
                                          </p:stCondLst>
                                        </p:cTn>
                                        <p:tgtEl>
                                          <p:spTgt spid="152632"/>
                                        </p:tgtEl>
                                        <p:attrNameLst>
                                          <p:attrName>style.visibility</p:attrName>
                                        </p:attrNameLst>
                                      </p:cBhvr>
                                      <p:to>
                                        <p:strVal val="visible"/>
                                      </p:to>
                                    </p:set>
                                    <p:animEffect transition="in" filter="slide(fromRight)">
                                      <p:cBhvr>
                                        <p:cTn id="107" dur="500"/>
                                        <p:tgtEl>
                                          <p:spTgt spid="152632"/>
                                        </p:tgtEl>
                                      </p:cBhvr>
                                    </p:animEffect>
                                  </p:childTnLst>
                                </p:cTn>
                              </p:par>
                            </p:childTnLst>
                          </p:cTn>
                        </p:par>
                        <p:par>
                          <p:cTn id="108" fill="hold" nodeType="afterGroup">
                            <p:stCondLst>
                              <p:cond delay="500"/>
                            </p:stCondLst>
                            <p:childTnLst>
                              <p:par>
                                <p:cTn id="109" presetID="12" presetClass="entr" presetSubtype="2" fill="hold" nodeType="afterEffect">
                                  <p:stCondLst>
                                    <p:cond delay="500"/>
                                  </p:stCondLst>
                                  <p:childTnLst>
                                    <p:set>
                                      <p:cBhvr>
                                        <p:cTn id="110" dur="1" fill="hold">
                                          <p:stCondLst>
                                            <p:cond delay="0"/>
                                          </p:stCondLst>
                                        </p:cTn>
                                        <p:tgtEl>
                                          <p:spTgt spid="152633"/>
                                        </p:tgtEl>
                                        <p:attrNameLst>
                                          <p:attrName>style.visibility</p:attrName>
                                        </p:attrNameLst>
                                      </p:cBhvr>
                                      <p:to>
                                        <p:strVal val="visible"/>
                                      </p:to>
                                    </p:set>
                                    <p:animEffect transition="in" filter="slide(fromRight)">
                                      <p:cBhvr>
                                        <p:cTn id="111" dur="500"/>
                                        <p:tgtEl>
                                          <p:spTgt spid="1526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613" grpId="0" animBg="1"/>
      <p:bldP spid="152614" grpId="0" autoUpdateAnimBg="0"/>
      <p:bldP spid="152621" grpId="0" autoUpdateAnimBg="0"/>
      <p:bldP spid="152622" grpId="0" autoUpdateAnimBg="0"/>
      <p:bldP spid="152623" grpId="0" animBg="1"/>
      <p:bldP spid="152624" grpId="0" animBg="1"/>
      <p:bldP spid="152625" grpId="0" autoUpdateAnimBg="0"/>
      <p:bldP spid="152628" grpId="0" animBg="1"/>
      <p:bldP spid="152629" grpId="0" autoUpdateAnimBg="0"/>
      <p:bldP spid="152630" grpId="0" autoUpdateAnimBg="0"/>
      <p:bldP spid="152631" grpId="0" autoUpdateAnimBg="0"/>
      <p:bldP spid="29"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7F555071-4CF5-4A2B-969C-42284879E6D4}"/>
              </a:ext>
            </a:extLst>
          </p:cNvPr>
          <p:cNvSpPr>
            <a:spLocks noChangeArrowheads="1"/>
          </p:cNvSpPr>
          <p:nvPr/>
        </p:nvSpPr>
        <p:spPr bwMode="auto">
          <a:xfrm>
            <a:off x="457200" y="1436414"/>
            <a:ext cx="6491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solidFill>
                  <a:srgbClr val="66FFFF"/>
                </a:solidFill>
              </a:rPr>
              <a:t>4.  X </a:t>
            </a:r>
            <a:r>
              <a:rPr lang="zh-CN" altLang="en-US" dirty="0">
                <a:solidFill>
                  <a:srgbClr val="66FFFF"/>
                </a:solidFill>
                <a:ea typeface="华文中宋" panose="02010600040101010101" pitchFamily="2" charset="-122"/>
              </a:rPr>
              <a:t>射线光子和原子内层电子相互作用</a:t>
            </a:r>
          </a:p>
        </p:txBody>
      </p:sp>
      <p:sp>
        <p:nvSpPr>
          <p:cNvPr id="25603" name="Rectangle 3">
            <a:extLst>
              <a:ext uri="{FF2B5EF4-FFF2-40B4-BE49-F238E27FC236}">
                <a16:creationId xmlns:a16="http://schemas.microsoft.com/office/drawing/2014/main" id="{B58E2058-798B-42E2-A669-C834E4141D9A}"/>
              </a:ext>
            </a:extLst>
          </p:cNvPr>
          <p:cNvSpPr>
            <a:spLocks noChangeArrowheads="1"/>
          </p:cNvSpPr>
          <p:nvPr/>
        </p:nvSpPr>
        <p:spPr bwMode="auto">
          <a:xfrm>
            <a:off x="727075" y="2804839"/>
            <a:ext cx="8202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hlink"/>
                </a:solidFill>
                <a:ea typeface="华文中宋" panose="02010600040101010101" pitchFamily="2" charset="-122"/>
              </a:rPr>
              <a:t>光子质量远小于原子，碰撞时光子不损失能量，波长不变</a:t>
            </a:r>
          </a:p>
        </p:txBody>
      </p:sp>
      <p:sp>
        <p:nvSpPr>
          <p:cNvPr id="25619" name="Rectangle 19">
            <a:extLst>
              <a:ext uri="{FF2B5EF4-FFF2-40B4-BE49-F238E27FC236}">
                <a16:creationId xmlns:a16="http://schemas.microsoft.com/office/drawing/2014/main" id="{C70B0ECB-B3D9-44D4-B88E-2E3AA08F2D20}"/>
              </a:ext>
            </a:extLst>
          </p:cNvPr>
          <p:cNvSpPr>
            <a:spLocks noChangeArrowheads="1"/>
          </p:cNvSpPr>
          <p:nvPr/>
        </p:nvSpPr>
        <p:spPr bwMode="auto">
          <a:xfrm>
            <a:off x="725488" y="2157139"/>
            <a:ext cx="78787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hlink"/>
                </a:solidFill>
                <a:ea typeface="华文中宋" panose="02010600040101010101" pitchFamily="2" charset="-122"/>
              </a:rPr>
              <a:t>内层电子被紧束缚，光子相当于和整个原子发生碰撞；</a:t>
            </a:r>
          </a:p>
        </p:txBody>
      </p:sp>
      <p:grpSp>
        <p:nvGrpSpPr>
          <p:cNvPr id="2" name="Group 24">
            <a:extLst>
              <a:ext uri="{FF2B5EF4-FFF2-40B4-BE49-F238E27FC236}">
                <a16:creationId xmlns:a16="http://schemas.microsoft.com/office/drawing/2014/main" id="{9F240460-C38E-4961-A015-AFA22EA8B43B}"/>
              </a:ext>
            </a:extLst>
          </p:cNvPr>
          <p:cNvGrpSpPr>
            <a:grpSpLocks/>
          </p:cNvGrpSpPr>
          <p:nvPr/>
        </p:nvGrpSpPr>
        <p:grpSpPr bwMode="auto">
          <a:xfrm>
            <a:off x="2151063" y="3666852"/>
            <a:ext cx="2784475" cy="1130300"/>
            <a:chOff x="1429" y="3430"/>
            <a:chExt cx="1754" cy="712"/>
          </a:xfrm>
        </p:grpSpPr>
        <p:sp>
          <p:nvSpPr>
            <p:cNvPr id="6162" name="Text Box 25">
              <a:extLst>
                <a:ext uri="{FF2B5EF4-FFF2-40B4-BE49-F238E27FC236}">
                  <a16:creationId xmlns:a16="http://schemas.microsoft.com/office/drawing/2014/main" id="{8531DF06-4C21-41F1-BF27-6B46E5C4FBF3}"/>
                </a:ext>
              </a:extLst>
            </p:cNvPr>
            <p:cNvSpPr txBox="1">
              <a:spLocks noChangeArrowheads="1"/>
            </p:cNvSpPr>
            <p:nvPr/>
          </p:nvSpPr>
          <p:spPr bwMode="auto">
            <a:xfrm>
              <a:off x="1429" y="3641"/>
              <a:ext cx="579" cy="288"/>
            </a:xfrm>
            <a:prstGeom prst="rect">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a:solidFill>
                    <a:schemeClr val="hlink"/>
                  </a:solidFill>
                  <a:ea typeface="楷体_GB2312" pitchFamily="49" charset="-122"/>
                </a:rPr>
                <a:t>光子</a:t>
              </a:r>
            </a:p>
          </p:txBody>
        </p:sp>
        <p:sp>
          <p:nvSpPr>
            <p:cNvPr id="6163" name="Text Box 26">
              <a:extLst>
                <a:ext uri="{FF2B5EF4-FFF2-40B4-BE49-F238E27FC236}">
                  <a16:creationId xmlns:a16="http://schemas.microsoft.com/office/drawing/2014/main" id="{61D8A89D-861A-4235-8D65-C6020EC15B0D}"/>
                </a:ext>
              </a:extLst>
            </p:cNvPr>
            <p:cNvSpPr txBox="1">
              <a:spLocks noChangeArrowheads="1"/>
            </p:cNvSpPr>
            <p:nvPr/>
          </p:nvSpPr>
          <p:spPr bwMode="auto">
            <a:xfrm>
              <a:off x="2281" y="3430"/>
              <a:ext cx="902" cy="288"/>
            </a:xfrm>
            <a:prstGeom prst="rect">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a:solidFill>
                    <a:schemeClr val="hlink"/>
                  </a:solidFill>
                  <a:ea typeface="楷体_GB2312" pitchFamily="49" charset="-122"/>
                </a:rPr>
                <a:t>内层电子</a:t>
              </a:r>
            </a:p>
          </p:txBody>
        </p:sp>
        <p:sp>
          <p:nvSpPr>
            <p:cNvPr id="6164" name="Text Box 27">
              <a:extLst>
                <a:ext uri="{FF2B5EF4-FFF2-40B4-BE49-F238E27FC236}">
                  <a16:creationId xmlns:a16="http://schemas.microsoft.com/office/drawing/2014/main" id="{64396417-3A25-4978-8DB0-31858E924820}"/>
                </a:ext>
              </a:extLst>
            </p:cNvPr>
            <p:cNvSpPr txBox="1">
              <a:spLocks noChangeArrowheads="1"/>
            </p:cNvSpPr>
            <p:nvPr/>
          </p:nvSpPr>
          <p:spPr bwMode="auto">
            <a:xfrm>
              <a:off x="2281" y="3855"/>
              <a:ext cx="902" cy="287"/>
            </a:xfrm>
            <a:prstGeom prst="rect">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a:solidFill>
                    <a:schemeClr val="hlink"/>
                  </a:solidFill>
                  <a:ea typeface="楷体_GB2312" pitchFamily="49" charset="-122"/>
                </a:rPr>
                <a:t>外层电子</a:t>
              </a:r>
            </a:p>
          </p:txBody>
        </p:sp>
        <p:grpSp>
          <p:nvGrpSpPr>
            <p:cNvPr id="6165" name="Group 28">
              <a:extLst>
                <a:ext uri="{FF2B5EF4-FFF2-40B4-BE49-F238E27FC236}">
                  <a16:creationId xmlns:a16="http://schemas.microsoft.com/office/drawing/2014/main" id="{8D5BFB31-24FD-438B-BA32-7056AF42506F}"/>
                </a:ext>
              </a:extLst>
            </p:cNvPr>
            <p:cNvGrpSpPr>
              <a:grpSpLocks/>
            </p:cNvGrpSpPr>
            <p:nvPr/>
          </p:nvGrpSpPr>
          <p:grpSpPr bwMode="auto">
            <a:xfrm>
              <a:off x="2052" y="3534"/>
              <a:ext cx="148" cy="486"/>
              <a:chOff x="2052" y="3534"/>
              <a:chExt cx="148" cy="486"/>
            </a:xfrm>
          </p:grpSpPr>
          <p:sp>
            <p:nvSpPr>
              <p:cNvPr id="6166" name="Line 29">
                <a:extLst>
                  <a:ext uri="{FF2B5EF4-FFF2-40B4-BE49-F238E27FC236}">
                    <a16:creationId xmlns:a16="http://schemas.microsoft.com/office/drawing/2014/main" id="{83150B77-B44B-42D1-9A94-CD01C89CBAB0}"/>
                  </a:ext>
                </a:extLst>
              </p:cNvPr>
              <p:cNvSpPr>
                <a:spLocks noChangeShapeType="1"/>
              </p:cNvSpPr>
              <p:nvPr/>
            </p:nvSpPr>
            <p:spPr bwMode="auto">
              <a:xfrm flipV="1">
                <a:off x="2052" y="3534"/>
                <a:ext cx="148" cy="259"/>
              </a:xfrm>
              <a:prstGeom prst="line">
                <a:avLst/>
              </a:prstGeom>
              <a:noFill/>
              <a:ln w="3810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67" name="Line 30">
                <a:extLst>
                  <a:ext uri="{FF2B5EF4-FFF2-40B4-BE49-F238E27FC236}">
                    <a16:creationId xmlns:a16="http://schemas.microsoft.com/office/drawing/2014/main" id="{EFB4A9A3-895F-464F-B3B8-B03CABD26F3A}"/>
                  </a:ext>
                </a:extLst>
              </p:cNvPr>
              <p:cNvSpPr>
                <a:spLocks noChangeShapeType="1"/>
              </p:cNvSpPr>
              <p:nvPr/>
            </p:nvSpPr>
            <p:spPr bwMode="auto">
              <a:xfrm>
                <a:off x="2052" y="3793"/>
                <a:ext cx="136" cy="227"/>
              </a:xfrm>
              <a:prstGeom prst="line">
                <a:avLst/>
              </a:prstGeom>
              <a:noFill/>
              <a:ln w="3810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4" name="Group 31">
            <a:extLst>
              <a:ext uri="{FF2B5EF4-FFF2-40B4-BE49-F238E27FC236}">
                <a16:creationId xmlns:a16="http://schemas.microsoft.com/office/drawing/2014/main" id="{633A4425-FD35-43A1-BE35-BE755324D682}"/>
              </a:ext>
            </a:extLst>
          </p:cNvPr>
          <p:cNvGrpSpPr>
            <a:grpSpLocks/>
          </p:cNvGrpSpPr>
          <p:nvPr/>
        </p:nvGrpSpPr>
        <p:grpSpPr bwMode="auto">
          <a:xfrm>
            <a:off x="5148263" y="3725589"/>
            <a:ext cx="3198812" cy="1057275"/>
            <a:chOff x="3120" y="768"/>
            <a:chExt cx="2005" cy="762"/>
          </a:xfrm>
        </p:grpSpPr>
        <p:grpSp>
          <p:nvGrpSpPr>
            <p:cNvPr id="6157" name="Group 32">
              <a:extLst>
                <a:ext uri="{FF2B5EF4-FFF2-40B4-BE49-F238E27FC236}">
                  <a16:creationId xmlns:a16="http://schemas.microsoft.com/office/drawing/2014/main" id="{6B25EBE5-0A43-4CAC-958D-1EAB3D1B4A39}"/>
                </a:ext>
              </a:extLst>
            </p:cNvPr>
            <p:cNvGrpSpPr>
              <a:grpSpLocks/>
            </p:cNvGrpSpPr>
            <p:nvPr/>
          </p:nvGrpSpPr>
          <p:grpSpPr bwMode="auto">
            <a:xfrm>
              <a:off x="3120" y="1200"/>
              <a:ext cx="2005" cy="330"/>
              <a:chOff x="3120" y="1200"/>
              <a:chExt cx="2005" cy="330"/>
            </a:xfrm>
          </p:grpSpPr>
          <p:sp>
            <p:nvSpPr>
              <p:cNvPr id="6160" name="Rectangle 33">
                <a:extLst>
                  <a:ext uri="{FF2B5EF4-FFF2-40B4-BE49-F238E27FC236}">
                    <a16:creationId xmlns:a16="http://schemas.microsoft.com/office/drawing/2014/main" id="{AFE42FB4-A6AF-4739-85A7-5253DD3B5C60}"/>
                  </a:ext>
                </a:extLst>
              </p:cNvPr>
              <p:cNvSpPr>
                <a:spLocks noChangeArrowheads="1"/>
              </p:cNvSpPr>
              <p:nvPr/>
            </p:nvSpPr>
            <p:spPr bwMode="auto">
              <a:xfrm>
                <a:off x="3481" y="1200"/>
                <a:ext cx="1644" cy="330"/>
              </a:xfrm>
              <a:prstGeom prst="rect">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a:solidFill>
                      <a:schemeClr val="hlink"/>
                    </a:solidFill>
                    <a:ea typeface="楷体_GB2312" pitchFamily="49" charset="-122"/>
                  </a:rPr>
                  <a:t>波长变大的散射线</a:t>
                </a:r>
              </a:p>
            </p:txBody>
          </p:sp>
          <p:sp>
            <p:nvSpPr>
              <p:cNvPr id="6161" name="Line 34">
                <a:extLst>
                  <a:ext uri="{FF2B5EF4-FFF2-40B4-BE49-F238E27FC236}">
                    <a16:creationId xmlns:a16="http://schemas.microsoft.com/office/drawing/2014/main" id="{37811A1F-32EE-48F4-95D3-F76D827E8607}"/>
                  </a:ext>
                </a:extLst>
              </p:cNvPr>
              <p:cNvSpPr>
                <a:spLocks noChangeShapeType="1"/>
              </p:cNvSpPr>
              <p:nvPr/>
            </p:nvSpPr>
            <p:spPr bwMode="auto">
              <a:xfrm>
                <a:off x="3120" y="1360"/>
                <a:ext cx="288" cy="0"/>
              </a:xfrm>
              <a:prstGeom prst="line">
                <a:avLst/>
              </a:prstGeom>
              <a:noFill/>
              <a:ln w="3810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158" name="Rectangle 35">
              <a:extLst>
                <a:ext uri="{FF2B5EF4-FFF2-40B4-BE49-F238E27FC236}">
                  <a16:creationId xmlns:a16="http://schemas.microsoft.com/office/drawing/2014/main" id="{C90CA16B-8C6B-424C-847E-4C5FD97E19DD}"/>
                </a:ext>
              </a:extLst>
            </p:cNvPr>
            <p:cNvSpPr>
              <a:spLocks noChangeArrowheads="1"/>
            </p:cNvSpPr>
            <p:nvPr/>
          </p:nvSpPr>
          <p:spPr bwMode="auto">
            <a:xfrm>
              <a:off x="3481" y="768"/>
              <a:ext cx="1644" cy="330"/>
            </a:xfrm>
            <a:prstGeom prst="rect">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a:solidFill>
                    <a:schemeClr val="hlink"/>
                  </a:solidFill>
                  <a:ea typeface="楷体_GB2312" pitchFamily="49" charset="-122"/>
                </a:rPr>
                <a:t>波长不变的散射线</a:t>
              </a:r>
            </a:p>
          </p:txBody>
        </p:sp>
        <p:sp>
          <p:nvSpPr>
            <p:cNvPr id="6159" name="Line 36">
              <a:extLst>
                <a:ext uri="{FF2B5EF4-FFF2-40B4-BE49-F238E27FC236}">
                  <a16:creationId xmlns:a16="http://schemas.microsoft.com/office/drawing/2014/main" id="{EAB4055E-B9F4-445E-A20C-A0C975E004B7}"/>
                </a:ext>
              </a:extLst>
            </p:cNvPr>
            <p:cNvSpPr>
              <a:spLocks noChangeShapeType="1"/>
            </p:cNvSpPr>
            <p:nvPr/>
          </p:nvSpPr>
          <p:spPr bwMode="auto">
            <a:xfrm>
              <a:off x="3120" y="918"/>
              <a:ext cx="288" cy="0"/>
            </a:xfrm>
            <a:prstGeom prst="line">
              <a:avLst/>
            </a:prstGeom>
            <a:noFill/>
            <a:ln w="3810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5637" name="Text Box 37">
            <a:extLst>
              <a:ext uri="{FF2B5EF4-FFF2-40B4-BE49-F238E27FC236}">
                <a16:creationId xmlns:a16="http://schemas.microsoft.com/office/drawing/2014/main" id="{2AD28CC9-243B-4084-9FD2-670E15333270}"/>
              </a:ext>
            </a:extLst>
          </p:cNvPr>
          <p:cNvSpPr txBox="1">
            <a:spLocks noChangeArrowheads="1"/>
          </p:cNvSpPr>
          <p:nvPr/>
        </p:nvSpPr>
        <p:spPr bwMode="auto">
          <a:xfrm>
            <a:off x="1463675" y="4001814"/>
            <a:ext cx="974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hlink"/>
                </a:solidFill>
              </a:rPr>
              <a:t>(1) </a:t>
            </a:r>
          </a:p>
        </p:txBody>
      </p:sp>
      <p:sp>
        <p:nvSpPr>
          <p:cNvPr id="25638" name="Rectangle 38">
            <a:extLst>
              <a:ext uri="{FF2B5EF4-FFF2-40B4-BE49-F238E27FC236}">
                <a16:creationId xmlns:a16="http://schemas.microsoft.com/office/drawing/2014/main" id="{290CFB20-7235-4D51-8548-998C165720E0}"/>
              </a:ext>
            </a:extLst>
          </p:cNvPr>
          <p:cNvSpPr>
            <a:spLocks noChangeArrowheads="1"/>
          </p:cNvSpPr>
          <p:nvPr/>
        </p:nvSpPr>
        <p:spPr bwMode="auto">
          <a:xfrm>
            <a:off x="642938" y="4001814"/>
            <a:ext cx="1003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FF00"/>
                </a:solidFill>
                <a:ea typeface="华文中宋" panose="02010600040101010101" pitchFamily="2" charset="-122"/>
              </a:rPr>
              <a:t>说明</a:t>
            </a:r>
          </a:p>
        </p:txBody>
      </p:sp>
      <p:sp>
        <p:nvSpPr>
          <p:cNvPr id="6153" name="灯片编号占位符 1">
            <a:extLst>
              <a:ext uri="{FF2B5EF4-FFF2-40B4-BE49-F238E27FC236}">
                <a16:creationId xmlns:a16="http://schemas.microsoft.com/office/drawing/2014/main" id="{64809943-26FE-43A9-B940-8F9F55480FF8}"/>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31354AC8-5E6E-4A6F-9FC4-AA2F78C4FD4D}" type="slidenum">
              <a:rPr lang="en-US" altLang="zh-CN" b="0">
                <a:solidFill>
                  <a:srgbClr val="FF00FF"/>
                </a:solidFill>
              </a:rPr>
              <a:pPr eaLnBrk="1" hangingPunct="1"/>
              <a:t>15</a:t>
            </a:fld>
            <a:r>
              <a:rPr lang="en-US" altLang="zh-CN" b="0">
                <a:solidFill>
                  <a:srgbClr val="FF00FF"/>
                </a:solidFill>
              </a:rPr>
              <a:t>/22</a:t>
            </a:r>
          </a:p>
        </p:txBody>
      </p:sp>
      <p:sp>
        <p:nvSpPr>
          <p:cNvPr id="21" name="Rectangle 2">
            <a:extLst>
              <a:ext uri="{FF2B5EF4-FFF2-40B4-BE49-F238E27FC236}">
                <a16:creationId xmlns:a16="http://schemas.microsoft.com/office/drawing/2014/main" id="{B5168C90-9BE6-4002-B645-F205D523976F}"/>
              </a:ext>
            </a:extLst>
          </p:cNvPr>
          <p:cNvSpPr>
            <a:spLocks noChangeArrowheads="1"/>
          </p:cNvSpPr>
          <p:nvPr/>
        </p:nvSpPr>
        <p:spPr bwMode="auto">
          <a:xfrm>
            <a:off x="513390" y="739552"/>
            <a:ext cx="83070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rgbClr val="FFFF00"/>
                </a:solidFill>
                <a:ea typeface="华文中宋" panose="02010600040101010101" pitchFamily="2" charset="-122"/>
              </a:rPr>
              <a:t>波长变大：</a:t>
            </a:r>
            <a:r>
              <a:rPr lang="en-US" altLang="zh-CN" dirty="0">
                <a:solidFill>
                  <a:schemeClr val="bg1"/>
                </a:solidFill>
                <a:ea typeface="华文中宋" panose="02010600040101010101" pitchFamily="2" charset="-122"/>
              </a:rPr>
              <a:t>X</a:t>
            </a:r>
            <a:r>
              <a:rPr lang="zh-CN" altLang="en-US" dirty="0">
                <a:solidFill>
                  <a:schemeClr val="bg1"/>
                </a:solidFill>
                <a:ea typeface="华文中宋" panose="02010600040101010101" pitchFamily="2" charset="-122"/>
              </a:rPr>
              <a:t>射线光子与外层电子相互碰撞的结果</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linds(horizontal)">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602"/>
                                        </p:tgtEl>
                                        <p:attrNameLst>
                                          <p:attrName>style.visibility</p:attrName>
                                        </p:attrNameLst>
                                      </p:cBhvr>
                                      <p:to>
                                        <p:strVal val="visible"/>
                                      </p:to>
                                    </p:set>
                                    <p:animEffect transition="in" filter="blinds(horizontal)">
                                      <p:cBhvr>
                                        <p:cTn id="12" dur="500"/>
                                        <p:tgtEl>
                                          <p:spTgt spid="2560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25619"/>
                                        </p:tgtEl>
                                        <p:attrNameLst>
                                          <p:attrName>style.visibility</p:attrName>
                                        </p:attrNameLst>
                                      </p:cBhvr>
                                      <p:to>
                                        <p:strVal val="visible"/>
                                      </p:to>
                                    </p:set>
                                    <p:animEffect transition="in" filter="slide(fromLeft)">
                                      <p:cBhvr>
                                        <p:cTn id="17" dur="500"/>
                                        <p:tgtEl>
                                          <p:spTgt spid="2561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5603"/>
                                        </p:tgtEl>
                                        <p:attrNameLst>
                                          <p:attrName>style.visibility</p:attrName>
                                        </p:attrNameLst>
                                      </p:cBhvr>
                                      <p:to>
                                        <p:strVal val="visible"/>
                                      </p:to>
                                    </p:set>
                                    <p:animEffect transition="in" filter="wipe(left)">
                                      <p:cBhvr>
                                        <p:cTn id="22" dur="500"/>
                                        <p:tgtEl>
                                          <p:spTgt spid="2560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5638"/>
                                        </p:tgtEl>
                                        <p:attrNameLst>
                                          <p:attrName>style.visibility</p:attrName>
                                        </p:attrNameLst>
                                      </p:cBhvr>
                                      <p:to>
                                        <p:strVal val="visible"/>
                                      </p:to>
                                    </p:set>
                                  </p:childTnLst>
                                </p:cTn>
                              </p:par>
                            </p:childTnLst>
                          </p:cTn>
                        </p:par>
                        <p:par>
                          <p:cTn id="27" fill="hold" nodeType="afterGroup">
                            <p:stCondLst>
                              <p:cond delay="500"/>
                            </p:stCondLst>
                            <p:childTnLst>
                              <p:par>
                                <p:cTn id="28" presetID="1" presetClass="entr" presetSubtype="0" fill="hold" grpId="0" nodeType="afterEffect">
                                  <p:stCondLst>
                                    <p:cond delay="0"/>
                                  </p:stCondLst>
                                  <p:iterate type="lt">
                                    <p:tmAbs val="75"/>
                                  </p:iterate>
                                  <p:childTnLst>
                                    <p:set>
                                      <p:cBhvr>
                                        <p:cTn id="29" dur="1" fill="hold">
                                          <p:stCondLst>
                                            <p:cond delay="74"/>
                                          </p:stCondLst>
                                        </p:cTn>
                                        <p:tgtEl>
                                          <p:spTgt spid="25637"/>
                                        </p:tgtEl>
                                        <p:attrNameLst>
                                          <p:attrName>style.visibility</p:attrName>
                                        </p:attrNameLst>
                                      </p:cBhvr>
                                      <p:to>
                                        <p:strVal val="visible"/>
                                      </p:to>
                                    </p:set>
                                  </p:childTnLst>
                                </p:cTn>
                              </p:par>
                            </p:childTnLst>
                          </p:cTn>
                        </p:par>
                        <p:par>
                          <p:cTn id="30" fill="hold" nodeType="afterGroup">
                            <p:stCondLst>
                              <p:cond delay="725"/>
                            </p:stCondLst>
                            <p:childTnLst>
                              <p:par>
                                <p:cTn id="31" presetID="22" presetClass="entr" presetSubtype="8" fill="hold" nodeType="after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wipe(left)">
                                      <p:cBhvr>
                                        <p:cTn id="33" dur="500"/>
                                        <p:tgtEl>
                                          <p:spTgt spid="2"/>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2" presetClass="entr" presetSubtype="8" fill="hold" nodeType="click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slide(fromLeft)">
                                      <p:cBhvr>
                                        <p:cTn id="3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autoUpdateAnimBg="0"/>
      <p:bldP spid="25603" grpId="0" autoUpdateAnimBg="0"/>
      <p:bldP spid="25619" grpId="0" autoUpdateAnimBg="0"/>
      <p:bldP spid="25637" grpId="0" autoUpdateAnimBg="0"/>
      <p:bldP spid="25638" grpId="0" autoUpdateAnimBg="0"/>
      <p:bldP spid="21"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a:extLst>
              <a:ext uri="{FF2B5EF4-FFF2-40B4-BE49-F238E27FC236}">
                <a16:creationId xmlns:a16="http://schemas.microsoft.com/office/drawing/2014/main" id="{9BA208FE-7E27-4754-8726-00F9ADD15C06}"/>
              </a:ext>
            </a:extLst>
          </p:cNvPr>
          <p:cNvSpPr txBox="1">
            <a:spLocks noChangeArrowheads="1"/>
          </p:cNvSpPr>
          <p:nvPr/>
        </p:nvSpPr>
        <p:spPr bwMode="auto">
          <a:xfrm>
            <a:off x="0" y="285750"/>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a:solidFill>
                  <a:schemeClr val="hlink"/>
                </a:solidFill>
              </a:rPr>
              <a:t>(2) </a:t>
            </a:r>
          </a:p>
        </p:txBody>
      </p:sp>
      <p:graphicFrame>
        <p:nvGraphicFramePr>
          <p:cNvPr id="27651" name="Group 3">
            <a:extLst>
              <a:ext uri="{FF2B5EF4-FFF2-40B4-BE49-F238E27FC236}">
                <a16:creationId xmlns:a16="http://schemas.microsoft.com/office/drawing/2014/main" id="{7B43DDD6-5949-4D81-91E9-B398C7FC29A8}"/>
              </a:ext>
            </a:extLst>
          </p:cNvPr>
          <p:cNvGraphicFramePr>
            <a:graphicFrameLocks noGrp="1"/>
          </p:cNvGraphicFramePr>
          <p:nvPr/>
        </p:nvGraphicFramePr>
        <p:xfrm>
          <a:off x="785813" y="414338"/>
          <a:ext cx="5969000" cy="1323975"/>
        </p:xfrm>
        <a:graphic>
          <a:graphicData uri="http://schemas.openxmlformats.org/drawingml/2006/table">
            <a:tbl>
              <a:tblPr/>
              <a:tblGrid>
                <a:gridCol w="4468814">
                  <a:extLst>
                    <a:ext uri="{9D8B030D-6E8A-4147-A177-3AD203B41FA5}">
                      <a16:colId xmlns:a16="http://schemas.microsoft.com/office/drawing/2014/main" val="20000"/>
                    </a:ext>
                  </a:extLst>
                </a:gridCol>
                <a:gridCol w="785812">
                  <a:extLst>
                    <a:ext uri="{9D8B030D-6E8A-4147-A177-3AD203B41FA5}">
                      <a16:colId xmlns:a16="http://schemas.microsoft.com/office/drawing/2014/main" val="20001"/>
                    </a:ext>
                  </a:extLst>
                </a:gridCol>
                <a:gridCol w="714374">
                  <a:extLst>
                    <a:ext uri="{9D8B030D-6E8A-4147-A177-3AD203B41FA5}">
                      <a16:colId xmlns:a16="http://schemas.microsoft.com/office/drawing/2014/main" val="20002"/>
                    </a:ext>
                  </a:extLst>
                </a:gridCol>
              </a:tblGrid>
              <a:tr h="35242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2800" b="1" i="0" u="none" strike="noStrike" cap="none" normalizeH="0" baseline="0" dirty="0">
                          <a:ln>
                            <a:noFill/>
                          </a:ln>
                          <a:solidFill>
                            <a:schemeClr val="tx1"/>
                          </a:solidFill>
                          <a:effectLst/>
                          <a:latin typeface="Times New Roman" pitchFamily="18" charset="0"/>
                          <a:ea typeface="宋体" pitchFamily="2" charset="-122"/>
                        </a:rPr>
                        <a:t>                                         </a:t>
                      </a:r>
                      <a:r>
                        <a:rPr kumimoji="0" lang="zh-CN" altLang="en-US" sz="2000" b="1" i="0" u="none" strike="noStrike" cap="none" normalizeH="0" baseline="0" dirty="0">
                          <a:ln>
                            <a:noFill/>
                          </a:ln>
                          <a:solidFill>
                            <a:schemeClr val="tx1"/>
                          </a:solidFill>
                          <a:effectLst/>
                          <a:latin typeface="Times New Roman" pitchFamily="18" charset="0"/>
                          <a:ea typeface="宋体" pitchFamily="2" charset="-122"/>
                        </a:rPr>
                        <a:t>波长</a:t>
                      </a:r>
                    </a:p>
                  </a:txBody>
                  <a:tcPr marL="91439" marR="91439" anchor="ctr" horzOverflow="overflow">
                    <a:lnL w="12700" cap="flat" cmpd="sng" algn="ctr">
                      <a:solidFill>
                        <a:schemeClr val="hlink"/>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rgbClr val="00CC99">
                        <a:alpha val="81175"/>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2400" b="1" i="1" u="none" strike="noStrike" cap="none" normalizeH="0" baseline="0">
                          <a:ln>
                            <a:noFill/>
                          </a:ln>
                          <a:solidFill>
                            <a:schemeClr val="tx1"/>
                          </a:solidFill>
                          <a:effectLst/>
                          <a:latin typeface="Times New Roman" pitchFamily="18" charset="0"/>
                          <a:ea typeface="宋体" pitchFamily="2" charset="-122"/>
                          <a:sym typeface="Symbol" pitchFamily="18" charset="2"/>
                        </a:rPr>
                        <a:t> </a:t>
                      </a:r>
                      <a:r>
                        <a:rPr kumimoji="0" lang="en-US" altLang="zh-CN" sz="2400" b="1" i="0" u="none" strike="noStrike" cap="none" normalizeH="0" baseline="-16000">
                          <a:ln>
                            <a:noFill/>
                          </a:ln>
                          <a:solidFill>
                            <a:schemeClr val="tx1"/>
                          </a:solidFill>
                          <a:effectLst/>
                          <a:latin typeface="Times New Roman" pitchFamily="18" charset="0"/>
                          <a:ea typeface="宋体" pitchFamily="2" charset="-122"/>
                        </a:rPr>
                        <a:t>0</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CC99">
                        <a:alpha val="81175"/>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2400" b="1" i="1" u="none" strike="noStrike" cap="none" normalizeH="0" baseline="0">
                          <a:ln>
                            <a:noFill/>
                          </a:ln>
                          <a:solidFill>
                            <a:schemeClr val="tx1"/>
                          </a:solidFill>
                          <a:effectLst/>
                          <a:latin typeface="Times New Roman" pitchFamily="18" charset="0"/>
                          <a:ea typeface="宋体" pitchFamily="2" charset="-122"/>
                          <a:sym typeface="Symbol" pitchFamily="18" charset="2"/>
                        </a:rPr>
                        <a:t>  </a:t>
                      </a:r>
                      <a:r>
                        <a:rPr kumimoji="0" lang="zh-CN" altLang="en-US" sz="2400" b="1" i="1" u="none" strike="noStrike" cap="none" normalizeH="0" baseline="0">
                          <a:ln>
                            <a:noFill/>
                          </a:ln>
                          <a:solidFill>
                            <a:schemeClr val="tx1"/>
                          </a:solidFill>
                          <a:effectLst/>
                          <a:latin typeface="Times New Roman" pitchFamily="18" charset="0"/>
                          <a:ea typeface="宋体" pitchFamily="2" charset="-122"/>
                        </a:rPr>
                        <a:t> </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CC99">
                        <a:alpha val="81175"/>
                      </a:srgbClr>
                    </a:solidFill>
                  </a:tcPr>
                </a:tc>
                <a:extLst>
                  <a:ext uri="{0D108BD9-81ED-4DB2-BD59-A6C34878D82A}">
                    <a16:rowId xmlns:a16="http://schemas.microsoft.com/office/drawing/2014/main" val="10000"/>
                  </a:ext>
                </a:extLst>
              </a:tr>
              <a:tr h="40957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2000" b="1" i="0" u="none" strike="noStrike" cap="none" normalizeH="0" baseline="0" dirty="0">
                          <a:ln>
                            <a:noFill/>
                          </a:ln>
                          <a:solidFill>
                            <a:schemeClr val="tx1"/>
                          </a:solidFill>
                          <a:effectLst/>
                          <a:latin typeface="楷体_GB2312" pitchFamily="49" charset="-122"/>
                          <a:ea typeface="楷体_GB2312" pitchFamily="49" charset="-122"/>
                        </a:rPr>
                        <a:t>轻原子（多数电子处于弱束缚状态 ）</a:t>
                      </a:r>
                    </a:p>
                  </a:txBody>
                  <a:tcPr marL="91439" marR="91439" anchor="ctr" horzOverflow="overflow">
                    <a:lnL w="12700" cap="flat" cmpd="sng" algn="ctr">
                      <a:solidFill>
                        <a:schemeClr val="hlink"/>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CC99">
                        <a:alpha val="79999"/>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2000" b="1" i="0" u="none" strike="noStrike" cap="none" normalizeH="0" baseline="0" dirty="0">
                          <a:ln>
                            <a:noFill/>
                          </a:ln>
                          <a:solidFill>
                            <a:schemeClr val="hlink"/>
                          </a:solidFill>
                          <a:effectLst/>
                          <a:latin typeface="楷体_GB2312" pitchFamily="49" charset="-122"/>
                          <a:ea typeface="楷体_GB2312" pitchFamily="49" charset="-122"/>
                        </a:rPr>
                        <a:t>弱</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66">
                        <a:alpha val="50195"/>
                      </a:srgb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hlink"/>
                          </a:solidFill>
                          <a:effectLst/>
                          <a:latin typeface="楷体_GB2312" pitchFamily="49" charset="-122"/>
                          <a:ea typeface="楷体_GB2312" pitchFamily="49" charset="-122"/>
                        </a:rPr>
                        <a:t>强</a:t>
                      </a:r>
                    </a:p>
                  </a:txBody>
                  <a:tcPr marL="91439" marR="91439" anchor="b" horzOverflow="overflow">
                    <a:lnL w="12700"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66">
                        <a:alpha val="50195"/>
                      </a:srgbClr>
                    </a:solidFill>
                  </a:tcPr>
                </a:tc>
                <a:extLst>
                  <a:ext uri="{0D108BD9-81ED-4DB2-BD59-A6C34878D82A}">
                    <a16:rowId xmlns:a16="http://schemas.microsoft.com/office/drawing/2014/main" val="10001"/>
                  </a:ext>
                </a:extLst>
              </a:tr>
              <a:tr h="39528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zh-CN" altLang="en-US" sz="2000" b="1" i="0" u="none" strike="noStrike" cap="none" normalizeH="0" baseline="0" dirty="0">
                          <a:ln>
                            <a:noFill/>
                          </a:ln>
                          <a:solidFill>
                            <a:schemeClr val="tx1"/>
                          </a:solidFill>
                          <a:effectLst/>
                          <a:latin typeface="楷体_GB2312" pitchFamily="49" charset="-122"/>
                          <a:ea typeface="楷体_GB2312" pitchFamily="49" charset="-122"/>
                        </a:rPr>
                        <a:t>重原子（多数电子处于强束缚状态 ）</a:t>
                      </a:r>
                    </a:p>
                  </a:txBody>
                  <a:tcPr marL="91439" marR="91439" anchor="ctr" horzOverflow="overflow">
                    <a:lnL w="12700" cap="flat" cmpd="sng" algn="ctr">
                      <a:solidFill>
                        <a:schemeClr val="hlink"/>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solidFill>
                      <a:srgbClr val="00CC99">
                        <a:alpha val="79999"/>
                      </a:srgb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hlink"/>
                          </a:solidFill>
                          <a:effectLst/>
                          <a:latin typeface="楷体_GB2312" pitchFamily="49" charset="-122"/>
                          <a:ea typeface="楷体_GB2312" pitchFamily="49" charset="-122"/>
                        </a:rPr>
                        <a:t>强</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solidFill>
                      <a:srgbClr val="006666">
                        <a:alpha val="50195"/>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2000" b="1" i="0" u="none" strike="noStrike" cap="none" normalizeH="0" baseline="0" dirty="0">
                          <a:ln>
                            <a:noFill/>
                          </a:ln>
                          <a:solidFill>
                            <a:schemeClr val="hlink"/>
                          </a:solidFill>
                          <a:effectLst/>
                          <a:latin typeface="楷体_GB2312" pitchFamily="49" charset="-122"/>
                          <a:ea typeface="楷体_GB2312" pitchFamily="49" charset="-122"/>
                        </a:rPr>
                        <a:t>弱</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solidFill>
                      <a:srgbClr val="006666">
                        <a:alpha val="50195"/>
                      </a:srgbClr>
                    </a:solidFill>
                  </a:tcPr>
                </a:tc>
                <a:extLst>
                  <a:ext uri="{0D108BD9-81ED-4DB2-BD59-A6C34878D82A}">
                    <a16:rowId xmlns:a16="http://schemas.microsoft.com/office/drawing/2014/main" val="10002"/>
                  </a:ext>
                </a:extLst>
              </a:tr>
            </a:tbl>
          </a:graphicData>
        </a:graphic>
      </p:graphicFrame>
      <p:pic>
        <p:nvPicPr>
          <p:cNvPr id="27672" name="Picture 24" descr="吴有训实验结果">
            <a:extLst>
              <a:ext uri="{FF2B5EF4-FFF2-40B4-BE49-F238E27FC236}">
                <a16:creationId xmlns:a16="http://schemas.microsoft.com/office/drawing/2014/main" id="{98DE35FE-655B-4769-BCE0-A79AB6D264A1}"/>
              </a:ext>
            </a:extLst>
          </p:cNvPr>
          <p:cNvPicPr>
            <a:picLocks noChangeAspect="1" noChangeArrowheads="1"/>
          </p:cNvPicPr>
          <p:nvPr/>
        </p:nvPicPr>
        <p:blipFill>
          <a:blip r:embed="rId3">
            <a:clrChange>
              <a:clrFrom>
                <a:srgbClr val="006599"/>
              </a:clrFrom>
              <a:clrTo>
                <a:srgbClr val="006599">
                  <a:alpha val="0"/>
                </a:srgbClr>
              </a:clrTo>
            </a:clrChange>
            <a:extLst>
              <a:ext uri="{28A0092B-C50C-407E-A947-70E740481C1C}">
                <a14:useLocalDpi xmlns:a14="http://schemas.microsoft.com/office/drawing/2010/main" val="0"/>
              </a:ext>
            </a:extLst>
          </a:blip>
          <a:srcRect/>
          <a:stretch>
            <a:fillRect/>
          </a:stretch>
        </p:blipFill>
        <p:spPr bwMode="auto">
          <a:xfrm>
            <a:off x="1143000" y="1928813"/>
            <a:ext cx="5572125" cy="4391025"/>
          </a:xfrm>
          <a:prstGeom prst="rect">
            <a:avLst/>
          </a:prstGeom>
          <a:solidFill>
            <a:srgbClr val="003366"/>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27673" name="Rectangle 25">
            <a:extLst>
              <a:ext uri="{FF2B5EF4-FFF2-40B4-BE49-F238E27FC236}">
                <a16:creationId xmlns:a16="http://schemas.microsoft.com/office/drawing/2014/main" id="{E8B4A926-73F1-42FB-ABB2-2D5DE121206F}"/>
              </a:ext>
            </a:extLst>
          </p:cNvPr>
          <p:cNvSpPr>
            <a:spLocks noChangeArrowheads="1"/>
          </p:cNvSpPr>
          <p:nvPr/>
        </p:nvSpPr>
        <p:spPr bwMode="auto">
          <a:xfrm>
            <a:off x="642636" y="2154238"/>
            <a:ext cx="492443" cy="3951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dirty="0">
                <a:solidFill>
                  <a:schemeClr val="bg1"/>
                </a:solidFill>
                <a:ea typeface="楷体_GB2312" pitchFamily="49" charset="-122"/>
              </a:rPr>
              <a:t>吴有训实验结果</a:t>
            </a:r>
            <a:r>
              <a:rPr lang="zh-CN" altLang="en-US" sz="2000" dirty="0">
                <a:solidFill>
                  <a:srgbClr val="FF0000"/>
                </a:solidFill>
                <a:ea typeface="楷体_GB2312" pitchFamily="49" charset="-122"/>
              </a:rPr>
              <a:t>（相同的散射角）</a:t>
            </a:r>
          </a:p>
        </p:txBody>
      </p:sp>
      <p:sp>
        <p:nvSpPr>
          <p:cNvPr id="6" name="Rectangle 11">
            <a:extLst>
              <a:ext uri="{FF2B5EF4-FFF2-40B4-BE49-F238E27FC236}">
                <a16:creationId xmlns:a16="http://schemas.microsoft.com/office/drawing/2014/main" id="{D15F6D5C-83E0-4E1A-8699-9C95919C303D}"/>
              </a:ext>
            </a:extLst>
          </p:cNvPr>
          <p:cNvSpPr>
            <a:spLocks noChangeArrowheads="1"/>
          </p:cNvSpPr>
          <p:nvPr/>
        </p:nvSpPr>
        <p:spPr bwMode="auto">
          <a:xfrm>
            <a:off x="6858000" y="3330575"/>
            <a:ext cx="2000250"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125000"/>
              </a:lnSpc>
            </a:pPr>
            <a:r>
              <a:rPr lang="en-US" altLang="zh-CN" sz="2000" dirty="0">
                <a:solidFill>
                  <a:srgbClr val="FFFFFF"/>
                </a:solidFill>
                <a:latin typeface="楷体_GB2312" pitchFamily="49" charset="-122"/>
                <a:ea typeface="楷体_GB2312" pitchFamily="49" charset="-122"/>
              </a:rPr>
              <a:t>   </a:t>
            </a:r>
            <a:r>
              <a:rPr lang="zh-CN" altLang="en-US" sz="2000" dirty="0">
                <a:solidFill>
                  <a:srgbClr val="FFFFFF"/>
                </a:solidFill>
                <a:latin typeface="楷体_GB2312" pitchFamily="49" charset="-122"/>
                <a:ea typeface="楷体_GB2312" pitchFamily="49" charset="-122"/>
              </a:rPr>
              <a:t>波长差与散射物质无关。</a:t>
            </a:r>
            <a:r>
              <a:rPr lang="zh-CN" altLang="en-US" sz="2000" dirty="0">
                <a:solidFill>
                  <a:srgbClr val="FFFF00"/>
                </a:solidFill>
                <a:latin typeface="楷体_GB2312" pitchFamily="49" charset="-122"/>
                <a:ea typeface="楷体_GB2312" pitchFamily="49" charset="-122"/>
              </a:rPr>
              <a:t>散射线中原波长成分的强度随散射物原子序数增加而增大，而波长变大成分的强度则相对减少</a:t>
            </a:r>
            <a:r>
              <a:rPr lang="zh-CN" altLang="en-US" sz="2000" dirty="0">
                <a:solidFill>
                  <a:srgbClr val="FFFFFF"/>
                </a:solidFill>
                <a:latin typeface="楷体_GB2312" pitchFamily="49" charset="-122"/>
                <a:ea typeface="楷体_GB2312" pitchFamily="49" charset="-122"/>
              </a:rPr>
              <a:t>。</a:t>
            </a:r>
          </a:p>
        </p:txBody>
      </p:sp>
      <p:sp>
        <p:nvSpPr>
          <p:cNvPr id="8218" name="灯片编号占位符 1">
            <a:extLst>
              <a:ext uri="{FF2B5EF4-FFF2-40B4-BE49-F238E27FC236}">
                <a16:creationId xmlns:a16="http://schemas.microsoft.com/office/drawing/2014/main" id="{85A38174-43D1-4520-8DF9-5930F540DF35}"/>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DEBF451E-E6D7-4CE1-87C1-B7B7D0EF72B8}" type="slidenum">
              <a:rPr lang="en-US" altLang="zh-CN" b="0">
                <a:solidFill>
                  <a:srgbClr val="FF00FF"/>
                </a:solidFill>
              </a:rPr>
              <a:pPr eaLnBrk="1" hangingPunct="1"/>
              <a:t>16</a:t>
            </a:fld>
            <a:r>
              <a:rPr lang="en-US" altLang="zh-CN" b="0">
                <a:solidFill>
                  <a:srgbClr val="FF00FF"/>
                </a:solidFill>
              </a:rPr>
              <a:t>/22</a:t>
            </a:r>
          </a:p>
        </p:txBody>
      </p:sp>
      <p:pic>
        <p:nvPicPr>
          <p:cNvPr id="20508" name="Picture 28" descr="https://bkimg.cdn.bcebos.com/pic/72f082025aafa40f3e528880a264034f79f019d2?x-bce-process=image/resize,m_lfit,w_268,limit_1/format,f_jpg">
            <a:extLst>
              <a:ext uri="{FF2B5EF4-FFF2-40B4-BE49-F238E27FC236}">
                <a16:creationId xmlns:a16="http://schemas.microsoft.com/office/drawing/2014/main" id="{BA667E6D-CE09-4CB5-ABD8-4AFFF8F085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29438" y="400050"/>
            <a:ext cx="1785937" cy="238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2">
            <a:extLst>
              <a:ext uri="{FF2B5EF4-FFF2-40B4-BE49-F238E27FC236}">
                <a16:creationId xmlns:a16="http://schemas.microsoft.com/office/drawing/2014/main" id="{C28FFC85-627A-40AA-B991-C114B47596BF}"/>
              </a:ext>
            </a:extLst>
          </p:cNvPr>
          <p:cNvSpPr txBox="1">
            <a:spLocks noChangeArrowheads="1"/>
          </p:cNvSpPr>
          <p:nvPr/>
        </p:nvSpPr>
        <p:spPr bwMode="auto">
          <a:xfrm>
            <a:off x="6858000" y="2786063"/>
            <a:ext cx="19288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dirty="0">
                <a:solidFill>
                  <a:schemeClr val="bg1"/>
                </a:solidFill>
              </a:rPr>
              <a:t>吴有训</a:t>
            </a:r>
            <a:endParaRPr lang="en-US" altLang="zh-CN" sz="2000" dirty="0">
              <a:solidFill>
                <a:schemeClr val="bg1"/>
              </a:solidFill>
            </a:endParaRPr>
          </a:p>
        </p:txBody>
      </p:sp>
      <p:sp>
        <p:nvSpPr>
          <p:cNvPr id="10" name="Text Box 2">
            <a:extLst>
              <a:ext uri="{FF2B5EF4-FFF2-40B4-BE49-F238E27FC236}">
                <a16:creationId xmlns:a16="http://schemas.microsoft.com/office/drawing/2014/main" id="{4955CEE8-B7D9-43B4-8635-8FB5CAAA2254}"/>
              </a:ext>
            </a:extLst>
          </p:cNvPr>
          <p:cNvSpPr txBox="1">
            <a:spLocks noChangeArrowheads="1"/>
          </p:cNvSpPr>
          <p:nvPr/>
        </p:nvSpPr>
        <p:spPr bwMode="auto">
          <a:xfrm>
            <a:off x="1214438" y="6286500"/>
            <a:ext cx="6000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a:solidFill>
                  <a:schemeClr val="hlink"/>
                </a:solidFill>
              </a:rPr>
              <a:t>1921-1925 </a:t>
            </a:r>
            <a:r>
              <a:rPr lang="zh-CN" altLang="en-US" sz="2000">
                <a:solidFill>
                  <a:schemeClr val="hlink"/>
                </a:solidFill>
              </a:rPr>
              <a:t>年师从康普顿，从事康普顿效应研究。</a:t>
            </a:r>
            <a:endParaRPr lang="en-US" altLang="zh-CN" sz="2000">
              <a:solidFill>
                <a:schemeClr val="hlink"/>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27650"/>
                                        </p:tgtEl>
                                        <p:attrNameLst>
                                          <p:attrName>style.visibility</p:attrName>
                                        </p:attrNameLst>
                                      </p:cBhvr>
                                      <p:to>
                                        <p:strVal val="visible"/>
                                      </p:to>
                                    </p:set>
                                  </p:childTnLst>
                                </p:cTn>
                              </p:par>
                            </p:childTnLst>
                          </p:cTn>
                        </p:par>
                        <p:par>
                          <p:cTn id="7" fill="hold" nodeType="afterGroup">
                            <p:stCondLst>
                              <p:cond delay="500"/>
                            </p:stCondLst>
                            <p:childTnLst>
                              <p:par>
                                <p:cTn id="8" presetID="9" presetClass="entr" presetSubtype="0" fill="hold" grpId="0" nodeType="afterEffect">
                                  <p:stCondLst>
                                    <p:cond delay="0"/>
                                  </p:stCondLst>
                                  <p:childTnLst>
                                    <p:set>
                                      <p:cBhvr>
                                        <p:cTn id="9" dur="1" fill="hold">
                                          <p:stCondLst>
                                            <p:cond delay="0"/>
                                          </p:stCondLst>
                                        </p:cTn>
                                        <p:tgtEl>
                                          <p:spTgt spid="27673"/>
                                        </p:tgtEl>
                                        <p:attrNameLst>
                                          <p:attrName>style.visibility</p:attrName>
                                        </p:attrNameLst>
                                      </p:cBhvr>
                                      <p:to>
                                        <p:strVal val="visible"/>
                                      </p:to>
                                    </p:set>
                                    <p:animEffect transition="in" filter="dissolve">
                                      <p:cBhvr>
                                        <p:cTn id="10" dur="500"/>
                                        <p:tgtEl>
                                          <p:spTgt spid="27673"/>
                                        </p:tgtEl>
                                      </p:cBhvr>
                                    </p:animEffect>
                                  </p:childTnLst>
                                </p:cTn>
                              </p:par>
                              <p:par>
                                <p:cTn id="11" presetID="9" presetClass="entr" presetSubtype="0" fill="hold" nodeType="withEffect">
                                  <p:stCondLst>
                                    <p:cond delay="0"/>
                                  </p:stCondLst>
                                  <p:childTnLst>
                                    <p:set>
                                      <p:cBhvr>
                                        <p:cTn id="12" dur="1" fill="hold">
                                          <p:stCondLst>
                                            <p:cond delay="0"/>
                                          </p:stCondLst>
                                        </p:cTn>
                                        <p:tgtEl>
                                          <p:spTgt spid="27672"/>
                                        </p:tgtEl>
                                        <p:attrNameLst>
                                          <p:attrName>style.visibility</p:attrName>
                                        </p:attrNameLst>
                                      </p:cBhvr>
                                      <p:to>
                                        <p:strVal val="visible"/>
                                      </p:to>
                                    </p:set>
                                    <p:animEffect transition="in" filter="dissolve">
                                      <p:cBhvr>
                                        <p:cTn id="13" dur="500"/>
                                        <p:tgtEl>
                                          <p:spTgt spid="27672"/>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dissolve">
                                      <p:cBhvr>
                                        <p:cTn id="16" dur="500"/>
                                        <p:tgtEl>
                                          <p:spTgt spid="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4" presetClass="entr" presetSubtype="32" fill="hold" nodeType="clickEffect">
                                  <p:stCondLst>
                                    <p:cond delay="0"/>
                                  </p:stCondLst>
                                  <p:childTnLst>
                                    <p:set>
                                      <p:cBhvr>
                                        <p:cTn id="20" dur="1" fill="hold">
                                          <p:stCondLst>
                                            <p:cond delay="0"/>
                                          </p:stCondLst>
                                        </p:cTn>
                                        <p:tgtEl>
                                          <p:spTgt spid="27651"/>
                                        </p:tgtEl>
                                        <p:attrNameLst>
                                          <p:attrName>style.visibility</p:attrName>
                                        </p:attrNameLst>
                                      </p:cBhvr>
                                      <p:to>
                                        <p:strVal val="visible"/>
                                      </p:to>
                                    </p:set>
                                    <p:animEffect transition="in" filter="box(out)">
                                      <p:cBhvr>
                                        <p:cTn id="21" dur="500"/>
                                        <p:tgtEl>
                                          <p:spTgt spid="2765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20508"/>
                                        </p:tgtEl>
                                        <p:attrNameLst>
                                          <p:attrName>style.visibility</p:attrName>
                                        </p:attrNameLst>
                                      </p:cBhvr>
                                      <p:to>
                                        <p:strVal val="visible"/>
                                      </p:to>
                                    </p:set>
                                    <p:animEffect transition="in" filter="blinds(horizontal)">
                                      <p:cBhvr>
                                        <p:cTn id="26" dur="500"/>
                                        <p:tgtEl>
                                          <p:spTgt spid="20508"/>
                                        </p:tgtEl>
                                      </p:cBhvr>
                                    </p:animEffect>
                                  </p:childTnLst>
                                </p:cTn>
                              </p:par>
                            </p:childTnLst>
                          </p:cTn>
                        </p:par>
                        <p:par>
                          <p:cTn id="27" fill="hold" nodeType="afterGroup">
                            <p:stCondLst>
                              <p:cond delay="500"/>
                            </p:stCondLst>
                            <p:childTnLst>
                              <p:par>
                                <p:cTn id="28" presetID="3" presetClass="entr" presetSubtype="1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blinds(horizontal)">
                                      <p:cBhvr>
                                        <p:cTn id="30" dur="500"/>
                                        <p:tgtEl>
                                          <p:spTgt spid="9"/>
                                        </p:tgtEl>
                                      </p:cBhvr>
                                    </p:animEffect>
                                  </p:childTnLst>
                                </p:cTn>
                              </p:par>
                            </p:childTnLst>
                          </p:cTn>
                        </p:par>
                        <p:par>
                          <p:cTn id="31" fill="hold" nodeType="afterGroup">
                            <p:stCondLst>
                              <p:cond delay="1000"/>
                            </p:stCondLst>
                            <p:childTnLst>
                              <p:par>
                                <p:cTn id="32" presetID="3" presetClass="entr" presetSubtype="1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blinds(horizontal)">
                                      <p:cBhvr>
                                        <p:cTn id="3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autoUpdateAnimBg="0"/>
      <p:bldP spid="27673" grpId="0" autoUpdateAnimBg="0"/>
      <p:bldP spid="6" grpId="0" autoUpdateAnimBg="0"/>
      <p:bldP spid="9" grpId="0"/>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a:extLst>
              <a:ext uri="{FF2B5EF4-FFF2-40B4-BE49-F238E27FC236}">
                <a16:creationId xmlns:a16="http://schemas.microsoft.com/office/drawing/2014/main" id="{92B5CFF5-1F18-4D83-B96D-20930157C066}"/>
              </a:ext>
            </a:extLst>
          </p:cNvPr>
          <p:cNvSpPr txBox="1">
            <a:spLocks noChangeArrowheads="1"/>
          </p:cNvSpPr>
          <p:nvPr/>
        </p:nvSpPr>
        <p:spPr bwMode="auto">
          <a:xfrm>
            <a:off x="611188" y="549275"/>
            <a:ext cx="7848600"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type="none" w="sm" len="lg"/>
                <a:tailEnd type="none" w="sm" len="lg"/>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solidFill>
                  <a:srgbClr val="00FF00"/>
                </a:solidFill>
                <a:latin typeface="华文中宋" panose="02010600040101010101" pitchFamily="2" charset="-122"/>
                <a:ea typeface="华文中宋" panose="02010600040101010101" pitchFamily="2" charset="-122"/>
              </a:rPr>
              <a:t>康普顿效应</a:t>
            </a:r>
            <a:endParaRPr lang="zh-CN" altLang="en-US" sz="2800">
              <a:solidFill>
                <a:srgbClr val="66FF33"/>
              </a:solidFill>
              <a:latin typeface="华文中宋" panose="02010600040101010101" pitchFamily="2" charset="-122"/>
              <a:ea typeface="华文中宋" panose="02010600040101010101" pitchFamily="2" charset="-122"/>
            </a:endParaRPr>
          </a:p>
          <a:p>
            <a:pPr eaLnBrk="1" hangingPunct="1"/>
            <a:r>
              <a:rPr lang="zh-CN" altLang="en-US" sz="2800">
                <a:solidFill>
                  <a:srgbClr val="66FF33"/>
                </a:solidFill>
                <a:latin typeface="华文中宋" panose="02010600040101010101" pitchFamily="2" charset="-122"/>
                <a:ea typeface="华文中宋" panose="02010600040101010101" pitchFamily="2" charset="-122"/>
              </a:rPr>
              <a:t>     </a:t>
            </a:r>
            <a:r>
              <a:rPr lang="en-US" altLang="zh-CN" sz="2800">
                <a:solidFill>
                  <a:srgbClr val="66FF33"/>
                </a:solidFill>
                <a:latin typeface="华文中宋" panose="02010600040101010101" pitchFamily="2" charset="-122"/>
                <a:ea typeface="华文中宋" panose="02010600040101010101" pitchFamily="2" charset="-122"/>
              </a:rPr>
              <a:t>1.</a:t>
            </a:r>
            <a:r>
              <a:rPr lang="zh-CN" altLang="en-US" sz="2800">
                <a:solidFill>
                  <a:srgbClr val="66FF33"/>
                </a:solidFill>
                <a:latin typeface="华文中宋" panose="02010600040101010101" pitchFamily="2" charset="-122"/>
                <a:ea typeface="华文中宋" panose="02010600040101010101" pitchFamily="2" charset="-122"/>
              </a:rPr>
              <a:t>支持了“光量子”概念，进一步肯定电磁</a:t>
            </a:r>
          </a:p>
          <a:p>
            <a:pPr eaLnBrk="1" hangingPunct="1"/>
            <a:r>
              <a:rPr lang="zh-CN" altLang="en-US" sz="2800">
                <a:solidFill>
                  <a:srgbClr val="66FF33"/>
                </a:solidFill>
                <a:latin typeface="华文中宋" panose="02010600040101010101" pitchFamily="2" charset="-122"/>
                <a:ea typeface="华文中宋" panose="02010600040101010101" pitchFamily="2" charset="-122"/>
              </a:rPr>
              <a:t>        辐射的粒子性；</a:t>
            </a:r>
          </a:p>
          <a:p>
            <a:pPr algn="just" eaLnBrk="1" hangingPunct="1"/>
            <a:r>
              <a:rPr lang="zh-CN" altLang="en-US" sz="2800">
                <a:solidFill>
                  <a:srgbClr val="66FF33"/>
                </a:solidFill>
                <a:latin typeface="华文中宋" panose="02010600040101010101" pitchFamily="2" charset="-122"/>
                <a:ea typeface="华文中宋" panose="02010600040101010101" pitchFamily="2" charset="-122"/>
              </a:rPr>
              <a:t>     </a:t>
            </a:r>
            <a:r>
              <a:rPr lang="en-US" altLang="zh-CN" sz="2800">
                <a:solidFill>
                  <a:srgbClr val="66FF33"/>
                </a:solidFill>
                <a:latin typeface="华文中宋" panose="02010600040101010101" pitchFamily="2" charset="-122"/>
                <a:ea typeface="华文中宋" panose="02010600040101010101" pitchFamily="2" charset="-122"/>
              </a:rPr>
              <a:t>2.</a:t>
            </a:r>
            <a:r>
              <a:rPr lang="zh-CN" altLang="en-US" sz="2800">
                <a:solidFill>
                  <a:srgbClr val="66FF33"/>
                </a:solidFill>
                <a:latin typeface="华文中宋" panose="02010600040101010101" pitchFamily="2" charset="-122"/>
                <a:ea typeface="华文中宋" panose="02010600040101010101" pitchFamily="2" charset="-122"/>
              </a:rPr>
              <a:t>证明了光子能量、动量表示式的正确性；</a:t>
            </a:r>
          </a:p>
          <a:p>
            <a:pPr algn="just" eaLnBrk="1" hangingPunct="1"/>
            <a:r>
              <a:rPr lang="zh-CN" altLang="en-US" sz="2800">
                <a:solidFill>
                  <a:srgbClr val="66FF33"/>
                </a:solidFill>
                <a:latin typeface="华文中宋" panose="02010600040101010101" pitchFamily="2" charset="-122"/>
                <a:ea typeface="华文中宋" panose="02010600040101010101" pitchFamily="2" charset="-122"/>
              </a:rPr>
              <a:t>     </a:t>
            </a:r>
            <a:r>
              <a:rPr lang="en-US" altLang="zh-CN" sz="2800">
                <a:solidFill>
                  <a:srgbClr val="66FF33"/>
                </a:solidFill>
                <a:latin typeface="华文中宋" panose="02010600040101010101" pitchFamily="2" charset="-122"/>
                <a:ea typeface="华文中宋" panose="02010600040101010101" pitchFamily="2" charset="-122"/>
              </a:rPr>
              <a:t>3.</a:t>
            </a:r>
            <a:r>
              <a:rPr lang="zh-CN" altLang="en-US" sz="2800">
                <a:solidFill>
                  <a:srgbClr val="66FF33"/>
                </a:solidFill>
                <a:latin typeface="华文中宋" panose="02010600040101010101" pitchFamily="2" charset="-122"/>
                <a:ea typeface="华文中宋" panose="02010600040101010101" pitchFamily="2" charset="-122"/>
              </a:rPr>
              <a:t>证明在光电相互作用的过程中严格遵守</a:t>
            </a:r>
          </a:p>
          <a:p>
            <a:pPr algn="just" eaLnBrk="1" hangingPunct="1"/>
            <a:r>
              <a:rPr lang="zh-CN" altLang="en-US" sz="2800">
                <a:solidFill>
                  <a:srgbClr val="66FF33"/>
                </a:solidFill>
                <a:latin typeface="华文中宋" panose="02010600040101010101" pitchFamily="2" charset="-122"/>
                <a:ea typeface="华文中宋" panose="02010600040101010101" pitchFamily="2" charset="-122"/>
              </a:rPr>
              <a:t>        能量、动量守恒定律。</a:t>
            </a:r>
          </a:p>
        </p:txBody>
      </p:sp>
      <p:grpSp>
        <p:nvGrpSpPr>
          <p:cNvPr id="2" name="Group 3">
            <a:extLst>
              <a:ext uri="{FF2B5EF4-FFF2-40B4-BE49-F238E27FC236}">
                <a16:creationId xmlns:a16="http://schemas.microsoft.com/office/drawing/2014/main" id="{69C82A19-DC84-4038-BF75-D27561BCECD1}"/>
              </a:ext>
            </a:extLst>
          </p:cNvPr>
          <p:cNvGrpSpPr>
            <a:grpSpLocks/>
          </p:cNvGrpSpPr>
          <p:nvPr/>
        </p:nvGrpSpPr>
        <p:grpSpPr bwMode="auto">
          <a:xfrm>
            <a:off x="323850" y="3411538"/>
            <a:ext cx="2520950" cy="2825750"/>
            <a:chOff x="449" y="2146"/>
            <a:chExt cx="953" cy="1104"/>
          </a:xfrm>
        </p:grpSpPr>
        <p:pic>
          <p:nvPicPr>
            <p:cNvPr id="10249" name="Picture 4" descr="compton">
              <a:extLst>
                <a:ext uri="{FF2B5EF4-FFF2-40B4-BE49-F238E27FC236}">
                  <a16:creationId xmlns:a16="http://schemas.microsoft.com/office/drawing/2014/main" id="{E2DC3860-D76A-4739-A0F7-AA51BA78FC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 y="2146"/>
              <a:ext cx="644" cy="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0" name="Text Box 5">
              <a:extLst>
                <a:ext uri="{FF2B5EF4-FFF2-40B4-BE49-F238E27FC236}">
                  <a16:creationId xmlns:a16="http://schemas.microsoft.com/office/drawing/2014/main" id="{43BF1F75-0EAF-4967-932C-1E220782D555}"/>
                </a:ext>
              </a:extLst>
            </p:cNvPr>
            <p:cNvSpPr txBox="1">
              <a:spLocks noChangeArrowheads="1"/>
            </p:cNvSpPr>
            <p:nvPr/>
          </p:nvSpPr>
          <p:spPr bwMode="auto">
            <a:xfrm>
              <a:off x="449" y="3106"/>
              <a:ext cx="95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type="none" w="sm" len="lg"/>
                  <a:tailEnd type="none" w="sm" len="lg"/>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a:solidFill>
                    <a:srgbClr val="66FFFF"/>
                  </a:solidFill>
                </a:rPr>
                <a:t>A. Compton (1892-1962)</a:t>
              </a:r>
            </a:p>
          </p:txBody>
        </p:sp>
      </p:grpSp>
      <p:grpSp>
        <p:nvGrpSpPr>
          <p:cNvPr id="3" name="Group 6">
            <a:extLst>
              <a:ext uri="{FF2B5EF4-FFF2-40B4-BE49-F238E27FC236}">
                <a16:creationId xmlns:a16="http://schemas.microsoft.com/office/drawing/2014/main" id="{4E05A9AC-5748-4C96-8B4E-4BED1599BF6C}"/>
              </a:ext>
            </a:extLst>
          </p:cNvPr>
          <p:cNvGrpSpPr>
            <a:grpSpLocks/>
          </p:cNvGrpSpPr>
          <p:nvPr/>
        </p:nvGrpSpPr>
        <p:grpSpPr bwMode="auto">
          <a:xfrm>
            <a:off x="2927350" y="3814763"/>
            <a:ext cx="5645150" cy="1614487"/>
            <a:chOff x="1660" y="2388"/>
            <a:chExt cx="2943" cy="754"/>
          </a:xfrm>
        </p:grpSpPr>
        <p:sp>
          <p:nvSpPr>
            <p:cNvPr id="10246" name="Rectangle 7">
              <a:extLst>
                <a:ext uri="{FF2B5EF4-FFF2-40B4-BE49-F238E27FC236}">
                  <a16:creationId xmlns:a16="http://schemas.microsoft.com/office/drawing/2014/main" id="{CF3B4375-A93B-4AF2-96C6-35DEE7650D0F}"/>
                </a:ext>
              </a:extLst>
            </p:cNvPr>
            <p:cNvSpPr>
              <a:spLocks noChangeArrowheads="1"/>
            </p:cNvSpPr>
            <p:nvPr/>
          </p:nvSpPr>
          <p:spPr bwMode="auto">
            <a:xfrm>
              <a:off x="2177" y="2403"/>
              <a:ext cx="2277"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a:solidFill>
                    <a:srgbClr val="66FFFF"/>
                  </a:solidFill>
                  <a:cs typeface="Arial" panose="020B0604020202020204" pitchFamily="34" charset="0"/>
                </a:rPr>
                <a:t>The Nobel Prize in Physics 1927</a:t>
              </a:r>
            </a:p>
            <a:p>
              <a:pPr eaLnBrk="1" hangingPunct="1"/>
              <a:r>
                <a:rPr lang="en-US" altLang="zh-CN" sz="2000">
                  <a:solidFill>
                    <a:schemeClr val="hlink"/>
                  </a:solidFill>
                  <a:cs typeface="Arial" panose="020B0604020202020204" pitchFamily="34" charset="0"/>
                </a:rPr>
                <a:t>(shared with C. Wilson)</a:t>
              </a:r>
            </a:p>
          </p:txBody>
        </p:sp>
        <p:pic>
          <p:nvPicPr>
            <p:cNvPr id="10247" name="Picture 8" descr="Medal">
              <a:extLst>
                <a:ext uri="{FF2B5EF4-FFF2-40B4-BE49-F238E27FC236}">
                  <a16:creationId xmlns:a16="http://schemas.microsoft.com/office/drawing/2014/main" id="{B24BE1FD-F119-439A-A5CD-079BE35772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0" y="2388"/>
              <a:ext cx="474"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5" name="Rectangle 9">
              <a:extLst>
                <a:ext uri="{FF2B5EF4-FFF2-40B4-BE49-F238E27FC236}">
                  <a16:creationId xmlns:a16="http://schemas.microsoft.com/office/drawing/2014/main" id="{C17AC56C-6837-4145-B25E-1A7C2F9E374C}"/>
                </a:ext>
              </a:extLst>
            </p:cNvPr>
            <p:cNvSpPr>
              <a:spLocks noChangeArrowheads="1"/>
            </p:cNvSpPr>
            <p:nvPr/>
          </p:nvSpPr>
          <p:spPr bwMode="auto">
            <a:xfrm>
              <a:off x="1660" y="2955"/>
              <a:ext cx="2943" cy="187"/>
            </a:xfrm>
            <a:prstGeom prst="rect">
              <a:avLst/>
            </a:prstGeom>
            <a:noFill/>
            <a:ln w="9525" algn="ctr">
              <a:noFill/>
              <a:miter lim="800000"/>
              <a:headEnd/>
              <a:tailEnd/>
            </a:ln>
            <a:effectLst/>
          </p:spPr>
          <p:txBody>
            <a:bodyPr>
              <a:spAutoFit/>
            </a:bodyPr>
            <a:lstStyle/>
            <a:p>
              <a:pPr>
                <a:defRPr/>
              </a:pPr>
              <a:r>
                <a:rPr lang="en-US" altLang="zh-CN" sz="2000" dirty="0">
                  <a:solidFill>
                    <a:schemeClr val="hlink"/>
                  </a:solidFill>
                </a:rPr>
                <a:t>for his discovery of </a:t>
              </a:r>
              <a:r>
                <a:rPr lang="en-US" altLang="zh-CN" sz="2000" dirty="0">
                  <a:solidFill>
                    <a:srgbClr val="FFFF00"/>
                  </a:solidFill>
                </a:rPr>
                <a:t>the</a:t>
              </a:r>
              <a:r>
                <a:rPr lang="en-US" altLang="zh-CN" sz="2000" dirty="0">
                  <a:solidFill>
                    <a:srgbClr val="FFFF00"/>
                  </a:solidFill>
                  <a:effectLst>
                    <a:outerShdw blurRad="38100" dist="38100" dir="2700000" algn="tl">
                      <a:srgbClr val="000000"/>
                    </a:outerShdw>
                  </a:effectLst>
                </a:rPr>
                <a:t> </a:t>
              </a:r>
              <a:r>
                <a:rPr lang="en-US" altLang="zh-CN" sz="2000" dirty="0">
                  <a:solidFill>
                    <a:srgbClr val="FFFF00"/>
                  </a:solidFill>
                </a:rPr>
                <a:t>effect named after him</a:t>
              </a:r>
              <a:r>
                <a:rPr lang="en-US" altLang="zh-CN" sz="2000" dirty="0">
                  <a:solidFill>
                    <a:srgbClr val="0000FF"/>
                  </a:solidFill>
                  <a:effectLst>
                    <a:outerShdw blurRad="38100" dist="38100" dir="2700000" algn="tl">
                      <a:srgbClr val="000000"/>
                    </a:outerShdw>
                  </a:effectLst>
                </a:rPr>
                <a:t> </a:t>
              </a:r>
            </a:p>
          </p:txBody>
        </p:sp>
      </p:grpSp>
      <p:sp>
        <p:nvSpPr>
          <p:cNvPr id="10245" name="灯片编号占位符 1">
            <a:extLst>
              <a:ext uri="{FF2B5EF4-FFF2-40B4-BE49-F238E27FC236}">
                <a16:creationId xmlns:a16="http://schemas.microsoft.com/office/drawing/2014/main" id="{C0EA8264-264A-4229-8DA9-AB2C55042F17}"/>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BAA25B22-FCAB-4916-BF0F-60101A59FD07}" type="slidenum">
              <a:rPr lang="en-US" altLang="zh-CN" b="0">
                <a:solidFill>
                  <a:srgbClr val="FF00FF"/>
                </a:solidFill>
              </a:rPr>
              <a:pPr eaLnBrk="1" hangingPunct="1"/>
              <a:t>17</a:t>
            </a:fld>
            <a:r>
              <a:rPr lang="en-US" altLang="zh-CN" b="0">
                <a:solidFill>
                  <a:srgbClr val="FF00FF"/>
                </a:solidFill>
              </a:rPr>
              <a:t>/22</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9698"/>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9" name="Text Box 11">
            <a:extLst>
              <a:ext uri="{FF2B5EF4-FFF2-40B4-BE49-F238E27FC236}">
                <a16:creationId xmlns:a16="http://schemas.microsoft.com/office/drawing/2014/main" id="{D3C71094-EE5B-4C0F-9FE5-04E862D87E1F}"/>
              </a:ext>
            </a:extLst>
          </p:cNvPr>
          <p:cNvSpPr txBox="1">
            <a:spLocks noChangeArrowheads="1"/>
          </p:cNvSpPr>
          <p:nvPr/>
        </p:nvSpPr>
        <p:spPr bwMode="auto">
          <a:xfrm>
            <a:off x="79375" y="217488"/>
            <a:ext cx="468313"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200">
                <a:solidFill>
                  <a:srgbClr val="FFFF00"/>
                </a:solidFill>
                <a:latin typeface="Arial" panose="020B0604020202020204" pitchFamily="34" charset="0"/>
              </a:rPr>
              <a:t>例</a:t>
            </a:r>
          </a:p>
        </p:txBody>
      </p:sp>
      <p:sp>
        <p:nvSpPr>
          <p:cNvPr id="68620" name="Text Box 12">
            <a:extLst>
              <a:ext uri="{FF2B5EF4-FFF2-40B4-BE49-F238E27FC236}">
                <a16:creationId xmlns:a16="http://schemas.microsoft.com/office/drawing/2014/main" id="{A17EEA69-C739-4EBE-8837-2D43E631A613}"/>
              </a:ext>
            </a:extLst>
          </p:cNvPr>
          <p:cNvSpPr txBox="1">
            <a:spLocks noChangeArrowheads="1"/>
          </p:cNvSpPr>
          <p:nvPr/>
        </p:nvSpPr>
        <p:spPr bwMode="auto">
          <a:xfrm>
            <a:off x="482600" y="149225"/>
            <a:ext cx="8516938"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sz="2200">
                <a:solidFill>
                  <a:schemeClr val="bg1"/>
                </a:solidFill>
              </a:rPr>
              <a:t>波长 </a:t>
            </a:r>
            <a:r>
              <a:rPr lang="en-US" altLang="zh-CN" sz="2200">
                <a:solidFill>
                  <a:srgbClr val="00FFFF"/>
                </a:solidFill>
              </a:rPr>
              <a:t>λ</a:t>
            </a:r>
            <a:r>
              <a:rPr lang="en-US" altLang="zh-CN" sz="2200" baseline="-25000">
                <a:solidFill>
                  <a:srgbClr val="00FFFF"/>
                </a:solidFill>
              </a:rPr>
              <a:t>0</a:t>
            </a:r>
            <a:r>
              <a:rPr lang="en-US" altLang="zh-CN" sz="2200">
                <a:solidFill>
                  <a:srgbClr val="00FFFF"/>
                </a:solidFill>
              </a:rPr>
              <a:t>=0.02 nm</a:t>
            </a:r>
            <a:r>
              <a:rPr lang="en-US" altLang="zh-CN" sz="2200">
                <a:solidFill>
                  <a:schemeClr val="bg1"/>
                </a:solidFill>
              </a:rPr>
              <a:t> </a:t>
            </a:r>
            <a:r>
              <a:rPr lang="zh-CN" altLang="en-US" sz="2200">
                <a:solidFill>
                  <a:schemeClr val="bg1"/>
                </a:solidFill>
              </a:rPr>
              <a:t>的</a:t>
            </a:r>
            <a:r>
              <a:rPr lang="en-US" altLang="zh-CN" sz="2200">
                <a:solidFill>
                  <a:srgbClr val="00FFFF"/>
                </a:solidFill>
              </a:rPr>
              <a:t>X</a:t>
            </a:r>
            <a:r>
              <a:rPr lang="zh-CN" altLang="en-US" sz="2200">
                <a:solidFill>
                  <a:schemeClr val="bg1"/>
                </a:solidFill>
              </a:rPr>
              <a:t>射线与静止的自由电子碰撞，在与入射方向成 </a:t>
            </a:r>
            <a:r>
              <a:rPr lang="en-US" altLang="zh-CN" sz="2200">
                <a:solidFill>
                  <a:srgbClr val="00FFFF"/>
                </a:solidFill>
              </a:rPr>
              <a:t>90°</a:t>
            </a:r>
            <a:r>
              <a:rPr lang="zh-CN" altLang="en-US" sz="2200">
                <a:solidFill>
                  <a:schemeClr val="bg1"/>
                </a:solidFill>
              </a:rPr>
              <a:t>角的方向上观察时</a:t>
            </a:r>
          </a:p>
        </p:txBody>
      </p:sp>
      <p:sp>
        <p:nvSpPr>
          <p:cNvPr id="68621" name="Text Box 13">
            <a:extLst>
              <a:ext uri="{FF2B5EF4-FFF2-40B4-BE49-F238E27FC236}">
                <a16:creationId xmlns:a16="http://schemas.microsoft.com/office/drawing/2014/main" id="{4CCD7C9A-C504-45F2-9C29-68437B22B164}"/>
              </a:ext>
            </a:extLst>
          </p:cNvPr>
          <p:cNvSpPr txBox="1">
            <a:spLocks noChangeArrowheads="1"/>
          </p:cNvSpPr>
          <p:nvPr/>
        </p:nvSpPr>
        <p:spPr bwMode="auto">
          <a:xfrm>
            <a:off x="122238" y="2127250"/>
            <a:ext cx="468312"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200">
                <a:solidFill>
                  <a:srgbClr val="FFFF00"/>
                </a:solidFill>
                <a:latin typeface="Arial" panose="020B0604020202020204" pitchFamily="34" charset="0"/>
              </a:rPr>
              <a:t>解</a:t>
            </a:r>
          </a:p>
        </p:txBody>
      </p:sp>
      <p:sp>
        <p:nvSpPr>
          <p:cNvPr id="68622" name="Text Box 14">
            <a:extLst>
              <a:ext uri="{FF2B5EF4-FFF2-40B4-BE49-F238E27FC236}">
                <a16:creationId xmlns:a16="http://schemas.microsoft.com/office/drawing/2014/main" id="{0F1FB488-003E-43DD-A19A-929160C11E0C}"/>
              </a:ext>
            </a:extLst>
          </p:cNvPr>
          <p:cNvSpPr txBox="1">
            <a:spLocks noChangeArrowheads="1"/>
          </p:cNvSpPr>
          <p:nvPr/>
        </p:nvSpPr>
        <p:spPr bwMode="auto">
          <a:xfrm>
            <a:off x="500063" y="2117725"/>
            <a:ext cx="51435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200">
                <a:solidFill>
                  <a:schemeClr val="bg1"/>
                </a:solidFill>
                <a:ea typeface="STXinwei" panose="02010800040101010101" pitchFamily="2" charset="-122"/>
              </a:rPr>
              <a:t>(1)</a:t>
            </a:r>
          </a:p>
        </p:txBody>
      </p:sp>
      <p:graphicFrame>
        <p:nvGraphicFramePr>
          <p:cNvPr id="68623" name="Object 2">
            <a:extLst>
              <a:ext uri="{FF2B5EF4-FFF2-40B4-BE49-F238E27FC236}">
                <a16:creationId xmlns:a16="http://schemas.microsoft.com/office/drawing/2014/main" id="{8CC529FE-6169-40C1-A3D6-E87FB9D2E194}"/>
              </a:ext>
            </a:extLst>
          </p:cNvPr>
          <p:cNvGraphicFramePr>
            <a:graphicFrameLocks noChangeAspect="1"/>
          </p:cNvGraphicFramePr>
          <p:nvPr/>
        </p:nvGraphicFramePr>
        <p:xfrm>
          <a:off x="1000125" y="2000250"/>
          <a:ext cx="4995863" cy="760413"/>
        </p:xfrm>
        <a:graphic>
          <a:graphicData uri="http://schemas.openxmlformats.org/presentationml/2006/ole">
            <mc:AlternateContent xmlns:mc="http://schemas.openxmlformats.org/markup-compatibility/2006">
              <mc:Choice xmlns:v="urn:schemas-microsoft-com:vml" Requires="v">
                <p:oleObj spid="_x0000_s472132" name="公式" r:id="rId3" imgW="6200794" imgH="905011" progId="Equation.3">
                  <p:embed/>
                </p:oleObj>
              </mc:Choice>
              <mc:Fallback>
                <p:oleObj name="公式" r:id="rId3" imgW="6200794" imgH="905011" progId="Equation.3">
                  <p:embed/>
                  <p:pic>
                    <p:nvPicPr>
                      <p:cNvPr id="68623" name="Object 2">
                        <a:extLst>
                          <a:ext uri="{FF2B5EF4-FFF2-40B4-BE49-F238E27FC236}">
                            <a16:creationId xmlns:a16="http://schemas.microsoft.com/office/drawing/2014/main" id="{8CC529FE-6169-40C1-A3D6-E87FB9D2E1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0125" y="2000250"/>
                        <a:ext cx="4995863"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8624" name="Object 3">
            <a:extLst>
              <a:ext uri="{FF2B5EF4-FFF2-40B4-BE49-F238E27FC236}">
                <a16:creationId xmlns:a16="http://schemas.microsoft.com/office/drawing/2014/main" id="{A2EEA037-C7C5-4FB2-BC9B-D499E1024B14}"/>
              </a:ext>
            </a:extLst>
          </p:cNvPr>
          <p:cNvGraphicFramePr>
            <a:graphicFrameLocks noChangeAspect="1"/>
          </p:cNvGraphicFramePr>
          <p:nvPr/>
        </p:nvGraphicFramePr>
        <p:xfrm>
          <a:off x="1428750" y="2928938"/>
          <a:ext cx="1452563" cy="254000"/>
        </p:xfrm>
        <a:graphic>
          <a:graphicData uri="http://schemas.openxmlformats.org/presentationml/2006/ole">
            <mc:AlternateContent xmlns:mc="http://schemas.openxmlformats.org/markup-compatibility/2006">
              <mc:Choice xmlns:v="urn:schemas-microsoft-com:vml" Requires="v">
                <p:oleObj spid="_x0000_s472133" name="公式" r:id="rId5" imgW="1771612" imgH="266666" progId="Equation.3">
                  <p:embed/>
                </p:oleObj>
              </mc:Choice>
              <mc:Fallback>
                <p:oleObj name="公式" r:id="rId5" imgW="1771612" imgH="266666" progId="Equation.3">
                  <p:embed/>
                  <p:pic>
                    <p:nvPicPr>
                      <p:cNvPr id="68624" name="Object 3">
                        <a:extLst>
                          <a:ext uri="{FF2B5EF4-FFF2-40B4-BE49-F238E27FC236}">
                            <a16:creationId xmlns:a16="http://schemas.microsoft.com/office/drawing/2014/main" id="{A2EEA037-C7C5-4FB2-BC9B-D499E1024B1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28750" y="2928938"/>
                        <a:ext cx="1452563"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8625" name="Object 4">
            <a:extLst>
              <a:ext uri="{FF2B5EF4-FFF2-40B4-BE49-F238E27FC236}">
                <a16:creationId xmlns:a16="http://schemas.microsoft.com/office/drawing/2014/main" id="{00B52BF4-2D02-4D11-88B7-15D1BB006440}"/>
              </a:ext>
            </a:extLst>
          </p:cNvPr>
          <p:cNvGraphicFramePr>
            <a:graphicFrameLocks noChangeAspect="1"/>
          </p:cNvGraphicFramePr>
          <p:nvPr/>
        </p:nvGraphicFramePr>
        <p:xfrm>
          <a:off x="4286250" y="2868613"/>
          <a:ext cx="2689225" cy="346075"/>
        </p:xfrm>
        <a:graphic>
          <a:graphicData uri="http://schemas.openxmlformats.org/presentationml/2006/ole">
            <mc:AlternateContent xmlns:mc="http://schemas.openxmlformats.org/markup-compatibility/2006">
              <mc:Choice xmlns:v="urn:schemas-microsoft-com:vml" Requires="v">
                <p:oleObj spid="_x0000_s472134" name="公式" r:id="rId7" imgW="3314776" imgH="380864" progId="Equation.3">
                  <p:embed/>
                </p:oleObj>
              </mc:Choice>
              <mc:Fallback>
                <p:oleObj name="公式" r:id="rId7" imgW="3314776" imgH="380864" progId="Equation.3">
                  <p:embed/>
                  <p:pic>
                    <p:nvPicPr>
                      <p:cNvPr id="68625" name="Object 4">
                        <a:extLst>
                          <a:ext uri="{FF2B5EF4-FFF2-40B4-BE49-F238E27FC236}">
                            <a16:creationId xmlns:a16="http://schemas.microsoft.com/office/drawing/2014/main" id="{00B52BF4-2D02-4D11-88B7-15D1BB00644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86250" y="2868613"/>
                        <a:ext cx="268922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68626" name="Picture 18" descr="光子与电子作用 比较">
            <a:extLst>
              <a:ext uri="{FF2B5EF4-FFF2-40B4-BE49-F238E27FC236}">
                <a16:creationId xmlns:a16="http://schemas.microsoft.com/office/drawing/2014/main" id="{E2650FCA-61C0-4373-895C-4DC57557AD27}"/>
              </a:ext>
            </a:extLst>
          </p:cNvPr>
          <p:cNvPicPr>
            <a:picLocks noChangeAspect="1" noChangeArrowheads="1"/>
          </p:cNvPicPr>
          <p:nvPr/>
        </p:nvPicPr>
        <p:blipFill>
          <a:blip r:embed="rId9">
            <a:clrChange>
              <a:clrFrom>
                <a:srgbClr val="237CB6"/>
              </a:clrFrom>
              <a:clrTo>
                <a:srgbClr val="237CB6">
                  <a:alpha val="0"/>
                </a:srgbClr>
              </a:clrTo>
            </a:clrChange>
            <a:extLst>
              <a:ext uri="{28A0092B-C50C-407E-A947-70E740481C1C}">
                <a14:useLocalDpi xmlns:a14="http://schemas.microsoft.com/office/drawing/2010/main" val="0"/>
              </a:ext>
            </a:extLst>
          </a:blip>
          <a:srcRect/>
          <a:stretch>
            <a:fillRect/>
          </a:stretch>
        </p:blipFill>
        <p:spPr bwMode="auto">
          <a:xfrm>
            <a:off x="6029325" y="776288"/>
            <a:ext cx="2971800" cy="184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4" name="Rectangle 19">
            <a:extLst>
              <a:ext uri="{FF2B5EF4-FFF2-40B4-BE49-F238E27FC236}">
                <a16:creationId xmlns:a16="http://schemas.microsoft.com/office/drawing/2014/main" id="{91333453-8294-4628-B7A3-27CF6D162BB8}"/>
              </a:ext>
            </a:extLst>
          </p:cNvPr>
          <p:cNvSpPr>
            <a:spLocks noChangeArrowheads="1"/>
          </p:cNvSpPr>
          <p:nvPr/>
        </p:nvSpPr>
        <p:spPr bwMode="auto">
          <a:xfrm>
            <a:off x="7858125" y="928688"/>
            <a:ext cx="1071563" cy="649287"/>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i="1">
              <a:solidFill>
                <a:srgbClr val="FFFF99"/>
              </a:solidFill>
              <a:latin typeface="Arial" panose="020B0604020202020204" pitchFamily="34" charset="0"/>
            </a:endParaRPr>
          </a:p>
        </p:txBody>
      </p:sp>
      <p:sp>
        <p:nvSpPr>
          <p:cNvPr id="68628" name="Line 20">
            <a:extLst>
              <a:ext uri="{FF2B5EF4-FFF2-40B4-BE49-F238E27FC236}">
                <a16:creationId xmlns:a16="http://schemas.microsoft.com/office/drawing/2014/main" id="{289E0377-5F2D-44E1-A5BE-245AB7E6A7E9}"/>
              </a:ext>
            </a:extLst>
          </p:cNvPr>
          <p:cNvSpPr>
            <a:spLocks noChangeShapeType="1"/>
          </p:cNvSpPr>
          <p:nvPr/>
        </p:nvSpPr>
        <p:spPr bwMode="auto">
          <a:xfrm flipV="1">
            <a:off x="7627938" y="992188"/>
            <a:ext cx="0" cy="504825"/>
          </a:xfrm>
          <a:prstGeom prst="line">
            <a:avLst/>
          </a:prstGeom>
          <a:noFill/>
          <a:ln w="9525">
            <a:solidFill>
              <a:srgbClr val="00FF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8629" name="Rectangle 21">
            <a:extLst>
              <a:ext uri="{FF2B5EF4-FFF2-40B4-BE49-F238E27FC236}">
                <a16:creationId xmlns:a16="http://schemas.microsoft.com/office/drawing/2014/main" id="{F0C92A9F-C3F2-49D7-9924-3A1558BCE6EB}"/>
              </a:ext>
            </a:extLst>
          </p:cNvPr>
          <p:cNvSpPr>
            <a:spLocks noChangeArrowheads="1"/>
          </p:cNvSpPr>
          <p:nvPr/>
        </p:nvSpPr>
        <p:spPr bwMode="auto">
          <a:xfrm>
            <a:off x="6388100" y="1135063"/>
            <a:ext cx="423863" cy="461962"/>
          </a:xfrm>
          <a:prstGeom prst="rect">
            <a:avLst/>
          </a:prstGeom>
          <a:noFill/>
          <a:ln w="9525">
            <a:noFill/>
            <a:miter lim="800000"/>
            <a:headEnd/>
            <a:tailEnd/>
          </a:ln>
        </p:spPr>
        <p:txBody>
          <a:bodyPr wrap="none">
            <a:spAutoFit/>
          </a:bodyPr>
          <a:lstStyle/>
          <a:p>
            <a:pPr algn="ctr">
              <a:spcBef>
                <a:spcPct val="20000"/>
              </a:spcBef>
              <a:defRPr/>
            </a:pPr>
            <a:r>
              <a:rPr lang="en-US" altLang="zh-CN" i="1" dirty="0">
                <a:solidFill>
                  <a:srgbClr val="FFFF99"/>
                </a:solidFill>
                <a:latin typeface="+mn-lt"/>
              </a:rPr>
              <a:t>λ</a:t>
            </a:r>
            <a:r>
              <a:rPr lang="en-US" altLang="zh-CN" i="1" baseline="-25000" dirty="0">
                <a:solidFill>
                  <a:srgbClr val="FFFF99"/>
                </a:solidFill>
                <a:latin typeface="+mn-lt"/>
              </a:rPr>
              <a:t>0</a:t>
            </a:r>
          </a:p>
        </p:txBody>
      </p:sp>
      <p:sp>
        <p:nvSpPr>
          <p:cNvPr id="68630" name="Rectangle 22">
            <a:extLst>
              <a:ext uri="{FF2B5EF4-FFF2-40B4-BE49-F238E27FC236}">
                <a16:creationId xmlns:a16="http://schemas.microsoft.com/office/drawing/2014/main" id="{EDC0FD74-3BE0-4654-8D1D-1A29A2E1685A}"/>
              </a:ext>
            </a:extLst>
          </p:cNvPr>
          <p:cNvSpPr>
            <a:spLocks noChangeArrowheads="1"/>
          </p:cNvSpPr>
          <p:nvPr/>
        </p:nvSpPr>
        <p:spPr bwMode="auto">
          <a:xfrm>
            <a:off x="7251700" y="785813"/>
            <a:ext cx="320675" cy="461962"/>
          </a:xfrm>
          <a:prstGeom prst="rect">
            <a:avLst/>
          </a:prstGeom>
          <a:noFill/>
          <a:ln w="9525">
            <a:noFill/>
            <a:miter lim="800000"/>
            <a:headEnd/>
            <a:tailEnd/>
          </a:ln>
        </p:spPr>
        <p:txBody>
          <a:bodyPr wrap="none">
            <a:spAutoFit/>
          </a:bodyPr>
          <a:lstStyle/>
          <a:p>
            <a:pPr algn="ctr">
              <a:defRPr/>
            </a:pPr>
            <a:r>
              <a:rPr lang="en-US" altLang="zh-CN" i="1" dirty="0">
                <a:solidFill>
                  <a:srgbClr val="FFFF99"/>
                </a:solidFill>
                <a:latin typeface="+mn-lt"/>
              </a:rPr>
              <a:t>λ</a:t>
            </a:r>
          </a:p>
        </p:txBody>
      </p:sp>
      <p:sp>
        <p:nvSpPr>
          <p:cNvPr id="68631" name="Text Box 23">
            <a:extLst>
              <a:ext uri="{FF2B5EF4-FFF2-40B4-BE49-F238E27FC236}">
                <a16:creationId xmlns:a16="http://schemas.microsoft.com/office/drawing/2014/main" id="{A0BECCC1-5050-46B0-9559-488B7FB4C326}"/>
              </a:ext>
            </a:extLst>
          </p:cNvPr>
          <p:cNvSpPr txBox="1">
            <a:spLocks noChangeArrowheads="1"/>
          </p:cNvSpPr>
          <p:nvPr/>
        </p:nvSpPr>
        <p:spPr bwMode="auto">
          <a:xfrm>
            <a:off x="7321550" y="2181225"/>
            <a:ext cx="979488" cy="461963"/>
          </a:xfrm>
          <a:prstGeom prst="rect">
            <a:avLst/>
          </a:prstGeom>
          <a:noFill/>
          <a:ln w="9525">
            <a:noFill/>
            <a:miter lim="800000"/>
            <a:headEnd/>
            <a:tailEnd/>
          </a:ln>
        </p:spPr>
        <p:txBody>
          <a:bodyPr wrap="none">
            <a:spAutoFit/>
          </a:bodyPr>
          <a:lstStyle/>
          <a:p>
            <a:pPr algn="ctr">
              <a:defRPr/>
            </a:pPr>
            <a:r>
              <a:rPr lang="en-US" altLang="zh-CN" i="1" dirty="0" err="1">
                <a:solidFill>
                  <a:srgbClr val="99FFCC"/>
                </a:solidFill>
                <a:latin typeface="+mn-lt"/>
              </a:rPr>
              <a:t>p</a:t>
            </a:r>
            <a:r>
              <a:rPr lang="en-US" altLang="zh-CN" i="1" baseline="-25000" dirty="0" err="1">
                <a:solidFill>
                  <a:srgbClr val="99FFCC"/>
                </a:solidFill>
                <a:latin typeface="+mn-lt"/>
              </a:rPr>
              <a:t>e</a:t>
            </a:r>
            <a:r>
              <a:rPr lang="en-US" altLang="zh-CN" i="1" dirty="0">
                <a:solidFill>
                  <a:srgbClr val="99FFCC"/>
                </a:solidFill>
                <a:latin typeface="+mn-lt"/>
              </a:rPr>
              <a:t>=</a:t>
            </a:r>
            <a:r>
              <a:rPr lang="en-US" altLang="zh-CN" i="1" dirty="0" err="1">
                <a:solidFill>
                  <a:srgbClr val="99FFCC"/>
                </a:solidFill>
                <a:latin typeface="+mn-lt"/>
              </a:rPr>
              <a:t>mv</a:t>
            </a:r>
            <a:endParaRPr lang="en-US" altLang="zh-CN" i="1" dirty="0">
              <a:solidFill>
                <a:srgbClr val="99FFCC"/>
              </a:solidFill>
              <a:latin typeface="+mn-lt"/>
            </a:endParaRPr>
          </a:p>
        </p:txBody>
      </p:sp>
      <p:sp>
        <p:nvSpPr>
          <p:cNvPr id="68632" name="Line 24">
            <a:extLst>
              <a:ext uri="{FF2B5EF4-FFF2-40B4-BE49-F238E27FC236}">
                <a16:creationId xmlns:a16="http://schemas.microsoft.com/office/drawing/2014/main" id="{59704DA0-71C6-4B05-B0CD-CB74E676C70D}"/>
              </a:ext>
            </a:extLst>
          </p:cNvPr>
          <p:cNvSpPr>
            <a:spLocks noChangeShapeType="1"/>
          </p:cNvSpPr>
          <p:nvPr/>
        </p:nvSpPr>
        <p:spPr bwMode="auto">
          <a:xfrm>
            <a:off x="7704138" y="1643063"/>
            <a:ext cx="1225550" cy="0"/>
          </a:xfrm>
          <a:prstGeom prst="line">
            <a:avLst/>
          </a:prstGeom>
          <a:noFill/>
          <a:ln w="9525">
            <a:solidFill>
              <a:srgbClr val="00FFFF"/>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633" name="Arc 25">
            <a:extLst>
              <a:ext uri="{FF2B5EF4-FFF2-40B4-BE49-F238E27FC236}">
                <a16:creationId xmlns:a16="http://schemas.microsoft.com/office/drawing/2014/main" id="{86B3A68E-5919-4747-8C1B-3F65EC8A3A8C}"/>
              </a:ext>
            </a:extLst>
          </p:cNvPr>
          <p:cNvSpPr>
            <a:spLocks/>
          </p:cNvSpPr>
          <p:nvPr/>
        </p:nvSpPr>
        <p:spPr bwMode="auto">
          <a:xfrm>
            <a:off x="7829550" y="1639888"/>
            <a:ext cx="73025" cy="2159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rgbClr val="FF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68634" name="Object 5">
            <a:extLst>
              <a:ext uri="{FF2B5EF4-FFF2-40B4-BE49-F238E27FC236}">
                <a16:creationId xmlns:a16="http://schemas.microsoft.com/office/drawing/2014/main" id="{8CC366C2-5274-4A00-B0D1-E1182669A63A}"/>
              </a:ext>
            </a:extLst>
          </p:cNvPr>
          <p:cNvGraphicFramePr>
            <a:graphicFrameLocks noChangeAspect="1"/>
          </p:cNvGraphicFramePr>
          <p:nvPr/>
        </p:nvGraphicFramePr>
        <p:xfrm>
          <a:off x="8045450" y="1639888"/>
          <a:ext cx="352425" cy="381000"/>
        </p:xfrm>
        <a:graphic>
          <a:graphicData uri="http://schemas.openxmlformats.org/presentationml/2006/ole">
            <mc:AlternateContent xmlns:mc="http://schemas.openxmlformats.org/markup-compatibility/2006">
              <mc:Choice xmlns:v="urn:schemas-microsoft-com:vml" Requires="v">
                <p:oleObj spid="_x0000_s472135" name="Equation" r:id="rId10" imgW="104896" imgH="114198" progId="Equation.3">
                  <p:embed/>
                </p:oleObj>
              </mc:Choice>
              <mc:Fallback>
                <p:oleObj name="Equation" r:id="rId10" imgW="104896" imgH="114198" progId="Equation.3">
                  <p:embed/>
                  <p:pic>
                    <p:nvPicPr>
                      <p:cNvPr id="68634" name="Object 5">
                        <a:extLst>
                          <a:ext uri="{FF2B5EF4-FFF2-40B4-BE49-F238E27FC236}">
                            <a16:creationId xmlns:a16="http://schemas.microsoft.com/office/drawing/2014/main" id="{8CC366C2-5274-4A00-B0D1-E1182669A63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045450" y="1639888"/>
                        <a:ext cx="352425"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8635" name="Rectangle 27">
            <a:extLst>
              <a:ext uri="{FF2B5EF4-FFF2-40B4-BE49-F238E27FC236}">
                <a16:creationId xmlns:a16="http://schemas.microsoft.com/office/drawing/2014/main" id="{A1952A6A-CA17-45A0-8577-3DAA111B67A8}"/>
              </a:ext>
            </a:extLst>
          </p:cNvPr>
          <p:cNvSpPr>
            <a:spLocks noChangeArrowheads="1"/>
          </p:cNvSpPr>
          <p:nvPr/>
        </p:nvSpPr>
        <p:spPr bwMode="auto">
          <a:xfrm>
            <a:off x="492125" y="1000125"/>
            <a:ext cx="4437063"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en-US" altLang="zh-CN" sz="2200">
                <a:solidFill>
                  <a:schemeClr val="bg1"/>
                </a:solidFill>
              </a:rPr>
              <a:t>(1) </a:t>
            </a:r>
            <a:r>
              <a:rPr lang="zh-CN" altLang="en-US" sz="2200">
                <a:solidFill>
                  <a:schemeClr val="bg1"/>
                </a:solidFill>
              </a:rPr>
              <a:t>散射</a:t>
            </a:r>
            <a:r>
              <a:rPr lang="en-US" altLang="zh-CN" sz="2200">
                <a:solidFill>
                  <a:srgbClr val="FFFF00"/>
                </a:solidFill>
              </a:rPr>
              <a:t>X</a:t>
            </a:r>
            <a:r>
              <a:rPr lang="zh-CN" altLang="en-US" sz="2200">
                <a:solidFill>
                  <a:schemeClr val="bg1"/>
                </a:solidFill>
              </a:rPr>
              <a:t>射线的波长多大？</a:t>
            </a:r>
          </a:p>
        </p:txBody>
      </p:sp>
      <p:sp>
        <p:nvSpPr>
          <p:cNvPr id="68636" name="Rectangle 28">
            <a:extLst>
              <a:ext uri="{FF2B5EF4-FFF2-40B4-BE49-F238E27FC236}">
                <a16:creationId xmlns:a16="http://schemas.microsoft.com/office/drawing/2014/main" id="{D09C2335-5C1C-4F1D-A861-2DC1755CE240}"/>
              </a:ext>
            </a:extLst>
          </p:cNvPr>
          <p:cNvSpPr>
            <a:spLocks noChangeArrowheads="1"/>
          </p:cNvSpPr>
          <p:nvPr/>
        </p:nvSpPr>
        <p:spPr bwMode="auto">
          <a:xfrm>
            <a:off x="131763" y="1054100"/>
            <a:ext cx="468312"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r" eaLnBrk="1" hangingPunct="1"/>
            <a:r>
              <a:rPr lang="zh-CN" altLang="en-US" sz="2200">
                <a:solidFill>
                  <a:srgbClr val="FFFF66"/>
                </a:solidFill>
              </a:rPr>
              <a:t>求</a:t>
            </a:r>
          </a:p>
        </p:txBody>
      </p:sp>
      <p:sp>
        <p:nvSpPr>
          <p:cNvPr id="68637" name="Rectangle 29">
            <a:extLst>
              <a:ext uri="{FF2B5EF4-FFF2-40B4-BE49-F238E27FC236}">
                <a16:creationId xmlns:a16="http://schemas.microsoft.com/office/drawing/2014/main" id="{8ADCE110-D03B-4CB4-8DD9-297664ED7242}"/>
              </a:ext>
            </a:extLst>
          </p:cNvPr>
          <p:cNvSpPr>
            <a:spLocks noChangeArrowheads="1"/>
          </p:cNvSpPr>
          <p:nvPr/>
        </p:nvSpPr>
        <p:spPr bwMode="auto">
          <a:xfrm>
            <a:off x="500063" y="1455738"/>
            <a:ext cx="5675312"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en-US" altLang="zh-CN" sz="2200">
                <a:solidFill>
                  <a:schemeClr val="bg1"/>
                </a:solidFill>
              </a:rPr>
              <a:t>(2) </a:t>
            </a:r>
            <a:r>
              <a:rPr lang="zh-CN" altLang="en-US" sz="2200">
                <a:solidFill>
                  <a:schemeClr val="bg1"/>
                </a:solidFill>
              </a:rPr>
              <a:t>反冲电子的动能、动量各为多少？</a:t>
            </a:r>
          </a:p>
        </p:txBody>
      </p:sp>
      <p:sp>
        <p:nvSpPr>
          <p:cNvPr id="68638" name="Rectangle 30">
            <a:extLst>
              <a:ext uri="{FF2B5EF4-FFF2-40B4-BE49-F238E27FC236}">
                <a16:creationId xmlns:a16="http://schemas.microsoft.com/office/drawing/2014/main" id="{ED8C87E8-DF6F-4A83-A9EF-C718C36DF881}"/>
              </a:ext>
            </a:extLst>
          </p:cNvPr>
          <p:cNvSpPr>
            <a:spLocks noChangeArrowheads="1"/>
          </p:cNvSpPr>
          <p:nvPr/>
        </p:nvSpPr>
        <p:spPr bwMode="auto">
          <a:xfrm>
            <a:off x="500063" y="3395663"/>
            <a:ext cx="5675312"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200">
                <a:solidFill>
                  <a:schemeClr val="bg1"/>
                </a:solidFill>
              </a:rPr>
              <a:t>(2) </a:t>
            </a:r>
            <a:r>
              <a:rPr lang="zh-CN" altLang="en-US" sz="2200">
                <a:solidFill>
                  <a:schemeClr val="bg1"/>
                </a:solidFill>
                <a:latin typeface="宋体" panose="02010600030101010101" pitchFamily="2" charset="-122"/>
              </a:rPr>
              <a:t>反冲电子的动能</a:t>
            </a:r>
            <a:r>
              <a:rPr lang="en-US" altLang="zh-CN" sz="2200">
                <a:solidFill>
                  <a:schemeClr val="bg1"/>
                </a:solidFill>
                <a:latin typeface="宋体" panose="02010600030101010101" pitchFamily="2" charset="-122"/>
              </a:rPr>
              <a:t>:</a:t>
            </a:r>
            <a:endParaRPr lang="zh-CN" altLang="en-US" sz="2200">
              <a:solidFill>
                <a:schemeClr val="bg1"/>
              </a:solidFill>
              <a:latin typeface="宋体" panose="02010600030101010101" pitchFamily="2" charset="-122"/>
            </a:endParaRPr>
          </a:p>
        </p:txBody>
      </p:sp>
      <p:graphicFrame>
        <p:nvGraphicFramePr>
          <p:cNvPr id="68639" name="Object 6">
            <a:extLst>
              <a:ext uri="{FF2B5EF4-FFF2-40B4-BE49-F238E27FC236}">
                <a16:creationId xmlns:a16="http://schemas.microsoft.com/office/drawing/2014/main" id="{CC9D1B3D-4BF4-4488-9A91-1CD2DC9AB6E6}"/>
              </a:ext>
            </a:extLst>
          </p:cNvPr>
          <p:cNvGraphicFramePr>
            <a:graphicFrameLocks noChangeAspect="1"/>
          </p:cNvGraphicFramePr>
          <p:nvPr/>
        </p:nvGraphicFramePr>
        <p:xfrm>
          <a:off x="3500438" y="3286125"/>
          <a:ext cx="3676650" cy="731838"/>
        </p:xfrm>
        <a:graphic>
          <a:graphicData uri="http://schemas.openxmlformats.org/presentationml/2006/ole">
            <mc:AlternateContent xmlns:mc="http://schemas.openxmlformats.org/markup-compatibility/2006">
              <mc:Choice xmlns:v="urn:schemas-microsoft-com:vml" Requires="v">
                <p:oleObj spid="_x0000_s472136" name="公式" r:id="rId12" imgW="4553039" imgH="866741" progId="Equation.3">
                  <p:embed/>
                </p:oleObj>
              </mc:Choice>
              <mc:Fallback>
                <p:oleObj name="公式" r:id="rId12" imgW="4553039" imgH="866741" progId="Equation.3">
                  <p:embed/>
                  <p:pic>
                    <p:nvPicPr>
                      <p:cNvPr id="68639" name="Object 6">
                        <a:extLst>
                          <a:ext uri="{FF2B5EF4-FFF2-40B4-BE49-F238E27FC236}">
                            <a16:creationId xmlns:a16="http://schemas.microsoft.com/office/drawing/2014/main" id="{CC9D1B3D-4BF4-4488-9A91-1CD2DC9AB6E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00438" y="3286125"/>
                        <a:ext cx="3676650"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8640" name="Object 7">
            <a:extLst>
              <a:ext uri="{FF2B5EF4-FFF2-40B4-BE49-F238E27FC236}">
                <a16:creationId xmlns:a16="http://schemas.microsoft.com/office/drawing/2014/main" id="{7F5999D2-EDD7-4C57-B23A-3E4A6BF580C5}"/>
              </a:ext>
            </a:extLst>
          </p:cNvPr>
          <p:cNvGraphicFramePr>
            <a:graphicFrameLocks noChangeAspect="1"/>
          </p:cNvGraphicFramePr>
          <p:nvPr/>
        </p:nvGraphicFramePr>
        <p:xfrm>
          <a:off x="2584450" y="4095750"/>
          <a:ext cx="4154488" cy="690563"/>
        </p:xfrm>
        <a:graphic>
          <a:graphicData uri="http://schemas.openxmlformats.org/presentationml/2006/ole">
            <mc:AlternateContent xmlns:mc="http://schemas.openxmlformats.org/markup-compatibility/2006">
              <mc:Choice xmlns:v="urn:schemas-microsoft-com:vml" Requires="v">
                <p:oleObj spid="_x0000_s472137" name="公式" r:id="rId14" imgW="5143576" imgH="819286" progId="Equation.3">
                  <p:embed/>
                </p:oleObj>
              </mc:Choice>
              <mc:Fallback>
                <p:oleObj name="公式" r:id="rId14" imgW="5143576" imgH="819286" progId="Equation.3">
                  <p:embed/>
                  <p:pic>
                    <p:nvPicPr>
                      <p:cNvPr id="68640" name="Object 7">
                        <a:extLst>
                          <a:ext uri="{FF2B5EF4-FFF2-40B4-BE49-F238E27FC236}">
                            <a16:creationId xmlns:a16="http://schemas.microsoft.com/office/drawing/2014/main" id="{7F5999D2-EDD7-4C57-B23A-3E4A6BF580C5}"/>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584450" y="4095750"/>
                        <a:ext cx="4154488"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8641" name="Object 8">
            <a:extLst>
              <a:ext uri="{FF2B5EF4-FFF2-40B4-BE49-F238E27FC236}">
                <a16:creationId xmlns:a16="http://schemas.microsoft.com/office/drawing/2014/main" id="{D70B4A6A-6FF1-4591-84A3-461B64C2E07B}"/>
              </a:ext>
            </a:extLst>
          </p:cNvPr>
          <p:cNvGraphicFramePr>
            <a:graphicFrameLocks noChangeAspect="1"/>
          </p:cNvGraphicFramePr>
          <p:nvPr/>
        </p:nvGraphicFramePr>
        <p:xfrm>
          <a:off x="6870700" y="4283075"/>
          <a:ext cx="1630363" cy="360363"/>
        </p:xfrm>
        <a:graphic>
          <a:graphicData uri="http://schemas.openxmlformats.org/presentationml/2006/ole">
            <mc:AlternateContent xmlns:mc="http://schemas.openxmlformats.org/markup-compatibility/2006">
              <mc:Choice xmlns:v="urn:schemas-microsoft-com:vml" Requires="v">
                <p:oleObj spid="_x0000_s472138" name="公式" r:id="rId16" imgW="876173" imgH="152468" progId="Equation.3">
                  <p:embed/>
                </p:oleObj>
              </mc:Choice>
              <mc:Fallback>
                <p:oleObj name="公式" r:id="rId16" imgW="876173" imgH="152468" progId="Equation.3">
                  <p:embed/>
                  <p:pic>
                    <p:nvPicPr>
                      <p:cNvPr id="68641" name="Object 8">
                        <a:extLst>
                          <a:ext uri="{FF2B5EF4-FFF2-40B4-BE49-F238E27FC236}">
                            <a16:creationId xmlns:a16="http://schemas.microsoft.com/office/drawing/2014/main" id="{D70B4A6A-6FF1-4591-84A3-461B64C2E07B}"/>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870700" y="4283075"/>
                        <a:ext cx="163036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8643" name="Object 9">
            <a:extLst>
              <a:ext uri="{FF2B5EF4-FFF2-40B4-BE49-F238E27FC236}">
                <a16:creationId xmlns:a16="http://schemas.microsoft.com/office/drawing/2014/main" id="{1CAB3C6F-C449-475A-AB7C-B815BFD74186}"/>
              </a:ext>
            </a:extLst>
          </p:cNvPr>
          <p:cNvGraphicFramePr>
            <a:graphicFrameLocks noChangeAspect="1"/>
          </p:cNvGraphicFramePr>
          <p:nvPr/>
        </p:nvGraphicFramePr>
        <p:xfrm>
          <a:off x="4479925" y="5411788"/>
          <a:ext cx="3949700" cy="731837"/>
        </p:xfrm>
        <a:graphic>
          <a:graphicData uri="http://schemas.openxmlformats.org/presentationml/2006/ole">
            <mc:AlternateContent xmlns:mc="http://schemas.openxmlformats.org/markup-compatibility/2006">
              <mc:Choice xmlns:v="urn:schemas-microsoft-com:vml" Requires="v">
                <p:oleObj spid="_x0000_s472139" name="公式" r:id="rId18" imgW="4895863" imgH="866741" progId="Equation.3">
                  <p:embed/>
                </p:oleObj>
              </mc:Choice>
              <mc:Fallback>
                <p:oleObj name="公式" r:id="rId18" imgW="4895863" imgH="866741" progId="Equation.3">
                  <p:embed/>
                  <p:pic>
                    <p:nvPicPr>
                      <p:cNvPr id="68643" name="Object 9">
                        <a:extLst>
                          <a:ext uri="{FF2B5EF4-FFF2-40B4-BE49-F238E27FC236}">
                            <a16:creationId xmlns:a16="http://schemas.microsoft.com/office/drawing/2014/main" id="{1CAB3C6F-C449-475A-AB7C-B815BFD74186}"/>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479925" y="5411788"/>
                        <a:ext cx="3949700"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8644" name="Object 10">
            <a:extLst>
              <a:ext uri="{FF2B5EF4-FFF2-40B4-BE49-F238E27FC236}">
                <a16:creationId xmlns:a16="http://schemas.microsoft.com/office/drawing/2014/main" id="{C1F6E352-67D1-4CA4-9259-30565402179E}"/>
              </a:ext>
            </a:extLst>
          </p:cNvPr>
          <p:cNvGraphicFramePr>
            <a:graphicFrameLocks noChangeAspect="1"/>
          </p:cNvGraphicFramePr>
          <p:nvPr/>
        </p:nvGraphicFramePr>
        <p:xfrm>
          <a:off x="6215063" y="6278563"/>
          <a:ext cx="2224087" cy="365125"/>
        </p:xfrm>
        <a:graphic>
          <a:graphicData uri="http://schemas.openxmlformats.org/presentationml/2006/ole">
            <mc:AlternateContent xmlns:mc="http://schemas.openxmlformats.org/markup-compatibility/2006">
              <mc:Choice xmlns:v="urn:schemas-microsoft-com:vml" Requires="v">
                <p:oleObj spid="_x0000_s472140" name="公式" r:id="rId20" imgW="2733720" imgH="409643" progId="Equation.3">
                  <p:embed/>
                </p:oleObj>
              </mc:Choice>
              <mc:Fallback>
                <p:oleObj name="公式" r:id="rId20" imgW="2733720" imgH="409643" progId="Equation.3">
                  <p:embed/>
                  <p:pic>
                    <p:nvPicPr>
                      <p:cNvPr id="68644" name="Object 10">
                        <a:extLst>
                          <a:ext uri="{FF2B5EF4-FFF2-40B4-BE49-F238E27FC236}">
                            <a16:creationId xmlns:a16="http://schemas.microsoft.com/office/drawing/2014/main" id="{C1F6E352-67D1-4CA4-9259-30565402179E}"/>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215063" y="6278563"/>
                        <a:ext cx="22240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8645" name="Object 11">
            <a:extLst>
              <a:ext uri="{FF2B5EF4-FFF2-40B4-BE49-F238E27FC236}">
                <a16:creationId xmlns:a16="http://schemas.microsoft.com/office/drawing/2014/main" id="{DC81CD07-2372-4FAF-9BD4-CC74CAFDE975}"/>
              </a:ext>
            </a:extLst>
          </p:cNvPr>
          <p:cNvGraphicFramePr>
            <a:graphicFrameLocks noChangeAspect="1"/>
          </p:cNvGraphicFramePr>
          <p:nvPr/>
        </p:nvGraphicFramePr>
        <p:xfrm>
          <a:off x="928688" y="5357813"/>
          <a:ext cx="2216150" cy="730250"/>
        </p:xfrm>
        <a:graphic>
          <a:graphicData uri="http://schemas.openxmlformats.org/presentationml/2006/ole">
            <mc:AlternateContent xmlns:mc="http://schemas.openxmlformats.org/markup-compatibility/2006">
              <mc:Choice xmlns:v="urn:schemas-microsoft-com:vml" Requires="v">
                <p:oleObj spid="_x0000_s472141" name="公式" r:id="rId22" imgW="2724239" imgH="866741" progId="Equation.3">
                  <p:embed/>
                </p:oleObj>
              </mc:Choice>
              <mc:Fallback>
                <p:oleObj name="公式" r:id="rId22" imgW="2724239" imgH="866741" progId="Equation.3">
                  <p:embed/>
                  <p:pic>
                    <p:nvPicPr>
                      <p:cNvPr id="68645" name="Object 11">
                        <a:extLst>
                          <a:ext uri="{FF2B5EF4-FFF2-40B4-BE49-F238E27FC236}">
                            <a16:creationId xmlns:a16="http://schemas.microsoft.com/office/drawing/2014/main" id="{DC81CD07-2372-4FAF-9BD4-CC74CAFDE975}"/>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928688" y="5357813"/>
                        <a:ext cx="221615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8646" name="Object 12">
            <a:extLst>
              <a:ext uri="{FF2B5EF4-FFF2-40B4-BE49-F238E27FC236}">
                <a16:creationId xmlns:a16="http://schemas.microsoft.com/office/drawing/2014/main" id="{61ABAC67-6155-424C-AF37-6F1862448530}"/>
              </a:ext>
            </a:extLst>
          </p:cNvPr>
          <p:cNvGraphicFramePr>
            <a:graphicFrameLocks noChangeAspect="1"/>
          </p:cNvGraphicFramePr>
          <p:nvPr/>
        </p:nvGraphicFramePr>
        <p:xfrm>
          <a:off x="1500188" y="6072188"/>
          <a:ext cx="1189037" cy="579437"/>
        </p:xfrm>
        <a:graphic>
          <a:graphicData uri="http://schemas.openxmlformats.org/presentationml/2006/ole">
            <mc:AlternateContent xmlns:mc="http://schemas.openxmlformats.org/markup-compatibility/2006">
              <mc:Choice xmlns:v="urn:schemas-microsoft-com:vml" Requires="v">
                <p:oleObj spid="_x0000_s472142" name="公式" r:id="rId24" imgW="1438269" imgH="676309" progId="Equation.3">
                  <p:embed/>
                </p:oleObj>
              </mc:Choice>
              <mc:Fallback>
                <p:oleObj name="公式" r:id="rId24" imgW="1438269" imgH="676309" progId="Equation.3">
                  <p:embed/>
                  <p:pic>
                    <p:nvPicPr>
                      <p:cNvPr id="68646" name="Object 12">
                        <a:extLst>
                          <a:ext uri="{FF2B5EF4-FFF2-40B4-BE49-F238E27FC236}">
                            <a16:creationId xmlns:a16="http://schemas.microsoft.com/office/drawing/2014/main" id="{61ABAC67-6155-424C-AF37-6F1862448530}"/>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500188" y="6072188"/>
                        <a:ext cx="11890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 name="Rectangle 30">
            <a:extLst>
              <a:ext uri="{FF2B5EF4-FFF2-40B4-BE49-F238E27FC236}">
                <a16:creationId xmlns:a16="http://schemas.microsoft.com/office/drawing/2014/main" id="{414FBED0-7357-43FE-8A03-2B461905385E}"/>
              </a:ext>
            </a:extLst>
          </p:cNvPr>
          <p:cNvSpPr>
            <a:spLocks noChangeArrowheads="1"/>
          </p:cNvSpPr>
          <p:nvPr/>
        </p:nvSpPr>
        <p:spPr bwMode="auto">
          <a:xfrm>
            <a:off x="571500" y="4856163"/>
            <a:ext cx="5675313"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200">
                <a:solidFill>
                  <a:schemeClr val="bg1"/>
                </a:solidFill>
                <a:latin typeface="宋体" panose="02010600030101010101" pitchFamily="2" charset="-122"/>
              </a:rPr>
              <a:t>设反冲电子动量 </a:t>
            </a:r>
            <a:r>
              <a:rPr lang="en-US" altLang="zh-CN" sz="2200" i="1">
                <a:solidFill>
                  <a:schemeClr val="bg1"/>
                </a:solidFill>
              </a:rPr>
              <a:t>p</a:t>
            </a:r>
            <a:r>
              <a:rPr lang="en-US" altLang="zh-CN" sz="2200" i="1" baseline="-25000">
                <a:solidFill>
                  <a:schemeClr val="bg1"/>
                </a:solidFill>
              </a:rPr>
              <a:t>e</a:t>
            </a:r>
            <a:r>
              <a:rPr lang="zh-CN" altLang="en-US" sz="2200">
                <a:solidFill>
                  <a:schemeClr val="bg1"/>
                </a:solidFill>
                <a:latin typeface="宋体" panose="02010600030101010101" pitchFamily="2" charset="-122"/>
              </a:rPr>
              <a:t>，与入射线夹角 </a:t>
            </a:r>
            <a:r>
              <a:rPr lang="el-GR" altLang="zh-CN" sz="2200" i="1">
                <a:solidFill>
                  <a:schemeClr val="bg1"/>
                </a:solidFill>
              </a:rPr>
              <a:t>φ</a:t>
            </a:r>
            <a:endParaRPr lang="zh-CN" altLang="en-US" sz="2200" i="1">
              <a:solidFill>
                <a:schemeClr val="bg1"/>
              </a:solidFill>
            </a:endParaRPr>
          </a:p>
        </p:txBody>
      </p:sp>
      <p:sp>
        <p:nvSpPr>
          <p:cNvPr id="31" name="右大括号 30">
            <a:extLst>
              <a:ext uri="{FF2B5EF4-FFF2-40B4-BE49-F238E27FC236}">
                <a16:creationId xmlns:a16="http://schemas.microsoft.com/office/drawing/2014/main" id="{CDD7B79B-1492-4EC7-A912-96B49BDA2413}"/>
              </a:ext>
            </a:extLst>
          </p:cNvPr>
          <p:cNvSpPr>
            <a:spLocks/>
          </p:cNvSpPr>
          <p:nvPr/>
        </p:nvSpPr>
        <p:spPr bwMode="auto">
          <a:xfrm>
            <a:off x="3357563" y="5643563"/>
            <a:ext cx="214312" cy="928687"/>
          </a:xfrm>
          <a:prstGeom prst="rightBrace">
            <a:avLst>
              <a:gd name="adj1" fmla="val 57557"/>
              <a:gd name="adj2" fmla="val 50000"/>
            </a:avLst>
          </a:prstGeom>
          <a:noFill/>
          <a:ln w="254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2" name="右箭头 31">
            <a:extLst>
              <a:ext uri="{FF2B5EF4-FFF2-40B4-BE49-F238E27FC236}">
                <a16:creationId xmlns:a16="http://schemas.microsoft.com/office/drawing/2014/main" id="{668A25F6-3522-456E-9449-83F3D19AB8B9}"/>
              </a:ext>
            </a:extLst>
          </p:cNvPr>
          <p:cNvSpPr>
            <a:spLocks noChangeArrowheads="1"/>
          </p:cNvSpPr>
          <p:nvPr/>
        </p:nvSpPr>
        <p:spPr bwMode="auto">
          <a:xfrm>
            <a:off x="3714750" y="5929313"/>
            <a:ext cx="642938" cy="285750"/>
          </a:xfrm>
          <a:prstGeom prst="rightArrow">
            <a:avLst>
              <a:gd name="adj1" fmla="val 50000"/>
              <a:gd name="adj2" fmla="val 77688"/>
            </a:avLst>
          </a:prstGeom>
          <a:solidFill>
            <a:srgbClr val="FF0000"/>
          </a:solidFill>
          <a:ln w="9525" algn="ctr">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296" name="灯片编号占位符 1">
            <a:extLst>
              <a:ext uri="{FF2B5EF4-FFF2-40B4-BE49-F238E27FC236}">
                <a16:creationId xmlns:a16="http://schemas.microsoft.com/office/drawing/2014/main" id="{468A5F93-6813-49DF-939C-A8B66D135A86}"/>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35EB27A5-02DC-442E-B6E7-14D582409E34}" type="slidenum">
              <a:rPr lang="en-US" altLang="zh-CN" b="0">
                <a:solidFill>
                  <a:srgbClr val="FF00FF"/>
                </a:solidFill>
              </a:rPr>
              <a:pPr eaLnBrk="1" hangingPunct="1"/>
              <a:t>18</a:t>
            </a:fld>
            <a:r>
              <a:rPr lang="en-US" altLang="zh-CN" b="0">
                <a:solidFill>
                  <a:srgbClr val="FF00FF"/>
                </a:solidFill>
              </a:rPr>
              <a:t>/22</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68619"/>
                                        </p:tgtEl>
                                        <p:attrNameLst>
                                          <p:attrName>style.visibility</p:attrName>
                                        </p:attrNameLst>
                                      </p:cBhvr>
                                      <p:to>
                                        <p:strVal val="visible"/>
                                      </p:to>
                                    </p:set>
                                    <p:animEffect transition="in" filter="dissolve">
                                      <p:cBhvr>
                                        <p:cTn id="7" dur="500"/>
                                        <p:tgtEl>
                                          <p:spTgt spid="686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8620"/>
                                        </p:tgtEl>
                                        <p:attrNameLst>
                                          <p:attrName>style.visibility</p:attrName>
                                        </p:attrNameLst>
                                      </p:cBhvr>
                                      <p:to>
                                        <p:strVal val="visible"/>
                                      </p:to>
                                    </p:set>
                                    <p:animEffect transition="in" filter="blinds(horizontal)">
                                      <p:cBhvr>
                                        <p:cTn id="12" dur="500"/>
                                        <p:tgtEl>
                                          <p:spTgt spid="68620"/>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68636"/>
                                        </p:tgtEl>
                                        <p:attrNameLst>
                                          <p:attrName>style.visibility</p:attrName>
                                        </p:attrNameLst>
                                      </p:cBhvr>
                                      <p:to>
                                        <p:strVal val="visible"/>
                                      </p:to>
                                    </p:set>
                                    <p:animEffect transition="in" filter="blinds(horizontal)">
                                      <p:cBhvr>
                                        <p:cTn id="15" dur="500"/>
                                        <p:tgtEl>
                                          <p:spTgt spid="68636"/>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68635"/>
                                        </p:tgtEl>
                                        <p:attrNameLst>
                                          <p:attrName>style.visibility</p:attrName>
                                        </p:attrNameLst>
                                      </p:cBhvr>
                                      <p:to>
                                        <p:strVal val="visible"/>
                                      </p:to>
                                    </p:set>
                                    <p:animEffect transition="in" filter="blinds(horizontal)">
                                      <p:cBhvr>
                                        <p:cTn id="18" dur="500"/>
                                        <p:tgtEl>
                                          <p:spTgt spid="68635"/>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68637"/>
                                        </p:tgtEl>
                                        <p:attrNameLst>
                                          <p:attrName>style.visibility</p:attrName>
                                        </p:attrNameLst>
                                      </p:cBhvr>
                                      <p:to>
                                        <p:strVal val="visible"/>
                                      </p:to>
                                    </p:set>
                                    <p:animEffect transition="in" filter="blinds(horizontal)">
                                      <p:cBhvr>
                                        <p:cTn id="21" dur="500"/>
                                        <p:tgtEl>
                                          <p:spTgt spid="68637"/>
                                        </p:tgtEl>
                                      </p:cBhvr>
                                    </p:animEffect>
                                  </p:childTnLst>
                                </p:cTn>
                              </p:par>
                            </p:childTnLst>
                          </p:cTn>
                        </p:par>
                        <p:par>
                          <p:cTn id="22" fill="hold" nodeType="afterGroup">
                            <p:stCondLst>
                              <p:cond delay="500"/>
                            </p:stCondLst>
                            <p:childTnLst>
                              <p:par>
                                <p:cTn id="23" presetID="9" presetClass="entr" presetSubtype="0" fill="hold" nodeType="afterEffect">
                                  <p:stCondLst>
                                    <p:cond delay="0"/>
                                  </p:stCondLst>
                                  <p:childTnLst>
                                    <p:set>
                                      <p:cBhvr>
                                        <p:cTn id="24" dur="1" fill="hold">
                                          <p:stCondLst>
                                            <p:cond delay="0"/>
                                          </p:stCondLst>
                                        </p:cTn>
                                        <p:tgtEl>
                                          <p:spTgt spid="68626"/>
                                        </p:tgtEl>
                                        <p:attrNameLst>
                                          <p:attrName>style.visibility</p:attrName>
                                        </p:attrNameLst>
                                      </p:cBhvr>
                                      <p:to>
                                        <p:strVal val="visible"/>
                                      </p:to>
                                    </p:set>
                                    <p:animEffect transition="in" filter="dissolve">
                                      <p:cBhvr>
                                        <p:cTn id="25" dur="500"/>
                                        <p:tgtEl>
                                          <p:spTgt spid="68626"/>
                                        </p:tgtEl>
                                      </p:cBhvr>
                                    </p:animEffect>
                                  </p:childTnLst>
                                </p:cTn>
                              </p:par>
                              <p:par>
                                <p:cTn id="26" presetID="9" presetClass="entr" presetSubtype="0" fill="hold" nodeType="withEffect">
                                  <p:stCondLst>
                                    <p:cond delay="0"/>
                                  </p:stCondLst>
                                  <p:childTnLst>
                                    <p:set>
                                      <p:cBhvr>
                                        <p:cTn id="27" dur="1" fill="hold">
                                          <p:stCondLst>
                                            <p:cond delay="0"/>
                                          </p:stCondLst>
                                        </p:cTn>
                                        <p:tgtEl>
                                          <p:spTgt spid="68628"/>
                                        </p:tgtEl>
                                        <p:attrNameLst>
                                          <p:attrName>style.visibility</p:attrName>
                                        </p:attrNameLst>
                                      </p:cBhvr>
                                      <p:to>
                                        <p:strVal val="visible"/>
                                      </p:to>
                                    </p:set>
                                    <p:animEffect transition="in" filter="dissolve">
                                      <p:cBhvr>
                                        <p:cTn id="28" dur="500"/>
                                        <p:tgtEl>
                                          <p:spTgt spid="68628"/>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68629"/>
                                        </p:tgtEl>
                                        <p:attrNameLst>
                                          <p:attrName>style.visibility</p:attrName>
                                        </p:attrNameLst>
                                      </p:cBhvr>
                                      <p:to>
                                        <p:strVal val="visible"/>
                                      </p:to>
                                    </p:set>
                                    <p:animEffect transition="in" filter="dissolve">
                                      <p:cBhvr>
                                        <p:cTn id="31" dur="500"/>
                                        <p:tgtEl>
                                          <p:spTgt spid="68629"/>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68630"/>
                                        </p:tgtEl>
                                        <p:attrNameLst>
                                          <p:attrName>style.visibility</p:attrName>
                                        </p:attrNameLst>
                                      </p:cBhvr>
                                      <p:to>
                                        <p:strVal val="visible"/>
                                      </p:to>
                                    </p:set>
                                    <p:animEffect transition="in" filter="dissolve">
                                      <p:cBhvr>
                                        <p:cTn id="34" dur="500"/>
                                        <p:tgtEl>
                                          <p:spTgt spid="68630"/>
                                        </p:tgtEl>
                                      </p:cBhvr>
                                    </p:animEffect>
                                  </p:childTnLst>
                                </p:cTn>
                              </p:par>
                              <p:par>
                                <p:cTn id="35" presetID="9" presetClass="entr" presetSubtype="0" fill="hold" nodeType="withEffect">
                                  <p:stCondLst>
                                    <p:cond delay="0"/>
                                  </p:stCondLst>
                                  <p:childTnLst>
                                    <p:set>
                                      <p:cBhvr>
                                        <p:cTn id="36" dur="1" fill="hold">
                                          <p:stCondLst>
                                            <p:cond delay="0"/>
                                          </p:stCondLst>
                                        </p:cTn>
                                        <p:tgtEl>
                                          <p:spTgt spid="68632"/>
                                        </p:tgtEl>
                                        <p:attrNameLst>
                                          <p:attrName>style.visibility</p:attrName>
                                        </p:attrNameLst>
                                      </p:cBhvr>
                                      <p:to>
                                        <p:strVal val="visible"/>
                                      </p:to>
                                    </p:set>
                                    <p:animEffect transition="in" filter="dissolve">
                                      <p:cBhvr>
                                        <p:cTn id="37" dur="500"/>
                                        <p:tgtEl>
                                          <p:spTgt spid="68632"/>
                                        </p:tgtEl>
                                      </p:cBhvr>
                                    </p:animEffect>
                                  </p:childTnLst>
                                </p:cTn>
                              </p:par>
                              <p:par>
                                <p:cTn id="38" presetID="9" presetClass="entr" presetSubtype="0" fill="hold" nodeType="withEffect">
                                  <p:stCondLst>
                                    <p:cond delay="0"/>
                                  </p:stCondLst>
                                  <p:childTnLst>
                                    <p:set>
                                      <p:cBhvr>
                                        <p:cTn id="39" dur="1" fill="hold">
                                          <p:stCondLst>
                                            <p:cond delay="0"/>
                                          </p:stCondLst>
                                        </p:cTn>
                                        <p:tgtEl>
                                          <p:spTgt spid="68633"/>
                                        </p:tgtEl>
                                        <p:attrNameLst>
                                          <p:attrName>style.visibility</p:attrName>
                                        </p:attrNameLst>
                                      </p:cBhvr>
                                      <p:to>
                                        <p:strVal val="visible"/>
                                      </p:to>
                                    </p:set>
                                    <p:animEffect transition="in" filter="dissolve">
                                      <p:cBhvr>
                                        <p:cTn id="40" dur="500"/>
                                        <p:tgtEl>
                                          <p:spTgt spid="68633"/>
                                        </p:tgtEl>
                                      </p:cBhvr>
                                    </p:animEffect>
                                  </p:childTnLst>
                                </p:cTn>
                              </p:par>
                              <p:par>
                                <p:cTn id="41" presetID="9" presetClass="entr" presetSubtype="0" fill="hold" nodeType="withEffect">
                                  <p:stCondLst>
                                    <p:cond delay="0"/>
                                  </p:stCondLst>
                                  <p:childTnLst>
                                    <p:set>
                                      <p:cBhvr>
                                        <p:cTn id="42" dur="1" fill="hold">
                                          <p:stCondLst>
                                            <p:cond delay="0"/>
                                          </p:stCondLst>
                                        </p:cTn>
                                        <p:tgtEl>
                                          <p:spTgt spid="68634"/>
                                        </p:tgtEl>
                                        <p:attrNameLst>
                                          <p:attrName>style.visibility</p:attrName>
                                        </p:attrNameLst>
                                      </p:cBhvr>
                                      <p:to>
                                        <p:strVal val="visible"/>
                                      </p:to>
                                    </p:set>
                                    <p:animEffect transition="in" filter="dissolve">
                                      <p:cBhvr>
                                        <p:cTn id="43" dur="500"/>
                                        <p:tgtEl>
                                          <p:spTgt spid="6863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68621"/>
                                        </p:tgtEl>
                                        <p:attrNameLst>
                                          <p:attrName>style.visibility</p:attrName>
                                        </p:attrNameLst>
                                      </p:cBhvr>
                                      <p:to>
                                        <p:strVal val="visible"/>
                                      </p:to>
                                    </p:set>
                                    <p:animEffect transition="in" filter="wipe(left)">
                                      <p:cBhvr>
                                        <p:cTn id="48" dur="500"/>
                                        <p:tgtEl>
                                          <p:spTgt spid="68621"/>
                                        </p:tgtEl>
                                      </p:cBhvr>
                                    </p:animEffect>
                                  </p:childTnLst>
                                </p:cTn>
                              </p:par>
                            </p:childTnLst>
                          </p:cTn>
                        </p:par>
                        <p:par>
                          <p:cTn id="49" fill="hold" nodeType="afterGroup">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68622"/>
                                        </p:tgtEl>
                                        <p:attrNameLst>
                                          <p:attrName>style.visibility</p:attrName>
                                        </p:attrNameLst>
                                      </p:cBhvr>
                                      <p:to>
                                        <p:strVal val="visible"/>
                                      </p:to>
                                    </p:set>
                                    <p:animEffect transition="in" filter="wipe(left)">
                                      <p:cBhvr>
                                        <p:cTn id="52" dur="500"/>
                                        <p:tgtEl>
                                          <p:spTgt spid="6862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68623"/>
                                        </p:tgtEl>
                                        <p:attrNameLst>
                                          <p:attrName>style.visibility</p:attrName>
                                        </p:attrNameLst>
                                      </p:cBhvr>
                                      <p:to>
                                        <p:strVal val="visible"/>
                                      </p:to>
                                    </p:set>
                                    <p:animEffect transition="in" filter="wipe(left)">
                                      <p:cBhvr>
                                        <p:cTn id="57" dur="500"/>
                                        <p:tgtEl>
                                          <p:spTgt spid="6862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68624"/>
                                        </p:tgtEl>
                                        <p:attrNameLst>
                                          <p:attrName>style.visibility</p:attrName>
                                        </p:attrNameLst>
                                      </p:cBhvr>
                                      <p:to>
                                        <p:strVal val="visible"/>
                                      </p:to>
                                    </p:set>
                                    <p:animEffect transition="in" filter="wipe(left)">
                                      <p:cBhvr>
                                        <p:cTn id="62" dur="500"/>
                                        <p:tgtEl>
                                          <p:spTgt spid="6862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68625"/>
                                        </p:tgtEl>
                                        <p:attrNameLst>
                                          <p:attrName>style.visibility</p:attrName>
                                        </p:attrNameLst>
                                      </p:cBhvr>
                                      <p:to>
                                        <p:strVal val="visible"/>
                                      </p:to>
                                    </p:set>
                                    <p:animEffect transition="in" filter="wipe(left)">
                                      <p:cBhvr>
                                        <p:cTn id="67" dur="500"/>
                                        <p:tgtEl>
                                          <p:spTgt spid="68625"/>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68638"/>
                                        </p:tgtEl>
                                        <p:attrNameLst>
                                          <p:attrName>style.visibility</p:attrName>
                                        </p:attrNameLst>
                                      </p:cBhvr>
                                      <p:to>
                                        <p:strVal val="visible"/>
                                      </p:to>
                                    </p:set>
                                    <p:animEffect transition="in" filter="wipe(left)">
                                      <p:cBhvr>
                                        <p:cTn id="72" dur="500"/>
                                        <p:tgtEl>
                                          <p:spTgt spid="68638"/>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68639"/>
                                        </p:tgtEl>
                                        <p:attrNameLst>
                                          <p:attrName>style.visibility</p:attrName>
                                        </p:attrNameLst>
                                      </p:cBhvr>
                                      <p:to>
                                        <p:strVal val="visible"/>
                                      </p:to>
                                    </p:set>
                                    <p:animEffect transition="in" filter="wipe(left)">
                                      <p:cBhvr>
                                        <p:cTn id="77" dur="500"/>
                                        <p:tgtEl>
                                          <p:spTgt spid="68639"/>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68640"/>
                                        </p:tgtEl>
                                        <p:attrNameLst>
                                          <p:attrName>style.visibility</p:attrName>
                                        </p:attrNameLst>
                                      </p:cBhvr>
                                      <p:to>
                                        <p:strVal val="visible"/>
                                      </p:to>
                                    </p:set>
                                    <p:animEffect transition="in" filter="wipe(left)">
                                      <p:cBhvr>
                                        <p:cTn id="82" dur="500"/>
                                        <p:tgtEl>
                                          <p:spTgt spid="68640"/>
                                        </p:tgtEl>
                                      </p:cBhvr>
                                    </p:animEffect>
                                  </p:childTnLst>
                                </p:cTn>
                              </p:par>
                            </p:childTnLst>
                          </p:cTn>
                        </p:par>
                        <p:par>
                          <p:cTn id="83" fill="hold" nodeType="afterGroup">
                            <p:stCondLst>
                              <p:cond delay="500"/>
                            </p:stCondLst>
                            <p:childTnLst>
                              <p:par>
                                <p:cTn id="84" presetID="22" presetClass="entr" presetSubtype="8" fill="hold" nodeType="afterEffect">
                                  <p:stCondLst>
                                    <p:cond delay="0"/>
                                  </p:stCondLst>
                                  <p:childTnLst>
                                    <p:set>
                                      <p:cBhvr>
                                        <p:cTn id="85" dur="1" fill="hold">
                                          <p:stCondLst>
                                            <p:cond delay="0"/>
                                          </p:stCondLst>
                                        </p:cTn>
                                        <p:tgtEl>
                                          <p:spTgt spid="68641"/>
                                        </p:tgtEl>
                                        <p:attrNameLst>
                                          <p:attrName>style.visibility</p:attrName>
                                        </p:attrNameLst>
                                      </p:cBhvr>
                                      <p:to>
                                        <p:strVal val="visible"/>
                                      </p:to>
                                    </p:set>
                                    <p:animEffect transition="in" filter="wipe(left)">
                                      <p:cBhvr>
                                        <p:cTn id="86" dur="500"/>
                                        <p:tgtEl>
                                          <p:spTgt spid="68641"/>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30"/>
                                        </p:tgtEl>
                                        <p:attrNameLst>
                                          <p:attrName>style.visibility</p:attrName>
                                        </p:attrNameLst>
                                      </p:cBhvr>
                                      <p:to>
                                        <p:strVal val="visible"/>
                                      </p:to>
                                    </p:set>
                                    <p:animEffect transition="in" filter="wipe(left)">
                                      <p:cBhvr>
                                        <p:cTn id="91" dur="500"/>
                                        <p:tgtEl>
                                          <p:spTgt spid="30"/>
                                        </p:tgtEl>
                                      </p:cBhvr>
                                    </p:animEffect>
                                  </p:childTnLst>
                                </p:cTn>
                              </p:par>
                              <p:par>
                                <p:cTn id="92" presetID="9" presetClass="entr" presetSubtype="0" fill="hold" grpId="0" nodeType="withEffect">
                                  <p:stCondLst>
                                    <p:cond delay="0"/>
                                  </p:stCondLst>
                                  <p:childTnLst>
                                    <p:set>
                                      <p:cBhvr>
                                        <p:cTn id="93" dur="1" fill="hold">
                                          <p:stCondLst>
                                            <p:cond delay="0"/>
                                          </p:stCondLst>
                                        </p:cTn>
                                        <p:tgtEl>
                                          <p:spTgt spid="68631"/>
                                        </p:tgtEl>
                                        <p:attrNameLst>
                                          <p:attrName>style.visibility</p:attrName>
                                        </p:attrNameLst>
                                      </p:cBhvr>
                                      <p:to>
                                        <p:strVal val="visible"/>
                                      </p:to>
                                    </p:set>
                                    <p:animEffect transition="in" filter="dissolve">
                                      <p:cBhvr>
                                        <p:cTn id="94" dur="500"/>
                                        <p:tgtEl>
                                          <p:spTgt spid="68631"/>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nodeType="clickEffect">
                                  <p:stCondLst>
                                    <p:cond delay="0"/>
                                  </p:stCondLst>
                                  <p:childTnLst>
                                    <p:set>
                                      <p:cBhvr>
                                        <p:cTn id="98" dur="1" fill="hold">
                                          <p:stCondLst>
                                            <p:cond delay="0"/>
                                          </p:stCondLst>
                                        </p:cTn>
                                        <p:tgtEl>
                                          <p:spTgt spid="68645"/>
                                        </p:tgtEl>
                                        <p:attrNameLst>
                                          <p:attrName>style.visibility</p:attrName>
                                        </p:attrNameLst>
                                      </p:cBhvr>
                                      <p:to>
                                        <p:strVal val="visible"/>
                                      </p:to>
                                    </p:set>
                                    <p:animEffect transition="in" filter="wipe(left)">
                                      <p:cBhvr>
                                        <p:cTn id="99" dur="500"/>
                                        <p:tgtEl>
                                          <p:spTgt spid="68645"/>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ntr" presetSubtype="8" fill="hold" nodeType="clickEffect">
                                  <p:stCondLst>
                                    <p:cond delay="0"/>
                                  </p:stCondLst>
                                  <p:childTnLst>
                                    <p:set>
                                      <p:cBhvr>
                                        <p:cTn id="103" dur="1" fill="hold">
                                          <p:stCondLst>
                                            <p:cond delay="0"/>
                                          </p:stCondLst>
                                        </p:cTn>
                                        <p:tgtEl>
                                          <p:spTgt spid="68646"/>
                                        </p:tgtEl>
                                        <p:attrNameLst>
                                          <p:attrName>style.visibility</p:attrName>
                                        </p:attrNameLst>
                                      </p:cBhvr>
                                      <p:to>
                                        <p:strVal val="visible"/>
                                      </p:to>
                                    </p:set>
                                    <p:animEffect transition="in" filter="wipe(left)">
                                      <p:cBhvr>
                                        <p:cTn id="104" dur="500"/>
                                        <p:tgtEl>
                                          <p:spTgt spid="68646"/>
                                        </p:tgtEl>
                                      </p:cBhvr>
                                    </p:animEffect>
                                  </p:childTnLst>
                                </p:cTn>
                              </p:par>
                            </p:childTnLst>
                          </p:cTn>
                        </p:par>
                        <p:par>
                          <p:cTn id="105" fill="hold" nodeType="afterGroup">
                            <p:stCondLst>
                              <p:cond delay="500"/>
                            </p:stCondLst>
                            <p:childTnLst>
                              <p:par>
                                <p:cTn id="106" presetID="22" presetClass="entr" presetSubtype="8" fill="hold" grpId="0" nodeType="afterEffect">
                                  <p:stCondLst>
                                    <p:cond delay="0"/>
                                  </p:stCondLst>
                                  <p:childTnLst>
                                    <p:set>
                                      <p:cBhvr>
                                        <p:cTn id="107" dur="1" fill="hold">
                                          <p:stCondLst>
                                            <p:cond delay="0"/>
                                          </p:stCondLst>
                                        </p:cTn>
                                        <p:tgtEl>
                                          <p:spTgt spid="31"/>
                                        </p:tgtEl>
                                        <p:attrNameLst>
                                          <p:attrName>style.visibility</p:attrName>
                                        </p:attrNameLst>
                                      </p:cBhvr>
                                      <p:to>
                                        <p:strVal val="visible"/>
                                      </p:to>
                                    </p:set>
                                    <p:animEffect transition="in" filter="wipe(left)">
                                      <p:cBhvr>
                                        <p:cTn id="108" dur="500"/>
                                        <p:tgtEl>
                                          <p:spTgt spid="31"/>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8" fill="hold" grpId="0" nodeType="clickEffect">
                                  <p:stCondLst>
                                    <p:cond delay="0"/>
                                  </p:stCondLst>
                                  <p:childTnLst>
                                    <p:set>
                                      <p:cBhvr>
                                        <p:cTn id="112" dur="1" fill="hold">
                                          <p:stCondLst>
                                            <p:cond delay="0"/>
                                          </p:stCondLst>
                                        </p:cTn>
                                        <p:tgtEl>
                                          <p:spTgt spid="32"/>
                                        </p:tgtEl>
                                        <p:attrNameLst>
                                          <p:attrName>style.visibility</p:attrName>
                                        </p:attrNameLst>
                                      </p:cBhvr>
                                      <p:to>
                                        <p:strVal val="visible"/>
                                      </p:to>
                                    </p:set>
                                    <p:animEffect transition="in" filter="wipe(left)">
                                      <p:cBhvr>
                                        <p:cTn id="113" dur="500"/>
                                        <p:tgtEl>
                                          <p:spTgt spid="32"/>
                                        </p:tgtEl>
                                      </p:cBhvr>
                                    </p:animEffect>
                                  </p:childTnLst>
                                </p:cTn>
                              </p:par>
                            </p:childTnLst>
                          </p:cTn>
                        </p:par>
                        <p:par>
                          <p:cTn id="114" fill="hold" nodeType="afterGroup">
                            <p:stCondLst>
                              <p:cond delay="500"/>
                            </p:stCondLst>
                            <p:childTnLst>
                              <p:par>
                                <p:cTn id="115" presetID="22" presetClass="entr" presetSubtype="8" fill="hold" nodeType="afterEffect">
                                  <p:stCondLst>
                                    <p:cond delay="0"/>
                                  </p:stCondLst>
                                  <p:childTnLst>
                                    <p:set>
                                      <p:cBhvr>
                                        <p:cTn id="116" dur="1" fill="hold">
                                          <p:stCondLst>
                                            <p:cond delay="0"/>
                                          </p:stCondLst>
                                        </p:cTn>
                                        <p:tgtEl>
                                          <p:spTgt spid="68643"/>
                                        </p:tgtEl>
                                        <p:attrNameLst>
                                          <p:attrName>style.visibility</p:attrName>
                                        </p:attrNameLst>
                                      </p:cBhvr>
                                      <p:to>
                                        <p:strVal val="visible"/>
                                      </p:to>
                                    </p:set>
                                    <p:animEffect transition="in" filter="wipe(left)">
                                      <p:cBhvr>
                                        <p:cTn id="117" dur="500"/>
                                        <p:tgtEl>
                                          <p:spTgt spid="68643"/>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8" fill="hold" nodeType="clickEffect">
                                  <p:stCondLst>
                                    <p:cond delay="0"/>
                                  </p:stCondLst>
                                  <p:childTnLst>
                                    <p:set>
                                      <p:cBhvr>
                                        <p:cTn id="121" dur="1" fill="hold">
                                          <p:stCondLst>
                                            <p:cond delay="0"/>
                                          </p:stCondLst>
                                        </p:cTn>
                                        <p:tgtEl>
                                          <p:spTgt spid="68644"/>
                                        </p:tgtEl>
                                        <p:attrNameLst>
                                          <p:attrName>style.visibility</p:attrName>
                                        </p:attrNameLst>
                                      </p:cBhvr>
                                      <p:to>
                                        <p:strVal val="visible"/>
                                      </p:to>
                                    </p:set>
                                    <p:animEffect transition="in" filter="wipe(left)">
                                      <p:cBhvr>
                                        <p:cTn id="122" dur="500"/>
                                        <p:tgtEl>
                                          <p:spTgt spid="686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9" grpId="0"/>
      <p:bldP spid="68620" grpId="0"/>
      <p:bldP spid="68621" grpId="0"/>
      <p:bldP spid="68622" grpId="0"/>
      <p:bldP spid="68629" grpId="0"/>
      <p:bldP spid="68630" grpId="0"/>
      <p:bldP spid="68631" grpId="0"/>
      <p:bldP spid="68635" grpId="0"/>
      <p:bldP spid="68636" grpId="0"/>
      <p:bldP spid="68637" grpId="0"/>
      <p:bldP spid="68638" grpId="0"/>
      <p:bldP spid="30" grpId="0"/>
      <p:bldP spid="31" grpId="0" animBg="1"/>
      <p:bldP spid="3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46" name="Text Box 42">
            <a:extLst>
              <a:ext uri="{FF2B5EF4-FFF2-40B4-BE49-F238E27FC236}">
                <a16:creationId xmlns:a16="http://schemas.microsoft.com/office/drawing/2014/main" id="{67A92FBD-27E4-4D49-958F-4F8081707C6D}"/>
              </a:ext>
            </a:extLst>
          </p:cNvPr>
          <p:cNvSpPr txBox="1">
            <a:spLocks noChangeArrowheads="1"/>
          </p:cNvSpPr>
          <p:nvPr/>
        </p:nvSpPr>
        <p:spPr bwMode="auto">
          <a:xfrm>
            <a:off x="669852" y="1060233"/>
            <a:ext cx="5181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dirty="0">
                <a:solidFill>
                  <a:srgbClr val="FFFF00"/>
                </a:solidFill>
                <a:latin typeface="楷体_GB2312" pitchFamily="49" charset="-122"/>
                <a:ea typeface="楷体_GB2312" pitchFamily="49" charset="-122"/>
              </a:rPr>
              <a:t>四、讨论几个物理问题</a:t>
            </a:r>
          </a:p>
        </p:txBody>
      </p:sp>
      <p:sp>
        <p:nvSpPr>
          <p:cNvPr id="12291" name="灯片编号占位符 1">
            <a:extLst>
              <a:ext uri="{FF2B5EF4-FFF2-40B4-BE49-F238E27FC236}">
                <a16:creationId xmlns:a16="http://schemas.microsoft.com/office/drawing/2014/main" id="{C2753472-7ADE-45EC-B620-9E0F388E0879}"/>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AA83C21F-C1EF-4D17-9346-5A75880A3910}" type="slidenum">
              <a:rPr lang="en-US" altLang="zh-CN" b="0">
                <a:solidFill>
                  <a:srgbClr val="FF00FF"/>
                </a:solidFill>
              </a:rPr>
              <a:pPr eaLnBrk="1" hangingPunct="1"/>
              <a:t>19</a:t>
            </a:fld>
            <a:r>
              <a:rPr lang="en-US" altLang="zh-CN" b="0">
                <a:solidFill>
                  <a:srgbClr val="FF00FF"/>
                </a:solidFill>
              </a:rPr>
              <a:t>/22</a:t>
            </a:r>
          </a:p>
        </p:txBody>
      </p:sp>
      <p:sp>
        <p:nvSpPr>
          <p:cNvPr id="33" name="Rectangle 2">
            <a:extLst>
              <a:ext uri="{FF2B5EF4-FFF2-40B4-BE49-F238E27FC236}">
                <a16:creationId xmlns:a16="http://schemas.microsoft.com/office/drawing/2014/main" id="{5F43C7E8-90A1-404E-B0A6-47C4DC7D8E80}"/>
              </a:ext>
            </a:extLst>
          </p:cNvPr>
          <p:cNvSpPr>
            <a:spLocks noChangeArrowheads="1"/>
          </p:cNvSpPr>
          <p:nvPr/>
        </p:nvSpPr>
        <p:spPr bwMode="auto">
          <a:xfrm>
            <a:off x="755576" y="1673008"/>
            <a:ext cx="7872933" cy="493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dirty="0">
                <a:solidFill>
                  <a:srgbClr val="FFFF00"/>
                </a:solidFill>
                <a:ea typeface="黑体" panose="02010609060101010101" pitchFamily="49" charset="-122"/>
              </a:rPr>
              <a:t>1.   </a:t>
            </a:r>
            <a:r>
              <a:rPr lang="zh-CN" altLang="en-US" dirty="0">
                <a:solidFill>
                  <a:srgbClr val="FFFF00"/>
                </a:solidFill>
                <a:ea typeface="黑体" panose="02010609060101010101" pitchFamily="49" charset="-122"/>
              </a:rPr>
              <a:t>为什么康普顿效应中的电子不能像光电效应中的电子    </a:t>
            </a:r>
          </a:p>
        </p:txBody>
      </p:sp>
      <p:sp>
        <p:nvSpPr>
          <p:cNvPr id="42" name="Rectangle 14">
            <a:extLst>
              <a:ext uri="{FF2B5EF4-FFF2-40B4-BE49-F238E27FC236}">
                <a16:creationId xmlns:a16="http://schemas.microsoft.com/office/drawing/2014/main" id="{1E8526A4-804C-418A-80D2-12BF415CAF1A}"/>
              </a:ext>
            </a:extLst>
          </p:cNvPr>
          <p:cNvSpPr>
            <a:spLocks noChangeArrowheads="1"/>
          </p:cNvSpPr>
          <p:nvPr/>
        </p:nvSpPr>
        <p:spPr bwMode="auto">
          <a:xfrm>
            <a:off x="1241352" y="2250858"/>
            <a:ext cx="4516438"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a:solidFill>
                  <a:srgbClr val="FFFF00"/>
                </a:solidFill>
                <a:ea typeface="黑体" panose="02010609060101010101" pitchFamily="49" charset="-122"/>
              </a:rPr>
              <a:t>那样吸收光子，而是散射光子？</a:t>
            </a:r>
          </a:p>
        </p:txBody>
      </p:sp>
      <p:sp>
        <p:nvSpPr>
          <p:cNvPr id="16" name="Rectangle 2">
            <a:extLst>
              <a:ext uri="{FF2B5EF4-FFF2-40B4-BE49-F238E27FC236}">
                <a16:creationId xmlns:a16="http://schemas.microsoft.com/office/drawing/2014/main" id="{5A20ED12-21DD-45D6-8AD7-A2D0D3C8FC39}"/>
              </a:ext>
            </a:extLst>
          </p:cNvPr>
          <p:cNvSpPr>
            <a:spLocks noChangeArrowheads="1"/>
          </p:cNvSpPr>
          <p:nvPr/>
        </p:nvSpPr>
        <p:spPr bwMode="auto">
          <a:xfrm>
            <a:off x="755576" y="2953327"/>
            <a:ext cx="78295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solidFill>
                  <a:srgbClr val="FFFF00"/>
                </a:solidFill>
                <a:ea typeface="黑体" panose="02010609060101010101" pitchFamily="49" charset="-122"/>
              </a:rPr>
              <a:t>2.   </a:t>
            </a:r>
            <a:r>
              <a:rPr lang="zh-CN" altLang="en-US" dirty="0">
                <a:solidFill>
                  <a:srgbClr val="FFFF00"/>
                </a:solidFill>
                <a:ea typeface="黑体" panose="02010609060101010101" pitchFamily="49" charset="-122"/>
              </a:rPr>
              <a:t>为什么在光电效应中不考虑动量守恒？</a:t>
            </a:r>
          </a:p>
        </p:txBody>
      </p:sp>
      <p:sp>
        <p:nvSpPr>
          <p:cNvPr id="17" name="Rectangle 9">
            <a:extLst>
              <a:ext uri="{FF2B5EF4-FFF2-40B4-BE49-F238E27FC236}">
                <a16:creationId xmlns:a16="http://schemas.microsoft.com/office/drawing/2014/main" id="{2A21E36D-6486-4BCB-9B98-ED782FB9B8C4}"/>
              </a:ext>
            </a:extLst>
          </p:cNvPr>
          <p:cNvSpPr>
            <a:spLocks noChangeArrowheads="1"/>
          </p:cNvSpPr>
          <p:nvPr/>
        </p:nvSpPr>
        <p:spPr bwMode="auto">
          <a:xfrm>
            <a:off x="755576" y="3573016"/>
            <a:ext cx="8210550"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dirty="0">
                <a:solidFill>
                  <a:srgbClr val="FFFF00"/>
                </a:solidFill>
                <a:ea typeface="黑体" panose="02010609060101010101" pitchFamily="49" charset="-122"/>
              </a:rPr>
              <a:t>3.   </a:t>
            </a:r>
            <a:r>
              <a:rPr lang="zh-CN" altLang="en-US" dirty="0">
                <a:solidFill>
                  <a:srgbClr val="FFFF00"/>
                </a:solidFill>
                <a:ea typeface="黑体" panose="02010609060101010101" pitchFamily="49" charset="-122"/>
              </a:rPr>
              <a:t>为什么可见光观察不到康普顿效应？</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49546"/>
                                        </p:tgtEl>
                                        <p:attrNameLst>
                                          <p:attrName>style.visibility</p:attrName>
                                        </p:attrNameLst>
                                      </p:cBhvr>
                                      <p:to>
                                        <p:strVal val="visible"/>
                                      </p:to>
                                    </p:set>
                                    <p:animEffect transition="in" filter="blinds(horizontal)">
                                      <p:cBhvr>
                                        <p:cTn id="7" dur="500"/>
                                        <p:tgtEl>
                                          <p:spTgt spid="1495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wipe(left)">
                                      <p:cBhvr>
                                        <p:cTn id="12" dur="500"/>
                                        <p:tgtEl>
                                          <p:spTgt spid="33"/>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42"/>
                                        </p:tgtEl>
                                        <p:attrNameLst>
                                          <p:attrName>style.visibility</p:attrName>
                                        </p:attrNameLst>
                                      </p:cBhvr>
                                      <p:to>
                                        <p:strVal val="visible"/>
                                      </p:to>
                                    </p:set>
                                    <p:animEffect transition="in" filter="wipe(left)">
                                      <p:cBhvr>
                                        <p:cTn id="16" dur="500"/>
                                        <p:tgtEl>
                                          <p:spTgt spid="4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ipe(left)">
                                      <p:cBhvr>
                                        <p:cTn id="21" dur="500"/>
                                        <p:tgtEl>
                                          <p:spTgt spid="1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wipe(left)">
                                      <p:cBhvr>
                                        <p:cTn id="2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46" grpId="0" autoUpdateAnimBg="0"/>
      <p:bldP spid="33" grpId="0" autoUpdateAnimBg="0"/>
      <p:bldP spid="42" grpId="0" autoUpdateAnimBg="0"/>
      <p:bldP spid="16" grpId="0" autoUpdateAnimBg="0"/>
      <p:bldP spid="17"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46" name="Text Box 42">
            <a:extLst>
              <a:ext uri="{FF2B5EF4-FFF2-40B4-BE49-F238E27FC236}">
                <a16:creationId xmlns:a16="http://schemas.microsoft.com/office/drawing/2014/main" id="{67A92FBD-27E4-4D49-958F-4F8081707C6D}"/>
              </a:ext>
            </a:extLst>
          </p:cNvPr>
          <p:cNvSpPr txBox="1">
            <a:spLocks noChangeArrowheads="1"/>
          </p:cNvSpPr>
          <p:nvPr/>
        </p:nvSpPr>
        <p:spPr bwMode="auto">
          <a:xfrm>
            <a:off x="285750" y="261938"/>
            <a:ext cx="5181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dirty="0">
                <a:solidFill>
                  <a:srgbClr val="FFFF00"/>
                </a:solidFill>
                <a:latin typeface="楷体_GB2312" pitchFamily="49" charset="-122"/>
                <a:ea typeface="楷体_GB2312" pitchFamily="49" charset="-122"/>
              </a:rPr>
              <a:t>讨论几个物理问题</a:t>
            </a:r>
            <a:r>
              <a:rPr lang="en-US" altLang="zh-CN" sz="2800" dirty="0">
                <a:solidFill>
                  <a:srgbClr val="FFFF00"/>
                </a:solidFill>
                <a:latin typeface="楷体_GB2312" pitchFamily="49" charset="-122"/>
                <a:ea typeface="楷体_GB2312" pitchFamily="49" charset="-122"/>
              </a:rPr>
              <a:t>【</a:t>
            </a:r>
            <a:r>
              <a:rPr lang="zh-CN" altLang="en-US" sz="2800" dirty="0">
                <a:solidFill>
                  <a:srgbClr val="FFFF00"/>
                </a:solidFill>
                <a:latin typeface="楷体_GB2312" pitchFamily="49" charset="-122"/>
                <a:ea typeface="楷体_GB2312" pitchFamily="49" charset="-122"/>
              </a:rPr>
              <a:t>参考答案</a:t>
            </a:r>
            <a:r>
              <a:rPr lang="en-US" altLang="zh-CN" sz="2800" dirty="0">
                <a:solidFill>
                  <a:srgbClr val="FFFF00"/>
                </a:solidFill>
                <a:latin typeface="楷体_GB2312" pitchFamily="49" charset="-122"/>
                <a:ea typeface="楷体_GB2312" pitchFamily="49" charset="-122"/>
              </a:rPr>
              <a:t>】</a:t>
            </a:r>
            <a:endParaRPr lang="zh-CN" altLang="en-US" sz="2800" dirty="0">
              <a:solidFill>
                <a:srgbClr val="FFFF00"/>
              </a:solidFill>
              <a:latin typeface="楷体_GB2312" pitchFamily="49" charset="-122"/>
              <a:ea typeface="楷体_GB2312" pitchFamily="49" charset="-122"/>
            </a:endParaRPr>
          </a:p>
        </p:txBody>
      </p:sp>
      <p:sp>
        <p:nvSpPr>
          <p:cNvPr id="12291" name="灯片编号占位符 1">
            <a:extLst>
              <a:ext uri="{FF2B5EF4-FFF2-40B4-BE49-F238E27FC236}">
                <a16:creationId xmlns:a16="http://schemas.microsoft.com/office/drawing/2014/main" id="{C2753472-7ADE-45EC-B620-9E0F388E0879}"/>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AA83C21F-C1EF-4D17-9346-5A75880A3910}" type="slidenum">
              <a:rPr lang="en-US" altLang="zh-CN" b="0">
                <a:solidFill>
                  <a:srgbClr val="FF00FF"/>
                </a:solidFill>
              </a:rPr>
              <a:pPr eaLnBrk="1" hangingPunct="1"/>
              <a:t>20</a:t>
            </a:fld>
            <a:r>
              <a:rPr lang="en-US" altLang="zh-CN" b="0">
                <a:solidFill>
                  <a:srgbClr val="FF00FF"/>
                </a:solidFill>
              </a:rPr>
              <a:t>/22</a:t>
            </a:r>
          </a:p>
        </p:txBody>
      </p:sp>
      <p:sp>
        <p:nvSpPr>
          <p:cNvPr id="33" name="Rectangle 2">
            <a:extLst>
              <a:ext uri="{FF2B5EF4-FFF2-40B4-BE49-F238E27FC236}">
                <a16:creationId xmlns:a16="http://schemas.microsoft.com/office/drawing/2014/main" id="{5F43C7E8-90A1-404E-B0A6-47C4DC7D8E80}"/>
              </a:ext>
            </a:extLst>
          </p:cNvPr>
          <p:cNvSpPr>
            <a:spLocks noChangeArrowheads="1"/>
          </p:cNvSpPr>
          <p:nvPr/>
        </p:nvSpPr>
        <p:spPr bwMode="auto">
          <a:xfrm>
            <a:off x="371474" y="874713"/>
            <a:ext cx="7872933" cy="493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dirty="0">
                <a:solidFill>
                  <a:schemeClr val="accent1">
                    <a:lumMod val="60000"/>
                    <a:lumOff val="40000"/>
                  </a:schemeClr>
                </a:solidFill>
                <a:ea typeface="黑体" panose="02010609060101010101" pitchFamily="49" charset="-122"/>
              </a:rPr>
              <a:t>1.   </a:t>
            </a:r>
            <a:r>
              <a:rPr lang="zh-CN" altLang="en-US" dirty="0">
                <a:solidFill>
                  <a:schemeClr val="accent1">
                    <a:lumMod val="60000"/>
                    <a:lumOff val="40000"/>
                  </a:schemeClr>
                </a:solidFill>
                <a:ea typeface="黑体" panose="02010609060101010101" pitchFamily="49" charset="-122"/>
              </a:rPr>
              <a:t>为什么康普顿效应中的电子不能像光电效应中的电子    </a:t>
            </a:r>
          </a:p>
        </p:txBody>
      </p:sp>
      <p:sp>
        <p:nvSpPr>
          <p:cNvPr id="35" name="Text Box 5">
            <a:extLst>
              <a:ext uri="{FF2B5EF4-FFF2-40B4-BE49-F238E27FC236}">
                <a16:creationId xmlns:a16="http://schemas.microsoft.com/office/drawing/2014/main" id="{462510EE-FA48-4092-A4F6-1B0272BCDFFE}"/>
              </a:ext>
            </a:extLst>
          </p:cNvPr>
          <p:cNvSpPr txBox="1">
            <a:spLocks noChangeArrowheads="1"/>
          </p:cNvSpPr>
          <p:nvPr/>
        </p:nvSpPr>
        <p:spPr bwMode="auto">
          <a:xfrm>
            <a:off x="1120775" y="5848350"/>
            <a:ext cx="6951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0000"/>
                </a:solidFill>
                <a:ea typeface="黑体" panose="02010609060101010101" pitchFamily="49" charset="-122"/>
              </a:rPr>
              <a:t>自由电子不能吸收光子，只能散射光子。</a:t>
            </a:r>
            <a:endParaRPr lang="zh-CN" altLang="en-US" b="0">
              <a:solidFill>
                <a:srgbClr val="FF0000"/>
              </a:solidFill>
              <a:ea typeface="黑体" panose="02010609060101010101" pitchFamily="49" charset="-122"/>
            </a:endParaRPr>
          </a:p>
        </p:txBody>
      </p:sp>
      <p:graphicFrame>
        <p:nvGraphicFramePr>
          <p:cNvPr id="36" name="Object 11">
            <a:extLst>
              <a:ext uri="{FF2B5EF4-FFF2-40B4-BE49-F238E27FC236}">
                <a16:creationId xmlns:a16="http://schemas.microsoft.com/office/drawing/2014/main" id="{170B62EB-0BF9-4CA7-823C-8294738D1A1D}"/>
              </a:ext>
            </a:extLst>
          </p:cNvPr>
          <p:cNvGraphicFramePr>
            <a:graphicFrameLocks noChangeAspect="1"/>
          </p:cNvGraphicFramePr>
          <p:nvPr/>
        </p:nvGraphicFramePr>
        <p:xfrm>
          <a:off x="6423025" y="3657600"/>
          <a:ext cx="1435100" cy="1162050"/>
        </p:xfrm>
        <a:graphic>
          <a:graphicData uri="http://schemas.openxmlformats.org/presentationml/2006/ole">
            <mc:AlternateContent xmlns:mc="http://schemas.openxmlformats.org/markup-compatibility/2006">
              <mc:Choice xmlns:v="urn:schemas-microsoft-com:vml" Requires="v">
                <p:oleObj spid="_x0000_s473120" name="公式" r:id="rId3" imgW="622030" imgH="444307" progId="Equation.3">
                  <p:embed/>
                </p:oleObj>
              </mc:Choice>
              <mc:Fallback>
                <p:oleObj name="公式" r:id="rId3" imgW="622030" imgH="444307" progId="Equation.3">
                  <p:embed/>
                  <p:pic>
                    <p:nvPicPr>
                      <p:cNvPr id="36" name="Object 11">
                        <a:extLst>
                          <a:ext uri="{FF2B5EF4-FFF2-40B4-BE49-F238E27FC236}">
                            <a16:creationId xmlns:a16="http://schemas.microsoft.com/office/drawing/2014/main" id="{170B62EB-0BF9-4CA7-823C-8294738D1A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23025" y="3657600"/>
                        <a:ext cx="1435100" cy="11620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 name="Object 12">
            <a:extLst>
              <a:ext uri="{FF2B5EF4-FFF2-40B4-BE49-F238E27FC236}">
                <a16:creationId xmlns:a16="http://schemas.microsoft.com/office/drawing/2014/main" id="{4D243851-63EE-4BFD-9418-53BF5834DF48}"/>
              </a:ext>
            </a:extLst>
          </p:cNvPr>
          <p:cNvGraphicFramePr>
            <a:graphicFrameLocks noChangeAspect="1"/>
          </p:cNvGraphicFramePr>
          <p:nvPr/>
        </p:nvGraphicFramePr>
        <p:xfrm>
          <a:off x="1227138" y="2825750"/>
          <a:ext cx="2855912" cy="609600"/>
        </p:xfrm>
        <a:graphic>
          <a:graphicData uri="http://schemas.openxmlformats.org/presentationml/2006/ole">
            <mc:AlternateContent xmlns:mc="http://schemas.openxmlformats.org/markup-compatibility/2006">
              <mc:Choice xmlns:v="urn:schemas-microsoft-com:vml" Requires="v">
                <p:oleObj spid="_x0000_s473121" name="公式" r:id="rId5" imgW="1180588" imgH="253890" progId="Equation.3">
                  <p:embed/>
                </p:oleObj>
              </mc:Choice>
              <mc:Fallback>
                <p:oleObj name="公式" r:id="rId5" imgW="1180588" imgH="253890" progId="Equation.3">
                  <p:embed/>
                  <p:pic>
                    <p:nvPicPr>
                      <p:cNvPr id="37" name="Object 12">
                        <a:extLst>
                          <a:ext uri="{FF2B5EF4-FFF2-40B4-BE49-F238E27FC236}">
                            <a16:creationId xmlns:a16="http://schemas.microsoft.com/office/drawing/2014/main" id="{4D243851-63EE-4BFD-9418-53BF5834DF4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27138" y="2825750"/>
                        <a:ext cx="2855912" cy="60960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 name="Object 13">
            <a:extLst>
              <a:ext uri="{FF2B5EF4-FFF2-40B4-BE49-F238E27FC236}">
                <a16:creationId xmlns:a16="http://schemas.microsoft.com/office/drawing/2014/main" id="{4127B119-2B69-4E8A-BB8E-9BFB6687FF55}"/>
              </a:ext>
            </a:extLst>
          </p:cNvPr>
          <p:cNvGraphicFramePr>
            <a:graphicFrameLocks noChangeAspect="1"/>
          </p:cNvGraphicFramePr>
          <p:nvPr/>
        </p:nvGraphicFramePr>
        <p:xfrm>
          <a:off x="1227138" y="3422650"/>
          <a:ext cx="2844800" cy="976313"/>
        </p:xfrm>
        <a:graphic>
          <a:graphicData uri="http://schemas.openxmlformats.org/presentationml/2006/ole">
            <mc:AlternateContent xmlns:mc="http://schemas.openxmlformats.org/markup-compatibility/2006">
              <mc:Choice xmlns:v="urn:schemas-microsoft-com:vml" Requires="v">
                <p:oleObj spid="_x0000_s473122" name="公式" r:id="rId7" imgW="964781" imgH="406224" progId="Equation.3">
                  <p:embed/>
                </p:oleObj>
              </mc:Choice>
              <mc:Fallback>
                <p:oleObj name="公式" r:id="rId7" imgW="964781" imgH="406224" progId="Equation.3">
                  <p:embed/>
                  <p:pic>
                    <p:nvPicPr>
                      <p:cNvPr id="38" name="Object 13">
                        <a:extLst>
                          <a:ext uri="{FF2B5EF4-FFF2-40B4-BE49-F238E27FC236}">
                            <a16:creationId xmlns:a16="http://schemas.microsoft.com/office/drawing/2014/main" id="{4127B119-2B69-4E8A-BB8E-9BFB6687FF5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27138" y="3422650"/>
                        <a:ext cx="2844800" cy="976313"/>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 name="Object 14">
            <a:extLst>
              <a:ext uri="{FF2B5EF4-FFF2-40B4-BE49-F238E27FC236}">
                <a16:creationId xmlns:a16="http://schemas.microsoft.com/office/drawing/2014/main" id="{26C8564F-6D60-4D59-8570-168EF80664EB}"/>
              </a:ext>
            </a:extLst>
          </p:cNvPr>
          <p:cNvGraphicFramePr>
            <a:graphicFrameLocks noChangeAspect="1"/>
          </p:cNvGraphicFramePr>
          <p:nvPr/>
        </p:nvGraphicFramePr>
        <p:xfrm>
          <a:off x="1231900" y="4351338"/>
          <a:ext cx="2840038" cy="687387"/>
        </p:xfrm>
        <a:graphic>
          <a:graphicData uri="http://schemas.openxmlformats.org/presentationml/2006/ole">
            <mc:AlternateContent xmlns:mc="http://schemas.openxmlformats.org/markup-compatibility/2006">
              <mc:Choice xmlns:v="urn:schemas-microsoft-com:vml" Requires="v">
                <p:oleObj spid="_x0000_s473123" name="公式" r:id="rId9" imgW="1333500" imgH="292100" progId="Equation.3">
                  <p:embed/>
                </p:oleObj>
              </mc:Choice>
              <mc:Fallback>
                <p:oleObj name="公式" r:id="rId9" imgW="1333500" imgH="292100" progId="Equation.3">
                  <p:embed/>
                  <p:pic>
                    <p:nvPicPr>
                      <p:cNvPr id="39" name="Object 14">
                        <a:extLst>
                          <a:ext uri="{FF2B5EF4-FFF2-40B4-BE49-F238E27FC236}">
                            <a16:creationId xmlns:a16="http://schemas.microsoft.com/office/drawing/2014/main" id="{26C8564F-6D60-4D59-8570-168EF80664E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31900" y="4351338"/>
                        <a:ext cx="2840038" cy="687387"/>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 name="Object 15">
            <a:extLst>
              <a:ext uri="{FF2B5EF4-FFF2-40B4-BE49-F238E27FC236}">
                <a16:creationId xmlns:a16="http://schemas.microsoft.com/office/drawing/2014/main" id="{D491BF1E-6A2D-4D53-AFE7-BEE3B1096553}"/>
              </a:ext>
            </a:extLst>
          </p:cNvPr>
          <p:cNvGraphicFramePr>
            <a:graphicFrameLocks noChangeAspect="1"/>
          </p:cNvGraphicFramePr>
          <p:nvPr/>
        </p:nvGraphicFramePr>
        <p:xfrm>
          <a:off x="4335463" y="3338513"/>
          <a:ext cx="2065337" cy="1504950"/>
        </p:xfrm>
        <a:graphic>
          <a:graphicData uri="http://schemas.openxmlformats.org/presentationml/2006/ole">
            <mc:AlternateContent xmlns:mc="http://schemas.openxmlformats.org/markup-compatibility/2006">
              <mc:Choice xmlns:v="urn:schemas-microsoft-com:vml" Requires="v">
                <p:oleObj spid="_x0000_s473124" name="公式" r:id="rId11" imgW="1028700" imgH="660400" progId="Equation.3">
                  <p:embed/>
                </p:oleObj>
              </mc:Choice>
              <mc:Fallback>
                <p:oleObj name="公式" r:id="rId11" imgW="1028700" imgH="660400" progId="Equation.3">
                  <p:embed/>
                  <p:pic>
                    <p:nvPicPr>
                      <p:cNvPr id="40" name="Object 15">
                        <a:extLst>
                          <a:ext uri="{FF2B5EF4-FFF2-40B4-BE49-F238E27FC236}">
                            <a16:creationId xmlns:a16="http://schemas.microsoft.com/office/drawing/2014/main" id="{D491BF1E-6A2D-4D53-AFE7-BEE3B109655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35463" y="3338513"/>
                        <a:ext cx="2065337" cy="15049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 name="AutoShape 13">
            <a:extLst>
              <a:ext uri="{FF2B5EF4-FFF2-40B4-BE49-F238E27FC236}">
                <a16:creationId xmlns:a16="http://schemas.microsoft.com/office/drawing/2014/main" id="{2DA3AF12-6A20-4E36-8EE2-79AFCADCF45F}"/>
              </a:ext>
            </a:extLst>
          </p:cNvPr>
          <p:cNvSpPr>
            <a:spLocks/>
          </p:cNvSpPr>
          <p:nvPr/>
        </p:nvSpPr>
        <p:spPr bwMode="auto">
          <a:xfrm>
            <a:off x="4110038" y="3143250"/>
            <a:ext cx="114300" cy="1543050"/>
          </a:xfrm>
          <a:prstGeom prst="rightBrace">
            <a:avLst>
              <a:gd name="adj1" fmla="val 112500"/>
              <a:gd name="adj2" fmla="val 50000"/>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42" name="Rectangle 14">
            <a:extLst>
              <a:ext uri="{FF2B5EF4-FFF2-40B4-BE49-F238E27FC236}">
                <a16:creationId xmlns:a16="http://schemas.microsoft.com/office/drawing/2014/main" id="{1E8526A4-804C-418A-80D2-12BF415CAF1A}"/>
              </a:ext>
            </a:extLst>
          </p:cNvPr>
          <p:cNvSpPr>
            <a:spLocks noChangeArrowheads="1"/>
          </p:cNvSpPr>
          <p:nvPr/>
        </p:nvSpPr>
        <p:spPr bwMode="auto">
          <a:xfrm>
            <a:off x="857250" y="1452563"/>
            <a:ext cx="4515980" cy="493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a:solidFill>
                  <a:schemeClr val="accent1">
                    <a:lumMod val="60000"/>
                    <a:lumOff val="40000"/>
                  </a:schemeClr>
                </a:solidFill>
                <a:ea typeface="黑体" panose="02010609060101010101" pitchFamily="49" charset="-122"/>
              </a:rPr>
              <a:t>那样吸收光子，而是散射光子？</a:t>
            </a:r>
          </a:p>
        </p:txBody>
      </p:sp>
      <p:sp>
        <p:nvSpPr>
          <p:cNvPr id="43" name="Rectangle 15">
            <a:extLst>
              <a:ext uri="{FF2B5EF4-FFF2-40B4-BE49-F238E27FC236}">
                <a16:creationId xmlns:a16="http://schemas.microsoft.com/office/drawing/2014/main" id="{964D6803-4241-4D25-84E7-830B9AB70FA8}"/>
              </a:ext>
            </a:extLst>
          </p:cNvPr>
          <p:cNvSpPr>
            <a:spLocks noChangeArrowheads="1"/>
          </p:cNvSpPr>
          <p:nvPr/>
        </p:nvSpPr>
        <p:spPr bwMode="auto">
          <a:xfrm>
            <a:off x="1104900" y="5191125"/>
            <a:ext cx="5753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chemeClr val="bg1"/>
                </a:solidFill>
                <a:ea typeface="黑体" panose="02010609060101010101" pitchFamily="49" charset="-122"/>
              </a:rPr>
              <a:t>上述过程不能同时满足能量、动量守恒。</a:t>
            </a:r>
          </a:p>
        </p:txBody>
      </p:sp>
      <p:sp>
        <p:nvSpPr>
          <p:cNvPr id="44" name="Text Box 1058">
            <a:extLst>
              <a:ext uri="{FF2B5EF4-FFF2-40B4-BE49-F238E27FC236}">
                <a16:creationId xmlns:a16="http://schemas.microsoft.com/office/drawing/2014/main" id="{9C2DF648-C234-4ADA-87FD-AC027A521E4A}"/>
              </a:ext>
            </a:extLst>
          </p:cNvPr>
          <p:cNvSpPr txBox="1">
            <a:spLocks noChangeArrowheads="1"/>
          </p:cNvSpPr>
          <p:nvPr/>
        </p:nvSpPr>
        <p:spPr bwMode="auto">
          <a:xfrm>
            <a:off x="1169988" y="2178050"/>
            <a:ext cx="65547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chemeClr val="bg1"/>
                </a:solidFill>
                <a:ea typeface="黑体" panose="02010609060101010101" pitchFamily="49" charset="-122"/>
              </a:rPr>
              <a:t>假设自由电子能吸收光子，则有</a:t>
            </a:r>
          </a:p>
        </p:txBody>
      </p:sp>
      <p:sp>
        <p:nvSpPr>
          <p:cNvPr id="34" name="Rectangle 4">
            <a:extLst>
              <a:ext uri="{FF2B5EF4-FFF2-40B4-BE49-F238E27FC236}">
                <a16:creationId xmlns:a16="http://schemas.microsoft.com/office/drawing/2014/main" id="{09E0DF8D-D445-486F-9448-3951EF190788}"/>
              </a:ext>
            </a:extLst>
          </p:cNvPr>
          <p:cNvSpPr>
            <a:spLocks noChangeArrowheads="1"/>
          </p:cNvSpPr>
          <p:nvPr/>
        </p:nvSpPr>
        <p:spPr bwMode="auto">
          <a:xfrm>
            <a:off x="5929313" y="4429125"/>
            <a:ext cx="2557462" cy="48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2700" tIns="12700" rIns="12700" bIns="12700"/>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a:solidFill>
                  <a:srgbClr val="FF3300"/>
                </a:solidFill>
                <a:ea typeface="黑体" panose="02010609060101010101" pitchFamily="49" charset="-122"/>
              </a:rPr>
              <a:t>违反相对论！</a:t>
            </a:r>
          </a:p>
        </p:txBody>
      </p:sp>
    </p:spTree>
    <p:extLst>
      <p:ext uri="{BB962C8B-B14F-4D97-AF65-F5344CB8AC3E}">
        <p14:creationId xmlns:p14="http://schemas.microsoft.com/office/powerpoint/2010/main" val="31078982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49546"/>
                                        </p:tgtEl>
                                        <p:attrNameLst>
                                          <p:attrName>style.visibility</p:attrName>
                                        </p:attrNameLst>
                                      </p:cBhvr>
                                      <p:to>
                                        <p:strVal val="visible"/>
                                      </p:to>
                                    </p:set>
                                    <p:animEffect transition="in" filter="blinds(horizontal)">
                                      <p:cBhvr>
                                        <p:cTn id="7" dur="500"/>
                                        <p:tgtEl>
                                          <p:spTgt spid="1495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wipe(left)">
                                      <p:cBhvr>
                                        <p:cTn id="12" dur="500"/>
                                        <p:tgtEl>
                                          <p:spTgt spid="33"/>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42"/>
                                        </p:tgtEl>
                                        <p:attrNameLst>
                                          <p:attrName>style.visibility</p:attrName>
                                        </p:attrNameLst>
                                      </p:cBhvr>
                                      <p:to>
                                        <p:strVal val="visible"/>
                                      </p:to>
                                    </p:set>
                                    <p:animEffect transition="in" filter="wipe(left)">
                                      <p:cBhvr>
                                        <p:cTn id="16" dur="500"/>
                                        <p:tgtEl>
                                          <p:spTgt spid="4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44"/>
                                        </p:tgtEl>
                                        <p:attrNameLst>
                                          <p:attrName>style.visibility</p:attrName>
                                        </p:attrNameLst>
                                      </p:cBhvr>
                                      <p:to>
                                        <p:strVal val="visible"/>
                                      </p:to>
                                    </p:set>
                                    <p:animEffect transition="in" filter="wipe(left)">
                                      <p:cBhvr>
                                        <p:cTn id="21" dur="500"/>
                                        <p:tgtEl>
                                          <p:spTgt spid="4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wipe(left)">
                                      <p:cBhvr>
                                        <p:cTn id="26" dur="500"/>
                                        <p:tgtEl>
                                          <p:spTgt spid="3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wipe(left)">
                                      <p:cBhvr>
                                        <p:cTn id="31" dur="500"/>
                                        <p:tgtEl>
                                          <p:spTgt spid="38"/>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39"/>
                                        </p:tgtEl>
                                        <p:attrNameLst>
                                          <p:attrName>style.visibility</p:attrName>
                                        </p:attrNameLst>
                                      </p:cBhvr>
                                      <p:to>
                                        <p:strVal val="visible"/>
                                      </p:to>
                                    </p:set>
                                    <p:animEffect transition="in" filter="wipe(left)">
                                      <p:cBhvr>
                                        <p:cTn id="36" dur="500"/>
                                        <p:tgtEl>
                                          <p:spTgt spid="39"/>
                                        </p:tgtEl>
                                      </p:cBhvr>
                                    </p:animEffect>
                                  </p:childTnLst>
                                </p:cTn>
                              </p:par>
                            </p:childTnLst>
                          </p:cTn>
                        </p:par>
                        <p:par>
                          <p:cTn id="37" fill="hold" nodeType="afterGroup">
                            <p:stCondLst>
                              <p:cond delay="500"/>
                            </p:stCondLst>
                            <p:childTnLst>
                              <p:par>
                                <p:cTn id="38" presetID="22" presetClass="entr" presetSubtype="1" fill="hold" grpId="0" nodeType="afterEffect">
                                  <p:stCondLst>
                                    <p:cond delay="0"/>
                                  </p:stCondLst>
                                  <p:childTnLst>
                                    <p:set>
                                      <p:cBhvr>
                                        <p:cTn id="39" dur="1" fill="hold">
                                          <p:stCondLst>
                                            <p:cond delay="0"/>
                                          </p:stCondLst>
                                        </p:cTn>
                                        <p:tgtEl>
                                          <p:spTgt spid="41"/>
                                        </p:tgtEl>
                                        <p:attrNameLst>
                                          <p:attrName>style.visibility</p:attrName>
                                        </p:attrNameLst>
                                      </p:cBhvr>
                                      <p:to>
                                        <p:strVal val="visible"/>
                                      </p:to>
                                    </p:set>
                                    <p:animEffect transition="in" filter="wipe(up)">
                                      <p:cBhvr>
                                        <p:cTn id="40" dur="500"/>
                                        <p:tgtEl>
                                          <p:spTgt spid="41"/>
                                        </p:tgtEl>
                                      </p:cBhvr>
                                    </p:animEffect>
                                  </p:childTnLst>
                                </p:cTn>
                              </p:par>
                            </p:childTnLst>
                          </p:cTn>
                        </p:par>
                        <p:par>
                          <p:cTn id="41" fill="hold" nodeType="afterGroup">
                            <p:stCondLst>
                              <p:cond delay="1000"/>
                            </p:stCondLst>
                            <p:childTnLst>
                              <p:par>
                                <p:cTn id="42" presetID="22" presetClass="entr" presetSubtype="8" fill="hold" nodeType="afterEffect">
                                  <p:stCondLst>
                                    <p:cond delay="0"/>
                                  </p:stCondLst>
                                  <p:childTnLst>
                                    <p:set>
                                      <p:cBhvr>
                                        <p:cTn id="43" dur="1" fill="hold">
                                          <p:stCondLst>
                                            <p:cond delay="0"/>
                                          </p:stCondLst>
                                        </p:cTn>
                                        <p:tgtEl>
                                          <p:spTgt spid="40"/>
                                        </p:tgtEl>
                                        <p:attrNameLst>
                                          <p:attrName>style.visibility</p:attrName>
                                        </p:attrNameLst>
                                      </p:cBhvr>
                                      <p:to>
                                        <p:strVal val="visible"/>
                                      </p:to>
                                    </p:set>
                                    <p:animEffect transition="in" filter="wipe(left)">
                                      <p:cBhvr>
                                        <p:cTn id="44" dur="500"/>
                                        <p:tgtEl>
                                          <p:spTgt spid="40"/>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36"/>
                                        </p:tgtEl>
                                        <p:attrNameLst>
                                          <p:attrName>style.visibility</p:attrName>
                                        </p:attrNameLst>
                                      </p:cBhvr>
                                      <p:to>
                                        <p:strVal val="visible"/>
                                      </p:to>
                                    </p:set>
                                    <p:animEffect transition="in" filter="wipe(left)">
                                      <p:cBhvr>
                                        <p:cTn id="49" dur="500"/>
                                        <p:tgtEl>
                                          <p:spTgt spid="36"/>
                                        </p:tgtEl>
                                      </p:cBhvr>
                                    </p:animEffect>
                                  </p:childTnLst>
                                </p:cTn>
                              </p:par>
                            </p:childTnLst>
                          </p:cTn>
                        </p:par>
                        <p:par>
                          <p:cTn id="50" fill="hold" nodeType="afterGroup">
                            <p:stCondLst>
                              <p:cond delay="500"/>
                            </p:stCondLst>
                            <p:childTnLst>
                              <p:par>
                                <p:cTn id="51" presetID="22" presetClass="entr" presetSubtype="8" fill="hold" grpId="0" nodeType="after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wipe(left)">
                                      <p:cBhvr>
                                        <p:cTn id="53" dur="500"/>
                                        <p:tgtEl>
                                          <p:spTgt spid="34"/>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43"/>
                                        </p:tgtEl>
                                        <p:attrNameLst>
                                          <p:attrName>style.visibility</p:attrName>
                                        </p:attrNameLst>
                                      </p:cBhvr>
                                      <p:to>
                                        <p:strVal val="visible"/>
                                      </p:to>
                                    </p:set>
                                    <p:animEffect transition="in" filter="wipe(left)">
                                      <p:cBhvr>
                                        <p:cTn id="58" dur="500"/>
                                        <p:tgtEl>
                                          <p:spTgt spid="43"/>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35"/>
                                        </p:tgtEl>
                                        <p:attrNameLst>
                                          <p:attrName>style.visibility</p:attrName>
                                        </p:attrNameLst>
                                      </p:cBhvr>
                                      <p:to>
                                        <p:strVal val="visible"/>
                                      </p:to>
                                    </p:set>
                                    <p:animEffect transition="in" filter="wipe(left)">
                                      <p:cBhvr>
                                        <p:cTn id="63"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46" grpId="0" autoUpdateAnimBg="0"/>
      <p:bldP spid="33" grpId="0" autoUpdateAnimBg="0"/>
      <p:bldP spid="35" grpId="0" autoUpdateAnimBg="0"/>
      <p:bldP spid="41" grpId="0" animBg="1"/>
      <p:bldP spid="42" grpId="0" autoUpdateAnimBg="0"/>
      <p:bldP spid="43" grpId="0" autoUpdateAnimBg="0"/>
      <p:bldP spid="44" grpId="0" autoUpdateAnimBg="0"/>
      <p:bldP spid="34"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74321AAF-CE7C-47F9-BF0D-8B64D2BBD6F6}"/>
              </a:ext>
            </a:extLst>
          </p:cNvPr>
          <p:cNvSpPr>
            <a:spLocks noChangeArrowheads="1"/>
          </p:cNvSpPr>
          <p:nvPr/>
        </p:nvSpPr>
        <p:spPr bwMode="auto">
          <a:xfrm>
            <a:off x="730126" y="493713"/>
            <a:ext cx="78295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solidFill>
                  <a:schemeClr val="accent1">
                    <a:lumMod val="60000"/>
                    <a:lumOff val="40000"/>
                  </a:schemeClr>
                </a:solidFill>
                <a:ea typeface="黑体" panose="02010609060101010101" pitchFamily="49" charset="-122"/>
              </a:rPr>
              <a:t>2.   </a:t>
            </a:r>
            <a:r>
              <a:rPr lang="zh-CN" altLang="en-US" dirty="0">
                <a:solidFill>
                  <a:schemeClr val="accent1">
                    <a:lumMod val="60000"/>
                    <a:lumOff val="40000"/>
                  </a:schemeClr>
                </a:solidFill>
                <a:ea typeface="黑体" panose="02010609060101010101" pitchFamily="49" charset="-122"/>
              </a:rPr>
              <a:t>为什么在光电效应中不考虑动量守恒？</a:t>
            </a:r>
          </a:p>
        </p:txBody>
      </p:sp>
      <p:sp>
        <p:nvSpPr>
          <p:cNvPr id="3" name="Text Box 3">
            <a:extLst>
              <a:ext uri="{FF2B5EF4-FFF2-40B4-BE49-F238E27FC236}">
                <a16:creationId xmlns:a16="http://schemas.microsoft.com/office/drawing/2014/main" id="{50EF1401-374C-4ADF-863E-2C0BE6AB2845}"/>
              </a:ext>
            </a:extLst>
          </p:cNvPr>
          <p:cNvSpPr txBox="1">
            <a:spLocks noChangeArrowheads="1"/>
          </p:cNvSpPr>
          <p:nvPr/>
        </p:nvSpPr>
        <p:spPr bwMode="auto">
          <a:xfrm>
            <a:off x="1203201" y="3703638"/>
            <a:ext cx="7134225"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dirty="0">
                <a:solidFill>
                  <a:schemeClr val="bg1"/>
                </a:solidFill>
                <a:ea typeface="黑体" panose="02010609060101010101" pitchFamily="49" charset="-122"/>
              </a:rPr>
              <a:t>∴ </a:t>
            </a:r>
            <a:r>
              <a:rPr lang="zh-CN" altLang="en-US" dirty="0">
                <a:solidFill>
                  <a:schemeClr val="bg1"/>
                </a:solidFill>
                <a:ea typeface="黑体" panose="02010609060101010101" pitchFamily="49" charset="-122"/>
              </a:rPr>
              <a:t>光子 </a:t>
            </a:r>
            <a:r>
              <a:rPr lang="zh-CN" altLang="en-US" dirty="0">
                <a:solidFill>
                  <a:schemeClr val="bg1"/>
                </a:solidFill>
                <a:ea typeface="黑体" panose="02010609060101010101" pitchFamily="49" charset="-122"/>
                <a:sym typeface="Symbol" panose="05050102010706020507" pitchFamily="18" charset="2"/>
              </a:rPr>
              <a:t> </a:t>
            </a:r>
            <a:r>
              <a:rPr lang="zh-CN" altLang="en-US" dirty="0">
                <a:solidFill>
                  <a:schemeClr val="bg1"/>
                </a:solidFill>
                <a:ea typeface="黑体" panose="02010609060101010101" pitchFamily="49" charset="-122"/>
              </a:rPr>
              <a:t>电子系统仍可认为能量是守恒的。</a:t>
            </a:r>
          </a:p>
        </p:txBody>
      </p:sp>
      <p:sp>
        <p:nvSpPr>
          <p:cNvPr id="4" name="Rectangle 4">
            <a:extLst>
              <a:ext uri="{FF2B5EF4-FFF2-40B4-BE49-F238E27FC236}">
                <a16:creationId xmlns:a16="http://schemas.microsoft.com/office/drawing/2014/main" id="{F66C409C-1AEA-4238-BB87-E53577C914AF}"/>
              </a:ext>
            </a:extLst>
          </p:cNvPr>
          <p:cNvSpPr>
            <a:spLocks noChangeArrowheads="1"/>
          </p:cNvSpPr>
          <p:nvPr/>
        </p:nvSpPr>
        <p:spPr bwMode="auto">
          <a:xfrm>
            <a:off x="1862013" y="1123950"/>
            <a:ext cx="69754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bg1"/>
                </a:solidFill>
                <a:ea typeface="黑体" panose="02010609060101010101" pitchFamily="49" charset="-122"/>
              </a:rPr>
              <a:t>在光电效应中，入射光是可见光和紫外线，</a:t>
            </a:r>
          </a:p>
        </p:txBody>
      </p:sp>
      <p:sp>
        <p:nvSpPr>
          <p:cNvPr id="5" name="Rectangle 5">
            <a:extLst>
              <a:ext uri="{FF2B5EF4-FFF2-40B4-BE49-F238E27FC236}">
                <a16:creationId xmlns:a16="http://schemas.microsoft.com/office/drawing/2014/main" id="{63F374D7-4FC0-43A5-B691-7088FD4726E1}"/>
              </a:ext>
            </a:extLst>
          </p:cNvPr>
          <p:cNvSpPr>
            <a:spLocks noChangeArrowheads="1"/>
          </p:cNvSpPr>
          <p:nvPr/>
        </p:nvSpPr>
        <p:spPr bwMode="auto">
          <a:xfrm>
            <a:off x="1177801" y="1738313"/>
            <a:ext cx="70167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bg1"/>
                </a:solidFill>
                <a:ea typeface="黑体" panose="02010609060101010101" pitchFamily="49" charset="-122"/>
              </a:rPr>
              <a:t>光子能量低，电子与整个原子的联系不能忽略，</a:t>
            </a:r>
          </a:p>
        </p:txBody>
      </p:sp>
      <p:sp>
        <p:nvSpPr>
          <p:cNvPr id="6" name="Rectangle 6">
            <a:extLst>
              <a:ext uri="{FF2B5EF4-FFF2-40B4-BE49-F238E27FC236}">
                <a16:creationId xmlns:a16="http://schemas.microsoft.com/office/drawing/2014/main" id="{9CA0033D-36A5-4540-A0B3-28B16085634E}"/>
              </a:ext>
            </a:extLst>
          </p:cNvPr>
          <p:cNvSpPr>
            <a:spLocks noChangeArrowheads="1"/>
          </p:cNvSpPr>
          <p:nvPr/>
        </p:nvSpPr>
        <p:spPr bwMode="auto">
          <a:xfrm>
            <a:off x="1196851" y="2433638"/>
            <a:ext cx="72834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rgbClr val="FF3300"/>
                </a:solidFill>
                <a:ea typeface="黑体" panose="02010609060101010101" pitchFamily="49" charset="-122"/>
              </a:rPr>
              <a:t>原子也要参与动量交换， 光子 </a:t>
            </a:r>
            <a:r>
              <a:rPr lang="zh-CN" altLang="en-US" dirty="0">
                <a:solidFill>
                  <a:srgbClr val="FF3300"/>
                </a:solidFill>
                <a:ea typeface="黑体" panose="02010609060101010101" pitchFamily="49" charset="-122"/>
                <a:sym typeface="Symbol" panose="05050102010706020507" pitchFamily="18" charset="2"/>
              </a:rPr>
              <a:t> </a:t>
            </a:r>
            <a:r>
              <a:rPr lang="zh-CN" altLang="en-US" dirty="0">
                <a:solidFill>
                  <a:srgbClr val="FF3300"/>
                </a:solidFill>
                <a:ea typeface="黑体" panose="02010609060101010101" pitchFamily="49" charset="-122"/>
              </a:rPr>
              <a:t>电子系统动量</a:t>
            </a:r>
          </a:p>
        </p:txBody>
      </p:sp>
      <p:sp>
        <p:nvSpPr>
          <p:cNvPr id="7" name="Rectangle 7">
            <a:extLst>
              <a:ext uri="{FF2B5EF4-FFF2-40B4-BE49-F238E27FC236}">
                <a16:creationId xmlns:a16="http://schemas.microsoft.com/office/drawing/2014/main" id="{4AA11BAB-7A68-4597-B4E0-BD6EBE93B167}"/>
              </a:ext>
            </a:extLst>
          </p:cNvPr>
          <p:cNvSpPr>
            <a:spLocks noChangeArrowheads="1"/>
          </p:cNvSpPr>
          <p:nvPr/>
        </p:nvSpPr>
        <p:spPr bwMode="auto">
          <a:xfrm>
            <a:off x="1193676" y="3106738"/>
            <a:ext cx="29686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rgbClr val="FF3300"/>
                </a:solidFill>
                <a:ea typeface="黑体" panose="02010609060101010101" pitchFamily="49" charset="-122"/>
              </a:rPr>
              <a:t>不守恒。</a:t>
            </a:r>
          </a:p>
        </p:txBody>
      </p:sp>
      <p:sp>
        <p:nvSpPr>
          <p:cNvPr id="8" name="Rectangle 8">
            <a:extLst>
              <a:ext uri="{FF2B5EF4-FFF2-40B4-BE49-F238E27FC236}">
                <a16:creationId xmlns:a16="http://schemas.microsoft.com/office/drawing/2014/main" id="{F91710FB-5683-46F6-9C9E-F6BA438EC258}"/>
              </a:ext>
            </a:extLst>
          </p:cNvPr>
          <p:cNvSpPr>
            <a:spLocks noChangeArrowheads="1"/>
          </p:cNvSpPr>
          <p:nvPr/>
        </p:nvSpPr>
        <p:spPr bwMode="auto">
          <a:xfrm>
            <a:off x="2730376" y="3116263"/>
            <a:ext cx="55356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ea typeface="黑体" panose="02010609060101010101" pitchFamily="49" charset="-122"/>
              </a:rPr>
              <a:t>但原子质量较大，能量交换可忽略，</a:t>
            </a:r>
          </a:p>
        </p:txBody>
      </p:sp>
      <p:sp>
        <p:nvSpPr>
          <p:cNvPr id="9" name="Rectangle 9">
            <a:extLst>
              <a:ext uri="{FF2B5EF4-FFF2-40B4-BE49-F238E27FC236}">
                <a16:creationId xmlns:a16="http://schemas.microsoft.com/office/drawing/2014/main" id="{157BCC76-D236-494B-8AE3-28193B4D7768}"/>
              </a:ext>
            </a:extLst>
          </p:cNvPr>
          <p:cNvSpPr>
            <a:spLocks noChangeArrowheads="1"/>
          </p:cNvSpPr>
          <p:nvPr/>
        </p:nvSpPr>
        <p:spPr bwMode="auto">
          <a:xfrm>
            <a:off x="753938" y="4359275"/>
            <a:ext cx="8210550" cy="493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a:solidFill>
                  <a:schemeClr val="accent1">
                    <a:lumMod val="60000"/>
                    <a:lumOff val="40000"/>
                  </a:schemeClr>
                </a:solidFill>
                <a:ea typeface="黑体" panose="02010609060101010101" pitchFamily="49" charset="-122"/>
              </a:rPr>
              <a:t>3.   </a:t>
            </a:r>
            <a:r>
              <a:rPr lang="zh-CN" altLang="en-US">
                <a:solidFill>
                  <a:schemeClr val="accent1">
                    <a:lumMod val="60000"/>
                    <a:lumOff val="40000"/>
                  </a:schemeClr>
                </a:solidFill>
                <a:ea typeface="黑体" panose="02010609060101010101" pitchFamily="49" charset="-122"/>
              </a:rPr>
              <a:t>为什么可见光观察不到康普顿效应？</a:t>
            </a:r>
          </a:p>
        </p:txBody>
      </p:sp>
      <p:sp>
        <p:nvSpPr>
          <p:cNvPr id="10" name="Rectangle 10">
            <a:extLst>
              <a:ext uri="{FF2B5EF4-FFF2-40B4-BE49-F238E27FC236}">
                <a16:creationId xmlns:a16="http://schemas.microsoft.com/office/drawing/2014/main" id="{89B8312F-CAFA-4406-96E1-24BD070B0F9B}"/>
              </a:ext>
            </a:extLst>
          </p:cNvPr>
          <p:cNvSpPr>
            <a:spLocks noChangeArrowheads="1"/>
          </p:cNvSpPr>
          <p:nvPr/>
        </p:nvSpPr>
        <p:spPr bwMode="auto">
          <a:xfrm>
            <a:off x="839663" y="5072063"/>
            <a:ext cx="74263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ea typeface="黑体" panose="02010609060101010101" pitchFamily="49" charset="-122"/>
              </a:rPr>
              <a:t>     </a:t>
            </a:r>
            <a:r>
              <a:rPr lang="zh-CN" altLang="en-US" dirty="0">
                <a:solidFill>
                  <a:schemeClr val="bg1"/>
                </a:solidFill>
                <a:ea typeface="黑体" panose="02010609060101010101" pitchFamily="49" charset="-122"/>
              </a:rPr>
              <a:t>可见光光子能量不够大，原子核的</a:t>
            </a:r>
            <a:r>
              <a:rPr lang="zh-CN" altLang="en-US" dirty="0">
                <a:solidFill>
                  <a:srgbClr val="FF3300"/>
                </a:solidFill>
                <a:ea typeface="黑体" panose="02010609060101010101" pitchFamily="49" charset="-122"/>
              </a:rPr>
              <a:t>外层电子不</a:t>
            </a:r>
            <a:endParaRPr lang="zh-CN" altLang="en-US" dirty="0">
              <a:ea typeface="黑体" panose="02010609060101010101" pitchFamily="49" charset="-122"/>
            </a:endParaRPr>
          </a:p>
        </p:txBody>
      </p:sp>
      <p:sp>
        <p:nvSpPr>
          <p:cNvPr id="11" name="Rectangle 11">
            <a:extLst>
              <a:ext uri="{FF2B5EF4-FFF2-40B4-BE49-F238E27FC236}">
                <a16:creationId xmlns:a16="http://schemas.microsoft.com/office/drawing/2014/main" id="{AE131125-2A4D-490D-BE2D-08F83F04E370}"/>
              </a:ext>
            </a:extLst>
          </p:cNvPr>
          <p:cNvSpPr>
            <a:spLocks noChangeArrowheads="1"/>
          </p:cNvSpPr>
          <p:nvPr/>
        </p:nvSpPr>
        <p:spPr bwMode="auto">
          <a:xfrm>
            <a:off x="1257176" y="5726113"/>
            <a:ext cx="72786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rgbClr val="FF3300"/>
                </a:solidFill>
                <a:ea typeface="黑体" panose="02010609060101010101" pitchFamily="49" charset="-122"/>
              </a:rPr>
              <a:t>能视为自由，</a:t>
            </a:r>
            <a:r>
              <a:rPr lang="zh-CN" altLang="en-US" dirty="0">
                <a:solidFill>
                  <a:schemeClr val="bg1"/>
                </a:solidFill>
                <a:ea typeface="黑体" panose="02010609060101010101" pitchFamily="49" charset="-122"/>
              </a:rPr>
              <a:t>所以可见光不能产生康普顿效应。</a:t>
            </a:r>
          </a:p>
        </p:txBody>
      </p:sp>
      <p:sp>
        <p:nvSpPr>
          <p:cNvPr id="13324" name="灯片编号占位符 1">
            <a:extLst>
              <a:ext uri="{FF2B5EF4-FFF2-40B4-BE49-F238E27FC236}">
                <a16:creationId xmlns:a16="http://schemas.microsoft.com/office/drawing/2014/main" id="{B5190736-DCD2-459E-966A-ECC69F1382BC}"/>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C393B583-A148-45FF-B84E-D8BBE03357B4}" type="slidenum">
              <a:rPr lang="en-US" altLang="zh-CN" b="0">
                <a:solidFill>
                  <a:srgbClr val="FF00FF"/>
                </a:solidFill>
              </a:rPr>
              <a:pPr eaLnBrk="1" hangingPunct="1"/>
              <a:t>21</a:t>
            </a:fld>
            <a:r>
              <a:rPr lang="en-US" altLang="zh-CN" b="0">
                <a:solidFill>
                  <a:srgbClr val="FF00FF"/>
                </a:solidFill>
              </a:rPr>
              <a:t>/22</a:t>
            </a:r>
          </a:p>
        </p:txBody>
      </p:sp>
    </p:spTree>
    <p:extLst>
      <p:ext uri="{BB962C8B-B14F-4D97-AF65-F5344CB8AC3E}">
        <p14:creationId xmlns:p14="http://schemas.microsoft.com/office/powerpoint/2010/main" val="34036160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par>
                          <p:cTn id="23" fill="hold" nodeType="afterGroup">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left)">
                                      <p:cBhvr>
                                        <p:cTn id="26" dur="500"/>
                                        <p:tgtEl>
                                          <p:spTgt spid="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left)">
                                      <p:cBhvr>
                                        <p:cTn id="31" dur="500"/>
                                        <p:tgtEl>
                                          <p:spTgt spid="8"/>
                                        </p:tgtEl>
                                      </p:cBhvr>
                                    </p:animEffect>
                                  </p:childTnLst>
                                </p:cTn>
                              </p:par>
                            </p:childTnLst>
                          </p:cTn>
                        </p:par>
                        <p:par>
                          <p:cTn id="32" fill="hold" nodeType="afterGroup">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wipe(left)">
                                      <p:cBhvr>
                                        <p:cTn id="35" dur="500"/>
                                        <p:tgtEl>
                                          <p:spTgt spid="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wipe(left)">
                                      <p:cBhvr>
                                        <p:cTn id="40" dur="500"/>
                                        <p:tgtEl>
                                          <p:spTgt spid="9"/>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wipe(left)">
                                      <p:cBhvr>
                                        <p:cTn id="45" dur="500"/>
                                        <p:tgtEl>
                                          <p:spTgt spid="10"/>
                                        </p:tgtEl>
                                      </p:cBhvr>
                                    </p:animEffect>
                                  </p:childTnLst>
                                </p:cTn>
                              </p:par>
                            </p:childTnLst>
                          </p:cTn>
                        </p:par>
                        <p:par>
                          <p:cTn id="46" fill="hold" nodeType="afterGroup">
                            <p:stCondLst>
                              <p:cond delay="500"/>
                            </p:stCondLst>
                            <p:childTnLst>
                              <p:par>
                                <p:cTn id="47" presetID="22" presetClass="entr" presetSubtype="8" fill="hold" grpId="0" nodeType="after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wipe(left)">
                                      <p:cBhvr>
                                        <p:cTn id="4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utoUpdateAnimBg="0"/>
      <p:bldP spid="4" grpId="0" autoUpdateAnimBg="0"/>
      <p:bldP spid="5" grpId="0" autoUpdateAnimBg="0"/>
      <p:bldP spid="6" grpId="0" autoUpdateAnimBg="0"/>
      <p:bldP spid="7" grpId="0" autoUpdateAnimBg="0"/>
      <p:bldP spid="8" grpId="0" autoUpdateAnimBg="0"/>
      <p:bldP spid="9" grpId="0" autoUpdateAnimBg="0"/>
      <p:bldP spid="10" grpId="0" autoUpdateAnimBg="0"/>
      <p:bldP spid="11" grpId="0" autoUpdateAnimBg="0"/>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jkxMDYxZGYxZGIxNjIyZTIxODM5NTE1YTAzNTVjNjIifQ=="/>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22256</TotalTime>
  <Words>1570</Words>
  <Application>Microsoft Office PowerPoint</Application>
  <PresentationFormat>全屏显示(4:3)</PresentationFormat>
  <Paragraphs>219</Paragraphs>
  <Slides>21</Slides>
  <Notes>3</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4</vt:i4>
      </vt:variant>
      <vt:variant>
        <vt:lpstr>幻灯片标题</vt:lpstr>
      </vt:variant>
      <vt:variant>
        <vt:i4>21</vt:i4>
      </vt:variant>
    </vt:vector>
  </HeadingPairs>
  <TitlesOfParts>
    <vt:vector size="37" baseType="lpstr">
      <vt:lpstr>黑体</vt:lpstr>
      <vt:lpstr>华文仿宋</vt:lpstr>
      <vt:lpstr>STXinwei</vt:lpstr>
      <vt:lpstr>华文中宋</vt:lpstr>
      <vt:lpstr>楷体</vt:lpstr>
      <vt:lpstr>楷体_GB2312</vt:lpstr>
      <vt:lpstr>宋体</vt:lpstr>
      <vt:lpstr>Arial</vt:lpstr>
      <vt:lpstr>Symbol</vt:lpstr>
      <vt:lpstr>Times New Roman</vt:lpstr>
      <vt:lpstr>Wingdings</vt:lpstr>
      <vt:lpstr>默认设计模板</vt:lpstr>
      <vt:lpstr>Equation</vt:lpstr>
      <vt:lpstr>公式</vt:lpstr>
      <vt:lpstr>Equation.DSMT4</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xian jiaotong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下册-大学物理</dc:title>
  <dc:creator>yzhang</dc:creator>
  <cp:lastModifiedBy>yzhang</cp:lastModifiedBy>
  <cp:revision>1512</cp:revision>
  <cp:lastPrinted>2025-12-01T02:49:05Z</cp:lastPrinted>
  <dcterms:created xsi:type="dcterms:W3CDTF">1998-11-21T01:35:00Z</dcterms:created>
  <dcterms:modified xsi:type="dcterms:W3CDTF">2025-12-09T02:21:13Z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E360166CB073428B8BCB01AE86F8CFCF_12</vt:lpwstr>
  </property>
  <property fmtid="{D5CDD505-2E9C-101B-9397-08002B2CF9AE}" pid="3" name="KSOProductBuildVer">
    <vt:lpwstr>2052-12.1.0.15358</vt:lpwstr>
  </property>
</Properties>
</file>