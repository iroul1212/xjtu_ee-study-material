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39" r:id="rId2"/>
    <p:sldId id="659" r:id="rId3"/>
    <p:sldId id="658" r:id="rId4"/>
    <p:sldId id="502" r:id="rId5"/>
    <p:sldId id="513" r:id="rId6"/>
    <p:sldId id="514" r:id="rId7"/>
    <p:sldId id="503" r:id="rId8"/>
    <p:sldId id="504" r:id="rId9"/>
    <p:sldId id="505" r:id="rId10"/>
    <p:sldId id="660" r:id="rId11"/>
    <p:sldId id="507" r:id="rId12"/>
    <p:sldId id="508" r:id="rId13"/>
    <p:sldId id="509" r:id="rId14"/>
    <p:sldId id="510" r:id="rId15"/>
    <p:sldId id="515" r:id="rId16"/>
    <p:sldId id="552" r:id="rId17"/>
    <p:sldId id="553" r:id="rId18"/>
    <p:sldId id="549" r:id="rId19"/>
    <p:sldId id="554" r:id="rId20"/>
    <p:sldId id="407" r:id="rId21"/>
    <p:sldId id="555" r:id="rId22"/>
    <p:sldId id="528" r:id="rId23"/>
    <p:sldId id="529" r:id="rId24"/>
    <p:sldId id="530" r:id="rId25"/>
    <p:sldId id="531" r:id="rId26"/>
    <p:sldId id="532" r:id="rId27"/>
    <p:sldId id="533" r:id="rId28"/>
  </p:sldIdLst>
  <p:sldSz cx="9144000" cy="6858000" type="screen4x3"/>
  <p:notesSz cx="6797675" cy="9928225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948" y="10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2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emf"/><Relationship Id="rId10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4" Type="http://schemas.openxmlformats.org/officeDocument/2006/relationships/image" Target="../media/image3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6" Type="http://schemas.openxmlformats.org/officeDocument/2006/relationships/image" Target="../media/image44.emf"/><Relationship Id="rId11" Type="http://schemas.openxmlformats.org/officeDocument/2006/relationships/image" Target="../media/image49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4" Type="http://schemas.openxmlformats.org/officeDocument/2006/relationships/image" Target="../media/image6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5" Type="http://schemas.openxmlformats.org/officeDocument/2006/relationships/image" Target="../media/image108.emf"/><Relationship Id="rId4" Type="http://schemas.openxmlformats.org/officeDocument/2006/relationships/image" Target="../media/image10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10" Type="http://schemas.openxmlformats.org/officeDocument/2006/relationships/image" Target="../media/image125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3" Type="http://schemas.openxmlformats.org/officeDocument/2006/relationships/image" Target="../media/image128.emf"/><Relationship Id="rId7" Type="http://schemas.openxmlformats.org/officeDocument/2006/relationships/image" Target="../media/image132.e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Relationship Id="rId6" Type="http://schemas.openxmlformats.org/officeDocument/2006/relationships/image" Target="../media/image131.emf"/><Relationship Id="rId11" Type="http://schemas.openxmlformats.org/officeDocument/2006/relationships/image" Target="../media/image136.emf"/><Relationship Id="rId5" Type="http://schemas.openxmlformats.org/officeDocument/2006/relationships/image" Target="../media/image130.emf"/><Relationship Id="rId10" Type="http://schemas.openxmlformats.org/officeDocument/2006/relationships/image" Target="../media/image135.emf"/><Relationship Id="rId4" Type="http://schemas.openxmlformats.org/officeDocument/2006/relationships/image" Target="../media/image129.emf"/><Relationship Id="rId9" Type="http://schemas.openxmlformats.org/officeDocument/2006/relationships/image" Target="../media/image134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7" Type="http://schemas.openxmlformats.org/officeDocument/2006/relationships/image" Target="../media/image143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45.emf"/><Relationship Id="rId1" Type="http://schemas.openxmlformats.org/officeDocument/2006/relationships/image" Target="../media/image14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wmf"/><Relationship Id="rId1" Type="http://schemas.openxmlformats.org/officeDocument/2006/relationships/image" Target="../media/image147.emf"/><Relationship Id="rId5" Type="http://schemas.openxmlformats.org/officeDocument/2006/relationships/image" Target="../media/image151.emf"/><Relationship Id="rId4" Type="http://schemas.openxmlformats.org/officeDocument/2006/relationships/image" Target="../media/image15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5E7218D-B655-4975-86CD-BC8889FB413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1AFF99-AA2F-4E62-BAD2-7F33DAB94833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1CA74D7-E860-45B7-88D3-DB909229020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8703AAC-987A-4242-B6DE-AF81F187F5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8EDA04A-92E7-4269-94B3-A2A6B5EB1EC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4DE2CE2-107E-426B-9C02-A6E8CD4B3D9F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CEDE748-7A9A-4D60-A629-A875644E9A1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37DF656-38B1-4716-B89F-D4007CFEE1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b="1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1E4848A6-E555-4297-A257-0AB24D2940C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809A3E-243B-4EC1-A52C-D07CE44236A7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2C51FB1-AF8C-4064-8E44-97D1834A2C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AE39CF4-438C-4EB8-A365-88E0CE5FCB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BE01F5C-280F-434A-9744-88F12B87F3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DBBF70E-480A-4758-95AF-8A37027CEEE5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8C93C7B-C9EF-4F75-97E1-65E58FD0B73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1094A33-0877-4A98-98D1-B2A4739403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FA71501C-B547-46B2-B1E5-995BC17615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69D193-8A13-477A-9E83-6E47BAB4DC26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A2FFC71-984F-407C-89CA-27E677B90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9E3DDC9-D875-499A-B782-E2F4071BF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7558F95B-B63F-4769-80A9-15F7F8F1BAF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782AEF-BC22-4ABF-AA21-61BA48341613}" type="slidenum">
              <a:rPr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42F8F61-1405-43ED-8F1B-05A30FDAB8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5D6C675-6E6F-4652-8DCC-AB70B744CB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image" Target="../media/image2.emf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11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7.bin"/><Relationship Id="rId4" Type="http://schemas.openxmlformats.org/officeDocument/2006/relationships/image" Target="../media/image6.emf"/><Relationship Id="rId9" Type="http://schemas.openxmlformats.org/officeDocument/2006/relationships/image" Target="../media/image8.emf"/><Relationship Id="rId1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e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8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6.emf"/><Relationship Id="rId25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29" Type="http://schemas.openxmlformats.org/officeDocument/2006/relationships/image" Target="../media/image22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e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24.jpeg"/><Relationship Id="rId15" Type="http://schemas.openxmlformats.org/officeDocument/2006/relationships/image" Target="../media/image15.emf"/><Relationship Id="rId23" Type="http://schemas.openxmlformats.org/officeDocument/2006/relationships/image" Target="../media/image19.emf"/><Relationship Id="rId28" Type="http://schemas.openxmlformats.org/officeDocument/2006/relationships/oleObject" Target="../embeddings/oleObject20.bin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7.emf"/><Relationship Id="rId4" Type="http://schemas.openxmlformats.org/officeDocument/2006/relationships/image" Target="../media/image23.jpeg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0.emf"/><Relationship Id="rId22" Type="http://schemas.openxmlformats.org/officeDocument/2006/relationships/image" Target="../media/image3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4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5.emf"/><Relationship Id="rId25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2.emf"/><Relationship Id="rId24" Type="http://schemas.openxmlformats.org/officeDocument/2006/relationships/oleObject" Target="../embeddings/oleObject45.bin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23" Type="http://schemas.openxmlformats.org/officeDocument/2006/relationships/image" Target="../media/image48.e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6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0.emf"/><Relationship Id="rId18" Type="http://schemas.openxmlformats.org/officeDocument/2006/relationships/image" Target="../media/image2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62.png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8.emf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6.e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73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2.emf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6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7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8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89.e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20" Type="http://schemas.openxmlformats.org/officeDocument/2006/relationships/image" Target="../media/image90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7" Type="http://schemas.openxmlformats.org/officeDocument/2006/relationships/image" Target="../media/image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2.bin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10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9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7" Type="http://schemas.openxmlformats.org/officeDocument/2006/relationships/image" Target="../media/image101.emf"/><Relationship Id="rId2" Type="http://schemas.microsoft.com/office/2007/relationships/media" Target="../media/media1.mp4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103.png"/><Relationship Id="rId4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8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5.emf"/><Relationship Id="rId12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7.emf"/><Relationship Id="rId5" Type="http://schemas.openxmlformats.org/officeDocument/2006/relationships/image" Target="../media/image104.e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13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0.e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1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9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12.emf"/><Relationship Id="rId5" Type="http://schemas.openxmlformats.org/officeDocument/2006/relationships/image" Target="../media/image109.emf"/><Relationship Id="rId15" Type="http://schemas.openxmlformats.org/officeDocument/2006/relationships/image" Target="../media/image114.e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11.emf"/><Relationship Id="rId14" Type="http://schemas.openxmlformats.org/officeDocument/2006/relationships/oleObject" Target="../embeddings/oleObject10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23.e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3.e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30.e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emf"/><Relationship Id="rId20" Type="http://schemas.openxmlformats.org/officeDocument/2006/relationships/image" Target="../media/image134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7.e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6.e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129.e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1.emf"/><Relationship Id="rId22" Type="http://schemas.openxmlformats.org/officeDocument/2006/relationships/image" Target="../media/image135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13" Type="http://schemas.openxmlformats.org/officeDocument/2006/relationships/oleObject" Target="../embeddings/oleObject136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41.emf"/><Relationship Id="rId17" Type="http://schemas.openxmlformats.org/officeDocument/2006/relationships/image" Target="../media/image14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7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8.e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5" Type="http://schemas.openxmlformats.org/officeDocument/2006/relationships/image" Target="../media/image59.png"/><Relationship Id="rId10" Type="http://schemas.openxmlformats.org/officeDocument/2006/relationships/image" Target="../media/image140.emf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4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e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5.e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5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50.emf"/><Relationship Id="rId4" Type="http://schemas.openxmlformats.org/officeDocument/2006/relationships/image" Target="../media/image147.emf"/><Relationship Id="rId9" Type="http://schemas.openxmlformats.org/officeDocument/2006/relationships/oleObject" Target="../embeddings/oleObject1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Nov. 27,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1F5FE6AF-1CEB-4A2C-9A68-398DB6A6B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6DC979-4E40-464A-9E8E-DC16A4769E99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D64005B4-54AF-4F55-96B3-2153B2188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698625"/>
            <a:ext cx="561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chemeClr val="bg1"/>
                </a:solidFill>
              </a:rPr>
              <a:t>分子按照率分布函数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9635" name="Object 3">
            <a:extLst>
              <a:ext uri="{FF2B5EF4-FFF2-40B4-BE49-F238E27FC236}">
                <a16:creationId xmlns:a16="http://schemas.microsoft.com/office/drawing/2014/main" id="{30BFBEC5-1528-4A8B-8861-FAFDAC5FDD9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84238" y="4365104"/>
          <a:ext cx="37592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2" r:id="rId3" imgW="1704943" imgH="771525" progId="Equation.3">
                  <p:embed/>
                </p:oleObj>
              </mc:Choice>
              <mc:Fallback>
                <p:oleObj r:id="rId3" imgW="1704943" imgH="771525" progId="Equation.3">
                  <p:embed/>
                  <p:pic>
                    <p:nvPicPr>
                      <p:cNvPr id="69635" name="Object 3">
                        <a:extLst>
                          <a:ext uri="{FF2B5EF4-FFF2-40B4-BE49-F238E27FC236}">
                            <a16:creationId xmlns:a16="http://schemas.microsoft.com/office/drawing/2014/main" id="{30BFBEC5-1528-4A8B-8861-FAFDAC5FDD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4365104"/>
                        <a:ext cx="37592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3" descr="麦分1(1)">
            <a:extLst>
              <a:ext uri="{FF2B5EF4-FFF2-40B4-BE49-F238E27FC236}">
                <a16:creationId xmlns:a16="http://schemas.microsoft.com/office/drawing/2014/main" id="{375569DB-4D58-4E05-AA61-13C9F9F90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697"/>
              </a:clrFrom>
              <a:clrTo>
                <a:srgbClr val="00669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5" t="6985" r="2979" b="4298"/>
          <a:stretch>
            <a:fillRect/>
          </a:stretch>
        </p:blipFill>
        <p:spPr bwMode="auto">
          <a:xfrm>
            <a:off x="4881563" y="4106565"/>
            <a:ext cx="3673475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30">
            <a:extLst>
              <a:ext uri="{FF2B5EF4-FFF2-40B4-BE49-F238E27FC236}">
                <a16:creationId xmlns:a16="http://schemas.microsoft.com/office/drawing/2014/main" id="{2AE93C5C-7FEA-4873-B136-D17D8E6FB281}"/>
              </a:ext>
            </a:extLst>
          </p:cNvPr>
          <p:cNvGrpSpPr>
            <a:grpSpLocks/>
          </p:cNvGrpSpPr>
          <p:nvPr/>
        </p:nvGrpSpPr>
        <p:grpSpPr bwMode="auto">
          <a:xfrm>
            <a:off x="4708525" y="3770015"/>
            <a:ext cx="4149725" cy="2827337"/>
            <a:chOff x="4643438" y="3952898"/>
            <a:chExt cx="4149725" cy="2827338"/>
          </a:xfrm>
        </p:grpSpPr>
        <p:grpSp>
          <p:nvGrpSpPr>
            <p:cNvPr id="5142" name="Group 4">
              <a:extLst>
                <a:ext uri="{FF2B5EF4-FFF2-40B4-BE49-F238E27FC236}">
                  <a16:creationId xmlns:a16="http://schemas.microsoft.com/office/drawing/2014/main" id="{6241ED14-971B-4F1C-80FE-9AF9146A33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4905" y="3952898"/>
              <a:ext cx="744538" cy="2425700"/>
              <a:chOff x="3051" y="496"/>
              <a:chExt cx="469" cy="1528"/>
            </a:xfrm>
          </p:grpSpPr>
          <p:sp>
            <p:nvSpPr>
              <p:cNvPr id="5147" name="Line 5">
                <a:extLst>
                  <a:ext uri="{FF2B5EF4-FFF2-40B4-BE49-F238E27FC236}">
                    <a16:creationId xmlns:a16="http://schemas.microsoft.com/office/drawing/2014/main" id="{4D3FA4DA-83EF-4C02-9842-167B76B80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1" y="505"/>
                <a:ext cx="0" cy="1519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8" name="Text Box 6">
                <a:extLst>
                  <a:ext uri="{FF2B5EF4-FFF2-40B4-BE49-F238E27FC236}">
                    <a16:creationId xmlns:a16="http://schemas.microsoft.com/office/drawing/2014/main" id="{A37826F4-B417-4010-B295-28E1D657D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8" y="496"/>
                <a:ext cx="4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f</a:t>
                </a:r>
                <a:r>
                  <a:rPr lang="en-US" altLang="zh-CN">
                    <a:solidFill>
                      <a:schemeClr val="bg1"/>
                    </a:solidFill>
                  </a:rPr>
                  <a:t>(</a:t>
                </a:r>
                <a:r>
                  <a:rPr lang="en-US" altLang="zh-CN" i="1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v</a:t>
                </a:r>
                <a:r>
                  <a:rPr lang="en-US" altLang="zh-CN">
                    <a:solidFill>
                      <a:schemeClr val="bg1"/>
                    </a:solidFill>
                  </a:rPr>
                  <a:t>)</a:t>
                </a:r>
              </a:p>
            </p:txBody>
          </p:sp>
        </p:grpSp>
        <p:grpSp>
          <p:nvGrpSpPr>
            <p:cNvPr id="5143" name="Group 7">
              <a:extLst>
                <a:ext uri="{FF2B5EF4-FFF2-40B4-BE49-F238E27FC236}">
                  <a16:creationId xmlns:a16="http://schemas.microsoft.com/office/drawing/2014/main" id="{B359BAE9-69D4-45C7-A054-B4DE649B62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3438" y="6307161"/>
              <a:ext cx="4149725" cy="473075"/>
              <a:chOff x="2988" y="2961"/>
              <a:chExt cx="2614" cy="298"/>
            </a:xfrm>
          </p:grpSpPr>
          <p:sp>
            <p:nvSpPr>
              <p:cNvPr id="5144" name="Line 8">
                <a:extLst>
                  <a:ext uri="{FF2B5EF4-FFF2-40B4-BE49-F238E27FC236}">
                    <a16:creationId xmlns:a16="http://schemas.microsoft.com/office/drawing/2014/main" id="{092C5880-B014-497A-8A94-CD565E75C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" y="3002"/>
                <a:ext cx="2405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5" name="Text Box 9">
                <a:extLst>
                  <a:ext uri="{FF2B5EF4-FFF2-40B4-BE49-F238E27FC236}">
                    <a16:creationId xmlns:a16="http://schemas.microsoft.com/office/drawing/2014/main" id="{5F44679B-9A3B-45F5-BC97-D70A0036D6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2" y="2961"/>
                <a:ext cx="2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0" i="1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v</a:t>
                </a:r>
              </a:p>
            </p:txBody>
          </p:sp>
          <p:sp>
            <p:nvSpPr>
              <p:cNvPr id="5146" name="Text Box 10">
                <a:extLst>
                  <a:ext uri="{FF2B5EF4-FFF2-40B4-BE49-F238E27FC236}">
                    <a16:creationId xmlns:a16="http://schemas.microsoft.com/office/drawing/2014/main" id="{D22BB8C9-64CE-4D88-8CD2-9C036D73D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8" y="2971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</p:grpSp>
      <p:sp>
        <p:nvSpPr>
          <p:cNvPr id="30" name="Rectangle 32">
            <a:extLst>
              <a:ext uri="{FF2B5EF4-FFF2-40B4-BE49-F238E27FC236}">
                <a16:creationId xmlns:a16="http://schemas.microsoft.com/office/drawing/2014/main" id="{7825C549-9DC7-4AE2-9B45-28ECF2205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201815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T</a:t>
            </a:r>
          </a:p>
        </p:txBody>
      </p:sp>
      <p:graphicFrame>
        <p:nvGraphicFramePr>
          <p:cNvPr id="138246" name="Object 2">
            <a:extLst>
              <a:ext uri="{FF2B5EF4-FFF2-40B4-BE49-F238E27FC236}">
                <a16:creationId xmlns:a16="http://schemas.microsoft.com/office/drawing/2014/main" id="{3FBFB5F5-6859-4AF0-8FDD-07E84E94D9E8}"/>
              </a:ext>
            </a:extLst>
          </p:cNvPr>
          <p:cNvGraphicFramePr>
            <a:graphicFrameLocks/>
          </p:cNvGraphicFramePr>
          <p:nvPr/>
        </p:nvGraphicFramePr>
        <p:xfrm>
          <a:off x="4365625" y="1522413"/>
          <a:ext cx="170656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3" r:id="rId6" imgW="762102" imgH="352391" progId="Equation.3">
                  <p:embed/>
                </p:oleObj>
              </mc:Choice>
              <mc:Fallback>
                <p:oleObj r:id="rId6" imgW="762102" imgH="352391" progId="Equation.3">
                  <p:embed/>
                  <p:pic>
                    <p:nvPicPr>
                      <p:cNvPr id="138246" name="Object 2">
                        <a:extLst>
                          <a:ext uri="{FF2B5EF4-FFF2-40B4-BE49-F238E27FC236}">
                            <a16:creationId xmlns:a16="http://schemas.microsoft.com/office/drawing/2014/main" id="{3FBFB5F5-6859-4AF0-8FDD-07E84E94D9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1522413"/>
                        <a:ext cx="170656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>
            <a:extLst>
              <a:ext uri="{FF2B5EF4-FFF2-40B4-BE49-F238E27FC236}">
                <a16:creationId xmlns:a16="http://schemas.microsoft.com/office/drawing/2014/main" id="{37560FC0-3EB5-459E-A520-4198FF9F4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645024"/>
            <a:ext cx="421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麦克斯韦速率分布定律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723B93AD-7B81-4ECD-A6F6-D2F7A74AF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992" y="2222901"/>
            <a:ext cx="8248501" cy="120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意义：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在速率</a:t>
            </a:r>
            <a:r>
              <a:rPr lang="en-US" altLang="zh-CN" sz="2800" b="0" i="1" dirty="0">
                <a:solidFill>
                  <a:srgbClr val="FFFF00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sz="28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附近单位速率区间内的</a:t>
            </a:r>
            <a:r>
              <a:rPr lang="zh-CN" altLang="en-US" i="1" dirty="0">
                <a:solidFill>
                  <a:schemeClr val="bg1"/>
                </a:solidFill>
                <a:latin typeface="宋体" panose="02010600030101010101" pitchFamily="2" charset="-122"/>
              </a:rPr>
              <a:t>分子数与总分子数的比率 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( </a:t>
            </a:r>
            <a:r>
              <a:rPr lang="zh-CN" altLang="en-US" i="1" dirty="0">
                <a:solidFill>
                  <a:schemeClr val="bg1"/>
                </a:solidFill>
                <a:latin typeface="宋体" panose="02010600030101010101" pitchFamily="2" charset="-122"/>
              </a:rPr>
              <a:t>分子出现的概率 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4CE20BDB-7DD7-4771-8E02-A5E09E800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0350"/>
            <a:ext cx="1111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回顾：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443" name="Object 11">
            <a:extLst>
              <a:ext uri="{FF2B5EF4-FFF2-40B4-BE49-F238E27FC236}">
                <a16:creationId xmlns:a16="http://schemas.microsoft.com/office/drawing/2014/main" id="{8166459A-5493-4692-AA00-6C3480DDD6DB}"/>
              </a:ext>
            </a:extLst>
          </p:cNvPr>
          <p:cNvGraphicFramePr>
            <a:graphicFrameLocks/>
          </p:cNvGraphicFramePr>
          <p:nvPr/>
        </p:nvGraphicFramePr>
        <p:xfrm>
          <a:off x="4071938" y="692150"/>
          <a:ext cx="1244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4" r:id="rId8" imgW="1228782" imgH="790507" progId="Equation.3">
                  <p:embed/>
                </p:oleObj>
              </mc:Choice>
              <mc:Fallback>
                <p:oleObj r:id="rId8" imgW="1228782" imgH="790507" progId="Equation.3">
                  <p:embed/>
                  <p:pic>
                    <p:nvPicPr>
                      <p:cNvPr id="18443" name="Object 11">
                        <a:extLst>
                          <a:ext uri="{FF2B5EF4-FFF2-40B4-BE49-F238E27FC236}">
                            <a16:creationId xmlns:a16="http://schemas.microsoft.com/office/drawing/2014/main" id="{8166459A-5493-4692-AA00-6C3480DDD6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692150"/>
                        <a:ext cx="1244600" cy="822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">
            <a:extLst>
              <a:ext uri="{FF2B5EF4-FFF2-40B4-BE49-F238E27FC236}">
                <a16:creationId xmlns:a16="http://schemas.microsoft.com/office/drawing/2014/main" id="{C9237924-6436-4CE7-9590-90F25E18E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871538"/>
            <a:ext cx="561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1. </a:t>
            </a:r>
            <a:r>
              <a:rPr lang="zh-CN" altLang="en-US" dirty="0">
                <a:solidFill>
                  <a:schemeClr val="bg1"/>
                </a:solidFill>
              </a:rPr>
              <a:t>理想气体压强公式：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4" dur="2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26" grpId="0"/>
      <p:bldP spid="31" grpId="0" build="allAtOnce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55688EAC-2A6A-4AD9-94E8-475879F81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64" y="3724613"/>
            <a:ext cx="292877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4. </a:t>
            </a:r>
            <a:r>
              <a:rPr lang="zh-CN" altLang="en-US" dirty="0">
                <a:solidFill>
                  <a:schemeClr val="bg1"/>
                </a:solidFill>
              </a:rPr>
              <a:t>速率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Object 21">
            <a:extLst>
              <a:ext uri="{FF2B5EF4-FFF2-40B4-BE49-F238E27FC236}">
                <a16:creationId xmlns:a16="http://schemas.microsoft.com/office/drawing/2014/main" id="{664BAA89-73B3-49C9-803D-E7B1FC57BF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0508368"/>
              </p:ext>
            </p:extLst>
          </p:nvPr>
        </p:nvGraphicFramePr>
        <p:xfrm>
          <a:off x="2627784" y="3724613"/>
          <a:ext cx="3365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6" r:id="rId3" imgW="76149" imgH="114198" progId="Equation.3">
                  <p:embed/>
                </p:oleObj>
              </mc:Choice>
              <mc:Fallback>
                <p:oleObj r:id="rId3" imgW="76149" imgH="114198" progId="Equation.3">
                  <p:embed/>
                  <p:pic>
                    <p:nvPicPr>
                      <p:cNvPr id="6" name="Object 21">
                        <a:extLst>
                          <a:ext uri="{FF2B5EF4-FFF2-40B4-BE49-F238E27FC236}">
                            <a16:creationId xmlns:a16="http://schemas.microsoft.com/office/drawing/2014/main" id="{664BAA89-73B3-49C9-803D-E7B1FC57BF4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724613"/>
                        <a:ext cx="3365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4">
            <a:extLst>
              <a:ext uri="{FF2B5EF4-FFF2-40B4-BE49-F238E27FC236}">
                <a16:creationId xmlns:a16="http://schemas.microsoft.com/office/drawing/2014/main" id="{A5E80851-4703-4C01-B2B9-289BA92E4D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026994"/>
              </p:ext>
            </p:extLst>
          </p:nvPr>
        </p:nvGraphicFramePr>
        <p:xfrm>
          <a:off x="2989122" y="3542304"/>
          <a:ext cx="2021633" cy="750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7" r:id="rId5" imgW="838251" imgH="266666" progId="Equation.3">
                  <p:embed/>
                </p:oleObj>
              </mc:Choice>
              <mc:Fallback>
                <p:oleObj r:id="rId5" imgW="838251" imgH="266666" progId="Equation.3">
                  <p:embed/>
                  <p:pic>
                    <p:nvPicPr>
                      <p:cNvPr id="7" name="Object 34">
                        <a:extLst>
                          <a:ext uri="{FF2B5EF4-FFF2-40B4-BE49-F238E27FC236}">
                            <a16:creationId xmlns:a16="http://schemas.microsoft.com/office/drawing/2014/main" id="{A5E80851-4703-4C01-B2B9-289BA92E4D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122" y="3542304"/>
                        <a:ext cx="2021633" cy="750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5">
                <a:extLst>
                  <a:ext uri="{FF2B5EF4-FFF2-40B4-BE49-F238E27FC236}">
                    <a16:creationId xmlns:a16="http://schemas.microsoft.com/office/drawing/2014/main" id="{EA6BAE3E-4535-4637-AF85-0CA097250D78}"/>
                  </a:ext>
                </a:extLst>
              </p:cNvPr>
              <p:cNvSpPr txBox="1"/>
              <p:nvPr/>
            </p:nvSpPr>
            <p:spPr bwMode="auto">
              <a:xfrm>
                <a:off x="4838711" y="3335557"/>
                <a:ext cx="2928775" cy="9556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=1.59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8" name="Object 35">
                <a:extLst>
                  <a:ext uri="{FF2B5EF4-FFF2-40B4-BE49-F238E27FC236}">
                    <a16:creationId xmlns:a16="http://schemas.microsoft.com/office/drawing/2014/main" id="{EA6BAE3E-4535-4637-AF85-0CA097250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8711" y="3335557"/>
                <a:ext cx="2928775" cy="955675"/>
              </a:xfrm>
              <a:prstGeom prst="rect">
                <a:avLst/>
              </a:prstGeom>
              <a:blipFill>
                <a:blip r:embed="rId7"/>
                <a:stretch>
                  <a:fillRect b="-1146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">
            <a:extLst>
              <a:ext uri="{FF2B5EF4-FFF2-40B4-BE49-F238E27FC236}">
                <a16:creationId xmlns:a16="http://schemas.microsoft.com/office/drawing/2014/main" id="{9169BB85-929F-4425-BB06-967EB5437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88640"/>
            <a:ext cx="4643221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麦克斯韦速率分布函数：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0C45B935-1B91-4ECC-83E4-A78A36F45E1E}"/>
              </a:ext>
            </a:extLst>
          </p:cNvPr>
          <p:cNvSpPr/>
          <p:nvPr/>
        </p:nvSpPr>
        <p:spPr bwMode="auto">
          <a:xfrm>
            <a:off x="846534" y="1052736"/>
            <a:ext cx="341090" cy="2309390"/>
          </a:xfrm>
          <a:prstGeom prst="leftBrace">
            <a:avLst>
              <a:gd name="adj1" fmla="val 72512"/>
              <a:gd name="adj2" fmla="val 5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24BCB199-56D7-460C-A9FE-89C091728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914" y="844849"/>
            <a:ext cx="71495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1) </a:t>
            </a:r>
            <a:r>
              <a:rPr lang="zh-CN" altLang="en-US" dirty="0">
                <a:solidFill>
                  <a:schemeClr val="bg1"/>
                </a:solidFill>
              </a:rPr>
              <a:t>分子速率在</a:t>
            </a:r>
            <a:r>
              <a:rPr lang="en-US" altLang="zh-CN" dirty="0">
                <a:solidFill>
                  <a:schemeClr val="bg1"/>
                </a:solidFill>
              </a:rPr>
              <a:t>0 ~ ∞</a:t>
            </a:r>
            <a:r>
              <a:rPr lang="zh-CN" altLang="en-US" dirty="0">
                <a:solidFill>
                  <a:schemeClr val="bg1"/>
                </a:solidFill>
              </a:rPr>
              <a:t>，速率小和大的分子数都很少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467CDC70-2969-4F75-96FE-506E3D0F1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412" y="1340768"/>
            <a:ext cx="7295036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2) </a:t>
            </a:r>
            <a:r>
              <a:rPr lang="zh-CN" altLang="en-US" dirty="0">
                <a:solidFill>
                  <a:schemeClr val="bg1"/>
                </a:solidFill>
              </a:rPr>
              <a:t>在某段速率区间，曲线下的面积大小代表该速率区间内分子数占总分字数的比值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31099A5D-6EEA-491E-B8D3-A44A95A78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412" y="2442770"/>
            <a:ext cx="7295036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</a:rPr>
              <a:t>3) </a:t>
            </a:r>
            <a:r>
              <a:rPr lang="zh-CN" altLang="en-US" dirty="0">
                <a:solidFill>
                  <a:schemeClr val="bg1"/>
                </a:solidFill>
              </a:rPr>
              <a:t>整个速率区间，曲线下的面积大小等于 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，满足归一化条件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D800C7A-BE0A-4B86-BC2B-D3BA3E2D1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7773551"/>
              </p:ext>
            </p:extLst>
          </p:nvPr>
        </p:nvGraphicFramePr>
        <p:xfrm>
          <a:off x="1475656" y="4674944"/>
          <a:ext cx="24431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8" r:id="rId8" imgW="952627" imgH="266666" progId="Equation.3">
                  <p:embed/>
                </p:oleObj>
              </mc:Choice>
              <mc:Fallback>
                <p:oleObj r:id="rId8" imgW="952627" imgH="266666" progId="Equation.3">
                  <p:embed/>
                  <p:pic>
                    <p:nvPicPr>
                      <p:cNvPr id="77837" name="Object 13">
                        <a:extLst>
                          <a:ext uri="{FF2B5EF4-FFF2-40B4-BE49-F238E27FC236}">
                            <a16:creationId xmlns:a16="http://schemas.microsoft.com/office/drawing/2014/main" id="{3913915F-0E91-48C8-BE55-4EA3A6A899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674944"/>
                        <a:ext cx="244316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91E09BF4-A276-4DA4-8664-3CAC5698EE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0892727"/>
              </p:ext>
            </p:extLst>
          </p:nvPr>
        </p:nvGraphicFramePr>
        <p:xfrm>
          <a:off x="1049244" y="4781156"/>
          <a:ext cx="4587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9" r:id="rId10" imgW="123857" imgH="161959" progId="Equation.3">
                  <p:embed/>
                </p:oleObj>
              </mc:Choice>
              <mc:Fallback>
                <p:oleObj r:id="rId10" imgW="123857" imgH="161959" progId="Equation.3">
                  <p:embed/>
                  <p:pic>
                    <p:nvPicPr>
                      <p:cNvPr id="77840" name="Object 16">
                        <a:extLst>
                          <a:ext uri="{FF2B5EF4-FFF2-40B4-BE49-F238E27FC236}">
                            <a16:creationId xmlns:a16="http://schemas.microsoft.com/office/drawing/2014/main" id="{33CFE84E-7D4E-4520-BEE1-2AAFEA28D6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244" y="4781156"/>
                        <a:ext cx="4587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DE6B47EC-1C65-4821-AF6A-D0FDCB81FF20}"/>
                  </a:ext>
                </a:extLst>
              </p:cNvPr>
              <p:cNvSpPr txBox="1"/>
              <p:nvPr/>
            </p:nvSpPr>
            <p:spPr bwMode="auto">
              <a:xfrm>
                <a:off x="5350412" y="4531003"/>
                <a:ext cx="3398052" cy="113024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1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bar>
                            <m:barPr>
                              <m:pos m:val="top"/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p>
                                <m:sSupPr>
                                  <m:ctrlPr>
                                    <a:rPr lang="zh-CN" altLang="en-US" sz="21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1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zh-CN" altLang="en-US" sz="21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bar>
                        </m:e>
                      </m:rad>
                      <m:r>
                        <a:rPr lang="zh-CN" altLang="en-US" sz="2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zh-CN" altLang="en-US" sz="2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=1.73</m:t>
                      </m:r>
                      <m:rad>
                        <m:radPr>
                          <m:degHide m:val="on"/>
                          <m:ctrlP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100" i="1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DE6B47EC-1C65-4821-AF6A-D0FDCB81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0412" y="4531003"/>
                <a:ext cx="3398052" cy="11302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18">
            <a:extLst>
              <a:ext uri="{FF2B5EF4-FFF2-40B4-BE49-F238E27FC236}">
                <a16:creationId xmlns:a16="http://schemas.microsoft.com/office/drawing/2014/main" id="{D6FF51E5-45D8-4BDA-962D-7873F84B99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457018"/>
              </p:ext>
            </p:extLst>
          </p:nvPr>
        </p:nvGraphicFramePr>
        <p:xfrm>
          <a:off x="3923928" y="4660582"/>
          <a:ext cx="958662" cy="87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40" r:id="rId13" imgW="362090" imgH="352391" progId="Equation.3">
                  <p:embed/>
                </p:oleObj>
              </mc:Choice>
              <mc:Fallback>
                <p:oleObj r:id="rId13" imgW="362090" imgH="352391" progId="Equation.3">
                  <p:embed/>
                  <p:pic>
                    <p:nvPicPr>
                      <p:cNvPr id="77842" name="Object 18">
                        <a:extLst>
                          <a:ext uri="{FF2B5EF4-FFF2-40B4-BE49-F238E27FC236}">
                            <a16:creationId xmlns:a16="http://schemas.microsoft.com/office/drawing/2014/main" id="{E28FD650-EAF0-456C-8FFE-8BE64DDF77D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4660582"/>
                        <a:ext cx="958662" cy="878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3">
            <a:extLst>
              <a:ext uri="{FF2B5EF4-FFF2-40B4-BE49-F238E27FC236}">
                <a16:creationId xmlns:a16="http://schemas.microsoft.com/office/drawing/2014/main" id="{22F8F1C0-1CC9-48C5-85F4-D383E2006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44" y="6041474"/>
            <a:ext cx="285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最概然速率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EBB94504-2BF3-4FC7-8B3E-8B68500E9A66}"/>
                  </a:ext>
                </a:extLst>
              </p:cNvPr>
              <p:cNvSpPr txBox="1"/>
              <p:nvPr/>
            </p:nvSpPr>
            <p:spPr bwMode="auto">
              <a:xfrm>
                <a:off x="2882924" y="5683131"/>
                <a:ext cx="4497388" cy="113024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1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zh-CN" altLang="en-US" sz="2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  <m:r>
                        <a:rPr lang="zh-CN" altLang="en-US" sz="21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=1.41</m:t>
                      </m:r>
                      <m:rad>
                        <m:radPr>
                          <m:degHide m:val="on"/>
                          <m:ctrlPr>
                            <a:rPr lang="zh-CN" altLang="en-US" sz="21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zh-CN" altLang="en-US" sz="21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1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EBB94504-2BF3-4FC7-8B3E-8B68500E9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2924" y="5683131"/>
                <a:ext cx="4497388" cy="113024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19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 build="allAtOnce"/>
      <p:bldP spid="10" grpId="0" animBg="1"/>
      <p:bldP spid="11" grpId="0"/>
      <p:bldP spid="12" grpId="0"/>
      <p:bldP spid="13" grpId="0"/>
      <p:bldP spid="16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题线（1）">
            <a:extLst>
              <a:ext uri="{FF2B5EF4-FFF2-40B4-BE49-F238E27FC236}">
                <a16:creationId xmlns:a16="http://schemas.microsoft.com/office/drawing/2014/main" id="{9D15E54C-CF16-4CD7-8952-F5A67831B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6697"/>
              </a:clrFrom>
              <a:clrTo>
                <a:srgbClr val="006697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9" t="9584" r="17496" b="9584"/>
          <a:stretch>
            <a:fillRect/>
          </a:stretch>
        </p:blipFill>
        <p:spPr bwMode="auto">
          <a:xfrm>
            <a:off x="5219700" y="4084638"/>
            <a:ext cx="2447925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 descr="题线">
            <a:extLst>
              <a:ext uri="{FF2B5EF4-FFF2-40B4-BE49-F238E27FC236}">
                <a16:creationId xmlns:a16="http://schemas.microsoft.com/office/drawing/2014/main" id="{D0438C1A-8492-401E-8F83-A8EFD7582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6697"/>
              </a:clrFrom>
              <a:clrTo>
                <a:srgbClr val="006697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3" t="15244" r="9673" b="17917"/>
          <a:stretch>
            <a:fillRect/>
          </a:stretch>
        </p:blipFill>
        <p:spPr bwMode="auto">
          <a:xfrm>
            <a:off x="5132388" y="4491038"/>
            <a:ext cx="36163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 Box 4">
            <a:extLst>
              <a:ext uri="{FF2B5EF4-FFF2-40B4-BE49-F238E27FC236}">
                <a16:creationId xmlns:a16="http://schemas.microsoft.com/office/drawing/2014/main" id="{3F7C8EF2-5CEE-47B6-95E7-950C1CC40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360363"/>
            <a:ext cx="65611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氦气的速率分布曲线如图所示</a:t>
            </a:r>
            <a:r>
              <a:rPr lang="en-US" altLang="zh-CN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64052AF5-BDFD-429A-B07E-F2DF0DB51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955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3E1CBC7D-AEEC-4656-BDE1-4B6012FD4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98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E9BDF822-4FF7-4686-AB1D-9E32EA87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525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C9BF3E08-B3D5-4AEF-B97B-D2116A410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1557338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氢气在该温度时的最概然速率和方均根速率</a:t>
            </a:r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80246737-21A3-4344-9C00-417E2F8071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6325" y="4221163"/>
            <a:ext cx="17463" cy="143510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6874" name="Object 2">
            <a:extLst>
              <a:ext uri="{FF2B5EF4-FFF2-40B4-BE49-F238E27FC236}">
                <a16:creationId xmlns:a16="http://schemas.microsoft.com/office/drawing/2014/main" id="{9B35AF03-E295-4DCA-A81B-F973B7BFC35E}"/>
              </a:ext>
            </a:extLst>
          </p:cNvPr>
          <p:cNvGraphicFramePr>
            <a:graphicFrameLocks/>
          </p:cNvGraphicFramePr>
          <p:nvPr/>
        </p:nvGraphicFramePr>
        <p:xfrm>
          <a:off x="5875338" y="5734050"/>
          <a:ext cx="64135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0" r:id="rId6" imgW="676167" imgH="276157" progId="Equation.3">
                  <p:embed/>
                </p:oleObj>
              </mc:Choice>
              <mc:Fallback>
                <p:oleObj r:id="rId6" imgW="676167" imgH="276157" progId="Equation.3">
                  <p:embed/>
                  <p:pic>
                    <p:nvPicPr>
                      <p:cNvPr id="36874" name="Object 2">
                        <a:extLst>
                          <a:ext uri="{FF2B5EF4-FFF2-40B4-BE49-F238E27FC236}">
                            <a16:creationId xmlns:a16="http://schemas.microsoft.com/office/drawing/2014/main" id="{9B35AF03-E295-4DCA-A81B-F973B7BFC3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5734050"/>
                        <a:ext cx="641350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3">
            <a:extLst>
              <a:ext uri="{FF2B5EF4-FFF2-40B4-BE49-F238E27FC236}">
                <a16:creationId xmlns:a16="http://schemas.microsoft.com/office/drawing/2014/main" id="{5497A5E1-C6D5-40D3-BC2B-D069B1D1BC26}"/>
              </a:ext>
            </a:extLst>
          </p:cNvPr>
          <p:cNvGraphicFramePr>
            <a:graphicFrameLocks/>
          </p:cNvGraphicFramePr>
          <p:nvPr/>
        </p:nvGraphicFramePr>
        <p:xfrm>
          <a:off x="6516688" y="4203700"/>
          <a:ext cx="414337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1" r:id="rId8" imgW="418973" imgH="266666" progId="Equation.3">
                  <p:embed/>
                </p:oleObj>
              </mc:Choice>
              <mc:Fallback>
                <p:oleObj r:id="rId8" imgW="418973" imgH="266666" progId="Equation.3">
                  <p:embed/>
                  <p:pic>
                    <p:nvPicPr>
                      <p:cNvPr id="36875" name="Object 3">
                        <a:extLst>
                          <a:ext uri="{FF2B5EF4-FFF2-40B4-BE49-F238E27FC236}">
                            <a16:creationId xmlns:a16="http://schemas.microsoft.com/office/drawing/2014/main" id="{5497A5E1-C6D5-40D3-BC2B-D069B1D1BC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203700"/>
                        <a:ext cx="414337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4">
            <a:extLst>
              <a:ext uri="{FF2B5EF4-FFF2-40B4-BE49-F238E27FC236}">
                <a16:creationId xmlns:a16="http://schemas.microsoft.com/office/drawing/2014/main" id="{4488E930-6BDE-4044-B59C-AB09D2002715}"/>
              </a:ext>
            </a:extLst>
          </p:cNvPr>
          <p:cNvGraphicFramePr>
            <a:graphicFrameLocks/>
          </p:cNvGraphicFramePr>
          <p:nvPr/>
        </p:nvGraphicFramePr>
        <p:xfrm>
          <a:off x="7175500" y="4665663"/>
          <a:ext cx="3778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2" r:id="rId10" imgW="381051" imgH="380864" progId="Equation.3">
                  <p:embed/>
                </p:oleObj>
              </mc:Choice>
              <mc:Fallback>
                <p:oleObj r:id="rId10" imgW="381051" imgH="380864" progId="Equation.3">
                  <p:embed/>
                  <p:pic>
                    <p:nvPicPr>
                      <p:cNvPr id="36876" name="Object 4">
                        <a:extLst>
                          <a:ext uri="{FF2B5EF4-FFF2-40B4-BE49-F238E27FC236}">
                            <a16:creationId xmlns:a16="http://schemas.microsoft.com/office/drawing/2014/main" id="{4488E930-6BDE-4044-B59C-AB09D200271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4665663"/>
                        <a:ext cx="37782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7" name="Object 5">
            <a:extLst>
              <a:ext uri="{FF2B5EF4-FFF2-40B4-BE49-F238E27FC236}">
                <a16:creationId xmlns:a16="http://schemas.microsoft.com/office/drawing/2014/main" id="{15A8AE3C-3486-47D8-8142-BC8E1CB2794A}"/>
              </a:ext>
            </a:extLst>
          </p:cNvPr>
          <p:cNvGraphicFramePr>
            <a:graphicFrameLocks/>
          </p:cNvGraphicFramePr>
          <p:nvPr/>
        </p:nvGraphicFramePr>
        <p:xfrm>
          <a:off x="2987675" y="2124075"/>
          <a:ext cx="357346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3" r:id="rId12" imgW="1457229" imgH="409643" progId="Equation.3">
                  <p:embed/>
                </p:oleObj>
              </mc:Choice>
              <mc:Fallback>
                <p:oleObj r:id="rId12" imgW="1457229" imgH="409643" progId="Equation.3">
                  <p:embed/>
                  <p:pic>
                    <p:nvPicPr>
                      <p:cNvPr id="36877" name="Object 5">
                        <a:extLst>
                          <a:ext uri="{FF2B5EF4-FFF2-40B4-BE49-F238E27FC236}">
                            <a16:creationId xmlns:a16="http://schemas.microsoft.com/office/drawing/2014/main" id="{15A8AE3C-3486-47D8-8142-BC8E1CB279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124075"/>
                        <a:ext cx="357346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6">
            <a:extLst>
              <a:ext uri="{FF2B5EF4-FFF2-40B4-BE49-F238E27FC236}">
                <a16:creationId xmlns:a16="http://schemas.microsoft.com/office/drawing/2014/main" id="{AA3FEA83-EF75-451B-A2D7-AC8445DD2AB8}"/>
              </a:ext>
            </a:extLst>
          </p:cNvPr>
          <p:cNvGraphicFramePr>
            <a:graphicFrameLocks/>
          </p:cNvGraphicFramePr>
          <p:nvPr/>
        </p:nvGraphicFramePr>
        <p:xfrm>
          <a:off x="1187450" y="3349625"/>
          <a:ext cx="28257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4" r:id="rId14" imgW="1152633" imgH="409643" progId="Equation.3">
                  <p:embed/>
                </p:oleObj>
              </mc:Choice>
              <mc:Fallback>
                <p:oleObj r:id="rId14" imgW="1152633" imgH="409643" progId="Equation.3">
                  <p:embed/>
                  <p:pic>
                    <p:nvPicPr>
                      <p:cNvPr id="36878" name="Object 6">
                        <a:extLst>
                          <a:ext uri="{FF2B5EF4-FFF2-40B4-BE49-F238E27FC236}">
                            <a16:creationId xmlns:a16="http://schemas.microsoft.com/office/drawing/2014/main" id="{AA3FEA83-EF75-451B-A2D7-AC8445DD2A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49625"/>
                        <a:ext cx="28257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7">
            <a:extLst>
              <a:ext uri="{FF2B5EF4-FFF2-40B4-BE49-F238E27FC236}">
                <a16:creationId xmlns:a16="http://schemas.microsoft.com/office/drawing/2014/main" id="{B144FD09-9690-44EB-80BF-56A46F55A188}"/>
              </a:ext>
            </a:extLst>
          </p:cNvPr>
          <p:cNvGraphicFramePr>
            <a:graphicFrameLocks/>
          </p:cNvGraphicFramePr>
          <p:nvPr/>
        </p:nvGraphicFramePr>
        <p:xfrm>
          <a:off x="2266950" y="4530725"/>
          <a:ext cx="20907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5" r:id="rId16" imgW="2085994" imgH="428625" progId="Equation.3">
                  <p:embed/>
                </p:oleObj>
              </mc:Choice>
              <mc:Fallback>
                <p:oleObj r:id="rId16" imgW="2085994" imgH="428625" progId="Equation.3">
                  <p:embed/>
                  <p:pic>
                    <p:nvPicPr>
                      <p:cNvPr id="36879" name="Object 7">
                        <a:extLst>
                          <a:ext uri="{FF2B5EF4-FFF2-40B4-BE49-F238E27FC236}">
                            <a16:creationId xmlns:a16="http://schemas.microsoft.com/office/drawing/2014/main" id="{B144FD09-9690-44EB-80BF-56A46F55A1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4530725"/>
                        <a:ext cx="20907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8">
            <a:extLst>
              <a:ext uri="{FF2B5EF4-FFF2-40B4-BE49-F238E27FC236}">
                <a16:creationId xmlns:a16="http://schemas.microsoft.com/office/drawing/2014/main" id="{D51B8919-D8A3-4752-A1D8-C2EB49096E8C}"/>
              </a:ext>
            </a:extLst>
          </p:cNvPr>
          <p:cNvGraphicFramePr>
            <a:graphicFrameLocks/>
          </p:cNvGraphicFramePr>
          <p:nvPr/>
        </p:nvGraphicFramePr>
        <p:xfrm>
          <a:off x="1143000" y="5084763"/>
          <a:ext cx="24542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6" r:id="rId18" imgW="2409857" imgH="838268" progId="Equation.3">
                  <p:embed/>
                </p:oleObj>
              </mc:Choice>
              <mc:Fallback>
                <p:oleObj r:id="rId18" imgW="2409857" imgH="838268" progId="Equation.3">
                  <p:embed/>
                  <p:pic>
                    <p:nvPicPr>
                      <p:cNvPr id="36880" name="Object 8">
                        <a:extLst>
                          <a:ext uri="{FF2B5EF4-FFF2-40B4-BE49-F238E27FC236}">
                            <a16:creationId xmlns:a16="http://schemas.microsoft.com/office/drawing/2014/main" id="{D51B8919-D8A3-4752-A1D8-C2EB49096E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84763"/>
                        <a:ext cx="24542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9">
            <a:extLst>
              <a:ext uri="{FF2B5EF4-FFF2-40B4-BE49-F238E27FC236}">
                <a16:creationId xmlns:a16="http://schemas.microsoft.com/office/drawing/2014/main" id="{33068C90-45C5-4539-806A-E0E80D666DF8}"/>
              </a:ext>
            </a:extLst>
          </p:cNvPr>
          <p:cNvGraphicFramePr>
            <a:graphicFrameLocks/>
          </p:cNvGraphicFramePr>
          <p:nvPr/>
        </p:nvGraphicFramePr>
        <p:xfrm>
          <a:off x="2374900" y="6102350"/>
          <a:ext cx="21256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7" r:id="rId20" imgW="2104955" imgH="428625" progId="Equation.3">
                  <p:embed/>
                </p:oleObj>
              </mc:Choice>
              <mc:Fallback>
                <p:oleObj r:id="rId20" imgW="2104955" imgH="428625" progId="Equation.3">
                  <p:embed/>
                  <p:pic>
                    <p:nvPicPr>
                      <p:cNvPr id="36881" name="Object 9">
                        <a:extLst>
                          <a:ext uri="{FF2B5EF4-FFF2-40B4-BE49-F238E27FC236}">
                            <a16:creationId xmlns:a16="http://schemas.microsoft.com/office/drawing/2014/main" id="{33068C90-45C5-4539-806A-E0E80D666DF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6102350"/>
                        <a:ext cx="21256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0">
            <a:extLst>
              <a:ext uri="{FF2B5EF4-FFF2-40B4-BE49-F238E27FC236}">
                <a16:creationId xmlns:a16="http://schemas.microsoft.com/office/drawing/2014/main" id="{080715B4-AAD1-492F-B364-6F9E234A0DAB}"/>
              </a:ext>
            </a:extLst>
          </p:cNvPr>
          <p:cNvGraphicFramePr>
            <a:graphicFrameLocks/>
          </p:cNvGraphicFramePr>
          <p:nvPr/>
        </p:nvGraphicFramePr>
        <p:xfrm>
          <a:off x="1303338" y="2205038"/>
          <a:ext cx="16732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78" r:id="rId22" imgW="1667022" imgH="838268" progId="Equation.3">
                  <p:embed/>
                </p:oleObj>
              </mc:Choice>
              <mc:Fallback>
                <p:oleObj r:id="rId22" imgW="1667022" imgH="838268" progId="Equation.3">
                  <p:embed/>
                  <p:pic>
                    <p:nvPicPr>
                      <p:cNvPr id="36882" name="Object 10">
                        <a:extLst>
                          <a:ext uri="{FF2B5EF4-FFF2-40B4-BE49-F238E27FC236}">
                            <a16:creationId xmlns:a16="http://schemas.microsoft.com/office/drawing/2014/main" id="{080715B4-AAD1-492F-B364-6F9E234A0D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2205038"/>
                        <a:ext cx="167322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D8F42641-54E2-462A-903D-A71A428ECB7A}"/>
              </a:ext>
            </a:extLst>
          </p:cNvPr>
          <p:cNvGrpSpPr>
            <a:grpSpLocks/>
          </p:cNvGrpSpPr>
          <p:nvPr/>
        </p:nvGrpSpPr>
        <p:grpSpPr bwMode="auto">
          <a:xfrm>
            <a:off x="4984750" y="3217863"/>
            <a:ext cx="3908425" cy="2868612"/>
            <a:chOff x="3140" y="2027"/>
            <a:chExt cx="2462" cy="1807"/>
          </a:xfrm>
        </p:grpSpPr>
        <p:sp>
          <p:nvSpPr>
            <p:cNvPr id="13337" name="Line 20">
              <a:extLst>
                <a:ext uri="{FF2B5EF4-FFF2-40B4-BE49-F238E27FC236}">
                  <a16:creationId xmlns:a16="http://schemas.microsoft.com/office/drawing/2014/main" id="{E9472096-CA50-4AE6-AC1F-D9C9B11F6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027"/>
              <a:ext cx="0" cy="153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21">
              <a:extLst>
                <a:ext uri="{FF2B5EF4-FFF2-40B4-BE49-F238E27FC236}">
                  <a16:creationId xmlns:a16="http://schemas.microsoft.com/office/drawing/2014/main" id="{1D16D683-A46A-4BD0-A29F-F88B3485B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563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39" name="Object 11">
              <a:extLst>
                <a:ext uri="{FF2B5EF4-FFF2-40B4-BE49-F238E27FC236}">
                  <a16:creationId xmlns:a16="http://schemas.microsoft.com/office/drawing/2014/main" id="{AA38E84E-5B26-423E-A7FB-1EC1ABB6CA2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23" y="2028"/>
            <a:ext cx="41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479" r:id="rId24" imgW="685953" imgH="352391" progId="Equation.3">
                    <p:embed/>
                  </p:oleObj>
                </mc:Choice>
                <mc:Fallback>
                  <p:oleObj r:id="rId24" imgW="685953" imgH="352391" progId="Equation.3">
                    <p:embed/>
                    <p:pic>
                      <p:nvPicPr>
                        <p:cNvPr id="13339" name="Object 11">
                          <a:extLst>
                            <a:ext uri="{FF2B5EF4-FFF2-40B4-BE49-F238E27FC236}">
                              <a16:creationId xmlns:a16="http://schemas.microsoft.com/office/drawing/2014/main" id="{AA38E84E-5B26-423E-A7FB-1EC1ABB6CA2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" y="2028"/>
                          <a:ext cx="41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12">
              <a:extLst>
                <a:ext uri="{FF2B5EF4-FFF2-40B4-BE49-F238E27FC236}">
                  <a16:creationId xmlns:a16="http://schemas.microsoft.com/office/drawing/2014/main" id="{039F8239-7419-4ADB-8A62-36B34B42E9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612"/>
            <a:ext cx="56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480" r:id="rId26" imgW="952627" imgH="352391" progId="Equation.3">
                    <p:embed/>
                  </p:oleObj>
                </mc:Choice>
                <mc:Fallback>
                  <p:oleObj r:id="rId26" imgW="952627" imgH="352391" progId="Equation.3">
                    <p:embed/>
                    <p:pic>
                      <p:nvPicPr>
                        <p:cNvPr id="13340" name="Object 12">
                          <a:extLst>
                            <a:ext uri="{FF2B5EF4-FFF2-40B4-BE49-F238E27FC236}">
                              <a16:creationId xmlns:a16="http://schemas.microsoft.com/office/drawing/2014/main" id="{039F8239-7419-4ADB-8A62-36B34B42E93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612"/>
                          <a:ext cx="56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1" name="Text Box 24">
              <a:extLst>
                <a:ext uri="{FF2B5EF4-FFF2-40B4-BE49-F238E27FC236}">
                  <a16:creationId xmlns:a16="http://schemas.microsoft.com/office/drawing/2014/main" id="{C5951F89-C135-45C1-A39E-B6E58889C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356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6889" name="Rectangle 25">
            <a:extLst>
              <a:ext uri="{FF2B5EF4-FFF2-40B4-BE49-F238E27FC236}">
                <a16:creationId xmlns:a16="http://schemas.microsoft.com/office/drawing/2014/main" id="{28B6F026-1E2C-440F-ACD3-EE9CDA3BE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1052513"/>
            <a:ext cx="9936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试在图上画出同温度下氢气的速率分布曲线的大致情况， </a:t>
            </a:r>
          </a:p>
        </p:txBody>
      </p:sp>
      <p:sp>
        <p:nvSpPr>
          <p:cNvPr id="36890" name="Text Box 26">
            <a:extLst>
              <a:ext uri="{FF2B5EF4-FFF2-40B4-BE49-F238E27FC236}">
                <a16:creationId xmlns:a16="http://schemas.microsoft.com/office/drawing/2014/main" id="{86A9DF2C-4CCB-4BFB-B263-6BE56540D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24209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2330DA17-4C90-40DC-9FF0-D5D1F730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2571750"/>
            <a:ext cx="857250" cy="285750"/>
          </a:xfrm>
          <a:prstGeom prst="rightArrow">
            <a:avLst>
              <a:gd name="adj1" fmla="val 50000"/>
              <a:gd name="adj2" fmla="val 8554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" name="Object 27">
            <a:extLst>
              <a:ext uri="{FF2B5EF4-FFF2-40B4-BE49-F238E27FC236}">
                <a16:creationId xmlns:a16="http://schemas.microsoft.com/office/drawing/2014/main" id="{9323465B-FE15-4CDC-B5DA-F4D72519375A}"/>
              </a:ext>
            </a:extLst>
          </p:cNvPr>
          <p:cNvGraphicFramePr>
            <a:graphicFrameLocks/>
          </p:cNvGraphicFramePr>
          <p:nvPr/>
        </p:nvGraphicFramePr>
        <p:xfrm>
          <a:off x="7605713" y="2490788"/>
          <a:ext cx="895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481" r:id="rId28" imgW="333343" imgH="142977" progId="Equation.3">
                  <p:embed/>
                </p:oleObj>
              </mc:Choice>
              <mc:Fallback>
                <p:oleObj r:id="rId28" imgW="333343" imgH="142977" progId="Equation.3">
                  <p:embed/>
                  <p:pic>
                    <p:nvPicPr>
                      <p:cNvPr id="3" name="Object 27">
                        <a:extLst>
                          <a:ext uri="{FF2B5EF4-FFF2-40B4-BE49-F238E27FC236}">
                            <a16:creationId xmlns:a16="http://schemas.microsoft.com/office/drawing/2014/main" id="{9323465B-FE15-4CDC-B5DA-F4D7251937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713" y="2490788"/>
                        <a:ext cx="8953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灯片编号占位符 1">
            <a:extLst>
              <a:ext uri="{FF2B5EF4-FFF2-40B4-BE49-F238E27FC236}">
                <a16:creationId xmlns:a16="http://schemas.microsoft.com/office/drawing/2014/main" id="{9A699FDB-7214-41A2-B058-C3CAEB896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EA9ABA-0109-4166-BE41-A3AF5886D9B8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36869" grpId="0"/>
      <p:bldP spid="36870" grpId="0"/>
      <p:bldP spid="36871" grpId="0"/>
      <p:bldP spid="36872" grpId="0"/>
      <p:bldP spid="36889" grpId="0"/>
      <p:bldP spid="36890" grpId="0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>
            <a:extLst>
              <a:ext uri="{FF2B5EF4-FFF2-40B4-BE49-F238E27FC236}">
                <a16:creationId xmlns:a16="http://schemas.microsoft.com/office/drawing/2014/main" id="{40BB0A5E-1C99-4226-AC13-0F4F0B550B97}"/>
              </a:ext>
            </a:extLst>
          </p:cNvPr>
          <p:cNvGrpSpPr>
            <a:grpSpLocks/>
          </p:cNvGrpSpPr>
          <p:nvPr/>
        </p:nvGrpSpPr>
        <p:grpSpPr bwMode="auto">
          <a:xfrm>
            <a:off x="5967413" y="5913438"/>
            <a:ext cx="2873375" cy="436562"/>
            <a:chOff x="3804" y="3699"/>
            <a:chExt cx="1810" cy="275"/>
          </a:xfrm>
        </p:grpSpPr>
        <p:sp>
          <p:nvSpPr>
            <p:cNvPr id="6176" name="Line 30">
              <a:extLst>
                <a:ext uri="{FF2B5EF4-FFF2-40B4-BE49-F238E27FC236}">
                  <a16:creationId xmlns:a16="http://schemas.microsoft.com/office/drawing/2014/main" id="{61E8FF32-C508-4D29-84F9-161D3609F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3699"/>
              <a:ext cx="1574" cy="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7" name="Object 6">
              <a:extLst>
                <a:ext uri="{FF2B5EF4-FFF2-40B4-BE49-F238E27FC236}">
                  <a16:creationId xmlns:a16="http://schemas.microsoft.com/office/drawing/2014/main" id="{93D2E38D-1EDF-458A-B0FD-10AE92025E3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420" y="3748"/>
            <a:ext cx="19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4" r:id="rId3" imgW="57188" imgH="76234" progId="Equation.3">
                    <p:embed/>
                  </p:oleObj>
                </mc:Choice>
                <mc:Fallback>
                  <p:oleObj r:id="rId3" imgW="57188" imgH="76234" progId="Equation.3">
                    <p:embed/>
                    <p:pic>
                      <p:nvPicPr>
                        <p:cNvPr id="6177" name="Object 6">
                          <a:extLst>
                            <a:ext uri="{FF2B5EF4-FFF2-40B4-BE49-F238E27FC236}">
                              <a16:creationId xmlns:a16="http://schemas.microsoft.com/office/drawing/2014/main" id="{93D2E38D-1EDF-458A-B0FD-10AE92025E3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" y="3748"/>
                          <a:ext cx="194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Text Box 32">
              <a:extLst>
                <a:ext uri="{FF2B5EF4-FFF2-40B4-BE49-F238E27FC236}">
                  <a16:creationId xmlns:a16="http://schemas.microsoft.com/office/drawing/2014/main" id="{EECB8C85-B8C8-4AB4-B7B9-9CB39AA4D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372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8914" name="Line 2">
            <a:extLst>
              <a:ext uri="{FF2B5EF4-FFF2-40B4-BE49-F238E27FC236}">
                <a16:creationId xmlns:a16="http://schemas.microsoft.com/office/drawing/2014/main" id="{ECA794F2-8D5A-4EAC-8CD4-160AAD3246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8550" y="4471988"/>
            <a:ext cx="914400" cy="14478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F5F586B-CAFC-49CE-97EF-FBEE6D0C2201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4471988"/>
            <a:ext cx="430213" cy="1981200"/>
            <a:chOff x="3870" y="2787"/>
            <a:chExt cx="271" cy="1248"/>
          </a:xfrm>
        </p:grpSpPr>
        <p:sp>
          <p:nvSpPr>
            <p:cNvPr id="6174" name="Line 4">
              <a:extLst>
                <a:ext uri="{FF2B5EF4-FFF2-40B4-BE49-F238E27FC236}">
                  <a16:creationId xmlns:a16="http://schemas.microsoft.com/office/drawing/2014/main" id="{1FD4576C-BD5A-46B2-ACC1-FF88D1901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2787"/>
              <a:ext cx="0" cy="91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5" name="Object 10">
              <a:extLst>
                <a:ext uri="{FF2B5EF4-FFF2-40B4-BE49-F238E27FC236}">
                  <a16:creationId xmlns:a16="http://schemas.microsoft.com/office/drawing/2014/main" id="{6BC971C8-B31A-4062-B03B-A1731A1AC0D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70" y="3689"/>
            <a:ext cx="27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5" r:id="rId5" imgW="114376" imgH="161959" progId="Equation.3">
                    <p:embed/>
                  </p:oleObj>
                </mc:Choice>
                <mc:Fallback>
                  <p:oleObj r:id="rId5" imgW="114376" imgH="161959" progId="Equation.3">
                    <p:embed/>
                    <p:pic>
                      <p:nvPicPr>
                        <p:cNvPr id="6175" name="Object 10">
                          <a:extLst>
                            <a:ext uri="{FF2B5EF4-FFF2-40B4-BE49-F238E27FC236}">
                              <a16:creationId xmlns:a16="http://schemas.microsoft.com/office/drawing/2014/main" id="{6BC971C8-B31A-4062-B03B-A1731A1AC0D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0" y="3689"/>
                          <a:ext cx="271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">
            <a:extLst>
              <a:ext uri="{FF2B5EF4-FFF2-40B4-BE49-F238E27FC236}">
                <a16:creationId xmlns:a16="http://schemas.microsoft.com/office/drawing/2014/main" id="{815C179A-DD70-496E-9177-BE62DEEB4277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4311650"/>
            <a:ext cx="1371600" cy="334963"/>
            <a:chOff x="3264" y="2784"/>
            <a:chExt cx="864" cy="211"/>
          </a:xfrm>
        </p:grpSpPr>
        <p:sp>
          <p:nvSpPr>
            <p:cNvPr id="6172" name="Line 7">
              <a:extLst>
                <a:ext uri="{FF2B5EF4-FFF2-40B4-BE49-F238E27FC236}">
                  <a16:creationId xmlns:a16="http://schemas.microsoft.com/office/drawing/2014/main" id="{3FAB7B26-424D-4A25-ADC3-64BB5EA019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2880"/>
              <a:ext cx="57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3" name="Object 9">
              <a:extLst>
                <a:ext uri="{FF2B5EF4-FFF2-40B4-BE49-F238E27FC236}">
                  <a16:creationId xmlns:a16="http://schemas.microsoft.com/office/drawing/2014/main" id="{DAA4C69F-80BD-4D26-B83F-327A5560576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64" y="2784"/>
            <a:ext cx="19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6" r:id="rId7" imgW="57188" imgH="76234" progId="Equation.3">
                    <p:embed/>
                  </p:oleObj>
                </mc:Choice>
                <mc:Fallback>
                  <p:oleObj r:id="rId7" imgW="57188" imgH="76234" progId="Equation.3">
                    <p:embed/>
                    <p:pic>
                      <p:nvPicPr>
                        <p:cNvPr id="6173" name="Object 9">
                          <a:extLst>
                            <a:ext uri="{FF2B5EF4-FFF2-40B4-BE49-F238E27FC236}">
                              <a16:creationId xmlns:a16="http://schemas.microsoft.com/office/drawing/2014/main" id="{DAA4C69F-80BD-4D26-B83F-327A5560576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784"/>
                          <a:ext cx="19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1" name="Text Box 9">
            <a:extLst>
              <a:ext uri="{FF2B5EF4-FFF2-40B4-BE49-F238E27FC236}">
                <a16:creationId xmlns:a16="http://schemas.microsoft.com/office/drawing/2014/main" id="{D177EB5B-45F3-4AEF-9FF3-F120A2E76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07975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有</a:t>
            </a:r>
            <a:r>
              <a:rPr lang="en-US" altLang="zh-CN" i="1">
                <a:solidFill>
                  <a:srgbClr val="66FFFF"/>
                </a:solidFill>
              </a:rPr>
              <a:t>N </a:t>
            </a:r>
            <a:r>
              <a:rPr lang="zh-CN" altLang="en-US">
                <a:solidFill>
                  <a:schemeClr val="bg1"/>
                </a:solidFill>
              </a:rPr>
              <a:t>个粒子，其速率分布函数为</a:t>
            </a:r>
          </a:p>
        </p:txBody>
      </p:sp>
      <p:graphicFrame>
        <p:nvGraphicFramePr>
          <p:cNvPr id="38922" name="Object 2">
            <a:extLst>
              <a:ext uri="{FF2B5EF4-FFF2-40B4-BE49-F238E27FC236}">
                <a16:creationId xmlns:a16="http://schemas.microsoft.com/office/drawing/2014/main" id="{2DB8A182-EDEC-4EBB-94C0-E34760F7CEAD}"/>
              </a:ext>
            </a:extLst>
          </p:cNvPr>
          <p:cNvGraphicFramePr>
            <a:graphicFrameLocks/>
          </p:cNvGraphicFramePr>
          <p:nvPr/>
        </p:nvGraphicFramePr>
        <p:xfrm>
          <a:off x="2787650" y="836613"/>
          <a:ext cx="4305300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37" r:id="rId9" imgW="4238657" imgH="1447834" progId="Equation.3">
                  <p:embed/>
                </p:oleObj>
              </mc:Choice>
              <mc:Fallback>
                <p:oleObj r:id="rId9" imgW="4238657" imgH="1447834" progId="Equation.3">
                  <p:embed/>
                  <p:pic>
                    <p:nvPicPr>
                      <p:cNvPr id="38922" name="Object 2">
                        <a:extLst>
                          <a:ext uri="{FF2B5EF4-FFF2-40B4-BE49-F238E27FC236}">
                            <a16:creationId xmlns:a16="http://schemas.microsoft.com/office/drawing/2014/main" id="{2DB8A182-EDEC-4EBB-94C0-E34760F7CE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836613"/>
                        <a:ext cx="4305300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AutoShape 11">
            <a:extLst>
              <a:ext uri="{FF2B5EF4-FFF2-40B4-BE49-F238E27FC236}">
                <a16:creationId xmlns:a16="http://schemas.microsoft.com/office/drawing/2014/main" id="{6B24DF04-8AB8-4286-8E91-7E02E5790945}"/>
              </a:ext>
            </a:extLst>
          </p:cNvPr>
          <p:cNvSpPr>
            <a:spLocks/>
          </p:cNvSpPr>
          <p:nvPr/>
        </p:nvSpPr>
        <p:spPr bwMode="auto">
          <a:xfrm>
            <a:off x="3802063" y="941388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924" name="Rectangle 12">
            <a:extLst>
              <a:ext uri="{FF2B5EF4-FFF2-40B4-BE49-F238E27FC236}">
                <a16:creationId xmlns:a16="http://schemas.microsoft.com/office/drawing/2014/main" id="{1A41CB84-0F4E-4B1A-A5CF-746107B27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2492375"/>
            <a:ext cx="76295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作速率分布曲线，并求常数 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速率大于</a:t>
            </a:r>
            <a:r>
              <a:rPr lang="en-US" altLang="zh-CN" sz="2800" b="0" i="1">
                <a:solidFill>
                  <a:srgbClr val="00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>
                <a:solidFill>
                  <a:srgbClr val="00FFFF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和速率小于</a:t>
            </a:r>
            <a:r>
              <a:rPr lang="en-US" altLang="zh-CN" sz="2800" b="0" i="1">
                <a:solidFill>
                  <a:srgbClr val="00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>
                <a:solidFill>
                  <a:srgbClr val="00FFFF"/>
                </a:solidFill>
              </a:rPr>
              <a:t>0</a:t>
            </a:r>
            <a:r>
              <a:rPr lang="en-US" altLang="zh-CN" b="0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的粒子数分别为多少？</a:t>
            </a:r>
          </a:p>
        </p:txBody>
      </p:sp>
      <p:sp>
        <p:nvSpPr>
          <p:cNvPr id="38925" name="Text Box 13">
            <a:extLst>
              <a:ext uri="{FF2B5EF4-FFF2-40B4-BE49-F238E27FC236}">
                <a16:creationId xmlns:a16="http://schemas.microsoft.com/office/drawing/2014/main" id="{CCB729B7-7EE1-476E-908E-B349B150F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35718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38926" name="Text Box 14">
            <a:extLst>
              <a:ext uri="{FF2B5EF4-FFF2-40B4-BE49-F238E27FC236}">
                <a16:creationId xmlns:a16="http://schemas.microsoft.com/office/drawing/2014/main" id="{A50F5117-ED2F-4B96-85A1-3CF2F87A5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38927" name="Text Box 15">
            <a:extLst>
              <a:ext uri="{FF2B5EF4-FFF2-40B4-BE49-F238E27FC236}">
                <a16:creationId xmlns:a16="http://schemas.microsoft.com/office/drawing/2014/main" id="{A7189567-7B92-41A1-B670-FCD7EF9B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565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717CF04E-DD83-4D26-A5EC-83CDF00A4CA7}"/>
              </a:ext>
            </a:extLst>
          </p:cNvPr>
          <p:cNvGrpSpPr>
            <a:grpSpLocks/>
          </p:cNvGrpSpPr>
          <p:nvPr/>
        </p:nvGrpSpPr>
        <p:grpSpPr bwMode="auto">
          <a:xfrm>
            <a:off x="6178550" y="3643313"/>
            <a:ext cx="679450" cy="2266950"/>
            <a:chOff x="3937" y="2265"/>
            <a:chExt cx="428" cy="1428"/>
          </a:xfrm>
        </p:grpSpPr>
        <p:graphicFrame>
          <p:nvGraphicFramePr>
            <p:cNvPr id="6170" name="Object 8">
              <a:extLst>
                <a:ext uri="{FF2B5EF4-FFF2-40B4-BE49-F238E27FC236}">
                  <a16:creationId xmlns:a16="http://schemas.microsoft.com/office/drawing/2014/main" id="{0164106E-517E-476D-90A7-434BF91F1E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43" y="2265"/>
            <a:ext cx="42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8" r:id="rId11" imgW="285635" imgH="133486" progId="Equation.3">
                    <p:embed/>
                  </p:oleObj>
                </mc:Choice>
                <mc:Fallback>
                  <p:oleObj r:id="rId11" imgW="285635" imgH="133486" progId="Equation.3">
                    <p:embed/>
                    <p:pic>
                      <p:nvPicPr>
                        <p:cNvPr id="6170" name="Object 8">
                          <a:extLst>
                            <a:ext uri="{FF2B5EF4-FFF2-40B4-BE49-F238E27FC236}">
                              <a16:creationId xmlns:a16="http://schemas.microsoft.com/office/drawing/2014/main" id="{0164106E-517E-476D-90A7-434BF91F1E6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" y="2265"/>
                          <a:ext cx="42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Line 18">
              <a:extLst>
                <a:ext uri="{FF2B5EF4-FFF2-40B4-BE49-F238E27FC236}">
                  <a16:creationId xmlns:a16="http://schemas.microsoft.com/office/drawing/2014/main" id="{BDCAD1B3-404B-41BE-998B-C145167F7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2310"/>
              <a:ext cx="0" cy="13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31" name="Line 19">
            <a:extLst>
              <a:ext uri="{FF2B5EF4-FFF2-40B4-BE49-F238E27FC236}">
                <a16:creationId xmlns:a16="http://schemas.microsoft.com/office/drawing/2014/main" id="{2960BC87-5FFC-4A82-AA6A-7C6A60EE4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2313" y="4471988"/>
            <a:ext cx="9906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11161578-566D-4B5D-9C37-EDACBEF5E613}"/>
              </a:ext>
            </a:extLst>
          </p:cNvPr>
          <p:cNvGrpSpPr>
            <a:grpSpLocks/>
          </p:cNvGrpSpPr>
          <p:nvPr/>
        </p:nvGrpSpPr>
        <p:grpSpPr bwMode="auto">
          <a:xfrm>
            <a:off x="7778750" y="4471988"/>
            <a:ext cx="614363" cy="1981200"/>
            <a:chOff x="4446" y="2787"/>
            <a:chExt cx="387" cy="1248"/>
          </a:xfrm>
        </p:grpSpPr>
        <p:sp>
          <p:nvSpPr>
            <p:cNvPr id="6168" name="Line 21">
              <a:extLst>
                <a:ext uri="{FF2B5EF4-FFF2-40B4-BE49-F238E27FC236}">
                  <a16:creationId xmlns:a16="http://schemas.microsoft.com/office/drawing/2014/main" id="{D99E86B5-A1FA-4028-A084-F33CBA3FA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5" y="2787"/>
              <a:ext cx="0" cy="91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69" name="Object 7">
              <a:extLst>
                <a:ext uri="{FF2B5EF4-FFF2-40B4-BE49-F238E27FC236}">
                  <a16:creationId xmlns:a16="http://schemas.microsoft.com/office/drawing/2014/main" id="{DDD8DF4A-2FDA-4499-8BCC-EA57DA7532B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46" y="3689"/>
            <a:ext cx="387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9" r:id="rId13" imgW="190525" imgH="161959" progId="Equation.3">
                    <p:embed/>
                  </p:oleObj>
                </mc:Choice>
                <mc:Fallback>
                  <p:oleObj r:id="rId13" imgW="190525" imgH="161959" progId="Equation.3">
                    <p:embed/>
                    <p:pic>
                      <p:nvPicPr>
                        <p:cNvPr id="6169" name="Object 7">
                          <a:extLst>
                            <a:ext uri="{FF2B5EF4-FFF2-40B4-BE49-F238E27FC236}">
                              <a16:creationId xmlns:a16="http://schemas.microsoft.com/office/drawing/2014/main" id="{DDD8DF4A-2FDA-4499-8BCC-EA57DA7532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3689"/>
                          <a:ext cx="387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35" name="Line 23">
            <a:extLst>
              <a:ext uri="{FF2B5EF4-FFF2-40B4-BE49-F238E27FC236}">
                <a16:creationId xmlns:a16="http://schemas.microsoft.com/office/drawing/2014/main" id="{6D1369E1-B413-4BCC-B246-39B0225B9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1325" y="5929313"/>
            <a:ext cx="4318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936" name="Object 3">
            <a:extLst>
              <a:ext uri="{FF2B5EF4-FFF2-40B4-BE49-F238E27FC236}">
                <a16:creationId xmlns:a16="http://schemas.microsoft.com/office/drawing/2014/main" id="{841509B4-57DE-4E7E-99D5-57DF9FB40B4C}"/>
              </a:ext>
            </a:extLst>
          </p:cNvPr>
          <p:cNvGraphicFramePr>
            <a:graphicFrameLocks/>
          </p:cNvGraphicFramePr>
          <p:nvPr/>
        </p:nvGraphicFramePr>
        <p:xfrm>
          <a:off x="4214813" y="5732463"/>
          <a:ext cx="10953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40" r:id="rId15" imgW="1028776" imgH="847759" progId="Equation.3">
                  <p:embed/>
                </p:oleObj>
              </mc:Choice>
              <mc:Fallback>
                <p:oleObj r:id="rId15" imgW="1028776" imgH="847759" progId="Equation.3">
                  <p:embed/>
                  <p:pic>
                    <p:nvPicPr>
                      <p:cNvPr id="38936" name="Object 3">
                        <a:extLst>
                          <a:ext uri="{FF2B5EF4-FFF2-40B4-BE49-F238E27FC236}">
                            <a16:creationId xmlns:a16="http://schemas.microsoft.com/office/drawing/2014/main" id="{841509B4-57DE-4E7E-99D5-57DF9FB40B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732463"/>
                        <a:ext cx="10953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Object 4">
            <a:extLst>
              <a:ext uri="{FF2B5EF4-FFF2-40B4-BE49-F238E27FC236}">
                <a16:creationId xmlns:a16="http://schemas.microsoft.com/office/drawing/2014/main" id="{EFB06D76-27E8-435E-9F19-7F100B7B482B}"/>
              </a:ext>
            </a:extLst>
          </p:cNvPr>
          <p:cNvGraphicFramePr>
            <a:graphicFrameLocks/>
          </p:cNvGraphicFramePr>
          <p:nvPr/>
        </p:nvGraphicFramePr>
        <p:xfrm>
          <a:off x="1214438" y="5756275"/>
          <a:ext cx="188436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41" r:id="rId17" imgW="1981098" imgH="762034" progId="Equation.3">
                  <p:embed/>
                </p:oleObj>
              </mc:Choice>
              <mc:Fallback>
                <p:oleObj r:id="rId17" imgW="1981098" imgH="762034" progId="Equation.3">
                  <p:embed/>
                  <p:pic>
                    <p:nvPicPr>
                      <p:cNvPr id="38937" name="Object 4">
                        <a:extLst>
                          <a:ext uri="{FF2B5EF4-FFF2-40B4-BE49-F238E27FC236}">
                            <a16:creationId xmlns:a16="http://schemas.microsoft.com/office/drawing/2014/main" id="{EFB06D76-27E8-435E-9F19-7F100B7B48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756275"/>
                        <a:ext cx="1884362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8" name="Text Box 26">
            <a:extLst>
              <a:ext uri="{FF2B5EF4-FFF2-40B4-BE49-F238E27FC236}">
                <a16:creationId xmlns:a16="http://schemas.microsoft.com/office/drawing/2014/main" id="{44444144-8A9D-4B39-B1C7-40CE78F70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3571875"/>
            <a:ext cx="3382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由归一化条件</a:t>
            </a:r>
          </a:p>
        </p:txBody>
      </p:sp>
      <p:graphicFrame>
        <p:nvGraphicFramePr>
          <p:cNvPr id="38939" name="Object 5">
            <a:extLst>
              <a:ext uri="{FF2B5EF4-FFF2-40B4-BE49-F238E27FC236}">
                <a16:creationId xmlns:a16="http://schemas.microsoft.com/office/drawing/2014/main" id="{7953B727-89AC-4C0A-97E5-5CC540A420E8}"/>
              </a:ext>
            </a:extLst>
          </p:cNvPr>
          <p:cNvGraphicFramePr>
            <a:graphicFrameLocks/>
          </p:cNvGraphicFramePr>
          <p:nvPr/>
        </p:nvGraphicFramePr>
        <p:xfrm>
          <a:off x="1285875" y="4857750"/>
          <a:ext cx="30003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42" r:id="rId19" imgW="3143212" imgH="847759" progId="Equation.3">
                  <p:embed/>
                </p:oleObj>
              </mc:Choice>
              <mc:Fallback>
                <p:oleObj r:id="rId19" imgW="3143212" imgH="847759" progId="Equation.3">
                  <p:embed/>
                  <p:pic>
                    <p:nvPicPr>
                      <p:cNvPr id="38939" name="Object 5">
                        <a:extLst>
                          <a:ext uri="{FF2B5EF4-FFF2-40B4-BE49-F238E27FC236}">
                            <a16:creationId xmlns:a16="http://schemas.microsoft.com/office/drawing/2014/main" id="{7953B727-89AC-4C0A-97E5-5CC540A420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857750"/>
                        <a:ext cx="30003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AutoShape 28">
            <a:extLst>
              <a:ext uri="{FF2B5EF4-FFF2-40B4-BE49-F238E27FC236}">
                <a16:creationId xmlns:a16="http://schemas.microsoft.com/office/drawing/2014/main" id="{CAFA9091-7F7D-4A4E-ABFA-CFDDD274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6019800"/>
            <a:ext cx="647700" cy="288925"/>
          </a:xfrm>
          <a:prstGeom prst="rightArrow">
            <a:avLst>
              <a:gd name="adj1" fmla="val 50000"/>
              <a:gd name="adj2" fmla="val 56034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7" name="Object 33">
            <a:extLst>
              <a:ext uri="{FF2B5EF4-FFF2-40B4-BE49-F238E27FC236}">
                <a16:creationId xmlns:a16="http://schemas.microsoft.com/office/drawing/2014/main" id="{59C99761-4CD6-406C-BBF9-AD55768F69B4}"/>
              </a:ext>
            </a:extLst>
          </p:cNvPr>
          <p:cNvGraphicFramePr>
            <a:graphicFrameLocks/>
          </p:cNvGraphicFramePr>
          <p:nvPr/>
        </p:nvGraphicFramePr>
        <p:xfrm>
          <a:off x="1285875" y="4071938"/>
          <a:ext cx="20097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43" r:id="rId21" imgW="876173" imgH="266666" progId="Equation.3">
                  <p:embed/>
                </p:oleObj>
              </mc:Choice>
              <mc:Fallback>
                <p:oleObj r:id="rId21" imgW="876173" imgH="266666" progId="Equation.3">
                  <p:embed/>
                  <p:pic>
                    <p:nvPicPr>
                      <p:cNvPr id="7" name="Object 33">
                        <a:extLst>
                          <a:ext uri="{FF2B5EF4-FFF2-40B4-BE49-F238E27FC236}">
                            <a16:creationId xmlns:a16="http://schemas.microsoft.com/office/drawing/2014/main" id="{59C99761-4CD6-406C-BBF9-AD55768F69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071938"/>
                        <a:ext cx="20097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7" name="灯片编号占位符 1">
            <a:extLst>
              <a:ext uri="{FF2B5EF4-FFF2-40B4-BE49-F238E27FC236}">
                <a16:creationId xmlns:a16="http://schemas.microsoft.com/office/drawing/2014/main" id="{723DDDD7-AA83-4891-A9FB-2401BCD4E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49D212-721B-44C4-B4B2-2DC56529C904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633181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/>
      <p:bldP spid="38923" grpId="0" animBg="1"/>
      <p:bldP spid="38924" grpId="0"/>
      <p:bldP spid="38925" grpId="0"/>
      <p:bldP spid="38926" grpId="0"/>
      <p:bldP spid="38927" grpId="0"/>
      <p:bldP spid="38938" grpId="0"/>
      <p:bldP spid="389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317E208E-CAA8-44E8-B307-7E8EC46F0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61963"/>
            <a:ext cx="84026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因为速率分布曲线下的面积代表一定速率区间内的分子数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与总分子数的比率，所以</a:t>
            </a:r>
          </a:p>
        </p:txBody>
      </p:sp>
      <p:graphicFrame>
        <p:nvGraphicFramePr>
          <p:cNvPr id="39939" name="Object 2">
            <a:extLst>
              <a:ext uri="{FF2B5EF4-FFF2-40B4-BE49-F238E27FC236}">
                <a16:creationId xmlns:a16="http://schemas.microsoft.com/office/drawing/2014/main" id="{81559373-87D6-488A-AA85-2676A092D5A1}"/>
              </a:ext>
            </a:extLst>
          </p:cNvPr>
          <p:cNvGraphicFramePr>
            <a:graphicFrameLocks/>
          </p:cNvGraphicFramePr>
          <p:nvPr/>
        </p:nvGraphicFramePr>
        <p:xfrm>
          <a:off x="2684463" y="2428875"/>
          <a:ext cx="18954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386" r:id="rId3" imgW="1828800" imgH="847759" progId="Equation.3">
                  <p:embed/>
                </p:oleObj>
              </mc:Choice>
              <mc:Fallback>
                <p:oleObj r:id="rId3" imgW="1828800" imgH="847759" progId="Equation.3">
                  <p:embed/>
                  <p:pic>
                    <p:nvPicPr>
                      <p:cNvPr id="39939" name="Object 2">
                        <a:extLst>
                          <a:ext uri="{FF2B5EF4-FFF2-40B4-BE49-F238E27FC236}">
                            <a16:creationId xmlns:a16="http://schemas.microsoft.com/office/drawing/2014/main" id="{81559373-87D6-488A-AA85-2676A092D5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2428875"/>
                        <a:ext cx="18954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>
            <a:extLst>
              <a:ext uri="{FF2B5EF4-FFF2-40B4-BE49-F238E27FC236}">
                <a16:creationId xmlns:a16="http://schemas.microsoft.com/office/drawing/2014/main" id="{96DFDB45-6129-4036-BA26-0E3BA93C0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557588"/>
            <a:ext cx="6192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因此，</a:t>
            </a:r>
            <a:r>
              <a:rPr lang="en-US" altLang="zh-CN" sz="2800" b="0" i="1">
                <a:solidFill>
                  <a:srgbClr val="FFFF00"/>
                </a:solidFill>
                <a:latin typeface="Bookman Old Style" panose="02050604050505020204" pitchFamily="18" charset="0"/>
              </a:rPr>
              <a:t>v&gt;v</a:t>
            </a:r>
            <a:r>
              <a:rPr lang="en-US" altLang="zh-CN" b="0" baseline="-25000">
                <a:solidFill>
                  <a:srgbClr val="FFFF00"/>
                </a:solidFill>
              </a:rPr>
              <a:t>0</a:t>
            </a:r>
            <a:r>
              <a:rPr lang="en-US" altLang="zh-CN" b="0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的分子数为 </a:t>
            </a:r>
            <a:r>
              <a:rPr lang="en-US" altLang="zh-CN">
                <a:solidFill>
                  <a:srgbClr val="FFFF00"/>
                </a:solidFill>
              </a:rPr>
              <a:t>2N/3</a:t>
            </a:r>
            <a:endParaRPr lang="en-US" altLang="zh-CN" i="1">
              <a:solidFill>
                <a:srgbClr val="FFFF00"/>
              </a:solidFill>
            </a:endParaRP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EE9A5C15-F5DF-434F-ACDC-5F0D61DCA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4349750"/>
            <a:ext cx="6526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同理   </a:t>
            </a:r>
            <a:r>
              <a:rPr lang="en-US" altLang="zh-CN" sz="2800" b="0" i="1">
                <a:solidFill>
                  <a:srgbClr val="FFFF00"/>
                </a:solidFill>
                <a:latin typeface="Bookman Old Style" panose="02050604050505020204" pitchFamily="18" charset="0"/>
              </a:rPr>
              <a:t>v&lt;v</a:t>
            </a:r>
            <a:r>
              <a:rPr lang="en-US" altLang="zh-CN" b="0" baseline="-25000">
                <a:solidFill>
                  <a:srgbClr val="FFFF00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的分子数为 </a:t>
            </a:r>
            <a:r>
              <a:rPr lang="en-US" altLang="zh-CN">
                <a:solidFill>
                  <a:srgbClr val="FFFF00"/>
                </a:solidFill>
              </a:rPr>
              <a:t>N/3</a:t>
            </a:r>
            <a:endParaRPr lang="en-US" altLang="zh-CN" i="1">
              <a:solidFill>
                <a:srgbClr val="FFFF00"/>
              </a:solidFill>
            </a:endParaRPr>
          </a:p>
        </p:txBody>
      </p:sp>
      <p:graphicFrame>
        <p:nvGraphicFramePr>
          <p:cNvPr id="39942" name="Object 3">
            <a:extLst>
              <a:ext uri="{FF2B5EF4-FFF2-40B4-BE49-F238E27FC236}">
                <a16:creationId xmlns:a16="http://schemas.microsoft.com/office/drawing/2014/main" id="{ABBA9022-DE77-4F28-8F3F-9E9E5EAB8B43}"/>
              </a:ext>
            </a:extLst>
          </p:cNvPr>
          <p:cNvGraphicFramePr>
            <a:graphicFrameLocks/>
          </p:cNvGraphicFramePr>
          <p:nvPr/>
        </p:nvGraphicFramePr>
        <p:xfrm>
          <a:off x="1143000" y="2449513"/>
          <a:ext cx="14525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387" r:id="rId5" imgW="1371600" imgH="762034" progId="Equation.3">
                  <p:embed/>
                </p:oleObj>
              </mc:Choice>
              <mc:Fallback>
                <p:oleObj r:id="rId5" imgW="1371600" imgH="762034" progId="Equation.3">
                  <p:embed/>
                  <p:pic>
                    <p:nvPicPr>
                      <p:cNvPr id="39942" name="Object 3">
                        <a:extLst>
                          <a:ext uri="{FF2B5EF4-FFF2-40B4-BE49-F238E27FC236}">
                            <a16:creationId xmlns:a16="http://schemas.microsoft.com/office/drawing/2014/main" id="{ABBA9022-DE77-4F28-8F3F-9E9E5EAB8B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49513"/>
                        <a:ext cx="14525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4">
            <a:extLst>
              <a:ext uri="{FF2B5EF4-FFF2-40B4-BE49-F238E27FC236}">
                <a16:creationId xmlns:a16="http://schemas.microsoft.com/office/drawing/2014/main" id="{AC183801-E493-44DF-BCD6-7ABDC556849E}"/>
              </a:ext>
            </a:extLst>
          </p:cNvPr>
          <p:cNvGraphicFramePr>
            <a:graphicFrameLocks/>
          </p:cNvGraphicFramePr>
          <p:nvPr/>
        </p:nvGraphicFramePr>
        <p:xfrm>
          <a:off x="1227138" y="1628775"/>
          <a:ext cx="8715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388" r:id="rId7" imgW="800024" imgH="361882" progId="Equation.3">
                  <p:embed/>
                </p:oleObj>
              </mc:Choice>
              <mc:Fallback>
                <p:oleObj r:id="rId7" imgW="800024" imgH="361882" progId="Equation.3">
                  <p:embed/>
                  <p:pic>
                    <p:nvPicPr>
                      <p:cNvPr id="39943" name="Object 4">
                        <a:extLst>
                          <a:ext uri="{FF2B5EF4-FFF2-40B4-BE49-F238E27FC236}">
                            <a16:creationId xmlns:a16="http://schemas.microsoft.com/office/drawing/2014/main" id="{AC183801-E493-44DF-BCD6-7ABDC55684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1628775"/>
                        <a:ext cx="8715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5">
            <a:extLst>
              <a:ext uri="{FF2B5EF4-FFF2-40B4-BE49-F238E27FC236}">
                <a16:creationId xmlns:a16="http://schemas.microsoft.com/office/drawing/2014/main" id="{57F211AD-450C-468D-A2FA-B02B5D2688FA}"/>
              </a:ext>
            </a:extLst>
          </p:cNvPr>
          <p:cNvGraphicFramePr>
            <a:graphicFrameLocks/>
          </p:cNvGraphicFramePr>
          <p:nvPr/>
        </p:nvGraphicFramePr>
        <p:xfrm>
          <a:off x="5803900" y="2444750"/>
          <a:ext cx="1420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389" r:id="rId9" imgW="1352639" imgH="762034" progId="Equation.3">
                  <p:embed/>
                </p:oleObj>
              </mc:Choice>
              <mc:Fallback>
                <p:oleObj r:id="rId9" imgW="1352639" imgH="762034" progId="Equation.3">
                  <p:embed/>
                  <p:pic>
                    <p:nvPicPr>
                      <p:cNvPr id="39944" name="Object 5">
                        <a:extLst>
                          <a:ext uri="{FF2B5EF4-FFF2-40B4-BE49-F238E27FC236}">
                            <a16:creationId xmlns:a16="http://schemas.microsoft.com/office/drawing/2014/main" id="{57F211AD-450C-468D-A2FA-B02B5D2688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2444750"/>
                        <a:ext cx="14208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9">
            <a:extLst>
              <a:ext uri="{FF2B5EF4-FFF2-40B4-BE49-F238E27FC236}">
                <a16:creationId xmlns:a16="http://schemas.microsoft.com/office/drawing/2014/main" id="{2819087F-68E7-4943-B41F-2E07104E5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1603375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的分子数与总分子数的比率</a:t>
            </a:r>
          </a:p>
        </p:txBody>
      </p:sp>
      <p:sp>
        <p:nvSpPr>
          <p:cNvPr id="39946" name="AutoShape 10">
            <a:extLst>
              <a:ext uri="{FF2B5EF4-FFF2-40B4-BE49-F238E27FC236}">
                <a16:creationId xmlns:a16="http://schemas.microsoft.com/office/drawing/2014/main" id="{6B4F8DFB-5837-4E2C-8B81-A12A5954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2733675"/>
            <a:ext cx="647700" cy="288925"/>
          </a:xfrm>
          <a:prstGeom prst="rightArrow">
            <a:avLst>
              <a:gd name="adj1" fmla="val 50000"/>
              <a:gd name="adj2" fmla="val 56034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179" name="灯片编号占位符 1">
            <a:extLst>
              <a:ext uri="{FF2B5EF4-FFF2-40B4-BE49-F238E27FC236}">
                <a16:creationId xmlns:a16="http://schemas.microsoft.com/office/drawing/2014/main" id="{184E79F2-DF3E-4407-BEE5-3F2620E67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DB2832-991C-4498-AE92-E917D70A1CF6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  <p:extLst>
      <p:ext uri="{BB962C8B-B14F-4D97-AF65-F5344CB8AC3E}">
        <p14:creationId xmlns:p14="http://schemas.microsoft.com/office/powerpoint/2010/main" val="39876175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40" grpId="0"/>
      <p:bldP spid="39941" grpId="0"/>
      <p:bldP spid="39945" grpId="0"/>
      <p:bldP spid="399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>
            <a:extLst>
              <a:ext uri="{FF2B5EF4-FFF2-40B4-BE49-F238E27FC236}">
                <a16:creationId xmlns:a16="http://schemas.microsoft.com/office/drawing/2014/main" id="{B1A047B6-5990-4D49-92F6-AB1033763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249238"/>
            <a:ext cx="78787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某系统由两种理想气体</a:t>
            </a: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组成，分子数分别为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378DA36E-DBCF-4716-8C3B-110EB8700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47650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解：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18B6378B-DDF3-4F5D-A888-7576E2D64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59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F5EB6A14-85AA-441C-BAC8-A59683E8D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224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54299" name="Text Box 27">
            <a:extLst>
              <a:ext uri="{FF2B5EF4-FFF2-40B4-BE49-F238E27FC236}">
                <a16:creationId xmlns:a16="http://schemas.microsoft.com/office/drawing/2014/main" id="{48AE83A6-934E-49BF-A607-F37809D17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877888"/>
            <a:ext cx="78787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在某一温度下，</a:t>
            </a: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气体各自的速率分布为</a:t>
            </a:r>
          </a:p>
        </p:txBody>
      </p:sp>
      <p:sp>
        <p:nvSpPr>
          <p:cNvPr id="54300" name="Text Box 28">
            <a:extLst>
              <a:ext uri="{FF2B5EF4-FFF2-40B4-BE49-F238E27FC236}">
                <a16:creationId xmlns:a16="http://schemas.microsoft.com/office/drawing/2014/main" id="{7594A4AC-B203-4412-ACF3-0F1D3F83E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1500188"/>
            <a:ext cx="80549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在同一温度下，由</a:t>
            </a: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气体组成的系统速率分布函数？</a:t>
            </a:r>
          </a:p>
        </p:txBody>
      </p:sp>
      <p:graphicFrame>
        <p:nvGraphicFramePr>
          <p:cNvPr id="54301" name="Object 2">
            <a:extLst>
              <a:ext uri="{FF2B5EF4-FFF2-40B4-BE49-F238E27FC236}">
                <a16:creationId xmlns:a16="http://schemas.microsoft.com/office/drawing/2014/main" id="{DD5F4D5C-50D1-4A99-9C0D-1410E024C860}"/>
              </a:ext>
            </a:extLst>
          </p:cNvPr>
          <p:cNvGraphicFramePr>
            <a:graphicFrameLocks/>
          </p:cNvGraphicFramePr>
          <p:nvPr/>
        </p:nvGraphicFramePr>
        <p:xfrm>
          <a:off x="7358063" y="285750"/>
          <a:ext cx="5826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77" r:id="rId4" imgW="200006" imgH="180941" progId="Equation.3">
                  <p:embed/>
                </p:oleObj>
              </mc:Choice>
              <mc:Fallback>
                <p:oleObj r:id="rId4" imgW="200006" imgH="180941" progId="Equation.3">
                  <p:embed/>
                  <p:pic>
                    <p:nvPicPr>
                      <p:cNvPr id="54301" name="Object 2">
                        <a:extLst>
                          <a:ext uri="{FF2B5EF4-FFF2-40B4-BE49-F238E27FC236}">
                            <a16:creationId xmlns:a16="http://schemas.microsoft.com/office/drawing/2014/main" id="{DD5F4D5C-50D1-4A99-9C0D-1410E024C8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285750"/>
                        <a:ext cx="5826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2" name="Object 3">
            <a:extLst>
              <a:ext uri="{FF2B5EF4-FFF2-40B4-BE49-F238E27FC236}">
                <a16:creationId xmlns:a16="http://schemas.microsoft.com/office/drawing/2014/main" id="{ACD38D2D-BEB4-4357-9482-CC38537EB8CA}"/>
              </a:ext>
            </a:extLst>
          </p:cNvPr>
          <p:cNvGraphicFramePr>
            <a:graphicFrameLocks/>
          </p:cNvGraphicFramePr>
          <p:nvPr/>
        </p:nvGraphicFramePr>
        <p:xfrm>
          <a:off x="8001000" y="285750"/>
          <a:ext cx="5524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78" r:id="rId6" imgW="190525" imgH="180941" progId="Equation.3">
                  <p:embed/>
                </p:oleObj>
              </mc:Choice>
              <mc:Fallback>
                <p:oleObj r:id="rId6" imgW="190525" imgH="180941" progId="Equation.3">
                  <p:embed/>
                  <p:pic>
                    <p:nvPicPr>
                      <p:cNvPr id="54302" name="Object 3">
                        <a:extLst>
                          <a:ext uri="{FF2B5EF4-FFF2-40B4-BE49-F238E27FC236}">
                            <a16:creationId xmlns:a16="http://schemas.microsoft.com/office/drawing/2014/main" id="{ACD38D2D-BEB4-4357-9482-CC38537EB8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85750"/>
                        <a:ext cx="5524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3" name="Object 4">
            <a:extLst>
              <a:ext uri="{FF2B5EF4-FFF2-40B4-BE49-F238E27FC236}">
                <a16:creationId xmlns:a16="http://schemas.microsoft.com/office/drawing/2014/main" id="{A52E5CE3-E9CA-4C05-99BF-9D7A5F050E3D}"/>
              </a:ext>
            </a:extLst>
          </p:cNvPr>
          <p:cNvGraphicFramePr>
            <a:graphicFrameLocks/>
          </p:cNvGraphicFramePr>
          <p:nvPr/>
        </p:nvGraphicFramePr>
        <p:xfrm>
          <a:off x="6765925" y="857250"/>
          <a:ext cx="9493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79" r:id="rId8" imgW="352304" imgH="180941" progId="Equation.3">
                  <p:embed/>
                </p:oleObj>
              </mc:Choice>
              <mc:Fallback>
                <p:oleObj r:id="rId8" imgW="352304" imgH="180941" progId="Equation.3">
                  <p:embed/>
                  <p:pic>
                    <p:nvPicPr>
                      <p:cNvPr id="54303" name="Object 4">
                        <a:extLst>
                          <a:ext uri="{FF2B5EF4-FFF2-40B4-BE49-F238E27FC236}">
                            <a16:creationId xmlns:a16="http://schemas.microsoft.com/office/drawing/2014/main" id="{A52E5CE3-E9CA-4C05-99BF-9D7A5F050E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925" y="857250"/>
                        <a:ext cx="9493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4" name="Object 5">
            <a:extLst>
              <a:ext uri="{FF2B5EF4-FFF2-40B4-BE49-F238E27FC236}">
                <a16:creationId xmlns:a16="http://schemas.microsoft.com/office/drawing/2014/main" id="{39FC1B97-AAF0-4B74-9130-90FF625A6710}"/>
              </a:ext>
            </a:extLst>
          </p:cNvPr>
          <p:cNvGraphicFramePr>
            <a:graphicFrameLocks/>
          </p:cNvGraphicFramePr>
          <p:nvPr/>
        </p:nvGraphicFramePr>
        <p:xfrm>
          <a:off x="7786688" y="857250"/>
          <a:ext cx="9493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0" r:id="rId10" imgW="352304" imgH="180941" progId="Equation.3">
                  <p:embed/>
                </p:oleObj>
              </mc:Choice>
              <mc:Fallback>
                <p:oleObj r:id="rId10" imgW="352304" imgH="180941" progId="Equation.3">
                  <p:embed/>
                  <p:pic>
                    <p:nvPicPr>
                      <p:cNvPr id="54304" name="Object 5">
                        <a:extLst>
                          <a:ext uri="{FF2B5EF4-FFF2-40B4-BE49-F238E27FC236}">
                            <a16:creationId xmlns:a16="http://schemas.microsoft.com/office/drawing/2014/main" id="{39FC1B97-AAF0-4B74-9130-90FF625A67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688" y="857250"/>
                        <a:ext cx="9493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5" name="Object 6">
            <a:extLst>
              <a:ext uri="{FF2B5EF4-FFF2-40B4-BE49-F238E27FC236}">
                <a16:creationId xmlns:a16="http://schemas.microsoft.com/office/drawing/2014/main" id="{F0B618CF-297C-429C-B47B-2EEF0DC099BF}"/>
              </a:ext>
            </a:extLst>
          </p:cNvPr>
          <p:cNvGraphicFramePr>
            <a:graphicFrameLocks/>
          </p:cNvGraphicFramePr>
          <p:nvPr/>
        </p:nvGraphicFramePr>
        <p:xfrm>
          <a:off x="1287463" y="2293938"/>
          <a:ext cx="17843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1" r:id="rId12" imgW="1743171" imgH="790507" progId="Equation.3">
                  <p:embed/>
                </p:oleObj>
              </mc:Choice>
              <mc:Fallback>
                <p:oleObj r:id="rId12" imgW="1743171" imgH="790507" progId="Equation.3">
                  <p:embed/>
                  <p:pic>
                    <p:nvPicPr>
                      <p:cNvPr id="54305" name="Object 6">
                        <a:extLst>
                          <a:ext uri="{FF2B5EF4-FFF2-40B4-BE49-F238E27FC236}">
                            <a16:creationId xmlns:a16="http://schemas.microsoft.com/office/drawing/2014/main" id="{F0B618CF-297C-429C-B47B-2EEF0DC099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2293938"/>
                        <a:ext cx="17843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6" name="Object 7">
            <a:extLst>
              <a:ext uri="{FF2B5EF4-FFF2-40B4-BE49-F238E27FC236}">
                <a16:creationId xmlns:a16="http://schemas.microsoft.com/office/drawing/2014/main" id="{D22AE23F-746C-4E36-871D-64D18A718FC3}"/>
              </a:ext>
            </a:extLst>
          </p:cNvPr>
          <p:cNvGraphicFramePr>
            <a:graphicFrameLocks/>
          </p:cNvGraphicFramePr>
          <p:nvPr/>
        </p:nvGraphicFramePr>
        <p:xfrm>
          <a:off x="4492625" y="2143125"/>
          <a:ext cx="20193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2" r:id="rId14" imgW="800024" imgH="180941" progId="Equation.3">
                  <p:embed/>
                </p:oleObj>
              </mc:Choice>
              <mc:Fallback>
                <p:oleObj r:id="rId14" imgW="800024" imgH="180941" progId="Equation.3">
                  <p:embed/>
                  <p:pic>
                    <p:nvPicPr>
                      <p:cNvPr id="54306" name="Object 7">
                        <a:extLst>
                          <a:ext uri="{FF2B5EF4-FFF2-40B4-BE49-F238E27FC236}">
                            <a16:creationId xmlns:a16="http://schemas.microsoft.com/office/drawing/2014/main" id="{D22AE23F-746C-4E36-871D-64D18A718FC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2143125"/>
                        <a:ext cx="20193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7" name="Text Box 35">
            <a:extLst>
              <a:ext uri="{FF2B5EF4-FFF2-40B4-BE49-F238E27FC236}">
                <a16:creationId xmlns:a16="http://schemas.microsoft.com/office/drawing/2014/main" id="{88CC741B-9DA0-479B-8E9B-AC7D86D26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2476500"/>
            <a:ext cx="1173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其中</a:t>
            </a:r>
          </a:p>
        </p:txBody>
      </p:sp>
      <p:graphicFrame>
        <p:nvGraphicFramePr>
          <p:cNvPr id="54308" name="Object 8">
            <a:extLst>
              <a:ext uri="{FF2B5EF4-FFF2-40B4-BE49-F238E27FC236}">
                <a16:creationId xmlns:a16="http://schemas.microsoft.com/office/drawing/2014/main" id="{7FDA495C-32CF-4C48-B480-30161E5A6284}"/>
              </a:ext>
            </a:extLst>
          </p:cNvPr>
          <p:cNvGraphicFramePr>
            <a:graphicFrameLocks/>
          </p:cNvGraphicFramePr>
          <p:nvPr/>
        </p:nvGraphicFramePr>
        <p:xfrm>
          <a:off x="4349750" y="2833688"/>
          <a:ext cx="25082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3" r:id="rId16" imgW="1000029" imgH="180941" progId="Equation.3">
                  <p:embed/>
                </p:oleObj>
              </mc:Choice>
              <mc:Fallback>
                <p:oleObj r:id="rId16" imgW="1000029" imgH="180941" progId="Equation.3">
                  <p:embed/>
                  <p:pic>
                    <p:nvPicPr>
                      <p:cNvPr id="54308" name="Object 8">
                        <a:extLst>
                          <a:ext uri="{FF2B5EF4-FFF2-40B4-BE49-F238E27FC236}">
                            <a16:creationId xmlns:a16="http://schemas.microsoft.com/office/drawing/2014/main" id="{7FDA495C-32CF-4C48-B480-30161E5A62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2833688"/>
                        <a:ext cx="25082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9" name="Object 9">
            <a:extLst>
              <a:ext uri="{FF2B5EF4-FFF2-40B4-BE49-F238E27FC236}">
                <a16:creationId xmlns:a16="http://schemas.microsoft.com/office/drawing/2014/main" id="{A96ABA92-C142-4814-B186-44E53C7AA818}"/>
              </a:ext>
            </a:extLst>
          </p:cNvPr>
          <p:cNvGraphicFramePr>
            <a:graphicFrameLocks/>
          </p:cNvGraphicFramePr>
          <p:nvPr/>
        </p:nvGraphicFramePr>
        <p:xfrm>
          <a:off x="1360488" y="3600450"/>
          <a:ext cx="2997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4" r:id="rId18" imgW="1200035" imgH="180941" progId="Equation.3">
                  <p:embed/>
                </p:oleObj>
              </mc:Choice>
              <mc:Fallback>
                <p:oleObj r:id="rId18" imgW="1200035" imgH="180941" progId="Equation.3">
                  <p:embed/>
                  <p:pic>
                    <p:nvPicPr>
                      <p:cNvPr id="54309" name="Object 9">
                        <a:extLst>
                          <a:ext uri="{FF2B5EF4-FFF2-40B4-BE49-F238E27FC236}">
                            <a16:creationId xmlns:a16="http://schemas.microsoft.com/office/drawing/2014/main" id="{A96ABA92-C142-4814-B186-44E53C7AA8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3600450"/>
                        <a:ext cx="29972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0" name="Object 10">
            <a:extLst>
              <a:ext uri="{FF2B5EF4-FFF2-40B4-BE49-F238E27FC236}">
                <a16:creationId xmlns:a16="http://schemas.microsoft.com/office/drawing/2014/main" id="{B8D1140D-FAEE-4A96-B46A-37CCA778C474}"/>
              </a:ext>
            </a:extLst>
          </p:cNvPr>
          <p:cNvGraphicFramePr>
            <a:graphicFrameLocks/>
          </p:cNvGraphicFramePr>
          <p:nvPr/>
        </p:nvGraphicFramePr>
        <p:xfrm>
          <a:off x="5218113" y="3600450"/>
          <a:ext cx="2997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5" r:id="rId20" imgW="1200035" imgH="180941" progId="Equation.3">
                  <p:embed/>
                </p:oleObj>
              </mc:Choice>
              <mc:Fallback>
                <p:oleObj r:id="rId20" imgW="1200035" imgH="180941" progId="Equation.3">
                  <p:embed/>
                  <p:pic>
                    <p:nvPicPr>
                      <p:cNvPr id="54310" name="Object 10">
                        <a:extLst>
                          <a:ext uri="{FF2B5EF4-FFF2-40B4-BE49-F238E27FC236}">
                            <a16:creationId xmlns:a16="http://schemas.microsoft.com/office/drawing/2014/main" id="{B8D1140D-FAEE-4A96-B46A-37CCA778C4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113" y="3600450"/>
                        <a:ext cx="29972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1" name="Object 11">
            <a:extLst>
              <a:ext uri="{FF2B5EF4-FFF2-40B4-BE49-F238E27FC236}">
                <a16:creationId xmlns:a16="http://schemas.microsoft.com/office/drawing/2014/main" id="{94324445-0F45-4AD9-A213-F45191D49799}"/>
              </a:ext>
            </a:extLst>
          </p:cNvPr>
          <p:cNvGraphicFramePr>
            <a:graphicFrameLocks/>
          </p:cNvGraphicFramePr>
          <p:nvPr/>
        </p:nvGraphicFramePr>
        <p:xfrm>
          <a:off x="1285875" y="4357688"/>
          <a:ext cx="53832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6" r:id="rId22" imgW="2200371" imgH="390661" progId="Equation.3">
                  <p:embed/>
                </p:oleObj>
              </mc:Choice>
              <mc:Fallback>
                <p:oleObj r:id="rId22" imgW="2200371" imgH="390661" progId="Equation.3">
                  <p:embed/>
                  <p:pic>
                    <p:nvPicPr>
                      <p:cNvPr id="54311" name="Object 11">
                        <a:extLst>
                          <a:ext uri="{FF2B5EF4-FFF2-40B4-BE49-F238E27FC236}">
                            <a16:creationId xmlns:a16="http://schemas.microsoft.com/office/drawing/2014/main" id="{94324445-0F45-4AD9-A213-F45191D497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357688"/>
                        <a:ext cx="53832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2" name="Object 12">
            <a:extLst>
              <a:ext uri="{FF2B5EF4-FFF2-40B4-BE49-F238E27FC236}">
                <a16:creationId xmlns:a16="http://schemas.microsoft.com/office/drawing/2014/main" id="{414D701E-41AA-4562-87DD-90D65907D558}"/>
              </a:ext>
            </a:extLst>
          </p:cNvPr>
          <p:cNvGraphicFramePr>
            <a:graphicFrameLocks/>
          </p:cNvGraphicFramePr>
          <p:nvPr/>
        </p:nvGraphicFramePr>
        <p:xfrm>
          <a:off x="2071688" y="5572125"/>
          <a:ext cx="33956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87" r:id="rId24" imgW="1371600" imgH="390661" progId="Equation.3">
                  <p:embed/>
                </p:oleObj>
              </mc:Choice>
              <mc:Fallback>
                <p:oleObj r:id="rId24" imgW="1371600" imgH="390661" progId="Equation.3">
                  <p:embed/>
                  <p:pic>
                    <p:nvPicPr>
                      <p:cNvPr id="54312" name="Object 12">
                        <a:extLst>
                          <a:ext uri="{FF2B5EF4-FFF2-40B4-BE49-F238E27FC236}">
                            <a16:creationId xmlns:a16="http://schemas.microsoft.com/office/drawing/2014/main" id="{414D701E-41AA-4562-87DD-90D65907D55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572125"/>
                        <a:ext cx="339566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灯片编号占位符 1">
            <a:extLst>
              <a:ext uri="{FF2B5EF4-FFF2-40B4-BE49-F238E27FC236}">
                <a16:creationId xmlns:a16="http://schemas.microsoft.com/office/drawing/2014/main" id="{846D5D56-50DD-47EA-8F33-ECC2CFE22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0790E1-3ACD-417E-9E93-58F9E2BC8F38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/>
      <p:bldP spid="54277" grpId="0"/>
      <p:bldP spid="54278" grpId="0"/>
      <p:bldP spid="54279" grpId="0"/>
      <p:bldP spid="54299" grpId="0"/>
      <p:bldP spid="54300" grpId="0"/>
      <p:bldP spid="543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4">
            <a:extLst>
              <a:ext uri="{FF2B5EF4-FFF2-40B4-BE49-F238E27FC236}">
                <a16:creationId xmlns:a16="http://schemas.microsoft.com/office/drawing/2014/main" id="{D077C42F-C35A-40ED-B313-540633EED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357188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FF00"/>
                </a:solidFill>
                <a:sym typeface="Wingdings" panose="05000000000000000000" pitchFamily="2" charset="2"/>
              </a:rPr>
              <a:t>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解题思路</a:t>
            </a:r>
          </a:p>
        </p:txBody>
      </p:sp>
      <p:sp>
        <p:nvSpPr>
          <p:cNvPr id="138245" name="Text Box 5">
            <a:extLst>
              <a:ext uri="{FF2B5EF4-FFF2-40B4-BE49-F238E27FC236}">
                <a16:creationId xmlns:a16="http://schemas.microsoft.com/office/drawing/2014/main" id="{519446E3-0E53-4159-89E8-463ECCD9C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03275"/>
            <a:ext cx="79629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8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麦克斯韦速率分布律处理实际问题，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正确理解和掌握速率分布函数与麦克斯韦速率分布规律的物理意义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是关键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ts val="38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例如：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24B2CD20-119B-4E20-8DF7-D01E6ABC4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38246" name="Object 2">
            <a:extLst>
              <a:ext uri="{FF2B5EF4-FFF2-40B4-BE49-F238E27FC236}">
                <a16:creationId xmlns:a16="http://schemas.microsoft.com/office/drawing/2014/main" id="{6E11EE02-51A5-4FD2-B2D4-FE557C26DE80}"/>
              </a:ext>
            </a:extLst>
          </p:cNvPr>
          <p:cNvGraphicFramePr>
            <a:graphicFrameLocks/>
          </p:cNvGraphicFramePr>
          <p:nvPr/>
        </p:nvGraphicFramePr>
        <p:xfrm>
          <a:off x="2403475" y="2000250"/>
          <a:ext cx="20256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40" r:id="rId3" imgW="1647755" imgH="685800" progId="Equation.3">
                  <p:embed/>
                </p:oleObj>
              </mc:Choice>
              <mc:Fallback>
                <p:oleObj r:id="rId3" imgW="1647755" imgH="685800" progId="Equation.3">
                  <p:embed/>
                  <p:pic>
                    <p:nvPicPr>
                      <p:cNvPr id="138246" name="Object 2">
                        <a:extLst>
                          <a:ext uri="{FF2B5EF4-FFF2-40B4-BE49-F238E27FC236}">
                            <a16:creationId xmlns:a16="http://schemas.microsoft.com/office/drawing/2014/main" id="{6E11EE02-51A5-4FD2-B2D4-FE557C26DE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2000250"/>
                        <a:ext cx="20256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8" name="Text Box 8">
            <a:extLst>
              <a:ext uri="{FF2B5EF4-FFF2-40B4-BE49-F238E27FC236}">
                <a16:creationId xmlns:a16="http://schemas.microsoft.com/office/drawing/2014/main" id="{E5029751-F749-4C41-ADE4-43E3C6071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955925"/>
            <a:ext cx="735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表示平衡态下，处在速率间隔</a:t>
            </a:r>
            <a:r>
              <a:rPr lang="en-US" altLang="zh-CN" i="1">
                <a:solidFill>
                  <a:srgbClr val="FFCC66"/>
                </a:solidFill>
              </a:rPr>
              <a:t>v  ~ v </a:t>
            </a:r>
            <a:r>
              <a:rPr lang="en-US" altLang="zh-CN">
                <a:solidFill>
                  <a:srgbClr val="FFCC66"/>
                </a:solidFill>
              </a:rPr>
              <a:t>+d</a:t>
            </a:r>
            <a:r>
              <a:rPr lang="en-US" altLang="zh-CN" i="1">
                <a:solidFill>
                  <a:srgbClr val="FFCC66"/>
                </a:solidFill>
              </a:rPr>
              <a:t>v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内的分子数占总分子数的比率</a:t>
            </a:r>
          </a:p>
        </p:txBody>
      </p:sp>
      <p:sp>
        <p:nvSpPr>
          <p:cNvPr id="17415" name="Rectangle 10">
            <a:extLst>
              <a:ext uri="{FF2B5EF4-FFF2-40B4-BE49-F238E27FC236}">
                <a16:creationId xmlns:a16="http://schemas.microsoft.com/office/drawing/2014/main" id="{A1D8036D-A89C-448E-8A9B-D1FAB7E7B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416" name="Rectangle 12">
            <a:extLst>
              <a:ext uri="{FF2B5EF4-FFF2-40B4-BE49-F238E27FC236}">
                <a16:creationId xmlns:a16="http://schemas.microsoft.com/office/drawing/2014/main" id="{5015F233-D1FA-4DE9-8A0A-C3DE5C8B5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38251" name="Object 3">
            <a:extLst>
              <a:ext uri="{FF2B5EF4-FFF2-40B4-BE49-F238E27FC236}">
                <a16:creationId xmlns:a16="http://schemas.microsoft.com/office/drawing/2014/main" id="{08CEE6BD-AFF1-481C-9BEF-ABCDFC9F095A}"/>
              </a:ext>
            </a:extLst>
          </p:cNvPr>
          <p:cNvGraphicFramePr>
            <a:graphicFrameLocks/>
          </p:cNvGraphicFramePr>
          <p:nvPr/>
        </p:nvGraphicFramePr>
        <p:xfrm>
          <a:off x="2428875" y="3929063"/>
          <a:ext cx="232886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41" r:id="rId5" imgW="1790573" imgH="304936" progId="Equation.3">
                  <p:embed/>
                </p:oleObj>
              </mc:Choice>
              <mc:Fallback>
                <p:oleObj r:id="rId5" imgW="1790573" imgH="304936" progId="Equation.3">
                  <p:embed/>
                  <p:pic>
                    <p:nvPicPr>
                      <p:cNvPr id="138251" name="Object 3">
                        <a:extLst>
                          <a:ext uri="{FF2B5EF4-FFF2-40B4-BE49-F238E27FC236}">
                            <a16:creationId xmlns:a16="http://schemas.microsoft.com/office/drawing/2014/main" id="{08CEE6BD-AFF1-481C-9BEF-ABCDFC9F09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929063"/>
                        <a:ext cx="232886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7" name="Text Box 17">
            <a:extLst>
              <a:ext uri="{FF2B5EF4-FFF2-40B4-BE49-F238E27FC236}">
                <a16:creationId xmlns:a16="http://schemas.microsoft.com/office/drawing/2014/main" id="{56CEFB74-8936-4C7D-8904-7797C0BE5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4500563"/>
            <a:ext cx="757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表示平衡态下，处在速率间隔</a:t>
            </a:r>
            <a:r>
              <a:rPr lang="en-US" altLang="zh-CN" i="1">
                <a:solidFill>
                  <a:srgbClr val="FFCC66"/>
                </a:solidFill>
              </a:rPr>
              <a:t>v  ~ v </a:t>
            </a:r>
            <a:r>
              <a:rPr lang="en-US" altLang="zh-CN">
                <a:solidFill>
                  <a:srgbClr val="FFCC66"/>
                </a:solidFill>
              </a:rPr>
              <a:t>+d</a:t>
            </a:r>
            <a:r>
              <a:rPr lang="en-US" altLang="zh-CN" i="1">
                <a:solidFill>
                  <a:srgbClr val="FFCC66"/>
                </a:solidFill>
              </a:rPr>
              <a:t>v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内的分子数</a:t>
            </a:r>
          </a:p>
        </p:txBody>
      </p:sp>
      <p:sp>
        <p:nvSpPr>
          <p:cNvPr id="17419" name="Rectangle 20">
            <a:extLst>
              <a:ext uri="{FF2B5EF4-FFF2-40B4-BE49-F238E27FC236}">
                <a16:creationId xmlns:a16="http://schemas.microsoft.com/office/drawing/2014/main" id="{6637C7EC-11AD-4D9B-BEC4-F4232798F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38259" name="Object 4">
            <a:extLst>
              <a:ext uri="{FF2B5EF4-FFF2-40B4-BE49-F238E27FC236}">
                <a16:creationId xmlns:a16="http://schemas.microsoft.com/office/drawing/2014/main" id="{555049C8-CB1C-4183-A4C6-080A96ADAA47}"/>
              </a:ext>
            </a:extLst>
          </p:cNvPr>
          <p:cNvGraphicFramePr>
            <a:graphicFrameLocks/>
          </p:cNvGraphicFramePr>
          <p:nvPr/>
        </p:nvGraphicFramePr>
        <p:xfrm>
          <a:off x="2357438" y="5072063"/>
          <a:ext cx="3073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42" r:id="rId7" imgW="1266704" imgH="314427" progId="Equation.3">
                  <p:embed/>
                </p:oleObj>
              </mc:Choice>
              <mc:Fallback>
                <p:oleObj r:id="rId7" imgW="1266704" imgH="314427" progId="Equation.3">
                  <p:embed/>
                  <p:pic>
                    <p:nvPicPr>
                      <p:cNvPr id="138259" name="Object 4">
                        <a:extLst>
                          <a:ext uri="{FF2B5EF4-FFF2-40B4-BE49-F238E27FC236}">
                            <a16:creationId xmlns:a16="http://schemas.microsoft.com/office/drawing/2014/main" id="{555049C8-CB1C-4183-A4C6-080A96ADAA4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5072063"/>
                        <a:ext cx="30734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1" name="Text Box 21">
            <a:extLst>
              <a:ext uri="{FF2B5EF4-FFF2-40B4-BE49-F238E27FC236}">
                <a16:creationId xmlns:a16="http://schemas.microsoft.com/office/drawing/2014/main" id="{D17BB039-4DD5-4851-9021-C7DE30BC5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67413"/>
            <a:ext cx="757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表示平衡态下，处在速率间隔</a:t>
            </a:r>
            <a:r>
              <a:rPr lang="en-US" altLang="zh-CN" i="1">
                <a:solidFill>
                  <a:srgbClr val="FFCC66"/>
                </a:solidFill>
              </a:rPr>
              <a:t>v</a:t>
            </a:r>
            <a:r>
              <a:rPr lang="en-US" altLang="zh-CN" baseline="-25000">
                <a:solidFill>
                  <a:srgbClr val="FFCC66"/>
                </a:solidFill>
              </a:rPr>
              <a:t>1 </a:t>
            </a:r>
            <a:r>
              <a:rPr lang="en-US" altLang="zh-CN" i="1">
                <a:solidFill>
                  <a:srgbClr val="FFCC66"/>
                </a:solidFill>
              </a:rPr>
              <a:t>~ v</a:t>
            </a:r>
            <a:r>
              <a:rPr lang="en-US" altLang="zh-CN" baseline="-25000">
                <a:solidFill>
                  <a:srgbClr val="FFCC66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内的分子数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</a:t>
            </a:r>
          </a:p>
        </p:txBody>
      </p:sp>
      <p:sp>
        <p:nvSpPr>
          <p:cNvPr id="17422" name="灯片编号占位符 1">
            <a:extLst>
              <a:ext uri="{FF2B5EF4-FFF2-40B4-BE49-F238E27FC236}">
                <a16:creationId xmlns:a16="http://schemas.microsoft.com/office/drawing/2014/main" id="{EB7939DD-5243-488A-8972-89B9B3FC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15917A-87C6-40DB-970F-DC8079E6BDC2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5" grpId="0"/>
      <p:bldP spid="138248" grpId="0"/>
      <p:bldP spid="138257" grpId="0"/>
      <p:bldP spid="1382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Text Box 4">
            <a:extLst>
              <a:ext uri="{FF2B5EF4-FFF2-40B4-BE49-F238E27FC236}">
                <a16:creationId xmlns:a16="http://schemas.microsoft.com/office/drawing/2014/main" id="{4E119737-E70B-4D23-A922-E5A494626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6250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CC00"/>
                </a:solidFill>
                <a:ea typeface="楷体_GB2312" pitchFamily="49" charset="-122"/>
              </a:rPr>
              <a:t>典型的问题有以下几类：</a:t>
            </a:r>
          </a:p>
        </p:txBody>
      </p:sp>
      <p:sp>
        <p:nvSpPr>
          <p:cNvPr id="139269" name="Text Box 5">
            <a:extLst>
              <a:ext uri="{FF2B5EF4-FFF2-40B4-BE49-F238E27FC236}">
                <a16:creationId xmlns:a16="http://schemas.microsoft.com/office/drawing/2014/main" id="{E373A938-CECF-4687-9AA1-FD3545E43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00125"/>
            <a:ext cx="8064500" cy="8302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00355" indent="-300355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根据麦克斯韦分布律求在某速率区间内的分子数，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速率区间很小时，可近似地用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C7CC6DB2-9503-49D5-9AB4-D4B42B751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39273" name="Object 2">
            <a:extLst>
              <a:ext uri="{FF2B5EF4-FFF2-40B4-BE49-F238E27FC236}">
                <a16:creationId xmlns:a16="http://schemas.microsoft.com/office/drawing/2014/main" id="{B28BE014-4822-4C16-860B-216F8BEE1478}"/>
              </a:ext>
            </a:extLst>
          </p:cNvPr>
          <p:cNvGraphicFramePr>
            <a:graphicFrameLocks/>
          </p:cNvGraphicFramePr>
          <p:nvPr/>
        </p:nvGraphicFramePr>
        <p:xfrm>
          <a:off x="2286000" y="1857375"/>
          <a:ext cx="43672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464" r:id="rId3" imgW="1943176" imgH="428625" progId="Equation.3">
                  <p:embed/>
                </p:oleObj>
              </mc:Choice>
              <mc:Fallback>
                <p:oleObj r:id="rId3" imgW="1943176" imgH="428625" progId="Equation.3">
                  <p:embed/>
                  <p:pic>
                    <p:nvPicPr>
                      <p:cNvPr id="139273" name="Object 2">
                        <a:extLst>
                          <a:ext uri="{FF2B5EF4-FFF2-40B4-BE49-F238E27FC236}">
                            <a16:creationId xmlns:a16="http://schemas.microsoft.com/office/drawing/2014/main" id="{B28BE014-4822-4C16-860B-216F8BEE14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57375"/>
                        <a:ext cx="43672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5" name="Text Box 11">
            <a:extLst>
              <a:ext uri="{FF2B5EF4-FFF2-40B4-BE49-F238E27FC236}">
                <a16:creationId xmlns:a16="http://schemas.microsoft.com/office/drawing/2014/main" id="{F0B1EE60-A66E-4AAE-8D62-72B513557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000375"/>
            <a:ext cx="7991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9725" indent="-3397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2.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已知速率分布函数，求与速率有关的</a:t>
            </a:r>
            <a:r>
              <a:rPr lang="zh-CN" altLang="en-US" i="1">
                <a:solidFill>
                  <a:srgbClr val="FFFF00"/>
                </a:solidFill>
                <a:ea typeface="楷体_GB2312" pitchFamily="49" charset="-122"/>
              </a:rPr>
              <a:t>任意物理量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的统计平均值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D3C156-CA14-462C-A9FD-3F828FF3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857625"/>
            <a:ext cx="7715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① </a:t>
            </a:r>
            <a:r>
              <a:rPr lang="en-US" altLang="zh-CN">
                <a:solidFill>
                  <a:schemeClr val="bg1"/>
                </a:solidFill>
              </a:rPr>
              <a:t>if:</a:t>
            </a:r>
            <a:r>
              <a:rPr lang="zh-CN" altLang="en-US">
                <a:solidFill>
                  <a:schemeClr val="bg1"/>
                </a:solidFill>
              </a:rPr>
              <a:t> 整个速率范围，即</a:t>
            </a:r>
            <a:r>
              <a:rPr lang="zh-CN" altLang="en-US">
                <a:solidFill>
                  <a:srgbClr val="FF0000"/>
                </a:solidFill>
              </a:rPr>
              <a:t>全体分子</a:t>
            </a:r>
            <a:r>
              <a:rPr lang="zh-CN" altLang="en-US">
                <a:solidFill>
                  <a:schemeClr val="bg1"/>
                </a:solidFill>
              </a:rPr>
              <a:t>的平均值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7C1188-FC7E-444C-8669-6D38BBDDE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072063"/>
            <a:ext cx="728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② </a:t>
            </a:r>
            <a:r>
              <a:rPr lang="en-US" altLang="zh-CN">
                <a:solidFill>
                  <a:schemeClr val="bg1"/>
                </a:solidFill>
              </a:rPr>
              <a:t>if: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sz="2800" b="0" i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>
                <a:solidFill>
                  <a:srgbClr val="FF0000"/>
                </a:solidFill>
              </a:rPr>
              <a:t>1</a:t>
            </a:r>
            <a:r>
              <a:rPr lang="en-US" altLang="zh-CN" b="0">
                <a:solidFill>
                  <a:srgbClr val="FF0000"/>
                </a:solidFill>
              </a:rPr>
              <a:t> ~</a:t>
            </a:r>
            <a:r>
              <a:rPr lang="en-US" altLang="zh-CN" sz="2800" b="0" i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速率范围，即</a:t>
            </a:r>
            <a:r>
              <a:rPr lang="zh-CN" altLang="en-US">
                <a:solidFill>
                  <a:srgbClr val="FF0000"/>
                </a:solidFill>
              </a:rPr>
              <a:t>部分分子</a:t>
            </a:r>
            <a:r>
              <a:rPr lang="zh-CN" altLang="en-US">
                <a:solidFill>
                  <a:schemeClr val="bg1"/>
                </a:solidFill>
              </a:rPr>
              <a:t>的平均值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1E49A559-CE29-47EB-BF08-BC910BABFE4E}"/>
              </a:ext>
            </a:extLst>
          </p:cNvPr>
          <p:cNvGraphicFramePr>
            <a:graphicFrameLocks/>
          </p:cNvGraphicFramePr>
          <p:nvPr/>
        </p:nvGraphicFramePr>
        <p:xfrm>
          <a:off x="2667000" y="4286250"/>
          <a:ext cx="34766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465" r:id="rId5" imgW="1419308" imgH="295139" progId="Equation.3">
                  <p:embed/>
                </p:oleObj>
              </mc:Choice>
              <mc:Fallback>
                <p:oleObj r:id="rId5" imgW="1419308" imgH="295139" progId="Equation.3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1E49A559-CE29-47EB-BF08-BC910BABFE4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286250"/>
                        <a:ext cx="34766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6EC8783B-40F6-4410-AB91-03B623A70FFE}"/>
              </a:ext>
            </a:extLst>
          </p:cNvPr>
          <p:cNvGraphicFramePr>
            <a:graphicFrameLocks/>
          </p:cNvGraphicFramePr>
          <p:nvPr/>
        </p:nvGraphicFramePr>
        <p:xfrm>
          <a:off x="2638425" y="5572125"/>
          <a:ext cx="32432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466" r:id="rId7" imgW="1114406" imgH="314427" progId="Equation.3">
                  <p:embed/>
                </p:oleObj>
              </mc:Choice>
              <mc:Fallback>
                <p:oleObj r:id="rId7" imgW="1114406" imgH="314427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6EC8783B-40F6-4410-AB91-03B623A70F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5572125"/>
                        <a:ext cx="324326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灯片编号占位符 1">
            <a:extLst>
              <a:ext uri="{FF2B5EF4-FFF2-40B4-BE49-F238E27FC236}">
                <a16:creationId xmlns:a16="http://schemas.microsoft.com/office/drawing/2014/main" id="{269A3015-C4F4-4E94-828A-060742265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9F9891-4489-4596-A043-073ADABDD2F5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/>
      <p:bldP spid="139269" grpId="0"/>
      <p:bldP spid="139275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4604DB04-4261-4858-A4F3-C52C6E9DF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290636"/>
            <a:ext cx="7935913" cy="2892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金属导体中的电子，在金属内部作无规则运动，与容器中的气体分子很类似。设金属中共有</a:t>
            </a:r>
            <a:r>
              <a:rPr lang="en-US" altLang="zh-CN" i="1" dirty="0">
                <a:solidFill>
                  <a:srgbClr val="66FFFF"/>
                </a:solidFill>
              </a:rPr>
              <a:t>N </a:t>
            </a:r>
            <a:r>
              <a:rPr lang="zh-CN" altLang="en-US" dirty="0">
                <a:solidFill>
                  <a:schemeClr val="bg1"/>
                </a:solidFill>
              </a:rPr>
              <a:t>个电子，其中电子的最大速率为</a:t>
            </a:r>
            <a:r>
              <a:rPr lang="en-US" altLang="zh-CN" sz="2800" b="0" i="1" dirty="0" err="1">
                <a:solidFill>
                  <a:srgbClr val="00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 dirty="0" err="1">
                <a:solidFill>
                  <a:srgbClr val="00FFFF"/>
                </a:solidFill>
              </a:rPr>
              <a:t>m</a:t>
            </a:r>
            <a:r>
              <a:rPr lang="zh-CN" altLang="en-US" dirty="0">
                <a:solidFill>
                  <a:schemeClr val="bg1"/>
                </a:solidFill>
              </a:rPr>
              <a:t>，设电子速率在</a:t>
            </a:r>
            <a:r>
              <a:rPr lang="en-US" altLang="zh-CN" sz="2800" b="0" i="1" dirty="0" err="1">
                <a:solidFill>
                  <a:srgbClr val="00FFFF"/>
                </a:solidFill>
                <a:latin typeface="Bookman Old Style" panose="02050604050505020204" pitchFamily="18" charset="0"/>
              </a:rPr>
              <a:t>v~v</a:t>
            </a:r>
            <a:r>
              <a:rPr lang="en-US" altLang="zh-CN" sz="2800" b="0" dirty="0" err="1">
                <a:solidFill>
                  <a:srgbClr val="00FFFF"/>
                </a:solidFill>
                <a:latin typeface="Bookman Old Style" panose="02050604050505020204" pitchFamily="18" charset="0"/>
              </a:rPr>
              <a:t>+</a:t>
            </a:r>
            <a:r>
              <a:rPr lang="en-US" altLang="zh-CN" sz="2800" b="0" dirty="0" err="1">
                <a:solidFill>
                  <a:srgbClr val="00FFFF"/>
                </a:solidFill>
              </a:rPr>
              <a:t>d</a:t>
            </a:r>
            <a:r>
              <a:rPr lang="en-US" altLang="zh-CN" sz="2800" b="0" i="1" dirty="0" err="1">
                <a:solidFill>
                  <a:srgbClr val="00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之间的几率为</a:t>
            </a:r>
          </a:p>
          <a:p>
            <a:pPr eaLnBrk="1" hangingPunct="1">
              <a:lnSpc>
                <a:spcPct val="125000"/>
              </a:lnSpc>
            </a:pPr>
            <a:endParaRPr lang="zh-CN" altLang="en-US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endParaRPr lang="zh-CN" altLang="en-US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                                                               ，式中</a:t>
            </a:r>
            <a:r>
              <a:rPr lang="en-US" altLang="zh-CN" i="1" dirty="0">
                <a:solidFill>
                  <a:srgbClr val="66FFFF"/>
                </a:solidFill>
              </a:rPr>
              <a:t>A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为待定系数</a:t>
            </a:r>
          </a:p>
        </p:txBody>
      </p:sp>
      <p:graphicFrame>
        <p:nvGraphicFramePr>
          <p:cNvPr id="43011" name="Object 2">
            <a:extLst>
              <a:ext uri="{FF2B5EF4-FFF2-40B4-BE49-F238E27FC236}">
                <a16:creationId xmlns:a16="http://schemas.microsoft.com/office/drawing/2014/main" id="{BDD4358E-3D83-4139-9B13-21990D303E7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667868" y="1845072"/>
          <a:ext cx="1025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96" r:id="rId4" imgW="1000029" imgH="352391" progId="Equation.3">
                  <p:embed/>
                </p:oleObj>
              </mc:Choice>
              <mc:Fallback>
                <p:oleObj r:id="rId4" imgW="1000029" imgH="352391" progId="Equation.3">
                  <p:embed/>
                  <p:pic>
                    <p:nvPicPr>
                      <p:cNvPr id="43011" name="Object 2">
                        <a:extLst>
                          <a:ext uri="{FF2B5EF4-FFF2-40B4-BE49-F238E27FC236}">
                            <a16:creationId xmlns:a16="http://schemas.microsoft.com/office/drawing/2014/main" id="{BDD4358E-3D83-4139-9B13-21990D303E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868" y="1845072"/>
                        <a:ext cx="1025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>
            <a:extLst>
              <a:ext uri="{FF2B5EF4-FFF2-40B4-BE49-F238E27FC236}">
                <a16:creationId xmlns:a16="http://schemas.microsoft.com/office/drawing/2014/main" id="{3F24E3DD-DB83-4D90-B8EF-6BF99664790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475656" y="2099072"/>
          <a:ext cx="777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97" r:id="rId6" imgW="752622" imgH="790507" progId="Equation.3">
                  <p:embed/>
                </p:oleObj>
              </mc:Choice>
              <mc:Fallback>
                <p:oleObj r:id="rId6" imgW="752622" imgH="790507" progId="Equation.3">
                  <p:embed/>
                  <p:pic>
                    <p:nvPicPr>
                      <p:cNvPr id="43012" name="Object 3">
                        <a:extLst>
                          <a:ext uri="{FF2B5EF4-FFF2-40B4-BE49-F238E27FC236}">
                            <a16:creationId xmlns:a16="http://schemas.microsoft.com/office/drawing/2014/main" id="{3F24E3DD-DB83-4D90-B8EF-6BF9966479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099072"/>
                        <a:ext cx="777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4">
            <a:extLst>
              <a:ext uri="{FF2B5EF4-FFF2-40B4-BE49-F238E27FC236}">
                <a16:creationId xmlns:a16="http://schemas.microsoft.com/office/drawing/2014/main" id="{6D9BDB9D-3AC0-4941-B1D2-4CC7694C6AA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355976" y="1902222"/>
          <a:ext cx="14684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98" r:id="rId8" imgW="1447749" imgH="390661" progId="Equation.3">
                  <p:embed/>
                </p:oleObj>
              </mc:Choice>
              <mc:Fallback>
                <p:oleObj r:id="rId8" imgW="1447749" imgH="390661" progId="Equation.3">
                  <p:embed/>
                  <p:pic>
                    <p:nvPicPr>
                      <p:cNvPr id="43013" name="Object 4">
                        <a:extLst>
                          <a:ext uri="{FF2B5EF4-FFF2-40B4-BE49-F238E27FC236}">
                            <a16:creationId xmlns:a16="http://schemas.microsoft.com/office/drawing/2014/main" id="{6D9BDB9D-3AC0-4941-B1D2-4CC7694C6A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1902222"/>
                        <a:ext cx="14684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5">
            <a:extLst>
              <a:ext uri="{FF2B5EF4-FFF2-40B4-BE49-F238E27FC236}">
                <a16:creationId xmlns:a16="http://schemas.microsoft.com/office/drawing/2014/main" id="{6A8A5AFF-F747-4F84-85F2-3D06FD03D0C4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427984" y="2637160"/>
          <a:ext cx="9540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99" r:id="rId10" imgW="923880" imgH="390661" progId="Equation.3">
                  <p:embed/>
                </p:oleObj>
              </mc:Choice>
              <mc:Fallback>
                <p:oleObj r:id="rId10" imgW="923880" imgH="390661" progId="Equation.3">
                  <p:embed/>
                  <p:pic>
                    <p:nvPicPr>
                      <p:cNvPr id="43014" name="Object 5">
                        <a:extLst>
                          <a:ext uri="{FF2B5EF4-FFF2-40B4-BE49-F238E27FC236}">
                            <a16:creationId xmlns:a16="http://schemas.microsoft.com/office/drawing/2014/main" id="{6A8A5AFF-F747-4F84-85F2-3D06FD03D0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2637160"/>
                        <a:ext cx="9540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AutoShape 7">
            <a:extLst>
              <a:ext uri="{FF2B5EF4-FFF2-40B4-BE49-F238E27FC236}">
                <a16:creationId xmlns:a16="http://schemas.microsoft.com/office/drawing/2014/main" id="{642FB627-D50D-4749-9B0E-BCE5F0A26920}"/>
              </a:ext>
            </a:extLst>
          </p:cNvPr>
          <p:cNvSpPr>
            <a:spLocks/>
          </p:cNvSpPr>
          <p:nvPr/>
        </p:nvSpPr>
        <p:spPr bwMode="auto">
          <a:xfrm>
            <a:off x="4191000" y="1728788"/>
            <a:ext cx="228600" cy="1066800"/>
          </a:xfrm>
          <a:prstGeom prst="leftBrace">
            <a:avLst>
              <a:gd name="adj1" fmla="val 38867"/>
              <a:gd name="adj2" fmla="val 520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3016" name="Object 6">
            <a:extLst>
              <a:ext uri="{FF2B5EF4-FFF2-40B4-BE49-F238E27FC236}">
                <a16:creationId xmlns:a16="http://schemas.microsoft.com/office/drawing/2014/main" id="{1135AA65-F8D5-41CA-BB25-72E03E1A0F1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818681" y="2708672"/>
          <a:ext cx="201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00" r:id="rId12" imgW="161778" imgH="276157" progId="Equation.3">
                  <p:embed/>
                </p:oleObj>
              </mc:Choice>
              <mc:Fallback>
                <p:oleObj r:id="rId12" imgW="161778" imgH="276157" progId="Equation.3">
                  <p:embed/>
                  <p:pic>
                    <p:nvPicPr>
                      <p:cNvPr id="43016" name="Object 6">
                        <a:extLst>
                          <a:ext uri="{FF2B5EF4-FFF2-40B4-BE49-F238E27FC236}">
                            <a16:creationId xmlns:a16="http://schemas.microsoft.com/office/drawing/2014/main" id="{1135AA65-F8D5-41CA-BB25-72E03E1A0F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8681" y="2708672"/>
                        <a:ext cx="2016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AutoShape 9">
            <a:extLst>
              <a:ext uri="{FF2B5EF4-FFF2-40B4-BE49-F238E27FC236}">
                <a16:creationId xmlns:a16="http://schemas.microsoft.com/office/drawing/2014/main" id="{5EF3EFBB-8515-46B0-B4F5-D79FF356C2BC}"/>
              </a:ext>
            </a:extLst>
          </p:cNvPr>
          <p:cNvSpPr>
            <a:spLocks/>
          </p:cNvSpPr>
          <p:nvPr/>
        </p:nvSpPr>
        <p:spPr bwMode="auto">
          <a:xfrm>
            <a:off x="2388468" y="2061096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08B55586-9CC5-4EE4-A521-6FAF08AA0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3746931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解：</a:t>
            </a:r>
          </a:p>
        </p:txBody>
      </p:sp>
      <p:sp>
        <p:nvSpPr>
          <p:cNvPr id="43019" name="Text Box 11">
            <a:extLst>
              <a:ext uri="{FF2B5EF4-FFF2-40B4-BE49-F238E27FC236}">
                <a16:creationId xmlns:a16="http://schemas.microsoft.com/office/drawing/2014/main" id="{F6215249-DBCF-4522-83B1-FEB66F4D6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43020" name="Text Box 12">
            <a:extLst>
              <a:ext uri="{FF2B5EF4-FFF2-40B4-BE49-F238E27FC236}">
                <a16:creationId xmlns:a16="http://schemas.microsoft.com/office/drawing/2014/main" id="{EFABAEAB-4A7F-4E6D-A489-9240A76B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26" y="3203897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43021" name="Rectangle 13">
            <a:extLst>
              <a:ext uri="{FF2B5EF4-FFF2-40B4-BE49-F238E27FC236}">
                <a16:creationId xmlns:a16="http://schemas.microsoft.com/office/drawing/2014/main" id="{61317449-83C7-4583-A9C5-DBFF0D22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51" y="3203897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系数</a:t>
            </a:r>
            <a:r>
              <a:rPr lang="en-US" altLang="zh-CN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和该电子气的平均速率</a:t>
            </a:r>
            <a:r>
              <a:rPr lang="en-US" altLang="zh-CN" dirty="0">
                <a:solidFill>
                  <a:schemeClr val="bg1"/>
                </a:solidFill>
              </a:rPr>
              <a:t>?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22" name="Object 7">
                <a:extLst>
                  <a:ext uri="{FF2B5EF4-FFF2-40B4-BE49-F238E27FC236}">
                    <a16:creationId xmlns:a16="http://schemas.microsoft.com/office/drawing/2014/main" id="{D528794B-4515-4A3A-AE52-0E28E88F90CA}"/>
                  </a:ext>
                </a:extLst>
              </p:cNvPr>
              <p:cNvSpPr txBox="1"/>
              <p:nvPr/>
            </p:nvSpPr>
            <p:spPr bwMode="auto">
              <a:xfrm>
                <a:off x="899592" y="5661248"/>
                <a:ext cx="3093318" cy="6889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zh-CN" altLang="en-US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  <m:e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𝑣𝑓</m:t>
                          </m:r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CC99"/>
                  </a:solidFill>
                </a:endParaRPr>
              </a:p>
            </p:txBody>
          </p:sp>
        </mc:Choice>
        <mc:Fallback xmlns="">
          <p:sp>
            <p:nvSpPr>
              <p:cNvPr id="43022" name="Object 7">
                <a:extLst>
                  <a:ext uri="{FF2B5EF4-FFF2-40B4-BE49-F238E27FC236}">
                    <a16:creationId xmlns:a16="http://schemas.microsoft.com/office/drawing/2014/main" id="{D528794B-4515-4A3A-AE52-0E28E88F9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5661248"/>
                <a:ext cx="3093318" cy="688975"/>
              </a:xfrm>
              <a:prstGeom prst="rect">
                <a:avLst/>
              </a:prstGeom>
              <a:blipFill>
                <a:blip r:embed="rId14"/>
                <a:stretch>
                  <a:fillRect b="-21239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23" name="Object 8">
                <a:extLst>
                  <a:ext uri="{FF2B5EF4-FFF2-40B4-BE49-F238E27FC236}">
                    <a16:creationId xmlns:a16="http://schemas.microsoft.com/office/drawing/2014/main" id="{D74151D2-4005-4D13-88F6-5D111F96282A}"/>
                  </a:ext>
                </a:extLst>
              </p:cNvPr>
              <p:cNvSpPr txBox="1"/>
              <p:nvPr/>
            </p:nvSpPr>
            <p:spPr bwMode="auto">
              <a:xfrm>
                <a:off x="3475763" y="5661248"/>
                <a:ext cx="2514420" cy="6889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b="0" i="1" dirty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dirty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zh-CN" altLang="en-US" b="0" i="1" dirty="0">
                                      <a:solidFill>
                                        <a:srgbClr val="FFCC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b="0" i="1" dirty="0">
                                      <a:solidFill>
                                        <a:srgbClr val="FFCC66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zh-CN" altLang="en-US" b="0" i="1" dirty="0">
                                      <a:solidFill>
                                        <a:srgbClr val="FFCC66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zh-CN" altLang="en-US" b="0" dirty="0">
                                      <a:solidFill>
                                        <a:srgbClr val="FFCC66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FFCC99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CC99"/>
                  </a:solidFill>
                </a:endParaRPr>
              </a:p>
            </p:txBody>
          </p:sp>
        </mc:Choice>
        <mc:Fallback xmlns="">
          <p:sp>
            <p:nvSpPr>
              <p:cNvPr id="43023" name="Object 8">
                <a:extLst>
                  <a:ext uri="{FF2B5EF4-FFF2-40B4-BE49-F238E27FC236}">
                    <a16:creationId xmlns:a16="http://schemas.microsoft.com/office/drawing/2014/main" id="{D74151D2-4005-4D13-88F6-5D111F962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5763" y="5661248"/>
                <a:ext cx="2514420" cy="688975"/>
              </a:xfrm>
              <a:prstGeom prst="rect">
                <a:avLst/>
              </a:prstGeom>
              <a:blipFill>
                <a:blip r:embed="rId15"/>
                <a:stretch>
                  <a:fillRect b="-21239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24" name="Object 9">
                <a:extLst>
                  <a:ext uri="{FF2B5EF4-FFF2-40B4-BE49-F238E27FC236}">
                    <a16:creationId xmlns:a16="http://schemas.microsoft.com/office/drawing/2014/main" id="{1B9B41B8-1B75-4334-BBB7-7C4164C3085B}"/>
                  </a:ext>
                </a:extLst>
              </p:cNvPr>
              <p:cNvSpPr txBox="1"/>
              <p:nvPr/>
            </p:nvSpPr>
            <p:spPr bwMode="auto">
              <a:xfrm>
                <a:off x="5724128" y="5685056"/>
                <a:ext cx="1352233" cy="8255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C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0" smtClean="0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Sup>
                        <m:sSubSupPr>
                          <m:ctrlP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C99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</m:sSubSup>
                    </m:oMath>
                  </m:oMathPara>
                </a14:m>
                <a:endParaRPr lang="zh-CN" altLang="en-US" dirty="0">
                  <a:solidFill>
                    <a:srgbClr val="FFCC99"/>
                  </a:solidFill>
                </a:endParaRPr>
              </a:p>
            </p:txBody>
          </p:sp>
        </mc:Choice>
        <mc:Fallback xmlns="">
          <p:sp>
            <p:nvSpPr>
              <p:cNvPr id="43024" name="Object 9">
                <a:extLst>
                  <a:ext uri="{FF2B5EF4-FFF2-40B4-BE49-F238E27FC236}">
                    <a16:creationId xmlns:a16="http://schemas.microsoft.com/office/drawing/2014/main" id="{1B9B41B8-1B75-4334-BBB7-7C4164C30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128" y="5685056"/>
                <a:ext cx="1352233" cy="825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25" name="Text Box 17">
            <a:extLst>
              <a:ext uri="{FF2B5EF4-FFF2-40B4-BE49-F238E27FC236}">
                <a16:creationId xmlns:a16="http://schemas.microsoft.com/office/drawing/2014/main" id="{E4B03C34-0B82-42F0-80E8-4B56EF1D4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17" y="3701975"/>
            <a:ext cx="7935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因为仅在</a:t>
            </a:r>
            <a:r>
              <a:rPr lang="en-US" altLang="zh-CN" dirty="0">
                <a:solidFill>
                  <a:srgbClr val="FFFF00"/>
                </a:solidFill>
              </a:rPr>
              <a:t>(</a:t>
            </a:r>
            <a:r>
              <a:rPr lang="en-US" altLang="zh-CN" b="0" dirty="0">
                <a:solidFill>
                  <a:srgbClr val="FFFF00"/>
                </a:solidFill>
              </a:rPr>
              <a:t>0</a:t>
            </a:r>
            <a:r>
              <a:rPr lang="zh-CN" altLang="en-US" b="0" dirty="0">
                <a:solidFill>
                  <a:srgbClr val="FFFF00"/>
                </a:solidFill>
              </a:rPr>
              <a:t>，</a:t>
            </a:r>
            <a:r>
              <a:rPr lang="en-US" altLang="zh-CN" sz="2800" b="0" i="1" dirty="0" err="1">
                <a:solidFill>
                  <a:srgbClr val="FFFF00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="0" baseline="-25000" dirty="0" err="1">
                <a:solidFill>
                  <a:srgbClr val="FFFF00"/>
                </a:solidFill>
              </a:rPr>
              <a:t>m</a:t>
            </a:r>
            <a:r>
              <a:rPr lang="en-US" altLang="zh-CN" b="0" dirty="0">
                <a:solidFill>
                  <a:srgbClr val="FFFF00"/>
                </a:solidFill>
              </a:rPr>
              <a:t>)</a:t>
            </a:r>
            <a:r>
              <a:rPr lang="zh-CN" altLang="en-US" dirty="0">
                <a:solidFill>
                  <a:schemeClr val="bg1"/>
                </a:solidFill>
              </a:rPr>
              <a:t>区间分布有电子，归一化条件</a:t>
            </a:r>
            <a:endParaRPr lang="zh-CN" altLang="en-US" sz="2800" i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474" name="灯片编号占位符 1">
            <a:extLst>
              <a:ext uri="{FF2B5EF4-FFF2-40B4-BE49-F238E27FC236}">
                <a16:creationId xmlns:a16="http://schemas.microsoft.com/office/drawing/2014/main" id="{F8D9B950-8C79-4F1E-B3AF-1B907EB5C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2AFE3C-2913-46C7-A2D7-8082CB791FEF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 dirty="0">
                <a:solidFill>
                  <a:srgbClr val="FF00FF"/>
                </a:solidFill>
              </a:rPr>
              <a:t>/28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6889CCE6-2241-403E-BAE0-2876A41B152F}"/>
                  </a:ext>
                </a:extLst>
              </p:cNvPr>
              <p:cNvSpPr txBox="1"/>
              <p:nvPr/>
            </p:nvSpPr>
            <p:spPr bwMode="auto">
              <a:xfrm>
                <a:off x="1156618" y="4393605"/>
                <a:ext cx="3991446" cy="7635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600" i="1" smtClean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  <m:e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600" i="1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altLang="zh-CN" sz="2600" dirty="0">
                    <a:solidFill>
                      <a:srgbClr val="FFCC66"/>
                    </a:solidFill>
                  </a:rPr>
                  <a:t> =</a:t>
                </a:r>
                <a:endParaRPr lang="zh-CN" altLang="en-US" sz="2600" b="0" dirty="0">
                  <a:solidFill>
                    <a:srgbClr val="FFCC66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6889CCE6-2241-403E-BAE0-2876A41B1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6618" y="4393605"/>
                <a:ext cx="3991446" cy="763587"/>
              </a:xfrm>
              <a:prstGeom prst="rect">
                <a:avLst/>
              </a:prstGeom>
              <a:blipFill>
                <a:blip r:embed="rId17"/>
                <a:stretch>
                  <a:fillRect t="-16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67B83DA1-9F97-4B1B-8F16-139E7AA052EF}"/>
                  </a:ext>
                </a:extLst>
              </p:cNvPr>
              <p:cNvSpPr txBox="1"/>
              <p:nvPr/>
            </p:nvSpPr>
            <p:spPr bwMode="auto">
              <a:xfrm>
                <a:off x="5171590" y="4388912"/>
                <a:ext cx="3991446" cy="7635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r>
                  <a:rPr lang="zh-CN" altLang="en-US" sz="3000" dirty="0">
                    <a:solidFill>
                      <a:srgbClr val="FFCC66"/>
                    </a:solidFill>
                  </a:rPr>
                  <a:t>⇒</a:t>
                </a:r>
                <a:r>
                  <a:rPr lang="zh-CN" altLang="en-US" sz="2600" dirty="0">
                    <a:solidFill>
                      <a:srgbClr val="FFCC66"/>
                    </a:solidFill>
                  </a:rPr>
                  <a:t>     </a:t>
                </a:r>
                <a:r>
                  <a:rPr lang="en-US" altLang="zh-CN" sz="2600" i="1" dirty="0">
                    <a:solidFill>
                      <a:srgbClr val="FFCC66"/>
                    </a:solidFill>
                  </a:rPr>
                  <a:t>A </a:t>
                </a:r>
                <a:r>
                  <a:rPr lang="en-US" altLang="zh-CN" sz="2600" dirty="0">
                    <a:solidFill>
                      <a:srgbClr val="FFCC66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600" b="0" i="1" dirty="0" smtClean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600" b="0" dirty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Sup>
                          <m:sSubSupPr>
                            <m:ctrlPr>
                              <a:rPr lang="zh-CN" altLang="en-US" sz="2600" b="0" i="1" dirty="0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600" b="0" i="1" dirty="0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zh-CN" altLang="en-US" sz="2600" b="0" i="1" dirty="0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zh-CN" altLang="en-US" sz="2600" b="0" i="0" dirty="0">
                                <a:solidFill>
                                  <a:srgbClr val="FFCC66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endParaRPr lang="zh-CN" altLang="en-US" sz="2600" b="0" dirty="0">
                  <a:solidFill>
                    <a:srgbClr val="FFCC66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67B83DA1-9F97-4B1B-8F16-139E7AA05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1590" y="4388912"/>
                <a:ext cx="3991446" cy="763587"/>
              </a:xfrm>
              <a:prstGeom prst="rect">
                <a:avLst/>
              </a:prstGeom>
              <a:blipFill>
                <a:blip r:embed="rId18"/>
                <a:stretch>
                  <a:fillRect l="-3511" t="-72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7">
            <a:extLst>
              <a:ext uri="{FF2B5EF4-FFF2-40B4-BE49-F238E27FC236}">
                <a16:creationId xmlns:a16="http://schemas.microsoft.com/office/drawing/2014/main" id="{897F55F4-D31B-423F-8D1A-3BAA87FB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157192"/>
            <a:ext cx="323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平均速率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7">
                <a:extLst>
                  <a:ext uri="{FF2B5EF4-FFF2-40B4-BE49-F238E27FC236}">
                    <a16:creationId xmlns:a16="http://schemas.microsoft.com/office/drawing/2014/main" id="{235BA081-BC42-4F1E-B131-BE011FD0CD5C}"/>
                  </a:ext>
                </a:extLst>
              </p:cNvPr>
              <p:cNvSpPr txBox="1"/>
              <p:nvPr/>
            </p:nvSpPr>
            <p:spPr bwMode="auto">
              <a:xfrm>
                <a:off x="2830728" y="4329751"/>
                <a:ext cx="1925193" cy="7635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600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FFCC6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600" i="1" smtClean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 smtClean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/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600" i="1" smtClean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600" i="0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  <m:t>ⅆ</m:t>
                              </m:r>
                              <m:r>
                                <a:rPr lang="zh-CN" altLang="en-US" sz="2600" i="1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zh-CN" altLang="en-US" sz="2600" i="1">
                                  <a:solidFill>
                                    <a:srgbClr val="FFCC66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r>
                        <a:rPr lang="en-US" altLang="zh-CN" sz="2600" b="0" i="1" smtClean="0">
                          <a:solidFill>
                            <a:srgbClr val="FFCC66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600" b="0" dirty="0">
                  <a:solidFill>
                    <a:srgbClr val="FFCC66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4" name="Object 7">
                <a:extLst>
                  <a:ext uri="{FF2B5EF4-FFF2-40B4-BE49-F238E27FC236}">
                    <a16:creationId xmlns:a16="http://schemas.microsoft.com/office/drawing/2014/main" id="{235BA081-BC42-4F1E-B131-BE011FD0C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0728" y="4329751"/>
                <a:ext cx="1925193" cy="7635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7" grpId="0" animBg="1"/>
      <p:bldP spid="43018" grpId="0"/>
      <p:bldP spid="43019" grpId="0"/>
      <p:bldP spid="43020" grpId="0"/>
      <p:bldP spid="43021" grpId="0"/>
      <p:bldP spid="43022" grpId="0"/>
      <p:bldP spid="43023" grpId="0"/>
      <p:bldP spid="43024" grpId="0"/>
      <p:bldP spid="43025" grpId="0"/>
      <p:bldP spid="19" grpId="0"/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6">
            <a:extLst>
              <a:ext uri="{FF2B5EF4-FFF2-40B4-BE49-F238E27FC236}">
                <a16:creationId xmlns:a16="http://schemas.microsoft.com/office/drawing/2014/main" id="{FBD77748-8BD5-47D4-B681-47CE0C27F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507" name="Rectangle 18">
            <a:extLst>
              <a:ext uri="{FF2B5EF4-FFF2-40B4-BE49-F238E27FC236}">
                <a16:creationId xmlns:a16="http://schemas.microsoft.com/office/drawing/2014/main" id="{CF3DC9E4-B5B3-4491-A249-43CC1C7E5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508" name="Rectangle 20">
            <a:extLst>
              <a:ext uri="{FF2B5EF4-FFF2-40B4-BE49-F238E27FC236}">
                <a16:creationId xmlns:a16="http://schemas.microsoft.com/office/drawing/2014/main" id="{74BBC679-EA5F-4673-B07F-DD6EFB820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0846" name="Rectangle 14">
            <a:extLst>
              <a:ext uri="{FF2B5EF4-FFF2-40B4-BE49-F238E27FC236}">
                <a16:creationId xmlns:a16="http://schemas.microsoft.com/office/drawing/2014/main" id="{0DD3D325-E094-4086-A39C-DF70E78B8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42913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20845" name="Text Box 13">
            <a:extLst>
              <a:ext uri="{FF2B5EF4-FFF2-40B4-BE49-F238E27FC236}">
                <a16:creationId xmlns:a16="http://schemas.microsoft.com/office/drawing/2014/main" id="{FFD2FB12-7A94-46F8-A3A6-8E56A3D9D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404813"/>
            <a:ext cx="828198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在温度为</a:t>
            </a:r>
            <a:r>
              <a:rPr lang="en-US" altLang="zh-CN">
                <a:solidFill>
                  <a:srgbClr val="FFCC66"/>
                </a:solidFill>
              </a:rPr>
              <a:t>300K</a:t>
            </a:r>
            <a:r>
              <a:rPr lang="zh-CN" altLang="en-US">
                <a:solidFill>
                  <a:schemeClr val="bg1"/>
                </a:solidFill>
              </a:rPr>
              <a:t>时，空气中速率在 </a:t>
            </a: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en-US" altLang="zh-CN" i="1">
                <a:solidFill>
                  <a:srgbClr val="FFCC66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aseline="-25000">
                <a:solidFill>
                  <a:srgbClr val="FFCC66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附近；</a:t>
            </a: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en-US" altLang="zh-CN">
                <a:solidFill>
                  <a:srgbClr val="FFCC66"/>
                </a:solidFill>
              </a:rPr>
              <a:t>10</a:t>
            </a:r>
            <a:r>
              <a:rPr lang="en-US" altLang="zh-CN" i="1">
                <a:solidFill>
                  <a:srgbClr val="FFCC66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baseline="-25000">
                <a:solidFill>
                  <a:srgbClr val="FFCC66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附近，速率区间</a:t>
            </a:r>
            <a:r>
              <a:rPr lang="el-GR" altLang="zh-CN">
                <a:solidFill>
                  <a:srgbClr val="FFCC66"/>
                </a:solidFill>
              </a:rPr>
              <a:t>Δ</a:t>
            </a:r>
            <a:r>
              <a:rPr lang="en-US" altLang="zh-CN" i="1">
                <a:solidFill>
                  <a:srgbClr val="FFCC66"/>
                </a:solidFill>
              </a:rPr>
              <a:t>v</a:t>
            </a:r>
            <a:r>
              <a:rPr lang="zh-CN" altLang="en-US">
                <a:solidFill>
                  <a:srgbClr val="FFCC66"/>
                </a:solidFill>
              </a:rPr>
              <a:t>＝</a:t>
            </a:r>
            <a:r>
              <a:rPr lang="en-US" altLang="zh-CN">
                <a:solidFill>
                  <a:srgbClr val="FFCC66"/>
                </a:solidFill>
              </a:rPr>
              <a:t>1m/s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内的分子数占分子总数的比率是多少？</a:t>
            </a:r>
          </a:p>
        </p:txBody>
      </p:sp>
      <p:sp>
        <p:nvSpPr>
          <p:cNvPr id="120854" name="Rectangle 22">
            <a:extLst>
              <a:ext uri="{FF2B5EF4-FFF2-40B4-BE49-F238E27FC236}">
                <a16:creationId xmlns:a16="http://schemas.microsoft.com/office/drawing/2014/main" id="{898B98BB-DEF2-4E1B-80AF-7ADF6832B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071688"/>
            <a:ext cx="392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麦克斯韦速率分布为</a:t>
            </a:r>
          </a:p>
        </p:txBody>
      </p:sp>
      <p:sp>
        <p:nvSpPr>
          <p:cNvPr id="120855" name="Rectangle 23">
            <a:extLst>
              <a:ext uri="{FF2B5EF4-FFF2-40B4-BE49-F238E27FC236}">
                <a16:creationId xmlns:a16="http://schemas.microsoft.com/office/drawing/2014/main" id="{EEC82C7C-3ED6-493D-9605-21295C56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71613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1513" name="Rectangle 25">
            <a:extLst>
              <a:ext uri="{FF2B5EF4-FFF2-40B4-BE49-F238E27FC236}">
                <a16:creationId xmlns:a16="http://schemas.microsoft.com/office/drawing/2014/main" id="{4DAAFFF4-554E-4D60-AE95-6E64CBC54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0858" name="Text Box 26">
            <a:extLst>
              <a:ext uri="{FF2B5EF4-FFF2-40B4-BE49-F238E27FC236}">
                <a16:creationId xmlns:a16="http://schemas.microsoft.com/office/drawing/2014/main" id="{DB5652EF-BB14-49C0-A00E-07D82A772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143375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式中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en-US" altLang="zh-CN" baseline="-25000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为最概然速率 </a:t>
            </a:r>
          </a:p>
        </p:txBody>
      </p:sp>
      <p:sp>
        <p:nvSpPr>
          <p:cNvPr id="21515" name="Rectangle 31">
            <a:extLst>
              <a:ext uri="{FF2B5EF4-FFF2-40B4-BE49-F238E27FC236}">
                <a16:creationId xmlns:a16="http://schemas.microsoft.com/office/drawing/2014/main" id="{70870EB5-EDEF-4306-A29D-AB2DC4DEB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0862" name="Object 2">
            <a:extLst>
              <a:ext uri="{FF2B5EF4-FFF2-40B4-BE49-F238E27FC236}">
                <a16:creationId xmlns:a16="http://schemas.microsoft.com/office/drawing/2014/main" id="{1DE5A98D-5E45-4AD7-BF47-CC49E316DAB2}"/>
              </a:ext>
            </a:extLst>
          </p:cNvPr>
          <p:cNvGraphicFramePr>
            <a:graphicFrameLocks/>
          </p:cNvGraphicFramePr>
          <p:nvPr/>
        </p:nvGraphicFramePr>
        <p:xfrm>
          <a:off x="3786188" y="3929063"/>
          <a:ext cx="14287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22" r:id="rId3" imgW="695433" imgH="428625" progId="Equation.3">
                  <p:embed/>
                </p:oleObj>
              </mc:Choice>
              <mc:Fallback>
                <p:oleObj r:id="rId3" imgW="695433" imgH="428625" progId="Equation.3">
                  <p:embed/>
                  <p:pic>
                    <p:nvPicPr>
                      <p:cNvPr id="120862" name="Object 2">
                        <a:extLst>
                          <a:ext uri="{FF2B5EF4-FFF2-40B4-BE49-F238E27FC236}">
                            <a16:creationId xmlns:a16="http://schemas.microsoft.com/office/drawing/2014/main" id="{1DE5A98D-5E45-4AD7-BF47-CC49E316DA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929063"/>
                        <a:ext cx="14287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Rectangle 37">
            <a:extLst>
              <a:ext uri="{FF2B5EF4-FFF2-40B4-BE49-F238E27FC236}">
                <a16:creationId xmlns:a16="http://schemas.microsoft.com/office/drawing/2014/main" id="{1A4B6B62-1A0D-4137-83DE-4EEA31220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0867" name="Text Box 35">
            <a:extLst>
              <a:ext uri="{FF2B5EF4-FFF2-40B4-BE49-F238E27FC236}">
                <a16:creationId xmlns:a16="http://schemas.microsoft.com/office/drawing/2014/main" id="{4BB5EB76-73F5-4D83-A228-B2918DF21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916488"/>
            <a:ext cx="561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当</a:t>
            </a:r>
            <a:r>
              <a:rPr lang="en-US" altLang="zh-CN" i="1">
                <a:solidFill>
                  <a:srgbClr val="FFCC66"/>
                </a:solidFill>
              </a:rPr>
              <a:t>T</a:t>
            </a:r>
            <a:r>
              <a:rPr lang="en-US" altLang="zh-CN">
                <a:solidFill>
                  <a:srgbClr val="FFCC66"/>
                </a:solidFill>
              </a:rPr>
              <a:t>=300K</a:t>
            </a:r>
            <a:r>
              <a:rPr lang="zh-CN" altLang="en-US">
                <a:solidFill>
                  <a:schemeClr val="bg1"/>
                </a:solidFill>
              </a:rPr>
              <a:t>时，空气分子的最概然速率为</a:t>
            </a:r>
          </a:p>
        </p:txBody>
      </p:sp>
      <p:sp>
        <p:nvSpPr>
          <p:cNvPr id="21519" name="Rectangle 39">
            <a:extLst>
              <a:ext uri="{FF2B5EF4-FFF2-40B4-BE49-F238E27FC236}">
                <a16:creationId xmlns:a16="http://schemas.microsoft.com/office/drawing/2014/main" id="{E914ADF7-D2FE-4FFE-8E8D-8FD1A63BC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520" name="Rectangle 43">
            <a:extLst>
              <a:ext uri="{FF2B5EF4-FFF2-40B4-BE49-F238E27FC236}">
                <a16:creationId xmlns:a16="http://schemas.microsoft.com/office/drawing/2014/main" id="{76F4FD0F-7ECE-4D68-9869-12421470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0877" name="Object 4">
            <a:extLst>
              <a:ext uri="{FF2B5EF4-FFF2-40B4-BE49-F238E27FC236}">
                <a16:creationId xmlns:a16="http://schemas.microsoft.com/office/drawing/2014/main" id="{835DA5DA-C973-4545-BF69-CE647FFF9F26}"/>
              </a:ext>
            </a:extLst>
          </p:cNvPr>
          <p:cNvGraphicFramePr>
            <a:graphicFrameLocks/>
          </p:cNvGraphicFramePr>
          <p:nvPr/>
        </p:nvGraphicFramePr>
        <p:xfrm>
          <a:off x="1214438" y="2643188"/>
          <a:ext cx="65738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23" r:id="rId5" imgW="3095504" imgH="504859" progId="Equation.3">
                  <p:embed/>
                </p:oleObj>
              </mc:Choice>
              <mc:Fallback>
                <p:oleObj r:id="rId5" imgW="3095504" imgH="504859" progId="Equation.3">
                  <p:embed/>
                  <p:pic>
                    <p:nvPicPr>
                      <p:cNvPr id="120877" name="Object 4">
                        <a:extLst>
                          <a:ext uri="{FF2B5EF4-FFF2-40B4-BE49-F238E27FC236}">
                            <a16:creationId xmlns:a16="http://schemas.microsoft.com/office/drawing/2014/main" id="{835DA5DA-C973-4545-BF69-CE647FFF9F2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643188"/>
                        <a:ext cx="6573837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">
            <a:extLst>
              <a:ext uri="{FF2B5EF4-FFF2-40B4-BE49-F238E27FC236}">
                <a16:creationId xmlns:a16="http://schemas.microsoft.com/office/drawing/2014/main" id="{68BF7A1B-949A-4E44-ABFD-8C044FB1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1500188"/>
            <a:ext cx="45243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速率区间较小，可近似表示为</a:t>
            </a: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40210A2-337E-404C-919A-AE5E1603BC8F}"/>
              </a:ext>
            </a:extLst>
          </p:cNvPr>
          <p:cNvGraphicFramePr>
            <a:graphicFrameLocks/>
          </p:cNvGraphicFramePr>
          <p:nvPr/>
        </p:nvGraphicFramePr>
        <p:xfrm>
          <a:off x="5214938" y="1357313"/>
          <a:ext cx="176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24" r:id="rId7" imgW="1723904" imgH="685800" progId="Equation.3">
                  <p:embed/>
                </p:oleObj>
              </mc:Choice>
              <mc:Fallback>
                <p:oleObj r:id="rId7" imgW="1723904" imgH="685800" progId="Equation.3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E40210A2-337E-404C-919A-AE5E1603BC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1357313"/>
                        <a:ext cx="1765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F61185ED-F094-44FB-8301-435BAD4D83FA}"/>
              </a:ext>
            </a:extLst>
          </p:cNvPr>
          <p:cNvGraphicFramePr>
            <a:graphicFrameLocks/>
          </p:cNvGraphicFramePr>
          <p:nvPr/>
        </p:nvGraphicFramePr>
        <p:xfrm>
          <a:off x="1357313" y="5565775"/>
          <a:ext cx="59372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525" r:id="rId9" imgW="3019355" imgH="447607" progId="Equation.3">
                  <p:embed/>
                </p:oleObj>
              </mc:Choice>
              <mc:Fallback>
                <p:oleObj r:id="rId9" imgW="3019355" imgH="447607" progId="Equation.3">
                  <p:embed/>
                  <p:pic>
                    <p:nvPicPr>
                      <p:cNvPr id="2" name="Object 21">
                        <a:extLst>
                          <a:ext uri="{FF2B5EF4-FFF2-40B4-BE49-F238E27FC236}">
                            <a16:creationId xmlns:a16="http://schemas.microsoft.com/office/drawing/2014/main" id="{F61185ED-F094-44FB-8301-435BAD4D83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565775"/>
                        <a:ext cx="59372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灯片编号占位符 1">
            <a:extLst>
              <a:ext uri="{FF2B5EF4-FFF2-40B4-BE49-F238E27FC236}">
                <a16:creationId xmlns:a16="http://schemas.microsoft.com/office/drawing/2014/main" id="{8B090444-A30F-4C71-8C9D-D2ABF56B6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A6D656-7C5B-4122-AE29-B5D88EC8C890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0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6" grpId="0"/>
      <p:bldP spid="120845" grpId="0"/>
      <p:bldP spid="120854" grpId="0"/>
      <p:bldP spid="120855" grpId="0"/>
      <p:bldP spid="120858" grpId="0"/>
      <p:bldP spid="12086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BB023606-F53B-477C-A484-3183ECCF3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531" name="Rectangle 8">
            <a:extLst>
              <a:ext uri="{FF2B5EF4-FFF2-40B4-BE49-F238E27FC236}">
                <a16:creationId xmlns:a16="http://schemas.microsoft.com/office/drawing/2014/main" id="{8DF94C11-E2ED-4B17-9EF7-DB2FEEB2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1860" name="Text Box 4">
            <a:extLst>
              <a:ext uri="{FF2B5EF4-FFF2-40B4-BE49-F238E27FC236}">
                <a16:creationId xmlns:a16="http://schemas.microsoft.com/office/drawing/2014/main" id="{F8E88838-747C-4FE3-8312-FAA481AF0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249238"/>
            <a:ext cx="8154988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9263" indent="-4492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 altLang="zh-CN" i="1">
                <a:solidFill>
                  <a:srgbClr val="FFFF00"/>
                </a:solidFill>
              </a:rPr>
              <a:t>v=</a:t>
            </a:r>
            <a:r>
              <a:rPr lang="en-US" altLang="zh-CN" baseline="-25000">
                <a:solidFill>
                  <a:srgbClr val="FFFF00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附近，</a:t>
            </a:r>
            <a:r>
              <a:rPr lang="el-GR" altLang="zh-CN">
                <a:solidFill>
                  <a:srgbClr val="FFFF00"/>
                </a:solidFill>
              </a:rPr>
              <a:t>Δ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zh-CN" altLang="en-US">
                <a:solidFill>
                  <a:srgbClr val="FFFF00"/>
                </a:solidFill>
              </a:rPr>
              <a:t>＝</a:t>
            </a:r>
            <a:r>
              <a:rPr lang="en-US" altLang="zh-CN">
                <a:solidFill>
                  <a:srgbClr val="FFFF00"/>
                </a:solidFill>
              </a:rPr>
              <a:t>1m/s</a:t>
            </a:r>
            <a:r>
              <a:rPr lang="zh-CN" altLang="en-US">
                <a:solidFill>
                  <a:schemeClr val="bg1"/>
                </a:solidFill>
              </a:rPr>
              <a:t>内单位速率区间的分子数占分子总数的比率为</a:t>
            </a:r>
          </a:p>
        </p:txBody>
      </p:sp>
      <p:sp>
        <p:nvSpPr>
          <p:cNvPr id="22533" name="Rectangle 10">
            <a:extLst>
              <a:ext uri="{FF2B5EF4-FFF2-40B4-BE49-F238E27FC236}">
                <a16:creationId xmlns:a16="http://schemas.microsoft.com/office/drawing/2014/main" id="{0ACD4632-1695-4E24-9BFE-A24E87EBE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1865" name="Object 2">
            <a:extLst>
              <a:ext uri="{FF2B5EF4-FFF2-40B4-BE49-F238E27FC236}">
                <a16:creationId xmlns:a16="http://schemas.microsoft.com/office/drawing/2014/main" id="{842564E1-6FFA-4E49-83BD-797C03FF688E}"/>
              </a:ext>
            </a:extLst>
          </p:cNvPr>
          <p:cNvGraphicFramePr>
            <a:graphicFrameLocks/>
          </p:cNvGraphicFramePr>
          <p:nvPr/>
        </p:nvGraphicFramePr>
        <p:xfrm>
          <a:off x="1890713" y="1214438"/>
          <a:ext cx="465137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526" r:id="rId3" imgW="5781822" imgH="1438343" progId="Equation.DSMT4">
                  <p:embed/>
                </p:oleObj>
              </mc:Choice>
              <mc:Fallback>
                <p:oleObj r:id="rId3" imgW="5781822" imgH="1438343" progId="Equation.DSMT4">
                  <p:embed/>
                  <p:pic>
                    <p:nvPicPr>
                      <p:cNvPr id="121865" name="Object 2">
                        <a:extLst>
                          <a:ext uri="{FF2B5EF4-FFF2-40B4-BE49-F238E27FC236}">
                            <a16:creationId xmlns:a16="http://schemas.microsoft.com/office/drawing/2014/main" id="{842564E1-6FFA-4E49-83BD-797C03FF688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1214438"/>
                        <a:ext cx="4651375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3">
            <a:extLst>
              <a:ext uri="{FF2B5EF4-FFF2-40B4-BE49-F238E27FC236}">
                <a16:creationId xmlns:a16="http://schemas.microsoft.com/office/drawing/2014/main" id="{59A3E805-6D90-4C27-B7CD-3FAAA1040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1867" name="Text Box 11">
            <a:extLst>
              <a:ext uri="{FF2B5EF4-FFF2-40B4-BE49-F238E27FC236}">
                <a16:creationId xmlns:a16="http://schemas.microsoft.com/office/drawing/2014/main" id="{C2A67602-6E91-4BFD-8280-7D9375752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500313"/>
            <a:ext cx="80327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7188" indent="-357188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 altLang="zh-CN" i="1">
                <a:solidFill>
                  <a:srgbClr val="FFFF00"/>
                </a:solidFill>
              </a:rPr>
              <a:t>v=</a:t>
            </a:r>
            <a:r>
              <a:rPr lang="en-US" altLang="zh-CN">
                <a:solidFill>
                  <a:srgbClr val="FFFF00"/>
                </a:solidFill>
              </a:rPr>
              <a:t> 10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附近，</a:t>
            </a:r>
            <a:r>
              <a:rPr lang="el-GR" altLang="zh-CN">
                <a:solidFill>
                  <a:srgbClr val="FFFF00"/>
                </a:solidFill>
              </a:rPr>
              <a:t>Δ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zh-CN" altLang="en-US">
                <a:solidFill>
                  <a:srgbClr val="FFFF00"/>
                </a:solidFill>
              </a:rPr>
              <a:t>＝</a:t>
            </a:r>
            <a:r>
              <a:rPr lang="en-US" altLang="zh-CN">
                <a:solidFill>
                  <a:srgbClr val="FFFF00"/>
                </a:solidFill>
              </a:rPr>
              <a:t>1m/s </a:t>
            </a:r>
            <a:r>
              <a:rPr lang="zh-CN" altLang="en-US">
                <a:solidFill>
                  <a:schemeClr val="bg1"/>
                </a:solidFill>
              </a:rPr>
              <a:t>的速率区间内的分子数占分子总数的比率为</a:t>
            </a:r>
          </a:p>
        </p:txBody>
      </p:sp>
      <p:sp>
        <p:nvSpPr>
          <p:cNvPr id="22537" name="Rectangle 16">
            <a:extLst>
              <a:ext uri="{FF2B5EF4-FFF2-40B4-BE49-F238E27FC236}">
                <a16:creationId xmlns:a16="http://schemas.microsoft.com/office/drawing/2014/main" id="{B276C0E4-2D48-48CF-B52D-378EB798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1871" name="Object 3">
            <a:extLst>
              <a:ext uri="{FF2B5EF4-FFF2-40B4-BE49-F238E27FC236}">
                <a16:creationId xmlns:a16="http://schemas.microsoft.com/office/drawing/2014/main" id="{92E9053B-C29F-48DB-A5ED-CF7D765771F7}"/>
              </a:ext>
            </a:extLst>
          </p:cNvPr>
          <p:cNvGraphicFramePr>
            <a:graphicFrameLocks/>
          </p:cNvGraphicFramePr>
          <p:nvPr/>
        </p:nvGraphicFramePr>
        <p:xfrm>
          <a:off x="1857375" y="3429000"/>
          <a:ext cx="4295775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527" r:id="rId5" imgW="5143576" imgH="2552768" progId="Equation.DSMT4">
                  <p:embed/>
                </p:oleObj>
              </mc:Choice>
              <mc:Fallback>
                <p:oleObj r:id="rId5" imgW="5143576" imgH="2552768" progId="Equation.DSMT4">
                  <p:embed/>
                  <p:pic>
                    <p:nvPicPr>
                      <p:cNvPr id="121871" name="Object 3">
                        <a:extLst>
                          <a:ext uri="{FF2B5EF4-FFF2-40B4-BE49-F238E27FC236}">
                            <a16:creationId xmlns:a16="http://schemas.microsoft.com/office/drawing/2014/main" id="{92E9053B-C29F-48DB-A5ED-CF7D765771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3429000"/>
                        <a:ext cx="4295775" cy="214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4">
            <a:extLst>
              <a:ext uri="{FF2B5EF4-FFF2-40B4-BE49-F238E27FC236}">
                <a16:creationId xmlns:a16="http://schemas.microsoft.com/office/drawing/2014/main" id="{732F99C8-E6EF-4E1F-A104-5B93DB504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5857875"/>
            <a:ext cx="7786687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1DC4FF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结论：</a:t>
            </a:r>
            <a:r>
              <a:rPr lang="zh-CN" altLang="en-US">
                <a:solidFill>
                  <a:schemeClr val="bg1"/>
                </a:solidFill>
              </a:rPr>
              <a:t>分子出现在 </a:t>
            </a:r>
            <a:r>
              <a:rPr lang="en-US" altLang="zh-CN" i="1">
                <a:solidFill>
                  <a:srgbClr val="FFFF00"/>
                </a:solidFill>
              </a:rPr>
              <a:t>v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en-US" altLang="zh-CN">
                <a:solidFill>
                  <a:srgbClr val="FFCC66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附近单位速率区间内的概率最大</a:t>
            </a:r>
          </a:p>
        </p:txBody>
      </p:sp>
      <p:sp>
        <p:nvSpPr>
          <p:cNvPr id="22540" name="灯片编号占位符 1">
            <a:extLst>
              <a:ext uri="{FF2B5EF4-FFF2-40B4-BE49-F238E27FC236}">
                <a16:creationId xmlns:a16="http://schemas.microsoft.com/office/drawing/2014/main" id="{2041F869-0A4E-4410-932C-79128C12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3F11A5-1FBE-4014-8462-6E2CE481683F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  <p:bldP spid="12186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18227032-8D82-4691-8F4A-0098FD687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27025"/>
            <a:ext cx="640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六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气体分子按平动动能的分布规律</a:t>
            </a:r>
          </a:p>
        </p:txBody>
      </p:sp>
      <p:graphicFrame>
        <p:nvGraphicFramePr>
          <p:cNvPr id="59395" name="Object 2">
            <a:extLst>
              <a:ext uri="{FF2B5EF4-FFF2-40B4-BE49-F238E27FC236}">
                <a16:creationId xmlns:a16="http://schemas.microsoft.com/office/drawing/2014/main" id="{BA25F521-C892-4582-8DAB-F28C08A4A27F}"/>
              </a:ext>
            </a:extLst>
          </p:cNvPr>
          <p:cNvGraphicFramePr>
            <a:graphicFrameLocks/>
          </p:cNvGraphicFramePr>
          <p:nvPr/>
        </p:nvGraphicFramePr>
        <p:xfrm>
          <a:off x="2339975" y="1462088"/>
          <a:ext cx="44291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0" r:id="rId4" imgW="1981098" imgH="390661" progId="Equation.3">
                  <p:embed/>
                </p:oleObj>
              </mc:Choice>
              <mc:Fallback>
                <p:oleObj r:id="rId4" imgW="1981098" imgH="390661" progId="Equation.3">
                  <p:embed/>
                  <p:pic>
                    <p:nvPicPr>
                      <p:cNvPr id="59395" name="Object 2">
                        <a:extLst>
                          <a:ext uri="{FF2B5EF4-FFF2-40B4-BE49-F238E27FC236}">
                            <a16:creationId xmlns:a16="http://schemas.microsoft.com/office/drawing/2014/main" id="{BA25F521-C892-4582-8DAB-F28C08A4A2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462088"/>
                        <a:ext cx="44291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>
            <a:extLst>
              <a:ext uri="{FF2B5EF4-FFF2-40B4-BE49-F238E27FC236}">
                <a16:creationId xmlns:a16="http://schemas.microsoft.com/office/drawing/2014/main" id="{8DFCDF39-82F9-4046-9A65-2AEAA2FE5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908050"/>
            <a:ext cx="395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麦克斯韦速率分布定律</a:t>
            </a:r>
          </a:p>
        </p:txBody>
      </p:sp>
      <p:graphicFrame>
        <p:nvGraphicFramePr>
          <p:cNvPr id="59397" name="Object 3">
            <a:extLst>
              <a:ext uri="{FF2B5EF4-FFF2-40B4-BE49-F238E27FC236}">
                <a16:creationId xmlns:a16="http://schemas.microsoft.com/office/drawing/2014/main" id="{C545BEF0-160D-46A1-859B-9EA26D74BEF7}"/>
              </a:ext>
            </a:extLst>
          </p:cNvPr>
          <p:cNvGraphicFramePr>
            <a:graphicFrameLocks/>
          </p:cNvGraphicFramePr>
          <p:nvPr/>
        </p:nvGraphicFramePr>
        <p:xfrm>
          <a:off x="1062038" y="2587625"/>
          <a:ext cx="15001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1" r:id="rId6" imgW="609498" imgH="352391" progId="Equation.3">
                  <p:embed/>
                </p:oleObj>
              </mc:Choice>
              <mc:Fallback>
                <p:oleObj r:id="rId6" imgW="609498" imgH="352391" progId="Equation.3">
                  <p:embed/>
                  <p:pic>
                    <p:nvPicPr>
                      <p:cNvPr id="59397" name="Object 3">
                        <a:extLst>
                          <a:ext uri="{FF2B5EF4-FFF2-40B4-BE49-F238E27FC236}">
                            <a16:creationId xmlns:a16="http://schemas.microsoft.com/office/drawing/2014/main" id="{C545BEF0-160D-46A1-859B-9EA26D74BE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2587625"/>
                        <a:ext cx="15001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4">
            <a:extLst>
              <a:ext uri="{FF2B5EF4-FFF2-40B4-BE49-F238E27FC236}">
                <a16:creationId xmlns:a16="http://schemas.microsoft.com/office/drawing/2014/main" id="{25107F8B-1683-4A21-A8D9-296452F811AC}"/>
              </a:ext>
            </a:extLst>
          </p:cNvPr>
          <p:cNvGraphicFramePr>
            <a:graphicFrameLocks/>
          </p:cNvGraphicFramePr>
          <p:nvPr/>
        </p:nvGraphicFramePr>
        <p:xfrm>
          <a:off x="3786188" y="2794000"/>
          <a:ext cx="15763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2" r:id="rId8" imgW="676167" imgH="161959" progId="Equation.3">
                  <p:embed/>
                </p:oleObj>
              </mc:Choice>
              <mc:Fallback>
                <p:oleObj r:id="rId8" imgW="676167" imgH="161959" progId="Equation.3">
                  <p:embed/>
                  <p:pic>
                    <p:nvPicPr>
                      <p:cNvPr id="59398" name="Object 4">
                        <a:extLst>
                          <a:ext uri="{FF2B5EF4-FFF2-40B4-BE49-F238E27FC236}">
                            <a16:creationId xmlns:a16="http://schemas.microsoft.com/office/drawing/2014/main" id="{25107F8B-1683-4A21-A8D9-296452F811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794000"/>
                        <a:ext cx="15763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5">
            <a:extLst>
              <a:ext uri="{FF2B5EF4-FFF2-40B4-BE49-F238E27FC236}">
                <a16:creationId xmlns:a16="http://schemas.microsoft.com/office/drawing/2014/main" id="{091CE895-F10D-4ACD-894B-CC15535DA533}"/>
              </a:ext>
            </a:extLst>
          </p:cNvPr>
          <p:cNvGraphicFramePr>
            <a:graphicFrameLocks/>
          </p:cNvGraphicFramePr>
          <p:nvPr/>
        </p:nvGraphicFramePr>
        <p:xfrm>
          <a:off x="1957388" y="4429125"/>
          <a:ext cx="5521325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3" r:id="rId10" imgW="2400376" imgH="428625" progId="Equation.3">
                  <p:embed/>
                </p:oleObj>
              </mc:Choice>
              <mc:Fallback>
                <p:oleObj r:id="rId10" imgW="2400376" imgH="428625" progId="Equation.3">
                  <p:embed/>
                  <p:pic>
                    <p:nvPicPr>
                      <p:cNvPr id="59399" name="Object 5">
                        <a:extLst>
                          <a:ext uri="{FF2B5EF4-FFF2-40B4-BE49-F238E27FC236}">
                            <a16:creationId xmlns:a16="http://schemas.microsoft.com/office/drawing/2014/main" id="{091CE895-F10D-4ACD-894B-CC15535DA5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8" y="4429125"/>
                        <a:ext cx="5521325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Rectangle 8">
            <a:extLst>
              <a:ext uri="{FF2B5EF4-FFF2-40B4-BE49-F238E27FC236}">
                <a16:creationId xmlns:a16="http://schemas.microsoft.com/office/drawing/2014/main" id="{EF1DD403-24A6-4EAE-AC54-F7329B4BB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107" y="5517232"/>
            <a:ext cx="721665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表明理想气体在平衡态下，分子平动动能在</a:t>
            </a:r>
            <a:r>
              <a:rPr lang="zh-CN" altLang="en-US" b="0" i="1" dirty="0">
                <a:solidFill>
                  <a:srgbClr val="66FFFF"/>
                </a:solidFill>
                <a:sym typeface="Symbol" panose="05050102010706020507" pitchFamily="18" charset="2"/>
              </a:rPr>
              <a:t>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sz="2800" b="0" i="1" dirty="0">
                <a:solidFill>
                  <a:srgbClr val="66FFFF"/>
                </a:solidFill>
              </a:rPr>
              <a:t>~</a:t>
            </a:r>
            <a:r>
              <a:rPr lang="en-US" altLang="zh-CN" b="0" i="1" dirty="0">
                <a:solidFill>
                  <a:srgbClr val="66FFFF"/>
                </a:solidFill>
                <a:sym typeface="Symbol" panose="05050102010706020507" pitchFamily="18" charset="2"/>
              </a:rPr>
              <a:t> </a:t>
            </a:r>
            <a:r>
              <a:rPr lang="en-US" altLang="zh-CN" b="0" dirty="0">
                <a:solidFill>
                  <a:srgbClr val="66FFFF"/>
                </a:solidFill>
                <a:sym typeface="Symbol" panose="05050102010706020507" pitchFamily="18" charset="2"/>
              </a:rPr>
              <a:t>+ d</a:t>
            </a:r>
            <a:r>
              <a:rPr lang="en-US" altLang="zh-CN" b="0" i="1" dirty="0">
                <a:solidFill>
                  <a:srgbClr val="66FFFF"/>
                </a:solidFill>
                <a:sym typeface="Symbol" panose="05050102010706020507" pitchFamily="18" charset="2"/>
              </a:rPr>
              <a:t>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区间内的分子数占总分子数的比率</a:t>
            </a:r>
          </a:p>
        </p:txBody>
      </p:sp>
      <p:sp>
        <p:nvSpPr>
          <p:cNvPr id="59401" name="Rectangle 9">
            <a:extLst>
              <a:ext uri="{FF2B5EF4-FFF2-40B4-BE49-F238E27FC236}">
                <a16:creationId xmlns:a16="http://schemas.microsoft.com/office/drawing/2014/main" id="{635D8DDA-ECA4-46D3-83B2-6B4308EDE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614988"/>
            <a:ext cx="118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意义：</a:t>
            </a:r>
          </a:p>
        </p:txBody>
      </p:sp>
      <p:sp>
        <p:nvSpPr>
          <p:cNvPr id="59402" name="AutoShape 10">
            <a:extLst>
              <a:ext uri="{FF2B5EF4-FFF2-40B4-BE49-F238E27FC236}">
                <a16:creationId xmlns:a16="http://schemas.microsoft.com/office/drawing/2014/main" id="{8217C1BC-7802-4EEC-A072-599B54339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2930525"/>
            <a:ext cx="938213" cy="217488"/>
          </a:xfrm>
          <a:prstGeom prst="rightArrow">
            <a:avLst>
              <a:gd name="adj1" fmla="val 50000"/>
              <a:gd name="adj2" fmla="val 13227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9404" name="Text Box 12">
            <a:extLst>
              <a:ext uri="{FF2B5EF4-FFF2-40B4-BE49-F238E27FC236}">
                <a16:creationId xmlns:a16="http://schemas.microsoft.com/office/drawing/2014/main" id="{B3C082FE-BE84-4CB1-8280-BE08B5767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2571750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两边微分</a:t>
            </a:r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18B7E058-64A1-422B-8984-AF4AFD62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2933700"/>
            <a:ext cx="714375" cy="217488"/>
          </a:xfrm>
          <a:prstGeom prst="rightArrow">
            <a:avLst>
              <a:gd name="adj1" fmla="val 50000"/>
              <a:gd name="adj2" fmla="val 132284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1F8DF0C7-E471-4614-A782-EEB4453F225F}"/>
              </a:ext>
            </a:extLst>
          </p:cNvPr>
          <p:cNvGraphicFramePr>
            <a:graphicFrameLocks/>
          </p:cNvGraphicFramePr>
          <p:nvPr/>
        </p:nvGraphicFramePr>
        <p:xfrm>
          <a:off x="6286500" y="2571750"/>
          <a:ext cx="12954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4" r:id="rId12" imgW="542829" imgH="380864" progId="Equation.3">
                  <p:embed/>
                </p:oleObj>
              </mc:Choice>
              <mc:Fallback>
                <p:oleObj r:id="rId12" imgW="542829" imgH="380864" progId="Equation.3">
                  <p:embed/>
                  <p:pic>
                    <p:nvPicPr>
                      <p:cNvPr id="2" name="Object 14">
                        <a:extLst>
                          <a:ext uri="{FF2B5EF4-FFF2-40B4-BE49-F238E27FC236}">
                            <a16:creationId xmlns:a16="http://schemas.microsoft.com/office/drawing/2014/main" id="{1F8DF0C7-E471-4614-A782-EEB4453F225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571750"/>
                        <a:ext cx="12954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8816FB0A-0F23-47CE-AF91-56FAE1FA5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3360738"/>
            <a:ext cx="1546225" cy="639762"/>
          </a:xfrm>
          <a:custGeom>
            <a:avLst/>
            <a:gdLst>
              <a:gd name="T0" fmla="*/ 2796 w 1546370"/>
              <a:gd name="T1" fmla="*/ 0 h 640360"/>
              <a:gd name="T2" fmla="*/ 53110 w 1546370"/>
              <a:gd name="T3" fmla="*/ 417885 h 640360"/>
              <a:gd name="T4" fmla="*/ 321458 w 1546370"/>
              <a:gd name="T5" fmla="*/ 601755 h 640360"/>
              <a:gd name="T6" fmla="*/ 749136 w 1546370"/>
              <a:gd name="T7" fmla="*/ 635186 h 640360"/>
              <a:gd name="T8" fmla="*/ 1545790 w 1546370"/>
              <a:gd name="T9" fmla="*/ 618470 h 6403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46370"/>
              <a:gd name="T16" fmla="*/ 0 h 640360"/>
              <a:gd name="T17" fmla="*/ 1546370 w 1546370"/>
              <a:gd name="T18" fmla="*/ 640360 h 6403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46370" h="640360">
                <a:moveTo>
                  <a:pt x="2796" y="0"/>
                </a:moveTo>
                <a:cubicBezTo>
                  <a:pt x="1398" y="159391"/>
                  <a:pt x="0" y="318782"/>
                  <a:pt x="53130" y="419450"/>
                </a:cubicBezTo>
                <a:cubicBezTo>
                  <a:pt x="106260" y="520118"/>
                  <a:pt x="205530" y="567656"/>
                  <a:pt x="321578" y="604008"/>
                </a:cubicBezTo>
                <a:cubicBezTo>
                  <a:pt x="437626" y="640360"/>
                  <a:pt x="749416" y="637564"/>
                  <a:pt x="749416" y="637564"/>
                </a:cubicBezTo>
                <a:lnTo>
                  <a:pt x="1546370" y="620786"/>
                </a:ln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6E54FDCA-1592-4013-8452-21D20B175827}"/>
              </a:ext>
            </a:extLst>
          </p:cNvPr>
          <p:cNvGraphicFramePr>
            <a:graphicFrameLocks/>
          </p:cNvGraphicFramePr>
          <p:nvPr/>
        </p:nvGraphicFramePr>
        <p:xfrm>
          <a:off x="4071938" y="3541713"/>
          <a:ext cx="135731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595" r:id="rId14" imgW="504908" imgH="380864" progId="Equation.3">
                  <p:embed/>
                </p:oleObj>
              </mc:Choice>
              <mc:Fallback>
                <p:oleObj r:id="rId14" imgW="504908" imgH="380864" progId="Equation.3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6E54FDCA-1592-4013-8452-21D20B1758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3541713"/>
                        <a:ext cx="1357312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15B1BFDD-8679-4077-9833-BE52D94BD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1912938"/>
            <a:ext cx="2263775" cy="2046287"/>
          </a:xfrm>
          <a:custGeom>
            <a:avLst/>
            <a:gdLst>
              <a:gd name="T0" fmla="*/ 0 w 2265027"/>
              <a:gd name="T1" fmla="*/ 2044407 h 2046914"/>
              <a:gd name="T2" fmla="*/ 1841501 w 2265027"/>
              <a:gd name="T3" fmla="*/ 1918727 h 2046914"/>
              <a:gd name="T4" fmla="*/ 2226542 w 2265027"/>
              <a:gd name="T5" fmla="*/ 1357352 h 2046914"/>
              <a:gd name="T6" fmla="*/ 2042391 w 2265027"/>
              <a:gd name="T7" fmla="*/ 1147884 h 2046914"/>
              <a:gd name="T8" fmla="*/ 1791278 w 2265027"/>
              <a:gd name="T9" fmla="*/ 1122749 h 2046914"/>
              <a:gd name="T10" fmla="*/ 2092614 w 2265027"/>
              <a:gd name="T11" fmla="*/ 1055718 h 2046914"/>
              <a:gd name="T12" fmla="*/ 2218171 w 2265027"/>
              <a:gd name="T13" fmla="*/ 795978 h 2046914"/>
              <a:gd name="T14" fmla="*/ 2050762 w 2265027"/>
              <a:gd name="T15" fmla="*/ 452449 h 2046914"/>
              <a:gd name="T16" fmla="*/ 1665721 w 2265027"/>
              <a:gd name="T17" fmla="*/ 134060 h 2046914"/>
              <a:gd name="T18" fmla="*/ 1071417 w 2265027"/>
              <a:gd name="T19" fmla="*/ 0 h 204691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265027"/>
              <a:gd name="T31" fmla="*/ 0 h 2046914"/>
              <a:gd name="T32" fmla="*/ 2265027 w 2265027"/>
              <a:gd name="T33" fmla="*/ 2046914 h 204691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265027" h="2046914">
                <a:moveTo>
                  <a:pt x="0" y="2046914"/>
                </a:moveTo>
                <a:cubicBezTo>
                  <a:pt x="736833" y="2041321"/>
                  <a:pt x="1473666" y="2035729"/>
                  <a:pt x="1845578" y="1921079"/>
                </a:cubicBezTo>
                <a:cubicBezTo>
                  <a:pt x="2217490" y="1806429"/>
                  <a:pt x="2197915" y="1487647"/>
                  <a:pt x="2231471" y="1359016"/>
                </a:cubicBezTo>
                <a:cubicBezTo>
                  <a:pt x="2265027" y="1230385"/>
                  <a:pt x="2119618" y="1188441"/>
                  <a:pt x="2046913" y="1149292"/>
                </a:cubicBezTo>
                <a:cubicBezTo>
                  <a:pt x="1974208" y="1110143"/>
                  <a:pt x="1786855" y="1139505"/>
                  <a:pt x="1795244" y="1124125"/>
                </a:cubicBezTo>
                <a:cubicBezTo>
                  <a:pt x="1803633" y="1108745"/>
                  <a:pt x="2025941" y="1111541"/>
                  <a:pt x="2097247" y="1057013"/>
                </a:cubicBezTo>
                <a:cubicBezTo>
                  <a:pt x="2168553" y="1002485"/>
                  <a:pt x="2230073" y="897622"/>
                  <a:pt x="2223082" y="796954"/>
                </a:cubicBezTo>
                <a:cubicBezTo>
                  <a:pt x="2216091" y="696286"/>
                  <a:pt x="2147581" y="563460"/>
                  <a:pt x="2055302" y="453005"/>
                </a:cubicBezTo>
                <a:cubicBezTo>
                  <a:pt x="1963023" y="342550"/>
                  <a:pt x="1832994" y="209725"/>
                  <a:pt x="1669409" y="134224"/>
                </a:cubicBezTo>
                <a:cubicBezTo>
                  <a:pt x="1505824" y="58723"/>
                  <a:pt x="1289807" y="29361"/>
                  <a:pt x="1073790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任意多边形 18">
            <a:extLst>
              <a:ext uri="{FF2B5EF4-FFF2-40B4-BE49-F238E27FC236}">
                <a16:creationId xmlns:a16="http://schemas.microsoft.com/office/drawing/2014/main" id="{A9EE624F-8928-4690-80C9-7EDF034D7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912938"/>
            <a:ext cx="1778000" cy="3078162"/>
          </a:xfrm>
          <a:custGeom>
            <a:avLst/>
            <a:gdLst>
              <a:gd name="T0" fmla="*/ 1776599 w 1778467"/>
              <a:gd name="T1" fmla="*/ 0 h 3078760"/>
              <a:gd name="T2" fmla="*/ 586614 w 1778467"/>
              <a:gd name="T3" fmla="*/ 134120 h 3078760"/>
              <a:gd name="T4" fmla="*/ 92183 w 1778467"/>
              <a:gd name="T5" fmla="*/ 662214 h 3078760"/>
              <a:gd name="T6" fmla="*/ 33521 w 1778467"/>
              <a:gd name="T7" fmla="*/ 1274135 h 3078760"/>
              <a:gd name="T8" fmla="*/ 58664 w 1778467"/>
              <a:gd name="T9" fmla="*/ 1995028 h 3078760"/>
              <a:gd name="T10" fmla="*/ 184366 w 1778467"/>
              <a:gd name="T11" fmla="*/ 2456066 h 3078760"/>
              <a:gd name="T12" fmla="*/ 611753 w 1778467"/>
              <a:gd name="T13" fmla="*/ 2933867 h 3078760"/>
              <a:gd name="T14" fmla="*/ 1441391 w 1778467"/>
              <a:gd name="T15" fmla="*/ 3076368 h 3078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78467"/>
              <a:gd name="T25" fmla="*/ 0 h 3078760"/>
              <a:gd name="T26" fmla="*/ 1778467 w 1778467"/>
              <a:gd name="T27" fmla="*/ 3078760 h 3078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78467" h="3078760">
                <a:moveTo>
                  <a:pt x="1778467" y="0"/>
                </a:moveTo>
                <a:cubicBezTo>
                  <a:pt x="1323364" y="11884"/>
                  <a:pt x="868261" y="23769"/>
                  <a:pt x="587230" y="134224"/>
                </a:cubicBezTo>
                <a:cubicBezTo>
                  <a:pt x="306199" y="244679"/>
                  <a:pt x="184558" y="472580"/>
                  <a:pt x="92279" y="662730"/>
                </a:cubicBezTo>
                <a:cubicBezTo>
                  <a:pt x="0" y="852880"/>
                  <a:pt x="39150" y="1052819"/>
                  <a:pt x="33557" y="1275127"/>
                </a:cubicBezTo>
                <a:cubicBezTo>
                  <a:pt x="27965" y="1497435"/>
                  <a:pt x="33557" y="1799439"/>
                  <a:pt x="58724" y="1996580"/>
                </a:cubicBezTo>
                <a:cubicBezTo>
                  <a:pt x="83891" y="2193721"/>
                  <a:pt x="92279" y="2301380"/>
                  <a:pt x="184558" y="2457974"/>
                </a:cubicBezTo>
                <a:cubicBezTo>
                  <a:pt x="276837" y="2614568"/>
                  <a:pt x="402672" y="2832683"/>
                  <a:pt x="612397" y="2936147"/>
                </a:cubicBezTo>
                <a:cubicBezTo>
                  <a:pt x="822122" y="3039611"/>
                  <a:pt x="1132514" y="3059185"/>
                  <a:pt x="1442907" y="307876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" name="灯片编号占位符 1">
            <a:extLst>
              <a:ext uri="{FF2B5EF4-FFF2-40B4-BE49-F238E27FC236}">
                <a16:creationId xmlns:a16="http://schemas.microsoft.com/office/drawing/2014/main" id="{A4B12A95-A47C-41AE-AF8F-351DBC78F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35B25B-FEB1-44CC-B629-9BA9484A966F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6" grpId="0"/>
      <p:bldP spid="59400" grpId="0"/>
      <p:bldP spid="59401" grpId="0"/>
      <p:bldP spid="59402" grpId="0" animBg="1"/>
      <p:bldP spid="59404" grpId="0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B8AC4B-1237-400E-B5C2-D6D1DA75CAC7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2060575"/>
            <a:ext cx="5257800" cy="579438"/>
            <a:chOff x="336" y="3168"/>
            <a:chExt cx="3312" cy="365"/>
          </a:xfrm>
        </p:grpSpPr>
        <p:sp>
          <p:nvSpPr>
            <p:cNvPr id="25614" name="Text Box 3">
              <a:extLst>
                <a:ext uri="{FF2B5EF4-FFF2-40B4-BE49-F238E27FC236}">
                  <a16:creationId xmlns:a16="http://schemas.microsoft.com/office/drawing/2014/main" id="{ED3F685C-8E4D-4DAB-A0B9-1AFADB1BB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183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FF00"/>
                  </a:solidFill>
                </a:rPr>
                <a:t>      </a:t>
              </a:r>
              <a:r>
                <a:rPr lang="zh-CN" altLang="en-US">
                  <a:solidFill>
                    <a:schemeClr val="bg1"/>
                  </a:solidFill>
                </a:rPr>
                <a:t>试求：平动动能的最概然值</a:t>
              </a:r>
            </a:p>
          </p:txBody>
        </p:sp>
        <p:graphicFrame>
          <p:nvGraphicFramePr>
            <p:cNvPr id="25615" name="Object 6">
              <a:extLst>
                <a:ext uri="{FF2B5EF4-FFF2-40B4-BE49-F238E27FC236}">
                  <a16:creationId xmlns:a16="http://schemas.microsoft.com/office/drawing/2014/main" id="{5207B2D2-FD7E-4822-BE76-84D7327787C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20" y="3168"/>
            <a:ext cx="28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604" r:id="rId3" imgW="152298" imgH="199923" progId="Equation.3">
                    <p:embed/>
                  </p:oleObj>
                </mc:Choice>
                <mc:Fallback>
                  <p:oleObj r:id="rId3" imgW="152298" imgH="199923" progId="Equation.3">
                    <p:embed/>
                    <p:pic>
                      <p:nvPicPr>
                        <p:cNvPr id="25615" name="Object 6">
                          <a:extLst>
                            <a:ext uri="{FF2B5EF4-FFF2-40B4-BE49-F238E27FC236}">
                              <a16:creationId xmlns:a16="http://schemas.microsoft.com/office/drawing/2014/main" id="{5207B2D2-FD7E-4822-BE76-84D7327787C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168"/>
                          <a:ext cx="28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E4226D30-D7E5-4E0D-ADCF-CB1ED04463A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140075"/>
            <a:ext cx="3079750" cy="577850"/>
            <a:chOff x="1056" y="3639"/>
            <a:chExt cx="1940" cy="364"/>
          </a:xfrm>
        </p:grpSpPr>
        <p:sp>
          <p:nvSpPr>
            <p:cNvPr id="25612" name="Text Box 6">
              <a:extLst>
                <a:ext uri="{FF2B5EF4-FFF2-40B4-BE49-F238E27FC236}">
                  <a16:creationId xmlns:a16="http://schemas.microsoft.com/office/drawing/2014/main" id="{40119A8B-17D2-4CE1-948E-39512E4CE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674"/>
              <a:ext cx="19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对              求极值即可</a:t>
              </a:r>
            </a:p>
          </p:txBody>
        </p:sp>
        <p:graphicFrame>
          <p:nvGraphicFramePr>
            <p:cNvPr id="25613" name="Object 5">
              <a:extLst>
                <a:ext uri="{FF2B5EF4-FFF2-40B4-BE49-F238E27FC236}">
                  <a16:creationId xmlns:a16="http://schemas.microsoft.com/office/drawing/2014/main" id="{5A8A22E6-01F8-4C0E-B5E2-E48AF18309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15" y="3639"/>
            <a:ext cx="628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7605" r:id="rId5" imgW="381051" imgH="199923" progId="Equation.3">
                    <p:embed/>
                  </p:oleObj>
                </mc:Choice>
                <mc:Fallback>
                  <p:oleObj r:id="rId5" imgW="381051" imgH="199923" progId="Equation.3">
                    <p:embed/>
                    <p:pic>
                      <p:nvPicPr>
                        <p:cNvPr id="25613" name="Object 5">
                          <a:extLst>
                            <a:ext uri="{FF2B5EF4-FFF2-40B4-BE49-F238E27FC236}">
                              <a16:creationId xmlns:a16="http://schemas.microsoft.com/office/drawing/2014/main" id="{5A8A22E6-01F8-4C0E-B5E2-E48AF18309B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3639"/>
                          <a:ext cx="628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8" name="Text Box 8">
            <a:extLst>
              <a:ext uri="{FF2B5EF4-FFF2-40B4-BE49-F238E27FC236}">
                <a16:creationId xmlns:a16="http://schemas.microsoft.com/office/drawing/2014/main" id="{5E6639F6-6BF0-45CC-963D-85FF76436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543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61449" name="Object 2">
            <a:extLst>
              <a:ext uri="{FF2B5EF4-FFF2-40B4-BE49-F238E27FC236}">
                <a16:creationId xmlns:a16="http://schemas.microsoft.com/office/drawing/2014/main" id="{4DAF5597-2E85-43F8-9923-0B7C1E745BE3}"/>
              </a:ext>
            </a:extLst>
          </p:cNvPr>
          <p:cNvGraphicFramePr>
            <a:graphicFrameLocks/>
          </p:cNvGraphicFramePr>
          <p:nvPr/>
        </p:nvGraphicFramePr>
        <p:xfrm>
          <a:off x="4454525" y="3000375"/>
          <a:ext cx="13414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606" r:id="rId7" imgW="1457229" imgH="838268" progId="Equation.3">
                  <p:embed/>
                </p:oleObj>
              </mc:Choice>
              <mc:Fallback>
                <p:oleObj r:id="rId7" imgW="1457229" imgH="838268" progId="Equation.3">
                  <p:embed/>
                  <p:pic>
                    <p:nvPicPr>
                      <p:cNvPr id="61449" name="Object 2">
                        <a:extLst>
                          <a:ext uri="{FF2B5EF4-FFF2-40B4-BE49-F238E27FC236}">
                            <a16:creationId xmlns:a16="http://schemas.microsoft.com/office/drawing/2014/main" id="{4DAF5597-2E85-43F8-9923-0B7C1E745B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3000375"/>
                        <a:ext cx="134143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3">
            <a:extLst>
              <a:ext uri="{FF2B5EF4-FFF2-40B4-BE49-F238E27FC236}">
                <a16:creationId xmlns:a16="http://schemas.microsoft.com/office/drawing/2014/main" id="{B3D564EE-8A22-4778-A2CD-46FDD6CE4134}"/>
              </a:ext>
            </a:extLst>
          </p:cNvPr>
          <p:cNvGraphicFramePr>
            <a:graphicFrameLocks/>
          </p:cNvGraphicFramePr>
          <p:nvPr/>
        </p:nvGraphicFramePr>
        <p:xfrm>
          <a:off x="6588125" y="2997200"/>
          <a:ext cx="172085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607" r:id="rId9" imgW="1895469" imgH="790507" progId="Equation.3">
                  <p:embed/>
                </p:oleObj>
              </mc:Choice>
              <mc:Fallback>
                <p:oleObj r:id="rId9" imgW="1895469" imgH="790507" progId="Equation.3">
                  <p:embed/>
                  <p:pic>
                    <p:nvPicPr>
                      <p:cNvPr id="61450" name="Object 3">
                        <a:extLst>
                          <a:ext uri="{FF2B5EF4-FFF2-40B4-BE49-F238E27FC236}">
                            <a16:creationId xmlns:a16="http://schemas.microsoft.com/office/drawing/2014/main" id="{B3D564EE-8A22-4778-A2CD-46FDD6CE41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997200"/>
                        <a:ext cx="172085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4">
            <a:extLst>
              <a:ext uri="{FF2B5EF4-FFF2-40B4-BE49-F238E27FC236}">
                <a16:creationId xmlns:a16="http://schemas.microsoft.com/office/drawing/2014/main" id="{C0B6302E-C253-4584-9D99-37149E152DA5}"/>
              </a:ext>
            </a:extLst>
          </p:cNvPr>
          <p:cNvGraphicFramePr>
            <a:graphicFrameLocks/>
          </p:cNvGraphicFramePr>
          <p:nvPr/>
        </p:nvGraphicFramePr>
        <p:xfrm>
          <a:off x="5764213" y="4271963"/>
          <a:ext cx="28400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608" r:id="rId11" imgW="3152692" imgH="790507" progId="Equation.3">
                  <p:embed/>
                </p:oleObj>
              </mc:Choice>
              <mc:Fallback>
                <p:oleObj r:id="rId11" imgW="3152692" imgH="790507" progId="Equation.3">
                  <p:embed/>
                  <p:pic>
                    <p:nvPicPr>
                      <p:cNvPr id="61451" name="Object 4">
                        <a:extLst>
                          <a:ext uri="{FF2B5EF4-FFF2-40B4-BE49-F238E27FC236}">
                            <a16:creationId xmlns:a16="http://schemas.microsoft.com/office/drawing/2014/main" id="{C0B6302E-C253-4584-9D99-37149E152D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4271963"/>
                        <a:ext cx="28400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Text Box 12">
            <a:extLst>
              <a:ext uri="{FF2B5EF4-FFF2-40B4-BE49-F238E27FC236}">
                <a16:creationId xmlns:a16="http://schemas.microsoft.com/office/drawing/2014/main" id="{8E3CA460-74C7-4FF2-B1E1-7B13548CC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最概然速率所对应的平动动能为</a:t>
            </a:r>
          </a:p>
        </p:txBody>
      </p:sp>
      <p:sp>
        <p:nvSpPr>
          <p:cNvPr id="25609" name="Text Box 13">
            <a:extLst>
              <a:ext uri="{FF2B5EF4-FFF2-40B4-BE49-F238E27FC236}">
                <a16:creationId xmlns:a16="http://schemas.microsoft.com/office/drawing/2014/main" id="{5ADC356E-FBE3-4535-A098-2BA326B8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判断：</a:t>
            </a:r>
          </a:p>
        </p:txBody>
      </p:sp>
      <p:sp>
        <p:nvSpPr>
          <p:cNvPr id="25610" name="Text Box 14">
            <a:extLst>
              <a:ext uri="{FF2B5EF4-FFF2-40B4-BE49-F238E27FC236}">
                <a16:creationId xmlns:a16="http://schemas.microsoft.com/office/drawing/2014/main" id="{B477B317-82C1-4838-AC60-09337802C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3738"/>
            <a:ext cx="73453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最概然平动动能是否等于最概然速率所对应的平动动能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  <p:sp>
        <p:nvSpPr>
          <p:cNvPr id="25611" name="灯片编号占位符 1">
            <a:extLst>
              <a:ext uri="{FF2B5EF4-FFF2-40B4-BE49-F238E27FC236}">
                <a16:creationId xmlns:a16="http://schemas.microsoft.com/office/drawing/2014/main" id="{54FB8EF8-C3C9-422E-9EB0-5AC37AC9B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C4CF1E-671E-4B4C-82F7-CB947FD1196F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8" grpId="0"/>
      <p:bldP spid="614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7A72FE80-36E9-4C34-9C11-2E3F327C6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8613"/>
            <a:ext cx="5257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</a:rPr>
              <a:t>12.6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温度的微观本质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16800C75-434A-4531-8D64-ADC92A3F8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1052513"/>
            <a:ext cx="8496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</a:rPr>
              <a:t>一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</a:rPr>
              <a:t>理想气体温度与分子平均平动动能的关系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46084" name="Object 2">
            <a:extLst>
              <a:ext uri="{FF2B5EF4-FFF2-40B4-BE49-F238E27FC236}">
                <a16:creationId xmlns:a16="http://schemas.microsoft.com/office/drawing/2014/main" id="{62C3A3B6-6F04-4795-9EAF-296C383AB8B3}"/>
              </a:ext>
            </a:extLst>
          </p:cNvPr>
          <p:cNvGraphicFramePr>
            <a:graphicFrameLocks/>
          </p:cNvGraphicFramePr>
          <p:nvPr/>
        </p:nvGraphicFramePr>
        <p:xfrm>
          <a:off x="2114550" y="2349500"/>
          <a:ext cx="14493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00" r:id="rId3" imgW="1400041" imgH="790507" progId="Equation.3">
                  <p:embed/>
                </p:oleObj>
              </mc:Choice>
              <mc:Fallback>
                <p:oleObj r:id="rId3" imgW="1400041" imgH="790507" progId="Equation.3">
                  <p:embed/>
                  <p:pic>
                    <p:nvPicPr>
                      <p:cNvPr id="46084" name="Object 2">
                        <a:extLst>
                          <a:ext uri="{FF2B5EF4-FFF2-40B4-BE49-F238E27FC236}">
                            <a16:creationId xmlns:a16="http://schemas.microsoft.com/office/drawing/2014/main" id="{62C3A3B6-6F04-4795-9EAF-296C383AB8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2349500"/>
                        <a:ext cx="144938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3">
            <a:extLst>
              <a:ext uri="{FF2B5EF4-FFF2-40B4-BE49-F238E27FC236}">
                <a16:creationId xmlns:a16="http://schemas.microsoft.com/office/drawing/2014/main" id="{0369BAC1-8E07-46D9-A8B2-3B95A82292B8}"/>
              </a:ext>
            </a:extLst>
          </p:cNvPr>
          <p:cNvGraphicFramePr>
            <a:graphicFrameLocks/>
          </p:cNvGraphicFramePr>
          <p:nvPr/>
        </p:nvGraphicFramePr>
        <p:xfrm>
          <a:off x="3635375" y="2349500"/>
          <a:ext cx="25892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01" r:id="rId5" imgW="2524233" imgH="866741" progId="Equation.3">
                  <p:embed/>
                </p:oleObj>
              </mc:Choice>
              <mc:Fallback>
                <p:oleObj r:id="rId5" imgW="2524233" imgH="866741" progId="Equation.3">
                  <p:embed/>
                  <p:pic>
                    <p:nvPicPr>
                      <p:cNvPr id="46085" name="Object 3">
                        <a:extLst>
                          <a:ext uri="{FF2B5EF4-FFF2-40B4-BE49-F238E27FC236}">
                            <a16:creationId xmlns:a16="http://schemas.microsoft.com/office/drawing/2014/main" id="{0369BAC1-8E07-46D9-A8B2-3B95A82292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349500"/>
                        <a:ext cx="25892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Rectangle 6">
            <a:extLst>
              <a:ext uri="{FF2B5EF4-FFF2-40B4-BE49-F238E27FC236}">
                <a16:creationId xmlns:a16="http://schemas.microsoft.com/office/drawing/2014/main" id="{97CF72B9-17F3-441E-B754-1192DF5C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5030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理想气体分子的平均平动动能 </a:t>
            </a:r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DCD6BD85-4AC4-4CB3-B28C-16C52253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303588"/>
            <a:ext cx="8429625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结论：</a:t>
            </a:r>
            <a:r>
              <a:rPr lang="zh-CN" altLang="en-US">
                <a:solidFill>
                  <a:schemeClr val="bg1"/>
                </a:solidFill>
              </a:rPr>
              <a:t>分子平均平动动能只与温度有关，与气体的种类无关</a:t>
            </a:r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35E5D83E-0360-4C69-9B9D-4F030CCD5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981450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46089" name="AutoShape 9">
            <a:extLst>
              <a:ext uri="{FF2B5EF4-FFF2-40B4-BE49-F238E27FC236}">
                <a16:creationId xmlns:a16="http://schemas.microsoft.com/office/drawing/2014/main" id="{D55B3ABA-19A9-49C8-9443-1DB0E573A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3382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6090" name="Text Box 10">
            <a:extLst>
              <a:ext uri="{FF2B5EF4-FFF2-40B4-BE49-F238E27FC236}">
                <a16:creationId xmlns:a16="http://schemas.microsoft.com/office/drawing/2014/main" id="{6C7B56DE-B122-41B1-84F8-2D01C307F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08500"/>
            <a:ext cx="773588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温度是大量分子热运动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平均平动动能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的度量，反映了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宏观量 </a:t>
            </a:r>
            <a:r>
              <a:rPr lang="en-US" altLang="zh-CN" i="1">
                <a:solidFill>
                  <a:srgbClr val="66FFFF"/>
                </a:solidFill>
              </a:rPr>
              <a:t>T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与微观量 </a:t>
            </a:r>
            <a:r>
              <a:rPr lang="el-GR" altLang="zh-CN" i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ε</a:t>
            </a:r>
            <a:r>
              <a:rPr lang="en-US" altLang="zh-CN" i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的统计平均值之间的关系。</a:t>
            </a:r>
          </a:p>
        </p:txBody>
      </p:sp>
      <p:sp>
        <p:nvSpPr>
          <p:cNvPr id="46091" name="Text Box 11">
            <a:extLst>
              <a:ext uri="{FF2B5EF4-FFF2-40B4-BE49-F238E27FC236}">
                <a16:creationId xmlns:a16="http://schemas.microsoft.com/office/drawing/2014/main" id="{B4BEB703-C41C-41D2-981E-A3F3DFF74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518150"/>
            <a:ext cx="77041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温度是统计的概念，是大量分子热运动的集体表现。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对于单个或少数分子，温度就失去了意义 </a:t>
            </a:r>
          </a:p>
        </p:txBody>
      </p:sp>
      <p:sp>
        <p:nvSpPr>
          <p:cNvPr id="26636" name="灯片编号占位符 1">
            <a:extLst>
              <a:ext uri="{FF2B5EF4-FFF2-40B4-BE49-F238E27FC236}">
                <a16:creationId xmlns:a16="http://schemas.microsoft.com/office/drawing/2014/main" id="{4E057724-6FAE-4B56-9DA6-52C19DF8F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3CF81A-7CB7-421B-A014-92B04453FD53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6083" grpId="0"/>
      <p:bldP spid="46086" grpId="0"/>
      <p:bldP spid="46087" grpId="0"/>
      <p:bldP spid="46088" grpId="0"/>
      <p:bldP spid="46089" grpId="0" animBg="1"/>
      <p:bldP spid="46090" grpId="0"/>
      <p:bldP spid="460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>
            <a:extLst>
              <a:ext uri="{FF2B5EF4-FFF2-40B4-BE49-F238E27FC236}">
                <a16:creationId xmlns:a16="http://schemas.microsoft.com/office/drawing/2014/main" id="{D2E4940C-3275-4101-BB84-BC5D6515E6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1341438"/>
          <a:ext cx="1203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2" name="公式" r:id="rId3" imgW="1171594" imgH="352391" progId="Equation.3">
                  <p:embed/>
                </p:oleObj>
              </mc:Choice>
              <mc:Fallback>
                <p:oleObj name="公式" r:id="rId3" imgW="1171594" imgH="352391" progId="Equation.3">
                  <p:embed/>
                  <p:pic>
                    <p:nvPicPr>
                      <p:cNvPr id="47106" name="Object 2">
                        <a:extLst>
                          <a:ext uri="{FF2B5EF4-FFF2-40B4-BE49-F238E27FC236}">
                            <a16:creationId xmlns:a16="http://schemas.microsoft.com/office/drawing/2014/main" id="{D2E4940C-3275-4101-BB84-BC5D6515E6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341438"/>
                        <a:ext cx="1203325" cy="3905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>
            <a:extLst>
              <a:ext uri="{FF2B5EF4-FFF2-40B4-BE49-F238E27FC236}">
                <a16:creationId xmlns:a16="http://schemas.microsoft.com/office/drawing/2014/main" id="{2AD14F13-EEBC-4F6F-AA73-3118E1E47A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263" y="1135063"/>
          <a:ext cx="12858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3" name="公式" r:id="rId5" imgW="1228782" imgH="790507" progId="Equation.3">
                  <p:embed/>
                </p:oleObj>
              </mc:Choice>
              <mc:Fallback>
                <p:oleObj name="公式" r:id="rId5" imgW="1228782" imgH="790507" progId="Equation.3">
                  <p:embed/>
                  <p:pic>
                    <p:nvPicPr>
                      <p:cNvPr id="47107" name="Object 3">
                        <a:extLst>
                          <a:ext uri="{FF2B5EF4-FFF2-40B4-BE49-F238E27FC236}">
                            <a16:creationId xmlns:a16="http://schemas.microsoft.com/office/drawing/2014/main" id="{2AD14F13-EEBC-4F6F-AA73-3118E1E47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1135063"/>
                        <a:ext cx="12858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000B320A-BE56-4436-A21B-4381D4EBFF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8688" y="1143000"/>
          <a:ext cx="15160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4" name="公式" r:id="rId7" imgW="1514418" imgH="790507" progId="Equation.3">
                  <p:embed/>
                </p:oleObj>
              </mc:Choice>
              <mc:Fallback>
                <p:oleObj name="公式" r:id="rId7" imgW="1514418" imgH="790507" progId="Equation.3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000B320A-BE56-4436-A21B-4381D4EBF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1143000"/>
                        <a:ext cx="15160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Text Box 5">
            <a:extLst>
              <a:ext uri="{FF2B5EF4-FFF2-40B4-BE49-F238E27FC236}">
                <a16:creationId xmlns:a16="http://schemas.microsoft.com/office/drawing/2014/main" id="{99FF2C8C-3FB8-4460-B33B-ADC90EB58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42875"/>
            <a:ext cx="567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理想气体定律的推证</a:t>
            </a:r>
          </a:p>
        </p:txBody>
      </p:sp>
      <p:graphicFrame>
        <p:nvGraphicFramePr>
          <p:cNvPr id="47110" name="Object 5">
            <a:extLst>
              <a:ext uri="{FF2B5EF4-FFF2-40B4-BE49-F238E27FC236}">
                <a16:creationId xmlns:a16="http://schemas.microsoft.com/office/drawing/2014/main" id="{1A2B5F58-B5EE-4919-B94B-B7FB5743AD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3013" y="1147763"/>
          <a:ext cx="12890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5" name="公式" r:id="rId9" imgW="1323892" imgH="876232" progId="Equation.3">
                  <p:embed/>
                </p:oleObj>
              </mc:Choice>
              <mc:Fallback>
                <p:oleObj name="公式" r:id="rId9" imgW="1323892" imgH="876232" progId="Equation.3">
                  <p:embed/>
                  <p:pic>
                    <p:nvPicPr>
                      <p:cNvPr id="47110" name="Object 5">
                        <a:extLst>
                          <a:ext uri="{FF2B5EF4-FFF2-40B4-BE49-F238E27FC236}">
                            <a16:creationId xmlns:a16="http://schemas.microsoft.com/office/drawing/2014/main" id="{1A2B5F58-B5EE-4919-B94B-B7FB5743AD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1147763"/>
                        <a:ext cx="12890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AutoShape 7">
            <a:extLst>
              <a:ext uri="{FF2B5EF4-FFF2-40B4-BE49-F238E27FC236}">
                <a16:creationId xmlns:a16="http://schemas.microsoft.com/office/drawing/2014/main" id="{52C9B3D3-6B52-4508-A3E3-2746D139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1428750"/>
            <a:ext cx="792163" cy="214313"/>
          </a:xfrm>
          <a:prstGeom prst="rightArrow">
            <a:avLst>
              <a:gd name="adj1" fmla="val 50000"/>
              <a:gd name="adj2" fmla="val 119804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ECF2924D-6B1E-4869-A68C-5716C0F5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642938"/>
            <a:ext cx="2657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阿伏加德罗定律</a:t>
            </a:r>
          </a:p>
        </p:txBody>
      </p:sp>
      <p:sp>
        <p:nvSpPr>
          <p:cNvPr id="47113" name="Text Box 9">
            <a:extLst>
              <a:ext uri="{FF2B5EF4-FFF2-40B4-BE49-F238E27FC236}">
                <a16:creationId xmlns:a16="http://schemas.microsoft.com/office/drawing/2014/main" id="{E56ED52B-C223-415F-B306-27086D300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000250"/>
            <a:ext cx="792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在相同的温度和压强下，各种气体的分子数密度相等。</a:t>
            </a:r>
          </a:p>
        </p:txBody>
      </p:sp>
      <p:sp>
        <p:nvSpPr>
          <p:cNvPr id="47114" name="Text Box 10">
            <a:extLst>
              <a:ext uri="{FF2B5EF4-FFF2-40B4-BE49-F238E27FC236}">
                <a16:creationId xmlns:a16="http://schemas.microsoft.com/office/drawing/2014/main" id="{0D7A26DC-1B8D-46A7-86D0-0B90F927C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500313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道尔顿分压定律</a:t>
            </a:r>
          </a:p>
        </p:txBody>
      </p:sp>
      <p:sp>
        <p:nvSpPr>
          <p:cNvPr id="47115" name="Text Box 11">
            <a:extLst>
              <a:ext uri="{FF2B5EF4-FFF2-40B4-BE49-F238E27FC236}">
                <a16:creationId xmlns:a16="http://schemas.microsoft.com/office/drawing/2014/main" id="{F61A198D-16C4-4C74-A41E-DDF098BBF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2928938"/>
            <a:ext cx="82089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设几种气体贮于一密闭容器中，处于平衡态，分子数密度分别为 </a:t>
            </a:r>
            <a:r>
              <a:rPr lang="en-US" altLang="zh-CN" b="0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zh-CN" altLang="en-US">
                <a:solidFill>
                  <a:srgbClr val="FFFF00"/>
                </a:solidFill>
              </a:rPr>
              <a:t>、</a:t>
            </a:r>
            <a:r>
              <a:rPr lang="en-US" altLang="zh-CN" b="0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rgbClr val="FFFF00"/>
                </a:solidFill>
              </a:rPr>
              <a:t>、</a:t>
            </a:r>
            <a:r>
              <a:rPr lang="en-US" altLang="zh-CN" b="0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3  </a:t>
            </a:r>
            <a:r>
              <a:rPr lang="en-US" altLang="zh-CN">
                <a:solidFill>
                  <a:srgbClr val="FFFF00"/>
                </a:solidFill>
              </a:rPr>
              <a:t>…</a:t>
            </a:r>
            <a:r>
              <a:rPr lang="zh-CN" altLang="en-US">
                <a:solidFill>
                  <a:srgbClr val="FFFF00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则混合气体的分子数密度</a:t>
            </a:r>
          </a:p>
        </p:txBody>
      </p:sp>
      <p:graphicFrame>
        <p:nvGraphicFramePr>
          <p:cNvPr id="47117" name="Object 6">
            <a:extLst>
              <a:ext uri="{FF2B5EF4-FFF2-40B4-BE49-F238E27FC236}">
                <a16:creationId xmlns:a16="http://schemas.microsoft.com/office/drawing/2014/main" id="{0697FC81-4E36-460D-B0AA-57B0DC459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4000500"/>
          <a:ext cx="211931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6" name="公式" r:id="rId11" imgW="2067033" imgH="380864" progId="Equation.3">
                  <p:embed/>
                </p:oleObj>
              </mc:Choice>
              <mc:Fallback>
                <p:oleObj name="公式" r:id="rId11" imgW="2067033" imgH="380864" progId="Equation.3">
                  <p:embed/>
                  <p:pic>
                    <p:nvPicPr>
                      <p:cNvPr id="47117" name="Object 6">
                        <a:extLst>
                          <a:ext uri="{FF2B5EF4-FFF2-40B4-BE49-F238E27FC236}">
                            <a16:creationId xmlns:a16="http://schemas.microsoft.com/office/drawing/2014/main" id="{0697FC81-4E36-460D-B0AA-57B0DC459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000500"/>
                        <a:ext cx="211931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>
            <a:extLst>
              <a:ext uri="{FF2B5EF4-FFF2-40B4-BE49-F238E27FC236}">
                <a16:creationId xmlns:a16="http://schemas.microsoft.com/office/drawing/2014/main" id="{2752A347-7FA2-41B7-ACFE-E2702BD57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4543425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温度相同</a:t>
            </a:r>
          </a:p>
        </p:txBody>
      </p: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9BF35B3D-7801-410F-A35A-CB7CFFBFF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363" y="4543425"/>
          <a:ext cx="21558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7" name="公式" r:id="rId13" imgW="2104955" imgH="380864" progId="Equation.3">
                  <p:embed/>
                </p:oleObj>
              </mc:Choice>
              <mc:Fallback>
                <p:oleObj name="公式" r:id="rId13" imgW="2104955" imgH="380864" progId="Equation.3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9BF35B3D-7801-410F-A35A-CB7CFFBFF1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4543425"/>
                        <a:ext cx="21558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E77A1FC2-333B-4A4D-A80B-04182649F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000625"/>
            <a:ext cx="360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混合气体的压强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4EE325F-5F0A-445C-B14F-D0469D52F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0500" y="5429250"/>
          <a:ext cx="289083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8" name="公式" r:id="rId15" imgW="2848096" imgH="790507" progId="Equation.3">
                  <p:embed/>
                </p:oleObj>
              </mc:Choice>
              <mc:Fallback>
                <p:oleObj name="公式" r:id="rId15" imgW="2848096" imgH="790507" progId="Equation.3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4EE325F-5F0A-445C-B14F-D0469D52F8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5429250"/>
                        <a:ext cx="289083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8C8DC2B2-EAB5-4ED4-9CC2-390E645F4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2775" y="5651500"/>
          <a:ext cx="195421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9" name="公式" r:id="rId17" imgW="1904949" imgH="380864" progId="Equation.3">
                  <p:embed/>
                </p:oleObj>
              </mc:Choice>
              <mc:Fallback>
                <p:oleObj name="公式" r:id="rId17" imgW="1904949" imgH="380864" progId="Equation.3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8C8DC2B2-EAB5-4ED4-9CC2-390E645F4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5651500"/>
                        <a:ext cx="195421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9017B45D-D893-4A65-AB39-1338DC7765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5449888"/>
          <a:ext cx="12747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0" name="公式" r:id="rId19" imgW="1228782" imgH="790507" progId="Equation.3">
                  <p:embed/>
                </p:oleObj>
              </mc:Choice>
              <mc:Fallback>
                <p:oleObj name="公式" r:id="rId19" imgW="1228782" imgH="790507" progId="Equation.3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9017B45D-D893-4A65-AB39-1338DC776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449888"/>
                        <a:ext cx="12747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2C62862F-D64C-4BB2-9DA1-CEB2D3913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257925"/>
            <a:ext cx="702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混合气体的压强等于各种气体的分压强之和</a:t>
            </a:r>
          </a:p>
        </p:txBody>
      </p:sp>
      <p:sp>
        <p:nvSpPr>
          <p:cNvPr id="27668" name="灯片编号占位符 1">
            <a:extLst>
              <a:ext uri="{FF2B5EF4-FFF2-40B4-BE49-F238E27FC236}">
                <a16:creationId xmlns:a16="http://schemas.microsoft.com/office/drawing/2014/main" id="{4C51F85D-6D56-4035-9DDA-C22AB597B30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C5DE50-F4A9-46B6-A698-FF6E02DE4DD7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/>
      <p:bldP spid="47111" grpId="0" animBg="1"/>
      <p:bldP spid="47112" grpId="0" autoUpdateAnimBg="0"/>
      <p:bldP spid="47114" grpId="0" autoUpdateAnimBg="0"/>
      <p:bldP spid="47115" grpId="0"/>
      <p:bldP spid="14" grpId="0" autoUpdateAnimBg="0"/>
      <p:bldP spid="16" grpId="0" autoUpdateAnimBg="0"/>
      <p:bldP spid="2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C3EFCC31-C820-4D7A-B34A-5A065B247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0350"/>
            <a:ext cx="7848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有一容积为</a:t>
            </a:r>
            <a:r>
              <a:rPr lang="en-US" altLang="zh-CN">
                <a:solidFill>
                  <a:srgbClr val="66FFFF"/>
                </a:solidFill>
              </a:rPr>
              <a:t>10 cm</a:t>
            </a:r>
            <a:r>
              <a:rPr lang="en-US" altLang="zh-CN" baseline="40000">
                <a:solidFill>
                  <a:srgbClr val="66FFFF"/>
                </a:solidFill>
              </a:rPr>
              <a:t>3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的电子管，当温度为</a:t>
            </a:r>
            <a:r>
              <a:rPr lang="en-US" altLang="zh-CN">
                <a:solidFill>
                  <a:srgbClr val="66FFFF"/>
                </a:solidFill>
              </a:rPr>
              <a:t>300 K</a:t>
            </a:r>
            <a:r>
              <a:rPr lang="zh-CN" altLang="en-US">
                <a:solidFill>
                  <a:schemeClr val="bg1"/>
                </a:solidFill>
              </a:rPr>
              <a:t>时，用真空泵抽成高真空，使管内压强为 </a:t>
            </a:r>
            <a:r>
              <a:rPr lang="en-US" altLang="zh-CN">
                <a:solidFill>
                  <a:srgbClr val="66FFFF"/>
                </a:solidFill>
              </a:rPr>
              <a:t>5×10</a:t>
            </a:r>
            <a:r>
              <a:rPr lang="en-US" altLang="zh-CN" baseline="40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aseline="40000">
                <a:solidFill>
                  <a:srgbClr val="66FFFF"/>
                </a:solidFill>
              </a:rPr>
              <a:t>6 </a:t>
            </a:r>
            <a:r>
              <a:rPr lang="en-US" altLang="zh-CN">
                <a:solidFill>
                  <a:srgbClr val="66FFFF"/>
                </a:solidFill>
              </a:rPr>
              <a:t>mmHg</a:t>
            </a:r>
            <a:r>
              <a:rPr lang="zh-CN" altLang="en-US">
                <a:solidFill>
                  <a:srgbClr val="66FFFF"/>
                </a:solidFill>
              </a:rPr>
              <a:t>。</a:t>
            </a:r>
            <a:r>
              <a:rPr lang="zh-CN" altLang="en-US">
                <a:solidFill>
                  <a:schemeClr val="bg1"/>
                </a:solidFill>
              </a:rPr>
              <a:t>         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547BC6B-9841-48B4-ACBD-2B4867C4B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1235075"/>
            <a:ext cx="5138737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arenBoth"/>
            </a:pPr>
            <a:r>
              <a:rPr lang="zh-CN" altLang="en-US">
                <a:solidFill>
                  <a:schemeClr val="bg1"/>
                </a:solidFill>
              </a:rPr>
              <a:t>此时管内气体分子的数目？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这些分子的总平动动能？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81CE477F-66A0-452A-AC5E-C3F0DD453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466975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D0DEAF3D-ACE1-442D-8979-67826F6C0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178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49158" name="Text Box 6">
            <a:extLst>
              <a:ext uri="{FF2B5EF4-FFF2-40B4-BE49-F238E27FC236}">
                <a16:creationId xmlns:a16="http://schemas.microsoft.com/office/drawing/2014/main" id="{2FD62DDD-532E-48C7-B7CB-2F14C2207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3985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aphicFrame>
        <p:nvGraphicFramePr>
          <p:cNvPr id="49159" name="Object 2">
            <a:extLst>
              <a:ext uri="{FF2B5EF4-FFF2-40B4-BE49-F238E27FC236}">
                <a16:creationId xmlns:a16="http://schemas.microsoft.com/office/drawing/2014/main" id="{B1AE5F4D-209A-4FBB-9AB6-60206BCF2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8" y="2994025"/>
          <a:ext cx="6323012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6" name="公式" r:id="rId3" imgW="2562155" imgH="380864" progId="Equation.3">
                  <p:embed/>
                </p:oleObj>
              </mc:Choice>
              <mc:Fallback>
                <p:oleObj name="公式" r:id="rId3" imgW="2562155" imgH="380864" progId="Equation.3">
                  <p:embed/>
                  <p:pic>
                    <p:nvPicPr>
                      <p:cNvPr id="49159" name="Object 2">
                        <a:extLst>
                          <a:ext uri="{FF2B5EF4-FFF2-40B4-BE49-F238E27FC236}">
                            <a16:creationId xmlns:a16="http://schemas.microsoft.com/office/drawing/2014/main" id="{B1AE5F4D-209A-4FBB-9AB6-60206BCF2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994025"/>
                        <a:ext cx="6323012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3">
            <a:extLst>
              <a:ext uri="{FF2B5EF4-FFF2-40B4-BE49-F238E27FC236}">
                <a16:creationId xmlns:a16="http://schemas.microsoft.com/office/drawing/2014/main" id="{DD7DD5ED-51F5-446D-83E7-063C043A37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5650" y="3281363"/>
          <a:ext cx="16811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7" name="公式" r:id="rId5" imgW="1638275" imgH="352391" progId="Equation.3">
                  <p:embed/>
                </p:oleObj>
              </mc:Choice>
              <mc:Fallback>
                <p:oleObj name="公式" r:id="rId5" imgW="1638275" imgH="352391" progId="Equation.3">
                  <p:embed/>
                  <p:pic>
                    <p:nvPicPr>
                      <p:cNvPr id="49160" name="Object 3">
                        <a:extLst>
                          <a:ext uri="{FF2B5EF4-FFF2-40B4-BE49-F238E27FC236}">
                            <a16:creationId xmlns:a16="http://schemas.microsoft.com/office/drawing/2014/main" id="{DD7DD5ED-51F5-446D-83E7-063C043A37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3281363"/>
                        <a:ext cx="16811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Text Box 9">
            <a:extLst>
              <a:ext uri="{FF2B5EF4-FFF2-40B4-BE49-F238E27FC236}">
                <a16:creationId xmlns:a16="http://schemas.microsoft.com/office/drawing/2014/main" id="{E88D1109-A1D5-45D1-9F6D-7DE67309B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2428875"/>
            <a:ext cx="3611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阿伏伽德罗定律</a:t>
            </a:r>
          </a:p>
        </p:txBody>
      </p:sp>
      <p:sp>
        <p:nvSpPr>
          <p:cNvPr id="49162" name="Text Box 10">
            <a:extLst>
              <a:ext uri="{FF2B5EF4-FFF2-40B4-BE49-F238E27FC236}">
                <a16:creationId xmlns:a16="http://schemas.microsoft.com/office/drawing/2014/main" id="{9F794D1A-42B2-4FBF-B28E-B06F3C68D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4149725"/>
            <a:ext cx="481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单个分子平均平动动能</a:t>
            </a:r>
          </a:p>
        </p:txBody>
      </p:sp>
      <p:graphicFrame>
        <p:nvGraphicFramePr>
          <p:cNvPr id="49163" name="Object 4">
            <a:extLst>
              <a:ext uri="{FF2B5EF4-FFF2-40B4-BE49-F238E27FC236}">
                <a16:creationId xmlns:a16="http://schemas.microsoft.com/office/drawing/2014/main" id="{8E732649-28CD-4798-A4C8-74306C77A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545013"/>
          <a:ext cx="1257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8" name="公式" r:id="rId7" imgW="1209822" imgH="790507" progId="Equation.3">
                  <p:embed/>
                </p:oleObj>
              </mc:Choice>
              <mc:Fallback>
                <p:oleObj name="公式" r:id="rId7" imgW="1209822" imgH="790507" progId="Equation.3">
                  <p:embed/>
                  <p:pic>
                    <p:nvPicPr>
                      <p:cNvPr id="49163" name="Object 4">
                        <a:extLst>
                          <a:ext uri="{FF2B5EF4-FFF2-40B4-BE49-F238E27FC236}">
                            <a16:creationId xmlns:a16="http://schemas.microsoft.com/office/drawing/2014/main" id="{8E732649-28CD-4798-A4C8-74306C77A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545013"/>
                        <a:ext cx="12573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Text Box 12">
            <a:extLst>
              <a:ext uri="{FF2B5EF4-FFF2-40B4-BE49-F238E27FC236}">
                <a16:creationId xmlns:a16="http://schemas.microsoft.com/office/drawing/2014/main" id="{CF17F9C7-BFB4-43F7-BBDA-711CC9FD0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5348288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i="1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个分子总平动动能</a:t>
            </a:r>
          </a:p>
        </p:txBody>
      </p:sp>
      <p:graphicFrame>
        <p:nvGraphicFramePr>
          <p:cNvPr id="49165" name="Object 5">
            <a:extLst>
              <a:ext uri="{FF2B5EF4-FFF2-40B4-BE49-F238E27FC236}">
                <a16:creationId xmlns:a16="http://schemas.microsoft.com/office/drawing/2014/main" id="{4EBB77C7-94FB-4C1F-87D9-0A71B9D27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765800"/>
          <a:ext cx="31162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79" name="公式" r:id="rId9" imgW="3048102" imgH="790507" progId="Equation.3">
                  <p:embed/>
                </p:oleObj>
              </mc:Choice>
              <mc:Fallback>
                <p:oleObj name="公式" r:id="rId9" imgW="3048102" imgH="790507" progId="Equation.3">
                  <p:embed/>
                  <p:pic>
                    <p:nvPicPr>
                      <p:cNvPr id="49165" name="Object 5">
                        <a:extLst>
                          <a:ext uri="{FF2B5EF4-FFF2-40B4-BE49-F238E27FC236}">
                            <a16:creationId xmlns:a16="http://schemas.microsoft.com/office/drawing/2014/main" id="{4EBB77C7-94FB-4C1F-87D9-0A71B9D27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765800"/>
                        <a:ext cx="311626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6" name="Object 14">
            <a:extLst>
              <a:ext uri="{FF2B5EF4-FFF2-40B4-BE49-F238E27FC236}">
                <a16:creationId xmlns:a16="http://schemas.microsoft.com/office/drawing/2014/main" id="{EE6D528A-E4AF-44C8-8C31-573DDA6BD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466975"/>
          <a:ext cx="1203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80" name="公式" r:id="rId11" imgW="1171594" imgH="352391" progId="Equation.3">
                  <p:embed/>
                </p:oleObj>
              </mc:Choice>
              <mc:Fallback>
                <p:oleObj name="公式" r:id="rId11" imgW="1171594" imgH="352391" progId="Equation.3">
                  <p:embed/>
                  <p:pic>
                    <p:nvPicPr>
                      <p:cNvPr id="47106" name="Object 14">
                        <a:extLst>
                          <a:ext uri="{FF2B5EF4-FFF2-40B4-BE49-F238E27FC236}">
                            <a16:creationId xmlns:a16="http://schemas.microsoft.com/office/drawing/2014/main" id="{EE6D528A-E4AF-44C8-8C31-573DDA6BD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466975"/>
                        <a:ext cx="12033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灯片编号占位符 1">
            <a:extLst>
              <a:ext uri="{FF2B5EF4-FFF2-40B4-BE49-F238E27FC236}">
                <a16:creationId xmlns:a16="http://schemas.microsoft.com/office/drawing/2014/main" id="{0E4F7BDA-1994-4AD1-82FD-FBC84EB9C0C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7D1734-08E3-46A3-9AB2-2267B1B32A08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49155" grpId="0"/>
      <p:bldP spid="49156" grpId="0"/>
      <p:bldP spid="49157" grpId="0"/>
      <p:bldP spid="49158" grpId="0"/>
      <p:bldP spid="49161" grpId="0" autoUpdateAnimBg="0"/>
      <p:bldP spid="49162" grpId="0" autoUpdateAnimBg="0"/>
      <p:bldP spid="4916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>
            <a:extLst>
              <a:ext uri="{FF2B5EF4-FFF2-40B4-BE49-F238E27FC236}">
                <a16:creationId xmlns:a16="http://schemas.microsoft.com/office/drawing/2014/main" id="{D984183C-95F8-478F-AD92-B367C1B94DC7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2214563"/>
            <a:ext cx="6985000" cy="1728787"/>
            <a:chOff x="748" y="1434"/>
            <a:chExt cx="4400" cy="1089"/>
          </a:xfrm>
        </p:grpSpPr>
        <p:sp>
          <p:nvSpPr>
            <p:cNvPr id="6223" name="Rectangle 47">
              <a:extLst>
                <a:ext uri="{FF2B5EF4-FFF2-40B4-BE49-F238E27FC236}">
                  <a16:creationId xmlns:a16="http://schemas.microsoft.com/office/drawing/2014/main" id="{578388F4-25BE-4D3B-8EE8-248844ECD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434"/>
              <a:ext cx="4400" cy="1089"/>
            </a:xfrm>
            <a:prstGeom prst="rect">
              <a:avLst/>
            </a:prstGeom>
            <a:solidFill>
              <a:srgbClr val="CCECFF">
                <a:alpha val="70195"/>
              </a:srgbClr>
            </a:solidFill>
            <a:ln w="28575">
              <a:solidFill>
                <a:srgbClr val="00FF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6224" name="Object 2">
              <a:extLst>
                <a:ext uri="{FF2B5EF4-FFF2-40B4-BE49-F238E27FC236}">
                  <a16:creationId xmlns:a16="http://schemas.microsoft.com/office/drawing/2014/main" id="{15E42882-1360-42AD-992D-0A72272D1FB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66" y="1479"/>
            <a:ext cx="998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80" r:id="rId3" imgW="3118320" imgH="1286280" progId="CorelDRAW.Graphic.10">
                    <p:embed/>
                  </p:oleObj>
                </mc:Choice>
                <mc:Fallback>
                  <p:oleObj r:id="rId3" imgW="3118320" imgH="1286280" progId="CorelDRAW.Graphic.10">
                    <p:embed/>
                    <p:pic>
                      <p:nvPicPr>
                        <p:cNvPr id="6224" name="Object 2">
                          <a:extLst>
                            <a:ext uri="{FF2B5EF4-FFF2-40B4-BE49-F238E27FC236}">
                              <a16:creationId xmlns:a16="http://schemas.microsoft.com/office/drawing/2014/main" id="{15E42882-1360-42AD-992D-0A72272D1FB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r="71048" b="20160"/>
                        <a:stretch>
                          <a:fillRect/>
                        </a:stretch>
                      </p:blipFill>
                      <p:spPr bwMode="auto">
                        <a:xfrm>
                          <a:off x="1066" y="1479"/>
                          <a:ext cx="998" cy="9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25" name="Object 3">
              <a:extLst>
                <a:ext uri="{FF2B5EF4-FFF2-40B4-BE49-F238E27FC236}">
                  <a16:creationId xmlns:a16="http://schemas.microsoft.com/office/drawing/2014/main" id="{AC3D0D0F-A16E-4DB2-833F-3675FE91F73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03" y="1471"/>
            <a:ext cx="1089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81" r:id="rId5" imgW="3118320" imgH="1286280" progId="CorelDRAW.Graphic.10">
                    <p:embed/>
                  </p:oleObj>
                </mc:Choice>
                <mc:Fallback>
                  <p:oleObj r:id="rId5" imgW="3118320" imgH="1286280" progId="CorelDRAW.Graphic.10">
                    <p:embed/>
                    <p:pic>
                      <p:nvPicPr>
                        <p:cNvPr id="6225" name="Object 3">
                          <a:extLst>
                            <a:ext uri="{FF2B5EF4-FFF2-40B4-BE49-F238E27FC236}">
                              <a16:creationId xmlns:a16="http://schemas.microsoft.com/office/drawing/2014/main" id="{AC3D0D0F-A16E-4DB2-833F-3675FE91F73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0258" r="36844" b="16560"/>
                        <a:stretch>
                          <a:fillRect/>
                        </a:stretch>
                      </p:blipFill>
                      <p:spPr bwMode="auto">
                        <a:xfrm>
                          <a:off x="2403" y="1471"/>
                          <a:ext cx="1089" cy="9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26" name="Object 4">
              <a:extLst>
                <a:ext uri="{FF2B5EF4-FFF2-40B4-BE49-F238E27FC236}">
                  <a16:creationId xmlns:a16="http://schemas.microsoft.com/office/drawing/2014/main" id="{0E203E07-911C-42FD-B18A-44513CDCFF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33" y="1479"/>
            <a:ext cx="1089" cy="9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82" r:id="rId6" imgW="3118320" imgH="1286280" progId="CorelDRAW.Graphic.10">
                    <p:embed/>
                  </p:oleObj>
                </mc:Choice>
                <mc:Fallback>
                  <p:oleObj r:id="rId6" imgW="3118320" imgH="1286280" progId="CorelDRAW.Graphic.10">
                    <p:embed/>
                    <p:pic>
                      <p:nvPicPr>
                        <p:cNvPr id="6226" name="Object 4">
                          <a:extLst>
                            <a:ext uri="{FF2B5EF4-FFF2-40B4-BE49-F238E27FC236}">
                              <a16:creationId xmlns:a16="http://schemas.microsoft.com/office/drawing/2014/main" id="{0E203E07-911C-42FD-B18A-44513CDCFF3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7102" b="12880"/>
                        <a:stretch>
                          <a:fillRect/>
                        </a:stretch>
                      </p:blipFill>
                      <p:spPr bwMode="auto">
                        <a:xfrm>
                          <a:off x="3833" y="1479"/>
                          <a:ext cx="1089" cy="9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7" name="Freeform 85">
              <a:extLst>
                <a:ext uri="{FF2B5EF4-FFF2-40B4-BE49-F238E27FC236}">
                  <a16:creationId xmlns:a16="http://schemas.microsoft.com/office/drawing/2014/main" id="{177BE371-4E4D-447F-97F1-CFA30445B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" y="2030"/>
              <a:ext cx="125" cy="136"/>
            </a:xfrm>
            <a:custGeom>
              <a:avLst/>
              <a:gdLst>
                <a:gd name="T0" fmla="*/ 0 w 125"/>
                <a:gd name="T1" fmla="*/ 136 h 136"/>
                <a:gd name="T2" fmla="*/ 24 w 125"/>
                <a:gd name="T3" fmla="*/ 28 h 136"/>
                <a:gd name="T4" fmla="*/ 125 w 125"/>
                <a:gd name="T5" fmla="*/ 0 h 136"/>
                <a:gd name="T6" fmla="*/ 0 60000 65536"/>
                <a:gd name="T7" fmla="*/ 0 60000 65536"/>
                <a:gd name="T8" fmla="*/ 0 60000 65536"/>
                <a:gd name="T9" fmla="*/ 0 w 125"/>
                <a:gd name="T10" fmla="*/ 0 h 136"/>
                <a:gd name="T11" fmla="*/ 125 w 125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136">
                  <a:moveTo>
                    <a:pt x="0" y="136"/>
                  </a:moveTo>
                  <a:cubicBezTo>
                    <a:pt x="4" y="118"/>
                    <a:pt x="3" y="51"/>
                    <a:pt x="24" y="28"/>
                  </a:cubicBezTo>
                  <a:cubicBezTo>
                    <a:pt x="45" y="5"/>
                    <a:pt x="104" y="6"/>
                    <a:pt x="1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28" name="Text Box 86">
              <a:extLst>
                <a:ext uri="{FF2B5EF4-FFF2-40B4-BE49-F238E27FC236}">
                  <a16:creationId xmlns:a16="http://schemas.microsoft.com/office/drawing/2014/main" id="{89929DA3-4A55-4BB0-98D9-CB319AC93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1842"/>
              <a:ext cx="22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0" i="1"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229" name="Freeform 89">
              <a:extLst>
                <a:ext uri="{FF2B5EF4-FFF2-40B4-BE49-F238E27FC236}">
                  <a16:creationId xmlns:a16="http://schemas.microsoft.com/office/drawing/2014/main" id="{5A04378F-952F-43A9-A166-62B949E8E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2015"/>
              <a:ext cx="125" cy="136"/>
            </a:xfrm>
            <a:custGeom>
              <a:avLst/>
              <a:gdLst>
                <a:gd name="T0" fmla="*/ 0 w 125"/>
                <a:gd name="T1" fmla="*/ 136 h 136"/>
                <a:gd name="T2" fmla="*/ 24 w 125"/>
                <a:gd name="T3" fmla="*/ 28 h 136"/>
                <a:gd name="T4" fmla="*/ 125 w 125"/>
                <a:gd name="T5" fmla="*/ 0 h 136"/>
                <a:gd name="T6" fmla="*/ 0 60000 65536"/>
                <a:gd name="T7" fmla="*/ 0 60000 65536"/>
                <a:gd name="T8" fmla="*/ 0 60000 65536"/>
                <a:gd name="T9" fmla="*/ 0 w 125"/>
                <a:gd name="T10" fmla="*/ 0 h 136"/>
                <a:gd name="T11" fmla="*/ 125 w 125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136">
                  <a:moveTo>
                    <a:pt x="0" y="136"/>
                  </a:moveTo>
                  <a:cubicBezTo>
                    <a:pt x="4" y="118"/>
                    <a:pt x="3" y="51"/>
                    <a:pt x="24" y="28"/>
                  </a:cubicBezTo>
                  <a:cubicBezTo>
                    <a:pt x="45" y="5"/>
                    <a:pt x="104" y="6"/>
                    <a:pt x="1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30" name="Text Box 90">
              <a:extLst>
                <a:ext uri="{FF2B5EF4-FFF2-40B4-BE49-F238E27FC236}">
                  <a16:creationId xmlns:a16="http://schemas.microsoft.com/office/drawing/2014/main" id="{1CB680A8-6251-4E34-AD62-E5F82AE6C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" y="1827"/>
              <a:ext cx="22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0" i="1">
                  <a:sym typeface="Symbol" panose="05050102010706020507" pitchFamily="18" charset="2"/>
                </a:rPr>
                <a:t></a:t>
              </a:r>
            </a:p>
          </p:txBody>
        </p:sp>
      </p:grpSp>
      <p:sp>
        <p:nvSpPr>
          <p:cNvPr id="47106" name="Text Box 2">
            <a:extLst>
              <a:ext uri="{FF2B5EF4-FFF2-40B4-BE49-F238E27FC236}">
                <a16:creationId xmlns:a16="http://schemas.microsoft.com/office/drawing/2014/main" id="{045D9C1D-AECF-4A43-9B44-F6A288AE8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811213"/>
            <a:ext cx="3322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rgbClr val="FFFF00"/>
                </a:solidFill>
              </a:rPr>
              <a:t>一、分子的自由度</a:t>
            </a:r>
            <a:endParaRPr lang="zh-CN" altLang="en-US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30BB1472-BD6F-4258-9131-7B4F4E6F3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1287463"/>
            <a:ext cx="76327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00FF00"/>
                </a:solidFill>
              </a:rPr>
              <a:t>自由度数：</a:t>
            </a:r>
            <a:r>
              <a:rPr lang="zh-CN" altLang="en-US" sz="2000">
                <a:solidFill>
                  <a:schemeClr val="bg1"/>
                </a:solidFill>
              </a:rPr>
              <a:t>确定一个分子的空间位置所需要的独立坐标数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47150" name="Text Box 46">
            <a:extLst>
              <a:ext uri="{FF2B5EF4-FFF2-40B4-BE49-F238E27FC236}">
                <a16:creationId xmlns:a16="http://schemas.microsoft.com/office/drawing/2014/main" id="{FCAF66A7-33F8-4C38-82C5-CAE8E092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46250"/>
            <a:ext cx="7389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FF00"/>
              </a:buClr>
              <a:buSzPct val="75000"/>
              <a:buFont typeface="Monotype Sorts"/>
              <a:buNone/>
            </a:pPr>
            <a:r>
              <a:rPr lang="zh-CN" altLang="en-US" sz="2000">
                <a:solidFill>
                  <a:srgbClr val="00FF00"/>
                </a:solidFill>
              </a:rPr>
              <a:t>刚性分子：</a:t>
            </a:r>
            <a:r>
              <a:rPr lang="zh-CN" altLang="en-US" sz="2000">
                <a:solidFill>
                  <a:schemeClr val="bg1"/>
                </a:solidFill>
              </a:rPr>
              <a:t>分子内原子之间的距离保持不变的分子</a:t>
            </a:r>
            <a:endParaRPr lang="en-US" altLang="zh-CN" sz="2000">
              <a:solidFill>
                <a:schemeClr val="bg1"/>
              </a:solidFill>
            </a:endParaRPr>
          </a:p>
        </p:txBody>
      </p:sp>
      <p:graphicFrame>
        <p:nvGraphicFramePr>
          <p:cNvPr id="22537" name="表格 22536">
            <a:extLst>
              <a:ext uri="{FF2B5EF4-FFF2-40B4-BE49-F238E27FC236}">
                <a16:creationId xmlns:a16="http://schemas.microsoft.com/office/drawing/2014/main" id="{6F4EF40A-5731-40C7-B94F-07A7F615BB7B}"/>
              </a:ext>
            </a:extLst>
          </p:cNvPr>
          <p:cNvGraphicFramePr>
            <a:graphicFrameLocks noGrp="1"/>
          </p:cNvGraphicFramePr>
          <p:nvPr/>
        </p:nvGraphicFramePr>
        <p:xfrm>
          <a:off x="642938" y="4071938"/>
          <a:ext cx="7920037" cy="2455861"/>
        </p:xfrm>
        <a:graphic>
          <a:graphicData uri="http://schemas.openxmlformats.org/drawingml/2006/table">
            <a:tbl>
              <a:tblPr/>
              <a:tblGrid>
                <a:gridCol w="191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0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7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分子种类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分子模型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平动自由度 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转动自由度 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总自由度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单原子分子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刚性双原子分子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刚性三原子以上分子</a:t>
                      </a: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10" marB="4681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186" name="Picture 82">
            <a:extLst>
              <a:ext uri="{FF2B5EF4-FFF2-40B4-BE49-F238E27FC236}">
                <a16:creationId xmlns:a16="http://schemas.microsoft.com/office/drawing/2014/main" id="{5D17E337-52D1-4C5D-AFFD-4E678760F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62" r="88831" b="29541"/>
          <a:stretch>
            <a:fillRect/>
          </a:stretch>
        </p:blipFill>
        <p:spPr bwMode="auto">
          <a:xfrm>
            <a:off x="1187450" y="2349500"/>
            <a:ext cx="3921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87" name="Picture 83">
            <a:extLst>
              <a:ext uri="{FF2B5EF4-FFF2-40B4-BE49-F238E27FC236}">
                <a16:creationId xmlns:a16="http://schemas.microsoft.com/office/drawing/2014/main" id="{02554660-4477-486B-852A-7D57EBD2F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8" t="11993" r="44734" b="32010"/>
          <a:stretch>
            <a:fillRect/>
          </a:stretch>
        </p:blipFill>
        <p:spPr bwMode="auto">
          <a:xfrm>
            <a:off x="3060700" y="2349500"/>
            <a:ext cx="7191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88" name="Picture 84">
            <a:extLst>
              <a:ext uri="{FF2B5EF4-FFF2-40B4-BE49-F238E27FC236}">
                <a16:creationId xmlns:a16="http://schemas.microsoft.com/office/drawing/2014/main" id="{743C1CA9-2CD1-4E45-A044-327608FC6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28" b="23985"/>
          <a:stretch>
            <a:fillRect/>
          </a:stretch>
        </p:blipFill>
        <p:spPr bwMode="auto">
          <a:xfrm>
            <a:off x="5437188" y="2278063"/>
            <a:ext cx="7493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2">
            <a:extLst>
              <a:ext uri="{FF2B5EF4-FFF2-40B4-BE49-F238E27FC236}">
                <a16:creationId xmlns:a16="http://schemas.microsoft.com/office/drawing/2014/main" id="{BB645AB5-B82B-4C6A-94E5-4BB27A0E6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88913"/>
            <a:ext cx="671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§12.7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能量按自由度均分定理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186" name="灯片编号占位符 1">
            <a:extLst>
              <a:ext uri="{FF2B5EF4-FFF2-40B4-BE49-F238E27FC236}">
                <a16:creationId xmlns:a16="http://schemas.microsoft.com/office/drawing/2014/main" id="{3732CC9D-52E5-4E8E-9859-4763CC98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556EB0-AAB8-4696-BF63-A75B6CC4D338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B5BE6C3-C4DC-45E1-AA5F-2D7363DF1F7D}"/>
              </a:ext>
            </a:extLst>
          </p:cNvPr>
          <p:cNvGraphicFramePr>
            <a:graphicFrameLocks noGrp="1"/>
          </p:cNvGraphicFramePr>
          <p:nvPr/>
        </p:nvGraphicFramePr>
        <p:xfrm>
          <a:off x="2571750" y="4786313"/>
          <a:ext cx="6007100" cy="473075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4177488194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152072326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10125503"/>
                    </a:ext>
                  </a:extLst>
                </a:gridCol>
                <a:gridCol w="1830387">
                  <a:extLst>
                    <a:ext uri="{9D8B030D-6E8A-4147-A177-3AD203B41FA5}">
                      <a16:colId xmlns:a16="http://schemas.microsoft.com/office/drawing/2014/main" val="3715169934"/>
                    </a:ext>
                  </a:extLst>
                </a:gridCol>
              </a:tblGrid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质点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69576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847B505-FDBB-4F7B-9ED7-9BABDEF3980E}"/>
              </a:ext>
            </a:extLst>
          </p:cNvPr>
          <p:cNvGraphicFramePr>
            <a:graphicFrameLocks noGrp="1"/>
          </p:cNvGraphicFramePr>
          <p:nvPr/>
        </p:nvGraphicFramePr>
        <p:xfrm>
          <a:off x="2571750" y="5286375"/>
          <a:ext cx="6007100" cy="642938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481297623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89062302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082677515"/>
                    </a:ext>
                  </a:extLst>
                </a:gridCol>
                <a:gridCol w="1830387">
                  <a:extLst>
                    <a:ext uri="{9D8B030D-6E8A-4147-A177-3AD203B41FA5}">
                      <a16:colId xmlns:a16="http://schemas.microsoft.com/office/drawing/2014/main" val="2304104627"/>
                    </a:ext>
                  </a:extLst>
                </a:gridCol>
              </a:tblGrid>
              <a:tr h="642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由刚性杆连接的两个质点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3200" marB="432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3200" marB="432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0000" marR="90000" marT="43200" marB="432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0000" marR="90000" marT="43200" marB="43200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640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7908568-1072-4979-B2CA-01CD9D754854}"/>
              </a:ext>
            </a:extLst>
          </p:cNvPr>
          <p:cNvGraphicFramePr>
            <a:graphicFrameLocks noGrp="1"/>
          </p:cNvGraphicFramePr>
          <p:nvPr/>
        </p:nvGraphicFramePr>
        <p:xfrm>
          <a:off x="2578100" y="5900738"/>
          <a:ext cx="6007100" cy="623887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3770875597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3929387286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943308341"/>
                    </a:ext>
                  </a:extLst>
                </a:gridCol>
                <a:gridCol w="1830387">
                  <a:extLst>
                    <a:ext uri="{9D8B030D-6E8A-4147-A177-3AD203B41FA5}">
                      <a16:colId xmlns:a16="http://schemas.microsoft.com/office/drawing/2014/main" val="831199236"/>
                    </a:ext>
                  </a:extLst>
                </a:gridCol>
              </a:tblGrid>
              <a:tr h="6238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刚体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99" marB="46799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90000" marR="90000" marT="46799" marB="46799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0000" marR="90000" marT="46799" marB="46799" anchor="ctr" anchorCtr="1" horzOverflow="overflow">
                    <a:lnL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86786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50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F82E3A3D-0F99-4DD5-BA9C-2E1945B22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2143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能量按自由度均分定理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8300E03C-44CD-4991-BC89-08A06C61F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774700"/>
            <a:ext cx="4440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理想气体分子的平均平动动能</a:t>
            </a:r>
          </a:p>
        </p:txBody>
      </p:sp>
      <p:graphicFrame>
        <p:nvGraphicFramePr>
          <p:cNvPr id="13316" name="Object 2">
            <a:extLst>
              <a:ext uri="{FF2B5EF4-FFF2-40B4-BE49-F238E27FC236}">
                <a16:creationId xmlns:a16="http://schemas.microsoft.com/office/drawing/2014/main" id="{CB7AD2F1-74EF-41DF-92C9-4D17EDB051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571500"/>
          <a:ext cx="2460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14" name="公式" r:id="rId3" imgW="2371629" imgH="762034" progId="Equation.3">
                  <p:embed/>
                </p:oleObj>
              </mc:Choice>
              <mc:Fallback>
                <p:oleObj name="公式" r:id="rId3" imgW="2371629" imgH="762034" progId="Equation.3">
                  <p:embed/>
                  <p:pic>
                    <p:nvPicPr>
                      <p:cNvPr id="13316" name="Object 2">
                        <a:extLst>
                          <a:ext uri="{FF2B5EF4-FFF2-40B4-BE49-F238E27FC236}">
                            <a16:creationId xmlns:a16="http://schemas.microsoft.com/office/drawing/2014/main" id="{CB7AD2F1-74EF-41DF-92C9-4D17EDB051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571500"/>
                        <a:ext cx="2460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3">
            <a:extLst>
              <a:ext uri="{FF2B5EF4-FFF2-40B4-BE49-F238E27FC236}">
                <a16:creationId xmlns:a16="http://schemas.microsoft.com/office/drawing/2014/main" id="{B1DABBAF-7887-482C-8ADA-6FD7E717C0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1500188"/>
          <a:ext cx="421481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15" name="公式" r:id="rId5" imgW="4305325" imgH="762034" progId="Equation.3">
                  <p:embed/>
                </p:oleObj>
              </mc:Choice>
              <mc:Fallback>
                <p:oleObj name="公式" r:id="rId5" imgW="4305325" imgH="762034" progId="Equation.3">
                  <p:embed/>
                  <p:pic>
                    <p:nvPicPr>
                      <p:cNvPr id="13317" name="Object 3">
                        <a:extLst>
                          <a:ext uri="{FF2B5EF4-FFF2-40B4-BE49-F238E27FC236}">
                            <a16:creationId xmlns:a16="http://schemas.microsoft.com/office/drawing/2014/main" id="{B1DABBAF-7887-482C-8ADA-6FD7E717C0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500188"/>
                        <a:ext cx="4214813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4">
            <a:extLst>
              <a:ext uri="{FF2B5EF4-FFF2-40B4-BE49-F238E27FC236}">
                <a16:creationId xmlns:a16="http://schemas.microsoft.com/office/drawing/2014/main" id="{E349CB2A-A5A8-4E32-A7F4-81FB418EE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8675" y="2857500"/>
          <a:ext cx="34020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16" name="公式" r:id="rId7" imgW="1409827" imgH="323918" progId="Equation.3">
                  <p:embed/>
                </p:oleObj>
              </mc:Choice>
              <mc:Fallback>
                <p:oleObj name="公式" r:id="rId7" imgW="1409827" imgH="323918" progId="Equation.3">
                  <p:embed/>
                  <p:pic>
                    <p:nvPicPr>
                      <p:cNvPr id="13318" name="Object 4">
                        <a:extLst>
                          <a:ext uri="{FF2B5EF4-FFF2-40B4-BE49-F238E27FC236}">
                            <a16:creationId xmlns:a16="http://schemas.microsoft.com/office/drawing/2014/main" id="{E349CB2A-A5A8-4E32-A7F4-81FB418EE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2857500"/>
                        <a:ext cx="34020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7">
            <a:extLst>
              <a:ext uri="{FF2B5EF4-FFF2-40B4-BE49-F238E27FC236}">
                <a16:creationId xmlns:a16="http://schemas.microsoft.com/office/drawing/2014/main" id="{9AC8D502-2E32-4EF6-875D-513ECBDB9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857625"/>
            <a:ext cx="777716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气体分子的平均平动动能是</a:t>
            </a:r>
            <a:r>
              <a:rPr lang="zh-CN" altLang="en-US">
                <a:solidFill>
                  <a:srgbClr val="FFFF00"/>
                </a:solidFill>
              </a:rPr>
              <a:t>平均分配</a:t>
            </a:r>
            <a:r>
              <a:rPr lang="zh-CN" altLang="en-US">
                <a:solidFill>
                  <a:schemeClr val="bg1"/>
                </a:solidFill>
              </a:rPr>
              <a:t>在每一个平动自由度上的。由于气体分子运动的无规则性，各自由度没有哪个是特殊的，因此在温度为 </a:t>
            </a:r>
            <a:r>
              <a:rPr lang="en-US" altLang="zh-CN" i="1">
                <a:solidFill>
                  <a:srgbClr val="FFFF00"/>
                </a:solidFill>
              </a:rPr>
              <a:t>T </a:t>
            </a:r>
            <a:r>
              <a:rPr lang="en-US" altLang="zh-CN" b="0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的平衡状态下，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D0C51856-97F0-4298-9F46-BEB7BBDE7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2328863"/>
            <a:ext cx="724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平衡态，沿</a:t>
            </a:r>
            <a:r>
              <a:rPr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  y,  z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三个方向运动的概率均等</a:t>
            </a:r>
            <a:endParaRPr lang="zh-CN" altLang="en-US" b="0">
              <a:solidFill>
                <a:schemeClr val="bg1"/>
              </a:solidFill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BC120A5F-E691-4DA3-9522-25C128372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472113"/>
            <a:ext cx="53292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每个平动自由度的平均平动动能为</a:t>
            </a:r>
            <a:endParaRPr lang="zh-CN" altLang="en-US" b="0" dirty="0">
              <a:solidFill>
                <a:srgbClr val="FF99FF"/>
              </a:solidFill>
            </a:endParaRPr>
          </a:p>
        </p:txBody>
      </p:sp>
      <p:graphicFrame>
        <p:nvGraphicFramePr>
          <p:cNvPr id="14339" name="Object 10">
            <a:extLst>
              <a:ext uri="{FF2B5EF4-FFF2-40B4-BE49-F238E27FC236}">
                <a16:creationId xmlns:a16="http://schemas.microsoft.com/office/drawing/2014/main" id="{90364589-A874-423C-B98F-D72AFADCE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5353050"/>
          <a:ext cx="5905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17" name="公式" r:id="rId9" imgW="609498" imgH="762034" progId="Equation.3">
                  <p:embed/>
                </p:oleObj>
              </mc:Choice>
              <mc:Fallback>
                <p:oleObj name="公式" r:id="rId9" imgW="609498" imgH="762034" progId="Equation.3">
                  <p:embed/>
                  <p:pic>
                    <p:nvPicPr>
                      <p:cNvPr id="14339" name="Object 10">
                        <a:extLst>
                          <a:ext uri="{FF2B5EF4-FFF2-40B4-BE49-F238E27FC236}">
                            <a16:creationId xmlns:a16="http://schemas.microsoft.com/office/drawing/2014/main" id="{90364589-A874-423C-B98F-D72AFADCE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5353050"/>
                        <a:ext cx="59055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72E94A2D-4397-49D8-B5B7-541E2C164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6072188"/>
            <a:ext cx="750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能量分配原则称为</a:t>
            </a:r>
            <a:r>
              <a:rPr lang="zh-CN" altLang="en-US">
                <a:solidFill>
                  <a:srgbClr val="FFFF00"/>
                </a:solidFill>
              </a:rPr>
              <a:t>能量按自由度均分定理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A23ED3D1-DFBA-4827-82D4-E18459A26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6563" y="2857500"/>
          <a:ext cx="10556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18" name="公式" r:id="rId11" imgW="390531" imgH="323918" progId="Equation.3">
                  <p:embed/>
                </p:oleObj>
              </mc:Choice>
              <mc:Fallback>
                <p:oleObj name="公式" r:id="rId11" imgW="390531" imgH="323918" progId="Equation.3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A23ED3D1-DFBA-4827-82D4-E18459A266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2857500"/>
                        <a:ext cx="10556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灯片编号占位符 1">
            <a:extLst>
              <a:ext uri="{FF2B5EF4-FFF2-40B4-BE49-F238E27FC236}">
                <a16:creationId xmlns:a16="http://schemas.microsoft.com/office/drawing/2014/main" id="{7DF15A43-9730-4840-B5D5-91F6306202C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D5A487-C492-4D89-932E-0439C137112B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315" grpId="0" autoUpdateAnimBg="0"/>
      <p:bldP spid="13319" grpId="0" autoUpdateAnimBg="0"/>
      <p:bldP spid="8" grpId="0"/>
      <p:bldP spid="12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tudio_video_1695202261207">
            <a:hlinkClick r:id="" action="ppaction://media"/>
            <a:extLst>
              <a:ext uri="{FF2B5EF4-FFF2-40B4-BE49-F238E27FC236}">
                <a16:creationId xmlns:a16="http://schemas.microsoft.com/office/drawing/2014/main" id="{A484FADC-FDA1-4C95-927C-BFFB4B2D2DA1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3028" y="1916832"/>
            <a:ext cx="6596670" cy="3710627"/>
          </a:xfrm>
          <a:prstGeom prst="rect">
            <a:avLst/>
          </a:prstGeom>
        </p:spPr>
      </p:pic>
      <p:sp>
        <p:nvSpPr>
          <p:cNvPr id="16" name="Text Box 5">
            <a:extLst>
              <a:ext uri="{FF2B5EF4-FFF2-40B4-BE49-F238E27FC236}">
                <a16:creationId xmlns:a16="http://schemas.microsoft.com/office/drawing/2014/main" id="{A6A8EB3E-4C06-467E-B6CF-BBCF58A8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19138"/>
            <a:ext cx="838835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  <a:buFontTx/>
              <a:buAutoNum type="arabicParenBoth"/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能量按自由度均分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是大量分子</a:t>
            </a:r>
            <a:r>
              <a:rPr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统计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平均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的结果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分子</a:t>
            </a:r>
          </a:p>
          <a:p>
            <a:pPr eaLnBrk="1" hangingPunct="1">
              <a:lnSpc>
                <a:spcPts val="34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     间的频繁</a:t>
            </a:r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碰撞而致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6F661062-9DE6-4993-B1CF-B9DA68C3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57175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93E87943-80B7-4D1C-A738-B6866987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C02A332B-8D3F-4255-9E97-9DB4310AD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908029"/>
            <a:ext cx="6567214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能量均分定理：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每个自由度分配的平均能量为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graphicFrame>
        <p:nvGraphicFramePr>
          <p:cNvPr id="21" name="Object 10">
            <a:extLst>
              <a:ext uri="{FF2B5EF4-FFF2-40B4-BE49-F238E27FC236}">
                <a16:creationId xmlns:a16="http://schemas.microsoft.com/office/drawing/2014/main" id="{0CDDCEBB-2A00-4C84-8636-7B02D474C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074460"/>
              </p:ext>
            </p:extLst>
          </p:nvPr>
        </p:nvGraphicFramePr>
        <p:xfrm>
          <a:off x="7164288" y="5779292"/>
          <a:ext cx="5905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95" name="公式" r:id="rId6" imgW="609498" imgH="762034" progId="Equation.3">
                  <p:embed/>
                </p:oleObj>
              </mc:Choice>
              <mc:Fallback>
                <p:oleObj name="公式" r:id="rId6" imgW="609498" imgH="762034" progId="Equation.3">
                  <p:embed/>
                  <p:pic>
                    <p:nvPicPr>
                      <p:cNvPr id="14339" name="Object 10">
                        <a:extLst>
                          <a:ext uri="{FF2B5EF4-FFF2-40B4-BE49-F238E27FC236}">
                            <a16:creationId xmlns:a16="http://schemas.microsoft.com/office/drawing/2014/main" id="{90364589-A874-423C-B98F-D72AFADCE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5779292"/>
                        <a:ext cx="59055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16" grpId="0" autoUpdateAnimBg="0"/>
      <p:bldP spid="18" grpId="0"/>
      <p:bldP spid="19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7">
            <a:extLst>
              <a:ext uri="{FF2B5EF4-FFF2-40B4-BE49-F238E27FC236}">
                <a16:creationId xmlns:a16="http://schemas.microsoft.com/office/drawing/2014/main" id="{E15BB889-C50D-4F84-B385-148221458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69" y="663998"/>
            <a:ext cx="7808862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</a:rPr>
              <a:t>(2)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某种气体分子具有 </a:t>
            </a:r>
            <a:r>
              <a:rPr lang="en-US" altLang="zh-CN" i="1" dirty="0">
                <a:solidFill>
                  <a:srgbClr val="66FFFF"/>
                </a:solidFill>
              </a:rPr>
              <a:t>t </a:t>
            </a:r>
            <a:r>
              <a:rPr lang="zh-CN" altLang="en-US" dirty="0">
                <a:solidFill>
                  <a:schemeClr val="bg1"/>
                </a:solidFill>
              </a:rPr>
              <a:t>个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平动自由度和 </a:t>
            </a:r>
            <a:r>
              <a:rPr lang="en-US" altLang="zh-CN" i="1" dirty="0">
                <a:solidFill>
                  <a:srgbClr val="66FFFF"/>
                </a:solidFill>
              </a:rPr>
              <a:t>r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个转动自由度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zh-CN" altLang="en-US" i="1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s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个振动自由度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</a:p>
        </p:txBody>
      </p:sp>
      <p:graphicFrame>
        <p:nvGraphicFramePr>
          <p:cNvPr id="14344" name="Object 3">
            <a:extLst>
              <a:ext uri="{FF2B5EF4-FFF2-40B4-BE49-F238E27FC236}">
                <a16:creationId xmlns:a16="http://schemas.microsoft.com/office/drawing/2014/main" id="{2918FA58-F97D-4E0E-AC52-D9C8B2A1E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234015"/>
              </p:ext>
            </p:extLst>
          </p:nvPr>
        </p:nvGraphicFramePr>
        <p:xfrm>
          <a:off x="3131840" y="1820048"/>
          <a:ext cx="20526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39" name="公式" r:id="rId4" imgW="1962137" imgH="762034" progId="Equation.3">
                  <p:embed/>
                </p:oleObj>
              </mc:Choice>
              <mc:Fallback>
                <p:oleObj name="公式" r:id="rId4" imgW="1962137" imgH="762034" progId="Equation.3">
                  <p:embed/>
                  <p:pic>
                    <p:nvPicPr>
                      <p:cNvPr id="14344" name="Object 3">
                        <a:extLst>
                          <a:ext uri="{FF2B5EF4-FFF2-40B4-BE49-F238E27FC236}">
                            <a16:creationId xmlns:a16="http://schemas.microsoft.com/office/drawing/2014/main" id="{2918FA58-F97D-4E0E-AC52-D9C8B2A1E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820048"/>
                        <a:ext cx="20526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ext Box 9">
            <a:extLst>
              <a:ext uri="{FF2B5EF4-FFF2-40B4-BE49-F238E27FC236}">
                <a16:creationId xmlns:a16="http://schemas.microsoft.com/office/drawing/2014/main" id="{D0CD3060-04D8-48F5-9B41-BB889AB7F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0856" y="1184232"/>
            <a:ext cx="4833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则每个气体分子的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平均总动能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FE4669E2-19CA-41EB-BB43-2F75EB4B2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4" y="3035498"/>
            <a:ext cx="802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分子内原子间的</a:t>
            </a:r>
            <a:r>
              <a:rPr lang="zh-CN" altLang="en-US" dirty="0">
                <a:solidFill>
                  <a:srgbClr val="66FFFF"/>
                </a:solidFill>
                <a:ea typeface="楷体_GB2312" pitchFamily="49" charset="-122"/>
              </a:rPr>
              <a:t>平均势能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           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</a:p>
        </p:txBody>
      </p:sp>
      <p:graphicFrame>
        <p:nvGraphicFramePr>
          <p:cNvPr id="14348" name="Object 4">
            <a:extLst>
              <a:ext uri="{FF2B5EF4-FFF2-40B4-BE49-F238E27FC236}">
                <a16:creationId xmlns:a16="http://schemas.microsoft.com/office/drawing/2014/main" id="{A845FD45-8D2B-4C69-B695-9E84E713D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413430"/>
              </p:ext>
            </p:extLst>
          </p:nvPr>
        </p:nvGraphicFramePr>
        <p:xfrm>
          <a:off x="4391347" y="2852936"/>
          <a:ext cx="6461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40" name="公式" r:id="rId6" imgW="609498" imgH="762034" progId="Equation.3">
                  <p:embed/>
                </p:oleObj>
              </mc:Choice>
              <mc:Fallback>
                <p:oleObj name="公式" r:id="rId6" imgW="609498" imgH="762034" progId="Equation.3">
                  <p:embed/>
                  <p:pic>
                    <p:nvPicPr>
                      <p:cNvPr id="14348" name="Object 4">
                        <a:extLst>
                          <a:ext uri="{FF2B5EF4-FFF2-40B4-BE49-F238E27FC236}">
                            <a16:creationId xmlns:a16="http://schemas.microsoft.com/office/drawing/2014/main" id="{A845FD45-8D2B-4C69-B695-9E84E713D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347" y="2852936"/>
                        <a:ext cx="64611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0EB34319-90FC-4951-A66F-1A195EDC7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45444"/>
              </p:ext>
            </p:extLst>
          </p:nvPr>
        </p:nvGraphicFramePr>
        <p:xfrm>
          <a:off x="4833864" y="3717032"/>
          <a:ext cx="21145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41" name="公式" r:id="rId8" imgW="914400" imgH="323918" progId="Equation.3">
                  <p:embed/>
                </p:oleObj>
              </mc:Choice>
              <mc:Fallback>
                <p:oleObj name="公式" r:id="rId8" imgW="914400" imgH="323918" progId="Equation.3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0EB34319-90FC-4951-A66F-1A195EDC79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864" y="3717032"/>
                        <a:ext cx="21145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>
            <a:extLst>
              <a:ext uri="{FF2B5EF4-FFF2-40B4-BE49-F238E27FC236}">
                <a16:creationId xmlns:a16="http://schemas.microsoft.com/office/drawing/2014/main" id="{F3F3F461-731B-4C36-BC0A-F18CD360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918645"/>
            <a:ext cx="564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每个气体分子的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平均总能量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B567CC78-88B5-40E8-86BF-E14B5ADCC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276056"/>
            <a:ext cx="7745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气体分子的平均总动能等于平均总能量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F524466C-5609-4769-9E3E-10E38FEAC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5754688"/>
          <a:ext cx="25003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42" name="公式" r:id="rId10" imgW="1076178" imgH="323918" progId="Equation.3">
                  <p:embed/>
                </p:oleObj>
              </mc:Choice>
              <mc:Fallback>
                <p:oleObj name="公式" r:id="rId10" imgW="1076178" imgH="323918" progId="Equation.3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F524466C-5609-4769-9E3E-10E38FEAC0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754688"/>
                        <a:ext cx="25003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>
            <a:extLst>
              <a:ext uri="{FF2B5EF4-FFF2-40B4-BE49-F238E27FC236}">
                <a16:creationId xmlns:a16="http://schemas.microsoft.com/office/drawing/2014/main" id="{3AA37AE5-2100-43E8-B87D-857C03AB5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31" y="4653136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对于刚性分子</a:t>
            </a:r>
          </a:p>
        </p:txBody>
      </p: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FDC244F7-C354-4A8D-A504-ABD89D2554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555167"/>
              </p:ext>
            </p:extLst>
          </p:nvPr>
        </p:nvGraphicFramePr>
        <p:xfrm>
          <a:off x="3336106" y="4707111"/>
          <a:ext cx="7318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43" name="公式" r:id="rId12" imgW="657206" imgH="247684" progId="Equation.3">
                  <p:embed/>
                </p:oleObj>
              </mc:Choice>
              <mc:Fallback>
                <p:oleObj name="公式" r:id="rId12" imgW="657206" imgH="247684" progId="Equation.3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FDC244F7-C354-4A8D-A504-ABD89D2554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106" y="4707111"/>
                        <a:ext cx="73183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灯片编号占位符 1">
            <a:extLst>
              <a:ext uri="{FF2B5EF4-FFF2-40B4-BE49-F238E27FC236}">
                <a16:creationId xmlns:a16="http://schemas.microsoft.com/office/drawing/2014/main" id="{9651E2D4-6406-4E34-A78B-0282701B0E4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8DF95E-E9E3-4DA0-8494-8A8CF5599BFB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/>
      <p:bldP spid="14345" grpId="0" autoUpdateAnimBg="0"/>
      <p:bldP spid="14346" grpId="0"/>
      <p:bldP spid="15" grpId="0" autoUpdateAnimBg="0"/>
      <p:bldP spid="16" grpId="0" autoUpdateAnimBg="0"/>
      <p:bldP spid="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79870723-1279-434A-872C-7B8B4547C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07181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 mol </a:t>
            </a:r>
            <a:r>
              <a:rPr lang="zh-CN" altLang="en-US">
                <a:solidFill>
                  <a:schemeClr val="bg1"/>
                </a:solidFill>
              </a:rPr>
              <a:t>理想气体的内能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5BC360BB-38FA-4035-9B96-B4E4A2BA8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2286000"/>
            <a:ext cx="4894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每个气体分子的平均总能量</a:t>
            </a:r>
          </a:p>
        </p:txBody>
      </p:sp>
      <p:graphicFrame>
        <p:nvGraphicFramePr>
          <p:cNvPr id="16388" name="Object 2">
            <a:extLst>
              <a:ext uri="{FF2B5EF4-FFF2-40B4-BE49-F238E27FC236}">
                <a16:creationId xmlns:a16="http://schemas.microsoft.com/office/drawing/2014/main" id="{E8548C6F-7A45-46DB-8143-9490CF9D5821}"/>
              </a:ext>
            </a:extLst>
          </p:cNvPr>
          <p:cNvGraphicFramePr>
            <a:graphicFrameLocks/>
          </p:cNvGraphicFramePr>
          <p:nvPr/>
        </p:nvGraphicFramePr>
        <p:xfrm>
          <a:off x="3940175" y="2928938"/>
          <a:ext cx="25717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78" r:id="rId4" imgW="2800388" imgH="781016" progId="Equation.3">
                  <p:embed/>
                </p:oleObj>
              </mc:Choice>
              <mc:Fallback>
                <p:oleObj r:id="rId4" imgW="2800388" imgH="781016" progId="Equation.3">
                  <p:embed/>
                  <p:pic>
                    <p:nvPicPr>
                      <p:cNvPr id="16388" name="Object 2">
                        <a:extLst>
                          <a:ext uri="{FF2B5EF4-FFF2-40B4-BE49-F238E27FC236}">
                            <a16:creationId xmlns:a16="http://schemas.microsoft.com/office/drawing/2014/main" id="{E8548C6F-7A45-46DB-8143-9490CF9D58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2928938"/>
                        <a:ext cx="25717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3">
            <a:extLst>
              <a:ext uri="{FF2B5EF4-FFF2-40B4-BE49-F238E27FC236}">
                <a16:creationId xmlns:a16="http://schemas.microsoft.com/office/drawing/2014/main" id="{762C0F38-A6C1-489A-889E-0C3B9114AA5C}"/>
              </a:ext>
            </a:extLst>
          </p:cNvPr>
          <p:cNvGraphicFramePr>
            <a:graphicFrameLocks/>
          </p:cNvGraphicFramePr>
          <p:nvPr/>
        </p:nvGraphicFramePr>
        <p:xfrm>
          <a:off x="3967163" y="3714750"/>
          <a:ext cx="278606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79" r:id="rId6" imgW="3038622" imgH="781016" progId="Equation.3">
                  <p:embed/>
                </p:oleObj>
              </mc:Choice>
              <mc:Fallback>
                <p:oleObj r:id="rId6" imgW="3038622" imgH="781016" progId="Equation.3">
                  <p:embed/>
                  <p:pic>
                    <p:nvPicPr>
                      <p:cNvPr id="16389" name="Object 3">
                        <a:extLst>
                          <a:ext uri="{FF2B5EF4-FFF2-40B4-BE49-F238E27FC236}">
                            <a16:creationId xmlns:a16="http://schemas.microsoft.com/office/drawing/2014/main" id="{762C0F38-A6C1-489A-889E-0C3B9114AA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3714750"/>
                        <a:ext cx="2786062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>
            <a:extLst>
              <a:ext uri="{FF2B5EF4-FFF2-40B4-BE49-F238E27FC236}">
                <a16:creationId xmlns:a16="http://schemas.microsoft.com/office/drawing/2014/main" id="{C844634B-EAD0-448D-BF77-80490A1FC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3808413"/>
            <a:ext cx="3489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</a:rPr>
              <a:t>ν </a:t>
            </a:r>
            <a:r>
              <a:rPr lang="en-US" altLang="zh-CN">
                <a:solidFill>
                  <a:srgbClr val="66FFFF"/>
                </a:solidFill>
              </a:rPr>
              <a:t>mol </a:t>
            </a:r>
            <a:r>
              <a:rPr lang="zh-CN" altLang="en-US">
                <a:solidFill>
                  <a:schemeClr val="bg1"/>
                </a:solidFill>
              </a:rPr>
              <a:t>理想气体的内能</a:t>
            </a:r>
          </a:p>
        </p:txBody>
      </p:sp>
      <p:graphicFrame>
        <p:nvGraphicFramePr>
          <p:cNvPr id="16391" name="Object 4">
            <a:extLst>
              <a:ext uri="{FF2B5EF4-FFF2-40B4-BE49-F238E27FC236}">
                <a16:creationId xmlns:a16="http://schemas.microsoft.com/office/drawing/2014/main" id="{1945E450-452C-420A-AFED-CA70F2657CBF}"/>
              </a:ext>
            </a:extLst>
          </p:cNvPr>
          <p:cNvGraphicFramePr>
            <a:graphicFrameLocks/>
          </p:cNvGraphicFramePr>
          <p:nvPr/>
        </p:nvGraphicFramePr>
        <p:xfrm>
          <a:off x="4714875" y="2143125"/>
          <a:ext cx="6207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80" r:id="rId8" imgW="666686" imgH="781016" progId="Equation.3">
                  <p:embed/>
                </p:oleObj>
              </mc:Choice>
              <mc:Fallback>
                <p:oleObj r:id="rId8" imgW="666686" imgH="781016" progId="Equation.3">
                  <p:embed/>
                  <p:pic>
                    <p:nvPicPr>
                      <p:cNvPr id="16391" name="Object 4">
                        <a:extLst>
                          <a:ext uri="{FF2B5EF4-FFF2-40B4-BE49-F238E27FC236}">
                            <a16:creationId xmlns:a16="http://schemas.microsoft.com/office/drawing/2014/main" id="{1945E450-452C-420A-AFED-CA70F2657C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143125"/>
                        <a:ext cx="6207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9">
            <a:extLst>
              <a:ext uri="{FF2B5EF4-FFF2-40B4-BE49-F238E27FC236}">
                <a16:creationId xmlns:a16="http://schemas.microsoft.com/office/drawing/2014/main" id="{D6BF2E3D-7A29-4214-ACB1-2298678EA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451350"/>
            <a:ext cx="800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结论：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一定质量的理想气体内能完全取决于分子运动的自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由度数和气体的温度，与气体的体积和压强无关。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D81CED32-7179-4472-BEB2-D96A5E813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14313"/>
            <a:ext cx="453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理想气体的内能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0714522F-6EE9-4F1C-8B25-9A603793E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758825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内能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34645F48-40B3-4A3D-9D0B-51FD14696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1208088"/>
            <a:ext cx="55006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气体中所有分子</a:t>
            </a:r>
            <a:r>
              <a:rPr lang="zh-CN" altLang="en-US">
                <a:solidFill>
                  <a:srgbClr val="FFFF00"/>
                </a:solidFill>
              </a:rPr>
              <a:t>各种形式动能</a:t>
            </a:r>
            <a:r>
              <a:rPr lang="zh-CN" altLang="en-US">
                <a:solidFill>
                  <a:schemeClr val="bg1"/>
                </a:solidFill>
              </a:rPr>
              <a:t>和分子内</a:t>
            </a:r>
            <a:r>
              <a:rPr lang="zh-CN" altLang="en-US">
                <a:solidFill>
                  <a:srgbClr val="FFFF00"/>
                </a:solidFill>
              </a:rPr>
              <a:t>原子间振动势能</a:t>
            </a:r>
            <a:r>
              <a:rPr lang="zh-CN" altLang="en-US">
                <a:solidFill>
                  <a:schemeClr val="bg1"/>
                </a:solidFill>
              </a:rPr>
              <a:t>的总和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3AB2A4C3-9531-41F1-B598-C0C2E4BE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422400"/>
            <a:ext cx="2889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理想气体的内能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29C959F4-E869-48C9-92DF-05ACE3F25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51752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1166BA37-FB9B-4716-9477-E67CB599F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208088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4DD9CB3E-FB4C-438E-99A4-1CFE83F1C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776288"/>
            <a:ext cx="571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系统中与热现象有关的那部分能量 </a:t>
            </a:r>
          </a:p>
        </p:txBody>
      </p:sp>
      <p:graphicFrame>
        <p:nvGraphicFramePr>
          <p:cNvPr id="2" name="Object 18">
            <a:extLst>
              <a:ext uri="{FF2B5EF4-FFF2-40B4-BE49-F238E27FC236}">
                <a16:creationId xmlns:a16="http://schemas.microsoft.com/office/drawing/2014/main" id="{FFB7DF1C-100F-48A5-B00E-63DBCF9CD718}"/>
              </a:ext>
            </a:extLst>
          </p:cNvPr>
          <p:cNvGraphicFramePr>
            <a:graphicFrameLocks/>
          </p:cNvGraphicFramePr>
          <p:nvPr/>
        </p:nvGraphicFramePr>
        <p:xfrm>
          <a:off x="6753225" y="3903663"/>
          <a:ext cx="89058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81" r:id="rId10" imgW="418973" imgH="152468" progId="Equation.3">
                  <p:embed/>
                </p:oleObj>
              </mc:Choice>
              <mc:Fallback>
                <p:oleObj r:id="rId10" imgW="418973" imgH="152468" progId="Equation.3">
                  <p:embed/>
                  <p:pic>
                    <p:nvPicPr>
                      <p:cNvPr id="2" name="Object 18">
                        <a:extLst>
                          <a:ext uri="{FF2B5EF4-FFF2-40B4-BE49-F238E27FC236}">
                            <a16:creationId xmlns:a16="http://schemas.microsoft.com/office/drawing/2014/main" id="{FFB7DF1C-100F-48A5-B00E-63DBCF9CD7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3225" y="3903663"/>
                        <a:ext cx="890588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3">
            <a:extLst>
              <a:ext uri="{FF2B5EF4-FFF2-40B4-BE49-F238E27FC236}">
                <a16:creationId xmlns:a16="http://schemas.microsoft.com/office/drawing/2014/main" id="{997BB307-068A-4FE5-8A5F-36CDBF4AC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472113"/>
            <a:ext cx="2786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刚性分子气体：</a:t>
            </a:r>
          </a:p>
        </p:txBody>
      </p:sp>
      <p:graphicFrame>
        <p:nvGraphicFramePr>
          <p:cNvPr id="3" name="Object 19">
            <a:extLst>
              <a:ext uri="{FF2B5EF4-FFF2-40B4-BE49-F238E27FC236}">
                <a16:creationId xmlns:a16="http://schemas.microsoft.com/office/drawing/2014/main" id="{A01566A7-A4C6-4346-8D1D-20D2B36DBAA7}"/>
              </a:ext>
            </a:extLst>
          </p:cNvPr>
          <p:cNvGraphicFramePr>
            <a:graphicFrameLocks/>
          </p:cNvGraphicFramePr>
          <p:nvPr/>
        </p:nvGraphicFramePr>
        <p:xfrm>
          <a:off x="785813" y="5929313"/>
          <a:ext cx="2335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82" r:id="rId12" imgW="1238263" imgH="342900" progId="Equation.3">
                  <p:embed/>
                </p:oleObj>
              </mc:Choice>
              <mc:Fallback>
                <p:oleObj r:id="rId12" imgW="1238263" imgH="342900" progId="Equation.3">
                  <p:embed/>
                  <p:pic>
                    <p:nvPicPr>
                      <p:cNvPr id="3" name="Object 19">
                        <a:extLst>
                          <a:ext uri="{FF2B5EF4-FFF2-40B4-BE49-F238E27FC236}">
                            <a16:creationId xmlns:a16="http://schemas.microsoft.com/office/drawing/2014/main" id="{A01566A7-A4C6-4346-8D1D-20D2B36DBA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929313"/>
                        <a:ext cx="23352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0">
            <a:extLst>
              <a:ext uri="{FF2B5EF4-FFF2-40B4-BE49-F238E27FC236}">
                <a16:creationId xmlns:a16="http://schemas.microsoft.com/office/drawing/2014/main" id="{B5CDF05C-084D-4FD1-9ACA-CE8E079BBE9B}"/>
              </a:ext>
            </a:extLst>
          </p:cNvPr>
          <p:cNvGraphicFramePr>
            <a:graphicFrameLocks/>
          </p:cNvGraphicFramePr>
          <p:nvPr/>
        </p:nvGraphicFramePr>
        <p:xfrm>
          <a:off x="3470275" y="5929313"/>
          <a:ext cx="23352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83" r:id="rId14" imgW="1238263" imgH="342900" progId="Equation.3">
                  <p:embed/>
                </p:oleObj>
              </mc:Choice>
              <mc:Fallback>
                <p:oleObj r:id="rId14" imgW="1238263" imgH="342900" progId="Equation.3">
                  <p:embed/>
                  <p:pic>
                    <p:nvPicPr>
                      <p:cNvPr id="4" name="Object 20">
                        <a:extLst>
                          <a:ext uri="{FF2B5EF4-FFF2-40B4-BE49-F238E27FC236}">
                            <a16:creationId xmlns:a16="http://schemas.microsoft.com/office/drawing/2014/main" id="{B5CDF05C-084D-4FD1-9ACA-CE8E079BBE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5" y="5929313"/>
                        <a:ext cx="23352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>
            <a:extLst>
              <a:ext uri="{FF2B5EF4-FFF2-40B4-BE49-F238E27FC236}">
                <a16:creationId xmlns:a16="http://schemas.microsoft.com/office/drawing/2014/main" id="{72D344EF-0DFB-4B05-BBD9-0AAD66FF733C}"/>
              </a:ext>
            </a:extLst>
          </p:cNvPr>
          <p:cNvGraphicFramePr>
            <a:graphicFrameLocks/>
          </p:cNvGraphicFramePr>
          <p:nvPr/>
        </p:nvGraphicFramePr>
        <p:xfrm>
          <a:off x="6113463" y="5929313"/>
          <a:ext cx="23352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84" r:id="rId16" imgW="1238263" imgH="342900" progId="Equation.3">
                  <p:embed/>
                </p:oleObj>
              </mc:Choice>
              <mc:Fallback>
                <p:oleObj r:id="rId16" imgW="1238263" imgH="342900" progId="Equation.3">
                  <p:embed/>
                  <p:pic>
                    <p:nvPicPr>
                      <p:cNvPr id="5" name="Object 21">
                        <a:extLst>
                          <a:ext uri="{FF2B5EF4-FFF2-40B4-BE49-F238E27FC236}">
                            <a16:creationId xmlns:a16="http://schemas.microsoft.com/office/drawing/2014/main" id="{72D344EF-0DFB-4B05-BBD9-0AAD66FF73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5929313"/>
                        <a:ext cx="23352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灯片编号占位符 1">
            <a:extLst>
              <a:ext uri="{FF2B5EF4-FFF2-40B4-BE49-F238E27FC236}">
                <a16:creationId xmlns:a16="http://schemas.microsoft.com/office/drawing/2014/main" id="{AFF4693C-B31F-4735-BCB2-C8EF26EAC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46DC9A-3BBB-4C3E-BF72-26AA30BD5827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16390" grpId="0"/>
      <p:bldP spid="1639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980" name="Object 2">
            <a:extLst>
              <a:ext uri="{FF2B5EF4-FFF2-40B4-BE49-F238E27FC236}">
                <a16:creationId xmlns:a16="http://schemas.microsoft.com/office/drawing/2014/main" id="{B9C21A6E-E136-48C9-89E6-D448B0A6A2C8}"/>
              </a:ext>
            </a:extLst>
          </p:cNvPr>
          <p:cNvGraphicFramePr>
            <a:graphicFrameLocks/>
          </p:cNvGraphicFramePr>
          <p:nvPr/>
        </p:nvGraphicFramePr>
        <p:xfrm>
          <a:off x="3000375" y="2500313"/>
          <a:ext cx="18288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6" r:id="rId3" imgW="1981098" imgH="905011" progId="Equation.3">
                  <p:embed/>
                </p:oleObj>
              </mc:Choice>
              <mc:Fallback>
                <p:oleObj r:id="rId3" imgW="1981098" imgH="905011" progId="Equation.3">
                  <p:embed/>
                  <p:pic>
                    <p:nvPicPr>
                      <p:cNvPr id="510980" name="Object 2">
                        <a:extLst>
                          <a:ext uri="{FF2B5EF4-FFF2-40B4-BE49-F238E27FC236}">
                            <a16:creationId xmlns:a16="http://schemas.microsoft.com/office/drawing/2014/main" id="{B9C21A6E-E136-48C9-89E6-D448B0A6A2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500313"/>
                        <a:ext cx="18288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81" name="Text Box 5">
            <a:extLst>
              <a:ext uri="{FF2B5EF4-FFF2-40B4-BE49-F238E27FC236}">
                <a16:creationId xmlns:a16="http://schemas.microsoft.com/office/drawing/2014/main" id="{C0505A0B-7C92-4376-8C98-78FE6EE8C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714625"/>
            <a:ext cx="200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比热容比</a:t>
            </a:r>
          </a:p>
        </p:txBody>
      </p:sp>
      <p:sp>
        <p:nvSpPr>
          <p:cNvPr id="510982" name="Text Box 6">
            <a:extLst>
              <a:ext uri="{FF2B5EF4-FFF2-40B4-BE49-F238E27FC236}">
                <a16:creationId xmlns:a16="http://schemas.microsoft.com/office/drawing/2014/main" id="{98A47D86-71ED-475F-9B7D-AA04A1689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5318125"/>
            <a:ext cx="439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1 mol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理想气体的内能变化</a:t>
            </a:r>
          </a:p>
        </p:txBody>
      </p:sp>
      <p:graphicFrame>
        <p:nvGraphicFramePr>
          <p:cNvPr id="510983" name="Object 3">
            <a:extLst>
              <a:ext uri="{FF2B5EF4-FFF2-40B4-BE49-F238E27FC236}">
                <a16:creationId xmlns:a16="http://schemas.microsoft.com/office/drawing/2014/main" id="{9AA449C5-5E14-443C-83C1-111431E51CBD}"/>
              </a:ext>
            </a:extLst>
          </p:cNvPr>
          <p:cNvGraphicFramePr>
            <a:graphicFrameLocks/>
          </p:cNvGraphicFramePr>
          <p:nvPr/>
        </p:nvGraphicFramePr>
        <p:xfrm>
          <a:off x="5000625" y="5186363"/>
          <a:ext cx="26400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7" r:id="rId5" imgW="2886018" imgH="781016" progId="Equation.3">
                  <p:embed/>
                </p:oleObj>
              </mc:Choice>
              <mc:Fallback>
                <p:oleObj r:id="rId5" imgW="2886018" imgH="781016" progId="Equation.3">
                  <p:embed/>
                  <p:pic>
                    <p:nvPicPr>
                      <p:cNvPr id="510983" name="Object 3">
                        <a:extLst>
                          <a:ext uri="{FF2B5EF4-FFF2-40B4-BE49-F238E27FC236}">
                            <a16:creationId xmlns:a16="http://schemas.microsoft.com/office/drawing/2014/main" id="{9AA449C5-5E14-443C-83C1-111431E51C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5186363"/>
                        <a:ext cx="26400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984" name="Object 4">
            <a:extLst>
              <a:ext uri="{FF2B5EF4-FFF2-40B4-BE49-F238E27FC236}">
                <a16:creationId xmlns:a16="http://schemas.microsoft.com/office/drawing/2014/main" id="{76A1AD97-D220-4C24-8C91-7E8AAC61A902}"/>
              </a:ext>
            </a:extLst>
          </p:cNvPr>
          <p:cNvGraphicFramePr>
            <a:graphicFrameLocks/>
          </p:cNvGraphicFramePr>
          <p:nvPr/>
        </p:nvGraphicFramePr>
        <p:xfrm>
          <a:off x="5013325" y="6072188"/>
          <a:ext cx="17018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8" r:id="rId7" imgW="1847761" imgH="380864" progId="Equation.3">
                  <p:embed/>
                </p:oleObj>
              </mc:Choice>
              <mc:Fallback>
                <p:oleObj r:id="rId7" imgW="1847761" imgH="380864" progId="Equation.3">
                  <p:embed/>
                  <p:pic>
                    <p:nvPicPr>
                      <p:cNvPr id="510984" name="Object 4">
                        <a:extLst>
                          <a:ext uri="{FF2B5EF4-FFF2-40B4-BE49-F238E27FC236}">
                            <a16:creationId xmlns:a16="http://schemas.microsoft.com/office/drawing/2014/main" id="{76A1AD97-D220-4C24-8C91-7E8AAC61A9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6072188"/>
                        <a:ext cx="17018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85" name="Text Box 9">
            <a:extLst>
              <a:ext uri="{FF2B5EF4-FFF2-40B4-BE49-F238E27FC236}">
                <a16:creationId xmlns:a16="http://schemas.microsoft.com/office/drawing/2014/main" id="{4B598434-AEAA-4265-BD1C-94F627A46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5981700"/>
            <a:ext cx="4730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  <a:ea typeface="楷体_GB2312" pitchFamily="49" charset="-122"/>
              </a:rPr>
              <a:t>ν </a:t>
            </a:r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mol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理想气体的内能变化</a:t>
            </a:r>
          </a:p>
        </p:txBody>
      </p:sp>
      <p:sp>
        <p:nvSpPr>
          <p:cNvPr id="510986" name="Rectangle 10">
            <a:extLst>
              <a:ext uri="{FF2B5EF4-FFF2-40B4-BE49-F238E27FC236}">
                <a16:creationId xmlns:a16="http://schemas.microsoft.com/office/drawing/2014/main" id="{099AD621-E5DE-4264-8E88-4A543B7A7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3471863"/>
            <a:ext cx="239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单原子分子气体 </a:t>
            </a:r>
          </a:p>
        </p:txBody>
      </p:sp>
      <p:graphicFrame>
        <p:nvGraphicFramePr>
          <p:cNvPr id="510987" name="Object 5">
            <a:extLst>
              <a:ext uri="{FF2B5EF4-FFF2-40B4-BE49-F238E27FC236}">
                <a16:creationId xmlns:a16="http://schemas.microsoft.com/office/drawing/2014/main" id="{1000E5A6-FCA4-4C9A-9442-6377B4603ABF}"/>
              </a:ext>
            </a:extLst>
          </p:cNvPr>
          <p:cNvGraphicFramePr>
            <a:graphicFrameLocks/>
          </p:cNvGraphicFramePr>
          <p:nvPr/>
        </p:nvGraphicFramePr>
        <p:xfrm>
          <a:off x="4418013" y="3516313"/>
          <a:ext cx="29162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39" r:id="rId9" imgW="3086024" imgH="400152" progId="Equation.3">
                  <p:embed/>
                </p:oleObj>
              </mc:Choice>
              <mc:Fallback>
                <p:oleObj r:id="rId9" imgW="3086024" imgH="400152" progId="Equation.3">
                  <p:embed/>
                  <p:pic>
                    <p:nvPicPr>
                      <p:cNvPr id="510987" name="Object 5">
                        <a:extLst>
                          <a:ext uri="{FF2B5EF4-FFF2-40B4-BE49-F238E27FC236}">
                            <a16:creationId xmlns:a16="http://schemas.microsoft.com/office/drawing/2014/main" id="{1000E5A6-FCA4-4C9A-9442-6377B4603A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3516313"/>
                        <a:ext cx="29162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88" name="Rectangle 12">
            <a:extLst>
              <a:ext uri="{FF2B5EF4-FFF2-40B4-BE49-F238E27FC236}">
                <a16:creationId xmlns:a16="http://schemas.microsoft.com/office/drawing/2014/main" id="{1D59C5E0-D964-43AE-9158-FAB89B486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4043363"/>
            <a:ext cx="2903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双原子分子气体 </a:t>
            </a:r>
          </a:p>
        </p:txBody>
      </p:sp>
      <p:graphicFrame>
        <p:nvGraphicFramePr>
          <p:cNvPr id="510989" name="Object 6">
            <a:extLst>
              <a:ext uri="{FF2B5EF4-FFF2-40B4-BE49-F238E27FC236}">
                <a16:creationId xmlns:a16="http://schemas.microsoft.com/office/drawing/2014/main" id="{C1B1239C-680E-481C-B3FC-78405000E310}"/>
              </a:ext>
            </a:extLst>
          </p:cNvPr>
          <p:cNvGraphicFramePr>
            <a:graphicFrameLocks/>
          </p:cNvGraphicFramePr>
          <p:nvPr/>
        </p:nvGraphicFramePr>
        <p:xfrm>
          <a:off x="4418013" y="4087813"/>
          <a:ext cx="29400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0" r:id="rId11" imgW="3114771" imgH="400152" progId="Equation.3">
                  <p:embed/>
                </p:oleObj>
              </mc:Choice>
              <mc:Fallback>
                <p:oleObj r:id="rId11" imgW="3114771" imgH="400152" progId="Equation.3">
                  <p:embed/>
                  <p:pic>
                    <p:nvPicPr>
                      <p:cNvPr id="510989" name="Object 6">
                        <a:extLst>
                          <a:ext uri="{FF2B5EF4-FFF2-40B4-BE49-F238E27FC236}">
                            <a16:creationId xmlns:a16="http://schemas.microsoft.com/office/drawing/2014/main" id="{C1B1239C-680E-481C-B3FC-78405000E3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4087813"/>
                        <a:ext cx="29400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90" name="Rectangle 14">
            <a:extLst>
              <a:ext uri="{FF2B5EF4-FFF2-40B4-BE49-F238E27FC236}">
                <a16:creationId xmlns:a16="http://schemas.microsoft.com/office/drawing/2014/main" id="{87D8091A-71A9-48AD-9717-673486106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4614863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多原子分子气体 </a:t>
            </a:r>
          </a:p>
        </p:txBody>
      </p:sp>
      <p:graphicFrame>
        <p:nvGraphicFramePr>
          <p:cNvPr id="510991" name="Object 7">
            <a:extLst>
              <a:ext uri="{FF2B5EF4-FFF2-40B4-BE49-F238E27FC236}">
                <a16:creationId xmlns:a16="http://schemas.microsoft.com/office/drawing/2014/main" id="{B83EA87E-EB4E-4D29-81D2-E3A26F44CB22}"/>
              </a:ext>
            </a:extLst>
          </p:cNvPr>
          <p:cNvGraphicFramePr>
            <a:graphicFrameLocks/>
          </p:cNvGraphicFramePr>
          <p:nvPr/>
        </p:nvGraphicFramePr>
        <p:xfrm>
          <a:off x="4432300" y="4643438"/>
          <a:ext cx="29146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1" r:id="rId13" imgW="3086024" imgH="380864" progId="Equation.3">
                  <p:embed/>
                </p:oleObj>
              </mc:Choice>
              <mc:Fallback>
                <p:oleObj r:id="rId13" imgW="3086024" imgH="380864" progId="Equation.3">
                  <p:embed/>
                  <p:pic>
                    <p:nvPicPr>
                      <p:cNvPr id="510991" name="Object 7">
                        <a:extLst>
                          <a:ext uri="{FF2B5EF4-FFF2-40B4-BE49-F238E27FC236}">
                            <a16:creationId xmlns:a16="http://schemas.microsoft.com/office/drawing/2014/main" id="{B83EA87E-EB4E-4D29-81D2-E3A26F44CB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4643438"/>
                        <a:ext cx="29146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3">
            <a:extLst>
              <a:ext uri="{FF2B5EF4-FFF2-40B4-BE49-F238E27FC236}">
                <a16:creationId xmlns:a16="http://schemas.microsoft.com/office/drawing/2014/main" id="{D088DAF2-221F-4F9E-9985-7AF870C3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85750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四</a:t>
            </a:r>
            <a:r>
              <a:rPr lang="en-US" altLang="zh-CN">
                <a:solidFill>
                  <a:srgbClr val="FFFF00"/>
                </a:solidFill>
              </a:rPr>
              <a:t>.</a:t>
            </a:r>
            <a:r>
              <a:rPr lang="zh-CN" altLang="en-US">
                <a:solidFill>
                  <a:srgbClr val="FFFF00"/>
                </a:solidFill>
              </a:rPr>
              <a:t>  理想气体的摩尔热容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2116BD22-D59E-48F0-B562-EB3F40837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996950"/>
            <a:ext cx="3890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理想气体的</a:t>
            </a:r>
            <a:r>
              <a:rPr lang="zh-CN" altLang="en-US" dirty="0">
                <a:solidFill>
                  <a:srgbClr val="66FFFF"/>
                </a:solidFill>
                <a:ea typeface="楷体_GB2312" pitchFamily="49" charset="-122"/>
              </a:rPr>
              <a:t>定体摩尔热容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2CEBBD76-501C-4351-9F00-DBE9687B6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5975" y="857250"/>
          <a:ext cx="13747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2" r:id="rId15" imgW="666686" imgH="342900" progId="Equation.3">
                  <p:embed/>
                </p:oleObj>
              </mc:Choice>
              <mc:Fallback>
                <p:oleObj r:id="rId15" imgW="666686" imgH="342900" progId="Equation.3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2CEBBD76-501C-4351-9F00-DBE9687B6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975" y="857250"/>
                        <a:ext cx="13747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6">
            <a:extLst>
              <a:ext uri="{FF2B5EF4-FFF2-40B4-BE49-F238E27FC236}">
                <a16:creationId xmlns:a16="http://schemas.microsoft.com/office/drawing/2014/main" id="{3D37E95E-60FB-44B9-A5E3-658EE445B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828800"/>
            <a:ext cx="392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理想气体的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定压摩尔热容</a:t>
            </a:r>
            <a:endParaRPr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C6B7BCD5-F980-4FDF-91E8-A1A5FE26F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739900"/>
          <a:ext cx="27559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3" r:id="rId17" imgW="3257588" imgH="781016" progId="Equation.3">
                  <p:embed/>
                </p:oleObj>
              </mc:Choice>
              <mc:Fallback>
                <p:oleObj r:id="rId17" imgW="3257588" imgH="781016" progId="Equation.3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C6B7BCD5-F980-4FDF-91E8-A1A5FE26F9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39900"/>
                        <a:ext cx="27559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AutoShape 19">
            <a:extLst>
              <a:ext uri="{FF2B5EF4-FFF2-40B4-BE49-F238E27FC236}">
                <a16:creationId xmlns:a16="http://schemas.microsoft.com/office/drawing/2014/main" id="{1B4C1338-850D-4079-B729-ABC9254E265F}"/>
              </a:ext>
            </a:extLst>
          </p:cNvPr>
          <p:cNvSpPr>
            <a:spLocks/>
          </p:cNvSpPr>
          <p:nvPr/>
        </p:nvSpPr>
        <p:spPr bwMode="auto">
          <a:xfrm>
            <a:off x="1500188" y="3716338"/>
            <a:ext cx="239712" cy="1225550"/>
          </a:xfrm>
          <a:prstGeom prst="leftBrace">
            <a:avLst>
              <a:gd name="adj1" fmla="val 7067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AE4C9904-C71C-4242-B40D-821C05E26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3902075"/>
            <a:ext cx="504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刚性</a:t>
            </a:r>
          </a:p>
        </p:txBody>
      </p:sp>
      <p:graphicFrame>
        <p:nvGraphicFramePr>
          <p:cNvPr id="16389" name="Object 21">
            <a:extLst>
              <a:ext uri="{FF2B5EF4-FFF2-40B4-BE49-F238E27FC236}">
                <a16:creationId xmlns:a16="http://schemas.microsoft.com/office/drawing/2014/main" id="{934EC1BE-FD15-41D3-AF1D-5A0350BCC2AE}"/>
              </a:ext>
            </a:extLst>
          </p:cNvPr>
          <p:cNvGraphicFramePr>
            <a:graphicFrameLocks/>
          </p:cNvGraphicFramePr>
          <p:nvPr/>
        </p:nvGraphicFramePr>
        <p:xfrm>
          <a:off x="7226300" y="857250"/>
          <a:ext cx="13462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4" r:id="rId19" imgW="638245" imgH="342900" progId="Equation.3">
                  <p:embed/>
                </p:oleObj>
              </mc:Choice>
              <mc:Fallback>
                <p:oleObj r:id="rId19" imgW="638245" imgH="342900" progId="Equation.3">
                  <p:embed/>
                  <p:pic>
                    <p:nvPicPr>
                      <p:cNvPr id="16389" name="Object 21">
                        <a:extLst>
                          <a:ext uri="{FF2B5EF4-FFF2-40B4-BE49-F238E27FC236}">
                            <a16:creationId xmlns:a16="http://schemas.microsoft.com/office/drawing/2014/main" id="{934EC1BE-FD15-41D3-AF1D-5A0350BCC2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857250"/>
                        <a:ext cx="134620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>
            <a:extLst>
              <a:ext uri="{FF2B5EF4-FFF2-40B4-BE49-F238E27FC236}">
                <a16:creationId xmlns:a16="http://schemas.microsoft.com/office/drawing/2014/main" id="{AFF45FAA-6CE2-4804-997D-E08AFB3679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857250"/>
          <a:ext cx="76041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45" r:id="rId21" imgW="342824" imgH="342900" progId="Equation.3">
                  <p:embed/>
                </p:oleObj>
              </mc:Choice>
              <mc:Fallback>
                <p:oleObj r:id="rId21" imgW="342824" imgH="342900" progId="Equation.3">
                  <p:embed/>
                  <p:pic>
                    <p:nvPicPr>
                      <p:cNvPr id="3" name="Object 22">
                        <a:extLst>
                          <a:ext uri="{FF2B5EF4-FFF2-40B4-BE49-F238E27FC236}">
                            <a16:creationId xmlns:a16="http://schemas.microsoft.com/office/drawing/2014/main" id="{AFF45FAA-6CE2-4804-997D-E08AFB3679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857250"/>
                        <a:ext cx="760413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FDD9888E-949A-4EB9-BF7B-72496D7F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571500"/>
            <a:ext cx="1670050" cy="468313"/>
          </a:xfrm>
          <a:custGeom>
            <a:avLst/>
            <a:gdLst>
              <a:gd name="T0" fmla="*/ 1675186 w 1669409"/>
              <a:gd name="T1" fmla="*/ 467729 h 468386"/>
              <a:gd name="T2" fmla="*/ 1431064 w 1669409"/>
              <a:gd name="T3" fmla="*/ 149397 h 468386"/>
              <a:gd name="T4" fmla="*/ 791294 w 1669409"/>
              <a:gd name="T5" fmla="*/ 6982 h 468386"/>
              <a:gd name="T6" fmla="*/ 252542 w 1669409"/>
              <a:gd name="T7" fmla="*/ 107506 h 468386"/>
              <a:gd name="T8" fmla="*/ 0 w 1669409"/>
              <a:gd name="T9" fmla="*/ 325314 h 4683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9409"/>
              <a:gd name="T16" fmla="*/ 0 h 468386"/>
              <a:gd name="T17" fmla="*/ 1669409 w 1669409"/>
              <a:gd name="T18" fmla="*/ 468386 h 4683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9409" h="468386">
                <a:moveTo>
                  <a:pt x="1669409" y="468386"/>
                </a:moveTo>
                <a:cubicBezTo>
                  <a:pt x="1621172" y="347444"/>
                  <a:pt x="1572935" y="226503"/>
                  <a:pt x="1426128" y="149604"/>
                </a:cubicBezTo>
                <a:cubicBezTo>
                  <a:pt x="1279321" y="72705"/>
                  <a:pt x="984308" y="13982"/>
                  <a:pt x="788565" y="6991"/>
                </a:cubicBezTo>
                <a:cubicBezTo>
                  <a:pt x="592822" y="0"/>
                  <a:pt x="383096" y="54529"/>
                  <a:pt x="251669" y="107659"/>
                </a:cubicBezTo>
                <a:cubicBezTo>
                  <a:pt x="120242" y="160789"/>
                  <a:pt x="60121" y="243281"/>
                  <a:pt x="0" y="32577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2" name="灯片编号占位符 1">
            <a:extLst>
              <a:ext uri="{FF2B5EF4-FFF2-40B4-BE49-F238E27FC236}">
                <a16:creationId xmlns:a16="http://schemas.microsoft.com/office/drawing/2014/main" id="{185AC82A-4ECD-40A4-AE47-D47579F97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CAB5A5-8015-4E6A-907B-4CE06FE2B13C}" type="slidenum">
              <a:rPr lang="en-US" altLang="zh-CN" b="0">
                <a:solidFill>
                  <a:srgbClr val="FF00FF"/>
                </a:solidFill>
              </a:rPr>
              <a:pPr eaLnBrk="1" hangingPunct="1"/>
              <a:t>23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1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1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1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81" grpId="0"/>
      <p:bldP spid="510982" grpId="0"/>
      <p:bldP spid="510985" grpId="0"/>
      <p:bldP spid="510986" grpId="0"/>
      <p:bldP spid="510988" grpId="0"/>
      <p:bldP spid="510990" grpId="0"/>
      <p:bldP spid="14" grpId="0"/>
      <p:bldP spid="15" grpId="0"/>
      <p:bldP spid="17" grpId="0"/>
      <p:bldP spid="11283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1">
            <a:extLst>
              <a:ext uri="{FF2B5EF4-FFF2-40B4-BE49-F238E27FC236}">
                <a16:creationId xmlns:a16="http://schemas.microsoft.com/office/drawing/2014/main" id="{0F62F438-1420-4597-B0E2-88754DA09FE8}"/>
              </a:ext>
            </a:extLst>
          </p:cNvPr>
          <p:cNvGrpSpPr>
            <a:grpSpLocks/>
          </p:cNvGrpSpPr>
          <p:nvPr/>
        </p:nvGrpSpPr>
        <p:grpSpPr bwMode="auto">
          <a:xfrm>
            <a:off x="785813" y="1000125"/>
            <a:ext cx="8001000" cy="498475"/>
            <a:chOff x="508000" y="1171557"/>
            <a:chExt cx="8356660" cy="498464"/>
          </a:xfrm>
        </p:grpSpPr>
        <p:sp>
          <p:nvSpPr>
            <p:cNvPr id="13342" name="Text Box 2">
              <a:extLst>
                <a:ext uri="{FF2B5EF4-FFF2-40B4-BE49-F238E27FC236}">
                  <a16:creationId xmlns:a16="http://schemas.microsoft.com/office/drawing/2014/main" id="{CF4FD94F-E444-4016-BDE4-D492BA5A7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000" y="1171575"/>
              <a:ext cx="83566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一般，温度变化范围不大，气体的                   近似为常数 </a:t>
              </a:r>
            </a:p>
          </p:txBody>
        </p:sp>
        <p:graphicFrame>
          <p:nvGraphicFramePr>
            <p:cNvPr id="13343" name="Object 2">
              <a:extLst>
                <a:ext uri="{FF2B5EF4-FFF2-40B4-BE49-F238E27FC236}">
                  <a16:creationId xmlns:a16="http://schemas.microsoft.com/office/drawing/2014/main" id="{EF8B23AC-FF6E-443D-97F1-C4F8C8661FC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492465" y="1171557"/>
            <a:ext cx="1357659" cy="498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58" r:id="rId3" imgW="609498" imgH="190432" progId="Equation.3">
                    <p:embed/>
                  </p:oleObj>
                </mc:Choice>
                <mc:Fallback>
                  <p:oleObj r:id="rId3" imgW="609498" imgH="190432" progId="Equation.3">
                    <p:embed/>
                    <p:pic>
                      <p:nvPicPr>
                        <p:cNvPr id="13343" name="Object 2">
                          <a:extLst>
                            <a:ext uri="{FF2B5EF4-FFF2-40B4-BE49-F238E27FC236}">
                              <a16:creationId xmlns:a16="http://schemas.microsoft.com/office/drawing/2014/main" id="{EF8B23AC-FF6E-443D-97F1-C4F8C8661FC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2465" y="1171557"/>
                          <a:ext cx="1357659" cy="498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9">
            <a:extLst>
              <a:ext uri="{FF2B5EF4-FFF2-40B4-BE49-F238E27FC236}">
                <a16:creationId xmlns:a16="http://schemas.microsoft.com/office/drawing/2014/main" id="{F105F623-E7D2-4494-BC30-CFAA08CC4345}"/>
              </a:ext>
            </a:extLst>
          </p:cNvPr>
          <p:cNvGrpSpPr>
            <a:grpSpLocks/>
          </p:cNvGrpSpPr>
          <p:nvPr/>
        </p:nvGrpSpPr>
        <p:grpSpPr bwMode="auto">
          <a:xfrm>
            <a:off x="1643063" y="1968500"/>
            <a:ext cx="6215062" cy="4389438"/>
            <a:chOff x="1643042" y="1682750"/>
            <a:chExt cx="6215083" cy="4389438"/>
          </a:xfrm>
        </p:grpSpPr>
        <p:grpSp>
          <p:nvGrpSpPr>
            <p:cNvPr id="13319" name="组合 28">
              <a:extLst>
                <a:ext uri="{FF2B5EF4-FFF2-40B4-BE49-F238E27FC236}">
                  <a16:creationId xmlns:a16="http://schemas.microsoft.com/office/drawing/2014/main" id="{1C54DF1E-F7D9-460A-BC10-463E0BABD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3042" y="1682750"/>
              <a:ext cx="6215083" cy="3690938"/>
              <a:chOff x="1643042" y="1682750"/>
              <a:chExt cx="6215083" cy="3690938"/>
            </a:xfrm>
          </p:grpSpPr>
          <p:sp>
            <p:nvSpPr>
              <p:cNvPr id="13321" name="Line 14">
                <a:extLst>
                  <a:ext uri="{FF2B5EF4-FFF2-40B4-BE49-F238E27FC236}">
                    <a16:creationId xmlns:a16="http://schemas.microsoft.com/office/drawing/2014/main" id="{D971DA51-91F9-48EA-887A-B9A5C190EF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7563" y="4071942"/>
                <a:ext cx="0" cy="93600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prstDash val="dash"/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22" name="组合 42">
                <a:extLst>
                  <a:ext uri="{FF2B5EF4-FFF2-40B4-BE49-F238E27FC236}">
                    <a16:creationId xmlns:a16="http://schemas.microsoft.com/office/drawing/2014/main" id="{150917C9-A22A-4E03-93CA-0A50C3DA85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3042" y="1682750"/>
                <a:ext cx="6215083" cy="3690938"/>
                <a:chOff x="1643021" y="1682748"/>
                <a:chExt cx="6215127" cy="3690940"/>
              </a:xfrm>
            </p:grpSpPr>
            <p:sp>
              <p:nvSpPr>
                <p:cNvPr id="13323" name="Freeform 5">
                  <a:extLst>
                    <a:ext uri="{FF2B5EF4-FFF2-40B4-BE49-F238E27FC236}">
                      <a16:creationId xmlns:a16="http://schemas.microsoft.com/office/drawing/2014/main" id="{A3527D24-5DD8-4567-800B-0D6AD831E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6584" y="3357562"/>
                  <a:ext cx="1295416" cy="733436"/>
                </a:xfrm>
                <a:custGeom>
                  <a:avLst/>
                  <a:gdLst>
                    <a:gd name="T0" fmla="*/ 0 w 1200"/>
                    <a:gd name="T1" fmla="*/ 2147483646 h 624"/>
                    <a:gd name="T2" fmla="*/ 2147483646 w 1200"/>
                    <a:gd name="T3" fmla="*/ 2147483646 h 624"/>
                    <a:gd name="T4" fmla="*/ 2147483646 w 1200"/>
                    <a:gd name="T5" fmla="*/ 2147483646 h 624"/>
                    <a:gd name="T6" fmla="*/ 2147483646 w 1200"/>
                    <a:gd name="T7" fmla="*/ 0 h 6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00"/>
                    <a:gd name="T13" fmla="*/ 0 h 624"/>
                    <a:gd name="T14" fmla="*/ 1200 w 1200"/>
                    <a:gd name="T15" fmla="*/ 624 h 6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00" h="624">
                      <a:moveTo>
                        <a:pt x="0" y="624"/>
                      </a:moveTo>
                      <a:cubicBezTo>
                        <a:pt x="128" y="572"/>
                        <a:pt x="256" y="520"/>
                        <a:pt x="384" y="432"/>
                      </a:cubicBezTo>
                      <a:cubicBezTo>
                        <a:pt x="512" y="344"/>
                        <a:pt x="632" y="168"/>
                        <a:pt x="768" y="96"/>
                      </a:cubicBezTo>
                      <a:cubicBezTo>
                        <a:pt x="904" y="24"/>
                        <a:pt x="1052" y="12"/>
                        <a:pt x="1200" y="0"/>
                      </a:cubicBezTo>
                    </a:path>
                  </a:pathLst>
                </a:custGeom>
                <a:noFill/>
                <a:ln w="38100" cap="sq">
                  <a:solidFill>
                    <a:srgbClr val="FFFF0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4" name="Freeform 6">
                  <a:extLst>
                    <a:ext uri="{FF2B5EF4-FFF2-40B4-BE49-F238E27FC236}">
                      <a16:creationId xmlns:a16="http://schemas.microsoft.com/office/drawing/2014/main" id="{987C9796-70C7-4019-930D-FB9D41E5CE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71984" y="2571744"/>
                  <a:ext cx="1143000" cy="790564"/>
                </a:xfrm>
                <a:custGeom>
                  <a:avLst/>
                  <a:gdLst>
                    <a:gd name="T0" fmla="*/ 0 w 912"/>
                    <a:gd name="T1" fmla="*/ 2147483646 h 344"/>
                    <a:gd name="T2" fmla="*/ 2147483646 w 912"/>
                    <a:gd name="T3" fmla="*/ 2147483646 h 344"/>
                    <a:gd name="T4" fmla="*/ 2147483646 w 912"/>
                    <a:gd name="T5" fmla="*/ 0 h 344"/>
                    <a:gd name="T6" fmla="*/ 0 60000 65536"/>
                    <a:gd name="T7" fmla="*/ 0 60000 65536"/>
                    <a:gd name="T8" fmla="*/ 0 60000 65536"/>
                    <a:gd name="T9" fmla="*/ 0 w 912"/>
                    <a:gd name="T10" fmla="*/ 0 h 344"/>
                    <a:gd name="T11" fmla="*/ 912 w 912"/>
                    <a:gd name="T12" fmla="*/ 344 h 3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2" h="344">
                      <a:moveTo>
                        <a:pt x="0" y="336"/>
                      </a:moveTo>
                      <a:cubicBezTo>
                        <a:pt x="140" y="340"/>
                        <a:pt x="280" y="344"/>
                        <a:pt x="432" y="288"/>
                      </a:cubicBezTo>
                      <a:cubicBezTo>
                        <a:pt x="584" y="232"/>
                        <a:pt x="832" y="48"/>
                        <a:pt x="912" y="0"/>
                      </a:cubicBezTo>
                    </a:path>
                  </a:pathLst>
                </a:custGeom>
                <a:noFill/>
                <a:ln w="38100" cap="sq">
                  <a:solidFill>
                    <a:srgbClr val="00FF99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5" name="Freeform 7">
                  <a:extLst>
                    <a:ext uri="{FF2B5EF4-FFF2-40B4-BE49-F238E27FC236}">
                      <a16:creationId xmlns:a16="http://schemas.microsoft.com/office/drawing/2014/main" id="{95179E03-836C-4486-B438-B09FF2139B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5707046" y="2522538"/>
                  <a:ext cx="1122371" cy="49206"/>
                </a:xfrm>
                <a:custGeom>
                  <a:avLst/>
                  <a:gdLst>
                    <a:gd name="T0" fmla="*/ 0 w 768"/>
                    <a:gd name="T1" fmla="*/ 0 h 1"/>
                    <a:gd name="T2" fmla="*/ 2147483646 w 768"/>
                    <a:gd name="T3" fmla="*/ 0 h 1"/>
                    <a:gd name="T4" fmla="*/ 0 60000 65536"/>
                    <a:gd name="T5" fmla="*/ 0 60000 65536"/>
                    <a:gd name="T6" fmla="*/ 0 w 768"/>
                    <a:gd name="T7" fmla="*/ 0 h 1"/>
                    <a:gd name="T8" fmla="*/ 768 w 768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68" h="1">
                      <a:moveTo>
                        <a:pt x="0" y="0"/>
                      </a:moveTo>
                      <a:cubicBezTo>
                        <a:pt x="320" y="0"/>
                        <a:pt x="640" y="0"/>
                        <a:pt x="768" y="0"/>
                      </a:cubicBezTo>
                    </a:path>
                  </a:pathLst>
                </a:custGeom>
                <a:noFill/>
                <a:ln w="38100">
                  <a:solidFill>
                    <a:srgbClr val="FFCC66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326" name="Line 8">
                  <a:extLst>
                    <a:ext uri="{FF2B5EF4-FFF2-40B4-BE49-F238E27FC236}">
                      <a16:creationId xmlns:a16="http://schemas.microsoft.com/office/drawing/2014/main" id="{49DB14CC-C0BF-4003-BB06-84D9F0738D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5984" y="4090998"/>
                  <a:ext cx="990600" cy="0"/>
                </a:xfrm>
                <a:prstGeom prst="line">
                  <a:avLst/>
                </a:prstGeom>
                <a:noFill/>
                <a:ln w="38100" cap="sq">
                  <a:solidFill>
                    <a:srgbClr val="00FFFF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27" name="Object 3">
                  <a:extLst>
                    <a:ext uri="{FF2B5EF4-FFF2-40B4-BE49-F238E27FC236}">
                      <a16:creationId xmlns:a16="http://schemas.microsoft.com/office/drawing/2014/main" id="{C1331803-AA1D-461E-8DDB-5017B087F0FA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643042" y="3786190"/>
                <a:ext cx="455352" cy="7413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59" r:id="rId5" imgW="457200" imgH="781016" progId="Equation.3">
                        <p:embed/>
                      </p:oleObj>
                    </mc:Choice>
                    <mc:Fallback>
                      <p:oleObj r:id="rId5" imgW="457200" imgH="781016" progId="Equation.3">
                        <p:embed/>
                        <p:pic>
                          <p:nvPicPr>
                            <p:cNvPr id="13327" name="Object 3">
                              <a:extLst>
                                <a:ext uri="{FF2B5EF4-FFF2-40B4-BE49-F238E27FC236}">
                                  <a16:creationId xmlns:a16="http://schemas.microsoft.com/office/drawing/2014/main" id="{C1331803-AA1D-461E-8DDB-5017B087F0FA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43042" y="3786190"/>
                              <a:ext cx="455352" cy="74137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28" name="Line 10">
                  <a:extLst>
                    <a:ext uri="{FF2B5EF4-FFF2-40B4-BE49-F238E27FC236}">
                      <a16:creationId xmlns:a16="http://schemas.microsoft.com/office/drawing/2014/main" id="{8D235EAA-0B2F-4642-9CFC-2A82CD8DA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5984" y="3357562"/>
                  <a:ext cx="2286000" cy="0"/>
                </a:xfrm>
                <a:prstGeom prst="line">
                  <a:avLst/>
                </a:prstGeom>
                <a:noFill/>
                <a:ln w="12700">
                  <a:solidFill>
                    <a:srgbClr val="FFFFFF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29" name="Object 4">
                  <a:extLst>
                    <a:ext uri="{FF2B5EF4-FFF2-40B4-BE49-F238E27FC236}">
                      <a16:creationId xmlns:a16="http://schemas.microsoft.com/office/drawing/2014/main" id="{5C17F136-AA59-49E9-858F-278E70B4F2F7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643021" y="2984500"/>
                <a:ext cx="448523" cy="7302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0" r:id="rId7" imgW="457200" imgH="781016" progId="Equation.3">
                        <p:embed/>
                      </p:oleObj>
                    </mc:Choice>
                    <mc:Fallback>
                      <p:oleObj r:id="rId7" imgW="457200" imgH="781016" progId="Equation.3">
                        <p:embed/>
                        <p:pic>
                          <p:nvPicPr>
                            <p:cNvPr id="13329" name="Object 4">
                              <a:extLst>
                                <a:ext uri="{FF2B5EF4-FFF2-40B4-BE49-F238E27FC236}">
                                  <a16:creationId xmlns:a16="http://schemas.microsoft.com/office/drawing/2014/main" id="{5C17F136-AA59-49E9-858F-278E70B4F2F7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43021" y="2984500"/>
                              <a:ext cx="448523" cy="7302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30" name="Line 12">
                  <a:extLst>
                    <a:ext uri="{FF2B5EF4-FFF2-40B4-BE49-F238E27FC236}">
                      <a16:creationId xmlns:a16="http://schemas.microsoft.com/office/drawing/2014/main" id="{9C633FFC-DE2D-4D6C-A2E9-3765DF9005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5984" y="2584460"/>
                  <a:ext cx="3429000" cy="0"/>
                </a:xfrm>
                <a:prstGeom prst="line">
                  <a:avLst/>
                </a:prstGeom>
                <a:noFill/>
                <a:ln w="12700">
                  <a:solidFill>
                    <a:srgbClr val="FFFFFF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31" name="Object 5">
                  <a:extLst>
                    <a:ext uri="{FF2B5EF4-FFF2-40B4-BE49-F238E27FC236}">
                      <a16:creationId xmlns:a16="http://schemas.microsoft.com/office/drawing/2014/main" id="{3BF5A067-9DFA-42BB-A8BC-9AA55021E38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676063" y="2168527"/>
                <a:ext cx="423167" cy="6889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1" r:id="rId9" imgW="457200" imgH="781016" progId="Equation.3">
                        <p:embed/>
                      </p:oleObj>
                    </mc:Choice>
                    <mc:Fallback>
                      <p:oleObj r:id="rId9" imgW="457200" imgH="781016" progId="Equation.3">
                        <p:embed/>
                        <p:pic>
                          <p:nvPicPr>
                            <p:cNvPr id="13331" name="Object 5">
                              <a:extLst>
                                <a:ext uri="{FF2B5EF4-FFF2-40B4-BE49-F238E27FC236}">
                                  <a16:creationId xmlns:a16="http://schemas.microsoft.com/office/drawing/2014/main" id="{3BF5A067-9DFA-42BB-A8BC-9AA55021E384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6063" y="2168527"/>
                              <a:ext cx="423167" cy="6889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32" name="Object 6">
                  <a:extLst>
                    <a:ext uri="{FF2B5EF4-FFF2-40B4-BE49-F238E27FC236}">
                      <a16:creationId xmlns:a16="http://schemas.microsoft.com/office/drawing/2014/main" id="{F26F271E-EAC9-4686-8998-7815BEBF0D75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114669" y="5038725"/>
                <a:ext cx="528637" cy="3159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2" r:id="rId11" imgW="485641" imgH="266666" progId="Equation.3">
                        <p:embed/>
                      </p:oleObj>
                    </mc:Choice>
                    <mc:Fallback>
                      <p:oleObj r:id="rId11" imgW="485641" imgH="266666" progId="Equation.3">
                        <p:embed/>
                        <p:pic>
                          <p:nvPicPr>
                            <p:cNvPr id="13332" name="Object 6">
                              <a:extLst>
                                <a:ext uri="{FF2B5EF4-FFF2-40B4-BE49-F238E27FC236}">
                                  <a16:creationId xmlns:a16="http://schemas.microsoft.com/office/drawing/2014/main" id="{F26F271E-EAC9-4686-8998-7815BEBF0D75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14669" y="5038725"/>
                              <a:ext cx="528637" cy="3159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33" name="Line 16">
                  <a:extLst>
                    <a:ext uri="{FF2B5EF4-FFF2-40B4-BE49-F238E27FC236}">
                      <a16:creationId xmlns:a16="http://schemas.microsoft.com/office/drawing/2014/main" id="{F4FF4427-A078-4B62-8411-26CEC39A75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14876" y="3344636"/>
                  <a:ext cx="0" cy="1620000"/>
                </a:xfrm>
                <a:prstGeom prst="line">
                  <a:avLst/>
                </a:prstGeom>
                <a:noFill/>
                <a:ln w="12700">
                  <a:solidFill>
                    <a:srgbClr val="FFFFFF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34" name="Object 7">
                  <a:extLst>
                    <a:ext uri="{FF2B5EF4-FFF2-40B4-BE49-F238E27FC236}">
                      <a16:creationId xmlns:a16="http://schemas.microsoft.com/office/drawing/2014/main" id="{E92702C2-24D4-4C89-B565-44349E1C7BB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4432303" y="5057775"/>
                <a:ext cx="568325" cy="3159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3" r:id="rId13" imgW="523869" imgH="266666" progId="Equation.3">
                        <p:embed/>
                      </p:oleObj>
                    </mc:Choice>
                    <mc:Fallback>
                      <p:oleObj r:id="rId13" imgW="523869" imgH="266666" progId="Equation.3">
                        <p:embed/>
                        <p:pic>
                          <p:nvPicPr>
                            <p:cNvPr id="13334" name="Object 7">
                              <a:extLst>
                                <a:ext uri="{FF2B5EF4-FFF2-40B4-BE49-F238E27FC236}">
                                  <a16:creationId xmlns:a16="http://schemas.microsoft.com/office/drawing/2014/main" id="{E92702C2-24D4-4C89-B565-44349E1C7BB4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32303" y="5057775"/>
                              <a:ext cx="568325" cy="3159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35" name="Line 18">
                  <a:extLst>
                    <a:ext uri="{FF2B5EF4-FFF2-40B4-BE49-F238E27FC236}">
                      <a16:creationId xmlns:a16="http://schemas.microsoft.com/office/drawing/2014/main" id="{77511078-AF6B-4092-9846-522BDDBAB8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00790" y="2566998"/>
                  <a:ext cx="0" cy="2362200"/>
                </a:xfrm>
                <a:prstGeom prst="line">
                  <a:avLst/>
                </a:prstGeom>
                <a:noFill/>
                <a:ln w="12700">
                  <a:solidFill>
                    <a:srgbClr val="FFFFFF"/>
                  </a:solidFill>
                  <a:prstDash val="dash"/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36" name="Object 8">
                  <a:extLst>
                    <a:ext uri="{FF2B5EF4-FFF2-40B4-BE49-F238E27FC236}">
                      <a16:creationId xmlns:a16="http://schemas.microsoft.com/office/drawing/2014/main" id="{A3FDC00D-AD52-499C-8C52-3E55D4184C47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6005504" y="5040326"/>
                <a:ext cx="749300" cy="3175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4" r:id="rId15" imgW="704914" imgH="266666" progId="Equation.3">
                        <p:embed/>
                      </p:oleObj>
                    </mc:Choice>
                    <mc:Fallback>
                      <p:oleObj r:id="rId15" imgW="704914" imgH="266666" progId="Equation.3">
                        <p:embed/>
                        <p:pic>
                          <p:nvPicPr>
                            <p:cNvPr id="13336" name="Object 8">
                              <a:extLst>
                                <a:ext uri="{FF2B5EF4-FFF2-40B4-BE49-F238E27FC236}">
                                  <a16:creationId xmlns:a16="http://schemas.microsoft.com/office/drawing/2014/main" id="{A3FDC00D-AD52-499C-8C52-3E55D4184C47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05504" y="5040326"/>
                              <a:ext cx="749300" cy="3175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37" name="Line 37">
                  <a:extLst>
                    <a:ext uri="{FF2B5EF4-FFF2-40B4-BE49-F238E27FC236}">
                      <a16:creationId xmlns:a16="http://schemas.microsoft.com/office/drawing/2014/main" id="{E7DAEC43-75BD-4744-A8F0-D13ED7339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5984" y="4929198"/>
                  <a:ext cx="4680000" cy="0"/>
                </a:xfrm>
                <a:prstGeom prst="line">
                  <a:avLst/>
                </a:prstGeom>
                <a:noFill/>
                <a:ln w="38100" cap="sq">
                  <a:solidFill>
                    <a:srgbClr val="FFFFFF"/>
                  </a:solidFill>
                  <a:miter lim="800000"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8" name="Line 38">
                  <a:extLst>
                    <a:ext uri="{FF2B5EF4-FFF2-40B4-BE49-F238E27FC236}">
                      <a16:creationId xmlns:a16="http://schemas.microsoft.com/office/drawing/2014/main" id="{795DD7F8-D52F-4940-86B3-FB2F82EA90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85984" y="1881198"/>
                  <a:ext cx="0" cy="3048000"/>
                </a:xfrm>
                <a:prstGeom prst="line">
                  <a:avLst/>
                </a:prstGeom>
                <a:noFill/>
                <a:ln w="38100" cap="sq">
                  <a:solidFill>
                    <a:srgbClr val="FFFFFF"/>
                  </a:solidFill>
                  <a:miter lim="800000"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39" name="Object 12">
                  <a:extLst>
                    <a:ext uri="{FF2B5EF4-FFF2-40B4-BE49-F238E27FC236}">
                      <a16:creationId xmlns:a16="http://schemas.microsoft.com/office/drawing/2014/main" id="{0EAB64C9-EAF2-40E4-A156-A909C9DFD6E0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2471700" y="1682748"/>
                <a:ext cx="417512" cy="4302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5" r:id="rId17" imgW="371571" imgH="380864" progId="Equation.3">
                        <p:embed/>
                      </p:oleObj>
                    </mc:Choice>
                    <mc:Fallback>
                      <p:oleObj r:id="rId17" imgW="371571" imgH="380864" progId="Equation.3">
                        <p:embed/>
                        <p:pic>
                          <p:nvPicPr>
                            <p:cNvPr id="13339" name="Object 12">
                              <a:extLst>
                                <a:ext uri="{FF2B5EF4-FFF2-40B4-BE49-F238E27FC236}">
                                  <a16:creationId xmlns:a16="http://schemas.microsoft.com/office/drawing/2014/main" id="{0EAB64C9-EAF2-40E4-A156-A909C9DFD6E0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1700" y="1682748"/>
                              <a:ext cx="417512" cy="4302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40" name="Object 13">
                  <a:extLst>
                    <a:ext uri="{FF2B5EF4-FFF2-40B4-BE49-F238E27FC236}">
                      <a16:creationId xmlns:a16="http://schemas.microsoft.com/office/drawing/2014/main" id="{61CEF8F2-25AB-4CF1-B805-F5A13B796E5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7059636" y="4786322"/>
                <a:ext cx="798512" cy="392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6" r:id="rId19" imgW="752622" imgH="342900" progId="Equation.3">
                        <p:embed/>
                      </p:oleObj>
                    </mc:Choice>
                    <mc:Fallback>
                      <p:oleObj r:id="rId19" imgW="752622" imgH="342900" progId="Equation.3">
                        <p:embed/>
                        <p:pic>
                          <p:nvPicPr>
                            <p:cNvPr id="13340" name="Object 13">
                              <a:extLst>
                                <a:ext uri="{FF2B5EF4-FFF2-40B4-BE49-F238E27FC236}">
                                  <a16:creationId xmlns:a16="http://schemas.microsoft.com/office/drawing/2014/main" id="{61CEF8F2-25AB-4CF1-B805-F5A13B796E5B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59636" y="4786322"/>
                              <a:ext cx="798512" cy="39211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41" name="Object 14">
                  <a:extLst>
                    <a:ext uri="{FF2B5EF4-FFF2-40B4-BE49-F238E27FC236}">
                      <a16:creationId xmlns:a16="http://schemas.microsoft.com/office/drawing/2014/main" id="{44EA206A-AAFC-4C33-8890-7E9DE079F15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2071670" y="5057775"/>
                <a:ext cx="392113" cy="3159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6867" r:id="rId21" imgW="342824" imgH="266666" progId="Equation.3">
                        <p:embed/>
                      </p:oleObj>
                    </mc:Choice>
                    <mc:Fallback>
                      <p:oleObj r:id="rId21" imgW="342824" imgH="266666" progId="Equation.3">
                        <p:embed/>
                        <p:pic>
                          <p:nvPicPr>
                            <p:cNvPr id="13341" name="Object 14">
                              <a:extLst>
                                <a:ext uri="{FF2B5EF4-FFF2-40B4-BE49-F238E27FC236}">
                                  <a16:creationId xmlns:a16="http://schemas.microsoft.com/office/drawing/2014/main" id="{44EA206A-AAFC-4C33-8890-7E9DE079F154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71670" y="5057775"/>
                              <a:ext cx="392113" cy="3159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3320" name="Object 15">
              <a:extLst>
                <a:ext uri="{FF2B5EF4-FFF2-40B4-BE49-F238E27FC236}">
                  <a16:creationId xmlns:a16="http://schemas.microsoft.com/office/drawing/2014/main" id="{FF28730A-6DE9-47DC-8428-91BC83B3AF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89288" y="5572125"/>
            <a:ext cx="2740025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68" r:id="rId23" imgW="1209822" imgH="180941" progId="Equation.3">
                    <p:embed/>
                  </p:oleObj>
                </mc:Choice>
                <mc:Fallback>
                  <p:oleObj r:id="rId23" imgW="1209822" imgH="180941" progId="Equation.3">
                    <p:embed/>
                    <p:pic>
                      <p:nvPicPr>
                        <p:cNvPr id="13320" name="Object 15">
                          <a:extLst>
                            <a:ext uri="{FF2B5EF4-FFF2-40B4-BE49-F238E27FC236}">
                              <a16:creationId xmlns:a16="http://schemas.microsoft.com/office/drawing/2014/main" id="{FF28730A-6DE9-47DC-8428-91BC83B3AF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288" y="5572125"/>
                          <a:ext cx="2740025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43" name="Text Box 43">
            <a:extLst>
              <a:ext uri="{FF2B5EF4-FFF2-40B4-BE49-F238E27FC236}">
                <a16:creationId xmlns:a16="http://schemas.microsoft.com/office/drawing/2014/main" id="{889EB06B-FE53-47AA-AF5F-C6508832E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428625"/>
            <a:ext cx="1373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66FFFF"/>
              </a:buClr>
            </a:pPr>
            <a:r>
              <a:rPr lang="zh-CN" altLang="en-US">
                <a:solidFill>
                  <a:srgbClr val="FFFF00"/>
                </a:solidFill>
              </a:rPr>
              <a:t>注意：</a:t>
            </a:r>
          </a:p>
        </p:txBody>
      </p:sp>
      <p:sp>
        <p:nvSpPr>
          <p:cNvPr id="512044" name="Text Box 44">
            <a:extLst>
              <a:ext uri="{FF2B5EF4-FFF2-40B4-BE49-F238E27FC236}">
                <a16:creationId xmlns:a16="http://schemas.microsoft.com/office/drawing/2014/main" id="{D8D2C775-E8DD-4C25-809B-AA7593D13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1757363"/>
            <a:ext cx="3889375" cy="461962"/>
          </a:xfrm>
          <a:prstGeom prst="rect">
            <a:avLst/>
          </a:prstGeom>
          <a:solidFill>
            <a:srgbClr val="969696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自由度“解冻”或“冻结” </a:t>
            </a:r>
          </a:p>
        </p:txBody>
      </p:sp>
      <p:sp>
        <p:nvSpPr>
          <p:cNvPr id="13318" name="灯片编号占位符 1">
            <a:extLst>
              <a:ext uri="{FF2B5EF4-FFF2-40B4-BE49-F238E27FC236}">
                <a16:creationId xmlns:a16="http://schemas.microsoft.com/office/drawing/2014/main" id="{4EED6AD9-C8E0-478B-BA82-A84875EF7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E60CDC-E0D0-426C-91AF-30CBD8D52A2A}" type="slidenum">
              <a:rPr lang="en-US" altLang="zh-CN" b="0">
                <a:solidFill>
                  <a:srgbClr val="FF00FF"/>
                </a:solidFill>
              </a:rPr>
              <a:pPr eaLnBrk="1" hangingPunct="1"/>
              <a:t>24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3" grpId="0"/>
      <p:bldP spid="51204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EFBF8B0-1472-42EA-9FF6-441B11B0B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414338"/>
            <a:ext cx="745331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</a:rPr>
              <a:t>若盛有某种理想气体的容器漏气，当气体的压强和分</a:t>
            </a:r>
            <a:endParaRPr lang="en-US" altLang="zh-CN">
              <a:solidFill>
                <a:srgbClr val="FFFFFF"/>
              </a:solidFill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</a:rPr>
              <a:t>子数密度各减为原来的一半时</a:t>
            </a:r>
            <a:endParaRPr lang="zh-CN" altLang="en-US">
              <a:solidFill>
                <a:srgbClr val="66FFFF"/>
              </a:solidFill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2E7C733-D580-4892-B3BF-82320259E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330325"/>
            <a:ext cx="7170737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5000"/>
              </a:lnSpc>
            </a:pPr>
            <a:r>
              <a:rPr lang="zh-CN" altLang="en-US">
                <a:solidFill>
                  <a:schemeClr val="bg1"/>
                </a:solidFill>
              </a:rPr>
              <a:t>问</a:t>
            </a:r>
            <a:r>
              <a:rPr lang="zh-CN" altLang="en-US">
                <a:solidFill>
                  <a:srgbClr val="FFFFFF"/>
                </a:solidFill>
              </a:rPr>
              <a:t>气体的</a:t>
            </a:r>
            <a:r>
              <a:rPr lang="zh-CN" altLang="en-US">
                <a:solidFill>
                  <a:srgbClr val="FFFF00"/>
                </a:solidFill>
              </a:rPr>
              <a:t>内能</a:t>
            </a:r>
            <a:r>
              <a:rPr lang="zh-CN" altLang="en-US">
                <a:solidFill>
                  <a:srgbClr val="FFFFFF"/>
                </a:solidFill>
              </a:rPr>
              <a:t>及气体分子的</a:t>
            </a:r>
            <a:r>
              <a:rPr lang="zh-CN" altLang="en-US">
                <a:solidFill>
                  <a:srgbClr val="FFFF00"/>
                </a:solidFill>
              </a:rPr>
              <a:t>平均总动能</a:t>
            </a:r>
            <a:r>
              <a:rPr lang="zh-CN" altLang="en-US">
                <a:solidFill>
                  <a:srgbClr val="FFFFFF"/>
                </a:solidFill>
              </a:rPr>
              <a:t>是否改变？  （漏气前后气体均处于平衡态）</a:t>
            </a:r>
            <a:endParaRPr lang="zh-CN" altLang="en-US" b="0"/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8F77354B-BA66-4DE8-8BFF-B2719FD3B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2636838"/>
            <a:ext cx="80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en-US" altLang="zh-CN">
                <a:solidFill>
                  <a:srgbClr val="FFFF00"/>
                </a:solidFill>
              </a:rPr>
              <a:t>: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5BD9E695-8B5B-437B-8127-393452423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286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graphicFrame>
        <p:nvGraphicFramePr>
          <p:cNvPr id="32775" name="Object 2">
            <a:extLst>
              <a:ext uri="{FF2B5EF4-FFF2-40B4-BE49-F238E27FC236}">
                <a16:creationId xmlns:a16="http://schemas.microsoft.com/office/drawing/2014/main" id="{EE0B2C41-8E8E-4978-A98E-9F15258E6502}"/>
              </a:ext>
            </a:extLst>
          </p:cNvPr>
          <p:cNvGraphicFramePr>
            <a:graphicFrameLocks/>
          </p:cNvGraphicFramePr>
          <p:nvPr/>
        </p:nvGraphicFramePr>
        <p:xfrm>
          <a:off x="3914775" y="2406650"/>
          <a:ext cx="11572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0" r:id="rId3" imgW="438239" imgH="342900" progId="Equation.3">
                  <p:embed/>
                </p:oleObj>
              </mc:Choice>
              <mc:Fallback>
                <p:oleObj r:id="rId3" imgW="438239" imgH="342900" progId="Equation.3">
                  <p:embed/>
                  <p:pic>
                    <p:nvPicPr>
                      <p:cNvPr id="32775" name="Object 2">
                        <a:extLst>
                          <a:ext uri="{FF2B5EF4-FFF2-40B4-BE49-F238E27FC236}">
                            <a16:creationId xmlns:a16="http://schemas.microsoft.com/office/drawing/2014/main" id="{EE0B2C41-8E8E-4978-A98E-9F15258E65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2406650"/>
                        <a:ext cx="11572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3">
            <a:extLst>
              <a:ext uri="{FF2B5EF4-FFF2-40B4-BE49-F238E27FC236}">
                <a16:creationId xmlns:a16="http://schemas.microsoft.com/office/drawing/2014/main" id="{3D96419B-4FD3-486D-8D08-2E7141B5C31A}"/>
              </a:ext>
            </a:extLst>
          </p:cNvPr>
          <p:cNvGraphicFramePr>
            <a:graphicFrameLocks/>
          </p:cNvGraphicFramePr>
          <p:nvPr/>
        </p:nvGraphicFramePr>
        <p:xfrm>
          <a:off x="1428750" y="2657475"/>
          <a:ext cx="1295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1" r:id="rId5" imgW="495427" imgH="152468" progId="Equation.3">
                  <p:embed/>
                </p:oleObj>
              </mc:Choice>
              <mc:Fallback>
                <p:oleObj r:id="rId5" imgW="495427" imgH="152468" progId="Equation.3">
                  <p:embed/>
                  <p:pic>
                    <p:nvPicPr>
                      <p:cNvPr id="32778" name="Object 3">
                        <a:extLst>
                          <a:ext uri="{FF2B5EF4-FFF2-40B4-BE49-F238E27FC236}">
                            <a16:creationId xmlns:a16="http://schemas.microsoft.com/office/drawing/2014/main" id="{3D96419B-4FD3-486D-8D08-2E7141B5C3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657475"/>
                        <a:ext cx="1295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4">
            <a:extLst>
              <a:ext uri="{FF2B5EF4-FFF2-40B4-BE49-F238E27FC236}">
                <a16:creationId xmlns:a16="http://schemas.microsoft.com/office/drawing/2014/main" id="{9BE8271B-19FE-4E13-895D-D6E4D44A1B5F}"/>
              </a:ext>
            </a:extLst>
          </p:cNvPr>
          <p:cNvGraphicFramePr>
            <a:graphicFrameLocks/>
          </p:cNvGraphicFramePr>
          <p:nvPr/>
        </p:nvGraphicFramePr>
        <p:xfrm>
          <a:off x="6323013" y="2622550"/>
          <a:ext cx="12493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2" r:id="rId7" imgW="476161" imgH="171450" progId="Equation.3">
                  <p:embed/>
                </p:oleObj>
              </mc:Choice>
              <mc:Fallback>
                <p:oleObj r:id="rId7" imgW="476161" imgH="171450" progId="Equation.3">
                  <p:embed/>
                  <p:pic>
                    <p:nvPicPr>
                      <p:cNvPr id="32780" name="Object 4">
                        <a:extLst>
                          <a:ext uri="{FF2B5EF4-FFF2-40B4-BE49-F238E27FC236}">
                            <a16:creationId xmlns:a16="http://schemas.microsoft.com/office/drawing/2014/main" id="{9BE8271B-19FE-4E13-895D-D6E4D44A1B5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2622550"/>
                        <a:ext cx="12493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5">
            <a:extLst>
              <a:ext uri="{FF2B5EF4-FFF2-40B4-BE49-F238E27FC236}">
                <a16:creationId xmlns:a16="http://schemas.microsoft.com/office/drawing/2014/main" id="{D3229A0D-5E62-413F-8DE4-DC1874AC308F}"/>
              </a:ext>
            </a:extLst>
          </p:cNvPr>
          <p:cNvGraphicFramePr>
            <a:graphicFrameLocks/>
          </p:cNvGraphicFramePr>
          <p:nvPr/>
        </p:nvGraphicFramePr>
        <p:xfrm>
          <a:off x="1431925" y="3571875"/>
          <a:ext cx="19970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3" r:id="rId9" imgW="781063" imgH="342900" progId="Equation.3">
                  <p:embed/>
                </p:oleObj>
              </mc:Choice>
              <mc:Fallback>
                <p:oleObj r:id="rId9" imgW="781063" imgH="342900" progId="Equation.3">
                  <p:embed/>
                  <p:pic>
                    <p:nvPicPr>
                      <p:cNvPr id="32781" name="Object 5">
                        <a:extLst>
                          <a:ext uri="{FF2B5EF4-FFF2-40B4-BE49-F238E27FC236}">
                            <a16:creationId xmlns:a16="http://schemas.microsoft.com/office/drawing/2014/main" id="{D3229A0D-5E62-413F-8DE4-DC1874AC30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3571875"/>
                        <a:ext cx="199707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6">
            <a:extLst>
              <a:ext uri="{FF2B5EF4-FFF2-40B4-BE49-F238E27FC236}">
                <a16:creationId xmlns:a16="http://schemas.microsoft.com/office/drawing/2014/main" id="{D06B2DBC-F6B5-43BC-9789-A819921293FB}"/>
              </a:ext>
            </a:extLst>
          </p:cNvPr>
          <p:cNvGraphicFramePr>
            <a:graphicFrameLocks/>
          </p:cNvGraphicFramePr>
          <p:nvPr/>
        </p:nvGraphicFramePr>
        <p:xfrm>
          <a:off x="4286250" y="3786188"/>
          <a:ext cx="7683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4" r:id="rId11" imgW="266675" imgH="180941" progId="Equation.3">
                  <p:embed/>
                </p:oleObj>
              </mc:Choice>
              <mc:Fallback>
                <p:oleObj r:id="rId11" imgW="266675" imgH="180941" progId="Equation.3">
                  <p:embed/>
                  <p:pic>
                    <p:nvPicPr>
                      <p:cNvPr id="32782" name="Object 6">
                        <a:extLst>
                          <a:ext uri="{FF2B5EF4-FFF2-40B4-BE49-F238E27FC236}">
                            <a16:creationId xmlns:a16="http://schemas.microsoft.com/office/drawing/2014/main" id="{D06B2DBC-F6B5-43BC-9789-A819921293F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3786188"/>
                        <a:ext cx="7683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7">
            <a:extLst>
              <a:ext uri="{FF2B5EF4-FFF2-40B4-BE49-F238E27FC236}">
                <a16:creationId xmlns:a16="http://schemas.microsoft.com/office/drawing/2014/main" id="{6B152796-F416-4598-B2AE-5E47CB4B03EB}"/>
              </a:ext>
            </a:extLst>
          </p:cNvPr>
          <p:cNvGraphicFramePr>
            <a:graphicFrameLocks/>
          </p:cNvGraphicFramePr>
          <p:nvPr/>
        </p:nvGraphicFramePr>
        <p:xfrm>
          <a:off x="6373813" y="3786188"/>
          <a:ext cx="7064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5" r:id="rId13" imgW="247714" imgH="180941" progId="Equation.3">
                  <p:embed/>
                </p:oleObj>
              </mc:Choice>
              <mc:Fallback>
                <p:oleObj r:id="rId13" imgW="247714" imgH="180941" progId="Equation.3">
                  <p:embed/>
                  <p:pic>
                    <p:nvPicPr>
                      <p:cNvPr id="32784" name="Object 7">
                        <a:extLst>
                          <a:ext uri="{FF2B5EF4-FFF2-40B4-BE49-F238E27FC236}">
                            <a16:creationId xmlns:a16="http://schemas.microsoft.com/office/drawing/2014/main" id="{6B152796-F416-4598-B2AE-5E47CB4B03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813" y="3786188"/>
                        <a:ext cx="7064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785" name="Object 8">
                <a:extLst>
                  <a:ext uri="{FF2B5EF4-FFF2-40B4-BE49-F238E27FC236}">
                    <a16:creationId xmlns:a16="http://schemas.microsoft.com/office/drawing/2014/main" id="{7A5F9B51-521D-4EE1-B3F8-E24E50620495}"/>
                  </a:ext>
                </a:extLst>
              </p:cNvPr>
              <p:cNvSpPr txBox="1"/>
              <p:nvPr/>
            </p:nvSpPr>
            <p:spPr bwMode="auto">
              <a:xfrm>
                <a:off x="1115617" y="4853905"/>
                <a:ext cx="1762522" cy="109537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30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zh-CN" altLang="en-US" sz="30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bar>
                      <m:r>
                        <a:rPr lang="zh-CN" altLang="en-US" sz="3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3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sz="3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3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3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3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2785" name="Object 8">
                <a:extLst>
                  <a:ext uri="{FF2B5EF4-FFF2-40B4-BE49-F238E27FC236}">
                    <a16:creationId xmlns:a16="http://schemas.microsoft.com/office/drawing/2014/main" id="{7A5F9B51-521D-4EE1-B3F8-E24E50620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7" y="4853905"/>
                <a:ext cx="1762522" cy="10953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787" name="Object 9">
            <a:extLst>
              <a:ext uri="{FF2B5EF4-FFF2-40B4-BE49-F238E27FC236}">
                <a16:creationId xmlns:a16="http://schemas.microsoft.com/office/drawing/2014/main" id="{AFC8997D-212A-4CD4-AFF4-763FC9C617E4}"/>
              </a:ext>
            </a:extLst>
          </p:cNvPr>
          <p:cNvGraphicFramePr>
            <a:graphicFrameLocks/>
          </p:cNvGraphicFramePr>
          <p:nvPr/>
        </p:nvGraphicFramePr>
        <p:xfrm>
          <a:off x="4197350" y="5153025"/>
          <a:ext cx="10175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56" r:id="rId16" imgW="371571" imgH="180941" progId="Equation.3">
                  <p:embed/>
                </p:oleObj>
              </mc:Choice>
              <mc:Fallback>
                <p:oleObj r:id="rId16" imgW="371571" imgH="180941" progId="Equation.3">
                  <p:embed/>
                  <p:pic>
                    <p:nvPicPr>
                      <p:cNvPr id="32787" name="Object 9">
                        <a:extLst>
                          <a:ext uri="{FF2B5EF4-FFF2-40B4-BE49-F238E27FC236}">
                            <a16:creationId xmlns:a16="http://schemas.microsoft.com/office/drawing/2014/main" id="{AFC8997D-212A-4CD4-AFF4-763FC9C617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5153025"/>
                        <a:ext cx="10175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9" name="AutoShape 21">
            <a:extLst>
              <a:ext uri="{FF2B5EF4-FFF2-40B4-BE49-F238E27FC236}">
                <a16:creationId xmlns:a16="http://schemas.microsoft.com/office/drawing/2014/main" id="{326EED08-C03C-433F-A585-549F443DC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2781300"/>
            <a:ext cx="714375" cy="147638"/>
          </a:xfrm>
          <a:prstGeom prst="rightArrow">
            <a:avLst>
              <a:gd name="adj1" fmla="val 50000"/>
              <a:gd name="adj2" fmla="val 1510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790" name="AutoShape 22">
            <a:extLst>
              <a:ext uri="{FF2B5EF4-FFF2-40B4-BE49-F238E27FC236}">
                <a16:creationId xmlns:a16="http://schemas.microsoft.com/office/drawing/2014/main" id="{9E980CB6-502C-484C-B5DD-B79322835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013200"/>
            <a:ext cx="720725" cy="144463"/>
          </a:xfrm>
          <a:prstGeom prst="rightArrow">
            <a:avLst>
              <a:gd name="adj1" fmla="val 50000"/>
              <a:gd name="adj2" fmla="val 124702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791" name="AutoShape 23">
            <a:extLst>
              <a:ext uri="{FF2B5EF4-FFF2-40B4-BE49-F238E27FC236}">
                <a16:creationId xmlns:a16="http://schemas.microsoft.com/office/drawing/2014/main" id="{087E50C4-C155-4BE6-B34B-4871CDDCA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5372100"/>
            <a:ext cx="720725" cy="144463"/>
          </a:xfrm>
          <a:prstGeom prst="rightArrow">
            <a:avLst>
              <a:gd name="adj1" fmla="val 50000"/>
              <a:gd name="adj2" fmla="val 124725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B03E5521-EBE4-49E2-AB77-78BFD5C00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786063"/>
            <a:ext cx="714375" cy="147637"/>
          </a:xfrm>
          <a:prstGeom prst="rightArrow">
            <a:avLst>
              <a:gd name="adj1" fmla="val 50000"/>
              <a:gd name="adj2" fmla="val 15107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356" name="灯片编号占位符 1">
            <a:extLst>
              <a:ext uri="{FF2B5EF4-FFF2-40B4-BE49-F238E27FC236}">
                <a16:creationId xmlns:a16="http://schemas.microsoft.com/office/drawing/2014/main" id="{2C2C8AE8-A719-4076-AAEF-53EF8EE4E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03B68D-FEA2-4DD5-8021-D50B7788A746}" type="slidenum">
              <a:rPr lang="en-US" altLang="zh-CN" b="0">
                <a:solidFill>
                  <a:srgbClr val="FF00FF"/>
                </a:solidFill>
              </a:rPr>
              <a:pPr eaLnBrk="1" hangingPunct="1"/>
              <a:t>25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/>
      <p:bldP spid="32772" grpId="0"/>
      <p:bldP spid="32773" grpId="0"/>
      <p:bldP spid="3278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15D2B21-A6D6-46B5-A33B-D1B3D738C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479425"/>
            <a:ext cx="7881937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600"/>
              </a:lnSpc>
            </a:pPr>
            <a:r>
              <a:rPr lang="zh-CN" altLang="en-US">
                <a:solidFill>
                  <a:srgbClr val="FFFFFF"/>
                </a:solidFill>
              </a:rPr>
              <a:t>容器内有某一理想气体的温度</a:t>
            </a:r>
            <a:r>
              <a:rPr lang="en-US" altLang="zh-CN">
                <a:solidFill>
                  <a:srgbClr val="66FFFF"/>
                </a:solidFill>
              </a:rPr>
              <a:t>273K</a:t>
            </a:r>
            <a:r>
              <a:rPr lang="zh-CN" altLang="en-US">
                <a:solidFill>
                  <a:srgbClr val="FFFFFF"/>
                </a:solidFill>
              </a:rPr>
              <a:t>，密度为</a:t>
            </a:r>
            <a:r>
              <a:rPr lang="en-US" altLang="zh-CN" sz="2800" i="1">
                <a:solidFill>
                  <a:srgbClr val="66FFFF"/>
                </a:solidFill>
              </a:rPr>
              <a:t>ρ</a:t>
            </a:r>
            <a:r>
              <a:rPr lang="en-US" altLang="zh-CN">
                <a:solidFill>
                  <a:srgbClr val="66FFFF"/>
                </a:solidFill>
              </a:rPr>
              <a:t>= 1.25 g/m</a:t>
            </a:r>
            <a:r>
              <a:rPr lang="en-US" altLang="zh-CN" baseline="30000">
                <a:solidFill>
                  <a:srgbClr val="66FFFF"/>
                </a:solidFill>
              </a:rPr>
              <a:t>3</a:t>
            </a:r>
            <a:r>
              <a:rPr lang="zh-CN" altLang="en-US">
                <a:solidFill>
                  <a:srgbClr val="66FFFF"/>
                </a:solidFill>
              </a:rPr>
              <a:t>，</a:t>
            </a:r>
            <a:r>
              <a:rPr lang="zh-CN" altLang="en-US">
                <a:solidFill>
                  <a:srgbClr val="FFFFFF"/>
                </a:solidFill>
              </a:rPr>
              <a:t>压强为</a:t>
            </a:r>
            <a:r>
              <a:rPr lang="zh-CN" altLang="en-US" sz="3600" i="1">
                <a:solidFill>
                  <a:srgbClr val="FFFFFF"/>
                </a:solidFill>
              </a:rPr>
              <a:t> </a:t>
            </a:r>
            <a:r>
              <a:rPr lang="en-US" altLang="zh-CN" sz="2800" i="1">
                <a:solidFill>
                  <a:srgbClr val="66FFFF"/>
                </a:solidFill>
              </a:rPr>
              <a:t>p</a:t>
            </a:r>
            <a:r>
              <a:rPr lang="en-US" altLang="zh-CN" sz="3200" i="1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= 1.0×10</a:t>
            </a:r>
            <a:r>
              <a:rPr lang="en-US" altLang="zh-CN" sz="2800" baseline="3000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aseline="30000">
                <a:solidFill>
                  <a:srgbClr val="66FFFF"/>
                </a:solidFill>
              </a:rPr>
              <a:t>3  </a:t>
            </a:r>
            <a:r>
              <a:rPr lang="en-US" altLang="zh-CN">
                <a:solidFill>
                  <a:srgbClr val="66FFFF"/>
                </a:solidFill>
              </a:rPr>
              <a:t>atm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A51C757-6FF0-445F-8AF9-06198261B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63" y="1428750"/>
            <a:ext cx="7813675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rgbClr val="FFFFFF"/>
                </a:solidFill>
              </a:rPr>
              <a:t>气体的摩尔质量，是何种气体？</a:t>
            </a:r>
          </a:p>
          <a:p>
            <a:pPr algn="just">
              <a:lnSpc>
                <a:spcPct val="15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rgbClr val="FFFFFF"/>
                </a:solidFill>
              </a:rPr>
              <a:t>气体分子的平均平动动能和平均转动动能？</a:t>
            </a:r>
          </a:p>
          <a:p>
            <a:pPr algn="just">
              <a:lnSpc>
                <a:spcPct val="155000"/>
              </a:lnSpc>
            </a:pPr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rgbClr val="FFFFFF"/>
                </a:solidFill>
              </a:rPr>
              <a:t>单位体积内气体分子的总平动动能？</a:t>
            </a:r>
          </a:p>
          <a:p>
            <a:pPr algn="just">
              <a:lnSpc>
                <a:spcPct val="155000"/>
              </a:lnSpc>
            </a:pPr>
            <a:r>
              <a:rPr lang="en-US" altLang="zh-CN">
                <a:solidFill>
                  <a:schemeClr val="bg1"/>
                </a:solidFill>
              </a:rPr>
              <a:t>(4) </a:t>
            </a:r>
            <a:r>
              <a:rPr lang="zh-CN" altLang="en-US">
                <a:solidFill>
                  <a:srgbClr val="FFFFFF"/>
                </a:solidFill>
              </a:rPr>
              <a:t>设该气体有</a:t>
            </a:r>
            <a:r>
              <a:rPr lang="en-US" altLang="zh-CN">
                <a:solidFill>
                  <a:srgbClr val="66FFFF"/>
                </a:solidFill>
              </a:rPr>
              <a:t>0.3 mol</a:t>
            </a:r>
            <a:r>
              <a:rPr lang="zh-CN" altLang="en-US">
                <a:solidFill>
                  <a:srgbClr val="FFFFFF"/>
                </a:solidFill>
              </a:rPr>
              <a:t>，气体的内能？</a:t>
            </a:r>
            <a:endParaRPr lang="zh-CN" altLang="en-US" b="0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CC279C1-DF11-41DB-8FA3-14EC1C4B6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39417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3A028C9B-64FB-4DFF-B204-EECB796DE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6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614C8F81-8255-4B44-A91F-E25D3C2B2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716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aphicFrame>
        <p:nvGraphicFramePr>
          <p:cNvPr id="18439" name="Object 2">
            <a:extLst>
              <a:ext uri="{FF2B5EF4-FFF2-40B4-BE49-F238E27FC236}">
                <a16:creationId xmlns:a16="http://schemas.microsoft.com/office/drawing/2014/main" id="{170A5C1D-A681-4DC7-9352-0765C8CE4CE2}"/>
              </a:ext>
            </a:extLst>
          </p:cNvPr>
          <p:cNvGraphicFramePr>
            <a:graphicFrameLocks/>
          </p:cNvGraphicFramePr>
          <p:nvPr/>
        </p:nvGraphicFramePr>
        <p:xfrm>
          <a:off x="1214438" y="4786313"/>
          <a:ext cx="71469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42" r:id="rId3" imgW="7115194" imgH="905011" progId="Equation.3">
                  <p:embed/>
                </p:oleObj>
              </mc:Choice>
              <mc:Fallback>
                <p:oleObj r:id="rId3" imgW="7115194" imgH="905011" progId="Equation.3">
                  <p:embed/>
                  <p:pic>
                    <p:nvPicPr>
                      <p:cNvPr id="18439" name="Object 2">
                        <a:extLst>
                          <a:ext uri="{FF2B5EF4-FFF2-40B4-BE49-F238E27FC236}">
                            <a16:creationId xmlns:a16="http://schemas.microsoft.com/office/drawing/2014/main" id="{170A5C1D-A681-4DC7-9352-0765C8CE4C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786313"/>
                        <a:ext cx="71469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8">
            <a:extLst>
              <a:ext uri="{FF2B5EF4-FFF2-40B4-BE49-F238E27FC236}">
                <a16:creationId xmlns:a16="http://schemas.microsoft.com/office/drawing/2014/main" id="{1BBDBE93-0982-4946-B533-71AED91BA66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14438" y="5905500"/>
            <a:ext cx="7097712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</a:rPr>
              <a:t>由结果可知，这是</a:t>
            </a:r>
            <a:r>
              <a:rPr lang="en-US" altLang="zh-CN" sz="2800">
                <a:solidFill>
                  <a:srgbClr val="66FFFF"/>
                </a:solidFill>
              </a:rPr>
              <a:t>N</a:t>
            </a:r>
            <a:r>
              <a:rPr lang="en-US" altLang="zh-CN" sz="2800" baseline="-25000">
                <a:solidFill>
                  <a:srgbClr val="66FFFF"/>
                </a:solidFill>
              </a:rPr>
              <a:t>2</a:t>
            </a:r>
            <a:r>
              <a:rPr lang="en-US" altLang="zh-CN" baseline="-25000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或</a:t>
            </a:r>
            <a:r>
              <a:rPr lang="en-US" altLang="zh-CN" sz="2800">
                <a:solidFill>
                  <a:srgbClr val="66FFFF"/>
                </a:solidFill>
              </a:rPr>
              <a:t>CO</a:t>
            </a:r>
            <a:r>
              <a:rPr lang="zh-CN" altLang="en-US">
                <a:solidFill>
                  <a:schemeClr val="bg1"/>
                </a:solidFill>
              </a:rPr>
              <a:t>气体</a:t>
            </a:r>
            <a:r>
              <a:rPr lang="zh-CN" altLang="en-US">
                <a:solidFill>
                  <a:srgbClr val="FF9900"/>
                </a:solidFill>
              </a:rPr>
              <a:t> 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5BBFC323-E363-4D59-BACC-6BE7CC94B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952875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由                          </a:t>
            </a:r>
          </a:p>
        </p:txBody>
      </p:sp>
      <p:graphicFrame>
        <p:nvGraphicFramePr>
          <p:cNvPr id="18442" name="Object 3">
            <a:extLst>
              <a:ext uri="{FF2B5EF4-FFF2-40B4-BE49-F238E27FC236}">
                <a16:creationId xmlns:a16="http://schemas.microsoft.com/office/drawing/2014/main" id="{94E73B31-4C82-4526-AA46-891415C13CC2}"/>
              </a:ext>
            </a:extLst>
          </p:cNvPr>
          <p:cNvGraphicFramePr>
            <a:graphicFrameLocks/>
          </p:cNvGraphicFramePr>
          <p:nvPr/>
        </p:nvGraphicFramePr>
        <p:xfrm>
          <a:off x="1644650" y="3786188"/>
          <a:ext cx="17748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43" r:id="rId5" imgW="1733690" imgH="781016" progId="Equation.3">
                  <p:embed/>
                </p:oleObj>
              </mc:Choice>
              <mc:Fallback>
                <p:oleObj r:id="rId5" imgW="1733690" imgH="781016" progId="Equation.3">
                  <p:embed/>
                  <p:pic>
                    <p:nvPicPr>
                      <p:cNvPr id="18442" name="Object 3">
                        <a:extLst>
                          <a:ext uri="{FF2B5EF4-FFF2-40B4-BE49-F238E27FC236}">
                            <a16:creationId xmlns:a16="http://schemas.microsoft.com/office/drawing/2014/main" id="{94E73B31-4C82-4526-AA46-891415C13C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3786188"/>
                        <a:ext cx="17748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21">
            <a:extLst>
              <a:ext uri="{FF2B5EF4-FFF2-40B4-BE49-F238E27FC236}">
                <a16:creationId xmlns:a16="http://schemas.microsoft.com/office/drawing/2014/main" id="{81C59BDA-FC06-4752-BE36-1E1989608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143375"/>
            <a:ext cx="714375" cy="147638"/>
          </a:xfrm>
          <a:prstGeom prst="rightArrow">
            <a:avLst>
              <a:gd name="adj1" fmla="val 50000"/>
              <a:gd name="adj2" fmla="val 15107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B1EA6397-D80B-4CE1-B30B-13BC2E70F172}"/>
              </a:ext>
            </a:extLst>
          </p:cNvPr>
          <p:cNvGraphicFramePr>
            <a:graphicFrameLocks/>
          </p:cNvGraphicFramePr>
          <p:nvPr/>
        </p:nvGraphicFramePr>
        <p:xfrm>
          <a:off x="4500563" y="3786188"/>
          <a:ext cx="16557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44" r:id="rId7" imgW="762102" imgH="371373" progId="Equation.3">
                  <p:embed/>
                </p:oleObj>
              </mc:Choice>
              <mc:Fallback>
                <p:oleObj r:id="rId7" imgW="762102" imgH="371373" progId="Equation.3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B1EA6397-D80B-4CE1-B30B-13BC2E70F17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786188"/>
                        <a:ext cx="16557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灯片编号占位符 1">
            <a:extLst>
              <a:ext uri="{FF2B5EF4-FFF2-40B4-BE49-F238E27FC236}">
                <a16:creationId xmlns:a16="http://schemas.microsoft.com/office/drawing/2014/main" id="{88EDAED3-5242-4C81-A182-F31783ED0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22C600-4FBA-4A8F-814E-D684ADC6DD0B}" type="slidenum">
              <a:rPr lang="en-US" altLang="zh-CN" b="0">
                <a:solidFill>
                  <a:srgbClr val="FF00FF"/>
                </a:solidFill>
              </a:rPr>
              <a:pPr eaLnBrk="1" hangingPunct="1"/>
              <a:t>26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  <p:bldP spid="18436" grpId="0"/>
      <p:bldP spid="18437" grpId="0"/>
      <p:bldP spid="18438" grpId="0"/>
      <p:bldP spid="18440" grpId="0"/>
      <p:bldP spid="184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34F3ECA-DD67-429C-8325-C831EDD3E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517525"/>
            <a:ext cx="67198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chemeClr val="bg1"/>
                </a:solidFill>
              </a:rPr>
              <a:t>(2) </a:t>
            </a:r>
            <a:r>
              <a:rPr lang="zh-CN" altLang="en-US" dirty="0">
                <a:solidFill>
                  <a:srgbClr val="FFFFFF"/>
                </a:solidFill>
              </a:rPr>
              <a:t>气体分子</a:t>
            </a:r>
            <a:r>
              <a:rPr lang="zh-CN" altLang="en-US" dirty="0">
                <a:solidFill>
                  <a:srgbClr val="FFFF00"/>
                </a:solidFill>
              </a:rPr>
              <a:t>平均平动动能</a:t>
            </a:r>
            <a:r>
              <a:rPr lang="zh-CN" altLang="en-US" dirty="0">
                <a:solidFill>
                  <a:srgbClr val="FFFFFF"/>
                </a:solidFill>
              </a:rPr>
              <a:t>和</a:t>
            </a:r>
            <a:r>
              <a:rPr lang="zh-CN" altLang="en-US" dirty="0">
                <a:solidFill>
                  <a:srgbClr val="FFFF00"/>
                </a:solidFill>
              </a:rPr>
              <a:t>平均转动动能</a:t>
            </a:r>
            <a:r>
              <a:rPr lang="zh-CN" altLang="en-US" dirty="0">
                <a:solidFill>
                  <a:srgbClr val="FFFFFF"/>
                </a:solidFill>
              </a:rPr>
              <a:t>？ </a:t>
            </a:r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FF599F2C-C145-46B5-A7FB-AD8DBEBAD814}"/>
              </a:ext>
            </a:extLst>
          </p:cNvPr>
          <p:cNvGraphicFramePr>
            <a:graphicFrameLocks/>
          </p:cNvGraphicFramePr>
          <p:nvPr/>
        </p:nvGraphicFramePr>
        <p:xfrm>
          <a:off x="1327150" y="1033463"/>
          <a:ext cx="66881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2" r:id="rId3" imgW="6591325" imgH="781016" progId="Equation.3">
                  <p:embed/>
                </p:oleObj>
              </mc:Choice>
              <mc:Fallback>
                <p:oleObj r:id="rId3" imgW="6591325" imgH="781016" progId="Equation.3">
                  <p:embed/>
                  <p:pic>
                    <p:nvPicPr>
                      <p:cNvPr id="19459" name="Object 2">
                        <a:extLst>
                          <a:ext uri="{FF2B5EF4-FFF2-40B4-BE49-F238E27FC236}">
                            <a16:creationId xmlns:a16="http://schemas.microsoft.com/office/drawing/2014/main" id="{FF599F2C-C145-46B5-A7FB-AD8DBEBAD8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1033463"/>
                        <a:ext cx="668813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3">
            <a:extLst>
              <a:ext uri="{FF2B5EF4-FFF2-40B4-BE49-F238E27FC236}">
                <a16:creationId xmlns:a16="http://schemas.microsoft.com/office/drawing/2014/main" id="{70332833-FA1A-4C3B-9D3B-BA2EAF2ACCE0}"/>
              </a:ext>
            </a:extLst>
          </p:cNvPr>
          <p:cNvGraphicFramePr>
            <a:graphicFrameLocks/>
          </p:cNvGraphicFramePr>
          <p:nvPr/>
        </p:nvGraphicFramePr>
        <p:xfrm>
          <a:off x="4476750" y="1233488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3" r:id="rId5" imgW="190417" imgH="418918" progId="Equation.3">
                  <p:embed/>
                </p:oleObj>
              </mc:Choice>
              <mc:Fallback>
                <p:oleObj r:id="rId5" imgW="190417" imgH="418918" progId="Equation.3">
                  <p:embed/>
                  <p:pic>
                    <p:nvPicPr>
                      <p:cNvPr id="16388" name="Object 3">
                        <a:extLst>
                          <a:ext uri="{FF2B5EF4-FFF2-40B4-BE49-F238E27FC236}">
                            <a16:creationId xmlns:a16="http://schemas.microsoft.com/office/drawing/2014/main" id="{70332833-FA1A-4C3B-9D3B-BA2EAF2ACC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1233488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3765F7F2-32A2-425F-9839-EF88F2F68CB0}"/>
              </a:ext>
            </a:extLst>
          </p:cNvPr>
          <p:cNvGraphicFramePr>
            <a:graphicFrameLocks/>
          </p:cNvGraphicFramePr>
          <p:nvPr/>
        </p:nvGraphicFramePr>
        <p:xfrm>
          <a:off x="1344613" y="2022475"/>
          <a:ext cx="5918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4" r:id="rId7" imgW="5867451" imgH="419134" progId="Equation.3">
                  <p:embed/>
                </p:oleObj>
              </mc:Choice>
              <mc:Fallback>
                <p:oleObj r:id="rId7" imgW="5867451" imgH="419134" progId="Equation.3">
                  <p:embed/>
                  <p:pic>
                    <p:nvPicPr>
                      <p:cNvPr id="19461" name="Object 4">
                        <a:extLst>
                          <a:ext uri="{FF2B5EF4-FFF2-40B4-BE49-F238E27FC236}">
                            <a16:creationId xmlns:a16="http://schemas.microsoft.com/office/drawing/2014/main" id="{3765F7F2-32A2-425F-9839-EF88F2F68C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2022475"/>
                        <a:ext cx="5918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>
            <a:extLst>
              <a:ext uri="{FF2B5EF4-FFF2-40B4-BE49-F238E27FC236}">
                <a16:creationId xmlns:a16="http://schemas.microsoft.com/office/drawing/2014/main" id="{6CBF14D6-2DF1-4CDE-9437-27CF6C052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2819400"/>
            <a:ext cx="639921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(3) </a:t>
            </a:r>
            <a:r>
              <a:rPr lang="zh-CN" altLang="en-US" dirty="0">
                <a:solidFill>
                  <a:srgbClr val="FFFFFF"/>
                </a:solidFill>
              </a:rPr>
              <a:t>单位体积内气体分子的</a:t>
            </a:r>
            <a:r>
              <a:rPr lang="zh-CN" altLang="en-US" dirty="0">
                <a:solidFill>
                  <a:srgbClr val="FFFF00"/>
                </a:solidFill>
              </a:rPr>
              <a:t>总平动动能</a:t>
            </a:r>
            <a:r>
              <a:rPr lang="zh-CN" altLang="en-US" dirty="0">
                <a:solidFill>
                  <a:srgbClr val="FFFFFF"/>
                </a:solidFill>
              </a:rPr>
              <a:t>？ </a:t>
            </a:r>
          </a:p>
        </p:txBody>
      </p:sp>
      <p:graphicFrame>
        <p:nvGraphicFramePr>
          <p:cNvPr id="19463" name="Object 5">
            <a:extLst>
              <a:ext uri="{FF2B5EF4-FFF2-40B4-BE49-F238E27FC236}">
                <a16:creationId xmlns:a16="http://schemas.microsoft.com/office/drawing/2014/main" id="{38249B45-1E78-4AA2-A6E3-E6FD0943615B}"/>
              </a:ext>
            </a:extLst>
          </p:cNvPr>
          <p:cNvGraphicFramePr>
            <a:graphicFrameLocks/>
          </p:cNvGraphicFramePr>
          <p:nvPr/>
        </p:nvGraphicFramePr>
        <p:xfrm>
          <a:off x="1258888" y="3316288"/>
          <a:ext cx="7191375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5" r:id="rId9" imgW="7162902" imgH="1428852" progId="Equation.3">
                  <p:embed/>
                </p:oleObj>
              </mc:Choice>
              <mc:Fallback>
                <p:oleObj r:id="rId9" imgW="7162902" imgH="1428852" progId="Equation.3">
                  <p:embed/>
                  <p:pic>
                    <p:nvPicPr>
                      <p:cNvPr id="19463" name="Object 5">
                        <a:extLst>
                          <a:ext uri="{FF2B5EF4-FFF2-40B4-BE49-F238E27FC236}">
                            <a16:creationId xmlns:a16="http://schemas.microsoft.com/office/drawing/2014/main" id="{38249B45-1E78-4AA2-A6E3-E6FD094361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16288"/>
                        <a:ext cx="7191375" cy="147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6">
            <a:extLst>
              <a:ext uri="{FF2B5EF4-FFF2-40B4-BE49-F238E27FC236}">
                <a16:creationId xmlns:a16="http://schemas.microsoft.com/office/drawing/2014/main" id="{1BB70484-D06E-4108-9D54-4C23618A2FF4}"/>
              </a:ext>
            </a:extLst>
          </p:cNvPr>
          <p:cNvGraphicFramePr>
            <a:graphicFrameLocks/>
          </p:cNvGraphicFramePr>
          <p:nvPr/>
        </p:nvGraphicFramePr>
        <p:xfrm>
          <a:off x="1214438" y="5572125"/>
          <a:ext cx="645636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6" r:id="rId11" imgW="2800388" imgH="342900" progId="Equation.3">
                  <p:embed/>
                </p:oleObj>
              </mc:Choice>
              <mc:Fallback>
                <p:oleObj r:id="rId11" imgW="2800388" imgH="342900" progId="Equation.3">
                  <p:embed/>
                  <p:pic>
                    <p:nvPicPr>
                      <p:cNvPr id="19464" name="Object 6">
                        <a:extLst>
                          <a:ext uri="{FF2B5EF4-FFF2-40B4-BE49-F238E27FC236}">
                            <a16:creationId xmlns:a16="http://schemas.microsoft.com/office/drawing/2014/main" id="{1BB70484-D06E-4108-9D54-4C23618A2F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572125"/>
                        <a:ext cx="645636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9">
            <a:extLst>
              <a:ext uri="{FF2B5EF4-FFF2-40B4-BE49-F238E27FC236}">
                <a16:creationId xmlns:a16="http://schemas.microsoft.com/office/drawing/2014/main" id="{7D167833-BFF5-4097-AFE8-AC4891B17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4978400"/>
            <a:ext cx="560863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(4) </a:t>
            </a:r>
            <a:r>
              <a:rPr lang="zh-CN" altLang="en-US">
                <a:solidFill>
                  <a:srgbClr val="FFFFFF"/>
                </a:solidFill>
              </a:rPr>
              <a:t>由气体的内能公式，有</a:t>
            </a:r>
          </a:p>
        </p:txBody>
      </p:sp>
      <p:sp>
        <p:nvSpPr>
          <p:cNvPr id="16394" name="灯片编号占位符 1">
            <a:extLst>
              <a:ext uri="{FF2B5EF4-FFF2-40B4-BE49-F238E27FC236}">
                <a16:creationId xmlns:a16="http://schemas.microsoft.com/office/drawing/2014/main" id="{DE876D0B-E334-42A9-95D6-C5E0D51B7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8E4D94-FFB9-4F1F-A6AB-27A7D1742E4F}" type="slidenum">
              <a:rPr lang="en-US" altLang="zh-CN" b="0">
                <a:solidFill>
                  <a:srgbClr val="FF00FF"/>
                </a:solidFill>
              </a:rPr>
              <a:pPr eaLnBrk="1" hangingPunct="1"/>
              <a:t>27</a:t>
            </a:fld>
            <a:r>
              <a:rPr lang="en-US" altLang="zh-CN" b="0">
                <a:solidFill>
                  <a:srgbClr val="FF00FF"/>
                </a:solidFill>
              </a:rPr>
              <a:t>/37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62" grpId="0"/>
      <p:bldP spid="194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18904</TotalTime>
  <Words>1706</Words>
  <Application>Microsoft Office PowerPoint</Application>
  <PresentationFormat>全屏显示(4:3)</PresentationFormat>
  <Paragraphs>244</Paragraphs>
  <Slides>27</Slides>
  <Notes>6</Notes>
  <HiddenSlides>0</HiddenSlides>
  <MMClips>1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Monotype Sorts</vt:lpstr>
      <vt:lpstr>黑体</vt:lpstr>
      <vt:lpstr>华文仿宋</vt:lpstr>
      <vt:lpstr>楷体_GB2312</vt:lpstr>
      <vt:lpstr>宋体</vt:lpstr>
      <vt:lpstr>Arial</vt:lpstr>
      <vt:lpstr>Bookman Old Style</vt:lpstr>
      <vt:lpstr>Cambria Math</vt:lpstr>
      <vt:lpstr>Symbol</vt:lpstr>
      <vt:lpstr>Times New Roman</vt:lpstr>
      <vt:lpstr>Wingdings</vt:lpstr>
      <vt:lpstr>默认设计模板</vt:lpstr>
      <vt:lpstr>Equation.3</vt:lpstr>
      <vt:lpstr>Equation.DSMT4</vt:lpstr>
      <vt:lpstr>公式</vt:lpstr>
      <vt:lpstr>CorelDRAW.Graphic.10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1485</cp:revision>
  <cp:lastPrinted>2025-11-26T11:38:55Z</cp:lastPrinted>
  <dcterms:created xsi:type="dcterms:W3CDTF">1998-11-21T01:35:00Z</dcterms:created>
  <dcterms:modified xsi:type="dcterms:W3CDTF">2025-11-27T05:03:30Z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