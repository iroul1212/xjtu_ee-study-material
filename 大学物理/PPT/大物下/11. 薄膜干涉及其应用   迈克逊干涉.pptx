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439" r:id="rId2"/>
    <p:sldId id="484" r:id="rId3"/>
    <p:sldId id="708" r:id="rId4"/>
    <p:sldId id="474" r:id="rId5"/>
    <p:sldId id="475" r:id="rId6"/>
    <p:sldId id="476" r:id="rId7"/>
    <p:sldId id="477" r:id="rId8"/>
    <p:sldId id="480" r:id="rId9"/>
    <p:sldId id="481" r:id="rId10"/>
    <p:sldId id="482" r:id="rId11"/>
    <p:sldId id="483" r:id="rId12"/>
    <p:sldId id="487" r:id="rId13"/>
    <p:sldId id="488" r:id="rId14"/>
    <p:sldId id="489" r:id="rId15"/>
    <p:sldId id="659" r:id="rId16"/>
    <p:sldId id="660" r:id="rId17"/>
    <p:sldId id="501" r:id="rId18"/>
    <p:sldId id="490" r:id="rId19"/>
    <p:sldId id="491" r:id="rId20"/>
    <p:sldId id="492" r:id="rId21"/>
    <p:sldId id="493" r:id="rId22"/>
    <p:sldId id="494" r:id="rId23"/>
  </p:sldIdLst>
  <p:sldSz cx="9144000" cy="6858000" type="screen4x3"/>
  <p:notesSz cx="6797675" cy="9928225"/>
  <p:custDataLst>
    <p:tags r:id="rId26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23" userDrawn="1">
          <p15:clr>
            <a:srgbClr val="A4A3A4"/>
          </p15:clr>
        </p15:guide>
        <p15:guide id="2" pos="50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00"/>
    <a:srgbClr val="0000FF"/>
    <a:srgbClr val="800000"/>
    <a:srgbClr val="FFCC99"/>
    <a:srgbClr val="CC6600"/>
    <a:srgbClr val="009999"/>
    <a:srgbClr val="FF0000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32" autoAdjust="0"/>
    <p:restoredTop sz="94830" autoAdjust="0"/>
  </p:normalViewPr>
  <p:slideViewPr>
    <p:cSldViewPr showGuides="1">
      <p:cViewPr varScale="1">
        <p:scale>
          <a:sx n="110" d="100"/>
          <a:sy n="110" d="100"/>
        </p:scale>
        <p:origin x="1482" y="78"/>
      </p:cViewPr>
      <p:guideLst>
        <p:guide orient="horz" pos="2523"/>
        <p:guide pos="507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0" d="100"/>
          <a:sy n="60" d="100"/>
        </p:scale>
        <p:origin x="-1764" y="-84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8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9.emf"/><Relationship Id="rId13" Type="http://schemas.openxmlformats.org/officeDocument/2006/relationships/image" Target="../media/image14.emf"/><Relationship Id="rId3" Type="http://schemas.openxmlformats.org/officeDocument/2006/relationships/image" Target="../media/image4.emf"/><Relationship Id="rId7" Type="http://schemas.openxmlformats.org/officeDocument/2006/relationships/image" Target="../media/image8.emf"/><Relationship Id="rId12" Type="http://schemas.openxmlformats.org/officeDocument/2006/relationships/image" Target="../media/image13.emf"/><Relationship Id="rId2" Type="http://schemas.openxmlformats.org/officeDocument/2006/relationships/image" Target="../media/image3.emf"/><Relationship Id="rId1" Type="http://schemas.openxmlformats.org/officeDocument/2006/relationships/image" Target="../media/image2.emf"/><Relationship Id="rId6" Type="http://schemas.openxmlformats.org/officeDocument/2006/relationships/image" Target="../media/image7.emf"/><Relationship Id="rId11" Type="http://schemas.openxmlformats.org/officeDocument/2006/relationships/image" Target="../media/image12.emf"/><Relationship Id="rId5" Type="http://schemas.openxmlformats.org/officeDocument/2006/relationships/image" Target="../media/image6.emf"/><Relationship Id="rId10" Type="http://schemas.openxmlformats.org/officeDocument/2006/relationships/image" Target="../media/image11.emf"/><Relationship Id="rId4" Type="http://schemas.openxmlformats.org/officeDocument/2006/relationships/image" Target="../media/image5.emf"/><Relationship Id="rId9" Type="http://schemas.openxmlformats.org/officeDocument/2006/relationships/image" Target="../media/image10.e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7.emf"/><Relationship Id="rId1" Type="http://schemas.openxmlformats.org/officeDocument/2006/relationships/image" Target="../media/image16.emf"/><Relationship Id="rId4" Type="http://schemas.openxmlformats.org/officeDocument/2006/relationships/image" Target="../media/image19.e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31.emf"/><Relationship Id="rId13" Type="http://schemas.openxmlformats.org/officeDocument/2006/relationships/image" Target="../media/image36.emf"/><Relationship Id="rId18" Type="http://schemas.openxmlformats.org/officeDocument/2006/relationships/image" Target="../media/image41.emf"/><Relationship Id="rId3" Type="http://schemas.openxmlformats.org/officeDocument/2006/relationships/image" Target="../media/image26.emf"/><Relationship Id="rId7" Type="http://schemas.openxmlformats.org/officeDocument/2006/relationships/image" Target="../media/image30.emf"/><Relationship Id="rId12" Type="http://schemas.openxmlformats.org/officeDocument/2006/relationships/image" Target="../media/image35.emf"/><Relationship Id="rId17" Type="http://schemas.openxmlformats.org/officeDocument/2006/relationships/image" Target="../media/image40.emf"/><Relationship Id="rId2" Type="http://schemas.openxmlformats.org/officeDocument/2006/relationships/image" Target="../media/image25.emf"/><Relationship Id="rId16" Type="http://schemas.openxmlformats.org/officeDocument/2006/relationships/image" Target="../media/image39.emf"/><Relationship Id="rId1" Type="http://schemas.openxmlformats.org/officeDocument/2006/relationships/image" Target="../media/image24.emf"/><Relationship Id="rId6" Type="http://schemas.openxmlformats.org/officeDocument/2006/relationships/image" Target="../media/image29.emf"/><Relationship Id="rId11" Type="http://schemas.openxmlformats.org/officeDocument/2006/relationships/image" Target="../media/image34.emf"/><Relationship Id="rId5" Type="http://schemas.openxmlformats.org/officeDocument/2006/relationships/image" Target="../media/image28.emf"/><Relationship Id="rId15" Type="http://schemas.openxmlformats.org/officeDocument/2006/relationships/image" Target="../media/image38.emf"/><Relationship Id="rId10" Type="http://schemas.openxmlformats.org/officeDocument/2006/relationships/image" Target="../media/image33.emf"/><Relationship Id="rId19" Type="http://schemas.openxmlformats.org/officeDocument/2006/relationships/image" Target="../media/image42.emf"/><Relationship Id="rId4" Type="http://schemas.openxmlformats.org/officeDocument/2006/relationships/image" Target="../media/image27.emf"/><Relationship Id="rId9" Type="http://schemas.openxmlformats.org/officeDocument/2006/relationships/image" Target="../media/image32.emf"/><Relationship Id="rId14" Type="http://schemas.openxmlformats.org/officeDocument/2006/relationships/image" Target="../media/image37.e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50.emf"/><Relationship Id="rId3" Type="http://schemas.openxmlformats.org/officeDocument/2006/relationships/image" Target="../media/image45.emf"/><Relationship Id="rId7" Type="http://schemas.openxmlformats.org/officeDocument/2006/relationships/image" Target="../media/image49.emf"/><Relationship Id="rId2" Type="http://schemas.openxmlformats.org/officeDocument/2006/relationships/image" Target="../media/image44.emf"/><Relationship Id="rId1" Type="http://schemas.openxmlformats.org/officeDocument/2006/relationships/image" Target="../media/image43.emf"/><Relationship Id="rId6" Type="http://schemas.openxmlformats.org/officeDocument/2006/relationships/image" Target="../media/image48.emf"/><Relationship Id="rId11" Type="http://schemas.openxmlformats.org/officeDocument/2006/relationships/image" Target="../media/image53.wmf"/><Relationship Id="rId5" Type="http://schemas.openxmlformats.org/officeDocument/2006/relationships/image" Target="../media/image47.emf"/><Relationship Id="rId10" Type="http://schemas.openxmlformats.org/officeDocument/2006/relationships/image" Target="../media/image52.emf"/><Relationship Id="rId4" Type="http://schemas.openxmlformats.org/officeDocument/2006/relationships/image" Target="../media/image46.emf"/><Relationship Id="rId9" Type="http://schemas.openxmlformats.org/officeDocument/2006/relationships/image" Target="../media/image51.e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56.emf"/><Relationship Id="rId2" Type="http://schemas.openxmlformats.org/officeDocument/2006/relationships/image" Target="../media/image55.emf"/><Relationship Id="rId1" Type="http://schemas.openxmlformats.org/officeDocument/2006/relationships/image" Target="../media/image54.emf"/><Relationship Id="rId6" Type="http://schemas.openxmlformats.org/officeDocument/2006/relationships/image" Target="../media/image59.emf"/><Relationship Id="rId5" Type="http://schemas.openxmlformats.org/officeDocument/2006/relationships/image" Target="../media/image58.emf"/><Relationship Id="rId4" Type="http://schemas.openxmlformats.org/officeDocument/2006/relationships/image" Target="../media/image57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60.png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69.emf"/><Relationship Id="rId3" Type="http://schemas.openxmlformats.org/officeDocument/2006/relationships/image" Target="../media/image64.emf"/><Relationship Id="rId7" Type="http://schemas.openxmlformats.org/officeDocument/2006/relationships/image" Target="../media/image68.emf"/><Relationship Id="rId2" Type="http://schemas.openxmlformats.org/officeDocument/2006/relationships/image" Target="../media/image63.emf"/><Relationship Id="rId1" Type="http://schemas.openxmlformats.org/officeDocument/2006/relationships/image" Target="../media/image62.emf"/><Relationship Id="rId6" Type="http://schemas.openxmlformats.org/officeDocument/2006/relationships/image" Target="../media/image67.emf"/><Relationship Id="rId5" Type="http://schemas.openxmlformats.org/officeDocument/2006/relationships/image" Target="../media/image66.emf"/><Relationship Id="rId4" Type="http://schemas.openxmlformats.org/officeDocument/2006/relationships/image" Target="../media/image65.e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79.emf"/><Relationship Id="rId13" Type="http://schemas.openxmlformats.org/officeDocument/2006/relationships/image" Target="../media/image84.emf"/><Relationship Id="rId3" Type="http://schemas.openxmlformats.org/officeDocument/2006/relationships/image" Target="../media/image74.emf"/><Relationship Id="rId7" Type="http://schemas.openxmlformats.org/officeDocument/2006/relationships/image" Target="../media/image78.emf"/><Relationship Id="rId12" Type="http://schemas.openxmlformats.org/officeDocument/2006/relationships/image" Target="../media/image83.emf"/><Relationship Id="rId17" Type="http://schemas.openxmlformats.org/officeDocument/2006/relationships/image" Target="../media/image88.emf"/><Relationship Id="rId2" Type="http://schemas.openxmlformats.org/officeDocument/2006/relationships/image" Target="../media/image73.emf"/><Relationship Id="rId16" Type="http://schemas.openxmlformats.org/officeDocument/2006/relationships/image" Target="../media/image87.emf"/><Relationship Id="rId1" Type="http://schemas.openxmlformats.org/officeDocument/2006/relationships/image" Target="../media/image72.emf"/><Relationship Id="rId6" Type="http://schemas.openxmlformats.org/officeDocument/2006/relationships/image" Target="../media/image77.emf"/><Relationship Id="rId11" Type="http://schemas.openxmlformats.org/officeDocument/2006/relationships/image" Target="../media/image82.emf"/><Relationship Id="rId5" Type="http://schemas.openxmlformats.org/officeDocument/2006/relationships/image" Target="../media/image76.emf"/><Relationship Id="rId15" Type="http://schemas.openxmlformats.org/officeDocument/2006/relationships/image" Target="../media/image86.emf"/><Relationship Id="rId10" Type="http://schemas.openxmlformats.org/officeDocument/2006/relationships/image" Target="../media/image81.emf"/><Relationship Id="rId4" Type="http://schemas.openxmlformats.org/officeDocument/2006/relationships/image" Target="../media/image75.emf"/><Relationship Id="rId9" Type="http://schemas.openxmlformats.org/officeDocument/2006/relationships/image" Target="../media/image80.emf"/><Relationship Id="rId14" Type="http://schemas.openxmlformats.org/officeDocument/2006/relationships/image" Target="../media/image85.e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96.emf"/><Relationship Id="rId3" Type="http://schemas.openxmlformats.org/officeDocument/2006/relationships/image" Target="../media/image91.emf"/><Relationship Id="rId7" Type="http://schemas.openxmlformats.org/officeDocument/2006/relationships/image" Target="../media/image95.emf"/><Relationship Id="rId2" Type="http://schemas.openxmlformats.org/officeDocument/2006/relationships/image" Target="../media/image90.emf"/><Relationship Id="rId1" Type="http://schemas.openxmlformats.org/officeDocument/2006/relationships/image" Target="../media/image89.emf"/><Relationship Id="rId6" Type="http://schemas.openxmlformats.org/officeDocument/2006/relationships/image" Target="../media/image94.emf"/><Relationship Id="rId5" Type="http://schemas.openxmlformats.org/officeDocument/2006/relationships/image" Target="../media/image93.emf"/><Relationship Id="rId4" Type="http://schemas.openxmlformats.org/officeDocument/2006/relationships/image" Target="../media/image92.emf"/><Relationship Id="rId9" Type="http://schemas.openxmlformats.org/officeDocument/2006/relationships/image" Target="../media/image97.e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99.emf"/><Relationship Id="rId1" Type="http://schemas.openxmlformats.org/officeDocument/2006/relationships/image" Target="../media/image98.e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emf"/><Relationship Id="rId13" Type="http://schemas.openxmlformats.org/officeDocument/2006/relationships/image" Target="../media/image114.emf"/><Relationship Id="rId3" Type="http://schemas.openxmlformats.org/officeDocument/2006/relationships/image" Target="../media/image104.emf"/><Relationship Id="rId7" Type="http://schemas.openxmlformats.org/officeDocument/2006/relationships/image" Target="../media/image108.emf"/><Relationship Id="rId12" Type="http://schemas.openxmlformats.org/officeDocument/2006/relationships/image" Target="../media/image113.emf"/><Relationship Id="rId2" Type="http://schemas.openxmlformats.org/officeDocument/2006/relationships/image" Target="../media/image103.emf"/><Relationship Id="rId1" Type="http://schemas.openxmlformats.org/officeDocument/2006/relationships/image" Target="../media/image102.emf"/><Relationship Id="rId6" Type="http://schemas.openxmlformats.org/officeDocument/2006/relationships/image" Target="../media/image107.emf"/><Relationship Id="rId11" Type="http://schemas.openxmlformats.org/officeDocument/2006/relationships/image" Target="../media/image112.emf"/><Relationship Id="rId5" Type="http://schemas.openxmlformats.org/officeDocument/2006/relationships/image" Target="../media/image106.emf"/><Relationship Id="rId15" Type="http://schemas.openxmlformats.org/officeDocument/2006/relationships/image" Target="../media/image116.emf"/><Relationship Id="rId10" Type="http://schemas.openxmlformats.org/officeDocument/2006/relationships/image" Target="../media/image111.emf"/><Relationship Id="rId4" Type="http://schemas.openxmlformats.org/officeDocument/2006/relationships/image" Target="../media/image105.emf"/><Relationship Id="rId9" Type="http://schemas.openxmlformats.org/officeDocument/2006/relationships/image" Target="../media/image110.emf"/><Relationship Id="rId14" Type="http://schemas.openxmlformats.org/officeDocument/2006/relationships/image" Target="../media/image115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7.e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emf"/><Relationship Id="rId2" Type="http://schemas.openxmlformats.org/officeDocument/2006/relationships/image" Target="../media/image140.emf"/><Relationship Id="rId1" Type="http://schemas.openxmlformats.org/officeDocument/2006/relationships/image" Target="../media/image139.e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5.emf"/><Relationship Id="rId2" Type="http://schemas.openxmlformats.org/officeDocument/2006/relationships/image" Target="../media/image144.emf"/><Relationship Id="rId1" Type="http://schemas.openxmlformats.org/officeDocument/2006/relationships/image" Target="../media/image143.emf"/><Relationship Id="rId5" Type="http://schemas.openxmlformats.org/officeDocument/2006/relationships/image" Target="../media/image147.emf"/><Relationship Id="rId4" Type="http://schemas.openxmlformats.org/officeDocument/2006/relationships/image" Target="../media/image146.emf"/></Relationships>
</file>

<file path=ppt/drawings/_rels/vmlDrawing1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1.emf"/><Relationship Id="rId3" Type="http://schemas.openxmlformats.org/officeDocument/2006/relationships/image" Target="../media/image156.emf"/><Relationship Id="rId7" Type="http://schemas.openxmlformats.org/officeDocument/2006/relationships/image" Target="../media/image160.emf"/><Relationship Id="rId12" Type="http://schemas.openxmlformats.org/officeDocument/2006/relationships/image" Target="../media/image165.emf"/><Relationship Id="rId2" Type="http://schemas.openxmlformats.org/officeDocument/2006/relationships/image" Target="../media/image155.emf"/><Relationship Id="rId1" Type="http://schemas.openxmlformats.org/officeDocument/2006/relationships/image" Target="../media/image154.emf"/><Relationship Id="rId6" Type="http://schemas.openxmlformats.org/officeDocument/2006/relationships/image" Target="../media/image159.emf"/><Relationship Id="rId11" Type="http://schemas.openxmlformats.org/officeDocument/2006/relationships/image" Target="../media/image164.emf"/><Relationship Id="rId5" Type="http://schemas.openxmlformats.org/officeDocument/2006/relationships/image" Target="../media/image158.emf"/><Relationship Id="rId10" Type="http://schemas.openxmlformats.org/officeDocument/2006/relationships/image" Target="../media/image163.emf"/><Relationship Id="rId4" Type="http://schemas.openxmlformats.org/officeDocument/2006/relationships/image" Target="../media/image157.emf"/><Relationship Id="rId9" Type="http://schemas.openxmlformats.org/officeDocument/2006/relationships/image" Target="../media/image162.emf"/></Relationships>
</file>

<file path=ppt/drawings/_rels/vmlDrawing1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3.emf"/><Relationship Id="rId3" Type="http://schemas.openxmlformats.org/officeDocument/2006/relationships/image" Target="../media/image168.emf"/><Relationship Id="rId7" Type="http://schemas.openxmlformats.org/officeDocument/2006/relationships/image" Target="../media/image172.emf"/><Relationship Id="rId12" Type="http://schemas.openxmlformats.org/officeDocument/2006/relationships/image" Target="../media/image177.emf"/><Relationship Id="rId2" Type="http://schemas.openxmlformats.org/officeDocument/2006/relationships/image" Target="../media/image167.emf"/><Relationship Id="rId1" Type="http://schemas.openxmlformats.org/officeDocument/2006/relationships/image" Target="../media/image166.emf"/><Relationship Id="rId6" Type="http://schemas.openxmlformats.org/officeDocument/2006/relationships/image" Target="../media/image171.emf"/><Relationship Id="rId11" Type="http://schemas.openxmlformats.org/officeDocument/2006/relationships/image" Target="../media/image176.emf"/><Relationship Id="rId5" Type="http://schemas.openxmlformats.org/officeDocument/2006/relationships/image" Target="../media/image170.emf"/><Relationship Id="rId10" Type="http://schemas.openxmlformats.org/officeDocument/2006/relationships/image" Target="../media/image175.emf"/><Relationship Id="rId4" Type="http://schemas.openxmlformats.org/officeDocument/2006/relationships/image" Target="../media/image169.emf"/><Relationship Id="rId9" Type="http://schemas.openxmlformats.org/officeDocument/2006/relationships/image" Target="../media/image174.emf"/></Relationships>
</file>

<file path=ppt/drawings/_rels/vmlDrawing1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85.emf"/><Relationship Id="rId3" Type="http://schemas.openxmlformats.org/officeDocument/2006/relationships/image" Target="../media/image180.emf"/><Relationship Id="rId7" Type="http://schemas.openxmlformats.org/officeDocument/2006/relationships/image" Target="../media/image184.emf"/><Relationship Id="rId2" Type="http://schemas.openxmlformats.org/officeDocument/2006/relationships/image" Target="../media/image179.emf"/><Relationship Id="rId1" Type="http://schemas.openxmlformats.org/officeDocument/2006/relationships/image" Target="../media/image178.emf"/><Relationship Id="rId6" Type="http://schemas.openxmlformats.org/officeDocument/2006/relationships/image" Target="../media/image183.emf"/><Relationship Id="rId11" Type="http://schemas.openxmlformats.org/officeDocument/2006/relationships/image" Target="../media/image188.emf"/><Relationship Id="rId5" Type="http://schemas.openxmlformats.org/officeDocument/2006/relationships/image" Target="../media/image182.emf"/><Relationship Id="rId10" Type="http://schemas.openxmlformats.org/officeDocument/2006/relationships/image" Target="../media/image187.emf"/><Relationship Id="rId4" Type="http://schemas.openxmlformats.org/officeDocument/2006/relationships/image" Target="../media/image181.emf"/><Relationship Id="rId9" Type="http://schemas.openxmlformats.org/officeDocument/2006/relationships/image" Target="../media/image186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20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275" y="0"/>
            <a:ext cx="294640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21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1338"/>
            <a:ext cx="2946400" cy="496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21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275" y="9431338"/>
            <a:ext cx="2946400" cy="496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37FF4DE6-1985-490C-B7E0-EDBA30F6E0FB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84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275" y="0"/>
            <a:ext cx="294640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4538"/>
            <a:ext cx="496252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84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463" y="4716463"/>
            <a:ext cx="4984750" cy="44672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484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1338"/>
            <a:ext cx="2946400" cy="496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84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275" y="9431338"/>
            <a:ext cx="2946400" cy="496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16216DFA-5E0B-4E3C-A3A7-5CFDC691FED5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C7B727AC-D56C-4914-8C72-1CDCA6EF6A5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F3BF9431-197F-4149-AD80-35822BA6D0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>
            <a:extLst>
              <a:ext uri="{FF2B5EF4-FFF2-40B4-BE49-F238E27FC236}">
                <a16:creationId xmlns:a16="http://schemas.microsoft.com/office/drawing/2014/main" id="{0A041000-CEDE-42DF-A0F5-CD211A6ADCF4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9E1825F6-2991-46C4-BD56-DB4C734C855C}" type="slidenum">
              <a:rPr kumimoji="0" lang="en-US" altLang="zh-CN" b="0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</a:pPr>
              <a:t>14</a:t>
            </a:fld>
            <a:endParaRPr kumimoji="0" lang="en-US" altLang="zh-CN" b="0">
              <a:latin typeface="Arial" panose="020B0604020202020204" pitchFamily="34" charset="0"/>
            </a:endParaRPr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5DCE2E7B-79BF-4401-9E53-D7CC40294CB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BE949080-39C2-4A21-888C-C65EC97824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79450" y="4716463"/>
            <a:ext cx="5438775" cy="44672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fourObj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182F"/>
            </a:gs>
            <a:gs pos="100000">
              <a:srgbClr val="003366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AutoShape 7"/>
          <p:cNvSpPr>
            <a:spLocks noChangeArrowheads="1"/>
          </p:cNvSpPr>
          <p:nvPr/>
        </p:nvSpPr>
        <p:spPr bwMode="auto">
          <a:xfrm>
            <a:off x="-25400" y="0"/>
            <a:ext cx="9204325" cy="6858000"/>
          </a:xfrm>
          <a:prstGeom prst="bevel">
            <a:avLst>
              <a:gd name="adj" fmla="val 1273"/>
            </a:avLst>
          </a:prstGeom>
          <a:solidFill>
            <a:srgbClr val="006699"/>
          </a:solidFill>
          <a:ln w="9525">
            <a:solidFill>
              <a:srgbClr val="006699"/>
            </a:solidFill>
            <a:miter lim="800000"/>
          </a:ln>
        </p:spPr>
        <p:txBody>
          <a:bodyPr wrap="none" anchor="ctr"/>
          <a:lstStyle>
            <a:lvl1pPr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27" name="Rectangle 8"/>
          <p:cNvSpPr>
            <a:spLocks noChangeArrowheads="1"/>
          </p:cNvSpPr>
          <p:nvPr/>
        </p:nvSpPr>
        <p:spPr bwMode="auto">
          <a:xfrm>
            <a:off x="250825" y="265113"/>
            <a:ext cx="8626475" cy="6330950"/>
          </a:xfrm>
          <a:prstGeom prst="rect">
            <a:avLst/>
          </a:prstGeom>
          <a:noFill/>
          <a:ln w="12700">
            <a:solidFill>
              <a:srgbClr val="FF0000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emf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9.emf"/><Relationship Id="rId26" Type="http://schemas.openxmlformats.org/officeDocument/2006/relationships/image" Target="../media/image13.emf"/><Relationship Id="rId3" Type="http://schemas.openxmlformats.org/officeDocument/2006/relationships/oleObject" Target="../embeddings/oleObject1.bin"/><Relationship Id="rId21" Type="http://schemas.openxmlformats.org/officeDocument/2006/relationships/oleObject" Target="../embeddings/oleObject10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6.emf"/><Relationship Id="rId17" Type="http://schemas.openxmlformats.org/officeDocument/2006/relationships/oleObject" Target="../embeddings/oleObject8.bin"/><Relationship Id="rId25" Type="http://schemas.openxmlformats.org/officeDocument/2006/relationships/oleObject" Target="../embeddings/oleObject1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8.emf"/><Relationship Id="rId20" Type="http://schemas.openxmlformats.org/officeDocument/2006/relationships/image" Target="../media/image10.emf"/><Relationship Id="rId29" Type="http://schemas.openxmlformats.org/officeDocument/2006/relationships/image" Target="../media/image15.png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emf"/><Relationship Id="rId11" Type="http://schemas.openxmlformats.org/officeDocument/2006/relationships/oleObject" Target="../embeddings/oleObject5.bin"/><Relationship Id="rId24" Type="http://schemas.openxmlformats.org/officeDocument/2006/relationships/image" Target="../media/image12.emf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23" Type="http://schemas.openxmlformats.org/officeDocument/2006/relationships/oleObject" Target="../embeddings/oleObject11.bin"/><Relationship Id="rId28" Type="http://schemas.openxmlformats.org/officeDocument/2006/relationships/image" Target="../media/image14.emf"/><Relationship Id="rId10" Type="http://schemas.openxmlformats.org/officeDocument/2006/relationships/image" Target="../media/image5.emf"/><Relationship Id="rId19" Type="http://schemas.openxmlformats.org/officeDocument/2006/relationships/oleObject" Target="../embeddings/oleObject9.bin"/><Relationship Id="rId4" Type="http://schemas.openxmlformats.org/officeDocument/2006/relationships/image" Target="../media/image2.e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7.emf"/><Relationship Id="rId22" Type="http://schemas.openxmlformats.org/officeDocument/2006/relationships/image" Target="../media/image11.emf"/><Relationship Id="rId27" Type="http://schemas.openxmlformats.org/officeDocument/2006/relationships/oleObject" Target="../embeddings/oleObject13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emf"/><Relationship Id="rId13" Type="http://schemas.openxmlformats.org/officeDocument/2006/relationships/image" Target="../media/image22.png"/><Relationship Id="rId3" Type="http://schemas.openxmlformats.org/officeDocument/2006/relationships/oleObject" Target="../embeddings/oleObject14.bin"/><Relationship Id="rId7" Type="http://schemas.openxmlformats.org/officeDocument/2006/relationships/oleObject" Target="../embeddings/oleObject16.bin"/><Relationship Id="rId12" Type="http://schemas.openxmlformats.org/officeDocument/2006/relationships/image" Target="../media/image21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7.emf"/><Relationship Id="rId11" Type="http://schemas.openxmlformats.org/officeDocument/2006/relationships/image" Target="../media/image20.png"/><Relationship Id="rId5" Type="http://schemas.openxmlformats.org/officeDocument/2006/relationships/oleObject" Target="../embeddings/oleObject15.bin"/><Relationship Id="rId10" Type="http://schemas.openxmlformats.org/officeDocument/2006/relationships/image" Target="../media/image19.emf"/><Relationship Id="rId4" Type="http://schemas.openxmlformats.org/officeDocument/2006/relationships/image" Target="../media/image16.emf"/><Relationship Id="rId9" Type="http://schemas.openxmlformats.org/officeDocument/2006/relationships/oleObject" Target="../embeddings/oleObject17.bin"/><Relationship Id="rId14" Type="http://schemas.openxmlformats.org/officeDocument/2006/relationships/image" Target="../media/image23.pn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3.bin"/><Relationship Id="rId18" Type="http://schemas.openxmlformats.org/officeDocument/2006/relationships/image" Target="../media/image31.emf"/><Relationship Id="rId26" Type="http://schemas.openxmlformats.org/officeDocument/2006/relationships/image" Target="../media/image35.emf"/><Relationship Id="rId39" Type="http://schemas.openxmlformats.org/officeDocument/2006/relationships/oleObject" Target="../embeddings/oleObject36.bin"/><Relationship Id="rId21" Type="http://schemas.openxmlformats.org/officeDocument/2006/relationships/oleObject" Target="../embeddings/oleObject27.bin"/><Relationship Id="rId34" Type="http://schemas.openxmlformats.org/officeDocument/2006/relationships/image" Target="../media/image39.emf"/><Relationship Id="rId7" Type="http://schemas.openxmlformats.org/officeDocument/2006/relationships/oleObject" Target="../embeddings/oleObject20.bin"/><Relationship Id="rId12" Type="http://schemas.openxmlformats.org/officeDocument/2006/relationships/image" Target="../media/image28.emf"/><Relationship Id="rId17" Type="http://schemas.openxmlformats.org/officeDocument/2006/relationships/oleObject" Target="../embeddings/oleObject25.bin"/><Relationship Id="rId25" Type="http://schemas.openxmlformats.org/officeDocument/2006/relationships/oleObject" Target="../embeddings/oleObject29.bin"/><Relationship Id="rId33" Type="http://schemas.openxmlformats.org/officeDocument/2006/relationships/oleObject" Target="../embeddings/oleObject33.bin"/><Relationship Id="rId38" Type="http://schemas.openxmlformats.org/officeDocument/2006/relationships/image" Target="../media/image41.e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0.emf"/><Relationship Id="rId20" Type="http://schemas.openxmlformats.org/officeDocument/2006/relationships/image" Target="../media/image32.emf"/><Relationship Id="rId29" Type="http://schemas.openxmlformats.org/officeDocument/2006/relationships/oleObject" Target="../embeddings/oleObject31.bin"/><Relationship Id="rId1" Type="http://schemas.openxmlformats.org/officeDocument/2006/relationships/vmlDrawing" Target="../drawings/vmlDrawing3.vml"/><Relationship Id="rId6" Type="http://schemas.openxmlformats.org/officeDocument/2006/relationships/image" Target="../media/image25.emf"/><Relationship Id="rId11" Type="http://schemas.openxmlformats.org/officeDocument/2006/relationships/oleObject" Target="../embeddings/oleObject22.bin"/><Relationship Id="rId24" Type="http://schemas.openxmlformats.org/officeDocument/2006/relationships/image" Target="../media/image34.emf"/><Relationship Id="rId32" Type="http://schemas.openxmlformats.org/officeDocument/2006/relationships/image" Target="../media/image38.emf"/><Relationship Id="rId37" Type="http://schemas.openxmlformats.org/officeDocument/2006/relationships/oleObject" Target="../embeddings/oleObject35.bin"/><Relationship Id="rId40" Type="http://schemas.openxmlformats.org/officeDocument/2006/relationships/image" Target="../media/image42.emf"/><Relationship Id="rId5" Type="http://schemas.openxmlformats.org/officeDocument/2006/relationships/oleObject" Target="../embeddings/oleObject19.bin"/><Relationship Id="rId15" Type="http://schemas.openxmlformats.org/officeDocument/2006/relationships/oleObject" Target="../embeddings/oleObject24.bin"/><Relationship Id="rId23" Type="http://schemas.openxmlformats.org/officeDocument/2006/relationships/oleObject" Target="../embeddings/oleObject28.bin"/><Relationship Id="rId28" Type="http://schemas.openxmlformats.org/officeDocument/2006/relationships/image" Target="../media/image36.emf"/><Relationship Id="rId36" Type="http://schemas.openxmlformats.org/officeDocument/2006/relationships/image" Target="../media/image40.emf"/><Relationship Id="rId10" Type="http://schemas.openxmlformats.org/officeDocument/2006/relationships/image" Target="../media/image27.emf"/><Relationship Id="rId19" Type="http://schemas.openxmlformats.org/officeDocument/2006/relationships/oleObject" Target="../embeddings/oleObject26.bin"/><Relationship Id="rId31" Type="http://schemas.openxmlformats.org/officeDocument/2006/relationships/oleObject" Target="../embeddings/oleObject32.bin"/><Relationship Id="rId4" Type="http://schemas.openxmlformats.org/officeDocument/2006/relationships/image" Target="../media/image24.emf"/><Relationship Id="rId9" Type="http://schemas.openxmlformats.org/officeDocument/2006/relationships/oleObject" Target="../embeddings/oleObject21.bin"/><Relationship Id="rId14" Type="http://schemas.openxmlformats.org/officeDocument/2006/relationships/image" Target="../media/image29.emf"/><Relationship Id="rId22" Type="http://schemas.openxmlformats.org/officeDocument/2006/relationships/image" Target="../media/image33.emf"/><Relationship Id="rId27" Type="http://schemas.openxmlformats.org/officeDocument/2006/relationships/oleObject" Target="../embeddings/oleObject30.bin"/><Relationship Id="rId30" Type="http://schemas.openxmlformats.org/officeDocument/2006/relationships/image" Target="../media/image37.emf"/><Relationship Id="rId35" Type="http://schemas.openxmlformats.org/officeDocument/2006/relationships/oleObject" Target="../embeddings/oleObject34.bin"/><Relationship Id="rId8" Type="http://schemas.openxmlformats.org/officeDocument/2006/relationships/image" Target="../media/image26.emf"/><Relationship Id="rId3" Type="http://schemas.openxmlformats.org/officeDocument/2006/relationships/oleObject" Target="../embeddings/oleObject18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emf"/><Relationship Id="rId13" Type="http://schemas.openxmlformats.org/officeDocument/2006/relationships/oleObject" Target="../embeddings/oleObject42.bin"/><Relationship Id="rId18" Type="http://schemas.openxmlformats.org/officeDocument/2006/relationships/image" Target="../media/image50.emf"/><Relationship Id="rId3" Type="http://schemas.openxmlformats.org/officeDocument/2006/relationships/oleObject" Target="../embeddings/oleObject37.bin"/><Relationship Id="rId21" Type="http://schemas.openxmlformats.org/officeDocument/2006/relationships/oleObject" Target="../embeddings/oleObject46.bin"/><Relationship Id="rId7" Type="http://schemas.openxmlformats.org/officeDocument/2006/relationships/oleObject" Target="../embeddings/oleObject39.bin"/><Relationship Id="rId12" Type="http://schemas.openxmlformats.org/officeDocument/2006/relationships/image" Target="../media/image47.emf"/><Relationship Id="rId17" Type="http://schemas.openxmlformats.org/officeDocument/2006/relationships/oleObject" Target="../embeddings/oleObject4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9.emf"/><Relationship Id="rId20" Type="http://schemas.openxmlformats.org/officeDocument/2006/relationships/image" Target="../media/image51.emf"/><Relationship Id="rId1" Type="http://schemas.openxmlformats.org/officeDocument/2006/relationships/vmlDrawing" Target="../drawings/vmlDrawing4.vml"/><Relationship Id="rId6" Type="http://schemas.openxmlformats.org/officeDocument/2006/relationships/image" Target="../media/image44.emf"/><Relationship Id="rId11" Type="http://schemas.openxmlformats.org/officeDocument/2006/relationships/oleObject" Target="../embeddings/oleObject41.bin"/><Relationship Id="rId24" Type="http://schemas.openxmlformats.org/officeDocument/2006/relationships/image" Target="../media/image53.wmf"/><Relationship Id="rId5" Type="http://schemas.openxmlformats.org/officeDocument/2006/relationships/oleObject" Target="../embeddings/oleObject38.bin"/><Relationship Id="rId15" Type="http://schemas.openxmlformats.org/officeDocument/2006/relationships/oleObject" Target="../embeddings/oleObject43.bin"/><Relationship Id="rId23" Type="http://schemas.openxmlformats.org/officeDocument/2006/relationships/oleObject" Target="../embeddings/oleObject47.bin"/><Relationship Id="rId10" Type="http://schemas.openxmlformats.org/officeDocument/2006/relationships/image" Target="../media/image46.emf"/><Relationship Id="rId19" Type="http://schemas.openxmlformats.org/officeDocument/2006/relationships/oleObject" Target="../embeddings/oleObject45.bin"/><Relationship Id="rId4" Type="http://schemas.openxmlformats.org/officeDocument/2006/relationships/image" Target="../media/image43.emf"/><Relationship Id="rId9" Type="http://schemas.openxmlformats.org/officeDocument/2006/relationships/oleObject" Target="../embeddings/oleObject40.bin"/><Relationship Id="rId14" Type="http://schemas.openxmlformats.org/officeDocument/2006/relationships/image" Target="../media/image48.emf"/><Relationship Id="rId22" Type="http://schemas.openxmlformats.org/officeDocument/2006/relationships/image" Target="../media/image52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emf"/><Relationship Id="rId13" Type="http://schemas.openxmlformats.org/officeDocument/2006/relationships/oleObject" Target="../embeddings/oleObject53.bin"/><Relationship Id="rId3" Type="http://schemas.openxmlformats.org/officeDocument/2006/relationships/oleObject" Target="../embeddings/oleObject48.bin"/><Relationship Id="rId7" Type="http://schemas.openxmlformats.org/officeDocument/2006/relationships/oleObject" Target="../embeddings/oleObject50.bin"/><Relationship Id="rId12" Type="http://schemas.openxmlformats.org/officeDocument/2006/relationships/image" Target="../media/image58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55.emf"/><Relationship Id="rId11" Type="http://schemas.openxmlformats.org/officeDocument/2006/relationships/oleObject" Target="../embeddings/oleObject52.bin"/><Relationship Id="rId5" Type="http://schemas.openxmlformats.org/officeDocument/2006/relationships/oleObject" Target="../embeddings/oleObject49.bin"/><Relationship Id="rId10" Type="http://schemas.openxmlformats.org/officeDocument/2006/relationships/image" Target="../media/image57.emf"/><Relationship Id="rId4" Type="http://schemas.openxmlformats.org/officeDocument/2006/relationships/image" Target="../media/image54.emf"/><Relationship Id="rId9" Type="http://schemas.openxmlformats.org/officeDocument/2006/relationships/oleObject" Target="../embeddings/oleObject51.bin"/><Relationship Id="rId14" Type="http://schemas.openxmlformats.org/officeDocument/2006/relationships/image" Target="../media/image59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60.png"/><Relationship Id="rId4" Type="http://schemas.openxmlformats.org/officeDocument/2006/relationships/oleObject" Target="../embeddings/oleObject54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emf"/><Relationship Id="rId13" Type="http://schemas.openxmlformats.org/officeDocument/2006/relationships/oleObject" Target="../embeddings/oleObject60.bin"/><Relationship Id="rId18" Type="http://schemas.openxmlformats.org/officeDocument/2006/relationships/image" Target="../media/image69.emf"/><Relationship Id="rId3" Type="http://schemas.openxmlformats.org/officeDocument/2006/relationships/oleObject" Target="../embeddings/oleObject55.bin"/><Relationship Id="rId7" Type="http://schemas.openxmlformats.org/officeDocument/2006/relationships/oleObject" Target="../embeddings/oleObject57.bin"/><Relationship Id="rId12" Type="http://schemas.openxmlformats.org/officeDocument/2006/relationships/image" Target="../media/image66.emf"/><Relationship Id="rId17" Type="http://schemas.openxmlformats.org/officeDocument/2006/relationships/oleObject" Target="../embeddings/oleObject6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68.emf"/><Relationship Id="rId1" Type="http://schemas.openxmlformats.org/officeDocument/2006/relationships/vmlDrawing" Target="../drawings/vmlDrawing7.vml"/><Relationship Id="rId6" Type="http://schemas.openxmlformats.org/officeDocument/2006/relationships/image" Target="../media/image63.emf"/><Relationship Id="rId11" Type="http://schemas.openxmlformats.org/officeDocument/2006/relationships/oleObject" Target="../embeddings/oleObject59.bin"/><Relationship Id="rId5" Type="http://schemas.openxmlformats.org/officeDocument/2006/relationships/oleObject" Target="../embeddings/oleObject56.bin"/><Relationship Id="rId15" Type="http://schemas.openxmlformats.org/officeDocument/2006/relationships/oleObject" Target="../embeddings/oleObject61.bin"/><Relationship Id="rId10" Type="http://schemas.openxmlformats.org/officeDocument/2006/relationships/image" Target="../media/image65.emf"/><Relationship Id="rId4" Type="http://schemas.openxmlformats.org/officeDocument/2006/relationships/image" Target="../media/image62.emf"/><Relationship Id="rId9" Type="http://schemas.openxmlformats.org/officeDocument/2006/relationships/oleObject" Target="../embeddings/oleObject58.bin"/><Relationship Id="rId14" Type="http://schemas.openxmlformats.org/officeDocument/2006/relationships/image" Target="../media/image67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1.jpeg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68.bin"/><Relationship Id="rId18" Type="http://schemas.openxmlformats.org/officeDocument/2006/relationships/image" Target="../media/image79.emf"/><Relationship Id="rId26" Type="http://schemas.openxmlformats.org/officeDocument/2006/relationships/image" Target="../media/image83.emf"/><Relationship Id="rId3" Type="http://schemas.openxmlformats.org/officeDocument/2006/relationships/oleObject" Target="../embeddings/oleObject63.bin"/><Relationship Id="rId21" Type="http://schemas.openxmlformats.org/officeDocument/2006/relationships/oleObject" Target="../embeddings/oleObject72.bin"/><Relationship Id="rId34" Type="http://schemas.openxmlformats.org/officeDocument/2006/relationships/image" Target="../media/image87.emf"/><Relationship Id="rId7" Type="http://schemas.openxmlformats.org/officeDocument/2006/relationships/oleObject" Target="../embeddings/oleObject65.bin"/><Relationship Id="rId12" Type="http://schemas.openxmlformats.org/officeDocument/2006/relationships/image" Target="../media/image76.emf"/><Relationship Id="rId17" Type="http://schemas.openxmlformats.org/officeDocument/2006/relationships/oleObject" Target="../embeddings/oleObject70.bin"/><Relationship Id="rId25" Type="http://schemas.openxmlformats.org/officeDocument/2006/relationships/oleObject" Target="../embeddings/oleObject74.bin"/><Relationship Id="rId33" Type="http://schemas.openxmlformats.org/officeDocument/2006/relationships/oleObject" Target="../embeddings/oleObject7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8.emf"/><Relationship Id="rId20" Type="http://schemas.openxmlformats.org/officeDocument/2006/relationships/image" Target="../media/image80.emf"/><Relationship Id="rId29" Type="http://schemas.openxmlformats.org/officeDocument/2006/relationships/oleObject" Target="../embeddings/oleObject76.bin"/><Relationship Id="rId1" Type="http://schemas.openxmlformats.org/officeDocument/2006/relationships/vmlDrawing" Target="../drawings/vmlDrawing8.vml"/><Relationship Id="rId6" Type="http://schemas.openxmlformats.org/officeDocument/2006/relationships/image" Target="../media/image73.emf"/><Relationship Id="rId11" Type="http://schemas.openxmlformats.org/officeDocument/2006/relationships/oleObject" Target="../embeddings/oleObject67.bin"/><Relationship Id="rId24" Type="http://schemas.openxmlformats.org/officeDocument/2006/relationships/image" Target="../media/image82.emf"/><Relationship Id="rId32" Type="http://schemas.openxmlformats.org/officeDocument/2006/relationships/image" Target="../media/image86.emf"/><Relationship Id="rId5" Type="http://schemas.openxmlformats.org/officeDocument/2006/relationships/oleObject" Target="../embeddings/oleObject64.bin"/><Relationship Id="rId15" Type="http://schemas.openxmlformats.org/officeDocument/2006/relationships/oleObject" Target="../embeddings/oleObject69.bin"/><Relationship Id="rId23" Type="http://schemas.openxmlformats.org/officeDocument/2006/relationships/oleObject" Target="../embeddings/oleObject73.bin"/><Relationship Id="rId28" Type="http://schemas.openxmlformats.org/officeDocument/2006/relationships/image" Target="../media/image84.emf"/><Relationship Id="rId36" Type="http://schemas.openxmlformats.org/officeDocument/2006/relationships/image" Target="../media/image88.emf"/><Relationship Id="rId10" Type="http://schemas.openxmlformats.org/officeDocument/2006/relationships/image" Target="../media/image75.emf"/><Relationship Id="rId19" Type="http://schemas.openxmlformats.org/officeDocument/2006/relationships/oleObject" Target="../embeddings/oleObject71.bin"/><Relationship Id="rId31" Type="http://schemas.openxmlformats.org/officeDocument/2006/relationships/oleObject" Target="../embeddings/oleObject77.bin"/><Relationship Id="rId4" Type="http://schemas.openxmlformats.org/officeDocument/2006/relationships/image" Target="../media/image72.emf"/><Relationship Id="rId9" Type="http://schemas.openxmlformats.org/officeDocument/2006/relationships/oleObject" Target="../embeddings/oleObject66.bin"/><Relationship Id="rId14" Type="http://schemas.openxmlformats.org/officeDocument/2006/relationships/image" Target="../media/image77.emf"/><Relationship Id="rId22" Type="http://schemas.openxmlformats.org/officeDocument/2006/relationships/image" Target="../media/image81.emf"/><Relationship Id="rId27" Type="http://schemas.openxmlformats.org/officeDocument/2006/relationships/oleObject" Target="../embeddings/oleObject75.bin"/><Relationship Id="rId30" Type="http://schemas.openxmlformats.org/officeDocument/2006/relationships/image" Target="../media/image85.emf"/><Relationship Id="rId35" Type="http://schemas.openxmlformats.org/officeDocument/2006/relationships/oleObject" Target="../embeddings/oleObject79.bin"/><Relationship Id="rId8" Type="http://schemas.openxmlformats.org/officeDocument/2006/relationships/image" Target="../media/image74.e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emf"/><Relationship Id="rId13" Type="http://schemas.openxmlformats.org/officeDocument/2006/relationships/oleObject" Target="../embeddings/oleObject85.bin"/><Relationship Id="rId18" Type="http://schemas.openxmlformats.org/officeDocument/2006/relationships/image" Target="../media/image96.emf"/><Relationship Id="rId3" Type="http://schemas.openxmlformats.org/officeDocument/2006/relationships/oleObject" Target="../embeddings/oleObject80.bin"/><Relationship Id="rId7" Type="http://schemas.openxmlformats.org/officeDocument/2006/relationships/oleObject" Target="../embeddings/oleObject82.bin"/><Relationship Id="rId12" Type="http://schemas.openxmlformats.org/officeDocument/2006/relationships/image" Target="../media/image93.emf"/><Relationship Id="rId17" Type="http://schemas.openxmlformats.org/officeDocument/2006/relationships/oleObject" Target="../embeddings/oleObject8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95.emf"/><Relationship Id="rId20" Type="http://schemas.openxmlformats.org/officeDocument/2006/relationships/image" Target="../media/image97.emf"/><Relationship Id="rId1" Type="http://schemas.openxmlformats.org/officeDocument/2006/relationships/vmlDrawing" Target="../drawings/vmlDrawing9.vml"/><Relationship Id="rId6" Type="http://schemas.openxmlformats.org/officeDocument/2006/relationships/image" Target="../media/image90.emf"/><Relationship Id="rId11" Type="http://schemas.openxmlformats.org/officeDocument/2006/relationships/oleObject" Target="../embeddings/oleObject84.bin"/><Relationship Id="rId5" Type="http://schemas.openxmlformats.org/officeDocument/2006/relationships/oleObject" Target="../embeddings/oleObject81.bin"/><Relationship Id="rId15" Type="http://schemas.openxmlformats.org/officeDocument/2006/relationships/oleObject" Target="../embeddings/oleObject86.bin"/><Relationship Id="rId10" Type="http://schemas.openxmlformats.org/officeDocument/2006/relationships/image" Target="../media/image92.emf"/><Relationship Id="rId19" Type="http://schemas.openxmlformats.org/officeDocument/2006/relationships/oleObject" Target="../embeddings/oleObject88.bin"/><Relationship Id="rId4" Type="http://schemas.openxmlformats.org/officeDocument/2006/relationships/image" Target="../media/image89.emf"/><Relationship Id="rId9" Type="http://schemas.openxmlformats.org/officeDocument/2006/relationships/oleObject" Target="../embeddings/oleObject83.bin"/><Relationship Id="rId14" Type="http://schemas.openxmlformats.org/officeDocument/2006/relationships/image" Target="../media/image94.e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png"/><Relationship Id="rId3" Type="http://schemas.openxmlformats.org/officeDocument/2006/relationships/image" Target="../media/image100.png"/><Relationship Id="rId7" Type="http://schemas.openxmlformats.org/officeDocument/2006/relationships/image" Target="../media/image99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90.bin"/><Relationship Id="rId5" Type="http://schemas.openxmlformats.org/officeDocument/2006/relationships/image" Target="../media/image98.emf"/><Relationship Id="rId4" Type="http://schemas.openxmlformats.org/officeDocument/2006/relationships/oleObject" Target="../embeddings/oleObject89.bin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96.bin"/><Relationship Id="rId18" Type="http://schemas.openxmlformats.org/officeDocument/2006/relationships/image" Target="../media/image109.emf"/><Relationship Id="rId26" Type="http://schemas.openxmlformats.org/officeDocument/2006/relationships/image" Target="../media/image113.emf"/><Relationship Id="rId3" Type="http://schemas.openxmlformats.org/officeDocument/2006/relationships/oleObject" Target="../embeddings/oleObject91.bin"/><Relationship Id="rId21" Type="http://schemas.openxmlformats.org/officeDocument/2006/relationships/oleObject" Target="../embeddings/oleObject100.bin"/><Relationship Id="rId7" Type="http://schemas.openxmlformats.org/officeDocument/2006/relationships/oleObject" Target="../embeddings/oleObject93.bin"/><Relationship Id="rId12" Type="http://schemas.openxmlformats.org/officeDocument/2006/relationships/image" Target="../media/image106.emf"/><Relationship Id="rId17" Type="http://schemas.openxmlformats.org/officeDocument/2006/relationships/oleObject" Target="../embeddings/oleObject98.bin"/><Relationship Id="rId25" Type="http://schemas.openxmlformats.org/officeDocument/2006/relationships/oleObject" Target="../embeddings/oleObject102.bin"/><Relationship Id="rId33" Type="http://schemas.openxmlformats.org/officeDocument/2006/relationships/image" Target="../media/image116.e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08.emf"/><Relationship Id="rId20" Type="http://schemas.openxmlformats.org/officeDocument/2006/relationships/image" Target="../media/image110.emf"/><Relationship Id="rId29" Type="http://schemas.openxmlformats.org/officeDocument/2006/relationships/image" Target="../media/image114.emf"/><Relationship Id="rId1" Type="http://schemas.openxmlformats.org/officeDocument/2006/relationships/vmlDrawing" Target="../drawings/vmlDrawing11.vml"/><Relationship Id="rId6" Type="http://schemas.openxmlformats.org/officeDocument/2006/relationships/image" Target="../media/image103.emf"/><Relationship Id="rId11" Type="http://schemas.openxmlformats.org/officeDocument/2006/relationships/oleObject" Target="../embeddings/oleObject95.bin"/><Relationship Id="rId24" Type="http://schemas.openxmlformats.org/officeDocument/2006/relationships/image" Target="../media/image112.emf"/><Relationship Id="rId32" Type="http://schemas.openxmlformats.org/officeDocument/2006/relationships/oleObject" Target="../embeddings/oleObject105.bin"/><Relationship Id="rId5" Type="http://schemas.openxmlformats.org/officeDocument/2006/relationships/oleObject" Target="../embeddings/oleObject92.bin"/><Relationship Id="rId15" Type="http://schemas.openxmlformats.org/officeDocument/2006/relationships/oleObject" Target="../embeddings/oleObject97.bin"/><Relationship Id="rId23" Type="http://schemas.openxmlformats.org/officeDocument/2006/relationships/oleObject" Target="../embeddings/oleObject101.bin"/><Relationship Id="rId28" Type="http://schemas.openxmlformats.org/officeDocument/2006/relationships/oleObject" Target="../embeddings/oleObject103.bin"/><Relationship Id="rId10" Type="http://schemas.openxmlformats.org/officeDocument/2006/relationships/image" Target="../media/image105.emf"/><Relationship Id="rId19" Type="http://schemas.openxmlformats.org/officeDocument/2006/relationships/oleObject" Target="../embeddings/oleObject99.bin"/><Relationship Id="rId31" Type="http://schemas.openxmlformats.org/officeDocument/2006/relationships/image" Target="../media/image115.emf"/><Relationship Id="rId4" Type="http://schemas.openxmlformats.org/officeDocument/2006/relationships/image" Target="../media/image102.emf"/><Relationship Id="rId9" Type="http://schemas.openxmlformats.org/officeDocument/2006/relationships/oleObject" Target="../embeddings/oleObject94.bin"/><Relationship Id="rId14" Type="http://schemas.openxmlformats.org/officeDocument/2006/relationships/image" Target="../media/image107.emf"/><Relationship Id="rId22" Type="http://schemas.openxmlformats.org/officeDocument/2006/relationships/image" Target="../media/image111.emf"/><Relationship Id="rId27" Type="http://schemas.openxmlformats.org/officeDocument/2006/relationships/image" Target="../media/image117.png"/><Relationship Id="rId30" Type="http://schemas.openxmlformats.org/officeDocument/2006/relationships/oleObject" Target="../embeddings/oleObject104.bin"/><Relationship Id="rId8" Type="http://schemas.openxmlformats.org/officeDocument/2006/relationships/image" Target="../media/image104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7" Type="http://schemas.openxmlformats.org/officeDocument/2006/relationships/image" Target="../media/image119.jpe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118.jpeg"/><Relationship Id="rId5" Type="http://schemas.openxmlformats.org/officeDocument/2006/relationships/image" Target="../media/image117.emf"/><Relationship Id="rId4" Type="http://schemas.openxmlformats.org/officeDocument/2006/relationships/oleObject" Target="../embeddings/oleObject106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6.jpeg"/><Relationship Id="rId3" Type="http://schemas.openxmlformats.org/officeDocument/2006/relationships/image" Target="../media/image121.jpeg"/><Relationship Id="rId7" Type="http://schemas.openxmlformats.org/officeDocument/2006/relationships/image" Target="../media/image125.jpeg"/><Relationship Id="rId12" Type="http://schemas.openxmlformats.org/officeDocument/2006/relationships/image" Target="../media/image130.gif"/><Relationship Id="rId2" Type="http://schemas.openxmlformats.org/officeDocument/2006/relationships/image" Target="../media/image120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4.jpeg"/><Relationship Id="rId11" Type="http://schemas.openxmlformats.org/officeDocument/2006/relationships/image" Target="../media/image129.jpeg"/><Relationship Id="rId5" Type="http://schemas.openxmlformats.org/officeDocument/2006/relationships/image" Target="../media/image123.jpeg"/><Relationship Id="rId10" Type="http://schemas.openxmlformats.org/officeDocument/2006/relationships/image" Target="../media/image128.jpeg"/><Relationship Id="rId4" Type="http://schemas.openxmlformats.org/officeDocument/2006/relationships/image" Target="../media/image122.jpeg"/><Relationship Id="rId9" Type="http://schemas.openxmlformats.org/officeDocument/2006/relationships/image" Target="../media/image127.jpe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7.jpeg"/><Relationship Id="rId3" Type="http://schemas.openxmlformats.org/officeDocument/2006/relationships/image" Target="../media/image132.jpeg"/><Relationship Id="rId7" Type="http://schemas.openxmlformats.org/officeDocument/2006/relationships/image" Target="../media/image136.jpeg"/><Relationship Id="rId2" Type="http://schemas.openxmlformats.org/officeDocument/2006/relationships/image" Target="../media/image13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5.jpeg"/><Relationship Id="rId5" Type="http://schemas.openxmlformats.org/officeDocument/2006/relationships/image" Target="../media/image134.jpeg"/><Relationship Id="rId4" Type="http://schemas.openxmlformats.org/officeDocument/2006/relationships/image" Target="../media/image133.jpeg"/><Relationship Id="rId9" Type="http://schemas.openxmlformats.org/officeDocument/2006/relationships/image" Target="../media/image138.gi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9.bin"/><Relationship Id="rId3" Type="http://schemas.openxmlformats.org/officeDocument/2006/relationships/oleObject" Target="../embeddings/oleObject107.bin"/><Relationship Id="rId7" Type="http://schemas.openxmlformats.org/officeDocument/2006/relationships/image" Target="../media/image140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108.bin"/><Relationship Id="rId11" Type="http://schemas.openxmlformats.org/officeDocument/2006/relationships/hyperlink" Target="&#32032;&#26448;/&#24178;&#28041;&#20202;&#65288;&#30456;&#24178;&#38271;&#24230;&#65289;.swf" TargetMode="External"/><Relationship Id="rId5" Type="http://schemas.openxmlformats.org/officeDocument/2006/relationships/image" Target="../media/image142.jpeg"/><Relationship Id="rId10" Type="http://schemas.openxmlformats.org/officeDocument/2006/relationships/hyperlink" Target="../&#26032;&#24314;&#25991;&#20214;&#22841;/&#22522;&#26412;&#35838;&#20214;/&#31532;14&#31456;/&#21160;&#30011;/&#24377;&#31783;&#25391;&#23376;1(&#21147;&#30340;&#21464;&#21270;&#65289;.swf" TargetMode="External"/><Relationship Id="rId4" Type="http://schemas.openxmlformats.org/officeDocument/2006/relationships/image" Target="../media/image139.emf"/><Relationship Id="rId9" Type="http://schemas.openxmlformats.org/officeDocument/2006/relationships/image" Target="../media/image141.e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9.jpeg"/><Relationship Id="rId13" Type="http://schemas.openxmlformats.org/officeDocument/2006/relationships/image" Target="../media/image146.emf"/><Relationship Id="rId3" Type="http://schemas.openxmlformats.org/officeDocument/2006/relationships/oleObject" Target="../embeddings/oleObject110.bin"/><Relationship Id="rId7" Type="http://schemas.openxmlformats.org/officeDocument/2006/relationships/image" Target="../media/image144.emf"/><Relationship Id="rId12" Type="http://schemas.openxmlformats.org/officeDocument/2006/relationships/oleObject" Target="../embeddings/oleObject113.bin"/><Relationship Id="rId17" Type="http://schemas.openxmlformats.org/officeDocument/2006/relationships/image" Target="../media/image152.jpeg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47.emf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111.bin"/><Relationship Id="rId11" Type="http://schemas.openxmlformats.org/officeDocument/2006/relationships/image" Target="../media/image150.jpeg"/><Relationship Id="rId5" Type="http://schemas.openxmlformats.org/officeDocument/2006/relationships/image" Target="../media/image148.jpeg"/><Relationship Id="rId15" Type="http://schemas.openxmlformats.org/officeDocument/2006/relationships/oleObject" Target="../embeddings/oleObject114.bin"/><Relationship Id="rId10" Type="http://schemas.openxmlformats.org/officeDocument/2006/relationships/image" Target="../media/image145.emf"/><Relationship Id="rId4" Type="http://schemas.openxmlformats.org/officeDocument/2006/relationships/image" Target="../media/image143.emf"/><Relationship Id="rId9" Type="http://schemas.openxmlformats.org/officeDocument/2006/relationships/oleObject" Target="../embeddings/oleObject112.bin"/><Relationship Id="rId14" Type="http://schemas.openxmlformats.org/officeDocument/2006/relationships/image" Target="../media/image151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6.emf"/><Relationship Id="rId13" Type="http://schemas.openxmlformats.org/officeDocument/2006/relationships/oleObject" Target="../embeddings/oleObject120.bin"/><Relationship Id="rId18" Type="http://schemas.openxmlformats.org/officeDocument/2006/relationships/image" Target="../media/image161.emf"/><Relationship Id="rId26" Type="http://schemas.openxmlformats.org/officeDocument/2006/relationships/image" Target="../media/image165.emf"/><Relationship Id="rId3" Type="http://schemas.openxmlformats.org/officeDocument/2006/relationships/oleObject" Target="../embeddings/oleObject115.bin"/><Relationship Id="rId21" Type="http://schemas.openxmlformats.org/officeDocument/2006/relationships/oleObject" Target="../embeddings/oleObject124.bin"/><Relationship Id="rId7" Type="http://schemas.openxmlformats.org/officeDocument/2006/relationships/oleObject" Target="../embeddings/oleObject117.bin"/><Relationship Id="rId12" Type="http://schemas.openxmlformats.org/officeDocument/2006/relationships/image" Target="../media/image158.emf"/><Relationship Id="rId17" Type="http://schemas.openxmlformats.org/officeDocument/2006/relationships/oleObject" Target="../embeddings/oleObject122.bin"/><Relationship Id="rId25" Type="http://schemas.openxmlformats.org/officeDocument/2006/relationships/oleObject" Target="../embeddings/oleObject126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60.emf"/><Relationship Id="rId20" Type="http://schemas.openxmlformats.org/officeDocument/2006/relationships/image" Target="../media/image162.emf"/><Relationship Id="rId1" Type="http://schemas.openxmlformats.org/officeDocument/2006/relationships/vmlDrawing" Target="../drawings/vmlDrawing15.vml"/><Relationship Id="rId6" Type="http://schemas.openxmlformats.org/officeDocument/2006/relationships/image" Target="../media/image155.emf"/><Relationship Id="rId11" Type="http://schemas.openxmlformats.org/officeDocument/2006/relationships/oleObject" Target="../embeddings/oleObject119.bin"/><Relationship Id="rId24" Type="http://schemas.openxmlformats.org/officeDocument/2006/relationships/image" Target="../media/image164.emf"/><Relationship Id="rId5" Type="http://schemas.openxmlformats.org/officeDocument/2006/relationships/oleObject" Target="../embeddings/oleObject116.bin"/><Relationship Id="rId15" Type="http://schemas.openxmlformats.org/officeDocument/2006/relationships/oleObject" Target="../embeddings/oleObject121.bin"/><Relationship Id="rId23" Type="http://schemas.openxmlformats.org/officeDocument/2006/relationships/oleObject" Target="../embeddings/oleObject125.bin"/><Relationship Id="rId10" Type="http://schemas.openxmlformats.org/officeDocument/2006/relationships/image" Target="../media/image157.emf"/><Relationship Id="rId19" Type="http://schemas.openxmlformats.org/officeDocument/2006/relationships/oleObject" Target="../embeddings/oleObject123.bin"/><Relationship Id="rId4" Type="http://schemas.openxmlformats.org/officeDocument/2006/relationships/image" Target="../media/image154.emf"/><Relationship Id="rId9" Type="http://schemas.openxmlformats.org/officeDocument/2006/relationships/oleObject" Target="../embeddings/oleObject118.bin"/><Relationship Id="rId14" Type="http://schemas.openxmlformats.org/officeDocument/2006/relationships/image" Target="../media/image159.emf"/><Relationship Id="rId22" Type="http://schemas.openxmlformats.org/officeDocument/2006/relationships/image" Target="../media/image163.e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8.emf"/><Relationship Id="rId13" Type="http://schemas.openxmlformats.org/officeDocument/2006/relationships/oleObject" Target="../embeddings/oleObject132.bin"/><Relationship Id="rId18" Type="http://schemas.openxmlformats.org/officeDocument/2006/relationships/image" Target="../media/image173.emf"/><Relationship Id="rId26" Type="http://schemas.openxmlformats.org/officeDocument/2006/relationships/image" Target="../media/image177.emf"/><Relationship Id="rId3" Type="http://schemas.openxmlformats.org/officeDocument/2006/relationships/oleObject" Target="../embeddings/oleObject127.bin"/><Relationship Id="rId21" Type="http://schemas.openxmlformats.org/officeDocument/2006/relationships/oleObject" Target="../embeddings/oleObject136.bin"/><Relationship Id="rId7" Type="http://schemas.openxmlformats.org/officeDocument/2006/relationships/oleObject" Target="../embeddings/oleObject129.bin"/><Relationship Id="rId12" Type="http://schemas.openxmlformats.org/officeDocument/2006/relationships/image" Target="../media/image170.emf"/><Relationship Id="rId17" Type="http://schemas.openxmlformats.org/officeDocument/2006/relationships/oleObject" Target="../embeddings/oleObject134.bin"/><Relationship Id="rId25" Type="http://schemas.openxmlformats.org/officeDocument/2006/relationships/oleObject" Target="../embeddings/oleObject13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72.emf"/><Relationship Id="rId20" Type="http://schemas.openxmlformats.org/officeDocument/2006/relationships/image" Target="../media/image174.emf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67.emf"/><Relationship Id="rId11" Type="http://schemas.openxmlformats.org/officeDocument/2006/relationships/oleObject" Target="../embeddings/oleObject131.bin"/><Relationship Id="rId24" Type="http://schemas.openxmlformats.org/officeDocument/2006/relationships/image" Target="../media/image176.emf"/><Relationship Id="rId5" Type="http://schemas.openxmlformats.org/officeDocument/2006/relationships/oleObject" Target="../embeddings/oleObject128.bin"/><Relationship Id="rId15" Type="http://schemas.openxmlformats.org/officeDocument/2006/relationships/oleObject" Target="../embeddings/oleObject133.bin"/><Relationship Id="rId23" Type="http://schemas.openxmlformats.org/officeDocument/2006/relationships/oleObject" Target="../embeddings/oleObject137.bin"/><Relationship Id="rId10" Type="http://schemas.openxmlformats.org/officeDocument/2006/relationships/image" Target="../media/image169.emf"/><Relationship Id="rId19" Type="http://schemas.openxmlformats.org/officeDocument/2006/relationships/oleObject" Target="../embeddings/oleObject135.bin"/><Relationship Id="rId4" Type="http://schemas.openxmlformats.org/officeDocument/2006/relationships/image" Target="../media/image166.emf"/><Relationship Id="rId9" Type="http://schemas.openxmlformats.org/officeDocument/2006/relationships/oleObject" Target="../embeddings/oleObject130.bin"/><Relationship Id="rId14" Type="http://schemas.openxmlformats.org/officeDocument/2006/relationships/image" Target="../media/image171.emf"/><Relationship Id="rId22" Type="http://schemas.openxmlformats.org/officeDocument/2006/relationships/image" Target="../media/image175.e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0.emf"/><Relationship Id="rId13" Type="http://schemas.openxmlformats.org/officeDocument/2006/relationships/oleObject" Target="../embeddings/oleObject144.bin"/><Relationship Id="rId18" Type="http://schemas.openxmlformats.org/officeDocument/2006/relationships/image" Target="../media/image185.emf"/><Relationship Id="rId3" Type="http://schemas.openxmlformats.org/officeDocument/2006/relationships/oleObject" Target="../embeddings/oleObject139.bin"/><Relationship Id="rId21" Type="http://schemas.openxmlformats.org/officeDocument/2006/relationships/oleObject" Target="../embeddings/oleObject148.bin"/><Relationship Id="rId7" Type="http://schemas.openxmlformats.org/officeDocument/2006/relationships/oleObject" Target="../embeddings/oleObject141.bin"/><Relationship Id="rId12" Type="http://schemas.openxmlformats.org/officeDocument/2006/relationships/image" Target="../media/image182.emf"/><Relationship Id="rId17" Type="http://schemas.openxmlformats.org/officeDocument/2006/relationships/oleObject" Target="../embeddings/oleObject14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84.emf"/><Relationship Id="rId20" Type="http://schemas.openxmlformats.org/officeDocument/2006/relationships/image" Target="../media/image186.emf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79.emf"/><Relationship Id="rId11" Type="http://schemas.openxmlformats.org/officeDocument/2006/relationships/oleObject" Target="../embeddings/oleObject143.bin"/><Relationship Id="rId24" Type="http://schemas.openxmlformats.org/officeDocument/2006/relationships/image" Target="../media/image188.emf"/><Relationship Id="rId5" Type="http://schemas.openxmlformats.org/officeDocument/2006/relationships/oleObject" Target="../embeddings/oleObject140.bin"/><Relationship Id="rId15" Type="http://schemas.openxmlformats.org/officeDocument/2006/relationships/oleObject" Target="../embeddings/oleObject145.bin"/><Relationship Id="rId23" Type="http://schemas.openxmlformats.org/officeDocument/2006/relationships/oleObject" Target="../embeddings/oleObject149.bin"/><Relationship Id="rId10" Type="http://schemas.openxmlformats.org/officeDocument/2006/relationships/image" Target="../media/image181.emf"/><Relationship Id="rId19" Type="http://schemas.openxmlformats.org/officeDocument/2006/relationships/oleObject" Target="../embeddings/oleObject147.bin"/><Relationship Id="rId4" Type="http://schemas.openxmlformats.org/officeDocument/2006/relationships/image" Target="../media/image178.emf"/><Relationship Id="rId9" Type="http://schemas.openxmlformats.org/officeDocument/2006/relationships/oleObject" Target="../embeddings/oleObject142.bin"/><Relationship Id="rId14" Type="http://schemas.openxmlformats.org/officeDocument/2006/relationships/image" Target="../media/image183.emf"/><Relationship Id="rId22" Type="http://schemas.openxmlformats.org/officeDocument/2006/relationships/image" Target="../media/image187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5">
            <a:extLst>
              <a:ext uri="{FF2B5EF4-FFF2-40B4-BE49-F238E27FC236}">
                <a16:creationId xmlns:a16="http://schemas.microsoft.com/office/drawing/2014/main" id="{07E43EF3-D066-4373-A94E-07BA3884BEF6}"/>
              </a:ext>
            </a:extLst>
          </p:cNvPr>
          <p:cNvGrpSpPr>
            <a:grpSpLocks/>
          </p:cNvGrpSpPr>
          <p:nvPr/>
        </p:nvGrpSpPr>
        <p:grpSpPr bwMode="auto">
          <a:xfrm>
            <a:off x="-571500" y="0"/>
            <a:ext cx="10293350" cy="6858000"/>
            <a:chOff x="-571500" y="0"/>
            <a:chExt cx="10293350" cy="685802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454AEDA-DF76-464B-B275-DA37D0B06A0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571500" y="0"/>
              <a:ext cx="10293350" cy="685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矩形 4">
              <a:extLst>
                <a:ext uri="{FF2B5EF4-FFF2-40B4-BE49-F238E27FC236}">
                  <a16:creationId xmlns:a16="http://schemas.microsoft.com/office/drawing/2014/main" id="{957412E8-7F55-49AC-9415-861153D003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4208" y="6457914"/>
              <a:ext cx="261962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b="0" dirty="0">
                  <a:solidFill>
                    <a:srgbClr val="FF0000"/>
                  </a:solidFill>
                </a:rPr>
                <a:t>Yosemite National Park</a:t>
              </a:r>
              <a:endParaRPr lang="zh-CN" altLang="en-US" sz="2000" dirty="0">
                <a:solidFill>
                  <a:srgbClr val="FF0000"/>
                </a:solidFill>
              </a:endParaRPr>
            </a:p>
          </p:txBody>
        </p:sp>
      </p:grpSp>
      <p:sp>
        <p:nvSpPr>
          <p:cNvPr id="7" name="Text Box 1039"/>
          <p:cNvSpPr txBox="1">
            <a:spLocks noChangeArrowheads="1"/>
          </p:cNvSpPr>
          <p:nvPr/>
        </p:nvSpPr>
        <p:spPr bwMode="auto">
          <a:xfrm>
            <a:off x="1295400" y="3705225"/>
            <a:ext cx="6705600" cy="17589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 eaLnBrk="1" hangingPunct="1">
              <a:lnSpc>
                <a:spcPct val="75000"/>
              </a:lnSpc>
              <a:defRPr/>
            </a:pPr>
            <a:r>
              <a:rPr lang="en-US" altLang="zh-CN" sz="40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Xi’an  </a:t>
            </a:r>
            <a:r>
              <a:rPr lang="en-US" altLang="zh-CN" sz="4000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Jiaotong</a:t>
            </a:r>
            <a:r>
              <a:rPr lang="en-US" altLang="zh-CN" sz="40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University</a:t>
            </a:r>
          </a:p>
          <a:p>
            <a:pPr algn="ctr" eaLnBrk="1" hangingPunct="1">
              <a:lnSpc>
                <a:spcPct val="75000"/>
              </a:lnSpc>
              <a:defRPr/>
            </a:pPr>
            <a:endParaRPr lang="zh-CN" altLang="en-US" sz="4000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楷体_GB2312" pitchFamily="49" charset="-122"/>
            </a:endParaRPr>
          </a:p>
          <a:p>
            <a:pPr algn="ctr" eaLnBrk="1" hangingPunct="1">
              <a:lnSpc>
                <a:spcPct val="75000"/>
              </a:lnSpc>
              <a:defRPr/>
            </a:pPr>
            <a:endParaRPr lang="en-US" altLang="zh-CN" sz="2800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华文仿宋" panose="02010600040101010101" pitchFamily="17" charset="-122"/>
            </a:endParaRPr>
          </a:p>
          <a:p>
            <a:pPr algn="ctr" eaLnBrk="1" hangingPunct="1">
              <a:lnSpc>
                <a:spcPct val="75000"/>
              </a:lnSpc>
              <a:defRPr/>
            </a:pPr>
            <a:r>
              <a:rPr lang="en-US" altLang="zh-CN" sz="36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仿宋" panose="02010600040101010101" pitchFamily="17" charset="-122"/>
              </a:rPr>
              <a:t>Oct. 16, 2025</a:t>
            </a:r>
          </a:p>
        </p:txBody>
      </p:sp>
      <p:sp>
        <p:nvSpPr>
          <p:cNvPr id="4099" name="WordArt 1044"/>
          <p:cNvSpPr>
            <a:spLocks noChangeArrowheads="1" noChangeShapeType="1" noTextEdit="1"/>
          </p:cNvSpPr>
          <p:nvPr/>
        </p:nvSpPr>
        <p:spPr bwMode="auto">
          <a:xfrm>
            <a:off x="539750" y="1268413"/>
            <a:ext cx="8077200" cy="1296987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altLang="zh-CN" sz="4800" i="1" kern="10" dirty="0">
                <a:solidFill>
                  <a:srgbClr val="FF0000"/>
                </a:solidFill>
                <a:effectLst>
                  <a:outerShdw dist="35921" dir="2700000" algn="ctr" rotWithShape="0">
                    <a:srgbClr val="808080"/>
                  </a:outerShdw>
                </a:effectLst>
                <a:cs typeface="Times New Roman" panose="02020603050405020304" pitchFamily="18" charset="0"/>
              </a:rPr>
              <a:t>University Physics</a:t>
            </a:r>
            <a:endParaRPr lang="zh-CN" altLang="en-US" sz="4800" i="1" kern="10" dirty="0">
              <a:solidFill>
                <a:srgbClr val="FF0000"/>
              </a:solidFill>
              <a:effectLst>
                <a:outerShdw dist="35921" dir="2700000" algn="ctr" rotWithShape="0">
                  <a:srgbClr val="808080"/>
                </a:outerShdw>
              </a:effectLst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灯片编号占位符 1">
            <a:extLst>
              <a:ext uri="{FF2B5EF4-FFF2-40B4-BE49-F238E27FC236}">
                <a16:creationId xmlns:a16="http://schemas.microsoft.com/office/drawing/2014/main" id="{7E65471B-8CDE-4D17-BF4A-0A3714DAED76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F655374-EDCB-43B2-B923-2E1140C8FAF8}" type="slidenum">
              <a:rPr lang="en-US" altLang="zh-CN" b="0">
                <a:solidFill>
                  <a:srgbClr val="FF00FF"/>
                </a:solidFill>
              </a:rPr>
              <a:pPr eaLnBrk="1" hangingPunct="1"/>
              <a:t>2</a:t>
            </a:fld>
            <a:r>
              <a:rPr lang="en-US" altLang="zh-CN" b="0">
                <a:solidFill>
                  <a:srgbClr val="FF00FF"/>
                </a:solidFill>
              </a:rPr>
              <a:t>/20</a:t>
            </a:r>
          </a:p>
        </p:txBody>
      </p:sp>
      <p:sp>
        <p:nvSpPr>
          <p:cNvPr id="22" name="Text Box 5">
            <a:hlinkClick r:id="" action="ppaction://noaction"/>
            <a:extLst>
              <a:ext uri="{FF2B5EF4-FFF2-40B4-BE49-F238E27FC236}">
                <a16:creationId xmlns:a16="http://schemas.microsoft.com/office/drawing/2014/main" id="{5865D7F1-7F77-4383-B748-96BF2918C3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6725" y="571500"/>
            <a:ext cx="3962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FFFF00"/>
                </a:solidFill>
                <a:latin typeface="华文中宋" panose="02010600040101010101" pitchFamily="2" charset="-122"/>
              </a:rPr>
              <a:t>回顾：薄膜干涉 </a:t>
            </a:r>
          </a:p>
        </p:txBody>
      </p:sp>
      <p:grpSp>
        <p:nvGrpSpPr>
          <p:cNvPr id="2" name="Group 6">
            <a:extLst>
              <a:ext uri="{FF2B5EF4-FFF2-40B4-BE49-F238E27FC236}">
                <a16:creationId xmlns:a16="http://schemas.microsoft.com/office/drawing/2014/main" id="{4D2582B2-9D6F-4E0C-A8E3-C882A5B77E4E}"/>
              </a:ext>
            </a:extLst>
          </p:cNvPr>
          <p:cNvGrpSpPr>
            <a:grpSpLocks/>
          </p:cNvGrpSpPr>
          <p:nvPr/>
        </p:nvGrpSpPr>
        <p:grpSpPr bwMode="auto">
          <a:xfrm>
            <a:off x="714375" y="2928938"/>
            <a:ext cx="3357243" cy="3614737"/>
            <a:chOff x="2290" y="1882"/>
            <a:chExt cx="2295" cy="2274"/>
          </a:xfrm>
        </p:grpSpPr>
        <p:sp>
          <p:nvSpPr>
            <p:cNvPr id="5133" name="Oval 7">
              <a:extLst>
                <a:ext uri="{FF2B5EF4-FFF2-40B4-BE49-F238E27FC236}">
                  <a16:creationId xmlns:a16="http://schemas.microsoft.com/office/drawing/2014/main" id="{66B3DD31-8948-435D-A9ED-F30F057C73B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1453853">
              <a:off x="2290" y="2375"/>
              <a:ext cx="798" cy="122"/>
            </a:xfrm>
            <a:prstGeom prst="ellipse">
              <a:avLst/>
            </a:prstGeom>
            <a:solidFill>
              <a:srgbClr val="FFFF00">
                <a:alpha val="39999"/>
              </a:srgbClr>
            </a:solidFill>
            <a:ln w="9525">
              <a:solidFill>
                <a:srgbClr val="00CC99">
                  <a:alpha val="50195"/>
                </a:srgbClr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134" name="AutoShape 8">
              <a:extLst>
                <a:ext uri="{FF2B5EF4-FFF2-40B4-BE49-F238E27FC236}">
                  <a16:creationId xmlns:a16="http://schemas.microsoft.com/office/drawing/2014/main" id="{2F2D5B9F-F94C-494A-80F2-6584ABD613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7" y="3349"/>
              <a:ext cx="2041" cy="545"/>
            </a:xfrm>
            <a:prstGeom prst="flowChartManualInput">
              <a:avLst/>
            </a:prstGeom>
            <a:solidFill>
              <a:srgbClr val="00CC99">
                <a:alpha val="3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135" name="Line 9">
              <a:extLst>
                <a:ext uri="{FF2B5EF4-FFF2-40B4-BE49-F238E27FC236}">
                  <a16:creationId xmlns:a16="http://schemas.microsoft.com/office/drawing/2014/main" id="{6A9D1142-ECC0-4DE0-BD23-912F36FEB6D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04" y="3407"/>
              <a:ext cx="15" cy="51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36" name="Line 10">
              <a:extLst>
                <a:ext uri="{FF2B5EF4-FFF2-40B4-BE49-F238E27FC236}">
                  <a16:creationId xmlns:a16="http://schemas.microsoft.com/office/drawing/2014/main" id="{51F0295F-5548-4C42-83A8-C81151FAD0F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30" y="2508"/>
              <a:ext cx="425" cy="896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 type="triangl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37" name="Line 11">
              <a:extLst>
                <a:ext uri="{FF2B5EF4-FFF2-40B4-BE49-F238E27FC236}">
                  <a16:creationId xmlns:a16="http://schemas.microsoft.com/office/drawing/2014/main" id="{7539C165-35E7-41EE-B4CE-EAF038A8C72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37" y="2572"/>
              <a:ext cx="620" cy="82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 type="triangl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38" name="Line 12">
              <a:extLst>
                <a:ext uri="{FF2B5EF4-FFF2-40B4-BE49-F238E27FC236}">
                  <a16:creationId xmlns:a16="http://schemas.microsoft.com/office/drawing/2014/main" id="{494EB4D1-365D-4DA8-A706-EC8D7778B9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29" y="3417"/>
              <a:ext cx="698" cy="2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39" name="Line 13">
              <a:extLst>
                <a:ext uri="{FF2B5EF4-FFF2-40B4-BE49-F238E27FC236}">
                  <a16:creationId xmlns:a16="http://schemas.microsoft.com/office/drawing/2014/main" id="{3E54A077-9394-4478-ABD5-BE39577E694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57" y="3417"/>
              <a:ext cx="11" cy="478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round/>
              <a:headEnd type="triangl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40" name="Rectangle 14">
              <a:extLst>
                <a:ext uri="{FF2B5EF4-FFF2-40B4-BE49-F238E27FC236}">
                  <a16:creationId xmlns:a16="http://schemas.microsoft.com/office/drawing/2014/main" id="{3E1653A0-098E-43DB-AD38-60F1403B28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5" y="2261"/>
              <a:ext cx="824" cy="3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US" dirty="0">
                  <a:solidFill>
                    <a:schemeClr val="bg1"/>
                  </a:solidFill>
                  <a:latin typeface="华文中宋" panose="02010600040101010101" pitchFamily="2" charset="-122"/>
                </a:rPr>
                <a:t>反射光</a:t>
              </a:r>
              <a:r>
                <a:rPr lang="en-US" altLang="zh-CN" dirty="0">
                  <a:solidFill>
                    <a:schemeClr val="bg1"/>
                  </a:solidFill>
                  <a:latin typeface="华文中宋" panose="02010600040101010101" pitchFamily="2" charset="-122"/>
                </a:rPr>
                <a:t>2</a:t>
              </a:r>
              <a:endParaRPr lang="en-US" altLang="zh-CN" b="0" dirty="0">
                <a:solidFill>
                  <a:schemeClr val="bg1"/>
                </a:solidFill>
                <a:latin typeface="华文中宋" panose="02010600040101010101" pitchFamily="2" charset="-122"/>
              </a:endParaRPr>
            </a:p>
          </p:txBody>
        </p:sp>
        <p:sp>
          <p:nvSpPr>
            <p:cNvPr id="5141" name="Rectangle 15">
              <a:extLst>
                <a:ext uri="{FF2B5EF4-FFF2-40B4-BE49-F238E27FC236}">
                  <a16:creationId xmlns:a16="http://schemas.microsoft.com/office/drawing/2014/main" id="{67AED039-C495-4AC9-BA21-C676E880D9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1" y="2771"/>
              <a:ext cx="784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US" dirty="0">
                  <a:solidFill>
                    <a:schemeClr val="bg1"/>
                  </a:solidFill>
                  <a:latin typeface="华文中宋" panose="02010600040101010101" pitchFamily="2" charset="-122"/>
                </a:rPr>
                <a:t>反射光</a:t>
              </a:r>
              <a:r>
                <a:rPr lang="en-US" altLang="zh-CN" dirty="0">
                  <a:solidFill>
                    <a:schemeClr val="bg1"/>
                  </a:solidFill>
                  <a:latin typeface="华文中宋" panose="02010600040101010101" pitchFamily="2" charset="-122"/>
                </a:rPr>
                <a:t>1</a:t>
              </a:r>
              <a:endParaRPr lang="en-US" altLang="zh-CN" b="0" dirty="0">
                <a:solidFill>
                  <a:schemeClr val="bg1"/>
                </a:solidFill>
                <a:latin typeface="华文中宋" panose="02010600040101010101" pitchFamily="2" charset="-122"/>
              </a:endParaRPr>
            </a:p>
          </p:txBody>
        </p:sp>
        <p:sp>
          <p:nvSpPr>
            <p:cNvPr id="5142" name="Line 16">
              <a:extLst>
                <a:ext uri="{FF2B5EF4-FFF2-40B4-BE49-F238E27FC236}">
                  <a16:creationId xmlns:a16="http://schemas.microsoft.com/office/drawing/2014/main" id="{61630A46-BDBC-4D6B-8A87-2C95779220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15" y="2573"/>
              <a:ext cx="466" cy="875"/>
            </a:xfrm>
            <a:prstGeom prst="line">
              <a:avLst/>
            </a:prstGeom>
            <a:noFill/>
            <a:ln w="19050">
              <a:solidFill>
                <a:srgbClr val="FFCC99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43" name="Line 17">
              <a:extLst>
                <a:ext uri="{FF2B5EF4-FFF2-40B4-BE49-F238E27FC236}">
                  <a16:creationId xmlns:a16="http://schemas.microsoft.com/office/drawing/2014/main" id="{DAB613D9-5A9A-4701-89F1-C62B20FA4E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1" y="3116"/>
              <a:ext cx="0" cy="710"/>
            </a:xfrm>
            <a:prstGeom prst="line">
              <a:avLst/>
            </a:prstGeom>
            <a:noFill/>
            <a:ln w="9525">
              <a:solidFill>
                <a:srgbClr val="00FF99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44" name="Line 18">
              <a:extLst>
                <a:ext uri="{FF2B5EF4-FFF2-40B4-BE49-F238E27FC236}">
                  <a16:creationId xmlns:a16="http://schemas.microsoft.com/office/drawing/2014/main" id="{72B15371-8AC1-4563-8D9E-C522F7F6D0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41" y="2419"/>
              <a:ext cx="491" cy="979"/>
            </a:xfrm>
            <a:prstGeom prst="line">
              <a:avLst/>
            </a:prstGeom>
            <a:noFill/>
            <a:ln w="19050">
              <a:solidFill>
                <a:srgbClr val="FFCC99"/>
              </a:solidFill>
              <a:round/>
              <a:headEnd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45" name="Text Box 19">
              <a:extLst>
                <a:ext uri="{FF2B5EF4-FFF2-40B4-BE49-F238E27FC236}">
                  <a16:creationId xmlns:a16="http://schemas.microsoft.com/office/drawing/2014/main" id="{3E009E80-50B7-4E65-9349-9604DDB47A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18" y="1882"/>
              <a:ext cx="434" cy="4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4800" b="0">
                  <a:solidFill>
                    <a:srgbClr val="FFFF66"/>
                  </a:solidFill>
                </a:rPr>
                <a:t>·</a:t>
              </a:r>
            </a:p>
          </p:txBody>
        </p:sp>
        <p:sp>
          <p:nvSpPr>
            <p:cNvPr id="5146" name="Line 20">
              <a:extLst>
                <a:ext uri="{FF2B5EF4-FFF2-40B4-BE49-F238E27FC236}">
                  <a16:creationId xmlns:a16="http://schemas.microsoft.com/office/drawing/2014/main" id="{E0C3EFFC-A77B-4B5E-A4CD-DC3904D879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23" y="2151"/>
              <a:ext cx="52" cy="309"/>
            </a:xfrm>
            <a:prstGeom prst="line">
              <a:avLst/>
            </a:prstGeom>
            <a:noFill/>
            <a:ln w="19050">
              <a:solidFill>
                <a:srgbClr val="FFCC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47" name="Line 21">
              <a:extLst>
                <a:ext uri="{FF2B5EF4-FFF2-40B4-BE49-F238E27FC236}">
                  <a16:creationId xmlns:a16="http://schemas.microsoft.com/office/drawing/2014/main" id="{4B88AF96-DEB4-4908-BB6A-6CEBBEA78F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23" y="2148"/>
              <a:ext cx="264" cy="197"/>
            </a:xfrm>
            <a:prstGeom prst="line">
              <a:avLst/>
            </a:prstGeom>
            <a:noFill/>
            <a:ln w="19050">
              <a:solidFill>
                <a:srgbClr val="FFCC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48" name="Line 22">
              <a:extLst>
                <a:ext uri="{FF2B5EF4-FFF2-40B4-BE49-F238E27FC236}">
                  <a16:creationId xmlns:a16="http://schemas.microsoft.com/office/drawing/2014/main" id="{592FD542-7891-400E-BA4F-F6AADA6D75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75" y="2460"/>
              <a:ext cx="41" cy="113"/>
            </a:xfrm>
            <a:prstGeom prst="line">
              <a:avLst/>
            </a:prstGeom>
            <a:noFill/>
            <a:ln w="19050">
              <a:solidFill>
                <a:srgbClr val="FFCC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49" name="Line 23">
              <a:extLst>
                <a:ext uri="{FF2B5EF4-FFF2-40B4-BE49-F238E27FC236}">
                  <a16:creationId xmlns:a16="http://schemas.microsoft.com/office/drawing/2014/main" id="{EE56E07C-9649-4D79-B5C9-572F290736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3" y="2344"/>
              <a:ext cx="61" cy="83"/>
            </a:xfrm>
            <a:prstGeom prst="line">
              <a:avLst/>
            </a:prstGeom>
            <a:noFill/>
            <a:ln w="19050">
              <a:solidFill>
                <a:srgbClr val="FFCC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50" name="Line 24">
              <a:extLst>
                <a:ext uri="{FF2B5EF4-FFF2-40B4-BE49-F238E27FC236}">
                  <a16:creationId xmlns:a16="http://schemas.microsoft.com/office/drawing/2014/main" id="{5FFBE701-4F05-44BF-BAB5-0DF7237AF0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02" y="2919"/>
              <a:ext cx="90" cy="182"/>
            </a:xfrm>
            <a:prstGeom prst="line">
              <a:avLst/>
            </a:prstGeom>
            <a:noFill/>
            <a:ln w="19050">
              <a:solidFill>
                <a:srgbClr val="FFCC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51" name="Line 25">
              <a:extLst>
                <a:ext uri="{FF2B5EF4-FFF2-40B4-BE49-F238E27FC236}">
                  <a16:creationId xmlns:a16="http://schemas.microsoft.com/office/drawing/2014/main" id="{3F904246-0C7D-4833-A25D-710BAD73DC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13" y="2765"/>
              <a:ext cx="103" cy="200"/>
            </a:xfrm>
            <a:prstGeom prst="line">
              <a:avLst/>
            </a:prstGeom>
            <a:noFill/>
            <a:ln w="19050">
              <a:solidFill>
                <a:srgbClr val="FFCC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52" name="Text Box 26">
              <a:extLst>
                <a:ext uri="{FF2B5EF4-FFF2-40B4-BE49-F238E27FC236}">
                  <a16:creationId xmlns:a16="http://schemas.microsoft.com/office/drawing/2014/main" id="{6ADC50DB-F046-4D3D-9B5D-BBA2B2E46D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18" y="1929"/>
              <a:ext cx="485" cy="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i="1" dirty="0">
                  <a:solidFill>
                    <a:srgbClr val="FFFF66"/>
                  </a:solidFill>
                  <a:latin typeface="华文中宋" panose="02010600040101010101" pitchFamily="2" charset="-122"/>
                </a:rPr>
                <a:t>S</a:t>
              </a:r>
            </a:p>
          </p:txBody>
        </p:sp>
        <p:sp>
          <p:nvSpPr>
            <p:cNvPr id="5153" name="Text Box 27">
              <a:extLst>
                <a:ext uri="{FF2B5EF4-FFF2-40B4-BE49-F238E27FC236}">
                  <a16:creationId xmlns:a16="http://schemas.microsoft.com/office/drawing/2014/main" id="{75336859-EF54-4FFD-89D0-4DD55EDF2E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7" y="2951"/>
              <a:ext cx="289" cy="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>
                  <a:solidFill>
                    <a:srgbClr val="FFFF66"/>
                  </a:solidFill>
                  <a:latin typeface="华文中宋" panose="02010600040101010101" pitchFamily="2" charset="-122"/>
                </a:rPr>
                <a:t>1</a:t>
              </a:r>
            </a:p>
          </p:txBody>
        </p:sp>
        <p:sp>
          <p:nvSpPr>
            <p:cNvPr id="5154" name="Text Box 28">
              <a:extLst>
                <a:ext uri="{FF2B5EF4-FFF2-40B4-BE49-F238E27FC236}">
                  <a16:creationId xmlns:a16="http://schemas.microsoft.com/office/drawing/2014/main" id="{49613F35-9EB2-4FE5-87B2-526B5E0F0F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81" y="2765"/>
              <a:ext cx="394" cy="3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>
                  <a:solidFill>
                    <a:srgbClr val="FFFF66"/>
                  </a:solidFill>
                  <a:latin typeface="华文中宋" panose="02010600040101010101" pitchFamily="2" charset="-122"/>
                </a:rPr>
                <a:t>2</a:t>
              </a:r>
            </a:p>
          </p:txBody>
        </p:sp>
        <p:graphicFrame>
          <p:nvGraphicFramePr>
            <p:cNvPr id="5155" name="Object 22">
              <a:extLst>
                <a:ext uri="{FF2B5EF4-FFF2-40B4-BE49-F238E27FC236}">
                  <a16:creationId xmlns:a16="http://schemas.microsoft.com/office/drawing/2014/main" id="{7ECDE185-FBD2-4EB8-AF42-6F4FB0030461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2478" y="3110"/>
            <a:ext cx="190" cy="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1620" name="Equation" r:id="rId3" imgW="266675" imgH="380864" progId="Equation.DSMT4">
                    <p:embed/>
                  </p:oleObj>
                </mc:Choice>
                <mc:Fallback>
                  <p:oleObj name="Equation" r:id="rId3" imgW="266675" imgH="380864" progId="Equation.DSMT4">
                    <p:embed/>
                    <p:pic>
                      <p:nvPicPr>
                        <p:cNvPr id="5155" name="Object 22">
                          <a:extLst>
                            <a:ext uri="{FF2B5EF4-FFF2-40B4-BE49-F238E27FC236}">
                              <a16:creationId xmlns:a16="http://schemas.microsoft.com/office/drawing/2014/main" id="{7ECDE185-FBD2-4EB8-AF42-6F4FB0030461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78" y="3110"/>
                          <a:ext cx="190" cy="2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56" name="Object 23">
              <a:extLst>
                <a:ext uri="{FF2B5EF4-FFF2-40B4-BE49-F238E27FC236}">
                  <a16:creationId xmlns:a16="http://schemas.microsoft.com/office/drawing/2014/main" id="{A894CF91-838B-4929-823B-79FE6759BE44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2486" y="3506"/>
            <a:ext cx="199" cy="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1621" name="公式" r:id="rId5" imgW="276155" imgH="380864" progId="Equation.3">
                    <p:embed/>
                  </p:oleObj>
                </mc:Choice>
                <mc:Fallback>
                  <p:oleObj name="公式" r:id="rId5" imgW="276155" imgH="380864" progId="Equation.3">
                    <p:embed/>
                    <p:pic>
                      <p:nvPicPr>
                        <p:cNvPr id="5156" name="Object 23">
                          <a:extLst>
                            <a:ext uri="{FF2B5EF4-FFF2-40B4-BE49-F238E27FC236}">
                              <a16:creationId xmlns:a16="http://schemas.microsoft.com/office/drawing/2014/main" id="{A894CF91-838B-4929-823B-79FE6759BE44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86" y="3506"/>
                          <a:ext cx="199" cy="2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57" name="Object 24">
              <a:extLst>
                <a:ext uri="{FF2B5EF4-FFF2-40B4-BE49-F238E27FC236}">
                  <a16:creationId xmlns:a16="http://schemas.microsoft.com/office/drawing/2014/main" id="{E74E2EE5-54A1-4545-866D-60C2759B02F7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3780" y="3537"/>
            <a:ext cx="159" cy="1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1622" name="公式" r:id="rId7" imgW="218967" imgH="276157" progId="Equation.3">
                    <p:embed/>
                  </p:oleObj>
                </mc:Choice>
                <mc:Fallback>
                  <p:oleObj name="公式" r:id="rId7" imgW="218967" imgH="276157" progId="Equation.3">
                    <p:embed/>
                    <p:pic>
                      <p:nvPicPr>
                        <p:cNvPr id="5157" name="Object 24">
                          <a:extLst>
                            <a:ext uri="{FF2B5EF4-FFF2-40B4-BE49-F238E27FC236}">
                              <a16:creationId xmlns:a16="http://schemas.microsoft.com/office/drawing/2014/main" id="{E74E2EE5-54A1-4545-866D-60C2759B02F7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80" y="3537"/>
                          <a:ext cx="159" cy="1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58" name="Object 25">
              <a:extLst>
                <a:ext uri="{FF2B5EF4-FFF2-40B4-BE49-F238E27FC236}">
                  <a16:creationId xmlns:a16="http://schemas.microsoft.com/office/drawing/2014/main" id="{D89FF8B1-CD18-4FB5-8344-7A6F13C3E327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2980" y="2965"/>
            <a:ext cx="88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1623" name="公式" r:id="rId9" imgW="104896" imgH="257175" progId="Equation.3">
                    <p:embed/>
                  </p:oleObj>
                </mc:Choice>
                <mc:Fallback>
                  <p:oleObj name="公式" r:id="rId9" imgW="104896" imgH="257175" progId="Equation.3">
                    <p:embed/>
                    <p:pic>
                      <p:nvPicPr>
                        <p:cNvPr id="5158" name="Object 25">
                          <a:extLst>
                            <a:ext uri="{FF2B5EF4-FFF2-40B4-BE49-F238E27FC236}">
                              <a16:creationId xmlns:a16="http://schemas.microsoft.com/office/drawing/2014/main" id="{D89FF8B1-CD18-4FB5-8344-7A6F13C3E327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80" y="2965"/>
                          <a:ext cx="88" cy="1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59" name="Object 26">
              <a:extLst>
                <a:ext uri="{FF2B5EF4-FFF2-40B4-BE49-F238E27FC236}">
                  <a16:creationId xmlns:a16="http://schemas.microsoft.com/office/drawing/2014/main" id="{368B0630-1CA4-41BF-92DF-2B750F20FB39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3068" y="3711"/>
            <a:ext cx="116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1624" name="公式" r:id="rId11" imgW="190525" imgH="266666" progId="Equation.3">
                    <p:embed/>
                  </p:oleObj>
                </mc:Choice>
                <mc:Fallback>
                  <p:oleObj name="公式" r:id="rId11" imgW="190525" imgH="266666" progId="Equation.3">
                    <p:embed/>
                    <p:pic>
                      <p:nvPicPr>
                        <p:cNvPr id="5159" name="Object 26">
                          <a:extLst>
                            <a:ext uri="{FF2B5EF4-FFF2-40B4-BE49-F238E27FC236}">
                              <a16:creationId xmlns:a16="http://schemas.microsoft.com/office/drawing/2014/main" id="{368B0630-1CA4-41BF-92DF-2B750F20FB39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68" y="3711"/>
                          <a:ext cx="116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60" name="Line 34">
              <a:extLst>
                <a:ext uri="{FF2B5EF4-FFF2-40B4-BE49-F238E27FC236}">
                  <a16:creationId xmlns:a16="http://schemas.microsoft.com/office/drawing/2014/main" id="{163DF9BA-E45D-48D7-AD72-E72C44212D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69" y="3294"/>
              <a:ext cx="214" cy="121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5161" name="Object 27">
              <a:extLst>
                <a:ext uri="{FF2B5EF4-FFF2-40B4-BE49-F238E27FC236}">
                  <a16:creationId xmlns:a16="http://schemas.microsoft.com/office/drawing/2014/main" id="{B16DFA82-3A10-4E7F-A453-11BE240F7A8D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2927" y="3418"/>
            <a:ext cx="141" cy="1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1625" name="Equation" r:id="rId13" imgW="238233" imgH="266666" progId="Equation.DSMT4">
                    <p:embed/>
                  </p:oleObj>
                </mc:Choice>
                <mc:Fallback>
                  <p:oleObj name="Equation" r:id="rId13" imgW="238233" imgH="266666" progId="Equation.DSMT4">
                    <p:embed/>
                    <p:pic>
                      <p:nvPicPr>
                        <p:cNvPr id="5161" name="Object 27">
                          <a:extLst>
                            <a:ext uri="{FF2B5EF4-FFF2-40B4-BE49-F238E27FC236}">
                              <a16:creationId xmlns:a16="http://schemas.microsoft.com/office/drawing/2014/main" id="{B16DFA82-3A10-4E7F-A453-11BE240F7A8D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27" y="3418"/>
                          <a:ext cx="141" cy="1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62" name="Object 28">
              <a:extLst>
                <a:ext uri="{FF2B5EF4-FFF2-40B4-BE49-F238E27FC236}">
                  <a16:creationId xmlns:a16="http://schemas.microsoft.com/office/drawing/2014/main" id="{8E14550B-8BDB-4A89-9617-ED1565F1ED49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3133" y="3915"/>
            <a:ext cx="141" cy="1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1626" name="Equation" r:id="rId15" imgW="238233" imgH="257175" progId="Equation.DSMT4">
                    <p:embed/>
                  </p:oleObj>
                </mc:Choice>
                <mc:Fallback>
                  <p:oleObj name="Equation" r:id="rId15" imgW="238233" imgH="257175" progId="Equation.DSMT4">
                    <p:embed/>
                    <p:pic>
                      <p:nvPicPr>
                        <p:cNvPr id="5162" name="Object 28">
                          <a:extLst>
                            <a:ext uri="{FF2B5EF4-FFF2-40B4-BE49-F238E27FC236}">
                              <a16:creationId xmlns:a16="http://schemas.microsoft.com/office/drawing/2014/main" id="{8E14550B-8BDB-4A89-9617-ED1565F1ED49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33" y="3915"/>
                          <a:ext cx="141" cy="1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63" name="Object 29">
              <a:extLst>
                <a:ext uri="{FF2B5EF4-FFF2-40B4-BE49-F238E27FC236}">
                  <a16:creationId xmlns:a16="http://schemas.microsoft.com/office/drawing/2014/main" id="{C4C9780D-62AB-4F62-B89D-0E80EFB62822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3349" y="3408"/>
            <a:ext cx="141" cy="1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1627" name="Equation" r:id="rId17" imgW="238233" imgH="276157" progId="Equation.DSMT4">
                    <p:embed/>
                  </p:oleObj>
                </mc:Choice>
                <mc:Fallback>
                  <p:oleObj name="Equation" r:id="rId17" imgW="238233" imgH="276157" progId="Equation.DSMT4">
                    <p:embed/>
                    <p:pic>
                      <p:nvPicPr>
                        <p:cNvPr id="5163" name="Object 29">
                          <a:extLst>
                            <a:ext uri="{FF2B5EF4-FFF2-40B4-BE49-F238E27FC236}">
                              <a16:creationId xmlns:a16="http://schemas.microsoft.com/office/drawing/2014/main" id="{C4C9780D-62AB-4F62-B89D-0E80EFB62822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49" y="3408"/>
                          <a:ext cx="141" cy="1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64" name="Object 30">
              <a:extLst>
                <a:ext uri="{FF2B5EF4-FFF2-40B4-BE49-F238E27FC236}">
                  <a16:creationId xmlns:a16="http://schemas.microsoft.com/office/drawing/2014/main" id="{9A388BE5-E0A0-4F1B-8732-852E1830EADB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3249" y="3124"/>
            <a:ext cx="161" cy="1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1628" name="公式" r:id="rId19" imgW="276155" imgH="257175" progId="Equation.3">
                    <p:embed/>
                  </p:oleObj>
                </mc:Choice>
                <mc:Fallback>
                  <p:oleObj name="公式" r:id="rId19" imgW="276155" imgH="257175" progId="Equation.3">
                    <p:embed/>
                    <p:pic>
                      <p:nvPicPr>
                        <p:cNvPr id="5164" name="Object 30">
                          <a:extLst>
                            <a:ext uri="{FF2B5EF4-FFF2-40B4-BE49-F238E27FC236}">
                              <a16:creationId xmlns:a16="http://schemas.microsoft.com/office/drawing/2014/main" id="{9A388BE5-E0A0-4F1B-8732-852E1830EADB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49" y="3124"/>
                          <a:ext cx="161" cy="1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65" name="Line 39">
              <a:extLst>
                <a:ext uri="{FF2B5EF4-FFF2-40B4-BE49-F238E27FC236}">
                  <a16:creationId xmlns:a16="http://schemas.microsoft.com/office/drawing/2014/main" id="{1BAE94C9-78F6-4DC5-9050-B596139394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68" y="3418"/>
              <a:ext cx="136" cy="454"/>
            </a:xfrm>
            <a:prstGeom prst="line">
              <a:avLst/>
            </a:prstGeom>
            <a:noFill/>
            <a:ln w="19050">
              <a:solidFill>
                <a:srgbClr val="FFCC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66" name="Line 40">
              <a:extLst>
                <a:ext uri="{FF2B5EF4-FFF2-40B4-BE49-F238E27FC236}">
                  <a16:creationId xmlns:a16="http://schemas.microsoft.com/office/drawing/2014/main" id="{4FB8DD33-1092-4319-91C6-AF866B28D21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97" y="3361"/>
              <a:ext cx="2041" cy="91"/>
            </a:xfrm>
            <a:prstGeom prst="line">
              <a:avLst/>
            </a:prstGeom>
            <a:noFill/>
            <a:ln w="38100">
              <a:solidFill>
                <a:srgbClr val="00CC99">
                  <a:alpha val="50195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67" name="Line 41">
              <a:extLst>
                <a:ext uri="{FF2B5EF4-FFF2-40B4-BE49-F238E27FC236}">
                  <a16:creationId xmlns:a16="http://schemas.microsoft.com/office/drawing/2014/main" id="{147C9B25-4981-441C-BA88-3EFFADBBA1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97" y="3872"/>
              <a:ext cx="2041" cy="0"/>
            </a:xfrm>
            <a:prstGeom prst="line">
              <a:avLst/>
            </a:prstGeom>
            <a:noFill/>
            <a:ln w="38100">
              <a:solidFill>
                <a:srgbClr val="00CC99">
                  <a:alpha val="50195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68" name="Line 42">
              <a:extLst>
                <a:ext uri="{FF2B5EF4-FFF2-40B4-BE49-F238E27FC236}">
                  <a16:creationId xmlns:a16="http://schemas.microsoft.com/office/drawing/2014/main" id="{3FCD9854-DB94-4773-B692-89FCEA418DC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10" y="3394"/>
              <a:ext cx="118" cy="478"/>
            </a:xfrm>
            <a:prstGeom prst="line">
              <a:avLst/>
            </a:prstGeom>
            <a:noFill/>
            <a:ln w="19050">
              <a:solidFill>
                <a:srgbClr val="FFCC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69" name="Freeform 43">
              <a:extLst>
                <a:ext uri="{FF2B5EF4-FFF2-40B4-BE49-F238E27FC236}">
                  <a16:creationId xmlns:a16="http://schemas.microsoft.com/office/drawing/2014/main" id="{27EE7199-7291-49D9-941D-6A8CA0044E35}"/>
                </a:ext>
              </a:extLst>
            </p:cNvPr>
            <p:cNvSpPr>
              <a:spLocks/>
            </p:cNvSpPr>
            <p:nvPr/>
          </p:nvSpPr>
          <p:spPr bwMode="auto">
            <a:xfrm rot="-7261805">
              <a:off x="3150" y="3212"/>
              <a:ext cx="112" cy="113"/>
            </a:xfrm>
            <a:custGeom>
              <a:avLst/>
              <a:gdLst>
                <a:gd name="T0" fmla="*/ 0 w 232"/>
                <a:gd name="T1" fmla="*/ 0 h 232"/>
                <a:gd name="T2" fmla="*/ 0 w 232"/>
                <a:gd name="T3" fmla="*/ 0 h 232"/>
                <a:gd name="T4" fmla="*/ 0 w 232"/>
                <a:gd name="T5" fmla="*/ 0 h 232"/>
                <a:gd name="T6" fmla="*/ 0 60000 65536"/>
                <a:gd name="T7" fmla="*/ 0 60000 65536"/>
                <a:gd name="T8" fmla="*/ 0 60000 65536"/>
                <a:gd name="T9" fmla="*/ 0 w 232"/>
                <a:gd name="T10" fmla="*/ 0 h 232"/>
                <a:gd name="T11" fmla="*/ 232 w 232"/>
                <a:gd name="T12" fmla="*/ 232 h 23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32" h="232">
                  <a:moveTo>
                    <a:pt x="0" y="28"/>
                  </a:moveTo>
                  <a:cubicBezTo>
                    <a:pt x="14" y="27"/>
                    <a:pt x="191" y="0"/>
                    <a:pt x="216" y="28"/>
                  </a:cubicBezTo>
                  <a:cubicBezTo>
                    <a:pt x="232" y="45"/>
                    <a:pt x="228" y="208"/>
                    <a:pt x="228" y="232"/>
                  </a:cubicBezTo>
                </a:path>
              </a:pathLst>
            </a:cu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70" name="Freeform 44">
              <a:extLst>
                <a:ext uri="{FF2B5EF4-FFF2-40B4-BE49-F238E27FC236}">
                  <a16:creationId xmlns:a16="http://schemas.microsoft.com/office/drawing/2014/main" id="{9E3C1F81-4F4B-449C-A99F-8051B2F670A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1" y="3199"/>
              <a:ext cx="91" cy="13"/>
            </a:xfrm>
            <a:custGeom>
              <a:avLst/>
              <a:gdLst>
                <a:gd name="T0" fmla="*/ 0 w 91"/>
                <a:gd name="T1" fmla="*/ 13 h 13"/>
                <a:gd name="T2" fmla="*/ 42 w 91"/>
                <a:gd name="T3" fmla="*/ 0 h 13"/>
                <a:gd name="T4" fmla="*/ 91 w 91"/>
                <a:gd name="T5" fmla="*/ 13 h 13"/>
                <a:gd name="T6" fmla="*/ 0 60000 65536"/>
                <a:gd name="T7" fmla="*/ 0 60000 65536"/>
                <a:gd name="T8" fmla="*/ 0 60000 65536"/>
                <a:gd name="T9" fmla="*/ 0 w 91"/>
                <a:gd name="T10" fmla="*/ 0 h 13"/>
                <a:gd name="T11" fmla="*/ 91 w 91"/>
                <a:gd name="T12" fmla="*/ 13 h 1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1" h="13">
                  <a:moveTo>
                    <a:pt x="0" y="13"/>
                  </a:moveTo>
                  <a:cubicBezTo>
                    <a:pt x="7" y="11"/>
                    <a:pt x="27" y="0"/>
                    <a:pt x="42" y="0"/>
                  </a:cubicBezTo>
                  <a:cubicBezTo>
                    <a:pt x="57" y="0"/>
                    <a:pt x="81" y="10"/>
                    <a:pt x="91" y="13"/>
                  </a:cubicBezTo>
                </a:path>
              </a:pathLst>
            </a:cu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71" name="Freeform 45">
              <a:extLst>
                <a:ext uri="{FF2B5EF4-FFF2-40B4-BE49-F238E27FC236}">
                  <a16:creationId xmlns:a16="http://schemas.microsoft.com/office/drawing/2014/main" id="{C310A3A7-EC21-450C-8F02-B3B6880133CD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6" y="3667"/>
              <a:ext cx="66" cy="15"/>
            </a:xfrm>
            <a:custGeom>
              <a:avLst/>
              <a:gdLst>
                <a:gd name="T0" fmla="*/ 0 w 66"/>
                <a:gd name="T1" fmla="*/ 3 h 15"/>
                <a:gd name="T2" fmla="*/ 30 w 66"/>
                <a:gd name="T3" fmla="*/ 15 h 15"/>
                <a:gd name="T4" fmla="*/ 66 w 66"/>
                <a:gd name="T5" fmla="*/ 0 h 15"/>
                <a:gd name="T6" fmla="*/ 0 60000 65536"/>
                <a:gd name="T7" fmla="*/ 0 60000 65536"/>
                <a:gd name="T8" fmla="*/ 0 60000 65536"/>
                <a:gd name="T9" fmla="*/ 0 w 66"/>
                <a:gd name="T10" fmla="*/ 0 h 15"/>
                <a:gd name="T11" fmla="*/ 66 w 66"/>
                <a:gd name="T12" fmla="*/ 15 h 1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6" h="15">
                  <a:moveTo>
                    <a:pt x="0" y="3"/>
                  </a:moveTo>
                  <a:cubicBezTo>
                    <a:pt x="5" y="5"/>
                    <a:pt x="19" y="15"/>
                    <a:pt x="30" y="15"/>
                  </a:cubicBezTo>
                  <a:cubicBezTo>
                    <a:pt x="41" y="15"/>
                    <a:pt x="59" y="3"/>
                    <a:pt x="66" y="0"/>
                  </a:cubicBezTo>
                </a:path>
              </a:pathLst>
            </a:cu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5172" name="Object 31">
              <a:extLst>
                <a:ext uri="{FF2B5EF4-FFF2-40B4-BE49-F238E27FC236}">
                  <a16:creationId xmlns:a16="http://schemas.microsoft.com/office/drawing/2014/main" id="{3E082369-7A75-4977-A61D-159ED8136CC7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2507" y="3893"/>
            <a:ext cx="190" cy="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1629" name="公式" r:id="rId21" imgW="266675" imgH="380864" progId="Equation.3">
                    <p:embed/>
                  </p:oleObj>
                </mc:Choice>
                <mc:Fallback>
                  <p:oleObj name="公式" r:id="rId21" imgW="266675" imgH="380864" progId="Equation.3">
                    <p:embed/>
                    <p:pic>
                      <p:nvPicPr>
                        <p:cNvPr id="5172" name="Object 31">
                          <a:extLst>
                            <a:ext uri="{FF2B5EF4-FFF2-40B4-BE49-F238E27FC236}">
                              <a16:creationId xmlns:a16="http://schemas.microsoft.com/office/drawing/2014/main" id="{3E082369-7A75-4977-A61D-159ED8136CC7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07" y="3893"/>
                          <a:ext cx="190" cy="2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8" name="Object 32">
            <a:extLst>
              <a:ext uri="{FF2B5EF4-FFF2-40B4-BE49-F238E27FC236}">
                <a16:creationId xmlns:a16="http://schemas.microsoft.com/office/drawing/2014/main" id="{979A0244-B786-4AE1-947F-5357F1679AC4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1071563" y="1928813"/>
          <a:ext cx="2665412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1630" name="Equation" r:id="rId23" imgW="1600353" imgH="533332" progId="Equation.DSMT4">
                  <p:embed/>
                </p:oleObj>
              </mc:Choice>
              <mc:Fallback>
                <p:oleObj name="Equation" r:id="rId23" imgW="1600353" imgH="533332" progId="Equation.DSMT4">
                  <p:embed/>
                  <p:pic>
                    <p:nvPicPr>
                      <p:cNvPr id="78" name="Object 32">
                        <a:extLst>
                          <a:ext uri="{FF2B5EF4-FFF2-40B4-BE49-F238E27FC236}">
                            <a16:creationId xmlns:a16="http://schemas.microsoft.com/office/drawing/2014/main" id="{979A0244-B786-4AE1-947F-5357F1679AC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1563" y="1928813"/>
                        <a:ext cx="2665412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" name="Text Box 48">
            <a:extLst>
              <a:ext uri="{FF2B5EF4-FFF2-40B4-BE49-F238E27FC236}">
                <a16:creationId xmlns:a16="http://schemas.microsoft.com/office/drawing/2014/main" id="{A4F810E5-C24F-4C40-B4D4-8268DAE7A3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4875" y="476672"/>
            <a:ext cx="2857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  <a:latin typeface="华文中宋" panose="02010600040101010101" pitchFamily="2" charset="-122"/>
              </a:rPr>
              <a:t>光线垂直入射时 </a:t>
            </a:r>
          </a:p>
        </p:txBody>
      </p:sp>
      <p:graphicFrame>
        <p:nvGraphicFramePr>
          <p:cNvPr id="80" name="Object 33">
            <a:extLst>
              <a:ext uri="{FF2B5EF4-FFF2-40B4-BE49-F238E27FC236}">
                <a16:creationId xmlns:a16="http://schemas.microsoft.com/office/drawing/2014/main" id="{2EB9851A-2E28-441B-B00F-3B868E7BE67E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5376887" y="3268065"/>
          <a:ext cx="2003425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1631" name="Equation" r:id="rId25" imgW="1190555" imgH="533332" progId="Equation.DSMT4">
                  <p:embed/>
                </p:oleObj>
              </mc:Choice>
              <mc:Fallback>
                <p:oleObj name="Equation" r:id="rId25" imgW="1190555" imgH="533332" progId="Equation.DSMT4">
                  <p:embed/>
                  <p:pic>
                    <p:nvPicPr>
                      <p:cNvPr id="80" name="Object 33">
                        <a:extLst>
                          <a:ext uri="{FF2B5EF4-FFF2-40B4-BE49-F238E27FC236}">
                            <a16:creationId xmlns:a16="http://schemas.microsoft.com/office/drawing/2014/main" id="{2EB9851A-2E28-441B-B00F-3B868E7BE67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6887" y="3268065"/>
                        <a:ext cx="2003425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" name="Object 34">
            <a:extLst>
              <a:ext uri="{FF2B5EF4-FFF2-40B4-BE49-F238E27FC236}">
                <a16:creationId xmlns:a16="http://schemas.microsoft.com/office/drawing/2014/main" id="{7501CC67-DF54-4866-A3CC-ECA1D3E9E9E3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5593928" y="5733256"/>
          <a:ext cx="1930400" cy="82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1632" name="公式" r:id="rId27" imgW="2104955" imgH="876232" progId="Equation.3">
                  <p:embed/>
                </p:oleObj>
              </mc:Choice>
              <mc:Fallback>
                <p:oleObj name="公式" r:id="rId27" imgW="2104955" imgH="876232" progId="Equation.3">
                  <p:embed/>
                  <p:pic>
                    <p:nvPicPr>
                      <p:cNvPr id="81" name="Object 34">
                        <a:extLst>
                          <a:ext uri="{FF2B5EF4-FFF2-40B4-BE49-F238E27FC236}">
                            <a16:creationId xmlns:a16="http://schemas.microsoft.com/office/drawing/2014/main" id="{7501CC67-DF54-4866-A3CC-ECA1D3E9E9E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93928" y="5733256"/>
                        <a:ext cx="1930400" cy="822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" name="Text Box 51">
            <a:extLst>
              <a:ext uri="{FF2B5EF4-FFF2-40B4-BE49-F238E27FC236}">
                <a16:creationId xmlns:a16="http://schemas.microsoft.com/office/drawing/2014/main" id="{B9DEC623-4EC2-44F5-8365-CC51E6CC21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1285875"/>
            <a:ext cx="27003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FFFF00"/>
                </a:solidFill>
                <a:latin typeface="华文中宋" panose="02010600040101010101" pitchFamily="2" charset="-122"/>
              </a:rPr>
              <a:t>一</a:t>
            </a:r>
            <a:r>
              <a:rPr lang="en-US" altLang="zh-CN" dirty="0">
                <a:solidFill>
                  <a:srgbClr val="FFFF00"/>
                </a:solidFill>
                <a:latin typeface="华文中宋" panose="02010600040101010101" pitchFamily="2" charset="-122"/>
              </a:rPr>
              <a:t>. </a:t>
            </a:r>
            <a:r>
              <a:rPr lang="zh-CN" altLang="en-US" dirty="0">
                <a:solidFill>
                  <a:srgbClr val="FFFF00"/>
                </a:solidFill>
                <a:latin typeface="华文中宋" panose="02010600040101010101" pitchFamily="2" charset="-122"/>
              </a:rPr>
              <a:t>等厚干涉 </a:t>
            </a:r>
          </a:p>
        </p:txBody>
      </p:sp>
      <p:sp>
        <p:nvSpPr>
          <p:cNvPr id="53" name="Text Box 83">
            <a:extLst>
              <a:ext uri="{FF2B5EF4-FFF2-40B4-BE49-F238E27FC236}">
                <a16:creationId xmlns:a16="http://schemas.microsoft.com/office/drawing/2014/main" id="{7C735F99-DB29-4077-B161-078BE6411E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6250" y="4149080"/>
            <a:ext cx="4857750" cy="9387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spcBef>
                <a:spcPct val="50000"/>
              </a:spcBef>
              <a:defRPr/>
            </a:pPr>
            <a:r>
              <a:rPr kumimoji="0" lang="zh-CN" altLang="en-US" sz="2200" dirty="0">
                <a:solidFill>
                  <a:schemeClr val="bg1"/>
                </a:solidFill>
                <a:latin typeface="方正书宋简体"/>
              </a:rPr>
              <a:t>同一级条纹对应相同的薄膜厚度 </a:t>
            </a:r>
            <a:r>
              <a:rPr kumimoji="0" lang="en-US" altLang="zh-CN" sz="2200" i="1" dirty="0">
                <a:solidFill>
                  <a:srgbClr val="FFFF00"/>
                </a:solidFill>
                <a:latin typeface="+mn-lt"/>
              </a:rPr>
              <a:t>d</a:t>
            </a:r>
          </a:p>
          <a:p>
            <a:pPr algn="just">
              <a:spcBef>
                <a:spcPct val="50000"/>
              </a:spcBef>
              <a:defRPr/>
            </a:pPr>
            <a:r>
              <a:rPr kumimoji="0" lang="zh-CN" altLang="en-US" sz="2200" dirty="0">
                <a:solidFill>
                  <a:schemeClr val="bg1"/>
                </a:solidFill>
                <a:latin typeface="方正书宋简体"/>
              </a:rPr>
              <a:t>厚度决定的薄膜干涉 </a:t>
            </a:r>
            <a:r>
              <a:rPr kumimoji="0" lang="en-US" altLang="zh-CN" sz="2200" dirty="0">
                <a:solidFill>
                  <a:schemeClr val="bg1"/>
                </a:solidFill>
                <a:latin typeface="方正书宋简体"/>
              </a:rPr>
              <a:t>— </a:t>
            </a:r>
            <a:r>
              <a:rPr kumimoji="0" lang="zh-CN" altLang="en-US" sz="2200" dirty="0">
                <a:solidFill>
                  <a:srgbClr val="FFFF00"/>
                </a:solidFill>
                <a:latin typeface="方正书宋简体"/>
              </a:rPr>
              <a:t>等厚干涉</a:t>
            </a:r>
          </a:p>
        </p:txBody>
      </p:sp>
      <p:sp>
        <p:nvSpPr>
          <p:cNvPr id="54" name="Rectangle 15">
            <a:extLst>
              <a:ext uri="{FF2B5EF4-FFF2-40B4-BE49-F238E27FC236}">
                <a16:creationId xmlns:a16="http://schemas.microsoft.com/office/drawing/2014/main" id="{12D4F47D-E344-48DF-9593-697CE281D4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7688" y="5229200"/>
            <a:ext cx="4500562" cy="976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chemeClr val="bg1"/>
                </a:solidFill>
                <a:latin typeface="华文中宋" panose="02010600040101010101" pitchFamily="2" charset="-122"/>
              </a:rPr>
              <a:t>相邻两明（暗）纹对应的薄膜厚度差：</a:t>
            </a:r>
            <a:endParaRPr lang="en-US" altLang="zh-CN" dirty="0">
              <a:solidFill>
                <a:schemeClr val="bg1"/>
              </a:solidFill>
              <a:latin typeface="华文中宋" panose="02010600040101010101" pitchFamily="2" charset="-122"/>
            </a:endParaRPr>
          </a:p>
        </p:txBody>
      </p:sp>
      <p:pic>
        <p:nvPicPr>
          <p:cNvPr id="56337" name="Picture 17">
            <a:extLst>
              <a:ext uri="{FF2B5EF4-FFF2-40B4-BE49-F238E27FC236}">
                <a16:creationId xmlns:a16="http://schemas.microsoft.com/office/drawing/2014/main" id="{1DA8283F-100D-429E-9119-B68BED7905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7837" y="1035983"/>
            <a:ext cx="3105150" cy="220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56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79" grpId="0"/>
      <p:bldP spid="82" grpId="0"/>
      <p:bldP spid="53" grpId="0"/>
      <p:bldP spid="5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3">
            <a:extLst>
              <a:ext uri="{FF2B5EF4-FFF2-40B4-BE49-F238E27FC236}">
                <a16:creationId xmlns:a16="http://schemas.microsoft.com/office/drawing/2014/main" id="{01B5B259-60B1-4E05-B83B-389CE7E8F3BC}"/>
              </a:ext>
            </a:extLst>
          </p:cNvPr>
          <p:cNvGrpSpPr>
            <a:grpSpLocks/>
          </p:cNvGrpSpPr>
          <p:nvPr/>
        </p:nvGrpSpPr>
        <p:grpSpPr bwMode="auto">
          <a:xfrm>
            <a:off x="5856288" y="20820"/>
            <a:ext cx="3144837" cy="2751138"/>
            <a:chOff x="3639" y="1339"/>
            <a:chExt cx="1981" cy="1733"/>
          </a:xfrm>
        </p:grpSpPr>
        <p:sp>
          <p:nvSpPr>
            <p:cNvPr id="6173" name="Line 85">
              <a:extLst>
                <a:ext uri="{FF2B5EF4-FFF2-40B4-BE49-F238E27FC236}">
                  <a16:creationId xmlns:a16="http://schemas.microsoft.com/office/drawing/2014/main" id="{3A2BB70C-9990-4454-8CCE-14A811FDA9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30" y="1563"/>
              <a:ext cx="271" cy="668"/>
            </a:xfrm>
            <a:prstGeom prst="line">
              <a:avLst/>
            </a:prstGeom>
            <a:noFill/>
            <a:ln w="25400">
              <a:solidFill>
                <a:srgbClr val="76FB4D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74" name="Line 86">
              <a:extLst>
                <a:ext uri="{FF2B5EF4-FFF2-40B4-BE49-F238E27FC236}">
                  <a16:creationId xmlns:a16="http://schemas.microsoft.com/office/drawing/2014/main" id="{6AA3190E-7E2B-41CD-9D1B-3A48D164E4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87" y="1975"/>
              <a:ext cx="271" cy="670"/>
            </a:xfrm>
            <a:prstGeom prst="line">
              <a:avLst/>
            </a:prstGeom>
            <a:noFill/>
            <a:ln w="25400">
              <a:solidFill>
                <a:srgbClr val="76FB4D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75" name="Line 87">
              <a:extLst>
                <a:ext uri="{FF2B5EF4-FFF2-40B4-BE49-F238E27FC236}">
                  <a16:creationId xmlns:a16="http://schemas.microsoft.com/office/drawing/2014/main" id="{DFA14030-C8F7-460E-9FD1-9C3A81F52D0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39" y="2215"/>
              <a:ext cx="1349" cy="430"/>
            </a:xfrm>
            <a:prstGeom prst="line">
              <a:avLst/>
            </a:prstGeom>
            <a:noFill/>
            <a:ln w="25400">
              <a:solidFill>
                <a:srgbClr val="76FB4D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76" name="Line 88">
              <a:extLst>
                <a:ext uri="{FF2B5EF4-FFF2-40B4-BE49-F238E27FC236}">
                  <a16:creationId xmlns:a16="http://schemas.microsoft.com/office/drawing/2014/main" id="{EB4BE1BF-CFBF-4171-B730-DC919E690D1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96" y="1547"/>
              <a:ext cx="1335" cy="429"/>
            </a:xfrm>
            <a:prstGeom prst="line">
              <a:avLst/>
            </a:prstGeom>
            <a:noFill/>
            <a:ln w="25400">
              <a:solidFill>
                <a:srgbClr val="76FB4D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77" name="Line 89">
              <a:extLst>
                <a:ext uri="{FF2B5EF4-FFF2-40B4-BE49-F238E27FC236}">
                  <a16:creationId xmlns:a16="http://schemas.microsoft.com/office/drawing/2014/main" id="{E748CC31-F0B4-42FE-AFBA-CE9921EF22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92" y="2235"/>
              <a:ext cx="0" cy="449"/>
            </a:xfrm>
            <a:prstGeom prst="line">
              <a:avLst/>
            </a:prstGeom>
            <a:noFill/>
            <a:ln w="25400">
              <a:solidFill>
                <a:srgbClr val="76FB4D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78" name="Line 90">
              <a:extLst>
                <a:ext uri="{FF2B5EF4-FFF2-40B4-BE49-F238E27FC236}">
                  <a16:creationId xmlns:a16="http://schemas.microsoft.com/office/drawing/2014/main" id="{EA8EB108-41B7-4D94-95FD-46A7AC9A2D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57" y="2660"/>
              <a:ext cx="1335" cy="0"/>
            </a:xfrm>
            <a:prstGeom prst="line">
              <a:avLst/>
            </a:prstGeom>
            <a:noFill/>
            <a:ln w="25400">
              <a:solidFill>
                <a:srgbClr val="76FB4D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79" name="Line 91">
              <a:extLst>
                <a:ext uri="{FF2B5EF4-FFF2-40B4-BE49-F238E27FC236}">
                  <a16:creationId xmlns:a16="http://schemas.microsoft.com/office/drawing/2014/main" id="{731AF9ED-74CD-4851-B8F8-BA4F2658B0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57" y="1894"/>
              <a:ext cx="262" cy="648"/>
            </a:xfrm>
            <a:prstGeom prst="line">
              <a:avLst/>
            </a:prstGeom>
            <a:noFill/>
            <a:ln w="50800">
              <a:solidFill>
                <a:srgbClr val="FFFFFF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80" name="Line 92">
              <a:extLst>
                <a:ext uri="{FF2B5EF4-FFF2-40B4-BE49-F238E27FC236}">
                  <a16:creationId xmlns:a16="http://schemas.microsoft.com/office/drawing/2014/main" id="{EA2233AA-700F-4960-841D-BC74E51684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86" y="1577"/>
              <a:ext cx="269" cy="658"/>
            </a:xfrm>
            <a:prstGeom prst="line">
              <a:avLst/>
            </a:prstGeom>
            <a:noFill/>
            <a:ln w="50800">
              <a:solidFill>
                <a:srgbClr val="FFFFFF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81" name="Line 93">
              <a:extLst>
                <a:ext uri="{FF2B5EF4-FFF2-40B4-BE49-F238E27FC236}">
                  <a16:creationId xmlns:a16="http://schemas.microsoft.com/office/drawing/2014/main" id="{61478CFA-93BE-4BF6-A032-7FA3B16EA7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26" y="1736"/>
              <a:ext cx="269" cy="657"/>
            </a:xfrm>
            <a:prstGeom prst="line">
              <a:avLst/>
            </a:prstGeom>
            <a:noFill/>
            <a:ln w="50800">
              <a:solidFill>
                <a:srgbClr val="FFFFFF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82" name="Line 94">
              <a:extLst>
                <a:ext uri="{FF2B5EF4-FFF2-40B4-BE49-F238E27FC236}">
                  <a16:creationId xmlns:a16="http://schemas.microsoft.com/office/drawing/2014/main" id="{FB928D45-B6A9-4C76-B977-17B4DCFD35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23" y="1975"/>
              <a:ext cx="255" cy="634"/>
            </a:xfrm>
            <a:prstGeom prst="line">
              <a:avLst/>
            </a:prstGeom>
            <a:noFill/>
            <a:ln w="50800">
              <a:solidFill>
                <a:schemeClr val="accent1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83" name="Line 95">
              <a:extLst>
                <a:ext uri="{FF2B5EF4-FFF2-40B4-BE49-F238E27FC236}">
                  <a16:creationId xmlns:a16="http://schemas.microsoft.com/office/drawing/2014/main" id="{BD0A07A2-277D-40AE-A600-2F6A79A829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6" y="1680"/>
              <a:ext cx="276" cy="646"/>
            </a:xfrm>
            <a:prstGeom prst="line">
              <a:avLst/>
            </a:prstGeom>
            <a:noFill/>
            <a:ln w="50800">
              <a:solidFill>
                <a:schemeClr val="accent1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84" name="Line 96">
              <a:extLst>
                <a:ext uri="{FF2B5EF4-FFF2-40B4-BE49-F238E27FC236}">
                  <a16:creationId xmlns:a16="http://schemas.microsoft.com/office/drawing/2014/main" id="{54179D92-2095-4FC5-B88A-6132DA2F4A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92" y="1832"/>
              <a:ext cx="262" cy="621"/>
            </a:xfrm>
            <a:prstGeom prst="line">
              <a:avLst/>
            </a:prstGeom>
            <a:noFill/>
            <a:ln w="50800">
              <a:solidFill>
                <a:schemeClr val="accent1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85" name="Arc 97">
              <a:extLst>
                <a:ext uri="{FF2B5EF4-FFF2-40B4-BE49-F238E27FC236}">
                  <a16:creationId xmlns:a16="http://schemas.microsoft.com/office/drawing/2014/main" id="{2B159CE8-E990-4F77-927B-96B096E538AE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2" y="2514"/>
              <a:ext cx="37" cy="161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9050">
              <a:solidFill>
                <a:srgbClr val="76FB4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86" name="Rectangle 98">
              <a:extLst>
                <a:ext uri="{FF2B5EF4-FFF2-40B4-BE49-F238E27FC236}">
                  <a16:creationId xmlns:a16="http://schemas.microsoft.com/office/drawing/2014/main" id="{65A51BC2-3890-42E3-9FA4-D42DC7D77A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9" y="2453"/>
              <a:ext cx="163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kumimoji="0" lang="en-US" altLang="zh-CN" sz="2000" i="1">
                  <a:solidFill>
                    <a:srgbClr val="F9C42D"/>
                  </a:solidFill>
                  <a:sym typeface="Symbol" panose="05050102010706020507" pitchFamily="18" charset="2"/>
                </a:rPr>
                <a:t></a:t>
              </a:r>
              <a:endParaRPr kumimoji="0" lang="en-US" altLang="zh-CN" sz="2000">
                <a:solidFill>
                  <a:srgbClr val="F9C42D"/>
                </a:solidFill>
              </a:endParaRPr>
            </a:p>
          </p:txBody>
        </p:sp>
        <p:sp>
          <p:nvSpPr>
            <p:cNvPr id="6187" name="Line 99">
              <a:extLst>
                <a:ext uri="{FF2B5EF4-FFF2-40B4-BE49-F238E27FC236}">
                  <a16:creationId xmlns:a16="http://schemas.microsoft.com/office/drawing/2014/main" id="{C85A6F3D-C336-4ED5-A522-1CC7295C1A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7" y="1449"/>
              <a:ext cx="127" cy="319"/>
            </a:xfrm>
            <a:prstGeom prst="line">
              <a:avLst/>
            </a:prstGeom>
            <a:noFill/>
            <a:ln w="12700">
              <a:solidFill>
                <a:srgbClr val="76FB4D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88" name="Line 100">
              <a:extLst>
                <a:ext uri="{FF2B5EF4-FFF2-40B4-BE49-F238E27FC236}">
                  <a16:creationId xmlns:a16="http://schemas.microsoft.com/office/drawing/2014/main" id="{2BF2B5D4-1EB5-4F88-BD15-3850816C12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82" y="1339"/>
              <a:ext cx="105" cy="253"/>
            </a:xfrm>
            <a:prstGeom prst="line">
              <a:avLst/>
            </a:prstGeom>
            <a:noFill/>
            <a:ln w="12700">
              <a:solidFill>
                <a:srgbClr val="76FB4D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89" name="Line 101">
              <a:extLst>
                <a:ext uri="{FF2B5EF4-FFF2-40B4-BE49-F238E27FC236}">
                  <a16:creationId xmlns:a16="http://schemas.microsoft.com/office/drawing/2014/main" id="{BF34132B-9EBF-48C1-8415-A0417DA0D29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59" y="1383"/>
              <a:ext cx="446" cy="141"/>
            </a:xfrm>
            <a:prstGeom prst="line">
              <a:avLst/>
            </a:prstGeom>
            <a:noFill/>
            <a:ln w="9525">
              <a:solidFill>
                <a:srgbClr val="76FB4D"/>
              </a:solidFill>
              <a:round/>
              <a:headEnd type="triangl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90" name="Line 103">
              <a:extLst>
                <a:ext uri="{FF2B5EF4-FFF2-40B4-BE49-F238E27FC236}">
                  <a16:creationId xmlns:a16="http://schemas.microsoft.com/office/drawing/2014/main" id="{512827FE-7540-4929-8D9E-CCE4148B84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48" y="2254"/>
              <a:ext cx="0" cy="413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91" name="Line 104">
              <a:extLst>
                <a:ext uri="{FF2B5EF4-FFF2-40B4-BE49-F238E27FC236}">
                  <a16:creationId xmlns:a16="http://schemas.microsoft.com/office/drawing/2014/main" id="{2C73A6F3-DD8B-450B-9B49-8B742A2613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95" y="2397"/>
              <a:ext cx="0" cy="27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92" name="Line 105">
              <a:extLst>
                <a:ext uri="{FF2B5EF4-FFF2-40B4-BE49-F238E27FC236}">
                  <a16:creationId xmlns:a16="http://schemas.microsoft.com/office/drawing/2014/main" id="{123331D7-DA4E-4179-A02E-2683747A58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39" y="2258"/>
              <a:ext cx="307" cy="0"/>
            </a:xfrm>
            <a:prstGeom prst="line">
              <a:avLst/>
            </a:prstGeom>
            <a:noFill/>
            <a:ln w="12700">
              <a:solidFill>
                <a:srgbClr val="76FB4D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93" name="Line 106">
              <a:extLst>
                <a:ext uri="{FF2B5EF4-FFF2-40B4-BE49-F238E27FC236}">
                  <a16:creationId xmlns:a16="http://schemas.microsoft.com/office/drawing/2014/main" id="{388C088F-3B84-4069-B4DD-FCEDC904C9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88" y="2402"/>
              <a:ext cx="758" cy="0"/>
            </a:xfrm>
            <a:prstGeom prst="line">
              <a:avLst/>
            </a:prstGeom>
            <a:noFill/>
            <a:ln w="12700">
              <a:solidFill>
                <a:srgbClr val="76FB4D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94" name="Line 107">
              <a:extLst>
                <a:ext uri="{FF2B5EF4-FFF2-40B4-BE49-F238E27FC236}">
                  <a16:creationId xmlns:a16="http://schemas.microsoft.com/office/drawing/2014/main" id="{A66148E7-738F-470D-8B6A-2DAC300B6F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91" y="2028"/>
              <a:ext cx="0" cy="239"/>
            </a:xfrm>
            <a:prstGeom prst="line">
              <a:avLst/>
            </a:prstGeom>
            <a:noFill/>
            <a:ln w="9525">
              <a:solidFill>
                <a:srgbClr val="76FB4D"/>
              </a:solidFill>
              <a:round/>
              <a:headEnd type="non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95" name="Line 108">
              <a:extLst>
                <a:ext uri="{FF2B5EF4-FFF2-40B4-BE49-F238E27FC236}">
                  <a16:creationId xmlns:a16="http://schemas.microsoft.com/office/drawing/2014/main" id="{1A192A4F-1053-4B85-B79D-73D964A2A8E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91" y="2400"/>
              <a:ext cx="0" cy="240"/>
            </a:xfrm>
            <a:prstGeom prst="line">
              <a:avLst/>
            </a:prstGeom>
            <a:noFill/>
            <a:ln w="9525">
              <a:solidFill>
                <a:srgbClr val="76FB4D"/>
              </a:solidFill>
              <a:round/>
              <a:headEnd type="non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96" name="Rectangle 111">
              <a:extLst>
                <a:ext uri="{FF2B5EF4-FFF2-40B4-BE49-F238E27FC236}">
                  <a16:creationId xmlns:a16="http://schemas.microsoft.com/office/drawing/2014/main" id="{7776EAAF-92E5-4FDD-946D-CBA3756E7E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9" y="1670"/>
              <a:ext cx="345" cy="3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kumimoji="0" lang="zh-CN" altLang="en-US" sz="2000">
                  <a:solidFill>
                    <a:schemeClr val="bg1"/>
                  </a:solidFill>
                </a:rPr>
                <a:t>明纹</a:t>
              </a:r>
            </a:p>
          </p:txBody>
        </p:sp>
        <p:sp>
          <p:nvSpPr>
            <p:cNvPr id="6197" name="Rectangle 112">
              <a:extLst>
                <a:ext uri="{FF2B5EF4-FFF2-40B4-BE49-F238E27FC236}">
                  <a16:creationId xmlns:a16="http://schemas.microsoft.com/office/drawing/2014/main" id="{071C4D62-BC02-4B69-8BE3-AF21B32D3B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9" y="1565"/>
              <a:ext cx="343" cy="3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kumimoji="0" lang="zh-CN" altLang="en-US" sz="2000">
                  <a:solidFill>
                    <a:schemeClr val="accent1"/>
                  </a:solidFill>
                </a:rPr>
                <a:t>暗纹</a:t>
              </a:r>
            </a:p>
          </p:txBody>
        </p:sp>
        <p:sp>
          <p:nvSpPr>
            <p:cNvPr id="6198" name="Line 113">
              <a:extLst>
                <a:ext uri="{FF2B5EF4-FFF2-40B4-BE49-F238E27FC236}">
                  <a16:creationId xmlns:a16="http://schemas.microsoft.com/office/drawing/2014/main" id="{C1ECA182-E9F7-4732-8ABD-54E9BFFBF0F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74" y="2536"/>
              <a:ext cx="122" cy="216"/>
            </a:xfrm>
            <a:prstGeom prst="line">
              <a:avLst/>
            </a:prstGeom>
            <a:noFill/>
            <a:ln w="9525">
              <a:solidFill>
                <a:srgbClr val="F9C42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99" name="Line 114">
              <a:extLst>
                <a:ext uri="{FF2B5EF4-FFF2-40B4-BE49-F238E27FC236}">
                  <a16:creationId xmlns:a16="http://schemas.microsoft.com/office/drawing/2014/main" id="{28BF9030-2391-486A-841D-1DCAFC3618E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031" y="2500"/>
              <a:ext cx="118" cy="348"/>
            </a:xfrm>
            <a:prstGeom prst="line">
              <a:avLst/>
            </a:prstGeom>
            <a:noFill/>
            <a:ln w="9525">
              <a:solidFill>
                <a:srgbClr val="F9C42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6200" name="Object 10">
              <a:extLst>
                <a:ext uri="{FF2B5EF4-FFF2-40B4-BE49-F238E27FC236}">
                  <a16:creationId xmlns:a16="http://schemas.microsoft.com/office/drawing/2014/main" id="{C1CA15A3-2962-4EA9-9A62-114693A9DB4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483" y="2129"/>
            <a:ext cx="137" cy="3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2554" name="Equation" r:id="rId3" imgW="181045" imgH="571602" progId="Equation.3">
                    <p:embed/>
                  </p:oleObj>
                </mc:Choice>
                <mc:Fallback>
                  <p:oleObj name="Equation" r:id="rId3" imgW="181045" imgH="571602" progId="Equation.3">
                    <p:embed/>
                    <p:pic>
                      <p:nvPicPr>
                        <p:cNvPr id="6200" name="Object 10">
                          <a:extLst>
                            <a:ext uri="{FF2B5EF4-FFF2-40B4-BE49-F238E27FC236}">
                              <a16:creationId xmlns:a16="http://schemas.microsoft.com/office/drawing/2014/main" id="{C1CA15A3-2962-4EA9-9A62-114693A9DB4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83" y="2129"/>
                          <a:ext cx="137" cy="3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33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201" name="Object 11">
              <a:extLst>
                <a:ext uri="{FF2B5EF4-FFF2-40B4-BE49-F238E27FC236}">
                  <a16:creationId xmlns:a16="http://schemas.microsoft.com/office/drawing/2014/main" id="{9E9FED5A-FCA1-4552-8EC9-BB87B065D6E5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4500" y="2714"/>
            <a:ext cx="249" cy="3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2555" name="公式" r:id="rId5" imgW="142818" imgH="190432" progId="Equation.3">
                    <p:embed/>
                  </p:oleObj>
                </mc:Choice>
                <mc:Fallback>
                  <p:oleObj name="公式" r:id="rId5" imgW="142818" imgH="190432" progId="Equation.3">
                    <p:embed/>
                    <p:pic>
                      <p:nvPicPr>
                        <p:cNvPr id="6201" name="Object 11">
                          <a:extLst>
                            <a:ext uri="{FF2B5EF4-FFF2-40B4-BE49-F238E27FC236}">
                              <a16:creationId xmlns:a16="http://schemas.microsoft.com/office/drawing/2014/main" id="{9E9FED5A-FCA1-4552-8EC9-BB87B065D6E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00" y="2714"/>
                          <a:ext cx="249" cy="3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202" name="Object 12">
              <a:extLst>
                <a:ext uri="{FF2B5EF4-FFF2-40B4-BE49-F238E27FC236}">
                  <a16:creationId xmlns:a16="http://schemas.microsoft.com/office/drawing/2014/main" id="{367F0FB4-C1CE-41D4-81D3-D5BF45114E0A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4979" y="2721"/>
            <a:ext cx="373" cy="3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2556" name="公式" r:id="rId7" imgW="228753" imgH="190432" progId="Equation.3">
                    <p:embed/>
                  </p:oleObj>
                </mc:Choice>
                <mc:Fallback>
                  <p:oleObj name="公式" r:id="rId7" imgW="228753" imgH="190432" progId="Equation.3">
                    <p:embed/>
                    <p:pic>
                      <p:nvPicPr>
                        <p:cNvPr id="6202" name="Object 12">
                          <a:extLst>
                            <a:ext uri="{FF2B5EF4-FFF2-40B4-BE49-F238E27FC236}">
                              <a16:creationId xmlns:a16="http://schemas.microsoft.com/office/drawing/2014/main" id="{367F0FB4-C1CE-41D4-81D3-D5BF45114E0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79" y="2721"/>
                          <a:ext cx="373" cy="3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203" name="Object 13">
              <a:extLst>
                <a:ext uri="{FF2B5EF4-FFF2-40B4-BE49-F238E27FC236}">
                  <a16:creationId xmlns:a16="http://schemas.microsoft.com/office/drawing/2014/main" id="{B8A353FE-1E7D-4CE4-91BF-85501A7B51B5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4539" y="1430"/>
            <a:ext cx="189" cy="2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2557" name="Equation" r:id="rId9" imgW="85629" imgH="104707" progId="Equation.3">
                    <p:embed/>
                  </p:oleObj>
                </mc:Choice>
                <mc:Fallback>
                  <p:oleObj name="Equation" r:id="rId9" imgW="85629" imgH="104707" progId="Equation.3">
                    <p:embed/>
                    <p:pic>
                      <p:nvPicPr>
                        <p:cNvPr id="6203" name="Object 13">
                          <a:extLst>
                            <a:ext uri="{FF2B5EF4-FFF2-40B4-BE49-F238E27FC236}">
                              <a16:creationId xmlns:a16="http://schemas.microsoft.com/office/drawing/2014/main" id="{B8A353FE-1E7D-4CE4-91BF-85501A7B51B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39" y="1430"/>
                          <a:ext cx="189" cy="2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144">
            <a:extLst>
              <a:ext uri="{FF2B5EF4-FFF2-40B4-BE49-F238E27FC236}">
                <a16:creationId xmlns:a16="http://schemas.microsoft.com/office/drawing/2014/main" id="{527A9E5B-1409-42BD-A84E-F33C19E610B4}"/>
              </a:ext>
            </a:extLst>
          </p:cNvPr>
          <p:cNvGrpSpPr>
            <a:grpSpLocks/>
          </p:cNvGrpSpPr>
          <p:nvPr/>
        </p:nvGrpSpPr>
        <p:grpSpPr bwMode="auto">
          <a:xfrm>
            <a:off x="500063" y="974834"/>
            <a:ext cx="2416175" cy="1016000"/>
            <a:chOff x="2585" y="3329"/>
            <a:chExt cx="1522" cy="640"/>
          </a:xfrm>
        </p:grpSpPr>
        <p:sp>
          <p:nvSpPr>
            <p:cNvPr id="6167" name="Rectangle 127">
              <a:extLst>
                <a:ext uri="{FF2B5EF4-FFF2-40B4-BE49-F238E27FC236}">
                  <a16:creationId xmlns:a16="http://schemas.microsoft.com/office/drawing/2014/main" id="{3ADC29BE-9595-4459-A935-E092E486B7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2" y="3729"/>
              <a:ext cx="1485" cy="240"/>
            </a:xfrm>
            <a:prstGeom prst="rect">
              <a:avLst/>
            </a:prstGeom>
            <a:solidFill>
              <a:srgbClr val="00FFFF">
                <a:alpha val="5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0"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6168" name="Rectangle 128">
              <a:extLst>
                <a:ext uri="{FF2B5EF4-FFF2-40B4-BE49-F238E27FC236}">
                  <a16:creationId xmlns:a16="http://schemas.microsoft.com/office/drawing/2014/main" id="{A5B20672-F1AC-4640-8007-8A3E4F903DE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759066">
              <a:off x="2585" y="3329"/>
              <a:ext cx="1509" cy="238"/>
            </a:xfrm>
            <a:prstGeom prst="rect">
              <a:avLst/>
            </a:prstGeom>
            <a:solidFill>
              <a:srgbClr val="00FFFF">
                <a:alpha val="5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0"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6172" name="Rectangle 137">
              <a:extLst>
                <a:ext uri="{FF2B5EF4-FFF2-40B4-BE49-F238E27FC236}">
                  <a16:creationId xmlns:a16="http://schemas.microsoft.com/office/drawing/2014/main" id="{9F4CF4AE-56DA-4C6E-9125-539D22DDB2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3549"/>
              <a:ext cx="163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kumimoji="0" lang="en-US" altLang="zh-CN" sz="2000" i="1">
                  <a:solidFill>
                    <a:srgbClr val="F9C42D"/>
                  </a:solidFill>
                  <a:sym typeface="Symbol" panose="05050102010706020507" pitchFamily="18" charset="2"/>
                </a:rPr>
                <a:t></a:t>
              </a:r>
              <a:endParaRPr kumimoji="0" lang="en-US" altLang="zh-CN" sz="2000">
                <a:solidFill>
                  <a:srgbClr val="F9C42D"/>
                </a:solidFill>
              </a:endParaRPr>
            </a:p>
          </p:txBody>
        </p:sp>
      </p:grpSp>
      <p:grpSp>
        <p:nvGrpSpPr>
          <p:cNvPr id="4" name="Group 145">
            <a:extLst>
              <a:ext uri="{FF2B5EF4-FFF2-40B4-BE49-F238E27FC236}">
                <a16:creationId xmlns:a16="http://schemas.microsoft.com/office/drawing/2014/main" id="{A3D17480-CAFE-4862-B69F-28D55AEC9107}"/>
              </a:ext>
            </a:extLst>
          </p:cNvPr>
          <p:cNvGrpSpPr>
            <a:grpSpLocks/>
          </p:cNvGrpSpPr>
          <p:nvPr/>
        </p:nvGrpSpPr>
        <p:grpSpPr bwMode="auto">
          <a:xfrm>
            <a:off x="3214689" y="1435505"/>
            <a:ext cx="2287182" cy="714375"/>
            <a:chOff x="4272" y="3696"/>
            <a:chExt cx="1301" cy="450"/>
          </a:xfrm>
        </p:grpSpPr>
        <p:sp>
          <p:nvSpPr>
            <p:cNvPr id="6163" name="AutoShape 130">
              <a:extLst>
                <a:ext uri="{FF2B5EF4-FFF2-40B4-BE49-F238E27FC236}">
                  <a16:creationId xmlns:a16="http://schemas.microsoft.com/office/drawing/2014/main" id="{25B8CA4E-8527-4C9A-879D-783B46FF74FC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4272" y="3696"/>
              <a:ext cx="1301" cy="336"/>
            </a:xfrm>
            <a:prstGeom prst="rtTriangle">
              <a:avLst/>
            </a:prstGeom>
            <a:solidFill>
              <a:srgbClr val="CCFFCC">
                <a:alpha val="50195"/>
              </a:srgbClr>
            </a:solidFill>
            <a:ln w="12700">
              <a:solidFill>
                <a:srgbClr val="339966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0"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6166" name="Rectangle 138">
              <a:extLst>
                <a:ext uri="{FF2B5EF4-FFF2-40B4-BE49-F238E27FC236}">
                  <a16:creationId xmlns:a16="http://schemas.microsoft.com/office/drawing/2014/main" id="{255EDA4A-F7D1-47B0-A9DD-21E67C97AE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8" y="3860"/>
              <a:ext cx="163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kumimoji="0" lang="en-US" altLang="zh-CN" sz="2000" i="1">
                  <a:solidFill>
                    <a:srgbClr val="F9C42D"/>
                  </a:solidFill>
                  <a:sym typeface="Symbol" panose="05050102010706020507" pitchFamily="18" charset="2"/>
                </a:rPr>
                <a:t></a:t>
              </a:r>
              <a:endParaRPr kumimoji="0" lang="en-US" altLang="zh-CN" sz="2000">
                <a:solidFill>
                  <a:srgbClr val="F9C42D"/>
                </a:solidFill>
              </a:endParaRPr>
            </a:p>
          </p:txBody>
        </p:sp>
      </p:grpSp>
      <p:sp>
        <p:nvSpPr>
          <p:cNvPr id="46" name="矩形 45">
            <a:extLst>
              <a:ext uri="{FF2B5EF4-FFF2-40B4-BE49-F238E27FC236}">
                <a16:creationId xmlns:a16="http://schemas.microsoft.com/office/drawing/2014/main" id="{6782C0C1-A1E6-4B47-8F48-D8A7B3414813}"/>
              </a:ext>
            </a:extLst>
          </p:cNvPr>
          <p:cNvSpPr/>
          <p:nvPr/>
        </p:nvSpPr>
        <p:spPr>
          <a:xfrm>
            <a:off x="301469" y="153463"/>
            <a:ext cx="3214687" cy="46196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kumimoji="0" lang="en-US" altLang="zh-CN" dirty="0">
                <a:solidFill>
                  <a:srgbClr val="FFFF00"/>
                </a:solidFill>
                <a:latin typeface="+mn-lt"/>
                <a:ea typeface="+mn-ea"/>
              </a:rPr>
              <a:t>1. </a:t>
            </a:r>
            <a:r>
              <a:rPr kumimoji="0" lang="zh-CN" altLang="en-US" dirty="0">
                <a:solidFill>
                  <a:srgbClr val="FFFF00"/>
                </a:solidFill>
                <a:latin typeface="+mn-ea"/>
                <a:ea typeface="+mn-ea"/>
              </a:rPr>
              <a:t>劈尖干涉</a:t>
            </a:r>
            <a:endParaRPr lang="zh-CN" altLang="en-US" sz="220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8418" name="Object 55">
                <a:extLst>
                  <a:ext uri="{FF2B5EF4-FFF2-40B4-BE49-F238E27FC236}">
                    <a16:creationId xmlns:a16="http://schemas.microsoft.com/office/drawing/2014/main" id="{8D9F2E72-A420-4CD0-865E-345C0256E4E3}"/>
                  </a:ext>
                </a:extLst>
              </p:cNvPr>
              <p:cNvSpPr txBox="1"/>
              <p:nvPr/>
            </p:nvSpPr>
            <p:spPr bwMode="auto">
              <a:xfrm>
                <a:off x="4984433" y="2169294"/>
                <a:ext cx="1600200" cy="755650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zh-CN" altLang="en-US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zh-CN" altLang="en-US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zh-CN" altLang="en-US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zh-CN" altLang="en-US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358418" name="Object 55">
                <a:extLst>
                  <a:ext uri="{FF2B5EF4-FFF2-40B4-BE49-F238E27FC236}">
                    <a16:creationId xmlns:a16="http://schemas.microsoft.com/office/drawing/2014/main" id="{8D9F2E72-A420-4CD0-865E-345C0256E4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84433" y="2169294"/>
                <a:ext cx="1600200" cy="75565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矩形 51">
            <a:extLst>
              <a:ext uri="{FF2B5EF4-FFF2-40B4-BE49-F238E27FC236}">
                <a16:creationId xmlns:a16="http://schemas.microsoft.com/office/drawing/2014/main" id="{398FB505-9A5E-4459-AE68-C49BCD787BB9}"/>
              </a:ext>
            </a:extLst>
          </p:cNvPr>
          <p:cNvSpPr/>
          <p:nvPr/>
        </p:nvSpPr>
        <p:spPr>
          <a:xfrm>
            <a:off x="408970" y="2322659"/>
            <a:ext cx="492694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kumimoji="0" lang="zh-CN" altLang="en-US" dirty="0">
                <a:solidFill>
                  <a:schemeClr val="bg1"/>
                </a:solidFill>
                <a:latin typeface="+mn-ea"/>
              </a:rPr>
              <a:t>单色平行光垂直入射空气劈尖层：</a:t>
            </a:r>
            <a:endParaRPr lang="zh-CN" altLang="en-US" dirty="0"/>
          </a:p>
        </p:txBody>
      </p:sp>
      <p:sp>
        <p:nvSpPr>
          <p:cNvPr id="6157" name="灯片编号占位符 1">
            <a:extLst>
              <a:ext uri="{FF2B5EF4-FFF2-40B4-BE49-F238E27FC236}">
                <a16:creationId xmlns:a16="http://schemas.microsoft.com/office/drawing/2014/main" id="{2DF64878-480E-4285-9963-0C0C35FC0B22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F5930D1-B484-4400-B42B-2EC589FAE1AF}" type="slidenum">
              <a:rPr lang="en-US" altLang="zh-CN" b="0">
                <a:solidFill>
                  <a:srgbClr val="FF00FF"/>
                </a:solidFill>
              </a:rPr>
              <a:pPr eaLnBrk="1" hangingPunct="1"/>
              <a:t>3</a:t>
            </a:fld>
            <a:r>
              <a:rPr lang="en-US" altLang="zh-CN" b="0">
                <a:solidFill>
                  <a:srgbClr val="FF00FF"/>
                </a:solidFill>
              </a:rPr>
              <a:t>/20</a:t>
            </a:r>
          </a:p>
        </p:txBody>
      </p: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63019F8D-18ED-42CC-A2A0-C4DA27B635E7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4321175" y="1765879"/>
            <a:ext cx="357187" cy="1588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C565B591-8177-4F15-8C21-8376F34FFDE4}"/>
              </a:ext>
            </a:extLst>
          </p:cNvPr>
          <p:cNvCxnSpPr>
            <a:cxnSpLocks noChangeShapeType="1"/>
          </p:cNvCxnSpPr>
          <p:nvPr/>
        </p:nvCxnSpPr>
        <p:spPr bwMode="auto">
          <a:xfrm rot="5400000" flipH="1" flipV="1">
            <a:off x="4214813" y="1229304"/>
            <a:ext cx="714375" cy="3175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1D470AE2-14FA-4923-8BEE-F6969FD439D2}"/>
              </a:ext>
            </a:extLst>
          </p:cNvPr>
          <p:cNvCxnSpPr>
            <a:cxnSpLocks noChangeShapeType="1"/>
          </p:cNvCxnSpPr>
          <p:nvPr/>
        </p:nvCxnSpPr>
        <p:spPr bwMode="auto">
          <a:xfrm rot="5400000" flipH="1" flipV="1">
            <a:off x="4393407" y="1765085"/>
            <a:ext cx="357187" cy="3175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2" name="直接箭头连接符 61">
            <a:extLst>
              <a:ext uri="{FF2B5EF4-FFF2-40B4-BE49-F238E27FC236}">
                <a16:creationId xmlns:a16="http://schemas.microsoft.com/office/drawing/2014/main" id="{40791AF1-8D11-4498-B36D-31C68D7F4DFD}"/>
              </a:ext>
            </a:extLst>
          </p:cNvPr>
          <p:cNvCxnSpPr>
            <a:cxnSpLocks noChangeShapeType="1"/>
          </p:cNvCxnSpPr>
          <p:nvPr/>
        </p:nvCxnSpPr>
        <p:spPr bwMode="auto">
          <a:xfrm rot="5400000" flipH="1" flipV="1">
            <a:off x="4287044" y="1230098"/>
            <a:ext cx="714375" cy="1587"/>
          </a:xfrm>
          <a:prstGeom prst="straightConnector1">
            <a:avLst/>
          </a:prstGeom>
          <a:noFill/>
          <a:ln w="19050" algn="ctr">
            <a:solidFill>
              <a:srgbClr val="FF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6" name="直接连接符 65">
            <a:extLst>
              <a:ext uri="{FF2B5EF4-FFF2-40B4-BE49-F238E27FC236}">
                <a16:creationId xmlns:a16="http://schemas.microsoft.com/office/drawing/2014/main" id="{1D3312D0-1F4F-4C5A-A7EE-7C787CB0A711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4142581" y="1230098"/>
            <a:ext cx="714375" cy="1588"/>
          </a:xfrm>
          <a:prstGeom prst="line">
            <a:avLst/>
          </a:prstGeom>
          <a:noFill/>
          <a:ln w="38100" algn="ctr">
            <a:solidFill>
              <a:srgbClr val="00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1" name="Text Box 11">
            <a:extLst>
              <a:ext uri="{FF2B5EF4-FFF2-40B4-BE49-F238E27FC236}">
                <a16:creationId xmlns:a16="http://schemas.microsoft.com/office/drawing/2014/main" id="{8D756B8E-6F00-4111-82C6-36F2339E6F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469" y="3471391"/>
            <a:ext cx="50482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 dirty="0">
                <a:solidFill>
                  <a:srgbClr val="FFFF00"/>
                </a:solidFill>
                <a:latin typeface="宋体" panose="02010600030101010101" pitchFamily="2" charset="-122"/>
              </a:rPr>
              <a:t>2.</a:t>
            </a:r>
            <a:r>
              <a:rPr lang="zh-CN" altLang="en-US" dirty="0">
                <a:solidFill>
                  <a:srgbClr val="FFFF00"/>
                </a:solidFill>
                <a:latin typeface="宋体" panose="02010600030101010101" pitchFamily="2" charset="-122"/>
              </a:rPr>
              <a:t>牛顿环</a:t>
            </a:r>
            <a:r>
              <a:rPr lang="en-US" altLang="zh-CN" dirty="0">
                <a:solidFill>
                  <a:schemeClr val="bg1"/>
                </a:solidFill>
                <a:latin typeface="宋体" panose="02010600030101010101" pitchFamily="2" charset="-122"/>
              </a:rPr>
              <a:t>(</a:t>
            </a:r>
            <a:r>
              <a:rPr lang="zh-CN" altLang="en-US" dirty="0">
                <a:solidFill>
                  <a:schemeClr val="bg1"/>
                </a:solidFill>
                <a:latin typeface="宋体" panose="02010600030101010101" pitchFamily="2" charset="-122"/>
              </a:rPr>
              <a:t>空气薄层</a:t>
            </a:r>
            <a:r>
              <a:rPr lang="en-US" altLang="zh-CN" dirty="0">
                <a:solidFill>
                  <a:schemeClr val="bg1"/>
                </a:solidFill>
                <a:latin typeface="宋体" panose="02010600030101010101" pitchFamily="2" charset="-122"/>
              </a:rPr>
              <a:t>)</a:t>
            </a:r>
            <a:r>
              <a:rPr lang="zh-CN" altLang="en-US" dirty="0">
                <a:solidFill>
                  <a:schemeClr val="bg1"/>
                </a:solidFill>
                <a:latin typeface="宋体" panose="02010600030101010101" pitchFamily="2" charset="-122"/>
              </a:rPr>
              <a:t> </a:t>
            </a:r>
            <a:endParaRPr lang="zh-CN" altLang="en-US" b="0" dirty="0">
              <a:solidFill>
                <a:schemeClr val="bg1"/>
              </a:solidFill>
              <a:latin typeface="宋体" panose="02010600030101010101" pitchFamily="2" charset="-122"/>
            </a:endParaRPr>
          </a:p>
        </p:txBody>
      </p:sp>
      <p:pic>
        <p:nvPicPr>
          <p:cNvPr id="63" name="Picture 20">
            <a:extLst>
              <a:ext uri="{FF2B5EF4-FFF2-40B4-BE49-F238E27FC236}">
                <a16:creationId xmlns:a16="http://schemas.microsoft.com/office/drawing/2014/main" id="{5652BA1F-B3B5-4C25-933B-062FDEA97D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05" t="7607" r="4984" b="4168"/>
          <a:stretch/>
        </p:blipFill>
        <p:spPr bwMode="auto">
          <a:xfrm>
            <a:off x="3436216" y="3706556"/>
            <a:ext cx="2599529" cy="281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4" name="Object 19">
                <a:extLst>
                  <a:ext uri="{FF2B5EF4-FFF2-40B4-BE49-F238E27FC236}">
                    <a16:creationId xmlns:a16="http://schemas.microsoft.com/office/drawing/2014/main" id="{1B48E555-F5B6-453B-9326-599EB5F26ACC}"/>
                  </a:ext>
                </a:extLst>
              </p:cNvPr>
              <p:cNvSpPr txBox="1"/>
              <p:nvPr/>
            </p:nvSpPr>
            <p:spPr bwMode="auto">
              <a:xfrm>
                <a:off x="233063" y="4358890"/>
                <a:ext cx="3168352" cy="870310"/>
              </a:xfrm>
              <a:prstGeom prst="rect">
                <a:avLst/>
              </a:prstGeom>
              <a:noFill/>
              <a:ln>
                <a:noFill/>
              </a:ln>
              <a:effectLst/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zh-CN" altLang="en-US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zh-CN" altLang="en-US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zh-CN" altLang="en-US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CN" b="1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zh-CN" altLang="en-US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zh-CN" altLang="en-US" dirty="0">
                  <a:solidFill>
                    <a:srgbClr val="FFC000"/>
                  </a:solidFill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4" name="Object 19">
                <a:extLst>
                  <a:ext uri="{FF2B5EF4-FFF2-40B4-BE49-F238E27FC236}">
                    <a16:creationId xmlns:a16="http://schemas.microsoft.com/office/drawing/2014/main" id="{1B48E555-F5B6-453B-9326-599EB5F26A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3063" y="4358890"/>
                <a:ext cx="3168352" cy="8703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Text Box 23">
            <a:extLst>
              <a:ext uri="{FF2B5EF4-FFF2-40B4-BE49-F238E27FC236}">
                <a16:creationId xmlns:a16="http://schemas.microsoft.com/office/drawing/2014/main" id="{2AB6C5EA-D102-49C7-86AE-E557821407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748" y="5252560"/>
            <a:ext cx="2968108" cy="12727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200"/>
              </a:lnSpc>
            </a:pPr>
            <a:r>
              <a:rPr lang="zh-CN" altLang="en-US" dirty="0">
                <a:solidFill>
                  <a:srgbClr val="FFFF00"/>
                </a:solidFill>
                <a:latin typeface="宋体" panose="02010600030101010101" pitchFamily="2" charset="-122"/>
              </a:rPr>
              <a:t>条纹特征：</a:t>
            </a:r>
            <a:r>
              <a:rPr lang="zh-CN" altLang="en-US" dirty="0">
                <a:solidFill>
                  <a:schemeClr val="bg1"/>
                </a:solidFill>
                <a:latin typeface="宋体" panose="02010600030101010101" pitchFamily="2" charset="-122"/>
              </a:rPr>
              <a:t>同心圆环，内疏外密，级次内低外高</a:t>
            </a:r>
          </a:p>
        </p:txBody>
      </p:sp>
      <p:sp>
        <p:nvSpPr>
          <p:cNvPr id="67" name="矩形 31">
            <a:extLst>
              <a:ext uri="{FF2B5EF4-FFF2-40B4-BE49-F238E27FC236}">
                <a16:creationId xmlns:a16="http://schemas.microsoft.com/office/drawing/2014/main" id="{D63E9B44-8945-4E72-A747-E9C4B0D73D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854" y="4005064"/>
            <a:ext cx="17399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chemeClr val="bg1"/>
                </a:solidFill>
                <a:latin typeface="宋体" panose="02010600030101010101" pitchFamily="2" charset="-122"/>
              </a:rPr>
              <a:t>光程差：</a:t>
            </a:r>
            <a:endParaRPr lang="zh-CN" altLang="en-US" dirty="0"/>
          </a:p>
        </p:txBody>
      </p:sp>
      <p:pic>
        <p:nvPicPr>
          <p:cNvPr id="68" name="图片 67">
            <a:extLst>
              <a:ext uri="{FF2B5EF4-FFF2-40B4-BE49-F238E27FC236}">
                <a16:creationId xmlns:a16="http://schemas.microsoft.com/office/drawing/2014/main" id="{1E136B51-D361-4065-8544-77788630B8E7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0546" y="3706556"/>
            <a:ext cx="2810869" cy="2818788"/>
          </a:xfrm>
          <a:prstGeom prst="rect">
            <a:avLst/>
          </a:prstGeom>
        </p:spPr>
      </p:pic>
      <p:sp>
        <p:nvSpPr>
          <p:cNvPr id="57" name="Text Box 23">
            <a:extLst>
              <a:ext uri="{FF2B5EF4-FFF2-40B4-BE49-F238E27FC236}">
                <a16:creationId xmlns:a16="http://schemas.microsoft.com/office/drawing/2014/main" id="{2F55C4B1-C70F-40DE-960A-8135D435E0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536" y="2852936"/>
            <a:ext cx="7221981" cy="4520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200"/>
              </a:lnSpc>
            </a:pPr>
            <a:r>
              <a:rPr lang="zh-CN" altLang="en-US" dirty="0">
                <a:solidFill>
                  <a:srgbClr val="FFFF00"/>
                </a:solidFill>
                <a:latin typeface="宋体" panose="02010600030101010101" pitchFamily="2" charset="-122"/>
              </a:rPr>
              <a:t>条纹特征：</a:t>
            </a:r>
            <a:r>
              <a:rPr lang="zh-CN" altLang="en-US" dirty="0">
                <a:solidFill>
                  <a:schemeClr val="bg1"/>
                </a:solidFill>
                <a:latin typeface="宋体" panose="02010600030101010101" pitchFamily="2" charset="-122"/>
              </a:rPr>
              <a:t>明暗相间、互相平行、等间距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58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000"/>
                            </p:stCondLst>
                            <p:childTnLst>
                              <p:par>
                                <p:cTn id="5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50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000"/>
                            </p:stCondLst>
                            <p:childTnLst>
                              <p:par>
                                <p:cTn id="7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358418" grpId="0"/>
      <p:bldP spid="52" grpId="0"/>
      <p:bldP spid="61" grpId="0" autoUpdateAnimBg="0"/>
      <p:bldP spid="64" grpId="0"/>
      <p:bldP spid="65" grpId="0" autoUpdateAnimBg="0"/>
      <p:bldP spid="67" grpId="0"/>
      <p:bldP spid="57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62D76A12-DE74-4500-A601-890F45F827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9975" y="2592388"/>
            <a:ext cx="2701925" cy="503237"/>
          </a:xfrm>
          <a:prstGeom prst="rect">
            <a:avLst/>
          </a:prstGeom>
          <a:solidFill>
            <a:srgbClr val="00CC99">
              <a:alpha val="3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16387" name="Text Box 3">
            <a:extLst>
              <a:ext uri="{FF2B5EF4-FFF2-40B4-BE49-F238E27FC236}">
                <a16:creationId xmlns:a16="http://schemas.microsoft.com/office/drawing/2014/main" id="{57B3EAF9-F618-4568-8B70-AFDB6CA7B2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063" y="428625"/>
            <a:ext cx="2819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FFFF00"/>
                </a:solidFill>
              </a:rPr>
              <a:t>二</a:t>
            </a:r>
            <a:r>
              <a:rPr lang="en-US" altLang="zh-CN">
                <a:solidFill>
                  <a:srgbClr val="FFFF00"/>
                </a:solidFill>
              </a:rPr>
              <a:t>. </a:t>
            </a:r>
            <a:r>
              <a:rPr lang="zh-CN" altLang="en-US">
                <a:solidFill>
                  <a:srgbClr val="FFFF00"/>
                </a:solidFill>
              </a:rPr>
              <a:t>等</a:t>
            </a:r>
            <a:r>
              <a:rPr lang="zh-CN" altLang="en-US">
                <a:solidFill>
                  <a:srgbClr val="FFFF00"/>
                </a:solidFill>
                <a:latin typeface="宋体" panose="02010600030101010101" pitchFamily="2" charset="-122"/>
              </a:rPr>
              <a:t>倾干涉  </a:t>
            </a:r>
          </a:p>
        </p:txBody>
      </p:sp>
      <p:graphicFrame>
        <p:nvGraphicFramePr>
          <p:cNvPr id="16388" name="Object 2">
            <a:extLst>
              <a:ext uri="{FF2B5EF4-FFF2-40B4-BE49-F238E27FC236}">
                <a16:creationId xmlns:a16="http://schemas.microsoft.com/office/drawing/2014/main" id="{D5F390E0-85E4-44D6-AC39-B55CF5C1CBB4}"/>
              </a:ext>
            </a:extLst>
          </p:cNvPr>
          <p:cNvGraphicFramePr>
            <a:graphicFrameLocks/>
          </p:cNvGraphicFramePr>
          <p:nvPr/>
        </p:nvGraphicFramePr>
        <p:xfrm>
          <a:off x="1244600" y="2574925"/>
          <a:ext cx="2341563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688" name="公式" r:id="rId3" imgW="2562155" imgH="485877" progId="Equation.3">
                  <p:embed/>
                </p:oleObj>
              </mc:Choice>
              <mc:Fallback>
                <p:oleObj name="公式" r:id="rId3" imgW="2562155" imgH="485877" progId="Equation.3">
                  <p:embed/>
                  <p:pic>
                    <p:nvPicPr>
                      <p:cNvPr id="16388" name="Object 2">
                        <a:extLst>
                          <a:ext uri="{FF2B5EF4-FFF2-40B4-BE49-F238E27FC236}">
                            <a16:creationId xmlns:a16="http://schemas.microsoft.com/office/drawing/2014/main" id="{D5F390E0-85E4-44D6-AC39-B55CF5C1CBB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4600" y="2574925"/>
                        <a:ext cx="2341563" cy="468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9" name="Object 3">
            <a:extLst>
              <a:ext uri="{FF2B5EF4-FFF2-40B4-BE49-F238E27FC236}">
                <a16:creationId xmlns:a16="http://schemas.microsoft.com/office/drawing/2014/main" id="{8291FFE1-4019-4C12-8F1D-67F64E148C0F}"/>
              </a:ext>
            </a:extLst>
          </p:cNvPr>
          <p:cNvGraphicFramePr>
            <a:graphicFrameLocks/>
          </p:cNvGraphicFramePr>
          <p:nvPr/>
        </p:nvGraphicFramePr>
        <p:xfrm>
          <a:off x="3995738" y="3786188"/>
          <a:ext cx="2284412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689" name="公式" r:id="rId5" imgW="2504967" imgH="790507" progId="Equation.3">
                  <p:embed/>
                </p:oleObj>
              </mc:Choice>
              <mc:Fallback>
                <p:oleObj name="公式" r:id="rId5" imgW="2504967" imgH="790507" progId="Equation.3">
                  <p:embed/>
                  <p:pic>
                    <p:nvPicPr>
                      <p:cNvPr id="16389" name="Object 3">
                        <a:extLst>
                          <a:ext uri="{FF2B5EF4-FFF2-40B4-BE49-F238E27FC236}">
                            <a16:creationId xmlns:a16="http://schemas.microsoft.com/office/drawing/2014/main" id="{8291FFE1-4019-4C12-8F1D-67F64E148C0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5738" y="3786188"/>
                        <a:ext cx="2284412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4" name="Line 6">
            <a:extLst>
              <a:ext uri="{FF2B5EF4-FFF2-40B4-BE49-F238E27FC236}">
                <a16:creationId xmlns:a16="http://schemas.microsoft.com/office/drawing/2014/main" id="{13895FF8-5699-462E-A27F-BC6FC8F95DF8}"/>
              </a:ext>
            </a:extLst>
          </p:cNvPr>
          <p:cNvSpPr>
            <a:spLocks noChangeShapeType="1"/>
          </p:cNvSpPr>
          <p:nvPr/>
        </p:nvSpPr>
        <p:spPr bwMode="auto">
          <a:xfrm>
            <a:off x="4891088" y="2630488"/>
            <a:ext cx="266065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392" name="Freeform 8">
            <a:extLst>
              <a:ext uri="{FF2B5EF4-FFF2-40B4-BE49-F238E27FC236}">
                <a16:creationId xmlns:a16="http://schemas.microsoft.com/office/drawing/2014/main" id="{911C0459-1447-49AA-8288-8755ECFF0E8F}"/>
              </a:ext>
            </a:extLst>
          </p:cNvPr>
          <p:cNvSpPr>
            <a:spLocks/>
          </p:cNvSpPr>
          <p:nvPr/>
        </p:nvSpPr>
        <p:spPr bwMode="auto">
          <a:xfrm>
            <a:off x="4500563" y="1293813"/>
            <a:ext cx="379412" cy="242887"/>
          </a:xfrm>
          <a:custGeom>
            <a:avLst/>
            <a:gdLst>
              <a:gd name="T0" fmla="*/ 0 w 384"/>
              <a:gd name="T1" fmla="*/ 2147483646 h 271"/>
              <a:gd name="T2" fmla="*/ 2147483646 w 384"/>
              <a:gd name="T3" fmla="*/ 2147483646 h 271"/>
              <a:gd name="T4" fmla="*/ 2147483646 w 384"/>
              <a:gd name="T5" fmla="*/ 2147483646 h 271"/>
              <a:gd name="T6" fmla="*/ 2147483646 w 384"/>
              <a:gd name="T7" fmla="*/ 2147483646 h 271"/>
              <a:gd name="T8" fmla="*/ 2147483646 w 384"/>
              <a:gd name="T9" fmla="*/ 2147483646 h 271"/>
              <a:gd name="T10" fmla="*/ 2147483646 w 384"/>
              <a:gd name="T11" fmla="*/ 0 h 271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84"/>
              <a:gd name="T19" fmla="*/ 0 h 271"/>
              <a:gd name="T20" fmla="*/ 384 w 384"/>
              <a:gd name="T21" fmla="*/ 271 h 271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84" h="271">
                <a:moveTo>
                  <a:pt x="0" y="271"/>
                </a:moveTo>
                <a:cubicBezTo>
                  <a:pt x="15" y="260"/>
                  <a:pt x="35" y="253"/>
                  <a:pt x="45" y="237"/>
                </a:cubicBezTo>
                <a:cubicBezTo>
                  <a:pt x="69" y="200"/>
                  <a:pt x="64" y="126"/>
                  <a:pt x="124" y="113"/>
                </a:cubicBezTo>
                <a:cubicBezTo>
                  <a:pt x="183" y="100"/>
                  <a:pt x="305" y="90"/>
                  <a:pt x="305" y="90"/>
                </a:cubicBezTo>
                <a:cubicBezTo>
                  <a:pt x="316" y="83"/>
                  <a:pt x="330" y="78"/>
                  <a:pt x="339" y="68"/>
                </a:cubicBezTo>
                <a:cubicBezTo>
                  <a:pt x="357" y="48"/>
                  <a:pt x="384" y="0"/>
                  <a:pt x="384" y="0"/>
                </a:cubicBezTo>
              </a:path>
            </a:pathLst>
          </a:cu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6393" name="Object 4">
            <a:extLst>
              <a:ext uri="{FF2B5EF4-FFF2-40B4-BE49-F238E27FC236}">
                <a16:creationId xmlns:a16="http://schemas.microsoft.com/office/drawing/2014/main" id="{65A6B03D-FA8C-4AC2-BEA6-B8E8769FB49D}"/>
              </a:ext>
            </a:extLst>
          </p:cNvPr>
          <p:cNvGraphicFramePr>
            <a:graphicFrameLocks/>
          </p:cNvGraphicFramePr>
          <p:nvPr/>
        </p:nvGraphicFramePr>
        <p:xfrm>
          <a:off x="4600575" y="1203325"/>
          <a:ext cx="657225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690" name="公式" r:id="rId7" imgW="618978" imgH="380864" progId="Equation.3">
                  <p:embed/>
                </p:oleObj>
              </mc:Choice>
              <mc:Fallback>
                <p:oleObj name="公式" r:id="rId7" imgW="618978" imgH="380864" progId="Equation.3">
                  <p:embed/>
                  <p:pic>
                    <p:nvPicPr>
                      <p:cNvPr id="16393" name="Object 4">
                        <a:extLst>
                          <a:ext uri="{FF2B5EF4-FFF2-40B4-BE49-F238E27FC236}">
                            <a16:creationId xmlns:a16="http://schemas.microsoft.com/office/drawing/2014/main" id="{65A6B03D-FA8C-4AC2-BEA6-B8E8769FB49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00575" y="1203325"/>
                        <a:ext cx="657225" cy="41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0">
            <a:extLst>
              <a:ext uri="{FF2B5EF4-FFF2-40B4-BE49-F238E27FC236}">
                <a16:creationId xmlns:a16="http://schemas.microsoft.com/office/drawing/2014/main" id="{399F3266-CE13-4C50-9492-768A26D14539}"/>
              </a:ext>
            </a:extLst>
          </p:cNvPr>
          <p:cNvGrpSpPr>
            <a:grpSpLocks/>
          </p:cNvGrpSpPr>
          <p:nvPr/>
        </p:nvGrpSpPr>
        <p:grpSpPr bwMode="auto">
          <a:xfrm>
            <a:off x="4714875" y="1408113"/>
            <a:ext cx="1263650" cy="1223962"/>
            <a:chOff x="5088" y="2256"/>
            <a:chExt cx="809" cy="788"/>
          </a:xfrm>
        </p:grpSpPr>
        <p:sp>
          <p:nvSpPr>
            <p:cNvPr id="22576" name="Line 11">
              <a:extLst>
                <a:ext uri="{FF2B5EF4-FFF2-40B4-BE49-F238E27FC236}">
                  <a16:creationId xmlns:a16="http://schemas.microsoft.com/office/drawing/2014/main" id="{52DB5D2C-6002-4AA6-8E90-B7307FCC5E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88" y="2256"/>
              <a:ext cx="809" cy="788"/>
            </a:xfrm>
            <a:prstGeom prst="line">
              <a:avLst/>
            </a:prstGeom>
            <a:noFill/>
            <a:ln w="190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77" name="Line 12">
              <a:extLst>
                <a:ext uri="{FF2B5EF4-FFF2-40B4-BE49-F238E27FC236}">
                  <a16:creationId xmlns:a16="http://schemas.microsoft.com/office/drawing/2014/main" id="{B53AFA81-F774-4191-B6A0-DA3AC97810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46" y="2607"/>
              <a:ext cx="31" cy="27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6397" name="Oval 13">
            <a:extLst>
              <a:ext uri="{FF2B5EF4-FFF2-40B4-BE49-F238E27FC236}">
                <a16:creationId xmlns:a16="http://schemas.microsoft.com/office/drawing/2014/main" id="{DAAB4765-81FE-4CA8-B6FE-F6846B02DC57}"/>
              </a:ext>
            </a:extLst>
          </p:cNvPr>
          <p:cNvSpPr>
            <a:spLocks noChangeArrowheads="1"/>
          </p:cNvSpPr>
          <p:nvPr/>
        </p:nvSpPr>
        <p:spPr bwMode="auto">
          <a:xfrm rot="2635185">
            <a:off x="6827838" y="1598613"/>
            <a:ext cx="900112" cy="233362"/>
          </a:xfrm>
          <a:prstGeom prst="ellipse">
            <a:avLst/>
          </a:prstGeom>
          <a:solidFill>
            <a:srgbClr val="99CCFF">
              <a:alpha val="5490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16398" name="Line 14">
            <a:extLst>
              <a:ext uri="{FF2B5EF4-FFF2-40B4-BE49-F238E27FC236}">
                <a16:creationId xmlns:a16="http://schemas.microsoft.com/office/drawing/2014/main" id="{758495AA-F72F-4C9F-9884-6F3572F316ED}"/>
              </a:ext>
            </a:extLst>
          </p:cNvPr>
          <p:cNvSpPr>
            <a:spLocks noChangeShapeType="1"/>
          </p:cNvSpPr>
          <p:nvPr/>
        </p:nvSpPr>
        <p:spPr bwMode="auto">
          <a:xfrm>
            <a:off x="5984875" y="1552575"/>
            <a:ext cx="0" cy="1895475"/>
          </a:xfrm>
          <a:prstGeom prst="line">
            <a:avLst/>
          </a:prstGeom>
          <a:noFill/>
          <a:ln w="19050">
            <a:solidFill>
              <a:srgbClr val="FFFFFF"/>
            </a:solidFill>
            <a:prstDash val="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399" name="Line 15">
            <a:extLst>
              <a:ext uri="{FF2B5EF4-FFF2-40B4-BE49-F238E27FC236}">
                <a16:creationId xmlns:a16="http://schemas.microsoft.com/office/drawing/2014/main" id="{0EC82AB7-8D57-4B6B-B2D1-4E1B8A6625AD}"/>
              </a:ext>
            </a:extLst>
          </p:cNvPr>
          <p:cNvSpPr>
            <a:spLocks noChangeShapeType="1"/>
          </p:cNvSpPr>
          <p:nvPr/>
        </p:nvSpPr>
        <p:spPr bwMode="auto">
          <a:xfrm>
            <a:off x="5975350" y="2616200"/>
            <a:ext cx="349250" cy="488950"/>
          </a:xfrm>
          <a:prstGeom prst="line">
            <a:avLst/>
          </a:prstGeom>
          <a:noFill/>
          <a:ln w="19050">
            <a:solidFill>
              <a:srgbClr val="F9C42D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00" name="Line 16">
            <a:extLst>
              <a:ext uri="{FF2B5EF4-FFF2-40B4-BE49-F238E27FC236}">
                <a16:creationId xmlns:a16="http://schemas.microsoft.com/office/drawing/2014/main" id="{1C3436BD-7507-494F-902B-447537B7FDB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329363" y="2605088"/>
            <a:ext cx="388937" cy="503237"/>
          </a:xfrm>
          <a:prstGeom prst="line">
            <a:avLst/>
          </a:prstGeom>
          <a:noFill/>
          <a:ln w="19050">
            <a:solidFill>
              <a:srgbClr val="F9C42D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3" name="Group 17">
            <a:extLst>
              <a:ext uri="{FF2B5EF4-FFF2-40B4-BE49-F238E27FC236}">
                <a16:creationId xmlns:a16="http://schemas.microsoft.com/office/drawing/2014/main" id="{03BBBB0F-B356-401C-9D39-2CCBACEEDB80}"/>
              </a:ext>
            </a:extLst>
          </p:cNvPr>
          <p:cNvGrpSpPr>
            <a:grpSpLocks/>
          </p:cNvGrpSpPr>
          <p:nvPr/>
        </p:nvGrpSpPr>
        <p:grpSpPr bwMode="auto">
          <a:xfrm>
            <a:off x="5981700" y="1519238"/>
            <a:ext cx="1068388" cy="1101725"/>
            <a:chOff x="5072" y="2064"/>
            <a:chExt cx="688" cy="706"/>
          </a:xfrm>
        </p:grpSpPr>
        <p:sp>
          <p:nvSpPr>
            <p:cNvPr id="22574" name="Line 18">
              <a:extLst>
                <a:ext uri="{FF2B5EF4-FFF2-40B4-BE49-F238E27FC236}">
                  <a16:creationId xmlns:a16="http://schemas.microsoft.com/office/drawing/2014/main" id="{34624949-F309-42E0-AB53-4ABB82015E3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072" y="2064"/>
              <a:ext cx="688" cy="706"/>
            </a:xfrm>
            <a:prstGeom prst="line">
              <a:avLst/>
            </a:prstGeom>
            <a:noFill/>
            <a:ln w="19050">
              <a:solidFill>
                <a:srgbClr val="4DEAFB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75" name="Line 19">
              <a:extLst>
                <a:ext uri="{FF2B5EF4-FFF2-40B4-BE49-F238E27FC236}">
                  <a16:creationId xmlns:a16="http://schemas.microsoft.com/office/drawing/2014/main" id="{F1AB1C12-C6D3-4303-A2A3-0BDE60623EB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54" y="2448"/>
              <a:ext cx="29" cy="27"/>
            </a:xfrm>
            <a:prstGeom prst="line">
              <a:avLst/>
            </a:prstGeom>
            <a:noFill/>
            <a:ln w="19050">
              <a:solidFill>
                <a:srgbClr val="4DEAFB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" name="Group 20">
            <a:extLst>
              <a:ext uri="{FF2B5EF4-FFF2-40B4-BE49-F238E27FC236}">
                <a16:creationId xmlns:a16="http://schemas.microsoft.com/office/drawing/2014/main" id="{09181F09-8695-46B2-B0DB-59C2523FB4E4}"/>
              </a:ext>
            </a:extLst>
          </p:cNvPr>
          <p:cNvGrpSpPr>
            <a:grpSpLocks/>
          </p:cNvGrpSpPr>
          <p:nvPr/>
        </p:nvGrpSpPr>
        <p:grpSpPr bwMode="auto">
          <a:xfrm>
            <a:off x="6684963" y="1889125"/>
            <a:ext cx="774700" cy="765175"/>
            <a:chOff x="5099" y="2062"/>
            <a:chExt cx="488" cy="482"/>
          </a:xfrm>
        </p:grpSpPr>
        <p:sp>
          <p:nvSpPr>
            <p:cNvPr id="22572" name="Line 21">
              <a:extLst>
                <a:ext uri="{FF2B5EF4-FFF2-40B4-BE49-F238E27FC236}">
                  <a16:creationId xmlns:a16="http://schemas.microsoft.com/office/drawing/2014/main" id="{5C22EBFA-9A51-4C0A-B6BF-02D45726BA9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099" y="2062"/>
              <a:ext cx="488" cy="482"/>
            </a:xfrm>
            <a:prstGeom prst="line">
              <a:avLst/>
            </a:prstGeom>
            <a:noFill/>
            <a:ln w="19050">
              <a:solidFill>
                <a:srgbClr val="F9C42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73" name="Line 22">
              <a:extLst>
                <a:ext uri="{FF2B5EF4-FFF2-40B4-BE49-F238E27FC236}">
                  <a16:creationId xmlns:a16="http://schemas.microsoft.com/office/drawing/2014/main" id="{AA6543D5-D1B6-40E0-BED4-8DF75EE364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06" y="2304"/>
              <a:ext cx="31" cy="27"/>
            </a:xfrm>
            <a:prstGeom prst="line">
              <a:avLst/>
            </a:prstGeom>
            <a:noFill/>
            <a:ln w="19050">
              <a:solidFill>
                <a:srgbClr val="F9C42D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6407" name="Line 23">
            <a:extLst>
              <a:ext uri="{FF2B5EF4-FFF2-40B4-BE49-F238E27FC236}">
                <a16:creationId xmlns:a16="http://schemas.microsoft.com/office/drawing/2014/main" id="{A94A7EA5-0197-42CB-8BFC-B53C00682586}"/>
              </a:ext>
            </a:extLst>
          </p:cNvPr>
          <p:cNvSpPr>
            <a:spLocks noChangeShapeType="1"/>
          </p:cNvSpPr>
          <p:nvPr/>
        </p:nvSpPr>
        <p:spPr bwMode="auto">
          <a:xfrm>
            <a:off x="7877175" y="684213"/>
            <a:ext cx="476250" cy="388937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08" name="Line 24">
            <a:extLst>
              <a:ext uri="{FF2B5EF4-FFF2-40B4-BE49-F238E27FC236}">
                <a16:creationId xmlns:a16="http://schemas.microsoft.com/office/drawing/2014/main" id="{C2DB6FA9-0EE8-42FA-8E16-1B75A5B926F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50088" y="874713"/>
            <a:ext cx="1044575" cy="644525"/>
          </a:xfrm>
          <a:prstGeom prst="line">
            <a:avLst/>
          </a:prstGeom>
          <a:noFill/>
          <a:ln w="19050">
            <a:solidFill>
              <a:srgbClr val="4DEAF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09" name="Line 25">
            <a:extLst>
              <a:ext uri="{FF2B5EF4-FFF2-40B4-BE49-F238E27FC236}">
                <a16:creationId xmlns:a16="http://schemas.microsoft.com/office/drawing/2014/main" id="{FA0D6B1E-EAC1-42BB-8E88-9D6CD3F849B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451725" y="874713"/>
            <a:ext cx="652463" cy="1027112"/>
          </a:xfrm>
          <a:prstGeom prst="line">
            <a:avLst/>
          </a:prstGeom>
          <a:noFill/>
          <a:ln w="19050">
            <a:solidFill>
              <a:srgbClr val="F9C42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6410" name="Object 5">
            <a:extLst>
              <a:ext uri="{FF2B5EF4-FFF2-40B4-BE49-F238E27FC236}">
                <a16:creationId xmlns:a16="http://schemas.microsoft.com/office/drawing/2014/main" id="{36528443-0FED-4EC3-914C-1CFF96B11BC9}"/>
              </a:ext>
            </a:extLst>
          </p:cNvPr>
          <p:cNvGraphicFramePr>
            <a:graphicFrameLocks/>
          </p:cNvGraphicFramePr>
          <p:nvPr/>
        </p:nvGraphicFramePr>
        <p:xfrm>
          <a:off x="5795963" y="2060575"/>
          <a:ext cx="1397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691" name="公式" r:id="rId9" imgW="104896" imgH="257175" progId="Equation.3">
                  <p:embed/>
                </p:oleObj>
              </mc:Choice>
              <mc:Fallback>
                <p:oleObj name="公式" r:id="rId9" imgW="104896" imgH="257175" progId="Equation.3">
                  <p:embed/>
                  <p:pic>
                    <p:nvPicPr>
                      <p:cNvPr id="16410" name="Object 5">
                        <a:extLst>
                          <a:ext uri="{FF2B5EF4-FFF2-40B4-BE49-F238E27FC236}">
                            <a16:creationId xmlns:a16="http://schemas.microsoft.com/office/drawing/2014/main" id="{36528443-0FED-4EC3-914C-1CFF96B11BC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5963" y="2060575"/>
                        <a:ext cx="139700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11" name="Object 6">
            <a:extLst>
              <a:ext uri="{FF2B5EF4-FFF2-40B4-BE49-F238E27FC236}">
                <a16:creationId xmlns:a16="http://schemas.microsoft.com/office/drawing/2014/main" id="{0D6514F6-C0DC-4503-B4F4-913ECC3BA79F}"/>
              </a:ext>
            </a:extLst>
          </p:cNvPr>
          <p:cNvGraphicFramePr>
            <a:graphicFrameLocks/>
          </p:cNvGraphicFramePr>
          <p:nvPr/>
        </p:nvGraphicFramePr>
        <p:xfrm>
          <a:off x="4948238" y="2687638"/>
          <a:ext cx="252412" cy="315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692" name="公式" r:id="rId11" imgW="218967" imgH="276157" progId="Equation.3">
                  <p:embed/>
                </p:oleObj>
              </mc:Choice>
              <mc:Fallback>
                <p:oleObj name="公式" r:id="rId11" imgW="218967" imgH="276157" progId="Equation.3">
                  <p:embed/>
                  <p:pic>
                    <p:nvPicPr>
                      <p:cNvPr id="16411" name="Object 6">
                        <a:extLst>
                          <a:ext uri="{FF2B5EF4-FFF2-40B4-BE49-F238E27FC236}">
                            <a16:creationId xmlns:a16="http://schemas.microsoft.com/office/drawing/2014/main" id="{0D6514F6-C0DC-4503-B4F4-913ECC3BA79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8238" y="2687638"/>
                        <a:ext cx="252412" cy="315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12" name="Object 7">
            <a:extLst>
              <a:ext uri="{FF2B5EF4-FFF2-40B4-BE49-F238E27FC236}">
                <a16:creationId xmlns:a16="http://schemas.microsoft.com/office/drawing/2014/main" id="{B9F00746-8E06-430F-B7C9-6E91BAF17E97}"/>
              </a:ext>
            </a:extLst>
          </p:cNvPr>
          <p:cNvGraphicFramePr>
            <a:graphicFrameLocks/>
          </p:cNvGraphicFramePr>
          <p:nvPr/>
        </p:nvGraphicFramePr>
        <p:xfrm>
          <a:off x="5643563" y="2616200"/>
          <a:ext cx="223837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693" name="公式" r:id="rId13" imgW="238233" imgH="266666" progId="Equation.3">
                  <p:embed/>
                </p:oleObj>
              </mc:Choice>
              <mc:Fallback>
                <p:oleObj name="公式" r:id="rId13" imgW="238233" imgH="266666" progId="Equation.3">
                  <p:embed/>
                  <p:pic>
                    <p:nvPicPr>
                      <p:cNvPr id="16412" name="Object 7">
                        <a:extLst>
                          <a:ext uri="{FF2B5EF4-FFF2-40B4-BE49-F238E27FC236}">
                            <a16:creationId xmlns:a16="http://schemas.microsoft.com/office/drawing/2014/main" id="{B9F00746-8E06-430F-B7C9-6E91BAF17E9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43563" y="2616200"/>
                        <a:ext cx="223837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13" name="Object 8">
            <a:extLst>
              <a:ext uri="{FF2B5EF4-FFF2-40B4-BE49-F238E27FC236}">
                <a16:creationId xmlns:a16="http://schemas.microsoft.com/office/drawing/2014/main" id="{3CDB9F6C-7E2D-426F-A206-0778805EF3EE}"/>
              </a:ext>
            </a:extLst>
          </p:cNvPr>
          <p:cNvGraphicFramePr>
            <a:graphicFrameLocks/>
          </p:cNvGraphicFramePr>
          <p:nvPr/>
        </p:nvGraphicFramePr>
        <p:xfrm>
          <a:off x="6162675" y="3179763"/>
          <a:ext cx="223838" cy="233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694" name="公式" r:id="rId15" imgW="238233" imgH="257175" progId="Equation.3">
                  <p:embed/>
                </p:oleObj>
              </mc:Choice>
              <mc:Fallback>
                <p:oleObj name="公式" r:id="rId15" imgW="238233" imgH="257175" progId="Equation.3">
                  <p:embed/>
                  <p:pic>
                    <p:nvPicPr>
                      <p:cNvPr id="16413" name="Object 8">
                        <a:extLst>
                          <a:ext uri="{FF2B5EF4-FFF2-40B4-BE49-F238E27FC236}">
                            <a16:creationId xmlns:a16="http://schemas.microsoft.com/office/drawing/2014/main" id="{3CDB9F6C-7E2D-426F-A206-0778805EF3E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62675" y="3179763"/>
                        <a:ext cx="223838" cy="233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14" name="Object 9">
            <a:extLst>
              <a:ext uri="{FF2B5EF4-FFF2-40B4-BE49-F238E27FC236}">
                <a16:creationId xmlns:a16="http://schemas.microsoft.com/office/drawing/2014/main" id="{877573D0-852E-4D56-83E9-3636C2C0E995}"/>
              </a:ext>
            </a:extLst>
          </p:cNvPr>
          <p:cNvGraphicFramePr>
            <a:graphicFrameLocks/>
          </p:cNvGraphicFramePr>
          <p:nvPr/>
        </p:nvGraphicFramePr>
        <p:xfrm>
          <a:off x="6102350" y="2000250"/>
          <a:ext cx="255588" cy="233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695" name="公式" r:id="rId17" imgW="276155" imgH="257175" progId="Equation.3">
                  <p:embed/>
                </p:oleObj>
              </mc:Choice>
              <mc:Fallback>
                <p:oleObj name="公式" r:id="rId17" imgW="276155" imgH="257175" progId="Equation.3">
                  <p:embed/>
                  <p:pic>
                    <p:nvPicPr>
                      <p:cNvPr id="16414" name="Object 9">
                        <a:extLst>
                          <a:ext uri="{FF2B5EF4-FFF2-40B4-BE49-F238E27FC236}">
                            <a16:creationId xmlns:a16="http://schemas.microsoft.com/office/drawing/2014/main" id="{877573D0-852E-4D56-83E9-3636C2C0E99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02350" y="2000250"/>
                        <a:ext cx="255588" cy="233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15" name="Line 31">
            <a:extLst>
              <a:ext uri="{FF2B5EF4-FFF2-40B4-BE49-F238E27FC236}">
                <a16:creationId xmlns:a16="http://schemas.microsoft.com/office/drawing/2014/main" id="{AE224F78-04BD-4D12-9292-3C0DADBC80E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365875" y="2257425"/>
            <a:ext cx="357188" cy="328613"/>
          </a:xfrm>
          <a:prstGeom prst="line">
            <a:avLst/>
          </a:prstGeom>
          <a:noFill/>
          <a:ln w="19050">
            <a:solidFill>
              <a:srgbClr val="FFFFFF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6416" name="Object 10">
            <a:extLst>
              <a:ext uri="{FF2B5EF4-FFF2-40B4-BE49-F238E27FC236}">
                <a16:creationId xmlns:a16="http://schemas.microsoft.com/office/drawing/2014/main" id="{CF44210D-1DB6-4354-8D82-3FBD400A8730}"/>
              </a:ext>
            </a:extLst>
          </p:cNvPr>
          <p:cNvGraphicFramePr>
            <a:graphicFrameLocks/>
          </p:cNvGraphicFramePr>
          <p:nvPr/>
        </p:nvGraphicFramePr>
        <p:xfrm>
          <a:off x="6705600" y="2640013"/>
          <a:ext cx="223838" cy="252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696" name="公式" r:id="rId19" imgW="238233" imgH="276157" progId="Equation.3">
                  <p:embed/>
                </p:oleObj>
              </mc:Choice>
              <mc:Fallback>
                <p:oleObj name="公式" r:id="rId19" imgW="238233" imgH="276157" progId="Equation.3">
                  <p:embed/>
                  <p:pic>
                    <p:nvPicPr>
                      <p:cNvPr id="16416" name="Object 10">
                        <a:extLst>
                          <a:ext uri="{FF2B5EF4-FFF2-40B4-BE49-F238E27FC236}">
                            <a16:creationId xmlns:a16="http://schemas.microsoft.com/office/drawing/2014/main" id="{CF44210D-1DB6-4354-8D82-3FBD400A873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5600" y="2640013"/>
                        <a:ext cx="223838" cy="252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17" name="Object 11">
            <a:extLst>
              <a:ext uri="{FF2B5EF4-FFF2-40B4-BE49-F238E27FC236}">
                <a16:creationId xmlns:a16="http://schemas.microsoft.com/office/drawing/2014/main" id="{5BB051B5-FD55-44DA-8B9A-19052A6EF3B2}"/>
              </a:ext>
            </a:extLst>
          </p:cNvPr>
          <p:cNvGraphicFramePr>
            <a:graphicFrameLocks/>
          </p:cNvGraphicFramePr>
          <p:nvPr/>
        </p:nvGraphicFramePr>
        <p:xfrm>
          <a:off x="8050213" y="531813"/>
          <a:ext cx="2794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697" name="公式" r:id="rId21" imgW="238233" imgH="257175" progId="Equation.3">
                  <p:embed/>
                </p:oleObj>
              </mc:Choice>
              <mc:Fallback>
                <p:oleObj name="公式" r:id="rId21" imgW="238233" imgH="257175" progId="Equation.3">
                  <p:embed/>
                  <p:pic>
                    <p:nvPicPr>
                      <p:cNvPr id="16417" name="Object 11">
                        <a:extLst>
                          <a:ext uri="{FF2B5EF4-FFF2-40B4-BE49-F238E27FC236}">
                            <a16:creationId xmlns:a16="http://schemas.microsoft.com/office/drawing/2014/main" id="{5BB051B5-FD55-44DA-8B9A-19052A6EF3B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50213" y="531813"/>
                        <a:ext cx="279400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18" name="Object 12">
            <a:extLst>
              <a:ext uri="{FF2B5EF4-FFF2-40B4-BE49-F238E27FC236}">
                <a16:creationId xmlns:a16="http://schemas.microsoft.com/office/drawing/2014/main" id="{F9AE7513-96AA-4ED7-B634-ECF15943EEB0}"/>
              </a:ext>
            </a:extLst>
          </p:cNvPr>
          <p:cNvGraphicFramePr>
            <a:graphicFrameLocks/>
          </p:cNvGraphicFramePr>
          <p:nvPr/>
        </p:nvGraphicFramePr>
        <p:xfrm>
          <a:off x="8355013" y="965200"/>
          <a:ext cx="279400" cy="290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698" name="公式" r:id="rId23" imgW="238233" imgH="257175" progId="Equation.3">
                  <p:embed/>
                </p:oleObj>
              </mc:Choice>
              <mc:Fallback>
                <p:oleObj name="公式" r:id="rId23" imgW="238233" imgH="257175" progId="Equation.3">
                  <p:embed/>
                  <p:pic>
                    <p:nvPicPr>
                      <p:cNvPr id="16418" name="Object 12">
                        <a:extLst>
                          <a:ext uri="{FF2B5EF4-FFF2-40B4-BE49-F238E27FC236}">
                            <a16:creationId xmlns:a16="http://schemas.microsoft.com/office/drawing/2014/main" id="{F9AE7513-96AA-4ED7-B634-ECF15943EEB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55013" y="965200"/>
                        <a:ext cx="279400" cy="290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19" name="Object 13">
            <a:extLst>
              <a:ext uri="{FF2B5EF4-FFF2-40B4-BE49-F238E27FC236}">
                <a16:creationId xmlns:a16="http://schemas.microsoft.com/office/drawing/2014/main" id="{9DDB21C8-098D-4572-BA29-E60E059BB7C5}"/>
              </a:ext>
            </a:extLst>
          </p:cNvPr>
          <p:cNvGraphicFramePr>
            <a:graphicFrameLocks/>
          </p:cNvGraphicFramePr>
          <p:nvPr/>
        </p:nvGraphicFramePr>
        <p:xfrm>
          <a:off x="7215188" y="2143125"/>
          <a:ext cx="280987" cy="42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699" name="公式" r:id="rId25" imgW="238233" imgH="380864" progId="Equation.3">
                  <p:embed/>
                </p:oleObj>
              </mc:Choice>
              <mc:Fallback>
                <p:oleObj name="公式" r:id="rId25" imgW="238233" imgH="380864" progId="Equation.3">
                  <p:embed/>
                  <p:pic>
                    <p:nvPicPr>
                      <p:cNvPr id="16419" name="Object 13">
                        <a:extLst>
                          <a:ext uri="{FF2B5EF4-FFF2-40B4-BE49-F238E27FC236}">
                            <a16:creationId xmlns:a16="http://schemas.microsoft.com/office/drawing/2014/main" id="{9DDB21C8-098D-4572-BA29-E60E059BB7C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15188" y="2143125"/>
                        <a:ext cx="280987" cy="420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20" name="Object 14">
            <a:extLst>
              <a:ext uri="{FF2B5EF4-FFF2-40B4-BE49-F238E27FC236}">
                <a16:creationId xmlns:a16="http://schemas.microsoft.com/office/drawing/2014/main" id="{B023C149-B487-4280-B100-B1CD711E98AF}"/>
              </a:ext>
            </a:extLst>
          </p:cNvPr>
          <p:cNvGraphicFramePr>
            <a:graphicFrameLocks/>
          </p:cNvGraphicFramePr>
          <p:nvPr/>
        </p:nvGraphicFramePr>
        <p:xfrm>
          <a:off x="7215188" y="2638425"/>
          <a:ext cx="315912" cy="42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700" name="公式" r:id="rId27" imgW="276155" imgH="380864" progId="Equation.3">
                  <p:embed/>
                </p:oleObj>
              </mc:Choice>
              <mc:Fallback>
                <p:oleObj name="公式" r:id="rId27" imgW="276155" imgH="380864" progId="Equation.3">
                  <p:embed/>
                  <p:pic>
                    <p:nvPicPr>
                      <p:cNvPr id="16420" name="Object 14">
                        <a:extLst>
                          <a:ext uri="{FF2B5EF4-FFF2-40B4-BE49-F238E27FC236}">
                            <a16:creationId xmlns:a16="http://schemas.microsoft.com/office/drawing/2014/main" id="{B023C149-B487-4280-B100-B1CD711E98A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15188" y="2638425"/>
                        <a:ext cx="315912" cy="420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21" name="Object 15">
            <a:extLst>
              <a:ext uri="{FF2B5EF4-FFF2-40B4-BE49-F238E27FC236}">
                <a16:creationId xmlns:a16="http://schemas.microsoft.com/office/drawing/2014/main" id="{FE6C548F-FB4D-41A7-B1C3-1304871A1E6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15188" y="3101975"/>
          <a:ext cx="331787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701" name="公式" r:id="rId29" imgW="114376" imgH="180941" progId="Equation.3">
                  <p:embed/>
                </p:oleObj>
              </mc:Choice>
              <mc:Fallback>
                <p:oleObj name="公式" r:id="rId29" imgW="114376" imgH="180941" progId="Equation.3">
                  <p:embed/>
                  <p:pic>
                    <p:nvPicPr>
                      <p:cNvPr id="16421" name="Object 15">
                        <a:extLst>
                          <a:ext uri="{FF2B5EF4-FFF2-40B4-BE49-F238E27FC236}">
                            <a16:creationId xmlns:a16="http://schemas.microsoft.com/office/drawing/2014/main" id="{FE6C548F-FB4D-41A7-B1C3-1304871A1E6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15188" y="3101975"/>
                        <a:ext cx="331787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23" name="Text Box 39">
            <a:extLst>
              <a:ext uri="{FF2B5EF4-FFF2-40B4-BE49-F238E27FC236}">
                <a16:creationId xmlns:a16="http://schemas.microsoft.com/office/drawing/2014/main" id="{9D0D9C08-7265-47DC-B2EB-739DCB9F27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6600" y="1100138"/>
            <a:ext cx="2819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chemeClr val="bg1"/>
                </a:solidFill>
                <a:latin typeface="宋体" panose="02010600030101010101" pitchFamily="2" charset="-122"/>
              </a:rPr>
              <a:t>两条光线的光程差 </a:t>
            </a:r>
          </a:p>
        </p:txBody>
      </p:sp>
      <p:sp>
        <p:nvSpPr>
          <p:cNvPr id="16424" name="Text Box 40">
            <a:extLst>
              <a:ext uri="{FF2B5EF4-FFF2-40B4-BE49-F238E27FC236}">
                <a16:creationId xmlns:a16="http://schemas.microsoft.com/office/drawing/2014/main" id="{92B173F6-9291-4FC5-AD6A-EC87EED0A2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250" y="3933825"/>
            <a:ext cx="2743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考虑到有半波损失 </a:t>
            </a:r>
          </a:p>
        </p:txBody>
      </p:sp>
      <p:graphicFrame>
        <p:nvGraphicFramePr>
          <p:cNvPr id="16425" name="Object 16">
            <a:extLst>
              <a:ext uri="{FF2B5EF4-FFF2-40B4-BE49-F238E27FC236}">
                <a16:creationId xmlns:a16="http://schemas.microsoft.com/office/drawing/2014/main" id="{8E84CEED-9C56-4CA4-A764-D0A249D6C302}"/>
              </a:ext>
            </a:extLst>
          </p:cNvPr>
          <p:cNvGraphicFramePr>
            <a:graphicFrameLocks/>
          </p:cNvGraphicFramePr>
          <p:nvPr/>
        </p:nvGraphicFramePr>
        <p:xfrm>
          <a:off x="6007100" y="2908300"/>
          <a:ext cx="153988" cy="239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702" name="公式" r:id="rId31" imgW="152298" imgH="266666" progId="Equation.3">
                  <p:embed/>
                </p:oleObj>
              </mc:Choice>
              <mc:Fallback>
                <p:oleObj name="公式" r:id="rId31" imgW="152298" imgH="266666" progId="Equation.3">
                  <p:embed/>
                  <p:pic>
                    <p:nvPicPr>
                      <p:cNvPr id="16425" name="Object 16">
                        <a:extLst>
                          <a:ext uri="{FF2B5EF4-FFF2-40B4-BE49-F238E27FC236}">
                            <a16:creationId xmlns:a16="http://schemas.microsoft.com/office/drawing/2014/main" id="{8E84CEED-9C56-4CA4-A764-D0A249D6C30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7100" y="2908300"/>
                        <a:ext cx="153988" cy="239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26" name="Object 17">
            <a:extLst>
              <a:ext uri="{FF2B5EF4-FFF2-40B4-BE49-F238E27FC236}">
                <a16:creationId xmlns:a16="http://schemas.microsoft.com/office/drawing/2014/main" id="{F33307A0-D120-4C46-A273-C1BBF800E4C2}"/>
              </a:ext>
            </a:extLst>
          </p:cNvPr>
          <p:cNvGraphicFramePr>
            <a:graphicFrameLocks/>
          </p:cNvGraphicFramePr>
          <p:nvPr/>
        </p:nvGraphicFramePr>
        <p:xfrm>
          <a:off x="6729413" y="1141413"/>
          <a:ext cx="252412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703" name="公式" r:id="rId33" imgW="218967" imgH="257175" progId="Equation.3">
                  <p:embed/>
                </p:oleObj>
              </mc:Choice>
              <mc:Fallback>
                <p:oleObj name="公式" r:id="rId33" imgW="218967" imgH="257175" progId="Equation.3">
                  <p:embed/>
                  <p:pic>
                    <p:nvPicPr>
                      <p:cNvPr id="16426" name="Object 17">
                        <a:extLst>
                          <a:ext uri="{FF2B5EF4-FFF2-40B4-BE49-F238E27FC236}">
                            <a16:creationId xmlns:a16="http://schemas.microsoft.com/office/drawing/2014/main" id="{F33307A0-D120-4C46-A273-C1BBF800E4C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29413" y="1141413"/>
                        <a:ext cx="252412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27" name="Object 18">
            <a:extLst>
              <a:ext uri="{FF2B5EF4-FFF2-40B4-BE49-F238E27FC236}">
                <a16:creationId xmlns:a16="http://schemas.microsoft.com/office/drawing/2014/main" id="{A9840349-D1C7-4FE1-BC2D-F17B3BB36900}"/>
              </a:ext>
            </a:extLst>
          </p:cNvPr>
          <p:cNvGraphicFramePr>
            <a:graphicFrameLocks noGrp="1"/>
          </p:cNvGraphicFramePr>
          <p:nvPr>
            <p:ph sz="half" idx="4294967295"/>
          </p:nvPr>
        </p:nvGraphicFramePr>
        <p:xfrm>
          <a:off x="801688" y="1868488"/>
          <a:ext cx="3187700" cy="376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704" name="公式" r:id="rId35" imgW="3505302" imgH="380864" progId="Equation.3">
                  <p:embed/>
                </p:oleObj>
              </mc:Choice>
              <mc:Fallback>
                <p:oleObj name="公式" r:id="rId35" imgW="3505302" imgH="380864" progId="Equation.3">
                  <p:embed/>
                  <p:pic>
                    <p:nvPicPr>
                      <p:cNvPr id="16427" name="Object 18">
                        <a:extLst>
                          <a:ext uri="{FF2B5EF4-FFF2-40B4-BE49-F238E27FC236}">
                            <a16:creationId xmlns:a16="http://schemas.microsoft.com/office/drawing/2014/main" id="{A9840349-D1C7-4FE1-BC2D-F17B3BB36900}"/>
                          </a:ext>
                        </a:extLst>
                      </p:cNvPr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1688" y="1868488"/>
                        <a:ext cx="3187700" cy="376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28" name="Object 19">
            <a:extLst>
              <a:ext uri="{FF2B5EF4-FFF2-40B4-BE49-F238E27FC236}">
                <a16:creationId xmlns:a16="http://schemas.microsoft.com/office/drawing/2014/main" id="{AC7EFE9B-BC89-4E6D-9DA0-8B9FDBAC4EF0}"/>
              </a:ext>
            </a:extLst>
          </p:cNvPr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1006475" y="4643438"/>
          <a:ext cx="6351588" cy="1258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705" name="公式" r:id="rId37" imgW="7772400" imgH="1514577" progId="Equation.3">
                  <p:embed/>
                </p:oleObj>
              </mc:Choice>
              <mc:Fallback>
                <p:oleObj name="公式" r:id="rId37" imgW="7772400" imgH="1514577" progId="Equation.3">
                  <p:embed/>
                  <p:pic>
                    <p:nvPicPr>
                      <p:cNvPr id="16428" name="Object 19">
                        <a:extLst>
                          <a:ext uri="{FF2B5EF4-FFF2-40B4-BE49-F238E27FC236}">
                            <a16:creationId xmlns:a16="http://schemas.microsoft.com/office/drawing/2014/main" id="{AC7EFE9B-BC89-4E6D-9DA0-8B9FDBAC4EF0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6475" y="4643438"/>
                        <a:ext cx="6351588" cy="1258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29" name="Object 20">
            <a:extLst>
              <a:ext uri="{FF2B5EF4-FFF2-40B4-BE49-F238E27FC236}">
                <a16:creationId xmlns:a16="http://schemas.microsoft.com/office/drawing/2014/main" id="{28669F96-693A-49E9-BAA4-5C1137E0DC02}"/>
              </a:ext>
            </a:extLst>
          </p:cNvPr>
          <p:cNvGraphicFramePr>
            <a:graphicFrameLocks noGrp="1"/>
          </p:cNvGraphicFramePr>
          <p:nvPr>
            <p:ph sz="quarter" idx="4294967295"/>
          </p:nvPr>
        </p:nvGraphicFramePr>
        <p:xfrm>
          <a:off x="1270000" y="3322638"/>
          <a:ext cx="1497013" cy="376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706" name="公式" r:id="rId39" imgW="1628794" imgH="380864" progId="Equation.3">
                  <p:embed/>
                </p:oleObj>
              </mc:Choice>
              <mc:Fallback>
                <p:oleObj name="公式" r:id="rId39" imgW="1628794" imgH="380864" progId="Equation.3">
                  <p:embed/>
                  <p:pic>
                    <p:nvPicPr>
                      <p:cNvPr id="16429" name="Object 20">
                        <a:extLst>
                          <a:ext uri="{FF2B5EF4-FFF2-40B4-BE49-F238E27FC236}">
                            <a16:creationId xmlns:a16="http://schemas.microsoft.com/office/drawing/2014/main" id="{28669F96-693A-49E9-BAA4-5C1137E0DC02}"/>
                          </a:ext>
                        </a:extLst>
                      </p:cNvPr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0000" y="3322638"/>
                        <a:ext cx="1497013" cy="376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30" name="Freeform 46">
            <a:extLst>
              <a:ext uri="{FF2B5EF4-FFF2-40B4-BE49-F238E27FC236}">
                <a16:creationId xmlns:a16="http://schemas.microsoft.com/office/drawing/2014/main" id="{0CB29823-34D7-4695-AAB8-296F2267C8B8}"/>
              </a:ext>
            </a:extLst>
          </p:cNvPr>
          <p:cNvSpPr>
            <a:spLocks/>
          </p:cNvSpPr>
          <p:nvPr/>
        </p:nvSpPr>
        <p:spPr bwMode="auto">
          <a:xfrm>
            <a:off x="5824538" y="2414588"/>
            <a:ext cx="144462" cy="52387"/>
          </a:xfrm>
          <a:custGeom>
            <a:avLst/>
            <a:gdLst>
              <a:gd name="T0" fmla="*/ 0 w 91"/>
              <a:gd name="T1" fmla="*/ 2147483646 h 33"/>
              <a:gd name="T2" fmla="*/ 2147483646 w 91"/>
              <a:gd name="T3" fmla="*/ 0 h 33"/>
              <a:gd name="T4" fmla="*/ 2147483646 w 91"/>
              <a:gd name="T5" fmla="*/ 2147483646 h 33"/>
              <a:gd name="T6" fmla="*/ 0 60000 65536"/>
              <a:gd name="T7" fmla="*/ 0 60000 65536"/>
              <a:gd name="T8" fmla="*/ 0 60000 65536"/>
              <a:gd name="T9" fmla="*/ 0 w 91"/>
              <a:gd name="T10" fmla="*/ 0 h 33"/>
              <a:gd name="T11" fmla="*/ 91 w 91"/>
              <a:gd name="T12" fmla="*/ 33 h 3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1" h="33">
                <a:moveTo>
                  <a:pt x="0" y="33"/>
                </a:moveTo>
                <a:cubicBezTo>
                  <a:pt x="8" y="28"/>
                  <a:pt x="33" y="0"/>
                  <a:pt x="48" y="0"/>
                </a:cubicBezTo>
                <a:cubicBezTo>
                  <a:pt x="63" y="0"/>
                  <a:pt x="82" y="26"/>
                  <a:pt x="91" y="33"/>
                </a:cubicBezTo>
              </a:path>
            </a:pathLst>
          </a:cu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31" name="Freeform 47">
            <a:extLst>
              <a:ext uri="{FF2B5EF4-FFF2-40B4-BE49-F238E27FC236}">
                <a16:creationId xmlns:a16="http://schemas.microsoft.com/office/drawing/2014/main" id="{DA0CA396-2ABB-4FCA-A554-B0B24DF945D6}"/>
              </a:ext>
            </a:extLst>
          </p:cNvPr>
          <p:cNvSpPr>
            <a:spLocks/>
          </p:cNvSpPr>
          <p:nvPr/>
        </p:nvSpPr>
        <p:spPr bwMode="auto">
          <a:xfrm>
            <a:off x="5992813" y="2854325"/>
            <a:ext cx="125412" cy="46038"/>
          </a:xfrm>
          <a:custGeom>
            <a:avLst/>
            <a:gdLst>
              <a:gd name="T0" fmla="*/ 0 w 79"/>
              <a:gd name="T1" fmla="*/ 0 h 29"/>
              <a:gd name="T2" fmla="*/ 2147483646 w 79"/>
              <a:gd name="T3" fmla="*/ 2147483646 h 29"/>
              <a:gd name="T4" fmla="*/ 2147483646 w 79"/>
              <a:gd name="T5" fmla="*/ 0 h 29"/>
              <a:gd name="T6" fmla="*/ 0 60000 65536"/>
              <a:gd name="T7" fmla="*/ 0 60000 65536"/>
              <a:gd name="T8" fmla="*/ 0 60000 65536"/>
              <a:gd name="T9" fmla="*/ 0 w 79"/>
              <a:gd name="T10" fmla="*/ 0 h 29"/>
              <a:gd name="T11" fmla="*/ 79 w 79"/>
              <a:gd name="T12" fmla="*/ 29 h 2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79" h="29">
                <a:moveTo>
                  <a:pt x="0" y="0"/>
                </a:moveTo>
                <a:cubicBezTo>
                  <a:pt x="7" y="5"/>
                  <a:pt x="28" y="29"/>
                  <a:pt x="41" y="29"/>
                </a:cubicBezTo>
                <a:cubicBezTo>
                  <a:pt x="54" y="29"/>
                  <a:pt x="71" y="6"/>
                  <a:pt x="79" y="0"/>
                </a:cubicBezTo>
              </a:path>
            </a:pathLst>
          </a:cu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32" name="Freeform 48">
            <a:extLst>
              <a:ext uri="{FF2B5EF4-FFF2-40B4-BE49-F238E27FC236}">
                <a16:creationId xmlns:a16="http://schemas.microsoft.com/office/drawing/2014/main" id="{CC6D2CFA-BC84-4E71-9BBE-D05995C73CEA}"/>
              </a:ext>
            </a:extLst>
          </p:cNvPr>
          <p:cNvSpPr>
            <a:spLocks/>
          </p:cNvSpPr>
          <p:nvPr/>
        </p:nvSpPr>
        <p:spPr bwMode="auto">
          <a:xfrm rot="7899256">
            <a:off x="6271419" y="2285206"/>
            <a:ext cx="128588" cy="111125"/>
          </a:xfrm>
          <a:custGeom>
            <a:avLst/>
            <a:gdLst>
              <a:gd name="T0" fmla="*/ 0 w 232"/>
              <a:gd name="T1" fmla="*/ 2147483646 h 232"/>
              <a:gd name="T2" fmla="*/ 2147483646 w 232"/>
              <a:gd name="T3" fmla="*/ 2147483646 h 232"/>
              <a:gd name="T4" fmla="*/ 2147483646 w 232"/>
              <a:gd name="T5" fmla="*/ 2147483646 h 232"/>
              <a:gd name="T6" fmla="*/ 0 60000 65536"/>
              <a:gd name="T7" fmla="*/ 0 60000 65536"/>
              <a:gd name="T8" fmla="*/ 0 60000 65536"/>
              <a:gd name="T9" fmla="*/ 0 w 232"/>
              <a:gd name="T10" fmla="*/ 0 h 232"/>
              <a:gd name="T11" fmla="*/ 232 w 232"/>
              <a:gd name="T12" fmla="*/ 232 h 23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32" h="232">
                <a:moveTo>
                  <a:pt x="0" y="28"/>
                </a:moveTo>
                <a:cubicBezTo>
                  <a:pt x="14" y="27"/>
                  <a:pt x="191" y="0"/>
                  <a:pt x="216" y="28"/>
                </a:cubicBezTo>
                <a:cubicBezTo>
                  <a:pt x="232" y="45"/>
                  <a:pt x="228" y="208"/>
                  <a:pt x="228" y="232"/>
                </a:cubicBezTo>
              </a:path>
            </a:pathLst>
          </a:cu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" name="Text Box 49">
            <a:extLst>
              <a:ext uri="{FF2B5EF4-FFF2-40B4-BE49-F238E27FC236}">
                <a16:creationId xmlns:a16="http://schemas.microsoft.com/office/drawing/2014/main" id="{EEC8F084-5340-441D-83F3-F611DE84E6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250" y="6094413"/>
            <a:ext cx="7572375" cy="400050"/>
          </a:xfrm>
          <a:prstGeom prst="rect">
            <a:avLst/>
          </a:prstGeom>
          <a:noFill/>
          <a:ln w="9525">
            <a:solidFill>
              <a:srgbClr val="99FF3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0" lang="zh-CN" altLang="en-US" sz="2000">
                <a:solidFill>
                  <a:schemeClr val="bg1"/>
                </a:solidFill>
              </a:rPr>
              <a:t>同一干涉条纹来自薄膜表面等倾角反射光线的干涉 </a:t>
            </a:r>
            <a:r>
              <a:rPr kumimoji="0" lang="en-US" altLang="zh-CN" sz="2000">
                <a:solidFill>
                  <a:schemeClr val="bg1"/>
                </a:solidFill>
              </a:rPr>
              <a:t>---- </a:t>
            </a:r>
            <a:r>
              <a:rPr kumimoji="0" lang="zh-CN" altLang="en-US" sz="2000">
                <a:solidFill>
                  <a:srgbClr val="FFFF00"/>
                </a:solidFill>
              </a:rPr>
              <a:t>等倾干涉</a:t>
            </a:r>
          </a:p>
        </p:txBody>
      </p:sp>
      <p:sp>
        <p:nvSpPr>
          <p:cNvPr id="49" name="Text Box 48">
            <a:extLst>
              <a:ext uri="{FF2B5EF4-FFF2-40B4-BE49-F238E27FC236}">
                <a16:creationId xmlns:a16="http://schemas.microsoft.com/office/drawing/2014/main" id="{76E22FA5-85AE-440C-9681-E8C1D0C13B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8125" y="2260600"/>
            <a:ext cx="449263" cy="1320800"/>
          </a:xfrm>
          <a:prstGeom prst="rect">
            <a:avLst/>
          </a:prstGeom>
          <a:noFill/>
          <a:ln w="9525">
            <a:solidFill>
              <a:srgbClr val="99FF3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2000">
                <a:solidFill>
                  <a:srgbClr val="99FF33"/>
                </a:solidFill>
              </a:rPr>
              <a:t>厚</a:t>
            </a:r>
          </a:p>
          <a:p>
            <a:pPr eaLnBrk="1" hangingPunct="1"/>
            <a:r>
              <a:rPr kumimoji="0" lang="zh-CN" altLang="en-US" sz="2000">
                <a:solidFill>
                  <a:srgbClr val="99FF33"/>
                </a:solidFill>
              </a:rPr>
              <a:t>度</a:t>
            </a:r>
          </a:p>
          <a:p>
            <a:pPr eaLnBrk="1" hangingPunct="1"/>
            <a:r>
              <a:rPr kumimoji="0" lang="zh-CN" altLang="en-US" sz="2000">
                <a:solidFill>
                  <a:srgbClr val="99FF33"/>
                </a:solidFill>
              </a:rPr>
              <a:t>均</a:t>
            </a:r>
          </a:p>
          <a:p>
            <a:pPr eaLnBrk="1" hangingPunct="1"/>
            <a:r>
              <a:rPr kumimoji="0" lang="zh-CN" altLang="en-US" sz="2000">
                <a:solidFill>
                  <a:srgbClr val="99FF33"/>
                </a:solidFill>
              </a:rPr>
              <a:t>匀</a:t>
            </a:r>
          </a:p>
        </p:txBody>
      </p:sp>
      <p:sp>
        <p:nvSpPr>
          <p:cNvPr id="22571" name="灯片编号占位符 1">
            <a:extLst>
              <a:ext uri="{FF2B5EF4-FFF2-40B4-BE49-F238E27FC236}">
                <a16:creationId xmlns:a16="http://schemas.microsoft.com/office/drawing/2014/main" id="{83F08FC8-8BD1-445F-8542-19A9A22356AE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EFEC6DBF-81AF-4FE3-8959-3663549BCC7A}" type="slidenum">
              <a:rPr lang="en-US" altLang="zh-CN" b="0">
                <a:solidFill>
                  <a:srgbClr val="FF00FF"/>
                </a:solidFill>
              </a:rPr>
              <a:pPr eaLnBrk="1" hangingPunct="1"/>
              <a:t>4</a:t>
            </a:fld>
            <a:r>
              <a:rPr lang="en-US" altLang="zh-CN" b="0">
                <a:solidFill>
                  <a:srgbClr val="FF00FF"/>
                </a:solidFill>
              </a:rPr>
              <a:t>/21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6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6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6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6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6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6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6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16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16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16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16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6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6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6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7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7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6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16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6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16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4" dur="500"/>
                                        <p:tgtEl>
                                          <p:spTgt spid="16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500"/>
                                        <p:tgtEl>
                                          <p:spTgt spid="16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0" dur="500"/>
                                        <p:tgtEl>
                                          <p:spTgt spid="16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5" dur="500"/>
                                        <p:tgtEl>
                                          <p:spTgt spid="16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8" dur="500"/>
                                        <p:tgtEl>
                                          <p:spTgt spid="16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1" dur="500"/>
                                        <p:tgtEl>
                                          <p:spTgt spid="16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4" dur="500"/>
                                        <p:tgtEl>
                                          <p:spTgt spid="16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7" dur="500"/>
                                        <p:tgtEl>
                                          <p:spTgt spid="16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0" dur="500"/>
                                        <p:tgtEl>
                                          <p:spTgt spid="16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3" dur="500"/>
                                        <p:tgtEl>
                                          <p:spTgt spid="16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16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 nodeType="clickPar">
                      <p:stCondLst>
                        <p:cond delay="indefinite"/>
                      </p:stCondLst>
                      <p:childTnLst>
                        <p:par>
                          <p:cTn id="1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16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 nodeType="clickPar">
                      <p:stCondLst>
                        <p:cond delay="indefinite"/>
                      </p:stCondLst>
                      <p:childTnLst>
                        <p:par>
                          <p:cTn id="1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16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 nodeType="clickPar">
                      <p:stCondLst>
                        <p:cond delay="indefinite"/>
                      </p:stCondLst>
                      <p:childTnLst>
                        <p:par>
                          <p:cTn id="1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16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 nodeType="clickPar">
                      <p:stCondLst>
                        <p:cond delay="indefinite"/>
                      </p:stCondLst>
                      <p:childTnLst>
                        <p:par>
                          <p:cTn id="1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16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 nodeType="clickPar">
                      <p:stCondLst>
                        <p:cond delay="indefinite"/>
                      </p:stCondLst>
                      <p:childTnLst>
                        <p:par>
                          <p:cTn id="1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3" dur="500"/>
                                        <p:tgtEl>
                                          <p:spTgt spid="16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 nodeType="clickPar">
                      <p:stCondLst>
                        <p:cond delay="indefinite"/>
                      </p:stCondLst>
                      <p:childTnLst>
                        <p:par>
                          <p:cTn id="1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5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6" grpId="0" animBg="1"/>
      <p:bldP spid="16387" grpId="0" autoUpdateAnimBg="0"/>
      <p:bldP spid="16397" grpId="0" animBg="1"/>
      <p:bldP spid="16423" grpId="0" autoUpdateAnimBg="0"/>
      <p:bldP spid="16424" grpId="0" autoUpdateAnimBg="0"/>
      <p:bldP spid="48" grpId="0" animBg="1" autoUpdateAnimBg="0"/>
      <p:bldP spid="49" grpId="0" animBg="1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538" name="Text Box 2">
            <a:extLst>
              <a:ext uri="{FF2B5EF4-FFF2-40B4-BE49-F238E27FC236}">
                <a16:creationId xmlns:a16="http://schemas.microsoft.com/office/drawing/2014/main" id="{E643A50F-0675-41A9-8FFD-51CC479F40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6350" y="357188"/>
            <a:ext cx="4081463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4DEAFB"/>
                </a:solidFill>
                <a:ea typeface="楷体_GB2312" pitchFamily="49" charset="-122"/>
              </a:rPr>
              <a:t>1.</a:t>
            </a:r>
            <a:r>
              <a:rPr lang="zh-CN" altLang="en-US">
                <a:solidFill>
                  <a:srgbClr val="4DEAFB"/>
                </a:solidFill>
                <a:ea typeface="楷体_GB2312" pitchFamily="49" charset="-122"/>
              </a:rPr>
              <a:t> 等倾干涉条纹的特点</a:t>
            </a:r>
            <a:r>
              <a:rPr lang="en-US" altLang="zh-CN">
                <a:solidFill>
                  <a:srgbClr val="4DEAFB"/>
                </a:solidFill>
                <a:ea typeface="楷体_GB2312" pitchFamily="49" charset="-122"/>
              </a:rPr>
              <a:t>:</a:t>
            </a:r>
          </a:p>
        </p:txBody>
      </p:sp>
      <p:grpSp>
        <p:nvGrpSpPr>
          <p:cNvPr id="2" name="Group 3">
            <a:extLst>
              <a:ext uri="{FF2B5EF4-FFF2-40B4-BE49-F238E27FC236}">
                <a16:creationId xmlns:a16="http://schemas.microsoft.com/office/drawing/2014/main" id="{4FC393CE-474A-4291-8E0B-5F24AE156038}"/>
              </a:ext>
            </a:extLst>
          </p:cNvPr>
          <p:cNvGrpSpPr>
            <a:grpSpLocks/>
          </p:cNvGrpSpPr>
          <p:nvPr/>
        </p:nvGrpSpPr>
        <p:grpSpPr bwMode="auto">
          <a:xfrm>
            <a:off x="214313" y="285750"/>
            <a:ext cx="914400" cy="1447800"/>
            <a:chOff x="144" y="2976"/>
            <a:chExt cx="624" cy="768"/>
          </a:xfrm>
        </p:grpSpPr>
        <p:sp>
          <p:nvSpPr>
            <p:cNvPr id="23597" name="Text Box 4">
              <a:extLst>
                <a:ext uri="{FF2B5EF4-FFF2-40B4-BE49-F238E27FC236}">
                  <a16:creationId xmlns:a16="http://schemas.microsoft.com/office/drawing/2014/main" id="{955C0F15-00E6-41DA-AD38-01A411BD5D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" y="3120"/>
              <a:ext cx="480" cy="4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>
                  <a:solidFill>
                    <a:srgbClr val="EDFE4A"/>
                  </a:solidFill>
                  <a:ea typeface="楷体_GB2312" pitchFamily="49" charset="-122"/>
                </a:rPr>
                <a:t>分析</a:t>
              </a:r>
            </a:p>
          </p:txBody>
        </p:sp>
        <p:sp>
          <p:nvSpPr>
            <p:cNvPr id="23598" name="AutoShape 5">
              <a:extLst>
                <a:ext uri="{FF2B5EF4-FFF2-40B4-BE49-F238E27FC236}">
                  <a16:creationId xmlns:a16="http://schemas.microsoft.com/office/drawing/2014/main" id="{75FF3BC6-6441-426B-8B2B-D0838B6C79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2976"/>
              <a:ext cx="624" cy="768"/>
            </a:xfrm>
            <a:prstGeom prst="horizontalScroll">
              <a:avLst>
                <a:gd name="adj" fmla="val 12500"/>
              </a:avLst>
            </a:prstGeom>
            <a:noFill/>
            <a:ln w="28575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0"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449542" name="Rectangle 6">
            <a:extLst>
              <a:ext uri="{FF2B5EF4-FFF2-40B4-BE49-F238E27FC236}">
                <a16:creationId xmlns:a16="http://schemas.microsoft.com/office/drawing/2014/main" id="{08861D11-288B-446C-A832-71F1617A0F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1022350"/>
            <a:ext cx="7597775" cy="944563"/>
          </a:xfrm>
          <a:prstGeom prst="rect">
            <a:avLst/>
          </a:prstGeom>
          <a:noFill/>
          <a:ln w="127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>
                <a:solidFill>
                  <a:schemeClr val="bg1"/>
                </a:solidFill>
                <a:ea typeface="楷体_GB2312" pitchFamily="49" charset="-122"/>
              </a:rPr>
              <a:t>        </a:t>
            </a:r>
            <a:r>
              <a:rPr lang="zh-CN" altLang="en-US" sz="2200">
                <a:solidFill>
                  <a:schemeClr val="bg1"/>
                </a:solidFill>
                <a:ea typeface="楷体_GB2312" pitchFamily="49" charset="-122"/>
              </a:rPr>
              <a:t>凡以相同倾角入射的光，反射光束间有相同的光程差，对应干涉中同级次条纹，称等倾干涉，条纹称等倾条纹。</a:t>
            </a:r>
          </a:p>
        </p:txBody>
      </p:sp>
      <p:sp>
        <p:nvSpPr>
          <p:cNvPr id="449543" name="Rectangle 7">
            <a:extLst>
              <a:ext uri="{FF2B5EF4-FFF2-40B4-BE49-F238E27FC236}">
                <a16:creationId xmlns:a16="http://schemas.microsoft.com/office/drawing/2014/main" id="{BB3E9409-E1B7-4F10-B600-A2EC96B2BE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7313" y="6356350"/>
            <a:ext cx="2971800" cy="304800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449544" name="AutoShape 8">
            <a:extLst>
              <a:ext uri="{FF2B5EF4-FFF2-40B4-BE49-F238E27FC236}">
                <a16:creationId xmlns:a16="http://schemas.microsoft.com/office/drawing/2014/main" id="{33113C8C-5138-463C-A77A-2BDFEFBD82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5060950"/>
            <a:ext cx="457200" cy="457200"/>
          </a:xfrm>
          <a:prstGeom prst="irregularSeal1">
            <a:avLst/>
          </a:prstGeom>
          <a:noFill/>
          <a:ln w="12700">
            <a:solidFill>
              <a:srgbClr val="FFFF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449545" name="Line 9">
            <a:extLst>
              <a:ext uri="{FF2B5EF4-FFF2-40B4-BE49-F238E27FC236}">
                <a16:creationId xmlns:a16="http://schemas.microsoft.com/office/drawing/2014/main" id="{B66EE587-7B58-4834-BA72-E37D0793422B}"/>
              </a:ext>
            </a:extLst>
          </p:cNvPr>
          <p:cNvSpPr>
            <a:spLocks noChangeShapeType="1"/>
          </p:cNvSpPr>
          <p:nvPr/>
        </p:nvSpPr>
        <p:spPr bwMode="auto">
          <a:xfrm>
            <a:off x="912813" y="5287963"/>
            <a:ext cx="2209800" cy="381000"/>
          </a:xfrm>
          <a:prstGeom prst="line">
            <a:avLst/>
          </a:prstGeom>
          <a:noFill/>
          <a:ln w="12700">
            <a:solidFill>
              <a:srgbClr val="FF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49546" name="Line 10">
            <a:extLst>
              <a:ext uri="{FF2B5EF4-FFF2-40B4-BE49-F238E27FC236}">
                <a16:creationId xmlns:a16="http://schemas.microsoft.com/office/drawing/2014/main" id="{6169AA07-D7CA-4B62-87AF-E5EB58FA47C3}"/>
              </a:ext>
            </a:extLst>
          </p:cNvPr>
          <p:cNvSpPr>
            <a:spLocks noChangeShapeType="1"/>
          </p:cNvSpPr>
          <p:nvPr/>
        </p:nvSpPr>
        <p:spPr bwMode="auto">
          <a:xfrm>
            <a:off x="1447800" y="4298950"/>
            <a:ext cx="2286000" cy="1905000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49547" name="Line 11">
            <a:extLst>
              <a:ext uri="{FF2B5EF4-FFF2-40B4-BE49-F238E27FC236}">
                <a16:creationId xmlns:a16="http://schemas.microsoft.com/office/drawing/2014/main" id="{E0228222-083F-4408-B313-D15DDE2A81E2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4200" y="5670550"/>
            <a:ext cx="228600" cy="685800"/>
          </a:xfrm>
          <a:prstGeom prst="line">
            <a:avLst/>
          </a:prstGeom>
          <a:noFill/>
          <a:ln w="12700">
            <a:solidFill>
              <a:srgbClr val="FF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49548" name="Line 12">
            <a:extLst>
              <a:ext uri="{FF2B5EF4-FFF2-40B4-BE49-F238E27FC236}">
                <a16:creationId xmlns:a16="http://schemas.microsoft.com/office/drawing/2014/main" id="{B0C11026-BB77-4866-AE96-23B8A35CBC2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52800" y="3994150"/>
            <a:ext cx="457200" cy="2362200"/>
          </a:xfrm>
          <a:prstGeom prst="line">
            <a:avLst/>
          </a:prstGeom>
          <a:noFill/>
          <a:ln w="12700">
            <a:solidFill>
              <a:srgbClr val="FF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49549" name="Line 13">
            <a:extLst>
              <a:ext uri="{FF2B5EF4-FFF2-40B4-BE49-F238E27FC236}">
                <a16:creationId xmlns:a16="http://schemas.microsoft.com/office/drawing/2014/main" id="{A81302DC-3472-4181-AFA0-21053C57E12E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600" y="3994150"/>
            <a:ext cx="3581400" cy="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49550" name="Line 14">
            <a:extLst>
              <a:ext uri="{FF2B5EF4-FFF2-40B4-BE49-F238E27FC236}">
                <a16:creationId xmlns:a16="http://schemas.microsoft.com/office/drawing/2014/main" id="{89342BB0-0BF1-481C-8169-90884684B30F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2622550"/>
            <a:ext cx="0" cy="3733800"/>
          </a:xfrm>
          <a:prstGeom prst="line">
            <a:avLst/>
          </a:prstGeom>
          <a:noFill/>
          <a:ln w="12700">
            <a:solidFill>
              <a:srgbClr val="00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49551" name="Line 15">
            <a:extLst>
              <a:ext uri="{FF2B5EF4-FFF2-40B4-BE49-F238E27FC236}">
                <a16:creationId xmlns:a16="http://schemas.microsoft.com/office/drawing/2014/main" id="{814FB853-9855-4FF8-99AF-967C9F88435E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200" y="2622550"/>
            <a:ext cx="1600200" cy="0"/>
          </a:xfrm>
          <a:prstGeom prst="line">
            <a:avLst/>
          </a:prstGeom>
          <a:noFill/>
          <a:ln w="25400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49552" name="Line 16">
            <a:extLst>
              <a:ext uri="{FF2B5EF4-FFF2-40B4-BE49-F238E27FC236}">
                <a16:creationId xmlns:a16="http://schemas.microsoft.com/office/drawing/2014/main" id="{18FB302A-1315-4066-9F82-FB70A1A8F0E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276600" y="2622550"/>
            <a:ext cx="533400" cy="1371600"/>
          </a:xfrm>
          <a:prstGeom prst="line">
            <a:avLst/>
          </a:prstGeom>
          <a:noFill/>
          <a:ln w="12700">
            <a:solidFill>
              <a:srgbClr val="FF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449554" name="Object 2">
            <a:extLst>
              <a:ext uri="{FF2B5EF4-FFF2-40B4-BE49-F238E27FC236}">
                <a16:creationId xmlns:a16="http://schemas.microsoft.com/office/drawing/2014/main" id="{F19594CE-923E-4149-8C40-022D43A1D43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14800" y="3460750"/>
          <a:ext cx="327025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568" name="Equation" r:id="rId3" imgW="104896" imgH="123689" progId="Equation.3">
                  <p:embed/>
                </p:oleObj>
              </mc:Choice>
              <mc:Fallback>
                <p:oleObj name="Equation" r:id="rId3" imgW="104896" imgH="123689" progId="Equation.3">
                  <p:embed/>
                  <p:pic>
                    <p:nvPicPr>
                      <p:cNvPr id="449554" name="Object 2">
                        <a:extLst>
                          <a:ext uri="{FF2B5EF4-FFF2-40B4-BE49-F238E27FC236}">
                            <a16:creationId xmlns:a16="http://schemas.microsoft.com/office/drawing/2014/main" id="{F19594CE-923E-4149-8C40-022D43A1D43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3460750"/>
                        <a:ext cx="327025" cy="387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9555" name="Object 3">
            <a:extLst>
              <a:ext uri="{FF2B5EF4-FFF2-40B4-BE49-F238E27FC236}">
                <a16:creationId xmlns:a16="http://schemas.microsoft.com/office/drawing/2014/main" id="{7AE0F5DE-DBE0-4F45-BAD7-8AE21430EEC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3400" y="4603750"/>
          <a:ext cx="327025" cy="41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569" name="Equation" r:id="rId5" imgW="104896" imgH="142977" progId="Equation.3">
                  <p:embed/>
                </p:oleObj>
              </mc:Choice>
              <mc:Fallback>
                <p:oleObj name="Equation" r:id="rId5" imgW="104896" imgH="142977" progId="Equation.3">
                  <p:embed/>
                  <p:pic>
                    <p:nvPicPr>
                      <p:cNvPr id="449555" name="Object 3">
                        <a:extLst>
                          <a:ext uri="{FF2B5EF4-FFF2-40B4-BE49-F238E27FC236}">
                            <a16:creationId xmlns:a16="http://schemas.microsoft.com/office/drawing/2014/main" id="{7AE0F5DE-DBE0-4F45-BAD7-8AE21430EEC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4603750"/>
                        <a:ext cx="327025" cy="417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9556" name="Object 4">
            <a:extLst>
              <a:ext uri="{FF2B5EF4-FFF2-40B4-BE49-F238E27FC236}">
                <a16:creationId xmlns:a16="http://schemas.microsoft.com/office/drawing/2014/main" id="{10EA0432-1AA0-41D8-90E2-6DB464B0FA1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24200" y="2165350"/>
          <a:ext cx="357188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570" name="Equation" r:id="rId7" imgW="114376" imgH="123689" progId="Equation.3">
                  <p:embed/>
                </p:oleObj>
              </mc:Choice>
              <mc:Fallback>
                <p:oleObj name="Equation" r:id="rId7" imgW="114376" imgH="123689" progId="Equation.3">
                  <p:embed/>
                  <p:pic>
                    <p:nvPicPr>
                      <p:cNvPr id="449556" name="Object 4">
                        <a:extLst>
                          <a:ext uri="{FF2B5EF4-FFF2-40B4-BE49-F238E27FC236}">
                            <a16:creationId xmlns:a16="http://schemas.microsoft.com/office/drawing/2014/main" id="{10EA0432-1AA0-41D8-90E2-6DB464B0FA1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2165350"/>
                        <a:ext cx="357188" cy="387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9557" name="Object 5">
            <a:extLst>
              <a:ext uri="{FF2B5EF4-FFF2-40B4-BE49-F238E27FC236}">
                <a16:creationId xmlns:a16="http://schemas.microsoft.com/office/drawing/2014/main" id="{1D164600-892C-4FCC-B041-6C309F0326B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90800" y="2165350"/>
          <a:ext cx="357188" cy="41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571" name="Equation" r:id="rId9" imgW="114376" imgH="142977" progId="Equation.3">
                  <p:embed/>
                </p:oleObj>
              </mc:Choice>
              <mc:Fallback>
                <p:oleObj name="Equation" r:id="rId9" imgW="114376" imgH="142977" progId="Equation.3">
                  <p:embed/>
                  <p:pic>
                    <p:nvPicPr>
                      <p:cNvPr id="449557" name="Object 5">
                        <a:extLst>
                          <a:ext uri="{FF2B5EF4-FFF2-40B4-BE49-F238E27FC236}">
                            <a16:creationId xmlns:a16="http://schemas.microsoft.com/office/drawing/2014/main" id="{1D164600-892C-4FCC-B041-6C309F0326B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2165350"/>
                        <a:ext cx="357188" cy="417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9558" name="Object 6">
            <a:extLst>
              <a:ext uri="{FF2B5EF4-FFF2-40B4-BE49-F238E27FC236}">
                <a16:creationId xmlns:a16="http://schemas.microsoft.com/office/drawing/2014/main" id="{5B24B98F-0F5D-436F-9645-74D7B34B056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90600" y="4222750"/>
          <a:ext cx="476250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572" name="Equation" r:id="rId11" imgW="161778" imgH="123689" progId="Equation.3">
                  <p:embed/>
                </p:oleObj>
              </mc:Choice>
              <mc:Fallback>
                <p:oleObj name="Equation" r:id="rId11" imgW="161778" imgH="123689" progId="Equation.3">
                  <p:embed/>
                  <p:pic>
                    <p:nvPicPr>
                      <p:cNvPr id="449558" name="Object 6">
                        <a:extLst>
                          <a:ext uri="{FF2B5EF4-FFF2-40B4-BE49-F238E27FC236}">
                            <a16:creationId xmlns:a16="http://schemas.microsoft.com/office/drawing/2014/main" id="{5B24B98F-0F5D-436F-9645-74D7B34B056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4222750"/>
                        <a:ext cx="476250" cy="387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9559" name="Object 7">
            <a:extLst>
              <a:ext uri="{FF2B5EF4-FFF2-40B4-BE49-F238E27FC236}">
                <a16:creationId xmlns:a16="http://schemas.microsoft.com/office/drawing/2014/main" id="{82F443DC-4A00-4D3F-B4E4-C49C6D5B6AE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95400" y="5822950"/>
          <a:ext cx="355600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573" name="Equation" r:id="rId13" imgW="114376" imgH="161959" progId="Equation.3">
                  <p:embed/>
                </p:oleObj>
              </mc:Choice>
              <mc:Fallback>
                <p:oleObj name="Equation" r:id="rId13" imgW="114376" imgH="161959" progId="Equation.3">
                  <p:embed/>
                  <p:pic>
                    <p:nvPicPr>
                      <p:cNvPr id="449559" name="Object 7">
                        <a:extLst>
                          <a:ext uri="{FF2B5EF4-FFF2-40B4-BE49-F238E27FC236}">
                            <a16:creationId xmlns:a16="http://schemas.microsoft.com/office/drawing/2014/main" id="{82F443DC-4A00-4D3F-B4E4-C49C6D5B6AE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5822950"/>
                        <a:ext cx="355600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9561" name="Text Box 25">
            <a:extLst>
              <a:ext uri="{FF2B5EF4-FFF2-40B4-BE49-F238E27FC236}">
                <a16:creationId xmlns:a16="http://schemas.microsoft.com/office/drawing/2014/main" id="{00F6F645-DAB9-4714-AEDF-0BA39A6687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0" y="2214563"/>
            <a:ext cx="1600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n-US" altLang="zh-CN">
                <a:solidFill>
                  <a:srgbClr val="4DEAFB"/>
                </a:solidFill>
                <a:ea typeface="楷体_GB2312" pitchFamily="49" charset="-122"/>
                <a:sym typeface="Symbol" panose="05050102010706020507" pitchFamily="18" charset="2"/>
              </a:rPr>
              <a:t>  </a:t>
            </a:r>
            <a:r>
              <a:rPr lang="zh-CN" altLang="en-US">
                <a:solidFill>
                  <a:srgbClr val="4DEAFB"/>
                </a:solidFill>
                <a:ea typeface="楷体_GB2312" pitchFamily="49" charset="-122"/>
              </a:rPr>
              <a:t>形状</a:t>
            </a:r>
            <a:r>
              <a:rPr lang="en-US" altLang="zh-CN">
                <a:solidFill>
                  <a:srgbClr val="4DEAFB"/>
                </a:solidFill>
                <a:ea typeface="楷体_GB2312" pitchFamily="49" charset="-122"/>
              </a:rPr>
              <a:t>:</a:t>
            </a:r>
          </a:p>
        </p:txBody>
      </p:sp>
      <p:sp>
        <p:nvSpPr>
          <p:cNvPr id="449562" name="Text Box 26">
            <a:extLst>
              <a:ext uri="{FF2B5EF4-FFF2-40B4-BE49-F238E27FC236}">
                <a16:creationId xmlns:a16="http://schemas.microsoft.com/office/drawing/2014/main" id="{6F508C06-D869-44F8-8B70-B7C1B5421B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0" y="2671763"/>
            <a:ext cx="426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一系列同心圆环，内疏外密。</a:t>
            </a:r>
          </a:p>
        </p:txBody>
      </p:sp>
      <p:sp>
        <p:nvSpPr>
          <p:cNvPr id="449563" name="Text Box 27">
            <a:extLst>
              <a:ext uri="{FF2B5EF4-FFF2-40B4-BE49-F238E27FC236}">
                <a16:creationId xmlns:a16="http://schemas.microsoft.com/office/drawing/2014/main" id="{B162AB1A-A1C3-4A53-BCE0-1B51316C9C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0" y="3128963"/>
            <a:ext cx="3048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n-US" altLang="zh-CN">
                <a:solidFill>
                  <a:srgbClr val="4DEAFB"/>
                </a:solidFill>
                <a:ea typeface="楷体_GB2312" pitchFamily="49" charset="-122"/>
                <a:sym typeface="Symbol" panose="05050102010706020507" pitchFamily="18" charset="2"/>
              </a:rPr>
              <a:t>  </a:t>
            </a:r>
            <a:r>
              <a:rPr lang="zh-CN" altLang="en-US">
                <a:solidFill>
                  <a:srgbClr val="4DEAFB"/>
                </a:solidFill>
                <a:ea typeface="楷体_GB2312" pitchFamily="49" charset="-122"/>
              </a:rPr>
              <a:t>条纹级次分布</a:t>
            </a:r>
            <a:r>
              <a:rPr lang="en-US" altLang="zh-CN">
                <a:solidFill>
                  <a:srgbClr val="4DEAFB"/>
                </a:solidFill>
                <a:ea typeface="楷体_GB2312" pitchFamily="49" charset="-122"/>
              </a:rPr>
              <a:t>:</a:t>
            </a:r>
          </a:p>
        </p:txBody>
      </p:sp>
      <p:sp>
        <p:nvSpPr>
          <p:cNvPr id="449564" name="Text Box 28">
            <a:extLst>
              <a:ext uri="{FF2B5EF4-FFF2-40B4-BE49-F238E27FC236}">
                <a16:creationId xmlns:a16="http://schemas.microsoft.com/office/drawing/2014/main" id="{500FBBBD-70E2-41AC-8E47-54E8FED36F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92824" y="3645024"/>
            <a:ext cx="3439616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chemeClr val="bg1"/>
                </a:solidFill>
                <a:ea typeface="楷体_GB2312" pitchFamily="49" charset="-122"/>
              </a:rPr>
              <a:t>内级次比外级次高 </a:t>
            </a:r>
          </a:p>
        </p:txBody>
      </p:sp>
      <p:sp>
        <p:nvSpPr>
          <p:cNvPr id="449565" name="Text Box 29">
            <a:extLst>
              <a:ext uri="{FF2B5EF4-FFF2-40B4-BE49-F238E27FC236}">
                <a16:creationId xmlns:a16="http://schemas.microsoft.com/office/drawing/2014/main" id="{FAA55C49-D74C-4A53-B42D-5F821C6801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29175" y="5000625"/>
            <a:ext cx="3886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n-US" altLang="zh-CN">
                <a:solidFill>
                  <a:srgbClr val="4DEAFB"/>
                </a:solidFill>
                <a:ea typeface="楷体_GB2312" pitchFamily="49" charset="-122"/>
                <a:sym typeface="Symbol" panose="05050102010706020507" pitchFamily="18" charset="2"/>
              </a:rPr>
              <a:t>  </a:t>
            </a:r>
            <a:r>
              <a:rPr lang="zh-CN" altLang="en-US">
                <a:solidFill>
                  <a:srgbClr val="4DEAFB"/>
                </a:solidFill>
                <a:ea typeface="楷体_GB2312" pitchFamily="49" charset="-122"/>
              </a:rPr>
              <a:t>膜厚变化时</a:t>
            </a:r>
            <a:r>
              <a:rPr lang="en-US" altLang="zh-CN">
                <a:solidFill>
                  <a:srgbClr val="4DEAFB"/>
                </a:solidFill>
                <a:ea typeface="楷体_GB2312" pitchFamily="49" charset="-122"/>
              </a:rPr>
              <a:t>,  </a:t>
            </a:r>
            <a:r>
              <a:rPr lang="zh-CN" altLang="en-US">
                <a:solidFill>
                  <a:srgbClr val="4DEAFB"/>
                </a:solidFill>
                <a:ea typeface="楷体_GB2312" pitchFamily="49" charset="-122"/>
              </a:rPr>
              <a:t>条纹移动：</a:t>
            </a:r>
          </a:p>
        </p:txBody>
      </p:sp>
      <p:sp>
        <p:nvSpPr>
          <p:cNvPr id="449566" name="Text Box 30">
            <a:extLst>
              <a:ext uri="{FF2B5EF4-FFF2-40B4-BE49-F238E27FC236}">
                <a16:creationId xmlns:a16="http://schemas.microsoft.com/office/drawing/2014/main" id="{2F966C5B-F079-43AC-9C9E-572A135141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2013" y="5494338"/>
            <a:ext cx="41148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</a:pPr>
            <a:r>
              <a:rPr lang="en-US" altLang="zh-CN">
                <a:solidFill>
                  <a:schemeClr val="bg1"/>
                </a:solidFill>
                <a:ea typeface="楷体_GB2312" pitchFamily="49" charset="-122"/>
              </a:rPr>
              <a:t>   </a:t>
            </a: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厚度增大，圆纹从中心冒出，向外扩张，条纹变密 </a:t>
            </a:r>
          </a:p>
        </p:txBody>
      </p:sp>
      <p:graphicFrame>
        <p:nvGraphicFramePr>
          <p:cNvPr id="449567" name="Object 8">
            <a:extLst>
              <a:ext uri="{FF2B5EF4-FFF2-40B4-BE49-F238E27FC236}">
                <a16:creationId xmlns:a16="http://schemas.microsoft.com/office/drawing/2014/main" id="{9A3FBD02-F169-40A6-BBB5-258DC7A04C8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75163" y="4119563"/>
          <a:ext cx="4652962" cy="950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574" name="公式" r:id="rId15" imgW="1867027" imgH="352391" progId="Equation.3">
                  <p:embed/>
                </p:oleObj>
              </mc:Choice>
              <mc:Fallback>
                <p:oleObj name="公式" r:id="rId15" imgW="1867027" imgH="352391" progId="Equation.3">
                  <p:embed/>
                  <p:pic>
                    <p:nvPicPr>
                      <p:cNvPr id="449567" name="Object 8">
                        <a:extLst>
                          <a:ext uri="{FF2B5EF4-FFF2-40B4-BE49-F238E27FC236}">
                            <a16:creationId xmlns:a16="http://schemas.microsoft.com/office/drawing/2014/main" id="{9A3FBD02-F169-40A6-BBB5-258DC7A04C8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75163" y="4119563"/>
                        <a:ext cx="4652962" cy="950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9568" name="Line 32">
            <a:extLst>
              <a:ext uri="{FF2B5EF4-FFF2-40B4-BE49-F238E27FC236}">
                <a16:creationId xmlns:a16="http://schemas.microsoft.com/office/drawing/2014/main" id="{B517C64C-212B-4128-9188-FF2EF67689D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752600" y="2622550"/>
            <a:ext cx="533400" cy="1371600"/>
          </a:xfrm>
          <a:prstGeom prst="line">
            <a:avLst/>
          </a:prstGeom>
          <a:noFill/>
          <a:ln w="12700">
            <a:solidFill>
              <a:srgbClr val="FF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49569" name="Line 33">
            <a:extLst>
              <a:ext uri="{FF2B5EF4-FFF2-40B4-BE49-F238E27FC236}">
                <a16:creationId xmlns:a16="http://schemas.microsoft.com/office/drawing/2014/main" id="{2E3F1393-0E93-402C-8A04-F9B116F1994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752600" y="3994150"/>
            <a:ext cx="457200" cy="2362200"/>
          </a:xfrm>
          <a:prstGeom prst="line">
            <a:avLst/>
          </a:prstGeom>
          <a:noFill/>
          <a:ln w="12700">
            <a:solidFill>
              <a:srgbClr val="FF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49570" name="Line 34">
            <a:extLst>
              <a:ext uri="{FF2B5EF4-FFF2-40B4-BE49-F238E27FC236}">
                <a16:creationId xmlns:a16="http://schemas.microsoft.com/office/drawing/2014/main" id="{71C0678B-F387-4812-897D-F47DBECC4C2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38200" y="5137150"/>
            <a:ext cx="1600200" cy="152400"/>
          </a:xfrm>
          <a:prstGeom prst="line">
            <a:avLst/>
          </a:prstGeom>
          <a:noFill/>
          <a:ln w="12700">
            <a:solidFill>
              <a:srgbClr val="FF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49571" name="Line 35">
            <a:extLst>
              <a:ext uri="{FF2B5EF4-FFF2-40B4-BE49-F238E27FC236}">
                <a16:creationId xmlns:a16="http://schemas.microsoft.com/office/drawing/2014/main" id="{73D324A8-2D80-40A7-BEFB-E1DC0F8420E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09800" y="5137150"/>
            <a:ext cx="228600" cy="1219200"/>
          </a:xfrm>
          <a:prstGeom prst="line">
            <a:avLst/>
          </a:prstGeom>
          <a:noFill/>
          <a:ln w="12700">
            <a:solidFill>
              <a:srgbClr val="FF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449572" name="Object 9">
            <a:extLst>
              <a:ext uri="{FF2B5EF4-FFF2-40B4-BE49-F238E27FC236}">
                <a16:creationId xmlns:a16="http://schemas.microsoft.com/office/drawing/2014/main" id="{3DECE9B9-1B0B-439F-A271-66A98C8C385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7400" y="2165350"/>
          <a:ext cx="417513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575" name="Equation" r:id="rId17" imgW="142818" imgH="123689" progId="Equation.3">
                  <p:embed/>
                </p:oleObj>
              </mc:Choice>
              <mc:Fallback>
                <p:oleObj name="Equation" r:id="rId17" imgW="142818" imgH="123689" progId="Equation.3">
                  <p:embed/>
                  <p:pic>
                    <p:nvPicPr>
                      <p:cNvPr id="449572" name="Object 9">
                        <a:extLst>
                          <a:ext uri="{FF2B5EF4-FFF2-40B4-BE49-F238E27FC236}">
                            <a16:creationId xmlns:a16="http://schemas.microsoft.com/office/drawing/2014/main" id="{3DECE9B9-1B0B-439F-A271-66A98C8C385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2165350"/>
                        <a:ext cx="417513" cy="387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9" name="Object 37">
            <a:extLst>
              <a:ext uri="{FF2B5EF4-FFF2-40B4-BE49-F238E27FC236}">
                <a16:creationId xmlns:a16="http://schemas.microsoft.com/office/drawing/2014/main" id="{F8EC5E13-4724-415F-8D73-E142453DFBDD}"/>
              </a:ext>
            </a:extLst>
          </p:cNvPr>
          <p:cNvGraphicFramePr>
            <a:graphicFrameLocks/>
          </p:cNvGraphicFramePr>
          <p:nvPr/>
        </p:nvGraphicFramePr>
        <p:xfrm>
          <a:off x="5214938" y="214313"/>
          <a:ext cx="2284412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576" name="公式" r:id="rId19" imgW="2504967" imgH="790507" progId="Equation.3">
                  <p:embed/>
                </p:oleObj>
              </mc:Choice>
              <mc:Fallback>
                <p:oleObj name="公式" r:id="rId19" imgW="2504967" imgH="790507" progId="Equation.3">
                  <p:embed/>
                  <p:pic>
                    <p:nvPicPr>
                      <p:cNvPr id="16389" name="Object 37">
                        <a:extLst>
                          <a:ext uri="{FF2B5EF4-FFF2-40B4-BE49-F238E27FC236}">
                            <a16:creationId xmlns:a16="http://schemas.microsoft.com/office/drawing/2014/main" id="{F8EC5E13-4724-415F-8D73-E142453DFBD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4938" y="214313"/>
                        <a:ext cx="2284412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86" name="灯片编号占位符 1">
            <a:extLst>
              <a:ext uri="{FF2B5EF4-FFF2-40B4-BE49-F238E27FC236}">
                <a16:creationId xmlns:a16="http://schemas.microsoft.com/office/drawing/2014/main" id="{E3C5D2FD-C873-4FCB-9488-027FBE05D548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B096635-7452-4779-A210-C0DCAABBA91F}" type="slidenum">
              <a:rPr lang="en-US" altLang="zh-CN" b="0">
                <a:solidFill>
                  <a:srgbClr val="FF00FF"/>
                </a:solidFill>
              </a:rPr>
              <a:pPr eaLnBrk="1" hangingPunct="1"/>
              <a:t>5</a:t>
            </a:fld>
            <a:r>
              <a:rPr lang="en-US" altLang="zh-CN" b="0">
                <a:solidFill>
                  <a:srgbClr val="FF00FF"/>
                </a:solidFill>
              </a:rPr>
              <a:t>/21</a:t>
            </a:r>
          </a:p>
        </p:txBody>
      </p:sp>
      <p:sp>
        <p:nvSpPr>
          <p:cNvPr id="16422" name="Line 38">
            <a:extLst>
              <a:ext uri="{FF2B5EF4-FFF2-40B4-BE49-F238E27FC236}">
                <a16:creationId xmlns:a16="http://schemas.microsoft.com/office/drawing/2014/main" id="{06ADEC43-96A9-48AD-80C1-DD1BDDE989A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11413" y="3500438"/>
            <a:ext cx="288925" cy="1800225"/>
          </a:xfrm>
          <a:prstGeom prst="line">
            <a:avLst/>
          </a:prstGeom>
          <a:noFill/>
          <a:ln w="19050">
            <a:solidFill>
              <a:schemeClr val="bg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423" name="Line 39">
            <a:extLst>
              <a:ext uri="{FF2B5EF4-FFF2-40B4-BE49-F238E27FC236}">
                <a16:creationId xmlns:a16="http://schemas.microsoft.com/office/drawing/2014/main" id="{B8A0478D-858F-4F64-96FE-3993A9682A5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771775" y="3500438"/>
            <a:ext cx="360363" cy="2160587"/>
          </a:xfrm>
          <a:prstGeom prst="line">
            <a:avLst/>
          </a:prstGeom>
          <a:noFill/>
          <a:ln w="19050">
            <a:solidFill>
              <a:schemeClr val="bg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" name="Object 11">
            <a:extLst>
              <a:ext uri="{FF2B5EF4-FFF2-40B4-BE49-F238E27FC236}">
                <a16:creationId xmlns:a16="http://schemas.microsoft.com/office/drawing/2014/main" id="{4E5C6C57-F92B-4654-AB25-B20DAEDD7BB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62275" y="3213100"/>
          <a:ext cx="385763" cy="41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577" name="公式" r:id="rId21" imgW="123857" imgH="142977" progId="Equation.3">
                  <p:embed/>
                </p:oleObj>
              </mc:Choice>
              <mc:Fallback>
                <p:oleObj name="公式" r:id="rId21" imgW="123857" imgH="142977" progId="Equation.3">
                  <p:embed/>
                  <p:pic>
                    <p:nvPicPr>
                      <p:cNvPr id="3" name="Object 11">
                        <a:extLst>
                          <a:ext uri="{FF2B5EF4-FFF2-40B4-BE49-F238E27FC236}">
                            <a16:creationId xmlns:a16="http://schemas.microsoft.com/office/drawing/2014/main" id="{4E5C6C57-F92B-4654-AB25-B20DAEDD7BB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2275" y="3213100"/>
                        <a:ext cx="385763" cy="417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AutoShape 8">
            <a:extLst>
              <a:ext uri="{FF2B5EF4-FFF2-40B4-BE49-F238E27FC236}">
                <a16:creationId xmlns:a16="http://schemas.microsoft.com/office/drawing/2014/main" id="{C35AF86F-7ABD-4315-A1E5-C31E916F21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4438" y="3187700"/>
            <a:ext cx="457200" cy="457200"/>
          </a:xfrm>
          <a:prstGeom prst="irregularSeal1">
            <a:avLst/>
          </a:prstGeom>
          <a:noFill/>
          <a:ln w="12700">
            <a:solidFill>
              <a:srgbClr val="FFFF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2323717A-53F4-45CB-99CF-FAD0CD252CEB}"/>
              </a:ext>
            </a:extLst>
          </p:cNvPr>
          <p:cNvCxnSpPr>
            <a:cxnSpLocks noChangeShapeType="1"/>
            <a:stCxn id="449571" idx="1"/>
          </p:cNvCxnSpPr>
          <p:nvPr/>
        </p:nvCxnSpPr>
        <p:spPr bwMode="auto">
          <a:xfrm rot="-5400000" flipH="1" flipV="1">
            <a:off x="1997075" y="6502400"/>
            <a:ext cx="358775" cy="66675"/>
          </a:xfrm>
          <a:prstGeom prst="straightConnector1">
            <a:avLst/>
          </a:prstGeom>
          <a:noFill/>
          <a:ln w="15875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114A1E34-8C30-41D3-935C-CCFF36C06560}"/>
              </a:ext>
            </a:extLst>
          </p:cNvPr>
          <p:cNvCxnSpPr>
            <a:cxnSpLocks noChangeShapeType="1"/>
            <a:stCxn id="23586" idx="3"/>
          </p:cNvCxnSpPr>
          <p:nvPr/>
        </p:nvCxnSpPr>
        <p:spPr bwMode="auto">
          <a:xfrm flipH="1" flipV="1">
            <a:off x="1643063" y="4000500"/>
            <a:ext cx="490537" cy="2619375"/>
          </a:xfrm>
          <a:prstGeom prst="straightConnector1">
            <a:avLst/>
          </a:prstGeom>
          <a:noFill/>
          <a:ln w="15875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C2DF76BC-165C-49F4-A367-0D47BD2F7EC6}"/>
              </a:ext>
            </a:extLst>
          </p:cNvPr>
          <p:cNvCxnSpPr>
            <a:cxnSpLocks noChangeShapeType="1"/>
            <a:endCxn id="449568" idx="1"/>
          </p:cNvCxnSpPr>
          <p:nvPr/>
        </p:nvCxnSpPr>
        <p:spPr bwMode="auto">
          <a:xfrm rot="5400000" flipH="1" flipV="1">
            <a:off x="1275557" y="2990056"/>
            <a:ext cx="1377950" cy="642937"/>
          </a:xfrm>
          <a:prstGeom prst="straightConnector1">
            <a:avLst/>
          </a:prstGeom>
          <a:noFill/>
          <a:ln w="15875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64641410-1AA1-4096-AE7E-87E1507D88FA}"/>
              </a:ext>
            </a:extLst>
          </p:cNvPr>
          <p:cNvCxnSpPr>
            <a:cxnSpLocks noChangeShapeType="1"/>
            <a:stCxn id="449548" idx="0"/>
          </p:cNvCxnSpPr>
          <p:nvPr/>
        </p:nvCxnSpPr>
        <p:spPr bwMode="auto">
          <a:xfrm rot="16200000" flipH="1">
            <a:off x="3247231" y="6461919"/>
            <a:ext cx="287338" cy="76200"/>
          </a:xfrm>
          <a:prstGeom prst="straightConnector1">
            <a:avLst/>
          </a:prstGeom>
          <a:noFill/>
          <a:ln w="15875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8616EDE7-F9A7-4B02-BCAA-6D70D2089E4D}"/>
              </a:ext>
            </a:extLst>
          </p:cNvPr>
          <p:cNvCxnSpPr>
            <a:cxnSpLocks noChangeShapeType="1"/>
          </p:cNvCxnSpPr>
          <p:nvPr/>
        </p:nvCxnSpPr>
        <p:spPr bwMode="auto">
          <a:xfrm rot="5400000" flipH="1" flipV="1">
            <a:off x="2357438" y="5072062"/>
            <a:ext cx="2643188" cy="500063"/>
          </a:xfrm>
          <a:prstGeom prst="straightConnector1">
            <a:avLst/>
          </a:prstGeom>
          <a:noFill/>
          <a:ln w="15875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FF1676F5-EC0D-41A2-B949-93E2F294463F}"/>
              </a:ext>
            </a:extLst>
          </p:cNvPr>
          <p:cNvCxnSpPr>
            <a:cxnSpLocks noChangeShapeType="1"/>
            <a:endCxn id="449552" idx="1"/>
          </p:cNvCxnSpPr>
          <p:nvPr/>
        </p:nvCxnSpPr>
        <p:spPr bwMode="auto">
          <a:xfrm rot="16200000" flipV="1">
            <a:off x="2913857" y="2985293"/>
            <a:ext cx="1377950" cy="652463"/>
          </a:xfrm>
          <a:prstGeom prst="straightConnector1">
            <a:avLst/>
          </a:prstGeom>
          <a:noFill/>
          <a:ln w="15875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47" name="对象 46">
            <a:extLst>
              <a:ext uri="{FF2B5EF4-FFF2-40B4-BE49-F238E27FC236}">
                <a16:creationId xmlns:a16="http://schemas.microsoft.com/office/drawing/2014/main" id="{F10530B7-E980-4490-8AAF-99028AC2CBE2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039813" y="2052003"/>
          <a:ext cx="3302000" cy="46976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578" r:id="rId23" imgW="6260040" imgH="8342640" progId="">
                  <p:embed/>
                </p:oleObj>
              </mc:Choice>
              <mc:Fallback>
                <p:oleObj r:id="rId23" imgW="6260040" imgH="8342640" progId="">
                  <p:embed/>
                  <p:pic>
                    <p:nvPicPr>
                      <p:cNvPr id="47" name="对象 46">
                        <a:extLst>
                          <a:ext uri="{FF2B5EF4-FFF2-40B4-BE49-F238E27FC236}">
                            <a16:creationId xmlns:a16="http://schemas.microsoft.com/office/drawing/2014/main" id="{F10530B7-E980-4490-8AAF-99028AC2CBE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039813" y="2052003"/>
                        <a:ext cx="3302000" cy="469766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6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449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449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49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449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449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449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449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449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449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449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449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449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449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49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449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449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449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449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449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500"/>
                                        <p:tgtEl>
                                          <p:spTgt spid="449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3" dur="500"/>
                                        <p:tgtEl>
                                          <p:spTgt spid="449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6" dur="500"/>
                                        <p:tgtEl>
                                          <p:spTgt spid="449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1" dur="500"/>
                                        <p:tgtEl>
                                          <p:spTgt spid="16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4" dur="500"/>
                                        <p:tgtEl>
                                          <p:spTgt spid="16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6" dur="500"/>
                                        <p:tgtEl>
                                          <p:spTgt spid="449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500"/>
                            </p:stCondLst>
                            <p:childTnLst>
                              <p:par>
                                <p:cTn id="1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5" dur="500"/>
                                        <p:tgtEl>
                                          <p:spTgt spid="449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9" dur="500"/>
                                        <p:tgtEl>
                                          <p:spTgt spid="449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id="14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3" dur="500"/>
                                        <p:tgtEl>
                                          <p:spTgt spid="449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4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7" dur="500"/>
                                        <p:tgtEl>
                                          <p:spTgt spid="449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2" dur="500"/>
                                        <p:tgtEl>
                                          <p:spTgt spid="449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 nodeType="clickPar">
                      <p:stCondLst>
                        <p:cond delay="indefinite"/>
                      </p:stCondLst>
                      <p:childTnLst>
                        <p:par>
                          <p:cTn id="1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7" dur="500"/>
                                        <p:tgtEl>
                                          <p:spTgt spid="449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1" dur="500"/>
                                        <p:tgtEl>
                                          <p:spTgt spid="449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9538" grpId="0" autoUpdateAnimBg="0"/>
      <p:bldP spid="449542" grpId="0" animBg="1" autoUpdateAnimBg="0"/>
      <p:bldP spid="449543" grpId="0" animBg="1"/>
      <p:bldP spid="449544" grpId="0" animBg="1"/>
      <p:bldP spid="449561" grpId="0" autoUpdateAnimBg="0"/>
      <p:bldP spid="449562" grpId="0" autoUpdateAnimBg="0"/>
      <p:bldP spid="449563" grpId="0" autoUpdateAnimBg="0"/>
      <p:bldP spid="449564" grpId="0" autoUpdateAnimBg="0"/>
      <p:bldP spid="449565" grpId="0" autoUpdateAnimBg="0"/>
      <p:bldP spid="449566" grpId="0" autoUpdateAnimBg="0"/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62" name="Text Box 2">
            <a:extLst>
              <a:ext uri="{FF2B5EF4-FFF2-40B4-BE49-F238E27FC236}">
                <a16:creationId xmlns:a16="http://schemas.microsoft.com/office/drawing/2014/main" id="{B89C73B8-A192-4B7E-A022-6A997A3155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6725" y="428625"/>
            <a:ext cx="3962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zh-CN" altLang="en-US">
                <a:solidFill>
                  <a:srgbClr val="4DEAFB"/>
                </a:solidFill>
                <a:ea typeface="楷体_GB2312" pitchFamily="49" charset="-122"/>
              </a:rPr>
              <a:t>条纹与膜厚变化关系</a:t>
            </a:r>
            <a:r>
              <a:rPr lang="en-US" altLang="zh-CN">
                <a:solidFill>
                  <a:srgbClr val="4DEAFB"/>
                </a:solidFill>
                <a:ea typeface="楷体_GB2312" pitchFamily="49" charset="-122"/>
              </a:rPr>
              <a:t>:</a:t>
            </a:r>
          </a:p>
        </p:txBody>
      </p:sp>
      <p:graphicFrame>
        <p:nvGraphicFramePr>
          <p:cNvPr id="450563" name="Object 2">
            <a:extLst>
              <a:ext uri="{FF2B5EF4-FFF2-40B4-BE49-F238E27FC236}">
                <a16:creationId xmlns:a16="http://schemas.microsoft.com/office/drawing/2014/main" id="{E363A830-C9C1-46A5-82E2-D998E14654F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33875" y="214313"/>
          <a:ext cx="4381500" cy="950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502" name="公式" r:id="rId3" imgW="1867027" imgH="352391" progId="Equation.3">
                  <p:embed/>
                </p:oleObj>
              </mc:Choice>
              <mc:Fallback>
                <p:oleObj name="公式" r:id="rId3" imgW="1867027" imgH="352391" progId="Equation.3">
                  <p:embed/>
                  <p:pic>
                    <p:nvPicPr>
                      <p:cNvPr id="450563" name="Object 2">
                        <a:extLst>
                          <a:ext uri="{FF2B5EF4-FFF2-40B4-BE49-F238E27FC236}">
                            <a16:creationId xmlns:a16="http://schemas.microsoft.com/office/drawing/2014/main" id="{E363A830-C9C1-46A5-82E2-D998E14654F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33875" y="214313"/>
                        <a:ext cx="4381500" cy="950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564" name="Object 3">
            <a:extLst>
              <a:ext uri="{FF2B5EF4-FFF2-40B4-BE49-F238E27FC236}">
                <a16:creationId xmlns:a16="http://schemas.microsoft.com/office/drawing/2014/main" id="{635D3E25-66C5-46F7-9C5A-882DDBA35A4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85913" y="2208213"/>
          <a:ext cx="2986087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503" name="公式" r:id="rId5" imgW="1304931" imgH="352391" progId="Equation.3">
                  <p:embed/>
                </p:oleObj>
              </mc:Choice>
              <mc:Fallback>
                <p:oleObj name="公式" r:id="rId5" imgW="1304931" imgH="352391" progId="Equation.3">
                  <p:embed/>
                  <p:pic>
                    <p:nvPicPr>
                      <p:cNvPr id="450564" name="Object 3">
                        <a:extLst>
                          <a:ext uri="{FF2B5EF4-FFF2-40B4-BE49-F238E27FC236}">
                            <a16:creationId xmlns:a16="http://schemas.microsoft.com/office/drawing/2014/main" id="{635D3E25-66C5-46F7-9C5A-882DDBA35A4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5913" y="2208213"/>
                        <a:ext cx="2986087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565" name="Object 4">
            <a:extLst>
              <a:ext uri="{FF2B5EF4-FFF2-40B4-BE49-F238E27FC236}">
                <a16:creationId xmlns:a16="http://schemas.microsoft.com/office/drawing/2014/main" id="{97D9590D-BB28-4D89-A2D4-B12810FDF30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16075" y="1143000"/>
          <a:ext cx="2170113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504" name="公式" r:id="rId7" imgW="942841" imgH="352391" progId="Equation.3">
                  <p:embed/>
                </p:oleObj>
              </mc:Choice>
              <mc:Fallback>
                <p:oleObj name="公式" r:id="rId7" imgW="942841" imgH="352391" progId="Equation.3">
                  <p:embed/>
                  <p:pic>
                    <p:nvPicPr>
                      <p:cNvPr id="450565" name="Object 4">
                        <a:extLst>
                          <a:ext uri="{FF2B5EF4-FFF2-40B4-BE49-F238E27FC236}">
                            <a16:creationId xmlns:a16="http://schemas.microsoft.com/office/drawing/2014/main" id="{97D9590D-BB28-4D89-A2D4-B12810FDF30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6075" y="1143000"/>
                        <a:ext cx="2170113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566" name="AutoShape 6">
            <a:extLst>
              <a:ext uri="{FF2B5EF4-FFF2-40B4-BE49-F238E27FC236}">
                <a16:creationId xmlns:a16="http://schemas.microsoft.com/office/drawing/2014/main" id="{E9F8B7DE-569A-4459-9B7C-DA67E64B8060}"/>
              </a:ext>
            </a:extLst>
          </p:cNvPr>
          <p:cNvSpPr>
            <a:spLocks/>
          </p:cNvSpPr>
          <p:nvPr/>
        </p:nvSpPr>
        <p:spPr bwMode="auto">
          <a:xfrm>
            <a:off x="1271588" y="1571625"/>
            <a:ext cx="228600" cy="1143000"/>
          </a:xfrm>
          <a:prstGeom prst="leftBrace">
            <a:avLst>
              <a:gd name="adj1" fmla="val 58333"/>
              <a:gd name="adj2" fmla="val 50000"/>
            </a:avLst>
          </a:prstGeom>
          <a:noFill/>
          <a:ln w="25400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450567" name="AutoShape 7">
            <a:extLst>
              <a:ext uri="{FF2B5EF4-FFF2-40B4-BE49-F238E27FC236}">
                <a16:creationId xmlns:a16="http://schemas.microsoft.com/office/drawing/2014/main" id="{8B70C29F-7017-444B-8414-877C1DDF9904}"/>
              </a:ext>
            </a:extLst>
          </p:cNvPr>
          <p:cNvSpPr>
            <a:spLocks/>
          </p:cNvSpPr>
          <p:nvPr/>
        </p:nvSpPr>
        <p:spPr bwMode="auto">
          <a:xfrm>
            <a:off x="4714875" y="1500188"/>
            <a:ext cx="304800" cy="1214437"/>
          </a:xfrm>
          <a:prstGeom prst="rightBrace">
            <a:avLst>
              <a:gd name="adj1" fmla="val 41670"/>
              <a:gd name="adj2" fmla="val 43856"/>
            </a:avLst>
          </a:prstGeom>
          <a:noFill/>
          <a:ln w="1270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graphicFrame>
        <p:nvGraphicFramePr>
          <p:cNvPr id="450568" name="Object 5">
            <a:extLst>
              <a:ext uri="{FF2B5EF4-FFF2-40B4-BE49-F238E27FC236}">
                <a16:creationId xmlns:a16="http://schemas.microsoft.com/office/drawing/2014/main" id="{46E5C3A1-3DDD-4C6B-B91C-A2C18D518F5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14938" y="1757363"/>
          <a:ext cx="1954212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505" name="公式" r:id="rId9" imgW="762102" imgH="190432" progId="Equation.3">
                  <p:embed/>
                </p:oleObj>
              </mc:Choice>
              <mc:Fallback>
                <p:oleObj name="公式" r:id="rId9" imgW="762102" imgH="190432" progId="Equation.3">
                  <p:embed/>
                  <p:pic>
                    <p:nvPicPr>
                      <p:cNvPr id="450568" name="Object 5">
                        <a:extLst>
                          <a:ext uri="{FF2B5EF4-FFF2-40B4-BE49-F238E27FC236}">
                            <a16:creationId xmlns:a16="http://schemas.microsoft.com/office/drawing/2014/main" id="{46E5C3A1-3DDD-4C6B-B91C-A2C18D518F5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4938" y="1757363"/>
                        <a:ext cx="1954212" cy="552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569" name="Object 6">
            <a:extLst>
              <a:ext uri="{FF2B5EF4-FFF2-40B4-BE49-F238E27FC236}">
                <a16:creationId xmlns:a16="http://schemas.microsoft.com/office/drawing/2014/main" id="{8B866ADB-B2D8-4763-A807-04BA0F1A199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91375" y="1528763"/>
          <a:ext cx="1023938" cy="1042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506" name="Equation" r:id="rId11" imgW="381051" imgH="390661" progId="Equation.3">
                  <p:embed/>
                </p:oleObj>
              </mc:Choice>
              <mc:Fallback>
                <p:oleObj name="Equation" r:id="rId11" imgW="381051" imgH="390661" progId="Equation.3">
                  <p:embed/>
                  <p:pic>
                    <p:nvPicPr>
                      <p:cNvPr id="450569" name="Object 6">
                        <a:extLst>
                          <a:ext uri="{FF2B5EF4-FFF2-40B4-BE49-F238E27FC236}">
                            <a16:creationId xmlns:a16="http://schemas.microsoft.com/office/drawing/2014/main" id="{8B866ADB-B2D8-4763-A807-04BA0F1A199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91375" y="1528763"/>
                        <a:ext cx="1023938" cy="1042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7">
            <a:extLst>
              <a:ext uri="{FF2B5EF4-FFF2-40B4-BE49-F238E27FC236}">
                <a16:creationId xmlns:a16="http://schemas.microsoft.com/office/drawing/2014/main" id="{A6AEBBB7-4AA7-417B-A543-10584BB4F3CF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3214688"/>
            <a:ext cx="8229600" cy="954087"/>
            <a:chOff x="457200" y="3214686"/>
            <a:chExt cx="8229600" cy="954107"/>
          </a:xfrm>
        </p:grpSpPr>
        <p:sp>
          <p:nvSpPr>
            <p:cNvPr id="24593" name="Text Box 11">
              <a:extLst>
                <a:ext uri="{FF2B5EF4-FFF2-40B4-BE49-F238E27FC236}">
                  <a16:creationId xmlns:a16="http://schemas.microsoft.com/office/drawing/2014/main" id="{949FC273-EE0B-47E8-829D-7B40A18C55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200" y="3214686"/>
              <a:ext cx="8229600" cy="954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dirty="0">
                  <a:solidFill>
                    <a:schemeClr val="bg1"/>
                  </a:solidFill>
                  <a:ea typeface="楷体_GB2312" pitchFamily="49" charset="-122"/>
                </a:rPr>
                <a:t>        </a:t>
              </a:r>
              <a:r>
                <a:rPr lang="zh-CN" altLang="en-US" dirty="0">
                  <a:solidFill>
                    <a:schemeClr val="bg1"/>
                  </a:solidFill>
                  <a:ea typeface="楷体_GB2312" pitchFamily="49" charset="-122"/>
                </a:rPr>
                <a:t>中心冒出（湮没）一级圆纹，光程差增加（减小）一个波长，薄膜厚度</a:t>
              </a:r>
              <a:r>
                <a:rPr lang="zh-CN" altLang="en-US" sz="3200" dirty="0">
                  <a:solidFill>
                    <a:schemeClr val="bg1"/>
                  </a:solidFill>
                  <a:ea typeface="楷体_GB2312" pitchFamily="49" charset="-122"/>
                </a:rPr>
                <a:t> </a:t>
              </a:r>
              <a:r>
                <a:rPr lang="en-US" altLang="zh-CN" i="1" dirty="0">
                  <a:solidFill>
                    <a:srgbClr val="FFFF00"/>
                  </a:solidFill>
                  <a:ea typeface="楷体_GB2312" pitchFamily="49" charset="-122"/>
                </a:rPr>
                <a:t>d</a:t>
              </a:r>
              <a:r>
                <a:rPr lang="en-US" altLang="zh-CN" sz="3200" i="1" dirty="0">
                  <a:solidFill>
                    <a:schemeClr val="bg1"/>
                  </a:solidFill>
                  <a:ea typeface="楷体_GB2312" pitchFamily="49" charset="-122"/>
                </a:rPr>
                <a:t> </a:t>
              </a:r>
              <a:r>
                <a:rPr lang="zh-CN" altLang="en-US" dirty="0">
                  <a:solidFill>
                    <a:schemeClr val="bg1"/>
                  </a:solidFill>
                  <a:ea typeface="楷体_GB2312" pitchFamily="49" charset="-122"/>
                </a:rPr>
                <a:t>改变 </a:t>
              </a:r>
            </a:p>
          </p:txBody>
        </p:sp>
        <p:graphicFrame>
          <p:nvGraphicFramePr>
            <p:cNvPr id="24594" name="Object 7">
              <a:extLst>
                <a:ext uri="{FF2B5EF4-FFF2-40B4-BE49-F238E27FC236}">
                  <a16:creationId xmlns:a16="http://schemas.microsoft.com/office/drawing/2014/main" id="{084A495B-94B6-4082-934E-CBE961DE760C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3707904" y="3686180"/>
            <a:ext cx="1300154" cy="45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7507" r:id="rId13" imgW="495427" imgH="180941" progId="Equation.3">
                    <p:embed/>
                  </p:oleObj>
                </mc:Choice>
                <mc:Fallback>
                  <p:oleObj r:id="rId13" imgW="495427" imgH="180941" progId="Equation.3">
                    <p:embed/>
                    <p:pic>
                      <p:nvPicPr>
                        <p:cNvPr id="24594" name="Object 7">
                          <a:extLst>
                            <a:ext uri="{FF2B5EF4-FFF2-40B4-BE49-F238E27FC236}">
                              <a16:creationId xmlns:a16="http://schemas.microsoft.com/office/drawing/2014/main" id="{084A495B-94B6-4082-934E-CBE961DE760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07904" y="3686180"/>
                          <a:ext cx="1300154" cy="457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50572" name="Text Box 12">
            <a:extLst>
              <a:ext uri="{FF2B5EF4-FFF2-40B4-BE49-F238E27FC236}">
                <a16:creationId xmlns:a16="http://schemas.microsoft.com/office/drawing/2014/main" id="{63243D8A-FA81-4AF5-941E-F9A31310A3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1963" y="4286250"/>
            <a:ext cx="434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  <a:ea typeface="楷体_GB2312" pitchFamily="49" charset="-122"/>
              </a:rPr>
              <a:t>2. </a:t>
            </a:r>
            <a:r>
              <a:rPr lang="zh-CN" altLang="en-US">
                <a:solidFill>
                  <a:srgbClr val="4DEAFB"/>
                </a:solidFill>
                <a:ea typeface="楷体_GB2312" pitchFamily="49" charset="-122"/>
              </a:rPr>
              <a:t>反射干涉与透射干涉互补</a:t>
            </a:r>
          </a:p>
        </p:txBody>
      </p:sp>
      <p:sp>
        <p:nvSpPr>
          <p:cNvPr id="450573" name="Text Box 13">
            <a:extLst>
              <a:ext uri="{FF2B5EF4-FFF2-40B4-BE49-F238E27FC236}">
                <a16:creationId xmlns:a16="http://schemas.microsoft.com/office/drawing/2014/main" id="{83989583-3DD3-4194-B7F3-C61478BA0F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1963" y="4286250"/>
            <a:ext cx="3657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n-US" altLang="zh-CN">
                <a:solidFill>
                  <a:schemeClr val="bg1"/>
                </a:solidFill>
                <a:ea typeface="楷体_GB2312" pitchFamily="49" charset="-122"/>
              </a:rPr>
              <a:t>—— </a:t>
            </a: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能量守恒关系</a:t>
            </a:r>
          </a:p>
        </p:txBody>
      </p:sp>
      <p:sp>
        <p:nvSpPr>
          <p:cNvPr id="450574" name="Text Box 14">
            <a:extLst>
              <a:ext uri="{FF2B5EF4-FFF2-40B4-BE49-F238E27FC236}">
                <a16:creationId xmlns:a16="http://schemas.microsoft.com/office/drawing/2014/main" id="{7AD1F5C8-D23C-4573-BFA8-28AD39F2F3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1013" y="4857750"/>
            <a:ext cx="49482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dirty="0">
                <a:solidFill>
                  <a:schemeClr val="bg1"/>
                </a:solidFill>
                <a:ea typeface="楷体_GB2312" pitchFamily="49" charset="-122"/>
              </a:rPr>
              <a:t>3. </a:t>
            </a:r>
            <a:r>
              <a:rPr lang="zh-CN" altLang="en-US" dirty="0">
                <a:solidFill>
                  <a:schemeClr val="bg1"/>
                </a:solidFill>
                <a:ea typeface="楷体_GB2312" pitchFamily="49" charset="-122"/>
              </a:rPr>
              <a:t>应用 </a:t>
            </a:r>
            <a:r>
              <a:rPr lang="en-US" altLang="zh-CN" dirty="0">
                <a:solidFill>
                  <a:schemeClr val="bg1"/>
                </a:solidFill>
                <a:ea typeface="楷体_GB2312" pitchFamily="49" charset="-122"/>
              </a:rPr>
              <a:t>—— </a:t>
            </a:r>
            <a:r>
              <a:rPr lang="zh-CN" altLang="en-US" dirty="0">
                <a:solidFill>
                  <a:schemeClr val="bg1"/>
                </a:solidFill>
                <a:ea typeface="楷体_GB2312" pitchFamily="49" charset="-122"/>
              </a:rPr>
              <a:t>增透膜，增反膜</a:t>
            </a:r>
          </a:p>
        </p:txBody>
      </p:sp>
      <p:sp>
        <p:nvSpPr>
          <p:cNvPr id="450576" name="Text Box 16">
            <a:extLst>
              <a:ext uri="{FF2B5EF4-FFF2-40B4-BE49-F238E27FC236}">
                <a16:creationId xmlns:a16="http://schemas.microsoft.com/office/drawing/2014/main" id="{A77C6C52-0CEB-486B-BA8D-C98AEBA577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5500688"/>
            <a:ext cx="8305800" cy="979487"/>
          </a:xfrm>
          <a:prstGeom prst="rect">
            <a:avLst/>
          </a:prstGeom>
          <a:noFill/>
          <a:ln w="22225">
            <a:solidFill>
              <a:srgbClr val="FF66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>
                <a:solidFill>
                  <a:srgbClr val="EDFE4A"/>
                </a:solidFill>
                <a:ea typeface="楷体_GB2312" pitchFamily="49" charset="-122"/>
              </a:rPr>
              <a:t>一般情况下薄膜干涉是相当复杂的，干涉条纹特征与光源的尺寸、膜的厚薄和形状以及如何观测都有十分密切的关系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CC56BFC-BCED-4FDC-BA10-A8F5307F76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938" y="1500188"/>
            <a:ext cx="554037" cy="150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中心条纹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4592" name="灯片编号占位符 1">
            <a:extLst>
              <a:ext uri="{FF2B5EF4-FFF2-40B4-BE49-F238E27FC236}">
                <a16:creationId xmlns:a16="http://schemas.microsoft.com/office/drawing/2014/main" id="{A9D417DE-D875-4885-9803-88F08AFA98CE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77B873D-89BC-46B3-8BD1-9D6482E7DCCF}" type="slidenum">
              <a:rPr lang="en-US" altLang="zh-CN" b="0">
                <a:solidFill>
                  <a:srgbClr val="FF00FF"/>
                </a:solidFill>
              </a:rPr>
              <a:pPr eaLnBrk="1" hangingPunct="1"/>
              <a:t>6</a:t>
            </a:fld>
            <a:r>
              <a:rPr lang="en-US" altLang="zh-CN" b="0">
                <a:solidFill>
                  <a:srgbClr val="FF00FF"/>
                </a:solidFill>
              </a:rPr>
              <a:t>/21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50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450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0" dur="500"/>
                                        <p:tgtEl>
                                          <p:spTgt spid="450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50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50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5" dur="500"/>
                                        <p:tgtEl>
                                          <p:spTgt spid="450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50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50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50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450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450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450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62" grpId="0" autoUpdateAnimBg="0"/>
      <p:bldP spid="450566" grpId="0" animBg="1"/>
      <p:bldP spid="450567" grpId="0" animBg="1"/>
      <p:bldP spid="450572" grpId="0" autoUpdateAnimBg="0"/>
      <p:bldP spid="450573" grpId="0" autoUpdateAnimBg="0"/>
      <p:bldP spid="450574" grpId="0" autoUpdateAnimBg="0"/>
      <p:bldP spid="450576" grpId="0" animBg="1" autoUpdateAnimBg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Text Box 2">
            <a:extLst>
              <a:ext uri="{FF2B5EF4-FFF2-40B4-BE49-F238E27FC236}">
                <a16:creationId xmlns:a16="http://schemas.microsoft.com/office/drawing/2014/main" id="{6F9D26FE-6F32-4EB1-BD5A-366CD0FCFB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063" y="4406900"/>
            <a:ext cx="7643812" cy="46196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0" lang="zh-CN" altLang="en-US" dirty="0">
                <a:solidFill>
                  <a:schemeClr val="bg1"/>
                </a:solidFill>
                <a:latin typeface="+mn-ea"/>
                <a:ea typeface="+mn-ea"/>
              </a:rPr>
              <a:t>如何在实验上区分上述条纹是等倾还是牛顿环</a:t>
            </a:r>
            <a:r>
              <a:rPr kumimoji="0" lang="en-US" altLang="zh-CN" dirty="0">
                <a:solidFill>
                  <a:schemeClr val="bg1"/>
                </a:solidFill>
                <a:latin typeface="+mn-ea"/>
                <a:ea typeface="+mn-ea"/>
              </a:rPr>
              <a:t>?</a:t>
            </a:r>
          </a:p>
        </p:txBody>
      </p:sp>
      <p:grpSp>
        <p:nvGrpSpPr>
          <p:cNvPr id="8195" name="Group 3">
            <a:extLst>
              <a:ext uri="{FF2B5EF4-FFF2-40B4-BE49-F238E27FC236}">
                <a16:creationId xmlns:a16="http://schemas.microsoft.com/office/drawing/2014/main" id="{FD860FF4-B076-4303-830E-E3C7D8BC23C9}"/>
              </a:ext>
            </a:extLst>
          </p:cNvPr>
          <p:cNvGrpSpPr>
            <a:grpSpLocks/>
          </p:cNvGrpSpPr>
          <p:nvPr/>
        </p:nvGrpSpPr>
        <p:grpSpPr bwMode="auto">
          <a:xfrm>
            <a:off x="571500" y="357188"/>
            <a:ext cx="7772400" cy="3960812"/>
            <a:chOff x="384" y="624"/>
            <a:chExt cx="4896" cy="2495"/>
          </a:xfrm>
        </p:grpSpPr>
        <p:pic>
          <p:nvPicPr>
            <p:cNvPr id="8199" name="Picture 4">
              <a:extLst>
                <a:ext uri="{FF2B5EF4-FFF2-40B4-BE49-F238E27FC236}">
                  <a16:creationId xmlns:a16="http://schemas.microsoft.com/office/drawing/2014/main" id="{E680D873-7381-4F06-BA29-E125491EE42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80" y="624"/>
              <a:ext cx="2352" cy="20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aphicFrame>
          <p:nvGraphicFramePr>
            <p:cNvPr id="8200" name="Object 2">
              <a:extLst>
                <a:ext uri="{FF2B5EF4-FFF2-40B4-BE49-F238E27FC236}">
                  <a16:creationId xmlns:a16="http://schemas.microsoft.com/office/drawing/2014/main" id="{94C258B8-083C-44CB-9272-084CBA01D9A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80" y="759"/>
            <a:ext cx="2304" cy="17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8436" name="位图图像" r:id="rId4" imgW="4571429" imgH="3505689" progId="Paint.Picture">
                    <p:embed/>
                  </p:oleObj>
                </mc:Choice>
                <mc:Fallback>
                  <p:oleObj name="位图图像" r:id="rId4" imgW="4571429" imgH="3505689" progId="Paint.Picture">
                    <p:embed/>
                    <p:pic>
                      <p:nvPicPr>
                        <p:cNvPr id="8200" name="Object 2">
                          <a:extLst>
                            <a:ext uri="{FF2B5EF4-FFF2-40B4-BE49-F238E27FC236}">
                              <a16:creationId xmlns:a16="http://schemas.microsoft.com/office/drawing/2014/main" id="{94C258B8-083C-44CB-9272-084CBA01D9A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0" y="759"/>
                          <a:ext cx="2304" cy="17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5400">
                              <a:solidFill>
                                <a:srgbClr val="80008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01" name="Text Box 6">
              <a:extLst>
                <a:ext uri="{FF2B5EF4-FFF2-40B4-BE49-F238E27FC236}">
                  <a16:creationId xmlns:a16="http://schemas.microsoft.com/office/drawing/2014/main" id="{E5393B5D-5A57-4877-957D-D16E273E0B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3" y="2831"/>
              <a:ext cx="129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0" lang="zh-CN" altLang="en-US" dirty="0">
                  <a:solidFill>
                    <a:schemeClr val="bg1"/>
                  </a:solidFill>
                  <a:ea typeface="楷体_GB2312" pitchFamily="49" charset="-122"/>
                </a:rPr>
                <a:t>等倾条纹与</a:t>
              </a:r>
            </a:p>
          </p:txBody>
        </p:sp>
        <p:sp>
          <p:nvSpPr>
            <p:cNvPr id="8202" name="Text Box 7">
              <a:extLst>
                <a:ext uri="{FF2B5EF4-FFF2-40B4-BE49-F238E27FC236}">
                  <a16:creationId xmlns:a16="http://schemas.microsoft.com/office/drawing/2014/main" id="{F90D1CF6-39F3-4553-BFE9-E4A039C88D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77" y="2831"/>
              <a:ext cx="167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0" lang="zh-CN" altLang="en-US" dirty="0">
                  <a:solidFill>
                    <a:schemeClr val="bg1"/>
                  </a:solidFill>
                  <a:ea typeface="楷体_GB2312" pitchFamily="49" charset="-122"/>
                </a:rPr>
                <a:t>牛顿环的辨识 ？</a:t>
              </a:r>
            </a:p>
          </p:txBody>
        </p:sp>
        <p:sp>
          <p:nvSpPr>
            <p:cNvPr id="8203" name="Rectangle 8">
              <a:extLst>
                <a:ext uri="{FF2B5EF4-FFF2-40B4-BE49-F238E27FC236}">
                  <a16:creationId xmlns:a16="http://schemas.microsoft.com/office/drawing/2014/main" id="{3B61A378-2899-48D5-BD8C-BA5E640A62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624"/>
              <a:ext cx="192" cy="211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0"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8204" name="Rectangle 9">
              <a:extLst>
                <a:ext uri="{FF2B5EF4-FFF2-40B4-BE49-F238E27FC236}">
                  <a16:creationId xmlns:a16="http://schemas.microsoft.com/office/drawing/2014/main" id="{8A29A040-78C7-4FF9-B434-364AACDFA5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4" y="624"/>
              <a:ext cx="2256" cy="24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0"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8205" name="Rectangle 10">
              <a:extLst>
                <a:ext uri="{FF2B5EF4-FFF2-40B4-BE49-F238E27FC236}">
                  <a16:creationId xmlns:a16="http://schemas.microsoft.com/office/drawing/2014/main" id="{096B223B-8F1B-46AF-B8FB-C01F25FFDF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2496"/>
              <a:ext cx="4896" cy="33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0"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14" name="Text Box 123">
            <a:extLst>
              <a:ext uri="{FF2B5EF4-FFF2-40B4-BE49-F238E27FC236}">
                <a16:creationId xmlns:a16="http://schemas.microsoft.com/office/drawing/2014/main" id="{826FC782-567B-4401-AE8A-3547E25713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063" y="4929188"/>
            <a:ext cx="8215312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0" lang="en-US" altLang="zh-CN">
                <a:solidFill>
                  <a:schemeClr val="bg1"/>
                </a:solidFill>
              </a:rPr>
              <a:t>        </a:t>
            </a:r>
            <a:r>
              <a:rPr kumimoji="0" lang="zh-CN" altLang="en-US">
                <a:solidFill>
                  <a:schemeClr val="bg1"/>
                </a:solidFill>
              </a:rPr>
              <a:t>牛顿环与等倾条纹都是内疏外密的圆环形条纹，牛顿环的环纹</a:t>
            </a:r>
            <a:r>
              <a:rPr kumimoji="0" lang="zh-CN" altLang="en-US">
                <a:solidFill>
                  <a:srgbClr val="FFC000"/>
                </a:solidFill>
              </a:rPr>
              <a:t>级次是由环心向外递增</a:t>
            </a:r>
            <a:r>
              <a:rPr kumimoji="0" lang="zh-CN" altLang="en-US">
                <a:solidFill>
                  <a:schemeClr val="bg1"/>
                </a:solidFill>
              </a:rPr>
              <a:t>，等倾条纹级次恰相反</a:t>
            </a:r>
          </a:p>
        </p:txBody>
      </p:sp>
      <p:sp>
        <p:nvSpPr>
          <p:cNvPr id="15" name="Text Box 124">
            <a:extLst>
              <a:ext uri="{FF2B5EF4-FFF2-40B4-BE49-F238E27FC236}">
                <a16:creationId xmlns:a16="http://schemas.microsoft.com/office/drawing/2014/main" id="{406FB40A-9A3B-4643-B494-FC31FFBA1D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063" y="5857875"/>
            <a:ext cx="85010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0" lang="zh-CN" altLang="en-US" dirty="0">
                <a:solidFill>
                  <a:srgbClr val="4DEAFB"/>
                </a:solidFill>
              </a:rPr>
              <a:t>膜层厚度增加，牛顿环条纹向内湮灭，等倾条纹向外扩张</a:t>
            </a:r>
          </a:p>
        </p:txBody>
      </p:sp>
      <p:sp>
        <p:nvSpPr>
          <p:cNvPr id="8198" name="灯片编号占位符 1">
            <a:extLst>
              <a:ext uri="{FF2B5EF4-FFF2-40B4-BE49-F238E27FC236}">
                <a16:creationId xmlns:a16="http://schemas.microsoft.com/office/drawing/2014/main" id="{9B52C476-5101-439B-A330-5690340B17ED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175AAB8-8011-4781-AF04-0D1FFF6A3919}" type="slidenum">
              <a:rPr lang="en-US" altLang="zh-CN" b="0">
                <a:solidFill>
                  <a:srgbClr val="FF00FF"/>
                </a:solidFill>
              </a:rPr>
              <a:pPr eaLnBrk="1" hangingPunct="1"/>
              <a:t>7</a:t>
            </a:fld>
            <a:r>
              <a:rPr lang="en-US" altLang="zh-CN" b="0">
                <a:solidFill>
                  <a:srgbClr val="FF00FF"/>
                </a:solidFill>
              </a:rPr>
              <a:t>/20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utoUpdateAnimBg="0"/>
      <p:bldP spid="15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3">
            <a:extLst>
              <a:ext uri="{FF2B5EF4-FFF2-40B4-BE49-F238E27FC236}">
                <a16:creationId xmlns:a16="http://schemas.microsoft.com/office/drawing/2014/main" id="{5ED76499-160A-4436-86E4-3DC53484099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285750" y="357188"/>
            <a:ext cx="4786313" cy="142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indent="0" algn="just">
              <a:lnSpc>
                <a:spcPts val="3600"/>
              </a:lnSpc>
              <a:spcAft>
                <a:spcPct val="10000"/>
              </a:spcAft>
              <a:buFont typeface="Monotype Sorts" pitchFamily="2" charset="2"/>
              <a:buNone/>
            </a:pPr>
            <a:r>
              <a:rPr lang="zh-CN" altLang="en-US" sz="2800" b="1">
                <a:solidFill>
                  <a:srgbClr val="00FFFF"/>
                </a:solidFill>
                <a:latin typeface="宋体" panose="02010600030101010101" pitchFamily="2" charset="-122"/>
              </a:rPr>
              <a:t>光学薄膜的应用</a:t>
            </a:r>
            <a:endParaRPr lang="zh-CN" altLang="en-US" sz="2800">
              <a:solidFill>
                <a:srgbClr val="00FFFF"/>
              </a:solidFill>
              <a:latin typeface="宋体" panose="02010600030101010101" pitchFamily="2" charset="-122"/>
            </a:endParaRPr>
          </a:p>
          <a:p>
            <a:pPr marL="0" indent="0" algn="just">
              <a:lnSpc>
                <a:spcPts val="36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altLang="zh-CN" sz="2800" b="1">
                <a:solidFill>
                  <a:srgbClr val="FFCC00"/>
                </a:solidFill>
              </a:rPr>
              <a:t>1.</a:t>
            </a:r>
            <a:r>
              <a:rPr lang="zh-CN" altLang="en-US" sz="2800" b="1">
                <a:solidFill>
                  <a:srgbClr val="FFCC00"/>
                </a:solidFill>
                <a:latin typeface="宋体" panose="02010600030101010101" pitchFamily="2" charset="-122"/>
              </a:rPr>
              <a:t>增透膜</a:t>
            </a:r>
            <a:r>
              <a:rPr lang="en-US" altLang="zh-CN" sz="2800" b="1">
                <a:solidFill>
                  <a:srgbClr val="FFCC00"/>
                </a:solidFill>
                <a:latin typeface="宋体" panose="02010600030101010101" pitchFamily="2" charset="-122"/>
              </a:rPr>
              <a:t>:</a:t>
            </a:r>
            <a:r>
              <a:rPr lang="zh-CN" altLang="en-US" sz="2400">
                <a:solidFill>
                  <a:schemeClr val="bg1"/>
                </a:solidFill>
                <a:latin typeface="宋体" panose="02010600030101010101" pitchFamily="2" charset="-122"/>
              </a:rPr>
              <a:t>在光学器件（透镜等）镀以一层薄膜以提高透射率</a:t>
            </a:r>
          </a:p>
        </p:txBody>
      </p:sp>
      <p:graphicFrame>
        <p:nvGraphicFramePr>
          <p:cNvPr id="9231" name="Object 2">
            <a:extLst>
              <a:ext uri="{FF2B5EF4-FFF2-40B4-BE49-F238E27FC236}">
                <a16:creationId xmlns:a16="http://schemas.microsoft.com/office/drawing/2014/main" id="{51930A0C-B61F-41BC-847B-A342CD9D69F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30251" y="571480"/>
          <a:ext cx="1056393" cy="459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586" name="公式" r:id="rId3" imgW="314382" imgH="161959" progId="Equation.3">
                  <p:embed/>
                </p:oleObj>
              </mc:Choice>
              <mc:Fallback>
                <p:oleObj name="公式" r:id="rId3" imgW="314382" imgH="161959" progId="Equation.3">
                  <p:embed/>
                  <p:pic>
                    <p:nvPicPr>
                      <p:cNvPr id="9231" name="Object 2">
                        <a:extLst>
                          <a:ext uri="{FF2B5EF4-FFF2-40B4-BE49-F238E27FC236}">
                            <a16:creationId xmlns:a16="http://schemas.microsoft.com/office/drawing/2014/main" id="{51930A0C-B61F-41BC-847B-A342CD9D69F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30251" y="571480"/>
                        <a:ext cx="1056393" cy="459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232" name="Group 24">
            <a:extLst>
              <a:ext uri="{FF2B5EF4-FFF2-40B4-BE49-F238E27FC236}">
                <a16:creationId xmlns:a16="http://schemas.microsoft.com/office/drawing/2014/main" id="{7131701F-0AA6-47FE-A444-8D620F6C795C}"/>
              </a:ext>
            </a:extLst>
          </p:cNvPr>
          <p:cNvGrpSpPr>
            <a:grpSpLocks/>
          </p:cNvGrpSpPr>
          <p:nvPr/>
        </p:nvGrpSpPr>
        <p:grpSpPr bwMode="auto">
          <a:xfrm>
            <a:off x="4929189" y="1330927"/>
            <a:ext cx="3786186" cy="1026511"/>
            <a:chOff x="2232" y="1125"/>
            <a:chExt cx="3240" cy="1212"/>
          </a:xfrm>
        </p:grpSpPr>
        <p:sp>
          <p:nvSpPr>
            <p:cNvPr id="9246" name="Rectangle 4">
              <a:extLst>
                <a:ext uri="{FF2B5EF4-FFF2-40B4-BE49-F238E27FC236}">
                  <a16:creationId xmlns:a16="http://schemas.microsoft.com/office/drawing/2014/main" id="{1A532952-A05A-4C50-97EA-6500180D8C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32" y="1125"/>
              <a:ext cx="2136" cy="1212"/>
            </a:xfrm>
            <a:prstGeom prst="rect">
              <a:avLst/>
            </a:prstGeom>
            <a:solidFill>
              <a:schemeClr val="bg1"/>
            </a:solidFill>
            <a:ln w="12699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0" lang="zh-CN" altLang="en-US">
                <a:solidFill>
                  <a:schemeClr val="bg1"/>
                </a:solidFill>
              </a:endParaRPr>
            </a:p>
          </p:txBody>
        </p:sp>
        <p:graphicFrame>
          <p:nvGraphicFramePr>
            <p:cNvPr id="9247" name="Object 7">
              <a:extLst>
                <a:ext uri="{FF2B5EF4-FFF2-40B4-BE49-F238E27FC236}">
                  <a16:creationId xmlns:a16="http://schemas.microsoft.com/office/drawing/2014/main" id="{0AD02830-B866-4D22-B22D-8B10895CE3C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99" y="1662"/>
            <a:ext cx="912" cy="4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9587" name="公式" r:id="rId5" imgW="390531" imgH="114198" progId="Equation.3">
                    <p:embed/>
                  </p:oleObj>
                </mc:Choice>
                <mc:Fallback>
                  <p:oleObj name="公式" r:id="rId5" imgW="390531" imgH="114198" progId="Equation.3">
                    <p:embed/>
                    <p:pic>
                      <p:nvPicPr>
                        <p:cNvPr id="9247" name="Object 7">
                          <a:extLst>
                            <a:ext uri="{FF2B5EF4-FFF2-40B4-BE49-F238E27FC236}">
                              <a16:creationId xmlns:a16="http://schemas.microsoft.com/office/drawing/2014/main" id="{0AD02830-B866-4D22-B22D-8B10895CE3C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99" y="1662"/>
                          <a:ext cx="912" cy="4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48" name="AutoShape 9">
              <a:extLst>
                <a:ext uri="{FF2B5EF4-FFF2-40B4-BE49-F238E27FC236}">
                  <a16:creationId xmlns:a16="http://schemas.microsoft.com/office/drawing/2014/main" id="{6CCAD7D1-530E-435B-865E-D6014A2CDF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5" y="1812"/>
              <a:ext cx="917" cy="440"/>
            </a:xfrm>
            <a:prstGeom prst="wedgeRectCallout">
              <a:avLst>
                <a:gd name="adj1" fmla="val -74250"/>
                <a:gd name="adj2" fmla="val -117481"/>
              </a:avLst>
            </a:prstGeom>
            <a:solidFill>
              <a:srgbClr val="00FFFF"/>
            </a:solidFill>
            <a:ln w="12699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0" lang="zh-CN" altLang="en-US" sz="2800"/>
                <a:t>玻璃</a:t>
              </a:r>
              <a:endParaRPr kumimoji="0" lang="zh-CN" altLang="en-US" sz="2800" b="0"/>
            </a:p>
          </p:txBody>
        </p:sp>
      </p:grpSp>
      <p:grpSp>
        <p:nvGrpSpPr>
          <p:cNvPr id="9233" name="Group 25">
            <a:extLst>
              <a:ext uri="{FF2B5EF4-FFF2-40B4-BE49-F238E27FC236}">
                <a16:creationId xmlns:a16="http://schemas.microsoft.com/office/drawing/2014/main" id="{1C9B8542-6431-4937-82B5-634B3447D6B0}"/>
              </a:ext>
            </a:extLst>
          </p:cNvPr>
          <p:cNvGrpSpPr>
            <a:grpSpLocks/>
          </p:cNvGrpSpPr>
          <p:nvPr/>
        </p:nvGrpSpPr>
        <p:grpSpPr bwMode="auto">
          <a:xfrm>
            <a:off x="4929188" y="966736"/>
            <a:ext cx="3786186" cy="460745"/>
            <a:chOff x="2520" y="695"/>
            <a:chExt cx="3240" cy="544"/>
          </a:xfrm>
        </p:grpSpPr>
        <p:grpSp>
          <p:nvGrpSpPr>
            <p:cNvPr id="9240" name="Group 23">
              <a:extLst>
                <a:ext uri="{FF2B5EF4-FFF2-40B4-BE49-F238E27FC236}">
                  <a16:creationId xmlns:a16="http://schemas.microsoft.com/office/drawing/2014/main" id="{41C6C283-E198-4A43-BC40-014F1B2B239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20" y="695"/>
              <a:ext cx="2136" cy="527"/>
              <a:chOff x="2232" y="695"/>
              <a:chExt cx="2136" cy="527"/>
            </a:xfrm>
          </p:grpSpPr>
          <p:grpSp>
            <p:nvGrpSpPr>
              <p:cNvPr id="9242" name="Group 19">
                <a:extLst>
                  <a:ext uri="{FF2B5EF4-FFF2-40B4-BE49-F238E27FC236}">
                    <a16:creationId xmlns:a16="http://schemas.microsoft.com/office/drawing/2014/main" id="{4ADEB90F-C4BF-41E9-AA30-F3899BBD553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32" y="695"/>
                <a:ext cx="2136" cy="527"/>
                <a:chOff x="2232" y="695"/>
                <a:chExt cx="2136" cy="527"/>
              </a:xfrm>
            </p:grpSpPr>
            <p:sp>
              <p:nvSpPr>
                <p:cNvPr id="9244" name="Rectangle 5">
                  <a:extLst>
                    <a:ext uri="{FF2B5EF4-FFF2-40B4-BE49-F238E27FC236}">
                      <a16:creationId xmlns:a16="http://schemas.microsoft.com/office/drawing/2014/main" id="{C8B0DB05-43BB-402B-9172-D3ADB1F52BC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32" y="828"/>
                  <a:ext cx="2136" cy="320"/>
                </a:xfrm>
                <a:prstGeom prst="rect">
                  <a:avLst/>
                </a:prstGeom>
                <a:gradFill rotWithShape="0">
                  <a:gsLst>
                    <a:gs pos="0">
                      <a:srgbClr val="477647"/>
                    </a:gs>
                    <a:gs pos="50000">
                      <a:srgbClr val="99FF99"/>
                    </a:gs>
                    <a:gs pos="100000">
                      <a:srgbClr val="477647"/>
                    </a:gs>
                  </a:gsLst>
                  <a:lin ang="0" scaled="1"/>
                </a:gradFill>
                <a:ln w="12699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kumimoji="0" lang="zh-CN" altLang="en-US">
                    <a:solidFill>
                      <a:schemeClr val="bg1"/>
                    </a:solidFill>
                  </a:endParaRPr>
                </a:p>
              </p:txBody>
            </p:sp>
            <p:graphicFrame>
              <p:nvGraphicFramePr>
                <p:cNvPr id="9245" name="Object 6">
                  <a:extLst>
                    <a:ext uri="{FF2B5EF4-FFF2-40B4-BE49-F238E27FC236}">
                      <a16:creationId xmlns:a16="http://schemas.microsoft.com/office/drawing/2014/main" id="{315933B2-7DF0-49A2-B0D3-1D8B3F952D1F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2583" y="695"/>
                <a:ext cx="330" cy="527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89588" name="公式" r:id="rId7" imgW="76149" imgH="114198" progId="Equation.3">
                        <p:embed/>
                      </p:oleObj>
                    </mc:Choice>
                    <mc:Fallback>
                      <p:oleObj name="公式" r:id="rId7" imgW="76149" imgH="114198" progId="Equation.3">
                        <p:embed/>
                        <p:pic>
                          <p:nvPicPr>
                            <p:cNvPr id="9245" name="Object 6">
                              <a:extLst>
                                <a:ext uri="{FF2B5EF4-FFF2-40B4-BE49-F238E27FC236}">
                                  <a16:creationId xmlns:a16="http://schemas.microsoft.com/office/drawing/2014/main" id="{315933B2-7DF0-49A2-B0D3-1D8B3F952D1F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8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583" y="695"/>
                              <a:ext cx="330" cy="527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aphicFrame>
            <p:nvGraphicFramePr>
              <p:cNvPr id="9243" name="Object 5">
                <a:extLst>
                  <a:ext uri="{FF2B5EF4-FFF2-40B4-BE49-F238E27FC236}">
                    <a16:creationId xmlns:a16="http://schemas.microsoft.com/office/drawing/2014/main" id="{245FD9E9-CA4E-4804-AD6F-922FF74360A0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357" y="811"/>
              <a:ext cx="985" cy="40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89589" name="公式" r:id="rId9" imgW="457200" imgH="114198" progId="Equation.3">
                      <p:embed/>
                    </p:oleObj>
                  </mc:Choice>
                  <mc:Fallback>
                    <p:oleObj name="公式" r:id="rId9" imgW="457200" imgH="114198" progId="Equation.3">
                      <p:embed/>
                      <p:pic>
                        <p:nvPicPr>
                          <p:cNvPr id="9243" name="Object 5">
                            <a:extLst>
                              <a:ext uri="{FF2B5EF4-FFF2-40B4-BE49-F238E27FC236}">
                                <a16:creationId xmlns:a16="http://schemas.microsoft.com/office/drawing/2014/main" id="{245FD9E9-CA4E-4804-AD6F-922FF74360A0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357" y="811"/>
                            <a:ext cx="985" cy="40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3322" name="AutoShape 10">
              <a:extLst>
                <a:ext uri="{FF2B5EF4-FFF2-40B4-BE49-F238E27FC236}">
                  <a16:creationId xmlns:a16="http://schemas.microsoft.com/office/drawing/2014/main" id="{E9664709-39C4-49CB-846E-623CF4B27D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12" y="804"/>
              <a:ext cx="948" cy="435"/>
            </a:xfrm>
            <a:prstGeom prst="wedgeRectCallout">
              <a:avLst>
                <a:gd name="adj1" fmla="val -72861"/>
                <a:gd name="adj2" fmla="val 6722"/>
              </a:avLst>
            </a:prstGeom>
            <a:solidFill>
              <a:srgbClr val="CC00FF"/>
            </a:solidFill>
            <a:ln w="12699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r>
                <a:rPr kumimoji="0" lang="en-US" altLang="zh-CN" sz="2800" b="0" dirty="0">
                  <a:solidFill>
                    <a:schemeClr val="hlink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MgF</a:t>
              </a:r>
              <a:r>
                <a:rPr kumimoji="0" lang="en-US" altLang="zh-CN" sz="2800" b="0" baseline="-25000" dirty="0">
                  <a:solidFill>
                    <a:schemeClr val="hlink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2</a:t>
              </a:r>
              <a:endParaRPr kumimoji="0" lang="en-US" altLang="zh-CN" sz="2800" b="0" dirty="0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</p:grpSp>
      <p:sp>
        <p:nvSpPr>
          <p:cNvPr id="9234" name="Line 11">
            <a:extLst>
              <a:ext uri="{FF2B5EF4-FFF2-40B4-BE49-F238E27FC236}">
                <a16:creationId xmlns:a16="http://schemas.microsoft.com/office/drawing/2014/main" id="{816D4B9C-090D-4BCB-BE88-946E3BF1F5E1}"/>
              </a:ext>
            </a:extLst>
          </p:cNvPr>
          <p:cNvSpPr>
            <a:spLocks noChangeShapeType="1"/>
          </p:cNvSpPr>
          <p:nvPr/>
        </p:nvSpPr>
        <p:spPr bwMode="auto">
          <a:xfrm>
            <a:off x="5994929" y="500063"/>
            <a:ext cx="0" cy="579318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35" name="Line 12">
            <a:extLst>
              <a:ext uri="{FF2B5EF4-FFF2-40B4-BE49-F238E27FC236}">
                <a16:creationId xmlns:a16="http://schemas.microsoft.com/office/drawing/2014/main" id="{11EB0BA6-98E5-4868-9B25-B72B892549EE}"/>
              </a:ext>
            </a:extLst>
          </p:cNvPr>
          <p:cNvSpPr>
            <a:spLocks noChangeShapeType="1"/>
          </p:cNvSpPr>
          <p:nvPr/>
        </p:nvSpPr>
        <p:spPr bwMode="auto">
          <a:xfrm>
            <a:off x="5994929" y="1079381"/>
            <a:ext cx="0" cy="274414"/>
          </a:xfrm>
          <a:prstGeom prst="line">
            <a:avLst/>
          </a:prstGeom>
          <a:noFill/>
          <a:ln w="38100">
            <a:solidFill>
              <a:srgbClr val="CC00FF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36" name="Line 13">
            <a:extLst>
              <a:ext uri="{FF2B5EF4-FFF2-40B4-BE49-F238E27FC236}">
                <a16:creationId xmlns:a16="http://schemas.microsoft.com/office/drawing/2014/main" id="{1682C614-961A-42D9-A8AC-B90EA06E44F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143636" y="1069218"/>
            <a:ext cx="0" cy="274414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37" name="Line 15">
            <a:extLst>
              <a:ext uri="{FF2B5EF4-FFF2-40B4-BE49-F238E27FC236}">
                <a16:creationId xmlns:a16="http://schemas.microsoft.com/office/drawing/2014/main" id="{98F04D15-0FEC-483B-9723-04D58E9F7F2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57884" y="693169"/>
            <a:ext cx="0" cy="365885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38" name="Line 16">
            <a:extLst>
              <a:ext uri="{FF2B5EF4-FFF2-40B4-BE49-F238E27FC236}">
                <a16:creationId xmlns:a16="http://schemas.microsoft.com/office/drawing/2014/main" id="{A2561BF8-5E4A-49ED-9E3C-DB9E4F0EE102}"/>
              </a:ext>
            </a:extLst>
          </p:cNvPr>
          <p:cNvSpPr>
            <a:spLocks noChangeShapeType="1"/>
          </p:cNvSpPr>
          <p:nvPr/>
        </p:nvSpPr>
        <p:spPr bwMode="auto">
          <a:xfrm>
            <a:off x="6143636" y="714356"/>
            <a:ext cx="0" cy="36000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39" name="Line 17">
            <a:extLst>
              <a:ext uri="{FF2B5EF4-FFF2-40B4-BE49-F238E27FC236}">
                <a16:creationId xmlns:a16="http://schemas.microsoft.com/office/drawing/2014/main" id="{62D8EF33-4AE8-4C09-9445-E3848A307042}"/>
              </a:ext>
            </a:extLst>
          </p:cNvPr>
          <p:cNvSpPr>
            <a:spLocks noChangeShapeType="1"/>
          </p:cNvSpPr>
          <p:nvPr/>
        </p:nvSpPr>
        <p:spPr bwMode="auto">
          <a:xfrm>
            <a:off x="6001137" y="1374122"/>
            <a:ext cx="0" cy="633946"/>
          </a:xfrm>
          <a:prstGeom prst="line">
            <a:avLst/>
          </a:prstGeom>
          <a:noFill/>
          <a:ln w="38100">
            <a:solidFill>
              <a:srgbClr val="9933FF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32" name="Text Box 20">
            <a:extLst>
              <a:ext uri="{FF2B5EF4-FFF2-40B4-BE49-F238E27FC236}">
                <a16:creationId xmlns:a16="http://schemas.microsoft.com/office/drawing/2014/main" id="{F804402D-2E12-4BB0-8E94-CB739AD74D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1844675"/>
            <a:ext cx="4572000" cy="91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marL="1079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200"/>
              </a:lnSpc>
              <a:buClr>
                <a:srgbClr val="FFFF00"/>
              </a:buClr>
              <a:buSzPct val="75000"/>
              <a:buFont typeface="Monotype Sorts" pitchFamily="2" charset="2"/>
              <a:buChar char="l"/>
            </a:pPr>
            <a:r>
              <a:rPr kumimoji="0" lang="zh-CN" altLang="en-US">
                <a:solidFill>
                  <a:schemeClr val="bg1"/>
                </a:solidFill>
              </a:rPr>
              <a:t> 光在膜的上、下表面反射时都有半波损失</a:t>
            </a:r>
            <a:endParaRPr kumimoji="0" lang="zh-CN" altLang="en-US" b="0">
              <a:solidFill>
                <a:schemeClr val="bg1"/>
              </a:solidFill>
            </a:endParaRPr>
          </a:p>
        </p:txBody>
      </p:sp>
      <p:sp>
        <p:nvSpPr>
          <p:cNvPr id="13334" name="Text Box 22">
            <a:extLst>
              <a:ext uri="{FF2B5EF4-FFF2-40B4-BE49-F238E27FC236}">
                <a16:creationId xmlns:a16="http://schemas.microsoft.com/office/drawing/2014/main" id="{BA98B13D-11D6-4471-8F79-A7348FA0DA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188" y="2714625"/>
            <a:ext cx="7643812" cy="457200"/>
          </a:xfrm>
          <a:prstGeom prst="rect">
            <a:avLst/>
          </a:prstGeom>
          <a:noFill/>
          <a:ln w="12699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0" lang="zh-CN" altLang="en-US" dirty="0">
                <a:solidFill>
                  <a:schemeClr val="bg1"/>
                </a:solidFill>
                <a:latin typeface="宋体" pitchFamily="2" charset="-122"/>
              </a:rPr>
              <a:t>欲使透射最大，则反射光干涉相消，此时</a:t>
            </a:r>
            <a:r>
              <a:rPr kumimoji="0"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有</a:t>
            </a:r>
            <a:endParaRPr kumimoji="0" lang="zh-CN" altLang="en-US" b="0" dirty="0">
              <a:solidFill>
                <a:schemeClr val="bg1"/>
              </a:solidFill>
            </a:endParaRPr>
          </a:p>
        </p:txBody>
      </p:sp>
      <p:sp>
        <p:nvSpPr>
          <p:cNvPr id="30" name="Text Box 2">
            <a:extLst>
              <a:ext uri="{FF2B5EF4-FFF2-40B4-BE49-F238E27FC236}">
                <a16:creationId xmlns:a16="http://schemas.microsoft.com/office/drawing/2014/main" id="{2958E82D-22DA-4EE9-94D9-1D18F6B227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750" y="4286250"/>
            <a:ext cx="5181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rgbClr val="FFFF00"/>
              </a:buClr>
              <a:buSzPct val="75000"/>
              <a:buFont typeface="Monotype Sorts" pitchFamily="2" charset="2"/>
              <a:buChar char="l"/>
            </a:pPr>
            <a:r>
              <a:rPr kumimoji="0" lang="zh-CN" altLang="en-US">
                <a:solidFill>
                  <a:schemeClr val="bg1"/>
                </a:solidFill>
              </a:rPr>
              <a:t> 膜的最小厚度为</a:t>
            </a:r>
          </a:p>
        </p:txBody>
      </p:sp>
      <p:graphicFrame>
        <p:nvGraphicFramePr>
          <p:cNvPr id="65544" name="Object 8">
            <a:extLst>
              <a:ext uri="{FF2B5EF4-FFF2-40B4-BE49-F238E27FC236}">
                <a16:creationId xmlns:a16="http://schemas.microsoft.com/office/drawing/2014/main" id="{1A1C60DF-B1E8-4BB7-BBE0-6F4FD2D09DA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86113" y="4056063"/>
          <a:ext cx="1385887" cy="944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590" name="公式" r:id="rId11" imgW="552310" imgH="323918" progId="Equation.3">
                  <p:embed/>
                </p:oleObj>
              </mc:Choice>
              <mc:Fallback>
                <p:oleObj name="公式" r:id="rId11" imgW="552310" imgH="323918" progId="Equation.3">
                  <p:embed/>
                  <p:pic>
                    <p:nvPicPr>
                      <p:cNvPr id="65544" name="Object 8">
                        <a:extLst>
                          <a:ext uri="{FF2B5EF4-FFF2-40B4-BE49-F238E27FC236}">
                            <a16:creationId xmlns:a16="http://schemas.microsoft.com/office/drawing/2014/main" id="{1A1C60DF-B1E8-4BB7-BBE0-6F4FD2D09DA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6113" y="4056063"/>
                        <a:ext cx="1385887" cy="944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Text Box 9">
            <a:extLst>
              <a:ext uri="{FF2B5EF4-FFF2-40B4-BE49-F238E27FC236}">
                <a16:creationId xmlns:a16="http://schemas.microsoft.com/office/drawing/2014/main" id="{BB62CFFC-BCAE-4AA9-8A5F-792F67824F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8713" y="4257675"/>
            <a:ext cx="40624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0" lang="en-US" altLang="zh-CN">
                <a:solidFill>
                  <a:srgbClr val="66FF66"/>
                </a:solidFill>
              </a:rPr>
              <a:t>----</a:t>
            </a:r>
            <a:r>
              <a:rPr kumimoji="0" lang="zh-CN" altLang="en-US">
                <a:solidFill>
                  <a:srgbClr val="66FF66"/>
                </a:solidFill>
              </a:rPr>
              <a:t>此时透射光增强</a:t>
            </a:r>
            <a:endParaRPr kumimoji="0" lang="zh-CN" altLang="en-US" b="0"/>
          </a:p>
        </p:txBody>
      </p:sp>
      <p:sp>
        <p:nvSpPr>
          <p:cNvPr id="33" name="Text Box 4">
            <a:extLst>
              <a:ext uri="{FF2B5EF4-FFF2-40B4-BE49-F238E27FC236}">
                <a16:creationId xmlns:a16="http://schemas.microsoft.com/office/drawing/2014/main" id="{26B1C14F-9E67-41D8-9D64-7068A67690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75" y="5214938"/>
            <a:ext cx="22860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0" lang="zh-CN" altLang="en-US">
                <a:solidFill>
                  <a:schemeClr val="bg1"/>
                </a:solidFill>
              </a:rPr>
              <a:t>或</a:t>
            </a:r>
            <a:r>
              <a:rPr kumimoji="0" lang="zh-CN" altLang="en-US">
                <a:solidFill>
                  <a:srgbClr val="FF0000"/>
                </a:solidFill>
              </a:rPr>
              <a:t>光学厚度</a:t>
            </a:r>
            <a:endParaRPr kumimoji="0" lang="zh-CN" altLang="en-US" b="0">
              <a:solidFill>
                <a:srgbClr val="FF0000"/>
              </a:solidFill>
            </a:endParaRPr>
          </a:p>
        </p:txBody>
      </p:sp>
      <p:graphicFrame>
        <p:nvGraphicFramePr>
          <p:cNvPr id="65545" name="Object 9">
            <a:extLst>
              <a:ext uri="{FF2B5EF4-FFF2-40B4-BE49-F238E27FC236}">
                <a16:creationId xmlns:a16="http://schemas.microsoft.com/office/drawing/2014/main" id="{5A55BC29-A35F-462D-B910-CAA2CD0B720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16263" y="4941888"/>
          <a:ext cx="1536700" cy="950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591" name="公式" r:id="rId13" imgW="571576" imgH="323918" progId="Equation.3">
                  <p:embed/>
                </p:oleObj>
              </mc:Choice>
              <mc:Fallback>
                <p:oleObj name="公式" r:id="rId13" imgW="571576" imgH="323918" progId="Equation.3">
                  <p:embed/>
                  <p:pic>
                    <p:nvPicPr>
                      <p:cNvPr id="65545" name="Object 9">
                        <a:extLst>
                          <a:ext uri="{FF2B5EF4-FFF2-40B4-BE49-F238E27FC236}">
                            <a16:creationId xmlns:a16="http://schemas.microsoft.com/office/drawing/2014/main" id="{5A55BC29-A35F-462D-B910-CAA2CD0B720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6263" y="4941888"/>
                        <a:ext cx="1536700" cy="950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Text Box 10">
            <a:extLst>
              <a:ext uri="{FF2B5EF4-FFF2-40B4-BE49-F238E27FC236}">
                <a16:creationId xmlns:a16="http://schemas.microsoft.com/office/drawing/2014/main" id="{6A2BF696-9F69-409A-91C5-37181BA384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750" y="5929313"/>
            <a:ext cx="8643938" cy="439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2875"/>
              </a:lnSpc>
              <a:buClr>
                <a:srgbClr val="FFFF00"/>
              </a:buClr>
              <a:buSzPct val="75000"/>
              <a:buFont typeface="Monotype Sorts" pitchFamily="2" charset="2"/>
              <a:buChar char="l"/>
            </a:pPr>
            <a:r>
              <a:rPr kumimoji="0" lang="zh-CN" altLang="en-US" dirty="0">
                <a:solidFill>
                  <a:schemeClr val="bg1"/>
                </a:solidFill>
              </a:rPr>
              <a:t> 光学厚度为</a:t>
            </a:r>
            <a:r>
              <a:rPr kumimoji="0" lang="zh-CN" altLang="en-US" dirty="0">
                <a:solidFill>
                  <a:srgbClr val="00FFFF"/>
                </a:solidFill>
              </a:rPr>
              <a:t>某一波长的</a:t>
            </a:r>
            <a:r>
              <a:rPr kumimoji="0" lang="en-US" altLang="zh-CN" dirty="0">
                <a:solidFill>
                  <a:srgbClr val="00FFFF"/>
                </a:solidFill>
              </a:rPr>
              <a:t>1/4</a:t>
            </a:r>
            <a:r>
              <a:rPr kumimoji="0" lang="zh-CN" altLang="en-US" dirty="0">
                <a:solidFill>
                  <a:schemeClr val="bg1"/>
                </a:solidFill>
              </a:rPr>
              <a:t>时，则膜为</a:t>
            </a:r>
            <a:r>
              <a:rPr kumimoji="0" lang="zh-CN" altLang="en-US" dirty="0">
                <a:solidFill>
                  <a:srgbClr val="00FFFF"/>
                </a:solidFill>
              </a:rPr>
              <a:t>该波长的增透膜</a:t>
            </a:r>
            <a:endParaRPr kumimoji="0" lang="zh-CN" altLang="en-US" b="0" dirty="0">
              <a:solidFill>
                <a:srgbClr val="00FFFF"/>
              </a:solidFill>
            </a:endParaRPr>
          </a:p>
        </p:txBody>
      </p:sp>
      <p:graphicFrame>
        <p:nvGraphicFramePr>
          <p:cNvPr id="65547" name="Object 11">
            <a:extLst>
              <a:ext uri="{FF2B5EF4-FFF2-40B4-BE49-F238E27FC236}">
                <a16:creationId xmlns:a16="http://schemas.microsoft.com/office/drawing/2014/main" id="{4B0529AE-CF21-4CDA-8577-FC6854F6AA9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49425" y="3429000"/>
          <a:ext cx="1171575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592" name="公式" r:id="rId15" imgW="466680" imgH="114198" progId="Equation.3">
                  <p:embed/>
                </p:oleObj>
              </mc:Choice>
              <mc:Fallback>
                <p:oleObj name="公式" r:id="rId15" imgW="466680" imgH="114198" progId="Equation.3">
                  <p:embed/>
                  <p:pic>
                    <p:nvPicPr>
                      <p:cNvPr id="65547" name="Object 11">
                        <a:extLst>
                          <a:ext uri="{FF2B5EF4-FFF2-40B4-BE49-F238E27FC236}">
                            <a16:creationId xmlns:a16="http://schemas.microsoft.com/office/drawing/2014/main" id="{4B0529AE-CF21-4CDA-8577-FC6854F6AA9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9425" y="3429000"/>
                        <a:ext cx="1171575" cy="387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48" name="Object 12">
            <a:extLst>
              <a:ext uri="{FF2B5EF4-FFF2-40B4-BE49-F238E27FC236}">
                <a16:creationId xmlns:a16="http://schemas.microsoft.com/office/drawing/2014/main" id="{41C1CEA3-4178-46D1-BC45-55C8BA4DED9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16238" y="3213100"/>
          <a:ext cx="1535112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593" name="公式" r:id="rId17" imgW="695433" imgH="323918" progId="Equation.3">
                  <p:embed/>
                </p:oleObj>
              </mc:Choice>
              <mc:Fallback>
                <p:oleObj name="公式" r:id="rId17" imgW="695433" imgH="323918" progId="Equation.3">
                  <p:embed/>
                  <p:pic>
                    <p:nvPicPr>
                      <p:cNvPr id="65548" name="Object 12">
                        <a:extLst>
                          <a:ext uri="{FF2B5EF4-FFF2-40B4-BE49-F238E27FC236}">
                            <a16:creationId xmlns:a16="http://schemas.microsoft.com/office/drawing/2014/main" id="{41C1CEA3-4178-46D1-BC45-55C8BA4DED9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6238" y="3213100"/>
                        <a:ext cx="1535112" cy="857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699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30" name="灯片编号占位符 1">
            <a:extLst>
              <a:ext uri="{FF2B5EF4-FFF2-40B4-BE49-F238E27FC236}">
                <a16:creationId xmlns:a16="http://schemas.microsoft.com/office/drawing/2014/main" id="{E5F110D0-86EC-40F0-B6CE-E61E7BBF250F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0B7784C-0F01-4BA3-A82D-44E06C5A3229}" type="slidenum">
              <a:rPr lang="en-US" altLang="zh-CN" b="0">
                <a:solidFill>
                  <a:srgbClr val="FF00FF"/>
                </a:solidFill>
              </a:rPr>
              <a:pPr eaLnBrk="1" hangingPunct="1"/>
              <a:t>8</a:t>
            </a:fld>
            <a:r>
              <a:rPr lang="en-US" altLang="zh-CN" b="0">
                <a:solidFill>
                  <a:srgbClr val="FF00FF"/>
                </a:solidFill>
              </a:rPr>
              <a:t>/20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2" dur="500"/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9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9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9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9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500"/>
                            </p:stCondLst>
                            <p:childTnLst>
                              <p:par>
                                <p:cTn id="4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9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9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6" dur="500"/>
                                        <p:tgtEl>
                                          <p:spTgt spid="1333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33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FFCC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61" dur="500"/>
                                        <p:tgtEl>
                                          <p:spTgt spid="13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66" dur="500"/>
                                        <p:tgtEl>
                                          <p:spTgt spid="65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1" dur="500"/>
                                        <p:tgtEl>
                                          <p:spTgt spid="65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655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655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5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6" presetID="2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655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655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5" grpId="0" uiExpand="1" build="p" autoUpdateAnimBg="0"/>
      <p:bldP spid="9234" grpId="0" animBg="1"/>
      <p:bldP spid="9235" grpId="0" animBg="1"/>
      <p:bldP spid="9236" grpId="0" animBg="1"/>
      <p:bldP spid="9237" grpId="0" animBg="1"/>
      <p:bldP spid="9238" grpId="0" animBg="1"/>
      <p:bldP spid="9239" grpId="0" animBg="1"/>
      <p:bldP spid="13332" grpId="0" autoUpdateAnimBg="0"/>
      <p:bldP spid="13334" grpId="0" autoUpdateAnimBg="0"/>
      <p:bldP spid="30" grpId="0" autoUpdateAnimBg="0"/>
      <p:bldP spid="32" grpId="0" autoUpdateAnimBg="0"/>
      <p:bldP spid="33" grpId="0" autoUpdateAnimBg="0"/>
      <p:bldP spid="38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2">
            <a:extLst>
              <a:ext uri="{FF2B5EF4-FFF2-40B4-BE49-F238E27FC236}">
                <a16:creationId xmlns:a16="http://schemas.microsoft.com/office/drawing/2014/main" id="{8CA7D1AC-E0AE-4DEB-8FCB-AC83716AF6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942975"/>
            <a:ext cx="8569325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 eaLnBrk="1" hangingPunct="1">
              <a:defRPr/>
            </a:pPr>
            <a:r>
              <a:rPr lang="zh-CN" altLang="en-US" dirty="0">
                <a:solidFill>
                  <a:schemeClr val="bg1"/>
                </a:solidFill>
                <a:latin typeface="+mn-ea"/>
                <a:ea typeface="+mn-ea"/>
              </a:rPr>
              <a:t>    </a:t>
            </a:r>
            <a:r>
              <a:rPr lang="zh-CN" altLang="en-US" dirty="0">
                <a:solidFill>
                  <a:srgbClr val="FFFF00"/>
                </a:solidFill>
                <a:latin typeface="+mn-ea"/>
                <a:ea typeface="+mn-ea"/>
              </a:rPr>
              <a:t>增透膜</a:t>
            </a:r>
            <a:r>
              <a:rPr lang="zh-CN" altLang="en-US" dirty="0">
                <a:solidFill>
                  <a:schemeClr val="bg1"/>
                </a:solidFill>
                <a:latin typeface="+mn-ea"/>
                <a:ea typeface="+mn-ea"/>
              </a:rPr>
              <a:t> 在透镜表面镀一层厚度均匀的透明介质膜，使其上、下表面对某一波长的反射光产生相消干涉，其结果是减少了该光的反射，增加了它的透射</a:t>
            </a:r>
            <a:endParaRPr lang="en-US" altLang="zh-CN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grpSp>
        <p:nvGrpSpPr>
          <p:cNvPr id="2" name="Group 3">
            <a:extLst>
              <a:ext uri="{FF2B5EF4-FFF2-40B4-BE49-F238E27FC236}">
                <a16:creationId xmlns:a16="http://schemas.microsoft.com/office/drawing/2014/main" id="{8C6E0635-3B37-4007-B384-9DBA4BC053BA}"/>
              </a:ext>
            </a:extLst>
          </p:cNvPr>
          <p:cNvGrpSpPr>
            <a:grpSpLocks/>
          </p:cNvGrpSpPr>
          <p:nvPr/>
        </p:nvGrpSpPr>
        <p:grpSpPr bwMode="auto">
          <a:xfrm>
            <a:off x="287338" y="2466975"/>
            <a:ext cx="4117975" cy="3841750"/>
            <a:chOff x="181" y="1418"/>
            <a:chExt cx="2594" cy="2420"/>
          </a:xfrm>
        </p:grpSpPr>
        <p:pic>
          <p:nvPicPr>
            <p:cNvPr id="10248" name="Picture 4" descr="照相机镜头">
              <a:extLst>
                <a:ext uri="{FF2B5EF4-FFF2-40B4-BE49-F238E27FC236}">
                  <a16:creationId xmlns:a16="http://schemas.microsoft.com/office/drawing/2014/main" id="{8F667F08-885D-4442-AFAD-B0B4F0AAAAC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1" y="1418"/>
              <a:ext cx="2594" cy="20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249" name="Text Box 5">
              <a:extLst>
                <a:ext uri="{FF2B5EF4-FFF2-40B4-BE49-F238E27FC236}">
                  <a16:creationId xmlns:a16="http://schemas.microsoft.com/office/drawing/2014/main" id="{749362AF-0FC5-4F7C-A843-2ECCC82335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6" y="3550"/>
              <a:ext cx="216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>
                  <a:solidFill>
                    <a:srgbClr val="00FFFF"/>
                  </a:solidFill>
                  <a:ea typeface="黑体" panose="02010609060101010101" pitchFamily="49" charset="-122"/>
                </a:rPr>
                <a:t>照相机镜头</a:t>
              </a:r>
            </a:p>
          </p:txBody>
        </p:sp>
      </p:grpSp>
      <p:grpSp>
        <p:nvGrpSpPr>
          <p:cNvPr id="3" name="Group 6">
            <a:extLst>
              <a:ext uri="{FF2B5EF4-FFF2-40B4-BE49-F238E27FC236}">
                <a16:creationId xmlns:a16="http://schemas.microsoft.com/office/drawing/2014/main" id="{F3F2C7FB-4518-4E90-A01B-DBF96E5038CF}"/>
              </a:ext>
            </a:extLst>
          </p:cNvPr>
          <p:cNvGrpSpPr>
            <a:grpSpLocks/>
          </p:cNvGrpSpPr>
          <p:nvPr/>
        </p:nvGrpSpPr>
        <p:grpSpPr bwMode="auto">
          <a:xfrm>
            <a:off x="4535488" y="2430463"/>
            <a:ext cx="4421187" cy="3878262"/>
            <a:chOff x="2857" y="1395"/>
            <a:chExt cx="2785" cy="2443"/>
          </a:xfrm>
        </p:grpSpPr>
        <p:sp>
          <p:nvSpPr>
            <p:cNvPr id="10246" name="Text Box 7">
              <a:extLst>
                <a:ext uri="{FF2B5EF4-FFF2-40B4-BE49-F238E27FC236}">
                  <a16:creationId xmlns:a16="http://schemas.microsoft.com/office/drawing/2014/main" id="{0B0C7006-1E3D-4C16-B13E-EBDED3ED05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88" y="3550"/>
              <a:ext cx="216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>
                  <a:solidFill>
                    <a:srgbClr val="00FFFF"/>
                  </a:solidFill>
                  <a:ea typeface="黑体" panose="02010609060101010101" pitchFamily="49" charset="-122"/>
                </a:rPr>
                <a:t>眼镜</a:t>
              </a:r>
            </a:p>
          </p:txBody>
        </p:sp>
        <p:pic>
          <p:nvPicPr>
            <p:cNvPr id="10247" name="Picture 8" descr="OPfiinpi02">
              <a:extLst>
                <a:ext uri="{FF2B5EF4-FFF2-40B4-BE49-F238E27FC236}">
                  <a16:creationId xmlns:a16="http://schemas.microsoft.com/office/drawing/2014/main" id="{512B6493-25B8-4810-BF82-5D7A9110707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57" y="1395"/>
              <a:ext cx="2785" cy="20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0245" name="Text Box 9">
            <a:extLst>
              <a:ext uri="{FF2B5EF4-FFF2-40B4-BE49-F238E27FC236}">
                <a16:creationId xmlns:a16="http://schemas.microsoft.com/office/drawing/2014/main" id="{67F25BFD-BD5D-4F51-8367-440E5E71F5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925" y="430213"/>
            <a:ext cx="47323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  <a:ea typeface="黑体" panose="02010609060101010101" pitchFamily="49" charset="-122"/>
              </a:rPr>
              <a:t>增透膜</a:t>
            </a:r>
          </a:p>
        </p:txBody>
      </p:sp>
      <p:sp>
        <p:nvSpPr>
          <p:cNvPr id="10" name="灯片编号占位符 1">
            <a:extLst>
              <a:ext uri="{FF2B5EF4-FFF2-40B4-BE49-F238E27FC236}">
                <a16:creationId xmlns:a16="http://schemas.microsoft.com/office/drawing/2014/main" id="{BC76548A-9A0E-4AEA-80A1-D3CE6B0D796F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369734A-4318-4177-8455-396618E5B701}" type="slidenum">
              <a:rPr lang="en-US" altLang="zh-CN" b="0">
                <a:solidFill>
                  <a:srgbClr val="FF00FF"/>
                </a:solidFill>
              </a:rPr>
              <a:pPr eaLnBrk="1" hangingPunct="1"/>
              <a:t>9</a:t>
            </a:fld>
            <a:r>
              <a:rPr lang="en-US" altLang="zh-CN" b="0" dirty="0">
                <a:solidFill>
                  <a:srgbClr val="FF00FF"/>
                </a:solidFill>
              </a:rPr>
              <a:t>/20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Text Box 2">
            <a:extLst>
              <a:ext uri="{FF2B5EF4-FFF2-40B4-BE49-F238E27FC236}">
                <a16:creationId xmlns:a16="http://schemas.microsoft.com/office/drawing/2014/main" id="{E3AAEBB6-2DE8-4752-9D2B-06706443A5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938" y="466725"/>
            <a:ext cx="5334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0" lang="en-US" altLang="zh-CN">
                <a:solidFill>
                  <a:srgbClr val="FFC000"/>
                </a:solidFill>
              </a:rPr>
              <a:t>2. </a:t>
            </a:r>
            <a:r>
              <a:rPr kumimoji="0" lang="zh-CN" altLang="en-US">
                <a:solidFill>
                  <a:srgbClr val="FFC000"/>
                </a:solidFill>
                <a:latin typeface="宋体" panose="02010600030101010101" pitchFamily="2" charset="-122"/>
              </a:rPr>
              <a:t>高反射膜</a:t>
            </a:r>
            <a:endParaRPr kumimoji="0" lang="zh-CN" altLang="en-US" b="0">
              <a:solidFill>
                <a:srgbClr val="FFC000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93216" name="Object 2">
            <a:extLst>
              <a:ext uri="{FF2B5EF4-FFF2-40B4-BE49-F238E27FC236}">
                <a16:creationId xmlns:a16="http://schemas.microsoft.com/office/drawing/2014/main" id="{312F9CC9-033F-40DB-B430-514E8FF97186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6750050" y="557213"/>
          <a:ext cx="1393825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0772" name="公式" r:id="rId3" imgW="571576" imgH="152468" progId="Equation.3">
                  <p:embed/>
                </p:oleObj>
              </mc:Choice>
              <mc:Fallback>
                <p:oleObj name="公式" r:id="rId3" imgW="571576" imgH="152468" progId="Equation.3">
                  <p:embed/>
                  <p:pic>
                    <p:nvPicPr>
                      <p:cNvPr id="93216" name="Object 2">
                        <a:extLst>
                          <a:ext uri="{FF2B5EF4-FFF2-40B4-BE49-F238E27FC236}">
                            <a16:creationId xmlns:a16="http://schemas.microsoft.com/office/drawing/2014/main" id="{312F9CC9-033F-40DB-B430-514E8FF9718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50050" y="557213"/>
                        <a:ext cx="1393825" cy="514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218" name="Object 3">
            <a:extLst>
              <a:ext uri="{FF2B5EF4-FFF2-40B4-BE49-F238E27FC236}">
                <a16:creationId xmlns:a16="http://schemas.microsoft.com/office/drawing/2014/main" id="{FA11D34E-D07B-497C-BA67-FFB861011AEE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6821488" y="1057275"/>
          <a:ext cx="1317625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0773" name="公式" r:id="rId5" imgW="533349" imgH="152468" progId="Equation.3">
                  <p:embed/>
                </p:oleObj>
              </mc:Choice>
              <mc:Fallback>
                <p:oleObj name="公式" r:id="rId5" imgW="533349" imgH="152468" progId="Equation.3">
                  <p:embed/>
                  <p:pic>
                    <p:nvPicPr>
                      <p:cNvPr id="93218" name="Object 3">
                        <a:extLst>
                          <a:ext uri="{FF2B5EF4-FFF2-40B4-BE49-F238E27FC236}">
                            <a16:creationId xmlns:a16="http://schemas.microsoft.com/office/drawing/2014/main" id="{FA11D34E-D07B-497C-BA67-FFB861011AE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21488" y="1057275"/>
                        <a:ext cx="1317625" cy="514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219" name="Text Box 35">
            <a:extLst>
              <a:ext uri="{FF2B5EF4-FFF2-40B4-BE49-F238E27FC236}">
                <a16:creationId xmlns:a16="http://schemas.microsoft.com/office/drawing/2014/main" id="{37C6AF30-FBDD-447B-94FE-7AAC77459B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363" y="1000125"/>
            <a:ext cx="5672137" cy="91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200"/>
              </a:lnSpc>
              <a:buClr>
                <a:srgbClr val="FFFF00"/>
              </a:buClr>
              <a:buSzPct val="75000"/>
              <a:buFont typeface="Monotype Sorts" pitchFamily="2" charset="2"/>
              <a:buChar char="l"/>
            </a:pPr>
            <a:r>
              <a:rPr kumimoji="0" lang="zh-CN" altLang="en-US">
                <a:solidFill>
                  <a:schemeClr val="bg1"/>
                </a:solidFill>
              </a:rPr>
              <a:t> 光（垂直入射）在每层膜的上、下表面反射时只有一个面有半波损失</a:t>
            </a:r>
          </a:p>
        </p:txBody>
      </p:sp>
      <p:sp>
        <p:nvSpPr>
          <p:cNvPr id="93220" name="Text Box 36">
            <a:extLst>
              <a:ext uri="{FF2B5EF4-FFF2-40B4-BE49-F238E27FC236}">
                <a16:creationId xmlns:a16="http://schemas.microsoft.com/office/drawing/2014/main" id="{B04D870A-C5AD-498E-9905-92672AED50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938" y="2252663"/>
            <a:ext cx="24955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0" lang="zh-CN" altLang="en-US">
                <a:solidFill>
                  <a:schemeClr val="bg1"/>
                </a:solidFill>
              </a:rPr>
              <a:t>第一层</a:t>
            </a:r>
            <a:endParaRPr kumimoji="0" lang="zh-CN" altLang="en-US" b="0">
              <a:solidFill>
                <a:schemeClr val="bg1"/>
              </a:solidFill>
            </a:endParaRPr>
          </a:p>
        </p:txBody>
      </p:sp>
      <p:graphicFrame>
        <p:nvGraphicFramePr>
          <p:cNvPr id="93221" name="Object 4">
            <a:extLst>
              <a:ext uri="{FF2B5EF4-FFF2-40B4-BE49-F238E27FC236}">
                <a16:creationId xmlns:a16="http://schemas.microsoft.com/office/drawing/2014/main" id="{B485770E-E2C9-41FE-AD5A-BD4DA1A354D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14525" y="2214563"/>
          <a:ext cx="2530475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0774" name="公式" r:id="rId7" imgW="1028776" imgH="152468" progId="Equation.3">
                  <p:embed/>
                </p:oleObj>
              </mc:Choice>
              <mc:Fallback>
                <p:oleObj name="公式" r:id="rId7" imgW="1028776" imgH="152468" progId="Equation.3">
                  <p:embed/>
                  <p:pic>
                    <p:nvPicPr>
                      <p:cNvPr id="93221" name="Object 4">
                        <a:extLst>
                          <a:ext uri="{FF2B5EF4-FFF2-40B4-BE49-F238E27FC236}">
                            <a16:creationId xmlns:a16="http://schemas.microsoft.com/office/drawing/2014/main" id="{B485770E-E2C9-41FE-AD5A-BD4DA1A354D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4525" y="2214563"/>
                        <a:ext cx="2530475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2">
            <a:extLst>
              <a:ext uri="{FF2B5EF4-FFF2-40B4-BE49-F238E27FC236}">
                <a16:creationId xmlns:a16="http://schemas.microsoft.com/office/drawing/2014/main" id="{932C8874-41CD-4B94-B509-360983BAFFD2}"/>
              </a:ext>
            </a:extLst>
          </p:cNvPr>
          <p:cNvGrpSpPr>
            <a:grpSpLocks/>
          </p:cNvGrpSpPr>
          <p:nvPr/>
        </p:nvGrpSpPr>
        <p:grpSpPr bwMode="auto">
          <a:xfrm>
            <a:off x="6429367" y="1530349"/>
            <a:ext cx="2571745" cy="3613149"/>
            <a:chOff x="3701" y="964"/>
            <a:chExt cx="2059" cy="3193"/>
          </a:xfrm>
        </p:grpSpPr>
        <p:grpSp>
          <p:nvGrpSpPr>
            <p:cNvPr id="12307" name="Group 41">
              <a:extLst>
                <a:ext uri="{FF2B5EF4-FFF2-40B4-BE49-F238E27FC236}">
                  <a16:creationId xmlns:a16="http://schemas.microsoft.com/office/drawing/2014/main" id="{FD2F886E-FA40-49ED-9917-AAF2F885ABB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01" y="964"/>
              <a:ext cx="2059" cy="3193"/>
              <a:chOff x="3701" y="964"/>
              <a:chExt cx="2059" cy="3193"/>
            </a:xfrm>
          </p:grpSpPr>
          <p:grpSp>
            <p:nvGrpSpPr>
              <p:cNvPr id="12312" name="Group 38">
                <a:extLst>
                  <a:ext uri="{FF2B5EF4-FFF2-40B4-BE49-F238E27FC236}">
                    <a16:creationId xmlns:a16="http://schemas.microsoft.com/office/drawing/2014/main" id="{927C98B9-A22A-4333-B2F4-C43CFA3E3FA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701" y="1116"/>
                <a:ext cx="1656" cy="3041"/>
                <a:chOff x="3221" y="1116"/>
                <a:chExt cx="2136" cy="3041"/>
              </a:xfrm>
            </p:grpSpPr>
            <p:grpSp>
              <p:nvGrpSpPr>
                <p:cNvPr id="12319" name="Group 10">
                  <a:extLst>
                    <a:ext uri="{FF2B5EF4-FFF2-40B4-BE49-F238E27FC236}">
                      <a16:creationId xmlns:a16="http://schemas.microsoft.com/office/drawing/2014/main" id="{F36F11F7-1660-49E5-AD8E-5D03C6481F1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221" y="3324"/>
                  <a:ext cx="2136" cy="833"/>
                  <a:chOff x="2892" y="1932"/>
                  <a:chExt cx="2136" cy="833"/>
                </a:xfrm>
              </p:grpSpPr>
              <p:sp>
                <p:nvSpPr>
                  <p:cNvPr id="12332" name="Rectangle 4">
                    <a:extLst>
                      <a:ext uri="{FF2B5EF4-FFF2-40B4-BE49-F238E27FC236}">
                        <a16:creationId xmlns:a16="http://schemas.microsoft.com/office/drawing/2014/main" id="{CDF6199E-AE03-4037-A84D-1AAD08C0CE5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892" y="1932"/>
                    <a:ext cx="2136" cy="804"/>
                  </a:xfrm>
                  <a:prstGeom prst="rect">
                    <a:avLst/>
                  </a:prstGeom>
                  <a:solidFill>
                    <a:schemeClr val="bg1"/>
                  </a:solidFill>
                  <a:ln w="12699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:ln>
                </p:spPr>
                <p:txBody>
                  <a:bodyPr wrap="none" anchor="ctr"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kumimoji="0" lang="zh-CN" altLang="en-US">
                      <a:solidFill>
                        <a:schemeClr val="bg1"/>
                      </a:solidFill>
                    </a:endParaRPr>
                  </a:p>
                </p:txBody>
              </p:sp>
              <p:graphicFrame>
                <p:nvGraphicFramePr>
                  <p:cNvPr id="12333" name="Object 15">
                    <a:extLst>
                      <a:ext uri="{FF2B5EF4-FFF2-40B4-BE49-F238E27FC236}">
                        <a16:creationId xmlns:a16="http://schemas.microsoft.com/office/drawing/2014/main" id="{36D5F9D9-117E-4656-9C87-1BC208479468}"/>
                      </a:ext>
                    </a:extLst>
                  </p:cNvPr>
                  <p:cNvGraphicFramePr>
                    <a:graphicFrameLocks noChangeAspect="1"/>
                  </p:cNvGraphicFramePr>
                  <p:nvPr/>
                </p:nvGraphicFramePr>
                <p:xfrm>
                  <a:off x="4083" y="2347"/>
                  <a:ext cx="912" cy="418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190775" name="公式" r:id="rId9" imgW="390531" imgH="114198" progId="Equation.3">
                          <p:embed/>
                        </p:oleObj>
                      </mc:Choice>
                      <mc:Fallback>
                        <p:oleObj name="公式" r:id="rId9" imgW="390531" imgH="114198" progId="Equation.3">
                          <p:embed/>
                          <p:pic>
                            <p:nvPicPr>
                              <p:cNvPr id="12333" name="Object 15">
                                <a:extLst>
                                  <a:ext uri="{FF2B5EF4-FFF2-40B4-BE49-F238E27FC236}">
                                    <a16:creationId xmlns:a16="http://schemas.microsoft.com/office/drawing/2014/main" id="{36D5F9D9-117E-4656-9C87-1BC208479468}"/>
                                  </a:ext>
                                </a:extLst>
                              </p:cNvPr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0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4083" y="2347"/>
                                <a:ext cx="912" cy="418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p:grpSp>
            <p:grpSp>
              <p:nvGrpSpPr>
                <p:cNvPr id="12320" name="Group 11">
                  <a:extLst>
                    <a:ext uri="{FF2B5EF4-FFF2-40B4-BE49-F238E27FC236}">
                      <a16:creationId xmlns:a16="http://schemas.microsoft.com/office/drawing/2014/main" id="{DA2451A7-C770-43A4-A614-0C4A4301564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221" y="2904"/>
                  <a:ext cx="2136" cy="432"/>
                  <a:chOff x="2892" y="1500"/>
                  <a:chExt cx="2136" cy="432"/>
                </a:xfrm>
              </p:grpSpPr>
              <p:sp>
                <p:nvSpPr>
                  <p:cNvPr id="12330" name="Rectangle 8">
                    <a:extLst>
                      <a:ext uri="{FF2B5EF4-FFF2-40B4-BE49-F238E27FC236}">
                        <a16:creationId xmlns:a16="http://schemas.microsoft.com/office/drawing/2014/main" id="{82B8FDD8-38A5-4E94-B9C2-0679BE1D6B8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892" y="1716"/>
                    <a:ext cx="2136" cy="216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477647"/>
                      </a:gs>
                      <a:gs pos="50000">
                        <a:srgbClr val="99FF99"/>
                      </a:gs>
                      <a:gs pos="100000">
                        <a:srgbClr val="477647"/>
                      </a:gs>
                    </a:gsLst>
                    <a:lin ang="0" scaled="1"/>
                  </a:gradFill>
                  <a:ln w="12699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:ln>
                </p:spPr>
                <p:txBody>
                  <a:bodyPr wrap="none" anchor="ctr"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kumimoji="0" lang="zh-CN" altLang="en-US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2331" name="Rectangle 9">
                    <a:extLst>
                      <a:ext uri="{FF2B5EF4-FFF2-40B4-BE49-F238E27FC236}">
                        <a16:creationId xmlns:a16="http://schemas.microsoft.com/office/drawing/2014/main" id="{69CE9B2B-EC97-4ACD-B74F-17D680FB491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892" y="1500"/>
                    <a:ext cx="2136" cy="216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5E0076"/>
                      </a:gs>
                      <a:gs pos="50000">
                        <a:srgbClr val="CC00FF"/>
                      </a:gs>
                      <a:gs pos="100000">
                        <a:srgbClr val="5E0076"/>
                      </a:gs>
                    </a:gsLst>
                    <a:lin ang="0" scaled="1"/>
                  </a:gradFill>
                  <a:ln w="12699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:ln>
                </p:spPr>
                <p:txBody>
                  <a:bodyPr wrap="none" anchor="ctr"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kumimoji="0" lang="zh-CN" altLang="en-US">
                      <a:solidFill>
                        <a:schemeClr val="bg1"/>
                      </a:solidFill>
                    </a:endParaRPr>
                  </a:p>
                </p:txBody>
              </p:sp>
            </p:grpSp>
            <p:grpSp>
              <p:nvGrpSpPr>
                <p:cNvPr id="12321" name="Group 18">
                  <a:extLst>
                    <a:ext uri="{FF2B5EF4-FFF2-40B4-BE49-F238E27FC236}">
                      <a16:creationId xmlns:a16="http://schemas.microsoft.com/office/drawing/2014/main" id="{F1FD5255-3431-4C88-B116-F183B3AB98A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221" y="1116"/>
                  <a:ext cx="2136" cy="864"/>
                  <a:chOff x="2904" y="960"/>
                  <a:chExt cx="2136" cy="864"/>
                </a:xfrm>
              </p:grpSpPr>
              <p:grpSp>
                <p:nvGrpSpPr>
                  <p:cNvPr id="12324" name="Group 12">
                    <a:extLst>
                      <a:ext uri="{FF2B5EF4-FFF2-40B4-BE49-F238E27FC236}">
                        <a16:creationId xmlns:a16="http://schemas.microsoft.com/office/drawing/2014/main" id="{8D454E31-6854-4E6F-9163-38D922C74619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904" y="960"/>
                    <a:ext cx="2136" cy="432"/>
                    <a:chOff x="2892" y="1500"/>
                    <a:chExt cx="2136" cy="432"/>
                  </a:xfrm>
                </p:grpSpPr>
                <p:sp>
                  <p:nvSpPr>
                    <p:cNvPr id="12328" name="Rectangle 13">
                      <a:extLst>
                        <a:ext uri="{FF2B5EF4-FFF2-40B4-BE49-F238E27FC236}">
                          <a16:creationId xmlns:a16="http://schemas.microsoft.com/office/drawing/2014/main" id="{64C350B0-2CCA-44AD-9EEC-15A308BE90E9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892" y="1716"/>
                      <a:ext cx="2136" cy="216"/>
                    </a:xfrm>
                    <a:prstGeom prst="rect">
                      <a:avLst/>
                    </a:prstGeom>
                    <a:gradFill rotWithShape="0">
                      <a:gsLst>
                        <a:gs pos="0">
                          <a:srgbClr val="477647"/>
                        </a:gs>
                        <a:gs pos="50000">
                          <a:srgbClr val="99FF99"/>
                        </a:gs>
                        <a:gs pos="100000">
                          <a:srgbClr val="477647"/>
                        </a:gs>
                      </a:gsLst>
                      <a:lin ang="0" scaled="1"/>
                    </a:gradFill>
                    <a:ln w="12699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wrap="none" anchor="ctr"/>
                    <a:lstStyle>
                      <a:lvl1pPr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/>
                      <a:endParaRPr kumimoji="0"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12329" name="Rectangle 14">
                      <a:extLst>
                        <a:ext uri="{FF2B5EF4-FFF2-40B4-BE49-F238E27FC236}">
                          <a16:creationId xmlns:a16="http://schemas.microsoft.com/office/drawing/2014/main" id="{29890CDB-515B-40BA-965B-5AA92E9A1F9E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892" y="1500"/>
                      <a:ext cx="2136" cy="216"/>
                    </a:xfrm>
                    <a:prstGeom prst="rect">
                      <a:avLst/>
                    </a:prstGeom>
                    <a:gradFill rotWithShape="0">
                      <a:gsLst>
                        <a:gs pos="0">
                          <a:srgbClr val="5E0076"/>
                        </a:gs>
                        <a:gs pos="50000">
                          <a:srgbClr val="CC00FF"/>
                        </a:gs>
                        <a:gs pos="100000">
                          <a:srgbClr val="5E0076"/>
                        </a:gs>
                      </a:gsLst>
                      <a:lin ang="0" scaled="1"/>
                    </a:gradFill>
                    <a:ln w="12699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wrap="none" anchor="ctr"/>
                    <a:lstStyle>
                      <a:lvl1pPr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/>
                      <a:endParaRPr kumimoji="0"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grpSp>
                <p:nvGrpSpPr>
                  <p:cNvPr id="12325" name="Group 15">
                    <a:extLst>
                      <a:ext uri="{FF2B5EF4-FFF2-40B4-BE49-F238E27FC236}">
                        <a16:creationId xmlns:a16="http://schemas.microsoft.com/office/drawing/2014/main" id="{209DCADA-79E6-44BE-AFC6-8912ABB92C67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904" y="1392"/>
                    <a:ext cx="2136" cy="432"/>
                    <a:chOff x="2892" y="1500"/>
                    <a:chExt cx="2136" cy="432"/>
                  </a:xfrm>
                </p:grpSpPr>
                <p:sp>
                  <p:nvSpPr>
                    <p:cNvPr id="12326" name="Rectangle 16">
                      <a:extLst>
                        <a:ext uri="{FF2B5EF4-FFF2-40B4-BE49-F238E27FC236}">
                          <a16:creationId xmlns:a16="http://schemas.microsoft.com/office/drawing/2014/main" id="{E19F51F5-C414-4DCC-AAA6-39FF7EA33300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892" y="1716"/>
                      <a:ext cx="2136" cy="216"/>
                    </a:xfrm>
                    <a:prstGeom prst="rect">
                      <a:avLst/>
                    </a:prstGeom>
                    <a:gradFill rotWithShape="0">
                      <a:gsLst>
                        <a:gs pos="0">
                          <a:srgbClr val="477647"/>
                        </a:gs>
                        <a:gs pos="50000">
                          <a:srgbClr val="99FF99"/>
                        </a:gs>
                        <a:gs pos="100000">
                          <a:srgbClr val="477647"/>
                        </a:gs>
                      </a:gsLst>
                      <a:lin ang="0" scaled="1"/>
                    </a:gradFill>
                    <a:ln w="12699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wrap="none" anchor="ctr"/>
                    <a:lstStyle>
                      <a:lvl1pPr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/>
                      <a:endParaRPr kumimoji="0"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12327" name="Rectangle 17">
                      <a:extLst>
                        <a:ext uri="{FF2B5EF4-FFF2-40B4-BE49-F238E27FC236}">
                          <a16:creationId xmlns:a16="http://schemas.microsoft.com/office/drawing/2014/main" id="{CC01A064-8203-4EF6-8991-FA44AFF8C20E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892" y="1500"/>
                      <a:ext cx="2136" cy="216"/>
                    </a:xfrm>
                    <a:prstGeom prst="rect">
                      <a:avLst/>
                    </a:prstGeom>
                    <a:gradFill rotWithShape="0">
                      <a:gsLst>
                        <a:gs pos="0">
                          <a:srgbClr val="5E0076"/>
                        </a:gs>
                        <a:gs pos="50000">
                          <a:srgbClr val="CC00FF"/>
                        </a:gs>
                        <a:gs pos="100000">
                          <a:srgbClr val="5E0076"/>
                        </a:gs>
                      </a:gsLst>
                      <a:lin ang="0" scaled="1"/>
                    </a:gradFill>
                    <a:ln w="12699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wrap="none" anchor="ctr"/>
                    <a:lstStyle>
                      <a:lvl1pPr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/>
                      <a:endParaRPr kumimoji="0"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</p:grpSp>
            <p:sp>
              <p:nvSpPr>
                <p:cNvPr id="12322" name="Line 19">
                  <a:extLst>
                    <a:ext uri="{FF2B5EF4-FFF2-40B4-BE49-F238E27FC236}">
                      <a16:creationId xmlns:a16="http://schemas.microsoft.com/office/drawing/2014/main" id="{50267EF4-70DB-4C71-A9B7-5429F7FD48D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21" y="1956"/>
                  <a:ext cx="0" cy="1008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prstDash val="sysDot"/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2323" name="Line 20">
                  <a:extLst>
                    <a:ext uri="{FF2B5EF4-FFF2-40B4-BE49-F238E27FC236}">
                      <a16:creationId xmlns:a16="http://schemas.microsoft.com/office/drawing/2014/main" id="{E3BA9A07-5778-4C4D-AF1B-72FC05DE25B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357" y="1884"/>
                  <a:ext cx="0" cy="1008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prstDash val="sysDot"/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aphicFrame>
            <p:nvGraphicFramePr>
              <p:cNvPr id="12313" name="Object 9">
                <a:extLst>
                  <a:ext uri="{FF2B5EF4-FFF2-40B4-BE49-F238E27FC236}">
                    <a16:creationId xmlns:a16="http://schemas.microsoft.com/office/drawing/2014/main" id="{864545C3-0F55-4A96-8D3C-C36A23286DD6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353" y="964"/>
              <a:ext cx="395" cy="42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90776" name="公式" r:id="rId11" imgW="133337" imgH="152468" progId="Equation.3">
                      <p:embed/>
                    </p:oleObj>
                  </mc:Choice>
                  <mc:Fallback>
                    <p:oleObj name="公式" r:id="rId11" imgW="133337" imgH="152468" progId="Equation.3">
                      <p:embed/>
                      <p:pic>
                        <p:nvPicPr>
                          <p:cNvPr id="12313" name="Object 9">
                            <a:extLst>
                              <a:ext uri="{FF2B5EF4-FFF2-40B4-BE49-F238E27FC236}">
                                <a16:creationId xmlns:a16="http://schemas.microsoft.com/office/drawing/2014/main" id="{864545C3-0F55-4A96-8D3C-C36A23286DD6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353" y="964"/>
                            <a:ext cx="395" cy="42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2314" name="Object 10">
                <a:extLst>
                  <a:ext uri="{FF2B5EF4-FFF2-40B4-BE49-F238E27FC236}">
                    <a16:creationId xmlns:a16="http://schemas.microsoft.com/office/drawing/2014/main" id="{B37325F6-7DD2-4DD8-9217-EED04F6130C0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334" y="1204"/>
              <a:ext cx="375" cy="45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90777" name="公式" r:id="rId13" imgW="114376" imgH="152468" progId="Equation.3">
                      <p:embed/>
                    </p:oleObj>
                  </mc:Choice>
                  <mc:Fallback>
                    <p:oleObj name="公式" r:id="rId13" imgW="114376" imgH="152468" progId="Equation.3">
                      <p:embed/>
                      <p:pic>
                        <p:nvPicPr>
                          <p:cNvPr id="12314" name="Object 10">
                            <a:extLst>
                              <a:ext uri="{FF2B5EF4-FFF2-40B4-BE49-F238E27FC236}">
                                <a16:creationId xmlns:a16="http://schemas.microsoft.com/office/drawing/2014/main" id="{B37325F6-7DD2-4DD8-9217-EED04F6130C0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334" y="1204"/>
                            <a:ext cx="375" cy="45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2315" name="Object 11">
                <a:extLst>
                  <a:ext uri="{FF2B5EF4-FFF2-40B4-BE49-F238E27FC236}">
                    <a16:creationId xmlns:a16="http://schemas.microsoft.com/office/drawing/2014/main" id="{902CBF00-5234-4EC7-B76E-6CD0799915A8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370" y="1696"/>
              <a:ext cx="375" cy="45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90778" name="公式" r:id="rId15" imgW="114376" imgH="152468" progId="Equation.3">
                      <p:embed/>
                    </p:oleObj>
                  </mc:Choice>
                  <mc:Fallback>
                    <p:oleObj name="公式" r:id="rId15" imgW="114376" imgH="152468" progId="Equation.3">
                      <p:embed/>
                      <p:pic>
                        <p:nvPicPr>
                          <p:cNvPr id="12315" name="Object 11">
                            <a:extLst>
                              <a:ext uri="{FF2B5EF4-FFF2-40B4-BE49-F238E27FC236}">
                                <a16:creationId xmlns:a16="http://schemas.microsoft.com/office/drawing/2014/main" id="{902CBF00-5234-4EC7-B76E-6CD0799915A8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370" y="1696"/>
                            <a:ext cx="375" cy="45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2316" name="Object 12">
                <a:extLst>
                  <a:ext uri="{FF2B5EF4-FFF2-40B4-BE49-F238E27FC236}">
                    <a16:creationId xmlns:a16="http://schemas.microsoft.com/office/drawing/2014/main" id="{931B54DD-E07E-4105-A823-5814C31EBA1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346" y="3004"/>
              <a:ext cx="375" cy="45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90779" name="公式" r:id="rId17" imgW="114376" imgH="152468" progId="Equation.3">
                      <p:embed/>
                    </p:oleObj>
                  </mc:Choice>
                  <mc:Fallback>
                    <p:oleObj name="公式" r:id="rId17" imgW="114376" imgH="152468" progId="Equation.3">
                      <p:embed/>
                      <p:pic>
                        <p:nvPicPr>
                          <p:cNvPr id="12316" name="Object 12">
                            <a:extLst>
                              <a:ext uri="{FF2B5EF4-FFF2-40B4-BE49-F238E27FC236}">
                                <a16:creationId xmlns:a16="http://schemas.microsoft.com/office/drawing/2014/main" id="{931B54DD-E07E-4105-A823-5814C31EBA1C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346" y="3004"/>
                            <a:ext cx="375" cy="45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2317" name="Object 13">
                <a:extLst>
                  <a:ext uri="{FF2B5EF4-FFF2-40B4-BE49-F238E27FC236}">
                    <a16:creationId xmlns:a16="http://schemas.microsoft.com/office/drawing/2014/main" id="{C373DD46-C066-4BC4-9BD7-14CBAA899428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365" y="1468"/>
              <a:ext cx="395" cy="42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90780" name="公式" r:id="rId19" imgW="133337" imgH="152468" progId="Equation.3">
                      <p:embed/>
                    </p:oleObj>
                  </mc:Choice>
                  <mc:Fallback>
                    <p:oleObj name="公式" r:id="rId19" imgW="133337" imgH="152468" progId="Equation.3">
                      <p:embed/>
                      <p:pic>
                        <p:nvPicPr>
                          <p:cNvPr id="12317" name="Object 13">
                            <a:extLst>
                              <a:ext uri="{FF2B5EF4-FFF2-40B4-BE49-F238E27FC236}">
                                <a16:creationId xmlns:a16="http://schemas.microsoft.com/office/drawing/2014/main" id="{C373DD46-C066-4BC4-9BD7-14CBAA899428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365" y="1468"/>
                            <a:ext cx="395" cy="42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2318" name="Object 14">
                <a:extLst>
                  <a:ext uri="{FF2B5EF4-FFF2-40B4-BE49-F238E27FC236}">
                    <a16:creationId xmlns:a16="http://schemas.microsoft.com/office/drawing/2014/main" id="{ACFD697F-FBC8-4001-9657-2C1F14906FBF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365" y="2764"/>
              <a:ext cx="395" cy="42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90781" name="公式" r:id="rId21" imgW="133337" imgH="152468" progId="Equation.3">
                      <p:embed/>
                    </p:oleObj>
                  </mc:Choice>
                  <mc:Fallback>
                    <p:oleObj name="公式" r:id="rId21" imgW="133337" imgH="152468" progId="Equation.3">
                      <p:embed/>
                      <p:pic>
                        <p:nvPicPr>
                          <p:cNvPr id="12318" name="Object 14">
                            <a:extLst>
                              <a:ext uri="{FF2B5EF4-FFF2-40B4-BE49-F238E27FC236}">
                                <a16:creationId xmlns:a16="http://schemas.microsoft.com/office/drawing/2014/main" id="{ACFD697F-FBC8-4001-9657-2C1F14906FBF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365" y="2764"/>
                            <a:ext cx="395" cy="42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12308" name="Object 7">
              <a:extLst>
                <a:ext uri="{FF2B5EF4-FFF2-40B4-BE49-F238E27FC236}">
                  <a16:creationId xmlns:a16="http://schemas.microsoft.com/office/drawing/2014/main" id="{9B2C9435-9239-470A-9A1F-1A2BE67C78B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840" y="2320"/>
            <a:ext cx="605" cy="3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0782" name="公式" r:id="rId23" imgW="238233" imgH="114198" progId="Equation.3">
                    <p:embed/>
                  </p:oleObj>
                </mc:Choice>
                <mc:Fallback>
                  <p:oleObj name="公式" r:id="rId23" imgW="238233" imgH="114198" progId="Equation.3">
                    <p:embed/>
                    <p:pic>
                      <p:nvPicPr>
                        <p:cNvPr id="12308" name="Object 7">
                          <a:extLst>
                            <a:ext uri="{FF2B5EF4-FFF2-40B4-BE49-F238E27FC236}">
                              <a16:creationId xmlns:a16="http://schemas.microsoft.com/office/drawing/2014/main" id="{9B2C9435-9239-470A-9A1F-1A2BE67C78B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0" y="2320"/>
                          <a:ext cx="605" cy="3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09" name="Object 8">
              <a:extLst>
                <a:ext uri="{FF2B5EF4-FFF2-40B4-BE49-F238E27FC236}">
                  <a16:creationId xmlns:a16="http://schemas.microsoft.com/office/drawing/2014/main" id="{EADFED1F-87CD-4950-AFB4-68B75793C67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519" y="2258"/>
            <a:ext cx="760" cy="4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0783" name="公式" r:id="rId25" imgW="314382" imgH="152468" progId="Equation.3">
                    <p:embed/>
                  </p:oleObj>
                </mc:Choice>
                <mc:Fallback>
                  <p:oleObj name="公式" r:id="rId25" imgW="314382" imgH="152468" progId="Equation.3">
                    <p:embed/>
                    <p:pic>
                      <p:nvPicPr>
                        <p:cNvPr id="12309" name="Object 8">
                          <a:extLst>
                            <a:ext uri="{FF2B5EF4-FFF2-40B4-BE49-F238E27FC236}">
                              <a16:creationId xmlns:a16="http://schemas.microsoft.com/office/drawing/2014/main" id="{EADFED1F-87CD-4950-AFB4-68B75793C67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19" y="2258"/>
                          <a:ext cx="760" cy="4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10" name="AutoShape 39">
              <a:extLst>
                <a:ext uri="{FF2B5EF4-FFF2-40B4-BE49-F238E27FC236}">
                  <a16:creationId xmlns:a16="http://schemas.microsoft.com/office/drawing/2014/main" id="{ED9039AF-A758-420F-B888-F4563BC766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56" y="2628"/>
              <a:ext cx="180" cy="360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 w="12699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vert="eaVert"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0"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2311" name="AutoShape 40">
              <a:extLst>
                <a:ext uri="{FF2B5EF4-FFF2-40B4-BE49-F238E27FC236}">
                  <a16:creationId xmlns:a16="http://schemas.microsoft.com/office/drawing/2014/main" id="{0D6D9E9C-45DC-4A8C-AC30-BDF52BEE2D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60" y="2652"/>
              <a:ext cx="156" cy="564"/>
            </a:xfrm>
            <a:prstGeom prst="downArrow">
              <a:avLst>
                <a:gd name="adj1" fmla="val 50000"/>
                <a:gd name="adj2" fmla="val 90385"/>
              </a:avLst>
            </a:prstGeom>
            <a:solidFill>
              <a:srgbClr val="FFFF00"/>
            </a:solidFill>
            <a:ln w="12699">
              <a:solidFill>
                <a:srgbClr val="FF3300"/>
              </a:solidFill>
              <a:miter lim="800000"/>
              <a:headEnd type="none" w="sm" len="sm"/>
              <a:tailEnd type="none" w="sm" len="sm"/>
            </a:ln>
          </p:spPr>
          <p:txBody>
            <a:bodyPr vert="eaVert"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0" lang="zh-CN" altLang="en-US">
                <a:solidFill>
                  <a:schemeClr val="bg1"/>
                </a:solidFill>
              </a:endParaRPr>
            </a:p>
          </p:txBody>
        </p:sp>
      </p:grpSp>
      <p:graphicFrame>
        <p:nvGraphicFramePr>
          <p:cNvPr id="93227" name="Object 5">
            <a:extLst>
              <a:ext uri="{FF2B5EF4-FFF2-40B4-BE49-F238E27FC236}">
                <a16:creationId xmlns:a16="http://schemas.microsoft.com/office/drawing/2014/main" id="{3F1E11F3-A605-4566-8422-C2D9BFACCE1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14875" y="2214563"/>
          <a:ext cx="1554163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0784" name="公式" r:id="rId27" imgW="552310" imgH="133486" progId="Equation.3">
                  <p:embed/>
                </p:oleObj>
              </mc:Choice>
              <mc:Fallback>
                <p:oleObj name="公式" r:id="rId27" imgW="552310" imgH="133486" progId="Equation.3">
                  <p:embed/>
                  <p:pic>
                    <p:nvPicPr>
                      <p:cNvPr id="93227" name="Object 5">
                        <a:extLst>
                          <a:ext uri="{FF2B5EF4-FFF2-40B4-BE49-F238E27FC236}">
                            <a16:creationId xmlns:a16="http://schemas.microsoft.com/office/drawing/2014/main" id="{3F1E11F3-A605-4566-8422-C2D9BFACCE1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4875" y="2214563"/>
                        <a:ext cx="1554163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228" name="Text Box 44">
            <a:extLst>
              <a:ext uri="{FF2B5EF4-FFF2-40B4-BE49-F238E27FC236}">
                <a16:creationId xmlns:a16="http://schemas.microsoft.com/office/drawing/2014/main" id="{3B5A2498-9160-491E-9F16-76AFCE1C7D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813" y="2928938"/>
            <a:ext cx="56578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0" lang="zh-CN" altLang="en-US">
                <a:solidFill>
                  <a:schemeClr val="bg1"/>
                </a:solidFill>
              </a:rPr>
              <a:t>最小光学厚度为</a:t>
            </a:r>
          </a:p>
        </p:txBody>
      </p:sp>
      <p:graphicFrame>
        <p:nvGraphicFramePr>
          <p:cNvPr id="93229" name="Object 6">
            <a:extLst>
              <a:ext uri="{FF2B5EF4-FFF2-40B4-BE49-F238E27FC236}">
                <a16:creationId xmlns:a16="http://schemas.microsoft.com/office/drawing/2014/main" id="{AC80ECAA-7E38-405A-983F-C3F443491A1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29000" y="2857500"/>
          <a:ext cx="1819275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0785" name="公式" r:id="rId29" imgW="657206" imgH="152468" progId="Equation.3">
                  <p:embed/>
                </p:oleObj>
              </mc:Choice>
              <mc:Fallback>
                <p:oleObj name="公式" r:id="rId29" imgW="657206" imgH="152468" progId="Equation.3">
                  <p:embed/>
                  <p:pic>
                    <p:nvPicPr>
                      <p:cNvPr id="93229" name="Object 6">
                        <a:extLst>
                          <a:ext uri="{FF2B5EF4-FFF2-40B4-BE49-F238E27FC236}">
                            <a16:creationId xmlns:a16="http://schemas.microsoft.com/office/drawing/2014/main" id="{AC80ECAA-7E38-405A-983F-C3F443491A1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2857500"/>
                        <a:ext cx="1819275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" name="Text Box 2">
            <a:extLst>
              <a:ext uri="{FF2B5EF4-FFF2-40B4-BE49-F238E27FC236}">
                <a16:creationId xmlns:a16="http://schemas.microsoft.com/office/drawing/2014/main" id="{47BF816F-8A59-4845-A98E-B32AD7E208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938" y="3609975"/>
            <a:ext cx="17859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0" lang="zh-CN" altLang="en-US">
                <a:solidFill>
                  <a:schemeClr val="bg1"/>
                </a:solidFill>
              </a:rPr>
              <a:t>第二层</a:t>
            </a:r>
            <a:endParaRPr kumimoji="0" lang="zh-CN" altLang="en-US" b="0">
              <a:solidFill>
                <a:schemeClr val="bg1"/>
              </a:solidFill>
            </a:endParaRPr>
          </a:p>
        </p:txBody>
      </p:sp>
      <p:graphicFrame>
        <p:nvGraphicFramePr>
          <p:cNvPr id="43" name="Object 16">
            <a:extLst>
              <a:ext uri="{FF2B5EF4-FFF2-40B4-BE49-F238E27FC236}">
                <a16:creationId xmlns:a16="http://schemas.microsoft.com/office/drawing/2014/main" id="{B19A511A-3B6D-4687-ACE6-62FFC8B5998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98650" y="3568700"/>
          <a:ext cx="2601913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0786" name="公式" r:id="rId31" imgW="1028776" imgH="152468" progId="Equation.3">
                  <p:embed/>
                </p:oleObj>
              </mc:Choice>
              <mc:Fallback>
                <p:oleObj name="公式" r:id="rId31" imgW="1028776" imgH="152468" progId="Equation.3">
                  <p:embed/>
                  <p:pic>
                    <p:nvPicPr>
                      <p:cNvPr id="43" name="Object 16">
                        <a:extLst>
                          <a:ext uri="{FF2B5EF4-FFF2-40B4-BE49-F238E27FC236}">
                            <a16:creationId xmlns:a16="http://schemas.microsoft.com/office/drawing/2014/main" id="{B19A511A-3B6D-4687-ACE6-62FFC8B5998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8650" y="3568700"/>
                        <a:ext cx="2601913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Object 17">
            <a:extLst>
              <a:ext uri="{FF2B5EF4-FFF2-40B4-BE49-F238E27FC236}">
                <a16:creationId xmlns:a16="http://schemas.microsoft.com/office/drawing/2014/main" id="{8A9F184C-734D-4A49-8398-76FB543A564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14875" y="3568700"/>
          <a:ext cx="1550988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0787" name="公式" r:id="rId33" imgW="552310" imgH="133486" progId="Equation.3">
                  <p:embed/>
                </p:oleObj>
              </mc:Choice>
              <mc:Fallback>
                <p:oleObj name="公式" r:id="rId33" imgW="552310" imgH="133486" progId="Equation.3">
                  <p:embed/>
                  <p:pic>
                    <p:nvPicPr>
                      <p:cNvPr id="44" name="Object 17">
                        <a:extLst>
                          <a:ext uri="{FF2B5EF4-FFF2-40B4-BE49-F238E27FC236}">
                            <a16:creationId xmlns:a16="http://schemas.microsoft.com/office/drawing/2014/main" id="{8A9F184C-734D-4A49-8398-76FB543A564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4875" y="3568700"/>
                        <a:ext cx="1550988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" name="Text Box 5">
            <a:extLst>
              <a:ext uri="{FF2B5EF4-FFF2-40B4-BE49-F238E27FC236}">
                <a16:creationId xmlns:a16="http://schemas.microsoft.com/office/drawing/2014/main" id="{28D59064-DC1C-44E6-9D7A-211BF6C886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813" y="4286250"/>
            <a:ext cx="51435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0" lang="zh-CN" altLang="en-US">
                <a:solidFill>
                  <a:schemeClr val="bg1"/>
                </a:solidFill>
              </a:rPr>
              <a:t>最小光学厚度为</a:t>
            </a:r>
          </a:p>
        </p:txBody>
      </p:sp>
      <p:graphicFrame>
        <p:nvGraphicFramePr>
          <p:cNvPr id="46" name="Object 18">
            <a:extLst>
              <a:ext uri="{FF2B5EF4-FFF2-40B4-BE49-F238E27FC236}">
                <a16:creationId xmlns:a16="http://schemas.microsoft.com/office/drawing/2014/main" id="{034CA7CA-B1D7-4055-B82E-9B2BDE5A7CF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00438" y="4238625"/>
          <a:ext cx="1676400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0788" name="公式" r:id="rId35" imgW="647725" imgH="152468" progId="Equation.3">
                  <p:embed/>
                </p:oleObj>
              </mc:Choice>
              <mc:Fallback>
                <p:oleObj name="公式" r:id="rId35" imgW="647725" imgH="152468" progId="Equation.3">
                  <p:embed/>
                  <p:pic>
                    <p:nvPicPr>
                      <p:cNvPr id="46" name="Object 18">
                        <a:extLst>
                          <a:ext uri="{FF2B5EF4-FFF2-40B4-BE49-F238E27FC236}">
                            <a16:creationId xmlns:a16="http://schemas.microsoft.com/office/drawing/2014/main" id="{034CA7CA-B1D7-4055-B82E-9B2BDE5A7CF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0438" y="4238625"/>
                        <a:ext cx="1676400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" name="Text Box 7">
            <a:extLst>
              <a:ext uri="{FF2B5EF4-FFF2-40B4-BE49-F238E27FC236}">
                <a16:creationId xmlns:a16="http://schemas.microsoft.com/office/drawing/2014/main" id="{1FFFBE8F-A19B-4A4C-BF20-26B7D4E94C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063" y="5357813"/>
            <a:ext cx="8608439" cy="461962"/>
          </a:xfrm>
          <a:prstGeom prst="rect">
            <a:avLst/>
          </a:prstGeom>
          <a:noFill/>
          <a:ln w="12699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ts val="0"/>
              </a:spcBef>
              <a:buClr>
                <a:srgbClr val="FFFF00"/>
              </a:buClr>
              <a:buSzPct val="75000"/>
              <a:buFont typeface="Monotype Sorts" pitchFamily="2" charset="2"/>
              <a:buChar char="l"/>
              <a:defRPr/>
            </a:pPr>
            <a:r>
              <a:rPr kumimoji="0" lang="zh-CN" altLang="en-US" dirty="0">
                <a:solidFill>
                  <a:schemeClr val="bg1"/>
                </a:solidFill>
              </a:rPr>
              <a:t> 每层膜的光学厚度都为 </a:t>
            </a:r>
            <a:r>
              <a:rPr kumimoji="0" lang="zh-CN" altLang="en-US" dirty="0">
                <a:solidFill>
                  <a:srgbClr val="FFFF00"/>
                </a:solidFill>
                <a:latin typeface="+mn-lt"/>
                <a:sym typeface="Symbol" pitchFamily="18" charset="2"/>
              </a:rPr>
              <a:t></a:t>
            </a:r>
            <a:r>
              <a:rPr kumimoji="0" lang="en-US" altLang="zh-CN" dirty="0">
                <a:solidFill>
                  <a:srgbClr val="FFFF00"/>
                </a:solidFill>
                <a:latin typeface="+mn-lt"/>
                <a:sym typeface="Symbol" pitchFamily="18" charset="2"/>
              </a:rPr>
              <a:t>/4</a:t>
            </a:r>
            <a:r>
              <a:rPr kumimoji="0" lang="en-US" altLang="zh-CN" dirty="0">
                <a:solidFill>
                  <a:srgbClr val="FFFF00"/>
                </a:solidFill>
                <a:sym typeface="Symbol" pitchFamily="18" charset="2"/>
              </a:rPr>
              <a:t> </a:t>
            </a:r>
            <a:r>
              <a:rPr kumimoji="0" lang="zh-CN" altLang="en-US" dirty="0">
                <a:solidFill>
                  <a:schemeClr val="bg1"/>
                </a:solidFill>
                <a:sym typeface="Symbol" pitchFamily="18" charset="2"/>
              </a:rPr>
              <a:t>时，得到</a:t>
            </a:r>
            <a:r>
              <a:rPr kumimoji="0" lang="zh-CN" altLang="en-US" dirty="0">
                <a:solidFill>
                  <a:srgbClr val="FFFF00"/>
                </a:solidFill>
                <a:sym typeface="Symbol" pitchFamily="18" charset="2"/>
              </a:rPr>
              <a:t>该波长的高反射膜</a:t>
            </a:r>
            <a:endParaRPr kumimoji="0" lang="zh-CN" altLang="en-US" b="0" dirty="0">
              <a:solidFill>
                <a:srgbClr val="FFFF00"/>
              </a:solidFill>
            </a:endParaRPr>
          </a:p>
        </p:txBody>
      </p:sp>
      <p:sp>
        <p:nvSpPr>
          <p:cNvPr id="12306" name="灯片编号占位符 1">
            <a:extLst>
              <a:ext uri="{FF2B5EF4-FFF2-40B4-BE49-F238E27FC236}">
                <a16:creationId xmlns:a16="http://schemas.microsoft.com/office/drawing/2014/main" id="{641787C7-3FFB-4848-86D1-0C55FB000F9B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D679D27-B936-49DE-AF27-F2D37A495A64}" type="slidenum">
              <a:rPr lang="en-US" altLang="zh-CN" b="0">
                <a:solidFill>
                  <a:srgbClr val="FF00FF"/>
                </a:solidFill>
              </a:rPr>
              <a:pPr eaLnBrk="1" hangingPunct="1"/>
              <a:t>10</a:t>
            </a:fld>
            <a:r>
              <a:rPr lang="en-US" altLang="zh-CN" b="0">
                <a:solidFill>
                  <a:srgbClr val="FF00FF"/>
                </a:solidFill>
              </a:rPr>
              <a:t>/20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3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93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93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32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32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3219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FFCC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3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3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93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93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93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186" grpId="0" autoUpdateAnimBg="0"/>
      <p:bldP spid="93219" grpId="0" autoUpdateAnimBg="0"/>
      <p:bldP spid="93220" grpId="0" autoUpdateAnimBg="0"/>
      <p:bldP spid="93228" grpId="0" autoUpdateAnimBg="0"/>
      <p:bldP spid="42" grpId="0" autoUpdateAnimBg="0"/>
      <p:bldP spid="45" grpId="0" autoUpdateAnimBg="0"/>
      <p:bldP spid="47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2">
            <a:extLst>
              <a:ext uri="{FF2B5EF4-FFF2-40B4-BE49-F238E27FC236}">
                <a16:creationId xmlns:a16="http://schemas.microsoft.com/office/drawing/2014/main" id="{DBD77755-F31C-483A-A39F-A5E63ED46DCF}"/>
              </a:ext>
            </a:extLst>
          </p:cNvPr>
          <p:cNvGrpSpPr>
            <a:grpSpLocks/>
          </p:cNvGrpSpPr>
          <p:nvPr/>
        </p:nvGrpSpPr>
        <p:grpSpPr bwMode="auto">
          <a:xfrm>
            <a:off x="5886451" y="2349500"/>
            <a:ext cx="2660651" cy="2592388"/>
            <a:chOff x="3708" y="1480"/>
            <a:chExt cx="1676" cy="1633"/>
          </a:xfrm>
        </p:grpSpPr>
        <p:sp>
          <p:nvSpPr>
            <p:cNvPr id="13332" name="Rectangle 22">
              <a:extLst>
                <a:ext uri="{FF2B5EF4-FFF2-40B4-BE49-F238E27FC236}">
                  <a16:creationId xmlns:a16="http://schemas.microsoft.com/office/drawing/2014/main" id="{285A64D2-DCFA-41C3-8C97-14B92649EE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5" y="2532"/>
              <a:ext cx="1225" cy="342"/>
            </a:xfrm>
            <a:prstGeom prst="rect">
              <a:avLst/>
            </a:prstGeom>
            <a:solidFill>
              <a:srgbClr val="00CC99">
                <a:alpha val="3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0"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3333" name="Line 3">
              <a:extLst>
                <a:ext uri="{FF2B5EF4-FFF2-40B4-BE49-F238E27FC236}">
                  <a16:creationId xmlns:a16="http://schemas.microsoft.com/office/drawing/2014/main" id="{670155C8-2790-451D-AC6C-ACC1D9711A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8" y="2534"/>
              <a:ext cx="1248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4" name="Line 4">
              <a:extLst>
                <a:ext uri="{FF2B5EF4-FFF2-40B4-BE49-F238E27FC236}">
                  <a16:creationId xmlns:a16="http://schemas.microsoft.com/office/drawing/2014/main" id="{974060BA-F5C2-4E78-884B-DD362CD521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8" y="2903"/>
              <a:ext cx="1248" cy="0"/>
            </a:xfrm>
            <a:prstGeom prst="line">
              <a:avLst/>
            </a:prstGeom>
            <a:noFill/>
            <a:ln w="101600">
              <a:solidFill>
                <a:srgbClr val="FFFF00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5" name="Line 5">
              <a:extLst>
                <a:ext uri="{FF2B5EF4-FFF2-40B4-BE49-F238E27FC236}">
                  <a16:creationId xmlns:a16="http://schemas.microsoft.com/office/drawing/2014/main" id="{264233BA-B1B9-4795-8B01-51B24AB303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35" y="1710"/>
              <a:ext cx="512" cy="824"/>
            </a:xfrm>
            <a:prstGeom prst="line">
              <a:avLst/>
            </a:prstGeom>
            <a:noFill/>
            <a:ln w="19050">
              <a:solidFill>
                <a:srgbClr val="62A1F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6" name="Line 6">
              <a:extLst>
                <a:ext uri="{FF2B5EF4-FFF2-40B4-BE49-F238E27FC236}">
                  <a16:creationId xmlns:a16="http://schemas.microsoft.com/office/drawing/2014/main" id="{CF44EFD4-237C-4509-978B-1802188C76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47" y="1680"/>
              <a:ext cx="0" cy="854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7" name="Line 7">
              <a:extLst>
                <a:ext uri="{FF2B5EF4-FFF2-40B4-BE49-F238E27FC236}">
                  <a16:creationId xmlns:a16="http://schemas.microsoft.com/office/drawing/2014/main" id="{38E6056F-BC10-4889-AC4B-2BEA7D452D3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47" y="1665"/>
              <a:ext cx="478" cy="869"/>
            </a:xfrm>
            <a:prstGeom prst="line">
              <a:avLst/>
            </a:prstGeom>
            <a:noFill/>
            <a:ln w="190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8" name="Line 8">
              <a:extLst>
                <a:ext uri="{FF2B5EF4-FFF2-40B4-BE49-F238E27FC236}">
                  <a16:creationId xmlns:a16="http://schemas.microsoft.com/office/drawing/2014/main" id="{1E7D4766-84B5-47C2-A0E5-1C37CE9166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31" y="1710"/>
              <a:ext cx="482" cy="824"/>
            </a:xfrm>
            <a:prstGeom prst="line">
              <a:avLst/>
            </a:prstGeom>
            <a:noFill/>
            <a:ln w="19050">
              <a:solidFill>
                <a:srgbClr val="F9C42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9" name="Line 9">
              <a:extLst>
                <a:ext uri="{FF2B5EF4-FFF2-40B4-BE49-F238E27FC236}">
                  <a16:creationId xmlns:a16="http://schemas.microsoft.com/office/drawing/2014/main" id="{4513FB9C-CDB6-4451-8B4E-858C426E49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47" y="2534"/>
              <a:ext cx="142" cy="335"/>
            </a:xfrm>
            <a:prstGeom prst="line">
              <a:avLst/>
            </a:prstGeom>
            <a:noFill/>
            <a:ln w="19050">
              <a:solidFill>
                <a:srgbClr val="F9C42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40" name="Line 10">
              <a:extLst>
                <a:ext uri="{FF2B5EF4-FFF2-40B4-BE49-F238E27FC236}">
                  <a16:creationId xmlns:a16="http://schemas.microsoft.com/office/drawing/2014/main" id="{00898251-86E6-42B3-967F-A674B379025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89" y="2534"/>
              <a:ext cx="142" cy="335"/>
            </a:xfrm>
            <a:prstGeom prst="line">
              <a:avLst/>
            </a:prstGeom>
            <a:noFill/>
            <a:ln w="19050">
              <a:solidFill>
                <a:srgbClr val="F9C42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3341" name="Object 5">
              <a:extLst>
                <a:ext uri="{FF2B5EF4-FFF2-40B4-BE49-F238E27FC236}">
                  <a16:creationId xmlns:a16="http://schemas.microsoft.com/office/drawing/2014/main" id="{97ABADD5-5ED5-4125-A176-2502DE3E2FEC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3743" y="2570"/>
            <a:ext cx="159" cy="1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907" name="公式" r:id="rId3" imgW="190525" imgH="247684" progId="Equation.3">
                    <p:embed/>
                  </p:oleObj>
                </mc:Choice>
                <mc:Fallback>
                  <p:oleObj name="公式" r:id="rId3" imgW="190525" imgH="247684" progId="Equation.3">
                    <p:embed/>
                    <p:pic>
                      <p:nvPicPr>
                        <p:cNvPr id="13341" name="Object 5">
                          <a:extLst>
                            <a:ext uri="{FF2B5EF4-FFF2-40B4-BE49-F238E27FC236}">
                              <a16:creationId xmlns:a16="http://schemas.microsoft.com/office/drawing/2014/main" id="{97ABADD5-5ED5-4125-A176-2502DE3E2FEC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3" y="2570"/>
                          <a:ext cx="159" cy="1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33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42" name="Line 12">
              <a:extLst>
                <a:ext uri="{FF2B5EF4-FFF2-40B4-BE49-F238E27FC236}">
                  <a16:creationId xmlns:a16="http://schemas.microsoft.com/office/drawing/2014/main" id="{0D4F8732-C1BD-488D-A43C-C013CFECE2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74" y="2115"/>
              <a:ext cx="29" cy="30"/>
            </a:xfrm>
            <a:prstGeom prst="line">
              <a:avLst/>
            </a:prstGeom>
            <a:noFill/>
            <a:ln w="19050">
              <a:solidFill>
                <a:srgbClr val="62A1FE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3343" name="Object 6">
              <a:extLst>
                <a:ext uri="{FF2B5EF4-FFF2-40B4-BE49-F238E27FC236}">
                  <a16:creationId xmlns:a16="http://schemas.microsoft.com/office/drawing/2014/main" id="{9B20DB36-43DA-4FA1-9CC4-21CF0BCAABF9}"/>
                </a:ext>
              </a:extLst>
            </p:cNvPr>
            <p:cNvGraphicFramePr>
              <a:graphicFrameLocks/>
            </p:cNvGraphicFramePr>
            <p:nvPr>
              <p:extLst/>
            </p:nvPr>
          </p:nvGraphicFramePr>
          <p:xfrm>
            <a:off x="4649" y="2331"/>
            <a:ext cx="735" cy="1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908" name="公式" r:id="rId5" imgW="1104925" imgH="247684" progId="Equation.3">
                    <p:embed/>
                  </p:oleObj>
                </mc:Choice>
                <mc:Fallback>
                  <p:oleObj name="公式" r:id="rId5" imgW="1104925" imgH="247684" progId="Equation.3">
                    <p:embed/>
                    <p:pic>
                      <p:nvPicPr>
                        <p:cNvPr id="13343" name="Object 6">
                          <a:extLst>
                            <a:ext uri="{FF2B5EF4-FFF2-40B4-BE49-F238E27FC236}">
                              <a16:creationId xmlns:a16="http://schemas.microsoft.com/office/drawing/2014/main" id="{9B20DB36-43DA-4FA1-9CC4-21CF0BCAABF9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49" y="2331"/>
                          <a:ext cx="735" cy="1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33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44" name="Object 7">
              <a:extLst>
                <a:ext uri="{FF2B5EF4-FFF2-40B4-BE49-F238E27FC236}">
                  <a16:creationId xmlns:a16="http://schemas.microsoft.com/office/drawing/2014/main" id="{3E22AEF9-798B-4F06-88B4-21D4D2533C36}"/>
                </a:ext>
              </a:extLst>
            </p:cNvPr>
            <p:cNvGraphicFramePr>
              <a:graphicFrameLocks/>
            </p:cNvGraphicFramePr>
            <p:nvPr>
              <p:extLst/>
            </p:nvPr>
          </p:nvGraphicFramePr>
          <p:xfrm>
            <a:off x="4645" y="2596"/>
            <a:ext cx="730" cy="1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909" name="公式" r:id="rId7" imgW="1085965" imgH="247684" progId="Equation.3">
                    <p:embed/>
                  </p:oleObj>
                </mc:Choice>
                <mc:Fallback>
                  <p:oleObj name="公式" r:id="rId7" imgW="1085965" imgH="247684" progId="Equation.3">
                    <p:embed/>
                    <p:pic>
                      <p:nvPicPr>
                        <p:cNvPr id="13344" name="Object 7">
                          <a:extLst>
                            <a:ext uri="{FF2B5EF4-FFF2-40B4-BE49-F238E27FC236}">
                              <a16:creationId xmlns:a16="http://schemas.microsoft.com/office/drawing/2014/main" id="{3E22AEF9-798B-4F06-88B4-21D4D2533C36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45" y="2596"/>
                          <a:ext cx="730" cy="1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33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45" name="Object 8">
              <a:extLst>
                <a:ext uri="{FF2B5EF4-FFF2-40B4-BE49-F238E27FC236}">
                  <a16:creationId xmlns:a16="http://schemas.microsoft.com/office/drawing/2014/main" id="{F7A19EB5-EE26-4DE5-A44F-7490BFD7800B}"/>
                </a:ext>
              </a:extLst>
            </p:cNvPr>
            <p:cNvGraphicFramePr>
              <a:graphicFrameLocks/>
            </p:cNvGraphicFramePr>
            <p:nvPr>
              <p:extLst/>
            </p:nvPr>
          </p:nvGraphicFramePr>
          <p:xfrm>
            <a:off x="4652" y="2914"/>
            <a:ext cx="723" cy="1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910" name="公式" r:id="rId9" imgW="1085965" imgH="247684" progId="Equation.3">
                    <p:embed/>
                  </p:oleObj>
                </mc:Choice>
                <mc:Fallback>
                  <p:oleObj name="公式" r:id="rId9" imgW="1085965" imgH="247684" progId="Equation.3">
                    <p:embed/>
                    <p:pic>
                      <p:nvPicPr>
                        <p:cNvPr id="13345" name="Object 8">
                          <a:extLst>
                            <a:ext uri="{FF2B5EF4-FFF2-40B4-BE49-F238E27FC236}">
                              <a16:creationId xmlns:a16="http://schemas.microsoft.com/office/drawing/2014/main" id="{F7A19EB5-EE26-4DE5-A44F-7490BFD7800B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52" y="2914"/>
                          <a:ext cx="723" cy="1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33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46" name="Line 16">
              <a:extLst>
                <a:ext uri="{FF2B5EF4-FFF2-40B4-BE49-F238E27FC236}">
                  <a16:creationId xmlns:a16="http://schemas.microsoft.com/office/drawing/2014/main" id="{406EBDDC-F314-4738-9942-3AFA088A45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05" y="2686"/>
              <a:ext cx="28" cy="61"/>
            </a:xfrm>
            <a:prstGeom prst="line">
              <a:avLst/>
            </a:prstGeom>
            <a:noFill/>
            <a:ln w="19050">
              <a:solidFill>
                <a:srgbClr val="F9C42D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47" name="Line 17">
              <a:extLst>
                <a:ext uri="{FF2B5EF4-FFF2-40B4-BE49-F238E27FC236}">
                  <a16:creationId xmlns:a16="http://schemas.microsoft.com/office/drawing/2014/main" id="{8B0C98D8-332A-45E6-9324-1A8B0C55EC6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67" y="2625"/>
              <a:ext cx="28" cy="61"/>
            </a:xfrm>
            <a:prstGeom prst="line">
              <a:avLst/>
            </a:prstGeom>
            <a:noFill/>
            <a:ln w="19050">
              <a:solidFill>
                <a:srgbClr val="F9C42D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48" name="Line 18">
              <a:extLst>
                <a:ext uri="{FF2B5EF4-FFF2-40B4-BE49-F238E27FC236}">
                  <a16:creationId xmlns:a16="http://schemas.microsoft.com/office/drawing/2014/main" id="{5266ADA0-3530-4184-BE43-5CECE863451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45" y="1935"/>
              <a:ext cx="28" cy="61"/>
            </a:xfrm>
            <a:prstGeom prst="line">
              <a:avLst/>
            </a:prstGeom>
            <a:noFill/>
            <a:ln w="19050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49" name="Line 19">
              <a:extLst>
                <a:ext uri="{FF2B5EF4-FFF2-40B4-BE49-F238E27FC236}">
                  <a16:creationId xmlns:a16="http://schemas.microsoft.com/office/drawing/2014/main" id="{8B08CC3B-FDE4-4C8E-9A21-7E1EED1D1AE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71" y="2079"/>
              <a:ext cx="29" cy="61"/>
            </a:xfrm>
            <a:prstGeom prst="line">
              <a:avLst/>
            </a:prstGeom>
            <a:noFill/>
            <a:ln w="19050">
              <a:solidFill>
                <a:srgbClr val="F9C42D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3350" name="Object 9">
              <a:extLst>
                <a:ext uri="{FF2B5EF4-FFF2-40B4-BE49-F238E27FC236}">
                  <a16:creationId xmlns:a16="http://schemas.microsoft.com/office/drawing/2014/main" id="{6B417C5E-C4FC-47C0-B4C1-E062FF0BDCF9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4988" y="1480"/>
            <a:ext cx="199" cy="2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911" name="公式" r:id="rId11" imgW="247714" imgH="352391" progId="Equation.3">
                    <p:embed/>
                  </p:oleObj>
                </mc:Choice>
                <mc:Fallback>
                  <p:oleObj name="公式" r:id="rId11" imgW="247714" imgH="352391" progId="Equation.3">
                    <p:embed/>
                    <p:pic>
                      <p:nvPicPr>
                        <p:cNvPr id="13350" name="Object 9">
                          <a:extLst>
                            <a:ext uri="{FF2B5EF4-FFF2-40B4-BE49-F238E27FC236}">
                              <a16:creationId xmlns:a16="http://schemas.microsoft.com/office/drawing/2014/main" id="{6B417C5E-C4FC-47C0-B4C1-E062FF0BDCF9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88" y="1480"/>
                          <a:ext cx="199" cy="2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33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51" name="Object 10">
              <a:extLst>
                <a:ext uri="{FF2B5EF4-FFF2-40B4-BE49-F238E27FC236}">
                  <a16:creationId xmlns:a16="http://schemas.microsoft.com/office/drawing/2014/main" id="{7BBE8BF6-C65F-4E9C-9988-CB81C84F8540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4531" y="1482"/>
            <a:ext cx="136" cy="2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912" name="公式" r:id="rId13" imgW="152298" imgH="352391" progId="Equation.3">
                    <p:embed/>
                  </p:oleObj>
                </mc:Choice>
                <mc:Fallback>
                  <p:oleObj name="公式" r:id="rId13" imgW="152298" imgH="352391" progId="Equation.3">
                    <p:embed/>
                    <p:pic>
                      <p:nvPicPr>
                        <p:cNvPr id="13351" name="Object 10">
                          <a:extLst>
                            <a:ext uri="{FF2B5EF4-FFF2-40B4-BE49-F238E27FC236}">
                              <a16:creationId xmlns:a16="http://schemas.microsoft.com/office/drawing/2014/main" id="{7BBE8BF6-C65F-4E9C-9988-CB81C84F8540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31" y="1482"/>
                          <a:ext cx="136" cy="2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33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8455" name="Object 2">
            <a:extLst>
              <a:ext uri="{FF2B5EF4-FFF2-40B4-BE49-F238E27FC236}">
                <a16:creationId xmlns:a16="http://schemas.microsoft.com/office/drawing/2014/main" id="{0C531BBE-AB35-4008-91B9-D3F56A6747DD}"/>
              </a:ext>
            </a:extLst>
          </p:cNvPr>
          <p:cNvGraphicFramePr>
            <a:graphicFrameLocks/>
          </p:cNvGraphicFramePr>
          <p:nvPr/>
        </p:nvGraphicFramePr>
        <p:xfrm>
          <a:off x="1042988" y="2997200"/>
          <a:ext cx="4624387" cy="82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913" name="公式" r:id="rId15" imgW="4553039" imgH="762034" progId="Equation.3">
                  <p:embed/>
                </p:oleObj>
              </mc:Choice>
              <mc:Fallback>
                <p:oleObj name="公式" r:id="rId15" imgW="4553039" imgH="762034" progId="Equation.3">
                  <p:embed/>
                  <p:pic>
                    <p:nvPicPr>
                      <p:cNvPr id="18455" name="Object 2">
                        <a:extLst>
                          <a:ext uri="{FF2B5EF4-FFF2-40B4-BE49-F238E27FC236}">
                            <a16:creationId xmlns:a16="http://schemas.microsoft.com/office/drawing/2014/main" id="{0C531BBE-AB35-4008-91B9-D3F56A6747D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2997200"/>
                        <a:ext cx="4624387" cy="823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56" name="Object 3">
            <a:extLst>
              <a:ext uri="{FF2B5EF4-FFF2-40B4-BE49-F238E27FC236}">
                <a16:creationId xmlns:a16="http://schemas.microsoft.com/office/drawing/2014/main" id="{E2DCB633-0344-433B-A09C-C87EB76F519D}"/>
              </a:ext>
            </a:extLst>
          </p:cNvPr>
          <p:cNvGraphicFramePr>
            <a:graphicFrameLocks/>
          </p:cNvGraphicFramePr>
          <p:nvPr/>
        </p:nvGraphicFramePr>
        <p:xfrm>
          <a:off x="1301750" y="4549775"/>
          <a:ext cx="3773488" cy="82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914" name="公式" r:id="rId17" imgW="3705308" imgH="762034" progId="Equation.3">
                  <p:embed/>
                </p:oleObj>
              </mc:Choice>
              <mc:Fallback>
                <p:oleObj name="公式" r:id="rId17" imgW="3705308" imgH="762034" progId="Equation.3">
                  <p:embed/>
                  <p:pic>
                    <p:nvPicPr>
                      <p:cNvPr id="18456" name="Object 3">
                        <a:extLst>
                          <a:ext uri="{FF2B5EF4-FFF2-40B4-BE49-F238E27FC236}">
                            <a16:creationId xmlns:a16="http://schemas.microsoft.com/office/drawing/2014/main" id="{E2DCB633-0344-433B-A09C-C87EB76F519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1750" y="4549775"/>
                        <a:ext cx="3773488" cy="823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57" name="Text Box 25">
            <a:extLst>
              <a:ext uri="{FF2B5EF4-FFF2-40B4-BE49-F238E27FC236}">
                <a16:creationId xmlns:a16="http://schemas.microsoft.com/office/drawing/2014/main" id="{8A228B64-6572-4867-BBEE-7084C1A898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6600" y="214313"/>
            <a:ext cx="8012113" cy="146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5000"/>
              </a:lnSpc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</a:rPr>
              <a:t>波长</a:t>
            </a:r>
            <a:r>
              <a:rPr lang="en-US" altLang="zh-CN">
                <a:solidFill>
                  <a:srgbClr val="66FFFF"/>
                </a:solidFill>
              </a:rPr>
              <a:t>550 nm</a:t>
            </a:r>
            <a:r>
              <a:rPr lang="zh-CN" altLang="en-US">
                <a:solidFill>
                  <a:schemeClr val="bg1"/>
                </a:solidFill>
              </a:rPr>
              <a:t>黄绿光对人眼和照像底片最敏感。要使照像机对此波长反射小，可在照像机镜头上镀一层氟化镁</a:t>
            </a:r>
            <a:r>
              <a:rPr lang="en-US" altLang="zh-CN">
                <a:solidFill>
                  <a:srgbClr val="66FFFF"/>
                </a:solidFill>
              </a:rPr>
              <a:t>MgF</a:t>
            </a:r>
            <a:r>
              <a:rPr lang="en-US" altLang="zh-CN" baseline="-30000">
                <a:solidFill>
                  <a:srgbClr val="66FFFF"/>
                </a:solidFill>
              </a:rPr>
              <a:t>2</a:t>
            </a:r>
            <a:r>
              <a:rPr lang="zh-CN" altLang="en-US">
                <a:solidFill>
                  <a:schemeClr val="bg1"/>
                </a:solidFill>
              </a:rPr>
              <a:t>薄膜，已知氟化镁的折射率 </a:t>
            </a:r>
            <a:r>
              <a:rPr lang="en-US" altLang="zh-CN" i="1">
                <a:solidFill>
                  <a:srgbClr val="66FFFF"/>
                </a:solidFill>
              </a:rPr>
              <a:t>n</a:t>
            </a:r>
            <a:r>
              <a:rPr lang="en-US" altLang="zh-CN">
                <a:solidFill>
                  <a:srgbClr val="66FFFF"/>
                </a:solidFill>
              </a:rPr>
              <a:t>=1.38</a:t>
            </a:r>
            <a:r>
              <a:rPr lang="en-US" altLang="zh-CN">
                <a:solidFill>
                  <a:schemeClr val="bg1"/>
                </a:solidFill>
              </a:rPr>
              <a:t> </a:t>
            </a:r>
            <a:r>
              <a:rPr lang="zh-CN" altLang="en-US">
                <a:solidFill>
                  <a:schemeClr val="bg1"/>
                </a:solidFill>
              </a:rPr>
              <a:t>，玻璃的折射率</a:t>
            </a:r>
            <a:r>
              <a:rPr lang="en-US" altLang="zh-CN" i="1">
                <a:solidFill>
                  <a:srgbClr val="66FFFF"/>
                </a:solidFill>
              </a:rPr>
              <a:t>n</a:t>
            </a:r>
            <a:r>
              <a:rPr lang="en-US" altLang="zh-CN">
                <a:solidFill>
                  <a:srgbClr val="66FFFF"/>
                </a:solidFill>
              </a:rPr>
              <a:t>=1.55</a:t>
            </a:r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18458" name="Text Box 26">
            <a:extLst>
              <a:ext uri="{FF2B5EF4-FFF2-40B4-BE49-F238E27FC236}">
                <a16:creationId xmlns:a16="http://schemas.microsoft.com/office/drawing/2014/main" id="{4F117D87-CE74-4BEB-8484-DD4159261C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9713" y="2420938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EDFE4A"/>
                </a:solidFill>
              </a:rPr>
              <a:t>解 </a:t>
            </a:r>
          </a:p>
        </p:txBody>
      </p:sp>
      <p:sp>
        <p:nvSpPr>
          <p:cNvPr id="18459" name="Text Box 27">
            <a:extLst>
              <a:ext uri="{FF2B5EF4-FFF2-40B4-BE49-F238E27FC236}">
                <a16:creationId xmlns:a16="http://schemas.microsoft.com/office/drawing/2014/main" id="{3F17CC00-7293-4F46-A86C-A24D69DF61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2420938"/>
            <a:ext cx="4038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</a:rPr>
              <a:t>两条反射光干涉减弱条件 </a:t>
            </a:r>
          </a:p>
        </p:txBody>
      </p:sp>
      <p:sp>
        <p:nvSpPr>
          <p:cNvPr id="18460" name="Text Box 28">
            <a:extLst>
              <a:ext uri="{FF2B5EF4-FFF2-40B4-BE49-F238E27FC236}">
                <a16:creationId xmlns:a16="http://schemas.microsoft.com/office/drawing/2014/main" id="{605BA98D-B845-45EF-BE8C-F5AE2FC26F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0888" y="3860800"/>
            <a:ext cx="33924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增透膜的最小厚度 </a:t>
            </a:r>
          </a:p>
        </p:txBody>
      </p:sp>
      <p:sp>
        <p:nvSpPr>
          <p:cNvPr id="18461" name="Text Box 29">
            <a:extLst>
              <a:ext uri="{FF2B5EF4-FFF2-40B4-BE49-F238E27FC236}">
                <a16:creationId xmlns:a16="http://schemas.microsoft.com/office/drawing/2014/main" id="{D778F4AD-22C9-421D-9847-8F6F0ACD97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24013" y="5648325"/>
            <a:ext cx="1304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66FFFF"/>
                </a:solidFill>
                <a:latin typeface="楷体_GB2312" pitchFamily="49" charset="-122"/>
                <a:ea typeface="楷体_GB2312" pitchFamily="49" charset="-122"/>
              </a:rPr>
              <a:t>增反膜 </a:t>
            </a:r>
          </a:p>
        </p:txBody>
      </p:sp>
      <p:grpSp>
        <p:nvGrpSpPr>
          <p:cNvPr id="3" name="组合 38">
            <a:extLst>
              <a:ext uri="{FF2B5EF4-FFF2-40B4-BE49-F238E27FC236}">
                <a16:creationId xmlns:a16="http://schemas.microsoft.com/office/drawing/2014/main" id="{B84C3510-627D-474F-93E4-384F64FED97E}"/>
              </a:ext>
            </a:extLst>
          </p:cNvPr>
          <p:cNvGrpSpPr>
            <a:grpSpLocks/>
          </p:cNvGrpSpPr>
          <p:nvPr/>
        </p:nvGrpSpPr>
        <p:grpSpPr bwMode="auto">
          <a:xfrm>
            <a:off x="3651250" y="5646738"/>
            <a:ext cx="5492750" cy="457200"/>
            <a:chOff x="3651250" y="5646738"/>
            <a:chExt cx="5492750" cy="457200"/>
          </a:xfrm>
        </p:grpSpPr>
        <p:sp>
          <p:nvSpPr>
            <p:cNvPr id="13330" name="Text Box 30">
              <a:extLst>
                <a:ext uri="{FF2B5EF4-FFF2-40B4-BE49-F238E27FC236}">
                  <a16:creationId xmlns:a16="http://schemas.microsoft.com/office/drawing/2014/main" id="{9B847292-4863-47EA-B22B-A4741203D4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51250" y="5646738"/>
              <a:ext cx="54927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>
                  <a:solidFill>
                    <a:schemeClr val="bg1"/>
                  </a:solidFill>
                  <a:latin typeface="楷体_GB2312" pitchFamily="49" charset="-122"/>
                  <a:ea typeface="楷体_GB2312" pitchFamily="49" charset="-122"/>
                </a:rPr>
                <a:t>薄膜光学厚度（</a:t>
              </a:r>
              <a:r>
                <a:rPr lang="en-US" altLang="zh-CN" i="1">
                  <a:solidFill>
                    <a:srgbClr val="66FFFF"/>
                  </a:solidFill>
                  <a:ea typeface="楷体_GB2312" pitchFamily="49" charset="-122"/>
                </a:rPr>
                <a:t>nd</a:t>
              </a:r>
              <a:r>
                <a:rPr lang="zh-CN" altLang="en-US">
                  <a:solidFill>
                    <a:schemeClr val="bg1"/>
                  </a:solidFill>
                  <a:latin typeface="楷体_GB2312" pitchFamily="49" charset="-122"/>
                  <a:ea typeface="楷体_GB2312" pitchFamily="49" charset="-122"/>
                </a:rPr>
                <a:t>）仍可以为</a:t>
              </a:r>
            </a:p>
          </p:txBody>
        </p:sp>
        <p:graphicFrame>
          <p:nvGraphicFramePr>
            <p:cNvPr id="13331" name="Object 4">
              <a:extLst>
                <a:ext uri="{FF2B5EF4-FFF2-40B4-BE49-F238E27FC236}">
                  <a16:creationId xmlns:a16="http://schemas.microsoft.com/office/drawing/2014/main" id="{33CA971D-07B0-4892-9361-0E4815359652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7848600" y="5748355"/>
            <a:ext cx="539750" cy="2524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915" name="公式" r:id="rId19" imgW="609498" imgH="247684" progId="Equation.3">
                    <p:embed/>
                  </p:oleObj>
                </mc:Choice>
                <mc:Fallback>
                  <p:oleObj name="公式" r:id="rId19" imgW="609498" imgH="247684" progId="Equation.3">
                    <p:embed/>
                    <p:pic>
                      <p:nvPicPr>
                        <p:cNvPr id="13331" name="Object 4">
                          <a:extLst>
                            <a:ext uri="{FF2B5EF4-FFF2-40B4-BE49-F238E27FC236}">
                              <a16:creationId xmlns:a16="http://schemas.microsoft.com/office/drawing/2014/main" id="{33CA971D-07B0-4892-9361-0E4815359652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848600" y="5748355"/>
                          <a:ext cx="539750" cy="2524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8464" name="AutoShape 32">
            <a:extLst>
              <a:ext uri="{FF2B5EF4-FFF2-40B4-BE49-F238E27FC236}">
                <a16:creationId xmlns:a16="http://schemas.microsoft.com/office/drawing/2014/main" id="{93955A8E-91BA-47EE-99AE-9A8CCE4FA6CD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857500" y="5759450"/>
            <a:ext cx="771525" cy="241300"/>
          </a:xfrm>
          <a:prstGeom prst="rightArrow">
            <a:avLst>
              <a:gd name="adj1" fmla="val 50000"/>
              <a:gd name="adj2" fmla="val 78942"/>
            </a:avLst>
          </a:prstGeom>
          <a:solidFill>
            <a:srgbClr val="FFCCFF"/>
          </a:solidFill>
          <a:ln w="9525">
            <a:solidFill>
              <a:srgbClr val="FFCC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13324" name="Text Box 33">
            <a:extLst>
              <a:ext uri="{FF2B5EF4-FFF2-40B4-BE49-F238E27FC236}">
                <a16:creationId xmlns:a16="http://schemas.microsoft.com/office/drawing/2014/main" id="{1562B9E7-34DF-421C-BE37-1BB69B1732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404813"/>
            <a:ext cx="5032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zh-CN" altLang="zh-CN"/>
          </a:p>
        </p:txBody>
      </p:sp>
      <p:sp>
        <p:nvSpPr>
          <p:cNvPr id="18466" name="Text Box 34">
            <a:extLst>
              <a:ext uri="{FF2B5EF4-FFF2-40B4-BE49-F238E27FC236}">
                <a16:creationId xmlns:a16="http://schemas.microsoft.com/office/drawing/2014/main" id="{0EAC9534-B10E-4C04-AF8E-1CCCA6E61B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750" y="257175"/>
            <a:ext cx="12588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EDFE4A"/>
                </a:solidFill>
              </a:rPr>
              <a:t>例</a:t>
            </a:r>
          </a:p>
        </p:txBody>
      </p:sp>
      <p:sp>
        <p:nvSpPr>
          <p:cNvPr id="18468" name="Text Box 36">
            <a:extLst>
              <a:ext uri="{FF2B5EF4-FFF2-40B4-BE49-F238E27FC236}">
                <a16:creationId xmlns:a16="http://schemas.microsoft.com/office/drawing/2014/main" id="{750B58B3-A13A-4CBA-8EC7-423F0474B8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43313" y="6143625"/>
            <a:ext cx="52562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膜层折射率 </a:t>
            </a:r>
            <a:r>
              <a:rPr lang="en-US" altLang="zh-CN" i="1">
                <a:solidFill>
                  <a:srgbClr val="66FFFF"/>
                </a:solidFill>
                <a:ea typeface="楷体_GB2312" pitchFamily="49" charset="-122"/>
              </a:rPr>
              <a:t>n </a:t>
            </a:r>
            <a:r>
              <a:rPr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比玻璃的折射率大</a:t>
            </a:r>
          </a:p>
        </p:txBody>
      </p:sp>
      <p:sp>
        <p:nvSpPr>
          <p:cNvPr id="18469" name="Text Box 37">
            <a:extLst>
              <a:ext uri="{FF2B5EF4-FFF2-40B4-BE49-F238E27FC236}">
                <a16:creationId xmlns:a16="http://schemas.microsoft.com/office/drawing/2014/main" id="{6B537313-E474-4A89-9FC6-1E4F46A1C4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767" y="1773238"/>
            <a:ext cx="50403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FFFF00"/>
                </a:solidFill>
              </a:rPr>
              <a:t>求</a:t>
            </a:r>
            <a:r>
              <a:rPr lang="zh-CN" altLang="en-US" dirty="0">
                <a:solidFill>
                  <a:schemeClr val="bg1"/>
                </a:solidFill>
              </a:rPr>
              <a:t>  氟化镁薄膜的最小厚度</a:t>
            </a:r>
          </a:p>
        </p:txBody>
      </p:sp>
      <p:sp>
        <p:nvSpPr>
          <p:cNvPr id="18471" name="Text Box 39">
            <a:extLst>
              <a:ext uri="{FF2B5EF4-FFF2-40B4-BE49-F238E27FC236}">
                <a16:creationId xmlns:a16="http://schemas.microsoft.com/office/drawing/2014/main" id="{ED15DDCC-73F7-4574-B20F-243B5DBB1D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7550" y="5641975"/>
            <a:ext cx="11128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>
                <a:solidFill>
                  <a:srgbClr val="FFFF00"/>
                </a:solidFill>
                <a:latin typeface="宋体" panose="02010600030101010101" pitchFamily="2" charset="-122"/>
              </a:rPr>
              <a:t>说明：</a:t>
            </a:r>
          </a:p>
        </p:txBody>
      </p:sp>
      <p:sp>
        <p:nvSpPr>
          <p:cNvPr id="13329" name="灯片编号占位符 1">
            <a:extLst>
              <a:ext uri="{FF2B5EF4-FFF2-40B4-BE49-F238E27FC236}">
                <a16:creationId xmlns:a16="http://schemas.microsoft.com/office/drawing/2014/main" id="{63927914-2093-4847-ABBE-53FE17DE3E83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369734A-4318-4177-8455-396618E5B701}" type="slidenum">
              <a:rPr lang="en-US" altLang="zh-CN" b="0">
                <a:solidFill>
                  <a:srgbClr val="FF00FF"/>
                </a:solidFill>
              </a:rPr>
              <a:pPr eaLnBrk="1" hangingPunct="1"/>
              <a:t>11</a:t>
            </a:fld>
            <a:r>
              <a:rPr lang="en-US" altLang="zh-CN" b="0" dirty="0">
                <a:solidFill>
                  <a:srgbClr val="FF00FF"/>
                </a:solidFill>
              </a:rPr>
              <a:t>/20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8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8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8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8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8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8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8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8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500"/>
                                        <p:tgtEl>
                                          <p:spTgt spid="18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8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8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57" grpId="0"/>
      <p:bldP spid="18458" grpId="0" autoUpdateAnimBg="0"/>
      <p:bldP spid="18459" grpId="0" autoUpdateAnimBg="0"/>
      <p:bldP spid="18460" grpId="0" autoUpdateAnimBg="0"/>
      <p:bldP spid="18461" grpId="0" autoUpdateAnimBg="0"/>
      <p:bldP spid="18464" grpId="0" animBg="1"/>
      <p:bldP spid="18466" grpId="0"/>
      <p:bldP spid="18468" grpId="0"/>
      <p:bldP spid="18469" grpId="0"/>
      <p:bldP spid="1847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46" name="Text Box 38">
            <a:extLst>
              <a:ext uri="{FF2B5EF4-FFF2-40B4-BE49-F238E27FC236}">
                <a16:creationId xmlns:a16="http://schemas.microsoft.com/office/drawing/2014/main" id="{E60FCF32-82BD-4BA0-BC5C-8C419EC636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8175" y="333375"/>
            <a:ext cx="50403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3200">
                <a:solidFill>
                  <a:srgbClr val="66FF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§</a:t>
            </a:r>
            <a:r>
              <a:rPr lang="en-US" altLang="zh-CN" sz="3200">
                <a:solidFill>
                  <a:srgbClr val="66FF33"/>
                </a:solidFill>
                <a:ea typeface="黑体" panose="02010609060101010101" pitchFamily="49" charset="-122"/>
              </a:rPr>
              <a:t>14.6 </a:t>
            </a:r>
            <a:r>
              <a:rPr lang="zh-CN" altLang="en-US" sz="3200">
                <a:solidFill>
                  <a:srgbClr val="66FF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迈克耳逊干涉仪</a:t>
            </a:r>
          </a:p>
        </p:txBody>
      </p:sp>
      <p:sp>
        <p:nvSpPr>
          <p:cNvPr id="43047" name="Text Box 39">
            <a:extLst>
              <a:ext uri="{FF2B5EF4-FFF2-40B4-BE49-F238E27FC236}">
                <a16:creationId xmlns:a16="http://schemas.microsoft.com/office/drawing/2014/main" id="{FACA7ACE-BC93-4510-9911-325E3154C6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625" y="981075"/>
            <a:ext cx="84296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zh-CN" altLang="en-US" sz="2800">
                <a:solidFill>
                  <a:srgbClr val="FFFF00"/>
                </a:solidFill>
                <a:latin typeface="宋体" panose="02010600030101010101" pitchFamily="2" charset="-122"/>
              </a:rPr>
              <a:t>一</a:t>
            </a:r>
            <a:r>
              <a:rPr lang="en-US" altLang="zh-CN" sz="2800">
                <a:solidFill>
                  <a:srgbClr val="FFFF00"/>
                </a:solidFill>
              </a:rPr>
              <a:t>. </a:t>
            </a:r>
            <a:r>
              <a:rPr lang="zh-CN" altLang="en-US" sz="2800">
                <a:solidFill>
                  <a:srgbClr val="FFFF00"/>
                </a:solidFill>
                <a:latin typeface="宋体" panose="02010600030101010101" pitchFamily="2" charset="-122"/>
              </a:rPr>
              <a:t>干涉仪结构</a:t>
            </a:r>
            <a:r>
              <a:rPr lang="zh-CN" altLang="en-US" sz="2000">
                <a:solidFill>
                  <a:schemeClr val="bg1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sz="2000">
                <a:solidFill>
                  <a:schemeClr val="bg1"/>
                </a:solidFill>
                <a:latin typeface="宋体" panose="02010600030101010101" pitchFamily="2" charset="-122"/>
              </a:rPr>
              <a:t>1881</a:t>
            </a:r>
            <a:r>
              <a:rPr lang="zh-CN" altLang="en-US" sz="2000">
                <a:solidFill>
                  <a:schemeClr val="bg1"/>
                </a:solidFill>
                <a:latin typeface="宋体" panose="02010600030101010101" pitchFamily="2" charset="-122"/>
              </a:rPr>
              <a:t>年，美国物理学家迈克尔逊发明的）</a:t>
            </a:r>
          </a:p>
        </p:txBody>
      </p:sp>
      <p:pic>
        <p:nvPicPr>
          <p:cNvPr id="43099" name="Picture 91" descr="迈">
            <a:extLst>
              <a:ext uri="{FF2B5EF4-FFF2-40B4-BE49-F238E27FC236}">
                <a16:creationId xmlns:a16="http://schemas.microsoft.com/office/drawing/2014/main" id="{07BF92F4-293B-4D9F-B10A-294B6AE4BA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88" y="1733550"/>
            <a:ext cx="7564437" cy="4575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41" name="灯片编号占位符 1">
            <a:extLst>
              <a:ext uri="{FF2B5EF4-FFF2-40B4-BE49-F238E27FC236}">
                <a16:creationId xmlns:a16="http://schemas.microsoft.com/office/drawing/2014/main" id="{B5CCFB4C-4DA6-4873-A4F0-2BD69EE5A7C7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D63908F-3829-48E4-9DAF-8A3283ADCF51}" type="slidenum">
              <a:rPr lang="en-US" altLang="zh-CN" b="0">
                <a:solidFill>
                  <a:srgbClr val="FF00FF"/>
                </a:solidFill>
              </a:rPr>
              <a:pPr eaLnBrk="1" hangingPunct="1"/>
              <a:t>12</a:t>
            </a:fld>
            <a:r>
              <a:rPr lang="en-US" altLang="zh-CN" b="0">
                <a:solidFill>
                  <a:srgbClr val="FF00FF"/>
                </a:solidFill>
              </a:rPr>
              <a:t>/24</a:t>
            </a:r>
          </a:p>
        </p:txBody>
      </p:sp>
      <p:graphicFrame>
        <p:nvGraphicFramePr>
          <p:cNvPr id="6" name="Object 16">
            <a:extLst>
              <a:ext uri="{FF2B5EF4-FFF2-40B4-BE49-F238E27FC236}">
                <a16:creationId xmlns:a16="http://schemas.microsoft.com/office/drawing/2014/main" id="{3D49253D-04C2-404F-9E3E-A72E63BB3D4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76232202"/>
              </p:ext>
            </p:extLst>
          </p:nvPr>
        </p:nvGraphicFramePr>
        <p:xfrm>
          <a:off x="5004048" y="1762961"/>
          <a:ext cx="417512" cy="334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3558" name="公式" r:id="rId4" imgW="485641" imgH="380864" progId="Equation.3">
                  <p:embed/>
                </p:oleObj>
              </mc:Choice>
              <mc:Fallback>
                <p:oleObj name="公式" r:id="rId4" imgW="485641" imgH="380864" progId="Equation.3">
                  <p:embed/>
                  <p:pic>
                    <p:nvPicPr>
                      <p:cNvPr id="6" name="Object 16">
                        <a:extLst>
                          <a:ext uri="{FF2B5EF4-FFF2-40B4-BE49-F238E27FC236}">
                            <a16:creationId xmlns:a16="http://schemas.microsoft.com/office/drawing/2014/main" id="{3D49253D-04C2-404F-9E3E-A72E63BB3D4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4048" y="1762961"/>
                        <a:ext cx="417512" cy="334962"/>
                      </a:xfrm>
                      <a:prstGeom prst="rect">
                        <a:avLst/>
                      </a:prstGeom>
                      <a:solidFill>
                        <a:srgbClr val="0000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5" name="Object 3">
            <a:extLst>
              <a:ext uri="{FF2B5EF4-FFF2-40B4-BE49-F238E27FC236}">
                <a16:creationId xmlns:a16="http://schemas.microsoft.com/office/drawing/2014/main" id="{EA903D13-1553-446A-8530-54970FD4CFC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50246508"/>
              </p:ext>
            </p:extLst>
          </p:nvPr>
        </p:nvGraphicFramePr>
        <p:xfrm>
          <a:off x="7092280" y="1818482"/>
          <a:ext cx="384175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3559" name="公式" r:id="rId6" imgW="190525" imgH="180941" progId="Equation.3">
                  <p:embed/>
                </p:oleObj>
              </mc:Choice>
              <mc:Fallback>
                <p:oleObj name="公式" r:id="rId6" imgW="190525" imgH="180941" progId="Equation.3">
                  <p:embed/>
                  <p:pic>
                    <p:nvPicPr>
                      <p:cNvPr id="27655" name="Object 3">
                        <a:extLst>
                          <a:ext uri="{FF2B5EF4-FFF2-40B4-BE49-F238E27FC236}">
                            <a16:creationId xmlns:a16="http://schemas.microsoft.com/office/drawing/2014/main" id="{EA903D13-1553-446A-8530-54970FD4CFC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92280" y="1818482"/>
                        <a:ext cx="384175" cy="419100"/>
                      </a:xfrm>
                      <a:prstGeom prst="rect">
                        <a:avLst/>
                      </a:prstGeom>
                      <a:solidFill>
                        <a:srgbClr val="0000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1">
            <a:extLst>
              <a:ext uri="{FF2B5EF4-FFF2-40B4-BE49-F238E27FC236}">
                <a16:creationId xmlns:a16="http://schemas.microsoft.com/office/drawing/2014/main" id="{116B9A58-3694-4ED0-853F-07144BDEF35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flipH="1">
            <a:off x="6876256" y="4399200"/>
            <a:ext cx="1989584" cy="2054136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3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3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3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7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46" grpId="0" autoUpdateAnimBg="0"/>
      <p:bldP spid="43047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97">
            <a:extLst>
              <a:ext uri="{FF2B5EF4-FFF2-40B4-BE49-F238E27FC236}">
                <a16:creationId xmlns:a16="http://schemas.microsoft.com/office/drawing/2014/main" id="{A76695EF-356D-4EB7-A87C-845501CDB12E}"/>
              </a:ext>
            </a:extLst>
          </p:cNvPr>
          <p:cNvGrpSpPr>
            <a:grpSpLocks/>
          </p:cNvGrpSpPr>
          <p:nvPr/>
        </p:nvGrpSpPr>
        <p:grpSpPr bwMode="auto">
          <a:xfrm>
            <a:off x="6021388" y="1765300"/>
            <a:ext cx="2459037" cy="3121024"/>
            <a:chOff x="3793" y="1112"/>
            <a:chExt cx="1549" cy="1966"/>
          </a:xfrm>
        </p:grpSpPr>
        <p:sp>
          <p:nvSpPr>
            <p:cNvPr id="15428" name="Rectangle 4">
              <a:extLst>
                <a:ext uri="{FF2B5EF4-FFF2-40B4-BE49-F238E27FC236}">
                  <a16:creationId xmlns:a16="http://schemas.microsoft.com/office/drawing/2014/main" id="{136A1F85-342F-457A-84B1-428E324F18E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2774301">
              <a:off x="3956" y="1855"/>
              <a:ext cx="575" cy="100"/>
            </a:xfrm>
            <a:prstGeom prst="rect">
              <a:avLst/>
            </a:prstGeom>
            <a:solidFill>
              <a:srgbClr val="00CC99">
                <a:alpha val="3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0"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5429" name="Rectangle 5">
              <a:extLst>
                <a:ext uri="{FF2B5EF4-FFF2-40B4-BE49-F238E27FC236}">
                  <a16:creationId xmlns:a16="http://schemas.microsoft.com/office/drawing/2014/main" id="{1DE5CEC1-D528-44B9-A6A9-94386AD4F3C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2774301">
              <a:off x="4371" y="1908"/>
              <a:ext cx="576" cy="111"/>
            </a:xfrm>
            <a:prstGeom prst="rect">
              <a:avLst/>
            </a:prstGeom>
            <a:solidFill>
              <a:schemeClr val="accent1">
                <a:alpha val="39999"/>
              </a:schemeClr>
            </a:solidFill>
            <a:ln w="12700">
              <a:solidFill>
                <a:srgbClr val="00CC99">
                  <a:alpha val="52156"/>
                </a:srgbClr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0"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5430" name="Oval 6">
              <a:extLst>
                <a:ext uri="{FF2B5EF4-FFF2-40B4-BE49-F238E27FC236}">
                  <a16:creationId xmlns:a16="http://schemas.microsoft.com/office/drawing/2014/main" id="{87A8BC64-9E89-4C2B-A45B-127280686D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3" y="2525"/>
              <a:ext cx="936" cy="132"/>
            </a:xfrm>
            <a:prstGeom prst="ellipse">
              <a:avLst/>
            </a:prstGeom>
            <a:solidFill>
              <a:srgbClr val="00CC99">
                <a:alpha val="3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0"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5431" name="Line 9">
              <a:extLst>
                <a:ext uri="{FF2B5EF4-FFF2-40B4-BE49-F238E27FC236}">
                  <a16:creationId xmlns:a16="http://schemas.microsoft.com/office/drawing/2014/main" id="{D5629E4F-F4AD-42BF-A05E-E1F8199D63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15" y="3078"/>
              <a:ext cx="869" cy="0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5432" name="Group 91">
              <a:extLst>
                <a:ext uri="{FF2B5EF4-FFF2-40B4-BE49-F238E27FC236}">
                  <a16:creationId xmlns:a16="http://schemas.microsoft.com/office/drawing/2014/main" id="{52B0E009-6ED8-49F2-9998-3956023709A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80" y="1165"/>
              <a:ext cx="1462" cy="1373"/>
              <a:chOff x="3971" y="1165"/>
              <a:chExt cx="1462" cy="1373"/>
            </a:xfrm>
          </p:grpSpPr>
          <p:sp>
            <p:nvSpPr>
              <p:cNvPr id="15451" name="Line 8">
                <a:extLst>
                  <a:ext uri="{FF2B5EF4-FFF2-40B4-BE49-F238E27FC236}">
                    <a16:creationId xmlns:a16="http://schemas.microsoft.com/office/drawing/2014/main" id="{2FD8BDBB-6F42-4C33-B373-227EE0C1536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71" y="1246"/>
                <a:ext cx="557" cy="0"/>
              </a:xfrm>
              <a:prstGeom prst="line">
                <a:avLst/>
              </a:prstGeom>
              <a:noFill/>
              <a:ln w="38100">
                <a:solidFill>
                  <a:srgbClr val="FFF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52" name="Line 20">
                <a:extLst>
                  <a:ext uri="{FF2B5EF4-FFF2-40B4-BE49-F238E27FC236}">
                    <a16:creationId xmlns:a16="http://schemas.microsoft.com/office/drawing/2014/main" id="{190074D0-3875-4B7B-8E0F-BF37A67E0E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099" y="1165"/>
                <a:ext cx="67" cy="67"/>
              </a:xfrm>
              <a:prstGeom prst="line">
                <a:avLst/>
              </a:prstGeom>
              <a:noFill/>
              <a:ln w="19050">
                <a:solidFill>
                  <a:srgbClr val="FFF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53" name="Line 21">
                <a:extLst>
                  <a:ext uri="{FF2B5EF4-FFF2-40B4-BE49-F238E27FC236}">
                    <a16:creationId xmlns:a16="http://schemas.microsoft.com/office/drawing/2014/main" id="{8541F946-DF6B-481F-85AB-96771F9B46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64" y="1165"/>
                <a:ext cx="66" cy="67"/>
              </a:xfrm>
              <a:prstGeom prst="line">
                <a:avLst/>
              </a:prstGeom>
              <a:noFill/>
              <a:ln w="19050">
                <a:solidFill>
                  <a:srgbClr val="FFF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54" name="Line 22">
                <a:extLst>
                  <a:ext uri="{FF2B5EF4-FFF2-40B4-BE49-F238E27FC236}">
                    <a16:creationId xmlns:a16="http://schemas.microsoft.com/office/drawing/2014/main" id="{45D417CD-4D99-40E2-89C2-969B599057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154" y="1165"/>
                <a:ext cx="66" cy="67"/>
              </a:xfrm>
              <a:prstGeom prst="line">
                <a:avLst/>
              </a:prstGeom>
              <a:noFill/>
              <a:ln w="19050">
                <a:solidFill>
                  <a:srgbClr val="FFF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55" name="Line 23">
                <a:extLst>
                  <a:ext uri="{FF2B5EF4-FFF2-40B4-BE49-F238E27FC236}">
                    <a16:creationId xmlns:a16="http://schemas.microsoft.com/office/drawing/2014/main" id="{A78EDD37-FCB2-4A19-B4EF-6482C6A961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74" y="1165"/>
                <a:ext cx="66" cy="67"/>
              </a:xfrm>
              <a:prstGeom prst="line">
                <a:avLst/>
              </a:prstGeom>
              <a:noFill/>
              <a:ln w="19050">
                <a:solidFill>
                  <a:srgbClr val="FFF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56" name="Line 24">
                <a:extLst>
                  <a:ext uri="{FF2B5EF4-FFF2-40B4-BE49-F238E27FC236}">
                    <a16:creationId xmlns:a16="http://schemas.microsoft.com/office/drawing/2014/main" id="{CD2D14A1-117A-4CF8-8390-4AE68F17B1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044" y="1165"/>
                <a:ext cx="66" cy="67"/>
              </a:xfrm>
              <a:prstGeom prst="line">
                <a:avLst/>
              </a:prstGeom>
              <a:noFill/>
              <a:ln w="19050">
                <a:solidFill>
                  <a:srgbClr val="FFF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57" name="Line 25">
                <a:extLst>
                  <a:ext uri="{FF2B5EF4-FFF2-40B4-BE49-F238E27FC236}">
                    <a16:creationId xmlns:a16="http://schemas.microsoft.com/office/drawing/2014/main" id="{1C11F482-9D14-40CE-946B-E8A3C7ED01D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09" y="1165"/>
                <a:ext cx="67" cy="67"/>
              </a:xfrm>
              <a:prstGeom prst="line">
                <a:avLst/>
              </a:prstGeom>
              <a:noFill/>
              <a:ln w="19050">
                <a:solidFill>
                  <a:srgbClr val="FFF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58" name="Line 26">
                <a:extLst>
                  <a:ext uri="{FF2B5EF4-FFF2-40B4-BE49-F238E27FC236}">
                    <a16:creationId xmlns:a16="http://schemas.microsoft.com/office/drawing/2014/main" id="{015284B7-521A-4A29-9141-12AE579633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19" y="1165"/>
                <a:ext cx="67" cy="67"/>
              </a:xfrm>
              <a:prstGeom prst="line">
                <a:avLst/>
              </a:prstGeom>
              <a:noFill/>
              <a:ln w="19050">
                <a:solidFill>
                  <a:srgbClr val="FFF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59" name="Line 27">
                <a:extLst>
                  <a:ext uri="{FF2B5EF4-FFF2-40B4-BE49-F238E27FC236}">
                    <a16:creationId xmlns:a16="http://schemas.microsoft.com/office/drawing/2014/main" id="{0BA023D5-3242-4063-9F59-0C5B0774E4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429" y="1165"/>
                <a:ext cx="67" cy="67"/>
              </a:xfrm>
              <a:prstGeom prst="line">
                <a:avLst/>
              </a:prstGeom>
              <a:noFill/>
              <a:ln w="19050">
                <a:solidFill>
                  <a:srgbClr val="FFF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60" name="Line 28">
                <a:extLst>
                  <a:ext uri="{FF2B5EF4-FFF2-40B4-BE49-F238E27FC236}">
                    <a16:creationId xmlns:a16="http://schemas.microsoft.com/office/drawing/2014/main" id="{3D7336D1-1E02-449B-A787-8882C1093C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484" y="1165"/>
                <a:ext cx="66" cy="67"/>
              </a:xfrm>
              <a:prstGeom prst="line">
                <a:avLst/>
              </a:prstGeom>
              <a:noFill/>
              <a:ln w="19050">
                <a:solidFill>
                  <a:srgbClr val="FFF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61" name="Line 29">
                <a:extLst>
                  <a:ext uri="{FF2B5EF4-FFF2-40B4-BE49-F238E27FC236}">
                    <a16:creationId xmlns:a16="http://schemas.microsoft.com/office/drawing/2014/main" id="{7293D40B-F786-4F0A-8967-74E6DE1693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988" y="1165"/>
                <a:ext cx="67" cy="67"/>
              </a:xfrm>
              <a:prstGeom prst="line">
                <a:avLst/>
              </a:prstGeom>
              <a:noFill/>
              <a:ln w="19050">
                <a:solidFill>
                  <a:srgbClr val="FFF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15462" name="Object 17">
                <a:extLst>
                  <a:ext uri="{FF2B5EF4-FFF2-40B4-BE49-F238E27FC236}">
                    <a16:creationId xmlns:a16="http://schemas.microsoft.com/office/drawing/2014/main" id="{5E980597-D54E-4368-8930-46628A59EB7E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441597614"/>
                  </p:ext>
                </p:extLst>
              </p:nvPr>
            </p:nvGraphicFramePr>
            <p:xfrm>
              <a:off x="5209" y="2325"/>
              <a:ext cx="224" cy="21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94730" name="公式" r:id="rId3" imgW="409492" imgH="380864" progId="Equation.3">
                      <p:embed/>
                    </p:oleObj>
                  </mc:Choice>
                  <mc:Fallback>
                    <p:oleObj name="公式" r:id="rId3" imgW="409492" imgH="380864" progId="Equation.3">
                      <p:embed/>
                      <p:pic>
                        <p:nvPicPr>
                          <p:cNvPr id="15462" name="Object 17">
                            <a:extLst>
                              <a:ext uri="{FF2B5EF4-FFF2-40B4-BE49-F238E27FC236}">
                                <a16:creationId xmlns:a16="http://schemas.microsoft.com/office/drawing/2014/main" id="{5E980597-D54E-4368-8930-46628A59EB7E}"/>
                              </a:ext>
                            </a:extLst>
                          </p:cNvPr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209" y="2325"/>
                            <a:ext cx="224" cy="21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FF33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5433" name="Group 90">
              <a:extLst>
                <a:ext uri="{FF2B5EF4-FFF2-40B4-BE49-F238E27FC236}">
                  <a16:creationId xmlns:a16="http://schemas.microsoft.com/office/drawing/2014/main" id="{DE0CB1B6-EECE-49AB-B95D-8B5AA101401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92" y="1112"/>
              <a:ext cx="747" cy="1140"/>
              <a:chOff x="4763" y="1112"/>
              <a:chExt cx="747" cy="1140"/>
            </a:xfrm>
          </p:grpSpPr>
          <p:sp>
            <p:nvSpPr>
              <p:cNvPr id="15439" name="Line 7">
                <a:extLst>
                  <a:ext uri="{FF2B5EF4-FFF2-40B4-BE49-F238E27FC236}">
                    <a16:creationId xmlns:a16="http://schemas.microsoft.com/office/drawing/2014/main" id="{7CAD5D45-7491-4A9C-8166-769CB766E7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437" y="1699"/>
                <a:ext cx="0" cy="553"/>
              </a:xfrm>
              <a:prstGeom prst="line">
                <a:avLst/>
              </a:prstGeom>
              <a:noFill/>
              <a:ln w="38100">
                <a:solidFill>
                  <a:srgbClr val="FFF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40" name="Line 10">
                <a:extLst>
                  <a:ext uri="{FF2B5EF4-FFF2-40B4-BE49-F238E27FC236}">
                    <a16:creationId xmlns:a16="http://schemas.microsoft.com/office/drawing/2014/main" id="{88BB6B1B-A259-443B-8BF1-0AEF0AE81C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443" y="1683"/>
                <a:ext cx="67" cy="45"/>
              </a:xfrm>
              <a:prstGeom prst="line">
                <a:avLst/>
              </a:prstGeom>
              <a:noFill/>
              <a:ln w="19050">
                <a:solidFill>
                  <a:srgbClr val="FFF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41" name="Line 11">
                <a:extLst>
                  <a:ext uri="{FF2B5EF4-FFF2-40B4-BE49-F238E27FC236}">
                    <a16:creationId xmlns:a16="http://schemas.microsoft.com/office/drawing/2014/main" id="{CD7EEB11-FCFF-48F7-8BC9-2B56E1C256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443" y="1740"/>
                <a:ext cx="67" cy="44"/>
              </a:xfrm>
              <a:prstGeom prst="line">
                <a:avLst/>
              </a:prstGeom>
              <a:noFill/>
              <a:ln w="19050">
                <a:solidFill>
                  <a:srgbClr val="FFF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42" name="Line 12">
                <a:extLst>
                  <a:ext uri="{FF2B5EF4-FFF2-40B4-BE49-F238E27FC236}">
                    <a16:creationId xmlns:a16="http://schemas.microsoft.com/office/drawing/2014/main" id="{292B8F5F-6FDA-46D9-93FD-087A9DE089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443" y="1796"/>
                <a:ext cx="67" cy="45"/>
              </a:xfrm>
              <a:prstGeom prst="line">
                <a:avLst/>
              </a:prstGeom>
              <a:noFill/>
              <a:ln w="19050">
                <a:solidFill>
                  <a:srgbClr val="FFF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43" name="Line 13">
                <a:extLst>
                  <a:ext uri="{FF2B5EF4-FFF2-40B4-BE49-F238E27FC236}">
                    <a16:creationId xmlns:a16="http://schemas.microsoft.com/office/drawing/2014/main" id="{56B9CEEC-277B-4F9C-9A9B-2F05EC745A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443" y="1853"/>
                <a:ext cx="67" cy="44"/>
              </a:xfrm>
              <a:prstGeom prst="line">
                <a:avLst/>
              </a:prstGeom>
              <a:noFill/>
              <a:ln w="19050">
                <a:solidFill>
                  <a:srgbClr val="FFF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44" name="Line 14">
                <a:extLst>
                  <a:ext uri="{FF2B5EF4-FFF2-40B4-BE49-F238E27FC236}">
                    <a16:creationId xmlns:a16="http://schemas.microsoft.com/office/drawing/2014/main" id="{4AF1DB2E-6B5F-487C-80FE-EA00DA09B8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443" y="1909"/>
                <a:ext cx="67" cy="45"/>
              </a:xfrm>
              <a:prstGeom prst="line">
                <a:avLst/>
              </a:prstGeom>
              <a:noFill/>
              <a:ln w="19050">
                <a:solidFill>
                  <a:srgbClr val="FFF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45" name="Line 15">
                <a:extLst>
                  <a:ext uri="{FF2B5EF4-FFF2-40B4-BE49-F238E27FC236}">
                    <a16:creationId xmlns:a16="http://schemas.microsoft.com/office/drawing/2014/main" id="{D6161F9C-C2DD-4357-9796-EFFF733709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443" y="1966"/>
                <a:ext cx="67" cy="44"/>
              </a:xfrm>
              <a:prstGeom prst="line">
                <a:avLst/>
              </a:prstGeom>
              <a:noFill/>
              <a:ln w="19050">
                <a:solidFill>
                  <a:srgbClr val="FFF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46" name="Line 16">
                <a:extLst>
                  <a:ext uri="{FF2B5EF4-FFF2-40B4-BE49-F238E27FC236}">
                    <a16:creationId xmlns:a16="http://schemas.microsoft.com/office/drawing/2014/main" id="{7ED88BE7-4F4B-4675-877B-52B5A0AB76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443" y="2023"/>
                <a:ext cx="67" cy="44"/>
              </a:xfrm>
              <a:prstGeom prst="line">
                <a:avLst/>
              </a:prstGeom>
              <a:noFill/>
              <a:ln w="19050">
                <a:solidFill>
                  <a:srgbClr val="FFF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47" name="Line 17">
                <a:extLst>
                  <a:ext uri="{FF2B5EF4-FFF2-40B4-BE49-F238E27FC236}">
                    <a16:creationId xmlns:a16="http://schemas.microsoft.com/office/drawing/2014/main" id="{E286B683-6C6B-41C9-965B-8CC0F6CE06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443" y="2079"/>
                <a:ext cx="67" cy="44"/>
              </a:xfrm>
              <a:prstGeom prst="line">
                <a:avLst/>
              </a:prstGeom>
              <a:noFill/>
              <a:ln w="19050">
                <a:solidFill>
                  <a:srgbClr val="FFF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48" name="Line 18">
                <a:extLst>
                  <a:ext uri="{FF2B5EF4-FFF2-40B4-BE49-F238E27FC236}">
                    <a16:creationId xmlns:a16="http://schemas.microsoft.com/office/drawing/2014/main" id="{16EBE51A-4821-4168-9E55-A569E7722B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443" y="2136"/>
                <a:ext cx="67" cy="44"/>
              </a:xfrm>
              <a:prstGeom prst="line">
                <a:avLst/>
              </a:prstGeom>
              <a:noFill/>
              <a:ln w="19050">
                <a:solidFill>
                  <a:srgbClr val="FFF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49" name="Line 19">
                <a:extLst>
                  <a:ext uri="{FF2B5EF4-FFF2-40B4-BE49-F238E27FC236}">
                    <a16:creationId xmlns:a16="http://schemas.microsoft.com/office/drawing/2014/main" id="{9DB158DD-1712-417E-96BA-A736F8EC59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443" y="2192"/>
                <a:ext cx="67" cy="45"/>
              </a:xfrm>
              <a:prstGeom prst="line">
                <a:avLst/>
              </a:prstGeom>
              <a:noFill/>
              <a:ln w="19050">
                <a:solidFill>
                  <a:srgbClr val="FFF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15450" name="Object 16">
                <a:extLst>
                  <a:ext uri="{FF2B5EF4-FFF2-40B4-BE49-F238E27FC236}">
                    <a16:creationId xmlns:a16="http://schemas.microsoft.com/office/drawing/2014/main" id="{4103A989-FA6D-4B8D-9779-B72ECB591B2C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534108742"/>
                  </p:ext>
                </p:extLst>
              </p:nvPr>
            </p:nvGraphicFramePr>
            <p:xfrm>
              <a:off x="4763" y="1112"/>
              <a:ext cx="263" cy="21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94731" name="公式" r:id="rId5" imgW="485641" imgH="380864" progId="Equation.3">
                      <p:embed/>
                    </p:oleObj>
                  </mc:Choice>
                  <mc:Fallback>
                    <p:oleObj name="公式" r:id="rId5" imgW="485641" imgH="380864" progId="Equation.3">
                      <p:embed/>
                      <p:pic>
                        <p:nvPicPr>
                          <p:cNvPr id="15450" name="Object 16">
                            <a:extLst>
                              <a:ext uri="{FF2B5EF4-FFF2-40B4-BE49-F238E27FC236}">
                                <a16:creationId xmlns:a16="http://schemas.microsoft.com/office/drawing/2014/main" id="{4103A989-FA6D-4B8D-9779-B72ECB591B2C}"/>
                              </a:ext>
                            </a:extLst>
                          </p:cNvPr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763" y="1112"/>
                            <a:ext cx="263" cy="21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FF33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15434" name="Object 12">
              <a:extLst>
                <a:ext uri="{FF2B5EF4-FFF2-40B4-BE49-F238E27FC236}">
                  <a16:creationId xmlns:a16="http://schemas.microsoft.com/office/drawing/2014/main" id="{C8E000D8-A08C-4D18-A07E-F23B0FC696EF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4442" y="1530"/>
            <a:ext cx="193" cy="2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4732" name="公式" r:id="rId7" imgW="342824" imgH="380864" progId="Equation.3">
                    <p:embed/>
                  </p:oleObj>
                </mc:Choice>
                <mc:Fallback>
                  <p:oleObj name="公式" r:id="rId7" imgW="342824" imgH="380864" progId="Equation.3">
                    <p:embed/>
                    <p:pic>
                      <p:nvPicPr>
                        <p:cNvPr id="15434" name="Object 12">
                          <a:extLst>
                            <a:ext uri="{FF2B5EF4-FFF2-40B4-BE49-F238E27FC236}">
                              <a16:creationId xmlns:a16="http://schemas.microsoft.com/office/drawing/2014/main" id="{C8E000D8-A08C-4D18-A07E-F23B0FC696EF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42" y="1530"/>
                          <a:ext cx="193" cy="2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33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435" name="Object 13">
              <a:extLst>
                <a:ext uri="{FF2B5EF4-FFF2-40B4-BE49-F238E27FC236}">
                  <a16:creationId xmlns:a16="http://schemas.microsoft.com/office/drawing/2014/main" id="{1F50E4B7-0F84-4567-96D0-D5C0BAF464FD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4829" y="1589"/>
            <a:ext cx="211" cy="2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4733" name="公式" r:id="rId9" imgW="381051" imgH="380864" progId="Equation.3">
                    <p:embed/>
                  </p:oleObj>
                </mc:Choice>
                <mc:Fallback>
                  <p:oleObj name="公式" r:id="rId9" imgW="381051" imgH="380864" progId="Equation.3">
                    <p:embed/>
                    <p:pic>
                      <p:nvPicPr>
                        <p:cNvPr id="15435" name="Object 13">
                          <a:extLst>
                            <a:ext uri="{FF2B5EF4-FFF2-40B4-BE49-F238E27FC236}">
                              <a16:creationId xmlns:a16="http://schemas.microsoft.com/office/drawing/2014/main" id="{1F50E4B7-0F84-4567-96D0-D5C0BAF464FD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29" y="1589"/>
                          <a:ext cx="211" cy="2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33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436" name="Object 14">
              <a:extLst>
                <a:ext uri="{FF2B5EF4-FFF2-40B4-BE49-F238E27FC236}">
                  <a16:creationId xmlns:a16="http://schemas.microsoft.com/office/drawing/2014/main" id="{22A35483-F3E5-4D9E-804B-21808F566542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4691" y="2860"/>
            <a:ext cx="141" cy="1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4734" name="公式" r:id="rId11" imgW="238233" imgH="257175" progId="Equation.3">
                    <p:embed/>
                  </p:oleObj>
                </mc:Choice>
                <mc:Fallback>
                  <p:oleObj name="公式" r:id="rId11" imgW="238233" imgH="257175" progId="Equation.3">
                    <p:embed/>
                    <p:pic>
                      <p:nvPicPr>
                        <p:cNvPr id="15436" name="Object 14">
                          <a:extLst>
                            <a:ext uri="{FF2B5EF4-FFF2-40B4-BE49-F238E27FC236}">
                              <a16:creationId xmlns:a16="http://schemas.microsoft.com/office/drawing/2014/main" id="{22A35483-F3E5-4D9E-804B-21808F566542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91" y="2860"/>
                          <a:ext cx="141" cy="1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33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437" name="Object 15">
              <a:extLst>
                <a:ext uri="{FF2B5EF4-FFF2-40B4-BE49-F238E27FC236}">
                  <a16:creationId xmlns:a16="http://schemas.microsoft.com/office/drawing/2014/main" id="{BA77E9AE-08B9-4CF9-B89C-D60BDF237B42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4735" y="2509"/>
            <a:ext cx="129" cy="1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4735" name="公式" r:id="rId13" imgW="218967" imgH="257175" progId="Equation.3">
                    <p:embed/>
                  </p:oleObj>
                </mc:Choice>
                <mc:Fallback>
                  <p:oleObj name="公式" r:id="rId13" imgW="218967" imgH="257175" progId="Equation.3">
                    <p:embed/>
                    <p:pic>
                      <p:nvPicPr>
                        <p:cNvPr id="15437" name="Object 15">
                          <a:extLst>
                            <a:ext uri="{FF2B5EF4-FFF2-40B4-BE49-F238E27FC236}">
                              <a16:creationId xmlns:a16="http://schemas.microsoft.com/office/drawing/2014/main" id="{BA77E9AE-08B9-4CF9-B89C-D60BDF237B42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35" y="2509"/>
                          <a:ext cx="129" cy="1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33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438" name="Line 36">
              <a:extLst>
                <a:ext uri="{FF2B5EF4-FFF2-40B4-BE49-F238E27FC236}">
                  <a16:creationId xmlns:a16="http://schemas.microsoft.com/office/drawing/2014/main" id="{773591CB-3AFC-4471-A5AD-4476B0C3A24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91" y="1737"/>
              <a:ext cx="402" cy="417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8711" name="Text Box 39">
            <a:extLst>
              <a:ext uri="{FF2B5EF4-FFF2-40B4-BE49-F238E27FC236}">
                <a16:creationId xmlns:a16="http://schemas.microsoft.com/office/drawing/2014/main" id="{9F91FAE5-E37B-435C-A971-B483E7FA02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038" y="428625"/>
            <a:ext cx="25177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zh-CN" altLang="en-US" sz="2800">
                <a:solidFill>
                  <a:srgbClr val="FFFF00"/>
                </a:solidFill>
                <a:latin typeface="方正书宋简体"/>
              </a:rPr>
              <a:t>二</a:t>
            </a:r>
            <a:r>
              <a:rPr lang="en-US" altLang="zh-CN" sz="2800">
                <a:solidFill>
                  <a:srgbClr val="FFFF00"/>
                </a:solidFill>
              </a:rPr>
              <a:t>. </a:t>
            </a:r>
            <a:r>
              <a:rPr lang="zh-CN" altLang="en-US" sz="2800">
                <a:solidFill>
                  <a:srgbClr val="FFFF00"/>
                </a:solidFill>
                <a:latin typeface="方正书宋简体"/>
              </a:rPr>
              <a:t>工作原理</a:t>
            </a:r>
          </a:p>
        </p:txBody>
      </p:sp>
      <p:sp>
        <p:nvSpPr>
          <p:cNvPr id="28712" name="Text Box 40">
            <a:extLst>
              <a:ext uri="{FF2B5EF4-FFF2-40B4-BE49-F238E27FC236}">
                <a16:creationId xmlns:a16="http://schemas.microsoft.com/office/drawing/2014/main" id="{880F75CC-EC62-4A3B-816F-00F8BD7730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1090613"/>
            <a:ext cx="3276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</a:rPr>
              <a:t>光束 </a:t>
            </a:r>
            <a:r>
              <a:rPr lang="en-US" altLang="zh-CN">
                <a:solidFill>
                  <a:srgbClr val="66FFFF"/>
                </a:solidFill>
              </a:rPr>
              <a:t>1 </a:t>
            </a:r>
            <a:r>
              <a:rPr lang="zh-CN" altLang="en-US">
                <a:solidFill>
                  <a:schemeClr val="bg1"/>
                </a:solidFill>
              </a:rPr>
              <a:t>和 </a:t>
            </a:r>
            <a:r>
              <a:rPr lang="en-US" altLang="zh-CN">
                <a:solidFill>
                  <a:srgbClr val="66FFFF"/>
                </a:solidFill>
              </a:rPr>
              <a:t>2 </a:t>
            </a:r>
            <a:r>
              <a:rPr lang="zh-CN" altLang="en-US">
                <a:solidFill>
                  <a:schemeClr val="bg1"/>
                </a:solidFill>
              </a:rPr>
              <a:t>发生干涉</a:t>
            </a:r>
          </a:p>
        </p:txBody>
      </p:sp>
      <p:sp>
        <p:nvSpPr>
          <p:cNvPr id="28713" name="Line 41">
            <a:extLst>
              <a:ext uri="{FF2B5EF4-FFF2-40B4-BE49-F238E27FC236}">
                <a16:creationId xmlns:a16="http://schemas.microsoft.com/office/drawing/2014/main" id="{35518792-9499-4000-A1DC-7ADEA3CF968A}"/>
              </a:ext>
            </a:extLst>
          </p:cNvPr>
          <p:cNvSpPr>
            <a:spLocks noChangeShapeType="1"/>
          </p:cNvSpPr>
          <p:nvPr/>
        </p:nvSpPr>
        <p:spPr bwMode="auto">
          <a:xfrm>
            <a:off x="5145088" y="2998788"/>
            <a:ext cx="1522412" cy="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714" name="Line 42">
            <a:extLst>
              <a:ext uri="{FF2B5EF4-FFF2-40B4-BE49-F238E27FC236}">
                <a16:creationId xmlns:a16="http://schemas.microsoft.com/office/drawing/2014/main" id="{7969F192-D1EA-478A-8377-22C0491D3D9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51638" y="1981200"/>
            <a:ext cx="0" cy="914400"/>
          </a:xfrm>
          <a:prstGeom prst="line">
            <a:avLst/>
          </a:prstGeom>
          <a:noFill/>
          <a:ln w="19050">
            <a:solidFill>
              <a:srgbClr val="99FF6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715" name="Line 43">
            <a:extLst>
              <a:ext uri="{FF2B5EF4-FFF2-40B4-BE49-F238E27FC236}">
                <a16:creationId xmlns:a16="http://schemas.microsoft.com/office/drawing/2014/main" id="{FAD7EFB0-1635-432A-98CB-D0B9B969D1A5}"/>
              </a:ext>
            </a:extLst>
          </p:cNvPr>
          <p:cNvSpPr>
            <a:spLocks noChangeShapeType="1"/>
          </p:cNvSpPr>
          <p:nvPr/>
        </p:nvSpPr>
        <p:spPr bwMode="auto">
          <a:xfrm>
            <a:off x="6689725" y="1984375"/>
            <a:ext cx="0" cy="982663"/>
          </a:xfrm>
          <a:prstGeom prst="line">
            <a:avLst/>
          </a:prstGeom>
          <a:noFill/>
          <a:ln w="19050">
            <a:solidFill>
              <a:srgbClr val="99FF6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716" name="Freeform 44">
            <a:extLst>
              <a:ext uri="{FF2B5EF4-FFF2-40B4-BE49-F238E27FC236}">
                <a16:creationId xmlns:a16="http://schemas.microsoft.com/office/drawing/2014/main" id="{CDD740D1-931C-482C-A578-56C11A0650D8}"/>
              </a:ext>
            </a:extLst>
          </p:cNvPr>
          <p:cNvSpPr>
            <a:spLocks/>
          </p:cNvSpPr>
          <p:nvPr/>
        </p:nvSpPr>
        <p:spPr bwMode="auto">
          <a:xfrm>
            <a:off x="5075238" y="2813050"/>
            <a:ext cx="57150" cy="396875"/>
          </a:xfrm>
          <a:custGeom>
            <a:avLst/>
            <a:gdLst>
              <a:gd name="T0" fmla="*/ 0 w 79"/>
              <a:gd name="T1" fmla="*/ 0 h 542"/>
              <a:gd name="T2" fmla="*/ 2147483646 w 79"/>
              <a:gd name="T3" fmla="*/ 2147483646 h 542"/>
              <a:gd name="T4" fmla="*/ 2147483646 w 79"/>
              <a:gd name="T5" fmla="*/ 2147483646 h 542"/>
              <a:gd name="T6" fmla="*/ 2147483646 w 79"/>
              <a:gd name="T7" fmla="*/ 2147483646 h 542"/>
              <a:gd name="T8" fmla="*/ 2147483646 w 79"/>
              <a:gd name="T9" fmla="*/ 2147483646 h 542"/>
              <a:gd name="T10" fmla="*/ 0 w 79"/>
              <a:gd name="T11" fmla="*/ 2147483646 h 54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79"/>
              <a:gd name="T19" fmla="*/ 0 h 542"/>
              <a:gd name="T20" fmla="*/ 79 w 79"/>
              <a:gd name="T21" fmla="*/ 542 h 542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79" h="542">
                <a:moveTo>
                  <a:pt x="0" y="0"/>
                </a:moveTo>
                <a:cubicBezTo>
                  <a:pt x="8" y="26"/>
                  <a:pt x="12" y="54"/>
                  <a:pt x="23" y="79"/>
                </a:cubicBezTo>
                <a:cubicBezTo>
                  <a:pt x="31" y="96"/>
                  <a:pt x="51" y="106"/>
                  <a:pt x="57" y="124"/>
                </a:cubicBezTo>
                <a:cubicBezTo>
                  <a:pt x="60" y="132"/>
                  <a:pt x="79" y="293"/>
                  <a:pt x="79" y="294"/>
                </a:cubicBezTo>
                <a:cubicBezTo>
                  <a:pt x="70" y="387"/>
                  <a:pt x="70" y="416"/>
                  <a:pt x="23" y="486"/>
                </a:cubicBezTo>
                <a:cubicBezTo>
                  <a:pt x="9" y="527"/>
                  <a:pt x="17" y="509"/>
                  <a:pt x="0" y="542"/>
                </a:cubicBezTo>
              </a:path>
            </a:pathLst>
          </a:custGeom>
          <a:noFill/>
          <a:ln w="5715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717" name="Oval 45">
            <a:extLst>
              <a:ext uri="{FF2B5EF4-FFF2-40B4-BE49-F238E27FC236}">
                <a16:creationId xmlns:a16="http://schemas.microsoft.com/office/drawing/2014/main" id="{539AC014-460C-4C5B-AB8D-31C4BCB2CB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2063" y="2936875"/>
            <a:ext cx="106362" cy="106363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28718" name="Line 46">
            <a:extLst>
              <a:ext uri="{FF2B5EF4-FFF2-40B4-BE49-F238E27FC236}">
                <a16:creationId xmlns:a16="http://schemas.microsoft.com/office/drawing/2014/main" id="{A0232B15-B411-4597-BCAB-C5E0138BAFCC}"/>
              </a:ext>
            </a:extLst>
          </p:cNvPr>
          <p:cNvSpPr>
            <a:spLocks noChangeShapeType="1"/>
          </p:cNvSpPr>
          <p:nvPr/>
        </p:nvSpPr>
        <p:spPr bwMode="auto">
          <a:xfrm>
            <a:off x="6724650" y="3128963"/>
            <a:ext cx="539750" cy="7937"/>
          </a:xfrm>
          <a:prstGeom prst="line">
            <a:avLst/>
          </a:prstGeom>
          <a:noFill/>
          <a:ln w="19050">
            <a:solidFill>
              <a:srgbClr val="FF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719" name="Line 47">
            <a:extLst>
              <a:ext uri="{FF2B5EF4-FFF2-40B4-BE49-F238E27FC236}">
                <a16:creationId xmlns:a16="http://schemas.microsoft.com/office/drawing/2014/main" id="{6F628175-68BB-42E0-BFF1-73659846E62C}"/>
              </a:ext>
            </a:extLst>
          </p:cNvPr>
          <p:cNvSpPr>
            <a:spLocks noChangeShapeType="1"/>
          </p:cNvSpPr>
          <p:nvPr/>
        </p:nvSpPr>
        <p:spPr bwMode="auto">
          <a:xfrm>
            <a:off x="7486650" y="3146425"/>
            <a:ext cx="701675" cy="0"/>
          </a:xfrm>
          <a:prstGeom prst="line">
            <a:avLst/>
          </a:prstGeom>
          <a:noFill/>
          <a:ln w="19050">
            <a:solidFill>
              <a:srgbClr val="FF99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720" name="Line 48">
            <a:extLst>
              <a:ext uri="{FF2B5EF4-FFF2-40B4-BE49-F238E27FC236}">
                <a16:creationId xmlns:a16="http://schemas.microsoft.com/office/drawing/2014/main" id="{21C95DCB-CEDC-4FA4-9B94-3FD5FEC65D4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437438" y="3206750"/>
            <a:ext cx="738187" cy="0"/>
          </a:xfrm>
          <a:prstGeom prst="line">
            <a:avLst/>
          </a:prstGeom>
          <a:noFill/>
          <a:ln w="19050">
            <a:solidFill>
              <a:srgbClr val="FF99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721" name="Line 49">
            <a:extLst>
              <a:ext uri="{FF2B5EF4-FFF2-40B4-BE49-F238E27FC236}">
                <a16:creationId xmlns:a16="http://schemas.microsoft.com/office/drawing/2014/main" id="{61DE95F2-1D8E-4674-986E-390265EA4AB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75450" y="3078163"/>
            <a:ext cx="539750" cy="0"/>
          </a:xfrm>
          <a:prstGeom prst="line">
            <a:avLst/>
          </a:prstGeom>
          <a:noFill/>
          <a:ln w="19050">
            <a:solidFill>
              <a:srgbClr val="FF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8722" name="Object 2">
            <a:extLst>
              <a:ext uri="{FF2B5EF4-FFF2-40B4-BE49-F238E27FC236}">
                <a16:creationId xmlns:a16="http://schemas.microsoft.com/office/drawing/2014/main" id="{FB462DF3-8568-4B13-9324-F94864CAC689}"/>
              </a:ext>
            </a:extLst>
          </p:cNvPr>
          <p:cNvGraphicFramePr>
            <a:graphicFrameLocks/>
          </p:cNvGraphicFramePr>
          <p:nvPr/>
        </p:nvGraphicFramePr>
        <p:xfrm>
          <a:off x="4830763" y="2871788"/>
          <a:ext cx="215900" cy="269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36" name="公式" r:id="rId15" imgW="218967" imgH="276157" progId="Equation.3">
                  <p:embed/>
                </p:oleObj>
              </mc:Choice>
              <mc:Fallback>
                <p:oleObj name="公式" r:id="rId15" imgW="218967" imgH="276157" progId="Equation.3">
                  <p:embed/>
                  <p:pic>
                    <p:nvPicPr>
                      <p:cNvPr id="28722" name="Object 2">
                        <a:extLst>
                          <a:ext uri="{FF2B5EF4-FFF2-40B4-BE49-F238E27FC236}">
                            <a16:creationId xmlns:a16="http://schemas.microsoft.com/office/drawing/2014/main" id="{FB462DF3-8568-4B13-9324-F94864CAC68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30763" y="2871788"/>
                        <a:ext cx="215900" cy="269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723" name="Object 3">
            <a:extLst>
              <a:ext uri="{FF2B5EF4-FFF2-40B4-BE49-F238E27FC236}">
                <a16:creationId xmlns:a16="http://schemas.microsoft.com/office/drawing/2014/main" id="{2EF245B0-75EC-44F4-8A81-068032BDA09C}"/>
              </a:ext>
            </a:extLst>
          </p:cNvPr>
          <p:cNvGraphicFramePr>
            <a:graphicFrameLocks/>
          </p:cNvGraphicFramePr>
          <p:nvPr/>
        </p:nvGraphicFramePr>
        <p:xfrm>
          <a:off x="7899400" y="2857500"/>
          <a:ext cx="173038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37" name="公式" r:id="rId17" imgW="181045" imgH="266666" progId="Equation.3">
                  <p:embed/>
                </p:oleObj>
              </mc:Choice>
              <mc:Fallback>
                <p:oleObj name="公式" r:id="rId17" imgW="181045" imgH="266666" progId="Equation.3">
                  <p:embed/>
                  <p:pic>
                    <p:nvPicPr>
                      <p:cNvPr id="28723" name="Object 3">
                        <a:extLst>
                          <a:ext uri="{FF2B5EF4-FFF2-40B4-BE49-F238E27FC236}">
                            <a16:creationId xmlns:a16="http://schemas.microsoft.com/office/drawing/2014/main" id="{2EF245B0-75EC-44F4-8A81-068032BDA09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99400" y="2857500"/>
                        <a:ext cx="173038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724" name="Object 4">
            <a:extLst>
              <a:ext uri="{FF2B5EF4-FFF2-40B4-BE49-F238E27FC236}">
                <a16:creationId xmlns:a16="http://schemas.microsoft.com/office/drawing/2014/main" id="{FBAEF773-7D3F-4D60-A9EE-B08B0DAF91AB}"/>
              </a:ext>
            </a:extLst>
          </p:cNvPr>
          <p:cNvGraphicFramePr>
            <a:graphicFrameLocks/>
          </p:cNvGraphicFramePr>
          <p:nvPr/>
        </p:nvGraphicFramePr>
        <p:xfrm>
          <a:off x="6500813" y="4311650"/>
          <a:ext cx="173037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38" name="公式" r:id="rId19" imgW="181045" imgH="266666" progId="Equation.3">
                  <p:embed/>
                </p:oleObj>
              </mc:Choice>
              <mc:Fallback>
                <p:oleObj name="公式" r:id="rId19" imgW="181045" imgH="266666" progId="Equation.3">
                  <p:embed/>
                  <p:pic>
                    <p:nvPicPr>
                      <p:cNvPr id="28724" name="Object 4">
                        <a:extLst>
                          <a:ext uri="{FF2B5EF4-FFF2-40B4-BE49-F238E27FC236}">
                            <a16:creationId xmlns:a16="http://schemas.microsoft.com/office/drawing/2014/main" id="{FBAEF773-7D3F-4D60-A9EE-B08B0DAF91A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00813" y="4311650"/>
                        <a:ext cx="173037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725" name="Object 5">
            <a:extLst>
              <a:ext uri="{FF2B5EF4-FFF2-40B4-BE49-F238E27FC236}">
                <a16:creationId xmlns:a16="http://schemas.microsoft.com/office/drawing/2014/main" id="{D7B8FC97-15F8-4A8E-A21A-9947F397F98E}"/>
              </a:ext>
            </a:extLst>
          </p:cNvPr>
          <p:cNvGraphicFramePr>
            <a:graphicFrameLocks/>
          </p:cNvGraphicFramePr>
          <p:nvPr/>
        </p:nvGraphicFramePr>
        <p:xfrm>
          <a:off x="6819900" y="2254250"/>
          <a:ext cx="111125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39" name="公式" r:id="rId21" imgW="104896" imgH="266666" progId="Equation.3">
                  <p:embed/>
                </p:oleObj>
              </mc:Choice>
              <mc:Fallback>
                <p:oleObj name="公式" r:id="rId21" imgW="104896" imgH="266666" progId="Equation.3">
                  <p:embed/>
                  <p:pic>
                    <p:nvPicPr>
                      <p:cNvPr id="28725" name="Object 5">
                        <a:extLst>
                          <a:ext uri="{FF2B5EF4-FFF2-40B4-BE49-F238E27FC236}">
                            <a16:creationId xmlns:a16="http://schemas.microsoft.com/office/drawing/2014/main" id="{D7B8FC97-15F8-4A8E-A21A-9947F397F98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19900" y="2254250"/>
                        <a:ext cx="111125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726" name="Object 6">
            <a:extLst>
              <a:ext uri="{FF2B5EF4-FFF2-40B4-BE49-F238E27FC236}">
                <a16:creationId xmlns:a16="http://schemas.microsoft.com/office/drawing/2014/main" id="{18036EBE-D6A8-45F7-8ECF-14FF039CE879}"/>
              </a:ext>
            </a:extLst>
          </p:cNvPr>
          <p:cNvGraphicFramePr>
            <a:graphicFrameLocks/>
          </p:cNvGraphicFramePr>
          <p:nvPr/>
        </p:nvGraphicFramePr>
        <p:xfrm>
          <a:off x="6854825" y="4286250"/>
          <a:ext cx="111125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40" name="公式" r:id="rId23" imgW="104896" imgH="266666" progId="Equation.3">
                  <p:embed/>
                </p:oleObj>
              </mc:Choice>
              <mc:Fallback>
                <p:oleObj name="公式" r:id="rId23" imgW="104896" imgH="266666" progId="Equation.3">
                  <p:embed/>
                  <p:pic>
                    <p:nvPicPr>
                      <p:cNvPr id="28726" name="Object 6">
                        <a:extLst>
                          <a:ext uri="{FF2B5EF4-FFF2-40B4-BE49-F238E27FC236}">
                            <a16:creationId xmlns:a16="http://schemas.microsoft.com/office/drawing/2014/main" id="{18036EBE-D6A8-45F7-8ECF-14FF039CE87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4825" y="4286250"/>
                        <a:ext cx="111125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727" name="Line 55">
            <a:extLst>
              <a:ext uri="{FF2B5EF4-FFF2-40B4-BE49-F238E27FC236}">
                <a16:creationId xmlns:a16="http://schemas.microsoft.com/office/drawing/2014/main" id="{1E6585C0-121E-43BD-A814-40FDD8533A51}"/>
              </a:ext>
            </a:extLst>
          </p:cNvPr>
          <p:cNvSpPr>
            <a:spLocks noChangeShapeType="1"/>
          </p:cNvSpPr>
          <p:nvPr/>
        </p:nvSpPr>
        <p:spPr bwMode="auto">
          <a:xfrm>
            <a:off x="6664325" y="3005138"/>
            <a:ext cx="106363" cy="6985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728" name="Line 56">
            <a:extLst>
              <a:ext uri="{FF2B5EF4-FFF2-40B4-BE49-F238E27FC236}">
                <a16:creationId xmlns:a16="http://schemas.microsoft.com/office/drawing/2014/main" id="{AE0F1F89-CA7E-49AF-ADFD-5A54AD9564D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751638" y="2901950"/>
            <a:ext cx="34925" cy="176213"/>
          </a:xfrm>
          <a:prstGeom prst="line">
            <a:avLst/>
          </a:prstGeom>
          <a:noFill/>
          <a:ln w="19050">
            <a:solidFill>
              <a:srgbClr val="99FF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729" name="Line 57">
            <a:extLst>
              <a:ext uri="{FF2B5EF4-FFF2-40B4-BE49-F238E27FC236}">
                <a16:creationId xmlns:a16="http://schemas.microsoft.com/office/drawing/2014/main" id="{DFFD89DB-70DF-4C06-A817-D6D556A468A4}"/>
              </a:ext>
            </a:extLst>
          </p:cNvPr>
          <p:cNvSpPr>
            <a:spLocks noChangeShapeType="1"/>
          </p:cNvSpPr>
          <p:nvPr/>
        </p:nvSpPr>
        <p:spPr bwMode="auto">
          <a:xfrm>
            <a:off x="6692900" y="2944813"/>
            <a:ext cx="69850" cy="106362"/>
          </a:xfrm>
          <a:prstGeom prst="line">
            <a:avLst/>
          </a:prstGeom>
          <a:noFill/>
          <a:ln w="19050">
            <a:solidFill>
              <a:srgbClr val="99FF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730" name="Line 58">
            <a:extLst>
              <a:ext uri="{FF2B5EF4-FFF2-40B4-BE49-F238E27FC236}">
                <a16:creationId xmlns:a16="http://schemas.microsoft.com/office/drawing/2014/main" id="{549D0A68-6426-4F98-A588-2C0F07D59BAC}"/>
              </a:ext>
            </a:extLst>
          </p:cNvPr>
          <p:cNvSpPr>
            <a:spLocks noChangeShapeType="1"/>
          </p:cNvSpPr>
          <p:nvPr/>
        </p:nvSpPr>
        <p:spPr bwMode="auto">
          <a:xfrm>
            <a:off x="6773863" y="3094038"/>
            <a:ext cx="0" cy="1792287"/>
          </a:xfrm>
          <a:prstGeom prst="line">
            <a:avLst/>
          </a:prstGeom>
          <a:noFill/>
          <a:ln w="19050">
            <a:solidFill>
              <a:srgbClr val="99FF6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731" name="Line 59">
            <a:extLst>
              <a:ext uri="{FF2B5EF4-FFF2-40B4-BE49-F238E27FC236}">
                <a16:creationId xmlns:a16="http://schemas.microsoft.com/office/drawing/2014/main" id="{8C630646-2388-4DFF-9088-0E5EC4A3E4C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316788" y="3074988"/>
            <a:ext cx="176212" cy="69850"/>
          </a:xfrm>
          <a:prstGeom prst="line">
            <a:avLst/>
          </a:prstGeom>
          <a:noFill/>
          <a:ln w="19050">
            <a:solidFill>
              <a:srgbClr val="FF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732" name="Line 60">
            <a:extLst>
              <a:ext uri="{FF2B5EF4-FFF2-40B4-BE49-F238E27FC236}">
                <a16:creationId xmlns:a16="http://schemas.microsoft.com/office/drawing/2014/main" id="{25B0EE74-5A36-48EB-9096-743E4D1AD47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264400" y="3133725"/>
            <a:ext cx="177800" cy="69850"/>
          </a:xfrm>
          <a:prstGeom prst="line">
            <a:avLst/>
          </a:prstGeom>
          <a:noFill/>
          <a:ln w="19050">
            <a:solidFill>
              <a:srgbClr val="FF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733" name="Line 61">
            <a:extLst>
              <a:ext uri="{FF2B5EF4-FFF2-40B4-BE49-F238E27FC236}">
                <a16:creationId xmlns:a16="http://schemas.microsoft.com/office/drawing/2014/main" id="{D0EC66D1-17FF-4EEB-AF54-DE78C9FC1A05}"/>
              </a:ext>
            </a:extLst>
          </p:cNvPr>
          <p:cNvSpPr>
            <a:spLocks noChangeShapeType="1"/>
          </p:cNvSpPr>
          <p:nvPr/>
        </p:nvSpPr>
        <p:spPr bwMode="auto">
          <a:xfrm>
            <a:off x="6732588" y="3132138"/>
            <a:ext cx="0" cy="1741487"/>
          </a:xfrm>
          <a:prstGeom prst="line">
            <a:avLst/>
          </a:prstGeom>
          <a:noFill/>
          <a:ln w="19050">
            <a:solidFill>
              <a:srgbClr val="FF99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8734" name="Object 7">
            <a:extLst>
              <a:ext uri="{FF2B5EF4-FFF2-40B4-BE49-F238E27FC236}">
                <a16:creationId xmlns:a16="http://schemas.microsoft.com/office/drawing/2014/main" id="{A1EC1F32-FA94-436B-B585-BCD898992F8F}"/>
              </a:ext>
            </a:extLst>
          </p:cNvPr>
          <p:cNvGraphicFramePr>
            <a:graphicFrameLocks noGrp="1"/>
          </p:cNvGraphicFramePr>
          <p:nvPr>
            <p:ph sz="quarter" idx="4294967295"/>
            <p:extLst/>
          </p:nvPr>
        </p:nvGraphicFramePr>
        <p:xfrm>
          <a:off x="1115616" y="2957513"/>
          <a:ext cx="914400" cy="28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41" name="公式" r:id="rId25" imgW="981069" imgH="276157" progId="Equation.3">
                  <p:embed/>
                </p:oleObj>
              </mc:Choice>
              <mc:Fallback>
                <p:oleObj name="公式" r:id="rId25" imgW="981069" imgH="276157" progId="Equation.3">
                  <p:embed/>
                  <p:pic>
                    <p:nvPicPr>
                      <p:cNvPr id="28734" name="Object 7">
                        <a:extLst>
                          <a:ext uri="{FF2B5EF4-FFF2-40B4-BE49-F238E27FC236}">
                            <a16:creationId xmlns:a16="http://schemas.microsoft.com/office/drawing/2014/main" id="{A1EC1F32-FA94-436B-B585-BCD898992F8F}"/>
                          </a:ext>
                        </a:extLst>
                      </p:cNvPr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5616" y="2957513"/>
                        <a:ext cx="914400" cy="285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8735" name="Object 8">
                <a:extLst>
                  <a:ext uri="{FF2B5EF4-FFF2-40B4-BE49-F238E27FC236}">
                    <a16:creationId xmlns:a16="http://schemas.microsoft.com/office/drawing/2014/main" id="{994083B9-6E24-4E33-91CC-5A8D29940B87}"/>
                  </a:ext>
                </a:extLst>
              </p:cNvPr>
              <p:cNvSpPr txBox="1">
                <a:spLocks noGrp="1"/>
              </p:cNvSpPr>
              <p:nvPr>
                <p:ph sz="quarter" idx="4294967295"/>
              </p:nvPr>
            </p:nvSpPr>
            <p:spPr bwMode="auto">
              <a:xfrm>
                <a:off x="7023100" y="1393824"/>
                <a:ext cx="719138" cy="461963"/>
              </a:xfrm>
              <a:prstGeom prst="rect">
                <a:avLst/>
              </a:prstGeom>
              <a:noFill/>
              <a:ln>
                <a:noFill/>
              </a:ln>
              <a:effectLst/>
              <a:extLst/>
            </p:spPr>
            <p:txBody>
              <a:bodyPr>
                <a:normAutofit fontScale="70000" lnSpcReduction="20000"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  <m:sub>
                          <m:r>
                            <a:rPr lang="en-US" altLang="zh-CN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8735" name="Object 8">
                <a:extLst>
                  <a:ext uri="{FF2B5EF4-FFF2-40B4-BE49-F238E27FC236}">
                    <a16:creationId xmlns:a16="http://schemas.microsoft.com/office/drawing/2014/main" id="{994083B9-6E24-4E33-91CC-5A8D29940B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sz="quarter" idx="4294967295"/>
              </p:nvPr>
            </p:nvSpPr>
            <p:spPr bwMode="auto">
              <a:xfrm>
                <a:off x="7023100" y="1393824"/>
                <a:ext cx="719138" cy="461963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8736" name="Object 9">
            <a:extLst>
              <a:ext uri="{FF2B5EF4-FFF2-40B4-BE49-F238E27FC236}">
                <a16:creationId xmlns:a16="http://schemas.microsoft.com/office/drawing/2014/main" id="{0FD736FA-3DA0-4205-A9B9-5A8BBE9AEF53}"/>
              </a:ext>
            </a:extLst>
          </p:cNvPr>
          <p:cNvGraphicFramePr>
            <a:graphicFrameLocks/>
          </p:cNvGraphicFramePr>
          <p:nvPr/>
        </p:nvGraphicFramePr>
        <p:xfrm>
          <a:off x="1131888" y="5000625"/>
          <a:ext cx="3255962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42" name="公式" r:id="rId28" imgW="3581451" imgH="790507" progId="Equation.3">
                  <p:embed/>
                </p:oleObj>
              </mc:Choice>
              <mc:Fallback>
                <p:oleObj name="公式" r:id="rId28" imgW="3581451" imgH="790507" progId="Equation.3">
                  <p:embed/>
                  <p:pic>
                    <p:nvPicPr>
                      <p:cNvPr id="28736" name="Object 9">
                        <a:extLst>
                          <a:ext uri="{FF2B5EF4-FFF2-40B4-BE49-F238E27FC236}">
                            <a16:creationId xmlns:a16="http://schemas.microsoft.com/office/drawing/2014/main" id="{0FD736FA-3DA0-4205-A9B9-5A8BBE9AEF5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1888" y="5000625"/>
                        <a:ext cx="3255962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737" name="Object 10">
            <a:extLst>
              <a:ext uri="{FF2B5EF4-FFF2-40B4-BE49-F238E27FC236}">
                <a16:creationId xmlns:a16="http://schemas.microsoft.com/office/drawing/2014/main" id="{70622063-2251-41EC-AC42-08BD43250E60}"/>
              </a:ext>
            </a:extLst>
          </p:cNvPr>
          <p:cNvGraphicFramePr>
            <a:graphicFrameLocks/>
          </p:cNvGraphicFramePr>
          <p:nvPr/>
        </p:nvGraphicFramePr>
        <p:xfrm>
          <a:off x="1130300" y="5889625"/>
          <a:ext cx="3656013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43" name="公式" r:id="rId30" imgW="4029171" imgH="790507" progId="Equation.3">
                  <p:embed/>
                </p:oleObj>
              </mc:Choice>
              <mc:Fallback>
                <p:oleObj name="公式" r:id="rId30" imgW="4029171" imgH="790507" progId="Equation.3">
                  <p:embed/>
                  <p:pic>
                    <p:nvPicPr>
                      <p:cNvPr id="28737" name="Object 10">
                        <a:extLst>
                          <a:ext uri="{FF2B5EF4-FFF2-40B4-BE49-F238E27FC236}">
                            <a16:creationId xmlns:a16="http://schemas.microsoft.com/office/drawing/2014/main" id="{70622063-2251-41EC-AC42-08BD43250E6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0300" y="5889625"/>
                        <a:ext cx="3656013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98">
            <a:extLst>
              <a:ext uri="{FF2B5EF4-FFF2-40B4-BE49-F238E27FC236}">
                <a16:creationId xmlns:a16="http://schemas.microsoft.com/office/drawing/2014/main" id="{6C5D33E3-B865-40A1-9704-7E2B8312F2AD}"/>
              </a:ext>
            </a:extLst>
          </p:cNvPr>
          <p:cNvGrpSpPr>
            <a:grpSpLocks/>
          </p:cNvGrpSpPr>
          <p:nvPr/>
        </p:nvGrpSpPr>
        <p:grpSpPr bwMode="auto">
          <a:xfrm>
            <a:off x="5214938" y="1417638"/>
            <a:ext cx="915987" cy="774700"/>
            <a:chOff x="3285" y="893"/>
            <a:chExt cx="577" cy="488"/>
          </a:xfrm>
        </p:grpSpPr>
        <p:sp>
          <p:nvSpPr>
            <p:cNvPr id="15423" name="Line 66">
              <a:extLst>
                <a:ext uri="{FF2B5EF4-FFF2-40B4-BE49-F238E27FC236}">
                  <a16:creationId xmlns:a16="http://schemas.microsoft.com/office/drawing/2014/main" id="{2CC8145A-06AA-48D5-A3EC-600B2EF572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78" y="1058"/>
              <a:ext cx="384" cy="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24" name="Line 67">
              <a:extLst>
                <a:ext uri="{FF2B5EF4-FFF2-40B4-BE49-F238E27FC236}">
                  <a16:creationId xmlns:a16="http://schemas.microsoft.com/office/drawing/2014/main" id="{451DF750-16E7-49FA-8DD1-9A41F03352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78" y="1233"/>
              <a:ext cx="384" cy="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25" name="Line 68">
              <a:extLst>
                <a:ext uri="{FF2B5EF4-FFF2-40B4-BE49-F238E27FC236}">
                  <a16:creationId xmlns:a16="http://schemas.microsoft.com/office/drawing/2014/main" id="{04C7C774-7CA5-4AFA-B9BB-8DC82A926C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70" y="893"/>
              <a:ext cx="0" cy="144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26" name="Line 69">
              <a:extLst>
                <a:ext uri="{FF2B5EF4-FFF2-40B4-BE49-F238E27FC236}">
                  <a16:creationId xmlns:a16="http://schemas.microsoft.com/office/drawing/2014/main" id="{231E00A9-79A4-459A-96B2-68308FCA5D7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70" y="1245"/>
              <a:ext cx="0" cy="136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27" name="Rectangle 70">
              <a:extLst>
                <a:ext uri="{FF2B5EF4-FFF2-40B4-BE49-F238E27FC236}">
                  <a16:creationId xmlns:a16="http://schemas.microsoft.com/office/drawing/2014/main" id="{6FF83B78-38B5-444A-8381-3580509140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5" y="990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i="1">
                  <a:solidFill>
                    <a:srgbClr val="EDFE4A"/>
                  </a:solidFill>
                </a:rPr>
                <a:t>d</a:t>
              </a:r>
              <a:endParaRPr lang="en-US" altLang="zh-CN" i="1" baseline="30000">
                <a:solidFill>
                  <a:srgbClr val="EDFE4A"/>
                </a:solidFill>
              </a:endParaRPr>
            </a:p>
          </p:txBody>
        </p:sp>
      </p:grpSp>
      <p:grpSp>
        <p:nvGrpSpPr>
          <p:cNvPr id="6" name="Group 71">
            <a:extLst>
              <a:ext uri="{FF2B5EF4-FFF2-40B4-BE49-F238E27FC236}">
                <a16:creationId xmlns:a16="http://schemas.microsoft.com/office/drawing/2014/main" id="{C7E89C7B-E3E3-4290-9839-3143D80ECD14}"/>
              </a:ext>
            </a:extLst>
          </p:cNvPr>
          <p:cNvGrpSpPr>
            <a:grpSpLocks/>
          </p:cNvGrpSpPr>
          <p:nvPr/>
        </p:nvGrpSpPr>
        <p:grpSpPr bwMode="auto">
          <a:xfrm>
            <a:off x="6170613" y="1528763"/>
            <a:ext cx="919162" cy="134937"/>
            <a:chOff x="4004" y="645"/>
            <a:chExt cx="579" cy="85"/>
          </a:xfrm>
        </p:grpSpPr>
        <p:sp>
          <p:nvSpPr>
            <p:cNvPr id="15412" name="Line 72">
              <a:extLst>
                <a:ext uri="{FF2B5EF4-FFF2-40B4-BE49-F238E27FC236}">
                  <a16:creationId xmlns:a16="http://schemas.microsoft.com/office/drawing/2014/main" id="{09F4AAFC-8A5A-4AFD-B40E-29C86B96AA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04" y="730"/>
              <a:ext cx="557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13" name="Line 73">
              <a:extLst>
                <a:ext uri="{FF2B5EF4-FFF2-40B4-BE49-F238E27FC236}">
                  <a16:creationId xmlns:a16="http://schemas.microsoft.com/office/drawing/2014/main" id="{59973A20-7730-459C-BEBE-0AE22F12318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32" y="645"/>
              <a:ext cx="67" cy="67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14" name="Line 74">
              <a:extLst>
                <a:ext uri="{FF2B5EF4-FFF2-40B4-BE49-F238E27FC236}">
                  <a16:creationId xmlns:a16="http://schemas.microsoft.com/office/drawing/2014/main" id="{06E6B284-BC76-47CB-9B4D-C8E37E57EB1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97" y="645"/>
              <a:ext cx="66" cy="67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15" name="Line 75">
              <a:extLst>
                <a:ext uri="{FF2B5EF4-FFF2-40B4-BE49-F238E27FC236}">
                  <a16:creationId xmlns:a16="http://schemas.microsoft.com/office/drawing/2014/main" id="{FEA5ECB3-EFBA-4DDC-9FAF-39164175BE4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87" y="645"/>
              <a:ext cx="66" cy="67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16" name="Line 76">
              <a:extLst>
                <a:ext uri="{FF2B5EF4-FFF2-40B4-BE49-F238E27FC236}">
                  <a16:creationId xmlns:a16="http://schemas.microsoft.com/office/drawing/2014/main" id="{6A7813AB-5489-4110-9A0E-8D3C6D9A76A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07" y="645"/>
              <a:ext cx="66" cy="67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17" name="Line 77">
              <a:extLst>
                <a:ext uri="{FF2B5EF4-FFF2-40B4-BE49-F238E27FC236}">
                  <a16:creationId xmlns:a16="http://schemas.microsoft.com/office/drawing/2014/main" id="{5A6F844F-2C54-4A05-9DD7-B51BA69784D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77" y="645"/>
              <a:ext cx="66" cy="67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18" name="Line 78">
              <a:extLst>
                <a:ext uri="{FF2B5EF4-FFF2-40B4-BE49-F238E27FC236}">
                  <a16:creationId xmlns:a16="http://schemas.microsoft.com/office/drawing/2014/main" id="{7EF7BF88-C72B-4401-94B6-F05671AB91F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42" y="645"/>
              <a:ext cx="67" cy="67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19" name="Line 79">
              <a:extLst>
                <a:ext uri="{FF2B5EF4-FFF2-40B4-BE49-F238E27FC236}">
                  <a16:creationId xmlns:a16="http://schemas.microsoft.com/office/drawing/2014/main" id="{F79F6A14-5F53-426E-A217-87AAF008012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52" y="645"/>
              <a:ext cx="67" cy="67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20" name="Line 80">
              <a:extLst>
                <a:ext uri="{FF2B5EF4-FFF2-40B4-BE49-F238E27FC236}">
                  <a16:creationId xmlns:a16="http://schemas.microsoft.com/office/drawing/2014/main" id="{35D5942E-6FA9-4082-A427-5110BBFA9BD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62" y="645"/>
              <a:ext cx="67" cy="67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21" name="Line 81">
              <a:extLst>
                <a:ext uri="{FF2B5EF4-FFF2-40B4-BE49-F238E27FC236}">
                  <a16:creationId xmlns:a16="http://schemas.microsoft.com/office/drawing/2014/main" id="{8500A42F-B328-4B16-926E-82A87CBB4A2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17" y="645"/>
              <a:ext cx="66" cy="67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22" name="Line 82">
              <a:extLst>
                <a:ext uri="{FF2B5EF4-FFF2-40B4-BE49-F238E27FC236}">
                  <a16:creationId xmlns:a16="http://schemas.microsoft.com/office/drawing/2014/main" id="{CEAC9A9D-AB5C-4203-8A46-F16F5BD9681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21" y="645"/>
              <a:ext cx="67" cy="67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28755" name="Object 11">
            <a:extLst>
              <a:ext uri="{FF2B5EF4-FFF2-40B4-BE49-F238E27FC236}">
                <a16:creationId xmlns:a16="http://schemas.microsoft.com/office/drawing/2014/main" id="{30803892-A789-415F-85BF-A44B9982D8A9}"/>
              </a:ext>
            </a:extLst>
          </p:cNvPr>
          <p:cNvGraphicFramePr>
            <a:graphicFrameLocks noGrp="1"/>
          </p:cNvGraphicFramePr>
          <p:nvPr>
            <p:ph sz="quarter" idx="4294967295"/>
            <p:extLst/>
          </p:nvPr>
        </p:nvGraphicFramePr>
        <p:xfrm>
          <a:off x="1115616" y="4114800"/>
          <a:ext cx="1416050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44" name="公式" r:id="rId32" imgW="1533378" imgH="790507" progId="Equation.3">
                  <p:embed/>
                </p:oleObj>
              </mc:Choice>
              <mc:Fallback>
                <p:oleObj name="公式" r:id="rId32" imgW="1533378" imgH="790507" progId="Equation.3">
                  <p:embed/>
                  <p:pic>
                    <p:nvPicPr>
                      <p:cNvPr id="28755" name="Object 11">
                        <a:extLst>
                          <a:ext uri="{FF2B5EF4-FFF2-40B4-BE49-F238E27FC236}">
                            <a16:creationId xmlns:a16="http://schemas.microsoft.com/office/drawing/2014/main" id="{30803892-A789-415F-85BF-A44B9982D8A9}"/>
                          </a:ext>
                        </a:extLst>
                      </p:cNvPr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5616" y="4114800"/>
                        <a:ext cx="1416050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756" name="Text Box 84">
            <a:extLst>
              <a:ext uri="{FF2B5EF4-FFF2-40B4-BE49-F238E27FC236}">
                <a16:creationId xmlns:a16="http://schemas.microsoft.com/office/drawing/2014/main" id="{DA88CB85-D30B-4FD7-ACF3-1437E391B9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0" y="5148263"/>
            <a:ext cx="362426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0"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加强（干涉相长） 明纹</a:t>
            </a:r>
          </a:p>
        </p:txBody>
      </p:sp>
      <p:sp>
        <p:nvSpPr>
          <p:cNvPr id="28757" name="Text Box 85">
            <a:extLst>
              <a:ext uri="{FF2B5EF4-FFF2-40B4-BE49-F238E27FC236}">
                <a16:creationId xmlns:a16="http://schemas.microsoft.com/office/drawing/2014/main" id="{16F8A5BA-2996-45C7-8168-914813AF04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19663" y="5973763"/>
            <a:ext cx="37560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0"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减弱（干涉相消） 暗纹</a:t>
            </a:r>
          </a:p>
        </p:txBody>
      </p:sp>
      <p:sp>
        <p:nvSpPr>
          <p:cNvPr id="28758" name="Text Box 86">
            <a:extLst>
              <a:ext uri="{FF2B5EF4-FFF2-40B4-BE49-F238E27FC236}">
                <a16:creationId xmlns:a16="http://schemas.microsoft.com/office/drawing/2014/main" id="{1C153CC8-E9B5-4D05-999B-63C602C428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938" y="1643063"/>
            <a:ext cx="18002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0" lang="zh-CN" altLang="en-US">
                <a:solidFill>
                  <a:schemeClr val="bg1"/>
                </a:solidFill>
                <a:latin typeface="Arial" panose="020B0604020202020204" pitchFamily="34" charset="0"/>
              </a:rPr>
              <a:t>光程差</a:t>
            </a:r>
          </a:p>
        </p:txBody>
      </p:sp>
      <p:sp>
        <p:nvSpPr>
          <p:cNvPr id="28759" name="Text Box 87">
            <a:extLst>
              <a:ext uri="{FF2B5EF4-FFF2-40B4-BE49-F238E27FC236}">
                <a16:creationId xmlns:a16="http://schemas.microsoft.com/office/drawing/2014/main" id="{A9CFE0FC-0DF7-4E44-AAB6-15CE215A8A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1603" y="2886075"/>
            <a:ext cx="313372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0" lang="zh-CN" altLang="en-US" sz="2000" dirty="0">
                <a:solidFill>
                  <a:schemeClr val="bg1"/>
                </a:solidFill>
                <a:ea typeface="楷体_GB2312" pitchFamily="49" charset="-122"/>
              </a:rPr>
              <a:t>（相当于不考虑半波损）</a:t>
            </a:r>
            <a:endParaRPr kumimoji="0" lang="en-US" altLang="zh-CN" sz="2000" dirty="0">
              <a:solidFill>
                <a:schemeClr val="bg1"/>
              </a:solidFill>
              <a:ea typeface="楷体_GB2312" pitchFamily="49" charset="-122"/>
            </a:endParaRPr>
          </a:p>
        </p:txBody>
      </p:sp>
      <p:sp>
        <p:nvSpPr>
          <p:cNvPr id="28760" name="Text Box 88">
            <a:extLst>
              <a:ext uri="{FF2B5EF4-FFF2-40B4-BE49-F238E27FC236}">
                <a16:creationId xmlns:a16="http://schemas.microsoft.com/office/drawing/2014/main" id="{8F78A0FC-D4F2-4E9F-830D-6A3A46E72F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7675" y="4257675"/>
            <a:ext cx="18002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0" lang="en-US" altLang="zh-CN" sz="2000" dirty="0">
                <a:solidFill>
                  <a:schemeClr val="bg1"/>
                </a:solidFill>
                <a:ea typeface="楷体_GB2312" pitchFamily="49" charset="-122"/>
              </a:rPr>
              <a:t>(</a:t>
            </a:r>
            <a:r>
              <a:rPr kumimoji="0" lang="zh-CN" altLang="en-US" sz="2000" dirty="0">
                <a:solidFill>
                  <a:schemeClr val="bg1"/>
                </a:solidFill>
                <a:ea typeface="楷体_GB2312" pitchFamily="49" charset="-122"/>
              </a:rPr>
              <a:t>有半波损失</a:t>
            </a:r>
            <a:r>
              <a:rPr kumimoji="0" lang="en-US" altLang="zh-CN" sz="2000" dirty="0">
                <a:solidFill>
                  <a:schemeClr val="bg1"/>
                </a:solidFill>
                <a:ea typeface="楷体_GB2312" pitchFamily="49" charset="-122"/>
              </a:rPr>
              <a:t>)</a:t>
            </a:r>
          </a:p>
        </p:txBody>
      </p:sp>
      <p:grpSp>
        <p:nvGrpSpPr>
          <p:cNvPr id="7" name="组合 96">
            <a:extLst>
              <a:ext uri="{FF2B5EF4-FFF2-40B4-BE49-F238E27FC236}">
                <a16:creationId xmlns:a16="http://schemas.microsoft.com/office/drawing/2014/main" id="{21E1C1B2-BE93-48C6-A124-BBE0B0E7F2C4}"/>
              </a:ext>
            </a:extLst>
          </p:cNvPr>
          <p:cNvGrpSpPr>
            <a:grpSpLocks/>
          </p:cNvGrpSpPr>
          <p:nvPr/>
        </p:nvGrpSpPr>
        <p:grpSpPr bwMode="auto">
          <a:xfrm>
            <a:off x="7286625" y="1100138"/>
            <a:ext cx="1214438" cy="1328737"/>
            <a:chOff x="7286644" y="1100064"/>
            <a:chExt cx="1214446" cy="1328804"/>
          </a:xfrm>
        </p:grpSpPr>
        <p:cxnSp>
          <p:nvCxnSpPr>
            <p:cNvPr id="15410" name="直接箭头连接符 89">
              <a:extLst>
                <a:ext uri="{FF2B5EF4-FFF2-40B4-BE49-F238E27FC236}">
                  <a16:creationId xmlns:a16="http://schemas.microsoft.com/office/drawing/2014/main" id="{8D00256A-5AC9-4D41-BB0B-C5CBDBC3567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H="1" flipV="1">
              <a:off x="7215206" y="1571612"/>
              <a:ext cx="928694" cy="785818"/>
            </a:xfrm>
            <a:prstGeom prst="straightConnector1">
              <a:avLst/>
            </a:prstGeom>
            <a:noFill/>
            <a:ln w="25400" algn="ctr">
              <a:solidFill>
                <a:schemeClr val="bg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5411" name="矩形 92">
              <a:extLst>
                <a:ext uri="{FF2B5EF4-FFF2-40B4-BE49-F238E27FC236}">
                  <a16:creationId xmlns:a16="http://schemas.microsoft.com/office/drawing/2014/main" id="{C2B04E9A-A905-47CA-9554-74004EF4C2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42173" y="1100064"/>
              <a:ext cx="95891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solidFill>
                    <a:schemeClr val="bg1"/>
                  </a:solidFill>
                </a:rPr>
                <a:t>分光板</a:t>
              </a:r>
            </a:p>
          </p:txBody>
        </p:sp>
      </p:grpSp>
      <p:grpSp>
        <p:nvGrpSpPr>
          <p:cNvPr id="8" name="组合 97">
            <a:extLst>
              <a:ext uri="{FF2B5EF4-FFF2-40B4-BE49-F238E27FC236}">
                <a16:creationId xmlns:a16="http://schemas.microsoft.com/office/drawing/2014/main" id="{707AB775-8EB5-4E8C-AA03-AC9CC6F23BCF}"/>
              </a:ext>
            </a:extLst>
          </p:cNvPr>
          <p:cNvGrpSpPr>
            <a:grpSpLocks/>
          </p:cNvGrpSpPr>
          <p:nvPr/>
        </p:nvGrpSpPr>
        <p:grpSpPr bwMode="auto">
          <a:xfrm>
            <a:off x="7929563" y="1885950"/>
            <a:ext cx="1030287" cy="685800"/>
            <a:chOff x="7929586" y="1885882"/>
            <a:chExt cx="1030355" cy="685862"/>
          </a:xfrm>
        </p:grpSpPr>
        <p:cxnSp>
          <p:nvCxnSpPr>
            <p:cNvPr id="15408" name="直接箭头连接符 91">
              <a:extLst>
                <a:ext uri="{FF2B5EF4-FFF2-40B4-BE49-F238E27FC236}">
                  <a16:creationId xmlns:a16="http://schemas.microsoft.com/office/drawing/2014/main" id="{6B8865E1-544D-4436-8B94-69A7CD7C168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H="1" flipV="1">
              <a:off x="7929586" y="2285992"/>
              <a:ext cx="285752" cy="285752"/>
            </a:xfrm>
            <a:prstGeom prst="straightConnector1">
              <a:avLst/>
            </a:prstGeom>
            <a:noFill/>
            <a:ln w="25400" algn="ctr">
              <a:solidFill>
                <a:schemeClr val="bg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5409" name="矩形 93">
              <a:extLst>
                <a:ext uri="{FF2B5EF4-FFF2-40B4-BE49-F238E27FC236}">
                  <a16:creationId xmlns:a16="http://schemas.microsoft.com/office/drawing/2014/main" id="{7A28AE0B-AB22-44F2-A6C8-302772CC77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01024" y="1885882"/>
              <a:ext cx="95891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solidFill>
                    <a:schemeClr val="bg1"/>
                  </a:solidFill>
                </a:rPr>
                <a:t>补光板</a:t>
              </a:r>
            </a:p>
          </p:txBody>
        </p:sp>
      </p:grpSp>
      <p:sp>
        <p:nvSpPr>
          <p:cNvPr id="15400" name="灯片编号占位符 1">
            <a:extLst>
              <a:ext uri="{FF2B5EF4-FFF2-40B4-BE49-F238E27FC236}">
                <a16:creationId xmlns:a16="http://schemas.microsoft.com/office/drawing/2014/main" id="{2575BE46-FFE6-43C8-84FA-62E5111191B7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32C0EEB-C05C-4550-8449-AF10CDBE3539}" type="slidenum">
              <a:rPr lang="en-US" altLang="zh-CN" b="0">
                <a:solidFill>
                  <a:srgbClr val="FF00FF"/>
                </a:solidFill>
              </a:rPr>
              <a:pPr eaLnBrk="1" hangingPunct="1"/>
              <a:t>13</a:t>
            </a:fld>
            <a:r>
              <a:rPr lang="en-US" altLang="zh-CN" b="0">
                <a:solidFill>
                  <a:srgbClr val="FF00FF"/>
                </a:solidFill>
              </a:rPr>
              <a:t>/24</a:t>
            </a:r>
          </a:p>
        </p:txBody>
      </p:sp>
      <p:grpSp>
        <p:nvGrpSpPr>
          <p:cNvPr id="9" name="组合 103">
            <a:extLst>
              <a:ext uri="{FF2B5EF4-FFF2-40B4-BE49-F238E27FC236}">
                <a16:creationId xmlns:a16="http://schemas.microsoft.com/office/drawing/2014/main" id="{912C9A7B-868F-4FAF-9F6F-9F2C3946211F}"/>
              </a:ext>
            </a:extLst>
          </p:cNvPr>
          <p:cNvGrpSpPr>
            <a:grpSpLocks/>
          </p:cNvGrpSpPr>
          <p:nvPr/>
        </p:nvGrpSpPr>
        <p:grpSpPr bwMode="auto">
          <a:xfrm>
            <a:off x="5541963" y="3000375"/>
            <a:ext cx="1030287" cy="1000125"/>
            <a:chOff x="5541980" y="3000372"/>
            <a:chExt cx="1030284" cy="1000132"/>
          </a:xfrm>
        </p:grpSpPr>
        <p:cxnSp>
          <p:nvCxnSpPr>
            <p:cNvPr id="97" name="直接箭头连接符 96">
              <a:extLst>
                <a:ext uri="{FF2B5EF4-FFF2-40B4-BE49-F238E27FC236}">
                  <a16:creationId xmlns:a16="http://schemas.microsoft.com/office/drawing/2014/main" id="{60F95889-FAF0-47A1-AAD5-890859E4262B}"/>
                </a:ext>
              </a:extLst>
            </p:cNvPr>
            <p:cNvCxnSpPr/>
            <p:nvPr/>
          </p:nvCxnSpPr>
          <p:spPr bwMode="auto">
            <a:xfrm>
              <a:off x="5929329" y="3286124"/>
              <a:ext cx="428624" cy="1588"/>
            </a:xfrm>
            <a:prstGeom prst="straightConnector1">
              <a:avLst/>
            </a:prstGeom>
            <a:solidFill>
              <a:schemeClr val="accent1"/>
            </a:solidFill>
            <a:ln w="25400" cap="flat" cmpd="sng" algn="ctr">
              <a:solidFill>
                <a:schemeClr val="accent1">
                  <a:lumMod val="75000"/>
                </a:schemeClr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</p:cxnSp>
        <p:cxnSp>
          <p:nvCxnSpPr>
            <p:cNvPr id="15405" name="直接箭头连接符 97">
              <a:extLst>
                <a:ext uri="{FF2B5EF4-FFF2-40B4-BE49-F238E27FC236}">
                  <a16:creationId xmlns:a16="http://schemas.microsoft.com/office/drawing/2014/main" id="{A467E1FB-233E-4F9A-A3E7-3E157B239F4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H="1" flipV="1">
              <a:off x="6322231" y="3536157"/>
              <a:ext cx="285752" cy="71438"/>
            </a:xfrm>
            <a:prstGeom prst="straightConnector1">
              <a:avLst/>
            </a:prstGeom>
            <a:noFill/>
            <a:ln w="25400" algn="ctr">
              <a:solidFill>
                <a:srgbClr val="FF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5406" name="矩形 101">
              <a:extLst>
                <a:ext uri="{FF2B5EF4-FFF2-40B4-BE49-F238E27FC236}">
                  <a16:creationId xmlns:a16="http://schemas.microsoft.com/office/drawing/2014/main" id="{301A2BA7-492A-45E1-9DB6-501BA79125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13484" y="3538839"/>
              <a:ext cx="45878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i="1">
                  <a:solidFill>
                    <a:srgbClr val="FF0000"/>
                  </a:solidFill>
                </a:rPr>
                <a:t>n</a:t>
              </a:r>
              <a:r>
                <a:rPr lang="en-US" altLang="zh-CN" baseline="-25000">
                  <a:solidFill>
                    <a:srgbClr val="FF0000"/>
                  </a:solidFill>
                </a:rPr>
                <a:t>2</a:t>
              </a:r>
              <a:endParaRPr lang="zh-CN" altLang="en-US" baseline="-25000">
                <a:solidFill>
                  <a:srgbClr val="FF0000"/>
                </a:solidFill>
              </a:endParaRPr>
            </a:p>
          </p:txBody>
        </p:sp>
        <p:sp>
          <p:nvSpPr>
            <p:cNvPr id="103" name="矩形 102">
              <a:extLst>
                <a:ext uri="{FF2B5EF4-FFF2-40B4-BE49-F238E27FC236}">
                  <a16:creationId xmlns:a16="http://schemas.microsoft.com/office/drawing/2014/main" id="{6B99BFDF-40F9-4875-A18B-A404BA08E493}"/>
                </a:ext>
              </a:extLst>
            </p:cNvPr>
            <p:cNvSpPr/>
            <p:nvPr/>
          </p:nvSpPr>
          <p:spPr>
            <a:xfrm>
              <a:off x="5541980" y="3000372"/>
              <a:ext cx="458786" cy="46196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i="1" dirty="0">
                  <a:solidFill>
                    <a:schemeClr val="accent1">
                      <a:lumMod val="75000"/>
                    </a:schemeClr>
                  </a:solidFill>
                </a:rPr>
                <a:t>n</a:t>
              </a:r>
              <a:r>
                <a:rPr lang="en-US" altLang="zh-CN" baseline="-25000" dirty="0">
                  <a:solidFill>
                    <a:schemeClr val="accent1">
                      <a:lumMod val="75000"/>
                    </a:schemeClr>
                  </a:solidFill>
                </a:rPr>
                <a:t>1</a:t>
              </a:r>
              <a:endParaRPr lang="zh-CN" altLang="en-US" baseline="-250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sp>
        <p:nvSpPr>
          <p:cNvPr id="105" name="矩形 104">
            <a:extLst>
              <a:ext uri="{FF2B5EF4-FFF2-40B4-BE49-F238E27FC236}">
                <a16:creationId xmlns:a16="http://schemas.microsoft.com/office/drawing/2014/main" id="{A18B1243-713E-47BD-B793-433EA82784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8687" y="2214563"/>
            <a:ext cx="3857611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chemeClr val="bg1"/>
                </a:solidFill>
              </a:rPr>
              <a:t>若 </a:t>
            </a:r>
            <a:r>
              <a:rPr lang="en-US" altLang="zh-CN" i="1" dirty="0">
                <a:solidFill>
                  <a:schemeClr val="bg1"/>
                </a:solidFill>
              </a:rPr>
              <a:t>n</a:t>
            </a:r>
            <a:r>
              <a:rPr lang="en-US" altLang="zh-CN" baseline="-25000" dirty="0">
                <a:solidFill>
                  <a:schemeClr val="bg1"/>
                </a:solidFill>
              </a:rPr>
              <a:t>2 </a:t>
            </a:r>
            <a:r>
              <a:rPr lang="en-US" altLang="zh-CN" dirty="0">
                <a:solidFill>
                  <a:schemeClr val="bg1"/>
                </a:solidFill>
              </a:rPr>
              <a:t>&gt;</a:t>
            </a:r>
            <a:r>
              <a:rPr lang="en-US" altLang="zh-CN" i="1" dirty="0">
                <a:solidFill>
                  <a:schemeClr val="bg1"/>
                </a:solidFill>
              </a:rPr>
              <a:t> n</a:t>
            </a:r>
            <a:r>
              <a:rPr lang="en-US" altLang="zh-CN" baseline="-25000" dirty="0">
                <a:solidFill>
                  <a:schemeClr val="bg1"/>
                </a:solidFill>
              </a:rPr>
              <a:t>1</a:t>
            </a:r>
            <a:r>
              <a:rPr lang="zh-CN" altLang="en-US" dirty="0">
                <a:solidFill>
                  <a:schemeClr val="bg1"/>
                </a:solidFill>
              </a:rPr>
              <a:t>，均有半波损失</a:t>
            </a:r>
            <a:r>
              <a:rPr lang="en-US" altLang="zh-CN" baseline="-25000" dirty="0">
                <a:solidFill>
                  <a:schemeClr val="bg1"/>
                </a:solidFill>
              </a:rPr>
              <a:t> 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06" name="矩形 105">
            <a:extLst>
              <a:ext uri="{FF2B5EF4-FFF2-40B4-BE49-F238E27FC236}">
                <a16:creationId xmlns:a16="http://schemas.microsoft.com/office/drawing/2014/main" id="{EDFC8767-8F6F-4DC9-B302-9BCC6825B4B9}"/>
              </a:ext>
            </a:extLst>
          </p:cNvPr>
          <p:cNvSpPr/>
          <p:nvPr/>
        </p:nvSpPr>
        <p:spPr>
          <a:xfrm>
            <a:off x="928688" y="3538538"/>
            <a:ext cx="4511682" cy="4619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dirty="0">
                <a:solidFill>
                  <a:schemeClr val="bg1"/>
                </a:solidFill>
              </a:rPr>
              <a:t>若 </a:t>
            </a:r>
            <a:r>
              <a:rPr lang="en-US" altLang="zh-CN" i="1" dirty="0">
                <a:solidFill>
                  <a:schemeClr val="bg1"/>
                </a:solidFill>
              </a:rPr>
              <a:t>n</a:t>
            </a:r>
            <a:r>
              <a:rPr lang="en-US" altLang="zh-CN" baseline="-25000" dirty="0">
                <a:solidFill>
                  <a:schemeClr val="bg1"/>
                </a:solidFill>
              </a:rPr>
              <a:t>2 </a:t>
            </a:r>
            <a:r>
              <a:rPr lang="en-US" altLang="zh-CN" dirty="0">
                <a:solidFill>
                  <a:schemeClr val="bg1"/>
                </a:solidFill>
              </a:rPr>
              <a:t>&lt;</a:t>
            </a:r>
            <a:r>
              <a:rPr lang="en-US" altLang="zh-CN" i="1" dirty="0">
                <a:solidFill>
                  <a:schemeClr val="bg1"/>
                </a:solidFill>
              </a:rPr>
              <a:t> n</a:t>
            </a:r>
            <a:r>
              <a:rPr lang="en-US" altLang="zh-CN" baseline="-25000" dirty="0">
                <a:solidFill>
                  <a:schemeClr val="bg1"/>
                </a:solidFill>
              </a:rPr>
              <a:t>1</a:t>
            </a:r>
            <a:r>
              <a:rPr lang="zh-CN" altLang="en-US" dirty="0">
                <a:solidFill>
                  <a:schemeClr val="bg1"/>
                </a:solidFill>
              </a:rPr>
              <a:t>，光线</a:t>
            </a:r>
            <a:r>
              <a:rPr lang="zh-CN" altLang="en-US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altLang="zh-CN" dirty="0">
                <a:solidFill>
                  <a:schemeClr val="bg1"/>
                </a:solidFill>
                <a:latin typeface="+mn-lt"/>
              </a:rPr>
              <a:t>2 </a:t>
            </a:r>
            <a:r>
              <a:rPr lang="zh-CN" altLang="en-US" dirty="0">
                <a:solidFill>
                  <a:schemeClr val="bg1"/>
                </a:solidFill>
              </a:rPr>
              <a:t>有半波损失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8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28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8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8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8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8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28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28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8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28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5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28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6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28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6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8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8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8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8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8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8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8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9" dur="500"/>
                                        <p:tgtEl>
                                          <p:spTgt spid="28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9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3" dur="500"/>
                                        <p:tgtEl>
                                          <p:spTgt spid="28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9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7" dur="500"/>
                                        <p:tgtEl>
                                          <p:spTgt spid="28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9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1" dur="500"/>
                                        <p:tgtEl>
                                          <p:spTgt spid="28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0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28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28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28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 nodeType="clickPar">
                      <p:stCondLst>
                        <p:cond delay="indefinite"/>
                      </p:stCondLst>
                      <p:childTnLst>
                        <p:par>
                          <p:cTn id="1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28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28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 nodeType="clickPar">
                      <p:stCondLst>
                        <p:cond delay="indefinite"/>
                      </p:stCondLst>
                      <p:childTnLst>
                        <p:par>
                          <p:cTn id="1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 nodeType="clickPar">
                      <p:stCondLst>
                        <p:cond delay="indefinite"/>
                      </p:stCondLst>
                      <p:childTnLst>
                        <p:par>
                          <p:cTn id="1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28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28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 nodeType="clickPar">
                      <p:stCondLst>
                        <p:cond delay="indefinite"/>
                      </p:stCondLst>
                      <p:childTnLst>
                        <p:par>
                          <p:cTn id="1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28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28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 nodeType="clickPar">
                      <p:stCondLst>
                        <p:cond delay="indefinite"/>
                      </p:stCondLst>
                      <p:childTnLst>
                        <p:par>
                          <p:cTn id="1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500"/>
                                        <p:tgtEl>
                                          <p:spTgt spid="28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2" dur="500"/>
                                        <p:tgtEl>
                                          <p:spTgt spid="28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711" grpId="0" autoUpdateAnimBg="0"/>
      <p:bldP spid="28712" grpId="0" autoUpdateAnimBg="0"/>
      <p:bldP spid="28717" grpId="0" animBg="1"/>
      <p:bldP spid="28735" grpId="0" build="p"/>
      <p:bldP spid="28756" grpId="0"/>
      <p:bldP spid="28757" grpId="0"/>
      <p:bldP spid="28758" grpId="0"/>
      <p:bldP spid="28759" grpId="0"/>
      <p:bldP spid="28760" grpId="0"/>
      <p:bldP spid="105" grpId="0"/>
      <p:bldP spid="10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 Box 2">
            <a:extLst>
              <a:ext uri="{FF2B5EF4-FFF2-40B4-BE49-F238E27FC236}">
                <a16:creationId xmlns:a16="http://schemas.microsoft.com/office/drawing/2014/main" id="{25CBCB20-130F-4183-9DC0-9C936C7642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2708275"/>
            <a:ext cx="3816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n-US" altLang="zh-CN">
                <a:solidFill>
                  <a:srgbClr val="66FFFF"/>
                </a:solidFill>
              </a:rPr>
              <a:t>2. </a:t>
            </a:r>
            <a:r>
              <a:rPr lang="zh-CN" altLang="en-US">
                <a:solidFill>
                  <a:srgbClr val="66FFFF"/>
                </a:solidFill>
              </a:rPr>
              <a:t>若</a:t>
            </a:r>
            <a:r>
              <a:rPr lang="en-US" altLang="zh-CN" i="1">
                <a:solidFill>
                  <a:srgbClr val="66FFFF"/>
                </a:solidFill>
              </a:rPr>
              <a:t>M</a:t>
            </a:r>
            <a:r>
              <a:rPr lang="en-US" altLang="zh-CN" baseline="-25000">
                <a:solidFill>
                  <a:srgbClr val="66FFFF"/>
                </a:solidFill>
              </a:rPr>
              <a:t>1</a:t>
            </a:r>
            <a:r>
              <a:rPr lang="zh-CN" altLang="en-US">
                <a:solidFill>
                  <a:srgbClr val="66FFFF"/>
                </a:solidFill>
              </a:rPr>
              <a:t>、</a:t>
            </a:r>
            <a:r>
              <a:rPr lang="en-US" altLang="zh-CN" i="1">
                <a:solidFill>
                  <a:srgbClr val="66FFFF"/>
                </a:solidFill>
              </a:rPr>
              <a:t>M</a:t>
            </a:r>
            <a:r>
              <a:rPr lang="en-US" altLang="zh-CN" i="1">
                <a:solidFill>
                  <a:srgbClr val="66FFFF"/>
                </a:solidFill>
                <a:cs typeface="Times New Roman" panose="02020603050405020304" pitchFamily="18" charset="0"/>
              </a:rPr>
              <a:t>'</a:t>
            </a:r>
            <a:r>
              <a:rPr lang="en-US" altLang="zh-CN" baseline="-25000">
                <a:solidFill>
                  <a:srgbClr val="66FFFF"/>
                </a:solidFill>
              </a:rPr>
              <a:t>2</a:t>
            </a:r>
            <a:r>
              <a:rPr lang="zh-CN" altLang="en-US">
                <a:solidFill>
                  <a:srgbClr val="66FFFF"/>
                </a:solidFill>
              </a:rPr>
              <a:t>有小夹角</a:t>
            </a:r>
            <a:endParaRPr lang="zh-CN" altLang="en-US" b="0">
              <a:solidFill>
                <a:srgbClr val="66FFFF"/>
              </a:solidFill>
            </a:endParaRPr>
          </a:p>
        </p:txBody>
      </p:sp>
      <p:sp>
        <p:nvSpPr>
          <p:cNvPr id="29699" name="Text Box 3">
            <a:extLst>
              <a:ext uri="{FF2B5EF4-FFF2-40B4-BE49-F238E27FC236}">
                <a16:creationId xmlns:a16="http://schemas.microsoft.com/office/drawing/2014/main" id="{68488F49-05B1-46CB-ACFE-E092063C13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75" y="5229225"/>
            <a:ext cx="68961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>
                <a:solidFill>
                  <a:schemeClr val="bg1"/>
                </a:solidFill>
              </a:rPr>
              <a:t>若</a:t>
            </a:r>
            <a:r>
              <a:rPr lang="en-US" altLang="zh-CN" i="1">
                <a:solidFill>
                  <a:srgbClr val="FFFF00"/>
                </a:solidFill>
              </a:rPr>
              <a:t>M</a:t>
            </a:r>
            <a:r>
              <a:rPr lang="en-US" altLang="zh-CN" baseline="-25000">
                <a:solidFill>
                  <a:srgbClr val="FFFF00"/>
                </a:solidFill>
              </a:rPr>
              <a:t>1</a:t>
            </a:r>
            <a:r>
              <a:rPr lang="zh-CN" altLang="en-US">
                <a:solidFill>
                  <a:schemeClr val="bg1"/>
                </a:solidFill>
              </a:rPr>
              <a:t>平移</a:t>
            </a:r>
            <a:r>
              <a:rPr lang="zh-CN" altLang="en-US">
                <a:solidFill>
                  <a:srgbClr val="FFFF00"/>
                </a:solidFill>
                <a:sym typeface="Symbol" panose="05050102010706020507" pitchFamily="18" charset="2"/>
              </a:rPr>
              <a:t> </a:t>
            </a:r>
            <a:r>
              <a:rPr lang="en-US" altLang="zh-CN" i="1">
                <a:solidFill>
                  <a:srgbClr val="FFFF00"/>
                </a:solidFill>
              </a:rPr>
              <a:t>d</a:t>
            </a:r>
            <a:r>
              <a:rPr lang="en-US" altLang="zh-CN" i="1">
                <a:solidFill>
                  <a:schemeClr val="bg1"/>
                </a:solidFill>
              </a:rPr>
              <a:t> </a:t>
            </a:r>
            <a:r>
              <a:rPr lang="zh-CN" altLang="en-US">
                <a:solidFill>
                  <a:schemeClr val="bg1"/>
                </a:solidFill>
              </a:rPr>
              <a:t>时，干涉条纹移过 </a:t>
            </a:r>
            <a:r>
              <a:rPr lang="en-US" altLang="zh-CN" i="1">
                <a:solidFill>
                  <a:srgbClr val="FFFF00"/>
                </a:solidFill>
              </a:rPr>
              <a:t>N</a:t>
            </a:r>
            <a:r>
              <a:rPr lang="en-US" altLang="zh-CN" i="1">
                <a:solidFill>
                  <a:schemeClr val="bg1"/>
                </a:solidFill>
              </a:rPr>
              <a:t> </a:t>
            </a:r>
            <a:r>
              <a:rPr lang="zh-CN" altLang="en-US">
                <a:solidFill>
                  <a:schemeClr val="bg1"/>
                </a:solidFill>
              </a:rPr>
              <a:t>条，则有</a:t>
            </a:r>
          </a:p>
        </p:txBody>
      </p:sp>
      <p:graphicFrame>
        <p:nvGraphicFramePr>
          <p:cNvPr id="29700" name="Object 2">
            <a:extLst>
              <a:ext uri="{FF2B5EF4-FFF2-40B4-BE49-F238E27FC236}">
                <a16:creationId xmlns:a16="http://schemas.microsoft.com/office/drawing/2014/main" id="{EC3FC193-1407-4258-ADEC-B1CA8DC5E4C7}"/>
              </a:ext>
            </a:extLst>
          </p:cNvPr>
          <p:cNvGraphicFramePr>
            <a:graphicFrameLocks/>
          </p:cNvGraphicFramePr>
          <p:nvPr/>
        </p:nvGraphicFramePr>
        <p:xfrm>
          <a:off x="3952875" y="5768975"/>
          <a:ext cx="2058988" cy="741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596" name="公式" r:id="rId4" imgW="2247773" imgH="790507" progId="Equation.3">
                  <p:embed/>
                </p:oleObj>
              </mc:Choice>
              <mc:Fallback>
                <p:oleObj name="公式" r:id="rId4" imgW="2247773" imgH="790507" progId="Equation.3">
                  <p:embed/>
                  <p:pic>
                    <p:nvPicPr>
                      <p:cNvPr id="29700" name="Object 2">
                        <a:extLst>
                          <a:ext uri="{FF2B5EF4-FFF2-40B4-BE49-F238E27FC236}">
                            <a16:creationId xmlns:a16="http://schemas.microsoft.com/office/drawing/2014/main" id="{EC3FC193-1407-4258-ADEC-B1CA8DC5E4C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75" y="5768975"/>
                        <a:ext cx="2058988" cy="741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1" name="Text Box 5">
            <a:extLst>
              <a:ext uri="{FF2B5EF4-FFF2-40B4-BE49-F238E27FC236}">
                <a16:creationId xmlns:a16="http://schemas.microsoft.com/office/drawing/2014/main" id="{FF590DCD-3457-40A0-86DF-A3056915E6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900" y="3213100"/>
            <a:ext cx="2538413" cy="192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当</a:t>
            </a:r>
            <a:r>
              <a:rPr lang="en-US" altLang="zh-CN" i="1">
                <a:solidFill>
                  <a:srgbClr val="66FFFF"/>
                </a:solidFill>
                <a:ea typeface="楷体_GB2312" pitchFamily="49" charset="-122"/>
              </a:rPr>
              <a:t>M</a:t>
            </a:r>
            <a:r>
              <a:rPr lang="en-US" altLang="zh-CN" baseline="-25000">
                <a:solidFill>
                  <a:srgbClr val="66FFFF"/>
                </a:solidFill>
                <a:ea typeface="楷体_GB2312" pitchFamily="49" charset="-122"/>
              </a:rPr>
              <a:t>1</a:t>
            </a: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和</a:t>
            </a:r>
            <a:r>
              <a:rPr lang="en-US" altLang="zh-CN" i="1">
                <a:solidFill>
                  <a:srgbClr val="66FFFF"/>
                </a:solidFill>
              </a:rPr>
              <a:t>M</a:t>
            </a:r>
            <a:r>
              <a:rPr lang="en-US" altLang="zh-CN" i="1">
                <a:solidFill>
                  <a:srgbClr val="66FFFF"/>
                </a:solidFill>
                <a:cs typeface="Times New Roman" panose="02020603050405020304" pitchFamily="18" charset="0"/>
              </a:rPr>
              <a:t>'</a:t>
            </a:r>
            <a:r>
              <a:rPr lang="en-US" altLang="zh-CN" baseline="-25000">
                <a:solidFill>
                  <a:srgbClr val="66FFFF"/>
                </a:solidFill>
              </a:rPr>
              <a:t>2</a:t>
            </a: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不平行，且平行光入射</a:t>
            </a:r>
            <a:r>
              <a:rPr lang="en-US" altLang="zh-CN">
                <a:solidFill>
                  <a:schemeClr val="bg1"/>
                </a:solidFill>
                <a:ea typeface="楷体_GB2312" pitchFamily="49" charset="-122"/>
              </a:rPr>
              <a:t>,  </a:t>
            </a: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此时为</a:t>
            </a:r>
            <a:r>
              <a:rPr lang="zh-CN" altLang="en-US">
                <a:solidFill>
                  <a:srgbClr val="FFFF00"/>
                </a:solidFill>
                <a:ea typeface="楷体_GB2312" pitchFamily="49" charset="-122"/>
              </a:rPr>
              <a:t>等厚条纹</a:t>
            </a:r>
          </a:p>
        </p:txBody>
      </p:sp>
      <p:pic>
        <p:nvPicPr>
          <p:cNvPr id="29702" name="Picture 6" descr="未命名插图 2">
            <a:extLst>
              <a:ext uri="{FF2B5EF4-FFF2-40B4-BE49-F238E27FC236}">
                <a16:creationId xmlns:a16="http://schemas.microsoft.com/office/drawing/2014/main" id="{29B4E1A3-5666-4C21-BCD9-B27631C403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2350" y="2852738"/>
            <a:ext cx="5186363" cy="2133600"/>
          </a:xfrm>
          <a:prstGeom prst="rect">
            <a:avLst/>
          </a:prstGeom>
          <a:noFill/>
          <a:ln w="9525">
            <a:solidFill>
              <a:srgbClr val="FF993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703" name="Text Box 7">
            <a:extLst>
              <a:ext uri="{FF2B5EF4-FFF2-40B4-BE49-F238E27FC236}">
                <a16:creationId xmlns:a16="http://schemas.microsoft.com/office/drawing/2014/main" id="{8F307CEF-7396-4AA7-8F2E-8971CB179E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2750" y="1119188"/>
            <a:ext cx="3048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66FFFF"/>
                </a:solidFill>
              </a:rPr>
              <a:t>1. </a:t>
            </a:r>
            <a:r>
              <a:rPr lang="zh-CN" altLang="en-US">
                <a:solidFill>
                  <a:srgbClr val="66FFFF"/>
                </a:solidFill>
              </a:rPr>
              <a:t>若</a:t>
            </a:r>
            <a:r>
              <a:rPr lang="en-US" altLang="zh-CN" i="1">
                <a:solidFill>
                  <a:srgbClr val="66FFFF"/>
                </a:solidFill>
              </a:rPr>
              <a:t>M</a:t>
            </a:r>
            <a:r>
              <a:rPr lang="en-US" altLang="zh-CN" baseline="-25000">
                <a:solidFill>
                  <a:srgbClr val="66FFFF"/>
                </a:solidFill>
              </a:rPr>
              <a:t>1</a:t>
            </a:r>
            <a:r>
              <a:rPr lang="zh-CN" altLang="en-US">
                <a:solidFill>
                  <a:srgbClr val="66FFFF"/>
                </a:solidFill>
              </a:rPr>
              <a:t>、</a:t>
            </a:r>
            <a:r>
              <a:rPr lang="en-US" altLang="zh-CN" i="1">
                <a:solidFill>
                  <a:srgbClr val="66FFFF"/>
                </a:solidFill>
              </a:rPr>
              <a:t>M</a:t>
            </a:r>
            <a:r>
              <a:rPr lang="en-US" altLang="zh-CN">
                <a:solidFill>
                  <a:srgbClr val="66FFFF"/>
                </a:solidFill>
                <a:sym typeface="Symbol" panose="05050102010706020507" pitchFamily="18" charset="2"/>
              </a:rPr>
              <a:t></a:t>
            </a:r>
            <a:r>
              <a:rPr lang="en-US" altLang="zh-CN" baseline="-25000">
                <a:solidFill>
                  <a:srgbClr val="66FFFF"/>
                </a:solidFill>
              </a:rPr>
              <a:t>2</a:t>
            </a:r>
            <a:r>
              <a:rPr lang="zh-CN" altLang="en-US">
                <a:solidFill>
                  <a:srgbClr val="66FFFF"/>
                </a:solidFill>
              </a:rPr>
              <a:t>平行</a:t>
            </a:r>
            <a:endParaRPr lang="zh-CN" altLang="en-US" b="0">
              <a:solidFill>
                <a:srgbClr val="66FFFF"/>
              </a:solidFill>
            </a:endParaRPr>
          </a:p>
        </p:txBody>
      </p:sp>
      <p:sp>
        <p:nvSpPr>
          <p:cNvPr id="29704" name="Text Box 8">
            <a:extLst>
              <a:ext uri="{FF2B5EF4-FFF2-40B4-BE49-F238E27FC236}">
                <a16:creationId xmlns:a16="http://schemas.microsoft.com/office/drawing/2014/main" id="{D4C162AF-DF70-42C2-806E-21960361DC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800" y="409575"/>
            <a:ext cx="28273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solidFill>
                  <a:srgbClr val="FFFF00"/>
                </a:solidFill>
                <a:latin typeface="宋体" panose="02010600030101010101" pitchFamily="2" charset="-122"/>
              </a:rPr>
              <a:t>三</a:t>
            </a:r>
            <a:r>
              <a:rPr lang="en-US" altLang="zh-CN" sz="2800">
                <a:solidFill>
                  <a:srgbClr val="FFFF00"/>
                </a:solidFill>
              </a:rPr>
              <a:t>. </a:t>
            </a:r>
            <a:r>
              <a:rPr lang="zh-CN" altLang="en-US" sz="2800">
                <a:solidFill>
                  <a:srgbClr val="FFFF00"/>
                </a:solidFill>
                <a:latin typeface="宋体" panose="02010600030101010101" pitchFamily="2" charset="-122"/>
              </a:rPr>
              <a:t>条纹特点</a:t>
            </a:r>
            <a:endParaRPr lang="zh-CN" altLang="en-US" sz="2800" b="0">
              <a:solidFill>
                <a:srgbClr val="FFFF00"/>
              </a:solidFill>
              <a:latin typeface="宋体" panose="02010600030101010101" pitchFamily="2" charset="-122"/>
            </a:endParaRPr>
          </a:p>
        </p:txBody>
      </p:sp>
      <p:sp>
        <p:nvSpPr>
          <p:cNvPr id="29705" name="Text Box 9">
            <a:extLst>
              <a:ext uri="{FF2B5EF4-FFF2-40B4-BE49-F238E27FC236}">
                <a16:creationId xmlns:a16="http://schemas.microsoft.com/office/drawing/2014/main" id="{FB90FB10-7135-4238-AEDB-8F78B8E847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1819275"/>
            <a:ext cx="2362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FFFF00"/>
                </a:solidFill>
                <a:latin typeface="方正书宋简体"/>
                <a:ea typeface="楷体_GB2312" pitchFamily="49" charset="-122"/>
              </a:rPr>
              <a:t>等倾干涉条纹</a:t>
            </a:r>
          </a:p>
        </p:txBody>
      </p:sp>
      <p:pic>
        <p:nvPicPr>
          <p:cNvPr id="29706" name="Picture 10" descr="未命名插图 1">
            <a:extLst>
              <a:ext uri="{FF2B5EF4-FFF2-40B4-BE49-F238E27FC236}">
                <a16:creationId xmlns:a16="http://schemas.microsoft.com/office/drawing/2014/main" id="{78250C6B-6E07-4125-A5A1-77359EA430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3938" y="404813"/>
            <a:ext cx="5184775" cy="2185987"/>
          </a:xfrm>
          <a:prstGeom prst="rect">
            <a:avLst/>
          </a:prstGeom>
          <a:noFill/>
          <a:ln w="9525">
            <a:solidFill>
              <a:srgbClr val="FF993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395" name="灯片编号占位符 1">
            <a:extLst>
              <a:ext uri="{FF2B5EF4-FFF2-40B4-BE49-F238E27FC236}">
                <a16:creationId xmlns:a16="http://schemas.microsoft.com/office/drawing/2014/main" id="{2ECDB101-0F3E-4CC4-88B3-98F50CC56ECE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F873A89-EB0F-4980-BB37-86384A7741D6}" type="slidenum">
              <a:rPr lang="en-US" altLang="zh-CN" b="0">
                <a:solidFill>
                  <a:srgbClr val="FF00FF"/>
                </a:solidFill>
              </a:rPr>
              <a:pPr eaLnBrk="1" hangingPunct="1"/>
              <a:t>14</a:t>
            </a:fld>
            <a:r>
              <a:rPr lang="en-US" altLang="zh-CN" b="0" dirty="0">
                <a:solidFill>
                  <a:srgbClr val="FF00FF"/>
                </a:solidFill>
              </a:rPr>
              <a:t>/24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9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29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9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9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1" dur="500"/>
                                        <p:tgtEl>
                                          <p:spTgt spid="29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9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9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9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8" grpId="0" autoUpdateAnimBg="0"/>
      <p:bldP spid="29699" grpId="0" autoUpdateAnimBg="0"/>
      <p:bldP spid="29701" grpId="0"/>
      <p:bldP spid="29703" grpId="0" autoUpdateAnimBg="0"/>
      <p:bldP spid="29704" grpId="0" autoUpdateAnimBg="0"/>
      <p:bldP spid="29705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id="{EFE63149-45C7-46A4-859B-2D9FE42B94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5875" y="304800"/>
            <a:ext cx="4038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1" lang="zh-CN" altLang="en-US" dirty="0">
                <a:solidFill>
                  <a:srgbClr val="00FFFF"/>
                </a:solidFill>
                <a:latin typeface="+mj-ea"/>
                <a:ea typeface="+mj-ea"/>
              </a:rPr>
              <a:t>迈克耳孙等厚干涉 </a:t>
            </a:r>
          </a:p>
        </p:txBody>
      </p:sp>
      <p:pic>
        <p:nvPicPr>
          <p:cNvPr id="3" name="Picture 3" descr="4-1">
            <a:extLst>
              <a:ext uri="{FF2B5EF4-FFF2-40B4-BE49-F238E27FC236}">
                <a16:creationId xmlns:a16="http://schemas.microsoft.com/office/drawing/2014/main" id="{DD076165-8363-4EE1-A15F-146A93986A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3886200"/>
            <a:ext cx="147320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4" descr="4-2">
            <a:extLst>
              <a:ext uri="{FF2B5EF4-FFF2-40B4-BE49-F238E27FC236}">
                <a16:creationId xmlns:a16="http://schemas.microsoft.com/office/drawing/2014/main" id="{AAA336DB-C307-45F4-A8F0-FE44D9D7B9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3886200"/>
            <a:ext cx="147320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5" descr="4-3">
            <a:extLst>
              <a:ext uri="{FF2B5EF4-FFF2-40B4-BE49-F238E27FC236}">
                <a16:creationId xmlns:a16="http://schemas.microsoft.com/office/drawing/2014/main" id="{92C92AC8-A8F6-4DCD-975C-76B31267F6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3886200"/>
            <a:ext cx="147320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6" descr="4-4">
            <a:extLst>
              <a:ext uri="{FF2B5EF4-FFF2-40B4-BE49-F238E27FC236}">
                <a16:creationId xmlns:a16="http://schemas.microsoft.com/office/drawing/2014/main" id="{0B64D973-BA85-473B-A2FB-91AFD2F668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3886200"/>
            <a:ext cx="147320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7" descr="4-5">
            <a:extLst>
              <a:ext uri="{FF2B5EF4-FFF2-40B4-BE49-F238E27FC236}">
                <a16:creationId xmlns:a16="http://schemas.microsoft.com/office/drawing/2014/main" id="{413624D3-758F-4A7B-969C-8978F8787F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3886200"/>
            <a:ext cx="147320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8" descr="04-1">
            <a:extLst>
              <a:ext uri="{FF2B5EF4-FFF2-40B4-BE49-F238E27FC236}">
                <a16:creationId xmlns:a16="http://schemas.microsoft.com/office/drawing/2014/main" id="{0CBA4A28-B2BB-49E6-9AB5-D21088D776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5486400"/>
            <a:ext cx="14732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9" descr="04-2">
            <a:extLst>
              <a:ext uri="{FF2B5EF4-FFF2-40B4-BE49-F238E27FC236}">
                <a16:creationId xmlns:a16="http://schemas.microsoft.com/office/drawing/2014/main" id="{EFEC7851-B7EE-4016-9742-C3766C92F9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5486400"/>
            <a:ext cx="14732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10" descr="04-3">
            <a:extLst>
              <a:ext uri="{FF2B5EF4-FFF2-40B4-BE49-F238E27FC236}">
                <a16:creationId xmlns:a16="http://schemas.microsoft.com/office/drawing/2014/main" id="{FA634FF4-953D-4A89-B56F-888617D07D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5486400"/>
            <a:ext cx="14732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1" descr="04-4">
            <a:extLst>
              <a:ext uri="{FF2B5EF4-FFF2-40B4-BE49-F238E27FC236}">
                <a16:creationId xmlns:a16="http://schemas.microsoft.com/office/drawing/2014/main" id="{47921E55-9A3C-4E91-B72A-2EC85B2418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5486400"/>
            <a:ext cx="14732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12" descr="04-5">
            <a:extLst>
              <a:ext uri="{FF2B5EF4-FFF2-40B4-BE49-F238E27FC236}">
                <a16:creationId xmlns:a16="http://schemas.microsoft.com/office/drawing/2014/main" id="{B427F1E7-1BE7-45F7-AC82-F34094A4A7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5486400"/>
            <a:ext cx="14732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3" descr="0424">
            <a:extLst>
              <a:ext uri="{FF2B5EF4-FFF2-40B4-BE49-F238E27FC236}">
                <a16:creationId xmlns:a16="http://schemas.microsoft.com/office/drawing/2014/main" id="{BA3AE750-5CF9-4539-8B95-BD4354FA77AA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944563"/>
            <a:ext cx="7561263" cy="283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灯片编号占位符 1">
            <a:extLst>
              <a:ext uri="{FF2B5EF4-FFF2-40B4-BE49-F238E27FC236}">
                <a16:creationId xmlns:a16="http://schemas.microsoft.com/office/drawing/2014/main" id="{9FBBBAC4-164B-4082-87AC-39BD3A26C49B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F873A89-EB0F-4980-BB37-86384A7741D6}" type="slidenum">
              <a:rPr lang="en-US" altLang="zh-CN" b="0">
                <a:solidFill>
                  <a:srgbClr val="FF00FF"/>
                </a:solidFill>
              </a:rPr>
              <a:pPr eaLnBrk="1" hangingPunct="1"/>
              <a:t>15</a:t>
            </a:fld>
            <a:r>
              <a:rPr lang="en-US" altLang="zh-CN" b="0" dirty="0">
                <a:solidFill>
                  <a:srgbClr val="FF00FF"/>
                </a:solidFill>
              </a:rPr>
              <a:t>/24</a:t>
            </a:r>
          </a:p>
        </p:txBody>
      </p:sp>
    </p:spTree>
    <p:extLst>
      <p:ext uri="{BB962C8B-B14F-4D97-AF65-F5344CB8AC3E}">
        <p14:creationId xmlns:p14="http://schemas.microsoft.com/office/powerpoint/2010/main" val="38387527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id="{149C353C-162B-4D64-AE81-0204C86E1D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1413" y="333375"/>
            <a:ext cx="4038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1" lang="zh-CN" altLang="en-US" dirty="0">
                <a:solidFill>
                  <a:srgbClr val="00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迈克耳孙等倾干涉</a:t>
            </a:r>
          </a:p>
        </p:txBody>
      </p:sp>
      <p:pic>
        <p:nvPicPr>
          <p:cNvPr id="3" name="Picture 3" descr="03-01">
            <a:extLst>
              <a:ext uri="{FF2B5EF4-FFF2-40B4-BE49-F238E27FC236}">
                <a16:creationId xmlns:a16="http://schemas.microsoft.com/office/drawing/2014/main" id="{758379C4-A3B1-4A41-8FA4-A81E13E961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3981450"/>
            <a:ext cx="147320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4" descr="03-02">
            <a:extLst>
              <a:ext uri="{FF2B5EF4-FFF2-40B4-BE49-F238E27FC236}">
                <a16:creationId xmlns:a16="http://schemas.microsoft.com/office/drawing/2014/main" id="{3A1B45EB-4C44-444F-B3A1-9BDD565C91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3981450"/>
            <a:ext cx="147320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5" descr="03-03">
            <a:extLst>
              <a:ext uri="{FF2B5EF4-FFF2-40B4-BE49-F238E27FC236}">
                <a16:creationId xmlns:a16="http://schemas.microsoft.com/office/drawing/2014/main" id="{0C501859-4F3F-4682-BC39-D8A8428FAA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3981450"/>
            <a:ext cx="147320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6" descr="03-02">
            <a:extLst>
              <a:ext uri="{FF2B5EF4-FFF2-40B4-BE49-F238E27FC236}">
                <a16:creationId xmlns:a16="http://schemas.microsoft.com/office/drawing/2014/main" id="{45BB9D81-F7A0-4B78-B11B-A87E1C1C86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3981450"/>
            <a:ext cx="147320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7" descr="03-01">
            <a:extLst>
              <a:ext uri="{FF2B5EF4-FFF2-40B4-BE49-F238E27FC236}">
                <a16:creationId xmlns:a16="http://schemas.microsoft.com/office/drawing/2014/main" id="{36D6B2FE-A35E-439C-82D6-6603445F11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3981450"/>
            <a:ext cx="147320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8" descr="03-2">
            <a:extLst>
              <a:ext uri="{FF2B5EF4-FFF2-40B4-BE49-F238E27FC236}">
                <a16:creationId xmlns:a16="http://schemas.microsoft.com/office/drawing/2014/main" id="{49C9C421-AF88-4E04-8901-6752993623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5638800"/>
            <a:ext cx="1473200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9" descr="03-2">
            <a:extLst>
              <a:ext uri="{FF2B5EF4-FFF2-40B4-BE49-F238E27FC236}">
                <a16:creationId xmlns:a16="http://schemas.microsoft.com/office/drawing/2014/main" id="{B124B331-F2A0-4136-998C-EB1C90137E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5638800"/>
            <a:ext cx="1473200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10" descr="03-3">
            <a:extLst>
              <a:ext uri="{FF2B5EF4-FFF2-40B4-BE49-F238E27FC236}">
                <a16:creationId xmlns:a16="http://schemas.microsoft.com/office/drawing/2014/main" id="{CA82D11A-40CF-4197-AA7E-83EB0D8CCC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5638800"/>
            <a:ext cx="1473200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1" descr="03-4">
            <a:extLst>
              <a:ext uri="{FF2B5EF4-FFF2-40B4-BE49-F238E27FC236}">
                <a16:creationId xmlns:a16="http://schemas.microsoft.com/office/drawing/2014/main" id="{A869A7EA-6ED5-4733-B2DD-80938AF294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5638800"/>
            <a:ext cx="1473200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12" descr="03-5">
            <a:extLst>
              <a:ext uri="{FF2B5EF4-FFF2-40B4-BE49-F238E27FC236}">
                <a16:creationId xmlns:a16="http://schemas.microsoft.com/office/drawing/2014/main" id="{0C9B2211-C7CA-48E4-83C7-CFEA65BBEF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5638800"/>
            <a:ext cx="1473200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3" descr="032">
            <a:extLst>
              <a:ext uri="{FF2B5EF4-FFF2-40B4-BE49-F238E27FC236}">
                <a16:creationId xmlns:a16="http://schemas.microsoft.com/office/drawing/2014/main" id="{9A3D38FF-1518-4525-95D2-67A3B423F99F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1016000"/>
            <a:ext cx="7561263" cy="28352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灯片编号占位符 1">
            <a:extLst>
              <a:ext uri="{FF2B5EF4-FFF2-40B4-BE49-F238E27FC236}">
                <a16:creationId xmlns:a16="http://schemas.microsoft.com/office/drawing/2014/main" id="{3FB5EE55-FC5A-41FA-9390-B2BAF4C8626A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F873A89-EB0F-4980-BB37-86384A7741D6}" type="slidenum">
              <a:rPr lang="en-US" altLang="zh-CN" b="0">
                <a:solidFill>
                  <a:srgbClr val="FF00FF"/>
                </a:solidFill>
              </a:rPr>
              <a:pPr eaLnBrk="1" hangingPunct="1"/>
              <a:t>16</a:t>
            </a:fld>
            <a:r>
              <a:rPr lang="en-US" altLang="zh-CN" b="0" dirty="0">
                <a:solidFill>
                  <a:srgbClr val="FF00FF"/>
                </a:solidFill>
              </a:rPr>
              <a:t>/24</a:t>
            </a:r>
          </a:p>
        </p:txBody>
      </p:sp>
    </p:spTree>
    <p:extLst>
      <p:ext uri="{BB962C8B-B14F-4D97-AF65-F5344CB8AC3E}">
        <p14:creationId xmlns:p14="http://schemas.microsoft.com/office/powerpoint/2010/main" val="8053608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690" name="Text Box 2">
            <a:extLst>
              <a:ext uri="{FF2B5EF4-FFF2-40B4-BE49-F238E27FC236}">
                <a16:creationId xmlns:a16="http://schemas.microsoft.com/office/drawing/2014/main" id="{04B9B675-7CCB-4977-A47D-86D6E911D4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427" y="260350"/>
            <a:ext cx="22320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zh-CN" altLang="en-US" sz="2800" dirty="0">
                <a:solidFill>
                  <a:srgbClr val="FFFF00"/>
                </a:solidFill>
                <a:latin typeface="宋体" panose="02010600030101010101" pitchFamily="2" charset="-122"/>
              </a:rPr>
              <a:t>四</a:t>
            </a:r>
            <a:r>
              <a:rPr lang="en-US" altLang="zh-CN" sz="2800" dirty="0">
                <a:solidFill>
                  <a:srgbClr val="FFFF00"/>
                </a:solidFill>
              </a:rPr>
              <a:t>. </a:t>
            </a:r>
            <a:r>
              <a:rPr lang="zh-CN" altLang="en-US" sz="2800" dirty="0">
                <a:solidFill>
                  <a:srgbClr val="FFFF00"/>
                </a:solidFill>
                <a:latin typeface="宋体" panose="02010600030101010101" pitchFamily="2" charset="-122"/>
              </a:rPr>
              <a:t>应用</a:t>
            </a:r>
          </a:p>
        </p:txBody>
      </p:sp>
      <p:sp>
        <p:nvSpPr>
          <p:cNvPr id="370691" name="Text Box 3">
            <a:extLst>
              <a:ext uri="{FF2B5EF4-FFF2-40B4-BE49-F238E27FC236}">
                <a16:creationId xmlns:a16="http://schemas.microsoft.com/office/drawing/2014/main" id="{4CA004AB-19A5-46EE-B48D-3581F6D20E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589" y="885850"/>
            <a:ext cx="352921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n-US" altLang="zh-CN" dirty="0">
                <a:solidFill>
                  <a:srgbClr val="66FFFF"/>
                </a:solidFill>
              </a:rPr>
              <a:t>1. </a:t>
            </a:r>
            <a:r>
              <a:rPr lang="zh-CN" altLang="en-US" dirty="0">
                <a:solidFill>
                  <a:srgbClr val="66FFFF"/>
                </a:solidFill>
              </a:rPr>
              <a:t>微小位移测量、波长</a:t>
            </a:r>
          </a:p>
        </p:txBody>
      </p:sp>
      <p:sp>
        <p:nvSpPr>
          <p:cNvPr id="370692" name="Text Box 4">
            <a:extLst>
              <a:ext uri="{FF2B5EF4-FFF2-40B4-BE49-F238E27FC236}">
                <a16:creationId xmlns:a16="http://schemas.microsoft.com/office/drawing/2014/main" id="{16205593-D7E4-4813-BDCE-03774BDB08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588" y="1533922"/>
            <a:ext cx="3041129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n-US" altLang="zh-CN" dirty="0">
                <a:solidFill>
                  <a:srgbClr val="66FFFF"/>
                </a:solidFill>
              </a:rPr>
              <a:t>2. </a:t>
            </a:r>
            <a:r>
              <a:rPr lang="zh-CN" altLang="en-US" dirty="0">
                <a:solidFill>
                  <a:srgbClr val="66FFFF"/>
                </a:solidFill>
              </a:rPr>
              <a:t>测介质折射率</a:t>
            </a:r>
          </a:p>
        </p:txBody>
      </p:sp>
      <p:graphicFrame>
        <p:nvGraphicFramePr>
          <p:cNvPr id="370694" name="Object 2">
            <a:extLst>
              <a:ext uri="{FF2B5EF4-FFF2-40B4-BE49-F238E27FC236}">
                <a16:creationId xmlns:a16="http://schemas.microsoft.com/office/drawing/2014/main" id="{86703BF9-DC9F-443A-A691-77ECE3D0FF1E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4026768" y="741834"/>
          <a:ext cx="2057400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640" name="公式" r:id="rId3" imgW="2247773" imgH="790507" progId="Equation.3">
                  <p:embed/>
                </p:oleObj>
              </mc:Choice>
              <mc:Fallback>
                <p:oleObj name="公式" r:id="rId3" imgW="2247773" imgH="790507" progId="Equation.3">
                  <p:embed/>
                  <p:pic>
                    <p:nvPicPr>
                      <p:cNvPr id="370694" name="Object 2">
                        <a:extLst>
                          <a:ext uri="{FF2B5EF4-FFF2-40B4-BE49-F238E27FC236}">
                            <a16:creationId xmlns:a16="http://schemas.microsoft.com/office/drawing/2014/main" id="{86703BF9-DC9F-443A-A691-77ECE3D0FF1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26768" y="741834"/>
                        <a:ext cx="2057400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349" name="Picture 13" descr="631)COY}[H[Z6[8}P26RVUD">
            <a:extLst>
              <a:ext uri="{FF2B5EF4-FFF2-40B4-BE49-F238E27FC236}">
                <a16:creationId xmlns:a16="http://schemas.microsoft.com/office/drawing/2014/main" id="{6360F855-25E3-4B6D-B86A-3EACEA33F9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3211" y="1579615"/>
            <a:ext cx="2143125" cy="154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50" name="Rectangle 14">
            <a:extLst>
              <a:ext uri="{FF2B5EF4-FFF2-40B4-BE49-F238E27FC236}">
                <a16:creationId xmlns:a16="http://schemas.microsoft.com/office/drawing/2014/main" id="{A0598B0A-23E3-4A26-A536-F303CB5DCA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9480" y="2113979"/>
            <a:ext cx="23034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dirty="0">
                <a:solidFill>
                  <a:schemeClr val="bg1"/>
                </a:solidFill>
              </a:rPr>
              <a:t>附加光程：</a:t>
            </a:r>
          </a:p>
        </p:txBody>
      </p:sp>
      <p:graphicFrame>
        <p:nvGraphicFramePr>
          <p:cNvPr id="2" name="Object 5">
            <a:extLst>
              <a:ext uri="{FF2B5EF4-FFF2-40B4-BE49-F238E27FC236}">
                <a16:creationId xmlns:a16="http://schemas.microsoft.com/office/drawing/2014/main" id="{3733158A-84CA-4783-B5AC-CD1755856CD2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757637" y="2709168"/>
          <a:ext cx="200025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641" name="公式" r:id="rId6" imgW="904920" imgH="161959" progId="Equation.3">
                  <p:embed/>
                </p:oleObj>
              </mc:Choice>
              <mc:Fallback>
                <p:oleObj name="公式" r:id="rId6" imgW="904920" imgH="161959" progId="Equation.3">
                  <p:embed/>
                  <p:pic>
                    <p:nvPicPr>
                      <p:cNvPr id="2" name="Object 5">
                        <a:extLst>
                          <a:ext uri="{FF2B5EF4-FFF2-40B4-BE49-F238E27FC236}">
                            <a16:creationId xmlns:a16="http://schemas.microsoft.com/office/drawing/2014/main" id="{3733158A-84CA-4783-B5AC-CD1755856CD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7637" y="2709168"/>
                        <a:ext cx="200025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8" name="灯片编号占位符 1">
            <a:extLst>
              <a:ext uri="{FF2B5EF4-FFF2-40B4-BE49-F238E27FC236}">
                <a16:creationId xmlns:a16="http://schemas.microsoft.com/office/drawing/2014/main" id="{05EC209F-802D-4926-A22D-636EA199B928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7BE125A-2AAB-4622-A597-BE908112C287}" type="slidenum">
              <a:rPr lang="en-US" altLang="zh-CN" b="0">
                <a:solidFill>
                  <a:srgbClr val="FF00FF"/>
                </a:solidFill>
              </a:rPr>
              <a:pPr eaLnBrk="1" hangingPunct="1"/>
              <a:t>17</a:t>
            </a:fld>
            <a:r>
              <a:rPr lang="en-US" altLang="zh-CN" b="0">
                <a:solidFill>
                  <a:srgbClr val="FF00FF"/>
                </a:solidFill>
              </a:rPr>
              <a:t>/24</a:t>
            </a:r>
          </a:p>
        </p:txBody>
      </p:sp>
      <p:sp>
        <p:nvSpPr>
          <p:cNvPr id="15" name="Text Box 8">
            <a:extLst>
              <a:ext uri="{FF2B5EF4-FFF2-40B4-BE49-F238E27FC236}">
                <a16:creationId xmlns:a16="http://schemas.microsoft.com/office/drawing/2014/main" id="{E4DA4E01-4C04-469F-ADF4-C031D67460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204" y="3341911"/>
            <a:ext cx="28273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dirty="0">
                <a:solidFill>
                  <a:srgbClr val="FFFF00"/>
                </a:solidFill>
                <a:latin typeface="宋体" panose="02010600030101010101" pitchFamily="2" charset="-122"/>
              </a:rPr>
              <a:t>五</a:t>
            </a:r>
            <a:r>
              <a:rPr lang="en-US" altLang="zh-CN" sz="2800" dirty="0">
                <a:solidFill>
                  <a:srgbClr val="FFFF00"/>
                </a:solidFill>
              </a:rPr>
              <a:t>. </a:t>
            </a:r>
            <a:r>
              <a:rPr lang="zh-CN" altLang="en-US" sz="2800" dirty="0">
                <a:solidFill>
                  <a:srgbClr val="FFFF00"/>
                </a:solidFill>
                <a:latin typeface="宋体" panose="02010600030101010101" pitchFamily="2" charset="-122"/>
              </a:rPr>
              <a:t>时间相干性</a:t>
            </a:r>
            <a:endParaRPr lang="zh-CN" altLang="en-US" sz="2800" b="0" dirty="0">
              <a:solidFill>
                <a:srgbClr val="FFFF00"/>
              </a:solidFill>
              <a:latin typeface="宋体" panose="02010600030101010101" pitchFamily="2" charset="-122"/>
            </a:endParaRPr>
          </a:p>
        </p:txBody>
      </p:sp>
      <p:sp>
        <p:nvSpPr>
          <p:cNvPr id="16" name="Text Box 9">
            <a:extLst>
              <a:ext uri="{FF2B5EF4-FFF2-40B4-BE49-F238E27FC236}">
                <a16:creationId xmlns:a16="http://schemas.microsoft.com/office/drawing/2014/main" id="{6986B3D6-25E7-4F96-9FB3-E6D916BE67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9591" y="3988984"/>
            <a:ext cx="7272809" cy="9521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</a:pPr>
            <a:r>
              <a:rPr kumimoji="0" lang="zh-CN" altLang="en-US" dirty="0">
                <a:solidFill>
                  <a:schemeClr val="bg1"/>
                </a:solidFill>
                <a:latin typeface="宋体" panose="02010600030101010101" pitchFamily="2" charset="-122"/>
              </a:rPr>
              <a:t>两光束产生干涉效应的最大光程差称为相干长度</a:t>
            </a:r>
            <a:r>
              <a:rPr kumimoji="0" lang="en-US" altLang="zh-CN" dirty="0">
                <a:solidFill>
                  <a:schemeClr val="bg1"/>
                </a:solidFill>
                <a:latin typeface="宋体" panose="02010600030101010101" pitchFamily="2" charset="-122"/>
              </a:rPr>
              <a:t>,</a:t>
            </a:r>
            <a:r>
              <a:rPr kumimoji="0" lang="zh-CN" altLang="en-US" dirty="0">
                <a:solidFill>
                  <a:schemeClr val="bg1"/>
                </a:solidFill>
                <a:latin typeface="宋体" panose="02010600030101010101" pitchFamily="2" charset="-122"/>
              </a:rPr>
              <a:t>与相干长度对应的光传播时间称为相干时间</a:t>
            </a:r>
          </a:p>
        </p:txBody>
      </p:sp>
      <p:sp>
        <p:nvSpPr>
          <p:cNvPr id="17" name="Text Box 10">
            <a:extLst>
              <a:ext uri="{FF2B5EF4-FFF2-40B4-BE49-F238E27FC236}">
                <a16:creationId xmlns:a16="http://schemas.microsoft.com/office/drawing/2014/main" id="{273413FC-CA7F-49C4-B176-1341E3BA95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9591" y="5291611"/>
            <a:ext cx="60499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0" lang="zh-CN" altLang="en-US" dirty="0">
                <a:solidFill>
                  <a:schemeClr val="bg1"/>
                </a:solidFill>
                <a:latin typeface="Arial" panose="020B0604020202020204" pitchFamily="34" charset="0"/>
              </a:rPr>
              <a:t>相干长度 </a:t>
            </a:r>
            <a:r>
              <a:rPr kumimoji="0" lang="en-US" altLang="zh-CN" i="1" dirty="0">
                <a:solidFill>
                  <a:srgbClr val="66FFFF"/>
                </a:solidFill>
              </a:rPr>
              <a:t>L </a:t>
            </a:r>
            <a:r>
              <a:rPr kumimoji="0" lang="zh-CN" altLang="en-US" dirty="0">
                <a:solidFill>
                  <a:schemeClr val="bg1"/>
                </a:solidFill>
                <a:latin typeface="Arial" panose="020B0604020202020204" pitchFamily="34" charset="0"/>
              </a:rPr>
              <a:t>和谱线宽度 </a:t>
            </a:r>
            <a:r>
              <a:rPr kumimoji="0" lang="zh-CN" altLang="en-US" dirty="0">
                <a:solidFill>
                  <a:srgbClr val="66FF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 </a:t>
            </a:r>
            <a:r>
              <a:rPr kumimoji="0" lang="zh-CN" altLang="en-US" dirty="0">
                <a:solidFill>
                  <a:schemeClr val="bg1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之间的关系为</a:t>
            </a:r>
          </a:p>
        </p:txBody>
      </p:sp>
      <p:graphicFrame>
        <p:nvGraphicFramePr>
          <p:cNvPr id="18" name="Object 4">
            <a:extLst>
              <a:ext uri="{FF2B5EF4-FFF2-40B4-BE49-F238E27FC236}">
                <a16:creationId xmlns:a16="http://schemas.microsoft.com/office/drawing/2014/main" id="{811D796E-7DDB-4204-9E5B-FF8438D01A2B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6372200" y="5125717"/>
          <a:ext cx="1611312" cy="788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642" name="公式" r:id="rId8" imgW="1752651" imgH="838268" progId="Equation.3">
                  <p:embed/>
                </p:oleObj>
              </mc:Choice>
              <mc:Fallback>
                <p:oleObj name="公式" r:id="rId8" imgW="1752651" imgH="838268" progId="Equation.3">
                  <p:embed/>
                  <p:pic>
                    <p:nvPicPr>
                      <p:cNvPr id="18" name="Object 4">
                        <a:extLst>
                          <a:ext uri="{FF2B5EF4-FFF2-40B4-BE49-F238E27FC236}">
                            <a16:creationId xmlns:a16="http://schemas.microsoft.com/office/drawing/2014/main" id="{811D796E-7DDB-4204-9E5B-FF8438D01A2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2200" y="5125717"/>
                        <a:ext cx="1611312" cy="788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" name="Group 16">
            <a:extLst>
              <a:ext uri="{FF2B5EF4-FFF2-40B4-BE49-F238E27FC236}">
                <a16:creationId xmlns:a16="http://schemas.microsoft.com/office/drawing/2014/main" id="{057FF7D0-AB9E-491F-A2FF-2B0F2082ECCB}"/>
              </a:ext>
            </a:extLst>
          </p:cNvPr>
          <p:cNvGrpSpPr>
            <a:grpSpLocks/>
          </p:cNvGrpSpPr>
          <p:nvPr/>
        </p:nvGrpSpPr>
        <p:grpSpPr bwMode="auto">
          <a:xfrm>
            <a:off x="3276104" y="3429223"/>
            <a:ext cx="431800" cy="292100"/>
            <a:chOff x="5012" y="3612"/>
            <a:chExt cx="272" cy="184"/>
          </a:xfrm>
        </p:grpSpPr>
        <p:grpSp>
          <p:nvGrpSpPr>
            <p:cNvPr id="20" name="Group 17">
              <a:extLst>
                <a:ext uri="{FF2B5EF4-FFF2-40B4-BE49-F238E27FC236}">
                  <a16:creationId xmlns:a16="http://schemas.microsoft.com/office/drawing/2014/main" id="{D842095F-2D03-491B-8D71-A11A8321AB3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30" y="3621"/>
              <a:ext cx="248" cy="175"/>
              <a:chOff x="4958" y="1120"/>
              <a:chExt cx="248" cy="175"/>
            </a:xfrm>
          </p:grpSpPr>
          <p:sp>
            <p:nvSpPr>
              <p:cNvPr id="22" name="AutoShape 18">
                <a:hlinkClick r:id="rId10"/>
                <a:extLst>
                  <a:ext uri="{FF2B5EF4-FFF2-40B4-BE49-F238E27FC236}">
                    <a16:creationId xmlns:a16="http://schemas.microsoft.com/office/drawing/2014/main" id="{83A3F95C-9526-474E-95DE-650C4E7089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58" y="1120"/>
                <a:ext cx="248" cy="175"/>
              </a:xfrm>
              <a:prstGeom prst="roundRect">
                <a:avLst>
                  <a:gd name="adj" fmla="val 19116"/>
                </a:avLst>
              </a:prstGeom>
              <a:solidFill>
                <a:srgbClr val="33CCCC">
                  <a:alpha val="39999"/>
                </a:srgbClr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4" name="AutoShape 19">
                <a:extLst>
                  <a:ext uri="{FF2B5EF4-FFF2-40B4-BE49-F238E27FC236}">
                    <a16:creationId xmlns:a16="http://schemas.microsoft.com/office/drawing/2014/main" id="{40FCA77F-1C21-4F79-BEC9-0C0844F87A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91" y="1154"/>
                <a:ext cx="179" cy="104"/>
              </a:xfrm>
              <a:prstGeom prst="roundRect">
                <a:avLst>
                  <a:gd name="adj" fmla="val 22079"/>
                </a:avLst>
              </a:prstGeom>
              <a:solidFill>
                <a:srgbClr val="33CCCC">
                  <a:alpha val="50195"/>
                </a:srgbClr>
              </a:solidFill>
              <a:ln w="317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7" name="AutoShape 20">
                <a:extLst>
                  <a:ext uri="{FF2B5EF4-FFF2-40B4-BE49-F238E27FC236}">
                    <a16:creationId xmlns:a16="http://schemas.microsoft.com/office/drawing/2014/main" id="{466C8D51-F209-4BCD-8C5C-0929DF107D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5054" y="1174"/>
                <a:ext cx="66" cy="66"/>
              </a:xfrm>
              <a:prstGeom prst="triangle">
                <a:avLst>
                  <a:gd name="adj" fmla="val 50000"/>
                </a:avLst>
              </a:prstGeom>
              <a:solidFill>
                <a:srgbClr val="006666"/>
              </a:solidFill>
              <a:ln w="9525">
                <a:solidFill>
                  <a:srgbClr val="006666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9" name="Line 21">
                <a:extLst>
                  <a:ext uri="{FF2B5EF4-FFF2-40B4-BE49-F238E27FC236}">
                    <a16:creationId xmlns:a16="http://schemas.microsoft.com/office/drawing/2014/main" id="{2130F11D-32CF-4769-AEA5-4D12D73F17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85" y="1177"/>
                <a:ext cx="0" cy="0"/>
              </a:xfrm>
              <a:prstGeom prst="line">
                <a:avLst/>
              </a:prstGeom>
              <a:noFill/>
              <a:ln w="9525">
                <a:solidFill>
                  <a:srgbClr val="33CC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1" name="Rectangle 22">
              <a:hlinkClick r:id="rId11" action="ppaction://hlinkfile" tooltip="点击播放动画"/>
              <a:extLst>
                <a:ext uri="{FF2B5EF4-FFF2-40B4-BE49-F238E27FC236}">
                  <a16:creationId xmlns:a16="http://schemas.microsoft.com/office/drawing/2014/main" id="{7F125C9B-D323-4A89-A8B8-748534C505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2" y="3612"/>
              <a:ext cx="272" cy="181"/>
            </a:xfrm>
            <a:prstGeom prst="rect">
              <a:avLst/>
            </a:prstGeom>
            <a:solidFill>
              <a:srgbClr val="00CC99">
                <a:alpha val="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70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70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70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70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4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4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0690" grpId="0" autoUpdateAnimBg="0"/>
      <p:bldP spid="370691" grpId="0" autoUpdateAnimBg="0"/>
      <p:bldP spid="370692" grpId="0" autoUpdateAnimBg="0"/>
      <p:bldP spid="14350" grpId="0"/>
      <p:bldP spid="15" grpId="0" autoUpdateAnimBg="0"/>
      <p:bldP spid="16" grpId="0"/>
      <p:bldP spid="1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8" name="Text Box 10">
            <a:extLst>
              <a:ext uri="{FF2B5EF4-FFF2-40B4-BE49-F238E27FC236}">
                <a16:creationId xmlns:a16="http://schemas.microsoft.com/office/drawing/2014/main" id="{C013BB8B-D1CD-4DF2-9D18-C19DA068D9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625" y="857250"/>
            <a:ext cx="3048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0" lang="zh-CN" altLang="en-US">
                <a:solidFill>
                  <a:srgbClr val="FFFF66"/>
                </a:solidFill>
                <a:latin typeface="方正书宋简体"/>
              </a:rPr>
              <a:t>一</a:t>
            </a:r>
            <a:r>
              <a:rPr kumimoji="0" lang="en-US" altLang="zh-CN">
                <a:solidFill>
                  <a:srgbClr val="FFFF66"/>
                </a:solidFill>
                <a:latin typeface="方正书宋简体"/>
              </a:rPr>
              <a:t>. </a:t>
            </a:r>
            <a:r>
              <a:rPr kumimoji="0" lang="zh-CN" altLang="en-US">
                <a:solidFill>
                  <a:srgbClr val="FFFF66"/>
                </a:solidFill>
                <a:latin typeface="方正书宋简体"/>
              </a:rPr>
              <a:t>光的衍射现象</a:t>
            </a:r>
          </a:p>
        </p:txBody>
      </p:sp>
      <p:sp>
        <p:nvSpPr>
          <p:cNvPr id="63499" name="Text Box 11">
            <a:extLst>
              <a:ext uri="{FF2B5EF4-FFF2-40B4-BE49-F238E27FC236}">
                <a16:creationId xmlns:a16="http://schemas.microsoft.com/office/drawing/2014/main" id="{EDE50529-3579-4907-BF0D-2CB8A18189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625" y="1828800"/>
            <a:ext cx="3429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0" lang="en-US" altLang="zh-CN">
                <a:solidFill>
                  <a:srgbClr val="FFFF66"/>
                </a:solidFill>
                <a:latin typeface="宋体" panose="02010600030101010101" pitchFamily="2" charset="-122"/>
              </a:rPr>
              <a:t>1.</a:t>
            </a:r>
            <a:r>
              <a:rPr kumimoji="0" lang="zh-CN" altLang="en-US">
                <a:solidFill>
                  <a:srgbClr val="FFFF66"/>
                </a:solidFill>
                <a:latin typeface="宋体" panose="02010600030101010101" pitchFamily="2" charset="-122"/>
              </a:rPr>
              <a:t>实验现象</a:t>
            </a:r>
            <a:endParaRPr kumimoji="0" lang="zh-CN" altLang="en-US">
              <a:solidFill>
                <a:srgbClr val="0000FF"/>
              </a:solidFill>
              <a:latin typeface="宋体" panose="02010600030101010101" pitchFamily="2" charset="-122"/>
            </a:endParaRPr>
          </a:p>
        </p:txBody>
      </p:sp>
      <p:grpSp>
        <p:nvGrpSpPr>
          <p:cNvPr id="2" name="组合 45">
            <a:extLst>
              <a:ext uri="{FF2B5EF4-FFF2-40B4-BE49-F238E27FC236}">
                <a16:creationId xmlns:a16="http://schemas.microsoft.com/office/drawing/2014/main" id="{4D2FED9D-E568-4F27-881E-D9BB884171EE}"/>
              </a:ext>
            </a:extLst>
          </p:cNvPr>
          <p:cNvGrpSpPr>
            <a:grpSpLocks/>
          </p:cNvGrpSpPr>
          <p:nvPr/>
        </p:nvGrpSpPr>
        <p:grpSpPr bwMode="auto">
          <a:xfrm>
            <a:off x="342900" y="2357438"/>
            <a:ext cx="5907088" cy="1785937"/>
            <a:chOff x="357188" y="1857364"/>
            <a:chExt cx="5907099" cy="1785952"/>
          </a:xfrm>
        </p:grpSpPr>
        <p:sp>
          <p:nvSpPr>
            <p:cNvPr id="19486" name="Rectangle 12">
              <a:extLst>
                <a:ext uri="{FF2B5EF4-FFF2-40B4-BE49-F238E27FC236}">
                  <a16:creationId xmlns:a16="http://schemas.microsoft.com/office/drawing/2014/main" id="{7D4958E8-5081-4FAE-A6FC-FBC845567B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85918" y="1857364"/>
              <a:ext cx="1357322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kumimoji="0" lang="zh-CN" altLang="en-US" sz="2000">
                  <a:solidFill>
                    <a:srgbClr val="66FFFF"/>
                  </a:solidFill>
                </a:rPr>
                <a:t>衍射屏</a:t>
              </a:r>
              <a:endParaRPr kumimoji="0" lang="en-US" altLang="zh-CN" sz="2000">
                <a:solidFill>
                  <a:srgbClr val="66FFFF"/>
                </a:solidFill>
              </a:endParaRPr>
            </a:p>
          </p:txBody>
        </p:sp>
        <p:sp>
          <p:nvSpPr>
            <p:cNvPr id="19487" name="Rectangle 13">
              <a:extLst>
                <a:ext uri="{FF2B5EF4-FFF2-40B4-BE49-F238E27FC236}">
                  <a16:creationId xmlns:a16="http://schemas.microsoft.com/office/drawing/2014/main" id="{599B63E0-8BB0-4082-8D20-AA4D46A759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43219" y="1928790"/>
              <a:ext cx="2000264" cy="4286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kumimoji="0" lang="en-US" altLang="zh-CN" sz="2000">
                  <a:solidFill>
                    <a:srgbClr val="66FFFF"/>
                  </a:solidFill>
                </a:rPr>
                <a:t>         </a:t>
              </a:r>
              <a:r>
                <a:rPr kumimoji="0" lang="zh-CN" altLang="en-US" sz="2000">
                  <a:solidFill>
                    <a:srgbClr val="66FFFF"/>
                  </a:solidFill>
                </a:rPr>
                <a:t>观察屏</a:t>
              </a:r>
              <a:endParaRPr kumimoji="0" lang="en-US" altLang="zh-CN" sz="2000">
                <a:solidFill>
                  <a:srgbClr val="66FFFF"/>
                </a:solidFill>
              </a:endParaRPr>
            </a:p>
          </p:txBody>
        </p:sp>
        <p:sp>
          <p:nvSpPr>
            <p:cNvPr id="19488" name="Line 5">
              <a:extLst>
                <a:ext uri="{FF2B5EF4-FFF2-40B4-BE49-F238E27FC236}">
                  <a16:creationId xmlns:a16="http://schemas.microsoft.com/office/drawing/2014/main" id="{9E7C13F7-A07B-4506-80DD-A33971DE08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37497" y="2898461"/>
              <a:ext cx="1072447" cy="10761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med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89" name="AutoShape 8">
              <a:extLst>
                <a:ext uri="{FF2B5EF4-FFF2-40B4-BE49-F238E27FC236}">
                  <a16:creationId xmlns:a16="http://schemas.microsoft.com/office/drawing/2014/main" id="{F4CB5FC0-DA65-48A5-A69E-8CE30BE01FA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378489">
              <a:off x="1039197" y="2502636"/>
              <a:ext cx="1433514" cy="847845"/>
            </a:xfrm>
            <a:prstGeom prst="parallelogram">
              <a:avLst>
                <a:gd name="adj" fmla="val 54465"/>
              </a:avLst>
            </a:prstGeom>
            <a:solidFill>
              <a:schemeClr val="hlink"/>
            </a:solid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chemeClr val="hlink"/>
              </a:extrusionClr>
              <a:contourClr>
                <a:schemeClr val="hlink"/>
              </a:contourClr>
            </a:sp3d>
          </p:spPr>
          <p:txBody>
            <a:bodyPr rot="10800000" vert="eaVert" wrap="none" lIns="90000" tIns="46800" rIns="90000" bIns="46800" anchor="ctr">
              <a:flatTx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0"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9490" name="Oval 23">
              <a:extLst>
                <a:ext uri="{FF2B5EF4-FFF2-40B4-BE49-F238E27FC236}">
                  <a16:creationId xmlns:a16="http://schemas.microsoft.com/office/drawing/2014/main" id="{064BF042-A5F8-43B3-A591-A1E91B9714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97746" y="2832704"/>
              <a:ext cx="65852" cy="138689"/>
            </a:xfrm>
            <a:prstGeom prst="ellipse">
              <a:avLst/>
            </a:prstGeom>
            <a:solidFill>
              <a:schemeClr val="tx1"/>
            </a:solidFill>
            <a:ln w="9525">
              <a:round/>
              <a:headEnd/>
              <a:tailEnd/>
            </a:ln>
            <a:scene3d>
              <a:camera prst="legacyObliqueTopRight"/>
              <a:lightRig rig="legacyFlat3" dir="b"/>
            </a:scene3d>
            <a:sp3d prstMaterial="legacyMatte">
              <a:bevelT w="13500" h="13500" prst="angle"/>
              <a:bevelB w="13500" h="13500" prst="angle"/>
              <a:extrusionClr>
                <a:schemeClr val="tx1"/>
              </a:extrusionClr>
              <a:contourClr>
                <a:schemeClr val="tx1"/>
              </a:contourClr>
            </a:sp3d>
          </p:spPr>
          <p:txBody>
            <a:bodyPr wrap="none" lIns="90000" tIns="46800" rIns="90000" bIns="46800" anchor="ctr">
              <a:flatTx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0"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9491" name="Line 24">
              <a:extLst>
                <a:ext uri="{FF2B5EF4-FFF2-40B4-BE49-F238E27FC236}">
                  <a16:creationId xmlns:a16="http://schemas.microsoft.com/office/drawing/2014/main" id="{5788F386-11F7-45D8-9F0D-22FDCDF574B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334774">
              <a:off x="657049" y="2955850"/>
              <a:ext cx="1103021" cy="251074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 type="none" w="med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92" name="Line 25">
              <a:extLst>
                <a:ext uri="{FF2B5EF4-FFF2-40B4-BE49-F238E27FC236}">
                  <a16:creationId xmlns:a16="http://schemas.microsoft.com/office/drawing/2014/main" id="{92D1CEB0-B985-4068-AF56-1507BC40B78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21179095" flipV="1">
              <a:off x="692327" y="2633040"/>
              <a:ext cx="1072447" cy="194882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 type="none" w="med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93" name="Line 26">
              <a:extLst>
                <a:ext uri="{FF2B5EF4-FFF2-40B4-BE49-F238E27FC236}">
                  <a16:creationId xmlns:a16="http://schemas.microsoft.com/office/drawing/2014/main" id="{9E11165C-1BB7-4451-BA9D-3D596CDA75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5855" y="2919982"/>
              <a:ext cx="1044224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med" len="sm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9494" name="Object 2">
              <a:extLst>
                <a:ext uri="{FF2B5EF4-FFF2-40B4-BE49-F238E27FC236}">
                  <a16:creationId xmlns:a16="http://schemas.microsoft.com/office/drawing/2014/main" id="{FF28A901-E3AF-4004-90AC-B4A68D0E024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82966" y="2346098"/>
            <a:ext cx="269287" cy="3192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7684" name="Equation" r:id="rId3" imgW="114376" imgH="142977" progId="Equation.3">
                    <p:embed/>
                  </p:oleObj>
                </mc:Choice>
                <mc:Fallback>
                  <p:oleObj name="Equation" r:id="rId3" imgW="114376" imgH="142977" progId="Equation.3">
                    <p:embed/>
                    <p:pic>
                      <p:nvPicPr>
                        <p:cNvPr id="19494" name="Object 2">
                          <a:extLst>
                            <a:ext uri="{FF2B5EF4-FFF2-40B4-BE49-F238E27FC236}">
                              <a16:creationId xmlns:a16="http://schemas.microsoft.com/office/drawing/2014/main" id="{FF28A901-E3AF-4004-90AC-B4A68D0E024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2966" y="2346098"/>
                          <a:ext cx="269287" cy="31922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19495" name="Picture 40" descr="D:\大学物理\西安交大物理\光学\f14.45.jpg">
              <a:extLst>
                <a:ext uri="{FF2B5EF4-FFF2-40B4-BE49-F238E27FC236}">
                  <a16:creationId xmlns:a16="http://schemas.microsoft.com/office/drawing/2014/main" id="{D880210C-5637-4A3B-8FC6-BF7D609551C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66388" y="2324578"/>
              <a:ext cx="1128891" cy="11477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496" name="Oval 43">
              <a:extLst>
                <a:ext uri="{FF2B5EF4-FFF2-40B4-BE49-F238E27FC236}">
                  <a16:creationId xmlns:a16="http://schemas.microsoft.com/office/drawing/2014/main" id="{0C20248F-BB3C-4BE5-80DF-FAFE0FF492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9411" y="2862594"/>
              <a:ext cx="112889" cy="114777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rgbClr val="FFFF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0" lang="zh-CN" altLang="en-US">
                <a:solidFill>
                  <a:schemeClr val="bg1"/>
                </a:solidFill>
              </a:endParaRPr>
            </a:p>
          </p:txBody>
        </p:sp>
        <p:graphicFrame>
          <p:nvGraphicFramePr>
            <p:cNvPr id="19497" name="Object 4">
              <a:extLst>
                <a:ext uri="{FF2B5EF4-FFF2-40B4-BE49-F238E27FC236}">
                  <a16:creationId xmlns:a16="http://schemas.microsoft.com/office/drawing/2014/main" id="{2C3D5BED-86F4-4A55-84B8-F5942E0F640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57188" y="2747817"/>
            <a:ext cx="279871" cy="3359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7685" name="Equation" r:id="rId6" imgW="104896" imgH="142977" progId="Equation.3">
                    <p:embed/>
                  </p:oleObj>
                </mc:Choice>
                <mc:Fallback>
                  <p:oleObj name="Equation" r:id="rId6" imgW="104896" imgH="142977" progId="Equation.3">
                    <p:embed/>
                    <p:pic>
                      <p:nvPicPr>
                        <p:cNvPr id="19497" name="Object 4">
                          <a:extLst>
                            <a:ext uri="{FF2B5EF4-FFF2-40B4-BE49-F238E27FC236}">
                              <a16:creationId xmlns:a16="http://schemas.microsoft.com/office/drawing/2014/main" id="{2C3D5BED-86F4-4A55-84B8-F5942E0F640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7188" y="2747817"/>
                          <a:ext cx="279871" cy="33596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498" name="Text Box 45">
              <a:extLst>
                <a:ext uri="{FF2B5EF4-FFF2-40B4-BE49-F238E27FC236}">
                  <a16:creationId xmlns:a16="http://schemas.microsoft.com/office/drawing/2014/main" id="{FE4F7C0A-EF08-4390-9C9B-115FFAF6A6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14858" y="2674928"/>
              <a:ext cx="1749429" cy="3968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50000"/>
                </a:spcBef>
              </a:pPr>
              <a:r>
                <a:rPr kumimoji="0" lang="zh-CN" altLang="en-US" sz="2000">
                  <a:solidFill>
                    <a:srgbClr val="4DEAFB"/>
                  </a:solidFill>
                </a:rPr>
                <a:t>圆孔衍射图样</a:t>
              </a:r>
            </a:p>
          </p:txBody>
        </p:sp>
      </p:grpSp>
      <p:grpSp>
        <p:nvGrpSpPr>
          <p:cNvPr id="3" name="组合 41">
            <a:extLst>
              <a:ext uri="{FF2B5EF4-FFF2-40B4-BE49-F238E27FC236}">
                <a16:creationId xmlns:a16="http://schemas.microsoft.com/office/drawing/2014/main" id="{756FEC46-9E35-4EC4-A8E0-18C615308B43}"/>
              </a:ext>
            </a:extLst>
          </p:cNvPr>
          <p:cNvGrpSpPr>
            <a:grpSpLocks/>
          </p:cNvGrpSpPr>
          <p:nvPr/>
        </p:nvGrpSpPr>
        <p:grpSpPr bwMode="auto">
          <a:xfrm>
            <a:off x="271463" y="4572000"/>
            <a:ext cx="6443662" cy="1928813"/>
            <a:chOff x="439738" y="4446588"/>
            <a:chExt cx="8085726" cy="2232025"/>
          </a:xfrm>
        </p:grpSpPr>
        <p:pic>
          <p:nvPicPr>
            <p:cNvPr id="19467" name="Picture 6" descr="D:\大学物理\西安交大物理\光学\bgy.jpg">
              <a:extLst>
                <a:ext uri="{FF2B5EF4-FFF2-40B4-BE49-F238E27FC236}">
                  <a16:creationId xmlns:a16="http://schemas.microsoft.com/office/drawing/2014/main" id="{89EE335C-B568-4966-9C90-2E42EFE2F8A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9738" y="4979988"/>
              <a:ext cx="1320800" cy="1117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468" name="Line 7">
              <a:extLst>
                <a:ext uri="{FF2B5EF4-FFF2-40B4-BE49-F238E27FC236}">
                  <a16:creationId xmlns:a16="http://schemas.microsoft.com/office/drawing/2014/main" id="{0FC94858-D3F9-45F0-B05D-935C110A5C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57400" y="5638800"/>
              <a:ext cx="889000" cy="15875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med" len="sm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69" name="Line 15">
              <a:extLst>
                <a:ext uri="{FF2B5EF4-FFF2-40B4-BE49-F238E27FC236}">
                  <a16:creationId xmlns:a16="http://schemas.microsoft.com/office/drawing/2014/main" id="{210190ED-483B-4494-897A-7CDBBE5C2D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1738" y="5589588"/>
              <a:ext cx="787400" cy="14287"/>
            </a:xfrm>
            <a:prstGeom prst="line">
              <a:avLst/>
            </a:prstGeom>
            <a:noFill/>
            <a:ln w="22225">
              <a:solidFill>
                <a:schemeClr val="bg1"/>
              </a:solidFill>
              <a:round/>
              <a:headEnd type="none" w="med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70" name="Line 16">
              <a:extLst>
                <a:ext uri="{FF2B5EF4-FFF2-40B4-BE49-F238E27FC236}">
                  <a16:creationId xmlns:a16="http://schemas.microsoft.com/office/drawing/2014/main" id="{193333A6-76E1-47CF-AF3D-483813903DB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01738" y="5197475"/>
              <a:ext cx="809625" cy="392113"/>
            </a:xfrm>
            <a:prstGeom prst="line">
              <a:avLst/>
            </a:prstGeom>
            <a:noFill/>
            <a:ln w="22225">
              <a:solidFill>
                <a:schemeClr val="bg1"/>
              </a:solidFill>
              <a:round/>
              <a:headEnd type="none" w="med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71" name="Line 17">
              <a:extLst>
                <a:ext uri="{FF2B5EF4-FFF2-40B4-BE49-F238E27FC236}">
                  <a16:creationId xmlns:a16="http://schemas.microsoft.com/office/drawing/2014/main" id="{819F47EE-7358-45BE-B507-4F09025588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25538" y="5589588"/>
              <a:ext cx="914400" cy="420687"/>
            </a:xfrm>
            <a:prstGeom prst="line">
              <a:avLst/>
            </a:prstGeom>
            <a:noFill/>
            <a:ln w="22225">
              <a:solidFill>
                <a:schemeClr val="bg1"/>
              </a:solidFill>
              <a:round/>
              <a:headEnd type="none" w="med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72" name="Line 18">
              <a:extLst>
                <a:ext uri="{FF2B5EF4-FFF2-40B4-BE49-F238E27FC236}">
                  <a16:creationId xmlns:a16="http://schemas.microsoft.com/office/drawing/2014/main" id="{D711B0FB-8552-4F84-8B7A-9AFDC0B16D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6938" y="5187950"/>
              <a:ext cx="711200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 type="none" w="med" len="sm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73" name="Line 19">
              <a:extLst>
                <a:ext uri="{FF2B5EF4-FFF2-40B4-BE49-F238E27FC236}">
                  <a16:creationId xmlns:a16="http://schemas.microsoft.com/office/drawing/2014/main" id="{43F188C2-0FED-4B8B-9287-139A766931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79638" y="6019800"/>
              <a:ext cx="698500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 type="none" w="med" len="sm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9474" name="Object 3">
              <a:extLst>
                <a:ext uri="{FF2B5EF4-FFF2-40B4-BE49-F238E27FC236}">
                  <a16:creationId xmlns:a16="http://schemas.microsoft.com/office/drawing/2014/main" id="{C9567421-7FF6-4163-B172-EAEB70CD939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277938" y="4903788"/>
            <a:ext cx="363537" cy="4238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7686" name="Equation" r:id="rId9" imgW="114376" imgH="142977" progId="Equation.3">
                    <p:embed/>
                  </p:oleObj>
                </mc:Choice>
                <mc:Fallback>
                  <p:oleObj name="Equation" r:id="rId9" imgW="114376" imgH="142977" progId="Equation.3">
                    <p:embed/>
                    <p:pic>
                      <p:nvPicPr>
                        <p:cNvPr id="19474" name="Object 3">
                          <a:extLst>
                            <a:ext uri="{FF2B5EF4-FFF2-40B4-BE49-F238E27FC236}">
                              <a16:creationId xmlns:a16="http://schemas.microsoft.com/office/drawing/2014/main" id="{C9567421-7FF6-4163-B172-EAEB70CD939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77938" y="4903788"/>
                          <a:ext cx="363537" cy="4238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9475" name="Group 47">
              <a:extLst>
                <a:ext uri="{FF2B5EF4-FFF2-40B4-BE49-F238E27FC236}">
                  <a16:creationId xmlns:a16="http://schemas.microsoft.com/office/drawing/2014/main" id="{AE43CFFA-FF33-4D6F-A369-5E4E0C36A48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87538" y="4446588"/>
              <a:ext cx="454025" cy="1928812"/>
              <a:chOff x="1189" y="2801"/>
              <a:chExt cx="286" cy="1215"/>
            </a:xfrm>
          </p:grpSpPr>
          <p:pic>
            <p:nvPicPr>
              <p:cNvPr id="19484" name="Picture 30" descr="D:\大学物理\西安交大物理\光学\glass.jpg">
                <a:extLst>
                  <a:ext uri="{FF2B5EF4-FFF2-40B4-BE49-F238E27FC236}">
                    <a16:creationId xmlns:a16="http://schemas.microsoft.com/office/drawing/2014/main" id="{823E8225-ABC6-49B0-85A6-3C731F6E882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259" y="3050"/>
                <a:ext cx="122" cy="9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graphicFrame>
            <p:nvGraphicFramePr>
              <p:cNvPr id="19485" name="Object 6">
                <a:extLst>
                  <a:ext uri="{FF2B5EF4-FFF2-40B4-BE49-F238E27FC236}">
                    <a16:creationId xmlns:a16="http://schemas.microsoft.com/office/drawing/2014/main" id="{2B3DF9BE-5890-4A71-8C7A-B16362FCFA73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189" y="2801"/>
              <a:ext cx="286" cy="24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97687" name="Equation" r:id="rId12" imgW="152298" imgH="123689" progId="Equation.3">
                      <p:embed/>
                    </p:oleObj>
                  </mc:Choice>
                  <mc:Fallback>
                    <p:oleObj name="Equation" r:id="rId12" imgW="152298" imgH="123689" progId="Equation.3">
                      <p:embed/>
                      <p:pic>
                        <p:nvPicPr>
                          <p:cNvPr id="19485" name="Object 6">
                            <a:extLst>
                              <a:ext uri="{FF2B5EF4-FFF2-40B4-BE49-F238E27FC236}">
                                <a16:creationId xmlns:a16="http://schemas.microsoft.com/office/drawing/2014/main" id="{2B3DF9BE-5890-4A71-8C7A-B16362FCFA73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189" y="2801"/>
                            <a:ext cx="286" cy="24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pic>
          <p:nvPicPr>
            <p:cNvPr id="19476" name="Picture 35" descr="D:\大学物理\西安交大物理\光学\图14.86.jpg">
              <a:extLst>
                <a:ext uri="{FF2B5EF4-FFF2-40B4-BE49-F238E27FC236}">
                  <a16:creationId xmlns:a16="http://schemas.microsoft.com/office/drawing/2014/main" id="{6C3836A6-A76E-42BF-AFA6-85E473E957C6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81600" y="4648200"/>
              <a:ext cx="990600" cy="1981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477" name="Rectangle 36">
              <a:extLst>
                <a:ext uri="{FF2B5EF4-FFF2-40B4-BE49-F238E27FC236}">
                  <a16:creationId xmlns:a16="http://schemas.microsoft.com/office/drawing/2014/main" id="{35341F65-63ED-49E3-BAC8-C20BD9C056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7000" y="5943600"/>
              <a:ext cx="246063" cy="735013"/>
            </a:xfrm>
            <a:prstGeom prst="rect">
              <a:avLst/>
            </a:prstGeom>
            <a:solidFill>
              <a:schemeClr val="hlink"/>
            </a:solid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1801800" prstMaterial="legacyMatte">
              <a:bevelT w="13500" h="13500" prst="angle"/>
              <a:bevelB w="13500" h="13500" prst="angle"/>
              <a:extrusionClr>
                <a:schemeClr val="hlink"/>
              </a:extrusionClr>
              <a:contourClr>
                <a:schemeClr val="hlink"/>
              </a:contourClr>
            </a:sp3d>
          </p:spPr>
          <p:txBody>
            <a:bodyPr wrap="none" lIns="90000" tIns="46800" rIns="90000" bIns="46800" anchor="ctr">
              <a:flatTx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0"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9478" name="Rectangle 37">
              <a:extLst>
                <a:ext uri="{FF2B5EF4-FFF2-40B4-BE49-F238E27FC236}">
                  <a16:creationId xmlns:a16="http://schemas.microsoft.com/office/drawing/2014/main" id="{754D2D73-833F-47A5-BAE0-D0696FDB07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9538" y="5056188"/>
              <a:ext cx="304800" cy="762000"/>
            </a:xfrm>
            <a:prstGeom prst="rect">
              <a:avLst/>
            </a:prstGeom>
            <a:solidFill>
              <a:schemeClr val="hlink"/>
            </a:solid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1801800" prstMaterial="legacyMatte">
              <a:bevelT w="13500" h="13500" prst="angle"/>
              <a:bevelB w="13500" h="13500" prst="angle"/>
              <a:extrusionClr>
                <a:schemeClr val="hlink"/>
              </a:extrusionClr>
              <a:contourClr>
                <a:schemeClr val="hlink"/>
              </a:contourClr>
            </a:sp3d>
          </p:spPr>
          <p:txBody>
            <a:bodyPr wrap="none" lIns="90000" tIns="46800" rIns="90000" bIns="46800" anchor="ctr">
              <a:flatTx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0" lang="zh-CN" altLang="en-US">
                <a:solidFill>
                  <a:schemeClr val="bg1"/>
                </a:solidFill>
              </a:endParaRPr>
            </a:p>
          </p:txBody>
        </p:sp>
        <p:grpSp>
          <p:nvGrpSpPr>
            <p:cNvPr id="19479" name="Group 48">
              <a:extLst>
                <a:ext uri="{FF2B5EF4-FFF2-40B4-BE49-F238E27FC236}">
                  <a16:creationId xmlns:a16="http://schemas.microsoft.com/office/drawing/2014/main" id="{2C320D9E-00A9-44BE-9D74-AA4A4335F79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67200" y="4724400"/>
              <a:ext cx="592138" cy="1841500"/>
              <a:chOff x="2688" y="2976"/>
              <a:chExt cx="373" cy="1160"/>
            </a:xfrm>
          </p:grpSpPr>
          <p:graphicFrame>
            <p:nvGraphicFramePr>
              <p:cNvPr id="19482" name="Object 5">
                <a:extLst>
                  <a:ext uri="{FF2B5EF4-FFF2-40B4-BE49-F238E27FC236}">
                    <a16:creationId xmlns:a16="http://schemas.microsoft.com/office/drawing/2014/main" id="{789E4F05-288D-43DD-B109-6582AF8BB1A3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832" y="3888"/>
              <a:ext cx="229" cy="24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97688" name="Equation" r:id="rId15" imgW="114376" imgH="123689" progId="Equation.3">
                      <p:embed/>
                    </p:oleObj>
                  </mc:Choice>
                  <mc:Fallback>
                    <p:oleObj name="Equation" r:id="rId15" imgW="114376" imgH="123689" progId="Equation.3">
                      <p:embed/>
                      <p:pic>
                        <p:nvPicPr>
                          <p:cNvPr id="19482" name="Object 5">
                            <a:extLst>
                              <a:ext uri="{FF2B5EF4-FFF2-40B4-BE49-F238E27FC236}">
                                <a16:creationId xmlns:a16="http://schemas.microsoft.com/office/drawing/2014/main" id="{789E4F05-288D-43DD-B109-6582AF8BB1A3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32" y="3888"/>
                            <a:ext cx="229" cy="24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pic>
            <p:nvPicPr>
              <p:cNvPr id="19483" name="Picture 38" descr="D:\大学物理\西安交大物理\光学\glass.jpg">
                <a:extLst>
                  <a:ext uri="{FF2B5EF4-FFF2-40B4-BE49-F238E27FC236}">
                    <a16:creationId xmlns:a16="http://schemas.microsoft.com/office/drawing/2014/main" id="{FDB9BA34-6DE4-4F2C-98CD-D1EFFFF72C5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688" y="2976"/>
                <a:ext cx="145" cy="11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19480" name="Line 39">
              <a:extLst>
                <a:ext uri="{FF2B5EF4-FFF2-40B4-BE49-F238E27FC236}">
                  <a16:creationId xmlns:a16="http://schemas.microsoft.com/office/drawing/2014/main" id="{25A8712D-2313-4BF5-85F4-7A2E2E9731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00400" y="5638800"/>
              <a:ext cx="1828800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19481" name="Text Box 46">
              <a:extLst>
                <a:ext uri="{FF2B5EF4-FFF2-40B4-BE49-F238E27FC236}">
                  <a16:creationId xmlns:a16="http://schemas.microsoft.com/office/drawing/2014/main" id="{37D3BCCA-8FA6-4CD4-8897-5A7700591A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63263" y="5438591"/>
              <a:ext cx="2362201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50000"/>
                </a:spcBef>
              </a:pPr>
              <a:r>
                <a:rPr kumimoji="0" lang="zh-CN" altLang="en-US" sz="2000">
                  <a:solidFill>
                    <a:srgbClr val="4DEAFB"/>
                  </a:solidFill>
                </a:rPr>
                <a:t>单缝衍射图样</a:t>
              </a:r>
            </a:p>
          </p:txBody>
        </p:sp>
      </p:grpSp>
      <p:sp>
        <p:nvSpPr>
          <p:cNvPr id="40" name="Text Box 5">
            <a:extLst>
              <a:ext uri="{FF2B5EF4-FFF2-40B4-BE49-F238E27FC236}">
                <a16:creationId xmlns:a16="http://schemas.microsoft.com/office/drawing/2014/main" id="{BA01BCFC-B39C-4492-AFB3-6D17011544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8300" y="206375"/>
            <a:ext cx="5791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>
                <a:solidFill>
                  <a:srgbClr val="66FF33"/>
                </a:solidFill>
              </a:rPr>
              <a:t>§14.7</a:t>
            </a:r>
            <a:r>
              <a:rPr lang="en-US" altLang="zh-CN" sz="3200">
                <a:solidFill>
                  <a:srgbClr val="66FF33"/>
                </a:solidFill>
                <a:latin typeface="方正书宋简体"/>
              </a:rPr>
              <a:t>  </a:t>
            </a:r>
            <a:r>
              <a:rPr lang="zh-CN" altLang="en-US" sz="3200">
                <a:solidFill>
                  <a:srgbClr val="66FF33"/>
                </a:solidFill>
                <a:latin typeface="方正书宋简体"/>
                <a:ea typeface="黑体" panose="02010609060101010101" pitchFamily="49" charset="-122"/>
              </a:rPr>
              <a:t>惠更斯</a:t>
            </a:r>
            <a:r>
              <a:rPr lang="en-US" altLang="zh-CN" sz="3200" b="0">
                <a:solidFill>
                  <a:srgbClr val="66FF33"/>
                </a:solidFill>
                <a:latin typeface="方正书宋简体"/>
                <a:ea typeface="黑体" panose="02010609060101010101" pitchFamily="49" charset="-122"/>
              </a:rPr>
              <a:t>—</a:t>
            </a:r>
            <a:r>
              <a:rPr lang="zh-CN" altLang="en-US" sz="3200">
                <a:solidFill>
                  <a:srgbClr val="66FF33"/>
                </a:solidFill>
                <a:latin typeface="方正书宋简体"/>
                <a:ea typeface="黑体" panose="02010609060101010101" pitchFamily="49" charset="-122"/>
              </a:rPr>
              <a:t>菲涅耳原理</a:t>
            </a:r>
            <a:endParaRPr lang="zh-CN" altLang="en-US" sz="3200">
              <a:solidFill>
                <a:srgbClr val="FFCC66"/>
              </a:solidFill>
              <a:latin typeface="方正书宋简体"/>
            </a:endParaRPr>
          </a:p>
        </p:txBody>
      </p:sp>
      <p:sp>
        <p:nvSpPr>
          <p:cNvPr id="41" name="Rectangle 11">
            <a:extLst>
              <a:ext uri="{FF2B5EF4-FFF2-40B4-BE49-F238E27FC236}">
                <a16:creationId xmlns:a16="http://schemas.microsoft.com/office/drawing/2014/main" id="{511AD89C-24B7-465B-86A5-406CAE803C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0900" y="1328738"/>
            <a:ext cx="79359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200">
                <a:solidFill>
                  <a:schemeClr val="bg1"/>
                </a:solidFill>
                <a:latin typeface="方正书宋简体"/>
              </a:rPr>
              <a:t>光在传播过程中绕过障碍物的边缘而偏离直线传播的现象</a:t>
            </a:r>
            <a:endParaRPr lang="zh-CN" altLang="en-US" sz="2200" b="0">
              <a:solidFill>
                <a:schemeClr val="bg1"/>
              </a:solidFill>
            </a:endParaRPr>
          </a:p>
        </p:txBody>
      </p:sp>
      <p:pic>
        <p:nvPicPr>
          <p:cNvPr id="44" name="Picture 21" descr="14">
            <a:extLst>
              <a:ext uri="{FF2B5EF4-FFF2-40B4-BE49-F238E27FC236}">
                <a16:creationId xmlns:a16="http://schemas.microsoft.com/office/drawing/2014/main" id="{0A5A9558-8D15-4480-9796-4C87FF690D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2888" y="3030538"/>
            <a:ext cx="2051050" cy="2541587"/>
          </a:xfrm>
          <a:prstGeom prst="rect">
            <a:avLst/>
          </a:prstGeom>
          <a:solidFill>
            <a:srgbClr val="FF9900"/>
          </a:solidFill>
          <a:ln w="9525">
            <a:solidFill>
              <a:srgbClr val="FF9900"/>
            </a:solidFill>
            <a:miter lim="800000"/>
            <a:headEnd/>
            <a:tailEnd/>
          </a:ln>
        </p:spPr>
      </p:pic>
      <p:sp>
        <p:nvSpPr>
          <p:cNvPr id="45" name="Text Box 24">
            <a:extLst>
              <a:ext uri="{FF2B5EF4-FFF2-40B4-BE49-F238E27FC236}">
                <a16:creationId xmlns:a16="http://schemas.microsoft.com/office/drawing/2014/main" id="{A2E7469E-BBCE-4084-9C54-CF0EEC54FE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92888" y="5676900"/>
            <a:ext cx="2193925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sz="2000">
                <a:solidFill>
                  <a:schemeClr val="bg1"/>
                </a:solidFill>
                <a:ea typeface="楷体_GB2312" pitchFamily="49" charset="-122"/>
              </a:rPr>
              <a:t>(</a:t>
            </a:r>
            <a:r>
              <a:rPr kumimoji="0" lang="zh-CN" altLang="en-US" sz="20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剃须刀边缘衍射</a:t>
            </a:r>
            <a:r>
              <a:rPr kumimoji="0" lang="en-US" altLang="zh-CN" sz="2000">
                <a:solidFill>
                  <a:schemeClr val="bg1"/>
                </a:solidFill>
                <a:ea typeface="楷体_GB2312" pitchFamily="49" charset="-122"/>
              </a:rPr>
              <a:t>)</a:t>
            </a:r>
            <a:endParaRPr kumimoji="0" lang="en-US" altLang="zh-CN" sz="2000">
              <a:solidFill>
                <a:schemeClr val="bg1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19466" name="灯片编号占位符 1">
            <a:extLst>
              <a:ext uri="{FF2B5EF4-FFF2-40B4-BE49-F238E27FC236}">
                <a16:creationId xmlns:a16="http://schemas.microsoft.com/office/drawing/2014/main" id="{3E7FE1CA-AD32-4C18-B6CB-86A1E8A11ED9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9E47FB3-4442-452C-A057-3EFEF20FC40B}" type="slidenum">
              <a:rPr lang="en-US" altLang="zh-CN" b="0">
                <a:solidFill>
                  <a:srgbClr val="FF00FF"/>
                </a:solidFill>
              </a:rPr>
              <a:pPr eaLnBrk="1" hangingPunct="1"/>
              <a:t>18</a:t>
            </a:fld>
            <a:r>
              <a:rPr lang="en-US" altLang="zh-CN" b="0">
                <a:solidFill>
                  <a:srgbClr val="FF00FF"/>
                </a:solidFill>
              </a:rPr>
              <a:t>/24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3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3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6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8" grpId="0" autoUpdateAnimBg="0"/>
      <p:bldP spid="63499" grpId="0" autoUpdateAnimBg="0"/>
      <p:bldP spid="40" grpId="0" autoUpdateAnimBg="0"/>
      <p:bldP spid="41" grpId="0" autoUpdateAnimBg="0"/>
      <p:bldP spid="4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 Box 2">
            <a:extLst>
              <a:ext uri="{FF2B5EF4-FFF2-40B4-BE49-F238E27FC236}">
                <a16:creationId xmlns:a16="http://schemas.microsoft.com/office/drawing/2014/main" id="{7030E832-EBE8-4430-9FA9-471B37F204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7950" y="3789363"/>
            <a:ext cx="65516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0" lang="zh-CN" altLang="en-US">
                <a:solidFill>
                  <a:srgbClr val="FFFF00"/>
                </a:solidFill>
              </a:rPr>
              <a:t>圆孔</a:t>
            </a:r>
            <a:r>
              <a:rPr lang="zh-CN" altLang="en-US">
                <a:solidFill>
                  <a:srgbClr val="FFFF00"/>
                </a:solidFill>
              </a:rPr>
              <a:t>衍射                                     </a:t>
            </a:r>
            <a:r>
              <a:rPr kumimoji="0" lang="zh-CN" altLang="en-US">
                <a:solidFill>
                  <a:srgbClr val="FFFF00"/>
                </a:solidFill>
              </a:rPr>
              <a:t>单缝</a:t>
            </a:r>
            <a:r>
              <a:rPr lang="zh-CN" altLang="en-US">
                <a:solidFill>
                  <a:srgbClr val="FFFF00"/>
                </a:solidFill>
              </a:rPr>
              <a:t>衍射</a:t>
            </a:r>
          </a:p>
        </p:txBody>
      </p:sp>
      <p:pic>
        <p:nvPicPr>
          <p:cNvPr id="23555" name="Picture 3" descr="Image44">
            <a:extLst>
              <a:ext uri="{FF2B5EF4-FFF2-40B4-BE49-F238E27FC236}">
                <a16:creationId xmlns:a16="http://schemas.microsoft.com/office/drawing/2014/main" id="{8F774C1B-D386-4D61-B182-9CAB28921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063" y="333375"/>
            <a:ext cx="8139112" cy="3386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687" name="Text Box 7">
            <a:extLst>
              <a:ext uri="{FF2B5EF4-FFF2-40B4-BE49-F238E27FC236}">
                <a16:creationId xmlns:a16="http://schemas.microsoft.com/office/drawing/2014/main" id="{00487621-0227-47CD-9B0E-087389E2B0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9088" y="5357813"/>
            <a:ext cx="8610600" cy="1063625"/>
          </a:xfrm>
          <a:prstGeom prst="rect">
            <a:avLst/>
          </a:prstGeom>
          <a:noFill/>
          <a:ln w="22225">
            <a:solidFill>
              <a:srgbClr val="FF66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kumimoji="0" lang="en-US" altLang="zh-CN">
                <a:solidFill>
                  <a:schemeClr val="hlink"/>
                </a:solidFill>
                <a:ea typeface="仿宋_GB2312"/>
                <a:cs typeface="仿宋_GB2312"/>
              </a:rPr>
              <a:t>        </a:t>
            </a:r>
            <a:r>
              <a:rPr kumimoji="0" lang="zh-CN" altLang="en-US">
                <a:solidFill>
                  <a:schemeClr val="bg1"/>
                </a:solidFill>
              </a:rPr>
              <a:t>衍射现象明显取决于</a:t>
            </a:r>
            <a:r>
              <a:rPr kumimoji="0" lang="zh-CN" altLang="en-US">
                <a:solidFill>
                  <a:schemeClr val="bg1"/>
                </a:solidFill>
                <a:latin typeface="方正书宋简体"/>
              </a:rPr>
              <a:t>障碍物</a:t>
            </a:r>
            <a:r>
              <a:rPr kumimoji="0" lang="zh-CN" altLang="en-US">
                <a:solidFill>
                  <a:schemeClr val="bg1"/>
                </a:solidFill>
              </a:rPr>
              <a:t>线度与波长的对比，波长越大，</a:t>
            </a:r>
            <a:r>
              <a:rPr kumimoji="0" lang="zh-CN" altLang="en-US">
                <a:solidFill>
                  <a:schemeClr val="bg1"/>
                </a:solidFill>
                <a:latin typeface="方正书宋简体"/>
              </a:rPr>
              <a:t>障碍物</a:t>
            </a:r>
            <a:r>
              <a:rPr kumimoji="0" lang="zh-CN" altLang="en-US">
                <a:solidFill>
                  <a:schemeClr val="bg1"/>
                </a:solidFill>
              </a:rPr>
              <a:t>越小，衍射越明显。</a:t>
            </a:r>
          </a:p>
        </p:txBody>
      </p:sp>
      <p:sp>
        <p:nvSpPr>
          <p:cNvPr id="71689" name="Text Box 9">
            <a:extLst>
              <a:ext uri="{FF2B5EF4-FFF2-40B4-BE49-F238E27FC236}">
                <a16:creationId xmlns:a16="http://schemas.microsoft.com/office/drawing/2014/main" id="{5B50295C-8DB0-42C0-AFD0-D0870DEB60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4567238"/>
            <a:ext cx="2819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kumimoji="0" lang="zh-CN" altLang="en-US" sz="2800">
                <a:solidFill>
                  <a:srgbClr val="4DEAFB"/>
                </a:solidFill>
              </a:rPr>
              <a:t>衍射的共性：</a:t>
            </a:r>
          </a:p>
        </p:txBody>
      </p:sp>
      <p:sp>
        <p:nvSpPr>
          <p:cNvPr id="71690" name="Text Box 10">
            <a:extLst>
              <a:ext uri="{FF2B5EF4-FFF2-40B4-BE49-F238E27FC236}">
                <a16:creationId xmlns:a16="http://schemas.microsoft.com/office/drawing/2014/main" id="{41963ADE-C13D-4CB8-A908-7976784E16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4438" y="4371975"/>
            <a:ext cx="5730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kumimoji="0" lang="en-US" altLang="zh-CN">
                <a:solidFill>
                  <a:srgbClr val="76FB4D"/>
                </a:solidFill>
              </a:rPr>
              <a:t>•  </a:t>
            </a:r>
            <a:r>
              <a:rPr kumimoji="0" lang="zh-CN" altLang="en-US">
                <a:solidFill>
                  <a:srgbClr val="76FB4D"/>
                </a:solidFill>
              </a:rPr>
              <a:t>光在被限制的方向进行了扩展</a:t>
            </a:r>
          </a:p>
        </p:txBody>
      </p:sp>
      <p:sp>
        <p:nvSpPr>
          <p:cNvPr id="71691" name="Text Box 11">
            <a:extLst>
              <a:ext uri="{FF2B5EF4-FFF2-40B4-BE49-F238E27FC236}">
                <a16:creationId xmlns:a16="http://schemas.microsoft.com/office/drawing/2014/main" id="{E0807864-2A8C-4EFF-A0B3-DCD9D00565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4438" y="4829175"/>
            <a:ext cx="49450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kumimoji="0" lang="en-US" altLang="zh-CN">
                <a:solidFill>
                  <a:srgbClr val="76FB4D"/>
                </a:solidFill>
              </a:rPr>
              <a:t>•  </a:t>
            </a:r>
            <a:r>
              <a:rPr kumimoji="0" lang="zh-CN" altLang="en-US">
                <a:solidFill>
                  <a:srgbClr val="76FB4D"/>
                </a:solidFill>
              </a:rPr>
              <a:t>光强重新分配</a:t>
            </a:r>
          </a:p>
        </p:txBody>
      </p:sp>
      <p:sp>
        <p:nvSpPr>
          <p:cNvPr id="20488" name="灯片编号占位符 1">
            <a:extLst>
              <a:ext uri="{FF2B5EF4-FFF2-40B4-BE49-F238E27FC236}">
                <a16:creationId xmlns:a16="http://schemas.microsoft.com/office/drawing/2014/main" id="{3BCA4B98-2665-4B33-8126-E48D3183B899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59394B0-E71E-4E1F-AECF-399AF37D86C7}" type="slidenum">
              <a:rPr lang="en-US" altLang="zh-CN" b="0">
                <a:solidFill>
                  <a:srgbClr val="FF00FF"/>
                </a:solidFill>
              </a:rPr>
              <a:pPr eaLnBrk="1" hangingPunct="1"/>
              <a:t>19</a:t>
            </a:fld>
            <a:r>
              <a:rPr lang="en-US" altLang="zh-CN" b="0">
                <a:solidFill>
                  <a:srgbClr val="FF00FF"/>
                </a:solidFill>
              </a:rPr>
              <a:t>/24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3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3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1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1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1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71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4" grpId="0"/>
      <p:bldP spid="71687" grpId="0" animBg="1" autoUpdateAnimBg="0"/>
      <p:bldP spid="71689" grpId="0" autoUpdateAnimBg="0"/>
      <p:bldP spid="71690" grpId="0" autoUpdateAnimBg="0"/>
      <p:bldP spid="71691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80" name="Text Box 4">
            <a:extLst>
              <a:ext uri="{FF2B5EF4-FFF2-40B4-BE49-F238E27FC236}">
                <a16:creationId xmlns:a16="http://schemas.microsoft.com/office/drawing/2014/main" id="{D10CB354-E94E-431D-9E8C-7599E13189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228600"/>
            <a:ext cx="4038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FFFF66"/>
                </a:solidFill>
                <a:latin typeface="宋体" panose="02010600030101010101" pitchFamily="2" charset="-122"/>
              </a:rPr>
              <a:t>二</a:t>
            </a:r>
            <a:r>
              <a:rPr lang="en-US" altLang="zh-CN">
                <a:solidFill>
                  <a:srgbClr val="FFFF66"/>
                </a:solidFill>
                <a:latin typeface="宋体" panose="02010600030101010101" pitchFamily="2" charset="-122"/>
              </a:rPr>
              <a:t>.</a:t>
            </a:r>
            <a:r>
              <a:rPr lang="zh-CN" altLang="en-US">
                <a:solidFill>
                  <a:srgbClr val="FFFF66"/>
                </a:solidFill>
                <a:latin typeface="宋体" panose="02010600030101010101" pitchFamily="2" charset="-122"/>
              </a:rPr>
              <a:t>光的衍射分类</a:t>
            </a:r>
          </a:p>
        </p:txBody>
      </p:sp>
      <p:sp>
        <p:nvSpPr>
          <p:cNvPr id="75781" name="Oval 5">
            <a:extLst>
              <a:ext uri="{FF2B5EF4-FFF2-40B4-BE49-F238E27FC236}">
                <a16:creationId xmlns:a16="http://schemas.microsoft.com/office/drawing/2014/main" id="{34913FE4-9C24-442C-9CB7-8F233C972D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1828800"/>
            <a:ext cx="152400" cy="152400"/>
          </a:xfrm>
          <a:prstGeom prst="ellipse">
            <a:avLst/>
          </a:prstGeom>
          <a:solidFill>
            <a:srgbClr val="99FF66"/>
          </a:solidFill>
          <a:ln w="9525">
            <a:solidFill>
              <a:srgbClr val="66FF33"/>
            </a:solidFill>
            <a:round/>
            <a:headEnd/>
            <a:tailEnd/>
          </a:ln>
        </p:spPr>
        <p:txBody>
          <a:bodyPr wrap="none" lIns="90000" tIns="46800" rIns="90000" bIns="46800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5783" name="Line 7">
            <a:extLst>
              <a:ext uri="{FF2B5EF4-FFF2-40B4-BE49-F238E27FC236}">
                <a16:creationId xmlns:a16="http://schemas.microsoft.com/office/drawing/2014/main" id="{5F8317FC-94D1-4553-A75D-E1F4177A942C}"/>
              </a:ext>
            </a:extLst>
          </p:cNvPr>
          <p:cNvSpPr>
            <a:spLocks noChangeShapeType="1"/>
          </p:cNvSpPr>
          <p:nvPr/>
        </p:nvSpPr>
        <p:spPr bwMode="auto">
          <a:xfrm>
            <a:off x="8305800" y="609600"/>
            <a:ext cx="0" cy="281940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grpSp>
        <p:nvGrpSpPr>
          <p:cNvPr id="2" name="Group 65">
            <a:extLst>
              <a:ext uri="{FF2B5EF4-FFF2-40B4-BE49-F238E27FC236}">
                <a16:creationId xmlns:a16="http://schemas.microsoft.com/office/drawing/2014/main" id="{E85D20CF-AAE5-447C-A9C8-2C3BFBF08FE3}"/>
              </a:ext>
            </a:extLst>
          </p:cNvPr>
          <p:cNvGrpSpPr>
            <a:grpSpLocks/>
          </p:cNvGrpSpPr>
          <p:nvPr/>
        </p:nvGrpSpPr>
        <p:grpSpPr bwMode="auto">
          <a:xfrm>
            <a:off x="4648200" y="1219200"/>
            <a:ext cx="1752600" cy="1371600"/>
            <a:chOff x="2928" y="768"/>
            <a:chExt cx="1104" cy="864"/>
          </a:xfrm>
        </p:grpSpPr>
        <p:sp>
          <p:nvSpPr>
            <p:cNvPr id="21565" name="Line 6">
              <a:extLst>
                <a:ext uri="{FF2B5EF4-FFF2-40B4-BE49-F238E27FC236}">
                  <a16:creationId xmlns:a16="http://schemas.microsoft.com/office/drawing/2014/main" id="{16DBAA04-2AFC-4C0B-B599-9169356087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1200"/>
              <a:ext cx="1104" cy="0"/>
            </a:xfrm>
            <a:prstGeom prst="line">
              <a:avLst/>
            </a:prstGeom>
            <a:noFill/>
            <a:ln w="19050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21566" name="Line 8">
              <a:extLst>
                <a:ext uri="{FF2B5EF4-FFF2-40B4-BE49-F238E27FC236}">
                  <a16:creationId xmlns:a16="http://schemas.microsoft.com/office/drawing/2014/main" id="{CAB03BF6-F445-4A0D-92F9-999293B030D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28" y="1056"/>
              <a:ext cx="1104" cy="144"/>
            </a:xfrm>
            <a:prstGeom prst="line">
              <a:avLst/>
            </a:prstGeom>
            <a:noFill/>
            <a:ln w="19050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21567" name="Line 9">
              <a:extLst>
                <a:ext uri="{FF2B5EF4-FFF2-40B4-BE49-F238E27FC236}">
                  <a16:creationId xmlns:a16="http://schemas.microsoft.com/office/drawing/2014/main" id="{87A9C2ED-523C-4D60-A05B-BD6A482A2E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1200"/>
              <a:ext cx="1104" cy="144"/>
            </a:xfrm>
            <a:prstGeom prst="line">
              <a:avLst/>
            </a:prstGeom>
            <a:noFill/>
            <a:ln w="19050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21568" name="Line 10">
              <a:extLst>
                <a:ext uri="{FF2B5EF4-FFF2-40B4-BE49-F238E27FC236}">
                  <a16:creationId xmlns:a16="http://schemas.microsoft.com/office/drawing/2014/main" id="{5C189747-F789-45F1-8E40-C46959F37D1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28" y="912"/>
              <a:ext cx="1104" cy="288"/>
            </a:xfrm>
            <a:prstGeom prst="line">
              <a:avLst/>
            </a:prstGeom>
            <a:noFill/>
            <a:ln w="19050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21569" name="Line 11">
              <a:extLst>
                <a:ext uri="{FF2B5EF4-FFF2-40B4-BE49-F238E27FC236}">
                  <a16:creationId xmlns:a16="http://schemas.microsoft.com/office/drawing/2014/main" id="{4A8DB742-2E22-4D5A-BD9B-BDE67FBEE1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1200"/>
              <a:ext cx="1104" cy="288"/>
            </a:xfrm>
            <a:prstGeom prst="line">
              <a:avLst/>
            </a:prstGeom>
            <a:noFill/>
            <a:ln w="19050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21570" name="Line 12">
              <a:extLst>
                <a:ext uri="{FF2B5EF4-FFF2-40B4-BE49-F238E27FC236}">
                  <a16:creationId xmlns:a16="http://schemas.microsoft.com/office/drawing/2014/main" id="{8B71E803-3A58-4786-AA13-93768CDB98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28" y="768"/>
              <a:ext cx="1104" cy="432"/>
            </a:xfrm>
            <a:prstGeom prst="line">
              <a:avLst/>
            </a:prstGeom>
            <a:noFill/>
            <a:ln w="19050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21571" name="Line 13">
              <a:extLst>
                <a:ext uri="{FF2B5EF4-FFF2-40B4-BE49-F238E27FC236}">
                  <a16:creationId xmlns:a16="http://schemas.microsoft.com/office/drawing/2014/main" id="{D858EEF9-AD4F-4531-9923-03776D09E9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1200"/>
              <a:ext cx="1104" cy="432"/>
            </a:xfrm>
            <a:prstGeom prst="line">
              <a:avLst/>
            </a:prstGeom>
            <a:noFill/>
            <a:ln w="19050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</p:grpSp>
      <p:sp>
        <p:nvSpPr>
          <p:cNvPr id="75790" name="Line 14">
            <a:extLst>
              <a:ext uri="{FF2B5EF4-FFF2-40B4-BE49-F238E27FC236}">
                <a16:creationId xmlns:a16="http://schemas.microsoft.com/office/drawing/2014/main" id="{9479E8C0-BB3E-47D9-82EA-6DA6C84EDFD4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2362200"/>
            <a:ext cx="0" cy="1066800"/>
          </a:xfrm>
          <a:prstGeom prst="line">
            <a:avLst/>
          </a:prstGeom>
          <a:noFill/>
          <a:ln w="76200">
            <a:solidFill>
              <a:srgbClr val="C0C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sp>
        <p:nvSpPr>
          <p:cNvPr id="75791" name="Line 15">
            <a:extLst>
              <a:ext uri="{FF2B5EF4-FFF2-40B4-BE49-F238E27FC236}">
                <a16:creationId xmlns:a16="http://schemas.microsoft.com/office/drawing/2014/main" id="{27CE07D8-6E28-4BD5-82D2-BCDFF9FAD72C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457200"/>
            <a:ext cx="0" cy="990600"/>
          </a:xfrm>
          <a:prstGeom prst="line">
            <a:avLst/>
          </a:prstGeom>
          <a:noFill/>
          <a:ln w="76200">
            <a:solidFill>
              <a:srgbClr val="C0C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graphicFrame>
        <p:nvGraphicFramePr>
          <p:cNvPr id="75802" name="Object 2">
            <a:extLst>
              <a:ext uri="{FF2B5EF4-FFF2-40B4-BE49-F238E27FC236}">
                <a16:creationId xmlns:a16="http://schemas.microsoft.com/office/drawing/2014/main" id="{739E9855-1043-4B7E-871D-FB61F056FA2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51838" y="911225"/>
          <a:ext cx="423862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8778" name="Equation" r:id="rId3" imgW="142818" imgH="161959" progId="Equation.3">
                  <p:embed/>
                </p:oleObj>
              </mc:Choice>
              <mc:Fallback>
                <p:oleObj name="Equation" r:id="rId3" imgW="142818" imgH="161959" progId="Equation.3">
                  <p:embed/>
                  <p:pic>
                    <p:nvPicPr>
                      <p:cNvPr id="75802" name="Object 2">
                        <a:extLst>
                          <a:ext uri="{FF2B5EF4-FFF2-40B4-BE49-F238E27FC236}">
                            <a16:creationId xmlns:a16="http://schemas.microsoft.com/office/drawing/2014/main" id="{739E9855-1043-4B7E-871D-FB61F056FA2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51838" y="911225"/>
                        <a:ext cx="423862" cy="48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803" name="Object 3">
            <a:extLst>
              <a:ext uri="{FF2B5EF4-FFF2-40B4-BE49-F238E27FC236}">
                <a16:creationId xmlns:a16="http://schemas.microsoft.com/office/drawing/2014/main" id="{E4DA09E0-36DF-432E-A1E4-1FBEBA1C5B6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99463" y="1905000"/>
          <a:ext cx="363537" cy="423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8779" name="公式" r:id="rId5" imgW="114376" imgH="142977" progId="Equation.3">
                  <p:embed/>
                </p:oleObj>
              </mc:Choice>
              <mc:Fallback>
                <p:oleObj name="公式" r:id="rId5" imgW="114376" imgH="142977" progId="Equation.3">
                  <p:embed/>
                  <p:pic>
                    <p:nvPicPr>
                      <p:cNvPr id="75803" name="Object 3">
                        <a:extLst>
                          <a:ext uri="{FF2B5EF4-FFF2-40B4-BE49-F238E27FC236}">
                            <a16:creationId xmlns:a16="http://schemas.microsoft.com/office/drawing/2014/main" id="{E4DA09E0-36DF-432E-A1E4-1FBEBA1C5B6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99463" y="1905000"/>
                        <a:ext cx="363537" cy="423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804" name="Object 4">
            <a:extLst>
              <a:ext uri="{FF2B5EF4-FFF2-40B4-BE49-F238E27FC236}">
                <a16:creationId xmlns:a16="http://schemas.microsoft.com/office/drawing/2014/main" id="{1891239C-E4E8-41FA-853A-C7D1B089F49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14800" y="1676400"/>
          <a:ext cx="393700" cy="423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8780" name="公式" r:id="rId7" imgW="123857" imgH="142977" progId="Equation.3">
                  <p:embed/>
                </p:oleObj>
              </mc:Choice>
              <mc:Fallback>
                <p:oleObj name="公式" r:id="rId7" imgW="123857" imgH="142977" progId="Equation.3">
                  <p:embed/>
                  <p:pic>
                    <p:nvPicPr>
                      <p:cNvPr id="75804" name="Object 4">
                        <a:extLst>
                          <a:ext uri="{FF2B5EF4-FFF2-40B4-BE49-F238E27FC236}">
                            <a16:creationId xmlns:a16="http://schemas.microsoft.com/office/drawing/2014/main" id="{1891239C-E4E8-41FA-853A-C7D1B089F49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1676400"/>
                        <a:ext cx="393700" cy="423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805" name="Object 5">
            <a:extLst>
              <a:ext uri="{FF2B5EF4-FFF2-40B4-BE49-F238E27FC236}">
                <a16:creationId xmlns:a16="http://schemas.microsoft.com/office/drawing/2014/main" id="{D1280137-CA28-4A39-B562-021C8CDC533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53200" y="2819400"/>
          <a:ext cx="393700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8781" name="公式" r:id="rId9" imgW="123857" imgH="123689" progId="Equation.3">
                  <p:embed/>
                </p:oleObj>
              </mc:Choice>
              <mc:Fallback>
                <p:oleObj name="公式" r:id="rId9" imgW="123857" imgH="123689" progId="Equation.3">
                  <p:embed/>
                  <p:pic>
                    <p:nvPicPr>
                      <p:cNvPr id="75805" name="Object 5">
                        <a:extLst>
                          <a:ext uri="{FF2B5EF4-FFF2-40B4-BE49-F238E27FC236}">
                            <a16:creationId xmlns:a16="http://schemas.microsoft.com/office/drawing/2014/main" id="{D1280137-CA28-4A39-B562-021C8CDC533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3200" y="2819400"/>
                        <a:ext cx="393700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806" name="Object 6">
            <a:extLst>
              <a:ext uri="{FF2B5EF4-FFF2-40B4-BE49-F238E27FC236}">
                <a16:creationId xmlns:a16="http://schemas.microsoft.com/office/drawing/2014/main" id="{299B190B-4396-465B-A049-B63A8A0A44D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88350" y="2852738"/>
          <a:ext cx="393700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8782" name="公式" r:id="rId11" imgW="123857" imgH="142977" progId="Equation.3">
                  <p:embed/>
                </p:oleObj>
              </mc:Choice>
              <mc:Fallback>
                <p:oleObj name="公式" r:id="rId11" imgW="123857" imgH="142977" progId="Equation.3">
                  <p:embed/>
                  <p:pic>
                    <p:nvPicPr>
                      <p:cNvPr id="75806" name="Object 6">
                        <a:extLst>
                          <a:ext uri="{FF2B5EF4-FFF2-40B4-BE49-F238E27FC236}">
                            <a16:creationId xmlns:a16="http://schemas.microsoft.com/office/drawing/2014/main" id="{299B190B-4396-465B-A049-B63A8A0A44D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8350" y="2852738"/>
                        <a:ext cx="393700" cy="42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807" name="Object 7">
            <a:extLst>
              <a:ext uri="{FF2B5EF4-FFF2-40B4-BE49-F238E27FC236}">
                <a16:creationId xmlns:a16="http://schemas.microsoft.com/office/drawing/2014/main" id="{78902BB1-F8B5-40E4-9FF9-17B41ED66F8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19800" y="1676400"/>
          <a:ext cx="363538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8783" name="公式" r:id="rId13" imgW="114376" imgH="123689" progId="Equation.3">
                  <p:embed/>
                </p:oleObj>
              </mc:Choice>
              <mc:Fallback>
                <p:oleObj name="公式" r:id="rId13" imgW="114376" imgH="123689" progId="Equation.3">
                  <p:embed/>
                  <p:pic>
                    <p:nvPicPr>
                      <p:cNvPr id="75807" name="Object 7">
                        <a:extLst>
                          <a:ext uri="{FF2B5EF4-FFF2-40B4-BE49-F238E27FC236}">
                            <a16:creationId xmlns:a16="http://schemas.microsoft.com/office/drawing/2014/main" id="{78902BB1-F8B5-40E4-9FF9-17B41ED66F8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1676400"/>
                        <a:ext cx="363538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66">
            <a:extLst>
              <a:ext uri="{FF2B5EF4-FFF2-40B4-BE49-F238E27FC236}">
                <a16:creationId xmlns:a16="http://schemas.microsoft.com/office/drawing/2014/main" id="{4B9DFCB9-A811-4EEA-8E56-AB06BF30B10C}"/>
              </a:ext>
            </a:extLst>
          </p:cNvPr>
          <p:cNvGrpSpPr>
            <a:grpSpLocks/>
          </p:cNvGrpSpPr>
          <p:nvPr/>
        </p:nvGrpSpPr>
        <p:grpSpPr bwMode="auto">
          <a:xfrm>
            <a:off x="6400800" y="1219200"/>
            <a:ext cx="1981200" cy="1143000"/>
            <a:chOff x="4032" y="768"/>
            <a:chExt cx="1248" cy="720"/>
          </a:xfrm>
        </p:grpSpPr>
        <p:sp>
          <p:nvSpPr>
            <p:cNvPr id="21553" name="Line 16">
              <a:extLst>
                <a:ext uri="{FF2B5EF4-FFF2-40B4-BE49-F238E27FC236}">
                  <a16:creationId xmlns:a16="http://schemas.microsoft.com/office/drawing/2014/main" id="{4E88E48D-8D8D-4197-81D5-9CA5BBC7385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4032" y="912"/>
              <a:ext cx="1211" cy="419"/>
            </a:xfrm>
            <a:prstGeom prst="line">
              <a:avLst/>
            </a:prstGeom>
            <a:noFill/>
            <a:ln w="19050">
              <a:solidFill>
                <a:srgbClr val="66FF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21554" name="Line 17">
              <a:extLst>
                <a:ext uri="{FF2B5EF4-FFF2-40B4-BE49-F238E27FC236}">
                  <a16:creationId xmlns:a16="http://schemas.microsoft.com/office/drawing/2014/main" id="{7E6ABFCA-D477-4A05-9C76-859807CDAB7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4032" y="1056"/>
              <a:ext cx="1152" cy="265"/>
            </a:xfrm>
            <a:prstGeom prst="line">
              <a:avLst/>
            </a:prstGeom>
            <a:noFill/>
            <a:ln w="19050">
              <a:solidFill>
                <a:srgbClr val="66FF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21555" name="Line 18">
              <a:extLst>
                <a:ext uri="{FF2B5EF4-FFF2-40B4-BE49-F238E27FC236}">
                  <a16:creationId xmlns:a16="http://schemas.microsoft.com/office/drawing/2014/main" id="{7D3BE0F7-0E3C-4A58-B855-0D727B949EC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4032" y="1200"/>
              <a:ext cx="1236" cy="137"/>
            </a:xfrm>
            <a:prstGeom prst="line">
              <a:avLst/>
            </a:prstGeom>
            <a:noFill/>
            <a:ln w="19050">
              <a:solidFill>
                <a:srgbClr val="66FF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21556" name="Line 19">
              <a:extLst>
                <a:ext uri="{FF2B5EF4-FFF2-40B4-BE49-F238E27FC236}">
                  <a16:creationId xmlns:a16="http://schemas.microsoft.com/office/drawing/2014/main" id="{723F3BBE-796F-4AD7-B75F-A3CDD3221D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2" y="1344"/>
              <a:ext cx="1200" cy="0"/>
            </a:xfrm>
            <a:prstGeom prst="line">
              <a:avLst/>
            </a:prstGeom>
            <a:noFill/>
            <a:ln w="19050">
              <a:solidFill>
                <a:srgbClr val="66FF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21557" name="Line 20">
              <a:extLst>
                <a:ext uri="{FF2B5EF4-FFF2-40B4-BE49-F238E27FC236}">
                  <a16:creationId xmlns:a16="http://schemas.microsoft.com/office/drawing/2014/main" id="{4A062E3D-9345-43EE-92D6-8685D8CE724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32" y="1344"/>
              <a:ext cx="1200" cy="144"/>
            </a:xfrm>
            <a:prstGeom prst="line">
              <a:avLst/>
            </a:prstGeom>
            <a:noFill/>
            <a:ln w="19050">
              <a:solidFill>
                <a:srgbClr val="66FF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21558" name="Line 21">
              <a:extLst>
                <a:ext uri="{FF2B5EF4-FFF2-40B4-BE49-F238E27FC236}">
                  <a16:creationId xmlns:a16="http://schemas.microsoft.com/office/drawing/2014/main" id="{0AEFBAC1-A271-4573-8284-E74953CB8C1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32" y="816"/>
              <a:ext cx="1200" cy="672"/>
            </a:xfrm>
            <a:prstGeom prst="line">
              <a:avLst/>
            </a:prstGeom>
            <a:noFill/>
            <a:ln w="19050">
              <a:solidFill>
                <a:srgbClr val="66FF33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21559" name="Line 22">
              <a:extLst>
                <a:ext uri="{FF2B5EF4-FFF2-40B4-BE49-F238E27FC236}">
                  <a16:creationId xmlns:a16="http://schemas.microsoft.com/office/drawing/2014/main" id="{99EF8F91-7EB8-4B3E-BAD2-D60FD8524A0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32" y="816"/>
              <a:ext cx="1200" cy="528"/>
            </a:xfrm>
            <a:prstGeom prst="line">
              <a:avLst/>
            </a:prstGeom>
            <a:noFill/>
            <a:ln w="19050">
              <a:solidFill>
                <a:srgbClr val="66FF33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21560" name="Line 23">
              <a:extLst>
                <a:ext uri="{FF2B5EF4-FFF2-40B4-BE49-F238E27FC236}">
                  <a16:creationId xmlns:a16="http://schemas.microsoft.com/office/drawing/2014/main" id="{2B3149F1-75DD-456C-94A7-2A183439709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32" y="816"/>
              <a:ext cx="1200" cy="384"/>
            </a:xfrm>
            <a:prstGeom prst="line">
              <a:avLst/>
            </a:prstGeom>
            <a:noFill/>
            <a:ln w="19050">
              <a:solidFill>
                <a:srgbClr val="66FF33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21561" name="Line 24">
              <a:extLst>
                <a:ext uri="{FF2B5EF4-FFF2-40B4-BE49-F238E27FC236}">
                  <a16:creationId xmlns:a16="http://schemas.microsoft.com/office/drawing/2014/main" id="{6CEEC0C8-BC5C-449F-ACD6-2D5550D13F3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32" y="816"/>
              <a:ext cx="1200" cy="240"/>
            </a:xfrm>
            <a:prstGeom prst="line">
              <a:avLst/>
            </a:prstGeom>
            <a:noFill/>
            <a:ln w="19050">
              <a:solidFill>
                <a:srgbClr val="66FF33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21562" name="Line 25">
              <a:extLst>
                <a:ext uri="{FF2B5EF4-FFF2-40B4-BE49-F238E27FC236}">
                  <a16:creationId xmlns:a16="http://schemas.microsoft.com/office/drawing/2014/main" id="{F8A56FED-060A-4A70-9EB7-2E36DA6A9A0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32" y="816"/>
              <a:ext cx="1200" cy="96"/>
            </a:xfrm>
            <a:prstGeom prst="line">
              <a:avLst/>
            </a:prstGeom>
            <a:noFill/>
            <a:ln w="19050">
              <a:solidFill>
                <a:srgbClr val="66FF33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21563" name="Oval 32">
              <a:extLst>
                <a:ext uri="{FF2B5EF4-FFF2-40B4-BE49-F238E27FC236}">
                  <a16:creationId xmlns:a16="http://schemas.microsoft.com/office/drawing/2014/main" id="{4332EC24-4F65-4935-AB54-4E6C4A966D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4" y="768"/>
              <a:ext cx="96" cy="96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1564" name="Oval 33">
              <a:extLst>
                <a:ext uri="{FF2B5EF4-FFF2-40B4-BE49-F238E27FC236}">
                  <a16:creationId xmlns:a16="http://schemas.microsoft.com/office/drawing/2014/main" id="{DA796936-CC96-4395-87DF-B5BCA3BB90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4" y="1296"/>
              <a:ext cx="96" cy="96"/>
            </a:xfrm>
            <a:prstGeom prst="ellipse">
              <a:avLst/>
            </a:prstGeom>
            <a:solidFill>
              <a:srgbClr val="FF9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aphicFrame>
        <p:nvGraphicFramePr>
          <p:cNvPr id="75810" name="Object 8">
            <a:extLst>
              <a:ext uri="{FF2B5EF4-FFF2-40B4-BE49-F238E27FC236}">
                <a16:creationId xmlns:a16="http://schemas.microsoft.com/office/drawing/2014/main" id="{2A097205-0525-4A2C-8703-965012237B4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53200" y="457200"/>
          <a:ext cx="393700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8784" name="公式" r:id="rId15" imgW="123857" imgH="123689" progId="Equation.3">
                  <p:embed/>
                </p:oleObj>
              </mc:Choice>
              <mc:Fallback>
                <p:oleObj name="公式" r:id="rId15" imgW="123857" imgH="123689" progId="Equation.3">
                  <p:embed/>
                  <p:pic>
                    <p:nvPicPr>
                      <p:cNvPr id="75810" name="Object 8">
                        <a:extLst>
                          <a:ext uri="{FF2B5EF4-FFF2-40B4-BE49-F238E27FC236}">
                            <a16:creationId xmlns:a16="http://schemas.microsoft.com/office/drawing/2014/main" id="{2A097205-0525-4A2C-8703-965012237B4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3200" y="457200"/>
                        <a:ext cx="393700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811" name="Text Box 35">
            <a:extLst>
              <a:ext uri="{FF2B5EF4-FFF2-40B4-BE49-F238E27FC236}">
                <a16:creationId xmlns:a16="http://schemas.microsoft.com/office/drawing/2014/main" id="{89E9830D-F94A-4451-B01F-FD44F56BB9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4267200"/>
            <a:ext cx="2514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chemeClr val="bg1"/>
                </a:solidFill>
                <a:ea typeface="仿宋_GB2312"/>
                <a:cs typeface="仿宋_GB2312"/>
              </a:rPr>
              <a:t>——</a:t>
            </a:r>
            <a:r>
              <a:rPr lang="en-US" altLang="zh-CN">
                <a:solidFill>
                  <a:schemeClr val="bg1"/>
                </a:solidFill>
                <a:latin typeface="方正书宋简体"/>
                <a:ea typeface="仿宋_GB2312"/>
                <a:cs typeface="仿宋_GB2312"/>
              </a:rPr>
              <a:t> </a:t>
            </a:r>
            <a:r>
              <a:rPr lang="zh-CN" altLang="en-US">
                <a:solidFill>
                  <a:schemeClr val="bg1"/>
                </a:solidFill>
                <a:latin typeface="方正书宋简体"/>
                <a:ea typeface="仿宋_GB2312"/>
                <a:cs typeface="仿宋_GB2312"/>
              </a:rPr>
              <a:t>远场衍射</a:t>
            </a:r>
          </a:p>
        </p:txBody>
      </p:sp>
      <p:sp>
        <p:nvSpPr>
          <p:cNvPr id="75812" name="Text Box 36">
            <a:extLst>
              <a:ext uri="{FF2B5EF4-FFF2-40B4-BE49-F238E27FC236}">
                <a16:creationId xmlns:a16="http://schemas.microsoft.com/office/drawing/2014/main" id="{E95196D5-37F5-4976-94CE-A0A64A30BE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2133600"/>
            <a:ext cx="2362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99FF33"/>
                </a:solidFill>
                <a:latin typeface="方正书宋简体"/>
              </a:rPr>
              <a:t>1  </a:t>
            </a:r>
            <a:r>
              <a:rPr lang="zh-CN" altLang="en-US">
                <a:solidFill>
                  <a:srgbClr val="99FF33"/>
                </a:solidFill>
                <a:latin typeface="方正书宋简体"/>
              </a:rPr>
              <a:t>菲涅耳衍射</a:t>
            </a:r>
            <a:r>
              <a:rPr lang="zh-CN" altLang="en-US" sz="3200">
                <a:solidFill>
                  <a:srgbClr val="99FF33"/>
                </a:solidFill>
                <a:latin typeface="方正书宋简体"/>
              </a:rPr>
              <a:t> </a:t>
            </a:r>
          </a:p>
        </p:txBody>
      </p:sp>
      <p:sp>
        <p:nvSpPr>
          <p:cNvPr id="75813" name="Text Box 37">
            <a:extLst>
              <a:ext uri="{FF2B5EF4-FFF2-40B4-BE49-F238E27FC236}">
                <a16:creationId xmlns:a16="http://schemas.microsoft.com/office/drawing/2014/main" id="{DE5EECB1-C41F-4B17-BB0F-226074FB55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1038" y="2817813"/>
            <a:ext cx="37465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        当衍射屏与光源或接收屏的距离为有限远时的衍射</a:t>
            </a:r>
          </a:p>
        </p:txBody>
      </p:sp>
      <p:sp>
        <p:nvSpPr>
          <p:cNvPr id="75814" name="Text Box 38">
            <a:extLst>
              <a:ext uri="{FF2B5EF4-FFF2-40B4-BE49-F238E27FC236}">
                <a16:creationId xmlns:a16="http://schemas.microsoft.com/office/drawing/2014/main" id="{DB94CB62-8A6F-47FA-A6BE-7F48992512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267200"/>
            <a:ext cx="2667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99FF33"/>
                </a:solidFill>
                <a:latin typeface="方正书宋简体"/>
              </a:rPr>
              <a:t>2  </a:t>
            </a:r>
            <a:r>
              <a:rPr lang="zh-CN" altLang="en-US">
                <a:solidFill>
                  <a:srgbClr val="99FF33"/>
                </a:solidFill>
                <a:latin typeface="方正书宋简体"/>
              </a:rPr>
              <a:t>夫琅禾费衍射</a:t>
            </a:r>
          </a:p>
        </p:txBody>
      </p:sp>
      <p:sp>
        <p:nvSpPr>
          <p:cNvPr id="75815" name="Text Box 39">
            <a:extLst>
              <a:ext uri="{FF2B5EF4-FFF2-40B4-BE49-F238E27FC236}">
                <a16:creationId xmlns:a16="http://schemas.microsoft.com/office/drawing/2014/main" id="{6F4D299D-846C-4685-A76E-A3E7D25920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2205038"/>
            <a:ext cx="2667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chemeClr val="bg1"/>
                </a:solidFill>
                <a:ea typeface="仿宋_GB2312"/>
                <a:cs typeface="仿宋_GB2312"/>
              </a:rPr>
              <a:t>——</a:t>
            </a:r>
            <a:r>
              <a:rPr lang="en-US" altLang="zh-CN">
                <a:solidFill>
                  <a:schemeClr val="bg1"/>
                </a:solidFill>
                <a:latin typeface="方正书宋简体"/>
                <a:ea typeface="仿宋_GB2312"/>
                <a:cs typeface="仿宋_GB2312"/>
              </a:rPr>
              <a:t> </a:t>
            </a:r>
            <a:r>
              <a:rPr lang="zh-CN" altLang="en-US">
                <a:solidFill>
                  <a:schemeClr val="bg1"/>
                </a:solidFill>
                <a:latin typeface="方正书宋简体"/>
                <a:ea typeface="仿宋_GB2312"/>
                <a:cs typeface="仿宋_GB2312"/>
              </a:rPr>
              <a:t>近场衍射</a:t>
            </a:r>
          </a:p>
        </p:txBody>
      </p:sp>
      <p:sp>
        <p:nvSpPr>
          <p:cNvPr id="75816" name="Line 40">
            <a:extLst>
              <a:ext uri="{FF2B5EF4-FFF2-40B4-BE49-F238E27FC236}">
                <a16:creationId xmlns:a16="http://schemas.microsoft.com/office/drawing/2014/main" id="{D7D56F94-2AB7-46F9-927C-4965304D3551}"/>
              </a:ext>
            </a:extLst>
          </p:cNvPr>
          <p:cNvSpPr>
            <a:spLocks noChangeShapeType="1"/>
          </p:cNvSpPr>
          <p:nvPr/>
        </p:nvSpPr>
        <p:spPr bwMode="auto">
          <a:xfrm>
            <a:off x="6705600" y="4038600"/>
            <a:ext cx="0" cy="609600"/>
          </a:xfrm>
          <a:prstGeom prst="line">
            <a:avLst/>
          </a:prstGeom>
          <a:noFill/>
          <a:ln w="762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sp>
        <p:nvSpPr>
          <p:cNvPr id="75817" name="Line 41">
            <a:extLst>
              <a:ext uri="{FF2B5EF4-FFF2-40B4-BE49-F238E27FC236}">
                <a16:creationId xmlns:a16="http://schemas.microsoft.com/office/drawing/2014/main" id="{EB2EB1F5-55DE-4E52-9FC1-9B676A50E14E}"/>
              </a:ext>
            </a:extLst>
          </p:cNvPr>
          <p:cNvSpPr>
            <a:spLocks noChangeShapeType="1"/>
          </p:cNvSpPr>
          <p:nvPr/>
        </p:nvSpPr>
        <p:spPr bwMode="auto">
          <a:xfrm>
            <a:off x="6705600" y="5562600"/>
            <a:ext cx="0" cy="609600"/>
          </a:xfrm>
          <a:prstGeom prst="line">
            <a:avLst/>
          </a:prstGeom>
          <a:noFill/>
          <a:ln w="762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grpSp>
        <p:nvGrpSpPr>
          <p:cNvPr id="4" name="Group 67">
            <a:extLst>
              <a:ext uri="{FF2B5EF4-FFF2-40B4-BE49-F238E27FC236}">
                <a16:creationId xmlns:a16="http://schemas.microsoft.com/office/drawing/2014/main" id="{5E3CE461-7F5D-4A6B-B1FD-0DF2D7BBC3CA}"/>
              </a:ext>
            </a:extLst>
          </p:cNvPr>
          <p:cNvGrpSpPr>
            <a:grpSpLocks/>
          </p:cNvGrpSpPr>
          <p:nvPr/>
        </p:nvGrpSpPr>
        <p:grpSpPr bwMode="auto">
          <a:xfrm>
            <a:off x="4953000" y="4419600"/>
            <a:ext cx="1752600" cy="1371600"/>
            <a:chOff x="3120" y="2784"/>
            <a:chExt cx="1104" cy="864"/>
          </a:xfrm>
        </p:grpSpPr>
        <p:sp>
          <p:nvSpPr>
            <p:cNvPr id="21546" name="Line 42">
              <a:extLst>
                <a:ext uri="{FF2B5EF4-FFF2-40B4-BE49-F238E27FC236}">
                  <a16:creationId xmlns:a16="http://schemas.microsoft.com/office/drawing/2014/main" id="{B4CEB3B6-A390-42AA-90D6-AFBD0236D0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3216"/>
              <a:ext cx="1104" cy="0"/>
            </a:xfrm>
            <a:prstGeom prst="line">
              <a:avLst/>
            </a:prstGeom>
            <a:noFill/>
            <a:ln w="19050">
              <a:solidFill>
                <a:srgbClr val="FF99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21547" name="Line 43">
              <a:extLst>
                <a:ext uri="{FF2B5EF4-FFF2-40B4-BE49-F238E27FC236}">
                  <a16:creationId xmlns:a16="http://schemas.microsoft.com/office/drawing/2014/main" id="{728E91A1-B307-4E0F-B086-77A393E75A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3360"/>
              <a:ext cx="1104" cy="0"/>
            </a:xfrm>
            <a:prstGeom prst="line">
              <a:avLst/>
            </a:prstGeom>
            <a:noFill/>
            <a:ln w="19050">
              <a:solidFill>
                <a:srgbClr val="FF99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21548" name="Line 44">
              <a:extLst>
                <a:ext uri="{FF2B5EF4-FFF2-40B4-BE49-F238E27FC236}">
                  <a16:creationId xmlns:a16="http://schemas.microsoft.com/office/drawing/2014/main" id="{D6626440-B65A-46C6-AE3C-668613BFC9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3504"/>
              <a:ext cx="1104" cy="0"/>
            </a:xfrm>
            <a:prstGeom prst="line">
              <a:avLst/>
            </a:prstGeom>
            <a:noFill/>
            <a:ln w="19050">
              <a:solidFill>
                <a:srgbClr val="FF99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21549" name="Line 45">
              <a:extLst>
                <a:ext uri="{FF2B5EF4-FFF2-40B4-BE49-F238E27FC236}">
                  <a16:creationId xmlns:a16="http://schemas.microsoft.com/office/drawing/2014/main" id="{C8722495-D767-4D83-8353-87BFDE48E9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3072"/>
              <a:ext cx="1104" cy="0"/>
            </a:xfrm>
            <a:prstGeom prst="line">
              <a:avLst/>
            </a:prstGeom>
            <a:noFill/>
            <a:ln w="19050">
              <a:solidFill>
                <a:srgbClr val="FF99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21550" name="Line 46">
              <a:extLst>
                <a:ext uri="{FF2B5EF4-FFF2-40B4-BE49-F238E27FC236}">
                  <a16:creationId xmlns:a16="http://schemas.microsoft.com/office/drawing/2014/main" id="{BD03C44F-2298-4733-91C6-56153CB07D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3648"/>
              <a:ext cx="1104" cy="0"/>
            </a:xfrm>
            <a:prstGeom prst="line">
              <a:avLst/>
            </a:prstGeom>
            <a:noFill/>
            <a:ln w="19050">
              <a:solidFill>
                <a:srgbClr val="FF99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21551" name="Line 47">
              <a:extLst>
                <a:ext uri="{FF2B5EF4-FFF2-40B4-BE49-F238E27FC236}">
                  <a16:creationId xmlns:a16="http://schemas.microsoft.com/office/drawing/2014/main" id="{E401B2E4-6041-4770-B809-A1DA37DF46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2928"/>
              <a:ext cx="1104" cy="0"/>
            </a:xfrm>
            <a:prstGeom prst="line">
              <a:avLst/>
            </a:prstGeom>
            <a:noFill/>
            <a:ln w="19050">
              <a:solidFill>
                <a:srgbClr val="FF99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21552" name="Line 48">
              <a:extLst>
                <a:ext uri="{FF2B5EF4-FFF2-40B4-BE49-F238E27FC236}">
                  <a16:creationId xmlns:a16="http://schemas.microsoft.com/office/drawing/2014/main" id="{2CD35B30-CF0D-4288-8EC5-45927B5F96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2784"/>
              <a:ext cx="1104" cy="0"/>
            </a:xfrm>
            <a:prstGeom prst="line">
              <a:avLst/>
            </a:prstGeom>
            <a:noFill/>
            <a:ln w="19050">
              <a:solidFill>
                <a:srgbClr val="FF99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</p:grpSp>
      <p:grpSp>
        <p:nvGrpSpPr>
          <p:cNvPr id="5" name="Group 68">
            <a:extLst>
              <a:ext uri="{FF2B5EF4-FFF2-40B4-BE49-F238E27FC236}">
                <a16:creationId xmlns:a16="http://schemas.microsoft.com/office/drawing/2014/main" id="{760BCC59-2692-4C78-9755-D5A55031490C}"/>
              </a:ext>
            </a:extLst>
          </p:cNvPr>
          <p:cNvGrpSpPr>
            <a:grpSpLocks/>
          </p:cNvGrpSpPr>
          <p:nvPr/>
        </p:nvGrpSpPr>
        <p:grpSpPr bwMode="auto">
          <a:xfrm>
            <a:off x="6705600" y="4191000"/>
            <a:ext cx="1914525" cy="1371600"/>
            <a:chOff x="4224" y="2640"/>
            <a:chExt cx="1206" cy="864"/>
          </a:xfrm>
        </p:grpSpPr>
        <p:sp>
          <p:nvSpPr>
            <p:cNvPr id="21541" name="Line 49">
              <a:extLst>
                <a:ext uri="{FF2B5EF4-FFF2-40B4-BE49-F238E27FC236}">
                  <a16:creationId xmlns:a16="http://schemas.microsoft.com/office/drawing/2014/main" id="{6945A547-504F-48CC-96EF-241948E22D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24" y="2640"/>
              <a:ext cx="1200" cy="288"/>
            </a:xfrm>
            <a:prstGeom prst="line">
              <a:avLst/>
            </a:prstGeom>
            <a:noFill/>
            <a:ln w="19050">
              <a:solidFill>
                <a:srgbClr val="66FF33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21542" name="Line 50">
              <a:extLst>
                <a:ext uri="{FF2B5EF4-FFF2-40B4-BE49-F238E27FC236}">
                  <a16:creationId xmlns:a16="http://schemas.microsoft.com/office/drawing/2014/main" id="{8F46E5A5-B41A-470D-A938-8A0789AF6CD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24" y="2784"/>
              <a:ext cx="1200" cy="288"/>
            </a:xfrm>
            <a:prstGeom prst="line">
              <a:avLst/>
            </a:prstGeom>
            <a:noFill/>
            <a:ln w="19050">
              <a:solidFill>
                <a:srgbClr val="66FF33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21543" name="Line 51">
              <a:extLst>
                <a:ext uri="{FF2B5EF4-FFF2-40B4-BE49-F238E27FC236}">
                  <a16:creationId xmlns:a16="http://schemas.microsoft.com/office/drawing/2014/main" id="{CF028754-384A-490C-884E-B66586F7DAD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24" y="2922"/>
              <a:ext cx="1200" cy="288"/>
            </a:xfrm>
            <a:prstGeom prst="line">
              <a:avLst/>
            </a:prstGeom>
            <a:noFill/>
            <a:ln w="19050">
              <a:solidFill>
                <a:srgbClr val="66FF33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21544" name="Line 52">
              <a:extLst>
                <a:ext uri="{FF2B5EF4-FFF2-40B4-BE49-F238E27FC236}">
                  <a16:creationId xmlns:a16="http://schemas.microsoft.com/office/drawing/2014/main" id="{39CA193E-02AB-4DDA-8FA6-C281B32DC0A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30" y="3072"/>
              <a:ext cx="1200" cy="288"/>
            </a:xfrm>
            <a:prstGeom prst="line">
              <a:avLst/>
            </a:prstGeom>
            <a:noFill/>
            <a:ln w="19050">
              <a:solidFill>
                <a:srgbClr val="66FF33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21545" name="Line 53">
              <a:extLst>
                <a:ext uri="{FF2B5EF4-FFF2-40B4-BE49-F238E27FC236}">
                  <a16:creationId xmlns:a16="http://schemas.microsoft.com/office/drawing/2014/main" id="{57B24E37-A8B8-4874-B907-083CAB8A917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30" y="3216"/>
              <a:ext cx="1200" cy="288"/>
            </a:xfrm>
            <a:prstGeom prst="line">
              <a:avLst/>
            </a:prstGeom>
            <a:noFill/>
            <a:ln w="19050">
              <a:solidFill>
                <a:srgbClr val="66FF33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</p:grpSp>
      <p:graphicFrame>
        <p:nvGraphicFramePr>
          <p:cNvPr id="75830" name="Object 9">
            <a:extLst>
              <a:ext uri="{FF2B5EF4-FFF2-40B4-BE49-F238E27FC236}">
                <a16:creationId xmlns:a16="http://schemas.microsoft.com/office/drawing/2014/main" id="{C824B53F-651F-4788-9702-F83EB324513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610600" y="4267200"/>
          <a:ext cx="363538" cy="423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8785" name="公式" r:id="rId17" imgW="114376" imgH="142977" progId="Equation.3">
                  <p:embed/>
                </p:oleObj>
              </mc:Choice>
              <mc:Fallback>
                <p:oleObj name="公式" r:id="rId17" imgW="114376" imgH="142977" progId="Equation.3">
                  <p:embed/>
                  <p:pic>
                    <p:nvPicPr>
                      <p:cNvPr id="75830" name="Object 9">
                        <a:extLst>
                          <a:ext uri="{FF2B5EF4-FFF2-40B4-BE49-F238E27FC236}">
                            <a16:creationId xmlns:a16="http://schemas.microsoft.com/office/drawing/2014/main" id="{C824B53F-651F-4788-9702-F83EB324513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10600" y="4267200"/>
                        <a:ext cx="363538" cy="423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831" name="Object 10">
            <a:extLst>
              <a:ext uri="{FF2B5EF4-FFF2-40B4-BE49-F238E27FC236}">
                <a16:creationId xmlns:a16="http://schemas.microsoft.com/office/drawing/2014/main" id="{CC80D933-D2B7-4D15-8438-9F0F9B5C457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91000" y="4953000"/>
          <a:ext cx="484188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8786" name="公式" r:id="rId19" imgW="161778" imgH="142977" progId="Equation.3">
                  <p:embed/>
                </p:oleObj>
              </mc:Choice>
              <mc:Fallback>
                <p:oleObj name="公式" r:id="rId19" imgW="161778" imgH="142977" progId="Equation.3">
                  <p:embed/>
                  <p:pic>
                    <p:nvPicPr>
                      <p:cNvPr id="75831" name="Object 10">
                        <a:extLst>
                          <a:ext uri="{FF2B5EF4-FFF2-40B4-BE49-F238E27FC236}">
                            <a16:creationId xmlns:a16="http://schemas.microsoft.com/office/drawing/2014/main" id="{CC80D933-D2B7-4D15-8438-9F0F9B5C457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4953000"/>
                        <a:ext cx="484188" cy="42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832" name="Object 11">
            <a:extLst>
              <a:ext uri="{FF2B5EF4-FFF2-40B4-BE49-F238E27FC236}">
                <a16:creationId xmlns:a16="http://schemas.microsoft.com/office/drawing/2014/main" id="{5A57E1DA-830F-42A2-9A6F-198E6D069D8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58000" y="5715000"/>
          <a:ext cx="393700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8787" name="公式" r:id="rId21" imgW="123857" imgH="123689" progId="Equation.3">
                  <p:embed/>
                </p:oleObj>
              </mc:Choice>
              <mc:Fallback>
                <p:oleObj name="公式" r:id="rId21" imgW="123857" imgH="123689" progId="Equation.3">
                  <p:embed/>
                  <p:pic>
                    <p:nvPicPr>
                      <p:cNvPr id="75832" name="Object 11">
                        <a:extLst>
                          <a:ext uri="{FF2B5EF4-FFF2-40B4-BE49-F238E27FC236}">
                            <a16:creationId xmlns:a16="http://schemas.microsoft.com/office/drawing/2014/main" id="{5A57E1DA-830F-42A2-9A6F-198E6D069D8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0" y="5715000"/>
                        <a:ext cx="393700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833" name="Object 12">
            <a:extLst>
              <a:ext uri="{FF2B5EF4-FFF2-40B4-BE49-F238E27FC236}">
                <a16:creationId xmlns:a16="http://schemas.microsoft.com/office/drawing/2014/main" id="{CB4BDDF7-DCDE-454F-961B-6668349942C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72200" y="4876800"/>
          <a:ext cx="363538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8788" name="公式" r:id="rId23" imgW="114376" imgH="123689" progId="Equation.3">
                  <p:embed/>
                </p:oleObj>
              </mc:Choice>
              <mc:Fallback>
                <p:oleObj name="公式" r:id="rId23" imgW="114376" imgH="123689" progId="Equation.3">
                  <p:embed/>
                  <p:pic>
                    <p:nvPicPr>
                      <p:cNvPr id="75833" name="Object 12">
                        <a:extLst>
                          <a:ext uri="{FF2B5EF4-FFF2-40B4-BE49-F238E27FC236}">
                            <a16:creationId xmlns:a16="http://schemas.microsoft.com/office/drawing/2014/main" id="{CB4BDDF7-DCDE-454F-961B-6668349942C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2200" y="4876800"/>
                        <a:ext cx="363538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834" name="Text Box 58">
            <a:extLst>
              <a:ext uri="{FF2B5EF4-FFF2-40B4-BE49-F238E27FC236}">
                <a16:creationId xmlns:a16="http://schemas.microsoft.com/office/drawing/2014/main" id="{013BBA71-C01F-450B-A8A2-6CE87318BC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9700" y="3810000"/>
            <a:ext cx="1104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66"/>
                </a:solidFill>
              </a:rPr>
              <a:t>无限远</a:t>
            </a:r>
          </a:p>
        </p:txBody>
      </p:sp>
      <p:sp>
        <p:nvSpPr>
          <p:cNvPr id="75835" name="Rectangle 59">
            <a:extLst>
              <a:ext uri="{FF2B5EF4-FFF2-40B4-BE49-F238E27FC236}">
                <a16:creationId xmlns:a16="http://schemas.microsoft.com/office/drawing/2014/main" id="{5FAC8E42-E267-4770-931D-D864B0F60A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0650" y="5445125"/>
            <a:ext cx="11001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66"/>
                </a:solidFill>
              </a:rPr>
              <a:t>无限远</a:t>
            </a:r>
          </a:p>
        </p:txBody>
      </p:sp>
      <p:graphicFrame>
        <p:nvGraphicFramePr>
          <p:cNvPr id="75836" name="Object 13">
            <a:extLst>
              <a:ext uri="{FF2B5EF4-FFF2-40B4-BE49-F238E27FC236}">
                <a16:creationId xmlns:a16="http://schemas.microsoft.com/office/drawing/2014/main" id="{3BC274B6-D87F-49BF-B840-C3819BD17D8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81800" y="3962400"/>
          <a:ext cx="393700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8789" name="公式" r:id="rId25" imgW="123857" imgH="123689" progId="Equation.3">
                  <p:embed/>
                </p:oleObj>
              </mc:Choice>
              <mc:Fallback>
                <p:oleObj name="公式" r:id="rId25" imgW="123857" imgH="123689" progId="Equation.3">
                  <p:embed/>
                  <p:pic>
                    <p:nvPicPr>
                      <p:cNvPr id="75836" name="Object 13">
                        <a:extLst>
                          <a:ext uri="{FF2B5EF4-FFF2-40B4-BE49-F238E27FC236}">
                            <a16:creationId xmlns:a16="http://schemas.microsoft.com/office/drawing/2014/main" id="{3BC274B6-D87F-49BF-B840-C3819BD17D8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1800" y="3962400"/>
                        <a:ext cx="393700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837" name="Rectangle 61">
            <a:extLst>
              <a:ext uri="{FF2B5EF4-FFF2-40B4-BE49-F238E27FC236}">
                <a16:creationId xmlns:a16="http://schemas.microsoft.com/office/drawing/2014/main" id="{228F6751-68C8-4CB8-A694-D0031ACC86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762000"/>
            <a:ext cx="3048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dirty="0">
                <a:solidFill>
                  <a:srgbClr val="76FB4D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 </a:t>
            </a:r>
            <a:r>
              <a:rPr lang="zh-CN" altLang="en-US" dirty="0">
                <a:solidFill>
                  <a:srgbClr val="4DEAFB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一般</a:t>
            </a:r>
            <a:r>
              <a:rPr lang="zh-CN" altLang="en-US" dirty="0">
                <a:solidFill>
                  <a:srgbClr val="4DEAFB"/>
                </a:solidFill>
                <a:latin typeface="宋体" panose="02010600030101010101" pitchFamily="2" charset="-122"/>
              </a:rPr>
              <a:t>衍射系统</a:t>
            </a:r>
          </a:p>
        </p:txBody>
      </p:sp>
      <p:sp>
        <p:nvSpPr>
          <p:cNvPr id="75838" name="Text Box 62">
            <a:extLst>
              <a:ext uri="{FF2B5EF4-FFF2-40B4-BE49-F238E27FC236}">
                <a16:creationId xmlns:a16="http://schemas.microsoft.com/office/drawing/2014/main" id="{38FF03CF-3D03-4ACD-969E-F7326DA43A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800600"/>
            <a:ext cx="36703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        当衍射屏与光源或接收屏的距离为无限远时的衍射</a:t>
            </a:r>
          </a:p>
        </p:txBody>
      </p:sp>
      <p:sp>
        <p:nvSpPr>
          <p:cNvPr id="75839" name="Rectangle 63">
            <a:extLst>
              <a:ext uri="{FF2B5EF4-FFF2-40B4-BE49-F238E27FC236}">
                <a16:creationId xmlns:a16="http://schemas.microsoft.com/office/drawing/2014/main" id="{FBE03E60-4B39-4935-B870-A34723C0FF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243013"/>
            <a:ext cx="36004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chemeClr val="bg1"/>
                </a:solidFill>
                <a:latin typeface="宋体" panose="02010600030101010101" pitchFamily="2" charset="-122"/>
              </a:rPr>
              <a:t>光源，衍射屏，接收屏</a:t>
            </a: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037E8032-EB94-4CC2-9915-B10C202DD3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5813" y="6000750"/>
            <a:ext cx="457200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>
                <a:solidFill>
                  <a:srgbClr val="66FFFF"/>
                </a:solidFill>
                <a:latin typeface="楷体_GB2312" pitchFamily="49" charset="-122"/>
                <a:ea typeface="楷体_GB2312" pitchFamily="49" charset="-122"/>
              </a:rPr>
              <a:t>是</a:t>
            </a:r>
            <a:r>
              <a:rPr lang="zh-CN" altLang="en-US" u="sng">
                <a:solidFill>
                  <a:srgbClr val="66FFFF"/>
                </a:solidFill>
                <a:latin typeface="楷体_GB2312" pitchFamily="49" charset="-122"/>
                <a:ea typeface="楷体_GB2312" pitchFamily="49" charset="-122"/>
              </a:rPr>
              <a:t>菲涅耳衍射</a:t>
            </a:r>
            <a:r>
              <a:rPr lang="zh-CN" altLang="en-US">
                <a:solidFill>
                  <a:srgbClr val="66FFFF"/>
                </a:solidFill>
                <a:latin typeface="楷体_GB2312" pitchFamily="49" charset="-122"/>
                <a:ea typeface="楷体_GB2312" pitchFamily="49" charset="-122"/>
              </a:rPr>
              <a:t>的</a:t>
            </a:r>
            <a:r>
              <a:rPr lang="zh-CN" altLang="en-US">
                <a:solidFill>
                  <a:srgbClr val="FFFF66"/>
                </a:solidFill>
                <a:latin typeface="楷体_GB2312" pitchFamily="49" charset="-122"/>
                <a:ea typeface="楷体_GB2312" pitchFamily="49" charset="-122"/>
              </a:rPr>
              <a:t>极限情形</a:t>
            </a:r>
            <a:endParaRPr lang="zh-CN" altLang="en-US" sz="2000">
              <a:latin typeface="宋体" panose="02010600030101010101" pitchFamily="2" charset="-122"/>
            </a:endParaRPr>
          </a:p>
        </p:txBody>
      </p:sp>
      <p:sp>
        <p:nvSpPr>
          <p:cNvPr id="21540" name="灯片编号占位符 1">
            <a:extLst>
              <a:ext uri="{FF2B5EF4-FFF2-40B4-BE49-F238E27FC236}">
                <a16:creationId xmlns:a16="http://schemas.microsoft.com/office/drawing/2014/main" id="{17CCE8D3-3EEF-406F-81C9-D388B0BFB4EA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EE5A7B09-F18C-4857-97DC-E9398BEEECCC}" type="slidenum">
              <a:rPr lang="en-US" altLang="zh-CN" b="0">
                <a:solidFill>
                  <a:srgbClr val="FF00FF"/>
                </a:solidFill>
              </a:rPr>
              <a:pPr eaLnBrk="1" hangingPunct="1"/>
              <a:t>20</a:t>
            </a:fld>
            <a:r>
              <a:rPr lang="en-US" altLang="zh-CN" b="0">
                <a:solidFill>
                  <a:srgbClr val="FF00FF"/>
                </a:solidFill>
              </a:rPr>
              <a:t>/24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5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75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75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75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75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75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75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75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75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75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75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75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75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75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6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75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7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75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75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75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500"/>
                                        <p:tgtEl>
                                          <p:spTgt spid="75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0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500"/>
                                        <p:tgtEl>
                                          <p:spTgt spid="75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9" dur="500"/>
                                        <p:tgtEl>
                                          <p:spTgt spid="75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75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07" dur="500"/>
                                        <p:tgtEl>
                                          <p:spTgt spid="75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1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3" dur="500"/>
                                        <p:tgtEl>
                                          <p:spTgt spid="75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21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3" dur="300"/>
                                        <p:tgtEl>
                                          <p:spTgt spid="75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 nodeType="afterGroup">
                            <p:stCondLst>
                              <p:cond delay="2400"/>
                            </p:stCondLst>
                            <p:childTnLst>
                              <p:par>
                                <p:cTn id="12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75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 nodeType="clickPar">
                      <p:stCondLst>
                        <p:cond delay="indefinite"/>
                      </p:stCondLst>
                      <p:childTnLst>
                        <p:par>
                          <p:cTn id="1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80" grpId="0" autoUpdateAnimBg="0"/>
      <p:bldP spid="75781" grpId="0" animBg="1"/>
      <p:bldP spid="75811" grpId="0" autoUpdateAnimBg="0"/>
      <p:bldP spid="75812" grpId="0" autoUpdateAnimBg="0"/>
      <p:bldP spid="75813" grpId="0" autoUpdateAnimBg="0"/>
      <p:bldP spid="75814" grpId="0" autoUpdateAnimBg="0"/>
      <p:bldP spid="75815" grpId="0" autoUpdateAnimBg="0"/>
      <p:bldP spid="75834" grpId="0" autoUpdateAnimBg="0"/>
      <p:bldP spid="75835" grpId="0" autoUpdateAnimBg="0"/>
      <p:bldP spid="75837" grpId="0" autoUpdateAnimBg="0"/>
      <p:bldP spid="75838" grpId="0" autoUpdateAnimBg="0"/>
      <p:bldP spid="75839" grpId="0" autoUpdateAnimBg="0"/>
      <p:bldP spid="6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Freeform 2">
            <a:extLst>
              <a:ext uri="{FF2B5EF4-FFF2-40B4-BE49-F238E27FC236}">
                <a16:creationId xmlns:a16="http://schemas.microsoft.com/office/drawing/2014/main" id="{C137EE16-5171-4647-BF09-2E719BD48617}"/>
              </a:ext>
            </a:extLst>
          </p:cNvPr>
          <p:cNvSpPr>
            <a:spLocks/>
          </p:cNvSpPr>
          <p:nvPr/>
        </p:nvSpPr>
        <p:spPr bwMode="auto">
          <a:xfrm>
            <a:off x="6130925" y="3151188"/>
            <a:ext cx="1306513" cy="1657350"/>
          </a:xfrm>
          <a:custGeom>
            <a:avLst/>
            <a:gdLst>
              <a:gd name="T0" fmla="*/ 0 w 1312"/>
              <a:gd name="T1" fmla="*/ 2147483646 h 1393"/>
              <a:gd name="T2" fmla="*/ 2147483646 w 1312"/>
              <a:gd name="T3" fmla="*/ 2147483646 h 1393"/>
              <a:gd name="T4" fmla="*/ 2147483646 w 1312"/>
              <a:gd name="T5" fmla="*/ 2147483646 h 1393"/>
              <a:gd name="T6" fmla="*/ 2147483646 w 1312"/>
              <a:gd name="T7" fmla="*/ 2147483646 h 1393"/>
              <a:gd name="T8" fmla="*/ 2147483646 w 1312"/>
              <a:gd name="T9" fmla="*/ 2147483646 h 1393"/>
              <a:gd name="T10" fmla="*/ 2147483646 w 1312"/>
              <a:gd name="T11" fmla="*/ 2147483646 h 1393"/>
              <a:gd name="T12" fmla="*/ 2147483646 w 1312"/>
              <a:gd name="T13" fmla="*/ 2147483646 h 1393"/>
              <a:gd name="T14" fmla="*/ 2147483646 w 1312"/>
              <a:gd name="T15" fmla="*/ 2147483646 h 1393"/>
              <a:gd name="T16" fmla="*/ 2147483646 w 1312"/>
              <a:gd name="T17" fmla="*/ 2147483646 h 1393"/>
              <a:gd name="T18" fmla="*/ 2147483646 w 1312"/>
              <a:gd name="T19" fmla="*/ 2147483646 h 1393"/>
              <a:gd name="T20" fmla="*/ 2147483646 w 1312"/>
              <a:gd name="T21" fmla="*/ 2147483646 h 1393"/>
              <a:gd name="T22" fmla="*/ 2147483646 w 1312"/>
              <a:gd name="T23" fmla="*/ 2147483646 h 1393"/>
              <a:gd name="T24" fmla="*/ 2147483646 w 1312"/>
              <a:gd name="T25" fmla="*/ 2147483646 h 1393"/>
              <a:gd name="T26" fmla="*/ 2147483646 w 1312"/>
              <a:gd name="T27" fmla="*/ 2147483646 h 1393"/>
              <a:gd name="T28" fmla="*/ 2147483646 w 1312"/>
              <a:gd name="T29" fmla="*/ 2147483646 h 1393"/>
              <a:gd name="T30" fmla="*/ 2147483646 w 1312"/>
              <a:gd name="T31" fmla="*/ 2147483646 h 1393"/>
              <a:gd name="T32" fmla="*/ 2147483646 w 1312"/>
              <a:gd name="T33" fmla="*/ 2147483646 h 1393"/>
              <a:gd name="T34" fmla="*/ 2147483646 w 1312"/>
              <a:gd name="T35" fmla="*/ 2147483646 h 1393"/>
              <a:gd name="T36" fmla="*/ 2147483646 w 1312"/>
              <a:gd name="T37" fmla="*/ 2147483646 h 1393"/>
              <a:gd name="T38" fmla="*/ 2147483646 w 1312"/>
              <a:gd name="T39" fmla="*/ 2147483646 h 1393"/>
              <a:gd name="T40" fmla="*/ 2147483646 w 1312"/>
              <a:gd name="T41" fmla="*/ 2147483646 h 1393"/>
              <a:gd name="T42" fmla="*/ 2147483646 w 1312"/>
              <a:gd name="T43" fmla="*/ 2147483646 h 1393"/>
              <a:gd name="T44" fmla="*/ 2147483646 w 1312"/>
              <a:gd name="T45" fmla="*/ 2147483646 h 1393"/>
              <a:gd name="T46" fmla="*/ 2147483646 w 1312"/>
              <a:gd name="T47" fmla="*/ 2147483646 h 1393"/>
              <a:gd name="T48" fmla="*/ 2147483646 w 1312"/>
              <a:gd name="T49" fmla="*/ 2147483646 h 1393"/>
              <a:gd name="T50" fmla="*/ 2147483646 w 1312"/>
              <a:gd name="T51" fmla="*/ 2147483646 h 1393"/>
              <a:gd name="T52" fmla="*/ 2147483646 w 1312"/>
              <a:gd name="T53" fmla="*/ 2147483646 h 1393"/>
              <a:gd name="T54" fmla="*/ 2147483646 w 1312"/>
              <a:gd name="T55" fmla="*/ 2147483646 h 1393"/>
              <a:gd name="T56" fmla="*/ 2147483646 w 1312"/>
              <a:gd name="T57" fmla="*/ 2147483646 h 1393"/>
              <a:gd name="T58" fmla="*/ 2147483646 w 1312"/>
              <a:gd name="T59" fmla="*/ 2147483646 h 1393"/>
              <a:gd name="T60" fmla="*/ 2147483646 w 1312"/>
              <a:gd name="T61" fmla="*/ 2147483646 h 1393"/>
              <a:gd name="T62" fmla="*/ 2147483646 w 1312"/>
              <a:gd name="T63" fmla="*/ 2147483646 h 1393"/>
              <a:gd name="T64" fmla="*/ 2147483646 w 1312"/>
              <a:gd name="T65" fmla="*/ 2147483646 h 1393"/>
              <a:gd name="T66" fmla="*/ 2147483646 w 1312"/>
              <a:gd name="T67" fmla="*/ 2147483646 h 1393"/>
              <a:gd name="T68" fmla="*/ 2147483646 w 1312"/>
              <a:gd name="T69" fmla="*/ 2147483646 h 1393"/>
              <a:gd name="T70" fmla="*/ 2147483646 w 1312"/>
              <a:gd name="T71" fmla="*/ 2147483646 h 1393"/>
              <a:gd name="T72" fmla="*/ 2147483646 w 1312"/>
              <a:gd name="T73" fmla="*/ 2147483646 h 1393"/>
              <a:gd name="T74" fmla="*/ 2147483646 w 1312"/>
              <a:gd name="T75" fmla="*/ 2147483646 h 1393"/>
              <a:gd name="T76" fmla="*/ 2147483646 w 1312"/>
              <a:gd name="T77" fmla="*/ 2147483646 h 1393"/>
              <a:gd name="T78" fmla="*/ 0 w 1312"/>
              <a:gd name="T79" fmla="*/ 2147483646 h 1393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w 1312"/>
              <a:gd name="T121" fmla="*/ 0 h 1393"/>
              <a:gd name="T122" fmla="*/ 1312 w 1312"/>
              <a:gd name="T123" fmla="*/ 1393 h 1393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T120" t="T121" r="T122" b="T123"/>
            <a:pathLst>
              <a:path w="1312" h="1393">
                <a:moveTo>
                  <a:pt x="0" y="100"/>
                </a:moveTo>
                <a:cubicBezTo>
                  <a:pt x="2" y="100"/>
                  <a:pt x="64" y="77"/>
                  <a:pt x="72" y="73"/>
                </a:cubicBezTo>
                <a:cubicBezTo>
                  <a:pt x="85" y="67"/>
                  <a:pt x="127" y="57"/>
                  <a:pt x="141" y="52"/>
                </a:cubicBezTo>
                <a:cubicBezTo>
                  <a:pt x="219" y="28"/>
                  <a:pt x="143" y="47"/>
                  <a:pt x="216" y="40"/>
                </a:cubicBezTo>
                <a:cubicBezTo>
                  <a:pt x="255" y="30"/>
                  <a:pt x="287" y="26"/>
                  <a:pt x="327" y="19"/>
                </a:cubicBezTo>
                <a:cubicBezTo>
                  <a:pt x="347" y="16"/>
                  <a:pt x="465" y="1"/>
                  <a:pt x="465" y="1"/>
                </a:cubicBezTo>
                <a:cubicBezTo>
                  <a:pt x="515" y="0"/>
                  <a:pt x="594" y="10"/>
                  <a:pt x="630" y="13"/>
                </a:cubicBezTo>
                <a:cubicBezTo>
                  <a:pt x="666" y="16"/>
                  <a:pt x="653" y="15"/>
                  <a:pt x="681" y="19"/>
                </a:cubicBezTo>
                <a:cubicBezTo>
                  <a:pt x="719" y="21"/>
                  <a:pt x="761" y="34"/>
                  <a:pt x="798" y="40"/>
                </a:cubicBezTo>
                <a:cubicBezTo>
                  <a:pt x="850" y="48"/>
                  <a:pt x="889" y="62"/>
                  <a:pt x="939" y="79"/>
                </a:cubicBezTo>
                <a:cubicBezTo>
                  <a:pt x="957" y="85"/>
                  <a:pt x="1005" y="106"/>
                  <a:pt x="1005" y="106"/>
                </a:cubicBezTo>
                <a:cubicBezTo>
                  <a:pt x="1025" y="136"/>
                  <a:pt x="1044" y="154"/>
                  <a:pt x="1059" y="181"/>
                </a:cubicBezTo>
                <a:cubicBezTo>
                  <a:pt x="1087" y="223"/>
                  <a:pt x="1080" y="215"/>
                  <a:pt x="1110" y="235"/>
                </a:cubicBezTo>
                <a:cubicBezTo>
                  <a:pt x="1125" y="279"/>
                  <a:pt x="1119" y="277"/>
                  <a:pt x="1146" y="304"/>
                </a:cubicBezTo>
                <a:cubicBezTo>
                  <a:pt x="1194" y="412"/>
                  <a:pt x="1190" y="405"/>
                  <a:pt x="1215" y="481"/>
                </a:cubicBezTo>
                <a:cubicBezTo>
                  <a:pt x="1225" y="511"/>
                  <a:pt x="1250" y="564"/>
                  <a:pt x="1257" y="595"/>
                </a:cubicBezTo>
                <a:cubicBezTo>
                  <a:pt x="1287" y="724"/>
                  <a:pt x="1305" y="858"/>
                  <a:pt x="1305" y="991"/>
                </a:cubicBezTo>
                <a:cubicBezTo>
                  <a:pt x="1305" y="983"/>
                  <a:pt x="1293" y="826"/>
                  <a:pt x="1299" y="820"/>
                </a:cubicBezTo>
                <a:cubicBezTo>
                  <a:pt x="1303" y="816"/>
                  <a:pt x="1302" y="970"/>
                  <a:pt x="1311" y="970"/>
                </a:cubicBezTo>
                <a:cubicBezTo>
                  <a:pt x="1311" y="977"/>
                  <a:pt x="1309" y="991"/>
                  <a:pt x="1305" y="997"/>
                </a:cubicBezTo>
                <a:cubicBezTo>
                  <a:pt x="1312" y="1134"/>
                  <a:pt x="1311" y="1253"/>
                  <a:pt x="1311" y="1393"/>
                </a:cubicBezTo>
                <a:cubicBezTo>
                  <a:pt x="1261" y="1376"/>
                  <a:pt x="1216" y="1367"/>
                  <a:pt x="1164" y="1357"/>
                </a:cubicBezTo>
                <a:cubicBezTo>
                  <a:pt x="1122" y="1351"/>
                  <a:pt x="1101" y="1351"/>
                  <a:pt x="1047" y="1342"/>
                </a:cubicBezTo>
                <a:cubicBezTo>
                  <a:pt x="1034" y="1339"/>
                  <a:pt x="958" y="1331"/>
                  <a:pt x="945" y="1327"/>
                </a:cubicBezTo>
                <a:cubicBezTo>
                  <a:pt x="900" y="1324"/>
                  <a:pt x="906" y="1326"/>
                  <a:pt x="843" y="1321"/>
                </a:cubicBezTo>
                <a:cubicBezTo>
                  <a:pt x="792" y="1325"/>
                  <a:pt x="745" y="1321"/>
                  <a:pt x="696" y="1333"/>
                </a:cubicBezTo>
                <a:cubicBezTo>
                  <a:pt x="627" y="1336"/>
                  <a:pt x="633" y="1342"/>
                  <a:pt x="543" y="1345"/>
                </a:cubicBezTo>
                <a:cubicBezTo>
                  <a:pt x="507" y="1354"/>
                  <a:pt x="479" y="1360"/>
                  <a:pt x="435" y="1375"/>
                </a:cubicBezTo>
                <a:cubicBezTo>
                  <a:pt x="433" y="1376"/>
                  <a:pt x="359" y="1387"/>
                  <a:pt x="381" y="1387"/>
                </a:cubicBezTo>
                <a:cubicBezTo>
                  <a:pt x="396" y="1328"/>
                  <a:pt x="393" y="1360"/>
                  <a:pt x="390" y="1312"/>
                </a:cubicBezTo>
                <a:cubicBezTo>
                  <a:pt x="381" y="1167"/>
                  <a:pt x="393" y="1239"/>
                  <a:pt x="378" y="1150"/>
                </a:cubicBezTo>
                <a:cubicBezTo>
                  <a:pt x="373" y="1122"/>
                  <a:pt x="382" y="1073"/>
                  <a:pt x="375" y="1045"/>
                </a:cubicBezTo>
                <a:cubicBezTo>
                  <a:pt x="373" y="1037"/>
                  <a:pt x="354" y="934"/>
                  <a:pt x="354" y="934"/>
                </a:cubicBezTo>
                <a:cubicBezTo>
                  <a:pt x="336" y="847"/>
                  <a:pt x="346" y="847"/>
                  <a:pt x="327" y="760"/>
                </a:cubicBezTo>
                <a:cubicBezTo>
                  <a:pt x="321" y="733"/>
                  <a:pt x="311" y="715"/>
                  <a:pt x="306" y="685"/>
                </a:cubicBezTo>
                <a:cubicBezTo>
                  <a:pt x="298" y="638"/>
                  <a:pt x="267" y="536"/>
                  <a:pt x="240" y="496"/>
                </a:cubicBezTo>
                <a:cubicBezTo>
                  <a:pt x="228" y="478"/>
                  <a:pt x="201" y="400"/>
                  <a:pt x="189" y="382"/>
                </a:cubicBezTo>
                <a:cubicBezTo>
                  <a:pt x="169" y="323"/>
                  <a:pt x="164" y="323"/>
                  <a:pt x="129" y="271"/>
                </a:cubicBezTo>
                <a:cubicBezTo>
                  <a:pt x="105" y="235"/>
                  <a:pt x="81" y="199"/>
                  <a:pt x="57" y="163"/>
                </a:cubicBezTo>
                <a:cubicBezTo>
                  <a:pt x="43" y="142"/>
                  <a:pt x="23" y="112"/>
                  <a:pt x="0" y="100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chemeClr val="accent1"/>
            </a:solidFill>
            <a:round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103427" name="Text Box 3">
            <a:extLst>
              <a:ext uri="{FF2B5EF4-FFF2-40B4-BE49-F238E27FC236}">
                <a16:creationId xmlns:a16="http://schemas.microsoft.com/office/drawing/2014/main" id="{04659ECA-F3A2-4AC1-BA23-E92CF9A3B9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4713" y="1400175"/>
            <a:ext cx="7442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>
                <a:solidFill>
                  <a:schemeClr val="bg1"/>
                </a:solidFill>
              </a:rPr>
              <a:t> </a:t>
            </a:r>
            <a:r>
              <a:rPr lang="zh-CN" altLang="en-US">
                <a:solidFill>
                  <a:schemeClr val="bg1"/>
                </a:solidFill>
                <a:latin typeface="方正书宋简体"/>
              </a:rPr>
              <a:t>同一波面上各点发出的次波都是</a:t>
            </a:r>
            <a:r>
              <a:rPr lang="zh-CN" altLang="en-US">
                <a:solidFill>
                  <a:srgbClr val="FFFF00"/>
                </a:solidFill>
                <a:latin typeface="方正书宋简体"/>
              </a:rPr>
              <a:t>相干波</a:t>
            </a:r>
          </a:p>
        </p:txBody>
      </p:sp>
      <p:sp>
        <p:nvSpPr>
          <p:cNvPr id="103428" name="Rectangle 4">
            <a:extLst>
              <a:ext uri="{FF2B5EF4-FFF2-40B4-BE49-F238E27FC236}">
                <a16:creationId xmlns:a16="http://schemas.microsoft.com/office/drawing/2014/main" id="{6314D8E9-EC5F-4279-A59B-5AC0B065EA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2995613"/>
            <a:ext cx="4897437" cy="936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2700" tIns="12700" rIns="12700" bIns="12700"/>
          <a:lstStyle/>
          <a:p>
            <a:pPr algn="just">
              <a:lnSpc>
                <a:spcPct val="125000"/>
              </a:lnSpc>
              <a:defRPr/>
            </a:pPr>
            <a:r>
              <a:rPr lang="zh-CN" altLang="en-US" dirty="0">
                <a:solidFill>
                  <a:schemeClr val="bg1"/>
                </a:solidFill>
                <a:latin typeface="宋体" pitchFamily="2" charset="-122"/>
              </a:rPr>
              <a:t>设初相为零，面积为</a:t>
            </a:r>
            <a:r>
              <a:rPr lang="zh-CN" altLang="en-US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altLang="zh-CN" i="1" dirty="0">
                <a:solidFill>
                  <a:srgbClr val="66FFFF"/>
                </a:solidFill>
                <a:latin typeface="+mn-lt"/>
              </a:rPr>
              <a:t>S </a:t>
            </a:r>
            <a:r>
              <a:rPr lang="zh-CN" altLang="en-US" dirty="0">
                <a:solidFill>
                  <a:schemeClr val="bg1"/>
                </a:solidFill>
                <a:latin typeface="宋体" pitchFamily="2" charset="-122"/>
              </a:rPr>
              <a:t>的波面</a:t>
            </a:r>
            <a:r>
              <a:rPr lang="zh-CN" altLang="en-US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altLang="zh-CN" i="1" dirty="0">
                <a:solidFill>
                  <a:srgbClr val="66FFFF"/>
                </a:solidFill>
                <a:latin typeface="+mn-lt"/>
              </a:rPr>
              <a:t>Q</a:t>
            </a:r>
            <a:r>
              <a:rPr lang="zh-CN" altLang="en-US" dirty="0">
                <a:solidFill>
                  <a:schemeClr val="bg1"/>
                </a:solidFill>
              </a:rPr>
              <a:t>，其</a:t>
            </a:r>
            <a:r>
              <a:rPr lang="zh-CN" altLang="en-US" dirty="0">
                <a:solidFill>
                  <a:schemeClr val="bg1"/>
                </a:solidFill>
                <a:latin typeface="宋体" pitchFamily="2" charset="-122"/>
              </a:rPr>
              <a:t>上</a:t>
            </a: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</a:rPr>
              <a:t>面</a:t>
            </a:r>
            <a:r>
              <a:rPr lang="zh-CN" altLang="en-US" dirty="0">
                <a:solidFill>
                  <a:schemeClr val="bg1"/>
                </a:solidFill>
                <a:latin typeface="宋体" pitchFamily="2" charset="-122"/>
              </a:rPr>
              <a:t>元</a:t>
            </a:r>
            <a:r>
              <a:rPr lang="zh-CN" altLang="en-US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altLang="zh-CN" dirty="0" err="1">
                <a:solidFill>
                  <a:srgbClr val="66FFFF"/>
                </a:solidFill>
                <a:latin typeface="+mn-lt"/>
                <a:ea typeface="楷体_GB2312" pitchFamily="49" charset="-122"/>
              </a:rPr>
              <a:t>d</a:t>
            </a:r>
            <a:r>
              <a:rPr lang="en-US" altLang="zh-CN" i="1" dirty="0" err="1">
                <a:solidFill>
                  <a:srgbClr val="66FFFF"/>
                </a:solidFill>
                <a:latin typeface="+mn-lt"/>
                <a:ea typeface="楷体_GB2312" pitchFamily="49" charset="-122"/>
              </a:rPr>
              <a:t>S</a:t>
            </a:r>
            <a:r>
              <a:rPr lang="en-US" altLang="zh-CN" i="1" dirty="0">
                <a:solidFill>
                  <a:schemeClr val="bg1"/>
                </a:solidFill>
                <a:latin typeface="+mn-lt"/>
                <a:ea typeface="楷体_GB2312" pitchFamily="49" charset="-122"/>
              </a:rPr>
              <a:t> </a:t>
            </a:r>
            <a:r>
              <a:rPr lang="zh-CN" altLang="en-US" dirty="0">
                <a:solidFill>
                  <a:schemeClr val="bg1"/>
                </a:solidFill>
                <a:latin typeface="宋体" pitchFamily="2" charset="-122"/>
              </a:rPr>
              <a:t>在</a:t>
            </a:r>
            <a:r>
              <a:rPr lang="zh-CN" altLang="en-US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altLang="zh-CN" i="1" dirty="0">
                <a:solidFill>
                  <a:srgbClr val="66FFFF"/>
                </a:solidFill>
                <a:latin typeface="+mn-lt"/>
              </a:rPr>
              <a:t>P </a:t>
            </a:r>
            <a:r>
              <a:rPr lang="zh-CN" altLang="en-US" dirty="0">
                <a:solidFill>
                  <a:schemeClr val="bg1"/>
                </a:solidFill>
                <a:latin typeface="宋体" pitchFamily="2" charset="-122"/>
              </a:rPr>
              <a:t>点引起的振动</a:t>
            </a:r>
          </a:p>
        </p:txBody>
      </p:sp>
      <p:graphicFrame>
        <p:nvGraphicFramePr>
          <p:cNvPr id="103429" name="Object 5">
            <a:extLst>
              <a:ext uri="{FF2B5EF4-FFF2-40B4-BE49-F238E27FC236}">
                <a16:creationId xmlns:a16="http://schemas.microsoft.com/office/drawing/2014/main" id="{09025AF0-BB69-439D-931F-26650079590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00125" y="4005263"/>
          <a:ext cx="3984625" cy="827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9802" name="公式" r:id="rId3" imgW="1857241" imgH="352391" progId="Equation.3">
                  <p:embed/>
                </p:oleObj>
              </mc:Choice>
              <mc:Fallback>
                <p:oleObj name="公式" r:id="rId3" imgW="1857241" imgH="352391" progId="Equation.3">
                  <p:embed/>
                  <p:pic>
                    <p:nvPicPr>
                      <p:cNvPr id="103429" name="Object 5">
                        <a:extLst>
                          <a:ext uri="{FF2B5EF4-FFF2-40B4-BE49-F238E27FC236}">
                            <a16:creationId xmlns:a16="http://schemas.microsoft.com/office/drawing/2014/main" id="{09025AF0-BB69-439D-931F-26650079590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0125" y="4005263"/>
                        <a:ext cx="3984625" cy="827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430" name="Text Box 6">
            <a:extLst>
              <a:ext uri="{FF2B5EF4-FFF2-40B4-BE49-F238E27FC236}">
                <a16:creationId xmlns:a16="http://schemas.microsoft.com/office/drawing/2014/main" id="{A67E184B-887C-4004-A5E2-0EDB719616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250" y="1928813"/>
            <a:ext cx="7929563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chemeClr val="bg1"/>
                </a:solidFill>
              </a:rPr>
              <a:t> </a:t>
            </a:r>
            <a:r>
              <a:rPr lang="zh-CN" altLang="en-US">
                <a:solidFill>
                  <a:schemeClr val="bg1"/>
                </a:solidFill>
                <a:latin typeface="方正书宋简体"/>
              </a:rPr>
              <a:t>各次波在空间某点的</a:t>
            </a:r>
            <a:r>
              <a:rPr lang="zh-CN" altLang="en-US">
                <a:solidFill>
                  <a:srgbClr val="FFFF00"/>
                </a:solidFill>
                <a:latin typeface="方正书宋简体"/>
              </a:rPr>
              <a:t>相干叠加</a:t>
            </a:r>
            <a:r>
              <a:rPr lang="zh-CN" altLang="en-US">
                <a:solidFill>
                  <a:schemeClr val="bg1"/>
                </a:solidFill>
                <a:latin typeface="方正书宋简体"/>
              </a:rPr>
              <a:t>，就决定了该点波的强度</a:t>
            </a:r>
          </a:p>
        </p:txBody>
      </p:sp>
      <p:sp>
        <p:nvSpPr>
          <p:cNvPr id="103431" name="Text Box 7">
            <a:extLst>
              <a:ext uri="{FF2B5EF4-FFF2-40B4-BE49-F238E27FC236}">
                <a16:creationId xmlns:a16="http://schemas.microsoft.com/office/drawing/2014/main" id="{E5CB924D-ACD9-4893-9A70-5B41952FA4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063" y="857250"/>
            <a:ext cx="2055713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dirty="0">
                <a:solidFill>
                  <a:srgbClr val="66FFFF"/>
                </a:solidFill>
              </a:rPr>
              <a:t>1. </a:t>
            </a:r>
            <a:r>
              <a:rPr lang="zh-CN" altLang="en-US" dirty="0">
                <a:solidFill>
                  <a:srgbClr val="66FFFF"/>
                </a:solidFill>
              </a:rPr>
              <a:t>原理内容</a:t>
            </a:r>
          </a:p>
        </p:txBody>
      </p:sp>
      <p:sp>
        <p:nvSpPr>
          <p:cNvPr id="103432" name="Rectangle 8">
            <a:extLst>
              <a:ext uri="{FF2B5EF4-FFF2-40B4-BE49-F238E27FC236}">
                <a16:creationId xmlns:a16="http://schemas.microsoft.com/office/drawing/2014/main" id="{AC909D30-E48B-48E6-9A69-E8B2CEFB7C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" y="2471738"/>
            <a:ext cx="2320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66FFFF"/>
                </a:solidFill>
              </a:rPr>
              <a:t>2. </a:t>
            </a:r>
            <a:r>
              <a:rPr lang="zh-CN" altLang="en-US">
                <a:solidFill>
                  <a:srgbClr val="66FFFF"/>
                </a:solidFill>
                <a:latin typeface="宋体" panose="02010600030101010101" pitchFamily="2" charset="-122"/>
              </a:rPr>
              <a:t>原理数学表达</a:t>
            </a:r>
          </a:p>
        </p:txBody>
      </p:sp>
      <p:graphicFrame>
        <p:nvGraphicFramePr>
          <p:cNvPr id="103433" name="Object 9">
            <a:extLst>
              <a:ext uri="{FF2B5EF4-FFF2-40B4-BE49-F238E27FC236}">
                <a16:creationId xmlns:a16="http://schemas.microsoft.com/office/drawing/2014/main" id="{270BD2C4-6A79-427C-B3E4-7014FA2E3D6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58000" y="4857750"/>
          <a:ext cx="280988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9803" name="公式" r:id="rId5" imgW="152298" imgH="190432" progId="Equation.3">
                  <p:embed/>
                </p:oleObj>
              </mc:Choice>
              <mc:Fallback>
                <p:oleObj name="公式" r:id="rId5" imgW="152298" imgH="190432" progId="Equation.3">
                  <p:embed/>
                  <p:pic>
                    <p:nvPicPr>
                      <p:cNvPr id="103433" name="Object 9">
                        <a:extLst>
                          <a:ext uri="{FF2B5EF4-FFF2-40B4-BE49-F238E27FC236}">
                            <a16:creationId xmlns:a16="http://schemas.microsoft.com/office/drawing/2014/main" id="{270BD2C4-6A79-427C-B3E4-7014FA2E3D6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0" y="4857750"/>
                        <a:ext cx="280988" cy="336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434" name="Object 10">
            <a:extLst>
              <a:ext uri="{FF2B5EF4-FFF2-40B4-BE49-F238E27FC236}">
                <a16:creationId xmlns:a16="http://schemas.microsoft.com/office/drawing/2014/main" id="{57719926-75B0-4E7A-8389-CD8A76CE8E4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00863" y="3621088"/>
          <a:ext cx="287337" cy="257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9804" name="公式" r:id="rId7" imgW="314382" imgH="276157" progId="Equation.3">
                  <p:embed/>
                </p:oleObj>
              </mc:Choice>
              <mc:Fallback>
                <p:oleObj name="公式" r:id="rId7" imgW="314382" imgH="276157" progId="Equation.3">
                  <p:embed/>
                  <p:pic>
                    <p:nvPicPr>
                      <p:cNvPr id="103434" name="Object 10">
                        <a:extLst>
                          <a:ext uri="{FF2B5EF4-FFF2-40B4-BE49-F238E27FC236}">
                            <a16:creationId xmlns:a16="http://schemas.microsoft.com/office/drawing/2014/main" id="{57719926-75B0-4E7A-8389-CD8A76CE8E4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00863" y="3621088"/>
                        <a:ext cx="287337" cy="257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435" name="Object 11">
            <a:extLst>
              <a:ext uri="{FF2B5EF4-FFF2-40B4-BE49-F238E27FC236}">
                <a16:creationId xmlns:a16="http://schemas.microsoft.com/office/drawing/2014/main" id="{63DD2273-0A86-425F-8787-F54407304C2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40650" y="3933825"/>
          <a:ext cx="203200" cy="242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9805" name="公式" r:id="rId9" imgW="218967" imgH="266666" progId="Equation.3">
                  <p:embed/>
                </p:oleObj>
              </mc:Choice>
              <mc:Fallback>
                <p:oleObj name="公式" r:id="rId9" imgW="218967" imgH="266666" progId="Equation.3">
                  <p:embed/>
                  <p:pic>
                    <p:nvPicPr>
                      <p:cNvPr id="103435" name="Object 11">
                        <a:extLst>
                          <a:ext uri="{FF2B5EF4-FFF2-40B4-BE49-F238E27FC236}">
                            <a16:creationId xmlns:a16="http://schemas.microsoft.com/office/drawing/2014/main" id="{63DD2273-0A86-425F-8787-F54407304C2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40650" y="3933825"/>
                        <a:ext cx="203200" cy="242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436" name="Object 12">
            <a:extLst>
              <a:ext uri="{FF2B5EF4-FFF2-40B4-BE49-F238E27FC236}">
                <a16:creationId xmlns:a16="http://schemas.microsoft.com/office/drawing/2014/main" id="{BCA606E0-7881-4DB2-A790-EF3FC2420E8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70863" y="3273425"/>
          <a:ext cx="179387" cy="239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9806" name="公式" r:id="rId11" imgW="190525" imgH="266666" progId="Equation.3">
                  <p:embed/>
                </p:oleObj>
              </mc:Choice>
              <mc:Fallback>
                <p:oleObj name="公式" r:id="rId11" imgW="190525" imgH="266666" progId="Equation.3">
                  <p:embed/>
                  <p:pic>
                    <p:nvPicPr>
                      <p:cNvPr id="103436" name="Object 12">
                        <a:extLst>
                          <a:ext uri="{FF2B5EF4-FFF2-40B4-BE49-F238E27FC236}">
                            <a16:creationId xmlns:a16="http://schemas.microsoft.com/office/drawing/2014/main" id="{BCA606E0-7881-4DB2-A790-EF3FC2420E8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70863" y="3273425"/>
                        <a:ext cx="179387" cy="239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437" name="Object 13">
            <a:extLst>
              <a:ext uri="{FF2B5EF4-FFF2-40B4-BE49-F238E27FC236}">
                <a16:creationId xmlns:a16="http://schemas.microsoft.com/office/drawing/2014/main" id="{1733FE49-E8E4-498D-9C2F-D2093C53492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83525" y="4364038"/>
          <a:ext cx="2159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9807" name="公式" r:id="rId13" imgW="181045" imgH="257175" progId="Equation.3">
                  <p:embed/>
                </p:oleObj>
              </mc:Choice>
              <mc:Fallback>
                <p:oleObj name="公式" r:id="rId13" imgW="181045" imgH="257175" progId="Equation.3">
                  <p:embed/>
                  <p:pic>
                    <p:nvPicPr>
                      <p:cNvPr id="103437" name="Object 13">
                        <a:extLst>
                          <a:ext uri="{FF2B5EF4-FFF2-40B4-BE49-F238E27FC236}">
                            <a16:creationId xmlns:a16="http://schemas.microsoft.com/office/drawing/2014/main" id="{1733FE49-E8E4-498D-9C2F-D2093C53492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83525" y="4364038"/>
                        <a:ext cx="215900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438" name="Object 14">
            <a:extLst>
              <a:ext uri="{FF2B5EF4-FFF2-40B4-BE49-F238E27FC236}">
                <a16:creationId xmlns:a16="http://schemas.microsoft.com/office/drawing/2014/main" id="{99F88387-C530-48AA-8B45-44CFEFF25E9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420100" y="4624388"/>
          <a:ext cx="223838" cy="233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9808" name="公式" r:id="rId15" imgW="238233" imgH="257175" progId="Equation.3">
                  <p:embed/>
                </p:oleObj>
              </mc:Choice>
              <mc:Fallback>
                <p:oleObj name="公式" r:id="rId15" imgW="238233" imgH="257175" progId="Equation.3">
                  <p:embed/>
                  <p:pic>
                    <p:nvPicPr>
                      <p:cNvPr id="103438" name="Object 14">
                        <a:extLst>
                          <a:ext uri="{FF2B5EF4-FFF2-40B4-BE49-F238E27FC236}">
                            <a16:creationId xmlns:a16="http://schemas.microsoft.com/office/drawing/2014/main" id="{99F88387-C530-48AA-8B45-44CFEFF25E9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20100" y="4624388"/>
                        <a:ext cx="223838" cy="233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439" name="Object 15">
            <a:extLst>
              <a:ext uri="{FF2B5EF4-FFF2-40B4-BE49-F238E27FC236}">
                <a16:creationId xmlns:a16="http://schemas.microsoft.com/office/drawing/2014/main" id="{DC0FBC0B-5792-4CC1-9565-4273163ED00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502650" y="4445000"/>
          <a:ext cx="115888" cy="128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9809" name="Equation" r:id="rId17" imgW="76149" imgH="85725" progId="Equation.3">
                  <p:embed/>
                </p:oleObj>
              </mc:Choice>
              <mc:Fallback>
                <p:oleObj name="Equation" r:id="rId17" imgW="76149" imgH="85725" progId="Equation.3">
                  <p:embed/>
                  <p:pic>
                    <p:nvPicPr>
                      <p:cNvPr id="103439" name="Object 15">
                        <a:extLst>
                          <a:ext uri="{FF2B5EF4-FFF2-40B4-BE49-F238E27FC236}">
                            <a16:creationId xmlns:a16="http://schemas.microsoft.com/office/drawing/2014/main" id="{DC0FBC0B-5792-4CC1-9565-4273163ED00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02650" y="4445000"/>
                        <a:ext cx="115888" cy="128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440" name="Arc 16">
            <a:extLst>
              <a:ext uri="{FF2B5EF4-FFF2-40B4-BE49-F238E27FC236}">
                <a16:creationId xmlns:a16="http://schemas.microsoft.com/office/drawing/2014/main" id="{CE09CCF6-994C-4630-B568-3D4D051F901A}"/>
              </a:ext>
            </a:extLst>
          </p:cNvPr>
          <p:cNvSpPr>
            <a:spLocks/>
          </p:cNvSpPr>
          <p:nvPr/>
        </p:nvSpPr>
        <p:spPr bwMode="auto">
          <a:xfrm>
            <a:off x="7134225" y="3921125"/>
            <a:ext cx="474663" cy="300038"/>
          </a:xfrm>
          <a:custGeom>
            <a:avLst/>
            <a:gdLst>
              <a:gd name="T0" fmla="*/ 2147483646 w 21600"/>
              <a:gd name="T1" fmla="*/ 0 h 11194"/>
              <a:gd name="T2" fmla="*/ 2147483646 w 21600"/>
              <a:gd name="T3" fmla="*/ 2147483646 h 11194"/>
              <a:gd name="T4" fmla="*/ 0 w 21600"/>
              <a:gd name="T5" fmla="*/ 2147483646 h 11194"/>
              <a:gd name="T6" fmla="*/ 0 60000 65536"/>
              <a:gd name="T7" fmla="*/ 0 60000 65536"/>
              <a:gd name="T8" fmla="*/ 0 60000 65536"/>
              <a:gd name="T9" fmla="*/ 0 w 21600"/>
              <a:gd name="T10" fmla="*/ 0 h 11194"/>
              <a:gd name="T11" fmla="*/ 21600 w 21600"/>
              <a:gd name="T12" fmla="*/ 11194 h 1119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11194" fill="none" extrusionOk="0">
                <a:moveTo>
                  <a:pt x="20725" y="-1"/>
                </a:moveTo>
                <a:cubicBezTo>
                  <a:pt x="21305" y="1976"/>
                  <a:pt x="21600" y="4025"/>
                  <a:pt x="21600" y="6085"/>
                </a:cubicBezTo>
                <a:cubicBezTo>
                  <a:pt x="21600" y="7806"/>
                  <a:pt x="21394" y="9521"/>
                  <a:pt x="20987" y="11194"/>
                </a:cubicBezTo>
              </a:path>
              <a:path w="21600" h="11194" stroke="0" extrusionOk="0">
                <a:moveTo>
                  <a:pt x="20725" y="-1"/>
                </a:moveTo>
                <a:cubicBezTo>
                  <a:pt x="21305" y="1976"/>
                  <a:pt x="21600" y="4025"/>
                  <a:pt x="21600" y="6085"/>
                </a:cubicBezTo>
                <a:cubicBezTo>
                  <a:pt x="21600" y="7806"/>
                  <a:pt x="21394" y="9521"/>
                  <a:pt x="20987" y="11194"/>
                </a:cubicBezTo>
                <a:lnTo>
                  <a:pt x="0" y="6085"/>
                </a:lnTo>
                <a:lnTo>
                  <a:pt x="20725" y="-1"/>
                </a:lnTo>
                <a:close/>
              </a:path>
            </a:pathLst>
          </a:cu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  <p:graphicFrame>
        <p:nvGraphicFramePr>
          <p:cNvPr id="103441" name="Object 17">
            <a:extLst>
              <a:ext uri="{FF2B5EF4-FFF2-40B4-BE49-F238E27FC236}">
                <a16:creationId xmlns:a16="http://schemas.microsoft.com/office/drawing/2014/main" id="{55D3A363-39CD-4CBD-8A78-5E57B8A6B72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00125" y="5000625"/>
          <a:ext cx="4678363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9810" name="公式" r:id="rId19" imgW="2181104" imgH="352391" progId="Equation.3">
                  <p:embed/>
                </p:oleObj>
              </mc:Choice>
              <mc:Fallback>
                <p:oleObj name="公式" r:id="rId19" imgW="2181104" imgH="352391" progId="Equation.3">
                  <p:embed/>
                  <p:pic>
                    <p:nvPicPr>
                      <p:cNvPr id="103441" name="Object 17">
                        <a:extLst>
                          <a:ext uri="{FF2B5EF4-FFF2-40B4-BE49-F238E27FC236}">
                            <a16:creationId xmlns:a16="http://schemas.microsoft.com/office/drawing/2014/main" id="{55D3A363-39CD-4CBD-8A78-5E57B8A6B72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0125" y="5000625"/>
                        <a:ext cx="4678363" cy="82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442" name="Object 18">
            <a:extLst>
              <a:ext uri="{FF2B5EF4-FFF2-40B4-BE49-F238E27FC236}">
                <a16:creationId xmlns:a16="http://schemas.microsoft.com/office/drawing/2014/main" id="{D3CC8125-DF28-4555-83F9-EE8F67FCA74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30925" y="3871913"/>
          <a:ext cx="233363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9811" name="公式" r:id="rId21" imgW="257194" imgH="352391" progId="Equation.3">
                  <p:embed/>
                </p:oleObj>
              </mc:Choice>
              <mc:Fallback>
                <p:oleObj name="公式" r:id="rId21" imgW="257194" imgH="352391" progId="Equation.3">
                  <p:embed/>
                  <p:pic>
                    <p:nvPicPr>
                      <p:cNvPr id="103442" name="Object 18">
                        <a:extLst>
                          <a:ext uri="{FF2B5EF4-FFF2-40B4-BE49-F238E27FC236}">
                            <a16:creationId xmlns:a16="http://schemas.microsoft.com/office/drawing/2014/main" id="{D3CC8125-DF28-4555-83F9-EE8F67FCA74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30925" y="3871913"/>
                        <a:ext cx="233363" cy="314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443" name="Text Box 19">
            <a:extLst>
              <a:ext uri="{FF2B5EF4-FFF2-40B4-BE49-F238E27FC236}">
                <a16:creationId xmlns:a16="http://schemas.microsoft.com/office/drawing/2014/main" id="{74BE8235-F6B9-49BD-B095-8402E8AB65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5948363"/>
            <a:ext cx="44005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取决于波面上 </a:t>
            </a:r>
            <a:r>
              <a:rPr lang="en-US" altLang="zh-CN">
                <a:solidFill>
                  <a:srgbClr val="66FFFF"/>
                </a:solidFill>
              </a:rPr>
              <a:t>d</a:t>
            </a:r>
            <a:r>
              <a:rPr lang="en-US" altLang="zh-CN" i="1">
                <a:solidFill>
                  <a:srgbClr val="66FFFF"/>
                </a:solidFill>
              </a:rPr>
              <a:t>S 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处波的强度</a:t>
            </a:r>
            <a:r>
              <a:rPr lang="en-US" altLang="zh-CN">
                <a:solidFill>
                  <a:schemeClr val="bg1"/>
                </a:solidFill>
                <a:latin typeface="宋体" panose="02010600030101010101" pitchFamily="2" charset="-122"/>
              </a:rPr>
              <a:t>,</a:t>
            </a:r>
            <a:endParaRPr lang="en-US" altLang="zh-CN" b="0">
              <a:solidFill>
                <a:schemeClr val="bg1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103444" name="Object 20">
            <a:extLst>
              <a:ext uri="{FF2B5EF4-FFF2-40B4-BE49-F238E27FC236}">
                <a16:creationId xmlns:a16="http://schemas.microsoft.com/office/drawing/2014/main" id="{3EB56C2B-9A46-407E-92C7-644DF838B27C}"/>
              </a:ext>
            </a:extLst>
          </p:cNvPr>
          <p:cNvGraphicFramePr>
            <a:graphicFrameLocks/>
          </p:cNvGraphicFramePr>
          <p:nvPr/>
        </p:nvGraphicFramePr>
        <p:xfrm>
          <a:off x="882650" y="6008688"/>
          <a:ext cx="730250" cy="354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9812" name="公式" r:id="rId23" imgW="771582" imgH="352391" progId="Equation.3">
                  <p:embed/>
                </p:oleObj>
              </mc:Choice>
              <mc:Fallback>
                <p:oleObj name="公式" r:id="rId23" imgW="771582" imgH="352391" progId="Equation.3">
                  <p:embed/>
                  <p:pic>
                    <p:nvPicPr>
                      <p:cNvPr id="103444" name="Object 20">
                        <a:extLst>
                          <a:ext uri="{FF2B5EF4-FFF2-40B4-BE49-F238E27FC236}">
                            <a16:creationId xmlns:a16="http://schemas.microsoft.com/office/drawing/2014/main" id="{3EB56C2B-9A46-407E-92C7-644DF838B27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2650" y="6008688"/>
                        <a:ext cx="730250" cy="354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445" name="Rectangle 21">
            <a:extLst>
              <a:ext uri="{FF2B5EF4-FFF2-40B4-BE49-F238E27FC236}">
                <a16:creationId xmlns:a16="http://schemas.microsoft.com/office/drawing/2014/main" id="{543AE1B4-2F3F-4D5C-BC28-0CAD175361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5948363"/>
            <a:ext cx="1728788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为倾斜因子</a:t>
            </a:r>
            <a:endParaRPr lang="en-US" altLang="zh-CN">
              <a:solidFill>
                <a:schemeClr val="bg1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103446" name="Object 22">
            <a:extLst>
              <a:ext uri="{FF2B5EF4-FFF2-40B4-BE49-F238E27FC236}">
                <a16:creationId xmlns:a16="http://schemas.microsoft.com/office/drawing/2014/main" id="{500B4882-251F-4BFE-84D0-D611D3FA7EA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46775" y="6013450"/>
          <a:ext cx="696913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9813" name="公式" r:id="rId25" imgW="657206" imgH="352391" progId="Equation.3">
                  <p:embed/>
                </p:oleObj>
              </mc:Choice>
              <mc:Fallback>
                <p:oleObj name="公式" r:id="rId25" imgW="657206" imgH="352391" progId="Equation.3">
                  <p:embed/>
                  <p:pic>
                    <p:nvPicPr>
                      <p:cNvPr id="103446" name="Object 22">
                        <a:extLst>
                          <a:ext uri="{FF2B5EF4-FFF2-40B4-BE49-F238E27FC236}">
                            <a16:creationId xmlns:a16="http://schemas.microsoft.com/office/drawing/2014/main" id="{500B4882-251F-4BFE-84D0-D611D3FA7EA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6775" y="6013450"/>
                        <a:ext cx="696913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25">
            <a:extLst>
              <a:ext uri="{FF2B5EF4-FFF2-40B4-BE49-F238E27FC236}">
                <a16:creationId xmlns:a16="http://schemas.microsoft.com/office/drawing/2014/main" id="{2FEA225E-0266-4EEC-9C2A-0E695BAB9143}"/>
              </a:ext>
            </a:extLst>
          </p:cNvPr>
          <p:cNvGrpSpPr>
            <a:grpSpLocks/>
          </p:cNvGrpSpPr>
          <p:nvPr/>
        </p:nvGrpSpPr>
        <p:grpSpPr bwMode="auto">
          <a:xfrm>
            <a:off x="6316663" y="3217863"/>
            <a:ext cx="1001712" cy="1512887"/>
            <a:chOff x="2485" y="90"/>
            <a:chExt cx="1392" cy="1758"/>
          </a:xfrm>
        </p:grpSpPr>
        <p:sp>
          <p:nvSpPr>
            <p:cNvPr id="22563" name="Freeform 26">
              <a:extLst>
                <a:ext uri="{FF2B5EF4-FFF2-40B4-BE49-F238E27FC236}">
                  <a16:creationId xmlns:a16="http://schemas.microsoft.com/office/drawing/2014/main" id="{7B1A2578-9CA6-4374-87C3-639E36E0D103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485" y="124"/>
              <a:ext cx="588" cy="1667"/>
            </a:xfrm>
            <a:custGeom>
              <a:avLst/>
              <a:gdLst>
                <a:gd name="T0" fmla="*/ 0 w 822"/>
                <a:gd name="T1" fmla="*/ 0 h 2835"/>
                <a:gd name="T2" fmla="*/ 1 w 822"/>
                <a:gd name="T3" fmla="*/ 1 h 2835"/>
                <a:gd name="T4" fmla="*/ 1 w 822"/>
                <a:gd name="T5" fmla="*/ 1 h 2835"/>
                <a:gd name="T6" fmla="*/ 0 60000 65536"/>
                <a:gd name="T7" fmla="*/ 0 60000 65536"/>
                <a:gd name="T8" fmla="*/ 0 60000 65536"/>
                <a:gd name="T9" fmla="*/ 0 w 822"/>
                <a:gd name="T10" fmla="*/ 0 h 2835"/>
                <a:gd name="T11" fmla="*/ 822 w 822"/>
                <a:gd name="T12" fmla="*/ 2835 h 283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22" h="2835">
                  <a:moveTo>
                    <a:pt x="0" y="0"/>
                  </a:moveTo>
                  <a:cubicBezTo>
                    <a:pt x="243" y="373"/>
                    <a:pt x="487" y="747"/>
                    <a:pt x="624" y="1219"/>
                  </a:cubicBezTo>
                  <a:cubicBezTo>
                    <a:pt x="761" y="1691"/>
                    <a:pt x="789" y="2566"/>
                    <a:pt x="822" y="2835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64" name="Freeform 27">
              <a:extLst>
                <a:ext uri="{FF2B5EF4-FFF2-40B4-BE49-F238E27FC236}">
                  <a16:creationId xmlns:a16="http://schemas.microsoft.com/office/drawing/2014/main" id="{AC59B20C-82BE-47B3-BA23-3AAF1DBF647F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895" y="90"/>
              <a:ext cx="549" cy="1701"/>
            </a:xfrm>
            <a:custGeom>
              <a:avLst/>
              <a:gdLst>
                <a:gd name="T0" fmla="*/ 0 w 793"/>
                <a:gd name="T1" fmla="*/ 0 h 2806"/>
                <a:gd name="T2" fmla="*/ 1 w 793"/>
                <a:gd name="T3" fmla="*/ 1 h 2806"/>
                <a:gd name="T4" fmla="*/ 1 w 793"/>
                <a:gd name="T5" fmla="*/ 1 h 2806"/>
                <a:gd name="T6" fmla="*/ 1 w 793"/>
                <a:gd name="T7" fmla="*/ 1 h 280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93"/>
                <a:gd name="T13" fmla="*/ 0 h 2806"/>
                <a:gd name="T14" fmla="*/ 793 w 793"/>
                <a:gd name="T15" fmla="*/ 2806 h 280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93" h="2806">
                  <a:moveTo>
                    <a:pt x="0" y="0"/>
                  </a:moveTo>
                  <a:cubicBezTo>
                    <a:pt x="182" y="264"/>
                    <a:pt x="364" y="529"/>
                    <a:pt x="482" y="822"/>
                  </a:cubicBezTo>
                  <a:cubicBezTo>
                    <a:pt x="600" y="1115"/>
                    <a:pt x="656" y="1426"/>
                    <a:pt x="708" y="1757"/>
                  </a:cubicBezTo>
                  <a:cubicBezTo>
                    <a:pt x="760" y="2088"/>
                    <a:pt x="779" y="2631"/>
                    <a:pt x="793" y="2806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65" name="Freeform 28">
              <a:extLst>
                <a:ext uri="{FF2B5EF4-FFF2-40B4-BE49-F238E27FC236}">
                  <a16:creationId xmlns:a16="http://schemas.microsoft.com/office/drawing/2014/main" id="{CEA0A383-E68C-4D04-A516-DA12FA8ABD5A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325" y="140"/>
              <a:ext cx="552" cy="1708"/>
            </a:xfrm>
            <a:custGeom>
              <a:avLst/>
              <a:gdLst>
                <a:gd name="T0" fmla="*/ 0 w 793"/>
                <a:gd name="T1" fmla="*/ 0 h 2806"/>
                <a:gd name="T2" fmla="*/ 1 w 793"/>
                <a:gd name="T3" fmla="*/ 1 h 2806"/>
                <a:gd name="T4" fmla="*/ 1 w 793"/>
                <a:gd name="T5" fmla="*/ 1 h 2806"/>
                <a:gd name="T6" fmla="*/ 1 w 793"/>
                <a:gd name="T7" fmla="*/ 1 h 280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93"/>
                <a:gd name="T13" fmla="*/ 0 h 2806"/>
                <a:gd name="T14" fmla="*/ 793 w 793"/>
                <a:gd name="T15" fmla="*/ 2806 h 280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93" h="2806">
                  <a:moveTo>
                    <a:pt x="0" y="0"/>
                  </a:moveTo>
                  <a:cubicBezTo>
                    <a:pt x="182" y="264"/>
                    <a:pt x="364" y="529"/>
                    <a:pt x="482" y="822"/>
                  </a:cubicBezTo>
                  <a:cubicBezTo>
                    <a:pt x="600" y="1115"/>
                    <a:pt x="656" y="1426"/>
                    <a:pt x="708" y="1757"/>
                  </a:cubicBezTo>
                  <a:cubicBezTo>
                    <a:pt x="760" y="2088"/>
                    <a:pt x="779" y="2631"/>
                    <a:pt x="793" y="2806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03453" name="Freeform 29">
            <a:extLst>
              <a:ext uri="{FF2B5EF4-FFF2-40B4-BE49-F238E27FC236}">
                <a16:creationId xmlns:a16="http://schemas.microsoft.com/office/drawing/2014/main" id="{9A6B9174-9DE0-4B33-B6ED-F0BE105E4C9E}"/>
              </a:ext>
            </a:extLst>
          </p:cNvPr>
          <p:cNvSpPr>
            <a:spLocks/>
          </p:cNvSpPr>
          <p:nvPr/>
        </p:nvSpPr>
        <p:spPr bwMode="auto">
          <a:xfrm>
            <a:off x="6916738" y="3889375"/>
            <a:ext cx="379412" cy="406400"/>
          </a:xfrm>
          <a:custGeom>
            <a:avLst/>
            <a:gdLst>
              <a:gd name="T0" fmla="*/ 2147483646 w 239"/>
              <a:gd name="T1" fmla="*/ 2147483646 h 256"/>
              <a:gd name="T2" fmla="*/ 2147483646 w 239"/>
              <a:gd name="T3" fmla="*/ 0 h 256"/>
              <a:gd name="T4" fmla="*/ 2147483646 w 239"/>
              <a:gd name="T5" fmla="*/ 2147483646 h 256"/>
              <a:gd name="T6" fmla="*/ 2147483646 w 239"/>
              <a:gd name="T7" fmla="*/ 2147483646 h 256"/>
              <a:gd name="T8" fmla="*/ 2147483646 w 239"/>
              <a:gd name="T9" fmla="*/ 2147483646 h 256"/>
              <a:gd name="T10" fmla="*/ 2147483646 w 239"/>
              <a:gd name="T11" fmla="*/ 2147483646 h 256"/>
              <a:gd name="T12" fmla="*/ 2147483646 w 239"/>
              <a:gd name="T13" fmla="*/ 2147483646 h 256"/>
              <a:gd name="T14" fmla="*/ 2147483646 w 239"/>
              <a:gd name="T15" fmla="*/ 2147483646 h 256"/>
              <a:gd name="T16" fmla="*/ 2147483646 w 239"/>
              <a:gd name="T17" fmla="*/ 2147483646 h 256"/>
              <a:gd name="T18" fmla="*/ 2147483646 w 239"/>
              <a:gd name="T19" fmla="*/ 2147483646 h 256"/>
              <a:gd name="T20" fmla="*/ 2147483646 w 239"/>
              <a:gd name="T21" fmla="*/ 2147483646 h 256"/>
              <a:gd name="T22" fmla="*/ 2147483646 w 239"/>
              <a:gd name="T23" fmla="*/ 2147483646 h 256"/>
              <a:gd name="T24" fmla="*/ 2147483646 w 239"/>
              <a:gd name="T25" fmla="*/ 2147483646 h 256"/>
              <a:gd name="T26" fmla="*/ 2147483646 w 239"/>
              <a:gd name="T27" fmla="*/ 2147483646 h 256"/>
              <a:gd name="T28" fmla="*/ 2147483646 w 239"/>
              <a:gd name="T29" fmla="*/ 2147483646 h 256"/>
              <a:gd name="T30" fmla="*/ 2147483646 w 239"/>
              <a:gd name="T31" fmla="*/ 2147483646 h 25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239"/>
              <a:gd name="T49" fmla="*/ 0 h 256"/>
              <a:gd name="T50" fmla="*/ 239 w 239"/>
              <a:gd name="T51" fmla="*/ 256 h 25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239" h="256">
                <a:moveTo>
                  <a:pt x="3" y="2"/>
                </a:moveTo>
                <a:cubicBezTo>
                  <a:pt x="11" y="2"/>
                  <a:pt x="24" y="1"/>
                  <a:pt x="33" y="0"/>
                </a:cubicBezTo>
                <a:cubicBezTo>
                  <a:pt x="40" y="0"/>
                  <a:pt x="52" y="4"/>
                  <a:pt x="59" y="4"/>
                </a:cubicBezTo>
                <a:cubicBezTo>
                  <a:pt x="96" y="5"/>
                  <a:pt x="73" y="7"/>
                  <a:pt x="114" y="9"/>
                </a:cubicBezTo>
                <a:cubicBezTo>
                  <a:pt x="143" y="16"/>
                  <a:pt x="167" y="21"/>
                  <a:pt x="194" y="35"/>
                </a:cubicBezTo>
                <a:cubicBezTo>
                  <a:pt x="199" y="37"/>
                  <a:pt x="205" y="37"/>
                  <a:pt x="206" y="45"/>
                </a:cubicBezTo>
                <a:cubicBezTo>
                  <a:pt x="207" y="63"/>
                  <a:pt x="216" y="79"/>
                  <a:pt x="217" y="98"/>
                </a:cubicBezTo>
                <a:cubicBezTo>
                  <a:pt x="217" y="114"/>
                  <a:pt x="225" y="126"/>
                  <a:pt x="225" y="142"/>
                </a:cubicBezTo>
                <a:cubicBezTo>
                  <a:pt x="226" y="150"/>
                  <a:pt x="231" y="184"/>
                  <a:pt x="231" y="184"/>
                </a:cubicBezTo>
                <a:cubicBezTo>
                  <a:pt x="230" y="191"/>
                  <a:pt x="239" y="254"/>
                  <a:pt x="237" y="250"/>
                </a:cubicBezTo>
                <a:cubicBezTo>
                  <a:pt x="216" y="256"/>
                  <a:pt x="175" y="232"/>
                  <a:pt x="149" y="226"/>
                </a:cubicBezTo>
                <a:cubicBezTo>
                  <a:pt x="118" y="221"/>
                  <a:pt x="71" y="219"/>
                  <a:pt x="39" y="214"/>
                </a:cubicBezTo>
                <a:cubicBezTo>
                  <a:pt x="36" y="215"/>
                  <a:pt x="44" y="214"/>
                  <a:pt x="41" y="212"/>
                </a:cubicBezTo>
                <a:cubicBezTo>
                  <a:pt x="40" y="205"/>
                  <a:pt x="37" y="196"/>
                  <a:pt x="33" y="172"/>
                </a:cubicBezTo>
                <a:cubicBezTo>
                  <a:pt x="29" y="148"/>
                  <a:pt x="22" y="95"/>
                  <a:pt x="19" y="70"/>
                </a:cubicBezTo>
                <a:cubicBezTo>
                  <a:pt x="14" y="42"/>
                  <a:pt x="0" y="13"/>
                  <a:pt x="3" y="2"/>
                </a:cubicBezTo>
                <a:close/>
              </a:path>
            </a:pathLst>
          </a:cu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" name="Group 30">
            <a:extLst>
              <a:ext uri="{FF2B5EF4-FFF2-40B4-BE49-F238E27FC236}">
                <a16:creationId xmlns:a16="http://schemas.microsoft.com/office/drawing/2014/main" id="{0C1CF70E-04E1-49C7-AD64-167B1D3A2F5A}"/>
              </a:ext>
            </a:extLst>
          </p:cNvPr>
          <p:cNvGrpSpPr>
            <a:grpSpLocks/>
          </p:cNvGrpSpPr>
          <p:nvPr/>
        </p:nvGrpSpPr>
        <p:grpSpPr bwMode="auto">
          <a:xfrm>
            <a:off x="6256338" y="3295650"/>
            <a:ext cx="1160462" cy="1360488"/>
            <a:chOff x="2313" y="321"/>
            <a:chExt cx="1818" cy="1299"/>
          </a:xfrm>
        </p:grpSpPr>
        <p:sp>
          <p:nvSpPr>
            <p:cNvPr id="22558" name="Freeform 31">
              <a:extLst>
                <a:ext uri="{FF2B5EF4-FFF2-40B4-BE49-F238E27FC236}">
                  <a16:creationId xmlns:a16="http://schemas.microsoft.com/office/drawing/2014/main" id="{9BD529CB-6FD7-43DB-9349-82DAC105719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313" y="321"/>
              <a:ext cx="1529" cy="116"/>
            </a:xfrm>
            <a:custGeom>
              <a:avLst/>
              <a:gdLst>
                <a:gd name="T0" fmla="*/ 0 w 2041"/>
                <a:gd name="T1" fmla="*/ 1 h 208"/>
                <a:gd name="T2" fmla="*/ 1 w 2041"/>
                <a:gd name="T3" fmla="*/ 1 h 208"/>
                <a:gd name="T4" fmla="*/ 1 w 2041"/>
                <a:gd name="T5" fmla="*/ 1 h 208"/>
                <a:gd name="T6" fmla="*/ 1 w 2041"/>
                <a:gd name="T7" fmla="*/ 1 h 208"/>
                <a:gd name="T8" fmla="*/ 1 w 2041"/>
                <a:gd name="T9" fmla="*/ 1 h 20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41"/>
                <a:gd name="T16" fmla="*/ 0 h 208"/>
                <a:gd name="T17" fmla="*/ 2041 w 2041"/>
                <a:gd name="T18" fmla="*/ 208 h 20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41" h="208">
                  <a:moveTo>
                    <a:pt x="0" y="208"/>
                  </a:moveTo>
                  <a:cubicBezTo>
                    <a:pt x="200" y="139"/>
                    <a:pt x="401" y="71"/>
                    <a:pt x="595" y="38"/>
                  </a:cubicBezTo>
                  <a:cubicBezTo>
                    <a:pt x="789" y="5"/>
                    <a:pt x="978" y="0"/>
                    <a:pt x="1162" y="9"/>
                  </a:cubicBezTo>
                  <a:cubicBezTo>
                    <a:pt x="1346" y="18"/>
                    <a:pt x="1554" y="61"/>
                    <a:pt x="1701" y="94"/>
                  </a:cubicBezTo>
                  <a:cubicBezTo>
                    <a:pt x="1848" y="127"/>
                    <a:pt x="1984" y="189"/>
                    <a:pt x="2041" y="208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59" name="Freeform 32">
              <a:extLst>
                <a:ext uri="{FF2B5EF4-FFF2-40B4-BE49-F238E27FC236}">
                  <a16:creationId xmlns:a16="http://schemas.microsoft.com/office/drawing/2014/main" id="{BFBEA553-CA71-49FA-9CBF-7D71AADBA6A8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485" y="568"/>
              <a:ext cx="1486" cy="115"/>
            </a:xfrm>
            <a:custGeom>
              <a:avLst/>
              <a:gdLst>
                <a:gd name="T0" fmla="*/ 0 w 2041"/>
                <a:gd name="T1" fmla="*/ 1 h 208"/>
                <a:gd name="T2" fmla="*/ 1 w 2041"/>
                <a:gd name="T3" fmla="*/ 1 h 208"/>
                <a:gd name="T4" fmla="*/ 1 w 2041"/>
                <a:gd name="T5" fmla="*/ 1 h 208"/>
                <a:gd name="T6" fmla="*/ 1 w 2041"/>
                <a:gd name="T7" fmla="*/ 1 h 208"/>
                <a:gd name="T8" fmla="*/ 1 w 2041"/>
                <a:gd name="T9" fmla="*/ 1 h 20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41"/>
                <a:gd name="T16" fmla="*/ 0 h 208"/>
                <a:gd name="T17" fmla="*/ 2041 w 2041"/>
                <a:gd name="T18" fmla="*/ 208 h 20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41" h="208">
                  <a:moveTo>
                    <a:pt x="0" y="208"/>
                  </a:moveTo>
                  <a:cubicBezTo>
                    <a:pt x="200" y="139"/>
                    <a:pt x="401" y="71"/>
                    <a:pt x="595" y="38"/>
                  </a:cubicBezTo>
                  <a:cubicBezTo>
                    <a:pt x="789" y="5"/>
                    <a:pt x="978" y="0"/>
                    <a:pt x="1162" y="9"/>
                  </a:cubicBezTo>
                  <a:cubicBezTo>
                    <a:pt x="1346" y="18"/>
                    <a:pt x="1554" y="61"/>
                    <a:pt x="1701" y="94"/>
                  </a:cubicBezTo>
                  <a:cubicBezTo>
                    <a:pt x="1848" y="127"/>
                    <a:pt x="1984" y="189"/>
                    <a:pt x="2041" y="208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60" name="Freeform 33">
              <a:extLst>
                <a:ext uri="{FF2B5EF4-FFF2-40B4-BE49-F238E27FC236}">
                  <a16:creationId xmlns:a16="http://schemas.microsoft.com/office/drawing/2014/main" id="{AE579A1C-871C-477F-A941-E99B45B04FFB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578" y="881"/>
              <a:ext cx="1493" cy="117"/>
            </a:xfrm>
            <a:custGeom>
              <a:avLst/>
              <a:gdLst>
                <a:gd name="T0" fmla="*/ 0 w 2041"/>
                <a:gd name="T1" fmla="*/ 1 h 208"/>
                <a:gd name="T2" fmla="*/ 1 w 2041"/>
                <a:gd name="T3" fmla="*/ 1 h 208"/>
                <a:gd name="T4" fmla="*/ 1 w 2041"/>
                <a:gd name="T5" fmla="*/ 1 h 208"/>
                <a:gd name="T6" fmla="*/ 1 w 2041"/>
                <a:gd name="T7" fmla="*/ 1 h 208"/>
                <a:gd name="T8" fmla="*/ 1 w 2041"/>
                <a:gd name="T9" fmla="*/ 1 h 20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41"/>
                <a:gd name="T16" fmla="*/ 0 h 208"/>
                <a:gd name="T17" fmla="*/ 2041 w 2041"/>
                <a:gd name="T18" fmla="*/ 208 h 20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41" h="208">
                  <a:moveTo>
                    <a:pt x="0" y="208"/>
                  </a:moveTo>
                  <a:cubicBezTo>
                    <a:pt x="200" y="139"/>
                    <a:pt x="401" y="71"/>
                    <a:pt x="595" y="38"/>
                  </a:cubicBezTo>
                  <a:cubicBezTo>
                    <a:pt x="789" y="5"/>
                    <a:pt x="978" y="0"/>
                    <a:pt x="1162" y="9"/>
                  </a:cubicBezTo>
                  <a:cubicBezTo>
                    <a:pt x="1346" y="18"/>
                    <a:pt x="1554" y="61"/>
                    <a:pt x="1701" y="94"/>
                  </a:cubicBezTo>
                  <a:cubicBezTo>
                    <a:pt x="1848" y="127"/>
                    <a:pt x="1984" y="189"/>
                    <a:pt x="2041" y="208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61" name="Freeform 34">
              <a:extLst>
                <a:ext uri="{FF2B5EF4-FFF2-40B4-BE49-F238E27FC236}">
                  <a16:creationId xmlns:a16="http://schemas.microsoft.com/office/drawing/2014/main" id="{790D6FD1-377D-43AB-93C9-DE7902C98175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657" y="1210"/>
              <a:ext cx="1464" cy="115"/>
            </a:xfrm>
            <a:custGeom>
              <a:avLst/>
              <a:gdLst>
                <a:gd name="T0" fmla="*/ 0 w 2041"/>
                <a:gd name="T1" fmla="*/ 1 h 208"/>
                <a:gd name="T2" fmla="*/ 1 w 2041"/>
                <a:gd name="T3" fmla="*/ 1 h 208"/>
                <a:gd name="T4" fmla="*/ 1 w 2041"/>
                <a:gd name="T5" fmla="*/ 1 h 208"/>
                <a:gd name="T6" fmla="*/ 1 w 2041"/>
                <a:gd name="T7" fmla="*/ 1 h 208"/>
                <a:gd name="T8" fmla="*/ 1 w 2041"/>
                <a:gd name="T9" fmla="*/ 1 h 20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41"/>
                <a:gd name="T16" fmla="*/ 0 h 208"/>
                <a:gd name="T17" fmla="*/ 2041 w 2041"/>
                <a:gd name="T18" fmla="*/ 208 h 20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41" h="208">
                  <a:moveTo>
                    <a:pt x="0" y="208"/>
                  </a:moveTo>
                  <a:cubicBezTo>
                    <a:pt x="200" y="139"/>
                    <a:pt x="401" y="71"/>
                    <a:pt x="595" y="38"/>
                  </a:cubicBezTo>
                  <a:cubicBezTo>
                    <a:pt x="789" y="5"/>
                    <a:pt x="978" y="0"/>
                    <a:pt x="1162" y="9"/>
                  </a:cubicBezTo>
                  <a:cubicBezTo>
                    <a:pt x="1346" y="18"/>
                    <a:pt x="1554" y="61"/>
                    <a:pt x="1701" y="94"/>
                  </a:cubicBezTo>
                  <a:cubicBezTo>
                    <a:pt x="1848" y="127"/>
                    <a:pt x="1984" y="189"/>
                    <a:pt x="2041" y="208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62" name="Freeform 35">
              <a:extLst>
                <a:ext uri="{FF2B5EF4-FFF2-40B4-BE49-F238E27FC236}">
                  <a16:creationId xmlns:a16="http://schemas.microsoft.com/office/drawing/2014/main" id="{A03AAE67-24C6-486D-92EC-849E7D7F097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710" y="1510"/>
              <a:ext cx="1421" cy="110"/>
            </a:xfrm>
            <a:custGeom>
              <a:avLst/>
              <a:gdLst>
                <a:gd name="T0" fmla="*/ 0 w 1871"/>
                <a:gd name="T1" fmla="*/ 2 h 132"/>
                <a:gd name="T2" fmla="*/ 2 w 1871"/>
                <a:gd name="T3" fmla="*/ 2 h 132"/>
                <a:gd name="T4" fmla="*/ 2 w 1871"/>
                <a:gd name="T5" fmla="*/ 2 h 132"/>
                <a:gd name="T6" fmla="*/ 2 w 1871"/>
                <a:gd name="T7" fmla="*/ 2 h 132"/>
                <a:gd name="T8" fmla="*/ 2 w 1871"/>
                <a:gd name="T9" fmla="*/ 2 h 1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871"/>
                <a:gd name="T16" fmla="*/ 0 h 132"/>
                <a:gd name="T17" fmla="*/ 1871 w 1871"/>
                <a:gd name="T18" fmla="*/ 132 h 13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871" h="132">
                  <a:moveTo>
                    <a:pt x="0" y="132"/>
                  </a:moveTo>
                  <a:cubicBezTo>
                    <a:pt x="203" y="85"/>
                    <a:pt x="407" y="38"/>
                    <a:pt x="596" y="19"/>
                  </a:cubicBezTo>
                  <a:cubicBezTo>
                    <a:pt x="785" y="0"/>
                    <a:pt x="973" y="10"/>
                    <a:pt x="1134" y="19"/>
                  </a:cubicBezTo>
                  <a:cubicBezTo>
                    <a:pt x="1295" y="28"/>
                    <a:pt x="1437" y="57"/>
                    <a:pt x="1560" y="76"/>
                  </a:cubicBezTo>
                  <a:cubicBezTo>
                    <a:pt x="1683" y="95"/>
                    <a:pt x="1819" y="123"/>
                    <a:pt x="1871" y="132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03460" name="Line 36">
            <a:extLst>
              <a:ext uri="{FF2B5EF4-FFF2-40B4-BE49-F238E27FC236}">
                <a16:creationId xmlns:a16="http://schemas.microsoft.com/office/drawing/2014/main" id="{E0A11627-F43A-48CF-A723-101A2037888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40575" y="3643313"/>
            <a:ext cx="1143000" cy="45720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sp>
        <p:nvSpPr>
          <p:cNvPr id="103461" name="Line 37">
            <a:extLst>
              <a:ext uri="{FF2B5EF4-FFF2-40B4-BE49-F238E27FC236}">
                <a16:creationId xmlns:a16="http://schemas.microsoft.com/office/drawing/2014/main" id="{6D9F9A42-C362-4847-9661-258B9740F8C1}"/>
              </a:ext>
            </a:extLst>
          </p:cNvPr>
          <p:cNvSpPr>
            <a:spLocks noChangeShapeType="1"/>
          </p:cNvSpPr>
          <p:nvPr/>
        </p:nvSpPr>
        <p:spPr bwMode="auto">
          <a:xfrm>
            <a:off x="7140575" y="4090988"/>
            <a:ext cx="1390650" cy="388937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sp>
        <p:nvSpPr>
          <p:cNvPr id="103462" name="Text Box 38">
            <a:extLst>
              <a:ext uri="{FF2B5EF4-FFF2-40B4-BE49-F238E27FC236}">
                <a16:creationId xmlns:a16="http://schemas.microsoft.com/office/drawing/2014/main" id="{DE442F17-DFB4-452C-A6A6-28B48E0639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188" y="333375"/>
            <a:ext cx="758666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dirty="0">
                <a:solidFill>
                  <a:srgbClr val="FFFF00"/>
                </a:solidFill>
              </a:rPr>
              <a:t>三</a:t>
            </a:r>
            <a:r>
              <a:rPr lang="en-US" altLang="zh-CN" dirty="0">
                <a:solidFill>
                  <a:srgbClr val="FFFF00"/>
                </a:solidFill>
              </a:rPr>
              <a:t>. </a:t>
            </a:r>
            <a:r>
              <a:rPr lang="zh-CN" altLang="en-US" dirty="0">
                <a:solidFill>
                  <a:srgbClr val="FFFF00"/>
                </a:solidFill>
                <a:latin typeface="黑体" panose="02010609060101010101" pitchFamily="49" charset="-122"/>
              </a:rPr>
              <a:t>惠更斯</a:t>
            </a:r>
            <a:r>
              <a:rPr lang="en-US" altLang="zh-CN" b="0" dirty="0">
                <a:solidFill>
                  <a:srgbClr val="FFFF00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dirty="0">
                <a:solidFill>
                  <a:srgbClr val="FFFF00"/>
                </a:solidFill>
                <a:latin typeface="黑体" panose="02010609060101010101" pitchFamily="49" charset="-122"/>
              </a:rPr>
              <a:t>菲涅耳原理</a:t>
            </a:r>
            <a:r>
              <a:rPr lang="zh-CN" altLang="en-US" sz="2000" dirty="0">
                <a:solidFill>
                  <a:schemeClr val="bg1"/>
                </a:solidFill>
                <a:latin typeface="黑体" panose="02010609060101010101" pitchFamily="49" charset="-122"/>
              </a:rPr>
              <a:t>（</a:t>
            </a:r>
            <a:r>
              <a:rPr lang="en-US" altLang="zh-CN" sz="2000" dirty="0">
                <a:solidFill>
                  <a:schemeClr val="bg1"/>
                </a:solidFill>
                <a:latin typeface="黑体" panose="02010609060101010101" pitchFamily="49" charset="-122"/>
              </a:rPr>
              <a:t>1815</a:t>
            </a:r>
            <a:r>
              <a:rPr lang="zh-CN" altLang="en-US" sz="2000" dirty="0">
                <a:solidFill>
                  <a:schemeClr val="bg1"/>
                </a:solidFill>
                <a:latin typeface="黑体" panose="02010609060101010101" pitchFamily="49" charset="-122"/>
              </a:rPr>
              <a:t>年，法国物理学家菲涅耳）  </a:t>
            </a:r>
            <a:endParaRPr lang="zh-CN" altLang="en-US" sz="2000" dirty="0">
              <a:solidFill>
                <a:schemeClr val="bg1"/>
              </a:solidFill>
              <a:latin typeface="宋体" panose="02010600030101010101" pitchFamily="2" charset="-122"/>
            </a:endParaRPr>
          </a:p>
        </p:txBody>
      </p:sp>
      <p:sp>
        <p:nvSpPr>
          <p:cNvPr id="22557" name="灯片编号占位符 1">
            <a:extLst>
              <a:ext uri="{FF2B5EF4-FFF2-40B4-BE49-F238E27FC236}">
                <a16:creationId xmlns:a16="http://schemas.microsoft.com/office/drawing/2014/main" id="{032817E1-2708-4B0F-B043-3DB091D6DDE4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6194851-4E9C-48DD-BCA7-E88602F770C6}" type="slidenum">
              <a:rPr lang="en-US" altLang="zh-CN" b="0">
                <a:solidFill>
                  <a:srgbClr val="FF00FF"/>
                </a:solidFill>
              </a:rPr>
              <a:pPr eaLnBrk="1" hangingPunct="1"/>
              <a:t>21</a:t>
            </a:fld>
            <a:r>
              <a:rPr lang="en-US" altLang="zh-CN" b="0">
                <a:solidFill>
                  <a:srgbClr val="FF00FF"/>
                </a:solidFill>
              </a:rPr>
              <a:t>/24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3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3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3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3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3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3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03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03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103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500"/>
                            </p:stCondLst>
                            <p:childTnLst>
                              <p:par>
                                <p:cTn id="4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03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03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103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03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03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7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03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03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103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103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03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1034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1034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1034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1034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103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103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103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103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427" grpId="0" autoUpdateAnimBg="0"/>
      <p:bldP spid="103428" grpId="0" autoUpdateAnimBg="0"/>
      <p:bldP spid="103430" grpId="0" autoUpdateAnimBg="0"/>
      <p:bldP spid="103431" grpId="0" autoUpdateAnimBg="0"/>
      <p:bldP spid="103432" grpId="0" autoUpdateAnimBg="0"/>
      <p:bldP spid="103443" grpId="0" autoUpdateAnimBg="0"/>
      <p:bldP spid="103445" grpId="0" autoUpdateAnimBg="0"/>
      <p:bldP spid="103462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4452" name="Object 4">
            <a:extLst>
              <a:ext uri="{FF2B5EF4-FFF2-40B4-BE49-F238E27FC236}">
                <a16:creationId xmlns:a16="http://schemas.microsoft.com/office/drawing/2014/main" id="{1B81711B-7C92-4837-85B5-C0749E5A7F6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28688" y="639763"/>
          <a:ext cx="248602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827" name="公式" r:id="rId3" imgW="1285971" imgH="190432" progId="Equation.3">
                  <p:embed/>
                </p:oleObj>
              </mc:Choice>
              <mc:Fallback>
                <p:oleObj name="公式" r:id="rId3" imgW="1285971" imgH="190432" progId="Equation.3">
                  <p:embed/>
                  <p:pic>
                    <p:nvPicPr>
                      <p:cNvPr id="104452" name="Object 4">
                        <a:extLst>
                          <a:ext uri="{FF2B5EF4-FFF2-40B4-BE49-F238E27FC236}">
                            <a16:creationId xmlns:a16="http://schemas.microsoft.com/office/drawing/2014/main" id="{1B81711B-7C92-4837-85B5-C0749E5A7F6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8688" y="639763"/>
                        <a:ext cx="2486025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454" name="Object 6">
            <a:extLst>
              <a:ext uri="{FF2B5EF4-FFF2-40B4-BE49-F238E27FC236}">
                <a16:creationId xmlns:a16="http://schemas.microsoft.com/office/drawing/2014/main" id="{6983D8EA-FEE4-4B08-8A97-2E909EBCF35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1500" y="2786063"/>
          <a:ext cx="4999038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828" name="公式" r:id="rId5" imgW="2562155" imgH="352391" progId="Equation.3">
                  <p:embed/>
                </p:oleObj>
              </mc:Choice>
              <mc:Fallback>
                <p:oleObj name="公式" r:id="rId5" imgW="2562155" imgH="352391" progId="Equation.3">
                  <p:embed/>
                  <p:pic>
                    <p:nvPicPr>
                      <p:cNvPr id="104454" name="Object 6">
                        <a:extLst>
                          <a:ext uri="{FF2B5EF4-FFF2-40B4-BE49-F238E27FC236}">
                            <a16:creationId xmlns:a16="http://schemas.microsoft.com/office/drawing/2014/main" id="{6983D8EA-FEE4-4B08-8A97-2E909EBCF35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" y="2786063"/>
                        <a:ext cx="4999038" cy="755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455" name="Line 7">
            <a:extLst>
              <a:ext uri="{FF2B5EF4-FFF2-40B4-BE49-F238E27FC236}">
                <a16:creationId xmlns:a16="http://schemas.microsoft.com/office/drawing/2014/main" id="{07F48EBF-C5D6-4CAC-B76B-24960A8B22DB}"/>
              </a:ext>
            </a:extLst>
          </p:cNvPr>
          <p:cNvSpPr>
            <a:spLocks noChangeShapeType="1"/>
          </p:cNvSpPr>
          <p:nvPr/>
        </p:nvSpPr>
        <p:spPr bwMode="auto">
          <a:xfrm>
            <a:off x="3957638" y="2170113"/>
            <a:ext cx="2362200" cy="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sp>
        <p:nvSpPr>
          <p:cNvPr id="104456" name="Line 8">
            <a:extLst>
              <a:ext uri="{FF2B5EF4-FFF2-40B4-BE49-F238E27FC236}">
                <a16:creationId xmlns:a16="http://schemas.microsoft.com/office/drawing/2014/main" id="{9EB12F4D-DC3B-43E4-AB03-D153118DF9F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76688" y="730250"/>
            <a:ext cx="0" cy="1439863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graphicFrame>
        <p:nvGraphicFramePr>
          <p:cNvPr id="104457" name="Object 9">
            <a:extLst>
              <a:ext uri="{FF2B5EF4-FFF2-40B4-BE49-F238E27FC236}">
                <a16:creationId xmlns:a16="http://schemas.microsoft.com/office/drawing/2014/main" id="{9A641592-CF48-4BF6-AC04-1EF6F3B90012}"/>
              </a:ext>
            </a:extLst>
          </p:cNvPr>
          <p:cNvGraphicFramePr>
            <a:graphicFrameLocks/>
          </p:cNvGraphicFramePr>
          <p:nvPr/>
        </p:nvGraphicFramePr>
        <p:xfrm>
          <a:off x="942975" y="1677988"/>
          <a:ext cx="1839913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829" name="公式" r:id="rId7" imgW="2009845" imgH="790507" progId="Equation.3">
                  <p:embed/>
                </p:oleObj>
              </mc:Choice>
              <mc:Fallback>
                <p:oleObj name="公式" r:id="rId7" imgW="2009845" imgH="790507" progId="Equation.3">
                  <p:embed/>
                  <p:pic>
                    <p:nvPicPr>
                      <p:cNvPr id="104457" name="Object 9">
                        <a:extLst>
                          <a:ext uri="{FF2B5EF4-FFF2-40B4-BE49-F238E27FC236}">
                            <a16:creationId xmlns:a16="http://schemas.microsoft.com/office/drawing/2014/main" id="{9A641592-CF48-4BF6-AC04-1EF6F3B9001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2975" y="1677988"/>
                        <a:ext cx="1839913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458" name="Object 10">
            <a:extLst>
              <a:ext uri="{FF2B5EF4-FFF2-40B4-BE49-F238E27FC236}">
                <a16:creationId xmlns:a16="http://schemas.microsoft.com/office/drawing/2014/main" id="{6D4E1AB3-D3E7-4A8E-BA1B-A29106F14E53}"/>
              </a:ext>
            </a:extLst>
          </p:cNvPr>
          <p:cNvGraphicFramePr>
            <a:graphicFrameLocks/>
          </p:cNvGraphicFramePr>
          <p:nvPr/>
        </p:nvGraphicFramePr>
        <p:xfrm>
          <a:off x="969963" y="1217613"/>
          <a:ext cx="490537" cy="41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830" name="公式" r:id="rId9" imgW="504908" imgH="419134" progId="Equation.3">
                  <p:embed/>
                </p:oleObj>
              </mc:Choice>
              <mc:Fallback>
                <p:oleObj name="公式" r:id="rId9" imgW="504908" imgH="419134" progId="Equation.3">
                  <p:embed/>
                  <p:pic>
                    <p:nvPicPr>
                      <p:cNvPr id="104458" name="Object 10">
                        <a:extLst>
                          <a:ext uri="{FF2B5EF4-FFF2-40B4-BE49-F238E27FC236}">
                            <a16:creationId xmlns:a16="http://schemas.microsoft.com/office/drawing/2014/main" id="{6D4E1AB3-D3E7-4A8E-BA1B-A29106F14E5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9963" y="1217613"/>
                        <a:ext cx="490537" cy="411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459" name="AutoShape 11">
            <a:extLst>
              <a:ext uri="{FF2B5EF4-FFF2-40B4-BE49-F238E27FC236}">
                <a16:creationId xmlns:a16="http://schemas.microsoft.com/office/drawing/2014/main" id="{78E0E538-6442-46B4-B6B3-6AAEDFD2B60B}"/>
              </a:ext>
            </a:extLst>
          </p:cNvPr>
          <p:cNvSpPr>
            <a:spLocks/>
          </p:cNvSpPr>
          <p:nvPr/>
        </p:nvSpPr>
        <p:spPr bwMode="auto">
          <a:xfrm>
            <a:off x="609600" y="839788"/>
            <a:ext cx="215900" cy="1255712"/>
          </a:xfrm>
          <a:prstGeom prst="leftBrace">
            <a:avLst>
              <a:gd name="adj1" fmla="val 48468"/>
              <a:gd name="adj2" fmla="val 50000"/>
            </a:avLst>
          </a:prstGeom>
          <a:noFill/>
          <a:ln w="2857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graphicFrame>
        <p:nvGraphicFramePr>
          <p:cNvPr id="104460" name="Object 12">
            <a:extLst>
              <a:ext uri="{FF2B5EF4-FFF2-40B4-BE49-F238E27FC236}">
                <a16:creationId xmlns:a16="http://schemas.microsoft.com/office/drawing/2014/main" id="{355CB29F-A0EB-481B-9ED8-E453544483F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30675" y="730250"/>
          <a:ext cx="555625" cy="312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831" name="公式" r:id="rId11" imgW="657206" imgH="352391" progId="Equation.3">
                  <p:embed/>
                </p:oleObj>
              </mc:Choice>
              <mc:Fallback>
                <p:oleObj name="公式" r:id="rId11" imgW="657206" imgH="352391" progId="Equation.3">
                  <p:embed/>
                  <p:pic>
                    <p:nvPicPr>
                      <p:cNvPr id="104460" name="Object 12">
                        <a:extLst>
                          <a:ext uri="{FF2B5EF4-FFF2-40B4-BE49-F238E27FC236}">
                            <a16:creationId xmlns:a16="http://schemas.microsoft.com/office/drawing/2014/main" id="{355CB29F-A0EB-481B-9ED8-E453544483F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0675" y="730250"/>
                        <a:ext cx="555625" cy="312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461" name="Object 13">
            <a:extLst>
              <a:ext uri="{FF2B5EF4-FFF2-40B4-BE49-F238E27FC236}">
                <a16:creationId xmlns:a16="http://schemas.microsoft.com/office/drawing/2014/main" id="{FC2E43DC-6F1E-4505-8061-62D97CF5826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78550" y="2343150"/>
          <a:ext cx="198438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832" name="公式" r:id="rId13" imgW="218967" imgH="266666" progId="Equation.3">
                  <p:embed/>
                </p:oleObj>
              </mc:Choice>
              <mc:Fallback>
                <p:oleObj name="公式" r:id="rId13" imgW="218967" imgH="266666" progId="Equation.3">
                  <p:embed/>
                  <p:pic>
                    <p:nvPicPr>
                      <p:cNvPr id="104461" name="Object 13">
                        <a:extLst>
                          <a:ext uri="{FF2B5EF4-FFF2-40B4-BE49-F238E27FC236}">
                            <a16:creationId xmlns:a16="http://schemas.microsoft.com/office/drawing/2014/main" id="{FC2E43DC-6F1E-4505-8061-62D97CF5826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8550" y="2343150"/>
                        <a:ext cx="198438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462" name="Object 14">
            <a:extLst>
              <a:ext uri="{FF2B5EF4-FFF2-40B4-BE49-F238E27FC236}">
                <a16:creationId xmlns:a16="http://schemas.microsoft.com/office/drawing/2014/main" id="{0C2E3D4C-7A80-4DB6-B441-8CDDDFC30A1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57825" y="2300288"/>
          <a:ext cx="428625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833" name="公式" r:id="rId15" imgW="495427" imgH="380864" progId="Equation.3">
                  <p:embed/>
                </p:oleObj>
              </mc:Choice>
              <mc:Fallback>
                <p:oleObj name="公式" r:id="rId15" imgW="495427" imgH="380864" progId="Equation.3">
                  <p:embed/>
                  <p:pic>
                    <p:nvPicPr>
                      <p:cNvPr id="104462" name="Object 14">
                        <a:extLst>
                          <a:ext uri="{FF2B5EF4-FFF2-40B4-BE49-F238E27FC236}">
                            <a16:creationId xmlns:a16="http://schemas.microsoft.com/office/drawing/2014/main" id="{0C2E3D4C-7A80-4DB6-B441-8CDDDFC30A1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57825" y="2300288"/>
                        <a:ext cx="428625" cy="336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463" name="Rectangle 15">
            <a:extLst>
              <a:ext uri="{FF2B5EF4-FFF2-40B4-BE49-F238E27FC236}">
                <a16:creationId xmlns:a16="http://schemas.microsoft.com/office/drawing/2014/main" id="{0387016D-5E67-4217-9B50-26431D9FF5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163" y="4076700"/>
            <a:ext cx="1674812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  <a:latin typeface="宋体" panose="02010600030101010101" pitchFamily="2" charset="-122"/>
              </a:rPr>
              <a:t>说明</a:t>
            </a:r>
          </a:p>
        </p:txBody>
      </p:sp>
      <p:graphicFrame>
        <p:nvGraphicFramePr>
          <p:cNvPr id="104466" name="Object 18">
            <a:extLst>
              <a:ext uri="{FF2B5EF4-FFF2-40B4-BE49-F238E27FC236}">
                <a16:creationId xmlns:a16="http://schemas.microsoft.com/office/drawing/2014/main" id="{DFCE0FF8-835B-454B-81D1-76E34A4B989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57600" y="1993900"/>
          <a:ext cx="161925" cy="252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834" name="公式" r:id="rId17" imgW="161778" imgH="276157" progId="Equation.3">
                  <p:embed/>
                </p:oleObj>
              </mc:Choice>
              <mc:Fallback>
                <p:oleObj name="公式" r:id="rId17" imgW="161778" imgH="276157" progId="Equation.3">
                  <p:embed/>
                  <p:pic>
                    <p:nvPicPr>
                      <p:cNvPr id="104466" name="Object 18">
                        <a:extLst>
                          <a:ext uri="{FF2B5EF4-FFF2-40B4-BE49-F238E27FC236}">
                            <a16:creationId xmlns:a16="http://schemas.microsoft.com/office/drawing/2014/main" id="{DFCE0FF8-835B-454B-81D1-76E34A4B989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1993900"/>
                        <a:ext cx="161925" cy="252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467" name="Object 19">
            <a:extLst>
              <a:ext uri="{FF2B5EF4-FFF2-40B4-BE49-F238E27FC236}">
                <a16:creationId xmlns:a16="http://schemas.microsoft.com/office/drawing/2014/main" id="{4BAB9705-3F0F-4F78-98EB-90494123362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57600" y="992188"/>
          <a:ext cx="111125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835" name="公式" r:id="rId19" imgW="104896" imgH="266666" progId="Equation.3">
                  <p:embed/>
                </p:oleObj>
              </mc:Choice>
              <mc:Fallback>
                <p:oleObj name="公式" r:id="rId19" imgW="104896" imgH="266666" progId="Equation.3">
                  <p:embed/>
                  <p:pic>
                    <p:nvPicPr>
                      <p:cNvPr id="104467" name="Object 19">
                        <a:extLst>
                          <a:ext uri="{FF2B5EF4-FFF2-40B4-BE49-F238E27FC236}">
                            <a16:creationId xmlns:a16="http://schemas.microsoft.com/office/drawing/2014/main" id="{4BAB9705-3F0F-4F78-98EB-90494123362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992188"/>
                        <a:ext cx="111125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468" name="Freeform 20">
            <a:extLst>
              <a:ext uri="{FF2B5EF4-FFF2-40B4-BE49-F238E27FC236}">
                <a16:creationId xmlns:a16="http://schemas.microsoft.com/office/drawing/2014/main" id="{44095008-5245-494A-932A-F76E86AD57C5}"/>
              </a:ext>
            </a:extLst>
          </p:cNvPr>
          <p:cNvSpPr>
            <a:spLocks/>
          </p:cNvSpPr>
          <p:nvPr/>
        </p:nvSpPr>
        <p:spPr bwMode="auto">
          <a:xfrm>
            <a:off x="3965575" y="1090613"/>
            <a:ext cx="1800225" cy="1079500"/>
          </a:xfrm>
          <a:custGeom>
            <a:avLst/>
            <a:gdLst>
              <a:gd name="T0" fmla="*/ 0 w 1134"/>
              <a:gd name="T1" fmla="*/ 2147483646 h 831"/>
              <a:gd name="T2" fmla="*/ 2147483646 w 1134"/>
              <a:gd name="T3" fmla="*/ 2147483646 h 831"/>
              <a:gd name="T4" fmla="*/ 2147483646 w 1134"/>
              <a:gd name="T5" fmla="*/ 2147483646 h 831"/>
              <a:gd name="T6" fmla="*/ 2147483646 w 1134"/>
              <a:gd name="T7" fmla="*/ 2147483646 h 831"/>
              <a:gd name="T8" fmla="*/ 0 60000 65536"/>
              <a:gd name="T9" fmla="*/ 0 60000 65536"/>
              <a:gd name="T10" fmla="*/ 0 60000 65536"/>
              <a:gd name="T11" fmla="*/ 0 60000 65536"/>
              <a:gd name="T12" fmla="*/ 0 w 1134"/>
              <a:gd name="T13" fmla="*/ 0 h 831"/>
              <a:gd name="T14" fmla="*/ 1134 w 1134"/>
              <a:gd name="T15" fmla="*/ 831 h 831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134" h="831">
                <a:moveTo>
                  <a:pt x="0" y="15"/>
                </a:moveTo>
                <a:cubicBezTo>
                  <a:pt x="125" y="7"/>
                  <a:pt x="250" y="0"/>
                  <a:pt x="363" y="106"/>
                </a:cubicBezTo>
                <a:cubicBezTo>
                  <a:pt x="476" y="212"/>
                  <a:pt x="552" y="529"/>
                  <a:pt x="680" y="650"/>
                </a:cubicBezTo>
                <a:cubicBezTo>
                  <a:pt x="808" y="771"/>
                  <a:pt x="1058" y="801"/>
                  <a:pt x="1134" y="831"/>
                </a:cubicBezTo>
              </a:path>
            </a:pathLst>
          </a:custGeom>
          <a:noFill/>
          <a:ln w="28575">
            <a:solidFill>
              <a:srgbClr val="FFCC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104469" name="AutoShape 21">
            <a:extLst>
              <a:ext uri="{FF2B5EF4-FFF2-40B4-BE49-F238E27FC236}">
                <a16:creationId xmlns:a16="http://schemas.microsoft.com/office/drawing/2014/main" id="{9E96B293-1A50-40F6-9F90-53DAC8B030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4113213"/>
            <a:ext cx="360363" cy="576262"/>
          </a:xfrm>
          <a:prstGeom prst="star4">
            <a:avLst>
              <a:gd name="adj" fmla="val 18519"/>
            </a:avLst>
          </a:prstGeom>
          <a:gradFill rotWithShape="0">
            <a:gsLst>
              <a:gs pos="0">
                <a:srgbClr val="99FF99"/>
              </a:gs>
              <a:gs pos="100000">
                <a:srgbClr val="477647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graphicFrame>
        <p:nvGraphicFramePr>
          <p:cNvPr id="104470" name="Object 22">
            <a:extLst>
              <a:ext uri="{FF2B5EF4-FFF2-40B4-BE49-F238E27FC236}">
                <a16:creationId xmlns:a16="http://schemas.microsoft.com/office/drawing/2014/main" id="{75E2BE6E-6721-4AC8-BB4E-1E28C2A5BE99}"/>
              </a:ext>
            </a:extLst>
          </p:cNvPr>
          <p:cNvGraphicFramePr>
            <a:graphicFrameLocks/>
          </p:cNvGraphicFramePr>
          <p:nvPr/>
        </p:nvGraphicFramePr>
        <p:xfrm>
          <a:off x="2409825" y="1217613"/>
          <a:ext cx="879475" cy="41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836" name="公式" r:id="rId21" imgW="942841" imgH="419134" progId="Equation.3">
                  <p:embed/>
                </p:oleObj>
              </mc:Choice>
              <mc:Fallback>
                <p:oleObj name="公式" r:id="rId21" imgW="942841" imgH="419134" progId="Equation.3">
                  <p:embed/>
                  <p:pic>
                    <p:nvPicPr>
                      <p:cNvPr id="104470" name="Object 22">
                        <a:extLst>
                          <a:ext uri="{FF2B5EF4-FFF2-40B4-BE49-F238E27FC236}">
                            <a16:creationId xmlns:a16="http://schemas.microsoft.com/office/drawing/2014/main" id="{75E2BE6E-6721-4AC8-BB4E-1E28C2A5BE9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9825" y="1217613"/>
                        <a:ext cx="879475" cy="411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471" name="AutoShape 23">
            <a:extLst>
              <a:ext uri="{FF2B5EF4-FFF2-40B4-BE49-F238E27FC236}">
                <a16:creationId xmlns:a16="http://schemas.microsoft.com/office/drawing/2014/main" id="{7BB94E74-9BB8-4F7B-A57F-2BAAD73FD4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3063" y="1285875"/>
            <a:ext cx="576262" cy="215900"/>
          </a:xfrm>
          <a:prstGeom prst="rightArrow">
            <a:avLst>
              <a:gd name="adj1" fmla="val 50000"/>
              <a:gd name="adj2" fmla="val 66728"/>
            </a:avLst>
          </a:prstGeom>
          <a:solidFill>
            <a:srgbClr val="FFCCFF">
              <a:alpha val="50195"/>
            </a:srgbClr>
          </a:solidFill>
          <a:ln w="9525">
            <a:solidFill>
              <a:srgbClr val="FFCCFF">
                <a:alpha val="50195"/>
              </a:srgbClr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23571" name="Line 24">
            <a:extLst>
              <a:ext uri="{FF2B5EF4-FFF2-40B4-BE49-F238E27FC236}">
                <a16:creationId xmlns:a16="http://schemas.microsoft.com/office/drawing/2014/main" id="{1083FD45-DB73-40D4-B34B-03BB61EECA3C}"/>
              </a:ext>
            </a:extLst>
          </p:cNvPr>
          <p:cNvSpPr>
            <a:spLocks noChangeShapeType="1"/>
          </p:cNvSpPr>
          <p:nvPr/>
        </p:nvSpPr>
        <p:spPr bwMode="auto">
          <a:xfrm>
            <a:off x="6656388" y="3927475"/>
            <a:ext cx="0" cy="0"/>
          </a:xfrm>
          <a:prstGeom prst="line">
            <a:avLst/>
          </a:prstGeom>
          <a:noFill/>
          <a:ln w="9525">
            <a:solidFill>
              <a:srgbClr val="FFCC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473" name="Line 25">
            <a:extLst>
              <a:ext uri="{FF2B5EF4-FFF2-40B4-BE49-F238E27FC236}">
                <a16:creationId xmlns:a16="http://schemas.microsoft.com/office/drawing/2014/main" id="{E770219A-22DC-436E-B6D8-BA6917C550C2}"/>
              </a:ext>
            </a:extLst>
          </p:cNvPr>
          <p:cNvSpPr>
            <a:spLocks noChangeShapeType="1"/>
          </p:cNvSpPr>
          <p:nvPr/>
        </p:nvSpPr>
        <p:spPr bwMode="auto">
          <a:xfrm>
            <a:off x="5761038" y="2082800"/>
            <a:ext cx="1587" cy="71438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04474" name="Object 26">
            <a:extLst>
              <a:ext uri="{FF2B5EF4-FFF2-40B4-BE49-F238E27FC236}">
                <a16:creationId xmlns:a16="http://schemas.microsoft.com/office/drawing/2014/main" id="{0D7A6D48-74D3-4116-96CF-E067544C504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43625" y="928688"/>
          <a:ext cx="2379663" cy="811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837" name="Equation" r:id="rId23" imgW="962108" imgH="352391" progId="Equation.3">
                  <p:embed/>
                </p:oleObj>
              </mc:Choice>
              <mc:Fallback>
                <p:oleObj name="Equation" r:id="rId23" imgW="962108" imgH="352391" progId="Equation.3">
                  <p:embed/>
                  <p:pic>
                    <p:nvPicPr>
                      <p:cNvPr id="104474" name="Object 26">
                        <a:extLst>
                          <a:ext uri="{FF2B5EF4-FFF2-40B4-BE49-F238E27FC236}">
                            <a16:creationId xmlns:a16="http://schemas.microsoft.com/office/drawing/2014/main" id="{0D7A6D48-74D3-4116-96CF-E067544C504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43625" y="928688"/>
                        <a:ext cx="2379663" cy="811212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99CC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475" name="Text Box 27">
            <a:extLst>
              <a:ext uri="{FF2B5EF4-FFF2-40B4-BE49-F238E27FC236}">
                <a16:creationId xmlns:a16="http://schemas.microsoft.com/office/drawing/2014/main" id="{065DCF30-2D2B-4D27-AE8E-C282727E2F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9288" y="2890838"/>
            <a:ext cx="3200400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0" lang="zh-CN" altLang="en-US" dirty="0">
                <a:solidFill>
                  <a:schemeClr val="bg1"/>
                </a:solidFill>
              </a:rPr>
              <a:t>菲涅耳衍射积分公式</a:t>
            </a:r>
          </a:p>
        </p:txBody>
      </p:sp>
      <p:sp>
        <p:nvSpPr>
          <p:cNvPr id="28" name="Text Box 15">
            <a:extLst>
              <a:ext uri="{FF2B5EF4-FFF2-40B4-BE49-F238E27FC236}">
                <a16:creationId xmlns:a16="http://schemas.microsoft.com/office/drawing/2014/main" id="{BF359A2B-7839-40BC-ADE7-D4F74A0F8E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063" y="4652963"/>
            <a:ext cx="7289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marL="457200" indent="-4572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AutoNum type="arabicParenR"/>
            </a:pPr>
            <a:r>
              <a:rPr kumimoji="0"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对于一般衍射问题，用积分计算相当复杂</a:t>
            </a:r>
          </a:p>
        </p:txBody>
      </p:sp>
      <p:sp>
        <p:nvSpPr>
          <p:cNvPr id="29" name="Rectangle 16">
            <a:extLst>
              <a:ext uri="{FF2B5EF4-FFF2-40B4-BE49-F238E27FC236}">
                <a16:creationId xmlns:a16="http://schemas.microsoft.com/office/drawing/2014/main" id="{36BB4A6A-7DAC-425D-B9B7-8D8FBA0837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063" y="5643563"/>
            <a:ext cx="8382000" cy="922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0" lang="en-US" altLang="zh-CN" dirty="0">
                <a:solidFill>
                  <a:schemeClr val="bg1"/>
                </a:solidFill>
                <a:latin typeface="宋体" panose="02010600030101010101" pitchFamily="2" charset="-122"/>
              </a:rPr>
              <a:t>2</a:t>
            </a:r>
            <a:r>
              <a:rPr kumimoji="0" lang="zh-CN" altLang="en-US" dirty="0">
                <a:solidFill>
                  <a:schemeClr val="bg1"/>
                </a:solidFill>
                <a:latin typeface="宋体" panose="02010600030101010101" pitchFamily="2" charset="-122"/>
              </a:rPr>
              <a:t>）惠更斯</a:t>
            </a:r>
            <a:r>
              <a:rPr kumimoji="0" lang="en-US" altLang="zh-CN" dirty="0">
                <a:solidFill>
                  <a:schemeClr val="bg1"/>
                </a:solidFill>
                <a:latin typeface="方正书宋简体"/>
              </a:rPr>
              <a:t>——</a:t>
            </a:r>
            <a:r>
              <a:rPr kumimoji="0" lang="zh-CN" altLang="en-US" dirty="0">
                <a:solidFill>
                  <a:schemeClr val="bg1"/>
                </a:solidFill>
                <a:latin typeface="宋体" panose="02010600030101010101" pitchFamily="2" charset="-122"/>
              </a:rPr>
              <a:t>菲涅耳原理的进步之处：给出子波源在传播过程中的振幅，位相变化关系，以及子波的叠加关系</a:t>
            </a:r>
          </a:p>
        </p:txBody>
      </p:sp>
      <p:sp>
        <p:nvSpPr>
          <p:cNvPr id="30" name="Rectangle 17">
            <a:extLst>
              <a:ext uri="{FF2B5EF4-FFF2-40B4-BE49-F238E27FC236}">
                <a16:creationId xmlns:a16="http://schemas.microsoft.com/office/drawing/2014/main" id="{18ED8C32-E721-443D-A7FE-C67216234C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7263" y="5172075"/>
            <a:ext cx="7503169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dirty="0">
                <a:solidFill>
                  <a:schemeClr val="bg1"/>
                </a:solidFill>
                <a:latin typeface="宋体" panose="02010600030101010101" pitchFamily="2" charset="-122"/>
              </a:rPr>
              <a:t>通常用</a:t>
            </a:r>
            <a:r>
              <a:rPr kumimoji="0" lang="zh-CN" altLang="en-US" dirty="0">
                <a:solidFill>
                  <a:srgbClr val="FFFF66"/>
                </a:solidFill>
                <a:latin typeface="宋体" panose="02010600030101010101" pitchFamily="2" charset="-122"/>
              </a:rPr>
              <a:t>半波带法</a:t>
            </a:r>
            <a:r>
              <a:rPr kumimoji="0" lang="zh-CN" altLang="en-US" dirty="0">
                <a:solidFill>
                  <a:schemeClr val="bg1"/>
                </a:solidFill>
                <a:latin typeface="宋体" panose="02010600030101010101" pitchFamily="2" charset="-122"/>
              </a:rPr>
              <a:t>和</a:t>
            </a:r>
            <a:r>
              <a:rPr kumimoji="0" lang="zh-CN" altLang="en-US" dirty="0">
                <a:solidFill>
                  <a:srgbClr val="FFFF66"/>
                </a:solidFill>
                <a:latin typeface="宋体" panose="02010600030101010101" pitchFamily="2" charset="-122"/>
              </a:rPr>
              <a:t>振幅矢量法</a:t>
            </a:r>
            <a:r>
              <a:rPr kumimoji="0" lang="zh-CN" altLang="en-US" dirty="0">
                <a:solidFill>
                  <a:schemeClr val="bg1"/>
                </a:solidFill>
                <a:latin typeface="宋体" panose="02010600030101010101" pitchFamily="2" charset="-122"/>
              </a:rPr>
              <a:t>分析</a:t>
            </a:r>
          </a:p>
        </p:txBody>
      </p:sp>
      <p:sp>
        <p:nvSpPr>
          <p:cNvPr id="23578" name="灯片编号占位符 1">
            <a:extLst>
              <a:ext uri="{FF2B5EF4-FFF2-40B4-BE49-F238E27FC236}">
                <a16:creationId xmlns:a16="http://schemas.microsoft.com/office/drawing/2014/main" id="{F88FE051-C840-4F1A-B91F-868E1069354E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3C5EDC5-56A8-406A-A770-97E4B79C6D99}" type="slidenum">
              <a:rPr lang="en-US" altLang="zh-CN" b="0">
                <a:solidFill>
                  <a:srgbClr val="FF00FF"/>
                </a:solidFill>
              </a:rPr>
              <a:pPr eaLnBrk="1" hangingPunct="1"/>
              <a:t>22</a:t>
            </a:fld>
            <a:r>
              <a:rPr lang="en-US" altLang="zh-CN" b="0">
                <a:solidFill>
                  <a:srgbClr val="FF00FF"/>
                </a:solidFill>
              </a:rPr>
              <a:t>/24</a:t>
            </a:r>
          </a:p>
        </p:txBody>
      </p:sp>
      <p:sp>
        <p:nvSpPr>
          <p:cNvPr id="27" name="Text Box 27">
            <a:extLst>
              <a:ext uri="{FF2B5EF4-FFF2-40B4-BE49-F238E27FC236}">
                <a16:creationId xmlns:a16="http://schemas.microsoft.com/office/drawing/2014/main" id="{E965CFF1-E69E-467E-A003-2B234D10A4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4500" y="3714750"/>
            <a:ext cx="4929188" cy="466725"/>
          </a:xfrm>
          <a:prstGeom prst="rect">
            <a:avLst/>
          </a:prstGeom>
          <a:noFill/>
          <a:ln w="9525">
            <a:solidFill>
              <a:srgbClr val="FFFF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0" lang="zh-CN" altLang="en-US">
                <a:solidFill>
                  <a:srgbClr val="FFFF00"/>
                </a:solidFill>
              </a:rPr>
              <a:t>光的衍射：所有子波的相干叠加</a:t>
            </a:r>
          </a:p>
        </p:txBody>
      </p:sp>
      <p:sp>
        <p:nvSpPr>
          <p:cNvPr id="31" name="Text Box 27">
            <a:extLst>
              <a:ext uri="{FF2B5EF4-FFF2-40B4-BE49-F238E27FC236}">
                <a16:creationId xmlns:a16="http://schemas.microsoft.com/office/drawing/2014/main" id="{633CC1AC-1A24-49D4-9E3F-F39664E1F8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7565" y="369889"/>
            <a:ext cx="3200400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0" lang="zh-CN" altLang="en-US" dirty="0">
                <a:solidFill>
                  <a:schemeClr val="bg1"/>
                </a:solidFill>
              </a:rPr>
              <a:t>基尔霍夫倾斜因子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4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4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4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4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4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4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04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04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104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104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04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104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104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104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04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id="6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9" dur="500"/>
                                        <p:tgtEl>
                                          <p:spTgt spid="104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044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044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104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500"/>
                                        <p:tgtEl>
                                          <p:spTgt spid="104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104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459" grpId="0" animBg="1"/>
      <p:bldP spid="104463" grpId="0" autoUpdateAnimBg="0"/>
      <p:bldP spid="104469" grpId="0" animBg="1"/>
      <p:bldP spid="104471" grpId="0" animBg="1"/>
      <p:bldP spid="104475" grpId="0"/>
      <p:bldP spid="28" grpId="0" build="p" autoUpdateAnimBg="0"/>
      <p:bldP spid="29" grpId="0" build="p" autoUpdateAnimBg="0"/>
      <p:bldP spid="30" grpId="0" autoUpdateAnimBg="0"/>
      <p:bldP spid="27" grpId="0" animBg="1" autoUpdateAnimBg="0"/>
      <p:bldP spid="31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jkxMDYxZGYxZGIxNjIyZTIxODM5NTE1YTAzNTVjNjIifQ=="/>
</p:tagLst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6102</TotalTime>
  <Words>1224</Words>
  <Application>Microsoft Office PowerPoint</Application>
  <PresentationFormat>全屏显示(4:3)</PresentationFormat>
  <Paragraphs>186</Paragraphs>
  <Slides>22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22</vt:i4>
      </vt:variant>
    </vt:vector>
  </HeadingPairs>
  <TitlesOfParts>
    <vt:vector size="40" baseType="lpstr">
      <vt:lpstr>Monotype Sorts</vt:lpstr>
      <vt:lpstr>方正书宋简体</vt:lpstr>
      <vt:lpstr>仿宋_GB2312</vt:lpstr>
      <vt:lpstr>黑体</vt:lpstr>
      <vt:lpstr>华文仿宋</vt:lpstr>
      <vt:lpstr>华文中宋</vt:lpstr>
      <vt:lpstr>楷体_GB2312</vt:lpstr>
      <vt:lpstr>宋体</vt:lpstr>
      <vt:lpstr>微软雅黑</vt:lpstr>
      <vt:lpstr>Arial</vt:lpstr>
      <vt:lpstr>Cambria Math</vt:lpstr>
      <vt:lpstr>Symbol</vt:lpstr>
      <vt:lpstr>Times New Roman</vt:lpstr>
      <vt:lpstr>默认设计模板</vt:lpstr>
      <vt:lpstr>Equation</vt:lpstr>
      <vt:lpstr>公式</vt:lpstr>
      <vt:lpstr>Equation.3</vt:lpstr>
      <vt:lpstr>位图图像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xian jiaotong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下册-大学物理</dc:title>
  <dc:creator>yzhang</dc:creator>
  <cp:lastModifiedBy>yzhang</cp:lastModifiedBy>
  <cp:revision>1371</cp:revision>
  <cp:lastPrinted>2025-10-15T06:39:53Z</cp:lastPrinted>
  <dcterms:created xsi:type="dcterms:W3CDTF">1998-11-21T01:35:00Z</dcterms:created>
  <dcterms:modified xsi:type="dcterms:W3CDTF">2025-10-16T09:04:03Z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E360166CB073428B8BCB01AE86F8CFCF_12</vt:lpwstr>
  </property>
  <property fmtid="{D5CDD505-2E9C-101B-9397-08002B2CF9AE}" pid="3" name="KSOProductBuildVer">
    <vt:lpwstr>2052-12.1.0.15358</vt:lpwstr>
  </property>
</Properties>
</file>