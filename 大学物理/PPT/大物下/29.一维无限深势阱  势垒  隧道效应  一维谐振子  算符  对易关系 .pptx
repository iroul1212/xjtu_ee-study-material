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439" r:id="rId2"/>
    <p:sldId id="491" r:id="rId3"/>
    <p:sldId id="514" r:id="rId4"/>
    <p:sldId id="494" r:id="rId5"/>
    <p:sldId id="512" r:id="rId6"/>
    <p:sldId id="495" r:id="rId7"/>
    <p:sldId id="496" r:id="rId8"/>
    <p:sldId id="497" r:id="rId9"/>
    <p:sldId id="498" r:id="rId10"/>
    <p:sldId id="499" r:id="rId11"/>
    <p:sldId id="500" r:id="rId12"/>
    <p:sldId id="501" r:id="rId13"/>
    <p:sldId id="502" r:id="rId14"/>
    <p:sldId id="503" r:id="rId15"/>
    <p:sldId id="504" r:id="rId16"/>
    <p:sldId id="505" r:id="rId17"/>
    <p:sldId id="510" r:id="rId18"/>
    <p:sldId id="511" r:id="rId19"/>
    <p:sldId id="513" r:id="rId20"/>
    <p:sldId id="516" r:id="rId21"/>
    <p:sldId id="517" r:id="rId22"/>
    <p:sldId id="518" r:id="rId23"/>
    <p:sldId id="519" r:id="rId24"/>
    <p:sldId id="257" r:id="rId25"/>
    <p:sldId id="292" r:id="rId26"/>
    <p:sldId id="288" r:id="rId27"/>
    <p:sldId id="296" r:id="rId28"/>
    <p:sldId id="834" r:id="rId29"/>
    <p:sldId id="523" r:id="rId30"/>
    <p:sldId id="524" r:id="rId31"/>
    <p:sldId id="525" r:id="rId32"/>
    <p:sldId id="526" r:id="rId33"/>
    <p:sldId id="527" r:id="rId34"/>
    <p:sldId id="528" r:id="rId35"/>
  </p:sldIdLst>
  <p:sldSz cx="9144000" cy="6858000" type="screen4x3"/>
  <p:notesSz cx="6797675" cy="9928225"/>
  <p:custDataLst>
    <p:tags r:id="rId3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99"/>
    <a:srgbClr val="FFFF00"/>
    <a:srgbClr val="0000FF"/>
    <a:srgbClr val="800000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2" autoAdjust="0"/>
    <p:restoredTop sz="96357" autoAdjust="0"/>
  </p:normalViewPr>
  <p:slideViewPr>
    <p:cSldViewPr showGuides="1">
      <p:cViewPr varScale="1">
        <p:scale>
          <a:sx n="110" d="100"/>
          <a:sy n="110" d="100"/>
        </p:scale>
        <p:origin x="948" y="78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Relationship Id="rId4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23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image" Target="../media/image41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image" Target="../media/image48.emf"/><Relationship Id="rId6" Type="http://schemas.openxmlformats.org/officeDocument/2006/relationships/image" Target="../media/image53.emf"/><Relationship Id="rId5" Type="http://schemas.openxmlformats.org/officeDocument/2006/relationships/image" Target="../media/image52.emf"/><Relationship Id="rId4" Type="http://schemas.openxmlformats.org/officeDocument/2006/relationships/image" Target="../media/image51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3" Type="http://schemas.openxmlformats.org/officeDocument/2006/relationships/image" Target="../media/image56.emf"/><Relationship Id="rId7" Type="http://schemas.openxmlformats.org/officeDocument/2006/relationships/image" Target="../media/image60.emf"/><Relationship Id="rId2" Type="http://schemas.openxmlformats.org/officeDocument/2006/relationships/image" Target="../media/image55.emf"/><Relationship Id="rId1" Type="http://schemas.openxmlformats.org/officeDocument/2006/relationships/image" Target="../media/image54.emf"/><Relationship Id="rId6" Type="http://schemas.openxmlformats.org/officeDocument/2006/relationships/image" Target="../media/image59.emf"/><Relationship Id="rId5" Type="http://schemas.openxmlformats.org/officeDocument/2006/relationships/image" Target="../media/image58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image" Target="../media/image64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image" Target="../media/image64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image" Target="../media/image73.emf"/><Relationship Id="rId1" Type="http://schemas.openxmlformats.org/officeDocument/2006/relationships/image" Target="../media/image72.emf"/><Relationship Id="rId5" Type="http://schemas.openxmlformats.org/officeDocument/2006/relationships/image" Target="../media/image76.emf"/><Relationship Id="rId4" Type="http://schemas.openxmlformats.org/officeDocument/2006/relationships/image" Target="../media/image75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image" Target="../media/image74.emf"/><Relationship Id="rId1" Type="http://schemas.openxmlformats.org/officeDocument/2006/relationships/image" Target="../media/image73.emf"/><Relationship Id="rId4" Type="http://schemas.openxmlformats.org/officeDocument/2006/relationships/image" Target="../media/image72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85.emf"/><Relationship Id="rId13" Type="http://schemas.openxmlformats.org/officeDocument/2006/relationships/image" Target="../media/image90.emf"/><Relationship Id="rId3" Type="http://schemas.openxmlformats.org/officeDocument/2006/relationships/image" Target="../media/image80.emf"/><Relationship Id="rId7" Type="http://schemas.openxmlformats.org/officeDocument/2006/relationships/image" Target="../media/image84.emf"/><Relationship Id="rId12" Type="http://schemas.openxmlformats.org/officeDocument/2006/relationships/image" Target="../media/image89.emf"/><Relationship Id="rId2" Type="http://schemas.openxmlformats.org/officeDocument/2006/relationships/image" Target="../media/image79.emf"/><Relationship Id="rId1" Type="http://schemas.openxmlformats.org/officeDocument/2006/relationships/image" Target="../media/image78.emf"/><Relationship Id="rId6" Type="http://schemas.openxmlformats.org/officeDocument/2006/relationships/image" Target="../media/image83.emf"/><Relationship Id="rId11" Type="http://schemas.openxmlformats.org/officeDocument/2006/relationships/image" Target="../media/image88.emf"/><Relationship Id="rId5" Type="http://schemas.openxmlformats.org/officeDocument/2006/relationships/image" Target="../media/image82.emf"/><Relationship Id="rId10" Type="http://schemas.openxmlformats.org/officeDocument/2006/relationships/image" Target="../media/image87.emf"/><Relationship Id="rId4" Type="http://schemas.openxmlformats.org/officeDocument/2006/relationships/image" Target="../media/image81.emf"/><Relationship Id="rId9" Type="http://schemas.openxmlformats.org/officeDocument/2006/relationships/image" Target="../media/image86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13" Type="http://schemas.openxmlformats.org/officeDocument/2006/relationships/image" Target="../media/image103.emf"/><Relationship Id="rId3" Type="http://schemas.openxmlformats.org/officeDocument/2006/relationships/image" Target="../media/image93.emf"/><Relationship Id="rId7" Type="http://schemas.openxmlformats.org/officeDocument/2006/relationships/image" Target="../media/image97.emf"/><Relationship Id="rId12" Type="http://schemas.openxmlformats.org/officeDocument/2006/relationships/image" Target="../media/image102.emf"/><Relationship Id="rId2" Type="http://schemas.openxmlformats.org/officeDocument/2006/relationships/image" Target="../media/image92.emf"/><Relationship Id="rId16" Type="http://schemas.openxmlformats.org/officeDocument/2006/relationships/image" Target="../media/image106.emf"/><Relationship Id="rId1" Type="http://schemas.openxmlformats.org/officeDocument/2006/relationships/image" Target="../media/image91.emf"/><Relationship Id="rId6" Type="http://schemas.openxmlformats.org/officeDocument/2006/relationships/image" Target="../media/image96.emf"/><Relationship Id="rId11" Type="http://schemas.openxmlformats.org/officeDocument/2006/relationships/image" Target="../media/image101.emf"/><Relationship Id="rId5" Type="http://schemas.openxmlformats.org/officeDocument/2006/relationships/image" Target="../media/image95.emf"/><Relationship Id="rId15" Type="http://schemas.openxmlformats.org/officeDocument/2006/relationships/image" Target="../media/image105.emf"/><Relationship Id="rId10" Type="http://schemas.openxmlformats.org/officeDocument/2006/relationships/image" Target="../media/image100.emf"/><Relationship Id="rId4" Type="http://schemas.openxmlformats.org/officeDocument/2006/relationships/image" Target="../media/image94.emf"/><Relationship Id="rId9" Type="http://schemas.openxmlformats.org/officeDocument/2006/relationships/image" Target="../media/image99.emf"/><Relationship Id="rId14" Type="http://schemas.openxmlformats.org/officeDocument/2006/relationships/image" Target="../media/image104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emf"/><Relationship Id="rId1" Type="http://schemas.openxmlformats.org/officeDocument/2006/relationships/image" Target="../media/image107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emf"/><Relationship Id="rId13" Type="http://schemas.openxmlformats.org/officeDocument/2006/relationships/image" Target="../media/image121.emf"/><Relationship Id="rId3" Type="http://schemas.openxmlformats.org/officeDocument/2006/relationships/image" Target="../media/image111.emf"/><Relationship Id="rId7" Type="http://schemas.openxmlformats.org/officeDocument/2006/relationships/image" Target="../media/image115.emf"/><Relationship Id="rId12" Type="http://schemas.openxmlformats.org/officeDocument/2006/relationships/image" Target="../media/image120.emf"/><Relationship Id="rId2" Type="http://schemas.openxmlformats.org/officeDocument/2006/relationships/image" Target="../media/image110.emf"/><Relationship Id="rId1" Type="http://schemas.openxmlformats.org/officeDocument/2006/relationships/image" Target="../media/image109.emf"/><Relationship Id="rId6" Type="http://schemas.openxmlformats.org/officeDocument/2006/relationships/image" Target="../media/image114.emf"/><Relationship Id="rId11" Type="http://schemas.openxmlformats.org/officeDocument/2006/relationships/image" Target="../media/image119.emf"/><Relationship Id="rId5" Type="http://schemas.openxmlformats.org/officeDocument/2006/relationships/image" Target="../media/image113.emf"/><Relationship Id="rId10" Type="http://schemas.openxmlformats.org/officeDocument/2006/relationships/image" Target="../media/image118.emf"/><Relationship Id="rId4" Type="http://schemas.openxmlformats.org/officeDocument/2006/relationships/image" Target="../media/image112.emf"/><Relationship Id="rId9" Type="http://schemas.openxmlformats.org/officeDocument/2006/relationships/image" Target="../media/image117.e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emf"/><Relationship Id="rId3" Type="http://schemas.openxmlformats.org/officeDocument/2006/relationships/image" Target="../media/image131.emf"/><Relationship Id="rId7" Type="http://schemas.openxmlformats.org/officeDocument/2006/relationships/image" Target="../media/image135.emf"/><Relationship Id="rId2" Type="http://schemas.openxmlformats.org/officeDocument/2006/relationships/image" Target="../media/image130.emf"/><Relationship Id="rId1" Type="http://schemas.openxmlformats.org/officeDocument/2006/relationships/image" Target="../media/image129.emf"/><Relationship Id="rId6" Type="http://schemas.openxmlformats.org/officeDocument/2006/relationships/image" Target="../media/image134.emf"/><Relationship Id="rId5" Type="http://schemas.openxmlformats.org/officeDocument/2006/relationships/image" Target="../media/image133.emf"/><Relationship Id="rId4" Type="http://schemas.openxmlformats.org/officeDocument/2006/relationships/image" Target="../media/image132.emf"/><Relationship Id="rId9" Type="http://schemas.openxmlformats.org/officeDocument/2006/relationships/image" Target="../media/image137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emf"/><Relationship Id="rId2" Type="http://schemas.openxmlformats.org/officeDocument/2006/relationships/image" Target="../media/image141.emf"/><Relationship Id="rId1" Type="http://schemas.openxmlformats.org/officeDocument/2006/relationships/image" Target="../media/image14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80C536C8-BD26-485F-98B1-6D94BD5058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0C6AEF7-26D3-4F97-95F5-93721B2645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0E19375D-7C0A-49A4-AB43-CFCA59EFC1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B9EF1A2-CB67-45AA-8BAC-9D41DB27449E}" type="slidenum">
              <a:rPr lang="en-US" altLang="zh-CN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FBAEE50-B3F6-49C5-9346-971AF71FD2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4913" y="704850"/>
            <a:ext cx="4691062" cy="3517900"/>
          </a:xfrm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F21DDBA9-0BD8-4823-9795-CEEDC7FC9B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917" y="4458550"/>
            <a:ext cx="5682643" cy="422586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0713BAEB-E2AD-468F-AC82-ADB22B1FB06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304" y="8917099"/>
            <a:ext cx="3078513" cy="4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fld id="{32430E7A-F797-4747-B4E6-118FDF594858}" type="slidenum">
              <a:rPr lang="en-US" altLang="zh-CN">
                <a:latin typeface="Arial" panose="020B0604020202020204" pitchFamily="34" charset="0"/>
              </a:rPr>
              <a:pPr algn="r"/>
              <a:t>31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4A8ADD2B-2F39-4E3B-ADDF-100AAFC9441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182CB958-724B-4FB3-9C7F-FA3967803BE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09917" y="4460052"/>
            <a:ext cx="5682643" cy="4224363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F9E1071C-AD73-4954-90FF-818E03E5949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304" y="8917099"/>
            <a:ext cx="3078513" cy="4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fld id="{76D74744-BF7E-4E74-8F76-85E168698F40}" type="slidenum">
              <a:rPr lang="en-US" altLang="zh-CN">
                <a:latin typeface="Arial" panose="020B0604020202020204" pitchFamily="34" charset="0"/>
              </a:rPr>
              <a:pPr algn="r"/>
              <a:t>32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F4DF1C7D-3E67-4B74-81F1-21F43747EDF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B4C4131-49FD-4228-A67B-95B1B517DDB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09917" y="4460052"/>
            <a:ext cx="5682643" cy="4224363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19A84991-5353-4AD8-A35F-BB506E672D7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01833" y="9515695"/>
            <a:ext cx="2986309" cy="501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fld id="{621D46CF-4056-4AE3-8144-4B9586C85923}" type="slidenum">
              <a:rPr lang="en-US" altLang="zh-CN">
                <a:latin typeface="Arial" panose="020B0604020202020204" pitchFamily="34" charset="0"/>
              </a:rPr>
              <a:pPr algn="r"/>
              <a:t>33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5BD1A3D6-CBA3-4166-8F17-93A9483BA90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D1CF638E-0724-4883-9744-041EC1A5FA0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8655" y="4759451"/>
            <a:ext cx="5512443" cy="450794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24F3BD76-E84C-40B6-94E4-ACDDBB96FAA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01833" y="9515695"/>
            <a:ext cx="2986309" cy="501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fld id="{810E0A8E-6E7E-4520-9B32-F76D79E78250}" type="slidenum">
              <a:rPr lang="en-US" altLang="zh-CN">
                <a:latin typeface="Arial" panose="020B0604020202020204" pitchFamily="34" charset="0"/>
              </a:rPr>
              <a:pPr algn="r"/>
              <a:t>34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295F65C3-0C3D-4D33-B702-9AA58F366A3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F5067D60-1228-431B-9404-6752A099782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88655" y="4759451"/>
            <a:ext cx="5512443" cy="450794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40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6D2D0BD-10AE-4803-80A3-FCA1BB9675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5B2E2E8-4898-49AD-8835-83A49D4203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B77D190-D93E-4F7E-AE7F-928E4FFC2A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A37A51-B4C6-4C54-8AC6-9A2C9964752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7788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emf"/><Relationship Id="rId4" Type="http://schemas.openxmlformats.org/officeDocument/2006/relationships/image" Target="../media/image2.e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0.emf"/><Relationship Id="rId4" Type="http://schemas.openxmlformats.org/officeDocument/2006/relationships/image" Target="../media/image7.emf"/><Relationship Id="rId9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5.e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2.emf"/><Relationship Id="rId12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4.emf"/><Relationship Id="rId5" Type="http://schemas.openxmlformats.org/officeDocument/2006/relationships/image" Target="../media/image11.e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3.emf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oleObject" Target="../embeddings/oleObject15.bin"/><Relationship Id="rId7" Type="http://schemas.openxmlformats.org/officeDocument/2006/relationships/image" Target="../media/image16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6.emf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1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.e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e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20.emf"/><Relationship Id="rId4" Type="http://schemas.openxmlformats.org/officeDocument/2006/relationships/image" Target="../media/image17.e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2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13" Type="http://schemas.openxmlformats.org/officeDocument/2006/relationships/oleObject" Target="../embeddings/oleObject28.bin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5.e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7.emf"/><Relationship Id="rId4" Type="http://schemas.openxmlformats.org/officeDocument/2006/relationships/image" Target="../media/image24.e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29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34.bin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5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image" Target="../media/image39.png"/><Relationship Id="rId7" Type="http://schemas.openxmlformats.org/officeDocument/2006/relationships/image" Target="../media/image3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36.wmf"/><Relationship Id="rId10" Type="http://schemas.openxmlformats.org/officeDocument/2006/relationships/image" Target="../media/image40.png"/><Relationship Id="rId4" Type="http://schemas.openxmlformats.org/officeDocument/2006/relationships/oleObject" Target="../embeddings/oleObject35.bin"/><Relationship Id="rId9" Type="http://schemas.openxmlformats.org/officeDocument/2006/relationships/image" Target="../media/image3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13" Type="http://schemas.openxmlformats.org/officeDocument/2006/relationships/oleObject" Target="../embeddings/oleObject42.bin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4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1.e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5" Type="http://schemas.openxmlformats.org/officeDocument/2006/relationships/image" Target="../media/image47.gif"/><Relationship Id="rId10" Type="http://schemas.openxmlformats.org/officeDocument/2006/relationships/image" Target="../media/image43.emf"/><Relationship Id="rId4" Type="http://schemas.openxmlformats.org/officeDocument/2006/relationships/image" Target="../media/image46.e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5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13" Type="http://schemas.openxmlformats.org/officeDocument/2006/relationships/oleObject" Target="../embeddings/oleObject48.bin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5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9.emf"/><Relationship Id="rId11" Type="http://schemas.openxmlformats.org/officeDocument/2006/relationships/oleObject" Target="../embeddings/oleObject47.bin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51.emf"/><Relationship Id="rId4" Type="http://schemas.openxmlformats.org/officeDocument/2006/relationships/image" Target="../media/image48.e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53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13" Type="http://schemas.openxmlformats.org/officeDocument/2006/relationships/oleObject" Target="../embeddings/oleObject54.bin"/><Relationship Id="rId18" Type="http://schemas.openxmlformats.org/officeDocument/2006/relationships/image" Target="../media/image61.emf"/><Relationship Id="rId3" Type="http://schemas.openxmlformats.org/officeDocument/2006/relationships/oleObject" Target="../embeddings/oleObject49.bin"/><Relationship Id="rId21" Type="http://schemas.openxmlformats.org/officeDocument/2006/relationships/image" Target="../media/image63.jpeg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58.emf"/><Relationship Id="rId17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0.emf"/><Relationship Id="rId20" Type="http://schemas.openxmlformats.org/officeDocument/2006/relationships/image" Target="../media/image62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5.e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10" Type="http://schemas.openxmlformats.org/officeDocument/2006/relationships/image" Target="../media/image57.emf"/><Relationship Id="rId19" Type="http://schemas.openxmlformats.org/officeDocument/2006/relationships/oleObject" Target="../embeddings/oleObject57.bin"/><Relationship Id="rId4" Type="http://schemas.openxmlformats.org/officeDocument/2006/relationships/image" Target="../media/image54.e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59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5.e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6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5.e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6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13" Type="http://schemas.openxmlformats.org/officeDocument/2006/relationships/image" Target="../media/image89.png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7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3.e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75.emf"/><Relationship Id="rId4" Type="http://schemas.openxmlformats.org/officeDocument/2006/relationships/image" Target="../media/image72.emf"/><Relationship Id="rId9" Type="http://schemas.openxmlformats.org/officeDocument/2006/relationships/oleObject" Target="../embeddings/oleObject66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13" Type="http://schemas.openxmlformats.org/officeDocument/2006/relationships/image" Target="../media/image93.png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9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4.emf"/><Relationship Id="rId11" Type="http://schemas.openxmlformats.org/officeDocument/2006/relationships/image" Target="../media/image91.png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72.emf"/><Relationship Id="rId4" Type="http://schemas.openxmlformats.org/officeDocument/2006/relationships/image" Target="../media/image73.emf"/><Relationship Id="rId9" Type="http://schemas.openxmlformats.org/officeDocument/2006/relationships/oleObject" Target="../embeddings/oleObject71.bin"/><Relationship Id="rId14" Type="http://schemas.openxmlformats.org/officeDocument/2006/relationships/image" Target="../media/image9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image" Target="../media/image9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0.png"/><Relationship Id="rId7" Type="http://schemas.openxmlformats.org/officeDocument/2006/relationships/image" Target="../media/image107.png"/><Relationship Id="rId2" Type="http://schemas.openxmlformats.org/officeDocument/2006/relationships/image" Target="../media/image10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0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09.png"/><Relationship Id="rId7" Type="http://schemas.openxmlformats.org/officeDocument/2006/relationships/image" Target="../media/image117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0" Type="http://schemas.openxmlformats.org/officeDocument/2006/relationships/image" Target="../media/image120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7" Type="http://schemas.openxmlformats.org/officeDocument/2006/relationships/image" Target="../media/image126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5.png"/><Relationship Id="rId5" Type="http://schemas.openxmlformats.org/officeDocument/2006/relationships/image" Target="../media/image113.png"/><Relationship Id="rId4" Type="http://schemas.openxmlformats.org/officeDocument/2006/relationships/image" Target="../media/image12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0" Type="http://schemas.openxmlformats.org/officeDocument/2006/relationships/image" Target="../media/image136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13" Type="http://schemas.openxmlformats.org/officeDocument/2006/relationships/image" Target="../media/image148.png"/><Relationship Id="rId3" Type="http://schemas.openxmlformats.org/officeDocument/2006/relationships/image" Target="../media/image23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40.png"/><Relationship Id="rId10" Type="http://schemas.openxmlformats.org/officeDocument/2006/relationships/image" Target="../media/image145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50.png"/><Relationship Id="rId7" Type="http://schemas.openxmlformats.org/officeDocument/2006/relationships/image" Target="../media/image154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3" Type="http://schemas.openxmlformats.org/officeDocument/2006/relationships/image" Target="../media/image160.png"/><Relationship Id="rId7" Type="http://schemas.openxmlformats.org/officeDocument/2006/relationships/image" Target="../media/image84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3.png"/><Relationship Id="rId5" Type="http://schemas.openxmlformats.org/officeDocument/2006/relationships/image" Target="../media/image162.png"/><Relationship Id="rId4" Type="http://schemas.openxmlformats.org/officeDocument/2006/relationships/image" Target="../media/image161.png"/><Relationship Id="rId9" Type="http://schemas.openxmlformats.org/officeDocument/2006/relationships/image" Target="../media/image16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13" Type="http://schemas.openxmlformats.org/officeDocument/2006/relationships/oleObject" Target="../embeddings/oleObject77.bin"/><Relationship Id="rId18" Type="http://schemas.openxmlformats.org/officeDocument/2006/relationships/image" Target="../media/image85.emf"/><Relationship Id="rId26" Type="http://schemas.openxmlformats.org/officeDocument/2006/relationships/image" Target="../media/image89.emf"/><Relationship Id="rId3" Type="http://schemas.openxmlformats.org/officeDocument/2006/relationships/oleObject" Target="../embeddings/oleObject72.bin"/><Relationship Id="rId21" Type="http://schemas.openxmlformats.org/officeDocument/2006/relationships/oleObject" Target="../embeddings/oleObject81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82.emf"/><Relationship Id="rId17" Type="http://schemas.openxmlformats.org/officeDocument/2006/relationships/oleObject" Target="../embeddings/oleObject79.bin"/><Relationship Id="rId25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4.emf"/><Relationship Id="rId20" Type="http://schemas.openxmlformats.org/officeDocument/2006/relationships/image" Target="../media/image86.e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9.emf"/><Relationship Id="rId11" Type="http://schemas.openxmlformats.org/officeDocument/2006/relationships/oleObject" Target="../embeddings/oleObject76.bin"/><Relationship Id="rId24" Type="http://schemas.openxmlformats.org/officeDocument/2006/relationships/image" Target="../media/image88.emf"/><Relationship Id="rId5" Type="http://schemas.openxmlformats.org/officeDocument/2006/relationships/oleObject" Target="../embeddings/oleObject73.bin"/><Relationship Id="rId15" Type="http://schemas.openxmlformats.org/officeDocument/2006/relationships/oleObject" Target="../embeddings/oleObject78.bin"/><Relationship Id="rId23" Type="http://schemas.openxmlformats.org/officeDocument/2006/relationships/oleObject" Target="../embeddings/oleObject82.bin"/><Relationship Id="rId28" Type="http://schemas.openxmlformats.org/officeDocument/2006/relationships/image" Target="../media/image90.emf"/><Relationship Id="rId10" Type="http://schemas.openxmlformats.org/officeDocument/2006/relationships/image" Target="../media/image81.emf"/><Relationship Id="rId19" Type="http://schemas.openxmlformats.org/officeDocument/2006/relationships/oleObject" Target="../embeddings/oleObject80.bin"/><Relationship Id="rId4" Type="http://schemas.openxmlformats.org/officeDocument/2006/relationships/image" Target="../media/image78.emf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83.emf"/><Relationship Id="rId22" Type="http://schemas.openxmlformats.org/officeDocument/2006/relationships/image" Target="../media/image87.emf"/><Relationship Id="rId27" Type="http://schemas.openxmlformats.org/officeDocument/2006/relationships/oleObject" Target="../embeddings/oleObject84.bin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0.bin"/><Relationship Id="rId18" Type="http://schemas.openxmlformats.org/officeDocument/2006/relationships/image" Target="../media/image98.emf"/><Relationship Id="rId26" Type="http://schemas.openxmlformats.org/officeDocument/2006/relationships/image" Target="../media/image102.emf"/><Relationship Id="rId3" Type="http://schemas.openxmlformats.org/officeDocument/2006/relationships/oleObject" Target="../embeddings/oleObject85.bin"/><Relationship Id="rId21" Type="http://schemas.openxmlformats.org/officeDocument/2006/relationships/oleObject" Target="../embeddings/oleObject94.bin"/><Relationship Id="rId34" Type="http://schemas.openxmlformats.org/officeDocument/2006/relationships/image" Target="../media/image106.emf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95.emf"/><Relationship Id="rId17" Type="http://schemas.openxmlformats.org/officeDocument/2006/relationships/oleObject" Target="../embeddings/oleObject92.bin"/><Relationship Id="rId25" Type="http://schemas.openxmlformats.org/officeDocument/2006/relationships/oleObject" Target="../embeddings/oleObject96.bin"/><Relationship Id="rId33" Type="http://schemas.openxmlformats.org/officeDocument/2006/relationships/oleObject" Target="../embeddings/oleObject1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7.emf"/><Relationship Id="rId20" Type="http://schemas.openxmlformats.org/officeDocument/2006/relationships/image" Target="../media/image99.emf"/><Relationship Id="rId29" Type="http://schemas.openxmlformats.org/officeDocument/2006/relationships/oleObject" Target="../embeddings/oleObject98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2.emf"/><Relationship Id="rId11" Type="http://schemas.openxmlformats.org/officeDocument/2006/relationships/oleObject" Target="../embeddings/oleObject89.bin"/><Relationship Id="rId24" Type="http://schemas.openxmlformats.org/officeDocument/2006/relationships/image" Target="../media/image101.emf"/><Relationship Id="rId32" Type="http://schemas.openxmlformats.org/officeDocument/2006/relationships/image" Target="../media/image105.emf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23" Type="http://schemas.openxmlformats.org/officeDocument/2006/relationships/oleObject" Target="../embeddings/oleObject95.bin"/><Relationship Id="rId28" Type="http://schemas.openxmlformats.org/officeDocument/2006/relationships/image" Target="../media/image103.emf"/><Relationship Id="rId10" Type="http://schemas.openxmlformats.org/officeDocument/2006/relationships/image" Target="../media/image94.emf"/><Relationship Id="rId19" Type="http://schemas.openxmlformats.org/officeDocument/2006/relationships/oleObject" Target="../embeddings/oleObject93.bin"/><Relationship Id="rId31" Type="http://schemas.openxmlformats.org/officeDocument/2006/relationships/oleObject" Target="../embeddings/oleObject99.bin"/><Relationship Id="rId4" Type="http://schemas.openxmlformats.org/officeDocument/2006/relationships/image" Target="../media/image91.e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6.emf"/><Relationship Id="rId22" Type="http://schemas.openxmlformats.org/officeDocument/2006/relationships/image" Target="../media/image100.emf"/><Relationship Id="rId27" Type="http://schemas.openxmlformats.org/officeDocument/2006/relationships/oleObject" Target="../embeddings/oleObject97.bin"/><Relationship Id="rId30" Type="http://schemas.openxmlformats.org/officeDocument/2006/relationships/image" Target="../media/image104.emf"/><Relationship Id="rId8" Type="http://schemas.openxmlformats.org/officeDocument/2006/relationships/image" Target="../media/image93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8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02.bin"/><Relationship Id="rId5" Type="http://schemas.openxmlformats.org/officeDocument/2006/relationships/image" Target="../media/image107.emf"/><Relationship Id="rId4" Type="http://schemas.openxmlformats.org/officeDocument/2006/relationships/oleObject" Target="../embeddings/oleObject101.bin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0.emf"/><Relationship Id="rId18" Type="http://schemas.openxmlformats.org/officeDocument/2006/relationships/oleObject" Target="../embeddings/oleObject107.bin"/><Relationship Id="rId26" Type="http://schemas.openxmlformats.org/officeDocument/2006/relationships/oleObject" Target="../embeddings/oleObject111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114.emf"/><Relationship Id="rId34" Type="http://schemas.openxmlformats.org/officeDocument/2006/relationships/image" Target="../media/image120.emf"/><Relationship Id="rId7" Type="http://schemas.openxmlformats.org/officeDocument/2006/relationships/image" Target="../media/image125.jpeg"/><Relationship Id="rId12" Type="http://schemas.openxmlformats.org/officeDocument/2006/relationships/oleObject" Target="../embeddings/oleObject104.bin"/><Relationship Id="rId17" Type="http://schemas.openxmlformats.org/officeDocument/2006/relationships/image" Target="../media/image112.emf"/><Relationship Id="rId25" Type="http://schemas.openxmlformats.org/officeDocument/2006/relationships/image" Target="../media/image116.emf"/><Relationship Id="rId33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6.bin"/><Relationship Id="rId20" Type="http://schemas.openxmlformats.org/officeDocument/2006/relationships/oleObject" Target="../embeddings/oleObject108.bin"/><Relationship Id="rId29" Type="http://schemas.openxmlformats.org/officeDocument/2006/relationships/image" Target="../media/image118.e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24.jpeg"/><Relationship Id="rId11" Type="http://schemas.openxmlformats.org/officeDocument/2006/relationships/image" Target="../media/image109.emf"/><Relationship Id="rId24" Type="http://schemas.openxmlformats.org/officeDocument/2006/relationships/oleObject" Target="../embeddings/oleObject110.bin"/><Relationship Id="rId32" Type="http://schemas.openxmlformats.org/officeDocument/2006/relationships/image" Target="../media/image119.emf"/><Relationship Id="rId5" Type="http://schemas.openxmlformats.org/officeDocument/2006/relationships/image" Target="../media/image123.jpeg"/><Relationship Id="rId15" Type="http://schemas.openxmlformats.org/officeDocument/2006/relationships/image" Target="../media/image111.emf"/><Relationship Id="rId23" Type="http://schemas.openxmlformats.org/officeDocument/2006/relationships/image" Target="../media/image115.emf"/><Relationship Id="rId28" Type="http://schemas.openxmlformats.org/officeDocument/2006/relationships/oleObject" Target="../embeddings/oleObject112.bin"/><Relationship Id="rId36" Type="http://schemas.openxmlformats.org/officeDocument/2006/relationships/image" Target="../media/image121.emf"/><Relationship Id="rId10" Type="http://schemas.openxmlformats.org/officeDocument/2006/relationships/oleObject" Target="../embeddings/oleObject103.bin"/><Relationship Id="rId19" Type="http://schemas.openxmlformats.org/officeDocument/2006/relationships/image" Target="../media/image113.emf"/><Relationship Id="rId31" Type="http://schemas.openxmlformats.org/officeDocument/2006/relationships/oleObject" Target="../embeddings/oleObject113.bin"/><Relationship Id="rId4" Type="http://schemas.openxmlformats.org/officeDocument/2006/relationships/image" Target="../media/image122.jpeg"/><Relationship Id="rId9" Type="http://schemas.openxmlformats.org/officeDocument/2006/relationships/image" Target="../media/image127.jpeg"/><Relationship Id="rId14" Type="http://schemas.openxmlformats.org/officeDocument/2006/relationships/oleObject" Target="../embeddings/oleObject105.bin"/><Relationship Id="rId22" Type="http://schemas.openxmlformats.org/officeDocument/2006/relationships/oleObject" Target="../embeddings/oleObject109.bin"/><Relationship Id="rId27" Type="http://schemas.openxmlformats.org/officeDocument/2006/relationships/image" Target="../media/image117.emf"/><Relationship Id="rId30" Type="http://schemas.openxmlformats.org/officeDocument/2006/relationships/image" Target="../media/image128.jpeg"/><Relationship Id="rId35" Type="http://schemas.openxmlformats.org/officeDocument/2006/relationships/oleObject" Target="../embeddings/oleObject115.bin"/><Relationship Id="rId8" Type="http://schemas.openxmlformats.org/officeDocument/2006/relationships/image" Target="../media/image126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emf"/><Relationship Id="rId13" Type="http://schemas.openxmlformats.org/officeDocument/2006/relationships/image" Target="../media/image132.emf"/><Relationship Id="rId18" Type="http://schemas.openxmlformats.org/officeDocument/2006/relationships/oleObject" Target="../embeddings/oleObject122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136.emf"/><Relationship Id="rId7" Type="http://schemas.openxmlformats.org/officeDocument/2006/relationships/oleObject" Target="../embeddings/oleObject117.bin"/><Relationship Id="rId12" Type="http://schemas.openxmlformats.org/officeDocument/2006/relationships/oleObject" Target="../embeddings/oleObject119.bin"/><Relationship Id="rId17" Type="http://schemas.openxmlformats.org/officeDocument/2006/relationships/image" Target="../media/image13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1.bin"/><Relationship Id="rId20" Type="http://schemas.openxmlformats.org/officeDocument/2006/relationships/oleObject" Target="../embeddings/oleObject123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9.emf"/><Relationship Id="rId11" Type="http://schemas.openxmlformats.org/officeDocument/2006/relationships/image" Target="../media/image131.emf"/><Relationship Id="rId5" Type="http://schemas.openxmlformats.org/officeDocument/2006/relationships/oleObject" Target="../embeddings/oleObject116.bin"/><Relationship Id="rId15" Type="http://schemas.openxmlformats.org/officeDocument/2006/relationships/image" Target="../media/image133.emf"/><Relationship Id="rId23" Type="http://schemas.openxmlformats.org/officeDocument/2006/relationships/image" Target="../media/image137.emf"/><Relationship Id="rId10" Type="http://schemas.openxmlformats.org/officeDocument/2006/relationships/oleObject" Target="../embeddings/oleObject118.bin"/><Relationship Id="rId19" Type="http://schemas.openxmlformats.org/officeDocument/2006/relationships/image" Target="../media/image135.emf"/><Relationship Id="rId4" Type="http://schemas.openxmlformats.org/officeDocument/2006/relationships/image" Target="../media/image138.jpeg"/><Relationship Id="rId9" Type="http://schemas.openxmlformats.org/officeDocument/2006/relationships/image" Target="../media/image139.jpeg"/><Relationship Id="rId14" Type="http://schemas.openxmlformats.org/officeDocument/2006/relationships/oleObject" Target="../embeddings/oleObject120.bin"/><Relationship Id="rId22" Type="http://schemas.openxmlformats.org/officeDocument/2006/relationships/oleObject" Target="../embeddings/oleObject124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emf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1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40.emf"/><Relationship Id="rId5" Type="http://schemas.openxmlformats.org/officeDocument/2006/relationships/oleObject" Target="../embeddings/oleObject125.bin"/><Relationship Id="rId10" Type="http://schemas.openxmlformats.org/officeDocument/2006/relationships/image" Target="../media/image142.emf"/><Relationship Id="rId4" Type="http://schemas.openxmlformats.org/officeDocument/2006/relationships/audio" Target="../media/audio1.wav"/><Relationship Id="rId9" Type="http://schemas.openxmlformats.org/officeDocument/2006/relationships/oleObject" Target="../embeddings/oleObject12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Dec. 18,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754" name="Rectangle 2">
            <a:extLst>
              <a:ext uri="{FF2B5EF4-FFF2-40B4-BE49-F238E27FC236}">
                <a16:creationId xmlns:a16="http://schemas.microsoft.com/office/drawing/2014/main" id="{C5D2E825-9F22-468C-8DA3-165D26108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334995"/>
            <a:ext cx="53890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FFFF00"/>
                </a:solidFill>
                <a:latin typeface="STZhongsong" panose="02010600040101010101" pitchFamily="2" charset="-122"/>
              </a:rPr>
              <a:t>回顾：</a:t>
            </a:r>
            <a:endParaRPr lang="zh-CN" altLang="en-US" sz="2800" dirty="0">
              <a:solidFill>
                <a:schemeClr val="bg1"/>
              </a:solidFill>
              <a:latin typeface="STZhongsong" panose="02010600040101010101" pitchFamily="2" charset="-122"/>
            </a:endParaRPr>
          </a:p>
        </p:txBody>
      </p:sp>
      <p:sp>
        <p:nvSpPr>
          <p:cNvPr id="5123" name="灯片编号占位符 1">
            <a:extLst>
              <a:ext uri="{FF2B5EF4-FFF2-40B4-BE49-F238E27FC236}">
                <a16:creationId xmlns:a16="http://schemas.microsoft.com/office/drawing/2014/main" id="{4A601BE6-4B7B-499B-90F7-B58AE163B32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CC48DA8-57B7-4130-AE3E-1BB9922B06DD}" type="slidenum">
              <a:rPr lang="en-US" altLang="zh-CN" b="0">
                <a:solidFill>
                  <a:srgbClr val="FF00FF"/>
                </a:solidFill>
              </a:rPr>
              <a:pPr eaLnBrk="1" hangingPunct="1"/>
              <a:t>2</a:t>
            </a:fld>
            <a:r>
              <a:rPr lang="en-US" altLang="zh-CN" b="0">
                <a:solidFill>
                  <a:srgbClr val="FF00FF"/>
                </a:solidFill>
              </a:rPr>
              <a:t>/29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7EAAA9D4-F8DC-4F35-9E94-FCF22CE12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814214"/>
            <a:ext cx="3857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chemeClr val="bg1"/>
                </a:solidFill>
                <a:latin typeface="STZhongsong" panose="02010600040101010101" pitchFamily="2" charset="-122"/>
              </a:rPr>
              <a:t>1. </a:t>
            </a:r>
            <a:r>
              <a:rPr lang="zh-CN" altLang="en-US" sz="2800" dirty="0">
                <a:solidFill>
                  <a:schemeClr val="bg1"/>
                </a:solidFill>
                <a:latin typeface="STZhongsong" panose="02010600040101010101" pitchFamily="2" charset="-122"/>
              </a:rPr>
              <a:t>海森堡不确定关系</a:t>
            </a:r>
            <a:r>
              <a:rPr lang="en-US" altLang="zh-CN" sz="2800" dirty="0">
                <a:solidFill>
                  <a:schemeClr val="bg1"/>
                </a:solidFill>
                <a:latin typeface="STZhongsong" panose="02010600040101010101" pitchFamily="2" charset="-122"/>
              </a:rPr>
              <a:t>:</a:t>
            </a:r>
            <a:endParaRPr lang="zh-CN" altLang="en-US" sz="2800" dirty="0">
              <a:solidFill>
                <a:schemeClr val="bg1"/>
              </a:solidFill>
              <a:latin typeface="STZhongsong" panose="02010600040101010101" pitchFamily="2" charset="-122"/>
            </a:endParaRPr>
          </a:p>
        </p:txBody>
      </p:sp>
      <p:graphicFrame>
        <p:nvGraphicFramePr>
          <p:cNvPr id="15" name="Object 9">
            <a:extLst>
              <a:ext uri="{FF2B5EF4-FFF2-40B4-BE49-F238E27FC236}">
                <a16:creationId xmlns:a16="http://schemas.microsoft.com/office/drawing/2014/main" id="{C6F5866F-1F6C-4FA8-93C0-CFEDF93689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147165"/>
              </p:ext>
            </p:extLst>
          </p:nvPr>
        </p:nvGraphicFramePr>
        <p:xfrm>
          <a:off x="3923928" y="1188409"/>
          <a:ext cx="15875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407" name="公式" r:id="rId3" imgW="1562125" imgH="799998" progId="Equation.3">
                  <p:embed/>
                </p:oleObj>
              </mc:Choice>
              <mc:Fallback>
                <p:oleObj name="公式" r:id="rId3" imgW="1562125" imgH="799998" progId="Equation.3">
                  <p:embed/>
                  <p:pic>
                    <p:nvPicPr>
                      <p:cNvPr id="15" name="Object 9">
                        <a:extLst>
                          <a:ext uri="{FF2B5EF4-FFF2-40B4-BE49-F238E27FC236}">
                            <a16:creationId xmlns:a16="http://schemas.microsoft.com/office/drawing/2014/main" id="{C6F5866F-1F6C-4FA8-93C0-CFEDF93689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1188409"/>
                        <a:ext cx="158750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3">
            <a:extLst>
              <a:ext uri="{FF2B5EF4-FFF2-40B4-BE49-F238E27FC236}">
                <a16:creationId xmlns:a16="http://schemas.microsoft.com/office/drawing/2014/main" id="{63D9AAA3-F1A6-4CC8-859A-05C9A8A127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184467"/>
              </p:ext>
            </p:extLst>
          </p:nvPr>
        </p:nvGraphicFramePr>
        <p:xfrm>
          <a:off x="6084168" y="1200159"/>
          <a:ext cx="1510542" cy="75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408" r:id="rId5" imgW="1581120" imgH="940680" progId="Equation.3">
                  <p:embed/>
                </p:oleObj>
              </mc:Choice>
              <mc:Fallback>
                <p:oleObj r:id="rId5" imgW="1581120" imgH="940680" progId="Equation.3">
                  <p:embed/>
                  <p:pic>
                    <p:nvPicPr>
                      <p:cNvPr id="22" name="Object 33">
                        <a:extLst>
                          <a:ext uri="{FF2B5EF4-FFF2-40B4-BE49-F238E27FC236}">
                            <a16:creationId xmlns:a16="http://schemas.microsoft.com/office/drawing/2014/main" id="{63D9AAA3-F1A6-4CC8-859A-05C9A8A127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1200159"/>
                        <a:ext cx="1510542" cy="75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7">
            <a:extLst>
              <a:ext uri="{FF2B5EF4-FFF2-40B4-BE49-F238E27FC236}">
                <a16:creationId xmlns:a16="http://schemas.microsoft.com/office/drawing/2014/main" id="{8EA2EF6A-B4C4-4BD0-96E0-D0715B65BA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25104" y="3886264"/>
            <a:ext cx="1582737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11D24A52-48B8-4F0A-9A1D-FDED7AD84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629" y="2497797"/>
            <a:ext cx="261143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dirty="0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lang="zh-CN" altLang="en-US" sz="2200" dirty="0">
                <a:solidFill>
                  <a:schemeClr val="bg1"/>
                </a:solidFill>
                <a:latin typeface="楷体_GB2312" pitchFamily="49" charset="-122"/>
              </a:rPr>
              <a:t>用复数表示，自由粒子的波函数：</a:t>
            </a:r>
          </a:p>
        </p:txBody>
      </p:sp>
      <p:graphicFrame>
        <p:nvGraphicFramePr>
          <p:cNvPr id="26" name="Object 6">
            <a:extLst>
              <a:ext uri="{FF2B5EF4-FFF2-40B4-BE49-F238E27FC236}">
                <a16:creationId xmlns:a16="http://schemas.microsoft.com/office/drawing/2014/main" id="{A1E33E76-8D12-43B0-BBFB-AD1673D29C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3112217"/>
              </p:ext>
            </p:extLst>
          </p:nvPr>
        </p:nvGraphicFramePr>
        <p:xfrm>
          <a:off x="3611118" y="2471835"/>
          <a:ext cx="45339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409" r:id="rId7" imgW="1791720" imgH="280440" progId="Equation.3">
                  <p:embed/>
                </p:oleObj>
              </mc:Choice>
              <mc:Fallback>
                <p:oleObj r:id="rId7" imgW="1791720" imgH="280440" progId="Equation.3">
                  <p:embed/>
                  <p:pic>
                    <p:nvPicPr>
                      <p:cNvPr id="27" name="Object 6">
                        <a:extLst>
                          <a:ext uri="{FF2B5EF4-FFF2-40B4-BE49-F238E27FC236}">
                            <a16:creationId xmlns:a16="http://schemas.microsoft.com/office/drawing/2014/main" id="{539BB309-72B8-4D85-9AFB-AC02E1DC56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1118" y="2471835"/>
                        <a:ext cx="45339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12">
            <a:extLst>
              <a:ext uri="{FF2B5EF4-FFF2-40B4-BE49-F238E27FC236}">
                <a16:creationId xmlns:a16="http://schemas.microsoft.com/office/drawing/2014/main" id="{27C249E5-969A-443C-9BAD-964EB8AEE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491" y="3478277"/>
            <a:ext cx="2611438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>
                <a:solidFill>
                  <a:schemeClr val="bg1"/>
                </a:solidFill>
                <a:latin typeface="楷体_GB2312" pitchFamily="49" charset="-122"/>
              </a:rPr>
              <a:t>  </a:t>
            </a:r>
            <a:r>
              <a:rPr lang="zh-CN" altLang="en-US" sz="2200">
                <a:solidFill>
                  <a:schemeClr val="bg1"/>
                </a:solidFill>
                <a:latin typeface="楷体_GB2312" pitchFamily="49" charset="-122"/>
              </a:rPr>
              <a:t>自由粒子在沿空间任意方向运动的波函数：</a:t>
            </a:r>
          </a:p>
        </p:txBody>
      </p:sp>
      <p:graphicFrame>
        <p:nvGraphicFramePr>
          <p:cNvPr id="28" name="Object 7">
            <a:extLst>
              <a:ext uri="{FF2B5EF4-FFF2-40B4-BE49-F238E27FC236}">
                <a16:creationId xmlns:a16="http://schemas.microsoft.com/office/drawing/2014/main" id="{D3447FA8-CBFF-4926-A382-CF8A666686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69965"/>
              </p:ext>
            </p:extLst>
          </p:nvPr>
        </p:nvGraphicFramePr>
        <p:xfrm>
          <a:off x="3792386" y="3598119"/>
          <a:ext cx="287496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410" r:id="rId9" imgW="1086120" imgH="280440" progId="Equation.3">
                  <p:embed/>
                </p:oleObj>
              </mc:Choice>
              <mc:Fallback>
                <p:oleObj r:id="rId9" imgW="1086120" imgH="280440" progId="Equation.3">
                  <p:embed/>
                  <p:pic>
                    <p:nvPicPr>
                      <p:cNvPr id="30" name="Object 7">
                        <a:extLst>
                          <a:ext uri="{FF2B5EF4-FFF2-40B4-BE49-F238E27FC236}">
                            <a16:creationId xmlns:a16="http://schemas.microsoft.com/office/drawing/2014/main" id="{9BE6DDF5-6A4A-41D2-9D03-1D58613EDA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386" y="3598119"/>
                        <a:ext cx="287496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10">
            <a:extLst>
              <a:ext uri="{FF2B5EF4-FFF2-40B4-BE49-F238E27FC236}">
                <a16:creationId xmlns:a16="http://schemas.microsoft.com/office/drawing/2014/main" id="{CEDD8372-C9E1-4529-9EB0-D6A5FF067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129" y="4748277"/>
            <a:ext cx="8358187" cy="94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FF00"/>
                </a:solidFill>
                <a:ea typeface="STZhongsong" panose="02010600040101010101" pitchFamily="2" charset="-122"/>
              </a:rPr>
              <a:t>波恩</a:t>
            </a:r>
            <a:r>
              <a:rPr lang="zh-CN" altLang="en-US" dirty="0">
                <a:solidFill>
                  <a:schemeClr val="bg1"/>
                </a:solidFill>
                <a:ea typeface="STZhongsong" panose="02010600040101010101" pitchFamily="2" charset="-122"/>
              </a:rPr>
              <a:t>波函数的物理意义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  <a:r>
              <a:rPr lang="zh-CN" altLang="en-US" sz="2200" dirty="0">
                <a:solidFill>
                  <a:schemeClr val="bg1"/>
                </a:solidFill>
                <a:ea typeface="STZhongsong" panose="02010600040101010101" pitchFamily="2" charset="-122"/>
              </a:rPr>
              <a:t>波函数</a:t>
            </a:r>
            <a:r>
              <a:rPr lang="zh-CN" altLang="en-US" sz="2200" dirty="0">
                <a:solidFill>
                  <a:srgbClr val="FF0000"/>
                </a:solidFill>
                <a:ea typeface="STZhongsong" panose="02010600040101010101" pitchFamily="2" charset="-122"/>
              </a:rPr>
              <a:t>模的平方</a:t>
            </a:r>
            <a:r>
              <a:rPr lang="zh-CN" altLang="en-US" sz="2200" dirty="0">
                <a:solidFill>
                  <a:schemeClr val="bg1"/>
                </a:solidFill>
                <a:ea typeface="STZhongsong" panose="02010600040101010101" pitchFamily="2" charset="-122"/>
              </a:rPr>
              <a:t>代表</a:t>
            </a:r>
            <a:r>
              <a:rPr lang="zh-CN" altLang="en-US" sz="2200" dirty="0">
                <a:solidFill>
                  <a:srgbClr val="FFFF00"/>
                </a:solidFill>
                <a:ea typeface="STZhongsong" panose="02010600040101010101" pitchFamily="2" charset="-122"/>
              </a:rPr>
              <a:t>某时刻 </a:t>
            </a:r>
            <a:r>
              <a:rPr lang="en-US" altLang="zh-CN" sz="2200" i="1" dirty="0">
                <a:solidFill>
                  <a:srgbClr val="FFFF00"/>
                </a:solidFill>
              </a:rPr>
              <a:t>t </a:t>
            </a:r>
            <a:r>
              <a:rPr lang="zh-CN" altLang="en-US" sz="2200" dirty="0">
                <a:solidFill>
                  <a:srgbClr val="FFFF00"/>
                </a:solidFill>
                <a:ea typeface="STZhongsong" panose="02010600040101010101" pitchFamily="2" charset="-122"/>
              </a:rPr>
              <a:t>在空间某点 </a:t>
            </a:r>
            <a:r>
              <a:rPr lang="en-US" altLang="zh-CN" sz="2200" dirty="0">
                <a:solidFill>
                  <a:srgbClr val="FFFF00"/>
                </a:solidFill>
              </a:rPr>
              <a:t>(</a:t>
            </a:r>
            <a:r>
              <a:rPr lang="en-US" altLang="zh-CN" sz="2200" i="1" dirty="0">
                <a:solidFill>
                  <a:srgbClr val="FFFF00"/>
                </a:solidFill>
              </a:rPr>
              <a:t>x, y, z</a:t>
            </a:r>
            <a:r>
              <a:rPr lang="en-US" altLang="zh-CN" sz="2200" dirty="0">
                <a:solidFill>
                  <a:srgbClr val="FFFF00"/>
                </a:solidFill>
              </a:rPr>
              <a:t>) </a:t>
            </a:r>
            <a:r>
              <a:rPr lang="zh-CN" altLang="en-US" sz="2200" dirty="0">
                <a:solidFill>
                  <a:srgbClr val="FFFF00"/>
                </a:solidFill>
                <a:ea typeface="STZhongsong" panose="02010600040101010101" pitchFamily="2" charset="-122"/>
              </a:rPr>
              <a:t>附近单位体积内发现粒子的概率，即 </a:t>
            </a:r>
            <a:r>
              <a:rPr lang="en-US" altLang="zh-CN" sz="2200" dirty="0">
                <a:solidFill>
                  <a:srgbClr val="FFFF00"/>
                </a:solidFill>
              </a:rPr>
              <a:t>|</a:t>
            </a:r>
            <a:r>
              <a:rPr lang="en-US" altLang="zh-CN" sz="2200" i="1" dirty="0">
                <a:solidFill>
                  <a:srgbClr val="FFFF00"/>
                </a:solidFill>
              </a:rPr>
              <a:t>Ψ</a:t>
            </a:r>
            <a:r>
              <a:rPr lang="en-US" altLang="zh-CN" sz="2200" dirty="0">
                <a:solidFill>
                  <a:srgbClr val="FFFF00"/>
                </a:solidFill>
              </a:rPr>
              <a:t>|</a:t>
            </a:r>
            <a:r>
              <a:rPr lang="en-US" altLang="zh-CN" sz="2200" baseline="30000" dirty="0">
                <a:solidFill>
                  <a:srgbClr val="FFFF00"/>
                </a:solidFill>
              </a:rPr>
              <a:t>2 </a:t>
            </a:r>
            <a:r>
              <a:rPr lang="zh-CN" altLang="en-US" sz="2200" dirty="0">
                <a:solidFill>
                  <a:srgbClr val="FFFF00"/>
                </a:solidFill>
                <a:ea typeface="STZhongsong" panose="02010600040101010101" pitchFamily="2" charset="-122"/>
              </a:rPr>
              <a:t>代表概率密度</a:t>
            </a:r>
            <a:endParaRPr lang="zh-CN" altLang="en-US" sz="2200" dirty="0">
              <a:solidFill>
                <a:srgbClr val="FFFF00"/>
              </a:solidFill>
            </a:endParaRPr>
          </a:p>
        </p:txBody>
      </p:sp>
      <p:graphicFrame>
        <p:nvGraphicFramePr>
          <p:cNvPr id="30" name="Object 8">
            <a:extLst>
              <a:ext uri="{FF2B5EF4-FFF2-40B4-BE49-F238E27FC236}">
                <a16:creationId xmlns:a16="http://schemas.microsoft.com/office/drawing/2014/main" id="{5E1F1446-7664-49AD-B9B0-13B250533D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677423"/>
              </p:ext>
            </p:extLst>
          </p:nvPr>
        </p:nvGraphicFramePr>
        <p:xfrm>
          <a:off x="5543104" y="5848414"/>
          <a:ext cx="29940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411" r:id="rId11" imgW="2772720" imgH="489600" progId="Equation.3">
                  <p:embed/>
                </p:oleObj>
              </mc:Choice>
              <mc:Fallback>
                <p:oleObj r:id="rId11" imgW="2772720" imgH="489600" progId="Equation.3">
                  <p:embed/>
                  <p:pic>
                    <p:nvPicPr>
                      <p:cNvPr id="32" name="Object 8">
                        <a:extLst>
                          <a:ext uri="{FF2B5EF4-FFF2-40B4-BE49-F238E27FC236}">
                            <a16:creationId xmlns:a16="http://schemas.microsoft.com/office/drawing/2014/main" id="{9EC84655-1948-4FD9-B8E5-945C3C050C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104" y="5848414"/>
                        <a:ext cx="29940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8">
            <a:extLst>
              <a:ext uri="{FF2B5EF4-FFF2-40B4-BE49-F238E27FC236}">
                <a16:creationId xmlns:a16="http://schemas.microsoft.com/office/drawing/2014/main" id="{95E26F9E-CE45-47AF-9C11-A3B3DBD86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916" y="5888102"/>
            <a:ext cx="6372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66FFFF"/>
                </a:solidFill>
                <a:ea typeface="STZhongsong" panose="02010600040101010101" pitchFamily="2" charset="-122"/>
              </a:rPr>
              <a:t>单值</a:t>
            </a:r>
            <a:r>
              <a:rPr lang="zh-CN" altLang="en-US" dirty="0">
                <a:solidFill>
                  <a:schemeClr val="hlink"/>
                </a:solidFill>
                <a:ea typeface="STZhongsong" panose="02010600040101010101" pitchFamily="2" charset="-122"/>
              </a:rPr>
              <a:t>、</a:t>
            </a:r>
            <a:r>
              <a:rPr lang="zh-CN" altLang="en-US" dirty="0">
                <a:solidFill>
                  <a:srgbClr val="66FFFF"/>
                </a:solidFill>
                <a:ea typeface="STZhongsong" panose="02010600040101010101" pitchFamily="2" charset="-122"/>
              </a:rPr>
              <a:t>有限</a:t>
            </a:r>
            <a:r>
              <a:rPr lang="zh-CN" altLang="en-US" dirty="0">
                <a:solidFill>
                  <a:schemeClr val="hlink"/>
                </a:solidFill>
                <a:ea typeface="STZhongsong" panose="02010600040101010101" pitchFamily="2" charset="-122"/>
              </a:rPr>
              <a:t>、</a:t>
            </a:r>
            <a:r>
              <a:rPr lang="zh-CN" altLang="en-US" dirty="0">
                <a:solidFill>
                  <a:srgbClr val="66FFFF"/>
                </a:solidFill>
                <a:ea typeface="STZhongsong" panose="02010600040101010101" pitchFamily="2" charset="-122"/>
              </a:rPr>
              <a:t>连续；   归一化条件</a:t>
            </a:r>
            <a:r>
              <a:rPr lang="en-US" altLang="zh-CN" dirty="0">
                <a:solidFill>
                  <a:srgbClr val="66FFFF"/>
                </a:solidFill>
                <a:ea typeface="STZhongsong" panose="02010600040101010101" pitchFamily="2" charset="-122"/>
              </a:rPr>
              <a:t>:</a:t>
            </a:r>
            <a:endParaRPr lang="zh-CN" altLang="en-US" dirty="0">
              <a:solidFill>
                <a:srgbClr val="66FFFF"/>
              </a:solidFill>
              <a:ea typeface="STZhongsong" panose="02010600040101010101" pitchFamily="2" charset="-122"/>
            </a:endParaRPr>
          </a:p>
        </p:txBody>
      </p:sp>
      <p:sp>
        <p:nvSpPr>
          <p:cNvPr id="32" name="五角星 37">
            <a:extLst>
              <a:ext uri="{FF2B5EF4-FFF2-40B4-BE49-F238E27FC236}">
                <a16:creationId xmlns:a16="http://schemas.microsoft.com/office/drawing/2014/main" id="{B3DC6E67-196D-41F3-87A3-B9197D6D0004}"/>
              </a:ext>
            </a:extLst>
          </p:cNvPr>
          <p:cNvSpPr/>
          <p:nvPr/>
        </p:nvSpPr>
        <p:spPr bwMode="auto">
          <a:xfrm>
            <a:off x="107504" y="5835714"/>
            <a:ext cx="500062" cy="500063"/>
          </a:xfrm>
          <a:prstGeom prst="star5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  <a:defRPr/>
            </a:pPr>
            <a:endParaRPr kumimoji="1" lang="zh-CN" altLang="en-US"/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AA14A14D-BBCC-4257-A912-43A796AED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10" y="1916832"/>
            <a:ext cx="50426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chemeClr val="bg1"/>
                </a:solidFill>
                <a:latin typeface="STZhongsong" panose="02010600040101010101" pitchFamily="2" charset="-122"/>
              </a:rPr>
              <a:t>2. </a:t>
            </a:r>
            <a:r>
              <a:rPr lang="zh-CN" altLang="en-US" sz="2800" dirty="0">
                <a:solidFill>
                  <a:schemeClr val="bg1"/>
                </a:solidFill>
                <a:latin typeface="STZhongsong" panose="02010600040101010101" pitchFamily="2" charset="-122"/>
              </a:rPr>
              <a:t>波函数及其统计解释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5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4754" grpId="0"/>
      <p:bldP spid="14" grpId="0"/>
      <p:bldP spid="25" grpId="0"/>
      <p:bldP spid="27" grpId="0"/>
      <p:bldP spid="29" grpId="0"/>
      <p:bldP spid="31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灯片编号占位符 1">
            <a:extLst>
              <a:ext uri="{FF2B5EF4-FFF2-40B4-BE49-F238E27FC236}">
                <a16:creationId xmlns:a16="http://schemas.microsoft.com/office/drawing/2014/main" id="{039F2333-FBF6-4CCC-8657-009AC31BD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973DEB9-7E22-4AE8-AC8C-82B0923B3E8D}" type="slidenum">
              <a:rPr lang="en-US" altLang="zh-CN" b="0">
                <a:solidFill>
                  <a:srgbClr val="FF00FF"/>
                </a:solidFill>
              </a:rPr>
              <a:pPr/>
              <a:t>3</a:t>
            </a:fld>
            <a:r>
              <a:rPr lang="en-US" altLang="zh-CN" b="0">
                <a:solidFill>
                  <a:srgbClr val="FF00FF"/>
                </a:solidFill>
              </a:rPr>
              <a:t>/22</a:t>
            </a: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AEA435E8-A028-4F6E-8A30-CB95A7A46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374750"/>
            <a:ext cx="8403976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269875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indent="0" eaLnBrk="1" hangingPunct="1"/>
            <a:r>
              <a:rPr lang="en-US" altLang="zh-CN" sz="2500" dirty="0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3. </a:t>
            </a:r>
            <a:r>
              <a:rPr lang="zh-CN" altLang="en-US" sz="2500" dirty="0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一维定态薛定谔方程（一维空间</a:t>
            </a:r>
            <a:r>
              <a:rPr lang="en-US" altLang="zh-CN" sz="2500" dirty="0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, </a:t>
            </a:r>
            <a:r>
              <a:rPr lang="zh-CN" altLang="en-US" sz="2500" dirty="0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势场</a:t>
            </a:r>
            <a:r>
              <a:rPr lang="en-US" altLang="zh-CN" sz="2500" i="1" dirty="0">
                <a:solidFill>
                  <a:srgbClr val="FFFF00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V</a:t>
            </a:r>
            <a:r>
              <a:rPr lang="zh-CN" altLang="en-US" sz="2500" dirty="0">
                <a:solidFill>
                  <a:schemeClr val="hlink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不随时间变化）</a:t>
            </a:r>
            <a:endParaRPr lang="en-US" altLang="zh-CN" sz="2500" dirty="0">
              <a:solidFill>
                <a:schemeClr val="hlink"/>
              </a:solidFill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graphicFrame>
        <p:nvGraphicFramePr>
          <p:cNvPr id="35" name="Object 9">
            <a:extLst>
              <a:ext uri="{FF2B5EF4-FFF2-40B4-BE49-F238E27FC236}">
                <a16:creationId xmlns:a16="http://schemas.microsoft.com/office/drawing/2014/main" id="{CE4FFDFD-78DD-47D1-8B29-5DB72835A0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1858012"/>
              </p:ext>
            </p:extLst>
          </p:nvPr>
        </p:nvGraphicFramePr>
        <p:xfrm>
          <a:off x="877888" y="1184548"/>
          <a:ext cx="412273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429" r:id="rId3" imgW="3555720" imgH="742680" progId="Equation.3">
                  <p:embed/>
                </p:oleObj>
              </mc:Choice>
              <mc:Fallback>
                <p:oleObj r:id="rId3" imgW="3555720" imgH="742680" progId="Equation.3">
                  <p:embed/>
                  <p:pic>
                    <p:nvPicPr>
                      <p:cNvPr id="35" name="Object 9">
                        <a:extLst>
                          <a:ext uri="{FF2B5EF4-FFF2-40B4-BE49-F238E27FC236}">
                            <a16:creationId xmlns:a16="http://schemas.microsoft.com/office/drawing/2014/main" id="{CE4FFDFD-78DD-47D1-8B29-5DB72835A06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1184548"/>
                        <a:ext cx="4122737" cy="876300"/>
                      </a:xfrm>
                      <a:prstGeom prst="rect">
                        <a:avLst/>
                      </a:prstGeom>
                      <a:solidFill>
                        <a:srgbClr val="0000CC"/>
                      </a:solidFill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25">
            <a:extLst>
              <a:ext uri="{FF2B5EF4-FFF2-40B4-BE49-F238E27FC236}">
                <a16:creationId xmlns:a16="http://schemas.microsoft.com/office/drawing/2014/main" id="{BDDB20E0-01C9-45E8-86FC-6D5E2C63F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144" y="1203598"/>
            <a:ext cx="28575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dirty="0">
                <a:solidFill>
                  <a:schemeClr val="hlink"/>
                </a:solidFill>
                <a:ea typeface="STZhongsong" panose="02010600040101010101" pitchFamily="2" charset="-122"/>
              </a:rPr>
              <a:t>一维无限深势阱</a:t>
            </a:r>
            <a:endParaRPr lang="en-US" altLang="zh-CN" dirty="0">
              <a:solidFill>
                <a:schemeClr val="hlink"/>
              </a:solidFill>
              <a:ea typeface="STZhongsong" panose="02010600040101010101" pitchFamily="2" charset="-122"/>
            </a:endParaRPr>
          </a:p>
          <a:p>
            <a:pPr algn="ctr"/>
            <a:r>
              <a:rPr lang="zh-CN" altLang="en-US" dirty="0">
                <a:solidFill>
                  <a:schemeClr val="hlink"/>
                </a:solidFill>
                <a:ea typeface="STZhongsong" panose="02010600040101010101" pitchFamily="2" charset="-122"/>
              </a:rPr>
              <a:t>粒子</a:t>
            </a:r>
            <a:endParaRPr lang="zh-CN" altLang="en-US" i="1" dirty="0">
              <a:solidFill>
                <a:schemeClr val="hlink"/>
              </a:solidFill>
              <a:ea typeface="STZhongsong" panose="02010600040101010101" pitchFamily="2" charset="-122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77BC9385-E372-447C-9F7D-2BC317E45D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14938" y="1584598"/>
            <a:ext cx="688975" cy="635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五角星 38">
            <a:extLst>
              <a:ext uri="{FF2B5EF4-FFF2-40B4-BE49-F238E27FC236}">
                <a16:creationId xmlns:a16="http://schemas.microsoft.com/office/drawing/2014/main" id="{C815A904-8E92-4B28-90BF-E80D0AE6452A}"/>
              </a:ext>
            </a:extLst>
          </p:cNvPr>
          <p:cNvSpPr/>
          <p:nvPr/>
        </p:nvSpPr>
        <p:spPr bwMode="auto">
          <a:xfrm>
            <a:off x="214313" y="1327423"/>
            <a:ext cx="500062" cy="500063"/>
          </a:xfrm>
          <a:prstGeom prst="star5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  <a:defRPr/>
            </a:pPr>
            <a:endParaRPr kumimoji="1" lang="zh-CN" alt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1548B67A-596A-461D-9B5F-750EC04E2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366" y="2405832"/>
            <a:ext cx="472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FFFF00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一维无限深势阱中的粒子 </a:t>
            </a:r>
          </a:p>
        </p:txBody>
      </p:sp>
      <p:grpSp>
        <p:nvGrpSpPr>
          <p:cNvPr id="20" name="Group 22">
            <a:extLst>
              <a:ext uri="{FF2B5EF4-FFF2-40B4-BE49-F238E27FC236}">
                <a16:creationId xmlns:a16="http://schemas.microsoft.com/office/drawing/2014/main" id="{A43D6831-36DB-4172-9402-A416EDB0233B}"/>
              </a:ext>
            </a:extLst>
          </p:cNvPr>
          <p:cNvGrpSpPr>
            <a:grpSpLocks/>
          </p:cNvGrpSpPr>
          <p:nvPr/>
        </p:nvGrpSpPr>
        <p:grpSpPr bwMode="auto">
          <a:xfrm>
            <a:off x="801582" y="3248571"/>
            <a:ext cx="3640138" cy="1147762"/>
            <a:chOff x="240" y="1520"/>
            <a:chExt cx="2293" cy="723"/>
          </a:xfrm>
        </p:grpSpPr>
        <p:sp>
          <p:nvSpPr>
            <p:cNvPr id="21" name="Text Box 23">
              <a:extLst>
                <a:ext uri="{FF2B5EF4-FFF2-40B4-BE49-F238E27FC236}">
                  <a16:creationId xmlns:a16="http://schemas.microsoft.com/office/drawing/2014/main" id="{F3895562-2799-4D8F-8AA6-F97D3A162C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520"/>
              <a:ext cx="19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 dirty="0">
                  <a:solidFill>
                    <a:schemeClr val="hlink"/>
                  </a:solidFill>
                </a:rPr>
                <a:t>V </a:t>
              </a:r>
              <a:r>
                <a:rPr lang="en-US" altLang="zh-CN" dirty="0">
                  <a:solidFill>
                    <a:schemeClr val="hlink"/>
                  </a:solidFill>
                </a:rPr>
                <a:t>(</a:t>
              </a:r>
              <a:r>
                <a:rPr lang="en-US" altLang="zh-CN" i="1" dirty="0">
                  <a:solidFill>
                    <a:schemeClr val="hlink"/>
                  </a:solidFill>
                </a:rPr>
                <a:t>x</a:t>
              </a:r>
              <a:r>
                <a:rPr lang="en-US" altLang="zh-CN" dirty="0">
                  <a:solidFill>
                    <a:schemeClr val="hlink"/>
                  </a:solidFill>
                </a:rPr>
                <a:t>) = 0</a:t>
              </a:r>
              <a:r>
                <a:rPr lang="en-US" altLang="zh-CN" dirty="0">
                  <a:solidFill>
                    <a:srgbClr val="FFCC66"/>
                  </a:solidFill>
                </a:rPr>
                <a:t>          </a:t>
              </a:r>
              <a:r>
                <a:rPr lang="en-US" altLang="zh-CN" dirty="0">
                  <a:solidFill>
                    <a:srgbClr val="66FFFF"/>
                  </a:solidFill>
                </a:rPr>
                <a:t>0 &lt; </a:t>
              </a:r>
              <a:r>
                <a:rPr lang="en-US" altLang="zh-CN" i="1" dirty="0">
                  <a:solidFill>
                    <a:srgbClr val="66FFFF"/>
                  </a:solidFill>
                </a:rPr>
                <a:t>x </a:t>
              </a:r>
              <a:r>
                <a:rPr lang="en-US" altLang="zh-CN" dirty="0">
                  <a:solidFill>
                    <a:srgbClr val="66FFFF"/>
                  </a:solidFill>
                </a:rPr>
                <a:t>&lt; </a:t>
              </a:r>
              <a:r>
                <a:rPr lang="en-US" altLang="zh-CN" i="1" dirty="0">
                  <a:solidFill>
                    <a:srgbClr val="66FFFF"/>
                  </a:solidFill>
                </a:rPr>
                <a:t>a</a:t>
              </a:r>
            </a:p>
          </p:txBody>
        </p:sp>
        <p:sp>
          <p:nvSpPr>
            <p:cNvPr id="22" name="Text Box 24">
              <a:extLst>
                <a:ext uri="{FF2B5EF4-FFF2-40B4-BE49-F238E27FC236}">
                  <a16:creationId xmlns:a16="http://schemas.microsoft.com/office/drawing/2014/main" id="{3C67331B-DD97-4AB8-A0C5-5CFABCDD9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952"/>
              <a:ext cx="219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 dirty="0">
                  <a:solidFill>
                    <a:schemeClr val="hlink"/>
                  </a:solidFill>
                </a:rPr>
                <a:t>V </a:t>
              </a:r>
              <a:r>
                <a:rPr lang="en-US" altLang="zh-CN" dirty="0">
                  <a:solidFill>
                    <a:schemeClr val="hlink"/>
                  </a:solidFill>
                </a:rPr>
                <a:t>(</a:t>
              </a:r>
              <a:r>
                <a:rPr lang="en-US" altLang="zh-CN" i="1" dirty="0">
                  <a:solidFill>
                    <a:schemeClr val="hlink"/>
                  </a:solidFill>
                </a:rPr>
                <a:t>x</a:t>
              </a:r>
              <a:r>
                <a:rPr lang="en-US" altLang="zh-CN" dirty="0">
                  <a:solidFill>
                    <a:schemeClr val="hlink"/>
                  </a:solidFill>
                </a:rPr>
                <a:t>) = ∞</a:t>
              </a:r>
              <a:r>
                <a:rPr lang="en-US" altLang="zh-CN" dirty="0">
                  <a:solidFill>
                    <a:srgbClr val="FFCC66"/>
                  </a:solidFill>
                </a:rPr>
                <a:t>     </a:t>
              </a:r>
              <a:r>
                <a:rPr lang="en-US" altLang="zh-CN" i="1" dirty="0">
                  <a:solidFill>
                    <a:srgbClr val="66FFFF"/>
                  </a:solidFill>
                </a:rPr>
                <a:t>x </a:t>
              </a:r>
              <a:r>
                <a:rPr lang="en-US" altLang="zh-CN" dirty="0">
                  <a:solidFill>
                    <a:srgbClr val="66FFFF"/>
                  </a:solidFill>
                </a:rPr>
                <a:t>&lt; 0 </a:t>
              </a:r>
              <a:r>
                <a:rPr lang="zh-CN" altLang="en-US" dirty="0">
                  <a:solidFill>
                    <a:schemeClr val="hlink"/>
                  </a:solidFill>
                  <a:ea typeface="STZhongsong" panose="02010600040101010101" pitchFamily="2" charset="-122"/>
                </a:rPr>
                <a:t>或</a:t>
              </a:r>
              <a:r>
                <a:rPr lang="zh-CN" altLang="en-US" dirty="0">
                  <a:solidFill>
                    <a:srgbClr val="66FFFF"/>
                  </a:solidFill>
                </a:rPr>
                <a:t> </a:t>
              </a:r>
              <a:r>
                <a:rPr lang="en-US" altLang="zh-CN" i="1" dirty="0">
                  <a:solidFill>
                    <a:srgbClr val="66FFFF"/>
                  </a:solidFill>
                </a:rPr>
                <a:t>x </a:t>
              </a:r>
              <a:r>
                <a:rPr lang="en-US" altLang="zh-CN" dirty="0">
                  <a:solidFill>
                    <a:srgbClr val="66FFFF"/>
                  </a:solidFill>
                </a:rPr>
                <a:t>&gt; </a:t>
              </a:r>
              <a:r>
                <a:rPr lang="en-US" altLang="zh-CN" i="1" dirty="0">
                  <a:solidFill>
                    <a:srgbClr val="66FFFF"/>
                  </a:solidFill>
                </a:rPr>
                <a:t>a</a:t>
              </a:r>
            </a:p>
          </p:txBody>
        </p:sp>
        <p:sp>
          <p:nvSpPr>
            <p:cNvPr id="23" name="AutoShape 25">
              <a:extLst>
                <a:ext uri="{FF2B5EF4-FFF2-40B4-BE49-F238E27FC236}">
                  <a16:creationId xmlns:a16="http://schemas.microsoft.com/office/drawing/2014/main" id="{F7D15B43-1A73-44F6-81AD-582840C73B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" y="1584"/>
              <a:ext cx="77" cy="624"/>
            </a:xfrm>
            <a:prstGeom prst="leftBrace">
              <a:avLst>
                <a:gd name="adj1" fmla="val 108315"/>
                <a:gd name="adj2" fmla="val 50000"/>
              </a:avLst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CA20D29-8645-4BEB-9188-DD5BBF157F11}"/>
              </a:ext>
            </a:extLst>
          </p:cNvPr>
          <p:cNvGrpSpPr/>
          <p:nvPr/>
        </p:nvGrpSpPr>
        <p:grpSpPr>
          <a:xfrm>
            <a:off x="4793403" y="2879749"/>
            <a:ext cx="3955061" cy="3357563"/>
            <a:chOff x="4884139" y="457200"/>
            <a:chExt cx="3955061" cy="3357563"/>
          </a:xfrm>
        </p:grpSpPr>
        <p:sp>
          <p:nvSpPr>
            <p:cNvPr id="25" name="Rectangle 2">
              <a:extLst>
                <a:ext uri="{FF2B5EF4-FFF2-40B4-BE49-F238E27FC236}">
                  <a16:creationId xmlns:a16="http://schemas.microsoft.com/office/drawing/2014/main" id="{51E36C03-83B3-45C8-81AA-AC54A2257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0750" y="1038225"/>
              <a:ext cx="1524000" cy="2362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" name="Line 5">
              <a:extLst>
                <a:ext uri="{FF2B5EF4-FFF2-40B4-BE49-F238E27FC236}">
                  <a16:creationId xmlns:a16="http://schemas.microsoft.com/office/drawing/2014/main" id="{9F74FD89-03C1-461C-84CC-93EDBDF79F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2100" y="3400425"/>
              <a:ext cx="3086100" cy="0"/>
            </a:xfrm>
            <a:prstGeom prst="line">
              <a:avLst/>
            </a:prstGeom>
            <a:noFill/>
            <a:ln w="9525">
              <a:solidFill>
                <a:srgbClr val="00FF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E5422367-F7F4-459A-A9FC-44CF733C38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9800" y="1952625"/>
              <a:ext cx="0" cy="14478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60F30D64-5270-4DBD-A396-260B3641CF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9800" y="1038225"/>
              <a:ext cx="0" cy="914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FF4E785B-4F45-4ED1-9CDC-E4BD55496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4750" y="1952625"/>
              <a:ext cx="0" cy="14478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3290DC6-C98E-4A0A-87A1-F0911A4ADC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4750" y="1038225"/>
              <a:ext cx="0" cy="914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 Box 10">
              <a:extLst>
                <a:ext uri="{FF2B5EF4-FFF2-40B4-BE49-F238E27FC236}">
                  <a16:creationId xmlns:a16="http://schemas.microsoft.com/office/drawing/2014/main" id="{D4192F06-5297-4049-95FD-F1A6F9A485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1850" y="3095625"/>
              <a:ext cx="38735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i="1">
                  <a:solidFill>
                    <a:schemeClr val="hlink"/>
                  </a:solidFill>
                </a:rPr>
                <a:t>x</a:t>
              </a:r>
            </a:p>
          </p:txBody>
        </p:sp>
        <p:sp>
          <p:nvSpPr>
            <p:cNvPr id="45" name="Text Box 11">
              <a:extLst>
                <a:ext uri="{FF2B5EF4-FFF2-40B4-BE49-F238E27FC236}">
                  <a16:creationId xmlns:a16="http://schemas.microsoft.com/office/drawing/2014/main" id="{6B369E0F-B261-4972-B2A2-850172714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3275" y="3357563"/>
              <a:ext cx="1784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chemeClr val="hlink"/>
                  </a:solidFill>
                </a:rPr>
                <a:t>0</a:t>
              </a:r>
              <a:r>
                <a:rPr lang="en-US" altLang="zh-CN">
                  <a:solidFill>
                    <a:srgbClr val="FFFF99"/>
                  </a:solidFill>
                </a:rPr>
                <a:t>                 </a:t>
              </a:r>
              <a:r>
                <a:rPr lang="en-US" altLang="zh-CN" i="1">
                  <a:solidFill>
                    <a:schemeClr val="hlink"/>
                  </a:solidFill>
                </a:rPr>
                <a:t>a</a:t>
              </a:r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76239E6-98F1-4712-A303-9F6B6B12C6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15064" y="762000"/>
              <a:ext cx="0" cy="762000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Rectangle 13">
              <a:extLst>
                <a:ext uri="{FF2B5EF4-FFF2-40B4-BE49-F238E27FC236}">
                  <a16:creationId xmlns:a16="http://schemas.microsoft.com/office/drawing/2014/main" id="{7713BFF8-F928-491B-8213-7746A5837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7072" y="555625"/>
              <a:ext cx="971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 dirty="0">
                  <a:solidFill>
                    <a:srgbClr val="00CCFF"/>
                  </a:solidFill>
                </a:rPr>
                <a:t>V</a:t>
              </a:r>
              <a:r>
                <a:rPr lang="en-US" altLang="zh-CN" dirty="0">
                  <a:solidFill>
                    <a:srgbClr val="00CCFF"/>
                  </a:solidFill>
                </a:rPr>
                <a:t> ( </a:t>
              </a:r>
              <a:r>
                <a:rPr lang="en-US" altLang="zh-CN" i="1" dirty="0">
                  <a:solidFill>
                    <a:srgbClr val="00CCFF"/>
                  </a:solidFill>
                </a:rPr>
                <a:t>x </a:t>
              </a:r>
              <a:r>
                <a:rPr lang="en-US" altLang="zh-CN" dirty="0">
                  <a:solidFill>
                    <a:srgbClr val="00CCFF"/>
                  </a:solidFill>
                </a:rPr>
                <a:t>)</a:t>
              </a:r>
            </a:p>
          </p:txBody>
        </p:sp>
        <p:sp>
          <p:nvSpPr>
            <p:cNvPr id="48" name="Text Box 14">
              <a:extLst>
                <a:ext uri="{FF2B5EF4-FFF2-40B4-BE49-F238E27FC236}">
                  <a16:creationId xmlns:a16="http://schemas.microsoft.com/office/drawing/2014/main" id="{03DEEF1D-0271-41A4-8CBB-2CA690A5DB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457200"/>
              <a:ext cx="4381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0">
                  <a:solidFill>
                    <a:srgbClr val="FFFF99"/>
                  </a:solidFill>
                  <a:sym typeface="Symbol" panose="05050102010706020507" pitchFamily="18" charset="2"/>
                </a:rPr>
                <a:t></a:t>
              </a:r>
              <a:endParaRPr lang="zh-CN" altLang="en-US" sz="2800" b="0">
                <a:solidFill>
                  <a:srgbClr val="FFFF99"/>
                </a:solidFill>
              </a:endParaRPr>
            </a:p>
          </p:txBody>
        </p:sp>
        <p:sp>
          <p:nvSpPr>
            <p:cNvPr id="49" name="Text Box 15">
              <a:extLst>
                <a:ext uri="{FF2B5EF4-FFF2-40B4-BE49-F238E27FC236}">
                  <a16:creationId xmlns:a16="http://schemas.microsoft.com/office/drawing/2014/main" id="{BF8CE552-21D9-4A58-BB0B-14905A1A40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3016" y="457200"/>
              <a:ext cx="4381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0" dirty="0">
                  <a:solidFill>
                    <a:srgbClr val="FFFF99"/>
                  </a:solidFill>
                  <a:sym typeface="Symbol" panose="05050102010706020507" pitchFamily="18" charset="2"/>
                </a:rPr>
                <a:t></a:t>
              </a:r>
              <a:endParaRPr lang="zh-CN" altLang="en-US" sz="2800" b="0" dirty="0">
                <a:solidFill>
                  <a:srgbClr val="FFFF99"/>
                </a:solidFill>
              </a:endParaRPr>
            </a:p>
          </p:txBody>
        </p:sp>
        <p:sp>
          <p:nvSpPr>
            <p:cNvPr id="50" name="Oval 16">
              <a:extLst>
                <a:ext uri="{FF2B5EF4-FFF2-40B4-BE49-F238E27FC236}">
                  <a16:creationId xmlns:a16="http://schemas.microsoft.com/office/drawing/2014/main" id="{80525BC3-5EFB-4AAF-B4F2-8EE1A2627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2188" y="2005013"/>
              <a:ext cx="228600" cy="228600"/>
            </a:xfrm>
            <a:prstGeom prst="ellipse">
              <a:avLst/>
            </a:prstGeom>
            <a:gradFill rotWithShape="0">
              <a:gsLst>
                <a:gs pos="0">
                  <a:srgbClr val="FFFF99"/>
                </a:gs>
                <a:gs pos="100000">
                  <a:srgbClr val="99995C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800" b="0">
                <a:solidFill>
                  <a:srgbClr val="FFFF99"/>
                </a:solidFill>
              </a:endParaRPr>
            </a:p>
          </p:txBody>
        </p:sp>
        <p:graphicFrame>
          <p:nvGraphicFramePr>
            <p:cNvPr id="51" name="Object 26">
              <a:extLst>
                <a:ext uri="{FF2B5EF4-FFF2-40B4-BE49-F238E27FC236}">
                  <a16:creationId xmlns:a16="http://schemas.microsoft.com/office/drawing/2014/main" id="{DDED8BC4-0D21-41B5-81D8-D38B013DAC9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82373502"/>
                </p:ext>
              </p:extLst>
            </p:nvPr>
          </p:nvGraphicFramePr>
          <p:xfrm>
            <a:off x="7572772" y="1566862"/>
            <a:ext cx="108585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8430" name="公式" r:id="rId5" imgW="1181075" imgH="371373" progId="Equation.3">
                    <p:embed/>
                  </p:oleObj>
                </mc:Choice>
                <mc:Fallback>
                  <p:oleObj name="公式" r:id="rId5" imgW="1181075" imgH="371373" progId="Equation.3">
                    <p:embed/>
                    <p:pic>
                      <p:nvPicPr>
                        <p:cNvPr id="96282" name="Object 26">
                          <a:extLst>
                            <a:ext uri="{FF2B5EF4-FFF2-40B4-BE49-F238E27FC236}">
                              <a16:creationId xmlns:a16="http://schemas.microsoft.com/office/drawing/2014/main" id="{BDD4E4E1-74F7-4E68-BBF9-A9801EEA589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72772" y="1566862"/>
                          <a:ext cx="108585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Object 27">
              <a:extLst>
                <a:ext uri="{FF2B5EF4-FFF2-40B4-BE49-F238E27FC236}">
                  <a16:creationId xmlns:a16="http://schemas.microsoft.com/office/drawing/2014/main" id="{DDA38CD4-BBC2-4A7E-ABDA-6823F12E63D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5087327"/>
                </p:ext>
              </p:extLst>
            </p:nvPr>
          </p:nvGraphicFramePr>
          <p:xfrm>
            <a:off x="4884139" y="1543274"/>
            <a:ext cx="109855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8431" name="公式" r:id="rId7" imgW="1181075" imgH="371373" progId="Equation.3">
                    <p:embed/>
                  </p:oleObj>
                </mc:Choice>
                <mc:Fallback>
                  <p:oleObj name="公式" r:id="rId7" imgW="1181075" imgH="371373" progId="Equation.3">
                    <p:embed/>
                    <p:pic>
                      <p:nvPicPr>
                        <p:cNvPr id="96283" name="Object 27">
                          <a:extLst>
                            <a:ext uri="{FF2B5EF4-FFF2-40B4-BE49-F238E27FC236}">
                              <a16:creationId xmlns:a16="http://schemas.microsoft.com/office/drawing/2014/main" id="{33F54E0C-6C21-4F10-87AA-B03E9706FFC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4139" y="1543274"/>
                          <a:ext cx="1098550" cy="35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" name="任意多边形 33">
              <a:extLst>
                <a:ext uri="{FF2B5EF4-FFF2-40B4-BE49-F238E27FC236}">
                  <a16:creationId xmlns:a16="http://schemas.microsoft.com/office/drawing/2014/main" id="{7D468475-99F5-49FA-B7A7-1374A86FC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7763" y="2000250"/>
              <a:ext cx="773112" cy="284163"/>
            </a:xfrm>
            <a:custGeom>
              <a:avLst/>
              <a:gdLst>
                <a:gd name="T0" fmla="*/ 0 w 773723"/>
                <a:gd name="T1" fmla="*/ 132236 h 284285"/>
                <a:gd name="T2" fmla="*/ 144249 w 773723"/>
                <a:gd name="T3" fmla="*/ 2886 h 284285"/>
                <a:gd name="T4" fmla="*/ 280014 w 773723"/>
                <a:gd name="T5" fmla="*/ 114987 h 284285"/>
                <a:gd name="T6" fmla="*/ 415776 w 773723"/>
                <a:gd name="T7" fmla="*/ 278846 h 284285"/>
                <a:gd name="T8" fmla="*/ 551542 w 773723"/>
                <a:gd name="T9" fmla="*/ 114987 h 284285"/>
                <a:gd name="T10" fmla="*/ 746699 w 773723"/>
                <a:gd name="T11" fmla="*/ 97742 h 2842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3723"/>
                <a:gd name="T19" fmla="*/ 0 h 284285"/>
                <a:gd name="T20" fmla="*/ 773723 w 773723"/>
                <a:gd name="T21" fmla="*/ 284285 h 28428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3723" h="284285">
                  <a:moveTo>
                    <a:pt x="0" y="134816"/>
                  </a:moveTo>
                  <a:cubicBezTo>
                    <a:pt x="50555" y="70339"/>
                    <a:pt x="101111" y="5862"/>
                    <a:pt x="149469" y="2931"/>
                  </a:cubicBezTo>
                  <a:cubicBezTo>
                    <a:pt x="197827" y="0"/>
                    <a:pt x="243254" y="70339"/>
                    <a:pt x="290146" y="117231"/>
                  </a:cubicBezTo>
                  <a:cubicBezTo>
                    <a:pt x="337038" y="164123"/>
                    <a:pt x="383931" y="284285"/>
                    <a:pt x="430823" y="284285"/>
                  </a:cubicBezTo>
                  <a:cubicBezTo>
                    <a:pt x="477715" y="284285"/>
                    <a:pt x="514350" y="148004"/>
                    <a:pt x="571500" y="117231"/>
                  </a:cubicBezTo>
                  <a:cubicBezTo>
                    <a:pt x="628650" y="86458"/>
                    <a:pt x="701186" y="93052"/>
                    <a:pt x="773723" y="99647"/>
                  </a:cubicBezTo>
                </a:path>
              </a:pathLst>
            </a:custGeom>
            <a:noFill/>
            <a:ln w="12700" algn="ctr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5" name="Object 19">
            <a:extLst>
              <a:ext uri="{FF2B5EF4-FFF2-40B4-BE49-F238E27FC236}">
                <a16:creationId xmlns:a16="http://schemas.microsoft.com/office/drawing/2014/main" id="{CFEB58C7-AAA8-419B-8E82-99E3876298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251879"/>
              </p:ext>
            </p:extLst>
          </p:nvPr>
        </p:nvGraphicFramePr>
        <p:xfrm>
          <a:off x="1099889" y="5441751"/>
          <a:ext cx="3200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432" name="公式" r:id="rId9" imgW="3181439" imgH="857250" progId="Equation.3">
                  <p:embed/>
                </p:oleObj>
              </mc:Choice>
              <mc:Fallback>
                <p:oleObj name="公式" r:id="rId9" imgW="3181439" imgH="857250" progId="Equation.3">
                  <p:embed/>
                  <p:pic>
                    <p:nvPicPr>
                      <p:cNvPr id="96275" name="Object 19">
                        <a:extLst>
                          <a:ext uri="{FF2B5EF4-FFF2-40B4-BE49-F238E27FC236}">
                            <a16:creationId xmlns:a16="http://schemas.microsoft.com/office/drawing/2014/main" id="{80E09017-7EFD-4C73-B914-C0CA1497F5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9889" y="5441751"/>
                        <a:ext cx="32004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Rectangle 4">
            <a:extLst>
              <a:ext uri="{FF2B5EF4-FFF2-40B4-BE49-F238E27FC236}">
                <a16:creationId xmlns:a16="http://schemas.microsoft.com/office/drawing/2014/main" id="{63DAD3B9-82AB-47C4-854C-E8950ABC7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084" y="4719960"/>
            <a:ext cx="411114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dirty="0">
                <a:solidFill>
                  <a:srgbClr val="66FFFF"/>
                </a:solidFill>
              </a:rPr>
              <a:t>0 &lt; </a:t>
            </a:r>
            <a:r>
              <a:rPr lang="en-US" altLang="zh-CN" i="1" dirty="0">
                <a:solidFill>
                  <a:srgbClr val="66FFFF"/>
                </a:solidFill>
              </a:rPr>
              <a:t>x </a:t>
            </a:r>
            <a:r>
              <a:rPr lang="en-US" altLang="zh-CN" dirty="0">
                <a:solidFill>
                  <a:srgbClr val="66FFFF"/>
                </a:solidFill>
              </a:rPr>
              <a:t>&lt; </a:t>
            </a:r>
            <a:r>
              <a:rPr lang="en-US" altLang="zh-CN" i="1" dirty="0">
                <a:solidFill>
                  <a:srgbClr val="66FFFF"/>
                </a:solidFill>
              </a:rPr>
              <a:t>a</a:t>
            </a:r>
            <a:r>
              <a:rPr lang="en-US" altLang="zh-CN" dirty="0">
                <a:solidFill>
                  <a:srgbClr val="00FF99"/>
                </a:solidFill>
              </a:rPr>
              <a:t> </a:t>
            </a:r>
            <a:r>
              <a:rPr lang="zh-CN" altLang="en-US" dirty="0">
                <a:solidFill>
                  <a:schemeClr val="hlink"/>
                </a:solidFill>
                <a:ea typeface="STZhongsong" panose="02010600040101010101" pitchFamily="2" charset="-122"/>
              </a:rPr>
              <a:t>定态薛定谔方程</a:t>
            </a:r>
            <a:r>
              <a:rPr lang="en-US" altLang="zh-CN" dirty="0">
                <a:solidFill>
                  <a:schemeClr val="hlink"/>
                </a:solidFill>
                <a:ea typeface="STZhongsong" panose="02010600040101010101" pitchFamily="2" charset="-122"/>
              </a:rPr>
              <a:t>:</a:t>
            </a:r>
            <a:endParaRPr lang="zh-CN" altLang="en-US" dirty="0">
              <a:solidFill>
                <a:schemeClr val="hlink"/>
              </a:solidFill>
              <a:ea typeface="STZhongsong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/>
      <p:bldP spid="19" grpId="0"/>
      <p:bldP spid="5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 Box 2">
            <a:extLst>
              <a:ext uri="{FF2B5EF4-FFF2-40B4-BE49-F238E27FC236}">
                <a16:creationId xmlns:a16="http://schemas.microsoft.com/office/drawing/2014/main" id="{02D7AC3E-4772-4EF2-84FF-B052058BD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5523" y="4832325"/>
            <a:ext cx="946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hlink"/>
                </a:solidFill>
              </a:rPr>
              <a:t>波函数</a:t>
            </a:r>
          </a:p>
        </p:txBody>
      </p:sp>
      <p:sp>
        <p:nvSpPr>
          <p:cNvPr id="100355" name="Text Box 3">
            <a:extLst>
              <a:ext uri="{FF2B5EF4-FFF2-40B4-BE49-F238E27FC236}">
                <a16:creationId xmlns:a16="http://schemas.microsoft.com/office/drawing/2014/main" id="{28636DE7-60CD-409E-B6FD-C3332FA01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348" y="4814862"/>
            <a:ext cx="1200150" cy="396875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hlink"/>
                </a:solidFill>
                <a:ea typeface="STZhongsong" panose="02010600040101010101" pitchFamily="2" charset="-122"/>
              </a:rPr>
              <a:t>概率分布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8AB0B62-D11A-4F64-BC4D-0A84C6F8CA03}"/>
              </a:ext>
            </a:extLst>
          </p:cNvPr>
          <p:cNvGrpSpPr>
            <a:grpSpLocks/>
          </p:cNvGrpSpPr>
          <p:nvPr/>
        </p:nvGrpSpPr>
        <p:grpSpPr bwMode="auto">
          <a:xfrm>
            <a:off x="6299448" y="1036612"/>
            <a:ext cx="1800225" cy="3184525"/>
            <a:chOff x="4048" y="436"/>
            <a:chExt cx="1134" cy="2006"/>
          </a:xfrm>
        </p:grpSpPr>
        <p:sp>
          <p:nvSpPr>
            <p:cNvPr id="32810" name="Freeform 5">
              <a:extLst>
                <a:ext uri="{FF2B5EF4-FFF2-40B4-BE49-F238E27FC236}">
                  <a16:creationId xmlns:a16="http://schemas.microsoft.com/office/drawing/2014/main" id="{231B0D52-5380-4930-A0FF-C7C68FBB7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" y="2214"/>
              <a:ext cx="1124" cy="228"/>
            </a:xfrm>
            <a:custGeom>
              <a:avLst/>
              <a:gdLst>
                <a:gd name="T0" fmla="*/ 0 w 2355"/>
                <a:gd name="T1" fmla="*/ 1 h 333"/>
                <a:gd name="T2" fmla="*/ 0 w 2355"/>
                <a:gd name="T3" fmla="*/ 0 h 333"/>
                <a:gd name="T4" fmla="*/ 0 w 2355"/>
                <a:gd name="T5" fmla="*/ 1 h 333"/>
                <a:gd name="T6" fmla="*/ 0 60000 65536"/>
                <a:gd name="T7" fmla="*/ 0 60000 65536"/>
                <a:gd name="T8" fmla="*/ 0 60000 65536"/>
                <a:gd name="T9" fmla="*/ 0 w 2355"/>
                <a:gd name="T10" fmla="*/ 0 h 333"/>
                <a:gd name="T11" fmla="*/ 2355 w 2355"/>
                <a:gd name="T12" fmla="*/ 333 h 3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55" h="333">
                  <a:moveTo>
                    <a:pt x="0" y="295"/>
                  </a:moveTo>
                  <a:cubicBezTo>
                    <a:pt x="678" y="256"/>
                    <a:pt x="525" y="13"/>
                    <a:pt x="1152" y="0"/>
                  </a:cubicBezTo>
                  <a:cubicBezTo>
                    <a:pt x="1728" y="0"/>
                    <a:pt x="1830" y="333"/>
                    <a:pt x="2355" y="295"/>
                  </a:cubicBezTo>
                </a:path>
              </a:pathLst>
            </a:custGeom>
            <a:solidFill>
              <a:schemeClr val="hlink"/>
            </a:solidFill>
            <a:ln w="19050">
              <a:solidFill>
                <a:srgbClr val="FFFF99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1" name="Freeform 6">
              <a:extLst>
                <a:ext uri="{FF2B5EF4-FFF2-40B4-BE49-F238E27FC236}">
                  <a16:creationId xmlns:a16="http://schemas.microsoft.com/office/drawing/2014/main" id="{62EC938D-0BA1-47D5-8ABB-B10C2104D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8" y="1582"/>
              <a:ext cx="1124" cy="220"/>
            </a:xfrm>
            <a:custGeom>
              <a:avLst/>
              <a:gdLst>
                <a:gd name="T0" fmla="*/ 0 w 2355"/>
                <a:gd name="T1" fmla="*/ 1 h 322"/>
                <a:gd name="T2" fmla="*/ 0 w 2355"/>
                <a:gd name="T3" fmla="*/ 0 h 322"/>
                <a:gd name="T4" fmla="*/ 0 w 2355"/>
                <a:gd name="T5" fmla="*/ 1 h 322"/>
                <a:gd name="T6" fmla="*/ 0 w 2355"/>
                <a:gd name="T7" fmla="*/ 0 h 322"/>
                <a:gd name="T8" fmla="*/ 0 w 2355"/>
                <a:gd name="T9" fmla="*/ 1 h 3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55"/>
                <a:gd name="T16" fmla="*/ 0 h 322"/>
                <a:gd name="T17" fmla="*/ 2355 w 2355"/>
                <a:gd name="T18" fmla="*/ 322 h 3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55" h="322">
                  <a:moveTo>
                    <a:pt x="0" y="296"/>
                  </a:moveTo>
                  <a:cubicBezTo>
                    <a:pt x="294" y="283"/>
                    <a:pt x="230" y="15"/>
                    <a:pt x="568" y="0"/>
                  </a:cubicBezTo>
                  <a:cubicBezTo>
                    <a:pt x="819" y="2"/>
                    <a:pt x="883" y="296"/>
                    <a:pt x="1139" y="309"/>
                  </a:cubicBezTo>
                  <a:cubicBezTo>
                    <a:pt x="1485" y="309"/>
                    <a:pt x="1421" y="15"/>
                    <a:pt x="1793" y="0"/>
                  </a:cubicBezTo>
                  <a:cubicBezTo>
                    <a:pt x="2048" y="2"/>
                    <a:pt x="2060" y="322"/>
                    <a:pt x="2355" y="296"/>
                  </a:cubicBezTo>
                </a:path>
              </a:pathLst>
            </a:custGeom>
            <a:solidFill>
              <a:schemeClr val="hlink"/>
            </a:solidFill>
            <a:ln w="19050">
              <a:solidFill>
                <a:srgbClr val="FFFF99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12" name="Freeform 7">
              <a:extLst>
                <a:ext uri="{FF2B5EF4-FFF2-40B4-BE49-F238E27FC236}">
                  <a16:creationId xmlns:a16="http://schemas.microsoft.com/office/drawing/2014/main" id="{999EF94F-5D5E-4AD5-AC64-A171EE0D8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" y="436"/>
              <a:ext cx="1125" cy="236"/>
            </a:xfrm>
            <a:custGeom>
              <a:avLst/>
              <a:gdLst>
                <a:gd name="T0" fmla="*/ 0 w 2359"/>
                <a:gd name="T1" fmla="*/ 1 h 345"/>
                <a:gd name="T2" fmla="*/ 0 w 2359"/>
                <a:gd name="T3" fmla="*/ 1 h 345"/>
                <a:gd name="T4" fmla="*/ 0 w 2359"/>
                <a:gd name="T5" fmla="*/ 1 h 345"/>
                <a:gd name="T6" fmla="*/ 0 w 2359"/>
                <a:gd name="T7" fmla="*/ 1 h 345"/>
                <a:gd name="T8" fmla="*/ 0 w 2359"/>
                <a:gd name="T9" fmla="*/ 1 h 345"/>
                <a:gd name="T10" fmla="*/ 0 w 2359"/>
                <a:gd name="T11" fmla="*/ 1 h 345"/>
                <a:gd name="T12" fmla="*/ 0 w 2359"/>
                <a:gd name="T13" fmla="*/ 1 h 3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359"/>
                <a:gd name="T22" fmla="*/ 0 h 345"/>
                <a:gd name="T23" fmla="*/ 2359 w 2359"/>
                <a:gd name="T24" fmla="*/ 345 h 34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359" h="345">
                  <a:moveTo>
                    <a:pt x="0" y="333"/>
                  </a:moveTo>
                  <a:cubicBezTo>
                    <a:pt x="239" y="268"/>
                    <a:pt x="188" y="12"/>
                    <a:pt x="380" y="25"/>
                  </a:cubicBezTo>
                  <a:cubicBezTo>
                    <a:pt x="602" y="34"/>
                    <a:pt x="598" y="332"/>
                    <a:pt x="771" y="333"/>
                  </a:cubicBezTo>
                  <a:cubicBezTo>
                    <a:pt x="969" y="320"/>
                    <a:pt x="995" y="0"/>
                    <a:pt x="1180" y="16"/>
                  </a:cubicBezTo>
                  <a:cubicBezTo>
                    <a:pt x="1353" y="0"/>
                    <a:pt x="1391" y="332"/>
                    <a:pt x="1583" y="332"/>
                  </a:cubicBezTo>
                  <a:cubicBezTo>
                    <a:pt x="1737" y="332"/>
                    <a:pt x="1814" y="0"/>
                    <a:pt x="1980" y="25"/>
                  </a:cubicBezTo>
                  <a:cubicBezTo>
                    <a:pt x="2159" y="12"/>
                    <a:pt x="2211" y="345"/>
                    <a:pt x="2359" y="333"/>
                  </a:cubicBezTo>
                </a:path>
              </a:pathLst>
            </a:custGeom>
            <a:solidFill>
              <a:schemeClr val="hlink"/>
            </a:solidFill>
            <a:ln w="19050">
              <a:solidFill>
                <a:srgbClr val="FFFF99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0360" name="Rectangle 8">
            <a:extLst>
              <a:ext uri="{FF2B5EF4-FFF2-40B4-BE49-F238E27FC236}">
                <a16:creationId xmlns:a16="http://schemas.microsoft.com/office/drawing/2014/main" id="{6E068DAD-42A3-43ED-9958-C265047DA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949" y="3475856"/>
            <a:ext cx="4460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dirty="0">
                <a:solidFill>
                  <a:schemeClr val="hlink"/>
                </a:solidFill>
                <a:ea typeface="STZhongsong" panose="02010600040101010101" pitchFamily="2" charset="-122"/>
              </a:rPr>
              <a:t>量子数为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i="1" dirty="0">
                <a:solidFill>
                  <a:srgbClr val="66FFFF"/>
                </a:solidFill>
              </a:rPr>
              <a:t>n</a:t>
            </a:r>
            <a:r>
              <a:rPr lang="en-US" altLang="zh-CN" i="1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hlink"/>
                </a:solidFill>
                <a:ea typeface="STZhongsong" panose="02010600040101010101" pitchFamily="2" charset="-122"/>
              </a:rPr>
              <a:t>的定态波函数</a:t>
            </a:r>
          </a:p>
        </p:txBody>
      </p:sp>
      <p:graphicFrame>
        <p:nvGraphicFramePr>
          <p:cNvPr id="100366" name="Object 14">
            <a:extLst>
              <a:ext uri="{FF2B5EF4-FFF2-40B4-BE49-F238E27FC236}">
                <a16:creationId xmlns:a16="http://schemas.microsoft.com/office/drawing/2014/main" id="{ED49A8F0-4200-434C-B8CB-1C1DB1AA1A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8754514"/>
              </p:ext>
            </p:extLst>
          </p:nvPr>
        </p:nvGraphicFramePr>
        <p:xfrm>
          <a:off x="1043608" y="4351313"/>
          <a:ext cx="3005137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511" name="公式" r:id="rId4" imgW="2971953" imgH="857250" progId="Equation.3">
                  <p:embed/>
                </p:oleObj>
              </mc:Choice>
              <mc:Fallback>
                <p:oleObj name="公式" r:id="rId4" imgW="2971953" imgH="857250" progId="Equation.3">
                  <p:embed/>
                  <p:pic>
                    <p:nvPicPr>
                      <p:cNvPr id="100366" name="Object 14">
                        <a:extLst>
                          <a:ext uri="{FF2B5EF4-FFF2-40B4-BE49-F238E27FC236}">
                            <a16:creationId xmlns:a16="http://schemas.microsoft.com/office/drawing/2014/main" id="{ED49A8F0-4200-434C-B8CB-1C1DB1AA1A3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4351313"/>
                        <a:ext cx="3005137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66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7">
            <a:extLst>
              <a:ext uri="{FF2B5EF4-FFF2-40B4-BE49-F238E27FC236}">
                <a16:creationId xmlns:a16="http://schemas.microsoft.com/office/drawing/2014/main" id="{B611B706-D6E7-4FEE-9D4A-BA9708B76BC4}"/>
              </a:ext>
            </a:extLst>
          </p:cNvPr>
          <p:cNvGrpSpPr>
            <a:grpSpLocks/>
          </p:cNvGrpSpPr>
          <p:nvPr/>
        </p:nvGrpSpPr>
        <p:grpSpPr bwMode="auto">
          <a:xfrm>
            <a:off x="5004048" y="1193775"/>
            <a:ext cx="1144587" cy="3189287"/>
            <a:chOff x="3161" y="525"/>
            <a:chExt cx="803" cy="2009"/>
          </a:xfrm>
        </p:grpSpPr>
        <p:graphicFrame>
          <p:nvGraphicFramePr>
            <p:cNvPr id="32807" name="Object 18">
              <a:extLst>
                <a:ext uri="{FF2B5EF4-FFF2-40B4-BE49-F238E27FC236}">
                  <a16:creationId xmlns:a16="http://schemas.microsoft.com/office/drawing/2014/main" id="{E55CBE92-7563-4B83-B902-B905B30ED64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763" y="2296"/>
            <a:ext cx="194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1512" name="公式" r:id="rId6" imgW="323863" imgH="400152" progId="Equation.3">
                    <p:embed/>
                  </p:oleObj>
                </mc:Choice>
                <mc:Fallback>
                  <p:oleObj name="公式" r:id="rId6" imgW="323863" imgH="400152" progId="Equation.3">
                    <p:embed/>
                    <p:pic>
                      <p:nvPicPr>
                        <p:cNvPr id="32807" name="Object 18">
                          <a:extLst>
                            <a:ext uri="{FF2B5EF4-FFF2-40B4-BE49-F238E27FC236}">
                              <a16:creationId xmlns:a16="http://schemas.microsoft.com/office/drawing/2014/main" id="{E55CBE92-7563-4B83-B902-B905B30ED64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3" y="2296"/>
                          <a:ext cx="194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3366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808" name="Object 19">
              <a:extLst>
                <a:ext uri="{FF2B5EF4-FFF2-40B4-BE49-F238E27FC236}">
                  <a16:creationId xmlns:a16="http://schemas.microsoft.com/office/drawing/2014/main" id="{84C04838-EB8A-4ABF-BCFD-EC5ED1A9C97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72" y="525"/>
            <a:ext cx="782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1513" name="公式" r:id="rId8" imgW="1352639" imgH="457098" progId="Equation.3">
                    <p:embed/>
                  </p:oleObj>
                </mc:Choice>
                <mc:Fallback>
                  <p:oleObj name="公式" r:id="rId8" imgW="1352639" imgH="457098" progId="Equation.3">
                    <p:embed/>
                    <p:pic>
                      <p:nvPicPr>
                        <p:cNvPr id="32808" name="Object 19">
                          <a:extLst>
                            <a:ext uri="{FF2B5EF4-FFF2-40B4-BE49-F238E27FC236}">
                              <a16:creationId xmlns:a16="http://schemas.microsoft.com/office/drawing/2014/main" id="{84C04838-EB8A-4ABF-BCFD-EC5ED1A9C97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2" y="525"/>
                          <a:ext cx="782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809" name="Object 20">
              <a:extLst>
                <a:ext uri="{FF2B5EF4-FFF2-40B4-BE49-F238E27FC236}">
                  <a16:creationId xmlns:a16="http://schemas.microsoft.com/office/drawing/2014/main" id="{B12CB706-7D24-4234-8FED-76A2DA45ECF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61" y="1661"/>
            <a:ext cx="803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1514" name="公式" r:id="rId10" imgW="1390561" imgH="447607" progId="Equation.3">
                    <p:embed/>
                  </p:oleObj>
                </mc:Choice>
                <mc:Fallback>
                  <p:oleObj name="公式" r:id="rId10" imgW="1390561" imgH="447607" progId="Equation.3">
                    <p:embed/>
                    <p:pic>
                      <p:nvPicPr>
                        <p:cNvPr id="32809" name="Object 20">
                          <a:extLst>
                            <a:ext uri="{FF2B5EF4-FFF2-40B4-BE49-F238E27FC236}">
                              <a16:creationId xmlns:a16="http://schemas.microsoft.com/office/drawing/2014/main" id="{B12CB706-7D24-4234-8FED-76A2DA45ECF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1" y="1661"/>
                          <a:ext cx="803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83" name="Line 21">
            <a:extLst>
              <a:ext uri="{FF2B5EF4-FFF2-40B4-BE49-F238E27FC236}">
                <a16:creationId xmlns:a16="http://schemas.microsoft.com/office/drawing/2014/main" id="{7D809ED2-77F2-41A1-A9A7-83BC396FE180}"/>
              </a:ext>
            </a:extLst>
          </p:cNvPr>
          <p:cNvSpPr>
            <a:spLocks noChangeShapeType="1"/>
          </p:cNvSpPr>
          <p:nvPr/>
        </p:nvSpPr>
        <p:spPr bwMode="auto">
          <a:xfrm>
            <a:off x="8820398" y="725462"/>
            <a:ext cx="0" cy="42672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150" name="Object 23">
            <a:extLst>
              <a:ext uri="{FF2B5EF4-FFF2-40B4-BE49-F238E27FC236}">
                <a16:creationId xmlns:a16="http://schemas.microsoft.com/office/drawing/2014/main" id="{2C05B7CD-4B5F-4774-A560-D24459533E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9949983"/>
              </p:ext>
            </p:extLst>
          </p:nvPr>
        </p:nvGraphicFramePr>
        <p:xfrm>
          <a:off x="1043608" y="1389832"/>
          <a:ext cx="2905125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1515" name="Equation" r:id="rId12" imgW="2886018" imgH="857250" progId="Equation.3">
                  <p:embed/>
                </p:oleObj>
              </mc:Choice>
              <mc:Fallback>
                <p:oleObj name="Equation" r:id="rId12" imgW="2886018" imgH="857250" progId="Equation.3">
                  <p:embed/>
                  <p:pic>
                    <p:nvPicPr>
                      <p:cNvPr id="6150" name="Object 23">
                        <a:extLst>
                          <a:ext uri="{FF2B5EF4-FFF2-40B4-BE49-F238E27FC236}">
                            <a16:creationId xmlns:a16="http://schemas.microsoft.com/office/drawing/2014/main" id="{2C05B7CD-4B5F-4774-A560-D24459533E1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1389832"/>
                        <a:ext cx="2905125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5" name="Text Box 24">
            <a:extLst>
              <a:ext uri="{FF2B5EF4-FFF2-40B4-BE49-F238E27FC236}">
                <a16:creationId xmlns:a16="http://schemas.microsoft.com/office/drawing/2014/main" id="{70010191-2D29-4AEC-A44D-120790304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635" y="764704"/>
            <a:ext cx="234603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  <a:ea typeface="STZhongsong" panose="02010600040101010101" pitchFamily="2" charset="-122"/>
              </a:rPr>
              <a:t>粒子能量</a:t>
            </a:r>
            <a:r>
              <a:rPr lang="en-US" altLang="zh-CN" dirty="0">
                <a:solidFill>
                  <a:srgbClr val="FFFF00"/>
                </a:solidFill>
                <a:ea typeface="STZhongsong" panose="02010600040101010101" pitchFamily="2" charset="-122"/>
              </a:rPr>
              <a:t>:</a:t>
            </a:r>
            <a:endParaRPr lang="zh-CN" altLang="en-US" dirty="0">
              <a:solidFill>
                <a:srgbClr val="FFFF00"/>
              </a:solidFill>
              <a:ea typeface="STZhongsong" panose="02010600040101010101" pitchFamily="2" charset="-122"/>
            </a:endParaRPr>
          </a:p>
        </p:txBody>
      </p:sp>
      <p:sp>
        <p:nvSpPr>
          <p:cNvPr id="100377" name="Text Box 25">
            <a:extLst>
              <a:ext uri="{FF2B5EF4-FFF2-40B4-BE49-F238E27FC236}">
                <a16:creationId xmlns:a16="http://schemas.microsoft.com/office/drawing/2014/main" id="{D3B2B71A-6971-4CF4-B05A-E2FA62219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949" y="2569344"/>
            <a:ext cx="4929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hlink"/>
                </a:solidFill>
                <a:ea typeface="STZhongsong" panose="02010600040101010101" pitchFamily="2" charset="-122"/>
              </a:rPr>
              <a:t>能量是量子化的    </a:t>
            </a:r>
            <a:r>
              <a:rPr lang="en-US" altLang="zh-CN" i="1" dirty="0">
                <a:solidFill>
                  <a:srgbClr val="FFFF00"/>
                </a:solidFill>
                <a:ea typeface="STZhongsong" panose="02010600040101010101" pitchFamily="2" charset="-122"/>
              </a:rPr>
              <a:t>n</a:t>
            </a:r>
            <a:r>
              <a:rPr lang="en-US" altLang="zh-CN" dirty="0">
                <a:solidFill>
                  <a:srgbClr val="FFFF00"/>
                </a:solidFill>
                <a:ea typeface="STZhongsong" panose="02010600040101010101" pitchFamily="2" charset="-122"/>
              </a:rPr>
              <a:t>=1,2,3, …</a:t>
            </a:r>
            <a:endParaRPr lang="zh-CN" altLang="en-US" dirty="0">
              <a:solidFill>
                <a:srgbClr val="FFFF00"/>
              </a:solidFill>
              <a:ea typeface="STZhongsong" panose="02010600040101010101" pitchFamily="2" charset="-122"/>
            </a:endParaRPr>
          </a:p>
        </p:txBody>
      </p:sp>
      <p:sp>
        <p:nvSpPr>
          <p:cNvPr id="100380" name="Rectangle 28">
            <a:extLst>
              <a:ext uri="{FF2B5EF4-FFF2-40B4-BE49-F238E27FC236}">
                <a16:creationId xmlns:a16="http://schemas.microsoft.com/office/drawing/2014/main" id="{6CEC9A4F-29F2-4254-8EA0-03A953CF8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9448" y="974700"/>
            <a:ext cx="1800225" cy="3671887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0381" name="Freeform 29">
            <a:extLst>
              <a:ext uri="{FF2B5EF4-FFF2-40B4-BE49-F238E27FC236}">
                <a16:creationId xmlns:a16="http://schemas.microsoft.com/office/drawing/2014/main" id="{1BAC4789-B8CB-49E1-B79D-19B004131651}"/>
              </a:ext>
            </a:extLst>
          </p:cNvPr>
          <p:cNvSpPr>
            <a:spLocks/>
          </p:cNvSpPr>
          <p:nvPr/>
        </p:nvSpPr>
        <p:spPr bwMode="auto">
          <a:xfrm>
            <a:off x="6286748" y="3948087"/>
            <a:ext cx="1771650" cy="273050"/>
          </a:xfrm>
          <a:custGeom>
            <a:avLst/>
            <a:gdLst>
              <a:gd name="T0" fmla="*/ 0 w 2339"/>
              <a:gd name="T1" fmla="*/ 2147483646 h 252"/>
              <a:gd name="T2" fmla="*/ 2147483646 w 2339"/>
              <a:gd name="T3" fmla="*/ 0 h 252"/>
              <a:gd name="T4" fmla="*/ 2147483646 w 2339"/>
              <a:gd name="T5" fmla="*/ 2147483646 h 252"/>
              <a:gd name="T6" fmla="*/ 0 60000 65536"/>
              <a:gd name="T7" fmla="*/ 0 60000 65536"/>
              <a:gd name="T8" fmla="*/ 0 60000 65536"/>
              <a:gd name="T9" fmla="*/ 0 w 2339"/>
              <a:gd name="T10" fmla="*/ 0 h 252"/>
              <a:gd name="T11" fmla="*/ 2339 w 2339"/>
              <a:gd name="T12" fmla="*/ 252 h 2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39" h="252">
                <a:moveTo>
                  <a:pt x="0" y="252"/>
                </a:moveTo>
                <a:cubicBezTo>
                  <a:pt x="388" y="118"/>
                  <a:pt x="600" y="12"/>
                  <a:pt x="1176" y="0"/>
                </a:cubicBezTo>
                <a:cubicBezTo>
                  <a:pt x="1692" y="0"/>
                  <a:pt x="2028" y="108"/>
                  <a:pt x="2339" y="242"/>
                </a:cubicBezTo>
              </a:path>
            </a:pathLst>
          </a:custGeom>
          <a:solidFill>
            <a:schemeClr val="hlink"/>
          </a:solidFill>
          <a:ln w="19050">
            <a:solidFill>
              <a:srgbClr val="FFFF99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382" name="Freeform 30">
            <a:extLst>
              <a:ext uri="{FF2B5EF4-FFF2-40B4-BE49-F238E27FC236}">
                <a16:creationId xmlns:a16="http://schemas.microsoft.com/office/drawing/2014/main" id="{8B2AEF34-FBF4-49E7-96D9-1706CA900E25}"/>
              </a:ext>
            </a:extLst>
          </p:cNvPr>
          <p:cNvSpPr>
            <a:spLocks/>
          </p:cNvSpPr>
          <p:nvPr/>
        </p:nvSpPr>
        <p:spPr bwMode="auto">
          <a:xfrm>
            <a:off x="6296273" y="2955900"/>
            <a:ext cx="1771650" cy="546100"/>
          </a:xfrm>
          <a:custGeom>
            <a:avLst/>
            <a:gdLst>
              <a:gd name="T0" fmla="*/ 0 w 2340"/>
              <a:gd name="T1" fmla="*/ 2147483646 h 504"/>
              <a:gd name="T2" fmla="*/ 2147483646 w 2340"/>
              <a:gd name="T3" fmla="*/ 0 h 504"/>
              <a:gd name="T4" fmla="*/ 2147483646 w 2340"/>
              <a:gd name="T5" fmla="*/ 2147483646 h 504"/>
              <a:gd name="T6" fmla="*/ 2147483646 w 2340"/>
              <a:gd name="T7" fmla="*/ 2147483646 h 504"/>
              <a:gd name="T8" fmla="*/ 2147483646 w 2340"/>
              <a:gd name="T9" fmla="*/ 2147483646 h 5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40"/>
              <a:gd name="T16" fmla="*/ 0 h 504"/>
              <a:gd name="T17" fmla="*/ 2340 w 2340"/>
              <a:gd name="T18" fmla="*/ 504 h 5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40" h="504">
                <a:moveTo>
                  <a:pt x="0" y="240"/>
                </a:moveTo>
                <a:cubicBezTo>
                  <a:pt x="207" y="69"/>
                  <a:pt x="324" y="0"/>
                  <a:pt x="600" y="0"/>
                </a:cubicBezTo>
                <a:cubicBezTo>
                  <a:pt x="851" y="2"/>
                  <a:pt x="1056" y="156"/>
                  <a:pt x="1200" y="276"/>
                </a:cubicBezTo>
                <a:cubicBezTo>
                  <a:pt x="1320" y="396"/>
                  <a:pt x="1524" y="504"/>
                  <a:pt x="1776" y="492"/>
                </a:cubicBezTo>
                <a:cubicBezTo>
                  <a:pt x="2031" y="494"/>
                  <a:pt x="2196" y="408"/>
                  <a:pt x="2340" y="243"/>
                </a:cubicBezTo>
              </a:path>
            </a:pathLst>
          </a:custGeom>
          <a:solidFill>
            <a:schemeClr val="hlink"/>
          </a:solidFill>
          <a:ln w="19050">
            <a:solidFill>
              <a:srgbClr val="FFFF99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383" name="Freeform 31">
            <a:extLst>
              <a:ext uri="{FF2B5EF4-FFF2-40B4-BE49-F238E27FC236}">
                <a16:creationId xmlns:a16="http://schemas.microsoft.com/office/drawing/2014/main" id="{FC8CF8A9-1717-4C45-BB96-D70F423C5545}"/>
              </a:ext>
            </a:extLst>
          </p:cNvPr>
          <p:cNvSpPr>
            <a:spLocks/>
          </p:cNvSpPr>
          <p:nvPr/>
        </p:nvSpPr>
        <p:spPr bwMode="auto">
          <a:xfrm>
            <a:off x="6296273" y="1125512"/>
            <a:ext cx="1789112" cy="533400"/>
          </a:xfrm>
          <a:custGeom>
            <a:avLst/>
            <a:gdLst>
              <a:gd name="T0" fmla="*/ 0 w 1127"/>
              <a:gd name="T1" fmla="*/ 2147483646 h 336"/>
              <a:gd name="T2" fmla="*/ 2147483646 w 1127"/>
              <a:gd name="T3" fmla="*/ 0 h 336"/>
              <a:gd name="T4" fmla="*/ 2147483646 w 1127"/>
              <a:gd name="T5" fmla="*/ 2147483646 h 336"/>
              <a:gd name="T6" fmla="*/ 2147483646 w 1127"/>
              <a:gd name="T7" fmla="*/ 2147483646 h 336"/>
              <a:gd name="T8" fmla="*/ 2147483646 w 1127"/>
              <a:gd name="T9" fmla="*/ 2147483646 h 336"/>
              <a:gd name="T10" fmla="*/ 2147483646 w 1127"/>
              <a:gd name="T11" fmla="*/ 0 h 336"/>
              <a:gd name="T12" fmla="*/ 2147483646 w 1127"/>
              <a:gd name="T13" fmla="*/ 2147483646 h 3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27"/>
              <a:gd name="T22" fmla="*/ 0 h 336"/>
              <a:gd name="T23" fmla="*/ 1127 w 1127"/>
              <a:gd name="T24" fmla="*/ 336 h 3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27" h="336">
                <a:moveTo>
                  <a:pt x="0" y="164"/>
                </a:moveTo>
                <a:cubicBezTo>
                  <a:pt x="97" y="8"/>
                  <a:pt x="109" y="0"/>
                  <a:pt x="189" y="0"/>
                </a:cubicBezTo>
                <a:cubicBezTo>
                  <a:pt x="275" y="0"/>
                  <a:pt x="326" y="90"/>
                  <a:pt x="372" y="172"/>
                </a:cubicBezTo>
                <a:cubicBezTo>
                  <a:pt x="452" y="303"/>
                  <a:pt x="473" y="325"/>
                  <a:pt x="561" y="336"/>
                </a:cubicBezTo>
                <a:cubicBezTo>
                  <a:pt x="644" y="325"/>
                  <a:pt x="698" y="287"/>
                  <a:pt x="738" y="171"/>
                </a:cubicBezTo>
                <a:cubicBezTo>
                  <a:pt x="813" y="57"/>
                  <a:pt x="847" y="0"/>
                  <a:pt x="939" y="0"/>
                </a:cubicBezTo>
                <a:cubicBezTo>
                  <a:pt x="1025" y="8"/>
                  <a:pt x="1075" y="39"/>
                  <a:pt x="1127" y="178"/>
                </a:cubicBezTo>
              </a:path>
            </a:pathLst>
          </a:custGeom>
          <a:solidFill>
            <a:schemeClr val="hlink"/>
          </a:solidFill>
          <a:ln w="19050">
            <a:solidFill>
              <a:srgbClr val="FFFF99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0384" name="Freeform 32">
            <a:extLst>
              <a:ext uri="{FF2B5EF4-FFF2-40B4-BE49-F238E27FC236}">
                <a16:creationId xmlns:a16="http://schemas.microsoft.com/office/drawing/2014/main" id="{541D630C-4B77-40C4-AC77-BF2EFF5C8EC9}"/>
              </a:ext>
            </a:extLst>
          </p:cNvPr>
          <p:cNvSpPr>
            <a:spLocks/>
          </p:cNvSpPr>
          <p:nvPr/>
        </p:nvSpPr>
        <p:spPr bwMode="auto">
          <a:xfrm rot="10800000" flipH="1">
            <a:off x="6299448" y="4221137"/>
            <a:ext cx="1771650" cy="273050"/>
          </a:xfrm>
          <a:custGeom>
            <a:avLst/>
            <a:gdLst>
              <a:gd name="T0" fmla="*/ 0 w 2339"/>
              <a:gd name="T1" fmla="*/ 2147483646 h 252"/>
              <a:gd name="T2" fmla="*/ 2147483646 w 2339"/>
              <a:gd name="T3" fmla="*/ 0 h 252"/>
              <a:gd name="T4" fmla="*/ 2147483646 w 2339"/>
              <a:gd name="T5" fmla="*/ 2147483646 h 252"/>
              <a:gd name="T6" fmla="*/ 0 60000 65536"/>
              <a:gd name="T7" fmla="*/ 0 60000 65536"/>
              <a:gd name="T8" fmla="*/ 0 60000 65536"/>
              <a:gd name="T9" fmla="*/ 0 w 2339"/>
              <a:gd name="T10" fmla="*/ 0 h 252"/>
              <a:gd name="T11" fmla="*/ 2339 w 2339"/>
              <a:gd name="T12" fmla="*/ 252 h 2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39" h="252">
                <a:moveTo>
                  <a:pt x="0" y="252"/>
                </a:moveTo>
                <a:cubicBezTo>
                  <a:pt x="388" y="118"/>
                  <a:pt x="600" y="12"/>
                  <a:pt x="1176" y="0"/>
                </a:cubicBezTo>
                <a:cubicBezTo>
                  <a:pt x="1692" y="0"/>
                  <a:pt x="2028" y="108"/>
                  <a:pt x="2339" y="242"/>
                </a:cubicBezTo>
              </a:path>
            </a:pathLst>
          </a:custGeom>
          <a:noFill/>
          <a:ln w="19050">
            <a:solidFill>
              <a:srgbClr val="FFFF99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85" name="Freeform 33">
            <a:extLst>
              <a:ext uri="{FF2B5EF4-FFF2-40B4-BE49-F238E27FC236}">
                <a16:creationId xmlns:a16="http://schemas.microsoft.com/office/drawing/2014/main" id="{76C7A944-0F59-49DF-A69F-843F3DC462C2}"/>
              </a:ext>
            </a:extLst>
          </p:cNvPr>
          <p:cNvSpPr>
            <a:spLocks/>
          </p:cNvSpPr>
          <p:nvPr/>
        </p:nvSpPr>
        <p:spPr bwMode="auto">
          <a:xfrm rot="10800000" flipH="1">
            <a:off x="6299448" y="2925737"/>
            <a:ext cx="1771650" cy="546100"/>
          </a:xfrm>
          <a:custGeom>
            <a:avLst/>
            <a:gdLst>
              <a:gd name="T0" fmla="*/ 0 w 2340"/>
              <a:gd name="T1" fmla="*/ 2147483646 h 504"/>
              <a:gd name="T2" fmla="*/ 2147483646 w 2340"/>
              <a:gd name="T3" fmla="*/ 0 h 504"/>
              <a:gd name="T4" fmla="*/ 2147483646 w 2340"/>
              <a:gd name="T5" fmla="*/ 2147483646 h 504"/>
              <a:gd name="T6" fmla="*/ 2147483646 w 2340"/>
              <a:gd name="T7" fmla="*/ 2147483646 h 504"/>
              <a:gd name="T8" fmla="*/ 2147483646 w 2340"/>
              <a:gd name="T9" fmla="*/ 2147483646 h 5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40"/>
              <a:gd name="T16" fmla="*/ 0 h 504"/>
              <a:gd name="T17" fmla="*/ 2340 w 2340"/>
              <a:gd name="T18" fmla="*/ 504 h 5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40" h="504">
                <a:moveTo>
                  <a:pt x="0" y="240"/>
                </a:moveTo>
                <a:cubicBezTo>
                  <a:pt x="207" y="69"/>
                  <a:pt x="324" y="0"/>
                  <a:pt x="600" y="0"/>
                </a:cubicBezTo>
                <a:cubicBezTo>
                  <a:pt x="851" y="2"/>
                  <a:pt x="1056" y="156"/>
                  <a:pt x="1200" y="276"/>
                </a:cubicBezTo>
                <a:cubicBezTo>
                  <a:pt x="1320" y="396"/>
                  <a:pt x="1524" y="504"/>
                  <a:pt x="1776" y="492"/>
                </a:cubicBezTo>
                <a:cubicBezTo>
                  <a:pt x="2031" y="494"/>
                  <a:pt x="2196" y="408"/>
                  <a:pt x="2340" y="243"/>
                </a:cubicBezTo>
              </a:path>
            </a:pathLst>
          </a:custGeom>
          <a:noFill/>
          <a:ln w="19050">
            <a:solidFill>
              <a:srgbClr val="FFFF99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386" name="Freeform 34">
            <a:extLst>
              <a:ext uri="{FF2B5EF4-FFF2-40B4-BE49-F238E27FC236}">
                <a16:creationId xmlns:a16="http://schemas.microsoft.com/office/drawing/2014/main" id="{5815F632-B86F-4D1F-95FC-9EEAD705A680}"/>
              </a:ext>
            </a:extLst>
          </p:cNvPr>
          <p:cNvSpPr>
            <a:spLocks/>
          </p:cNvSpPr>
          <p:nvPr/>
        </p:nvSpPr>
        <p:spPr bwMode="auto">
          <a:xfrm>
            <a:off x="6275635" y="1125512"/>
            <a:ext cx="1824038" cy="533400"/>
          </a:xfrm>
          <a:custGeom>
            <a:avLst/>
            <a:gdLst>
              <a:gd name="T0" fmla="*/ 0 w 1149"/>
              <a:gd name="T1" fmla="*/ 2147483646 h 336"/>
              <a:gd name="T2" fmla="*/ 2147483646 w 1149"/>
              <a:gd name="T3" fmla="*/ 2147483646 h 336"/>
              <a:gd name="T4" fmla="*/ 2147483646 w 1149"/>
              <a:gd name="T5" fmla="*/ 2147483646 h 336"/>
              <a:gd name="T6" fmla="*/ 2147483646 w 1149"/>
              <a:gd name="T7" fmla="*/ 0 h 336"/>
              <a:gd name="T8" fmla="*/ 2147483646 w 1149"/>
              <a:gd name="T9" fmla="*/ 2147483646 h 336"/>
              <a:gd name="T10" fmla="*/ 2147483646 w 1149"/>
              <a:gd name="T11" fmla="*/ 2147483646 h 336"/>
              <a:gd name="T12" fmla="*/ 2147483646 w 1149"/>
              <a:gd name="T13" fmla="*/ 2147483646 h 3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49"/>
              <a:gd name="T22" fmla="*/ 0 h 336"/>
              <a:gd name="T23" fmla="*/ 1149 w 1149"/>
              <a:gd name="T24" fmla="*/ 336 h 3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49" h="336">
                <a:moveTo>
                  <a:pt x="0" y="172"/>
                </a:moveTo>
                <a:cubicBezTo>
                  <a:pt x="97" y="328"/>
                  <a:pt x="109" y="336"/>
                  <a:pt x="189" y="336"/>
                </a:cubicBezTo>
                <a:cubicBezTo>
                  <a:pt x="275" y="336"/>
                  <a:pt x="326" y="246"/>
                  <a:pt x="372" y="164"/>
                </a:cubicBezTo>
                <a:cubicBezTo>
                  <a:pt x="452" y="33"/>
                  <a:pt x="473" y="11"/>
                  <a:pt x="561" y="0"/>
                </a:cubicBezTo>
                <a:cubicBezTo>
                  <a:pt x="644" y="11"/>
                  <a:pt x="698" y="49"/>
                  <a:pt x="738" y="165"/>
                </a:cubicBezTo>
                <a:cubicBezTo>
                  <a:pt x="813" y="279"/>
                  <a:pt x="847" y="336"/>
                  <a:pt x="939" y="336"/>
                </a:cubicBezTo>
                <a:cubicBezTo>
                  <a:pt x="1025" y="328"/>
                  <a:pt x="1097" y="317"/>
                  <a:pt x="1149" y="178"/>
                </a:cubicBezTo>
              </a:path>
            </a:pathLst>
          </a:custGeom>
          <a:noFill/>
          <a:ln w="19050">
            <a:solidFill>
              <a:srgbClr val="FFFF99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2795" name="Group 35">
            <a:extLst>
              <a:ext uri="{FF2B5EF4-FFF2-40B4-BE49-F238E27FC236}">
                <a16:creationId xmlns:a16="http://schemas.microsoft.com/office/drawing/2014/main" id="{A2BE7717-901F-4D13-9ED6-110D1C56418A}"/>
              </a:ext>
            </a:extLst>
          </p:cNvPr>
          <p:cNvGrpSpPr>
            <a:grpSpLocks/>
          </p:cNvGrpSpPr>
          <p:nvPr/>
        </p:nvGrpSpPr>
        <p:grpSpPr bwMode="auto">
          <a:xfrm>
            <a:off x="5867648" y="765150"/>
            <a:ext cx="2952750" cy="4273550"/>
            <a:chOff x="3696" y="255"/>
            <a:chExt cx="1860" cy="2692"/>
          </a:xfrm>
        </p:grpSpPr>
        <p:sp>
          <p:nvSpPr>
            <p:cNvPr id="32801" name="Text Box 36">
              <a:extLst>
                <a:ext uri="{FF2B5EF4-FFF2-40B4-BE49-F238E27FC236}">
                  <a16:creationId xmlns:a16="http://schemas.microsoft.com/office/drawing/2014/main" id="{37E4E8F5-6CAC-44A4-86B1-7867C5BA01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5" y="2523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0" i="1">
                  <a:solidFill>
                    <a:schemeClr val="hlink"/>
                  </a:solidFill>
                </a:rPr>
                <a:t>x</a:t>
              </a:r>
            </a:p>
          </p:txBody>
        </p:sp>
        <p:grpSp>
          <p:nvGrpSpPr>
            <p:cNvPr id="32802" name="Group 37">
              <a:extLst>
                <a:ext uri="{FF2B5EF4-FFF2-40B4-BE49-F238E27FC236}">
                  <a16:creationId xmlns:a16="http://schemas.microsoft.com/office/drawing/2014/main" id="{64CEB612-14BE-46BB-9C6E-E5BFF42504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255"/>
              <a:ext cx="1679" cy="2692"/>
              <a:chOff x="3696" y="255"/>
              <a:chExt cx="1679" cy="2692"/>
            </a:xfrm>
          </p:grpSpPr>
          <p:sp>
            <p:nvSpPr>
              <p:cNvPr id="32803" name="Line 38">
                <a:extLst>
                  <a:ext uri="{FF2B5EF4-FFF2-40B4-BE49-F238E27FC236}">
                    <a16:creationId xmlns:a16="http://schemas.microsoft.com/office/drawing/2014/main" id="{8A2A1FD4-2167-4AFE-B992-A82449085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69" y="255"/>
                <a:ext cx="0" cy="2449"/>
              </a:xfrm>
              <a:prstGeom prst="line">
                <a:avLst/>
              </a:prstGeom>
              <a:noFill/>
              <a:ln w="28575">
                <a:solidFill>
                  <a:srgbClr val="00CCFF">
                    <a:alpha val="94116"/>
                  </a:srgb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4" name="Line 39">
                <a:extLst>
                  <a:ext uri="{FF2B5EF4-FFF2-40B4-BE49-F238E27FC236}">
                    <a16:creationId xmlns:a16="http://schemas.microsoft.com/office/drawing/2014/main" id="{B7DD0888-007F-429A-AA32-15E9DC11FE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03" y="255"/>
                <a:ext cx="0" cy="2449"/>
              </a:xfrm>
              <a:prstGeom prst="line">
                <a:avLst/>
              </a:prstGeom>
              <a:noFill/>
              <a:ln w="28575">
                <a:solidFill>
                  <a:srgbClr val="00CCFF">
                    <a:alpha val="92940"/>
                  </a:srgb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5" name="Line 40">
                <a:extLst>
                  <a:ext uri="{FF2B5EF4-FFF2-40B4-BE49-F238E27FC236}">
                    <a16:creationId xmlns:a16="http://schemas.microsoft.com/office/drawing/2014/main" id="{78E493D4-86B9-4980-822B-8C99D8BB29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704"/>
                <a:ext cx="1679" cy="0"/>
              </a:xfrm>
              <a:prstGeom prst="line">
                <a:avLst/>
              </a:prstGeom>
              <a:noFill/>
              <a:ln w="9525">
                <a:solidFill>
                  <a:srgbClr val="00CCFF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6" name="Text Box 41">
                <a:extLst>
                  <a:ext uri="{FF2B5EF4-FFF2-40B4-BE49-F238E27FC236}">
                    <a16:creationId xmlns:a16="http://schemas.microsoft.com/office/drawing/2014/main" id="{C4DD9782-5911-4C45-9758-F457AAC30E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5" y="2659"/>
                <a:ext cx="134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b="0" i="1">
                    <a:solidFill>
                      <a:schemeClr val="hlink"/>
                    </a:solidFill>
                  </a:rPr>
                  <a:t>0</a:t>
                </a:r>
                <a:r>
                  <a:rPr lang="en-US" altLang="zh-CN" b="0" i="1">
                    <a:solidFill>
                      <a:schemeClr val="hlink"/>
                    </a:solidFill>
                  </a:rPr>
                  <a:t>                      a</a:t>
                </a:r>
              </a:p>
            </p:txBody>
          </p:sp>
        </p:grpSp>
      </p:grpSp>
      <p:grpSp>
        <p:nvGrpSpPr>
          <p:cNvPr id="6" name="Group 42">
            <a:extLst>
              <a:ext uri="{FF2B5EF4-FFF2-40B4-BE49-F238E27FC236}">
                <a16:creationId xmlns:a16="http://schemas.microsoft.com/office/drawing/2014/main" id="{64E78E35-2ADB-43F9-A3C5-0765C89C69B0}"/>
              </a:ext>
            </a:extLst>
          </p:cNvPr>
          <p:cNvGrpSpPr>
            <a:grpSpLocks/>
          </p:cNvGrpSpPr>
          <p:nvPr/>
        </p:nvGrpSpPr>
        <p:grpSpPr bwMode="auto">
          <a:xfrm>
            <a:off x="6281985" y="1412850"/>
            <a:ext cx="1800225" cy="2808287"/>
            <a:chOff x="3969" y="663"/>
            <a:chExt cx="1134" cy="1769"/>
          </a:xfrm>
        </p:grpSpPr>
        <p:sp>
          <p:nvSpPr>
            <p:cNvPr id="32798" name="Line 43">
              <a:extLst>
                <a:ext uri="{FF2B5EF4-FFF2-40B4-BE49-F238E27FC236}">
                  <a16:creationId xmlns:a16="http://schemas.microsoft.com/office/drawing/2014/main" id="{F587DE99-7F57-42B2-84F8-5E1EA51BFD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2432"/>
              <a:ext cx="113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99" name="Line 44">
              <a:extLst>
                <a:ext uri="{FF2B5EF4-FFF2-40B4-BE49-F238E27FC236}">
                  <a16:creationId xmlns:a16="http://schemas.microsoft.com/office/drawing/2014/main" id="{FDBD9E08-51FB-4B74-8F3C-7EFF513364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797"/>
              <a:ext cx="113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00" name="Line 45">
              <a:extLst>
                <a:ext uri="{FF2B5EF4-FFF2-40B4-BE49-F238E27FC236}">
                  <a16:creationId xmlns:a16="http://schemas.microsoft.com/office/drawing/2014/main" id="{310385F5-A4DF-435B-865B-701BE686A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663"/>
              <a:ext cx="113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797" name="灯片编号占位符 1">
            <a:extLst>
              <a:ext uri="{FF2B5EF4-FFF2-40B4-BE49-F238E27FC236}">
                <a16:creationId xmlns:a16="http://schemas.microsoft.com/office/drawing/2014/main" id="{6D50EE30-1877-440D-9091-2D9367F6EA06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F1AB8B1-708B-4CEB-864D-C0975299E83A}" type="slidenum">
              <a:rPr lang="en-US" altLang="zh-CN" b="0">
                <a:solidFill>
                  <a:srgbClr val="FF00FF"/>
                </a:solidFill>
              </a:rPr>
              <a:pPr eaLnBrk="1" hangingPunct="1"/>
              <a:t>4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sp>
        <p:nvSpPr>
          <p:cNvPr id="46" name="Rectangle 8">
            <a:extLst>
              <a:ext uri="{FF2B5EF4-FFF2-40B4-BE49-F238E27FC236}">
                <a16:creationId xmlns:a16="http://schemas.microsoft.com/office/drawing/2014/main" id="{B90C7A5B-F190-4746-BD15-9C3D59BFB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221" y="5661248"/>
            <a:ext cx="4460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dirty="0">
                <a:solidFill>
                  <a:schemeClr val="hlink"/>
                </a:solidFill>
                <a:ea typeface="STZhongsong" panose="02010600040101010101" pitchFamily="2" charset="-122"/>
              </a:rPr>
              <a:t>量子态上的概率密度：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14">
                <a:extLst>
                  <a:ext uri="{FF2B5EF4-FFF2-40B4-BE49-F238E27FC236}">
                    <a16:creationId xmlns:a16="http://schemas.microsoft.com/office/drawing/2014/main" id="{1E95C037-CE9A-487D-A507-7119466E9C15}"/>
                  </a:ext>
                </a:extLst>
              </p:cNvPr>
              <p:cNvSpPr txBox="1"/>
              <p:nvPr/>
            </p:nvSpPr>
            <p:spPr bwMode="auto">
              <a:xfrm>
                <a:off x="4427984" y="5445224"/>
                <a:ext cx="3672136" cy="87788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𝛹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)|2=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func>
                        <m:funcPr>
                          <m:ctrlP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zh-CN" altLang="en-US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US" altLang="zh-CN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1" i="1" baseline="3000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fName>
                        <m:e>
                          <m:r>
                            <a:rPr lang="en-US" altLang="zh-CN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zh-CN" altLang="en-US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</m:e>
                      </m:func>
                      <m:r>
                        <a:rPr lang="zh-CN" altLang="en-US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i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47" name="Object 14">
                <a:extLst>
                  <a:ext uri="{FF2B5EF4-FFF2-40B4-BE49-F238E27FC236}">
                    <a16:creationId xmlns:a16="http://schemas.microsoft.com/office/drawing/2014/main" id="{1E95C037-CE9A-487D-A507-7119466E9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27984" y="5445224"/>
                <a:ext cx="3672136" cy="87788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0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0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00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00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00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00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00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3" dur="500"/>
                                        <p:tgtEl>
                                          <p:spTgt spid="100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6" dur="500"/>
                                        <p:tgtEl>
                                          <p:spTgt spid="100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9" dur="500"/>
                                        <p:tgtEl>
                                          <p:spTgt spid="100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2" dur="500"/>
                                        <p:tgtEl>
                                          <p:spTgt spid="100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5" dur="500"/>
                                        <p:tgtEl>
                                          <p:spTgt spid="100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8" dur="500"/>
                                        <p:tgtEl>
                                          <p:spTgt spid="100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 autoUpdateAnimBg="0"/>
      <p:bldP spid="100355" grpId="0" animBg="1" autoUpdateAnimBg="0"/>
      <p:bldP spid="100360" grpId="0" autoUpdateAnimBg="0"/>
      <p:bldP spid="6165" grpId="0"/>
      <p:bldP spid="100377" grpId="0" autoUpdateAnimBg="0"/>
      <p:bldP spid="100380" grpId="0" animBg="1"/>
      <p:bldP spid="46" grpId="0" autoUpdateAnimBg="0"/>
      <p:bldP spid="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5">
            <a:extLst>
              <a:ext uri="{FF2B5EF4-FFF2-40B4-BE49-F238E27FC236}">
                <a16:creationId xmlns:a16="http://schemas.microsoft.com/office/drawing/2014/main" id="{0E8FA352-B4AE-4BE9-A8C4-C0D9F7E65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954" y="302741"/>
            <a:ext cx="1428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ea typeface="STZhongsong" panose="02010600040101010101" pitchFamily="2" charset="-122"/>
              </a:rPr>
              <a:t>分析：</a:t>
            </a:r>
            <a:endParaRPr lang="zh-CN" altLang="en-US" i="1" dirty="0">
              <a:solidFill>
                <a:schemeClr val="bg1"/>
              </a:solidFill>
              <a:ea typeface="STZhongsong" panose="02010600040101010101" pitchFamily="2" charset="-122"/>
            </a:endParaRPr>
          </a:p>
        </p:txBody>
      </p:sp>
      <p:sp>
        <p:nvSpPr>
          <p:cNvPr id="3" name="Text Box 36">
            <a:extLst>
              <a:ext uri="{FF2B5EF4-FFF2-40B4-BE49-F238E27FC236}">
                <a16:creationId xmlns:a16="http://schemas.microsoft.com/office/drawing/2014/main" id="{FEC9238C-546D-47AA-9998-66F468263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4" y="5739532"/>
            <a:ext cx="3143250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200" dirty="0">
                <a:solidFill>
                  <a:schemeClr val="bg1"/>
                </a:solidFill>
              </a:rPr>
              <a:t>当</a:t>
            </a:r>
            <a:r>
              <a:rPr lang="en-US" altLang="zh-CN" sz="2200" i="1" dirty="0">
                <a:solidFill>
                  <a:srgbClr val="FFFF00"/>
                </a:solidFill>
              </a:rPr>
              <a:t>n</a:t>
            </a:r>
            <a:r>
              <a:rPr lang="zh-CN" altLang="en-US" sz="2200" dirty="0">
                <a:solidFill>
                  <a:srgbClr val="FFFF00"/>
                </a:solidFill>
              </a:rPr>
              <a:t>很大时</a:t>
            </a:r>
            <a:r>
              <a:rPr lang="zh-CN" altLang="en-US" sz="2200" dirty="0">
                <a:solidFill>
                  <a:schemeClr val="bg1"/>
                </a:solidFill>
              </a:rPr>
              <a:t>，势阱内粒子概率分布趋于均匀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50632AB-992F-4A42-9CFE-95F289091DD0}"/>
              </a:ext>
            </a:extLst>
          </p:cNvPr>
          <p:cNvGrpSpPr>
            <a:grpSpLocks/>
          </p:cNvGrpSpPr>
          <p:nvPr/>
        </p:nvGrpSpPr>
        <p:grpSpPr bwMode="auto">
          <a:xfrm>
            <a:off x="6156176" y="4944889"/>
            <a:ext cx="2200275" cy="1868487"/>
            <a:chOff x="4857752" y="4602189"/>
            <a:chExt cx="2200275" cy="1868488"/>
          </a:xfrm>
        </p:grpSpPr>
        <p:grpSp>
          <p:nvGrpSpPr>
            <p:cNvPr id="34835" name="Group 41">
              <a:extLst>
                <a:ext uri="{FF2B5EF4-FFF2-40B4-BE49-F238E27FC236}">
                  <a16:creationId xmlns:a16="http://schemas.microsoft.com/office/drawing/2014/main" id="{155620CF-F83F-4905-ACFA-EE18B8AA6B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2429" y="5365777"/>
              <a:ext cx="792163" cy="739775"/>
              <a:chOff x="6885" y="13605"/>
              <a:chExt cx="2910" cy="945"/>
            </a:xfrm>
          </p:grpSpPr>
          <p:grpSp>
            <p:nvGrpSpPr>
              <p:cNvPr id="34860" name="Group 42">
                <a:extLst>
                  <a:ext uri="{FF2B5EF4-FFF2-40B4-BE49-F238E27FC236}">
                    <a16:creationId xmlns:a16="http://schemas.microsoft.com/office/drawing/2014/main" id="{69DA78D4-DFA8-4C87-BD0F-7CF8093BE0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85" y="13605"/>
                <a:ext cx="1455" cy="945"/>
                <a:chOff x="6885" y="13605"/>
                <a:chExt cx="1455" cy="945"/>
              </a:xfrm>
            </p:grpSpPr>
            <p:sp>
              <p:nvSpPr>
                <p:cNvPr id="34868" name="Freeform 43">
                  <a:extLst>
                    <a:ext uri="{FF2B5EF4-FFF2-40B4-BE49-F238E27FC236}">
                      <a16:creationId xmlns:a16="http://schemas.microsoft.com/office/drawing/2014/main" id="{98458606-42B7-410B-A5F8-23DF7B4AFA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85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69" name="Freeform 44">
                  <a:extLst>
                    <a:ext uri="{FF2B5EF4-FFF2-40B4-BE49-F238E27FC236}">
                      <a16:creationId xmlns:a16="http://schemas.microsoft.com/office/drawing/2014/main" id="{080D1779-C9EA-4964-B128-FA6905C091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40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70" name="Freeform 45">
                  <a:extLst>
                    <a:ext uri="{FF2B5EF4-FFF2-40B4-BE49-F238E27FC236}">
                      <a16:creationId xmlns:a16="http://schemas.microsoft.com/office/drawing/2014/main" id="{2F714997-8071-400A-8DE1-0BDE2DB4EF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80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71" name="Freeform 46">
                  <a:extLst>
                    <a:ext uri="{FF2B5EF4-FFF2-40B4-BE49-F238E27FC236}">
                      <a16:creationId xmlns:a16="http://schemas.microsoft.com/office/drawing/2014/main" id="{C8E8BF0C-0D79-4C59-BE99-35B06E973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20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72" name="Freeform 47">
                  <a:extLst>
                    <a:ext uri="{FF2B5EF4-FFF2-40B4-BE49-F238E27FC236}">
                      <a16:creationId xmlns:a16="http://schemas.microsoft.com/office/drawing/2014/main" id="{2115BC67-ABB7-4D46-9AB0-062A6ECD2F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60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73" name="Freeform 48">
                  <a:extLst>
                    <a:ext uri="{FF2B5EF4-FFF2-40B4-BE49-F238E27FC236}">
                      <a16:creationId xmlns:a16="http://schemas.microsoft.com/office/drawing/2014/main" id="{178E69A7-60AD-416E-873A-BD69A712A2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00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4861" name="Group 49">
                <a:extLst>
                  <a:ext uri="{FF2B5EF4-FFF2-40B4-BE49-F238E27FC236}">
                    <a16:creationId xmlns:a16="http://schemas.microsoft.com/office/drawing/2014/main" id="{2B514032-9A81-4935-BFAC-E43EABC850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40" y="13605"/>
                <a:ext cx="1455" cy="945"/>
                <a:chOff x="6885" y="13605"/>
                <a:chExt cx="1455" cy="945"/>
              </a:xfrm>
            </p:grpSpPr>
            <p:sp>
              <p:nvSpPr>
                <p:cNvPr id="34862" name="Freeform 50">
                  <a:extLst>
                    <a:ext uri="{FF2B5EF4-FFF2-40B4-BE49-F238E27FC236}">
                      <a16:creationId xmlns:a16="http://schemas.microsoft.com/office/drawing/2014/main" id="{B45DE742-16CD-479A-B19C-3C5BC6900C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85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63" name="Freeform 51">
                  <a:extLst>
                    <a:ext uri="{FF2B5EF4-FFF2-40B4-BE49-F238E27FC236}">
                      <a16:creationId xmlns:a16="http://schemas.microsoft.com/office/drawing/2014/main" id="{149E3066-9536-4419-96F2-0EEF574619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40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64" name="Freeform 52">
                  <a:extLst>
                    <a:ext uri="{FF2B5EF4-FFF2-40B4-BE49-F238E27FC236}">
                      <a16:creationId xmlns:a16="http://schemas.microsoft.com/office/drawing/2014/main" id="{25B38754-7DA0-4554-8D83-C344677109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80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65" name="Freeform 53">
                  <a:extLst>
                    <a:ext uri="{FF2B5EF4-FFF2-40B4-BE49-F238E27FC236}">
                      <a16:creationId xmlns:a16="http://schemas.microsoft.com/office/drawing/2014/main" id="{7D39CEE9-2815-4BCA-84EF-41A6B952AF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20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66" name="Freeform 54">
                  <a:extLst>
                    <a:ext uri="{FF2B5EF4-FFF2-40B4-BE49-F238E27FC236}">
                      <a16:creationId xmlns:a16="http://schemas.microsoft.com/office/drawing/2014/main" id="{138093D9-04EB-4F42-9BB6-5B3D0BDD7D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60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67" name="Freeform 55">
                  <a:extLst>
                    <a:ext uri="{FF2B5EF4-FFF2-40B4-BE49-F238E27FC236}">
                      <a16:creationId xmlns:a16="http://schemas.microsoft.com/office/drawing/2014/main" id="{F4CAC552-AA9C-4055-9EEA-5CDEC84A4E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00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836" name="Group 56">
              <a:extLst>
                <a:ext uri="{FF2B5EF4-FFF2-40B4-BE49-F238E27FC236}">
                  <a16:creationId xmlns:a16="http://schemas.microsoft.com/office/drawing/2014/main" id="{5BA46FA4-4594-4F5A-920D-8B1030B595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7292" y="5365777"/>
              <a:ext cx="792163" cy="739775"/>
              <a:chOff x="6885" y="13605"/>
              <a:chExt cx="2910" cy="945"/>
            </a:xfrm>
          </p:grpSpPr>
          <p:grpSp>
            <p:nvGrpSpPr>
              <p:cNvPr id="34846" name="Group 57">
                <a:extLst>
                  <a:ext uri="{FF2B5EF4-FFF2-40B4-BE49-F238E27FC236}">
                    <a16:creationId xmlns:a16="http://schemas.microsoft.com/office/drawing/2014/main" id="{CFC1DD6E-060E-421F-993E-D86F8D30E9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85" y="13605"/>
                <a:ext cx="1455" cy="945"/>
                <a:chOff x="6885" y="13605"/>
                <a:chExt cx="1455" cy="945"/>
              </a:xfrm>
            </p:grpSpPr>
            <p:sp>
              <p:nvSpPr>
                <p:cNvPr id="34854" name="Freeform 58">
                  <a:extLst>
                    <a:ext uri="{FF2B5EF4-FFF2-40B4-BE49-F238E27FC236}">
                      <a16:creationId xmlns:a16="http://schemas.microsoft.com/office/drawing/2014/main" id="{BB23DCD7-2D67-41E0-8844-4611BEFF05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85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55" name="Freeform 59">
                  <a:extLst>
                    <a:ext uri="{FF2B5EF4-FFF2-40B4-BE49-F238E27FC236}">
                      <a16:creationId xmlns:a16="http://schemas.microsoft.com/office/drawing/2014/main" id="{9BEE4799-1E74-47D4-BFDD-EED3A95AB1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40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56" name="Freeform 60">
                  <a:extLst>
                    <a:ext uri="{FF2B5EF4-FFF2-40B4-BE49-F238E27FC236}">
                      <a16:creationId xmlns:a16="http://schemas.microsoft.com/office/drawing/2014/main" id="{E1BCD959-9AA1-4F85-9A67-EC805DBC61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80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57" name="Freeform 61">
                  <a:extLst>
                    <a:ext uri="{FF2B5EF4-FFF2-40B4-BE49-F238E27FC236}">
                      <a16:creationId xmlns:a16="http://schemas.microsoft.com/office/drawing/2014/main" id="{8842ED71-93E4-43C5-86B2-6BBA0672B7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20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58" name="Freeform 62">
                  <a:extLst>
                    <a:ext uri="{FF2B5EF4-FFF2-40B4-BE49-F238E27FC236}">
                      <a16:creationId xmlns:a16="http://schemas.microsoft.com/office/drawing/2014/main" id="{2112092D-AF6A-43F9-9F3C-283A575471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60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59" name="Freeform 63">
                  <a:extLst>
                    <a:ext uri="{FF2B5EF4-FFF2-40B4-BE49-F238E27FC236}">
                      <a16:creationId xmlns:a16="http://schemas.microsoft.com/office/drawing/2014/main" id="{032E968B-E585-4377-A6BB-475914E5A3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00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4847" name="Group 64">
                <a:extLst>
                  <a:ext uri="{FF2B5EF4-FFF2-40B4-BE49-F238E27FC236}">
                    <a16:creationId xmlns:a16="http://schemas.microsoft.com/office/drawing/2014/main" id="{F0795F93-B0CD-49C7-9A95-9765FF97BD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40" y="13605"/>
                <a:ext cx="1455" cy="945"/>
                <a:chOff x="6885" y="13605"/>
                <a:chExt cx="1455" cy="945"/>
              </a:xfrm>
            </p:grpSpPr>
            <p:sp>
              <p:nvSpPr>
                <p:cNvPr id="34848" name="Freeform 65">
                  <a:extLst>
                    <a:ext uri="{FF2B5EF4-FFF2-40B4-BE49-F238E27FC236}">
                      <a16:creationId xmlns:a16="http://schemas.microsoft.com/office/drawing/2014/main" id="{8FCD93A9-CE82-4571-B41C-5DFF752095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85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49" name="Freeform 66">
                  <a:extLst>
                    <a:ext uri="{FF2B5EF4-FFF2-40B4-BE49-F238E27FC236}">
                      <a16:creationId xmlns:a16="http://schemas.microsoft.com/office/drawing/2014/main" id="{7136E471-6B15-4F5C-A4B0-EEEB0D9349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40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50" name="Freeform 67">
                  <a:extLst>
                    <a:ext uri="{FF2B5EF4-FFF2-40B4-BE49-F238E27FC236}">
                      <a16:creationId xmlns:a16="http://schemas.microsoft.com/office/drawing/2014/main" id="{AA22B827-4E49-4400-B84D-3D68325DA2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380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51" name="Freeform 68">
                  <a:extLst>
                    <a:ext uri="{FF2B5EF4-FFF2-40B4-BE49-F238E27FC236}">
                      <a16:creationId xmlns:a16="http://schemas.microsoft.com/office/drawing/2014/main" id="{5EB850F0-AC88-424F-9A42-5CEE3E0EF0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20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52" name="Freeform 69">
                  <a:extLst>
                    <a:ext uri="{FF2B5EF4-FFF2-40B4-BE49-F238E27FC236}">
                      <a16:creationId xmlns:a16="http://schemas.microsoft.com/office/drawing/2014/main" id="{07DDCFF3-3857-4872-AB8D-6BC57CB0DA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60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53" name="Freeform 70">
                  <a:extLst>
                    <a:ext uri="{FF2B5EF4-FFF2-40B4-BE49-F238E27FC236}">
                      <a16:creationId xmlns:a16="http://schemas.microsoft.com/office/drawing/2014/main" id="{5512251D-DE26-4B88-99AB-00ED8E2C03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100" y="13605"/>
                  <a:ext cx="240" cy="945"/>
                </a:xfrm>
                <a:custGeom>
                  <a:avLst/>
                  <a:gdLst>
                    <a:gd name="T0" fmla="*/ 0 w 240"/>
                    <a:gd name="T1" fmla="*/ 945 h 945"/>
                    <a:gd name="T2" fmla="*/ 90 w 240"/>
                    <a:gd name="T3" fmla="*/ 0 h 945"/>
                    <a:gd name="T4" fmla="*/ 240 w 240"/>
                    <a:gd name="T5" fmla="*/ 945 h 945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945"/>
                    <a:gd name="T11" fmla="*/ 240 w 240"/>
                    <a:gd name="T12" fmla="*/ 945 h 9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945">
                      <a:moveTo>
                        <a:pt x="0" y="945"/>
                      </a:moveTo>
                      <a:cubicBezTo>
                        <a:pt x="25" y="472"/>
                        <a:pt x="50" y="0"/>
                        <a:pt x="90" y="0"/>
                      </a:cubicBezTo>
                      <a:cubicBezTo>
                        <a:pt x="130" y="0"/>
                        <a:pt x="185" y="472"/>
                        <a:pt x="240" y="945"/>
                      </a:cubicBez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4837" name="Line 71">
              <a:extLst>
                <a:ext uri="{FF2B5EF4-FFF2-40B4-BE49-F238E27FC236}">
                  <a16:creationId xmlns:a16="http://schemas.microsoft.com/office/drawing/2014/main" id="{DF94D6CC-F5D1-49F5-A2CC-3834CCD335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24490" y="4967314"/>
              <a:ext cx="0" cy="1503363"/>
            </a:xfrm>
            <a:prstGeom prst="line">
              <a:avLst/>
            </a:prstGeom>
            <a:noFill/>
            <a:ln w="28575">
              <a:solidFill>
                <a:srgbClr val="59E2FD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8" name="Line 72">
              <a:extLst>
                <a:ext uri="{FF2B5EF4-FFF2-40B4-BE49-F238E27FC236}">
                  <a16:creationId xmlns:a16="http://schemas.microsoft.com/office/drawing/2014/main" id="{68F98161-230D-49DC-9072-478A270546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58027" y="4967314"/>
              <a:ext cx="0" cy="1503363"/>
            </a:xfrm>
            <a:prstGeom prst="line">
              <a:avLst/>
            </a:prstGeom>
            <a:noFill/>
            <a:ln w="28575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9" name="Line 73">
              <a:extLst>
                <a:ext uri="{FF2B5EF4-FFF2-40B4-BE49-F238E27FC236}">
                  <a16:creationId xmlns:a16="http://schemas.microsoft.com/office/drawing/2014/main" id="{A72EE2E3-56DC-40B4-A0C8-AD43E5FE5C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490" y="6118252"/>
              <a:ext cx="162242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840" name="Group 74">
              <a:extLst>
                <a:ext uri="{FF2B5EF4-FFF2-40B4-BE49-F238E27FC236}">
                  <a16:creationId xmlns:a16="http://schemas.microsoft.com/office/drawing/2014/main" id="{4037164C-A54A-4B82-AE36-9BB47AFEBF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16552" y="4602201"/>
              <a:ext cx="977900" cy="695327"/>
              <a:chOff x="4260" y="2348"/>
              <a:chExt cx="616" cy="438"/>
            </a:xfrm>
          </p:grpSpPr>
          <p:sp>
            <p:nvSpPr>
              <p:cNvPr id="34842" name="Text Box 75">
                <a:extLst>
                  <a:ext uri="{FF2B5EF4-FFF2-40B4-BE49-F238E27FC236}">
                    <a16:creationId xmlns:a16="http://schemas.microsoft.com/office/drawing/2014/main" id="{2E2B6A48-275D-4DA5-ACA7-30282A247C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60" y="2419"/>
                <a:ext cx="292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800">
                    <a:solidFill>
                      <a:srgbClr val="FFFF00"/>
                    </a:solidFill>
                  </a:rPr>
                  <a:t>|</a:t>
                </a:r>
                <a:endParaRPr lang="en-US" altLang="zh-CN" sz="2800" b="0">
                  <a:solidFill>
                    <a:srgbClr val="FFFF00"/>
                  </a:solidFill>
                </a:endParaRPr>
              </a:p>
            </p:txBody>
          </p:sp>
          <p:sp>
            <p:nvSpPr>
              <p:cNvPr id="34843" name="Text Box 76">
                <a:extLst>
                  <a:ext uri="{FF2B5EF4-FFF2-40B4-BE49-F238E27FC236}">
                    <a16:creationId xmlns:a16="http://schemas.microsoft.com/office/drawing/2014/main" id="{3B799D05-CD0F-4099-AC2E-4E71DBDE69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28" y="2348"/>
                <a:ext cx="248" cy="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>
                    <a:solidFill>
                      <a:srgbClr val="FFFF00"/>
                    </a:solidFill>
                  </a:rPr>
                  <a:t>2</a:t>
                </a:r>
              </a:p>
            </p:txBody>
          </p:sp>
          <p:sp>
            <p:nvSpPr>
              <p:cNvPr id="34844" name="Text Box 77">
                <a:extLst>
                  <a:ext uri="{FF2B5EF4-FFF2-40B4-BE49-F238E27FC236}">
                    <a16:creationId xmlns:a16="http://schemas.microsoft.com/office/drawing/2014/main" id="{4B060F05-687B-4E5C-B872-6D27B57946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3" y="2419"/>
                <a:ext cx="474" cy="3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800">
                    <a:solidFill>
                      <a:srgbClr val="FFFF00"/>
                    </a:solidFill>
                    <a:sym typeface="Symbol" panose="05050102010706020507" pitchFamily="18" charset="2"/>
                  </a:rPr>
                  <a:t></a:t>
                </a:r>
                <a:r>
                  <a:rPr lang="en-US" altLang="zh-CN" sz="2800" baseline="-25000">
                    <a:solidFill>
                      <a:srgbClr val="FFFF00"/>
                    </a:solidFill>
                    <a:sym typeface="Symbol" panose="05050102010706020507" pitchFamily="18" charset="2"/>
                  </a:rPr>
                  <a:t>n</a:t>
                </a:r>
                <a:endParaRPr lang="en-US" altLang="zh-CN" sz="2800">
                  <a:solidFill>
                    <a:srgbClr val="FFFF00"/>
                  </a:solidFill>
                </a:endParaRPr>
              </a:p>
            </p:txBody>
          </p:sp>
          <p:sp>
            <p:nvSpPr>
              <p:cNvPr id="34845" name="Text Box 78">
                <a:extLst>
                  <a:ext uri="{FF2B5EF4-FFF2-40B4-BE49-F238E27FC236}">
                    <a16:creationId xmlns:a16="http://schemas.microsoft.com/office/drawing/2014/main" id="{544DC017-D0BB-4FCB-8230-38E44EFA26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8" y="2411"/>
                <a:ext cx="292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800">
                    <a:solidFill>
                      <a:srgbClr val="FFFF00"/>
                    </a:solidFill>
                  </a:rPr>
                  <a:t>|</a:t>
                </a:r>
                <a:endParaRPr lang="en-US" altLang="zh-CN" sz="2800" b="0">
                  <a:solidFill>
                    <a:srgbClr val="FFFF00"/>
                  </a:solidFill>
                </a:endParaRPr>
              </a:p>
            </p:txBody>
          </p:sp>
        </p:grpSp>
        <p:sp>
          <p:nvSpPr>
            <p:cNvPr id="34841" name="Text Box 79">
              <a:extLst>
                <a:ext uri="{FF2B5EF4-FFF2-40B4-BE49-F238E27FC236}">
                  <a16:creationId xmlns:a16="http://schemas.microsoft.com/office/drawing/2014/main" id="{48B9635E-72E1-45F9-A1E7-50886BA181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7752" y="5773764"/>
              <a:ext cx="8826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>
                  <a:solidFill>
                    <a:srgbClr val="FFFF00"/>
                  </a:solidFill>
                </a:rPr>
                <a:t>E</a:t>
              </a:r>
              <a:r>
                <a:rPr lang="en-US" altLang="zh-CN" sz="2800" baseline="-25000">
                  <a:solidFill>
                    <a:srgbClr val="FFFF00"/>
                  </a:solidFill>
                </a:rPr>
                <a:t>n</a:t>
              </a:r>
              <a:endParaRPr lang="en-US" altLang="zh-CN" b="0">
                <a:solidFill>
                  <a:srgbClr val="FFFF00"/>
                </a:solidFill>
              </a:endParaRPr>
            </a:p>
          </p:txBody>
        </p:sp>
      </p:grpSp>
      <p:sp>
        <p:nvSpPr>
          <p:cNvPr id="44" name="Text Box 38">
            <a:extLst>
              <a:ext uri="{FF2B5EF4-FFF2-40B4-BE49-F238E27FC236}">
                <a16:creationId xmlns:a16="http://schemas.microsoft.com/office/drawing/2014/main" id="{D6FDB148-CB82-4EC8-AEC1-68F3F53C4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174" y="6045994"/>
            <a:ext cx="2500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量子  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zh-CN" altLang="en-US" sz="2800" dirty="0">
                <a:solidFill>
                  <a:srgbClr val="FF0000"/>
                </a:solidFill>
              </a:rPr>
              <a:t>  经典</a:t>
            </a:r>
          </a:p>
        </p:txBody>
      </p:sp>
      <p:sp>
        <p:nvSpPr>
          <p:cNvPr id="45" name="Text Box 52">
            <a:extLst>
              <a:ext uri="{FF2B5EF4-FFF2-40B4-BE49-F238E27FC236}">
                <a16:creationId xmlns:a16="http://schemas.microsoft.com/office/drawing/2014/main" id="{B15B31F3-E2C1-4D42-B7D2-0CB850979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908720"/>
            <a:ext cx="8320285" cy="110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200" dirty="0">
                <a:solidFill>
                  <a:srgbClr val="FFFF00"/>
                </a:solidFill>
                <a:latin typeface="宋体" panose="02010600030101010101" pitchFamily="2" charset="-122"/>
              </a:rPr>
              <a:t>一维无限深方势阱中运动粒子的能量是量子化的，</a:t>
            </a:r>
            <a:r>
              <a:rPr lang="zh-CN" altLang="en-US" sz="2200" dirty="0">
                <a:solidFill>
                  <a:schemeClr val="bg1"/>
                </a:solidFill>
                <a:latin typeface="宋体" panose="02010600030101010101" pitchFamily="2" charset="-122"/>
              </a:rPr>
              <a:t>能量本征值也称为能级，在一定条件下粒子的状态可以从一个能级变化到另一个能级，这种变化叫</a:t>
            </a:r>
            <a:r>
              <a:rPr lang="zh-CN" altLang="en-US" sz="2200" dirty="0">
                <a:solidFill>
                  <a:srgbClr val="FFFF00"/>
                </a:solidFill>
                <a:latin typeface="宋体" panose="02010600030101010101" pitchFamily="2" charset="-122"/>
              </a:rPr>
              <a:t>跃迁（</a:t>
            </a:r>
            <a:r>
              <a:rPr lang="en-US" altLang="zh-CN" sz="2200" dirty="0">
                <a:solidFill>
                  <a:srgbClr val="FFFF00"/>
                </a:solidFill>
                <a:latin typeface="宋体" panose="02010600030101010101" pitchFamily="2" charset="-122"/>
              </a:rPr>
              <a:t>transition</a:t>
            </a:r>
            <a:r>
              <a:rPr lang="zh-CN" altLang="en-US" sz="2200" dirty="0">
                <a:solidFill>
                  <a:srgbClr val="FFFF00"/>
                </a:solidFill>
                <a:latin typeface="宋体" panose="02010600030101010101" pitchFamily="2" charset="-122"/>
              </a:rPr>
              <a:t>）</a:t>
            </a:r>
            <a:endParaRPr lang="zh-CN" altLang="en-US" sz="220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150" name="Object 23">
            <a:extLst>
              <a:ext uri="{FF2B5EF4-FFF2-40B4-BE49-F238E27FC236}">
                <a16:creationId xmlns:a16="http://schemas.microsoft.com/office/drawing/2014/main" id="{DCC0581F-4C48-45C2-95D9-705C917427C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253482" y="116632"/>
          <a:ext cx="22860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491" name="Equation" r:id="rId3" imgW="2886018" imgH="857250" progId="Equation.3">
                  <p:embed/>
                </p:oleObj>
              </mc:Choice>
              <mc:Fallback>
                <p:oleObj name="Equation" r:id="rId3" imgW="2886018" imgH="857250" progId="Equation.3">
                  <p:embed/>
                  <p:pic>
                    <p:nvPicPr>
                      <p:cNvPr id="6150" name="Object 23">
                        <a:extLst>
                          <a:ext uri="{FF2B5EF4-FFF2-40B4-BE49-F238E27FC236}">
                            <a16:creationId xmlns:a16="http://schemas.microsoft.com/office/drawing/2014/main" id="{DCC0581F-4C48-45C2-95D9-705C917427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3482" y="116632"/>
                        <a:ext cx="228600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19">
            <a:extLst>
              <a:ext uri="{FF2B5EF4-FFF2-40B4-BE49-F238E27FC236}">
                <a16:creationId xmlns:a16="http://schemas.microsoft.com/office/drawing/2014/main" id="{B66B642D-BB6F-4A53-BFB0-BB4315B95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184" y="2305050"/>
            <a:ext cx="470217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 typeface="Wingdings" panose="05000000000000000000" pitchFamily="2" charset="2"/>
              <a:buChar char="l"/>
            </a:pPr>
            <a:r>
              <a:rPr lang="zh-CN" altLang="en-US" sz="2200" dirty="0">
                <a:solidFill>
                  <a:schemeClr val="bg1"/>
                </a:solidFill>
              </a:rPr>
              <a:t> 最低能量（</a:t>
            </a:r>
            <a:r>
              <a:rPr lang="zh-CN" altLang="en-US" sz="2200" dirty="0">
                <a:solidFill>
                  <a:srgbClr val="FFFF00"/>
                </a:solidFill>
              </a:rPr>
              <a:t>基态能量</a:t>
            </a:r>
            <a:r>
              <a:rPr lang="zh-CN" altLang="en-US" sz="2200" dirty="0">
                <a:solidFill>
                  <a:schemeClr val="bg1"/>
                </a:solidFill>
              </a:rPr>
              <a:t>）</a:t>
            </a:r>
            <a:r>
              <a:rPr lang="en-US" altLang="zh-CN" sz="2200" dirty="0">
                <a:solidFill>
                  <a:schemeClr val="bg1"/>
                </a:solidFill>
              </a:rPr>
              <a:t>:</a:t>
            </a:r>
            <a:endParaRPr lang="zh-CN" altLang="en-US" sz="2200" dirty="0">
              <a:solidFill>
                <a:schemeClr val="bg1"/>
              </a:solidFill>
            </a:endParaRPr>
          </a:p>
        </p:txBody>
      </p:sp>
      <p:sp>
        <p:nvSpPr>
          <p:cNvPr id="48" name="Rectangle 21">
            <a:extLst>
              <a:ext uri="{FF2B5EF4-FFF2-40B4-BE49-F238E27FC236}">
                <a16:creationId xmlns:a16="http://schemas.microsoft.com/office/drawing/2014/main" id="{4A9F5876-8F2C-401F-9198-4A4A136B1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4326" y="2280445"/>
            <a:ext cx="206375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dirty="0">
                <a:solidFill>
                  <a:schemeClr val="bg1"/>
                </a:solidFill>
              </a:rPr>
              <a:t>— </a:t>
            </a:r>
            <a:r>
              <a:rPr lang="zh-CN" altLang="en-US" sz="2200" dirty="0">
                <a:solidFill>
                  <a:srgbClr val="FFFF00"/>
                </a:solidFill>
              </a:rPr>
              <a:t>零点能</a:t>
            </a:r>
          </a:p>
        </p:txBody>
      </p:sp>
      <p:sp>
        <p:nvSpPr>
          <p:cNvPr id="50" name="Text Box 22">
            <a:extLst>
              <a:ext uri="{FF2B5EF4-FFF2-40B4-BE49-F238E27FC236}">
                <a16:creationId xmlns:a16="http://schemas.microsoft.com/office/drawing/2014/main" id="{1EEAB220-0290-4C9E-9082-D48BCBA94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072" y="3111054"/>
            <a:ext cx="2971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bg1"/>
                </a:solidFill>
              </a:rPr>
              <a:t> 相邻能级间隔：</a:t>
            </a:r>
          </a:p>
        </p:txBody>
      </p:sp>
      <p:sp>
        <p:nvSpPr>
          <p:cNvPr id="55" name="Rectangle 21">
            <a:extLst>
              <a:ext uri="{FF2B5EF4-FFF2-40B4-BE49-F238E27FC236}">
                <a16:creationId xmlns:a16="http://schemas.microsoft.com/office/drawing/2014/main" id="{EDBD7CDB-C531-41EC-B912-9616D72DF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280" y="4072259"/>
            <a:ext cx="1903819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dirty="0">
                <a:solidFill>
                  <a:schemeClr val="bg1"/>
                </a:solidFill>
              </a:rPr>
              <a:t>— </a:t>
            </a:r>
            <a:r>
              <a:rPr lang="zh-CN" altLang="en-US" sz="2200" dirty="0">
                <a:solidFill>
                  <a:schemeClr val="bg1"/>
                </a:solidFill>
              </a:rPr>
              <a:t>宏观情况</a:t>
            </a:r>
          </a:p>
        </p:txBody>
      </p:sp>
      <p:sp>
        <p:nvSpPr>
          <p:cNvPr id="56" name="Rectangle 21">
            <a:extLst>
              <a:ext uri="{FF2B5EF4-FFF2-40B4-BE49-F238E27FC236}">
                <a16:creationId xmlns:a16="http://schemas.microsoft.com/office/drawing/2014/main" id="{73A92260-182C-432C-A73B-0865DBF8C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3326" y="5162983"/>
            <a:ext cx="22860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>
                <a:solidFill>
                  <a:schemeClr val="bg1"/>
                </a:solidFill>
              </a:rPr>
              <a:t>— </a:t>
            </a:r>
            <a:r>
              <a:rPr lang="zh-CN" altLang="en-US" sz="2200">
                <a:solidFill>
                  <a:schemeClr val="bg1"/>
                </a:solidFill>
              </a:rPr>
              <a:t>大量子数情况</a:t>
            </a:r>
          </a:p>
        </p:txBody>
      </p:sp>
      <p:sp>
        <p:nvSpPr>
          <p:cNvPr id="34834" name="灯片编号占位符 1">
            <a:extLst>
              <a:ext uri="{FF2B5EF4-FFF2-40B4-BE49-F238E27FC236}">
                <a16:creationId xmlns:a16="http://schemas.microsoft.com/office/drawing/2014/main" id="{E94163E5-D7FD-4509-8157-6EA7B2883CC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F4801AE-920F-43FF-81D2-2CFF906B2B2B}" type="slidenum">
              <a:rPr lang="en-US" altLang="zh-CN" b="0">
                <a:solidFill>
                  <a:srgbClr val="FF00FF"/>
                </a:solidFill>
              </a:rPr>
              <a:pPr eaLnBrk="1" hangingPunct="1"/>
              <a:t>5</a:t>
            </a:fld>
            <a:r>
              <a:rPr lang="en-US" altLang="zh-CN" b="0">
                <a:solidFill>
                  <a:srgbClr val="FF00FF"/>
                </a:solidFill>
              </a:rPr>
              <a:t>/22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bject 3">
                <a:extLst>
                  <a:ext uri="{FF2B5EF4-FFF2-40B4-BE49-F238E27FC236}">
                    <a16:creationId xmlns:a16="http://schemas.microsoft.com/office/drawing/2014/main" id="{6DE92BAD-2EC8-438E-9EE5-46ADFBFB95D7}"/>
                  </a:ext>
                </a:extLst>
              </p:cNvPr>
              <p:cNvSpPr txBox="1"/>
              <p:nvPr/>
            </p:nvSpPr>
            <p:spPr bwMode="auto">
              <a:xfrm>
                <a:off x="4067944" y="2025306"/>
                <a:ext cx="2464058" cy="1016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sub>
                      </m:sSub>
                      <m:r>
                        <a:rPr lang="en-US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zh-CN" altLang="en-US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5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5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zh-CN" sz="25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25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  <m: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25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&gt;0</m:t>
                      </m:r>
                    </m:oMath>
                  </m:oMathPara>
                </a14:m>
                <a:endParaRPr lang="zh-CN" altLang="en-US" sz="25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58" name="Object 3">
                <a:extLst>
                  <a:ext uri="{FF2B5EF4-FFF2-40B4-BE49-F238E27FC236}">
                    <a16:creationId xmlns:a16="http://schemas.microsoft.com/office/drawing/2014/main" id="{6DE92BAD-2EC8-438E-9EE5-46ADFBFB9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7944" y="2025306"/>
                <a:ext cx="2464058" cy="10166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bject 3">
                <a:extLst>
                  <a:ext uri="{FF2B5EF4-FFF2-40B4-BE49-F238E27FC236}">
                    <a16:creationId xmlns:a16="http://schemas.microsoft.com/office/drawing/2014/main" id="{835167F2-1D82-4875-A7C9-EBFE9F65C36E}"/>
                  </a:ext>
                </a:extLst>
              </p:cNvPr>
              <p:cNvSpPr txBox="1"/>
              <p:nvPr/>
            </p:nvSpPr>
            <p:spPr bwMode="auto">
              <a:xfrm>
                <a:off x="2843808" y="2844402"/>
                <a:ext cx="6152292" cy="1016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Δ</m:t>
                      </m:r>
                      <m:sSub>
                        <m:sSubPr>
                          <m:ctrlP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sub>
                      </m:sSub>
                      <m:r>
                        <a:rPr lang="en-US" altLang="zh-CN" sz="25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>
                        <m:sSubPr>
                          <m:ctrlP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+1</m:t>
                          </m:r>
                        </m:sub>
                      </m:sSub>
                      <m:r>
                        <a:rPr lang="en-US" altLang="zh-CN" sz="25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sSub>
                        <m:sSubPr>
                          <m:ctrlP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sub>
                      </m:sSub>
                      <m:r>
                        <a:rPr lang="en-US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zh-CN" altLang="en-US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25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8</m:t>
                          </m:r>
                          <m: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25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(2</m:t>
                      </m:r>
                      <m:r>
                        <a:rPr lang="en-US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𝑛</m:t>
                      </m:r>
                      <m:r>
                        <a:rPr lang="en-US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+1)∝</m:t>
                      </m:r>
                      <m:f>
                        <m:fPr>
                          <m:ctrlPr>
                            <a:rPr lang="zh-CN" altLang="en-US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5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59" name="Object 3">
                <a:extLst>
                  <a:ext uri="{FF2B5EF4-FFF2-40B4-BE49-F238E27FC236}">
                    <a16:creationId xmlns:a16="http://schemas.microsoft.com/office/drawing/2014/main" id="{835167F2-1D82-4875-A7C9-EBFE9F65C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3808" y="2844402"/>
                <a:ext cx="6152292" cy="10166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bject 3">
                <a:extLst>
                  <a:ext uri="{FF2B5EF4-FFF2-40B4-BE49-F238E27FC236}">
                    <a16:creationId xmlns:a16="http://schemas.microsoft.com/office/drawing/2014/main" id="{233E5A52-1D0B-42C7-883D-3604800E3BB1}"/>
                  </a:ext>
                </a:extLst>
              </p:cNvPr>
              <p:cNvSpPr txBox="1"/>
              <p:nvPr/>
            </p:nvSpPr>
            <p:spPr bwMode="auto">
              <a:xfrm>
                <a:off x="642938" y="3875682"/>
                <a:ext cx="4208828" cy="1016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zh-CN" altLang="en-US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25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groupChr>
                        <m:groupChrPr>
                          <m:chr m:val="→"/>
                          <m:pos m:val="top"/>
                          <m:ctrlPr>
                            <a:rPr lang="zh-CN" altLang="en-US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groupChrPr>
                        <m:e>
                          <m:r>
                            <m:rPr>
                              <m:brk m:alnAt="1"/>
                            </m:rP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 </m:t>
                          </m:r>
                          <m: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  </m:t>
                          </m:r>
                          <m: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  <m: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≫1  </m:t>
                          </m:r>
                        </m:e>
                      </m:groupChr>
                      <m:f>
                        <m:fPr>
                          <m:ctrlPr>
                            <a:rPr lang="zh-CN" altLang="en-US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sz="25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∝</m:t>
                      </m:r>
                      <m:f>
                        <m:fPr>
                          <m:ctrlPr>
                            <a:rPr lang="zh-CN" altLang="en-US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sz="25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60" name="Object 3">
                <a:extLst>
                  <a:ext uri="{FF2B5EF4-FFF2-40B4-BE49-F238E27FC236}">
                    <a16:creationId xmlns:a16="http://schemas.microsoft.com/office/drawing/2014/main" id="{233E5A52-1D0B-42C7-883D-3604800E3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2938" y="3875682"/>
                <a:ext cx="4208828" cy="10166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bject 3">
                <a:extLst>
                  <a:ext uri="{FF2B5EF4-FFF2-40B4-BE49-F238E27FC236}">
                    <a16:creationId xmlns:a16="http://schemas.microsoft.com/office/drawing/2014/main" id="{A9D28ADA-8EF3-44CE-9589-5114660CA124}"/>
                  </a:ext>
                </a:extLst>
              </p:cNvPr>
              <p:cNvSpPr txBox="1"/>
              <p:nvPr/>
            </p:nvSpPr>
            <p:spPr bwMode="auto">
              <a:xfrm>
                <a:off x="5004048" y="3946276"/>
                <a:ext cx="2215914" cy="7827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5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eqArrPr>
                            <m:e>
                              <m:r>
                                <a:rPr lang="en-US" altLang="zh-CN" sz="25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𝑎</m:t>
                              </m:r>
                              <m:r>
                                <a:rPr lang="en-US" altLang="zh-CN" sz="25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 ↑</m:t>
                              </m:r>
                            </m:e>
                            <m:e>
                              <m:r>
                                <a:rPr lang="en-US" altLang="zh-CN" sz="25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5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↑</m:t>
                              </m:r>
                            </m:e>
                          </m:eqArr>
                          <m: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l-GR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sub>
                      </m:sSub>
                      <m:r>
                        <a:rPr lang="en-US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↓</m:t>
                      </m:r>
                    </m:oMath>
                  </m:oMathPara>
                </a14:m>
                <a:endParaRPr lang="zh-CN" altLang="en-US" sz="25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61" name="Object 3">
                <a:extLst>
                  <a:ext uri="{FF2B5EF4-FFF2-40B4-BE49-F238E27FC236}">
                    <a16:creationId xmlns:a16="http://schemas.microsoft.com/office/drawing/2014/main" id="{A9D28ADA-8EF3-44CE-9589-5114660CA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4048" y="3946276"/>
                <a:ext cx="2215914" cy="7827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bject 3">
                <a:extLst>
                  <a:ext uri="{FF2B5EF4-FFF2-40B4-BE49-F238E27FC236}">
                    <a16:creationId xmlns:a16="http://schemas.microsoft.com/office/drawing/2014/main" id="{49063923-7987-4EE9-B11B-D8587A166CF3}"/>
                  </a:ext>
                </a:extLst>
              </p:cNvPr>
              <p:cNvSpPr txBox="1"/>
              <p:nvPr/>
            </p:nvSpPr>
            <p:spPr bwMode="auto">
              <a:xfrm>
                <a:off x="696234" y="4950914"/>
                <a:ext cx="2037322" cy="85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n</m:t>
                      </m:r>
                      <m:r>
                        <a:rPr lang="en-US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 ↑ →</m:t>
                      </m:r>
                      <m:f>
                        <m:fPr>
                          <m:ctrlP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 ↓</m:t>
                      </m:r>
                    </m:oMath>
                  </m:oMathPara>
                </a14:m>
                <a:endParaRPr lang="zh-CN" altLang="en-US" sz="25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63" name="Object 3">
                <a:extLst>
                  <a:ext uri="{FF2B5EF4-FFF2-40B4-BE49-F238E27FC236}">
                    <a16:creationId xmlns:a16="http://schemas.microsoft.com/office/drawing/2014/main" id="{49063923-7987-4EE9-B11B-D8587A166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6234" y="4950914"/>
                <a:ext cx="2037322" cy="8543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CE6F39F-5B9C-4C0E-A0B5-531F1AFC1213}"/>
              </a:ext>
            </a:extLst>
          </p:cNvPr>
          <p:cNvSpPr/>
          <p:nvPr/>
        </p:nvSpPr>
        <p:spPr bwMode="auto">
          <a:xfrm>
            <a:off x="8676456" y="3446419"/>
            <a:ext cx="226695" cy="846677"/>
          </a:xfrm>
          <a:custGeom>
            <a:avLst/>
            <a:gdLst>
              <a:gd name="connsiteX0" fmla="*/ 0 w 226695"/>
              <a:gd name="connsiteY0" fmla="*/ 0 h 846677"/>
              <a:gd name="connsiteX1" fmla="*/ 221064 w 226695"/>
              <a:gd name="connsiteY1" fmla="*/ 351692 h 846677"/>
              <a:gd name="connsiteX2" fmla="*/ 150726 w 226695"/>
              <a:gd name="connsiteY2" fmla="*/ 783771 h 846677"/>
              <a:gd name="connsiteX3" fmla="*/ 40194 w 226695"/>
              <a:gd name="connsiteY3" fmla="*/ 844061 h 846677"/>
              <a:gd name="connsiteX4" fmla="*/ 40194 w 226695"/>
              <a:gd name="connsiteY4" fmla="*/ 844061 h 846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695" h="846677">
                <a:moveTo>
                  <a:pt x="0" y="0"/>
                </a:moveTo>
                <a:cubicBezTo>
                  <a:pt x="97971" y="110532"/>
                  <a:pt x="195943" y="221064"/>
                  <a:pt x="221064" y="351692"/>
                </a:cubicBezTo>
                <a:cubicBezTo>
                  <a:pt x="246185" y="482321"/>
                  <a:pt x="180871" y="701710"/>
                  <a:pt x="150726" y="783771"/>
                </a:cubicBezTo>
                <a:cubicBezTo>
                  <a:pt x="120581" y="865832"/>
                  <a:pt x="40194" y="844061"/>
                  <a:pt x="40194" y="844061"/>
                </a:cubicBezTo>
                <a:lnTo>
                  <a:pt x="40194" y="844061"/>
                </a:lnTo>
              </a:path>
            </a:pathLst>
          </a:cu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658A296F-A78D-438C-A7DF-0135B84A3C58}"/>
              </a:ext>
            </a:extLst>
          </p:cNvPr>
          <p:cNvSpPr/>
          <p:nvPr/>
        </p:nvSpPr>
        <p:spPr bwMode="auto">
          <a:xfrm flipH="1">
            <a:off x="390118" y="4521562"/>
            <a:ext cx="300171" cy="846677"/>
          </a:xfrm>
          <a:custGeom>
            <a:avLst/>
            <a:gdLst>
              <a:gd name="connsiteX0" fmla="*/ 0 w 226695"/>
              <a:gd name="connsiteY0" fmla="*/ 0 h 846677"/>
              <a:gd name="connsiteX1" fmla="*/ 221064 w 226695"/>
              <a:gd name="connsiteY1" fmla="*/ 351692 h 846677"/>
              <a:gd name="connsiteX2" fmla="*/ 150726 w 226695"/>
              <a:gd name="connsiteY2" fmla="*/ 783771 h 846677"/>
              <a:gd name="connsiteX3" fmla="*/ 40194 w 226695"/>
              <a:gd name="connsiteY3" fmla="*/ 844061 h 846677"/>
              <a:gd name="connsiteX4" fmla="*/ 40194 w 226695"/>
              <a:gd name="connsiteY4" fmla="*/ 844061 h 846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695" h="846677">
                <a:moveTo>
                  <a:pt x="0" y="0"/>
                </a:moveTo>
                <a:cubicBezTo>
                  <a:pt x="97971" y="110532"/>
                  <a:pt x="195943" y="221064"/>
                  <a:pt x="221064" y="351692"/>
                </a:cubicBezTo>
                <a:cubicBezTo>
                  <a:pt x="246185" y="482321"/>
                  <a:pt x="180871" y="701710"/>
                  <a:pt x="150726" y="783771"/>
                </a:cubicBezTo>
                <a:cubicBezTo>
                  <a:pt x="120581" y="865832"/>
                  <a:pt x="40194" y="844061"/>
                  <a:pt x="40194" y="844061"/>
                </a:cubicBezTo>
                <a:lnTo>
                  <a:pt x="40194" y="844061"/>
                </a:lnTo>
              </a:path>
            </a:pathLst>
          </a:cu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4" grpId="0"/>
      <p:bldP spid="45" grpId="0"/>
      <p:bldP spid="47" grpId="0" autoUpdateAnimBg="0"/>
      <p:bldP spid="48" grpId="0" autoUpdateAnimBg="0"/>
      <p:bldP spid="50" grpId="0" autoUpdateAnimBg="0"/>
      <p:bldP spid="55" grpId="0" autoUpdateAnimBg="0"/>
      <p:bldP spid="56" grpId="0" autoUpdateAnimBg="0"/>
      <p:bldP spid="58" grpId="0"/>
      <p:bldP spid="59" grpId="0"/>
      <p:bldP spid="60" grpId="0"/>
      <p:bldP spid="61" grpId="0"/>
      <p:bldP spid="63" grpId="0"/>
      <p:bldP spid="6" grpId="0" animBg="1"/>
      <p:bldP spid="6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3">
            <a:extLst>
              <a:ext uri="{FF2B5EF4-FFF2-40B4-BE49-F238E27FC236}">
                <a16:creationId xmlns:a16="http://schemas.microsoft.com/office/drawing/2014/main" id="{8FEB6617-B9D9-44C8-8B03-372B3EA08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" y="479425"/>
            <a:ext cx="772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solidFill>
                  <a:srgbClr val="FFFF00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一维无限深势阱中的粒子</a:t>
            </a:r>
            <a:r>
              <a:rPr lang="zh-CN" altLang="en-US" sz="2800" dirty="0">
                <a:solidFill>
                  <a:schemeClr val="bg1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（驻波角度） </a:t>
            </a:r>
          </a:p>
        </p:txBody>
      </p:sp>
      <p:grpSp>
        <p:nvGrpSpPr>
          <p:cNvPr id="7" name="组合 18">
            <a:extLst>
              <a:ext uri="{FF2B5EF4-FFF2-40B4-BE49-F238E27FC236}">
                <a16:creationId xmlns:a16="http://schemas.microsoft.com/office/drawing/2014/main" id="{B5F36862-F7F2-40CC-AD91-DCFA9CE0F1A7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285875"/>
            <a:ext cx="4008438" cy="3357563"/>
            <a:chOff x="4830772" y="928693"/>
            <a:chExt cx="4008428" cy="3357563"/>
          </a:xfrm>
        </p:grpSpPr>
        <p:sp>
          <p:nvSpPr>
            <p:cNvPr id="35855" name="Rectangle 2">
              <a:extLst>
                <a:ext uri="{FF2B5EF4-FFF2-40B4-BE49-F238E27FC236}">
                  <a16:creationId xmlns:a16="http://schemas.microsoft.com/office/drawing/2014/main" id="{8D5AB7DC-1EF6-45BE-8482-5A5A257B2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0750" y="1509718"/>
              <a:ext cx="1524000" cy="2362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856" name="Line 5">
              <a:extLst>
                <a:ext uri="{FF2B5EF4-FFF2-40B4-BE49-F238E27FC236}">
                  <a16:creationId xmlns:a16="http://schemas.microsoft.com/office/drawing/2014/main" id="{688743F1-34E9-4B20-AFB0-A73DBECC2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2100" y="3871918"/>
              <a:ext cx="3086100" cy="0"/>
            </a:xfrm>
            <a:prstGeom prst="line">
              <a:avLst/>
            </a:prstGeom>
            <a:noFill/>
            <a:ln w="9525">
              <a:solidFill>
                <a:srgbClr val="00FF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7" name="Line 6">
              <a:extLst>
                <a:ext uri="{FF2B5EF4-FFF2-40B4-BE49-F238E27FC236}">
                  <a16:creationId xmlns:a16="http://schemas.microsoft.com/office/drawing/2014/main" id="{5A69ABC8-54E8-4E48-B2B2-F95EEF0088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9800" y="2424118"/>
              <a:ext cx="0" cy="14478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8" name="Line 7">
              <a:extLst>
                <a:ext uri="{FF2B5EF4-FFF2-40B4-BE49-F238E27FC236}">
                  <a16:creationId xmlns:a16="http://schemas.microsoft.com/office/drawing/2014/main" id="{B617D54B-8E5F-453E-B4B8-06F7E37F5D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9800" y="1509718"/>
              <a:ext cx="0" cy="914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9" name="Line 8">
              <a:extLst>
                <a:ext uri="{FF2B5EF4-FFF2-40B4-BE49-F238E27FC236}">
                  <a16:creationId xmlns:a16="http://schemas.microsoft.com/office/drawing/2014/main" id="{4E50CD2E-B4FF-4F1C-8DA8-DB8A96AB3F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4750" y="2424118"/>
              <a:ext cx="0" cy="14478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0" name="Line 9">
              <a:extLst>
                <a:ext uri="{FF2B5EF4-FFF2-40B4-BE49-F238E27FC236}">
                  <a16:creationId xmlns:a16="http://schemas.microsoft.com/office/drawing/2014/main" id="{3999EB08-65E3-4E9D-89B3-319FF17A7F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4750" y="1509718"/>
              <a:ext cx="0" cy="914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1" name="Text Box 10">
              <a:extLst>
                <a:ext uri="{FF2B5EF4-FFF2-40B4-BE49-F238E27FC236}">
                  <a16:creationId xmlns:a16="http://schemas.microsoft.com/office/drawing/2014/main" id="{EA4FA245-D9E2-4929-A857-88B349E535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1850" y="3567118"/>
              <a:ext cx="38735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i="1">
                  <a:solidFill>
                    <a:schemeClr val="hlink"/>
                  </a:solidFill>
                </a:rPr>
                <a:t>x</a:t>
              </a:r>
            </a:p>
          </p:txBody>
        </p:sp>
        <p:sp>
          <p:nvSpPr>
            <p:cNvPr id="35862" name="Text Box 11">
              <a:extLst>
                <a:ext uri="{FF2B5EF4-FFF2-40B4-BE49-F238E27FC236}">
                  <a16:creationId xmlns:a16="http://schemas.microsoft.com/office/drawing/2014/main" id="{93FC107C-4BA8-4A59-80E4-1F8588CF0D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3275" y="3829056"/>
              <a:ext cx="1784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chemeClr val="hlink"/>
                  </a:solidFill>
                </a:rPr>
                <a:t>0</a:t>
              </a:r>
              <a:r>
                <a:rPr lang="en-US" altLang="zh-CN">
                  <a:solidFill>
                    <a:srgbClr val="FFFF99"/>
                  </a:solidFill>
                </a:rPr>
                <a:t>                 </a:t>
              </a:r>
              <a:r>
                <a:rPr lang="en-US" altLang="zh-CN" i="1">
                  <a:solidFill>
                    <a:schemeClr val="hlink"/>
                  </a:solidFill>
                </a:rPr>
                <a:t>a</a:t>
              </a:r>
            </a:p>
          </p:txBody>
        </p:sp>
        <p:sp>
          <p:nvSpPr>
            <p:cNvPr id="35863" name="Line 12">
              <a:extLst>
                <a:ext uri="{FF2B5EF4-FFF2-40B4-BE49-F238E27FC236}">
                  <a16:creationId xmlns:a16="http://schemas.microsoft.com/office/drawing/2014/main" id="{A7789521-99A2-4E5B-BBC3-F288DBA8D4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48600" y="1233493"/>
              <a:ext cx="0" cy="762000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4" name="Rectangle 13">
              <a:extLst>
                <a:ext uri="{FF2B5EF4-FFF2-40B4-BE49-F238E27FC236}">
                  <a16:creationId xmlns:a16="http://schemas.microsoft.com/office/drawing/2014/main" id="{FCD684EA-38B3-4643-BDD2-D38BD8F27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1027118"/>
              <a:ext cx="971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00CCFF"/>
                  </a:solidFill>
                </a:rPr>
                <a:t>V</a:t>
              </a:r>
              <a:r>
                <a:rPr lang="en-US" altLang="zh-CN">
                  <a:solidFill>
                    <a:srgbClr val="00CCFF"/>
                  </a:solidFill>
                </a:rPr>
                <a:t> ( </a:t>
              </a:r>
              <a:r>
                <a:rPr lang="en-US" altLang="zh-CN" i="1">
                  <a:solidFill>
                    <a:srgbClr val="00CCFF"/>
                  </a:solidFill>
                </a:rPr>
                <a:t>x </a:t>
              </a:r>
              <a:r>
                <a:rPr lang="en-US" altLang="zh-CN">
                  <a:solidFill>
                    <a:srgbClr val="00CCFF"/>
                  </a:solidFill>
                </a:rPr>
                <a:t>)</a:t>
              </a:r>
            </a:p>
          </p:txBody>
        </p:sp>
        <p:sp>
          <p:nvSpPr>
            <p:cNvPr id="35865" name="Text Box 14">
              <a:extLst>
                <a:ext uri="{FF2B5EF4-FFF2-40B4-BE49-F238E27FC236}">
                  <a16:creationId xmlns:a16="http://schemas.microsoft.com/office/drawing/2014/main" id="{9B117180-8603-463F-832E-B7CE2D7D1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928693"/>
              <a:ext cx="4381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0">
                  <a:solidFill>
                    <a:srgbClr val="FFFF99"/>
                  </a:solidFill>
                  <a:sym typeface="Symbol" panose="05050102010706020507" pitchFamily="18" charset="2"/>
                </a:rPr>
                <a:t></a:t>
              </a:r>
              <a:endParaRPr lang="zh-CN" altLang="en-US" sz="2800" b="0">
                <a:solidFill>
                  <a:srgbClr val="FFFF99"/>
                </a:solidFill>
              </a:endParaRPr>
            </a:p>
          </p:txBody>
        </p:sp>
        <p:sp>
          <p:nvSpPr>
            <p:cNvPr id="35866" name="Text Box 15">
              <a:extLst>
                <a:ext uri="{FF2B5EF4-FFF2-40B4-BE49-F238E27FC236}">
                  <a16:creationId xmlns:a16="http://schemas.microsoft.com/office/drawing/2014/main" id="{8245DB24-03CA-45AF-9B62-8E1D35C3A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150" y="928693"/>
              <a:ext cx="4381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0">
                  <a:solidFill>
                    <a:srgbClr val="FFFF99"/>
                  </a:solidFill>
                  <a:sym typeface="Symbol" panose="05050102010706020507" pitchFamily="18" charset="2"/>
                </a:rPr>
                <a:t></a:t>
              </a:r>
              <a:endParaRPr lang="zh-CN" altLang="en-US" sz="2800" b="0">
                <a:solidFill>
                  <a:srgbClr val="FFFF99"/>
                </a:solidFill>
              </a:endParaRPr>
            </a:p>
          </p:txBody>
        </p:sp>
        <p:sp>
          <p:nvSpPr>
            <p:cNvPr id="35867" name="Oval 16">
              <a:extLst>
                <a:ext uri="{FF2B5EF4-FFF2-40B4-BE49-F238E27FC236}">
                  <a16:creationId xmlns:a16="http://schemas.microsoft.com/office/drawing/2014/main" id="{90B5661A-91A3-400E-BBB5-D1C1C5464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2188" y="2476506"/>
              <a:ext cx="228600" cy="228600"/>
            </a:xfrm>
            <a:prstGeom prst="ellipse">
              <a:avLst/>
            </a:prstGeom>
            <a:gradFill rotWithShape="0">
              <a:gsLst>
                <a:gs pos="0">
                  <a:srgbClr val="FFFF99"/>
                </a:gs>
                <a:gs pos="100000">
                  <a:srgbClr val="99995C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800" b="0">
                <a:solidFill>
                  <a:srgbClr val="FFFF99"/>
                </a:solidFill>
              </a:endParaRPr>
            </a:p>
          </p:txBody>
        </p:sp>
        <p:graphicFrame>
          <p:nvGraphicFramePr>
            <p:cNvPr id="35868" name="Object 26">
              <a:extLst>
                <a:ext uri="{FF2B5EF4-FFF2-40B4-BE49-F238E27FC236}">
                  <a16:creationId xmlns:a16="http://schemas.microsoft.com/office/drawing/2014/main" id="{14F3F6E0-DE81-4C4E-82B0-AD05392F234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629554" y="2376493"/>
            <a:ext cx="108585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562" name="公式" r:id="rId3" imgW="1181075" imgH="371373" progId="Equation.3">
                    <p:embed/>
                  </p:oleObj>
                </mc:Choice>
                <mc:Fallback>
                  <p:oleObj name="公式" r:id="rId3" imgW="1181075" imgH="371373" progId="Equation.3">
                    <p:embed/>
                    <p:pic>
                      <p:nvPicPr>
                        <p:cNvPr id="35868" name="Object 26">
                          <a:extLst>
                            <a:ext uri="{FF2B5EF4-FFF2-40B4-BE49-F238E27FC236}">
                              <a16:creationId xmlns:a16="http://schemas.microsoft.com/office/drawing/2014/main" id="{14F3F6E0-DE81-4C4E-82B0-AD05392F234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9554" y="2376493"/>
                          <a:ext cx="108585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69" name="Object 27">
              <a:extLst>
                <a:ext uri="{FF2B5EF4-FFF2-40B4-BE49-F238E27FC236}">
                  <a16:creationId xmlns:a16="http://schemas.microsoft.com/office/drawing/2014/main" id="{A923FC37-1EEC-487D-9522-780392C0DF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30772" y="2395543"/>
            <a:ext cx="109855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3563" name="公式" r:id="rId5" imgW="1181075" imgH="371373" progId="Equation.3">
                    <p:embed/>
                  </p:oleObj>
                </mc:Choice>
                <mc:Fallback>
                  <p:oleObj name="公式" r:id="rId5" imgW="1181075" imgH="371373" progId="Equation.3">
                    <p:embed/>
                    <p:pic>
                      <p:nvPicPr>
                        <p:cNvPr id="35869" name="Object 27">
                          <a:extLst>
                            <a:ext uri="{FF2B5EF4-FFF2-40B4-BE49-F238E27FC236}">
                              <a16:creationId xmlns:a16="http://schemas.microsoft.com/office/drawing/2014/main" id="{A923FC37-1EEC-487D-9522-780392C0DF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772" y="2395543"/>
                          <a:ext cx="1098550" cy="35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0" name="任意多边形 33">
              <a:extLst>
                <a:ext uri="{FF2B5EF4-FFF2-40B4-BE49-F238E27FC236}">
                  <a16:creationId xmlns:a16="http://schemas.microsoft.com/office/drawing/2014/main" id="{50A1A794-0581-450A-B304-E270A9009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7763" y="2471743"/>
              <a:ext cx="773112" cy="284163"/>
            </a:xfrm>
            <a:custGeom>
              <a:avLst/>
              <a:gdLst>
                <a:gd name="T0" fmla="*/ 0 w 773723"/>
                <a:gd name="T1" fmla="*/ 132236 h 284285"/>
                <a:gd name="T2" fmla="*/ 144249 w 773723"/>
                <a:gd name="T3" fmla="*/ 2886 h 284285"/>
                <a:gd name="T4" fmla="*/ 280014 w 773723"/>
                <a:gd name="T5" fmla="*/ 114987 h 284285"/>
                <a:gd name="T6" fmla="*/ 415776 w 773723"/>
                <a:gd name="T7" fmla="*/ 278846 h 284285"/>
                <a:gd name="T8" fmla="*/ 551542 w 773723"/>
                <a:gd name="T9" fmla="*/ 114987 h 284285"/>
                <a:gd name="T10" fmla="*/ 746699 w 773723"/>
                <a:gd name="T11" fmla="*/ 97742 h 2842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3723"/>
                <a:gd name="T19" fmla="*/ 0 h 284285"/>
                <a:gd name="T20" fmla="*/ 773723 w 773723"/>
                <a:gd name="T21" fmla="*/ 284285 h 28428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3723" h="284285">
                  <a:moveTo>
                    <a:pt x="0" y="134816"/>
                  </a:moveTo>
                  <a:cubicBezTo>
                    <a:pt x="50555" y="70339"/>
                    <a:pt x="101111" y="5862"/>
                    <a:pt x="149469" y="2931"/>
                  </a:cubicBezTo>
                  <a:cubicBezTo>
                    <a:pt x="197827" y="0"/>
                    <a:pt x="243254" y="70339"/>
                    <a:pt x="290146" y="117231"/>
                  </a:cubicBezTo>
                  <a:cubicBezTo>
                    <a:pt x="337038" y="164123"/>
                    <a:pt x="383931" y="284285"/>
                    <a:pt x="430823" y="284285"/>
                  </a:cubicBezTo>
                  <a:cubicBezTo>
                    <a:pt x="477715" y="284285"/>
                    <a:pt x="514350" y="148004"/>
                    <a:pt x="571500" y="117231"/>
                  </a:cubicBezTo>
                  <a:cubicBezTo>
                    <a:pt x="628650" y="86458"/>
                    <a:pt x="701186" y="93052"/>
                    <a:pt x="773723" y="99647"/>
                  </a:cubicBezTo>
                </a:path>
              </a:pathLst>
            </a:custGeom>
            <a:noFill/>
            <a:ln w="12700" algn="ctr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" name="Rectangle 3">
            <a:extLst>
              <a:ext uri="{FF2B5EF4-FFF2-40B4-BE49-F238E27FC236}">
                <a16:creationId xmlns:a16="http://schemas.microsoft.com/office/drawing/2014/main" id="{3EEE57D6-6D1E-4637-93B5-0F0596742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1252538"/>
            <a:ext cx="4643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粒子被束缚在一维无限深势阱中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1663073A-B3BE-4E28-AE49-C1E5B8EDA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1928813"/>
            <a:ext cx="4643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粒子定态波函数具有驻波形式</a:t>
            </a:r>
          </a:p>
        </p:txBody>
      </p:sp>
      <p:sp>
        <p:nvSpPr>
          <p:cNvPr id="23" name="任意多边形 22">
            <a:extLst>
              <a:ext uri="{FF2B5EF4-FFF2-40B4-BE49-F238E27FC236}">
                <a16:creationId xmlns:a16="http://schemas.microsoft.com/office/drawing/2014/main" id="{2A29B02F-AB41-4525-BB77-96B1A20EF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3154363"/>
            <a:ext cx="300037" cy="1060450"/>
          </a:xfrm>
          <a:custGeom>
            <a:avLst/>
            <a:gdLst>
              <a:gd name="T0" fmla="*/ 516662 w 289983"/>
              <a:gd name="T1" fmla="*/ 0 h 635000"/>
              <a:gd name="T2" fmla="*/ 86740 w 289983"/>
              <a:gd name="T3" fmla="*/ 1397168045 h 635000"/>
              <a:gd name="T4" fmla="*/ 64112 w 289983"/>
              <a:gd name="T5" fmla="*/ 2147483646 h 635000"/>
              <a:gd name="T6" fmla="*/ 471410 w 289983"/>
              <a:gd name="T7" fmla="*/ 2147483646 h 635000"/>
              <a:gd name="T8" fmla="*/ 471410 w 289983"/>
              <a:gd name="T9" fmla="*/ 2147483646 h 635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9983"/>
              <a:gd name="T16" fmla="*/ 0 h 635000"/>
              <a:gd name="T17" fmla="*/ 289983 w 289983"/>
              <a:gd name="T18" fmla="*/ 635000 h 635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9983" h="635000">
                <a:moveTo>
                  <a:pt x="289983" y="0"/>
                </a:moveTo>
                <a:cubicBezTo>
                  <a:pt x="190499" y="78316"/>
                  <a:pt x="91016" y="156633"/>
                  <a:pt x="48683" y="228600"/>
                </a:cubicBezTo>
                <a:cubicBezTo>
                  <a:pt x="6350" y="300567"/>
                  <a:pt x="0" y="364067"/>
                  <a:pt x="35983" y="431800"/>
                </a:cubicBezTo>
                <a:cubicBezTo>
                  <a:pt x="71966" y="499533"/>
                  <a:pt x="264583" y="635000"/>
                  <a:pt x="264583" y="635000"/>
                </a:cubicBezTo>
              </a:path>
            </a:pathLst>
          </a:custGeom>
          <a:noFill/>
          <a:ln w="3175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" name="Object 21">
            <a:extLst>
              <a:ext uri="{FF2B5EF4-FFF2-40B4-BE49-F238E27FC236}">
                <a16:creationId xmlns:a16="http://schemas.microsoft.com/office/drawing/2014/main" id="{7DA50E73-DBC2-4E12-AD99-7CA00B89B3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25" y="2671763"/>
          <a:ext cx="310197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64" name="公式" r:id="rId7" imgW="1314412" imgH="371373" progId="Equation.3">
                  <p:embed/>
                </p:oleObj>
              </mc:Choice>
              <mc:Fallback>
                <p:oleObj name="公式" r:id="rId7" imgW="1314412" imgH="371373" progId="Equation.3">
                  <p:embed/>
                  <p:pic>
                    <p:nvPicPr>
                      <p:cNvPr id="2" name="Object 21">
                        <a:extLst>
                          <a:ext uri="{FF2B5EF4-FFF2-40B4-BE49-F238E27FC236}">
                            <a16:creationId xmlns:a16="http://schemas.microsoft.com/office/drawing/2014/main" id="{7DA50E73-DBC2-4E12-AD99-7CA00B89B3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2671763"/>
                        <a:ext cx="3101975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2">
            <a:extLst>
              <a:ext uri="{FF2B5EF4-FFF2-40B4-BE49-F238E27FC236}">
                <a16:creationId xmlns:a16="http://schemas.microsoft.com/office/drawing/2014/main" id="{72CBC956-60D5-4EAC-B85F-9DDF8DF874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250" y="3786188"/>
          <a:ext cx="133032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65" name="公式" r:id="rId9" imgW="552310" imgH="371373" progId="Equation.3">
                  <p:embed/>
                </p:oleObj>
              </mc:Choice>
              <mc:Fallback>
                <p:oleObj name="公式" r:id="rId9" imgW="552310" imgH="371373" progId="Equation.3">
                  <p:embed/>
                  <p:pic>
                    <p:nvPicPr>
                      <p:cNvPr id="3" name="Object 22">
                        <a:extLst>
                          <a:ext uri="{FF2B5EF4-FFF2-40B4-BE49-F238E27FC236}">
                            <a16:creationId xmlns:a16="http://schemas.microsoft.com/office/drawing/2014/main" id="{72CBC956-60D5-4EAC-B85F-9DDF8DF874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3786188"/>
                        <a:ext cx="1330325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3">
            <a:extLst>
              <a:ext uri="{FF2B5EF4-FFF2-40B4-BE49-F238E27FC236}">
                <a16:creationId xmlns:a16="http://schemas.microsoft.com/office/drawing/2014/main" id="{8069CB2E-7083-47E9-900B-4F5DC897BA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6063" y="3786188"/>
          <a:ext cx="106362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66" name="公式" r:id="rId11" imgW="438239" imgH="371373" progId="Equation.3">
                  <p:embed/>
                </p:oleObj>
              </mc:Choice>
              <mc:Fallback>
                <p:oleObj name="公式" r:id="rId11" imgW="438239" imgH="371373" progId="Equation.3">
                  <p:embed/>
                  <p:pic>
                    <p:nvPicPr>
                      <p:cNvPr id="4" name="Object 23">
                        <a:extLst>
                          <a:ext uri="{FF2B5EF4-FFF2-40B4-BE49-F238E27FC236}">
                            <a16:creationId xmlns:a16="http://schemas.microsoft.com/office/drawing/2014/main" id="{8069CB2E-7083-47E9-900B-4F5DC897BA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63" y="3786188"/>
                        <a:ext cx="1063625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右大括号 26">
            <a:extLst>
              <a:ext uri="{FF2B5EF4-FFF2-40B4-BE49-F238E27FC236}">
                <a16:creationId xmlns:a16="http://schemas.microsoft.com/office/drawing/2014/main" id="{7981DE64-155D-45E5-AAC1-E4B4063BDCC2}"/>
              </a:ext>
            </a:extLst>
          </p:cNvPr>
          <p:cNvSpPr>
            <a:spLocks/>
          </p:cNvSpPr>
          <p:nvPr/>
        </p:nvSpPr>
        <p:spPr bwMode="auto">
          <a:xfrm rot="5400000">
            <a:off x="2035969" y="3893344"/>
            <a:ext cx="500062" cy="2286000"/>
          </a:xfrm>
          <a:prstGeom prst="rightBrace">
            <a:avLst>
              <a:gd name="adj1" fmla="val 36783"/>
              <a:gd name="adj2" fmla="val 61111"/>
            </a:avLst>
          </a:prstGeom>
          <a:noFill/>
          <a:ln w="317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B94AE834-EC0A-486F-8DAD-8BCE552441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2850" y="5427663"/>
          <a:ext cx="135890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67" name="公式" r:id="rId13" imgW="562096" imgH="371373" progId="Equation.3">
                  <p:embed/>
                </p:oleObj>
              </mc:Choice>
              <mc:Fallback>
                <p:oleObj name="公式" r:id="rId13" imgW="562096" imgH="371373" progId="Equation.3">
                  <p:embed/>
                  <p:pic>
                    <p:nvPicPr>
                      <p:cNvPr id="5" name="Object 24">
                        <a:extLst>
                          <a:ext uri="{FF2B5EF4-FFF2-40B4-BE49-F238E27FC236}">
                            <a16:creationId xmlns:a16="http://schemas.microsoft.com/office/drawing/2014/main" id="{B94AE834-EC0A-486F-8DAD-8BCE552441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850" y="5427663"/>
                        <a:ext cx="1358900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5">
            <a:extLst>
              <a:ext uri="{FF2B5EF4-FFF2-40B4-BE49-F238E27FC236}">
                <a16:creationId xmlns:a16="http://schemas.microsoft.com/office/drawing/2014/main" id="{3067B0A7-34A2-4FF4-BAA6-291D830DB7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8850" y="5399088"/>
          <a:ext cx="47879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68" name="公式" r:id="rId15" imgW="2038286" imgH="400152" progId="Equation.3">
                  <p:embed/>
                </p:oleObj>
              </mc:Choice>
              <mc:Fallback>
                <p:oleObj name="公式" r:id="rId15" imgW="2038286" imgH="400152" progId="Equation.3">
                  <p:embed/>
                  <p:pic>
                    <p:nvPicPr>
                      <p:cNvPr id="6" name="Object 25">
                        <a:extLst>
                          <a:ext uri="{FF2B5EF4-FFF2-40B4-BE49-F238E27FC236}">
                            <a16:creationId xmlns:a16="http://schemas.microsoft.com/office/drawing/2014/main" id="{3067B0A7-34A2-4FF4-BAA6-291D830DB74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8850" y="5399088"/>
                        <a:ext cx="478790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右箭头 29">
            <a:extLst>
              <a:ext uri="{FF2B5EF4-FFF2-40B4-BE49-F238E27FC236}">
                <a16:creationId xmlns:a16="http://schemas.microsoft.com/office/drawing/2014/main" id="{F26EDC2B-E0F2-4C20-B6C8-FB77FBD84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3188" y="5784850"/>
            <a:ext cx="714375" cy="285750"/>
          </a:xfrm>
          <a:prstGeom prst="rightArrow">
            <a:avLst>
              <a:gd name="adj1" fmla="val 50000"/>
              <a:gd name="adj2" fmla="val 90637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5854" name="灯片编号占位符 1">
            <a:extLst>
              <a:ext uri="{FF2B5EF4-FFF2-40B4-BE49-F238E27FC236}">
                <a16:creationId xmlns:a16="http://schemas.microsoft.com/office/drawing/2014/main" id="{9065739A-07F5-48A2-8F22-FCB88A6508B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BBA527B-1381-4DDA-9AC0-2377207FD2EE}" type="slidenum">
              <a:rPr lang="en-US" altLang="zh-CN" b="0">
                <a:solidFill>
                  <a:srgbClr val="FF00FF"/>
                </a:solidFill>
              </a:rPr>
              <a:pPr eaLnBrk="1" hangingPunct="1"/>
              <a:t>6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20" grpId="0"/>
      <p:bldP spid="21" grpId="0"/>
      <p:bldP spid="27" grpId="0" animBg="1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3">
            <a:extLst>
              <a:ext uri="{FF2B5EF4-FFF2-40B4-BE49-F238E27FC236}">
                <a16:creationId xmlns:a16="http://schemas.microsoft.com/office/drawing/2014/main" id="{256E38CC-D44F-40CD-B5B6-6505564A0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" y="479425"/>
            <a:ext cx="8721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一维无限深势阱中的粒子</a:t>
            </a:r>
            <a:r>
              <a:rPr lang="zh-CN" altLang="en-US" sz="2800">
                <a:solidFill>
                  <a:schemeClr val="bg1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（不确定关系</a:t>
            </a:r>
            <a:r>
              <a:rPr lang="zh-CN" altLang="en-US" sz="2800">
                <a:solidFill>
                  <a:srgbClr val="FF0000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估算</a:t>
            </a:r>
            <a:r>
              <a:rPr lang="zh-CN" altLang="en-US" sz="2800">
                <a:solidFill>
                  <a:schemeClr val="bg1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基态能量） </a:t>
            </a:r>
          </a:p>
        </p:txBody>
      </p:sp>
      <p:grpSp>
        <p:nvGrpSpPr>
          <p:cNvPr id="6" name="组合 18">
            <a:extLst>
              <a:ext uri="{FF2B5EF4-FFF2-40B4-BE49-F238E27FC236}">
                <a16:creationId xmlns:a16="http://schemas.microsoft.com/office/drawing/2014/main" id="{299DCD99-DC83-43EF-B0EF-9348D4381E40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143000"/>
            <a:ext cx="4008438" cy="3357563"/>
            <a:chOff x="4830772" y="928693"/>
            <a:chExt cx="4008428" cy="3357563"/>
          </a:xfrm>
        </p:grpSpPr>
        <p:sp>
          <p:nvSpPr>
            <p:cNvPr id="36874" name="Rectangle 2">
              <a:extLst>
                <a:ext uri="{FF2B5EF4-FFF2-40B4-BE49-F238E27FC236}">
                  <a16:creationId xmlns:a16="http://schemas.microsoft.com/office/drawing/2014/main" id="{D987FA8A-3095-47F4-B431-2152AF39A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0750" y="1509718"/>
              <a:ext cx="1524000" cy="2362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875" name="Line 5">
              <a:extLst>
                <a:ext uri="{FF2B5EF4-FFF2-40B4-BE49-F238E27FC236}">
                  <a16:creationId xmlns:a16="http://schemas.microsoft.com/office/drawing/2014/main" id="{9FA14661-41C6-408D-8B7D-7B3BDE7B8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2100" y="3871918"/>
              <a:ext cx="3086100" cy="0"/>
            </a:xfrm>
            <a:prstGeom prst="line">
              <a:avLst/>
            </a:prstGeom>
            <a:noFill/>
            <a:ln w="9525">
              <a:solidFill>
                <a:srgbClr val="00FF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6" name="Line 6">
              <a:extLst>
                <a:ext uri="{FF2B5EF4-FFF2-40B4-BE49-F238E27FC236}">
                  <a16:creationId xmlns:a16="http://schemas.microsoft.com/office/drawing/2014/main" id="{9E148AB8-D176-4F53-926C-5B098884D0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9800" y="2424118"/>
              <a:ext cx="0" cy="14478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7" name="Line 7">
              <a:extLst>
                <a:ext uri="{FF2B5EF4-FFF2-40B4-BE49-F238E27FC236}">
                  <a16:creationId xmlns:a16="http://schemas.microsoft.com/office/drawing/2014/main" id="{4A99DABB-D225-4D16-89ED-76322FCE5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9800" y="1509718"/>
              <a:ext cx="0" cy="914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8" name="Line 8">
              <a:extLst>
                <a:ext uri="{FF2B5EF4-FFF2-40B4-BE49-F238E27FC236}">
                  <a16:creationId xmlns:a16="http://schemas.microsoft.com/office/drawing/2014/main" id="{B9DE7903-34B3-4AE8-B313-D0A09870E5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4750" y="2424118"/>
              <a:ext cx="0" cy="14478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9" name="Line 9">
              <a:extLst>
                <a:ext uri="{FF2B5EF4-FFF2-40B4-BE49-F238E27FC236}">
                  <a16:creationId xmlns:a16="http://schemas.microsoft.com/office/drawing/2014/main" id="{63F31FA2-3EBA-47E8-A68A-02AB26547D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4750" y="1509718"/>
              <a:ext cx="0" cy="914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0" name="Text Box 10">
              <a:extLst>
                <a:ext uri="{FF2B5EF4-FFF2-40B4-BE49-F238E27FC236}">
                  <a16:creationId xmlns:a16="http://schemas.microsoft.com/office/drawing/2014/main" id="{EDF666D5-8880-46DD-A72E-ED2251C93A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1850" y="3567118"/>
              <a:ext cx="38735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i="1">
                  <a:solidFill>
                    <a:schemeClr val="hlink"/>
                  </a:solidFill>
                </a:rPr>
                <a:t>x</a:t>
              </a:r>
            </a:p>
          </p:txBody>
        </p:sp>
        <p:sp>
          <p:nvSpPr>
            <p:cNvPr id="36881" name="Text Box 11">
              <a:extLst>
                <a:ext uri="{FF2B5EF4-FFF2-40B4-BE49-F238E27FC236}">
                  <a16:creationId xmlns:a16="http://schemas.microsoft.com/office/drawing/2014/main" id="{E31336CB-2B49-460F-84CF-A14B535A4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3275" y="3829056"/>
              <a:ext cx="1784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chemeClr val="hlink"/>
                  </a:solidFill>
                </a:rPr>
                <a:t>0</a:t>
              </a:r>
              <a:r>
                <a:rPr lang="en-US" altLang="zh-CN">
                  <a:solidFill>
                    <a:srgbClr val="FFFF99"/>
                  </a:solidFill>
                </a:rPr>
                <a:t>                 </a:t>
              </a:r>
              <a:r>
                <a:rPr lang="en-US" altLang="zh-CN" i="1">
                  <a:solidFill>
                    <a:schemeClr val="hlink"/>
                  </a:solidFill>
                </a:rPr>
                <a:t>a</a:t>
              </a:r>
            </a:p>
          </p:txBody>
        </p:sp>
        <p:sp>
          <p:nvSpPr>
            <p:cNvPr id="36882" name="Line 12">
              <a:extLst>
                <a:ext uri="{FF2B5EF4-FFF2-40B4-BE49-F238E27FC236}">
                  <a16:creationId xmlns:a16="http://schemas.microsoft.com/office/drawing/2014/main" id="{D459E8B4-A933-4C14-BE23-D32135BAA1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48600" y="1233493"/>
              <a:ext cx="0" cy="762000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3" name="Rectangle 13">
              <a:extLst>
                <a:ext uri="{FF2B5EF4-FFF2-40B4-BE49-F238E27FC236}">
                  <a16:creationId xmlns:a16="http://schemas.microsoft.com/office/drawing/2014/main" id="{36F6BE51-43A1-4A68-8DA1-469391709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1027118"/>
              <a:ext cx="971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00CCFF"/>
                  </a:solidFill>
                </a:rPr>
                <a:t>V</a:t>
              </a:r>
              <a:r>
                <a:rPr lang="en-US" altLang="zh-CN">
                  <a:solidFill>
                    <a:srgbClr val="00CCFF"/>
                  </a:solidFill>
                </a:rPr>
                <a:t> ( </a:t>
              </a:r>
              <a:r>
                <a:rPr lang="en-US" altLang="zh-CN" i="1">
                  <a:solidFill>
                    <a:srgbClr val="00CCFF"/>
                  </a:solidFill>
                </a:rPr>
                <a:t>x </a:t>
              </a:r>
              <a:r>
                <a:rPr lang="en-US" altLang="zh-CN">
                  <a:solidFill>
                    <a:srgbClr val="00CCFF"/>
                  </a:solidFill>
                </a:rPr>
                <a:t>)</a:t>
              </a:r>
            </a:p>
          </p:txBody>
        </p:sp>
        <p:sp>
          <p:nvSpPr>
            <p:cNvPr id="36884" name="Text Box 14">
              <a:extLst>
                <a:ext uri="{FF2B5EF4-FFF2-40B4-BE49-F238E27FC236}">
                  <a16:creationId xmlns:a16="http://schemas.microsoft.com/office/drawing/2014/main" id="{3896BBC4-1CC5-48BF-AF5F-D52275D62F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928693"/>
              <a:ext cx="4381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0">
                  <a:solidFill>
                    <a:srgbClr val="FFFF99"/>
                  </a:solidFill>
                  <a:sym typeface="Symbol" panose="05050102010706020507" pitchFamily="18" charset="2"/>
                </a:rPr>
                <a:t></a:t>
              </a:r>
              <a:endParaRPr lang="zh-CN" altLang="en-US" sz="2800" b="0">
                <a:solidFill>
                  <a:srgbClr val="FFFF99"/>
                </a:solidFill>
              </a:endParaRPr>
            </a:p>
          </p:txBody>
        </p:sp>
        <p:sp>
          <p:nvSpPr>
            <p:cNvPr id="36885" name="Text Box 15">
              <a:extLst>
                <a:ext uri="{FF2B5EF4-FFF2-40B4-BE49-F238E27FC236}">
                  <a16:creationId xmlns:a16="http://schemas.microsoft.com/office/drawing/2014/main" id="{8562F815-AAB9-4E8A-8707-F9073F315E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6150" y="928693"/>
              <a:ext cx="43815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0">
                  <a:solidFill>
                    <a:srgbClr val="FFFF99"/>
                  </a:solidFill>
                  <a:sym typeface="Symbol" panose="05050102010706020507" pitchFamily="18" charset="2"/>
                </a:rPr>
                <a:t></a:t>
              </a:r>
              <a:endParaRPr lang="zh-CN" altLang="en-US" sz="2800" b="0">
                <a:solidFill>
                  <a:srgbClr val="FFFF99"/>
                </a:solidFill>
              </a:endParaRPr>
            </a:p>
          </p:txBody>
        </p:sp>
        <p:sp>
          <p:nvSpPr>
            <p:cNvPr id="36886" name="Oval 16">
              <a:extLst>
                <a:ext uri="{FF2B5EF4-FFF2-40B4-BE49-F238E27FC236}">
                  <a16:creationId xmlns:a16="http://schemas.microsoft.com/office/drawing/2014/main" id="{D92CE443-ABB4-4F9F-9316-CD20FB426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2188" y="2476506"/>
              <a:ext cx="228600" cy="228600"/>
            </a:xfrm>
            <a:prstGeom prst="ellipse">
              <a:avLst/>
            </a:prstGeom>
            <a:gradFill rotWithShape="0">
              <a:gsLst>
                <a:gs pos="0">
                  <a:srgbClr val="FFFF99"/>
                </a:gs>
                <a:gs pos="100000">
                  <a:srgbClr val="99995C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en-US" altLang="zh-CN" sz="2800" b="0">
                <a:solidFill>
                  <a:srgbClr val="FFFF99"/>
                </a:solidFill>
              </a:endParaRPr>
            </a:p>
          </p:txBody>
        </p:sp>
        <p:graphicFrame>
          <p:nvGraphicFramePr>
            <p:cNvPr id="36887" name="Object 26">
              <a:extLst>
                <a:ext uri="{FF2B5EF4-FFF2-40B4-BE49-F238E27FC236}">
                  <a16:creationId xmlns:a16="http://schemas.microsoft.com/office/drawing/2014/main" id="{C4A49F69-E94C-4F7A-B695-CD1BB872384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629554" y="2376493"/>
            <a:ext cx="108585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578" name="公式" r:id="rId3" imgW="1181075" imgH="371373" progId="Equation.3">
                    <p:embed/>
                  </p:oleObj>
                </mc:Choice>
                <mc:Fallback>
                  <p:oleObj name="公式" r:id="rId3" imgW="1181075" imgH="371373" progId="Equation.3">
                    <p:embed/>
                    <p:pic>
                      <p:nvPicPr>
                        <p:cNvPr id="36887" name="Object 26">
                          <a:extLst>
                            <a:ext uri="{FF2B5EF4-FFF2-40B4-BE49-F238E27FC236}">
                              <a16:creationId xmlns:a16="http://schemas.microsoft.com/office/drawing/2014/main" id="{C4A49F69-E94C-4F7A-B695-CD1BB872384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9554" y="2376493"/>
                          <a:ext cx="108585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8" name="Object 27">
              <a:extLst>
                <a:ext uri="{FF2B5EF4-FFF2-40B4-BE49-F238E27FC236}">
                  <a16:creationId xmlns:a16="http://schemas.microsoft.com/office/drawing/2014/main" id="{82EC60D0-6868-47C7-A048-221BDD94E8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30772" y="2395543"/>
            <a:ext cx="109855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579" name="公式" r:id="rId5" imgW="1181075" imgH="371373" progId="Equation.3">
                    <p:embed/>
                  </p:oleObj>
                </mc:Choice>
                <mc:Fallback>
                  <p:oleObj name="公式" r:id="rId5" imgW="1181075" imgH="371373" progId="Equation.3">
                    <p:embed/>
                    <p:pic>
                      <p:nvPicPr>
                        <p:cNvPr id="36888" name="Object 27">
                          <a:extLst>
                            <a:ext uri="{FF2B5EF4-FFF2-40B4-BE49-F238E27FC236}">
                              <a16:creationId xmlns:a16="http://schemas.microsoft.com/office/drawing/2014/main" id="{82EC60D0-6868-47C7-A048-221BDD94E8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772" y="2395543"/>
                          <a:ext cx="1098550" cy="35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9" name="任意多边形 33">
              <a:extLst>
                <a:ext uri="{FF2B5EF4-FFF2-40B4-BE49-F238E27FC236}">
                  <a16:creationId xmlns:a16="http://schemas.microsoft.com/office/drawing/2014/main" id="{C46CC345-8D4E-4BE7-95F5-569790B32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7763" y="2471743"/>
              <a:ext cx="773112" cy="284163"/>
            </a:xfrm>
            <a:custGeom>
              <a:avLst/>
              <a:gdLst>
                <a:gd name="T0" fmla="*/ 0 w 773723"/>
                <a:gd name="T1" fmla="*/ 132236 h 284285"/>
                <a:gd name="T2" fmla="*/ 144249 w 773723"/>
                <a:gd name="T3" fmla="*/ 2886 h 284285"/>
                <a:gd name="T4" fmla="*/ 280014 w 773723"/>
                <a:gd name="T5" fmla="*/ 114987 h 284285"/>
                <a:gd name="T6" fmla="*/ 415776 w 773723"/>
                <a:gd name="T7" fmla="*/ 278846 h 284285"/>
                <a:gd name="T8" fmla="*/ 551542 w 773723"/>
                <a:gd name="T9" fmla="*/ 114987 h 284285"/>
                <a:gd name="T10" fmla="*/ 746699 w 773723"/>
                <a:gd name="T11" fmla="*/ 97742 h 2842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73723"/>
                <a:gd name="T19" fmla="*/ 0 h 284285"/>
                <a:gd name="T20" fmla="*/ 773723 w 773723"/>
                <a:gd name="T21" fmla="*/ 284285 h 28428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73723" h="284285">
                  <a:moveTo>
                    <a:pt x="0" y="134816"/>
                  </a:moveTo>
                  <a:cubicBezTo>
                    <a:pt x="50555" y="70339"/>
                    <a:pt x="101111" y="5862"/>
                    <a:pt x="149469" y="2931"/>
                  </a:cubicBezTo>
                  <a:cubicBezTo>
                    <a:pt x="197827" y="0"/>
                    <a:pt x="243254" y="70339"/>
                    <a:pt x="290146" y="117231"/>
                  </a:cubicBezTo>
                  <a:cubicBezTo>
                    <a:pt x="337038" y="164123"/>
                    <a:pt x="383931" y="284285"/>
                    <a:pt x="430823" y="284285"/>
                  </a:cubicBezTo>
                  <a:cubicBezTo>
                    <a:pt x="477715" y="284285"/>
                    <a:pt x="514350" y="148004"/>
                    <a:pt x="571500" y="117231"/>
                  </a:cubicBezTo>
                  <a:cubicBezTo>
                    <a:pt x="628650" y="86458"/>
                    <a:pt x="701186" y="93052"/>
                    <a:pt x="773723" y="99647"/>
                  </a:cubicBezTo>
                </a:path>
              </a:pathLst>
            </a:custGeom>
            <a:noFill/>
            <a:ln w="12700" algn="ctr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9" name="Rectangle 3">
            <a:extLst>
              <a:ext uri="{FF2B5EF4-FFF2-40B4-BE49-F238E27FC236}">
                <a16:creationId xmlns:a16="http://schemas.microsoft.com/office/drawing/2014/main" id="{27B6A2D6-4EC6-4F34-8059-F8C1798A7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1357313"/>
            <a:ext cx="50720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粒子在宽为 </a:t>
            </a:r>
            <a:r>
              <a:rPr lang="en-US" altLang="zh-CN" i="1">
                <a:solidFill>
                  <a:srgbClr val="FFFF00"/>
                </a:solidFill>
                <a:ea typeface="STZhongsong" panose="02010600040101010101" pitchFamily="2" charset="-122"/>
              </a:rPr>
              <a:t>a </a:t>
            </a:r>
            <a:r>
              <a:rPr lang="zh-CN" altLang="en-US">
                <a:solidFill>
                  <a:schemeClr val="bg1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的无限深势阱</a:t>
            </a:r>
          </a:p>
        </p:txBody>
      </p:sp>
      <p:graphicFrame>
        <p:nvGraphicFramePr>
          <p:cNvPr id="2" name="Object 22">
            <a:extLst>
              <a:ext uri="{FF2B5EF4-FFF2-40B4-BE49-F238E27FC236}">
                <a16:creationId xmlns:a16="http://schemas.microsoft.com/office/drawing/2014/main" id="{1D120EC8-C332-48E0-8F22-05B63CF609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4038" y="2236788"/>
          <a:ext cx="10334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580" name="公式" r:id="rId7" imgW="418973" imgH="152468" progId="Equation.3">
                  <p:embed/>
                </p:oleObj>
              </mc:Choice>
              <mc:Fallback>
                <p:oleObj name="公式" r:id="rId7" imgW="418973" imgH="152468" progId="Equation.3">
                  <p:embed/>
                  <p:pic>
                    <p:nvPicPr>
                      <p:cNvPr id="2" name="Object 22">
                        <a:extLst>
                          <a:ext uri="{FF2B5EF4-FFF2-40B4-BE49-F238E27FC236}">
                            <a16:creationId xmlns:a16="http://schemas.microsoft.com/office/drawing/2014/main" id="{1D120EC8-C332-48E0-8F22-05B63CF609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038" y="2236788"/>
                        <a:ext cx="103346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3">
            <a:extLst>
              <a:ext uri="{FF2B5EF4-FFF2-40B4-BE49-F238E27FC236}">
                <a16:creationId xmlns:a16="http://schemas.microsoft.com/office/drawing/2014/main" id="{58C4AF66-10C9-466D-A487-A62096EDCA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3143250"/>
          <a:ext cx="37242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581" name="公式" r:id="rId9" imgW="1581086" imgH="180941" progId="Equation.3">
                  <p:embed/>
                </p:oleObj>
              </mc:Choice>
              <mc:Fallback>
                <p:oleObj name="公式" r:id="rId9" imgW="1581086" imgH="180941" progId="Equation.3">
                  <p:embed/>
                  <p:pic>
                    <p:nvPicPr>
                      <p:cNvPr id="3" name="Object 23">
                        <a:extLst>
                          <a:ext uri="{FF2B5EF4-FFF2-40B4-BE49-F238E27FC236}">
                            <a16:creationId xmlns:a16="http://schemas.microsoft.com/office/drawing/2014/main" id="{58C4AF66-10C9-466D-A487-A62096EDCA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143250"/>
                        <a:ext cx="37242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4">
            <a:extLst>
              <a:ext uri="{FF2B5EF4-FFF2-40B4-BE49-F238E27FC236}">
                <a16:creationId xmlns:a16="http://schemas.microsoft.com/office/drawing/2014/main" id="{0CC7D60F-360E-4203-B8A4-8E1C5673F5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1463" y="4037013"/>
          <a:ext cx="20383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582" name="公式" r:id="rId11" imgW="857212" imgH="180941" progId="Equation.3">
                  <p:embed/>
                </p:oleObj>
              </mc:Choice>
              <mc:Fallback>
                <p:oleObj name="公式" r:id="rId11" imgW="857212" imgH="180941" progId="Equation.3">
                  <p:embed/>
                  <p:pic>
                    <p:nvPicPr>
                      <p:cNvPr id="4" name="Object 24">
                        <a:extLst>
                          <a:ext uri="{FF2B5EF4-FFF2-40B4-BE49-F238E27FC236}">
                            <a16:creationId xmlns:a16="http://schemas.microsoft.com/office/drawing/2014/main" id="{0CC7D60F-360E-4203-B8A4-8E1C5673F5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1463" y="4037013"/>
                        <a:ext cx="20383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5">
            <a:extLst>
              <a:ext uri="{FF2B5EF4-FFF2-40B4-BE49-F238E27FC236}">
                <a16:creationId xmlns:a16="http://schemas.microsoft.com/office/drawing/2014/main" id="{A12DF995-E4BE-4B8E-8C47-9F44983809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5900" y="4941888"/>
          <a:ext cx="3101975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583" name="公式" r:id="rId13" imgW="1314412" imgH="409643" progId="Equation.3">
                  <p:embed/>
                </p:oleObj>
              </mc:Choice>
              <mc:Fallback>
                <p:oleObj name="公式" r:id="rId13" imgW="1314412" imgH="409643" progId="Equation.3">
                  <p:embed/>
                  <p:pic>
                    <p:nvPicPr>
                      <p:cNvPr id="5" name="Object 25">
                        <a:extLst>
                          <a:ext uri="{FF2B5EF4-FFF2-40B4-BE49-F238E27FC236}">
                            <a16:creationId xmlns:a16="http://schemas.microsoft.com/office/drawing/2014/main" id="{A12DF995-E4BE-4B8E-8C47-9F44983809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900" y="4941888"/>
                        <a:ext cx="3101975" cy="98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3" name="灯片编号占位符 1">
            <a:extLst>
              <a:ext uri="{FF2B5EF4-FFF2-40B4-BE49-F238E27FC236}">
                <a16:creationId xmlns:a16="http://schemas.microsoft.com/office/drawing/2014/main" id="{1F43044D-3B7D-441F-BD31-E4B015922BA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E79C987-2A8B-4BE6-8A17-AF765114C382}" type="slidenum">
              <a:rPr lang="en-US" altLang="zh-CN" b="0">
                <a:solidFill>
                  <a:srgbClr val="FF00FF"/>
                </a:solidFill>
              </a:rPr>
              <a:pPr eaLnBrk="1" hangingPunct="1"/>
              <a:t>7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5">
            <a:extLst>
              <a:ext uri="{FF2B5EF4-FFF2-40B4-BE49-F238E27FC236}">
                <a16:creationId xmlns:a16="http://schemas.microsoft.com/office/drawing/2014/main" id="{B5EAC2A5-B566-495B-93D3-606B06CF1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418" y="403225"/>
            <a:ext cx="5480927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扩展之列</a:t>
            </a:r>
            <a:r>
              <a:rPr lang="en-US" altLang="zh-CN" sz="2800">
                <a:solidFill>
                  <a:srgbClr val="FFFF00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zh-CN" altLang="en-US" sz="2800" dirty="0">
                <a:solidFill>
                  <a:srgbClr val="FFFF00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：</a:t>
            </a:r>
            <a:r>
              <a:rPr lang="en-US" altLang="zh-CN" sz="2800" dirty="0">
                <a:solidFill>
                  <a:srgbClr val="FFFF00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 </a:t>
            </a:r>
            <a:r>
              <a:rPr lang="zh-CN" altLang="en-US" sz="2800" dirty="0">
                <a:solidFill>
                  <a:srgbClr val="FFFF00"/>
                </a:solidFill>
                <a:latin typeface="宋体" panose="02010600030101010101" pitchFamily="2" charset="-122"/>
                <a:sym typeface="Wingdings" panose="05000000000000000000" pitchFamily="2" charset="2"/>
              </a:rPr>
              <a:t>一维有限深方势阱</a:t>
            </a:r>
            <a:endParaRPr lang="zh-CN" altLang="en-US" sz="2800" dirty="0">
              <a:solidFill>
                <a:srgbClr val="FFFF00"/>
              </a:solidFill>
              <a:latin typeface="宋体" panose="02010600030101010101" pitchFamily="2" charset="-122"/>
            </a:endParaRPr>
          </a:p>
        </p:txBody>
      </p:sp>
      <p:grpSp>
        <p:nvGrpSpPr>
          <p:cNvPr id="37891" name="Group 47">
            <a:extLst>
              <a:ext uri="{FF2B5EF4-FFF2-40B4-BE49-F238E27FC236}">
                <a16:creationId xmlns:a16="http://schemas.microsoft.com/office/drawing/2014/main" id="{41548AA6-F27D-4A10-86C8-F992A649B955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1123948"/>
            <a:ext cx="4138612" cy="1081086"/>
            <a:chOff x="259" y="1483"/>
            <a:chExt cx="2536" cy="681"/>
          </a:xfrm>
        </p:grpSpPr>
        <p:sp>
          <p:nvSpPr>
            <p:cNvPr id="37918" name="Text Box 48">
              <a:extLst>
                <a:ext uri="{FF2B5EF4-FFF2-40B4-BE49-F238E27FC236}">
                  <a16:creationId xmlns:a16="http://schemas.microsoft.com/office/drawing/2014/main" id="{9E615722-CD50-4D24-96DE-722319D81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483"/>
              <a:ext cx="226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 dirty="0">
                  <a:solidFill>
                    <a:schemeClr val="hlink"/>
                  </a:solidFill>
                </a:rPr>
                <a:t>V </a:t>
              </a:r>
              <a:r>
                <a:rPr lang="en-US" altLang="zh-CN" dirty="0">
                  <a:solidFill>
                    <a:schemeClr val="hlink"/>
                  </a:solidFill>
                </a:rPr>
                <a:t>(</a:t>
              </a:r>
              <a:r>
                <a:rPr lang="en-US" altLang="zh-CN" i="1" dirty="0">
                  <a:solidFill>
                    <a:schemeClr val="hlink"/>
                  </a:solidFill>
                </a:rPr>
                <a:t>x</a:t>
              </a:r>
              <a:r>
                <a:rPr lang="en-US" altLang="zh-CN" dirty="0">
                  <a:solidFill>
                    <a:schemeClr val="hlink"/>
                  </a:solidFill>
                </a:rPr>
                <a:t>) = 0        </a:t>
              </a:r>
              <a:r>
                <a:rPr lang="en-US" altLang="zh-CN" dirty="0">
                  <a:solidFill>
                    <a:srgbClr val="FFCC66"/>
                  </a:solidFill>
                </a:rPr>
                <a:t> </a:t>
              </a:r>
              <a:r>
                <a:rPr lang="en-US" altLang="zh-CN" dirty="0">
                  <a:solidFill>
                    <a:srgbClr val="FFFF00"/>
                  </a:solidFill>
                </a:rPr>
                <a:t>-</a:t>
              </a:r>
              <a:r>
                <a:rPr lang="en-US" altLang="zh-CN" i="1" dirty="0">
                  <a:solidFill>
                    <a:srgbClr val="FFFF00"/>
                  </a:solidFill>
                </a:rPr>
                <a:t>a</a:t>
              </a:r>
              <a:r>
                <a:rPr lang="en-US" altLang="zh-CN" dirty="0">
                  <a:solidFill>
                    <a:srgbClr val="FFFF00"/>
                  </a:solidFill>
                </a:rPr>
                <a:t>/2 &lt; </a:t>
              </a:r>
              <a:r>
                <a:rPr lang="en-US" altLang="zh-CN" i="1" dirty="0">
                  <a:solidFill>
                    <a:srgbClr val="FFFF00"/>
                  </a:solidFill>
                </a:rPr>
                <a:t>x </a:t>
              </a:r>
              <a:r>
                <a:rPr lang="en-US" altLang="zh-CN" dirty="0">
                  <a:solidFill>
                    <a:srgbClr val="FFFF00"/>
                  </a:solidFill>
                </a:rPr>
                <a:t>&lt; </a:t>
              </a:r>
              <a:r>
                <a:rPr lang="en-US" altLang="zh-CN" i="1" dirty="0">
                  <a:solidFill>
                    <a:srgbClr val="FFFF00"/>
                  </a:solidFill>
                </a:rPr>
                <a:t>a</a:t>
              </a:r>
              <a:r>
                <a:rPr lang="en-US" altLang="zh-CN" dirty="0">
                  <a:solidFill>
                    <a:srgbClr val="FFFF00"/>
                  </a:solidFill>
                </a:rPr>
                <a:t>/2</a:t>
              </a:r>
            </a:p>
          </p:txBody>
        </p:sp>
        <p:sp>
          <p:nvSpPr>
            <p:cNvPr id="37919" name="Text Box 49">
              <a:extLst>
                <a:ext uri="{FF2B5EF4-FFF2-40B4-BE49-F238E27FC236}">
                  <a16:creationId xmlns:a16="http://schemas.microsoft.com/office/drawing/2014/main" id="{123017C0-A752-4103-AB8E-D83A39DA3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" y="1873"/>
              <a:ext cx="246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 dirty="0">
                  <a:solidFill>
                    <a:schemeClr val="hlink"/>
                  </a:solidFill>
                </a:rPr>
                <a:t>V </a:t>
              </a:r>
              <a:r>
                <a:rPr lang="en-US" altLang="zh-CN" dirty="0">
                  <a:solidFill>
                    <a:schemeClr val="hlink"/>
                  </a:solidFill>
                </a:rPr>
                <a:t>(</a:t>
              </a:r>
              <a:r>
                <a:rPr lang="en-US" altLang="zh-CN" i="1" dirty="0">
                  <a:solidFill>
                    <a:schemeClr val="hlink"/>
                  </a:solidFill>
                </a:rPr>
                <a:t>x</a:t>
              </a:r>
              <a:r>
                <a:rPr lang="en-US" altLang="zh-CN" dirty="0">
                  <a:solidFill>
                    <a:schemeClr val="hlink"/>
                  </a:solidFill>
                </a:rPr>
                <a:t>) = </a:t>
              </a:r>
              <a:r>
                <a:rPr lang="en-US" altLang="zh-CN" i="1" dirty="0">
                  <a:solidFill>
                    <a:schemeClr val="hlink"/>
                  </a:solidFill>
                </a:rPr>
                <a:t>V</a:t>
              </a:r>
              <a:r>
                <a:rPr lang="en-US" altLang="zh-CN" baseline="-25000" dirty="0">
                  <a:solidFill>
                    <a:schemeClr val="hlink"/>
                  </a:solidFill>
                </a:rPr>
                <a:t>0</a:t>
              </a:r>
              <a:r>
                <a:rPr lang="en-US" altLang="zh-CN" dirty="0">
                  <a:solidFill>
                    <a:srgbClr val="FFCC66"/>
                  </a:solidFill>
                </a:rPr>
                <a:t>   </a:t>
              </a:r>
              <a:r>
                <a:rPr lang="en-US" altLang="zh-CN" i="1" dirty="0">
                  <a:solidFill>
                    <a:srgbClr val="FFFF00"/>
                  </a:solidFill>
                </a:rPr>
                <a:t>x</a:t>
              </a:r>
              <a:r>
                <a:rPr lang="en-US" altLang="zh-CN" dirty="0">
                  <a:solidFill>
                    <a:srgbClr val="FFFF00"/>
                  </a:solidFill>
                </a:rPr>
                <a:t> &lt; -</a:t>
              </a:r>
              <a:r>
                <a:rPr lang="en-US" altLang="zh-CN" i="1" dirty="0">
                  <a:solidFill>
                    <a:srgbClr val="FFFF00"/>
                  </a:solidFill>
                </a:rPr>
                <a:t>a</a:t>
              </a:r>
              <a:r>
                <a:rPr lang="en-US" altLang="zh-CN" dirty="0">
                  <a:solidFill>
                    <a:srgbClr val="FFFF00"/>
                  </a:solidFill>
                </a:rPr>
                <a:t>/2 </a:t>
              </a:r>
              <a:r>
                <a:rPr lang="zh-CN" altLang="en-US" dirty="0">
                  <a:solidFill>
                    <a:schemeClr val="hlink"/>
                  </a:solidFill>
                </a:rPr>
                <a:t>或</a:t>
              </a:r>
              <a:r>
                <a:rPr lang="zh-CN" altLang="en-US" dirty="0">
                  <a:solidFill>
                    <a:srgbClr val="66FFFF"/>
                  </a:solidFill>
                </a:rPr>
                <a:t> </a:t>
              </a:r>
              <a:r>
                <a:rPr lang="en-US" altLang="zh-CN" i="1" dirty="0">
                  <a:solidFill>
                    <a:srgbClr val="FFFF00"/>
                  </a:solidFill>
                </a:rPr>
                <a:t>x </a:t>
              </a:r>
              <a:r>
                <a:rPr lang="en-US" altLang="zh-CN" dirty="0">
                  <a:solidFill>
                    <a:srgbClr val="FFFF00"/>
                  </a:solidFill>
                </a:rPr>
                <a:t>&gt; </a:t>
              </a:r>
              <a:r>
                <a:rPr lang="en-US" altLang="zh-CN" i="1" dirty="0">
                  <a:solidFill>
                    <a:srgbClr val="FFFF00"/>
                  </a:solidFill>
                </a:rPr>
                <a:t>a</a:t>
              </a:r>
              <a:r>
                <a:rPr lang="en-US" altLang="zh-CN" dirty="0">
                  <a:solidFill>
                    <a:srgbClr val="FFFF00"/>
                  </a:solidFill>
                </a:rPr>
                <a:t>/2</a:t>
              </a:r>
              <a:endParaRPr lang="en-US" altLang="zh-CN" i="1" dirty="0">
                <a:solidFill>
                  <a:srgbClr val="FFFF00"/>
                </a:solidFill>
              </a:endParaRPr>
            </a:p>
          </p:txBody>
        </p:sp>
        <p:sp>
          <p:nvSpPr>
            <p:cNvPr id="37920" name="AutoShape 50">
              <a:extLst>
                <a:ext uri="{FF2B5EF4-FFF2-40B4-BE49-F238E27FC236}">
                  <a16:creationId xmlns:a16="http://schemas.microsoft.com/office/drawing/2014/main" id="{664E7B18-405E-48F3-8B4B-32F3063E7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" y="1584"/>
              <a:ext cx="68" cy="480"/>
            </a:xfrm>
            <a:prstGeom prst="leftBrace">
              <a:avLst>
                <a:gd name="adj1" fmla="val 108333"/>
                <a:gd name="adj2" fmla="val 50000"/>
              </a:avLst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7892" name="Group 71">
            <a:extLst>
              <a:ext uri="{FF2B5EF4-FFF2-40B4-BE49-F238E27FC236}">
                <a16:creationId xmlns:a16="http://schemas.microsoft.com/office/drawing/2014/main" id="{78C46D98-1C48-4945-BE2B-F222F7CCE6B3}"/>
              </a:ext>
            </a:extLst>
          </p:cNvPr>
          <p:cNvGrpSpPr>
            <a:grpSpLocks/>
          </p:cNvGrpSpPr>
          <p:nvPr/>
        </p:nvGrpSpPr>
        <p:grpSpPr bwMode="auto">
          <a:xfrm>
            <a:off x="5287143" y="188640"/>
            <a:ext cx="3389313" cy="2447925"/>
            <a:chOff x="3283" y="845"/>
            <a:chExt cx="2135" cy="1542"/>
          </a:xfrm>
        </p:grpSpPr>
        <p:grpSp>
          <p:nvGrpSpPr>
            <p:cNvPr id="37903" name="Group 60">
              <a:extLst>
                <a:ext uri="{FF2B5EF4-FFF2-40B4-BE49-F238E27FC236}">
                  <a16:creationId xmlns:a16="http://schemas.microsoft.com/office/drawing/2014/main" id="{42020724-B905-4F4E-B36C-F3871976BF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8" y="845"/>
              <a:ext cx="2130" cy="1542"/>
              <a:chOff x="3288" y="890"/>
              <a:chExt cx="2130" cy="1542"/>
            </a:xfrm>
          </p:grpSpPr>
          <p:sp>
            <p:nvSpPr>
              <p:cNvPr id="37906" name="Line 43">
                <a:extLst>
                  <a:ext uri="{FF2B5EF4-FFF2-40B4-BE49-F238E27FC236}">
                    <a16:creationId xmlns:a16="http://schemas.microsoft.com/office/drawing/2014/main" id="{1F623FD2-B1F6-4501-9BA0-344AE57F67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86" y="890"/>
                <a:ext cx="0" cy="1542"/>
              </a:xfrm>
              <a:prstGeom prst="line">
                <a:avLst/>
              </a:prstGeom>
              <a:noFill/>
              <a:ln w="19050">
                <a:solidFill>
                  <a:srgbClr val="CCCC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07" name="Line 44">
                <a:extLst>
                  <a:ext uri="{FF2B5EF4-FFF2-40B4-BE49-F238E27FC236}">
                    <a16:creationId xmlns:a16="http://schemas.microsoft.com/office/drawing/2014/main" id="{F8BC7659-11F7-4FB4-B264-E78930D5C4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88" y="2022"/>
                <a:ext cx="2041" cy="2"/>
              </a:xfrm>
              <a:prstGeom prst="line">
                <a:avLst/>
              </a:prstGeom>
              <a:noFill/>
              <a:ln w="19050">
                <a:solidFill>
                  <a:srgbClr val="CCCC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08" name="Line 47">
                <a:extLst>
                  <a:ext uri="{FF2B5EF4-FFF2-40B4-BE49-F238E27FC236}">
                    <a16:creationId xmlns:a16="http://schemas.microsoft.com/office/drawing/2014/main" id="{C8303FB3-B466-4DE8-9921-114EB8439E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9" y="1570"/>
                <a:ext cx="0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09" name="Line 50">
                <a:extLst>
                  <a:ext uri="{FF2B5EF4-FFF2-40B4-BE49-F238E27FC236}">
                    <a16:creationId xmlns:a16="http://schemas.microsoft.com/office/drawing/2014/main" id="{060F7899-B1E5-4833-A493-FDC145E607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04" y="1570"/>
                <a:ext cx="0" cy="4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10" name="Line 51">
                <a:extLst>
                  <a:ext uri="{FF2B5EF4-FFF2-40B4-BE49-F238E27FC236}">
                    <a16:creationId xmlns:a16="http://schemas.microsoft.com/office/drawing/2014/main" id="{709C2EB9-ACB3-4664-8083-A4132227D8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88" y="1570"/>
                <a:ext cx="6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11" name="Line 52">
                <a:extLst>
                  <a:ext uri="{FF2B5EF4-FFF2-40B4-BE49-F238E27FC236}">
                    <a16:creationId xmlns:a16="http://schemas.microsoft.com/office/drawing/2014/main" id="{8C817336-6754-4548-ADE8-6C76CC9F20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4" y="1570"/>
                <a:ext cx="72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12" name="Text Box 53">
                <a:extLst>
                  <a:ext uri="{FF2B5EF4-FFF2-40B4-BE49-F238E27FC236}">
                    <a16:creationId xmlns:a16="http://schemas.microsoft.com/office/drawing/2014/main" id="{2B0CFA7F-5841-45E9-BAF8-224FCECE86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96" y="2153"/>
                <a:ext cx="11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40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37913" name="Text Box 54">
                <a:extLst>
                  <a:ext uri="{FF2B5EF4-FFF2-40B4-BE49-F238E27FC236}">
                    <a16:creationId xmlns:a16="http://schemas.microsoft.com/office/drawing/2014/main" id="{1E77C9CF-92F1-4BD7-A7FE-FFCC47855B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1" y="1979"/>
                <a:ext cx="272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600">
                    <a:solidFill>
                      <a:srgbClr val="FFFFFF"/>
                    </a:solidFill>
                  </a:rPr>
                  <a:t>0</a:t>
                </a:r>
              </a:p>
            </p:txBody>
          </p:sp>
          <p:sp>
            <p:nvSpPr>
              <p:cNvPr id="37914" name="Text Box 55">
                <a:extLst>
                  <a:ext uri="{FF2B5EF4-FFF2-40B4-BE49-F238E27FC236}">
                    <a16:creationId xmlns:a16="http://schemas.microsoft.com/office/drawing/2014/main" id="{DE253105-DC7B-4501-9ECC-5E2AA87CD3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0" y="1993"/>
                <a:ext cx="44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FFFFFF"/>
                    </a:solidFill>
                  </a:rPr>
                  <a:t>-</a:t>
                </a:r>
                <a:r>
                  <a:rPr lang="en-US" altLang="zh-CN" sz="2000" i="1">
                    <a:solidFill>
                      <a:srgbClr val="FFFFFF"/>
                    </a:solidFill>
                  </a:rPr>
                  <a:t>a</a:t>
                </a:r>
                <a:r>
                  <a:rPr lang="en-US" altLang="zh-CN" sz="2000">
                    <a:solidFill>
                      <a:srgbClr val="FFFFFF"/>
                    </a:solidFill>
                  </a:rPr>
                  <a:t>/2</a:t>
                </a:r>
              </a:p>
            </p:txBody>
          </p:sp>
          <p:sp>
            <p:nvSpPr>
              <p:cNvPr id="37915" name="Text Box 56">
                <a:extLst>
                  <a:ext uri="{FF2B5EF4-FFF2-40B4-BE49-F238E27FC236}">
                    <a16:creationId xmlns:a16="http://schemas.microsoft.com/office/drawing/2014/main" id="{E909C8C7-9BED-4D1E-93EA-82C89F7E65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1" y="1997"/>
                <a:ext cx="346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i="1">
                    <a:solidFill>
                      <a:srgbClr val="FFFFFF"/>
                    </a:solidFill>
                  </a:rPr>
                  <a:t>a</a:t>
                </a:r>
                <a:r>
                  <a:rPr lang="en-US" altLang="zh-CN" sz="2000">
                    <a:solidFill>
                      <a:srgbClr val="FFFFFF"/>
                    </a:solidFill>
                  </a:rPr>
                  <a:t>/2</a:t>
                </a:r>
              </a:p>
            </p:txBody>
          </p:sp>
          <p:sp>
            <p:nvSpPr>
              <p:cNvPr id="37916" name="Text Box 57">
                <a:extLst>
                  <a:ext uri="{FF2B5EF4-FFF2-40B4-BE49-F238E27FC236}">
                    <a16:creationId xmlns:a16="http://schemas.microsoft.com/office/drawing/2014/main" id="{C03C247F-03D3-4E01-A2D7-6EF362CB8B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21" y="2024"/>
                <a:ext cx="19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1" dirty="0">
                    <a:solidFill>
                      <a:srgbClr val="FFFFFF"/>
                    </a:solidFill>
                  </a:rPr>
                  <a:t>x</a:t>
                </a:r>
              </a:p>
            </p:txBody>
          </p:sp>
          <p:graphicFrame>
            <p:nvGraphicFramePr>
              <p:cNvPr id="37917" name="Object 2">
                <a:extLst>
                  <a:ext uri="{FF2B5EF4-FFF2-40B4-BE49-F238E27FC236}">
                    <a16:creationId xmlns:a16="http://schemas.microsoft.com/office/drawing/2014/main" id="{D207BDD8-A2C8-4CC0-A444-1FCD7D21EF0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02" y="1289"/>
              <a:ext cx="164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5602" name="Equation" r:id="rId3" imgW="165028" imgH="228501" progId="">
                      <p:embed/>
                    </p:oleObj>
                  </mc:Choice>
                  <mc:Fallback>
                    <p:oleObj name="Equation" r:id="rId3" imgW="165028" imgH="228501" progId="">
                      <p:embed/>
                      <p:pic>
                        <p:nvPicPr>
                          <p:cNvPr id="37917" name="Object 2">
                            <a:extLst>
                              <a:ext uri="{FF2B5EF4-FFF2-40B4-BE49-F238E27FC236}">
                                <a16:creationId xmlns:a16="http://schemas.microsoft.com/office/drawing/2014/main" id="{D207BDD8-A2C8-4CC0-A444-1FCD7D21EF0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2" y="1289"/>
                            <a:ext cx="164" cy="227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7904" name="Rectangle 65">
              <a:extLst>
                <a:ext uri="{FF2B5EF4-FFF2-40B4-BE49-F238E27FC236}">
                  <a16:creationId xmlns:a16="http://schemas.microsoft.com/office/drawing/2014/main" id="{223BEF5B-5A03-4477-A1B3-4F85F3648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3" y="1510"/>
              <a:ext cx="686" cy="45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7905" name="Rectangle 66">
              <a:extLst>
                <a:ext uri="{FF2B5EF4-FFF2-40B4-BE49-F238E27FC236}">
                  <a16:creationId xmlns:a16="http://schemas.microsoft.com/office/drawing/2014/main" id="{820C8E4B-A2BF-4F96-9F82-33DCBF8F9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4" y="1505"/>
              <a:ext cx="662" cy="45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37893" name="Object 3">
            <a:extLst>
              <a:ext uri="{FF2B5EF4-FFF2-40B4-BE49-F238E27FC236}">
                <a16:creationId xmlns:a16="http://schemas.microsoft.com/office/drawing/2014/main" id="{17FF5A82-0401-4516-89B8-1FB9ACFAE7E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012755" y="334690"/>
          <a:ext cx="60007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603" name="Equation" r:id="rId5" imgW="330057" imgH="203112" progId="">
                  <p:embed/>
                </p:oleObj>
              </mc:Choice>
              <mc:Fallback>
                <p:oleObj name="Equation" r:id="rId5" imgW="330057" imgH="203112" progId="">
                  <p:embed/>
                  <p:pic>
                    <p:nvPicPr>
                      <p:cNvPr id="37893" name="Object 3">
                        <a:extLst>
                          <a:ext uri="{FF2B5EF4-FFF2-40B4-BE49-F238E27FC236}">
                            <a16:creationId xmlns:a16="http://schemas.microsoft.com/office/drawing/2014/main" id="{17FF5A82-0401-4516-89B8-1FB9ACFAE7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2755" y="334690"/>
                        <a:ext cx="600075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4">
            <a:extLst>
              <a:ext uri="{FF2B5EF4-FFF2-40B4-BE49-F238E27FC236}">
                <a16:creationId xmlns:a16="http://schemas.microsoft.com/office/drawing/2014/main" id="{7CAE04D2-E9BE-47C9-8E52-82DADBD61B4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764980" y="893490"/>
          <a:ext cx="26035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604" name="Equation" r:id="rId7" imgW="165028" imgH="228501" progId="">
                  <p:embed/>
                </p:oleObj>
              </mc:Choice>
              <mc:Fallback>
                <p:oleObj name="Equation" r:id="rId7" imgW="165028" imgH="228501" progId="">
                  <p:embed/>
                  <p:pic>
                    <p:nvPicPr>
                      <p:cNvPr id="37894" name="Object 4">
                        <a:extLst>
                          <a:ext uri="{FF2B5EF4-FFF2-40B4-BE49-F238E27FC236}">
                            <a16:creationId xmlns:a16="http://schemas.microsoft.com/office/drawing/2014/main" id="{7CAE04D2-E9BE-47C9-8E52-82DADBD61B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4980" y="893490"/>
                        <a:ext cx="260350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1" name="Text Box 48">
            <a:extLst>
              <a:ext uri="{FF2B5EF4-FFF2-40B4-BE49-F238E27FC236}">
                <a16:creationId xmlns:a16="http://schemas.microsoft.com/office/drawing/2014/main" id="{763C8C15-859B-4A14-A99B-D75738F02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430" y="3152992"/>
            <a:ext cx="37805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CCCCFF"/>
                </a:solidFill>
                <a:latin typeface="+mn-ea"/>
                <a:ea typeface="+mn-ea"/>
              </a:rPr>
              <a:t>考虑 </a:t>
            </a:r>
            <a:r>
              <a:rPr lang="en-US" altLang="zh-CN" i="1" dirty="0">
                <a:solidFill>
                  <a:srgbClr val="FFFF00"/>
                </a:solidFill>
              </a:rPr>
              <a:t>E </a:t>
            </a:r>
            <a:r>
              <a:rPr lang="en-US" altLang="zh-CN" dirty="0">
                <a:solidFill>
                  <a:srgbClr val="FFFF00"/>
                </a:solidFill>
              </a:rPr>
              <a:t>&lt; V</a:t>
            </a:r>
            <a:r>
              <a:rPr lang="en-US" altLang="zh-CN" baseline="-25000" dirty="0">
                <a:solidFill>
                  <a:srgbClr val="FFFF00"/>
                </a:solidFill>
              </a:rPr>
              <a:t>0</a:t>
            </a:r>
            <a:r>
              <a:rPr lang="zh-CN" altLang="en-US" dirty="0">
                <a:solidFill>
                  <a:srgbClr val="FFFF00"/>
                </a:solidFill>
                <a:latin typeface="+mn-ea"/>
                <a:ea typeface="+mn-ea"/>
              </a:rPr>
              <a:t> </a:t>
            </a:r>
            <a:r>
              <a:rPr lang="zh-CN" altLang="en-US" dirty="0">
                <a:solidFill>
                  <a:srgbClr val="CCCCFF"/>
                </a:solidFill>
                <a:latin typeface="+mn-ea"/>
                <a:ea typeface="+mn-ea"/>
              </a:rPr>
              <a:t>的情况：</a:t>
            </a:r>
          </a:p>
        </p:txBody>
      </p:sp>
      <p:graphicFrame>
        <p:nvGraphicFramePr>
          <p:cNvPr id="32" name="Object 6">
            <a:extLst>
              <a:ext uri="{FF2B5EF4-FFF2-40B4-BE49-F238E27FC236}">
                <a16:creationId xmlns:a16="http://schemas.microsoft.com/office/drawing/2014/main" id="{41216E6F-1E7E-49DE-9623-4D903EA3C15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329756" y="3756877"/>
          <a:ext cx="4498975" cy="106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605" name="Equation" r:id="rId9" imgW="2044700" imgH="482600" progId="">
                  <p:embed/>
                </p:oleObj>
              </mc:Choice>
              <mc:Fallback>
                <p:oleObj name="Equation" r:id="rId9" imgW="2044700" imgH="482600" progId="">
                  <p:embed/>
                  <p:pic>
                    <p:nvPicPr>
                      <p:cNvPr id="32" name="Object 6">
                        <a:extLst>
                          <a:ext uri="{FF2B5EF4-FFF2-40B4-BE49-F238E27FC236}">
                            <a16:creationId xmlns:a16="http://schemas.microsoft.com/office/drawing/2014/main" id="{41216E6F-1E7E-49DE-9623-4D903EA3C1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9756" y="3756877"/>
                        <a:ext cx="4498975" cy="106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7">
            <a:extLst>
              <a:ext uri="{FF2B5EF4-FFF2-40B4-BE49-F238E27FC236}">
                <a16:creationId xmlns:a16="http://schemas.microsoft.com/office/drawing/2014/main" id="{74D23128-21D8-4070-8997-F580C8E51B8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876550" y="4961135"/>
          <a:ext cx="4497387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606" name="Equation" r:id="rId11" imgW="2044700" imgH="419100" progId="">
                  <p:embed/>
                </p:oleObj>
              </mc:Choice>
              <mc:Fallback>
                <p:oleObj name="Equation" r:id="rId11" imgW="2044700" imgH="419100" progId="">
                  <p:embed/>
                  <p:pic>
                    <p:nvPicPr>
                      <p:cNvPr id="33" name="Object 7">
                        <a:extLst>
                          <a:ext uri="{FF2B5EF4-FFF2-40B4-BE49-F238E27FC236}">
                            <a16:creationId xmlns:a16="http://schemas.microsoft.com/office/drawing/2014/main" id="{74D23128-21D8-4070-8997-F580C8E51B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550" y="4961135"/>
                        <a:ext cx="4497387" cy="922338"/>
                      </a:xfrm>
                      <a:prstGeom prst="rect">
                        <a:avLst/>
                      </a:prstGeom>
                      <a:solidFill>
                        <a:srgbClr val="FFFF99">
                          <a:alpha val="0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8">
            <a:extLst>
              <a:ext uri="{FF2B5EF4-FFF2-40B4-BE49-F238E27FC236}">
                <a16:creationId xmlns:a16="http://schemas.microsoft.com/office/drawing/2014/main" id="{0ADB6771-92B9-47BE-B7B0-A1C401C27E1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082925" y="6149677"/>
          <a:ext cx="27654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607" name="Equation" r:id="rId13" imgW="1256755" imgH="203112" progId="">
                  <p:embed/>
                </p:oleObj>
              </mc:Choice>
              <mc:Fallback>
                <p:oleObj name="Equation" r:id="rId13" imgW="1256755" imgH="203112" progId="">
                  <p:embed/>
                  <p:pic>
                    <p:nvPicPr>
                      <p:cNvPr id="34" name="Object 8">
                        <a:extLst>
                          <a:ext uri="{FF2B5EF4-FFF2-40B4-BE49-F238E27FC236}">
                            <a16:creationId xmlns:a16="http://schemas.microsoft.com/office/drawing/2014/main" id="{0ADB6771-92B9-47BE-B7B0-A1C401C27E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2925" y="6149677"/>
                        <a:ext cx="276542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0" name="灯片编号占位符 1">
            <a:extLst>
              <a:ext uri="{FF2B5EF4-FFF2-40B4-BE49-F238E27FC236}">
                <a16:creationId xmlns:a16="http://schemas.microsoft.com/office/drawing/2014/main" id="{05904F43-2755-48D2-9F3A-C98B128BA1F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4B3D2E4-CE90-4F64-8D57-00A5F56F1BD1}" type="slidenum">
              <a:rPr lang="en-US" altLang="zh-CN" b="0">
                <a:solidFill>
                  <a:srgbClr val="FF00FF"/>
                </a:solidFill>
              </a:rPr>
              <a:pPr eaLnBrk="1" hangingPunct="1"/>
              <a:t>8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sp>
        <p:nvSpPr>
          <p:cNvPr id="35" name="Text Box 48">
            <a:extLst>
              <a:ext uri="{FF2B5EF4-FFF2-40B4-BE49-F238E27FC236}">
                <a16:creationId xmlns:a16="http://schemas.microsoft.com/office/drawing/2014/main" id="{69C735D5-E5F5-4197-A762-8966A33F1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21" y="2527084"/>
            <a:ext cx="6958804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rgbClr val="CCCCFF"/>
                </a:solidFill>
                <a:latin typeface="+mn-ea"/>
                <a:ea typeface="+mn-ea"/>
              </a:rPr>
              <a:t>如果 </a:t>
            </a:r>
            <a:r>
              <a:rPr lang="en-US" altLang="zh-CN" i="1" dirty="0">
                <a:solidFill>
                  <a:srgbClr val="FFFF00"/>
                </a:solidFill>
                <a:latin typeface="+mn-lt"/>
                <a:ea typeface="+mn-ea"/>
              </a:rPr>
              <a:t>E </a:t>
            </a:r>
            <a:r>
              <a:rPr lang="en-US" altLang="zh-CN" dirty="0">
                <a:solidFill>
                  <a:srgbClr val="FFFF00"/>
                </a:solidFill>
                <a:latin typeface="+mn-lt"/>
                <a:ea typeface="+mn-ea"/>
              </a:rPr>
              <a:t>&gt; V</a:t>
            </a:r>
            <a:r>
              <a:rPr lang="en-US" altLang="zh-CN" baseline="-25000" dirty="0">
                <a:solidFill>
                  <a:srgbClr val="FFFF00"/>
                </a:solidFill>
                <a:latin typeface="+mn-lt"/>
                <a:ea typeface="+mn-ea"/>
              </a:rPr>
              <a:t>0  </a:t>
            </a:r>
            <a:r>
              <a:rPr lang="zh-CN" altLang="en-US" dirty="0">
                <a:solidFill>
                  <a:srgbClr val="CCCCFF"/>
                </a:solidFill>
                <a:latin typeface="+mn-lt"/>
                <a:ea typeface="+mn-ea"/>
              </a:rPr>
              <a:t>时，粒子不会被束缚在势阱内</a:t>
            </a:r>
          </a:p>
        </p:txBody>
      </p:sp>
      <p:sp>
        <p:nvSpPr>
          <p:cNvPr id="36" name="Text Box 48">
            <a:extLst>
              <a:ext uri="{FF2B5EF4-FFF2-40B4-BE49-F238E27FC236}">
                <a16:creationId xmlns:a16="http://schemas.microsoft.com/office/drawing/2014/main" id="{E4F5691E-B1E8-4FE7-86F4-80A5E2373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805018"/>
            <a:ext cx="2403491" cy="949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en-US" altLang="zh-CN" dirty="0">
                <a:solidFill>
                  <a:srgbClr val="66FFFF"/>
                </a:solidFill>
              </a:rPr>
              <a:t> </a:t>
            </a:r>
            <a:r>
              <a:rPr lang="zh-CN" altLang="en-US" dirty="0">
                <a:solidFill>
                  <a:srgbClr val="FFFF00"/>
                </a:solidFill>
              </a:rPr>
              <a:t>势阱内 </a:t>
            </a:r>
            <a:r>
              <a:rPr lang="en-US" altLang="zh-CN" i="1" dirty="0">
                <a:solidFill>
                  <a:srgbClr val="FFFF00"/>
                </a:solidFill>
              </a:rPr>
              <a:t>|x| </a:t>
            </a:r>
            <a:r>
              <a:rPr lang="en-US" altLang="zh-CN" dirty="0">
                <a:solidFill>
                  <a:srgbClr val="FFFF00"/>
                </a:solidFill>
              </a:rPr>
              <a:t>&lt; </a:t>
            </a:r>
            <a:r>
              <a:rPr lang="en-US" altLang="zh-CN" i="1" dirty="0">
                <a:solidFill>
                  <a:srgbClr val="FFFF00"/>
                </a:solidFill>
              </a:rPr>
              <a:t>a</a:t>
            </a:r>
            <a:r>
              <a:rPr lang="en-US" altLang="zh-CN" dirty="0">
                <a:solidFill>
                  <a:srgbClr val="FFFF00"/>
                </a:solidFill>
              </a:rPr>
              <a:t>/2</a:t>
            </a:r>
          </a:p>
          <a:p>
            <a:pPr eaLnBrk="1" hangingPunct="1">
              <a:lnSpc>
                <a:spcPts val="3500"/>
              </a:lnSpc>
            </a:pPr>
            <a:r>
              <a:rPr lang="en-US" altLang="zh-CN" i="1" dirty="0">
                <a:solidFill>
                  <a:schemeClr val="hlink"/>
                </a:solidFill>
              </a:rPr>
              <a:t>       </a:t>
            </a:r>
            <a:r>
              <a:rPr lang="en-US" altLang="zh-CN" i="1" dirty="0">
                <a:solidFill>
                  <a:srgbClr val="FFFF00"/>
                </a:solidFill>
              </a:rPr>
              <a:t>V </a:t>
            </a:r>
            <a:r>
              <a:rPr lang="en-US" altLang="zh-CN" dirty="0">
                <a:solidFill>
                  <a:srgbClr val="FFFF00"/>
                </a:solidFill>
              </a:rPr>
              <a:t>(</a:t>
            </a:r>
            <a:r>
              <a:rPr lang="en-US" altLang="zh-CN" i="1" dirty="0">
                <a:solidFill>
                  <a:srgbClr val="FFFF00"/>
                </a:solidFill>
              </a:rPr>
              <a:t>x</a:t>
            </a:r>
            <a:r>
              <a:rPr lang="en-US" altLang="zh-CN" dirty="0">
                <a:solidFill>
                  <a:srgbClr val="FFFF00"/>
                </a:solidFill>
              </a:rPr>
              <a:t>) = 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01" grpId="0"/>
      <p:bldP spid="35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10F2229-517B-49A7-8F21-AC69E82628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420888"/>
            <a:ext cx="3576655" cy="420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CE27A844-C88C-4898-83A6-FBED234EEC9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170957" y="404813"/>
          <a:ext cx="4497387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602" name="Equation" r:id="rId4" imgW="2044700" imgH="482600" progId="">
                  <p:embed/>
                </p:oleObj>
              </mc:Choice>
              <mc:Fallback>
                <p:oleObj name="Equation" r:id="rId4" imgW="2044700" imgH="482600" progId="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CE27A844-C88C-4898-83A6-FBED234EEC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0957" y="404813"/>
                        <a:ext cx="4497387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prstDash val="lgDashDotDot"/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FF4234E7-13AB-4886-B549-C3203DA84B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0163" y="1592263"/>
          <a:ext cx="541972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603" name="Equation" r:id="rId6" imgW="2463800" imgH="419100" progId="">
                  <p:embed/>
                </p:oleObj>
              </mc:Choice>
              <mc:Fallback>
                <p:oleObj name="Equation" r:id="rId6" imgW="2463800" imgH="419100" progId="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FF4234E7-13AB-4886-B549-C3203DA84B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163" y="1592263"/>
                        <a:ext cx="5419725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EE9080A1-A0C8-453A-B464-9550B24EF4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0325" y="2754313"/>
          <a:ext cx="3408363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6604" name="Equation" r:id="rId8" imgW="1549400" imgH="508000" progId="">
                  <p:embed/>
                </p:oleObj>
              </mc:Choice>
              <mc:Fallback>
                <p:oleObj name="Equation" r:id="rId8" imgW="1549400" imgH="508000" progId="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EE9080A1-A0C8-453A-B464-9550B24EF4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0325" y="2754313"/>
                        <a:ext cx="3408363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3">
            <a:extLst>
              <a:ext uri="{FF2B5EF4-FFF2-40B4-BE49-F238E27FC236}">
                <a16:creationId xmlns:a16="http://schemas.microsoft.com/office/drawing/2014/main" id="{AC325189-6801-4A10-B7EC-6535BFED40C1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985062" y="4182685"/>
            <a:ext cx="4464050" cy="1871025"/>
          </a:xfrm>
          <a:prstGeom prst="rect">
            <a:avLst/>
          </a:prstGeom>
          <a:blipFill>
            <a:blip r:embed="rId10"/>
            <a:stretch>
              <a:fillRect l="-2186" b="-6515"/>
            </a:stretch>
          </a:blipFill>
          <a:ln>
            <a:noFill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38920" name="灯片编号占位符 1">
            <a:extLst>
              <a:ext uri="{FF2B5EF4-FFF2-40B4-BE49-F238E27FC236}">
                <a16:creationId xmlns:a16="http://schemas.microsoft.com/office/drawing/2014/main" id="{73759D21-D50E-4947-8EF2-8BC17B45FBC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2E92A1-3004-49F9-A032-B386BD29C8E1}" type="slidenum">
              <a:rPr lang="en-US" altLang="zh-CN" b="0">
                <a:solidFill>
                  <a:srgbClr val="FF00FF"/>
                </a:solidFill>
              </a:rPr>
              <a:pPr eaLnBrk="1" hangingPunct="1"/>
              <a:t>9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sp>
        <p:nvSpPr>
          <p:cNvPr id="9" name="Text Box 48">
            <a:extLst>
              <a:ext uri="{FF2B5EF4-FFF2-40B4-BE49-F238E27FC236}">
                <a16:creationId xmlns:a16="http://schemas.microsoft.com/office/drawing/2014/main" id="{695D4930-23BA-43B9-BEBC-AE82B3502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015" y="465511"/>
            <a:ext cx="2403491" cy="927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400"/>
              </a:lnSpc>
            </a:pPr>
            <a:r>
              <a:rPr lang="en-US" altLang="zh-CN" dirty="0">
                <a:solidFill>
                  <a:srgbClr val="66FFFF"/>
                </a:solidFill>
              </a:rPr>
              <a:t> </a:t>
            </a:r>
            <a:r>
              <a:rPr lang="zh-CN" altLang="en-US" dirty="0">
                <a:solidFill>
                  <a:srgbClr val="FFFF00"/>
                </a:solidFill>
              </a:rPr>
              <a:t>势阱外 </a:t>
            </a:r>
            <a:r>
              <a:rPr lang="en-US" altLang="zh-CN" i="1" dirty="0">
                <a:solidFill>
                  <a:srgbClr val="FFFF00"/>
                </a:solidFill>
              </a:rPr>
              <a:t>|x| </a:t>
            </a:r>
            <a:r>
              <a:rPr lang="en-US" altLang="zh-CN" dirty="0">
                <a:solidFill>
                  <a:srgbClr val="FFFF00"/>
                </a:solidFill>
              </a:rPr>
              <a:t>&gt; </a:t>
            </a:r>
            <a:r>
              <a:rPr lang="en-US" altLang="zh-CN" i="1" dirty="0">
                <a:solidFill>
                  <a:srgbClr val="FFFF00"/>
                </a:solidFill>
              </a:rPr>
              <a:t>a</a:t>
            </a:r>
            <a:r>
              <a:rPr lang="en-US" altLang="zh-CN" dirty="0">
                <a:solidFill>
                  <a:srgbClr val="FFFF00"/>
                </a:solidFill>
              </a:rPr>
              <a:t>/2</a:t>
            </a:r>
          </a:p>
          <a:p>
            <a:pPr eaLnBrk="1" hangingPunct="1">
              <a:lnSpc>
                <a:spcPts val="3400"/>
              </a:lnSpc>
            </a:pPr>
            <a:r>
              <a:rPr lang="en-US" altLang="zh-CN" i="1" dirty="0">
                <a:solidFill>
                  <a:schemeClr val="hlink"/>
                </a:solidFill>
              </a:rPr>
              <a:t>     </a:t>
            </a:r>
            <a:r>
              <a:rPr lang="en-US" altLang="zh-CN" i="1" dirty="0">
                <a:solidFill>
                  <a:srgbClr val="FFFF00"/>
                </a:solidFill>
              </a:rPr>
              <a:t>V </a:t>
            </a:r>
            <a:r>
              <a:rPr lang="en-US" altLang="zh-CN" dirty="0">
                <a:solidFill>
                  <a:srgbClr val="FFFF00"/>
                </a:solidFill>
              </a:rPr>
              <a:t>(</a:t>
            </a:r>
            <a:r>
              <a:rPr lang="en-US" altLang="zh-CN" i="1" dirty="0">
                <a:solidFill>
                  <a:srgbClr val="FFFF00"/>
                </a:solidFill>
              </a:rPr>
              <a:t>x</a:t>
            </a:r>
            <a:r>
              <a:rPr lang="en-US" altLang="zh-CN" dirty="0">
                <a:solidFill>
                  <a:srgbClr val="FFFF00"/>
                </a:solidFill>
              </a:rPr>
              <a:t>) = </a:t>
            </a:r>
            <a:r>
              <a:rPr lang="en-US" altLang="zh-CN" i="1" dirty="0">
                <a:solidFill>
                  <a:srgbClr val="FFFF00"/>
                </a:solidFill>
              </a:rPr>
              <a:t>V</a:t>
            </a:r>
            <a:r>
              <a:rPr lang="en-US" altLang="zh-CN" baseline="-25000" dirty="0">
                <a:solidFill>
                  <a:srgbClr val="FFFF00"/>
                </a:solidFill>
              </a:rPr>
              <a:t>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组合 79">
            <a:extLst>
              <a:ext uri="{FF2B5EF4-FFF2-40B4-BE49-F238E27FC236}">
                <a16:creationId xmlns:a16="http://schemas.microsoft.com/office/drawing/2014/main" id="{B2C65DF9-D34C-47F9-8AFE-F0076B40EB4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714875" y="2655342"/>
            <a:ext cx="2714625" cy="2490787"/>
            <a:chOff x="1285852" y="2367687"/>
            <a:chExt cx="2643207" cy="2490074"/>
          </a:xfrm>
        </p:grpSpPr>
        <p:cxnSp>
          <p:nvCxnSpPr>
            <p:cNvPr id="39978" name="直接连接符 81">
              <a:extLst>
                <a:ext uri="{FF2B5EF4-FFF2-40B4-BE49-F238E27FC236}">
                  <a16:creationId xmlns:a16="http://schemas.microsoft.com/office/drawing/2014/main" id="{79C63ED4-CA77-42E5-B1E3-F9F4E0BE5C7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1750199" y="2893215"/>
              <a:ext cx="2357454" cy="1571636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9" name="直接连接符 80">
              <a:extLst>
                <a:ext uri="{FF2B5EF4-FFF2-40B4-BE49-F238E27FC236}">
                  <a16:creationId xmlns:a16="http://schemas.microsoft.com/office/drawing/2014/main" id="{E5083917-0F84-4E46-A65F-0FBABC1732E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1499049" y="2797432"/>
              <a:ext cx="2490074" cy="1630583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80" name="直接连接符 82">
              <a:extLst>
                <a:ext uri="{FF2B5EF4-FFF2-40B4-BE49-F238E27FC236}">
                  <a16:creationId xmlns:a16="http://schemas.microsoft.com/office/drawing/2014/main" id="{223A4A6C-6C00-4B98-98CC-368C3D17329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000232" y="3071810"/>
              <a:ext cx="2143140" cy="1428760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81" name="直接连接符 83">
              <a:extLst>
                <a:ext uri="{FF2B5EF4-FFF2-40B4-BE49-F238E27FC236}">
                  <a16:creationId xmlns:a16="http://schemas.microsoft.com/office/drawing/2014/main" id="{51CA9ECF-1AEF-44A6-91BD-88563F52CC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250265" y="3321843"/>
              <a:ext cx="1857389" cy="1214446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82" name="直接连接符 84">
              <a:extLst>
                <a:ext uri="{FF2B5EF4-FFF2-40B4-BE49-F238E27FC236}">
                  <a16:creationId xmlns:a16="http://schemas.microsoft.com/office/drawing/2014/main" id="{C4194DC6-8E15-4D9F-8E84-CC58F14B5D4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536017" y="3536157"/>
              <a:ext cx="1571637" cy="1071570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83" name="直接连接符 85">
              <a:extLst>
                <a:ext uri="{FF2B5EF4-FFF2-40B4-BE49-F238E27FC236}">
                  <a16:creationId xmlns:a16="http://schemas.microsoft.com/office/drawing/2014/main" id="{D38089D1-ADD4-42AB-8173-B76BBF26F1D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857488" y="3857628"/>
              <a:ext cx="1214447" cy="785818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84" name="直接连接符 86">
              <a:extLst>
                <a:ext uri="{FF2B5EF4-FFF2-40B4-BE49-F238E27FC236}">
                  <a16:creationId xmlns:a16="http://schemas.microsoft.com/office/drawing/2014/main" id="{CD414655-18A4-449A-AB6D-2F11F05B01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3143240" y="4143380"/>
              <a:ext cx="857257" cy="571504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85" name="直接连接符 87">
              <a:extLst>
                <a:ext uri="{FF2B5EF4-FFF2-40B4-BE49-F238E27FC236}">
                  <a16:creationId xmlns:a16="http://schemas.microsoft.com/office/drawing/2014/main" id="{F02C9BF4-DDD2-4726-80BA-D341D0D076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1571604" y="4214818"/>
              <a:ext cx="785818" cy="500066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86" name="直接连接符 88">
              <a:extLst>
                <a:ext uri="{FF2B5EF4-FFF2-40B4-BE49-F238E27FC236}">
                  <a16:creationId xmlns:a16="http://schemas.microsoft.com/office/drawing/2014/main" id="{75A536A5-A2ED-489A-8728-3205281F5D0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1428728" y="4500570"/>
              <a:ext cx="428628" cy="285752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87" name="直接连接符 89">
              <a:extLst>
                <a:ext uri="{FF2B5EF4-FFF2-40B4-BE49-F238E27FC236}">
                  <a16:creationId xmlns:a16="http://schemas.microsoft.com/office/drawing/2014/main" id="{0A00A847-EA1D-4472-929C-C937D6C618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1250133" y="4607727"/>
              <a:ext cx="285752" cy="214314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88" name="直接连接符 90">
              <a:extLst>
                <a:ext uri="{FF2B5EF4-FFF2-40B4-BE49-F238E27FC236}">
                  <a16:creationId xmlns:a16="http://schemas.microsoft.com/office/drawing/2014/main" id="{0D43382C-60F5-4286-B26F-7257378137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3464711" y="4393413"/>
              <a:ext cx="571505" cy="357190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89" name="直接连接符 91">
              <a:extLst>
                <a:ext uri="{FF2B5EF4-FFF2-40B4-BE49-F238E27FC236}">
                  <a16:creationId xmlns:a16="http://schemas.microsoft.com/office/drawing/2014/main" id="{DEFB9E67-FC2B-4407-A44C-E6173F05C7A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3750464" y="4679166"/>
              <a:ext cx="214313" cy="142876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9939" name="组合 52">
            <a:extLst>
              <a:ext uri="{FF2B5EF4-FFF2-40B4-BE49-F238E27FC236}">
                <a16:creationId xmlns:a16="http://schemas.microsoft.com/office/drawing/2014/main" id="{2B82227F-5EE8-4CB7-99E0-7AF9AF888357}"/>
              </a:ext>
            </a:extLst>
          </p:cNvPr>
          <p:cNvGrpSpPr>
            <a:grpSpLocks/>
          </p:cNvGrpSpPr>
          <p:nvPr/>
        </p:nvGrpSpPr>
        <p:grpSpPr bwMode="auto">
          <a:xfrm>
            <a:off x="1285875" y="2787999"/>
            <a:ext cx="2643188" cy="2502492"/>
            <a:chOff x="1285852" y="2500306"/>
            <a:chExt cx="2643207" cy="2501776"/>
          </a:xfrm>
        </p:grpSpPr>
        <p:cxnSp>
          <p:nvCxnSpPr>
            <p:cNvPr id="39966" name="直接连接符 28">
              <a:extLst>
                <a:ext uri="{FF2B5EF4-FFF2-40B4-BE49-F238E27FC236}">
                  <a16:creationId xmlns:a16="http://schemas.microsoft.com/office/drawing/2014/main" id="{20F18D2A-EC19-4C97-B78C-5C4237BD78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1499049" y="2941753"/>
              <a:ext cx="2490074" cy="1630583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67" name="直接连接符 29">
              <a:extLst>
                <a:ext uri="{FF2B5EF4-FFF2-40B4-BE49-F238E27FC236}">
                  <a16:creationId xmlns:a16="http://schemas.microsoft.com/office/drawing/2014/main" id="{5BB2293E-4293-40F7-9262-C3C5F55ACE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1750199" y="2893215"/>
              <a:ext cx="2357454" cy="1571636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68" name="直接连接符 30">
              <a:extLst>
                <a:ext uri="{FF2B5EF4-FFF2-40B4-BE49-F238E27FC236}">
                  <a16:creationId xmlns:a16="http://schemas.microsoft.com/office/drawing/2014/main" id="{86E24B09-DF2E-477F-9655-55886625DE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000232" y="3071810"/>
              <a:ext cx="2143140" cy="1428760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69" name="直接连接符 31">
              <a:extLst>
                <a:ext uri="{FF2B5EF4-FFF2-40B4-BE49-F238E27FC236}">
                  <a16:creationId xmlns:a16="http://schemas.microsoft.com/office/drawing/2014/main" id="{81499DE1-F63C-4C31-8110-158D30B0FD9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250265" y="3321843"/>
              <a:ext cx="1857389" cy="1214446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0" name="直接连接符 32">
              <a:extLst>
                <a:ext uri="{FF2B5EF4-FFF2-40B4-BE49-F238E27FC236}">
                  <a16:creationId xmlns:a16="http://schemas.microsoft.com/office/drawing/2014/main" id="{87DA3983-74DC-487D-BE9E-F6F1A853529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536017" y="3536157"/>
              <a:ext cx="1571637" cy="1071570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1" name="直接连接符 33">
              <a:extLst>
                <a:ext uri="{FF2B5EF4-FFF2-40B4-BE49-F238E27FC236}">
                  <a16:creationId xmlns:a16="http://schemas.microsoft.com/office/drawing/2014/main" id="{FE77E785-CC3B-42F3-B1E3-5ED920B8D1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2857488" y="3857628"/>
              <a:ext cx="1214447" cy="785818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2" name="直接连接符 34">
              <a:extLst>
                <a:ext uri="{FF2B5EF4-FFF2-40B4-BE49-F238E27FC236}">
                  <a16:creationId xmlns:a16="http://schemas.microsoft.com/office/drawing/2014/main" id="{0A116B16-3D72-4964-942A-DB8E6E801BF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3143240" y="4143380"/>
              <a:ext cx="857257" cy="571504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3" name="直接连接符 42">
              <a:extLst>
                <a:ext uri="{FF2B5EF4-FFF2-40B4-BE49-F238E27FC236}">
                  <a16:creationId xmlns:a16="http://schemas.microsoft.com/office/drawing/2014/main" id="{12386315-281E-4D15-92FD-A501696FA2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1571604" y="4214818"/>
              <a:ext cx="785818" cy="500066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4" name="直接连接符 44">
              <a:extLst>
                <a:ext uri="{FF2B5EF4-FFF2-40B4-BE49-F238E27FC236}">
                  <a16:creationId xmlns:a16="http://schemas.microsoft.com/office/drawing/2014/main" id="{64F13929-706E-44CB-91E9-8E1441D405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1428728" y="4500570"/>
              <a:ext cx="428628" cy="285752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5" name="直接连接符 46">
              <a:extLst>
                <a:ext uri="{FF2B5EF4-FFF2-40B4-BE49-F238E27FC236}">
                  <a16:creationId xmlns:a16="http://schemas.microsoft.com/office/drawing/2014/main" id="{BACDBA30-D828-4BA8-9567-B4E1C38D6C5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1250133" y="4607727"/>
              <a:ext cx="285752" cy="214314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6" name="直接连接符 48">
              <a:extLst>
                <a:ext uri="{FF2B5EF4-FFF2-40B4-BE49-F238E27FC236}">
                  <a16:creationId xmlns:a16="http://schemas.microsoft.com/office/drawing/2014/main" id="{A68D0393-79EE-4EC6-A973-2D3460543AB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3464711" y="4393413"/>
              <a:ext cx="571505" cy="357190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977" name="直接连接符 49">
              <a:extLst>
                <a:ext uri="{FF2B5EF4-FFF2-40B4-BE49-F238E27FC236}">
                  <a16:creationId xmlns:a16="http://schemas.microsoft.com/office/drawing/2014/main" id="{1EEDA074-8C91-4EDB-A0D1-4FB5EA8FA5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3750464" y="4679166"/>
              <a:ext cx="214313" cy="142876"/>
            </a:xfrm>
            <a:prstGeom prst="line">
              <a:avLst/>
            </a:prstGeom>
            <a:noFill/>
            <a:ln w="19050" algn="ctr">
              <a:solidFill>
                <a:srgbClr val="59E2F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9940" name="Group 2">
            <a:extLst>
              <a:ext uri="{FF2B5EF4-FFF2-40B4-BE49-F238E27FC236}">
                <a16:creationId xmlns:a16="http://schemas.microsoft.com/office/drawing/2014/main" id="{9BCB34F1-CC36-4002-8186-CF19A916140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23850" y="1473101"/>
            <a:ext cx="8510588" cy="4495799"/>
            <a:chOff x="204" y="656"/>
            <a:chExt cx="5407" cy="2832"/>
          </a:xfrm>
        </p:grpSpPr>
        <p:pic>
          <p:nvPicPr>
            <p:cNvPr id="39946" name="Picture 3">
              <a:extLst>
                <a:ext uri="{FF2B5EF4-FFF2-40B4-BE49-F238E27FC236}">
                  <a16:creationId xmlns:a16="http://schemas.microsoft.com/office/drawing/2014/main" id="{07E6053B-DB61-4FDD-8F77-504892A481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" y="1249"/>
              <a:ext cx="4671" cy="2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9947" name="Group 4">
              <a:extLst>
                <a:ext uri="{FF2B5EF4-FFF2-40B4-BE49-F238E27FC236}">
                  <a16:creationId xmlns:a16="http://schemas.microsoft.com/office/drawing/2014/main" id="{9FC60016-BB4C-4E95-AD15-1EB03FE2EA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" y="656"/>
              <a:ext cx="5407" cy="2682"/>
              <a:chOff x="549" y="240"/>
              <a:chExt cx="5001" cy="1787"/>
            </a:xfrm>
          </p:grpSpPr>
          <p:sp>
            <p:nvSpPr>
              <p:cNvPr id="39962" name="Line 5">
                <a:extLst>
                  <a:ext uri="{FF2B5EF4-FFF2-40B4-BE49-F238E27FC236}">
                    <a16:creationId xmlns:a16="http://schemas.microsoft.com/office/drawing/2014/main" id="{D538384E-4B54-4821-9F55-BFA232DCA1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" y="1728"/>
                <a:ext cx="4992" cy="0"/>
              </a:xfrm>
              <a:prstGeom prst="line">
                <a:avLst/>
              </a:prstGeom>
              <a:noFill/>
              <a:ln w="28575">
                <a:solidFill>
                  <a:srgbClr val="CCFFFF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3" name="Text Box 6">
                <a:extLst>
                  <a:ext uri="{FF2B5EF4-FFF2-40B4-BE49-F238E27FC236}">
                    <a16:creationId xmlns:a16="http://schemas.microsoft.com/office/drawing/2014/main" id="{79AD4055-E5D8-43E0-880A-F1D36AB98D87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5291" y="1683"/>
                <a:ext cx="259" cy="2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4000" i="1">
                    <a:solidFill>
                      <a:srgbClr val="FFFF66"/>
                    </a:solidFill>
                  </a:rPr>
                  <a:t>x</a:t>
                </a:r>
              </a:p>
            </p:txBody>
          </p:sp>
          <p:sp>
            <p:nvSpPr>
              <p:cNvPr id="39964" name="Line 7">
                <a:extLst>
                  <a:ext uri="{FF2B5EF4-FFF2-40B4-BE49-F238E27FC236}">
                    <a16:creationId xmlns:a16="http://schemas.microsoft.com/office/drawing/2014/main" id="{B5C41A4E-0C3E-4DD1-8BBF-5E084B2A63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01" y="395"/>
                <a:ext cx="0" cy="1632"/>
              </a:xfrm>
              <a:prstGeom prst="line">
                <a:avLst/>
              </a:prstGeom>
              <a:noFill/>
              <a:ln w="28575">
                <a:solidFill>
                  <a:srgbClr val="CCFFFF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9965" name="Object 2">
                <a:extLst>
                  <a:ext uri="{FF2B5EF4-FFF2-40B4-BE49-F238E27FC236}">
                    <a16:creationId xmlns:a16="http://schemas.microsoft.com/office/drawing/2014/main" id="{6EFF12BF-E7BE-4BA5-9A39-F653D3EA03B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964" y="240"/>
              <a:ext cx="266" cy="1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37642" name="Equation" r:id="rId5" imgW="411120" imgH="411480" progId="Equation.3">
                      <p:embed/>
                    </p:oleObj>
                  </mc:Choice>
                  <mc:Fallback>
                    <p:oleObj name="Equation" r:id="rId5" imgW="411120" imgH="411480" progId="Equation.3">
                      <p:embed/>
                      <p:pic>
                        <p:nvPicPr>
                          <p:cNvPr id="39965" name="Object 2">
                            <a:extLst>
                              <a:ext uri="{FF2B5EF4-FFF2-40B4-BE49-F238E27FC236}">
                                <a16:creationId xmlns:a16="http://schemas.microsoft.com/office/drawing/2014/main" id="{6EFF12BF-E7BE-4BA5-9A39-F653D3EA03B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64" y="240"/>
                            <a:ext cx="266" cy="1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9948" name="Line 9">
              <a:extLst>
                <a:ext uri="{FF2B5EF4-FFF2-40B4-BE49-F238E27FC236}">
                  <a16:creationId xmlns:a16="http://schemas.microsoft.com/office/drawing/2014/main" id="{65151AAB-6638-446E-BE65-69F44883C6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2" y="1897"/>
              <a:ext cx="3166" cy="1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949" name="Text Box 10">
              <a:extLst>
                <a:ext uri="{FF2B5EF4-FFF2-40B4-BE49-F238E27FC236}">
                  <a16:creationId xmlns:a16="http://schemas.microsoft.com/office/drawing/2014/main" id="{A337A683-97C6-49A2-AC98-97B2A970333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442" y="1641"/>
              <a:ext cx="333" cy="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4000" i="1" dirty="0">
                  <a:solidFill>
                    <a:srgbClr val="FFFF66"/>
                  </a:solidFill>
                </a:rPr>
                <a:t>E</a:t>
              </a:r>
            </a:p>
          </p:txBody>
        </p:sp>
        <p:sp>
          <p:nvSpPr>
            <p:cNvPr id="39950" name="Line 15">
              <a:extLst>
                <a:ext uri="{FF2B5EF4-FFF2-40B4-BE49-F238E27FC236}">
                  <a16:creationId xmlns:a16="http://schemas.microsoft.com/office/drawing/2014/main" id="{2F2C9926-3B29-4768-AE0E-A547210988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3" y="1897"/>
              <a:ext cx="0" cy="1009"/>
            </a:xfrm>
            <a:prstGeom prst="line">
              <a:avLst/>
            </a:prstGeom>
            <a:noFill/>
            <a:ln w="28575">
              <a:solidFill>
                <a:srgbClr val="FFCC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1" name="Line 16">
              <a:extLst>
                <a:ext uri="{FF2B5EF4-FFF2-40B4-BE49-F238E27FC236}">
                  <a16:creationId xmlns:a16="http://schemas.microsoft.com/office/drawing/2014/main" id="{B42BEF72-AACA-473D-BE39-CB6209CDBC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6" y="1897"/>
              <a:ext cx="0" cy="937"/>
            </a:xfrm>
            <a:prstGeom prst="line">
              <a:avLst/>
            </a:prstGeom>
            <a:noFill/>
            <a:ln w="28575">
              <a:solidFill>
                <a:srgbClr val="FFCC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2" name="Line 17">
              <a:extLst>
                <a:ext uri="{FF2B5EF4-FFF2-40B4-BE49-F238E27FC236}">
                  <a16:creationId xmlns:a16="http://schemas.microsoft.com/office/drawing/2014/main" id="{3650C075-9923-4F2A-9623-6A9C8F335F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9" y="1897"/>
              <a:ext cx="0" cy="1009"/>
            </a:xfrm>
            <a:prstGeom prst="line">
              <a:avLst/>
            </a:prstGeom>
            <a:noFill/>
            <a:ln w="28575">
              <a:solidFill>
                <a:srgbClr val="FFCC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3" name="Line 18">
              <a:extLst>
                <a:ext uri="{FF2B5EF4-FFF2-40B4-BE49-F238E27FC236}">
                  <a16:creationId xmlns:a16="http://schemas.microsoft.com/office/drawing/2014/main" id="{6E1B75D1-A416-4903-903B-01FBA5AB33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3" y="1897"/>
              <a:ext cx="0" cy="1009"/>
            </a:xfrm>
            <a:prstGeom prst="line">
              <a:avLst/>
            </a:prstGeom>
            <a:noFill/>
            <a:ln w="28575">
              <a:solidFill>
                <a:srgbClr val="FFCC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9954" name="Object 3">
              <a:extLst>
                <a:ext uri="{FF2B5EF4-FFF2-40B4-BE49-F238E27FC236}">
                  <a16:creationId xmlns:a16="http://schemas.microsoft.com/office/drawing/2014/main" id="{F8661B07-6D1B-4D85-A3D1-50EC45F3E7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38" y="2961"/>
            <a:ext cx="190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643" name="Equation" r:id="rId7" imgW="267840" imgH="411480" progId="Equation.3">
                    <p:embed/>
                  </p:oleObj>
                </mc:Choice>
                <mc:Fallback>
                  <p:oleObj name="Equation" r:id="rId7" imgW="267840" imgH="411480" progId="Equation.3">
                    <p:embed/>
                    <p:pic>
                      <p:nvPicPr>
                        <p:cNvPr id="39954" name="Object 3">
                          <a:extLst>
                            <a:ext uri="{FF2B5EF4-FFF2-40B4-BE49-F238E27FC236}">
                              <a16:creationId xmlns:a16="http://schemas.microsoft.com/office/drawing/2014/main" id="{F8661B07-6D1B-4D85-A3D1-50EC45F3E7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8" y="2961"/>
                          <a:ext cx="190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5" name="Object 4">
              <a:extLst>
                <a:ext uri="{FF2B5EF4-FFF2-40B4-BE49-F238E27FC236}">
                  <a16:creationId xmlns:a16="http://schemas.microsoft.com/office/drawing/2014/main" id="{0A3C13C0-CCB8-481B-A756-20D0488E4A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9" y="2961"/>
            <a:ext cx="214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644" name="Equation" r:id="rId9" imgW="306000" imgH="411480" progId="Equation.3">
                    <p:embed/>
                  </p:oleObj>
                </mc:Choice>
                <mc:Fallback>
                  <p:oleObj name="Equation" r:id="rId9" imgW="306000" imgH="411480" progId="Equation.3">
                    <p:embed/>
                    <p:pic>
                      <p:nvPicPr>
                        <p:cNvPr id="39955" name="Object 4">
                          <a:extLst>
                            <a:ext uri="{FF2B5EF4-FFF2-40B4-BE49-F238E27FC236}">
                              <a16:creationId xmlns:a16="http://schemas.microsoft.com/office/drawing/2014/main" id="{0A3C13C0-CCB8-481B-A756-20D0488E4AB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9" y="2961"/>
                          <a:ext cx="214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6" name="Object 5">
              <a:extLst>
                <a:ext uri="{FF2B5EF4-FFF2-40B4-BE49-F238E27FC236}">
                  <a16:creationId xmlns:a16="http://schemas.microsoft.com/office/drawing/2014/main" id="{3105D789-4141-4485-95D0-EDF967C00C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84" y="2961"/>
            <a:ext cx="211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645" name="Equation" r:id="rId11" imgW="296280" imgH="420840" progId="Equation.3">
                    <p:embed/>
                  </p:oleObj>
                </mc:Choice>
                <mc:Fallback>
                  <p:oleObj name="Equation" r:id="rId11" imgW="296280" imgH="420840" progId="Equation.3">
                    <p:embed/>
                    <p:pic>
                      <p:nvPicPr>
                        <p:cNvPr id="39956" name="Object 5">
                          <a:extLst>
                            <a:ext uri="{FF2B5EF4-FFF2-40B4-BE49-F238E27FC236}">
                              <a16:creationId xmlns:a16="http://schemas.microsoft.com/office/drawing/2014/main" id="{3105D789-4141-4485-95D0-EDF967C00C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4" y="2961"/>
                          <a:ext cx="211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57" name="Object 6">
              <a:extLst>
                <a:ext uri="{FF2B5EF4-FFF2-40B4-BE49-F238E27FC236}">
                  <a16:creationId xmlns:a16="http://schemas.microsoft.com/office/drawing/2014/main" id="{452D331A-27AC-44D7-9136-DA63DF61C4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55" y="2961"/>
            <a:ext cx="218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7646" name="Equation" r:id="rId13" imgW="306000" imgH="411480" progId="Equation.3">
                    <p:embed/>
                  </p:oleObj>
                </mc:Choice>
                <mc:Fallback>
                  <p:oleObj name="Equation" r:id="rId13" imgW="306000" imgH="411480" progId="Equation.3">
                    <p:embed/>
                    <p:pic>
                      <p:nvPicPr>
                        <p:cNvPr id="39957" name="Object 6">
                          <a:extLst>
                            <a:ext uri="{FF2B5EF4-FFF2-40B4-BE49-F238E27FC236}">
                              <a16:creationId xmlns:a16="http://schemas.microsoft.com/office/drawing/2014/main" id="{452D331A-27AC-44D7-9136-DA63DF61C4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5" y="2961"/>
                          <a:ext cx="218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1" name="Text Box 33">
              <a:extLst>
                <a:ext uri="{FF2B5EF4-FFF2-40B4-BE49-F238E27FC236}">
                  <a16:creationId xmlns:a16="http://schemas.microsoft.com/office/drawing/2014/main" id="{36B87B56-D49A-4EE9-A621-DDFB17D707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8" y="3200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>
                  <a:solidFill>
                    <a:srgbClr val="66FFFF"/>
                  </a:solidFill>
                </a:rPr>
                <a:t>B</a:t>
              </a:r>
            </a:p>
          </p:txBody>
        </p:sp>
      </p:grpSp>
      <p:sp>
        <p:nvSpPr>
          <p:cNvPr id="1430566" name="Text Box 38">
            <a:extLst>
              <a:ext uri="{FF2B5EF4-FFF2-40B4-BE49-F238E27FC236}">
                <a16:creationId xmlns:a16="http://schemas.microsoft.com/office/drawing/2014/main" id="{18AA2F59-93A5-4857-9903-26042961A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131" y="188640"/>
            <a:ext cx="8495269" cy="107721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66FFFF"/>
                </a:solidFill>
                <a:latin typeface="宋体" panose="02010600030101010101" pitchFamily="2" charset="-122"/>
              </a:rPr>
              <a:t>扩展之例</a:t>
            </a:r>
            <a:r>
              <a:rPr lang="en-US" altLang="zh-CN" sz="2800" dirty="0">
                <a:solidFill>
                  <a:srgbClr val="66FFFF"/>
                </a:solidFill>
                <a:latin typeface="宋体" panose="02010600030101010101" pitchFamily="2" charset="-122"/>
              </a:rPr>
              <a:t>2. </a:t>
            </a:r>
            <a:r>
              <a:rPr lang="zh-CN" altLang="en-US" sz="2800" dirty="0">
                <a:solidFill>
                  <a:srgbClr val="66FFFF"/>
                </a:solidFill>
                <a:latin typeface="宋体" panose="02010600030101010101" pitchFamily="2" charset="-122"/>
              </a:rPr>
              <a:t>隧道效应</a:t>
            </a:r>
            <a:endParaRPr lang="en-US" altLang="zh-CN" sz="2800" dirty="0">
              <a:solidFill>
                <a:srgbClr val="66FFFF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    由于微观粒子的波动性而导致的量子效应（势垒贯穿）</a:t>
            </a:r>
            <a:endParaRPr lang="en-US" altLang="zh-CN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F3E2B61F-B34C-4E7B-880E-7463BA781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656" y="6240463"/>
            <a:ext cx="6311094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这样的场景在</a:t>
            </a:r>
            <a:r>
              <a:rPr lang="zh-CN" altLang="en-US" dirty="0">
                <a:solidFill>
                  <a:schemeClr val="hlink"/>
                </a:solidFill>
                <a:latin typeface="宋体" panose="02010600030101010101" pitchFamily="2" charset="-122"/>
              </a:rPr>
              <a:t>量子世界中是真实存在的！</a:t>
            </a:r>
          </a:p>
        </p:txBody>
      </p:sp>
      <p:sp>
        <p:nvSpPr>
          <p:cNvPr id="39945" name="灯片编号占位符 1">
            <a:extLst>
              <a:ext uri="{FF2B5EF4-FFF2-40B4-BE49-F238E27FC236}">
                <a16:creationId xmlns:a16="http://schemas.microsoft.com/office/drawing/2014/main" id="{C25873E1-7539-4847-8A0C-995EE9356C7A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9E9445E-931C-4A3F-ACEF-B6DDA2C37679}" type="slidenum">
              <a:rPr lang="en-US" altLang="zh-CN" b="0">
                <a:solidFill>
                  <a:srgbClr val="FF00FF"/>
                </a:solidFill>
              </a:rPr>
              <a:pPr eaLnBrk="1" hangingPunct="1"/>
              <a:t>10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645BDB1-429C-4485-B132-5608C0D316F9}"/>
              </a:ext>
            </a:extLst>
          </p:cNvPr>
          <p:cNvSpPr/>
          <p:nvPr/>
        </p:nvSpPr>
        <p:spPr bwMode="auto">
          <a:xfrm>
            <a:off x="3923928" y="3335188"/>
            <a:ext cx="216000" cy="2160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5E8FB1A-FB15-4D67-B90F-5F3B4D2A808F}"/>
              </a:ext>
            </a:extLst>
          </p:cNvPr>
          <p:cNvCxnSpPr>
            <a:cxnSpLocks/>
          </p:cNvCxnSpPr>
          <p:nvPr/>
        </p:nvCxnSpPr>
        <p:spPr bwMode="auto">
          <a:xfrm>
            <a:off x="4139928" y="3441600"/>
            <a:ext cx="334800" cy="0"/>
          </a:xfrm>
          <a:prstGeom prst="straightConnector1">
            <a:avLst/>
          </a:prstGeom>
          <a:solidFill>
            <a:schemeClr val="accent1"/>
          </a:solidFill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C551322-B6D7-4EE4-958D-9FD90E771A79}"/>
              </a:ext>
            </a:extLst>
          </p:cNvPr>
          <p:cNvGrpSpPr/>
          <p:nvPr/>
        </p:nvGrpSpPr>
        <p:grpSpPr>
          <a:xfrm>
            <a:off x="4445455" y="2996952"/>
            <a:ext cx="270561" cy="883413"/>
            <a:chOff x="6473769" y="1755739"/>
            <a:chExt cx="270561" cy="664527"/>
          </a:xfrm>
        </p:grpSpPr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9320F2D4-182F-4949-8909-971742CB53E8}"/>
                </a:ext>
              </a:extLst>
            </p:cNvPr>
            <p:cNvSpPr/>
            <p:nvPr/>
          </p:nvSpPr>
          <p:spPr bwMode="auto">
            <a:xfrm>
              <a:off x="6473769" y="1761216"/>
              <a:ext cx="134859" cy="659050"/>
            </a:xfrm>
            <a:custGeom>
              <a:avLst/>
              <a:gdLst>
                <a:gd name="connsiteX0" fmla="*/ 0 w 383458"/>
                <a:gd name="connsiteY0" fmla="*/ 373635 h 659050"/>
                <a:gd name="connsiteX1" fmla="*/ 108155 w 383458"/>
                <a:gd name="connsiteY1" fmla="*/ 10 h 659050"/>
                <a:gd name="connsiteX2" fmla="*/ 196645 w 383458"/>
                <a:gd name="connsiteY2" fmla="*/ 383468 h 659050"/>
                <a:gd name="connsiteX3" fmla="*/ 275303 w 383458"/>
                <a:gd name="connsiteY3" fmla="*/ 658771 h 659050"/>
                <a:gd name="connsiteX4" fmla="*/ 383458 w 383458"/>
                <a:gd name="connsiteY4" fmla="*/ 334306 h 659050"/>
                <a:gd name="connsiteX5" fmla="*/ 383458 w 383458"/>
                <a:gd name="connsiteY5" fmla="*/ 334306 h 65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3458" h="659050">
                  <a:moveTo>
                    <a:pt x="0" y="373635"/>
                  </a:moveTo>
                  <a:cubicBezTo>
                    <a:pt x="37690" y="186003"/>
                    <a:pt x="75381" y="-1629"/>
                    <a:pt x="108155" y="10"/>
                  </a:cubicBezTo>
                  <a:cubicBezTo>
                    <a:pt x="140929" y="1649"/>
                    <a:pt x="168787" y="273675"/>
                    <a:pt x="196645" y="383468"/>
                  </a:cubicBezTo>
                  <a:cubicBezTo>
                    <a:pt x="224503" y="493261"/>
                    <a:pt x="244168" y="666965"/>
                    <a:pt x="275303" y="658771"/>
                  </a:cubicBezTo>
                  <a:cubicBezTo>
                    <a:pt x="306438" y="650577"/>
                    <a:pt x="383458" y="334306"/>
                    <a:pt x="383458" y="334306"/>
                  </a:cubicBezTo>
                  <a:lnTo>
                    <a:pt x="383458" y="334306"/>
                  </a:lnTo>
                </a:path>
              </a:pathLst>
            </a:custGeom>
            <a:noFill/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" name="任意多边形: 形状 64">
              <a:extLst>
                <a:ext uri="{FF2B5EF4-FFF2-40B4-BE49-F238E27FC236}">
                  <a16:creationId xmlns:a16="http://schemas.microsoft.com/office/drawing/2014/main" id="{F442438E-4978-4CC2-917F-F1CDBE7B902A}"/>
                </a:ext>
              </a:extLst>
            </p:cNvPr>
            <p:cNvSpPr/>
            <p:nvPr/>
          </p:nvSpPr>
          <p:spPr bwMode="auto">
            <a:xfrm>
              <a:off x="6609471" y="1755739"/>
              <a:ext cx="134859" cy="659050"/>
            </a:xfrm>
            <a:custGeom>
              <a:avLst/>
              <a:gdLst>
                <a:gd name="connsiteX0" fmla="*/ 0 w 383458"/>
                <a:gd name="connsiteY0" fmla="*/ 373635 h 659050"/>
                <a:gd name="connsiteX1" fmla="*/ 108155 w 383458"/>
                <a:gd name="connsiteY1" fmla="*/ 10 h 659050"/>
                <a:gd name="connsiteX2" fmla="*/ 196645 w 383458"/>
                <a:gd name="connsiteY2" fmla="*/ 383468 h 659050"/>
                <a:gd name="connsiteX3" fmla="*/ 275303 w 383458"/>
                <a:gd name="connsiteY3" fmla="*/ 658771 h 659050"/>
                <a:gd name="connsiteX4" fmla="*/ 383458 w 383458"/>
                <a:gd name="connsiteY4" fmla="*/ 334306 h 659050"/>
                <a:gd name="connsiteX5" fmla="*/ 383458 w 383458"/>
                <a:gd name="connsiteY5" fmla="*/ 334306 h 65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3458" h="659050">
                  <a:moveTo>
                    <a:pt x="0" y="373635"/>
                  </a:moveTo>
                  <a:cubicBezTo>
                    <a:pt x="37690" y="186003"/>
                    <a:pt x="75381" y="-1629"/>
                    <a:pt x="108155" y="10"/>
                  </a:cubicBezTo>
                  <a:cubicBezTo>
                    <a:pt x="140929" y="1649"/>
                    <a:pt x="168787" y="273675"/>
                    <a:pt x="196645" y="383468"/>
                  </a:cubicBezTo>
                  <a:cubicBezTo>
                    <a:pt x="224503" y="493261"/>
                    <a:pt x="244168" y="666965"/>
                    <a:pt x="275303" y="658771"/>
                  </a:cubicBezTo>
                  <a:cubicBezTo>
                    <a:pt x="306438" y="650577"/>
                    <a:pt x="383458" y="334306"/>
                    <a:pt x="383458" y="334306"/>
                  </a:cubicBezTo>
                  <a:lnTo>
                    <a:pt x="383458" y="334306"/>
                  </a:lnTo>
                </a:path>
              </a:pathLst>
            </a:custGeom>
            <a:noFill/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4A8671F7-C21B-45DD-8818-0A1F6923C2F2}"/>
              </a:ext>
            </a:extLst>
          </p:cNvPr>
          <p:cNvGrpSpPr/>
          <p:nvPr/>
        </p:nvGrpSpPr>
        <p:grpSpPr>
          <a:xfrm>
            <a:off x="5796136" y="3284984"/>
            <a:ext cx="270561" cy="305138"/>
            <a:chOff x="6473769" y="1755739"/>
            <a:chExt cx="270561" cy="664527"/>
          </a:xfrm>
        </p:grpSpPr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4EE820F6-AC2A-4BC7-A7B3-357B0095A8E7}"/>
                </a:ext>
              </a:extLst>
            </p:cNvPr>
            <p:cNvSpPr/>
            <p:nvPr/>
          </p:nvSpPr>
          <p:spPr bwMode="auto">
            <a:xfrm>
              <a:off x="6473769" y="1761216"/>
              <a:ext cx="134859" cy="659050"/>
            </a:xfrm>
            <a:custGeom>
              <a:avLst/>
              <a:gdLst>
                <a:gd name="connsiteX0" fmla="*/ 0 w 383458"/>
                <a:gd name="connsiteY0" fmla="*/ 373635 h 659050"/>
                <a:gd name="connsiteX1" fmla="*/ 108155 w 383458"/>
                <a:gd name="connsiteY1" fmla="*/ 10 h 659050"/>
                <a:gd name="connsiteX2" fmla="*/ 196645 w 383458"/>
                <a:gd name="connsiteY2" fmla="*/ 383468 h 659050"/>
                <a:gd name="connsiteX3" fmla="*/ 275303 w 383458"/>
                <a:gd name="connsiteY3" fmla="*/ 658771 h 659050"/>
                <a:gd name="connsiteX4" fmla="*/ 383458 w 383458"/>
                <a:gd name="connsiteY4" fmla="*/ 334306 h 659050"/>
                <a:gd name="connsiteX5" fmla="*/ 383458 w 383458"/>
                <a:gd name="connsiteY5" fmla="*/ 334306 h 65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3458" h="659050">
                  <a:moveTo>
                    <a:pt x="0" y="373635"/>
                  </a:moveTo>
                  <a:cubicBezTo>
                    <a:pt x="37690" y="186003"/>
                    <a:pt x="75381" y="-1629"/>
                    <a:pt x="108155" y="10"/>
                  </a:cubicBezTo>
                  <a:cubicBezTo>
                    <a:pt x="140929" y="1649"/>
                    <a:pt x="168787" y="273675"/>
                    <a:pt x="196645" y="383468"/>
                  </a:cubicBezTo>
                  <a:cubicBezTo>
                    <a:pt x="224503" y="493261"/>
                    <a:pt x="244168" y="666965"/>
                    <a:pt x="275303" y="658771"/>
                  </a:cubicBezTo>
                  <a:cubicBezTo>
                    <a:pt x="306438" y="650577"/>
                    <a:pt x="383458" y="334306"/>
                    <a:pt x="383458" y="334306"/>
                  </a:cubicBezTo>
                  <a:lnTo>
                    <a:pt x="383458" y="334306"/>
                  </a:lnTo>
                </a:path>
              </a:pathLst>
            </a:custGeom>
            <a:noFill/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9" name="任意多边形: 形状 68">
              <a:extLst>
                <a:ext uri="{FF2B5EF4-FFF2-40B4-BE49-F238E27FC236}">
                  <a16:creationId xmlns:a16="http://schemas.microsoft.com/office/drawing/2014/main" id="{F58A53D1-C527-4BF1-A485-E9F666E46B61}"/>
                </a:ext>
              </a:extLst>
            </p:cNvPr>
            <p:cNvSpPr/>
            <p:nvPr/>
          </p:nvSpPr>
          <p:spPr bwMode="auto">
            <a:xfrm>
              <a:off x="6609471" y="1755739"/>
              <a:ext cx="134859" cy="659050"/>
            </a:xfrm>
            <a:custGeom>
              <a:avLst/>
              <a:gdLst>
                <a:gd name="connsiteX0" fmla="*/ 0 w 383458"/>
                <a:gd name="connsiteY0" fmla="*/ 373635 h 659050"/>
                <a:gd name="connsiteX1" fmla="*/ 108155 w 383458"/>
                <a:gd name="connsiteY1" fmla="*/ 10 h 659050"/>
                <a:gd name="connsiteX2" fmla="*/ 196645 w 383458"/>
                <a:gd name="connsiteY2" fmla="*/ 383468 h 659050"/>
                <a:gd name="connsiteX3" fmla="*/ 275303 w 383458"/>
                <a:gd name="connsiteY3" fmla="*/ 658771 h 659050"/>
                <a:gd name="connsiteX4" fmla="*/ 383458 w 383458"/>
                <a:gd name="connsiteY4" fmla="*/ 334306 h 659050"/>
                <a:gd name="connsiteX5" fmla="*/ 383458 w 383458"/>
                <a:gd name="connsiteY5" fmla="*/ 334306 h 65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3458" h="659050">
                  <a:moveTo>
                    <a:pt x="0" y="373635"/>
                  </a:moveTo>
                  <a:cubicBezTo>
                    <a:pt x="37690" y="186003"/>
                    <a:pt x="75381" y="-1629"/>
                    <a:pt x="108155" y="10"/>
                  </a:cubicBezTo>
                  <a:cubicBezTo>
                    <a:pt x="140929" y="1649"/>
                    <a:pt x="168787" y="273675"/>
                    <a:pt x="196645" y="383468"/>
                  </a:cubicBezTo>
                  <a:cubicBezTo>
                    <a:pt x="224503" y="493261"/>
                    <a:pt x="244168" y="666965"/>
                    <a:pt x="275303" y="658771"/>
                  </a:cubicBezTo>
                  <a:cubicBezTo>
                    <a:pt x="306438" y="650577"/>
                    <a:pt x="383458" y="334306"/>
                    <a:pt x="383458" y="334306"/>
                  </a:cubicBezTo>
                  <a:lnTo>
                    <a:pt x="383458" y="334306"/>
                  </a:lnTo>
                </a:path>
              </a:pathLst>
            </a:custGeom>
            <a:noFill/>
            <a:ln w="254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0" name="Rectangle 9">
            <a:extLst>
              <a:ext uri="{FF2B5EF4-FFF2-40B4-BE49-F238E27FC236}">
                <a16:creationId xmlns:a16="http://schemas.microsoft.com/office/drawing/2014/main" id="{A6B422E8-737F-4248-9A9F-360010197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815" y="3000737"/>
            <a:ext cx="10396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</a:rPr>
              <a:t>透射波</a:t>
            </a:r>
          </a:p>
        </p:txBody>
      </p:sp>
      <p:sp>
        <p:nvSpPr>
          <p:cNvPr id="71" name="Rectangle 9">
            <a:extLst>
              <a:ext uri="{FF2B5EF4-FFF2-40B4-BE49-F238E27FC236}">
                <a16:creationId xmlns:a16="http://schemas.microsoft.com/office/drawing/2014/main" id="{D5D866DE-3CA9-412F-941B-4F5E559FB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755" y="2544935"/>
            <a:ext cx="10396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</a:rPr>
              <a:t>反射波</a:t>
            </a: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D0932BE5-7440-4D02-B3D3-935265B149E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30" y="1205018"/>
            <a:ext cx="8820869" cy="4964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2" name="Object 2">
            <a:extLst>
              <a:ext uri="{FF2B5EF4-FFF2-40B4-BE49-F238E27FC236}">
                <a16:creationId xmlns:a16="http://schemas.microsoft.com/office/drawing/2014/main" id="{E2263711-253A-40DC-AE66-1828BE0A38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4786313"/>
          <a:ext cx="2122487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674" name="Equation" r:id="rId3" imgW="2850120" imgH="890640" progId="">
                  <p:embed/>
                </p:oleObj>
              </mc:Choice>
              <mc:Fallback>
                <p:oleObj name="Equation" r:id="rId3" imgW="2850120" imgH="890640" progId="">
                  <p:embed/>
                  <p:pic>
                    <p:nvPicPr>
                      <p:cNvPr id="51202" name="Object 2">
                        <a:extLst>
                          <a:ext uri="{FF2B5EF4-FFF2-40B4-BE49-F238E27FC236}">
                            <a16:creationId xmlns:a16="http://schemas.microsoft.com/office/drawing/2014/main" id="{E2263711-253A-40DC-AE66-1828BE0A38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4786313"/>
                        <a:ext cx="2122487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3" name="Object 3">
            <a:extLst>
              <a:ext uri="{FF2B5EF4-FFF2-40B4-BE49-F238E27FC236}">
                <a16:creationId xmlns:a16="http://schemas.microsoft.com/office/drawing/2014/main" id="{93089E89-5D5E-42E5-BCEE-9493223000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0163" y="3770313"/>
          <a:ext cx="126206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675" name="Equation" r:id="rId5" imgW="1660320" imgH="890640" progId="">
                  <p:embed/>
                </p:oleObj>
              </mc:Choice>
              <mc:Fallback>
                <p:oleObj name="Equation" r:id="rId5" imgW="1660320" imgH="890640" progId="">
                  <p:embed/>
                  <p:pic>
                    <p:nvPicPr>
                      <p:cNvPr id="51203" name="Object 3">
                        <a:extLst>
                          <a:ext uri="{FF2B5EF4-FFF2-40B4-BE49-F238E27FC236}">
                            <a16:creationId xmlns:a16="http://schemas.microsoft.com/office/drawing/2014/main" id="{93089E89-5D5E-42E5-BCEE-9493223000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0163" y="3770313"/>
                        <a:ext cx="1262062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4" name="Object 4">
            <a:extLst>
              <a:ext uri="{FF2B5EF4-FFF2-40B4-BE49-F238E27FC236}">
                <a16:creationId xmlns:a16="http://schemas.microsoft.com/office/drawing/2014/main" id="{5EDBC3A7-7256-4050-904D-14949BFE75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84425" y="3698875"/>
          <a:ext cx="29972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676" name="公式" r:id="rId7" imgW="3551400" imgH="952920" progId="">
                  <p:embed/>
                </p:oleObj>
              </mc:Choice>
              <mc:Fallback>
                <p:oleObj name="公式" r:id="rId7" imgW="3551400" imgH="952920" progId="">
                  <p:embed/>
                  <p:pic>
                    <p:nvPicPr>
                      <p:cNvPr id="51204" name="Object 4">
                        <a:extLst>
                          <a:ext uri="{FF2B5EF4-FFF2-40B4-BE49-F238E27FC236}">
                            <a16:creationId xmlns:a16="http://schemas.microsoft.com/office/drawing/2014/main" id="{5EDBC3A7-7256-4050-904D-14949BFE75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425" y="3698875"/>
                        <a:ext cx="299720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5" name="Text Box 5">
            <a:extLst>
              <a:ext uri="{FF2B5EF4-FFF2-40B4-BE49-F238E27FC236}">
                <a16:creationId xmlns:a16="http://schemas.microsoft.com/office/drawing/2014/main" id="{91C15AA5-68C1-49FE-88B9-5522DFFDE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3143250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定态薛定谔方程：</a:t>
            </a:r>
          </a:p>
        </p:txBody>
      </p:sp>
      <p:sp>
        <p:nvSpPr>
          <p:cNvPr id="69714" name="Rectangle 7">
            <a:extLst>
              <a:ext uri="{FF2B5EF4-FFF2-40B4-BE49-F238E27FC236}">
                <a16:creationId xmlns:a16="http://schemas.microsoft.com/office/drawing/2014/main" id="{1B180539-17D2-4166-B5D4-6474F61FD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285750"/>
            <a:ext cx="528637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800"/>
              </a:lnSpc>
            </a:pPr>
            <a:r>
              <a:rPr lang="zh-CN" altLang="en-US">
                <a:solidFill>
                  <a:srgbClr val="59E2FD"/>
                </a:solidFill>
                <a:latin typeface="宋体" panose="02010600030101010101" pitchFamily="2" charset="-122"/>
              </a:rPr>
              <a:t>一维方势垒：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能量为</a:t>
            </a:r>
            <a:r>
              <a:rPr lang="zh-CN" altLang="en-US" i="1">
                <a:solidFill>
                  <a:srgbClr val="FFFF00"/>
                </a:solidFill>
              </a:rPr>
              <a:t> </a:t>
            </a:r>
            <a:r>
              <a:rPr lang="en-US" altLang="zh-CN" i="1">
                <a:solidFill>
                  <a:srgbClr val="FFFF00"/>
                </a:solidFill>
              </a:rPr>
              <a:t>E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的粒子从</a:t>
            </a:r>
            <a:r>
              <a:rPr lang="en-US" altLang="zh-CN">
                <a:solidFill>
                  <a:srgbClr val="FFFF00"/>
                </a:solidFill>
                <a:latin typeface="宋体" panose="02010600030101010101" pitchFamily="2" charset="-122"/>
              </a:rPr>
              <a:t>I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区入射势能为</a:t>
            </a:r>
            <a:r>
              <a:rPr lang="en-US" altLang="zh-CN" i="1">
                <a:solidFill>
                  <a:srgbClr val="FFFF00"/>
                </a:solidFill>
                <a:latin typeface="宋体" panose="02010600030101010101" pitchFamily="2" charset="-122"/>
              </a:rPr>
              <a:t>U</a:t>
            </a:r>
            <a:r>
              <a:rPr lang="en-US" altLang="zh-CN" baseline="-25000">
                <a:solidFill>
                  <a:srgbClr val="FFFF00"/>
                </a:solidFill>
                <a:latin typeface="宋体" panose="02010600030101010101" pitchFamily="2" charset="-122"/>
              </a:rPr>
              <a:t>0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的势垒区</a:t>
            </a:r>
          </a:p>
        </p:txBody>
      </p:sp>
      <p:sp>
        <p:nvSpPr>
          <p:cNvPr id="51208" name="Text Box 8">
            <a:extLst>
              <a:ext uri="{FF2B5EF4-FFF2-40B4-BE49-F238E27FC236}">
                <a16:creationId xmlns:a16="http://schemas.microsoft.com/office/drawing/2014/main" id="{002BA621-9D4A-4DA0-817E-48C3CE67B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932488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Ⅲ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区</a:t>
            </a:r>
          </a:p>
        </p:txBody>
      </p:sp>
      <p:sp>
        <p:nvSpPr>
          <p:cNvPr id="51209" name="Rectangle 9">
            <a:extLst>
              <a:ext uri="{FF2B5EF4-FFF2-40B4-BE49-F238E27FC236}">
                <a16:creationId xmlns:a16="http://schemas.microsoft.com/office/drawing/2014/main" id="{E21E35E6-F6C9-4800-A79E-5BF8BE0E9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906838"/>
            <a:ext cx="78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Ⅰ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区</a:t>
            </a:r>
          </a:p>
        </p:txBody>
      </p:sp>
      <p:sp>
        <p:nvSpPr>
          <p:cNvPr id="51210" name="Rectangle 10">
            <a:extLst>
              <a:ext uri="{FF2B5EF4-FFF2-40B4-BE49-F238E27FC236}">
                <a16:creationId xmlns:a16="http://schemas.microsoft.com/office/drawing/2014/main" id="{20693E10-EC42-46AF-A599-BD113694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4922838"/>
            <a:ext cx="78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Ⅱ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区</a:t>
            </a:r>
          </a:p>
        </p:txBody>
      </p:sp>
      <p:sp>
        <p:nvSpPr>
          <p:cNvPr id="41994" name="Rectangle 11">
            <a:extLst>
              <a:ext uri="{FF2B5EF4-FFF2-40B4-BE49-F238E27FC236}">
                <a16:creationId xmlns:a16="http://schemas.microsoft.com/office/drawing/2014/main" id="{7D7FEFE1-2A9B-4449-AA88-EBE6139BB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2900" y="1019175"/>
            <a:ext cx="762000" cy="1981200"/>
          </a:xfrm>
          <a:prstGeom prst="rect">
            <a:avLst/>
          </a:prstGeom>
          <a:solidFill>
            <a:srgbClr val="000099">
              <a:alpha val="39999"/>
            </a:srgbClr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995" name="Line 12">
            <a:extLst>
              <a:ext uri="{FF2B5EF4-FFF2-40B4-BE49-F238E27FC236}">
                <a16:creationId xmlns:a16="http://schemas.microsoft.com/office/drawing/2014/main" id="{7700471E-F68C-49D1-9C28-FB25F93D9E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00713" y="3000375"/>
            <a:ext cx="2879725" cy="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6" name="Line 13">
            <a:extLst>
              <a:ext uri="{FF2B5EF4-FFF2-40B4-BE49-F238E27FC236}">
                <a16:creationId xmlns:a16="http://schemas.microsoft.com/office/drawing/2014/main" id="{2955C35C-B2F3-416A-BE5B-B7E1CA6C14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92900" y="319088"/>
            <a:ext cx="0" cy="2681287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7" name="Text Box 14">
            <a:extLst>
              <a:ext uri="{FF2B5EF4-FFF2-40B4-BE49-F238E27FC236}">
                <a16:creationId xmlns:a16="http://schemas.microsoft.com/office/drawing/2014/main" id="{228002BA-6ABD-4B9B-8D59-12A8CC541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3038" y="2967038"/>
            <a:ext cx="2200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1"/>
                </a:solidFill>
              </a:rPr>
              <a:t>0</a:t>
            </a:r>
            <a:r>
              <a:rPr lang="en-US" altLang="zh-CN">
                <a:solidFill>
                  <a:schemeClr val="bg1"/>
                </a:solidFill>
              </a:rPr>
              <a:t>         </a:t>
            </a:r>
            <a:r>
              <a:rPr lang="en-US" altLang="zh-CN" i="1">
                <a:solidFill>
                  <a:schemeClr val="bg1"/>
                </a:solidFill>
              </a:rPr>
              <a:t>a          x</a:t>
            </a:r>
          </a:p>
        </p:txBody>
      </p:sp>
      <p:sp>
        <p:nvSpPr>
          <p:cNvPr id="41998" name="Text Box 15">
            <a:extLst>
              <a:ext uri="{FF2B5EF4-FFF2-40B4-BE49-F238E27FC236}">
                <a16:creationId xmlns:a16="http://schemas.microsoft.com/office/drawing/2014/main" id="{3F8CC36E-46E9-47DB-B106-33F94661C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1088" y="714375"/>
            <a:ext cx="506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</a:rPr>
              <a:t>U</a:t>
            </a:r>
            <a:r>
              <a:rPr lang="en-US" altLang="zh-CN" baseline="-20000">
                <a:solidFill>
                  <a:schemeClr val="bg1"/>
                </a:solidFill>
              </a:rPr>
              <a:t>0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41999" name="Text Box 16">
            <a:extLst>
              <a:ext uri="{FF2B5EF4-FFF2-40B4-BE49-F238E27FC236}">
                <a16:creationId xmlns:a16="http://schemas.microsoft.com/office/drawing/2014/main" id="{46DBE6AF-5F92-48AF-AF97-E3AEDE879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850" y="1095375"/>
            <a:ext cx="3025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Ⅰ    Ⅱ      Ⅲ</a:t>
            </a:r>
          </a:p>
        </p:txBody>
      </p:sp>
      <p:sp>
        <p:nvSpPr>
          <p:cNvPr id="42000" name="Line 17">
            <a:extLst>
              <a:ext uri="{FF2B5EF4-FFF2-40B4-BE49-F238E27FC236}">
                <a16:creationId xmlns:a16="http://schemas.microsoft.com/office/drawing/2014/main" id="{1700E816-E7BA-4850-9577-B0FFBD0238FD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7375" y="2224088"/>
            <a:ext cx="2698750" cy="0"/>
          </a:xfrm>
          <a:prstGeom prst="line">
            <a:avLst/>
          </a:prstGeom>
          <a:noFill/>
          <a:ln w="63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1" name="Text Box 18">
            <a:extLst>
              <a:ext uri="{FF2B5EF4-FFF2-40B4-BE49-F238E27FC236}">
                <a16:creationId xmlns:a16="http://schemas.microsoft.com/office/drawing/2014/main" id="{E63D1D1B-39A6-4E45-996D-66280E294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57175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Ⅲ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区：  </a:t>
            </a:r>
            <a:r>
              <a:rPr lang="en-US" altLang="zh-CN" i="1">
                <a:solidFill>
                  <a:srgbClr val="66FFFF"/>
                </a:solidFill>
              </a:rPr>
              <a:t>U </a:t>
            </a:r>
            <a:r>
              <a:rPr lang="en-US" altLang="zh-CN" sz="2000">
                <a:solidFill>
                  <a:srgbClr val="66FFFF"/>
                </a:solidFill>
              </a:rPr>
              <a:t>( </a:t>
            </a:r>
            <a:r>
              <a:rPr lang="en-US" altLang="zh-CN" i="1">
                <a:solidFill>
                  <a:srgbClr val="66FFFF"/>
                </a:solidFill>
              </a:rPr>
              <a:t>x </a:t>
            </a:r>
            <a:r>
              <a:rPr lang="en-US" altLang="zh-CN" sz="2000">
                <a:solidFill>
                  <a:srgbClr val="66FFFF"/>
                </a:solidFill>
              </a:rPr>
              <a:t>)  </a:t>
            </a:r>
            <a:r>
              <a:rPr lang="en-US" altLang="zh-CN">
                <a:solidFill>
                  <a:srgbClr val="66FFFF"/>
                </a:solidFill>
              </a:rPr>
              <a:t>= 0      </a:t>
            </a:r>
            <a:r>
              <a:rPr lang="zh-CN" altLang="en-US">
                <a:solidFill>
                  <a:srgbClr val="66FFFF"/>
                </a:solidFill>
              </a:rPr>
              <a:t>　</a:t>
            </a:r>
            <a:r>
              <a:rPr lang="en-US" altLang="zh-CN" i="1">
                <a:solidFill>
                  <a:srgbClr val="66FFFF"/>
                </a:solidFill>
              </a:rPr>
              <a:t>x </a:t>
            </a:r>
            <a:r>
              <a:rPr lang="en-US" altLang="zh-CN" sz="2000" i="1">
                <a:solidFill>
                  <a:srgbClr val="66FFFF"/>
                </a:solidFill>
              </a:rPr>
              <a:t>≥ </a:t>
            </a:r>
            <a:r>
              <a:rPr lang="en-US" altLang="zh-CN">
                <a:solidFill>
                  <a:srgbClr val="66FFFF"/>
                </a:solidFill>
              </a:rPr>
              <a:t>a</a:t>
            </a:r>
          </a:p>
        </p:txBody>
      </p:sp>
      <p:sp>
        <p:nvSpPr>
          <p:cNvPr id="42002" name="Rectangle 19">
            <a:extLst>
              <a:ext uri="{FF2B5EF4-FFF2-40B4-BE49-F238E27FC236}">
                <a16:creationId xmlns:a16="http://schemas.microsoft.com/office/drawing/2014/main" id="{A21D3996-C5B0-4F53-8136-5ECC714E3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357313"/>
            <a:ext cx="426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</a:rPr>
              <a:t>Ⅰ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区：  </a:t>
            </a:r>
            <a:r>
              <a:rPr lang="en-US" altLang="zh-CN" i="1" dirty="0">
                <a:solidFill>
                  <a:srgbClr val="66FFFF"/>
                </a:solidFill>
              </a:rPr>
              <a:t>U </a:t>
            </a:r>
            <a:r>
              <a:rPr lang="en-US" altLang="zh-CN" sz="2000" dirty="0">
                <a:solidFill>
                  <a:srgbClr val="66FFFF"/>
                </a:solidFill>
              </a:rPr>
              <a:t>( </a:t>
            </a:r>
            <a:r>
              <a:rPr lang="en-US" altLang="zh-CN" i="1" dirty="0">
                <a:solidFill>
                  <a:srgbClr val="66FFFF"/>
                </a:solidFill>
              </a:rPr>
              <a:t>x </a:t>
            </a:r>
            <a:r>
              <a:rPr lang="en-US" altLang="zh-CN" sz="2000" dirty="0">
                <a:solidFill>
                  <a:srgbClr val="66FFFF"/>
                </a:solidFill>
              </a:rPr>
              <a:t>)  </a:t>
            </a:r>
            <a:r>
              <a:rPr lang="en-US" altLang="zh-CN" dirty="0">
                <a:solidFill>
                  <a:srgbClr val="66FFFF"/>
                </a:solidFill>
              </a:rPr>
              <a:t>= 0         </a:t>
            </a:r>
            <a:r>
              <a:rPr lang="en-US" altLang="zh-CN" i="1" dirty="0">
                <a:solidFill>
                  <a:srgbClr val="66FFFF"/>
                </a:solidFill>
              </a:rPr>
              <a:t>x </a:t>
            </a:r>
            <a:r>
              <a:rPr lang="en-US" altLang="zh-CN" sz="2000" dirty="0">
                <a:solidFill>
                  <a:srgbClr val="66FFFF"/>
                </a:solidFill>
              </a:rPr>
              <a:t>≤</a:t>
            </a:r>
            <a:r>
              <a:rPr lang="en-US" altLang="zh-CN" sz="2000" i="1" dirty="0">
                <a:solidFill>
                  <a:srgbClr val="66FFFF"/>
                </a:solidFill>
              </a:rPr>
              <a:t> </a:t>
            </a:r>
            <a:r>
              <a:rPr lang="en-US" altLang="zh-CN" dirty="0">
                <a:solidFill>
                  <a:srgbClr val="66FFFF"/>
                </a:solidFill>
              </a:rPr>
              <a:t>0</a:t>
            </a:r>
          </a:p>
        </p:txBody>
      </p:sp>
      <p:sp>
        <p:nvSpPr>
          <p:cNvPr id="42003" name="Rectangle 20">
            <a:extLst>
              <a:ext uri="{FF2B5EF4-FFF2-40B4-BE49-F238E27FC236}">
                <a16:creationId xmlns:a16="http://schemas.microsoft.com/office/drawing/2014/main" id="{CAF6A663-49EC-41DF-9F94-B5132BC6D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971675"/>
            <a:ext cx="4395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Ⅱ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区：  </a:t>
            </a:r>
            <a:r>
              <a:rPr lang="en-US" altLang="zh-CN" i="1">
                <a:solidFill>
                  <a:srgbClr val="66FFFF"/>
                </a:solidFill>
              </a:rPr>
              <a:t>U </a:t>
            </a:r>
            <a:r>
              <a:rPr lang="en-US" altLang="zh-CN" sz="2000">
                <a:solidFill>
                  <a:srgbClr val="66FFFF"/>
                </a:solidFill>
              </a:rPr>
              <a:t>( </a:t>
            </a:r>
            <a:r>
              <a:rPr lang="en-US" altLang="zh-CN" i="1">
                <a:solidFill>
                  <a:srgbClr val="66FFFF"/>
                </a:solidFill>
              </a:rPr>
              <a:t>x </a:t>
            </a:r>
            <a:r>
              <a:rPr lang="en-US" altLang="zh-CN" sz="2000">
                <a:solidFill>
                  <a:srgbClr val="66FFFF"/>
                </a:solidFill>
              </a:rPr>
              <a:t>)  </a:t>
            </a:r>
            <a:r>
              <a:rPr lang="en-US" altLang="zh-CN">
                <a:solidFill>
                  <a:srgbClr val="66FFFF"/>
                </a:solidFill>
              </a:rPr>
              <a:t>= </a:t>
            </a:r>
            <a:r>
              <a:rPr lang="en-US" altLang="zh-CN" i="1">
                <a:solidFill>
                  <a:srgbClr val="66FFFF"/>
                </a:solidFill>
              </a:rPr>
              <a:t>U</a:t>
            </a:r>
            <a:r>
              <a:rPr lang="en-US" altLang="zh-CN" baseline="-20000">
                <a:solidFill>
                  <a:srgbClr val="66FFFF"/>
                </a:solidFill>
              </a:rPr>
              <a:t>0</a:t>
            </a:r>
            <a:r>
              <a:rPr lang="en-US" altLang="zh-CN">
                <a:solidFill>
                  <a:srgbClr val="66FFFF"/>
                </a:solidFill>
              </a:rPr>
              <a:t>     0</a:t>
            </a:r>
            <a:r>
              <a:rPr lang="en-US" altLang="zh-CN" sz="2000">
                <a:solidFill>
                  <a:srgbClr val="66FFFF"/>
                </a:solidFill>
              </a:rPr>
              <a:t>≤</a:t>
            </a:r>
            <a:r>
              <a:rPr lang="en-US" altLang="zh-CN">
                <a:solidFill>
                  <a:srgbClr val="66FFFF"/>
                </a:solidFill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x </a:t>
            </a:r>
            <a:r>
              <a:rPr lang="en-US" altLang="zh-CN" sz="2000">
                <a:solidFill>
                  <a:srgbClr val="66FFFF"/>
                </a:solidFill>
              </a:rPr>
              <a:t>≤</a:t>
            </a:r>
            <a:r>
              <a:rPr lang="en-US" altLang="zh-CN" sz="2000" i="1">
                <a:solidFill>
                  <a:srgbClr val="66FFFF"/>
                </a:solidFill>
              </a:rPr>
              <a:t> </a:t>
            </a:r>
            <a:r>
              <a:rPr lang="en-US" altLang="zh-CN">
                <a:solidFill>
                  <a:srgbClr val="66FFFF"/>
                </a:solidFill>
              </a:rPr>
              <a:t>a</a:t>
            </a:r>
          </a:p>
        </p:txBody>
      </p:sp>
      <p:graphicFrame>
        <p:nvGraphicFramePr>
          <p:cNvPr id="51221" name="Object 5">
            <a:extLst>
              <a:ext uri="{FF2B5EF4-FFF2-40B4-BE49-F238E27FC236}">
                <a16:creationId xmlns:a16="http://schemas.microsoft.com/office/drawing/2014/main" id="{38ED45B5-6D2B-4B83-8F31-4BECD07DE6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92863" y="5795963"/>
          <a:ext cx="126206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677" name="Equation" r:id="rId9" imgW="1660320" imgH="890640" progId="">
                  <p:embed/>
                </p:oleObj>
              </mc:Choice>
              <mc:Fallback>
                <p:oleObj name="Equation" r:id="rId9" imgW="1660320" imgH="890640" progId="">
                  <p:embed/>
                  <p:pic>
                    <p:nvPicPr>
                      <p:cNvPr id="51221" name="Object 5">
                        <a:extLst>
                          <a:ext uri="{FF2B5EF4-FFF2-40B4-BE49-F238E27FC236}">
                            <a16:creationId xmlns:a16="http://schemas.microsoft.com/office/drawing/2014/main" id="{38ED45B5-6D2B-4B83-8F31-4BECD07DE6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2863" y="5795963"/>
                        <a:ext cx="1262062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5" name="Rectangle 22">
            <a:extLst>
              <a:ext uri="{FF2B5EF4-FFF2-40B4-BE49-F238E27FC236}">
                <a16:creationId xmlns:a16="http://schemas.microsoft.com/office/drawing/2014/main" id="{1B4C9A19-0F76-466A-83B5-9F1772DCE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3563" y="1690688"/>
            <a:ext cx="36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FFFF00"/>
                </a:solidFill>
                <a:latin typeface="宋体" panose="02010600030101010101" pitchFamily="2" charset="-122"/>
              </a:rPr>
              <a:t>E</a:t>
            </a:r>
          </a:p>
        </p:txBody>
      </p:sp>
      <p:graphicFrame>
        <p:nvGraphicFramePr>
          <p:cNvPr id="51223" name="Object 6">
            <a:extLst>
              <a:ext uri="{FF2B5EF4-FFF2-40B4-BE49-F238E27FC236}">
                <a16:creationId xmlns:a16="http://schemas.microsoft.com/office/drawing/2014/main" id="{D7BF3FD8-23D7-484B-A94B-1F222FB259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84425" y="4714875"/>
          <a:ext cx="30734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678" name="公式" r:id="rId11" imgW="3643560" imgH="952920" progId="">
                  <p:embed/>
                </p:oleObj>
              </mc:Choice>
              <mc:Fallback>
                <p:oleObj name="公式" r:id="rId11" imgW="3643560" imgH="952920" progId="">
                  <p:embed/>
                  <p:pic>
                    <p:nvPicPr>
                      <p:cNvPr id="51223" name="Object 6">
                        <a:extLst>
                          <a:ext uri="{FF2B5EF4-FFF2-40B4-BE49-F238E27FC236}">
                            <a16:creationId xmlns:a16="http://schemas.microsoft.com/office/drawing/2014/main" id="{D7BF3FD8-23D7-484B-A94B-1F222FB259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425" y="4714875"/>
                        <a:ext cx="307340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4" name="Object 7">
            <a:extLst>
              <a:ext uri="{FF2B5EF4-FFF2-40B4-BE49-F238E27FC236}">
                <a16:creationId xmlns:a16="http://schemas.microsoft.com/office/drawing/2014/main" id="{B9851499-6D91-4FB9-A06B-6F142F64CB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84425" y="5724525"/>
          <a:ext cx="30480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679" name="公式" r:id="rId13" imgW="3615840" imgH="952920" progId="">
                  <p:embed/>
                </p:oleObj>
              </mc:Choice>
              <mc:Fallback>
                <p:oleObj name="公式" r:id="rId13" imgW="3615840" imgH="952920" progId="">
                  <p:embed/>
                  <p:pic>
                    <p:nvPicPr>
                      <p:cNvPr id="51224" name="Object 7">
                        <a:extLst>
                          <a:ext uri="{FF2B5EF4-FFF2-40B4-BE49-F238E27FC236}">
                            <a16:creationId xmlns:a16="http://schemas.microsoft.com/office/drawing/2014/main" id="{B9851499-6D91-4FB9-A06B-6F142F64CB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425" y="5724525"/>
                        <a:ext cx="304800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8" name="Text Box 15">
            <a:extLst>
              <a:ext uri="{FF2B5EF4-FFF2-40B4-BE49-F238E27FC236}">
                <a16:creationId xmlns:a16="http://schemas.microsoft.com/office/drawing/2014/main" id="{F0E19F02-6773-4E81-97FE-979516CC9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25" y="142875"/>
            <a:ext cx="649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</a:rPr>
              <a:t>U</a:t>
            </a:r>
            <a:r>
              <a:rPr lang="en-US" altLang="zh-CN" baseline="-20000">
                <a:solidFill>
                  <a:schemeClr val="bg1"/>
                </a:solidFill>
              </a:rPr>
              <a:t>(</a:t>
            </a:r>
            <a:r>
              <a:rPr lang="en-US" altLang="zh-CN" i="1" baseline="-20000">
                <a:solidFill>
                  <a:schemeClr val="bg1"/>
                </a:solidFill>
              </a:rPr>
              <a:t>x</a:t>
            </a:r>
            <a:r>
              <a:rPr lang="en-US" altLang="zh-CN" baseline="-20000">
                <a:solidFill>
                  <a:schemeClr val="bg1"/>
                </a:solidFill>
              </a:rPr>
              <a:t>)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42009" name="灯片编号占位符 1">
            <a:extLst>
              <a:ext uri="{FF2B5EF4-FFF2-40B4-BE49-F238E27FC236}">
                <a16:creationId xmlns:a16="http://schemas.microsoft.com/office/drawing/2014/main" id="{2BFEA72B-4E7C-4304-91FC-C86D5224D4D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422F59A-F44C-4229-A862-4714B7F223FA}" type="slidenum">
              <a:rPr lang="en-US" altLang="zh-CN" b="0">
                <a:solidFill>
                  <a:srgbClr val="FF00FF"/>
                </a:solidFill>
              </a:rPr>
              <a:pPr eaLnBrk="1" hangingPunct="1"/>
              <a:t>11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1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5" grpId="0" autoUpdateAnimBg="0"/>
      <p:bldP spid="51208" grpId="0" autoUpdateAnimBg="0"/>
      <p:bldP spid="51209" grpId="0" autoUpdateAnimBg="0"/>
      <p:bldP spid="51210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2BF04068-4E3F-456C-9704-15526D4CB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68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83583A12-5F0E-47E7-B7E4-BD383A20A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68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graphicFrame>
        <p:nvGraphicFramePr>
          <p:cNvPr id="52228" name="Object 2">
            <a:extLst>
              <a:ext uri="{FF2B5EF4-FFF2-40B4-BE49-F238E27FC236}">
                <a16:creationId xmlns:a16="http://schemas.microsoft.com/office/drawing/2014/main" id="{44AAA417-4589-4C4E-B2A6-11BB313A09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9900" y="4110038"/>
          <a:ext cx="1590675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722" name="公式" r:id="rId3" imgW="2167560" imgH="418680" progId="">
                  <p:embed/>
                </p:oleObj>
              </mc:Choice>
              <mc:Fallback>
                <p:oleObj name="公式" r:id="rId3" imgW="2167560" imgH="418680" progId="">
                  <p:embed/>
                  <p:pic>
                    <p:nvPicPr>
                      <p:cNvPr id="52228" name="Object 2">
                        <a:extLst>
                          <a:ext uri="{FF2B5EF4-FFF2-40B4-BE49-F238E27FC236}">
                            <a16:creationId xmlns:a16="http://schemas.microsoft.com/office/drawing/2014/main" id="{44AAA417-4589-4C4E-B2A6-11BB313A09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4110038"/>
                        <a:ext cx="1590675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3">
            <a:extLst>
              <a:ext uri="{FF2B5EF4-FFF2-40B4-BE49-F238E27FC236}">
                <a16:creationId xmlns:a16="http://schemas.microsoft.com/office/drawing/2014/main" id="{6A8B0B63-A78E-43FB-BE09-D83F2FC8B6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3857625"/>
          <a:ext cx="20224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723" name="公式" r:id="rId5" imgW="2739600" imgH="997560" progId="">
                  <p:embed/>
                </p:oleObj>
              </mc:Choice>
              <mc:Fallback>
                <p:oleObj name="公式" r:id="rId5" imgW="2739600" imgH="997560" progId="">
                  <p:embed/>
                  <p:pic>
                    <p:nvPicPr>
                      <p:cNvPr id="52229" name="Object 3">
                        <a:extLst>
                          <a:ext uri="{FF2B5EF4-FFF2-40B4-BE49-F238E27FC236}">
                            <a16:creationId xmlns:a16="http://schemas.microsoft.com/office/drawing/2014/main" id="{6A8B0B63-A78E-43FB-BE09-D83F2FC8B6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857625"/>
                        <a:ext cx="202247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0" name="Object 4">
            <a:extLst>
              <a:ext uri="{FF2B5EF4-FFF2-40B4-BE49-F238E27FC236}">
                <a16:creationId xmlns:a16="http://schemas.microsoft.com/office/drawing/2014/main" id="{B0C252AB-B469-4110-B2C8-1F1B76B768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2600" y="4897438"/>
          <a:ext cx="15875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724" name="公式" r:id="rId7" imgW="2250720" imgH="436320" progId="">
                  <p:embed/>
                </p:oleObj>
              </mc:Choice>
              <mc:Fallback>
                <p:oleObj name="公式" r:id="rId7" imgW="2250720" imgH="436320" progId="">
                  <p:embed/>
                  <p:pic>
                    <p:nvPicPr>
                      <p:cNvPr id="52230" name="Object 4">
                        <a:extLst>
                          <a:ext uri="{FF2B5EF4-FFF2-40B4-BE49-F238E27FC236}">
                            <a16:creationId xmlns:a16="http://schemas.microsoft.com/office/drawing/2014/main" id="{B0C252AB-B469-4110-B2C8-1F1B76B768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4897438"/>
                        <a:ext cx="158750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1" name="Object 5">
            <a:extLst>
              <a:ext uri="{FF2B5EF4-FFF2-40B4-BE49-F238E27FC236}">
                <a16:creationId xmlns:a16="http://schemas.microsoft.com/office/drawing/2014/main" id="{A0D5B833-3B09-40A9-B161-2F7818E5D1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3200" y="4714875"/>
          <a:ext cx="20701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725" name="公式" r:id="rId9" imgW="2785680" imgH="997560" progId="">
                  <p:embed/>
                </p:oleObj>
              </mc:Choice>
              <mc:Fallback>
                <p:oleObj name="公式" r:id="rId9" imgW="2785680" imgH="997560" progId="">
                  <p:embed/>
                  <p:pic>
                    <p:nvPicPr>
                      <p:cNvPr id="52231" name="Object 5">
                        <a:extLst>
                          <a:ext uri="{FF2B5EF4-FFF2-40B4-BE49-F238E27FC236}">
                            <a16:creationId xmlns:a16="http://schemas.microsoft.com/office/drawing/2014/main" id="{A0D5B833-3B09-40A9-B161-2F7818E5D1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4714875"/>
                        <a:ext cx="2070100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2" name="Rectangle 8">
            <a:extLst>
              <a:ext uri="{FF2B5EF4-FFF2-40B4-BE49-F238E27FC236}">
                <a16:creationId xmlns:a16="http://schemas.microsoft.com/office/drawing/2014/main" id="{9E7215B7-709F-4436-81D0-ED9DA3E05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5408613"/>
            <a:ext cx="8281988" cy="109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可得</a:t>
            </a:r>
            <a:r>
              <a:rPr lang="en-US" altLang="zh-CN">
                <a:solidFill>
                  <a:schemeClr val="bg1"/>
                </a:solidFill>
              </a:rPr>
              <a:t>4</a:t>
            </a:r>
            <a:r>
              <a:rPr lang="zh-CN" altLang="en-US">
                <a:solidFill>
                  <a:schemeClr val="bg1"/>
                </a:solidFill>
              </a:rPr>
              <a:t>个方程，可求出常数 </a:t>
            </a:r>
            <a:r>
              <a:rPr lang="en-US" altLang="zh-CN" i="1">
                <a:solidFill>
                  <a:srgbClr val="00FFFF"/>
                </a:solidFill>
              </a:rPr>
              <a:t>A</a:t>
            </a:r>
            <a:r>
              <a:rPr lang="en-US" altLang="zh-CN" baseline="-22000">
                <a:solidFill>
                  <a:srgbClr val="00FFFF"/>
                </a:solidFill>
              </a:rPr>
              <a:t>1 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n-US" altLang="zh-CN" i="1">
                <a:solidFill>
                  <a:srgbClr val="00FFFF"/>
                </a:solidFill>
              </a:rPr>
              <a:t>B</a:t>
            </a:r>
            <a:r>
              <a:rPr lang="en-US" altLang="zh-CN" baseline="-22000">
                <a:solidFill>
                  <a:srgbClr val="00FFFF"/>
                </a:solidFill>
              </a:rPr>
              <a:t>1 </a:t>
            </a:r>
            <a:r>
              <a:rPr lang="zh-CN" altLang="en-US">
                <a:solidFill>
                  <a:schemeClr val="bg1"/>
                </a:solidFill>
              </a:rPr>
              <a:t>、 </a:t>
            </a:r>
            <a:r>
              <a:rPr lang="en-US" altLang="zh-CN" i="1">
                <a:solidFill>
                  <a:srgbClr val="00FFFF"/>
                </a:solidFill>
              </a:rPr>
              <a:t>A</a:t>
            </a:r>
            <a:r>
              <a:rPr lang="en-US" altLang="zh-CN" baseline="-22000">
                <a:solidFill>
                  <a:srgbClr val="00FFFF"/>
                </a:solidFill>
              </a:rPr>
              <a:t>2</a:t>
            </a:r>
            <a:r>
              <a:rPr lang="en-US" altLang="zh-CN" sz="2800">
                <a:solidFill>
                  <a:srgbClr val="00FFFF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、</a:t>
            </a:r>
            <a:r>
              <a:rPr lang="en-US" altLang="zh-CN" i="1">
                <a:solidFill>
                  <a:srgbClr val="00FFFF"/>
                </a:solidFill>
              </a:rPr>
              <a:t>B</a:t>
            </a:r>
            <a:r>
              <a:rPr lang="en-US" altLang="zh-CN" baseline="-22000">
                <a:solidFill>
                  <a:srgbClr val="00FFFF"/>
                </a:solidFill>
              </a:rPr>
              <a:t>2</a:t>
            </a:r>
            <a:r>
              <a:rPr lang="en-US" altLang="zh-CN" sz="2800">
                <a:solidFill>
                  <a:srgbClr val="00FFFF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和</a:t>
            </a:r>
            <a:r>
              <a:rPr lang="zh-CN" altLang="en-US" sz="2800">
                <a:solidFill>
                  <a:schemeClr val="bg1"/>
                </a:solidFill>
              </a:rPr>
              <a:t> </a:t>
            </a:r>
            <a:r>
              <a:rPr lang="en-US" altLang="zh-CN" i="1">
                <a:solidFill>
                  <a:srgbClr val="00FFFF"/>
                </a:solidFill>
              </a:rPr>
              <a:t>A</a:t>
            </a:r>
            <a:r>
              <a:rPr lang="en-US" altLang="zh-CN" baseline="-22000">
                <a:solidFill>
                  <a:srgbClr val="00FFFF"/>
                </a:solidFill>
              </a:rPr>
              <a:t>3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间关系，得到反射系数</a:t>
            </a:r>
            <a:r>
              <a:rPr lang="zh-CN" altLang="en-US">
                <a:solidFill>
                  <a:srgbClr val="00FFFF"/>
                </a:solidFill>
              </a:rPr>
              <a:t>                               </a:t>
            </a:r>
            <a:r>
              <a:rPr lang="zh-CN" altLang="en-US">
                <a:solidFill>
                  <a:schemeClr val="bg1"/>
                </a:solidFill>
              </a:rPr>
              <a:t>和透射系数</a:t>
            </a:r>
          </a:p>
        </p:txBody>
      </p:sp>
      <p:sp>
        <p:nvSpPr>
          <p:cNvPr id="52233" name="Rectangle 9">
            <a:extLst>
              <a:ext uri="{FF2B5EF4-FFF2-40B4-BE49-F238E27FC236}">
                <a16:creationId xmlns:a16="http://schemas.microsoft.com/office/drawing/2014/main" id="{D1FC49A2-88E1-49C3-AA49-A9FD8DD7F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3328988"/>
            <a:ext cx="4464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波函数在  </a:t>
            </a:r>
            <a:r>
              <a:rPr lang="en-US" altLang="zh-CN" i="1">
                <a:solidFill>
                  <a:srgbClr val="66FFFF"/>
                </a:solidFill>
              </a:rPr>
              <a:t>x</a:t>
            </a:r>
            <a:r>
              <a:rPr lang="en-US" altLang="zh-CN">
                <a:solidFill>
                  <a:srgbClr val="66FFFF"/>
                </a:solidFill>
              </a:rPr>
              <a:t> = 0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，</a:t>
            </a:r>
            <a:r>
              <a:rPr lang="en-US" altLang="zh-CN" i="1">
                <a:solidFill>
                  <a:srgbClr val="66FFFF"/>
                </a:solidFill>
              </a:rPr>
              <a:t>x</a:t>
            </a:r>
            <a:r>
              <a:rPr lang="en-US" altLang="zh-CN">
                <a:solidFill>
                  <a:srgbClr val="66FFFF"/>
                </a:solidFill>
              </a:rPr>
              <a:t> = </a:t>
            </a:r>
            <a:r>
              <a:rPr lang="en-US" altLang="zh-CN" i="1">
                <a:solidFill>
                  <a:srgbClr val="66FFFF"/>
                </a:solidFill>
              </a:rPr>
              <a:t>a  </a:t>
            </a:r>
            <a:r>
              <a:rPr lang="zh-CN" altLang="en-US">
                <a:solidFill>
                  <a:schemeClr val="bg1"/>
                </a:solidFill>
              </a:rPr>
              <a:t>处连续</a:t>
            </a:r>
          </a:p>
        </p:txBody>
      </p:sp>
      <p:sp>
        <p:nvSpPr>
          <p:cNvPr id="52234" name="Text Box 10">
            <a:extLst>
              <a:ext uri="{FF2B5EF4-FFF2-40B4-BE49-F238E27FC236}">
                <a16:creationId xmlns:a16="http://schemas.microsoft.com/office/drawing/2014/main" id="{8AEB6425-5EAB-4BB5-8311-DE4080836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138" y="2603500"/>
            <a:ext cx="1081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Ⅲ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区           </a:t>
            </a:r>
            <a:r>
              <a:rPr lang="zh-CN" altLang="en-US">
                <a:solidFill>
                  <a:schemeClr val="bg1"/>
                </a:solidFill>
              </a:rPr>
              <a:t>                               </a:t>
            </a:r>
          </a:p>
        </p:txBody>
      </p:sp>
      <p:sp>
        <p:nvSpPr>
          <p:cNvPr id="52235" name="Rectangle 11">
            <a:extLst>
              <a:ext uri="{FF2B5EF4-FFF2-40B4-BE49-F238E27FC236}">
                <a16:creationId xmlns:a16="http://schemas.microsoft.com/office/drawing/2014/main" id="{BBBDA573-CDFE-4ECB-9BE2-6EC6E301E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1149350"/>
            <a:ext cx="1081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Ⅰ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区                            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2236" name="Rectangle 12">
            <a:extLst>
              <a:ext uri="{FF2B5EF4-FFF2-40B4-BE49-F238E27FC236}">
                <a16:creationId xmlns:a16="http://schemas.microsoft.com/office/drawing/2014/main" id="{7524F94B-D1CE-4E46-8BCD-453DA8B0E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8" y="1857375"/>
            <a:ext cx="12969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Ⅱ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区                           </a:t>
            </a:r>
            <a:r>
              <a:rPr lang="zh-CN" altLang="en-US">
                <a:solidFill>
                  <a:schemeClr val="bg1"/>
                </a:solidFill>
              </a:rPr>
              <a:t>         </a:t>
            </a:r>
          </a:p>
        </p:txBody>
      </p:sp>
      <p:graphicFrame>
        <p:nvGraphicFramePr>
          <p:cNvPr id="52237" name="Object 6">
            <a:extLst>
              <a:ext uri="{FF2B5EF4-FFF2-40B4-BE49-F238E27FC236}">
                <a16:creationId xmlns:a16="http://schemas.microsoft.com/office/drawing/2014/main" id="{509C9833-B35E-48B6-91EB-54FD579D90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1143000"/>
          <a:ext cx="31718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726" name="公式" r:id="rId11" imgW="3781800" imgH="480960" progId="">
                  <p:embed/>
                </p:oleObj>
              </mc:Choice>
              <mc:Fallback>
                <p:oleObj name="公式" r:id="rId11" imgW="3781800" imgH="480960" progId="">
                  <p:embed/>
                  <p:pic>
                    <p:nvPicPr>
                      <p:cNvPr id="52237" name="Object 6">
                        <a:extLst>
                          <a:ext uri="{FF2B5EF4-FFF2-40B4-BE49-F238E27FC236}">
                            <a16:creationId xmlns:a16="http://schemas.microsoft.com/office/drawing/2014/main" id="{509C9833-B35E-48B6-91EB-54FD579D90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143000"/>
                        <a:ext cx="3171825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8" name="Object 7">
            <a:extLst>
              <a:ext uri="{FF2B5EF4-FFF2-40B4-BE49-F238E27FC236}">
                <a16:creationId xmlns:a16="http://schemas.microsoft.com/office/drawing/2014/main" id="{22507C52-EF20-4603-9F3E-7B0AA9A27A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0225" y="2590800"/>
          <a:ext cx="3248025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727" name="公式" r:id="rId13" imgW="3873960" imgH="489960" progId="">
                  <p:embed/>
                </p:oleObj>
              </mc:Choice>
              <mc:Fallback>
                <p:oleObj name="公式" r:id="rId13" imgW="3873960" imgH="489960" progId="">
                  <p:embed/>
                  <p:pic>
                    <p:nvPicPr>
                      <p:cNvPr id="52238" name="Object 7">
                        <a:extLst>
                          <a:ext uri="{FF2B5EF4-FFF2-40B4-BE49-F238E27FC236}">
                            <a16:creationId xmlns:a16="http://schemas.microsoft.com/office/drawing/2014/main" id="{22507C52-EF20-4603-9F3E-7B0AA9A27A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225" y="2590800"/>
                        <a:ext cx="3248025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9" name="Object 8">
            <a:extLst>
              <a:ext uri="{FF2B5EF4-FFF2-40B4-BE49-F238E27FC236}">
                <a16:creationId xmlns:a16="http://schemas.microsoft.com/office/drawing/2014/main" id="{4CD356D0-DF8B-456B-9B3C-5AB360D0EF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0225" y="1857375"/>
          <a:ext cx="3348038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728" name="公式" r:id="rId15" imgW="4003200" imgH="480960" progId="">
                  <p:embed/>
                </p:oleObj>
              </mc:Choice>
              <mc:Fallback>
                <p:oleObj name="公式" r:id="rId15" imgW="4003200" imgH="480960" progId="">
                  <p:embed/>
                  <p:pic>
                    <p:nvPicPr>
                      <p:cNvPr id="52239" name="Object 8">
                        <a:extLst>
                          <a:ext uri="{FF2B5EF4-FFF2-40B4-BE49-F238E27FC236}">
                            <a16:creationId xmlns:a16="http://schemas.microsoft.com/office/drawing/2014/main" id="{4CD356D0-DF8B-456B-9B3C-5AB360D0EF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225" y="1857375"/>
                        <a:ext cx="3348038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0" name="Rectangle 16">
            <a:extLst>
              <a:ext uri="{FF2B5EF4-FFF2-40B4-BE49-F238E27FC236}">
                <a16:creationId xmlns:a16="http://schemas.microsoft.com/office/drawing/2014/main" id="{F2993344-3167-4724-8DD7-E55DD560E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041775"/>
            <a:ext cx="1576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66FFFF"/>
                </a:solidFill>
              </a:rPr>
              <a:t>x</a:t>
            </a:r>
            <a:r>
              <a:rPr lang="en-US" altLang="zh-CN">
                <a:solidFill>
                  <a:srgbClr val="66FFFF"/>
                </a:solidFill>
              </a:rPr>
              <a:t> = 0  </a:t>
            </a:r>
            <a:r>
              <a:rPr lang="zh-CN" altLang="en-US">
                <a:solidFill>
                  <a:schemeClr val="bg1"/>
                </a:solidFill>
              </a:rPr>
              <a:t>处：</a:t>
            </a:r>
          </a:p>
        </p:txBody>
      </p:sp>
      <p:sp>
        <p:nvSpPr>
          <p:cNvPr id="52241" name="Rectangle 17">
            <a:extLst>
              <a:ext uri="{FF2B5EF4-FFF2-40B4-BE49-F238E27FC236}">
                <a16:creationId xmlns:a16="http://schemas.microsoft.com/office/drawing/2014/main" id="{DAE16497-2EAB-4495-9CA5-BD3BB6652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843463"/>
            <a:ext cx="1576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66FFFF"/>
                </a:solidFill>
              </a:rPr>
              <a:t>x</a:t>
            </a:r>
            <a:r>
              <a:rPr lang="en-US" altLang="zh-CN">
                <a:solidFill>
                  <a:srgbClr val="66FFFF"/>
                </a:solidFill>
              </a:rPr>
              <a:t> = </a:t>
            </a:r>
            <a:r>
              <a:rPr lang="en-US" altLang="zh-CN" i="1">
                <a:solidFill>
                  <a:srgbClr val="66FFFF"/>
                </a:solidFill>
              </a:rPr>
              <a:t>a  </a:t>
            </a:r>
            <a:r>
              <a:rPr lang="zh-CN" altLang="en-US">
                <a:solidFill>
                  <a:schemeClr val="bg1"/>
                </a:solidFill>
              </a:rPr>
              <a:t>处：</a:t>
            </a:r>
          </a:p>
        </p:txBody>
      </p:sp>
      <p:graphicFrame>
        <p:nvGraphicFramePr>
          <p:cNvPr id="52242" name="Object 9">
            <a:extLst>
              <a:ext uri="{FF2B5EF4-FFF2-40B4-BE49-F238E27FC236}">
                <a16:creationId xmlns:a16="http://schemas.microsoft.com/office/drawing/2014/main" id="{759692F5-2DCF-44C9-ADE7-DA66FCCFD504}"/>
              </a:ext>
            </a:extLst>
          </p:cNvPr>
          <p:cNvGraphicFramePr>
            <a:graphicFrameLocks/>
          </p:cNvGraphicFramePr>
          <p:nvPr/>
        </p:nvGraphicFramePr>
        <p:xfrm>
          <a:off x="2551113" y="5994400"/>
          <a:ext cx="21240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729" name="公式" r:id="rId17" imgW="2647440" imgH="480960" progId="">
                  <p:embed/>
                </p:oleObj>
              </mc:Choice>
              <mc:Fallback>
                <p:oleObj name="公式" r:id="rId17" imgW="2647440" imgH="480960" progId="">
                  <p:embed/>
                  <p:pic>
                    <p:nvPicPr>
                      <p:cNvPr id="52242" name="Object 9">
                        <a:extLst>
                          <a:ext uri="{FF2B5EF4-FFF2-40B4-BE49-F238E27FC236}">
                            <a16:creationId xmlns:a16="http://schemas.microsoft.com/office/drawing/2014/main" id="{759692F5-2DCF-44C9-ADE7-DA66FCCFD50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113" y="5994400"/>
                        <a:ext cx="21240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3" name="Object 10">
            <a:extLst>
              <a:ext uri="{FF2B5EF4-FFF2-40B4-BE49-F238E27FC236}">
                <a16:creationId xmlns:a16="http://schemas.microsoft.com/office/drawing/2014/main" id="{3B1CCA59-52AF-4B0A-9AF6-823643BBB220}"/>
              </a:ext>
            </a:extLst>
          </p:cNvPr>
          <p:cNvGraphicFramePr>
            <a:graphicFrameLocks/>
          </p:cNvGraphicFramePr>
          <p:nvPr/>
        </p:nvGraphicFramePr>
        <p:xfrm>
          <a:off x="6461125" y="5994400"/>
          <a:ext cx="21336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730" name="公式" r:id="rId19" imgW="2665800" imgH="489960" progId="Equation.3">
                  <p:embed/>
                </p:oleObj>
              </mc:Choice>
              <mc:Fallback>
                <p:oleObj name="公式" r:id="rId19" imgW="2665800" imgH="489960" progId="Equation.3">
                  <p:embed/>
                  <p:pic>
                    <p:nvPicPr>
                      <p:cNvPr id="52243" name="Object 10">
                        <a:extLst>
                          <a:ext uri="{FF2B5EF4-FFF2-40B4-BE49-F238E27FC236}">
                            <a16:creationId xmlns:a16="http://schemas.microsoft.com/office/drawing/2014/main" id="{3B1CCA59-52AF-4B0A-9AF6-823643BBB22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25" y="5994400"/>
                        <a:ext cx="21336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2244" name="Picture 20" descr="隧道效应1">
            <a:extLst>
              <a:ext uri="{FF2B5EF4-FFF2-40B4-BE49-F238E27FC236}">
                <a16:creationId xmlns:a16="http://schemas.microsoft.com/office/drawing/2014/main" id="{E5447555-A3E0-4936-9E2B-A4CB02B08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975" y="1873250"/>
            <a:ext cx="3200400" cy="162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29" name="Rectangle 21">
            <a:extLst>
              <a:ext uri="{FF2B5EF4-FFF2-40B4-BE49-F238E27FC236}">
                <a16:creationId xmlns:a16="http://schemas.microsoft.com/office/drawing/2014/main" id="{F2DAFC84-8CDA-47EC-B6A2-27C1CE4D9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75" y="1519238"/>
            <a:ext cx="762000" cy="1981200"/>
          </a:xfrm>
          <a:prstGeom prst="rect">
            <a:avLst/>
          </a:prstGeom>
          <a:solidFill>
            <a:srgbClr val="000099">
              <a:alpha val="39999"/>
            </a:srgbClr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3030" name="Line 22">
            <a:extLst>
              <a:ext uri="{FF2B5EF4-FFF2-40B4-BE49-F238E27FC236}">
                <a16:creationId xmlns:a16="http://schemas.microsoft.com/office/drawing/2014/main" id="{B5EC9819-3847-4D94-915B-B0CBAEA516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49850" y="3500438"/>
            <a:ext cx="3489325" cy="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31" name="Line 23">
            <a:extLst>
              <a:ext uri="{FF2B5EF4-FFF2-40B4-BE49-F238E27FC236}">
                <a16:creationId xmlns:a16="http://schemas.microsoft.com/office/drawing/2014/main" id="{B7EC92D9-1FBE-48CD-B56E-06BB1C0574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29375" y="981075"/>
            <a:ext cx="0" cy="2519363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32" name="Text Box 24">
            <a:extLst>
              <a:ext uri="{FF2B5EF4-FFF2-40B4-BE49-F238E27FC236}">
                <a16:creationId xmlns:a16="http://schemas.microsoft.com/office/drawing/2014/main" id="{49021A27-FD35-465A-9D15-9F1D407E0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9350" y="3429000"/>
            <a:ext cx="2771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1"/>
                </a:solidFill>
              </a:rPr>
              <a:t>0</a:t>
            </a:r>
            <a:r>
              <a:rPr lang="en-US" altLang="zh-CN">
                <a:solidFill>
                  <a:schemeClr val="bg1"/>
                </a:solidFill>
              </a:rPr>
              <a:t>         </a:t>
            </a:r>
            <a:r>
              <a:rPr lang="en-US" altLang="zh-CN" i="1">
                <a:solidFill>
                  <a:schemeClr val="bg1"/>
                </a:solidFill>
              </a:rPr>
              <a:t>a                x  </a:t>
            </a:r>
          </a:p>
        </p:txBody>
      </p:sp>
      <p:sp>
        <p:nvSpPr>
          <p:cNvPr id="43033" name="Text Box 25">
            <a:extLst>
              <a:ext uri="{FF2B5EF4-FFF2-40B4-BE49-F238E27FC236}">
                <a16:creationId xmlns:a16="http://schemas.microsoft.com/office/drawing/2014/main" id="{41BE441A-A9B3-4E6B-90FD-CDE116FA9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2475" y="1114425"/>
            <a:ext cx="506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chemeClr val="bg1"/>
                </a:solidFill>
              </a:rPr>
              <a:t>U</a:t>
            </a:r>
            <a:r>
              <a:rPr lang="en-US" altLang="zh-CN" baseline="-20000">
                <a:solidFill>
                  <a:schemeClr val="bg1"/>
                </a:solidFill>
              </a:rPr>
              <a:t>0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43034" name="Text Box 26">
            <a:extLst>
              <a:ext uri="{FF2B5EF4-FFF2-40B4-BE49-F238E27FC236}">
                <a16:creationId xmlns:a16="http://schemas.microsoft.com/office/drawing/2014/main" id="{96F29B6F-A91A-4078-A89C-BBB9D61E4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5450" y="1471613"/>
            <a:ext cx="3025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Ⅰ     Ⅱ     Ⅲ</a:t>
            </a:r>
          </a:p>
        </p:txBody>
      </p:sp>
      <p:sp>
        <p:nvSpPr>
          <p:cNvPr id="43035" name="Line 27">
            <a:extLst>
              <a:ext uri="{FF2B5EF4-FFF2-40B4-BE49-F238E27FC236}">
                <a16:creationId xmlns:a16="http://schemas.microsoft.com/office/drawing/2014/main" id="{E4DA5DF1-21E6-4FCD-922B-A9D71ACFA2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86375" y="2724150"/>
            <a:ext cx="3352800" cy="0"/>
          </a:xfrm>
          <a:prstGeom prst="line">
            <a:avLst/>
          </a:prstGeom>
          <a:noFill/>
          <a:ln w="63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36" name="Rectangle 28">
            <a:extLst>
              <a:ext uri="{FF2B5EF4-FFF2-40B4-BE49-F238E27FC236}">
                <a16:creationId xmlns:a16="http://schemas.microsoft.com/office/drawing/2014/main" id="{B2AA0E60-FEB4-4AAD-9822-D9BE2BA5B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0175" y="236378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FF99"/>
                </a:solidFill>
              </a:rPr>
              <a:t>E</a:t>
            </a:r>
          </a:p>
        </p:txBody>
      </p:sp>
      <p:sp>
        <p:nvSpPr>
          <p:cNvPr id="52253" name="Line 29">
            <a:extLst>
              <a:ext uri="{FF2B5EF4-FFF2-40B4-BE49-F238E27FC236}">
                <a16:creationId xmlns:a16="http://schemas.microsoft.com/office/drawing/2014/main" id="{D863F14C-F5A1-4A27-8603-2356F041B2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0850" y="2286000"/>
            <a:ext cx="838200" cy="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30">
            <a:extLst>
              <a:ext uri="{FF2B5EF4-FFF2-40B4-BE49-F238E27FC236}">
                <a16:creationId xmlns:a16="http://schemas.microsoft.com/office/drawing/2014/main" id="{B62AB98A-CAEA-48F6-94DC-CC39EC4592D4}"/>
              </a:ext>
            </a:extLst>
          </p:cNvPr>
          <p:cNvGrpSpPr>
            <a:grpSpLocks/>
          </p:cNvGrpSpPr>
          <p:nvPr/>
        </p:nvGrpSpPr>
        <p:grpSpPr bwMode="auto">
          <a:xfrm>
            <a:off x="5454650" y="2286000"/>
            <a:ext cx="2743200" cy="457200"/>
            <a:chOff x="3552" y="1152"/>
            <a:chExt cx="1728" cy="288"/>
          </a:xfrm>
        </p:grpSpPr>
        <p:sp>
          <p:nvSpPr>
            <p:cNvPr id="43043" name="Line 31">
              <a:extLst>
                <a:ext uri="{FF2B5EF4-FFF2-40B4-BE49-F238E27FC236}">
                  <a16:creationId xmlns:a16="http://schemas.microsoft.com/office/drawing/2014/main" id="{789EBECD-AD07-4A69-997E-B655CDCA64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152"/>
              <a:ext cx="52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4" name="Line 32">
              <a:extLst>
                <a:ext uri="{FF2B5EF4-FFF2-40B4-BE49-F238E27FC236}">
                  <a16:creationId xmlns:a16="http://schemas.microsoft.com/office/drawing/2014/main" id="{7C886DF8-B7D3-4D8C-B198-588D0752AB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440"/>
              <a:ext cx="52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57" name="Text Box 33">
            <a:extLst>
              <a:ext uri="{FF2B5EF4-FFF2-40B4-BE49-F238E27FC236}">
                <a16:creationId xmlns:a16="http://schemas.microsoft.com/office/drawing/2014/main" id="{1BF3B34F-363E-4ACA-8491-8C5F9F8BF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66725"/>
            <a:ext cx="3746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</a:rPr>
              <a:t>三个区域的波函数：</a:t>
            </a:r>
          </a:p>
        </p:txBody>
      </p:sp>
      <p:sp>
        <p:nvSpPr>
          <p:cNvPr id="52258" name="Rectangle 34">
            <a:extLst>
              <a:ext uri="{FF2B5EF4-FFF2-40B4-BE49-F238E27FC236}">
                <a16:creationId xmlns:a16="http://schemas.microsoft.com/office/drawing/2014/main" id="{031F8CAE-63C3-4849-B344-B354C14D4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2038" y="2992438"/>
            <a:ext cx="957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00FFFF"/>
                </a:solidFill>
              </a:rPr>
              <a:t>B</a:t>
            </a:r>
            <a:r>
              <a:rPr lang="en-US" altLang="zh-CN" baseline="-22000">
                <a:solidFill>
                  <a:srgbClr val="00FFFF"/>
                </a:solidFill>
              </a:rPr>
              <a:t>3 </a:t>
            </a:r>
            <a:r>
              <a:rPr lang="en-US" altLang="zh-CN" i="1">
                <a:solidFill>
                  <a:srgbClr val="00FFFF"/>
                </a:solidFill>
              </a:rPr>
              <a:t>= </a:t>
            </a:r>
            <a:r>
              <a:rPr lang="en-US" altLang="zh-CN">
                <a:solidFill>
                  <a:srgbClr val="00FFFF"/>
                </a:solidFill>
              </a:rPr>
              <a:t>0</a:t>
            </a:r>
          </a:p>
        </p:txBody>
      </p:sp>
      <p:sp>
        <p:nvSpPr>
          <p:cNvPr id="52260" name="Text Box 36">
            <a:extLst>
              <a:ext uri="{FF2B5EF4-FFF2-40B4-BE49-F238E27FC236}">
                <a16:creationId xmlns:a16="http://schemas.microsoft.com/office/drawing/2014/main" id="{07FFB5E1-1903-4893-8570-EBABD6E8B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395288"/>
            <a:ext cx="4071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FFFF00"/>
                </a:solidFill>
              </a:rPr>
              <a:t>A</a:t>
            </a:r>
            <a:r>
              <a:rPr lang="en-US" altLang="zh-CN" baseline="-25000">
                <a:solidFill>
                  <a:srgbClr val="FFFF00"/>
                </a:solidFill>
              </a:rPr>
              <a:t>1</a:t>
            </a:r>
            <a:r>
              <a:rPr lang="zh-CN" altLang="en-US">
                <a:solidFill>
                  <a:srgbClr val="FFFF00"/>
                </a:solidFill>
              </a:rPr>
              <a:t>，</a:t>
            </a:r>
            <a:r>
              <a:rPr lang="en-US" altLang="zh-CN">
                <a:solidFill>
                  <a:srgbClr val="FFFF00"/>
                </a:solidFill>
              </a:rPr>
              <a:t>A</a:t>
            </a:r>
            <a:r>
              <a:rPr lang="en-US" altLang="zh-CN" baseline="-25000">
                <a:solidFill>
                  <a:srgbClr val="FFFF00"/>
                </a:solidFill>
              </a:rPr>
              <a:t>2</a:t>
            </a:r>
            <a:r>
              <a:rPr lang="zh-CN" altLang="en-US">
                <a:solidFill>
                  <a:srgbClr val="FFFF00"/>
                </a:solidFill>
              </a:rPr>
              <a:t>，</a:t>
            </a:r>
            <a:r>
              <a:rPr lang="en-US" altLang="zh-CN">
                <a:solidFill>
                  <a:srgbClr val="FFFF00"/>
                </a:solidFill>
              </a:rPr>
              <a:t>B</a:t>
            </a:r>
            <a:r>
              <a:rPr lang="en-US" altLang="zh-CN" baseline="-25000">
                <a:solidFill>
                  <a:srgbClr val="FFFF00"/>
                </a:solidFill>
              </a:rPr>
              <a:t>1</a:t>
            </a:r>
            <a:r>
              <a:rPr lang="zh-CN" altLang="en-US">
                <a:solidFill>
                  <a:srgbClr val="FFFF00"/>
                </a:solidFill>
              </a:rPr>
              <a:t>，</a:t>
            </a:r>
            <a:r>
              <a:rPr lang="en-US" altLang="zh-CN">
                <a:solidFill>
                  <a:srgbClr val="FFFF00"/>
                </a:solidFill>
              </a:rPr>
              <a:t>B</a:t>
            </a:r>
            <a:r>
              <a:rPr lang="en-US" altLang="zh-CN" baseline="-25000">
                <a:solidFill>
                  <a:srgbClr val="FFFF00"/>
                </a:solidFill>
              </a:rPr>
              <a:t>2</a:t>
            </a:r>
            <a:r>
              <a:rPr lang="zh-CN" altLang="en-US">
                <a:solidFill>
                  <a:srgbClr val="FFFF00"/>
                </a:solidFill>
              </a:rPr>
              <a:t>和</a:t>
            </a:r>
            <a:r>
              <a:rPr lang="en-US" altLang="zh-CN">
                <a:solidFill>
                  <a:srgbClr val="FFFF00"/>
                </a:solidFill>
              </a:rPr>
              <a:t>A</a:t>
            </a:r>
            <a:r>
              <a:rPr lang="en-US" altLang="zh-CN" baseline="-25000">
                <a:solidFill>
                  <a:srgbClr val="FFFF00"/>
                </a:solidFill>
              </a:rPr>
              <a:t>3</a:t>
            </a:r>
            <a:r>
              <a:rPr lang="zh-CN" altLang="en-US">
                <a:solidFill>
                  <a:srgbClr val="FFFF00"/>
                </a:solidFill>
              </a:rPr>
              <a:t>的意义</a:t>
            </a:r>
          </a:p>
        </p:txBody>
      </p:sp>
      <p:sp>
        <p:nvSpPr>
          <p:cNvPr id="43042" name="灯片编号占位符 1">
            <a:extLst>
              <a:ext uri="{FF2B5EF4-FFF2-40B4-BE49-F238E27FC236}">
                <a16:creationId xmlns:a16="http://schemas.microsoft.com/office/drawing/2014/main" id="{5EB7AD92-76BE-4313-8546-B8FF95495B0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471B081-2125-4979-8F56-8887217B7BD7}" type="slidenum">
              <a:rPr lang="en-US" altLang="zh-CN" b="0">
                <a:solidFill>
                  <a:srgbClr val="FF00FF"/>
                </a:solidFill>
              </a:rPr>
              <a:pPr eaLnBrk="1" hangingPunct="1"/>
              <a:t>12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52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2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2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5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5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5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5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2" grpId="0"/>
      <p:bldP spid="52233" grpId="0" autoUpdateAnimBg="0"/>
      <p:bldP spid="52234" grpId="0"/>
      <p:bldP spid="52235" grpId="0"/>
      <p:bldP spid="52236" grpId="0"/>
      <p:bldP spid="52240" grpId="0"/>
      <p:bldP spid="52241" grpId="0"/>
      <p:bldP spid="52257" grpId="0"/>
      <p:bldP spid="52258" grpId="0"/>
      <p:bldP spid="5226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21D70B9A-2C02-4AB1-ABA6-1B625FCB9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2875" y="1768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7D246E6C-75CE-45BB-9541-D7C192A97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2875" y="1768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C761097-2600-4BA7-B25C-5540D82A4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31775"/>
            <a:ext cx="496252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求解得反射系数</a:t>
            </a:r>
            <a:r>
              <a:rPr lang="en-US" altLang="zh-CN" i="1">
                <a:solidFill>
                  <a:srgbClr val="FFFF00"/>
                </a:solidFill>
                <a:latin typeface="宋体" panose="02010600030101010101" pitchFamily="2" charset="-122"/>
                <a:ea typeface="仿宋_GB2312" pitchFamily="49" charset="-122"/>
              </a:rPr>
              <a:t>R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和透射系数</a:t>
            </a:r>
            <a:r>
              <a:rPr lang="en-US" altLang="zh-CN" i="1">
                <a:solidFill>
                  <a:srgbClr val="FFFF00"/>
                </a:solidFill>
                <a:latin typeface="宋体" panose="02010600030101010101" pitchFamily="2" charset="-122"/>
                <a:ea typeface="仿宋_GB2312" pitchFamily="49" charset="-122"/>
              </a:rPr>
              <a:t>T</a:t>
            </a:r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5369EDE1-C506-41D7-96EC-DCA58DAAF1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938" y="857250"/>
          <a:ext cx="4217987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698" name="公式" r:id="rId3" imgW="2324520" imgH="436320" progId="Equation.3">
                  <p:embed/>
                </p:oleObj>
              </mc:Choice>
              <mc:Fallback>
                <p:oleObj name="公式" r:id="rId3" imgW="2324520" imgH="436320" progId="Equation.3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5369EDE1-C506-41D7-96EC-DCA58DAAF1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857250"/>
                        <a:ext cx="4217987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3DBD6F33-5421-4023-9A8A-E3F84FF22C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938" y="1897063"/>
          <a:ext cx="4217987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699" name="公式" r:id="rId5" imgW="2324520" imgH="436320" progId="Equation.3">
                  <p:embed/>
                </p:oleObj>
              </mc:Choice>
              <mc:Fallback>
                <p:oleObj name="公式" r:id="rId5" imgW="2324520" imgH="436320" progId="Equation.3">
                  <p:embed/>
                  <p:pic>
                    <p:nvPicPr>
                      <p:cNvPr id="8" name="Object 3">
                        <a:extLst>
                          <a:ext uri="{FF2B5EF4-FFF2-40B4-BE49-F238E27FC236}">
                            <a16:creationId xmlns:a16="http://schemas.microsoft.com/office/drawing/2014/main" id="{3DBD6F33-5421-4023-9A8A-E3F84FF22C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1897063"/>
                        <a:ext cx="4217987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>
            <a:extLst>
              <a:ext uri="{FF2B5EF4-FFF2-40B4-BE49-F238E27FC236}">
                <a16:creationId xmlns:a16="http://schemas.microsoft.com/office/drawing/2014/main" id="{5D5C58CD-7BDA-4EEA-B1C5-2E0C72B3D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3429000"/>
            <a:ext cx="824865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入射粒子一部分透射到达</a:t>
            </a:r>
            <a:r>
              <a:rPr lang="en-US" altLang="zh-CN" dirty="0">
                <a:solidFill>
                  <a:srgbClr val="00FFFF"/>
                </a:solidFill>
                <a:ea typeface="仿宋_GB2312" pitchFamily="49" charset="-122"/>
              </a:rPr>
              <a:t>III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区，另一部分被势垒反射回</a:t>
            </a:r>
            <a:r>
              <a:rPr lang="en-US" altLang="zh-CN" dirty="0">
                <a:solidFill>
                  <a:srgbClr val="00FFFF"/>
                </a:solidFill>
                <a:ea typeface="仿宋_GB2312" pitchFamily="49" charset="-122"/>
              </a:rPr>
              <a:t>I</a:t>
            </a:r>
            <a:r>
              <a:rPr lang="en-US" altLang="zh-CN" i="1" dirty="0">
                <a:solidFill>
                  <a:schemeClr val="bg1"/>
                </a:solidFill>
                <a:ea typeface="仿宋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区 </a:t>
            </a:r>
          </a:p>
        </p:txBody>
      </p:sp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AEF6D4F9-666C-4C97-A78A-3F9F6EAFC64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189163" y="2996952"/>
          <a:ext cx="14478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700" r:id="rId7" imgW="618120" imgH="88920" progId="Equation.3">
                  <p:embed/>
                </p:oleObj>
              </mc:Choice>
              <mc:Fallback>
                <p:oleObj r:id="rId7" imgW="618120" imgH="88920" progId="Equation.3">
                  <p:embed/>
                  <p:pic>
                    <p:nvPicPr>
                      <p:cNvPr id="10" name="Object 4">
                        <a:extLst>
                          <a:ext uri="{FF2B5EF4-FFF2-40B4-BE49-F238E27FC236}">
                            <a16:creationId xmlns:a16="http://schemas.microsoft.com/office/drawing/2014/main" id="{AEF6D4F9-666C-4C97-A78A-3F9F6EAFC6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63" y="2996952"/>
                        <a:ext cx="1447800" cy="390525"/>
                      </a:xfrm>
                      <a:prstGeom prst="rect">
                        <a:avLst/>
                      </a:prstGeom>
                      <a:solidFill>
                        <a:srgbClr val="33333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9">
            <a:extLst>
              <a:ext uri="{FF2B5EF4-FFF2-40B4-BE49-F238E27FC236}">
                <a16:creationId xmlns:a16="http://schemas.microsoft.com/office/drawing/2014/main" id="{BEB73D64-83B5-4294-ABDE-8683A99EC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4000500"/>
            <a:ext cx="1006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讨论</a:t>
            </a: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4040B203-21EF-42F0-9381-D90FAE961304}"/>
              </a:ext>
            </a:extLst>
          </p:cNvPr>
          <p:cNvGrpSpPr>
            <a:grpSpLocks/>
          </p:cNvGrpSpPr>
          <p:nvPr/>
        </p:nvGrpSpPr>
        <p:grpSpPr bwMode="auto">
          <a:xfrm>
            <a:off x="5000625" y="357188"/>
            <a:ext cx="3810000" cy="3062287"/>
            <a:chOff x="3360" y="201"/>
            <a:chExt cx="2400" cy="1929"/>
          </a:xfrm>
        </p:grpSpPr>
        <p:sp>
          <p:nvSpPr>
            <p:cNvPr id="44047" name="Rectangle 13">
              <a:extLst>
                <a:ext uri="{FF2B5EF4-FFF2-40B4-BE49-F238E27FC236}">
                  <a16:creationId xmlns:a16="http://schemas.microsoft.com/office/drawing/2014/main" id="{9D61495F-2FEF-4C8D-8E54-370B62771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6" y="642"/>
              <a:ext cx="480" cy="1248"/>
            </a:xfrm>
            <a:prstGeom prst="rect">
              <a:avLst/>
            </a:prstGeom>
            <a:solidFill>
              <a:srgbClr val="000099">
                <a:alpha val="50195"/>
              </a:srgbClr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4048" name="Line 14">
              <a:extLst>
                <a:ext uri="{FF2B5EF4-FFF2-40B4-BE49-F238E27FC236}">
                  <a16:creationId xmlns:a16="http://schemas.microsoft.com/office/drawing/2014/main" id="{9AE84281-8E7C-40E7-8B96-13CDD57B2C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6" y="201"/>
              <a:ext cx="0" cy="1689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9" name="Text Box 15">
              <a:extLst>
                <a:ext uri="{FF2B5EF4-FFF2-40B4-BE49-F238E27FC236}">
                  <a16:creationId xmlns:a16="http://schemas.microsoft.com/office/drawing/2014/main" id="{A8E0469D-549D-4170-BBC5-B0A9E6B8A5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0" y="1842"/>
              <a:ext cx="16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bg1"/>
                  </a:solidFill>
                </a:rPr>
                <a:t>0 </a:t>
              </a:r>
              <a:r>
                <a:rPr lang="en-US" altLang="zh-CN" i="1">
                  <a:solidFill>
                    <a:schemeClr val="bg1"/>
                  </a:solidFill>
                </a:rPr>
                <a:t>        a                x</a:t>
              </a:r>
            </a:p>
          </p:txBody>
        </p:sp>
        <p:sp>
          <p:nvSpPr>
            <p:cNvPr id="44050" name="Text Box 16">
              <a:extLst>
                <a:ext uri="{FF2B5EF4-FFF2-40B4-BE49-F238E27FC236}">
                  <a16:creationId xmlns:a16="http://schemas.microsoft.com/office/drawing/2014/main" id="{6F6D18E5-FB2C-40DC-80AC-394BBD5915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1" y="471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U</a:t>
              </a:r>
              <a:r>
                <a:rPr lang="en-US" altLang="zh-CN" baseline="-20000">
                  <a:solidFill>
                    <a:schemeClr val="bg1"/>
                  </a:solidFill>
                </a:rPr>
                <a:t>0</a:t>
              </a:r>
              <a:endParaRPr lang="en-US" altLang="zh-CN">
                <a:solidFill>
                  <a:schemeClr val="bg1"/>
                </a:solidFill>
              </a:endParaRPr>
            </a:p>
          </p:txBody>
        </p:sp>
        <p:sp>
          <p:nvSpPr>
            <p:cNvPr id="44051" name="Text Box 17">
              <a:extLst>
                <a:ext uri="{FF2B5EF4-FFF2-40B4-BE49-F238E27FC236}">
                  <a16:creationId xmlns:a16="http://schemas.microsoft.com/office/drawing/2014/main" id="{3B1E7ED2-2C6F-4C68-8CE9-977F3DBEB0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4" y="690"/>
              <a:ext cx="22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chemeClr val="bg1"/>
                  </a:solidFill>
                  <a:ea typeface="楷体_GB2312" pitchFamily="49" charset="-122"/>
                </a:rPr>
                <a:t>Ⅰ            Ⅱ            Ⅲ</a:t>
              </a:r>
            </a:p>
          </p:txBody>
        </p:sp>
        <p:sp>
          <p:nvSpPr>
            <p:cNvPr id="44052" name="Line 18">
              <a:extLst>
                <a:ext uri="{FF2B5EF4-FFF2-40B4-BE49-F238E27FC236}">
                  <a16:creationId xmlns:a16="http://schemas.microsoft.com/office/drawing/2014/main" id="{D29B8420-E359-4B96-975F-93FFFB205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6" y="1310"/>
              <a:ext cx="2112" cy="0"/>
            </a:xfrm>
            <a:prstGeom prst="line">
              <a:avLst/>
            </a:prstGeom>
            <a:noFill/>
            <a:ln w="63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3" name="Line 19">
              <a:extLst>
                <a:ext uri="{FF2B5EF4-FFF2-40B4-BE49-F238E27FC236}">
                  <a16:creationId xmlns:a16="http://schemas.microsoft.com/office/drawing/2014/main" id="{4DB79718-B527-4F0E-88DE-CCB7112899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1101"/>
              <a:ext cx="528" cy="0"/>
            </a:xfrm>
            <a:prstGeom prst="line">
              <a:avLst/>
            </a:prstGeom>
            <a:noFill/>
            <a:ln w="762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4" name="Line 20">
              <a:extLst>
                <a:ext uri="{FF2B5EF4-FFF2-40B4-BE49-F238E27FC236}">
                  <a16:creationId xmlns:a16="http://schemas.microsoft.com/office/drawing/2014/main" id="{07661134-4B16-4A4A-A79C-8016EAAE1E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1101"/>
              <a:ext cx="52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5" name="Line 21">
              <a:extLst>
                <a:ext uri="{FF2B5EF4-FFF2-40B4-BE49-F238E27FC236}">
                  <a16:creationId xmlns:a16="http://schemas.microsoft.com/office/drawing/2014/main" id="{D9F498A9-4CBC-4019-AD97-7D3E0706C7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497"/>
              <a:ext cx="52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6" name="Rectangle 22">
              <a:extLst>
                <a:ext uri="{FF2B5EF4-FFF2-40B4-BE49-F238E27FC236}">
                  <a16:creationId xmlns:a16="http://schemas.microsoft.com/office/drawing/2014/main" id="{89DC5D84-A701-4986-8F2B-4EAD271DB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8" y="1083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99"/>
                  </a:solidFill>
                </a:rPr>
                <a:t>E</a:t>
              </a:r>
            </a:p>
          </p:txBody>
        </p:sp>
        <p:sp>
          <p:nvSpPr>
            <p:cNvPr id="44057" name="Line 23">
              <a:extLst>
                <a:ext uri="{FF2B5EF4-FFF2-40B4-BE49-F238E27FC236}">
                  <a16:creationId xmlns:a16="http://schemas.microsoft.com/office/drawing/2014/main" id="{7B42668C-DF62-40B2-9F93-1C2202BBD6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1890"/>
              <a:ext cx="2198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" name="AutoShape 24">
            <a:extLst>
              <a:ext uri="{FF2B5EF4-FFF2-40B4-BE49-F238E27FC236}">
                <a16:creationId xmlns:a16="http://schemas.microsoft.com/office/drawing/2014/main" id="{FE14CD85-1AD2-48F5-B22B-F31B11F32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75" y="3929063"/>
            <a:ext cx="360363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1" name="Rectangle 13">
            <a:extLst>
              <a:ext uri="{FF2B5EF4-FFF2-40B4-BE49-F238E27FC236}">
                <a16:creationId xmlns:a16="http://schemas.microsoft.com/office/drawing/2014/main" id="{581678B5-289E-4E79-A779-A7E4333DE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4429125"/>
            <a:ext cx="8382000" cy="10064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dirty="0">
                <a:solidFill>
                  <a:schemeClr val="hlink"/>
                </a:solidFill>
              </a:rPr>
              <a:t>(1) </a:t>
            </a:r>
            <a:r>
              <a:rPr lang="en-US" altLang="zh-CN" i="1" dirty="0">
                <a:solidFill>
                  <a:srgbClr val="66FFFF"/>
                </a:solidFill>
              </a:rPr>
              <a:t>E</a:t>
            </a:r>
            <a:r>
              <a:rPr lang="en-US" altLang="zh-CN" dirty="0">
                <a:solidFill>
                  <a:srgbClr val="66FFFF"/>
                </a:solidFill>
              </a:rPr>
              <a:t> &gt; </a:t>
            </a:r>
            <a:r>
              <a:rPr lang="en-US" altLang="zh-CN" i="1" dirty="0">
                <a:solidFill>
                  <a:srgbClr val="66FFFF"/>
                </a:solidFill>
              </a:rPr>
              <a:t>U</a:t>
            </a:r>
            <a:r>
              <a:rPr lang="en-US" altLang="zh-CN" baseline="-20000" dirty="0">
                <a:solidFill>
                  <a:srgbClr val="66FFFF"/>
                </a:solidFill>
              </a:rPr>
              <a:t>0 </a:t>
            </a:r>
            <a:r>
              <a:rPr lang="en-US" altLang="zh-CN" dirty="0">
                <a:solidFill>
                  <a:srgbClr val="66FFFF"/>
                </a:solidFill>
              </a:rPr>
              <a:t>,</a:t>
            </a:r>
            <a:r>
              <a:rPr lang="en-US" altLang="zh-CN" baseline="-20000" dirty="0">
                <a:solidFill>
                  <a:srgbClr val="66FFFF"/>
                </a:solidFill>
              </a:rPr>
              <a:t>   </a:t>
            </a:r>
            <a:r>
              <a:rPr lang="en-US" altLang="zh-CN" i="1" dirty="0">
                <a:solidFill>
                  <a:srgbClr val="66FFFF"/>
                </a:solidFill>
              </a:rPr>
              <a:t>R</a:t>
            </a:r>
            <a:r>
              <a:rPr lang="en-US" altLang="zh-CN" dirty="0">
                <a:solidFill>
                  <a:srgbClr val="66FFFF"/>
                </a:solidFill>
              </a:rPr>
              <a:t>≠0 </a:t>
            </a:r>
            <a:r>
              <a:rPr lang="en-US" altLang="zh-CN" dirty="0">
                <a:solidFill>
                  <a:srgbClr val="66FFFF"/>
                </a:solidFill>
                <a:sym typeface="Wingdings" panose="05000000000000000000" pitchFamily="2" charset="2"/>
              </a:rPr>
              <a:t> </a:t>
            </a:r>
            <a:r>
              <a:rPr lang="zh-CN" altLang="en-US" dirty="0">
                <a:solidFill>
                  <a:schemeClr val="hlink"/>
                </a:solidFill>
              </a:rPr>
              <a:t>即使粒子总能量大于势垒高度，入射粒子并非全部透射进入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rgbClr val="00FFFF"/>
                </a:solidFill>
              </a:rPr>
              <a:t>III</a:t>
            </a:r>
            <a:r>
              <a:rPr lang="en-US" altLang="zh-CN" i="1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hlink"/>
                </a:solidFill>
              </a:rPr>
              <a:t>区，仍有一定概率被反射回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rgbClr val="00FFFF"/>
                </a:solidFill>
              </a:rPr>
              <a:t>I</a:t>
            </a:r>
            <a:r>
              <a:rPr lang="en-US" altLang="zh-CN" i="1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hlink"/>
                </a:solidFill>
              </a:rPr>
              <a:t>区。</a:t>
            </a:r>
            <a:r>
              <a:rPr lang="zh-CN" altLang="en-US" dirty="0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32" name="Rectangle 14">
            <a:extLst>
              <a:ext uri="{FF2B5EF4-FFF2-40B4-BE49-F238E27FC236}">
                <a16:creationId xmlns:a16="http://schemas.microsoft.com/office/drawing/2014/main" id="{62D74F97-6C2B-4A1E-9238-1F9CA0A73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5500688"/>
            <a:ext cx="8247063" cy="1006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en-US" altLang="zh-CN" dirty="0">
                <a:solidFill>
                  <a:schemeClr val="hlink"/>
                </a:solidFill>
              </a:rPr>
              <a:t>(2) </a:t>
            </a:r>
            <a:r>
              <a:rPr lang="en-US" altLang="zh-CN" i="1" dirty="0">
                <a:solidFill>
                  <a:srgbClr val="66FFFF"/>
                </a:solidFill>
              </a:rPr>
              <a:t>E </a:t>
            </a:r>
            <a:r>
              <a:rPr lang="en-US" altLang="zh-CN" dirty="0">
                <a:solidFill>
                  <a:srgbClr val="66FFFF"/>
                </a:solidFill>
              </a:rPr>
              <a:t>&lt; </a:t>
            </a:r>
            <a:r>
              <a:rPr lang="en-US" altLang="zh-CN" i="1" dirty="0">
                <a:solidFill>
                  <a:srgbClr val="66FFFF"/>
                </a:solidFill>
              </a:rPr>
              <a:t>U</a:t>
            </a:r>
            <a:r>
              <a:rPr lang="en-US" altLang="zh-CN" baseline="-20000" dirty="0">
                <a:solidFill>
                  <a:srgbClr val="66FFFF"/>
                </a:solidFill>
              </a:rPr>
              <a:t>0</a:t>
            </a:r>
            <a:r>
              <a:rPr lang="en-US" altLang="zh-CN" i="1" baseline="-20000" dirty="0">
                <a:solidFill>
                  <a:srgbClr val="66FFFF"/>
                </a:solidFill>
              </a:rPr>
              <a:t> </a:t>
            </a:r>
            <a:r>
              <a:rPr lang="en-US" altLang="zh-CN" dirty="0">
                <a:solidFill>
                  <a:srgbClr val="66FFFF"/>
                </a:solidFill>
              </a:rPr>
              <a:t>,</a:t>
            </a:r>
            <a:r>
              <a:rPr lang="en-US" altLang="zh-CN" i="1" baseline="-20000" dirty="0">
                <a:solidFill>
                  <a:srgbClr val="66FFFF"/>
                </a:solidFill>
              </a:rPr>
              <a:t> </a:t>
            </a:r>
            <a:r>
              <a:rPr lang="en-US" altLang="zh-CN" i="1" dirty="0">
                <a:solidFill>
                  <a:srgbClr val="66FFFF"/>
                </a:solidFill>
              </a:rPr>
              <a:t>T</a:t>
            </a:r>
            <a:r>
              <a:rPr lang="en-US" altLang="zh-CN" dirty="0">
                <a:solidFill>
                  <a:srgbClr val="66FFFF"/>
                </a:solidFill>
              </a:rPr>
              <a:t>≠0 </a:t>
            </a:r>
            <a:r>
              <a:rPr lang="en-US" altLang="zh-CN" dirty="0">
                <a:solidFill>
                  <a:srgbClr val="66FFFF"/>
                </a:solidFill>
                <a:sym typeface="Wingdings" panose="05000000000000000000" pitchFamily="2" charset="2"/>
              </a:rPr>
              <a:t> </a:t>
            </a:r>
            <a:r>
              <a:rPr lang="zh-CN" altLang="en-US" dirty="0">
                <a:solidFill>
                  <a:schemeClr val="hlink"/>
                </a:solidFill>
              </a:rPr>
              <a:t>虽然粒子总能量小于势垒高度，入射粒子仍有概率穿过势垒进入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rgbClr val="00FFFF"/>
                </a:solidFill>
              </a:rPr>
              <a:t>III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hlink"/>
                </a:solidFill>
              </a:rPr>
              <a:t>区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rgbClr val="00FFFF"/>
                </a:solidFill>
                <a:cs typeface="Times New Roman" panose="02020603050405020304" pitchFamily="18" charset="0"/>
              </a:rPr>
              <a:t>—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rgbClr val="FF99FF"/>
                </a:solidFill>
                <a:latin typeface="宋体" panose="02010600030101010101" pitchFamily="2" charset="-122"/>
              </a:rPr>
              <a:t>隧道效应</a:t>
            </a:r>
          </a:p>
        </p:txBody>
      </p:sp>
      <p:sp>
        <p:nvSpPr>
          <p:cNvPr id="44046" name="灯片编号占位符 1">
            <a:extLst>
              <a:ext uri="{FF2B5EF4-FFF2-40B4-BE49-F238E27FC236}">
                <a16:creationId xmlns:a16="http://schemas.microsoft.com/office/drawing/2014/main" id="{172EC690-2C62-403D-8BA8-CF951EFBBEB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B524CA9-D05C-44C0-AEB1-DE48666FCC00}" type="slidenum">
              <a:rPr lang="en-US" altLang="zh-CN" b="0">
                <a:solidFill>
                  <a:srgbClr val="FF00FF"/>
                </a:solidFill>
              </a:rPr>
              <a:pPr eaLnBrk="1" hangingPunct="1"/>
              <a:t>13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utoUpdateAnimBg="0"/>
      <p:bldP spid="11" grpId="0" autoUpdateAnimBg="0"/>
      <p:bldP spid="26" grpId="0" animBg="1"/>
      <p:bldP spid="31" grpId="0" autoUpdateAnimBg="0"/>
      <p:bldP spid="3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>
            <a:extLst>
              <a:ext uri="{FF2B5EF4-FFF2-40B4-BE49-F238E27FC236}">
                <a16:creationId xmlns:a16="http://schemas.microsoft.com/office/drawing/2014/main" id="{A0863CFE-E73D-48E8-BCDD-ECF17BA92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500063"/>
            <a:ext cx="8077200" cy="10064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hlink"/>
                </a:solidFill>
              </a:rPr>
              <a:t>(3)  </a:t>
            </a:r>
            <a:r>
              <a:rPr lang="zh-CN" altLang="en-US">
                <a:solidFill>
                  <a:schemeClr val="hlink"/>
                </a:solidFill>
              </a:rPr>
              <a:t>透射系数</a:t>
            </a:r>
            <a:r>
              <a:rPr lang="en-US" altLang="zh-CN" i="1">
                <a:solidFill>
                  <a:srgbClr val="66FFFF"/>
                </a:solidFill>
              </a:rPr>
              <a:t>T </a:t>
            </a:r>
            <a:r>
              <a:rPr lang="zh-CN" altLang="en-US">
                <a:solidFill>
                  <a:schemeClr val="hlink"/>
                </a:solidFill>
              </a:rPr>
              <a:t>随势垒宽度</a:t>
            </a:r>
            <a:r>
              <a:rPr lang="en-US" altLang="zh-CN" i="1">
                <a:solidFill>
                  <a:srgbClr val="66FFFF"/>
                </a:solidFill>
              </a:rPr>
              <a:t>a</a:t>
            </a:r>
            <a:r>
              <a:rPr lang="zh-CN" altLang="en-US">
                <a:solidFill>
                  <a:schemeClr val="hlink"/>
                </a:solidFill>
              </a:rPr>
              <a:t>、粒子质量</a:t>
            </a:r>
            <a:r>
              <a:rPr lang="en-US" altLang="zh-CN" i="1">
                <a:solidFill>
                  <a:srgbClr val="66FFFF"/>
                </a:solidFill>
              </a:rPr>
              <a:t>m </a:t>
            </a:r>
            <a:r>
              <a:rPr lang="zh-CN" altLang="en-US">
                <a:solidFill>
                  <a:schemeClr val="hlink"/>
                </a:solidFill>
              </a:rPr>
              <a:t>和能量差变化，  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hlink"/>
                </a:solidFill>
              </a:rPr>
              <a:t>   随着势垒的加宽、加高，透射系数减小。 </a:t>
            </a:r>
          </a:p>
        </p:txBody>
      </p:sp>
      <p:graphicFrame>
        <p:nvGraphicFramePr>
          <p:cNvPr id="15" name="Group 214">
            <a:extLst>
              <a:ext uri="{FF2B5EF4-FFF2-40B4-BE49-F238E27FC236}">
                <a16:creationId xmlns:a16="http://schemas.microsoft.com/office/drawing/2014/main" id="{04E3A8A6-D85A-4761-BDDD-8E3314B7F68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85925"/>
          <a:ext cx="7278688" cy="2243139"/>
        </p:xfrm>
        <a:graphic>
          <a:graphicData uri="http://schemas.openxmlformats.org/drawingml/2006/table">
            <a:tbl>
              <a:tblPr/>
              <a:tblGrid>
                <a:gridCol w="1400175">
                  <a:extLst>
                    <a:ext uri="{9D8B030D-6E8A-4147-A177-3AD203B41FA5}">
                      <a16:colId xmlns:a16="http://schemas.microsoft.com/office/drawing/2014/main" val="1844382181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967889363"/>
                    </a:ext>
                  </a:extLst>
                </a:gridCol>
                <a:gridCol w="1430338">
                  <a:extLst>
                    <a:ext uri="{9D8B030D-6E8A-4147-A177-3AD203B41FA5}">
                      <a16:colId xmlns:a16="http://schemas.microsoft.com/office/drawing/2014/main" val="4084442859"/>
                    </a:ext>
                  </a:extLst>
                </a:gridCol>
                <a:gridCol w="1512887">
                  <a:extLst>
                    <a:ext uri="{9D8B030D-6E8A-4147-A177-3AD203B41FA5}">
                      <a16:colId xmlns:a16="http://schemas.microsoft.com/office/drawing/2014/main" val="2150126505"/>
                    </a:ext>
                  </a:extLst>
                </a:gridCol>
                <a:gridCol w="1535113">
                  <a:extLst>
                    <a:ext uri="{9D8B030D-6E8A-4147-A177-3AD203B41FA5}">
                      <a16:colId xmlns:a16="http://schemas.microsoft.com/office/drawing/2014/main" val="1279175665"/>
                    </a:ext>
                  </a:extLst>
                </a:gridCol>
              </a:tblGrid>
              <a:tr h="7207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STZhongsong" panose="02010600040101010101" pitchFamily="2" charset="-122"/>
                        </a:rPr>
                        <a:t>粒子类型</a:t>
                      </a:r>
                    </a:p>
                  </a:txBody>
                  <a:tcPr marL="90000" marR="90000" marT="46810" marB="46810" anchor="ctr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STZhongsong" panose="02010600040101010101" pitchFamily="2" charset="-122"/>
                        </a:rPr>
                        <a:t>粒子能量</a:t>
                      </a:r>
                    </a:p>
                  </a:txBody>
                  <a:tcPr marL="90000" marR="90000" marT="46810" marB="46810" anchor="ctr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STZhongsong" panose="02010600040101010101" pitchFamily="2" charset="-122"/>
                        </a:rPr>
                        <a:t>势垒高度</a:t>
                      </a:r>
                    </a:p>
                  </a:txBody>
                  <a:tcPr marL="90000" marR="90000" marT="46810" marB="46810" anchor="ctr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STZhongsong" panose="02010600040101010101" pitchFamily="2" charset="-122"/>
                        </a:rPr>
                        <a:t>势垒宽度</a:t>
                      </a:r>
                    </a:p>
                  </a:txBody>
                  <a:tcPr marL="90000" marR="90000" marT="46810" marB="46810" anchor="ctr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STZhongsong" panose="02010600040101010101" pitchFamily="2" charset="-122"/>
                        </a:rPr>
                        <a:t>透射系数</a:t>
                      </a:r>
                    </a:p>
                  </a:txBody>
                  <a:tcPr marL="90000" marR="90000" marT="46810" marB="46810" anchor="ctr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523756"/>
                  </a:ext>
                </a:extLst>
              </a:tr>
              <a:tr h="50323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STZhongsong" panose="02010600040101010101" pitchFamily="2" charset="-122"/>
                        </a:rPr>
                        <a:t>电子</a:t>
                      </a:r>
                    </a:p>
                  </a:txBody>
                  <a:tcPr marL="90000" marR="90000" marT="46810" marB="46810" anchor="ctr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1eV</a:t>
                      </a:r>
                    </a:p>
                  </a:txBody>
                  <a:tcPr marL="90000" marR="90000" marT="46810" marB="46810" anchor="ctr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2eV</a:t>
                      </a:r>
                    </a:p>
                  </a:txBody>
                  <a:tcPr marL="90000" marR="90000" marT="46810" marB="46810" anchor="ctr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10" marB="46810" anchor="ctr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10" marB="46810" anchor="ctr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030991"/>
                  </a:ext>
                </a:extLst>
              </a:tr>
              <a:tr h="5064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1eV</a:t>
                      </a:r>
                    </a:p>
                  </a:txBody>
                  <a:tcPr marL="90000" marR="90000" marT="46810" marB="46810" anchor="ctr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2eV</a:t>
                      </a:r>
                    </a:p>
                  </a:txBody>
                  <a:tcPr marL="90000" marR="90000" marT="46810" marB="46810" anchor="ctr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10" marB="46810" anchor="ctr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10" marB="46810" anchor="ctr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403865"/>
                  </a:ext>
                </a:extLst>
              </a:tr>
              <a:tr h="512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STZhongsong" panose="02010600040101010101" pitchFamily="2" charset="-122"/>
                      </a:endParaRPr>
                    </a:p>
                  </a:txBody>
                  <a:tcPr marL="90000" marR="90000" marT="46810" marB="46810" anchor="ctr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1eV</a:t>
                      </a:r>
                    </a:p>
                  </a:txBody>
                  <a:tcPr marL="90000" marR="90000" marT="46810" marB="46810" anchor="ctr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2eV</a:t>
                      </a:r>
                    </a:p>
                  </a:txBody>
                  <a:tcPr marL="90000" marR="90000" marT="46810" marB="46810" anchor="ctr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2×10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-10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</a:p>
                  </a:txBody>
                  <a:tcPr marL="90000" marR="90000" marT="46810" marB="46810" anchor="ctr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10" marB="46810" anchor="ctr" horzOverflow="overflow">
                    <a:lnL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705670"/>
                  </a:ext>
                </a:extLst>
              </a:tr>
            </a:tbl>
          </a:graphicData>
        </a:graphic>
      </p:graphicFrame>
      <p:sp>
        <p:nvSpPr>
          <p:cNvPr id="16" name="Rectangle 38">
            <a:extLst>
              <a:ext uri="{FF2B5EF4-FFF2-40B4-BE49-F238E27FC236}">
                <a16:creationId xmlns:a16="http://schemas.microsoft.com/office/drawing/2014/main" id="{BAA40A9D-A059-47C6-A254-0D7349152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2435225"/>
            <a:ext cx="1471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3300"/>
                </a:solidFill>
              </a:rPr>
              <a:t>5×10</a:t>
            </a:r>
            <a:r>
              <a:rPr lang="en-US" altLang="zh-CN" baseline="30000">
                <a:solidFill>
                  <a:srgbClr val="FF3300"/>
                </a:solidFill>
              </a:rPr>
              <a:t>-10</a:t>
            </a:r>
            <a:r>
              <a:rPr lang="en-US" altLang="zh-CN">
                <a:solidFill>
                  <a:srgbClr val="FF3300"/>
                </a:solidFill>
              </a:rPr>
              <a:t>m</a:t>
            </a:r>
          </a:p>
        </p:txBody>
      </p:sp>
      <p:sp>
        <p:nvSpPr>
          <p:cNvPr id="17" name="Rectangle 39">
            <a:extLst>
              <a:ext uri="{FF2B5EF4-FFF2-40B4-BE49-F238E27FC236}">
                <a16:creationId xmlns:a16="http://schemas.microsoft.com/office/drawing/2014/main" id="{6EBEA3C7-C8F2-4F0F-95A4-5848B782C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2435225"/>
            <a:ext cx="86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3300"/>
                </a:solidFill>
              </a:rPr>
              <a:t>0.024</a:t>
            </a:r>
          </a:p>
        </p:txBody>
      </p:sp>
      <p:sp>
        <p:nvSpPr>
          <p:cNvPr id="18" name="Rectangle 40">
            <a:extLst>
              <a:ext uri="{FF2B5EF4-FFF2-40B4-BE49-F238E27FC236}">
                <a16:creationId xmlns:a16="http://schemas.microsoft.com/office/drawing/2014/main" id="{DA33FEF5-946E-44BF-A1DD-39A0F3B67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2981325"/>
            <a:ext cx="1471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3300"/>
                </a:solidFill>
              </a:rPr>
              <a:t>2×10</a:t>
            </a:r>
            <a:r>
              <a:rPr lang="en-US" altLang="zh-CN" baseline="30000">
                <a:solidFill>
                  <a:srgbClr val="FF3300"/>
                </a:solidFill>
              </a:rPr>
              <a:t>-10</a:t>
            </a:r>
            <a:r>
              <a:rPr lang="en-US" altLang="zh-CN">
                <a:solidFill>
                  <a:srgbClr val="FF3300"/>
                </a:solidFill>
              </a:rPr>
              <a:t>m</a:t>
            </a:r>
          </a:p>
        </p:txBody>
      </p:sp>
      <p:sp>
        <p:nvSpPr>
          <p:cNvPr id="19" name="Rectangle 41">
            <a:extLst>
              <a:ext uri="{FF2B5EF4-FFF2-40B4-BE49-F238E27FC236}">
                <a16:creationId xmlns:a16="http://schemas.microsoft.com/office/drawing/2014/main" id="{AA08FDF7-FC9A-48EF-B6B8-503EFC594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2981325"/>
            <a:ext cx="717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3300"/>
                </a:solidFill>
              </a:rPr>
              <a:t>0.51</a:t>
            </a:r>
          </a:p>
        </p:txBody>
      </p:sp>
      <p:sp>
        <p:nvSpPr>
          <p:cNvPr id="20" name="Rectangle 42">
            <a:extLst>
              <a:ext uri="{FF2B5EF4-FFF2-40B4-BE49-F238E27FC236}">
                <a16:creationId xmlns:a16="http://schemas.microsoft.com/office/drawing/2014/main" id="{8BD7E58C-C4E5-4AC1-90B0-00534FCDC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200" y="3416300"/>
            <a:ext cx="1336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latin typeface="STZhongsong" panose="02010600040101010101" pitchFamily="2" charset="-122"/>
              </a:rPr>
              <a:t>质子</a:t>
            </a:r>
          </a:p>
        </p:txBody>
      </p:sp>
      <p:sp>
        <p:nvSpPr>
          <p:cNvPr id="21" name="Rectangle 43">
            <a:extLst>
              <a:ext uri="{FF2B5EF4-FFF2-40B4-BE49-F238E27FC236}">
                <a16:creationId xmlns:a16="http://schemas.microsoft.com/office/drawing/2014/main" id="{A41C7116-966A-4E93-B798-7F6EA5CFA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3416300"/>
            <a:ext cx="136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3300"/>
                </a:solidFill>
              </a:rPr>
              <a:t>3×10</a:t>
            </a:r>
            <a:r>
              <a:rPr lang="en-US" altLang="zh-CN" baseline="30000">
                <a:solidFill>
                  <a:srgbClr val="FF3300"/>
                </a:solidFill>
              </a:rPr>
              <a:t>-38</a:t>
            </a:r>
          </a:p>
        </p:txBody>
      </p:sp>
      <p:graphicFrame>
        <p:nvGraphicFramePr>
          <p:cNvPr id="45096" name="Object 2">
            <a:extLst>
              <a:ext uri="{FF2B5EF4-FFF2-40B4-BE49-F238E27FC236}">
                <a16:creationId xmlns:a16="http://schemas.microsoft.com/office/drawing/2014/main" id="{FE903587-AE9E-4F79-BEAA-AEF99C0467A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25879" y="5517232"/>
          <a:ext cx="4217988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714" name="公式" r:id="rId3" imgW="2324520" imgH="436320" progId="Equation.3">
                  <p:embed/>
                </p:oleObj>
              </mc:Choice>
              <mc:Fallback>
                <p:oleObj name="公式" r:id="rId3" imgW="2324520" imgH="436320" progId="Equation.3">
                  <p:embed/>
                  <p:pic>
                    <p:nvPicPr>
                      <p:cNvPr id="45096" name="Object 2">
                        <a:extLst>
                          <a:ext uri="{FF2B5EF4-FFF2-40B4-BE49-F238E27FC236}">
                            <a16:creationId xmlns:a16="http://schemas.microsoft.com/office/drawing/2014/main" id="{FE903587-AE9E-4F79-BEAA-AEF99C0467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879" y="5517232"/>
                        <a:ext cx="4217988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97" name="Object 3">
            <a:extLst>
              <a:ext uri="{FF2B5EF4-FFF2-40B4-BE49-F238E27FC236}">
                <a16:creationId xmlns:a16="http://schemas.microsoft.com/office/drawing/2014/main" id="{927CCB55-53FA-4830-BCC6-D466662A99C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68550" y="4219934"/>
          <a:ext cx="4217988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715" name="公式" r:id="rId5" imgW="2324520" imgH="436320" progId="Equation.3">
                  <p:embed/>
                </p:oleObj>
              </mc:Choice>
              <mc:Fallback>
                <p:oleObj name="公式" r:id="rId5" imgW="2324520" imgH="436320" progId="Equation.3">
                  <p:embed/>
                  <p:pic>
                    <p:nvPicPr>
                      <p:cNvPr id="45097" name="Object 3">
                        <a:extLst>
                          <a:ext uri="{FF2B5EF4-FFF2-40B4-BE49-F238E27FC236}">
                            <a16:creationId xmlns:a16="http://schemas.microsoft.com/office/drawing/2014/main" id="{927CCB55-53FA-4830-BCC6-D466662A99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8550" y="4219934"/>
                        <a:ext cx="4217988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98" name="灯片编号占位符 1">
            <a:extLst>
              <a:ext uri="{FF2B5EF4-FFF2-40B4-BE49-F238E27FC236}">
                <a16:creationId xmlns:a16="http://schemas.microsoft.com/office/drawing/2014/main" id="{B2E75BA4-EB9D-475C-A9BA-62C4D1C4408F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0B057BA-47F3-4369-8E81-6B37AE197F03}" type="slidenum">
              <a:rPr lang="en-US" altLang="zh-CN" b="0">
                <a:solidFill>
                  <a:srgbClr val="FF00FF"/>
                </a:solidFill>
              </a:rPr>
              <a:pPr eaLnBrk="1" hangingPunct="1"/>
              <a:t>14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8">
            <a:extLst>
              <a:ext uri="{FF2B5EF4-FFF2-40B4-BE49-F238E27FC236}">
                <a16:creationId xmlns:a16="http://schemas.microsoft.com/office/drawing/2014/main" id="{3769E0B3-D3F1-41CB-98BD-C0FF0DAC3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45592"/>
            <a:ext cx="5761037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66FFFF"/>
                </a:solidFill>
                <a:latin typeface="宋体" panose="02010600030101010101" pitchFamily="2" charset="-122"/>
              </a:rPr>
              <a:t>隧道效应（势垒贯穿）的应用</a:t>
            </a:r>
          </a:p>
        </p:txBody>
      </p:sp>
      <p:sp>
        <p:nvSpPr>
          <p:cNvPr id="3" name="Text Box 38">
            <a:extLst>
              <a:ext uri="{FF2B5EF4-FFF2-40B4-BE49-F238E27FC236}">
                <a16:creationId xmlns:a16="http://schemas.microsoft.com/office/drawing/2014/main" id="{0E94CBF9-11E4-4096-A6D8-F492BC69D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73" y="836712"/>
            <a:ext cx="8118475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  <a:latin typeface="宋体" panose="02010600030101010101" pitchFamily="2" charset="-122"/>
              </a:rPr>
              <a:t>扫描隧道显微镜 </a:t>
            </a:r>
            <a:r>
              <a:rPr lang="en-US" altLang="zh-CN" dirty="0">
                <a:solidFill>
                  <a:srgbClr val="FFFF00"/>
                </a:solidFill>
              </a:rPr>
              <a:t>Scanning Tunneling Microscope (STM)</a:t>
            </a:r>
            <a:endParaRPr lang="zh-CN" altLang="en-US" dirty="0">
              <a:solidFill>
                <a:srgbClr val="FFFF00"/>
              </a:solidFill>
            </a:endParaRPr>
          </a:p>
        </p:txBody>
      </p:sp>
      <p:pic>
        <p:nvPicPr>
          <p:cNvPr id="58372" name="Picture 2" descr="https://gss2.bdstatic.com/-fo3dSag_xI4khGkpoWK1HF6hhy/baike/c0%3Dbaike92%2C5%2C5%2C92%2C30/sign=52a404ab3e9b033b3885f48874a75db6/d0c8a786c9177f3ee187e5a27acf3bc79e3d56e9.jpg">
            <a:extLst>
              <a:ext uri="{FF2B5EF4-FFF2-40B4-BE49-F238E27FC236}">
                <a16:creationId xmlns:a16="http://schemas.microsoft.com/office/drawing/2014/main" id="{9C38156D-2F47-4BB4-B788-55FFD5767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513" y="1484784"/>
            <a:ext cx="5670550" cy="421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4" name="Picture 6" descr="https://timgsa.baidu.com/timg?image&amp;quality=80&amp;size=b9999_10000&amp;sec=1575437314753&amp;di=85a0dbe374f9cd0acc62be80e0c493c5&amp;imgtype=0&amp;src=http%3A%2F%2Fimgsrc.baidu.com%2Fbaike%2Fpic%2Fitem%2F5fdf8db1cb1349543a2fb0dc564e9258d1094a50.jpg">
            <a:extLst>
              <a:ext uri="{FF2B5EF4-FFF2-40B4-BE49-F238E27FC236}">
                <a16:creationId xmlns:a16="http://schemas.microsoft.com/office/drawing/2014/main" id="{7D05ACE8-347A-4038-9205-0CF8C8FAC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2564904"/>
            <a:ext cx="3894137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6" name="Picture 8" descr="https://timgsa.baidu.com/timg?image&amp;quality=80&amp;size=b9999_10000&amp;sec=1575437285265&amp;di=b2dc67bf65de5b1b74de4fd6d9fe4c47&amp;imgtype=0&amp;src=http%3A%2F%2F5b0988e595225.cdn.sohucs.com%2Fq_70%2Cc_zoom%2Cw_640%2Fimages%2F20180921%2Ff9c92ffdd9774a11b4be120ec3f925f8.jpeg">
            <a:extLst>
              <a:ext uri="{FF2B5EF4-FFF2-40B4-BE49-F238E27FC236}">
                <a16:creationId xmlns:a16="http://schemas.microsoft.com/office/drawing/2014/main" id="{FAC56ADA-6DDD-4EF8-807E-873F5924F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0" y="2564904"/>
            <a:ext cx="4405313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7" name="灯片编号占位符 1">
            <a:extLst>
              <a:ext uri="{FF2B5EF4-FFF2-40B4-BE49-F238E27FC236}">
                <a16:creationId xmlns:a16="http://schemas.microsoft.com/office/drawing/2014/main" id="{519F6B58-2B01-4014-9FB3-1DCE40B28E09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B7BA4CD-0FED-4A4E-BD38-1C8AC9C69361}" type="slidenum">
              <a:rPr lang="en-US" altLang="zh-CN" b="0">
                <a:solidFill>
                  <a:srgbClr val="FF00FF"/>
                </a:solidFill>
              </a:rPr>
              <a:pPr eaLnBrk="1" hangingPunct="1"/>
              <a:t>15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p:sp>
        <p:nvSpPr>
          <p:cNvPr id="8" name="Text Box 38">
            <a:extLst>
              <a:ext uri="{FF2B5EF4-FFF2-40B4-BE49-F238E27FC236}">
                <a16:creationId xmlns:a16="http://schemas.microsoft.com/office/drawing/2014/main" id="{413F7E60-A495-476B-8410-383DD3A8F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119" y="6197242"/>
            <a:ext cx="2596753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</a:rPr>
              <a:t>隧道针尖结构</a:t>
            </a:r>
          </a:p>
        </p:txBody>
      </p:sp>
      <p:sp>
        <p:nvSpPr>
          <p:cNvPr id="9" name="Text Box 38">
            <a:extLst>
              <a:ext uri="{FF2B5EF4-FFF2-40B4-BE49-F238E27FC236}">
                <a16:creationId xmlns:a16="http://schemas.microsoft.com/office/drawing/2014/main" id="{128DC0C8-4F67-4442-A670-A870AD6AF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5779" y="6212298"/>
            <a:ext cx="2596753" cy="4001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</a:rPr>
              <a:t>工作原理图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8">
            <a:extLst>
              <a:ext uri="{FF2B5EF4-FFF2-40B4-BE49-F238E27FC236}">
                <a16:creationId xmlns:a16="http://schemas.microsoft.com/office/drawing/2014/main" id="{D6604DC6-1DA5-4CA6-9F52-A78E0665E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338" y="214313"/>
            <a:ext cx="34036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FFFF00"/>
                </a:solidFill>
                <a:latin typeface="+mn-lt"/>
                <a:ea typeface="+mj-ea"/>
              </a:rPr>
              <a:t>STM</a:t>
            </a: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工作模式：</a:t>
            </a:r>
          </a:p>
        </p:txBody>
      </p:sp>
      <p:sp>
        <p:nvSpPr>
          <p:cNvPr id="3" name="Text Box 38">
            <a:extLst>
              <a:ext uri="{FF2B5EF4-FFF2-40B4-BE49-F238E27FC236}">
                <a16:creationId xmlns:a16="http://schemas.microsoft.com/office/drawing/2014/main" id="{4D083EEA-A24A-4D47-AF87-CDBE93D04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742950"/>
            <a:ext cx="800100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FFFF00"/>
                </a:solidFill>
              </a:rPr>
              <a:t>恒电流模式：</a:t>
            </a:r>
            <a:r>
              <a:rPr lang="zh-CN" altLang="en-US" sz="2000" dirty="0">
                <a:solidFill>
                  <a:schemeClr val="bg1"/>
                </a:solidFill>
              </a:rPr>
              <a:t>隧穿电流不变，针尖与样品表面间的局域高度不变；</a:t>
            </a:r>
          </a:p>
        </p:txBody>
      </p:sp>
      <p:pic>
        <p:nvPicPr>
          <p:cNvPr id="107522" name="Picture 2" descr="https://gss0.baidu.com/-fo3dSag_xI4khGko9WTAnF6hhy/zhidao/wh%3D600%2C800/sign=078a30dcc7177f3e1061f40b40ff17ff/a2cc7cd98d1001e9ef43b665b60e7bec54e79759.jpg">
            <a:extLst>
              <a:ext uri="{FF2B5EF4-FFF2-40B4-BE49-F238E27FC236}">
                <a16:creationId xmlns:a16="http://schemas.microsoft.com/office/drawing/2014/main" id="{13AD9B4D-F3C5-4850-BBC3-62821F7D9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1785938"/>
            <a:ext cx="6286500" cy="274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38">
            <a:extLst>
              <a:ext uri="{FF2B5EF4-FFF2-40B4-BE49-F238E27FC236}">
                <a16:creationId xmlns:a16="http://schemas.microsoft.com/office/drawing/2014/main" id="{E017F1A7-D353-4743-A591-3D367662E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1243013"/>
            <a:ext cx="8286750" cy="4000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FFFF00"/>
                </a:solidFill>
              </a:rPr>
              <a:t>恒高度模式：</a:t>
            </a:r>
            <a:r>
              <a:rPr lang="zh-CN" altLang="en-US" sz="2000" dirty="0">
                <a:solidFill>
                  <a:schemeClr val="bg1"/>
                </a:solidFill>
              </a:rPr>
              <a:t>针尖的绝对高度不变，隧穿电流大小反应样品表面信息。</a:t>
            </a:r>
          </a:p>
        </p:txBody>
      </p:sp>
      <p:pic>
        <p:nvPicPr>
          <p:cNvPr id="107523" name="Picture 3" descr="C:\Users\yzhang\Desktop\timg.jpg">
            <a:extLst>
              <a:ext uri="{FF2B5EF4-FFF2-40B4-BE49-F238E27FC236}">
                <a16:creationId xmlns:a16="http://schemas.microsoft.com/office/drawing/2014/main" id="{EE6BBDD6-E2AB-40ED-B64C-4124EAF54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946" y="4643438"/>
            <a:ext cx="30543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6">
            <a:extLst>
              <a:ext uri="{FF2B5EF4-FFF2-40B4-BE49-F238E27FC236}">
                <a16:creationId xmlns:a16="http://schemas.microsoft.com/office/drawing/2014/main" id="{2307E046-B0C7-4C09-96B5-722A7C80C9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8646" y="4643438"/>
            <a:ext cx="2047875" cy="2016125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分辨率：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水平 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</a:endParaRPr>
          </a:p>
          <a:p>
            <a:pPr eaLnBrk="1" hangingPunct="1">
              <a:defRPr/>
            </a:pP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</a:rPr>
              <a:t>   </a:t>
            </a:r>
            <a:r>
              <a:rPr lang="en-US" altLang="zh-CN" dirty="0">
                <a:solidFill>
                  <a:schemeClr val="bg1"/>
                </a:solidFill>
                <a:latin typeface="+mn-lt"/>
                <a:ea typeface="+mj-ea"/>
              </a:rPr>
              <a:t>&lt;0.1nm</a:t>
            </a:r>
          </a:p>
          <a:p>
            <a:pPr eaLnBrk="1" hangingPunct="1">
              <a:defRPr/>
            </a:pP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垂直 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</a:endParaRPr>
          </a:p>
          <a:p>
            <a:pPr eaLnBrk="1" hangingPunct="1">
              <a:defRPr/>
            </a:pP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</a:rPr>
              <a:t>   </a:t>
            </a:r>
            <a:r>
              <a:rPr lang="en-US" altLang="zh-CN" dirty="0">
                <a:solidFill>
                  <a:schemeClr val="bg1"/>
                </a:solidFill>
                <a:latin typeface="+mn-lt"/>
                <a:ea typeface="+mj-ea"/>
              </a:rPr>
              <a:t>&lt;0.001nm</a:t>
            </a:r>
            <a:endParaRPr lang="zh-CN" altLang="en-US" dirty="0">
              <a:solidFill>
                <a:schemeClr val="bg1"/>
              </a:solidFill>
              <a:latin typeface="+mn-lt"/>
              <a:ea typeface="+mj-ea"/>
            </a:endParaRPr>
          </a:p>
        </p:txBody>
      </p:sp>
      <p:sp>
        <p:nvSpPr>
          <p:cNvPr id="47113" name="灯片编号占位符 1">
            <a:extLst>
              <a:ext uri="{FF2B5EF4-FFF2-40B4-BE49-F238E27FC236}">
                <a16:creationId xmlns:a16="http://schemas.microsoft.com/office/drawing/2014/main" id="{5B29ACBD-4277-4BF2-A3A1-C9754017D48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F713D5B-4C73-49D1-B383-08F5A85E32D6}" type="slidenum">
              <a:rPr lang="en-US" altLang="zh-CN" b="0">
                <a:solidFill>
                  <a:srgbClr val="FF00FF"/>
                </a:solidFill>
              </a:rPr>
              <a:pPr eaLnBrk="1" hangingPunct="1"/>
              <a:t>16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7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5" name="Text Box 3">
            <a:extLst>
              <a:ext uri="{FF2B5EF4-FFF2-40B4-BE49-F238E27FC236}">
                <a16:creationId xmlns:a16="http://schemas.microsoft.com/office/drawing/2014/main" id="{E77E242B-B08C-4DA6-BEC7-B0A480CD5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3" y="933450"/>
            <a:ext cx="2819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59E2FD"/>
                </a:solidFill>
                <a:latin typeface="STZhongsong" panose="02010600040101010101" pitchFamily="2" charset="-122"/>
              </a:rPr>
              <a:t>1. </a:t>
            </a:r>
            <a:r>
              <a:rPr lang="zh-CN" altLang="en-US">
                <a:solidFill>
                  <a:srgbClr val="59E2FD"/>
                </a:solidFill>
                <a:latin typeface="宋体" panose="02010600030101010101" pitchFamily="2" charset="-122"/>
                <a:ea typeface="仿宋_GB2312" pitchFamily="49" charset="-122"/>
              </a:rPr>
              <a:t>势能函数</a:t>
            </a:r>
          </a:p>
        </p:txBody>
      </p:sp>
      <p:graphicFrame>
        <p:nvGraphicFramePr>
          <p:cNvPr id="156676" name="Object 2">
            <a:extLst>
              <a:ext uri="{FF2B5EF4-FFF2-40B4-BE49-F238E27FC236}">
                <a16:creationId xmlns:a16="http://schemas.microsoft.com/office/drawing/2014/main" id="{B640BB3E-3D4A-43F2-AD5E-E3BFA97996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804863"/>
          <a:ext cx="315912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62" r:id="rId3" imgW="1706400" imgH="285120" progId="Equation.3">
                  <p:embed/>
                </p:oleObj>
              </mc:Choice>
              <mc:Fallback>
                <p:oleObj r:id="rId3" imgW="1706400" imgH="285120" progId="Equation.3">
                  <p:embed/>
                  <p:pic>
                    <p:nvPicPr>
                      <p:cNvPr id="156676" name="Object 2">
                        <a:extLst>
                          <a:ext uri="{FF2B5EF4-FFF2-40B4-BE49-F238E27FC236}">
                            <a16:creationId xmlns:a16="http://schemas.microsoft.com/office/drawing/2014/main" id="{B640BB3E-3D4A-43F2-AD5E-E3BFA97996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804863"/>
                        <a:ext cx="315912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77" name="Text Box 5">
            <a:extLst>
              <a:ext uri="{FF2B5EF4-FFF2-40B4-BE49-F238E27FC236}">
                <a16:creationId xmlns:a16="http://schemas.microsoft.com/office/drawing/2014/main" id="{C5D1B1B1-99C4-47D2-A890-07C94E9B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538288"/>
            <a:ext cx="6143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66FFFF"/>
                </a:solidFill>
                <a:ea typeface="楷体_GB2312" pitchFamily="49" charset="-122"/>
              </a:rPr>
              <a:t>m </a:t>
            </a:r>
            <a:r>
              <a:rPr lang="en-US" altLang="zh-CN" i="1">
                <a:solidFill>
                  <a:schemeClr val="bg1"/>
                </a:solidFill>
                <a:latin typeface="宋体" panose="02010600030101010101" pitchFamily="2" charset="-122"/>
              </a:rPr>
              <a:t>—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振子质量，</a:t>
            </a:r>
            <a:r>
              <a:rPr lang="zh-CN" altLang="en-US" i="1">
                <a:solidFill>
                  <a:srgbClr val="66FFFF"/>
                </a:solidFill>
                <a:ea typeface="楷体_GB2312" pitchFamily="49" charset="-122"/>
                <a:sym typeface="Symbol" panose="05050102010706020507" pitchFamily="18" charset="2"/>
              </a:rPr>
              <a:t></a:t>
            </a:r>
            <a:r>
              <a:rPr lang="zh-CN" altLang="en-US" i="1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—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固有频率，</a:t>
            </a:r>
            <a:r>
              <a:rPr lang="en-US" altLang="zh-CN" i="1">
                <a:solidFill>
                  <a:srgbClr val="66FFFF"/>
                </a:solidFill>
                <a:ea typeface="楷体_GB2312" pitchFamily="49" charset="-122"/>
              </a:rPr>
              <a:t>x</a:t>
            </a:r>
            <a:r>
              <a:rPr lang="en-US" altLang="zh-CN" i="1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en-US" altLang="zh-CN" i="1">
                <a:solidFill>
                  <a:schemeClr val="bg1"/>
                </a:solidFill>
                <a:latin typeface="宋体" panose="02010600030101010101" pitchFamily="2" charset="-122"/>
              </a:rPr>
              <a:t>—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楷体_GB2312" pitchFamily="49" charset="-122"/>
              </a:rPr>
              <a:t>位移</a:t>
            </a:r>
          </a:p>
        </p:txBody>
      </p:sp>
      <p:sp>
        <p:nvSpPr>
          <p:cNvPr id="156678" name="Freeform 6">
            <a:extLst>
              <a:ext uri="{FF2B5EF4-FFF2-40B4-BE49-F238E27FC236}">
                <a16:creationId xmlns:a16="http://schemas.microsoft.com/office/drawing/2014/main" id="{9C0AAE4B-2CB0-4411-8784-08578892B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8600" y="947738"/>
            <a:ext cx="1646238" cy="1887537"/>
          </a:xfrm>
          <a:custGeom>
            <a:avLst/>
            <a:gdLst>
              <a:gd name="T0" fmla="*/ 0 w 1264"/>
              <a:gd name="T1" fmla="*/ 2 h 1449"/>
              <a:gd name="T2" fmla="*/ 633 w 1264"/>
              <a:gd name="T3" fmla="*/ 1449 h 1449"/>
              <a:gd name="T4" fmla="*/ 1264 w 1264"/>
              <a:gd name="T5" fmla="*/ 0 h 1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64" h="1449">
                <a:moveTo>
                  <a:pt x="0" y="2"/>
                </a:moveTo>
                <a:cubicBezTo>
                  <a:pt x="30" y="264"/>
                  <a:pt x="408" y="1449"/>
                  <a:pt x="633" y="1449"/>
                </a:cubicBezTo>
                <a:cubicBezTo>
                  <a:pt x="858" y="1449"/>
                  <a:pt x="1206" y="261"/>
                  <a:pt x="1264" y="0"/>
                </a:cubicBezTo>
              </a:path>
            </a:pathLst>
          </a:cu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156679" name="Line 7">
            <a:extLst>
              <a:ext uri="{FF2B5EF4-FFF2-40B4-BE49-F238E27FC236}">
                <a16:creationId xmlns:a16="http://schemas.microsoft.com/office/drawing/2014/main" id="{F0433F8C-4A71-4128-9A5B-64BFEECFB0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84913" y="1412875"/>
            <a:ext cx="2232025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580D5274-F53E-4AEA-8388-E59CAAD5375E}"/>
              </a:ext>
            </a:extLst>
          </p:cNvPr>
          <p:cNvGrpSpPr>
            <a:grpSpLocks/>
          </p:cNvGrpSpPr>
          <p:nvPr/>
        </p:nvGrpSpPr>
        <p:grpSpPr bwMode="auto">
          <a:xfrm>
            <a:off x="6367463" y="517525"/>
            <a:ext cx="2112962" cy="2336800"/>
            <a:chOff x="4111" y="326"/>
            <a:chExt cx="1331" cy="1472"/>
          </a:xfrm>
        </p:grpSpPr>
        <p:grpSp>
          <p:nvGrpSpPr>
            <p:cNvPr id="18439" name="Group 9">
              <a:extLst>
                <a:ext uri="{FF2B5EF4-FFF2-40B4-BE49-F238E27FC236}">
                  <a16:creationId xmlns:a16="http://schemas.microsoft.com/office/drawing/2014/main" id="{B399A1E7-7A93-4C92-A281-BCE73755FD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1" y="346"/>
              <a:ext cx="1303" cy="1452"/>
              <a:chOff x="3061" y="1389"/>
              <a:chExt cx="1588" cy="1769"/>
            </a:xfrm>
          </p:grpSpPr>
          <p:sp>
            <p:nvSpPr>
              <p:cNvPr id="18440" name="Line 10">
                <a:extLst>
                  <a:ext uri="{FF2B5EF4-FFF2-40B4-BE49-F238E27FC236}">
                    <a16:creationId xmlns:a16="http://schemas.microsoft.com/office/drawing/2014/main" id="{F6F376C9-5EB6-45FA-A119-F02EC696B5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1" y="3158"/>
                <a:ext cx="1588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41" name="Line 11">
                <a:extLst>
                  <a:ext uri="{FF2B5EF4-FFF2-40B4-BE49-F238E27FC236}">
                    <a16:creationId xmlns:a16="http://schemas.microsoft.com/office/drawing/2014/main" id="{1761E01D-7815-4312-82DB-98D4FB2B81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55" y="1389"/>
                <a:ext cx="0" cy="1769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8442" name="Object 3">
              <a:extLst>
                <a:ext uri="{FF2B5EF4-FFF2-40B4-BE49-F238E27FC236}">
                  <a16:creationId xmlns:a16="http://schemas.microsoft.com/office/drawing/2014/main" id="{E33CF559-1515-455E-BACA-78DF69C0E0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3" y="326"/>
            <a:ext cx="20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2763" r:id="rId5" imgW="83160" imgH="106920" progId="Equation.3">
                    <p:embed/>
                  </p:oleObj>
                </mc:Choice>
                <mc:Fallback>
                  <p:oleObj r:id="rId5" imgW="83160" imgH="106920" progId="Equation.3">
                    <p:embed/>
                    <p:pic>
                      <p:nvPicPr>
                        <p:cNvPr id="18442" name="Object 3">
                          <a:extLst>
                            <a:ext uri="{FF2B5EF4-FFF2-40B4-BE49-F238E27FC236}">
                              <a16:creationId xmlns:a16="http://schemas.microsoft.com/office/drawing/2014/main" id="{E33CF559-1515-455E-BACA-78DF69C0E0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326"/>
                          <a:ext cx="20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3" name="Object 4">
              <a:extLst>
                <a:ext uri="{FF2B5EF4-FFF2-40B4-BE49-F238E27FC236}">
                  <a16:creationId xmlns:a16="http://schemas.microsoft.com/office/drawing/2014/main" id="{B427EE2C-FC13-4DE9-BC75-7B49B3D244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74" y="1580"/>
            <a:ext cx="168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2764" r:id="rId7" imgW="46080" imgH="71280" progId="Equation.3">
                    <p:embed/>
                  </p:oleObj>
                </mc:Choice>
                <mc:Fallback>
                  <p:oleObj r:id="rId7" imgW="46080" imgH="71280" progId="Equation.3">
                    <p:embed/>
                    <p:pic>
                      <p:nvPicPr>
                        <p:cNvPr id="18443" name="Object 4">
                          <a:extLst>
                            <a:ext uri="{FF2B5EF4-FFF2-40B4-BE49-F238E27FC236}">
                              <a16:creationId xmlns:a16="http://schemas.microsoft.com/office/drawing/2014/main" id="{B427EE2C-FC13-4DE9-BC75-7B49B3D244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4" y="1580"/>
                          <a:ext cx="168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6686" name="Object 5">
            <a:extLst>
              <a:ext uri="{FF2B5EF4-FFF2-40B4-BE49-F238E27FC236}">
                <a16:creationId xmlns:a16="http://schemas.microsoft.com/office/drawing/2014/main" id="{D3F38651-8C8D-4452-847C-435FA5E068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24875" y="1212850"/>
          <a:ext cx="3175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65" r:id="rId9" imgW="83160" imgH="88920" progId="Equation.3">
                  <p:embed/>
                </p:oleObj>
              </mc:Choice>
              <mc:Fallback>
                <p:oleObj r:id="rId9" imgW="83160" imgH="88920" progId="Equation.3">
                  <p:embed/>
                  <p:pic>
                    <p:nvPicPr>
                      <p:cNvPr id="156686" name="Object 5">
                        <a:extLst>
                          <a:ext uri="{FF2B5EF4-FFF2-40B4-BE49-F238E27FC236}">
                            <a16:creationId xmlns:a16="http://schemas.microsoft.com/office/drawing/2014/main" id="{D3F38651-8C8D-4452-847C-435FA5E068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75" y="1212850"/>
                        <a:ext cx="3175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5" name="Text Box 38">
            <a:extLst>
              <a:ext uri="{FF2B5EF4-FFF2-40B4-BE49-F238E27FC236}">
                <a16:creationId xmlns:a16="http://schemas.microsoft.com/office/drawing/2014/main" id="{D3B6A11E-C274-4FE5-A9F1-752ED125C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" y="214313"/>
            <a:ext cx="5761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59E2FD"/>
                </a:solidFill>
                <a:latin typeface="宋体" panose="02010600030101010101" pitchFamily="2" charset="-122"/>
              </a:rPr>
              <a:t>扩展之例</a:t>
            </a:r>
            <a:r>
              <a:rPr lang="en-US" altLang="zh-CN" sz="2800" dirty="0">
                <a:solidFill>
                  <a:srgbClr val="59E2FD"/>
                </a:solidFill>
                <a:latin typeface="宋体" panose="02010600030101010101" pitchFamily="2" charset="-122"/>
              </a:rPr>
              <a:t>3. </a:t>
            </a:r>
            <a:r>
              <a:rPr lang="zh-CN" altLang="en-US" sz="2800" dirty="0">
                <a:solidFill>
                  <a:srgbClr val="59E2FD"/>
                </a:solidFill>
                <a:latin typeface="宋体" panose="02010600030101010101" pitchFamily="2" charset="-122"/>
              </a:rPr>
              <a:t>一维谐振子</a:t>
            </a:r>
          </a:p>
        </p:txBody>
      </p:sp>
      <p:sp>
        <p:nvSpPr>
          <p:cNvPr id="30" name="Text Box 2">
            <a:extLst>
              <a:ext uri="{FF2B5EF4-FFF2-40B4-BE49-F238E27FC236}">
                <a16:creationId xmlns:a16="http://schemas.microsoft.com/office/drawing/2014/main" id="{A381BC40-AB27-48ED-923C-E5BD1FDC0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276475"/>
            <a:ext cx="411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59E2FD"/>
                </a:solidFill>
                <a:latin typeface="STZhongsong" panose="02010600040101010101" pitchFamily="2" charset="-122"/>
              </a:rPr>
              <a:t>2. </a:t>
            </a:r>
            <a:r>
              <a:rPr lang="zh-CN" altLang="en-US">
                <a:solidFill>
                  <a:srgbClr val="59E2FD"/>
                </a:solidFill>
                <a:latin typeface="STZhongsong" panose="02010600040101010101" pitchFamily="2" charset="-122"/>
              </a:rPr>
              <a:t>定态薛定谔方程</a:t>
            </a:r>
          </a:p>
        </p:txBody>
      </p:sp>
      <p:sp>
        <p:nvSpPr>
          <p:cNvPr id="31" name="Text Box 3">
            <a:extLst>
              <a:ext uri="{FF2B5EF4-FFF2-40B4-BE49-F238E27FC236}">
                <a16:creationId xmlns:a16="http://schemas.microsoft.com/office/drawing/2014/main" id="{796054C1-111B-46DC-AD23-4152AF57E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70840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59E2FD"/>
                </a:solidFill>
                <a:latin typeface="STZhongsong" panose="02010600040101010101" pitchFamily="2" charset="-122"/>
              </a:rPr>
              <a:t>3. </a:t>
            </a:r>
            <a:r>
              <a:rPr lang="zh-CN" altLang="en-US">
                <a:solidFill>
                  <a:srgbClr val="59E2FD"/>
                </a:solidFill>
                <a:latin typeface="STZhongsong" panose="02010600040101010101" pitchFamily="2" charset="-122"/>
              </a:rPr>
              <a:t>能量量子化</a:t>
            </a:r>
          </a:p>
        </p:txBody>
      </p:sp>
      <p:graphicFrame>
        <p:nvGraphicFramePr>
          <p:cNvPr id="32" name="Object 14">
            <a:extLst>
              <a:ext uri="{FF2B5EF4-FFF2-40B4-BE49-F238E27FC236}">
                <a16:creationId xmlns:a16="http://schemas.microsoft.com/office/drawing/2014/main" id="{8B3BD8EF-FCD7-4D95-A71D-076C493DBC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6750" y="4241800"/>
          <a:ext cx="5156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66" r:id="rId11" imgW="5163840" imgH="679320" progId="Equation.3">
                  <p:embed/>
                </p:oleObj>
              </mc:Choice>
              <mc:Fallback>
                <p:oleObj r:id="rId11" imgW="5163840" imgH="679320" progId="Equation.3">
                  <p:embed/>
                  <p:pic>
                    <p:nvPicPr>
                      <p:cNvPr id="32" name="Object 14">
                        <a:extLst>
                          <a:ext uri="{FF2B5EF4-FFF2-40B4-BE49-F238E27FC236}">
                            <a16:creationId xmlns:a16="http://schemas.microsoft.com/office/drawing/2014/main" id="{8B3BD8EF-FCD7-4D95-A71D-076C493DBC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0" y="4241800"/>
                        <a:ext cx="5156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6">
            <a:extLst>
              <a:ext uri="{FF2B5EF4-FFF2-40B4-BE49-F238E27FC236}">
                <a16:creationId xmlns:a16="http://schemas.microsoft.com/office/drawing/2014/main" id="{A5FF92FC-0523-4926-BCCA-AA37CE366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97500"/>
            <a:ext cx="7696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hlink"/>
                </a:solidFill>
              </a:rPr>
              <a:t>普朗克量子化假设</a:t>
            </a:r>
            <a:r>
              <a:rPr lang="zh-CN" altLang="en-US" sz="2800" b="0">
                <a:solidFill>
                  <a:schemeClr val="bg1"/>
                </a:solidFill>
              </a:rPr>
              <a:t>              </a:t>
            </a:r>
            <a:r>
              <a:rPr lang="en-US" altLang="zh-CN" b="0" i="1">
                <a:solidFill>
                  <a:srgbClr val="66FFFF"/>
                </a:solidFill>
              </a:rPr>
              <a:t>E</a:t>
            </a:r>
            <a:r>
              <a:rPr lang="en-US" altLang="zh-CN" b="0" i="1" baseline="-20000">
                <a:solidFill>
                  <a:srgbClr val="66FFFF"/>
                </a:solidFill>
              </a:rPr>
              <a:t>n</a:t>
            </a:r>
            <a:r>
              <a:rPr lang="en-US" altLang="zh-CN" sz="2800" b="0" i="1">
                <a:solidFill>
                  <a:srgbClr val="66FFFF"/>
                </a:solidFill>
              </a:rPr>
              <a:t>=nhv               </a:t>
            </a:r>
            <a:r>
              <a:rPr lang="en-US" altLang="zh-CN" b="0" i="1">
                <a:solidFill>
                  <a:srgbClr val="66FFFF"/>
                </a:solidFill>
              </a:rPr>
              <a:t>E</a:t>
            </a:r>
            <a:r>
              <a:rPr lang="en-US" altLang="zh-CN" b="0" i="1" baseline="-20000">
                <a:solidFill>
                  <a:srgbClr val="66FFFF"/>
                </a:solidFill>
              </a:rPr>
              <a:t>0</a:t>
            </a:r>
            <a:r>
              <a:rPr lang="en-US" altLang="zh-CN" sz="2800" b="0" i="1">
                <a:solidFill>
                  <a:srgbClr val="66FFFF"/>
                </a:solidFill>
              </a:rPr>
              <a:t>= </a:t>
            </a:r>
            <a:r>
              <a:rPr lang="en-US" altLang="zh-CN" b="0">
                <a:solidFill>
                  <a:srgbClr val="66FFFF"/>
                </a:solidFill>
              </a:rPr>
              <a:t>0</a:t>
            </a:r>
          </a:p>
        </p:txBody>
      </p:sp>
      <p:sp>
        <p:nvSpPr>
          <p:cNvPr id="35" name="Text Box 7">
            <a:extLst>
              <a:ext uri="{FF2B5EF4-FFF2-40B4-BE49-F238E27FC236}">
                <a16:creationId xmlns:a16="http://schemas.microsoft.com/office/drawing/2014/main" id="{70B092AD-F2A0-4345-B178-1E54DC4C6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816475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FF00"/>
                </a:solidFill>
              </a:rPr>
              <a:t>说明</a:t>
            </a:r>
          </a:p>
        </p:txBody>
      </p:sp>
      <p:sp>
        <p:nvSpPr>
          <p:cNvPr id="36" name="Rectangle 8">
            <a:extLst>
              <a:ext uri="{FF2B5EF4-FFF2-40B4-BE49-F238E27FC236}">
                <a16:creationId xmlns:a16="http://schemas.microsoft.com/office/drawing/2014/main" id="{6F1ECBB5-7E97-438B-8231-97AFEE353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6021388"/>
            <a:ext cx="8077200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hlink"/>
                </a:solidFill>
              </a:rPr>
              <a:t>量子力学结果</a:t>
            </a:r>
            <a:r>
              <a:rPr lang="zh-CN" altLang="en-US">
                <a:solidFill>
                  <a:schemeClr val="bg1"/>
                </a:solidFill>
              </a:rPr>
              <a:t>                 </a:t>
            </a:r>
            <a:r>
              <a:rPr lang="en-US" altLang="zh-CN" b="0" i="1">
                <a:solidFill>
                  <a:srgbClr val="66FFFF"/>
                </a:solidFill>
              </a:rPr>
              <a:t>E</a:t>
            </a:r>
            <a:r>
              <a:rPr lang="en-US" altLang="zh-CN" b="0" i="1" baseline="-20000">
                <a:solidFill>
                  <a:srgbClr val="66FFFF"/>
                </a:solidFill>
              </a:rPr>
              <a:t>n</a:t>
            </a:r>
            <a:r>
              <a:rPr lang="en-US" altLang="zh-CN" sz="2800" b="0" i="1">
                <a:solidFill>
                  <a:srgbClr val="66FFFF"/>
                </a:solidFill>
              </a:rPr>
              <a:t>=</a:t>
            </a:r>
            <a:r>
              <a:rPr lang="en-US" altLang="zh-CN" b="0">
                <a:solidFill>
                  <a:srgbClr val="66FFFF"/>
                </a:solidFill>
              </a:rPr>
              <a:t>(</a:t>
            </a:r>
            <a:r>
              <a:rPr lang="en-US" altLang="zh-CN" sz="2800" b="0" i="1">
                <a:solidFill>
                  <a:srgbClr val="66FFFF"/>
                </a:solidFill>
              </a:rPr>
              <a:t>n</a:t>
            </a:r>
            <a:r>
              <a:rPr lang="en-US" altLang="zh-CN" b="0" i="1">
                <a:solidFill>
                  <a:srgbClr val="66FFFF"/>
                </a:solidFill>
              </a:rPr>
              <a:t>+</a:t>
            </a:r>
            <a:r>
              <a:rPr lang="en-US" altLang="zh-CN" b="0">
                <a:solidFill>
                  <a:srgbClr val="66FFFF"/>
                </a:solidFill>
              </a:rPr>
              <a:t>1/2</a:t>
            </a:r>
            <a:r>
              <a:rPr lang="en-US" altLang="zh-CN" sz="2800" b="0">
                <a:solidFill>
                  <a:srgbClr val="66FFFF"/>
                </a:solidFill>
              </a:rPr>
              <a:t>)</a:t>
            </a:r>
            <a:r>
              <a:rPr lang="en-US" altLang="zh-CN" sz="2800" b="0" i="1">
                <a:solidFill>
                  <a:srgbClr val="66FFFF"/>
                </a:solidFill>
              </a:rPr>
              <a:t>hv        </a:t>
            </a:r>
            <a:r>
              <a:rPr lang="en-US" altLang="zh-CN" b="0" i="1">
                <a:solidFill>
                  <a:srgbClr val="66FFFF"/>
                </a:solidFill>
              </a:rPr>
              <a:t>E</a:t>
            </a:r>
            <a:r>
              <a:rPr lang="en-US" altLang="zh-CN" b="0" i="1" baseline="-20000">
                <a:solidFill>
                  <a:srgbClr val="66FFFF"/>
                </a:solidFill>
              </a:rPr>
              <a:t>0</a:t>
            </a:r>
            <a:r>
              <a:rPr lang="en-US" altLang="zh-CN" sz="2800" b="0" i="1">
                <a:solidFill>
                  <a:srgbClr val="66FFFF"/>
                </a:solidFill>
              </a:rPr>
              <a:t>= hv/</a:t>
            </a:r>
            <a:r>
              <a:rPr lang="en-US" altLang="zh-CN" b="0">
                <a:solidFill>
                  <a:srgbClr val="66FFFF"/>
                </a:solidFill>
              </a:rPr>
              <a:t>2</a:t>
            </a:r>
            <a:r>
              <a:rPr lang="en-US" altLang="zh-CN">
                <a:solidFill>
                  <a:srgbClr val="66FFFF"/>
                </a:solidFill>
              </a:rPr>
              <a:t> </a:t>
            </a:r>
          </a:p>
        </p:txBody>
      </p:sp>
      <p:sp>
        <p:nvSpPr>
          <p:cNvPr id="37" name="AutoShape 9">
            <a:extLst>
              <a:ext uri="{FF2B5EF4-FFF2-40B4-BE49-F238E27FC236}">
                <a16:creationId xmlns:a16="http://schemas.microsoft.com/office/drawing/2014/main" id="{D4C91026-170D-4638-99F5-0EF8456EA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9075" y="5527675"/>
            <a:ext cx="1152525" cy="450850"/>
          </a:xfrm>
          <a:prstGeom prst="wedgeRoundRectCallout">
            <a:avLst>
              <a:gd name="adj1" fmla="val -69986"/>
              <a:gd name="adj2" fmla="val 90194"/>
              <a:gd name="adj3" fmla="val 16667"/>
            </a:avLst>
          </a:prstGeom>
          <a:solidFill>
            <a:srgbClr val="003366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zh-CN" altLang="en-US">
                <a:solidFill>
                  <a:schemeClr val="hlink"/>
                </a:solidFill>
                <a:latin typeface="STZhongsong" panose="02010600040101010101" pitchFamily="2" charset="-122"/>
              </a:rPr>
              <a:t>零点能</a:t>
            </a:r>
          </a:p>
        </p:txBody>
      </p:sp>
      <p:sp>
        <p:nvSpPr>
          <p:cNvPr id="38" name="AutoShape 10">
            <a:extLst>
              <a:ext uri="{FF2B5EF4-FFF2-40B4-BE49-F238E27FC236}">
                <a16:creationId xmlns:a16="http://schemas.microsoft.com/office/drawing/2014/main" id="{D309252A-3D89-4000-9014-38641367E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724400"/>
            <a:ext cx="360362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4" name="灯片编号占位符 1">
            <a:extLst>
              <a:ext uri="{FF2B5EF4-FFF2-40B4-BE49-F238E27FC236}">
                <a16:creationId xmlns:a16="http://schemas.microsoft.com/office/drawing/2014/main" id="{7DEC7F1A-21F8-4D7E-8648-566E68F26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F1FBFB48-5AF9-466C-AB04-3BE4AB288888}" type="slidenum">
              <a:rPr lang="en-US" altLang="zh-CN" b="0">
                <a:solidFill>
                  <a:srgbClr val="FF00FF"/>
                </a:solidFill>
              </a:rPr>
              <a:pPr/>
              <a:t>17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3">
                <a:extLst>
                  <a:ext uri="{FF2B5EF4-FFF2-40B4-BE49-F238E27FC236}">
                    <a16:creationId xmlns:a16="http://schemas.microsoft.com/office/drawing/2014/main" id="{71A78A44-841F-42CD-9FA0-EEEAD2C30E9F}"/>
                  </a:ext>
                </a:extLst>
              </p:cNvPr>
              <p:cNvSpPr txBox="1"/>
              <p:nvPr/>
            </p:nvSpPr>
            <p:spPr bwMode="auto">
              <a:xfrm>
                <a:off x="1259632" y="2823840"/>
                <a:ext cx="6351980" cy="1016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l-GR" altLang="zh-CN" sz="2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CN" sz="26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Φ</m:t>
                          </m:r>
                        </m:e>
                        <m:sup>
                          <m:r>
                            <a:rPr lang="en-US" altLang="zh-CN" sz="2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altLang="zh-CN" sz="2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sz="2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e>
                      </m:d>
                      <m:r>
                        <a:rPr lang="en-US" altLang="zh-CN" sz="2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f>
                        <m:fPr>
                          <m:ctrlPr>
                            <a:rPr lang="zh-CN" altLang="en-US" sz="26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en-US" altLang="zh-CN" sz="26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  <m:r>
                            <a:rPr lang="en-US" altLang="zh-CN" sz="26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6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6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sz="26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r>
                        <a:rPr lang="en-US" altLang="zh-CN" sz="2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𝐸</m:t>
                      </m:r>
                      <m:r>
                        <a:rPr lang="en-US" altLang="zh-CN" sz="2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f>
                        <m:fPr>
                          <m:ctrlPr>
                            <a:rPr lang="zh-CN" altLang="en-US" sz="26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en-US" altLang="zh-CN" sz="2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</m:den>
                      </m:f>
                      <m:r>
                        <a:rPr lang="en-US" altLang="zh-CN" sz="2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𝑚</m:t>
                      </m:r>
                      <m:sSup>
                        <m:sSupPr>
                          <m:ctrlPr>
                            <a:rPr lang="en-US" altLang="zh-CN" sz="26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a:rPr lang="zh-CN" altLang="en-US" sz="2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𝜔</m:t>
                          </m:r>
                        </m:e>
                        <m:sup>
                          <m:r>
                            <a:rPr lang="en-US" altLang="zh-CN" sz="26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zh-CN" sz="26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a:rPr lang="en-US" altLang="zh-CN" sz="2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6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</m:sup>
                      </m:sSup>
                      <m:r>
                        <a:rPr lang="en-US" altLang="zh-CN" sz="2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)</m:t>
                      </m:r>
                      <m:r>
                        <m:rPr>
                          <m:sty m:val="p"/>
                        </m:rPr>
                        <a:rPr lang="el-GR" altLang="zh-CN" sz="2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Φ</m:t>
                      </m:r>
                      <m:r>
                        <a:rPr lang="en-US" altLang="zh-CN" sz="2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r>
                        <a:rPr lang="en-US" altLang="zh-CN" sz="2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𝑥</m:t>
                      </m:r>
                      <m:r>
                        <a:rPr lang="en-US" altLang="zh-CN" sz="2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)=0</m:t>
                      </m:r>
                    </m:oMath>
                  </m:oMathPara>
                </a14:m>
                <a:endParaRPr lang="zh-CN" altLang="en-US" sz="26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5" name="Object 3">
                <a:extLst>
                  <a:ext uri="{FF2B5EF4-FFF2-40B4-BE49-F238E27FC236}">
                    <a16:creationId xmlns:a16="http://schemas.microsoft.com/office/drawing/2014/main" id="{71A78A44-841F-42CD-9FA0-EEEAD2C30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9632" y="2823840"/>
                <a:ext cx="6351980" cy="101664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5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6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156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/>
      <p:bldP spid="156677" grpId="0"/>
      <p:bldP spid="30" grpId="0"/>
      <p:bldP spid="31" grpId="0"/>
      <p:bldP spid="34" grpId="0"/>
      <p:bldP spid="35" grpId="0"/>
      <p:bldP spid="36" grpId="0"/>
      <p:bldP spid="37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图片 3">
            <a:extLst>
              <a:ext uri="{FF2B5EF4-FFF2-40B4-BE49-F238E27FC236}">
                <a16:creationId xmlns:a16="http://schemas.microsoft.com/office/drawing/2014/main" id="{E238CE1A-3741-496E-9916-393DBBE1C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8" name="灯片编号占位符 1">
            <a:extLst>
              <a:ext uri="{FF2B5EF4-FFF2-40B4-BE49-F238E27FC236}">
                <a16:creationId xmlns:a16="http://schemas.microsoft.com/office/drawing/2014/main" id="{29F2A000-194C-40DC-B137-30594D6D1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1CD4EFB8-3951-41CF-9865-BD9044C2867B}" type="slidenum">
              <a:rPr lang="en-US" altLang="zh-CN" b="0">
                <a:solidFill>
                  <a:srgbClr val="FF00FF"/>
                </a:solidFill>
              </a:rPr>
              <a:pPr/>
              <a:t>18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25">
            <a:extLst>
              <a:ext uri="{FF2B5EF4-FFF2-40B4-BE49-F238E27FC236}">
                <a16:creationId xmlns:a16="http://schemas.microsoft.com/office/drawing/2014/main" id="{FEA3A125-2626-4999-9861-C1CE5EE0B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14313"/>
            <a:ext cx="45005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FF00"/>
                </a:solidFill>
                <a:ea typeface="STZhongsong" panose="02010600040101010101" pitchFamily="2" charset="-122"/>
              </a:rPr>
              <a:t>一维谐振子：</a:t>
            </a:r>
            <a:endParaRPr lang="zh-CN" altLang="en-US" i="1">
              <a:solidFill>
                <a:srgbClr val="FFFF00"/>
              </a:solidFill>
              <a:ea typeface="STZhongsong" panose="02010600040101010101" pitchFamily="2" charset="-122"/>
            </a:endParaRPr>
          </a:p>
        </p:txBody>
      </p:sp>
      <p:sp>
        <p:nvSpPr>
          <p:cNvPr id="20482" name="Text Box 2">
            <a:extLst>
              <a:ext uri="{FF2B5EF4-FFF2-40B4-BE49-F238E27FC236}">
                <a16:creationId xmlns:a16="http://schemas.microsoft.com/office/drawing/2014/main" id="{989E6EC3-93AC-4FA9-A250-FAEB67137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204788"/>
            <a:ext cx="847407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ts val="3500"/>
              </a:lnSpc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rgbClr val="FFFF00"/>
                </a:solidFill>
              </a:rPr>
              <a:t>                       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平衡位置附近的微振动可近似为是简谐振动。例如，原子核内质子和中子的振动、原子和分子的振动、固体晶格离子的振动等。</a:t>
            </a:r>
          </a:p>
        </p:txBody>
      </p:sp>
      <p:grpSp>
        <p:nvGrpSpPr>
          <p:cNvPr id="20483" name="组合 12">
            <a:extLst>
              <a:ext uri="{FF2B5EF4-FFF2-40B4-BE49-F238E27FC236}">
                <a16:creationId xmlns:a16="http://schemas.microsoft.com/office/drawing/2014/main" id="{DAC0EED3-E03E-4A13-A57D-CC30C6EC1D86}"/>
              </a:ext>
            </a:extLst>
          </p:cNvPr>
          <p:cNvGrpSpPr>
            <a:grpSpLocks/>
          </p:cNvGrpSpPr>
          <p:nvPr/>
        </p:nvGrpSpPr>
        <p:grpSpPr bwMode="auto">
          <a:xfrm>
            <a:off x="6284913" y="1285875"/>
            <a:ext cx="2390775" cy="2376488"/>
            <a:chOff x="6284913" y="1574801"/>
            <a:chExt cx="2390801" cy="2376488"/>
          </a:xfrm>
        </p:grpSpPr>
        <p:sp>
          <p:nvSpPr>
            <p:cNvPr id="20484" name="Freeform 6">
              <a:extLst>
                <a:ext uri="{FF2B5EF4-FFF2-40B4-BE49-F238E27FC236}">
                  <a16:creationId xmlns:a16="http://schemas.microsoft.com/office/drawing/2014/main" id="{1DBAB0CD-C213-4A53-8B03-1254DE60C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8600" y="1901827"/>
              <a:ext cx="1646238" cy="1887537"/>
            </a:xfrm>
            <a:custGeom>
              <a:avLst/>
              <a:gdLst>
                <a:gd name="T0" fmla="*/ 0 w 1264"/>
                <a:gd name="T1" fmla="*/ 2 h 1449"/>
                <a:gd name="T2" fmla="*/ 633 w 1264"/>
                <a:gd name="T3" fmla="*/ 1449 h 1449"/>
                <a:gd name="T4" fmla="*/ 1264 w 1264"/>
                <a:gd name="T5" fmla="*/ 0 h 1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64" h="1449">
                  <a:moveTo>
                    <a:pt x="0" y="2"/>
                  </a:moveTo>
                  <a:cubicBezTo>
                    <a:pt x="30" y="264"/>
                    <a:pt x="408" y="1449"/>
                    <a:pt x="633" y="1449"/>
                  </a:cubicBezTo>
                  <a:cubicBezTo>
                    <a:pt x="858" y="1449"/>
                    <a:pt x="1206" y="261"/>
                    <a:pt x="1264" y="0"/>
                  </a:cubicBezTo>
                </a:path>
              </a:pathLst>
            </a:cu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/>
            </a:p>
          </p:txBody>
        </p:sp>
        <p:sp>
          <p:nvSpPr>
            <p:cNvPr id="20485" name="Line 7">
              <a:extLst>
                <a:ext uri="{FF2B5EF4-FFF2-40B4-BE49-F238E27FC236}">
                  <a16:creationId xmlns:a16="http://schemas.microsoft.com/office/drawing/2014/main" id="{6BA2CEDC-FFD9-4214-938A-CE9B15DE3C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4913" y="2646356"/>
              <a:ext cx="2232025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486" name="Group 8">
              <a:extLst>
                <a:ext uri="{FF2B5EF4-FFF2-40B4-BE49-F238E27FC236}">
                  <a16:creationId xmlns:a16="http://schemas.microsoft.com/office/drawing/2014/main" id="{9A2E316C-96B5-4548-90D1-46C7C42964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67463" y="1574801"/>
              <a:ext cx="2112962" cy="2376488"/>
              <a:chOff x="4111" y="450"/>
              <a:chExt cx="1331" cy="1497"/>
            </a:xfrm>
          </p:grpSpPr>
          <p:grpSp>
            <p:nvGrpSpPr>
              <p:cNvPr id="20487" name="Group 9">
                <a:extLst>
                  <a:ext uri="{FF2B5EF4-FFF2-40B4-BE49-F238E27FC236}">
                    <a16:creationId xmlns:a16="http://schemas.microsoft.com/office/drawing/2014/main" id="{945AD235-EDCF-41E4-A503-8F51454507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11" y="450"/>
                <a:ext cx="1303" cy="1497"/>
                <a:chOff x="3061" y="1244"/>
                <a:chExt cx="1588" cy="1497"/>
              </a:xfrm>
            </p:grpSpPr>
            <p:sp>
              <p:nvSpPr>
                <p:cNvPr id="20488" name="Line 10">
                  <a:extLst>
                    <a:ext uri="{FF2B5EF4-FFF2-40B4-BE49-F238E27FC236}">
                      <a16:creationId xmlns:a16="http://schemas.microsoft.com/office/drawing/2014/main" id="{CA75B9D2-41D3-4AAB-AFA9-FFF4891C97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61" y="2637"/>
                  <a:ext cx="1588" cy="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489" name="Line 11">
                  <a:extLst>
                    <a:ext uri="{FF2B5EF4-FFF2-40B4-BE49-F238E27FC236}">
                      <a16:creationId xmlns:a16="http://schemas.microsoft.com/office/drawing/2014/main" id="{D0832DEF-6185-47E2-8E6E-683BEA33D7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55" y="1244"/>
                  <a:ext cx="0" cy="1497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20490" name="Object 3">
                <a:extLst>
                  <a:ext uri="{FF2B5EF4-FFF2-40B4-BE49-F238E27FC236}">
                    <a16:creationId xmlns:a16="http://schemas.microsoft.com/office/drawing/2014/main" id="{3D557F4A-393F-42FA-A777-002AE892588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33" y="496"/>
              <a:ext cx="202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3778" r:id="rId3" imgW="83160" imgH="106920" progId="Equation.3">
                      <p:embed/>
                    </p:oleObj>
                  </mc:Choice>
                  <mc:Fallback>
                    <p:oleObj r:id="rId3" imgW="83160" imgH="106920" progId="Equation.3">
                      <p:embed/>
                      <p:pic>
                        <p:nvPicPr>
                          <p:cNvPr id="20490" name="Object 3">
                            <a:extLst>
                              <a:ext uri="{FF2B5EF4-FFF2-40B4-BE49-F238E27FC236}">
                                <a16:creationId xmlns:a16="http://schemas.microsoft.com/office/drawing/2014/main" id="{3D557F4A-393F-42FA-A777-002AE892588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33" y="496"/>
                            <a:ext cx="202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491" name="Object 4">
                <a:extLst>
                  <a:ext uri="{FF2B5EF4-FFF2-40B4-BE49-F238E27FC236}">
                    <a16:creationId xmlns:a16="http://schemas.microsoft.com/office/drawing/2014/main" id="{C41E23E7-33E2-477B-AA82-09F5ABF46B7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74" y="1580"/>
              <a:ext cx="168" cy="1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3779" r:id="rId5" imgW="46080" imgH="71280" progId="Equation.3">
                      <p:embed/>
                    </p:oleObj>
                  </mc:Choice>
                  <mc:Fallback>
                    <p:oleObj r:id="rId5" imgW="46080" imgH="71280" progId="Equation.3">
                      <p:embed/>
                      <p:pic>
                        <p:nvPicPr>
                          <p:cNvPr id="20491" name="Object 4">
                            <a:extLst>
                              <a:ext uri="{FF2B5EF4-FFF2-40B4-BE49-F238E27FC236}">
                                <a16:creationId xmlns:a16="http://schemas.microsoft.com/office/drawing/2014/main" id="{C41E23E7-33E2-477B-AA82-09F5ABF46B7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74" y="1580"/>
                            <a:ext cx="168" cy="18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0492" name="Object 5">
              <a:extLst>
                <a:ext uri="{FF2B5EF4-FFF2-40B4-BE49-F238E27FC236}">
                  <a16:creationId xmlns:a16="http://schemas.microsoft.com/office/drawing/2014/main" id="{8BAA1A47-16A9-42D5-8E41-C19045E595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58214" y="2228843"/>
            <a:ext cx="317500" cy="346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3780" r:id="rId7" imgW="83160" imgH="88920" progId="Equation.3">
                    <p:embed/>
                  </p:oleObj>
                </mc:Choice>
                <mc:Fallback>
                  <p:oleObj r:id="rId7" imgW="83160" imgH="88920" progId="Equation.3">
                    <p:embed/>
                    <p:pic>
                      <p:nvPicPr>
                        <p:cNvPr id="20492" name="Object 5">
                          <a:extLst>
                            <a:ext uri="{FF2B5EF4-FFF2-40B4-BE49-F238E27FC236}">
                              <a16:creationId xmlns:a16="http://schemas.microsoft.com/office/drawing/2014/main" id="{8BAA1A47-16A9-42D5-8E41-C19045E595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58214" y="2228843"/>
                          <a:ext cx="317500" cy="346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493" name="Object 2">
            <a:extLst>
              <a:ext uri="{FF2B5EF4-FFF2-40B4-BE49-F238E27FC236}">
                <a16:creationId xmlns:a16="http://schemas.microsoft.com/office/drawing/2014/main" id="{A40D0B52-8933-4C24-AAC3-012840D6AD99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63650" y="1662267"/>
          <a:ext cx="2778125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81" r:id="rId9" imgW="1706400" imgH="285120" progId="Equation.3">
                  <p:embed/>
                </p:oleObj>
              </mc:Choice>
              <mc:Fallback>
                <p:oleObj r:id="rId9" imgW="1706400" imgH="285120" progId="Equation.3">
                  <p:embed/>
                  <p:pic>
                    <p:nvPicPr>
                      <p:cNvPr id="20493" name="Object 2">
                        <a:extLst>
                          <a:ext uri="{FF2B5EF4-FFF2-40B4-BE49-F238E27FC236}">
                            <a16:creationId xmlns:a16="http://schemas.microsoft.com/office/drawing/2014/main" id="{A40D0B52-8933-4C24-AAC3-012840D6AD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650" y="1662267"/>
                        <a:ext cx="2778125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2">
            <a:extLst>
              <a:ext uri="{FF2B5EF4-FFF2-40B4-BE49-F238E27FC236}">
                <a16:creationId xmlns:a16="http://schemas.microsoft.com/office/drawing/2014/main" id="{7F763824-3240-4B79-9CB9-5B99D0CFE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000375"/>
            <a:ext cx="410527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>
                <a:solidFill>
                  <a:schemeClr val="bg1"/>
                </a:solidFill>
              </a:rPr>
              <a:t>(1)</a:t>
            </a:r>
            <a:r>
              <a:rPr lang="zh-CN" altLang="en-US" sz="2200">
                <a:solidFill>
                  <a:schemeClr val="bg1"/>
                </a:solidFill>
              </a:rPr>
              <a:t>量子化，相邻能级等间距： </a:t>
            </a: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id="{0775EA90-49F7-418F-904B-8EA4F52AF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1775" y="3755129"/>
            <a:ext cx="400843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200" dirty="0">
                <a:solidFill>
                  <a:schemeClr val="bg1"/>
                </a:solidFill>
              </a:rPr>
              <a:t>符合不确定关系</a:t>
            </a:r>
          </a:p>
        </p:txBody>
      </p:sp>
      <p:sp>
        <p:nvSpPr>
          <p:cNvPr id="20499" name="Text Box 7">
            <a:extLst>
              <a:ext uri="{FF2B5EF4-FFF2-40B4-BE49-F238E27FC236}">
                <a16:creationId xmlns:a16="http://schemas.microsoft.com/office/drawing/2014/main" id="{C416F456-4521-46B4-B502-BCFF43007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3768725"/>
            <a:ext cx="32639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 dirty="0">
                <a:solidFill>
                  <a:schemeClr val="bg1"/>
                </a:solidFill>
              </a:rPr>
              <a:t>(2)</a:t>
            </a:r>
            <a:r>
              <a:rPr lang="zh-CN" altLang="en-US" sz="2200" dirty="0">
                <a:solidFill>
                  <a:schemeClr val="bg1"/>
                </a:solidFill>
              </a:rPr>
              <a:t>有零点能：</a:t>
            </a:r>
          </a:p>
        </p:txBody>
      </p:sp>
      <p:sp>
        <p:nvSpPr>
          <p:cNvPr id="25" name="Text Box 13">
            <a:extLst>
              <a:ext uri="{FF2B5EF4-FFF2-40B4-BE49-F238E27FC236}">
                <a16:creationId xmlns:a16="http://schemas.microsoft.com/office/drawing/2014/main" id="{F3A5A0DC-4235-4AF8-8F63-59D9D5A29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525" y="4573588"/>
            <a:ext cx="375285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200">
                <a:solidFill>
                  <a:schemeClr val="bg1"/>
                </a:solidFill>
              </a:rPr>
              <a:t>(3) </a:t>
            </a:r>
            <a:r>
              <a:rPr lang="zh-CN" altLang="en-US" sz="2200">
                <a:solidFill>
                  <a:schemeClr val="bg1"/>
                </a:solidFill>
              </a:rPr>
              <a:t>当</a:t>
            </a:r>
            <a:r>
              <a:rPr lang="en-US" altLang="zh-CN" sz="2200">
                <a:solidFill>
                  <a:srgbClr val="FFFF00"/>
                </a:solidFill>
              </a:rPr>
              <a:t>n</a:t>
            </a:r>
            <a:r>
              <a:rPr lang="en-US" altLang="zh-CN" sz="2200">
                <a:solidFill>
                  <a:srgbClr val="FFFF00"/>
                </a:solidFill>
                <a:sym typeface="Symbol" panose="05050102010706020507" pitchFamily="18" charset="2"/>
              </a:rPr>
              <a:t></a:t>
            </a:r>
            <a:r>
              <a:rPr lang="en-US" altLang="zh-CN" sz="2200">
                <a:solidFill>
                  <a:srgbClr val="FFFF00"/>
                </a:solidFill>
              </a:rPr>
              <a:t> </a:t>
            </a:r>
            <a:r>
              <a:rPr lang="zh-CN" altLang="en-US" sz="2200">
                <a:solidFill>
                  <a:schemeClr val="bg1"/>
                </a:solidFill>
              </a:rPr>
              <a:t>时，</a:t>
            </a:r>
          </a:p>
        </p:txBody>
      </p:sp>
      <p:sp>
        <p:nvSpPr>
          <p:cNvPr id="26" name="Text Box 14">
            <a:extLst>
              <a:ext uri="{FF2B5EF4-FFF2-40B4-BE49-F238E27FC236}">
                <a16:creationId xmlns:a16="http://schemas.microsoft.com/office/drawing/2014/main" id="{296476E1-8093-472F-9B71-C98025BE8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5643563"/>
            <a:ext cx="8358187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200" dirty="0">
                <a:solidFill>
                  <a:schemeClr val="bg1"/>
                </a:solidFill>
              </a:rPr>
              <a:t>符合</a:t>
            </a:r>
            <a:r>
              <a:rPr lang="zh-CN" altLang="en-US" sz="2200" dirty="0">
                <a:solidFill>
                  <a:srgbClr val="FFFF00"/>
                </a:solidFill>
              </a:rPr>
              <a:t>玻尔对应原理</a:t>
            </a:r>
            <a:r>
              <a:rPr lang="zh-CN" altLang="en-US" sz="2200" dirty="0">
                <a:solidFill>
                  <a:schemeClr val="bg1"/>
                </a:solidFill>
              </a:rPr>
              <a:t>：在大量子数极限情况下，量子体系的行为将渐近地趋于经典力学体系。</a:t>
            </a:r>
          </a:p>
        </p:txBody>
      </p:sp>
      <p:sp>
        <p:nvSpPr>
          <p:cNvPr id="27" name="Text Box 15">
            <a:extLst>
              <a:ext uri="{FF2B5EF4-FFF2-40B4-BE49-F238E27FC236}">
                <a16:creationId xmlns:a16="http://schemas.microsoft.com/office/drawing/2014/main" id="{8B85018A-7586-4C7E-8076-80CE6D31C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536099"/>
            <a:ext cx="3549649" cy="459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200" dirty="0">
                <a:solidFill>
                  <a:schemeClr val="bg1"/>
                </a:solidFill>
              </a:rPr>
              <a:t>能量量子化 </a:t>
            </a:r>
            <a:r>
              <a:rPr lang="zh-CN" altLang="en-US" sz="2200" dirty="0">
                <a:solidFill>
                  <a:schemeClr val="bg1"/>
                </a:solidFill>
                <a:sym typeface="Symbol" panose="05050102010706020507" pitchFamily="18" charset="2"/>
              </a:rPr>
              <a:t> 能量</a:t>
            </a:r>
            <a:r>
              <a:rPr lang="zh-CN" altLang="en-US" sz="2200" dirty="0">
                <a:solidFill>
                  <a:schemeClr val="bg1"/>
                </a:solidFill>
              </a:rPr>
              <a:t>连续</a:t>
            </a:r>
          </a:p>
        </p:txBody>
      </p:sp>
      <p:sp>
        <p:nvSpPr>
          <p:cNvPr id="28" name="Text Box 16">
            <a:extLst>
              <a:ext uri="{FF2B5EF4-FFF2-40B4-BE49-F238E27FC236}">
                <a16:creationId xmlns:a16="http://schemas.microsoft.com/office/drawing/2014/main" id="{B7D254E7-907E-48BF-A4A9-01763EA0D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00" y="5213350"/>
            <a:ext cx="734695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solidFill>
                  <a:schemeClr val="bg1"/>
                </a:solidFill>
              </a:rPr>
              <a:t>（宏观振子能量相应量子数 </a:t>
            </a:r>
            <a:r>
              <a:rPr lang="en-US" altLang="zh-CN" sz="2200" i="1" dirty="0">
                <a:solidFill>
                  <a:srgbClr val="FFFF00"/>
                </a:solidFill>
              </a:rPr>
              <a:t>n </a:t>
            </a:r>
            <a:r>
              <a:rPr lang="en-US" altLang="zh-CN" sz="2200" dirty="0">
                <a:solidFill>
                  <a:srgbClr val="FFFF00"/>
                </a:solidFill>
                <a:sym typeface="Symbol" panose="05050102010706020507" pitchFamily="18" charset="2"/>
              </a:rPr>
              <a:t> </a:t>
            </a:r>
            <a:r>
              <a:rPr lang="en-US" altLang="zh-CN" sz="2200" dirty="0">
                <a:solidFill>
                  <a:srgbClr val="FFFF00"/>
                </a:solidFill>
              </a:rPr>
              <a:t>10</a:t>
            </a:r>
            <a:r>
              <a:rPr lang="en-US" altLang="zh-CN" sz="2200" baseline="30000" dirty="0">
                <a:solidFill>
                  <a:srgbClr val="FFFF00"/>
                </a:solidFill>
              </a:rPr>
              <a:t>25 </a:t>
            </a:r>
            <a:r>
              <a:rPr lang="zh-CN" altLang="en-US" sz="2200" dirty="0">
                <a:solidFill>
                  <a:schemeClr val="bg1"/>
                </a:solidFill>
              </a:rPr>
              <a:t>，</a:t>
            </a:r>
            <a:r>
              <a:rPr lang="zh-CN" altLang="en-US" sz="2200" dirty="0">
                <a:solidFill>
                  <a:srgbClr val="FFFF00"/>
                </a:solidFill>
                <a:sym typeface="Symbol" panose="05050102010706020507" pitchFamily="18" charset="2"/>
              </a:rPr>
              <a:t></a:t>
            </a:r>
            <a:r>
              <a:rPr lang="en-US" altLang="zh-CN" sz="2200" dirty="0">
                <a:solidFill>
                  <a:srgbClr val="FFFF00"/>
                </a:solidFill>
              </a:rPr>
              <a:t>E </a:t>
            </a:r>
            <a:r>
              <a:rPr lang="en-US" altLang="zh-CN" sz="2200" dirty="0">
                <a:solidFill>
                  <a:srgbClr val="FFFF00"/>
                </a:solidFill>
                <a:sym typeface="Symbol" panose="05050102010706020507" pitchFamily="18" charset="2"/>
              </a:rPr>
              <a:t></a:t>
            </a:r>
            <a:r>
              <a:rPr lang="en-US" altLang="zh-CN" sz="2200" dirty="0">
                <a:solidFill>
                  <a:srgbClr val="FFFF00"/>
                </a:solidFill>
              </a:rPr>
              <a:t> 10</a:t>
            </a:r>
            <a:r>
              <a:rPr lang="en-US" altLang="zh-CN" sz="2200" baseline="30000" dirty="0">
                <a:solidFill>
                  <a:srgbClr val="FFFF00"/>
                </a:solidFill>
              </a:rPr>
              <a:t>-33</a:t>
            </a:r>
            <a:r>
              <a:rPr lang="en-US" altLang="zh-CN" sz="2200" dirty="0">
                <a:solidFill>
                  <a:srgbClr val="FFFF00"/>
                </a:solidFill>
              </a:rPr>
              <a:t>J </a:t>
            </a:r>
            <a:r>
              <a:rPr lang="zh-CN" altLang="en-US" sz="2200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20506" name="灯片编号占位符 1">
            <a:extLst>
              <a:ext uri="{FF2B5EF4-FFF2-40B4-BE49-F238E27FC236}">
                <a16:creationId xmlns:a16="http://schemas.microsoft.com/office/drawing/2014/main" id="{939CFCC5-5C24-4962-A81D-119C19196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ADDD5CB-E32C-4A24-805E-BD9F9DB793D9}" type="slidenum">
              <a:rPr lang="en-US" altLang="zh-CN" b="0">
                <a:solidFill>
                  <a:srgbClr val="FF00FF"/>
                </a:solidFill>
              </a:rPr>
              <a:pPr/>
              <a:t>19</a:t>
            </a:fld>
            <a:r>
              <a:rPr lang="en-US" altLang="zh-CN" b="0">
                <a:solidFill>
                  <a:srgbClr val="FF00FF"/>
                </a:solidFill>
              </a:rPr>
              <a:t>/22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3">
                <a:extLst>
                  <a:ext uri="{FF2B5EF4-FFF2-40B4-BE49-F238E27FC236}">
                    <a16:creationId xmlns:a16="http://schemas.microsoft.com/office/drawing/2014/main" id="{D4BF49E4-E1D1-4A74-8AAE-CC386F137873}"/>
                  </a:ext>
                </a:extLst>
              </p:cNvPr>
              <p:cNvSpPr txBox="1"/>
              <p:nvPr/>
            </p:nvSpPr>
            <p:spPr bwMode="auto">
              <a:xfrm>
                <a:off x="796116" y="2340585"/>
                <a:ext cx="5311071" cy="5416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</m:sub>
                      </m:sSub>
                      <m:r>
                        <a:rPr lang="zh-CN" altLang="en-US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d>
                        <m:dPr>
                          <m:ctrlP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f>
                            <m:fPr>
                              <m:type m:val="lin"/>
                              <m:ctrlP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Pr>
                            <m:num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5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ℏ</m:t>
                      </m:r>
                      <m:r>
                        <a:rPr lang="zh-CN" altLang="en-US" sz="25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𝜔</m:t>
                      </m:r>
                      <m:r>
                        <a:rPr lang="en-US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d>
                        <m:dPr>
                          <m:ctrlP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𝑛</m:t>
                          </m:r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+</m:t>
                          </m:r>
                          <m:f>
                            <m:fPr>
                              <m:type m:val="lin"/>
                              <m:ctrlP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Pr>
                            <m:num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h</m:t>
                      </m:r>
                      <m:r>
                        <a:rPr lang="zh-CN" altLang="en-US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𝜈</m:t>
                      </m:r>
                    </m:oMath>
                  </m:oMathPara>
                </a14:m>
                <a:endParaRPr lang="zh-CN" altLang="en-US" sz="25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30" name="Object 3">
                <a:extLst>
                  <a:ext uri="{FF2B5EF4-FFF2-40B4-BE49-F238E27FC236}">
                    <a16:creationId xmlns:a16="http://schemas.microsoft.com/office/drawing/2014/main" id="{D4BF49E4-E1D1-4A74-8AAE-CC386F137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6116" y="2340585"/>
                <a:ext cx="5311071" cy="54169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">
                <a:extLst>
                  <a:ext uri="{FF2B5EF4-FFF2-40B4-BE49-F238E27FC236}">
                    <a16:creationId xmlns:a16="http://schemas.microsoft.com/office/drawing/2014/main" id="{5D10204B-43F1-44EB-9E6E-C7357BF029A5}"/>
                  </a:ext>
                </a:extLst>
              </p:cNvPr>
              <p:cNvSpPr txBox="1"/>
              <p:nvPr/>
            </p:nvSpPr>
            <p:spPr bwMode="auto">
              <a:xfrm>
                <a:off x="4224338" y="2992867"/>
                <a:ext cx="1931990" cy="5416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5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sz="25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lang="en-US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h</m:t>
                      </m:r>
                      <m:r>
                        <a:rPr lang="zh-CN" altLang="en-US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𝜈</m:t>
                      </m:r>
                    </m:oMath>
                  </m:oMathPara>
                </a14:m>
                <a:endParaRPr lang="zh-CN" altLang="en-US" sz="25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33" name="Object 3">
                <a:extLst>
                  <a:ext uri="{FF2B5EF4-FFF2-40B4-BE49-F238E27FC236}">
                    <a16:creationId xmlns:a16="http://schemas.microsoft.com/office/drawing/2014/main" id="{5D10204B-43F1-44EB-9E6E-C7357BF02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24338" y="2992867"/>
                <a:ext cx="1931990" cy="54169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3">
                <a:extLst>
                  <a:ext uri="{FF2B5EF4-FFF2-40B4-BE49-F238E27FC236}">
                    <a16:creationId xmlns:a16="http://schemas.microsoft.com/office/drawing/2014/main" id="{1B0508EF-63F0-402B-BA1B-376B7BA28C2A}"/>
                  </a:ext>
                </a:extLst>
              </p:cNvPr>
              <p:cNvSpPr txBox="1"/>
              <p:nvPr/>
            </p:nvSpPr>
            <p:spPr bwMode="auto">
              <a:xfrm>
                <a:off x="2220838" y="3700283"/>
                <a:ext cx="2065412" cy="5416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26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0</m:t>
                          </m:r>
                        </m:sub>
                      </m:sSub>
                      <m:r>
                        <a:rPr lang="zh-CN" altLang="en-US" sz="2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box>
                        <m:boxPr>
                          <m:ctrlPr>
                            <a:rPr lang="zh-CN" altLang="en-US" sz="26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zh-CN" sz="2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Pr>
                            <m:num>
                              <m:r>
                                <a:rPr lang="en-US" altLang="zh-CN" sz="2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6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r>
                        <a:rPr lang="en-US" altLang="zh-CN" sz="2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h</m:t>
                      </m:r>
                      <m:r>
                        <a:rPr lang="zh-CN" altLang="en-US" sz="26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𝜈</m:t>
                      </m:r>
                    </m:oMath>
                  </m:oMathPara>
                </a14:m>
                <a:endParaRPr lang="zh-CN" altLang="en-US" sz="26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34" name="Object 3">
                <a:extLst>
                  <a:ext uri="{FF2B5EF4-FFF2-40B4-BE49-F238E27FC236}">
                    <a16:creationId xmlns:a16="http://schemas.microsoft.com/office/drawing/2014/main" id="{1B0508EF-63F0-402B-BA1B-376B7BA28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0838" y="3700283"/>
                <a:ext cx="2065412" cy="54169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3">
                <a:extLst>
                  <a:ext uri="{FF2B5EF4-FFF2-40B4-BE49-F238E27FC236}">
                    <a16:creationId xmlns:a16="http://schemas.microsoft.com/office/drawing/2014/main" id="{B7BA7834-2953-4FED-8E1A-BE73D7CED052}"/>
                  </a:ext>
                </a:extLst>
              </p:cNvPr>
              <p:cNvSpPr txBox="1"/>
              <p:nvPr/>
            </p:nvSpPr>
            <p:spPr bwMode="auto">
              <a:xfrm>
                <a:off x="2510082" y="4543529"/>
                <a:ext cx="1931990" cy="5416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sz="25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→</m:t>
                      </m:r>
                      <m:r>
                        <a:rPr lang="en-US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0</m:t>
                      </m:r>
                    </m:oMath>
                  </m:oMathPara>
                </a14:m>
                <a:endParaRPr lang="zh-CN" altLang="en-US" sz="25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35" name="Object 3">
                <a:extLst>
                  <a:ext uri="{FF2B5EF4-FFF2-40B4-BE49-F238E27FC236}">
                    <a16:creationId xmlns:a16="http://schemas.microsoft.com/office/drawing/2014/main" id="{B7BA7834-2953-4FED-8E1A-BE73D7CED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0082" y="4543529"/>
                <a:ext cx="1931990" cy="54169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  <p:bldP spid="20499" grpId="0"/>
      <p:bldP spid="25" grpId="0"/>
      <p:bldP spid="26" grpId="0"/>
      <p:bldP spid="27" grpId="0"/>
      <p:bldP spid="28" grpId="0"/>
      <p:bldP spid="33" grpId="0"/>
      <p:bldP spid="34" grpId="0"/>
      <p:bldP spid="3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Text Box 2">
            <a:extLst>
              <a:ext uri="{FF2B5EF4-FFF2-40B4-BE49-F238E27FC236}">
                <a16:creationId xmlns:a16="http://schemas.microsoft.com/office/drawing/2014/main" id="{1F7DC907-C816-4570-BC2F-759537E28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500063"/>
            <a:ext cx="7283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FF00"/>
                </a:solidFill>
              </a:rPr>
              <a:t>【</a:t>
            </a:r>
            <a:r>
              <a:rPr lang="zh-CN" altLang="en-US" dirty="0">
                <a:solidFill>
                  <a:srgbClr val="FFFF00"/>
                </a:solidFill>
              </a:rPr>
              <a:t>拓展</a:t>
            </a:r>
            <a:r>
              <a:rPr lang="en-US" altLang="zh-CN" dirty="0">
                <a:solidFill>
                  <a:srgbClr val="FFFF00"/>
                </a:solidFill>
              </a:rPr>
              <a:t>】</a:t>
            </a:r>
            <a:r>
              <a:rPr lang="zh-CN" altLang="en-US" dirty="0">
                <a:solidFill>
                  <a:srgbClr val="FFFF00"/>
                </a:solidFill>
              </a:rPr>
              <a:t>算符的引入：</a:t>
            </a:r>
            <a:r>
              <a:rPr lang="zh-CN" altLang="en-US" dirty="0">
                <a:solidFill>
                  <a:schemeClr val="bg1"/>
                </a:solidFill>
              </a:rPr>
              <a:t>一维自由粒子薛定谔方程</a:t>
            </a:r>
          </a:p>
        </p:txBody>
      </p:sp>
      <p:sp>
        <p:nvSpPr>
          <p:cNvPr id="259075" name="Text Box 3">
            <a:extLst>
              <a:ext uri="{FF2B5EF4-FFF2-40B4-BE49-F238E27FC236}">
                <a16:creationId xmlns:a16="http://schemas.microsoft.com/office/drawing/2014/main" id="{0ABDDF82-0D3D-4D28-8CE1-3CA57A37B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838" y="1395413"/>
            <a:ext cx="3657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自由粒子波函数</a:t>
            </a:r>
            <a:r>
              <a:rPr lang="en-US" altLang="zh-CN">
                <a:solidFill>
                  <a:schemeClr val="bg1"/>
                </a:solidFill>
              </a:rPr>
              <a:t>: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9076" name="Text Box 4">
            <a:extLst>
              <a:ext uri="{FF2B5EF4-FFF2-40B4-BE49-F238E27FC236}">
                <a16:creationId xmlns:a16="http://schemas.microsoft.com/office/drawing/2014/main" id="{D79617FB-3DD3-4F63-8B62-DC22A4178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806" y="2069300"/>
            <a:ext cx="35417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>
                <a:srgbClr val="0000CC"/>
              </a:buClr>
            </a:pPr>
            <a:r>
              <a:rPr lang="zh-CN" altLang="en-US" dirty="0">
                <a:solidFill>
                  <a:schemeClr val="bg1"/>
                </a:solidFill>
              </a:rPr>
              <a:t>求导，得到方程</a:t>
            </a:r>
          </a:p>
        </p:txBody>
      </p:sp>
      <p:sp>
        <p:nvSpPr>
          <p:cNvPr id="21515" name="灯片编号占位符 1">
            <a:extLst>
              <a:ext uri="{FF2B5EF4-FFF2-40B4-BE49-F238E27FC236}">
                <a16:creationId xmlns:a16="http://schemas.microsoft.com/office/drawing/2014/main" id="{4C2067A6-94E7-45CB-A619-C97690A0B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64AFF02-69E2-4B69-BE13-C9C4CBCDEDB0}" type="slidenum">
              <a:rPr lang="en-US" altLang="zh-CN" b="0">
                <a:solidFill>
                  <a:srgbClr val="FF00FF"/>
                </a:solidFill>
              </a:rPr>
              <a:pPr/>
              <a:t>20</a:t>
            </a:fld>
            <a:r>
              <a:rPr lang="en-US" altLang="zh-CN" b="0">
                <a:solidFill>
                  <a:srgbClr val="FF00FF"/>
                </a:solidFill>
              </a:rPr>
              <a:t>/22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3">
                <a:extLst>
                  <a:ext uri="{FF2B5EF4-FFF2-40B4-BE49-F238E27FC236}">
                    <a16:creationId xmlns:a16="http://schemas.microsoft.com/office/drawing/2014/main" id="{C4EF5C0B-5BDB-477C-B10A-05696F60A577}"/>
                  </a:ext>
                </a:extLst>
              </p:cNvPr>
              <p:cNvSpPr txBox="1"/>
              <p:nvPr/>
            </p:nvSpPr>
            <p:spPr bwMode="auto">
              <a:xfrm>
                <a:off x="3563888" y="1187457"/>
                <a:ext cx="4475859" cy="8159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800" b="0" i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Ψ</m:t>
                      </m:r>
                      <m:d>
                        <m:dPr>
                          <m:ctrlPr>
                            <a:rPr lang="en-US" altLang="zh-CN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,</m:t>
                          </m:r>
                          <m:r>
                            <a:rPr lang="en-US" altLang="zh-CN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lang="en-US" altLang="zh-CN" sz="28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𝐴</m:t>
                      </m:r>
                      <m:sSup>
                        <m:sSupPr>
                          <m:ctrlPr>
                            <a:rPr lang="en-US" altLang="zh-CN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a:rPr lang="en-US" altLang="zh-CN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sz="28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𝑖</m:t>
                              </m:r>
                            </m:num>
                            <m:den>
                              <m:r>
                                <a:rPr lang="en-US" altLang="zh-CN" sz="28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ℏ</m:t>
                              </m:r>
                            </m:den>
                          </m:f>
                          <m:r>
                            <a:rPr lang="en-US" altLang="zh-CN" sz="28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zh-CN" sz="28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  <m:r>
                            <a:rPr lang="en-US" altLang="zh-CN" sz="28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−</m:t>
                          </m:r>
                          <m:r>
                            <a:rPr lang="en-US" altLang="zh-CN" sz="28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𝐸𝑡</m:t>
                          </m:r>
                          <m:r>
                            <a:rPr lang="en-US" altLang="zh-CN" sz="28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sz="28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3" name="Object 3">
                <a:extLst>
                  <a:ext uri="{FF2B5EF4-FFF2-40B4-BE49-F238E27FC236}">
                    <a16:creationId xmlns:a16="http://schemas.microsoft.com/office/drawing/2014/main" id="{C4EF5C0B-5BDB-477C-B10A-05696F60A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888" y="1187457"/>
                <a:ext cx="4475859" cy="8159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3">
                <a:extLst>
                  <a:ext uri="{FF2B5EF4-FFF2-40B4-BE49-F238E27FC236}">
                    <a16:creationId xmlns:a16="http://schemas.microsoft.com/office/drawing/2014/main" id="{533BD9BA-9810-4B0D-A015-BECCB9025619}"/>
                  </a:ext>
                </a:extLst>
              </p:cNvPr>
              <p:cNvSpPr txBox="1"/>
              <p:nvPr/>
            </p:nvSpPr>
            <p:spPr bwMode="auto">
              <a:xfrm>
                <a:off x="1112636" y="2699689"/>
                <a:ext cx="3932927" cy="1016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𝑖</m:t>
                      </m:r>
                      <m:r>
                        <a:rPr lang="zh-CN" altLang="en-US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ℏ</m:t>
                      </m:r>
                      <m:f>
                        <m:fPr>
                          <m:ctrlP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  <m:r>
                            <a:rPr lang="el-GR" altLang="zh-CN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𝛹</m:t>
                          </m:r>
                          <m:d>
                            <m:dPr>
                              <m:ctrlP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</m:den>
                      </m:f>
                      <m:r>
                        <a:rPr lang="en-US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lang="en-US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𝐸</m:t>
                      </m:r>
                      <m:r>
                        <a:rPr lang="el-GR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𝛹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𝑥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,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𝑡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)</m:t>
                      </m:r>
                    </m:oMath>
                  </m:oMathPara>
                </a14:m>
                <a:endParaRPr lang="zh-CN" altLang="en-US" sz="27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4" name="Object 3">
                <a:extLst>
                  <a:ext uri="{FF2B5EF4-FFF2-40B4-BE49-F238E27FC236}">
                    <a16:creationId xmlns:a16="http://schemas.microsoft.com/office/drawing/2014/main" id="{533BD9BA-9810-4B0D-A015-BECCB9025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2636" y="2699689"/>
                <a:ext cx="3932927" cy="10166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3">
                <a:extLst>
                  <a:ext uri="{FF2B5EF4-FFF2-40B4-BE49-F238E27FC236}">
                    <a16:creationId xmlns:a16="http://schemas.microsoft.com/office/drawing/2014/main" id="{40EDA863-7EB4-490A-BACF-A1A3402B8CD4}"/>
                  </a:ext>
                </a:extLst>
              </p:cNvPr>
              <p:cNvSpPr txBox="1"/>
              <p:nvPr/>
            </p:nvSpPr>
            <p:spPr bwMode="auto">
              <a:xfrm>
                <a:off x="5367410" y="2708920"/>
                <a:ext cx="2125517" cy="1016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𝑖</m:t>
                      </m:r>
                      <m:r>
                        <a:rPr lang="zh-CN" altLang="en-US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ℏ</m:t>
                      </m:r>
                      <m:f>
                        <m:fPr>
                          <m:ctrlP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</m:num>
                        <m:den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</m:den>
                      </m:f>
                      <m:r>
                        <a:rPr lang="en-US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𝐸</m:t>
                      </m:r>
                    </m:oMath>
                  </m:oMathPara>
                </a14:m>
                <a:endParaRPr lang="zh-CN" altLang="en-US" sz="27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5" name="Object 3">
                <a:extLst>
                  <a:ext uri="{FF2B5EF4-FFF2-40B4-BE49-F238E27FC236}">
                    <a16:creationId xmlns:a16="http://schemas.microsoft.com/office/drawing/2014/main" id="{40EDA863-7EB4-490A-BACF-A1A3402B8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67410" y="2708920"/>
                <a:ext cx="2125517" cy="10166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3">
                <a:extLst>
                  <a:ext uri="{FF2B5EF4-FFF2-40B4-BE49-F238E27FC236}">
                    <a16:creationId xmlns:a16="http://schemas.microsoft.com/office/drawing/2014/main" id="{66B262A2-FD03-4D8B-9C20-F7D12BF15760}"/>
                  </a:ext>
                </a:extLst>
              </p:cNvPr>
              <p:cNvSpPr txBox="1"/>
              <p:nvPr/>
            </p:nvSpPr>
            <p:spPr bwMode="auto">
              <a:xfrm>
                <a:off x="1066800" y="3948183"/>
                <a:ext cx="3932927" cy="1016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r>
                        <a:rPr lang="zh-CN" altLang="en-US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𝑖</m:t>
                      </m:r>
                      <m:r>
                        <a:rPr lang="zh-CN" altLang="en-US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ℏ</m:t>
                      </m:r>
                      <m:f>
                        <m:fPr>
                          <m:ctrlP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  <m:r>
                            <a:rPr lang="el-GR" altLang="zh-CN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𝛹</m:t>
                          </m:r>
                          <m:d>
                            <m:dPr>
                              <m:ctrlP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den>
                      </m:f>
                      <m:r>
                        <a:rPr lang="en-US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sSub>
                        <m:sSubPr>
                          <m:ctrlP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bPr>
                        <m:e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sub>
                      </m:sSub>
                      <m:r>
                        <a:rPr lang="el-GR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𝛹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𝑥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,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𝑡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)</m:t>
                      </m:r>
                    </m:oMath>
                  </m:oMathPara>
                </a14:m>
                <a:endParaRPr lang="zh-CN" altLang="en-US" sz="27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6" name="Object 3">
                <a:extLst>
                  <a:ext uri="{FF2B5EF4-FFF2-40B4-BE49-F238E27FC236}">
                    <a16:creationId xmlns:a16="http://schemas.microsoft.com/office/drawing/2014/main" id="{66B262A2-FD03-4D8B-9C20-F7D12BF15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6800" y="3948183"/>
                <a:ext cx="3932927" cy="10166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3">
                <a:extLst>
                  <a:ext uri="{FF2B5EF4-FFF2-40B4-BE49-F238E27FC236}">
                    <a16:creationId xmlns:a16="http://schemas.microsoft.com/office/drawing/2014/main" id="{544E94E4-B087-4D19-9FAF-8300C7965E84}"/>
                  </a:ext>
                </a:extLst>
              </p:cNvPr>
              <p:cNvSpPr txBox="1"/>
              <p:nvPr/>
            </p:nvSpPr>
            <p:spPr bwMode="auto">
              <a:xfrm>
                <a:off x="5367409" y="3948183"/>
                <a:ext cx="2487541" cy="1016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r>
                        <a:rPr lang="zh-CN" altLang="en-US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𝑖</m:t>
                      </m:r>
                      <m:r>
                        <a:rPr lang="zh-CN" altLang="en-US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ℏ</m:t>
                      </m:r>
                      <m:f>
                        <m:fPr>
                          <m:ctrlP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</m:num>
                        <m:den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den>
                      </m:f>
                      <m:r>
                        <a:rPr lang="en-US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zh-CN" altLang="en-US" sz="27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7" name="Object 3">
                <a:extLst>
                  <a:ext uri="{FF2B5EF4-FFF2-40B4-BE49-F238E27FC236}">
                    <a16:creationId xmlns:a16="http://schemas.microsoft.com/office/drawing/2014/main" id="{544E94E4-B087-4D19-9FAF-8300C7965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67409" y="3948183"/>
                <a:ext cx="2487541" cy="101664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3">
                <a:extLst>
                  <a:ext uri="{FF2B5EF4-FFF2-40B4-BE49-F238E27FC236}">
                    <a16:creationId xmlns:a16="http://schemas.microsoft.com/office/drawing/2014/main" id="{63CD58AD-A7C2-4085-B70D-E34CFAAF3EB5}"/>
                  </a:ext>
                </a:extLst>
              </p:cNvPr>
              <p:cNvSpPr txBox="1"/>
              <p:nvPr/>
            </p:nvSpPr>
            <p:spPr bwMode="auto">
              <a:xfrm>
                <a:off x="1087750" y="5199539"/>
                <a:ext cx="4445761" cy="1016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sSup>
                        <m:sSupPr>
                          <m:ctrlPr>
                            <a:rPr lang="en-US" altLang="zh-CN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e>
                        <m:sup>
                          <m:r>
                            <a:rPr lang="en-US" altLang="zh-CN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  <m:r>
                            <a:rPr lang="el-GR" altLang="zh-CN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𝛹</m:t>
                          </m:r>
                          <m:r>
                            <a:rPr lang="en-US" altLang="zh-CN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27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l-GR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𝛹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7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8" name="Object 3">
                <a:extLst>
                  <a:ext uri="{FF2B5EF4-FFF2-40B4-BE49-F238E27FC236}">
                    <a16:creationId xmlns:a16="http://schemas.microsoft.com/office/drawing/2014/main" id="{63CD58AD-A7C2-4085-B70D-E34CFAAF3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7750" y="5199539"/>
                <a:ext cx="4445761" cy="10166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3">
                <a:extLst>
                  <a:ext uri="{FF2B5EF4-FFF2-40B4-BE49-F238E27FC236}">
                    <a16:creationId xmlns:a16="http://schemas.microsoft.com/office/drawing/2014/main" id="{CFFD08A0-7797-4988-8AE7-9C809E7AD025}"/>
                  </a:ext>
                </a:extLst>
              </p:cNvPr>
              <p:cNvSpPr txBox="1"/>
              <p:nvPr/>
            </p:nvSpPr>
            <p:spPr bwMode="auto">
              <a:xfrm>
                <a:off x="5818244" y="5205837"/>
                <a:ext cx="2786204" cy="1016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sSup>
                        <m:sSupPr>
                          <m:ctrlPr>
                            <a:rPr lang="en-US" altLang="zh-CN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e>
                        <m:sup>
                          <m:r>
                            <a:rPr lang="en-US" altLang="zh-CN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27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Sup>
                        <m:sSubSupPr>
                          <m:ctrlP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27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9" name="Object 3">
                <a:extLst>
                  <a:ext uri="{FF2B5EF4-FFF2-40B4-BE49-F238E27FC236}">
                    <a16:creationId xmlns:a16="http://schemas.microsoft.com/office/drawing/2014/main" id="{CFFD08A0-7797-4988-8AE7-9C809E7AD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18244" y="5205837"/>
                <a:ext cx="2786204" cy="10166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9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4" grpId="0"/>
      <p:bldP spid="259075" grpId="0"/>
      <p:bldP spid="259076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>
            <a:extLst>
              <a:ext uri="{FF2B5EF4-FFF2-40B4-BE49-F238E27FC236}">
                <a16:creationId xmlns:a16="http://schemas.microsoft.com/office/drawing/2014/main" id="{FD7833F8-45D4-4A91-92BA-FD6A30C3C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578" y="385248"/>
            <a:ext cx="5544616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dirty="0">
                <a:solidFill>
                  <a:schemeClr val="bg1"/>
                </a:solidFill>
                <a:sym typeface="Symbol" panose="05050102010706020507" pitchFamily="18" charset="2"/>
              </a:rPr>
              <a:t>  </a:t>
            </a:r>
            <a:r>
              <a:rPr lang="zh-CN" altLang="en-US" dirty="0">
                <a:solidFill>
                  <a:schemeClr val="bg1"/>
                </a:solidFill>
              </a:rPr>
              <a:t>对波函数的运算、变换或操作</a:t>
            </a:r>
          </a:p>
        </p:txBody>
      </p:sp>
      <p:sp>
        <p:nvSpPr>
          <p:cNvPr id="295947" name="Rectangle 11">
            <a:extLst>
              <a:ext uri="{FF2B5EF4-FFF2-40B4-BE49-F238E27FC236}">
                <a16:creationId xmlns:a16="http://schemas.microsoft.com/office/drawing/2014/main" id="{641244A2-8AEB-44D8-A589-92C0B92D9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5425" y="4895850"/>
            <a:ext cx="41640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对波函数取复共轭</a:t>
            </a:r>
            <a:endParaRPr lang="zh-CN" altLang="en-US" b="0" dirty="0">
              <a:solidFill>
                <a:schemeClr val="bg1"/>
              </a:solidFill>
            </a:endParaRPr>
          </a:p>
        </p:txBody>
      </p:sp>
      <p:sp>
        <p:nvSpPr>
          <p:cNvPr id="295957" name="Rectangle 21">
            <a:extLst>
              <a:ext uri="{FF2B5EF4-FFF2-40B4-BE49-F238E27FC236}">
                <a16:creationId xmlns:a16="http://schemas.microsoft.com/office/drawing/2014/main" id="{9BE49BB9-AC21-4D7C-9F47-59FB95C69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108" y="5704919"/>
            <a:ext cx="6103937" cy="461962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dirty="0">
                <a:solidFill>
                  <a:srgbClr val="FFFF00"/>
                </a:solidFill>
              </a:rPr>
              <a:t>算符是通过对波函数的作用关系来定义的</a:t>
            </a:r>
          </a:p>
        </p:txBody>
      </p:sp>
      <p:sp>
        <p:nvSpPr>
          <p:cNvPr id="295958" name="Rectangle 22">
            <a:extLst>
              <a:ext uri="{FF2B5EF4-FFF2-40B4-BE49-F238E27FC236}">
                <a16:creationId xmlns:a16="http://schemas.microsoft.com/office/drawing/2014/main" id="{292E9F59-95F6-475B-8F6D-8B87A704D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688" y="1033463"/>
            <a:ext cx="10572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>
                <a:solidFill>
                  <a:schemeClr val="bg1"/>
                </a:solidFill>
              </a:rPr>
              <a:t>例如</a:t>
            </a:r>
            <a:r>
              <a:rPr lang="en-US" altLang="zh-CN">
                <a:solidFill>
                  <a:schemeClr val="bg1"/>
                </a:solidFill>
              </a:rPr>
              <a:t>: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95959" name="Rectangle 23">
            <a:extLst>
              <a:ext uri="{FF2B5EF4-FFF2-40B4-BE49-F238E27FC236}">
                <a16:creationId xmlns:a16="http://schemas.microsoft.com/office/drawing/2014/main" id="{028ECCBF-AC51-49F8-A3F8-4320795B7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57188"/>
            <a:ext cx="3630613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dirty="0">
                <a:solidFill>
                  <a:srgbClr val="FFFF00"/>
                </a:solidFill>
              </a:rPr>
              <a:t>算符</a:t>
            </a:r>
            <a:r>
              <a:rPr lang="en-US" altLang="zh-CN" dirty="0">
                <a:solidFill>
                  <a:srgbClr val="FFFF00"/>
                </a:solidFill>
              </a:rPr>
              <a:t>(operator)</a:t>
            </a:r>
          </a:p>
        </p:txBody>
      </p:sp>
      <p:sp>
        <p:nvSpPr>
          <p:cNvPr id="22550" name="灯片编号占位符 1">
            <a:extLst>
              <a:ext uri="{FF2B5EF4-FFF2-40B4-BE49-F238E27FC236}">
                <a16:creationId xmlns:a16="http://schemas.microsoft.com/office/drawing/2014/main" id="{B5BA3CC4-B394-4511-815A-C096F0B58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965A5618-1BA5-4159-9084-DF7BB29605F1}" type="slidenum">
              <a:rPr lang="en-US" altLang="zh-CN" b="0">
                <a:solidFill>
                  <a:srgbClr val="FF00FF"/>
                </a:solidFill>
              </a:rPr>
              <a:pPr/>
              <a:t>21</a:t>
            </a:fld>
            <a:r>
              <a:rPr lang="en-US" altLang="zh-CN" b="0">
                <a:solidFill>
                  <a:srgbClr val="FF00FF"/>
                </a:solidFill>
              </a:rPr>
              <a:t>/22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3">
                <a:extLst>
                  <a:ext uri="{FF2B5EF4-FFF2-40B4-BE49-F238E27FC236}">
                    <a16:creationId xmlns:a16="http://schemas.microsoft.com/office/drawing/2014/main" id="{35470AC2-571F-4F5A-99D6-9835AE26A17C}"/>
                  </a:ext>
                </a:extLst>
              </p:cNvPr>
              <p:cNvSpPr txBox="1"/>
              <p:nvPr/>
            </p:nvSpPr>
            <p:spPr bwMode="auto">
              <a:xfrm>
                <a:off x="1092891" y="1640359"/>
                <a:ext cx="2038949" cy="1016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</m:num>
                        <m:den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</m:den>
                      </m:f>
                      <m:r>
                        <a:rPr lang="el-GR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𝛹</m:t>
                      </m:r>
                      <m:d>
                        <m:dPr>
                          <m:ctrlP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,</m:t>
                          </m:r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sz="27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4" name="Object 3">
                <a:extLst>
                  <a:ext uri="{FF2B5EF4-FFF2-40B4-BE49-F238E27FC236}">
                    <a16:creationId xmlns:a16="http://schemas.microsoft.com/office/drawing/2014/main" id="{35470AC2-571F-4F5A-99D6-9835AE26A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2891" y="1640359"/>
                <a:ext cx="2038949" cy="10166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FCCE437C-0FC9-400C-92C5-06FA997A7BDB}"/>
              </a:ext>
            </a:extLst>
          </p:cNvPr>
          <p:cNvGrpSpPr/>
          <p:nvPr/>
        </p:nvGrpSpPr>
        <p:grpSpPr>
          <a:xfrm>
            <a:off x="2935288" y="1626725"/>
            <a:ext cx="5730875" cy="1016646"/>
            <a:chOff x="2935288" y="1626725"/>
            <a:chExt cx="5730875" cy="1016646"/>
          </a:xfrm>
        </p:grpSpPr>
        <p:sp>
          <p:nvSpPr>
            <p:cNvPr id="22539" name="Rectangle 13">
              <a:extLst>
                <a:ext uri="{FF2B5EF4-FFF2-40B4-BE49-F238E27FC236}">
                  <a16:creationId xmlns:a16="http://schemas.microsoft.com/office/drawing/2014/main" id="{3FEFDD8B-5863-4CEC-AC1C-E0F9BF15B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5288" y="1875849"/>
              <a:ext cx="57308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bg1"/>
                  </a:solidFill>
                  <a:latin typeface="SimHei" panose="02010609060101010101" pitchFamily="49" charset="-122"/>
                </a:rPr>
                <a:t>算符    代表对波函数关于   求导</a:t>
              </a:r>
              <a:endParaRPr lang="zh-CN" altLang="en-US" b="0" dirty="0">
                <a:solidFill>
                  <a:schemeClr val="bg1"/>
                </a:solidFill>
                <a:latin typeface="SimHei" panose="02010609060101010101" pitchFamily="49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Object 3">
                  <a:extLst>
                    <a:ext uri="{FF2B5EF4-FFF2-40B4-BE49-F238E27FC236}">
                      <a16:creationId xmlns:a16="http://schemas.microsoft.com/office/drawing/2014/main" id="{FBAB234C-A74C-4483-9B9D-EF7415323AEA}"/>
                    </a:ext>
                  </a:extLst>
                </p:cNvPr>
                <p:cNvSpPr txBox="1"/>
                <p:nvPr/>
              </p:nvSpPr>
              <p:spPr bwMode="auto">
                <a:xfrm>
                  <a:off x="3679288" y="1626725"/>
                  <a:ext cx="2038949" cy="10166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700" b="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lang="zh-CN" altLang="en-US" sz="2700" b="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𝜕</m:t>
                            </m:r>
                          </m:num>
                          <m:den>
                            <m:r>
                              <a:rPr lang="zh-CN" altLang="en-US" sz="2700" b="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𝜕</m:t>
                            </m:r>
                            <m:r>
                              <a:rPr lang="en-US" altLang="zh-CN" sz="27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𝑡</m:t>
                            </m:r>
                          </m:den>
                        </m:f>
                      </m:oMath>
                    </m:oMathPara>
                  </a14:m>
                  <a:endParaRPr lang="zh-CN" altLang="en-US" sz="2700" b="0" dirty="0"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25" name="Object 3">
                  <a:extLst>
                    <a:ext uri="{FF2B5EF4-FFF2-40B4-BE49-F238E27FC236}">
                      <a16:creationId xmlns:a16="http://schemas.microsoft.com/office/drawing/2014/main" id="{FBAB234C-A74C-4483-9B9D-EF7415323A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79288" y="1626725"/>
                  <a:ext cx="2038949" cy="101664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bject 3">
                  <a:extLst>
                    <a:ext uri="{FF2B5EF4-FFF2-40B4-BE49-F238E27FC236}">
                      <a16:creationId xmlns:a16="http://schemas.microsoft.com/office/drawing/2014/main" id="{482EFFEB-112D-4C3F-BCBA-4378A9DEFF98}"/>
                    </a:ext>
                  </a:extLst>
                </p:cNvPr>
                <p:cNvSpPr txBox="1"/>
                <p:nvPr/>
              </p:nvSpPr>
              <p:spPr bwMode="auto">
                <a:xfrm>
                  <a:off x="6792119" y="1823898"/>
                  <a:ext cx="642938" cy="6160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</m:oMath>
                    </m:oMathPara>
                  </a14:m>
                  <a:endParaRPr lang="zh-CN" altLang="en-US" sz="2800" b="0" dirty="0"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26" name="Object 3">
                  <a:extLst>
                    <a:ext uri="{FF2B5EF4-FFF2-40B4-BE49-F238E27FC236}">
                      <a16:creationId xmlns:a16="http://schemas.microsoft.com/office/drawing/2014/main" id="{482EFFEB-112D-4C3F-BCBA-4378A9DEFF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92119" y="1823898"/>
                  <a:ext cx="642938" cy="61609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3">
                <a:extLst>
                  <a:ext uri="{FF2B5EF4-FFF2-40B4-BE49-F238E27FC236}">
                    <a16:creationId xmlns:a16="http://schemas.microsoft.com/office/drawing/2014/main" id="{33AAC4F9-202B-4EDD-8365-ED977B739713}"/>
                  </a:ext>
                </a:extLst>
              </p:cNvPr>
              <p:cNvSpPr txBox="1"/>
              <p:nvPr/>
            </p:nvSpPr>
            <p:spPr bwMode="auto">
              <a:xfrm>
                <a:off x="1031636" y="2699012"/>
                <a:ext cx="2038949" cy="1016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</m:num>
                        <m:den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den>
                      </m:f>
                      <m:r>
                        <a:rPr lang="el-GR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𝛹</m:t>
                      </m:r>
                      <m:d>
                        <m:dPr>
                          <m:ctrlP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,</m:t>
                          </m:r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sz="27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8" name="Object 3">
                <a:extLst>
                  <a:ext uri="{FF2B5EF4-FFF2-40B4-BE49-F238E27FC236}">
                    <a16:creationId xmlns:a16="http://schemas.microsoft.com/office/drawing/2014/main" id="{33AAC4F9-202B-4EDD-8365-ED977B739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1636" y="2699012"/>
                <a:ext cx="2038949" cy="10166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组合 28">
            <a:extLst>
              <a:ext uri="{FF2B5EF4-FFF2-40B4-BE49-F238E27FC236}">
                <a16:creationId xmlns:a16="http://schemas.microsoft.com/office/drawing/2014/main" id="{AC0C4D72-444D-4EAC-BD4A-6556BF57A631}"/>
              </a:ext>
            </a:extLst>
          </p:cNvPr>
          <p:cNvGrpSpPr/>
          <p:nvPr/>
        </p:nvGrpSpPr>
        <p:grpSpPr>
          <a:xfrm>
            <a:off x="2915816" y="2685378"/>
            <a:ext cx="5730875" cy="1016646"/>
            <a:chOff x="2935288" y="1626725"/>
            <a:chExt cx="5730875" cy="1016646"/>
          </a:xfrm>
        </p:grpSpPr>
        <p:sp>
          <p:nvSpPr>
            <p:cNvPr id="30" name="Rectangle 13">
              <a:extLst>
                <a:ext uri="{FF2B5EF4-FFF2-40B4-BE49-F238E27FC236}">
                  <a16:creationId xmlns:a16="http://schemas.microsoft.com/office/drawing/2014/main" id="{510AF75D-538F-41F6-9927-1A334ACA0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5288" y="1875849"/>
              <a:ext cx="57308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bg1"/>
                  </a:solidFill>
                  <a:latin typeface="SimHei" panose="02010609060101010101" pitchFamily="49" charset="-122"/>
                </a:rPr>
                <a:t>算符    代表对波函数关于   求导</a:t>
              </a:r>
              <a:endParaRPr lang="zh-CN" altLang="en-US" b="0" dirty="0">
                <a:solidFill>
                  <a:schemeClr val="bg1"/>
                </a:solidFill>
                <a:latin typeface="SimHei" panose="02010609060101010101" pitchFamily="49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bject 3">
                  <a:extLst>
                    <a:ext uri="{FF2B5EF4-FFF2-40B4-BE49-F238E27FC236}">
                      <a16:creationId xmlns:a16="http://schemas.microsoft.com/office/drawing/2014/main" id="{CF79AC9A-7F30-42C7-A9FA-4B831C1CFA65}"/>
                    </a:ext>
                  </a:extLst>
                </p:cNvPr>
                <p:cNvSpPr txBox="1"/>
                <p:nvPr/>
              </p:nvSpPr>
              <p:spPr bwMode="auto">
                <a:xfrm>
                  <a:off x="3679288" y="1626725"/>
                  <a:ext cx="2038949" cy="10166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sz="27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lang="zh-CN" altLang="en-US" sz="2700" b="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𝜕</m:t>
                            </m:r>
                          </m:num>
                          <m:den>
                            <m:r>
                              <a:rPr lang="zh-CN" altLang="en-US" sz="2700" b="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𝜕</m:t>
                            </m:r>
                            <m:r>
                              <a:rPr lang="en-US" altLang="zh-CN" sz="27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lang="zh-CN" altLang="en-US" sz="2700" b="0" dirty="0"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31" name="Object 3">
                  <a:extLst>
                    <a:ext uri="{FF2B5EF4-FFF2-40B4-BE49-F238E27FC236}">
                      <a16:creationId xmlns:a16="http://schemas.microsoft.com/office/drawing/2014/main" id="{CF79AC9A-7F30-42C7-A9FA-4B831C1CFA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79288" y="1626725"/>
                  <a:ext cx="2038949" cy="101664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bject 3">
                  <a:extLst>
                    <a:ext uri="{FF2B5EF4-FFF2-40B4-BE49-F238E27FC236}">
                      <a16:creationId xmlns:a16="http://schemas.microsoft.com/office/drawing/2014/main" id="{95DAC119-22D1-4F09-A044-7CF88C48776D}"/>
                    </a:ext>
                  </a:extLst>
                </p:cNvPr>
                <p:cNvSpPr txBox="1"/>
                <p:nvPr/>
              </p:nvSpPr>
              <p:spPr bwMode="auto">
                <a:xfrm>
                  <a:off x="6792119" y="1823898"/>
                  <a:ext cx="642938" cy="6160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</m:oMath>
                    </m:oMathPara>
                  </a14:m>
                  <a:endParaRPr lang="zh-CN" altLang="en-US" sz="2800" b="0" dirty="0"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32" name="Object 3">
                  <a:extLst>
                    <a:ext uri="{FF2B5EF4-FFF2-40B4-BE49-F238E27FC236}">
                      <a16:creationId xmlns:a16="http://schemas.microsoft.com/office/drawing/2014/main" id="{95DAC119-22D1-4F09-A044-7CF88C4877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92119" y="1823898"/>
                  <a:ext cx="642938" cy="61609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3">
                <a:extLst>
                  <a:ext uri="{FF2B5EF4-FFF2-40B4-BE49-F238E27FC236}">
                    <a16:creationId xmlns:a16="http://schemas.microsoft.com/office/drawing/2014/main" id="{1F4420B3-9F2A-4958-9D8A-8A506A51CC4F}"/>
                  </a:ext>
                </a:extLst>
              </p:cNvPr>
              <p:cNvSpPr txBox="1"/>
              <p:nvPr/>
            </p:nvSpPr>
            <p:spPr bwMode="auto">
              <a:xfrm>
                <a:off x="961042" y="3932684"/>
                <a:ext cx="3330965" cy="5416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accPr>
                        <m:e>
                          <m:r>
                            <a:rPr lang="en-US" altLang="zh-CN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</m:e>
                      </m:acc>
                      <m:r>
                        <a:rPr lang="zh-CN" altLang="en-US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𝛹</m:t>
                      </m:r>
                      <m:r>
                        <a:rPr lang="en-US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r>
                        <a:rPr lang="en-US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𝑥</m:t>
                      </m:r>
                      <m:r>
                        <a:rPr lang="en-US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,</m:t>
                      </m:r>
                      <m:r>
                        <a:rPr lang="en-US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𝑡</m:t>
                      </m:r>
                      <m:r>
                        <a:rPr lang="en-US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)=</m:t>
                      </m:r>
                      <m:r>
                        <a:rPr lang="en-US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𝑥</m:t>
                      </m:r>
                      <m:r>
                        <a:rPr lang="zh-CN" altLang="en-US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𝛹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𝑥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,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𝑡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)</m:t>
                      </m:r>
                    </m:oMath>
                  </m:oMathPara>
                </a14:m>
                <a:endParaRPr lang="zh-CN" altLang="en-US" sz="27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33" name="Object 3">
                <a:extLst>
                  <a:ext uri="{FF2B5EF4-FFF2-40B4-BE49-F238E27FC236}">
                    <a16:creationId xmlns:a16="http://schemas.microsoft.com/office/drawing/2014/main" id="{1F4420B3-9F2A-4958-9D8A-8A506A51C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1042" y="3932684"/>
                <a:ext cx="3330965" cy="5416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0BA72EE3-1ED6-4891-BDF6-0DA10CE13B53}"/>
              </a:ext>
            </a:extLst>
          </p:cNvPr>
          <p:cNvGrpSpPr/>
          <p:nvPr/>
        </p:nvGrpSpPr>
        <p:grpSpPr>
          <a:xfrm>
            <a:off x="3816350" y="3959386"/>
            <a:ext cx="4613275" cy="616090"/>
            <a:chOff x="3816350" y="3959386"/>
            <a:chExt cx="4613275" cy="616090"/>
          </a:xfrm>
        </p:grpSpPr>
        <p:sp>
          <p:nvSpPr>
            <p:cNvPr id="22534" name="Rectangle 8">
              <a:extLst>
                <a:ext uri="{FF2B5EF4-FFF2-40B4-BE49-F238E27FC236}">
                  <a16:creationId xmlns:a16="http://schemas.microsoft.com/office/drawing/2014/main" id="{F77293C5-E5B2-4A4C-AD08-D39883D705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350" y="4003673"/>
              <a:ext cx="461327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dirty="0">
                  <a:solidFill>
                    <a:schemeClr val="bg1"/>
                  </a:solidFill>
                  <a:latin typeface="SimHei" panose="02010609060101010101" pitchFamily="49" charset="-122"/>
                </a:rPr>
                <a:t>  算符   代表用   乘波函数</a:t>
              </a:r>
              <a:r>
                <a:rPr lang="zh-CN" altLang="en-US" b="0" dirty="0">
                  <a:solidFill>
                    <a:schemeClr val="bg1"/>
                  </a:solidFill>
                  <a:latin typeface="SimHei" panose="02010609060101010101" pitchFamily="49" charset="-122"/>
                </a:rPr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bject 3">
                  <a:extLst>
                    <a:ext uri="{FF2B5EF4-FFF2-40B4-BE49-F238E27FC236}">
                      <a16:creationId xmlns:a16="http://schemas.microsoft.com/office/drawing/2014/main" id="{1B3A98EC-672B-4963-8A05-3275E0649F5B}"/>
                    </a:ext>
                  </a:extLst>
                </p:cNvPr>
                <p:cNvSpPr txBox="1"/>
                <p:nvPr/>
              </p:nvSpPr>
              <p:spPr bwMode="auto">
                <a:xfrm>
                  <a:off x="6248205" y="3959386"/>
                  <a:ext cx="642938" cy="6160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7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𝑥</m:t>
                        </m:r>
                      </m:oMath>
                    </m:oMathPara>
                  </a14:m>
                  <a:endParaRPr lang="zh-CN" altLang="en-US" sz="2700" b="0" dirty="0"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34" name="Object 3">
                  <a:extLst>
                    <a:ext uri="{FF2B5EF4-FFF2-40B4-BE49-F238E27FC236}">
                      <a16:creationId xmlns:a16="http://schemas.microsoft.com/office/drawing/2014/main" id="{1B3A98EC-672B-4963-8A05-3275E0649F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48205" y="3959386"/>
                  <a:ext cx="642938" cy="61609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bject 3">
                  <a:extLst>
                    <a:ext uri="{FF2B5EF4-FFF2-40B4-BE49-F238E27FC236}">
                      <a16:creationId xmlns:a16="http://schemas.microsoft.com/office/drawing/2014/main" id="{482B3CBC-DBC4-456D-AA09-3310276A0E36}"/>
                    </a:ext>
                  </a:extLst>
                </p:cNvPr>
                <p:cNvSpPr txBox="1"/>
                <p:nvPr/>
              </p:nvSpPr>
              <p:spPr bwMode="auto">
                <a:xfrm>
                  <a:off x="4866238" y="3979521"/>
                  <a:ext cx="451561" cy="5416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zh-CN" altLang="en-US" sz="27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accPr>
                          <m:e>
                            <m:r>
                              <a:rPr lang="en-US" altLang="zh-CN" sz="2700" b="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zh-CN" altLang="en-US" sz="2700" b="0" dirty="0">
                    <a:latin typeface="+mn-ea"/>
                    <a:ea typeface="+mn-ea"/>
                  </a:endParaRPr>
                </a:p>
              </p:txBody>
            </p:sp>
          </mc:Choice>
          <mc:Fallback xmlns="">
            <p:sp>
              <p:nvSpPr>
                <p:cNvPr id="35" name="Object 3">
                  <a:extLst>
                    <a:ext uri="{FF2B5EF4-FFF2-40B4-BE49-F238E27FC236}">
                      <a16:creationId xmlns:a16="http://schemas.microsoft.com/office/drawing/2014/main" id="{482B3CBC-DBC4-456D-AA09-3310276A0E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66238" y="3979521"/>
                  <a:ext cx="451561" cy="54169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3">
                <a:extLst>
                  <a:ext uri="{FF2B5EF4-FFF2-40B4-BE49-F238E27FC236}">
                    <a16:creationId xmlns:a16="http://schemas.microsoft.com/office/drawing/2014/main" id="{9E04C6F4-FBBC-4446-8150-8D5715980871}"/>
                  </a:ext>
                </a:extLst>
              </p:cNvPr>
              <p:cNvSpPr txBox="1"/>
              <p:nvPr/>
            </p:nvSpPr>
            <p:spPr bwMode="auto">
              <a:xfrm>
                <a:off x="1114125" y="4838875"/>
                <a:ext cx="1535894" cy="61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l-GR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e>
                        <m:sup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,</m:t>
                          </m:r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sz="27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37" name="Object 3">
                <a:extLst>
                  <a:ext uri="{FF2B5EF4-FFF2-40B4-BE49-F238E27FC236}">
                    <a16:creationId xmlns:a16="http://schemas.microsoft.com/office/drawing/2014/main" id="{9E04C6F4-FBBC-4446-8150-8D5715980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4125" y="4838875"/>
                <a:ext cx="1535894" cy="61242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9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38" grpId="0"/>
      <p:bldP spid="295947" grpId="0"/>
      <p:bldP spid="295957" grpId="0" animBg="1"/>
      <p:bldP spid="295958" grpId="0"/>
      <p:bldP spid="295959" grpId="0"/>
      <p:bldP spid="24" grpId="0"/>
      <p:bldP spid="28" grpId="0"/>
      <p:bldP spid="33" grpId="0"/>
      <p:bldP spid="3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21" name="Text Box 13">
            <a:extLst>
              <a:ext uri="{FF2B5EF4-FFF2-40B4-BE49-F238E27FC236}">
                <a16:creationId xmlns:a16="http://schemas.microsoft.com/office/drawing/2014/main" id="{85506CAF-B6C8-4705-9226-543D3B09B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8" y="3505545"/>
            <a:ext cx="4643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非相对论性的一维自由粒子：</a:t>
            </a:r>
          </a:p>
        </p:txBody>
      </p:sp>
      <p:sp>
        <p:nvSpPr>
          <p:cNvPr id="273423" name="Text Box 15">
            <a:extLst>
              <a:ext uri="{FF2B5EF4-FFF2-40B4-BE49-F238E27FC236}">
                <a16:creationId xmlns:a16="http://schemas.microsoft.com/office/drawing/2014/main" id="{9EEFD026-7F6B-4253-A37F-234B4022A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3716" y="3477193"/>
            <a:ext cx="3262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FF00"/>
                </a:solidFill>
              </a:rPr>
              <a:t>算符间对应关系：</a:t>
            </a:r>
          </a:p>
        </p:txBody>
      </p:sp>
      <p:sp>
        <p:nvSpPr>
          <p:cNvPr id="273427" name="Text Box 19">
            <a:extLst>
              <a:ext uri="{FF2B5EF4-FFF2-40B4-BE49-F238E27FC236}">
                <a16:creationId xmlns:a16="http://schemas.microsoft.com/office/drawing/2014/main" id="{60BBED24-B995-4B54-84B6-073561C44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5132377"/>
            <a:ext cx="7651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bg1"/>
                </a:solidFill>
              </a:rPr>
              <a:t>作用于波函数，得</a:t>
            </a:r>
            <a:r>
              <a:rPr lang="zh-CN" altLang="en-US" dirty="0">
                <a:solidFill>
                  <a:srgbClr val="FFFF00"/>
                </a:solidFill>
              </a:rPr>
              <a:t>自由粒子薛定谔方程</a:t>
            </a:r>
            <a:r>
              <a:rPr lang="en-US" altLang="zh-CN" dirty="0">
                <a:solidFill>
                  <a:srgbClr val="FFFF00"/>
                </a:solidFill>
              </a:rPr>
              <a:t>: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273432" name="Text Box 24">
            <a:extLst>
              <a:ext uri="{FF2B5EF4-FFF2-40B4-BE49-F238E27FC236}">
                <a16:creationId xmlns:a16="http://schemas.microsoft.com/office/drawing/2014/main" id="{309511B4-914D-476B-BC51-473CC96A1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7" y="302742"/>
            <a:ext cx="511256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定义力学量的算符：</a:t>
            </a:r>
          </a:p>
        </p:txBody>
      </p:sp>
      <p:sp>
        <p:nvSpPr>
          <p:cNvPr id="23564" name="灯片编号占位符 1">
            <a:extLst>
              <a:ext uri="{FF2B5EF4-FFF2-40B4-BE49-F238E27FC236}">
                <a16:creationId xmlns:a16="http://schemas.microsoft.com/office/drawing/2014/main" id="{F1EB85E5-82B8-4CFC-A8FD-6A3DBD303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A39031C-4D84-416C-8B44-FB64163FEA58}" type="slidenum">
              <a:rPr lang="en-US" altLang="zh-CN" b="0">
                <a:solidFill>
                  <a:srgbClr val="FF00FF"/>
                </a:solidFill>
              </a:rPr>
              <a:pPr/>
              <a:t>22</a:t>
            </a:fld>
            <a:r>
              <a:rPr lang="en-US" altLang="zh-CN" b="0">
                <a:solidFill>
                  <a:srgbClr val="FF00FF"/>
                </a:solidFill>
              </a:rPr>
              <a:t>/22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3">
                <a:extLst>
                  <a:ext uri="{FF2B5EF4-FFF2-40B4-BE49-F238E27FC236}">
                    <a16:creationId xmlns:a16="http://schemas.microsoft.com/office/drawing/2014/main" id="{BEE9D765-5A3A-4F2E-816C-98B4223A2076}"/>
                  </a:ext>
                </a:extLst>
              </p:cNvPr>
              <p:cNvSpPr txBox="1"/>
              <p:nvPr/>
            </p:nvSpPr>
            <p:spPr bwMode="auto">
              <a:xfrm>
                <a:off x="439538" y="2220058"/>
                <a:ext cx="2870506" cy="1016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Object 3">
                <a:extLst>
                  <a:ext uri="{FF2B5EF4-FFF2-40B4-BE49-F238E27FC236}">
                    <a16:creationId xmlns:a16="http://schemas.microsoft.com/office/drawing/2014/main" id="{BEE9D765-5A3A-4F2E-816C-98B4223A2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9538" y="2220058"/>
                <a:ext cx="2870506" cy="101664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1">
                <a:extLst>
                  <a:ext uri="{FF2B5EF4-FFF2-40B4-BE49-F238E27FC236}">
                    <a16:creationId xmlns:a16="http://schemas.microsoft.com/office/drawing/2014/main" id="{4BBE8279-63F0-44AD-960C-86C8E9DC33BE}"/>
                  </a:ext>
                </a:extLst>
              </p:cNvPr>
              <p:cNvSpPr txBox="1"/>
              <p:nvPr/>
            </p:nvSpPr>
            <p:spPr bwMode="auto">
              <a:xfrm>
                <a:off x="7236296" y="2467021"/>
                <a:ext cx="1696591" cy="616377"/>
              </a:xfrm>
              <a:prstGeom prst="rect">
                <a:avLst/>
              </a:prstGeom>
              <a:noFill/>
              <a:ln w="15875">
                <a:solidFill>
                  <a:srgbClr val="FFFF00"/>
                </a:solidFill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sz="2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5" name="Object 11">
                <a:extLst>
                  <a:ext uri="{FF2B5EF4-FFF2-40B4-BE49-F238E27FC236}">
                    <a16:creationId xmlns:a16="http://schemas.microsoft.com/office/drawing/2014/main" id="{4BBE8279-63F0-44AD-960C-86C8E9DC3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36296" y="2467021"/>
                <a:ext cx="1696591" cy="6163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5875">
                <a:solidFill>
                  <a:srgbClr val="FFFF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A505DD33-EBAB-45E3-909A-E496BFF2AE2C}"/>
                  </a:ext>
                </a:extLst>
              </p:cNvPr>
              <p:cNvSpPr txBox="1"/>
              <p:nvPr/>
            </p:nvSpPr>
            <p:spPr bwMode="auto">
              <a:xfrm>
                <a:off x="2671786" y="2211973"/>
                <a:ext cx="2525221" cy="1156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6" name="Object 14">
                <a:extLst>
                  <a:ext uri="{FF2B5EF4-FFF2-40B4-BE49-F238E27FC236}">
                    <a16:creationId xmlns:a16="http://schemas.microsoft.com/office/drawing/2014/main" id="{A505DD33-EBAB-45E3-909A-E496BFF2A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71786" y="2211973"/>
                <a:ext cx="2525221" cy="11566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20AACF73-BBF2-41F4-98CC-6D4AC358EC7F}"/>
                  </a:ext>
                </a:extLst>
              </p:cNvPr>
              <p:cNvSpPr txBox="1"/>
              <p:nvPr/>
            </p:nvSpPr>
            <p:spPr bwMode="auto">
              <a:xfrm>
                <a:off x="4976042" y="2211973"/>
                <a:ext cx="2187485" cy="10247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Object 15">
                <a:extLst>
                  <a:ext uri="{FF2B5EF4-FFF2-40B4-BE49-F238E27FC236}">
                    <a16:creationId xmlns:a16="http://schemas.microsoft.com/office/drawing/2014/main" id="{20AACF73-BBF2-41F4-98CC-6D4AC358E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76042" y="2211973"/>
                <a:ext cx="2187485" cy="10247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24">
            <a:extLst>
              <a:ext uri="{FF2B5EF4-FFF2-40B4-BE49-F238E27FC236}">
                <a16:creationId xmlns:a16="http://schemas.microsoft.com/office/drawing/2014/main" id="{C44E5201-20AE-4452-A39E-5ED130C9B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243" y="1699855"/>
            <a:ext cx="2701589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动量算符</a:t>
            </a:r>
            <a:r>
              <a:rPr lang="en-US" altLang="zh-CN" dirty="0">
                <a:solidFill>
                  <a:schemeClr val="bg1"/>
                </a:solidFill>
              </a:rPr>
              <a:t>: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1" name="Text Box 24">
            <a:extLst>
              <a:ext uri="{FF2B5EF4-FFF2-40B4-BE49-F238E27FC236}">
                <a16:creationId xmlns:a16="http://schemas.microsoft.com/office/drawing/2014/main" id="{89945EC0-EC47-4462-AE35-56F9801D6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361" y="977792"/>
            <a:ext cx="2039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位置算符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3">
                <a:extLst>
                  <a:ext uri="{FF2B5EF4-FFF2-40B4-BE49-F238E27FC236}">
                    <a16:creationId xmlns:a16="http://schemas.microsoft.com/office/drawing/2014/main" id="{9D1F1E14-FD24-4C2F-8777-699F49D25C9B}"/>
                  </a:ext>
                </a:extLst>
              </p:cNvPr>
              <p:cNvSpPr txBox="1"/>
              <p:nvPr/>
            </p:nvSpPr>
            <p:spPr bwMode="auto">
              <a:xfrm>
                <a:off x="2053143" y="945913"/>
                <a:ext cx="1538353" cy="5416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sz="2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Object 3">
                <a:extLst>
                  <a:ext uri="{FF2B5EF4-FFF2-40B4-BE49-F238E27FC236}">
                    <a16:creationId xmlns:a16="http://schemas.microsoft.com/office/drawing/2014/main" id="{9D1F1E14-FD24-4C2F-8777-699F49D25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3143" y="945913"/>
                <a:ext cx="1538353" cy="5416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3">
                <a:extLst>
                  <a:ext uri="{FF2B5EF4-FFF2-40B4-BE49-F238E27FC236}">
                    <a16:creationId xmlns:a16="http://schemas.microsoft.com/office/drawing/2014/main" id="{9F102B34-62A2-466D-8001-8493CFDE2D26}"/>
                  </a:ext>
                </a:extLst>
              </p:cNvPr>
              <p:cNvSpPr txBox="1"/>
              <p:nvPr/>
            </p:nvSpPr>
            <p:spPr bwMode="auto">
              <a:xfrm>
                <a:off x="3501096" y="945913"/>
                <a:ext cx="1538353" cy="5416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sz="2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Object 3">
                <a:extLst>
                  <a:ext uri="{FF2B5EF4-FFF2-40B4-BE49-F238E27FC236}">
                    <a16:creationId xmlns:a16="http://schemas.microsoft.com/office/drawing/2014/main" id="{9F102B34-62A2-466D-8001-8493CFDE2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1096" y="945913"/>
                <a:ext cx="1538353" cy="5416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3">
                <a:extLst>
                  <a:ext uri="{FF2B5EF4-FFF2-40B4-BE49-F238E27FC236}">
                    <a16:creationId xmlns:a16="http://schemas.microsoft.com/office/drawing/2014/main" id="{F55924DD-F321-4B0D-B0B3-0CC82E609980}"/>
                  </a:ext>
                </a:extLst>
              </p:cNvPr>
              <p:cNvSpPr txBox="1"/>
              <p:nvPr/>
            </p:nvSpPr>
            <p:spPr bwMode="auto">
              <a:xfrm>
                <a:off x="5039449" y="963607"/>
                <a:ext cx="1538353" cy="5416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sz="2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Object 3">
                <a:extLst>
                  <a:ext uri="{FF2B5EF4-FFF2-40B4-BE49-F238E27FC236}">
                    <a16:creationId xmlns:a16="http://schemas.microsoft.com/office/drawing/2014/main" id="{F55924DD-F321-4B0D-B0B3-0CC82E609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39449" y="963607"/>
                <a:ext cx="1538353" cy="5416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14">
                <a:extLst>
                  <a:ext uri="{FF2B5EF4-FFF2-40B4-BE49-F238E27FC236}">
                    <a16:creationId xmlns:a16="http://schemas.microsoft.com/office/drawing/2014/main" id="{14B3A346-56A1-4BDD-815E-5CBC8416497F}"/>
                  </a:ext>
                </a:extLst>
              </p:cNvPr>
              <p:cNvSpPr txBox="1"/>
              <p:nvPr/>
            </p:nvSpPr>
            <p:spPr bwMode="auto">
              <a:xfrm>
                <a:off x="1276645" y="3935452"/>
                <a:ext cx="2525221" cy="1156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𝐸</m:t>
                      </m:r>
                      <m:r>
                        <a:rPr lang="zh-CN" altLang="en-US" sz="28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zh-CN" altLang="en-US" sz="28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8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zh-CN" sz="28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  <m:r>
                            <a:rPr lang="en-US" altLang="zh-CN" sz="28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zh-CN" altLang="en-US" sz="2800" b="0" dirty="0">
                  <a:solidFill>
                    <a:srgbClr val="FFC000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8" name="Object 14">
                <a:extLst>
                  <a:ext uri="{FF2B5EF4-FFF2-40B4-BE49-F238E27FC236}">
                    <a16:creationId xmlns:a16="http://schemas.microsoft.com/office/drawing/2014/main" id="{14B3A346-56A1-4BDD-815E-5CBC84164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76645" y="3935452"/>
                <a:ext cx="2525221" cy="11566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3">
                <a:extLst>
                  <a:ext uri="{FF2B5EF4-FFF2-40B4-BE49-F238E27FC236}">
                    <a16:creationId xmlns:a16="http://schemas.microsoft.com/office/drawing/2014/main" id="{37DFB5BE-B67E-4A52-BEDE-1CE835C42049}"/>
                  </a:ext>
                </a:extLst>
              </p:cNvPr>
              <p:cNvSpPr txBox="1"/>
              <p:nvPr/>
            </p:nvSpPr>
            <p:spPr bwMode="auto">
              <a:xfrm>
                <a:off x="5436096" y="3975787"/>
                <a:ext cx="3262313" cy="1016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𝑖</m:t>
                      </m:r>
                      <m:r>
                        <a:rPr lang="zh-CN" altLang="en-US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ℏ</m:t>
                      </m:r>
                      <m:f>
                        <m:fPr>
                          <m:ctrlP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</m:num>
                        <m:den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</m:den>
                      </m:f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⟶</m:t>
                      </m:r>
                      <m:r>
                        <a:rPr lang="en-US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f>
                        <m:fPr>
                          <m:ctrlP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7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sz="27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</m:den>
                      </m:f>
                      <m:f>
                        <m:fPr>
                          <m:ctrlP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27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7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29" name="Object 3">
                <a:extLst>
                  <a:ext uri="{FF2B5EF4-FFF2-40B4-BE49-F238E27FC236}">
                    <a16:creationId xmlns:a16="http://schemas.microsoft.com/office/drawing/2014/main" id="{37DFB5BE-B67E-4A52-BEDE-1CE835C42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6096" y="3975787"/>
                <a:ext cx="3262313" cy="101664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3">
                <a:extLst>
                  <a:ext uri="{FF2B5EF4-FFF2-40B4-BE49-F238E27FC236}">
                    <a16:creationId xmlns:a16="http://schemas.microsoft.com/office/drawing/2014/main" id="{18E8A438-B2F4-49C6-ADAC-890AB5AD6A1E}"/>
                  </a:ext>
                </a:extLst>
              </p:cNvPr>
              <p:cNvSpPr txBox="1"/>
              <p:nvPr/>
            </p:nvSpPr>
            <p:spPr bwMode="auto">
              <a:xfrm>
                <a:off x="2195736" y="5672059"/>
                <a:ext cx="5278230" cy="1016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𝑖</m:t>
                      </m:r>
                      <m:r>
                        <a:rPr lang="zh-CN" altLang="en-US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ℏ</m:t>
                      </m:r>
                      <m:f>
                        <m:fPr>
                          <m:ctrlP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</m:num>
                        <m:den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</m:den>
                      </m:f>
                      <m:r>
                        <a:rPr lang="el-GR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𝛹</m:t>
                      </m:r>
                      <m:d>
                        <m:dPr>
                          <m:ctrlP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,</m:t>
                          </m:r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</m:e>
                      </m:d>
                      <m:r>
                        <a:rPr lang="en-US" altLang="zh-CN" sz="27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=−</m:t>
                      </m:r>
                      <m:f>
                        <m:fPr>
                          <m:ctrlP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7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sz="27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  <m:r>
                            <a:rPr lang="en-US" altLang="zh-CN" sz="27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</m:den>
                      </m:f>
                      <m:f>
                        <m:fPr>
                          <m:ctrlP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7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27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7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l-GR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𝛹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𝑥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,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𝑡</m:t>
                      </m:r>
                      <m:r>
                        <a:rPr lang="en-US" altLang="zh-CN" sz="27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)</m:t>
                      </m:r>
                    </m:oMath>
                  </m:oMathPara>
                </a14:m>
                <a:endParaRPr lang="zh-CN" altLang="en-US" sz="27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30" name="Object 3">
                <a:extLst>
                  <a:ext uri="{FF2B5EF4-FFF2-40B4-BE49-F238E27FC236}">
                    <a16:creationId xmlns:a16="http://schemas.microsoft.com/office/drawing/2014/main" id="{18E8A438-B2F4-49C6-ADAC-890AB5AD6A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5736" y="5672059"/>
                <a:ext cx="5278230" cy="101664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273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withGroup">
                            <p:stCondLst>
                              <p:cond delay="3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300"/>
                                        <p:tgtEl>
                                          <p:spTgt spid="273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withGroup">
                            <p:stCondLst>
                              <p:cond delay="3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21" grpId="0"/>
      <p:bldP spid="273423" grpId="0"/>
      <p:bldP spid="273427" grpId="0"/>
      <p:bldP spid="273432" grpId="0"/>
      <p:bldP spid="14" grpId="0"/>
      <p:bldP spid="15" grpId="0" animBg="1"/>
      <p:bldP spid="16" grpId="0"/>
      <p:bldP spid="17" grpId="0"/>
      <p:bldP spid="20" grpId="0"/>
      <p:bldP spid="21" grpId="0"/>
      <p:bldP spid="22" grpId="0"/>
      <p:bldP spid="26" grpId="0"/>
      <p:bldP spid="27" grpId="0"/>
      <p:bldP spid="28" grpId="0"/>
      <p:bldP spid="29" grpId="0"/>
      <p:bldP spid="3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47" name="Rectangle 15">
            <a:extLst>
              <a:ext uri="{FF2B5EF4-FFF2-40B4-BE49-F238E27FC236}">
                <a16:creationId xmlns:a16="http://schemas.microsoft.com/office/drawing/2014/main" id="{6AA347BB-B644-4E4F-81C7-337EE90E9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244502"/>
            <a:ext cx="5544615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zh-CN" altLang="en-US" dirty="0">
                <a:solidFill>
                  <a:srgbClr val="FFFF00"/>
                </a:solidFill>
              </a:rPr>
              <a:t>薛定谔方程</a:t>
            </a:r>
            <a:r>
              <a:rPr lang="en-US" altLang="zh-CN" dirty="0">
                <a:solidFill>
                  <a:srgbClr val="FFFF00"/>
                </a:solidFill>
              </a:rPr>
              <a:t>:</a:t>
            </a:r>
          </a:p>
          <a:p>
            <a:pPr eaLnBrk="0" hangingPunct="0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设粒子在一维势场</a:t>
            </a:r>
            <a:r>
              <a:rPr lang="en-US" altLang="zh-CN" i="1" dirty="0">
                <a:solidFill>
                  <a:schemeClr val="bg1"/>
                </a:solidFill>
              </a:rPr>
              <a:t>U</a:t>
            </a:r>
            <a:r>
              <a:rPr lang="en-US" altLang="zh-CN" dirty="0">
                <a:solidFill>
                  <a:schemeClr val="bg1"/>
                </a:solidFill>
              </a:rPr>
              <a:t>(</a:t>
            </a:r>
            <a:r>
              <a:rPr lang="en-US" altLang="zh-CN" i="1" dirty="0" err="1">
                <a:solidFill>
                  <a:schemeClr val="bg1"/>
                </a:solidFill>
              </a:rPr>
              <a:t>x</a:t>
            </a:r>
            <a:r>
              <a:rPr lang="en-US" altLang="zh-CN" dirty="0" err="1">
                <a:solidFill>
                  <a:schemeClr val="bg1"/>
                </a:solidFill>
              </a:rPr>
              <a:t>,t</a:t>
            </a:r>
            <a:r>
              <a:rPr lang="en-US" altLang="zh-CN" dirty="0">
                <a:solidFill>
                  <a:schemeClr val="bg1"/>
                </a:solidFill>
              </a:rPr>
              <a:t>) </a:t>
            </a:r>
            <a:r>
              <a:rPr lang="zh-CN" altLang="en-US" dirty="0">
                <a:solidFill>
                  <a:schemeClr val="bg1"/>
                </a:solidFill>
              </a:rPr>
              <a:t>中运动，能量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274452" name="Text Box 20">
            <a:extLst>
              <a:ext uri="{FF2B5EF4-FFF2-40B4-BE49-F238E27FC236}">
                <a16:creationId xmlns:a16="http://schemas.microsoft.com/office/drawing/2014/main" id="{D2E7C4C6-3180-4E6B-874E-02097951A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443" y="1928813"/>
            <a:ext cx="32623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dirty="0">
                <a:solidFill>
                  <a:srgbClr val="FFFF00"/>
                </a:solidFill>
              </a:rPr>
              <a:t> </a:t>
            </a:r>
            <a:r>
              <a:rPr lang="zh-CN" altLang="en-US" dirty="0">
                <a:solidFill>
                  <a:srgbClr val="FFFF00"/>
                </a:solidFill>
              </a:rPr>
              <a:t>算符对应关系：</a:t>
            </a:r>
          </a:p>
        </p:txBody>
      </p:sp>
      <p:sp>
        <p:nvSpPr>
          <p:cNvPr id="274454" name="Text Box 22">
            <a:extLst>
              <a:ext uri="{FF2B5EF4-FFF2-40B4-BE49-F238E27FC236}">
                <a16:creationId xmlns:a16="http://schemas.microsoft.com/office/drawing/2014/main" id="{406A97F4-E772-4126-9964-61D3C70A5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443" y="2714877"/>
            <a:ext cx="73707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dirty="0">
                <a:solidFill>
                  <a:schemeClr val="bg1"/>
                </a:solidFill>
              </a:rPr>
              <a:t>作用于波函数，势场中一维运动粒子</a:t>
            </a:r>
            <a:r>
              <a:rPr lang="zh-CN" altLang="en-US" dirty="0">
                <a:solidFill>
                  <a:srgbClr val="FFFF00"/>
                </a:solidFill>
              </a:rPr>
              <a:t>薛定谔方程：</a:t>
            </a:r>
          </a:p>
        </p:txBody>
      </p:sp>
      <p:sp>
        <p:nvSpPr>
          <p:cNvPr id="24584" name="灯片编号占位符 1">
            <a:extLst>
              <a:ext uri="{FF2B5EF4-FFF2-40B4-BE49-F238E27FC236}">
                <a16:creationId xmlns:a16="http://schemas.microsoft.com/office/drawing/2014/main" id="{EA161F9C-3039-4B68-8118-C7E2608B7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77DB65B-BF95-4CFB-9FEE-A4575C7526C1}" type="slidenum">
              <a:rPr lang="en-US" altLang="zh-CN" b="0">
                <a:solidFill>
                  <a:srgbClr val="FF00FF"/>
                </a:solidFill>
              </a:rPr>
              <a:pPr/>
              <a:t>23</a:t>
            </a:fld>
            <a:r>
              <a:rPr lang="en-US" altLang="zh-CN" b="0">
                <a:solidFill>
                  <a:srgbClr val="FF00FF"/>
                </a:solidFill>
              </a:rPr>
              <a:t>/22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4">
                <a:extLst>
                  <a:ext uri="{FF2B5EF4-FFF2-40B4-BE49-F238E27FC236}">
                    <a16:creationId xmlns:a16="http://schemas.microsoft.com/office/drawing/2014/main" id="{6D32E6A2-CF11-4FF8-86F4-99A5306A5E31}"/>
                  </a:ext>
                </a:extLst>
              </p:cNvPr>
              <p:cNvSpPr txBox="1"/>
              <p:nvPr/>
            </p:nvSpPr>
            <p:spPr bwMode="auto">
              <a:xfrm>
                <a:off x="5796136" y="616173"/>
                <a:ext cx="3194102" cy="1156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𝐸</m:t>
                      </m:r>
                      <m:r>
                        <a:rPr lang="zh-CN" altLang="en-US" sz="28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zh-CN" altLang="en-US" sz="28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8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SupPr>
                            <m:e>
                              <m:r>
                                <a:rPr lang="en-US" altLang="zh-CN" sz="28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zh-CN" sz="28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altLang="zh-CN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  <m:r>
                            <a:rPr lang="en-US" altLang="zh-CN" sz="28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</m:den>
                      </m:f>
                      <m:r>
                        <a:rPr lang="en-US" altLang="zh-CN" sz="28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r>
                        <a:rPr lang="en-US" altLang="zh-CN" sz="28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𝑈</m:t>
                      </m:r>
                      <m:r>
                        <a:rPr lang="en-US" altLang="zh-CN" sz="28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r>
                        <a:rPr lang="en-US" altLang="zh-CN" sz="28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𝑥</m:t>
                      </m:r>
                      <m:r>
                        <a:rPr lang="en-US" altLang="zh-CN" sz="28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,</m:t>
                      </m:r>
                      <m:r>
                        <a:rPr lang="en-US" altLang="zh-CN" sz="28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𝑡</m:t>
                      </m:r>
                      <m:r>
                        <a:rPr lang="en-US" altLang="zh-CN" sz="28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)</m:t>
                      </m:r>
                    </m:oMath>
                  </m:oMathPara>
                </a14:m>
                <a:endParaRPr lang="zh-CN" altLang="en-US" sz="2800" b="0" dirty="0">
                  <a:solidFill>
                    <a:srgbClr val="FFC000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0" name="Object 14">
                <a:extLst>
                  <a:ext uri="{FF2B5EF4-FFF2-40B4-BE49-F238E27FC236}">
                    <a16:creationId xmlns:a16="http://schemas.microsoft.com/office/drawing/2014/main" id="{6D32E6A2-CF11-4FF8-86F4-99A5306A5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96136" y="616173"/>
                <a:ext cx="3194102" cy="11566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3">
                <a:extLst>
                  <a:ext uri="{FF2B5EF4-FFF2-40B4-BE49-F238E27FC236}">
                    <a16:creationId xmlns:a16="http://schemas.microsoft.com/office/drawing/2014/main" id="{CF917535-578F-4D67-843B-9BBB1C5C3EBE}"/>
                  </a:ext>
                </a:extLst>
              </p:cNvPr>
              <p:cNvSpPr txBox="1"/>
              <p:nvPr/>
            </p:nvSpPr>
            <p:spPr bwMode="auto">
              <a:xfrm>
                <a:off x="3083074" y="1604711"/>
                <a:ext cx="5060801" cy="1016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𝑖</m:t>
                      </m:r>
                      <m:r>
                        <a:rPr lang="zh-CN" altLang="en-US" sz="2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ℏ</m:t>
                      </m:r>
                      <m:f>
                        <m:fPr>
                          <m:ctrlPr>
                            <a:rPr lang="zh-CN" altLang="en-US" sz="28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  <m:r>
                            <a:rPr lang="en-US" altLang="zh-CN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</m:den>
                      </m:f>
                      <m:r>
                        <a:rPr lang="en-US" altLang="zh-CN" sz="28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⟶</m:t>
                      </m:r>
                      <m:r>
                        <a:rPr lang="en-US" altLang="zh-CN" sz="2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f>
                        <m:fPr>
                          <m:ctrlPr>
                            <a:rPr lang="zh-CN" altLang="en-US" sz="28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8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ℏ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  <m:r>
                            <a:rPr lang="en-US" altLang="zh-CN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𝑚</m:t>
                          </m:r>
                        </m:den>
                      </m:f>
                      <m:f>
                        <m:fPr>
                          <m:ctrlPr>
                            <a:rPr lang="zh-CN" altLang="en-US" sz="28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zh-CN" altLang="en-US" sz="28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CN" sz="28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8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altLang="zh-CN" sz="28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28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+</m:t>
                      </m:r>
                      <m:r>
                        <a:rPr lang="en-US" altLang="zh-CN" sz="28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𝑈</m:t>
                      </m:r>
                      <m:r>
                        <a:rPr lang="en-US" altLang="zh-CN" sz="28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r>
                        <a:rPr lang="en-US" altLang="zh-CN" sz="28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𝑥</m:t>
                      </m:r>
                      <m:r>
                        <a:rPr lang="en-US" altLang="zh-CN" sz="28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,</m:t>
                      </m:r>
                      <m:r>
                        <a:rPr lang="en-US" altLang="zh-CN" sz="28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𝑡</m:t>
                      </m:r>
                      <m:r>
                        <a:rPr lang="en-US" altLang="zh-CN" sz="28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)</m:t>
                      </m:r>
                    </m:oMath>
                  </m:oMathPara>
                </a14:m>
                <a:endParaRPr lang="zh-CN" altLang="en-US" sz="28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1" name="Object 3">
                <a:extLst>
                  <a:ext uri="{FF2B5EF4-FFF2-40B4-BE49-F238E27FC236}">
                    <a16:creationId xmlns:a16="http://schemas.microsoft.com/office/drawing/2014/main" id="{CF917535-578F-4D67-843B-9BBB1C5C3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3074" y="1604711"/>
                <a:ext cx="5060801" cy="10166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3">
                <a:extLst>
                  <a:ext uri="{FF2B5EF4-FFF2-40B4-BE49-F238E27FC236}">
                    <a16:creationId xmlns:a16="http://schemas.microsoft.com/office/drawing/2014/main" id="{46F1815C-A7AC-40A8-84D3-2D3D2645E389}"/>
                  </a:ext>
                </a:extLst>
              </p:cNvPr>
              <p:cNvSpPr txBox="1"/>
              <p:nvPr/>
            </p:nvSpPr>
            <p:spPr bwMode="auto">
              <a:xfrm>
                <a:off x="1619672" y="3276450"/>
                <a:ext cx="6768752" cy="10166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𝑖</m:t>
                      </m:r>
                      <m:r>
                        <a:rPr lang="zh-CN" altLang="en-US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ℏ</m:t>
                      </m:r>
                      <m:f>
                        <m:fPr>
                          <m:ctrlPr>
                            <a:rPr lang="zh-CN" altLang="en-US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zh-CN" altLang="en-US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</m:num>
                        <m:den>
                          <m:r>
                            <a:rPr lang="zh-CN" altLang="en-US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  <m: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</m:den>
                      </m:f>
                      <m:r>
                        <a:rPr lang="el-GR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𝛹</m:t>
                      </m:r>
                      <m:d>
                        <m:dPr>
                          <m:ctrlP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𝑥</m:t>
                          </m:r>
                          <m: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,</m:t>
                          </m:r>
                          <m: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</m:e>
                      </m:d>
                      <m:r>
                        <a:rPr lang="en-US" altLang="zh-CN" sz="25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d>
                        <m:dPr>
                          <m:ctrlPr>
                            <a:rPr lang="en-US" altLang="zh-CN" sz="25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500" b="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500" b="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sz="2500" b="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f>
                            <m:fPr>
                              <m:ctrlPr>
                                <a:rPr lang="zh-CN" altLang="en-US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500" b="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500" b="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altLang="zh-CN" sz="2500" b="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5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altLang="zh-CN" sz="2500" b="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500" b="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500" b="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5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l-GR" altLang="zh-CN" sz="25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𝛹</m:t>
                      </m:r>
                      <m:r>
                        <a:rPr lang="en-US" altLang="zh-CN" sz="25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(</m:t>
                      </m:r>
                      <m:r>
                        <a:rPr lang="en-US" altLang="zh-CN" sz="25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𝑥</m:t>
                      </m:r>
                      <m:r>
                        <a:rPr lang="en-US" altLang="zh-CN" sz="25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,</m:t>
                      </m:r>
                      <m:r>
                        <a:rPr lang="en-US" altLang="zh-CN" sz="25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𝑡</m:t>
                      </m:r>
                      <m:r>
                        <a:rPr lang="en-US" altLang="zh-CN" sz="25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)</m:t>
                      </m:r>
                    </m:oMath>
                  </m:oMathPara>
                </a14:m>
                <a:endParaRPr lang="zh-CN" altLang="en-US" sz="25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2" name="Object 3">
                <a:extLst>
                  <a:ext uri="{FF2B5EF4-FFF2-40B4-BE49-F238E27FC236}">
                    <a16:creationId xmlns:a16="http://schemas.microsoft.com/office/drawing/2014/main" id="{46F1815C-A7AC-40A8-84D3-2D3D2645E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672" y="3276450"/>
                <a:ext cx="6768752" cy="10166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2">
            <a:extLst>
              <a:ext uri="{FF2B5EF4-FFF2-40B4-BE49-F238E27FC236}">
                <a16:creationId xmlns:a16="http://schemas.microsoft.com/office/drawing/2014/main" id="{F238E83D-18DF-4469-8B2C-9AF71BF1A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4466681"/>
            <a:ext cx="12151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</a:rPr>
              <a:t>三维</a:t>
            </a:r>
            <a:endParaRPr lang="en-US" altLang="zh-CN" dirty="0">
              <a:solidFill>
                <a:schemeClr val="bg1"/>
              </a:solidFill>
            </a:endParaRPr>
          </a:p>
          <a:p>
            <a:pPr eaLnBrk="0" hangingPunct="0">
              <a:spcBef>
                <a:spcPts val="0"/>
              </a:spcBef>
            </a:pPr>
            <a:r>
              <a:rPr lang="zh-CN" altLang="en-US" dirty="0">
                <a:solidFill>
                  <a:schemeClr val="bg1"/>
                </a:solidFill>
              </a:rPr>
              <a:t>空间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3">
                <a:extLst>
                  <a:ext uri="{FF2B5EF4-FFF2-40B4-BE49-F238E27FC236}">
                    <a16:creationId xmlns:a16="http://schemas.microsoft.com/office/drawing/2014/main" id="{D1A4A40D-D1DD-4B65-B429-694B6F398054}"/>
                  </a:ext>
                </a:extLst>
              </p:cNvPr>
              <p:cNvSpPr txBox="1"/>
              <p:nvPr/>
            </p:nvSpPr>
            <p:spPr bwMode="auto">
              <a:xfrm>
                <a:off x="1259632" y="4416427"/>
                <a:ext cx="7884368" cy="1121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3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𝑖</m:t>
                      </m:r>
                      <m:r>
                        <a:rPr lang="zh-CN" altLang="en-US" sz="23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ℏ</m:t>
                      </m:r>
                      <m:f>
                        <m:fPr>
                          <m:ctrlPr>
                            <a:rPr lang="zh-CN" altLang="en-US" sz="23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lang="zh-CN" altLang="en-US" sz="23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</m:num>
                        <m:den>
                          <m:r>
                            <a:rPr lang="zh-CN" altLang="en-US" sz="23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𝜕</m:t>
                          </m:r>
                          <m:r>
                            <a:rPr lang="en-US" altLang="zh-CN" sz="23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𝑡</m:t>
                          </m:r>
                        </m:den>
                      </m:f>
                      <m:r>
                        <a:rPr lang="el-GR" altLang="zh-CN" sz="23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𝛹</m:t>
                      </m:r>
                      <m:r>
                        <a:rPr lang="en-US" altLang="zh-CN" sz="23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⃑"/>
                          <m:ctrlPr>
                            <a:rPr lang="en-US" altLang="zh-CN" sz="23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3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zh-CN" sz="23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3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3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3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dPr>
                        <m:e>
                          <m:r>
                            <a:rPr lang="en-US" altLang="zh-CN" sz="23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3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300" b="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300" b="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zh-CN" sz="2300" b="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3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3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  <m:d>
                            <m:dPr>
                              <m:ctrlPr>
                                <a:rPr lang="en-US" altLang="zh-CN" sz="23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300" b="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300" b="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300" b="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p>
                                      <m:r>
                                        <a:rPr lang="en-US" altLang="zh-CN" sz="2300" b="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altLang="en-US" sz="2300" b="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altLang="zh-CN" sz="2300" b="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300" b="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2300" b="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altLang="zh-CN" sz="23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2300" b="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300" b="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300" b="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p>
                                      <m:r>
                                        <a:rPr lang="en-US" altLang="zh-CN" sz="2300" b="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altLang="en-US" sz="2300" b="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altLang="zh-CN" sz="2300" b="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300" b="0" i="1" smtClean="0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CN" sz="2300" b="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altLang="zh-CN" sz="23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2300" b="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zh-CN" sz="2300" b="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300" b="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p>
                                      <m:r>
                                        <a:rPr lang="en-US" altLang="zh-CN" sz="2300" b="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altLang="en-US" sz="2300" b="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altLang="zh-CN" sz="2300" b="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300" b="0" i="1" smtClean="0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altLang="zh-CN" sz="2300" b="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en-US" altLang="zh-CN" sz="23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3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altLang="zh-CN" sz="23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⃑"/>
                              <m:ctrlPr>
                                <a:rPr lang="en-US" altLang="zh-CN" sz="23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300" b="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a:rPr lang="en-US" altLang="zh-CN" sz="23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3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3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l-GR" altLang="zh-CN" sz="23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𝛹</m:t>
                      </m:r>
                      <m:r>
                        <a:rPr lang="en-US" altLang="zh-CN" sz="23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⃑"/>
                          <m:ctrlPr>
                            <a:rPr lang="en-US" altLang="zh-CN" sz="23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300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zh-CN" sz="23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3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300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3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5" name="Object 3">
                <a:extLst>
                  <a:ext uri="{FF2B5EF4-FFF2-40B4-BE49-F238E27FC236}">
                    <a16:creationId xmlns:a16="http://schemas.microsoft.com/office/drawing/2014/main" id="{D1A4A40D-D1DD-4B65-B429-694B6F398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9632" y="4416427"/>
                <a:ext cx="7884368" cy="11215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5">
                <a:extLst>
                  <a:ext uri="{FF2B5EF4-FFF2-40B4-BE49-F238E27FC236}">
                    <a16:creationId xmlns:a16="http://schemas.microsoft.com/office/drawing/2014/main" id="{70FCE77B-8D7F-4C13-AA4F-6F5BF07779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164" y="5640684"/>
                <a:ext cx="2133600" cy="8309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lang="zh-CN" altLang="en-US" dirty="0">
                    <a:solidFill>
                      <a:schemeClr val="bg1"/>
                    </a:solidFill>
                  </a:rPr>
                  <a:t>引入拉普拉斯算符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</m:oMath>
                </a14:m>
                <a:r>
                  <a:rPr lang="en-US" altLang="zh-CN" baseline="30000" dirty="0">
                    <a:solidFill>
                      <a:srgbClr val="FFC000"/>
                    </a:solidFill>
                  </a:rPr>
                  <a:t>2 </a:t>
                </a:r>
                <a:r>
                  <a:rPr lang="en-US" altLang="zh-CN" dirty="0">
                    <a:solidFill>
                      <a:srgbClr val="FFC000"/>
                    </a:solidFill>
                  </a:rPr>
                  <a:t>= </a:t>
                </a:r>
                <a:r>
                  <a:rPr lang="en-US" altLang="zh-CN" dirty="0">
                    <a:solidFill>
                      <a:srgbClr val="FFC000"/>
                    </a:solidFill>
                    <a:sym typeface="Symbol" panose="05050102010706020507" pitchFamily="18" charset="2"/>
                  </a:rPr>
                  <a:t>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 Box 5">
                <a:extLst>
                  <a:ext uri="{FF2B5EF4-FFF2-40B4-BE49-F238E27FC236}">
                    <a16:creationId xmlns:a16="http://schemas.microsoft.com/office/drawing/2014/main" id="{70FCE77B-8D7F-4C13-AA4F-6F5BF0777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7164" y="5640684"/>
                <a:ext cx="2133600" cy="830997"/>
              </a:xfrm>
              <a:prstGeom prst="rect">
                <a:avLst/>
              </a:prstGeom>
              <a:blipFill>
                <a:blip r:embed="rId6"/>
                <a:stretch>
                  <a:fillRect l="-4286" t="-5839" r="-286" b="-1605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3">
                <a:extLst>
                  <a:ext uri="{FF2B5EF4-FFF2-40B4-BE49-F238E27FC236}">
                    <a16:creationId xmlns:a16="http://schemas.microsoft.com/office/drawing/2014/main" id="{22DEB3F4-1542-4D4D-9F34-1FDA6D2F9D38}"/>
                  </a:ext>
                </a:extLst>
              </p:cNvPr>
              <p:cNvSpPr txBox="1"/>
              <p:nvPr/>
            </p:nvSpPr>
            <p:spPr bwMode="auto">
              <a:xfrm>
                <a:off x="2541292" y="5640684"/>
                <a:ext cx="6506470" cy="8846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5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+mn-ea"/>
                      </a:rPr>
                      <m:t>𝑖</m:t>
                    </m:r>
                    <m:r>
                      <a:rPr lang="zh-CN" altLang="en-US" sz="25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+mn-ea"/>
                      </a:rPr>
                      <m:t>ℏ</m:t>
                    </m:r>
                    <m:f>
                      <m:fPr>
                        <m:ctrlPr>
                          <a:rPr lang="zh-CN" altLang="en-US" sz="2500" b="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lang="zh-CN" altLang="en-US" sz="2500" b="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𝜕</m:t>
                        </m:r>
                      </m:num>
                      <m:den>
                        <m:r>
                          <a:rPr lang="zh-CN" altLang="en-US" sz="2500" b="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𝜕</m:t>
                        </m:r>
                        <m:r>
                          <a:rPr lang="en-US" altLang="zh-CN" sz="25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𝑡</m:t>
                        </m:r>
                      </m:den>
                    </m:f>
                    <m:r>
                      <a:rPr lang="el-GR" altLang="zh-CN" sz="25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+mn-ea"/>
                      </a:rPr>
                      <m:t>𝛹</m:t>
                    </m:r>
                    <m:r>
                      <a:rPr lang="en-US" altLang="zh-CN" sz="2500" b="0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⃑"/>
                        <m:ctrlPr>
                          <a:rPr lang="en-US" altLang="zh-CN" sz="2500" b="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500" b="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altLang="zh-CN" sz="2500" b="0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500" b="0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500" b="0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5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a:rPr lang="en-US" altLang="zh-CN" sz="2500" b="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en-US" sz="2500" b="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500" b="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500" b="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ℏ</m:t>
                                </m:r>
                              </m:e>
                              <m:sup>
                                <m:r>
                                  <a:rPr lang="en-US" altLang="zh-CN" sz="2500" b="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500" b="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500" b="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sz="25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5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</m:e>
                          <m:sup>
                            <m:r>
                              <a:rPr lang="en-US" altLang="zh-CN" sz="25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500" b="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500" b="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altLang="zh-CN" sz="2500" b="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⃑"/>
                            <m:ctrlPr>
                              <a:rPr lang="en-US" altLang="zh-CN" sz="2500" b="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500" b="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a:rPr lang="en-US" altLang="zh-CN" sz="2500" b="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500" b="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500" b="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l-GR" altLang="zh-CN" sz="2500" b="0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+mn-ea"/>
                      </a:rPr>
                      <m:t>𝛹</m:t>
                    </m:r>
                  </m:oMath>
                </a14:m>
                <a:r>
                  <a:rPr lang="en-US" altLang="zh-CN" sz="2500" b="0" dirty="0">
                    <a:solidFill>
                      <a:srgbClr val="FFC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500" b="0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⃑"/>
                        <m:ctrlPr>
                          <a:rPr lang="en-US" altLang="zh-CN" sz="2500" b="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500" b="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altLang="zh-CN" sz="2500" b="0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500" b="0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500" b="0" i="1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500" b="0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9" name="Object 3">
                <a:extLst>
                  <a:ext uri="{FF2B5EF4-FFF2-40B4-BE49-F238E27FC236}">
                    <a16:creationId xmlns:a16="http://schemas.microsoft.com/office/drawing/2014/main" id="{22DEB3F4-1542-4D4D-9F34-1FDA6D2F9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1292" y="5640684"/>
                <a:ext cx="6506470" cy="8846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4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"/>
                                        <p:tgtEl>
                                          <p:spTgt spid="27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47" grpId="0"/>
      <p:bldP spid="274452" grpId="0"/>
      <p:bldP spid="274454" grpId="0"/>
      <p:bldP spid="10" grpId="0"/>
      <p:bldP spid="11" grpId="0"/>
      <p:bldP spid="12" grpId="0"/>
      <p:bldP spid="13" grpId="0"/>
      <p:bldP spid="15" grpId="0"/>
      <p:bldP spid="17" grpId="0"/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Text Box 20">
            <a:extLst>
              <a:ext uri="{FF2B5EF4-FFF2-40B4-BE49-F238E27FC236}">
                <a16:creationId xmlns:a16="http://schemas.microsoft.com/office/drawing/2014/main" id="{CB1151C0-1855-4C03-8A52-E09D45313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280" y="173583"/>
            <a:ext cx="4176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FFFF00"/>
                </a:solidFill>
                <a:latin typeface="+mn-ea"/>
                <a:ea typeface="+mn-ea"/>
              </a:rPr>
              <a:t>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ea"/>
                <a:ea typeface="+mn-ea"/>
              </a:rPr>
              <a:t>、算符的对易关系：</a:t>
            </a:r>
          </a:p>
        </p:txBody>
      </p:sp>
      <p:sp>
        <p:nvSpPr>
          <p:cNvPr id="4117" name="Rectangle 21">
            <a:extLst>
              <a:ext uri="{FF2B5EF4-FFF2-40B4-BE49-F238E27FC236}">
                <a16:creationId xmlns:a16="http://schemas.microsoft.com/office/drawing/2014/main" id="{CFBCF2A8-86F2-427A-9FA1-369A27E80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43" y="718417"/>
            <a:ext cx="837389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对于任意的波函数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，如果把算符看做一种变换，那么一个算符作用于一个波函数，将会得到新的一个波函数。因此，多个算符作用于波函数，很多情况下是不可以调换顺序的。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18" name="Object 22">
                <a:extLst>
                  <a:ext uri="{FF2B5EF4-FFF2-40B4-BE49-F238E27FC236}">
                    <a16:creationId xmlns:a16="http://schemas.microsoft.com/office/drawing/2014/main" id="{594EFAEF-195C-410F-BC26-2EFBE966F31A}"/>
                  </a:ext>
                </a:extLst>
              </p:cNvPr>
              <p:cNvSpPr txBox="1"/>
              <p:nvPr/>
            </p:nvSpPr>
            <p:spPr bwMode="auto">
              <a:xfrm>
                <a:off x="733213" y="1924568"/>
                <a:ext cx="6551613" cy="1135371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sz="2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80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zh-CN" altLang="en-US" sz="2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zh-CN" sz="2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eqArr>
                            <m:eqArrPr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&amp;=0……</m:t>
                              </m:r>
                              <m:acc>
                                <m:accPr>
                                  <m:chr m:val="̂"/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  <m:r>
                                <a:rPr lang="en-US" altLang="zh-CN" sz="28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对易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&amp;≠0……</m:t>
                              </m:r>
                              <m:acc>
                                <m:accPr>
                                  <m:chr m:val="̂"/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  <m:r>
                                <a:rPr lang="en-US" altLang="zh-CN" sz="28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不对易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18" name="Object 22">
                <a:extLst>
                  <a:ext uri="{FF2B5EF4-FFF2-40B4-BE49-F238E27FC236}">
                    <a16:creationId xmlns:a16="http://schemas.microsoft.com/office/drawing/2014/main" id="{594EFAEF-195C-410F-BC26-2EFBE966F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3213" y="1924568"/>
                <a:ext cx="6551613" cy="11353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65">
            <a:extLst>
              <a:ext uri="{FF2B5EF4-FFF2-40B4-BE49-F238E27FC236}">
                <a16:creationId xmlns:a16="http://schemas.microsoft.com/office/drawing/2014/main" id="{99B67790-CBDE-411B-AFCA-19597133AD25}"/>
              </a:ext>
            </a:extLst>
          </p:cNvPr>
          <p:cNvGrpSpPr>
            <a:grpSpLocks/>
          </p:cNvGrpSpPr>
          <p:nvPr/>
        </p:nvGrpSpPr>
        <p:grpSpPr bwMode="auto">
          <a:xfrm>
            <a:off x="323528" y="3025637"/>
            <a:ext cx="7999413" cy="646113"/>
            <a:chOff x="204" y="223"/>
            <a:chExt cx="5039" cy="407"/>
          </a:xfrm>
        </p:grpSpPr>
        <p:sp>
          <p:nvSpPr>
            <p:cNvPr id="6" name="Text Box 12">
              <a:extLst>
                <a:ext uri="{FF2B5EF4-FFF2-40B4-BE49-F238E27FC236}">
                  <a16:creationId xmlns:a16="http://schemas.microsoft.com/office/drawing/2014/main" id="{F509BCA0-980C-4334-A092-1A0FFBFB0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71"/>
              <a:ext cx="50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1.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坐标算符   和动量算符    的对易关系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bject 13">
                  <a:extLst>
                    <a:ext uri="{FF2B5EF4-FFF2-40B4-BE49-F238E27FC236}">
                      <a16:creationId xmlns:a16="http://schemas.microsoft.com/office/drawing/2014/main" id="{6394E977-49F0-47E2-9724-D3C85F258FFD}"/>
                    </a:ext>
                  </a:extLst>
                </p:cNvPr>
                <p:cNvSpPr txBox="1"/>
                <p:nvPr/>
              </p:nvSpPr>
              <p:spPr bwMode="auto">
                <a:xfrm>
                  <a:off x="1361" y="255"/>
                  <a:ext cx="300" cy="360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zh-CN" altLang="en-US" sz="28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7" name="Object 13">
                  <a:extLst>
                    <a:ext uri="{FF2B5EF4-FFF2-40B4-BE49-F238E27FC236}">
                      <a16:creationId xmlns:a16="http://schemas.microsoft.com/office/drawing/2014/main" id="{6394E977-49F0-47E2-9724-D3C85F258F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61" y="255"/>
                  <a:ext cx="300" cy="36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bject 15">
                  <a:extLst>
                    <a:ext uri="{FF2B5EF4-FFF2-40B4-BE49-F238E27FC236}">
                      <a16:creationId xmlns:a16="http://schemas.microsoft.com/office/drawing/2014/main" id="{D9434E8C-F593-46F5-BE36-281C6A2F15AA}"/>
                    </a:ext>
                  </a:extLst>
                </p:cNvPr>
                <p:cNvSpPr txBox="1"/>
                <p:nvPr/>
              </p:nvSpPr>
              <p:spPr bwMode="auto">
                <a:xfrm>
                  <a:off x="2619" y="223"/>
                  <a:ext cx="389" cy="407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CN" altLang="en-US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" name="Object 15">
                  <a:extLst>
                    <a:ext uri="{FF2B5EF4-FFF2-40B4-BE49-F238E27FC236}">
                      <a16:creationId xmlns:a16="http://schemas.microsoft.com/office/drawing/2014/main" id="{D9434E8C-F593-46F5-BE36-281C6A2F15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19" y="223"/>
                  <a:ext cx="389" cy="40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bject 17">
                  <a:extLst>
                    <a:ext uri="{FF2B5EF4-FFF2-40B4-BE49-F238E27FC236}">
                      <a16:creationId xmlns:a16="http://schemas.microsoft.com/office/drawing/2014/main" id="{03A776EA-61DE-46ED-A34B-85AFDAF82975}"/>
                    </a:ext>
                  </a:extLst>
                </p:cNvPr>
                <p:cNvSpPr txBox="1"/>
                <p:nvPr/>
              </p:nvSpPr>
              <p:spPr bwMode="auto">
                <a:xfrm>
                  <a:off x="3938" y="255"/>
                  <a:ext cx="1305" cy="322"/>
                </a:xfrm>
                <a:prstGeom prst="rect">
                  <a:avLst/>
                </a:prstGeom>
                <a:noFill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zh-CN" altLang="en-US" sz="28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zh-CN" altLang="en-US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zh-CN" altLang="en-US" sz="2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zh-CN" altLang="en-US" sz="2800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r>
                          <a:rPr lang="zh-CN" altLang="en-US" sz="28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=?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FFC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Object 17">
                  <a:extLst>
                    <a:ext uri="{FF2B5EF4-FFF2-40B4-BE49-F238E27FC236}">
                      <a16:creationId xmlns:a16="http://schemas.microsoft.com/office/drawing/2014/main" id="{03A776EA-61DE-46ED-A34B-85AFDAF829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938" y="255"/>
                  <a:ext cx="1305" cy="32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66">
            <a:extLst>
              <a:ext uri="{FF2B5EF4-FFF2-40B4-BE49-F238E27FC236}">
                <a16:creationId xmlns:a16="http://schemas.microsoft.com/office/drawing/2014/main" id="{1659D52D-3FDB-4EBB-9E34-7794B9668618}"/>
              </a:ext>
            </a:extLst>
          </p:cNvPr>
          <p:cNvGrpSpPr>
            <a:grpSpLocks/>
          </p:cNvGrpSpPr>
          <p:nvPr/>
        </p:nvGrpSpPr>
        <p:grpSpPr bwMode="auto">
          <a:xfrm>
            <a:off x="493683" y="3663875"/>
            <a:ext cx="8974861" cy="557213"/>
            <a:chOff x="113" y="709"/>
            <a:chExt cx="5647" cy="351"/>
          </a:xfrm>
        </p:grpSpPr>
        <p:sp>
          <p:nvSpPr>
            <p:cNvPr id="11" name="Text Box 19">
              <a:extLst>
                <a:ext uri="{FF2B5EF4-FFF2-40B4-BE49-F238E27FC236}">
                  <a16:creationId xmlns:a16="http://schemas.microsoft.com/office/drawing/2014/main" id="{6132847B-E520-4350-8BEF-3AA81783B6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" y="709"/>
              <a:ext cx="564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将                   作用在任意波函数     上，即：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bject 20">
                  <a:extLst>
                    <a:ext uri="{FF2B5EF4-FFF2-40B4-BE49-F238E27FC236}">
                      <a16:creationId xmlns:a16="http://schemas.microsoft.com/office/drawing/2014/main" id="{A105AF2E-55F2-402F-B114-5A1CD38C1C0B}"/>
                    </a:ext>
                  </a:extLst>
                </p:cNvPr>
                <p:cNvSpPr txBox="1"/>
                <p:nvPr/>
              </p:nvSpPr>
              <p:spPr bwMode="auto">
                <a:xfrm>
                  <a:off x="436" y="737"/>
                  <a:ext cx="709" cy="310"/>
                </a:xfrm>
                <a:prstGeom prst="rect">
                  <a:avLst/>
                </a:prstGeom>
                <a:noFill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zh-CN" altLang="en-US" sz="33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zh-CN" altLang="en-US" sz="36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6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zh-CN" altLang="en-US" sz="33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33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zh-CN" altLang="en-US" sz="3300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altLang="en-US" sz="3300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altLang="en-US" sz="33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" name="Object 20">
                  <a:extLst>
                    <a:ext uri="{FF2B5EF4-FFF2-40B4-BE49-F238E27FC236}">
                      <a16:creationId xmlns:a16="http://schemas.microsoft.com/office/drawing/2014/main" id="{A105AF2E-55F2-402F-B114-5A1CD38C1C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6" y="737"/>
                  <a:ext cx="709" cy="3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22">
                  <a:extLst>
                    <a:ext uri="{FF2B5EF4-FFF2-40B4-BE49-F238E27FC236}">
                      <a16:creationId xmlns:a16="http://schemas.microsoft.com/office/drawing/2014/main" id="{FF7BCA2B-288F-4B61-B85E-BF5D71E52FC8}"/>
                    </a:ext>
                  </a:extLst>
                </p:cNvPr>
                <p:cNvSpPr txBox="1"/>
                <p:nvPr/>
              </p:nvSpPr>
              <p:spPr bwMode="auto">
                <a:xfrm>
                  <a:off x="1003" y="720"/>
                  <a:ext cx="1570" cy="340"/>
                </a:xfrm>
                <a:prstGeom prst="rect">
                  <a:avLst/>
                </a:prstGeom>
                <a:noFill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zh-CN" altLang="en-US" sz="2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CN" altLang="en-US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zh-CN" altLang="en-US" sz="28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CN" altLang="en-US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acc>
                          <m:accPr>
                            <m:chr m:val="̂"/>
                            <m:ctrlPr>
                              <a:rPr lang="zh-CN" altLang="en-US" sz="2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rgbClr val="FFC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Object 22">
                  <a:extLst>
                    <a:ext uri="{FF2B5EF4-FFF2-40B4-BE49-F238E27FC236}">
                      <a16:creationId xmlns:a16="http://schemas.microsoft.com/office/drawing/2014/main" id="{FF7BCA2B-288F-4B61-B85E-BF5D71E52F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03" y="720"/>
                  <a:ext cx="1570" cy="34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24">
                  <a:extLst>
                    <a:ext uri="{FF2B5EF4-FFF2-40B4-BE49-F238E27FC236}">
                      <a16:creationId xmlns:a16="http://schemas.microsoft.com/office/drawing/2014/main" id="{54C88481-3C0A-453E-84A7-923B82F3A4E0}"/>
                    </a:ext>
                  </a:extLst>
                </p:cNvPr>
                <p:cNvSpPr txBox="1"/>
                <p:nvPr/>
              </p:nvSpPr>
              <p:spPr bwMode="auto">
                <a:xfrm>
                  <a:off x="3841" y="744"/>
                  <a:ext cx="545" cy="293"/>
                </a:xfrm>
                <a:prstGeom prst="rect">
                  <a:avLst/>
                </a:prstGeom>
                <a:noFill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𝜳</m:t>
                        </m:r>
                        <m:r>
                          <a:rPr lang="zh-CN" altLang="en-US" sz="24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4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zh-CN" altLang="en-US" sz="2400" b="1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400" b="1" dirty="0">
                    <a:solidFill>
                      <a:srgbClr val="FFC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Object 24">
                  <a:extLst>
                    <a:ext uri="{FF2B5EF4-FFF2-40B4-BE49-F238E27FC236}">
                      <a16:creationId xmlns:a16="http://schemas.microsoft.com/office/drawing/2014/main" id="{54C88481-3C0A-453E-84A7-923B82F3A4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41" y="744"/>
                  <a:ext cx="545" cy="293"/>
                </a:xfrm>
                <a:prstGeom prst="rect">
                  <a:avLst/>
                </a:prstGeom>
                <a:blipFill>
                  <a:blip r:embed="rId8"/>
                  <a:stretch>
                    <a:fillRect l="-2113" r="-6338" b="-184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69">
                <a:extLst>
                  <a:ext uri="{FF2B5EF4-FFF2-40B4-BE49-F238E27FC236}">
                    <a16:creationId xmlns:a16="http://schemas.microsoft.com/office/drawing/2014/main" id="{0B320932-2A56-4859-84EA-F1F62E39D8AA}"/>
                  </a:ext>
                </a:extLst>
              </p:cNvPr>
              <p:cNvSpPr txBox="1"/>
              <p:nvPr/>
            </p:nvSpPr>
            <p:spPr bwMode="auto">
              <a:xfrm>
                <a:off x="3373131" y="6153433"/>
                <a:ext cx="1916845" cy="515927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  <m:r>
                        <m:rPr>
                          <m:sty m:val="p"/>
                        </m:rP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5" name="Object 69">
                <a:extLst>
                  <a:ext uri="{FF2B5EF4-FFF2-40B4-BE49-F238E27FC236}">
                    <a16:creationId xmlns:a16="http://schemas.microsoft.com/office/drawing/2014/main" id="{0B320932-2A56-4859-84EA-F1F62E39D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73131" y="6153433"/>
                <a:ext cx="1916845" cy="51592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71">
                <a:extLst>
                  <a:ext uri="{FF2B5EF4-FFF2-40B4-BE49-F238E27FC236}">
                    <a16:creationId xmlns:a16="http://schemas.microsoft.com/office/drawing/2014/main" id="{B9E53D61-9B5D-4892-A9C8-18C3CCBE1D03}"/>
                  </a:ext>
                </a:extLst>
              </p:cNvPr>
              <p:cNvSpPr txBox="1"/>
              <p:nvPr/>
            </p:nvSpPr>
            <p:spPr bwMode="auto">
              <a:xfrm>
                <a:off x="3406452" y="5171601"/>
                <a:ext cx="5558036" cy="94297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5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5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5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zh-CN" altLang="en-US" sz="25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r>
                        <a:rPr lang="zh-CN" altLang="en-US" sz="25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zh-CN" altLang="en-US" sz="25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5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zh-CN" altLang="en-US" sz="25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5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 sz="25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zh-CN" altLang="en-US" sz="25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5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5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f>
                        <m:fPr>
                          <m:ctrlPr>
                            <a:rPr lang="zh-CN" altLang="en-US" sz="25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5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zh-CN" altLang="en-US" sz="25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r>
                        <a:rPr lang="zh-CN" altLang="en-US" sz="25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zh-CN" altLang="en-US" sz="25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5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zh-CN" altLang="en-US" sz="25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5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 sz="25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zh-CN" altLang="en-US" sz="25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5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5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f>
                        <m:fPr>
                          <m:ctrlPr>
                            <a:rPr lang="zh-CN" altLang="en-US" sz="25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5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zh-CN" altLang="en-US" sz="25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 sz="25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zh-CN" altLang="en-US" sz="25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5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5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5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6" name="Object 71">
                <a:extLst>
                  <a:ext uri="{FF2B5EF4-FFF2-40B4-BE49-F238E27FC236}">
                    <a16:creationId xmlns:a16="http://schemas.microsoft.com/office/drawing/2014/main" id="{B9E53D61-9B5D-4892-A9C8-18C3CCBE1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6452" y="5171601"/>
                <a:ext cx="5558036" cy="9429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73">
                <a:extLst>
                  <a:ext uri="{FF2B5EF4-FFF2-40B4-BE49-F238E27FC236}">
                    <a16:creationId xmlns:a16="http://schemas.microsoft.com/office/drawing/2014/main" id="{466AE0B3-60B7-4075-996C-883EE1A35CE4}"/>
                  </a:ext>
                </a:extLst>
              </p:cNvPr>
              <p:cNvSpPr txBox="1"/>
              <p:nvPr/>
            </p:nvSpPr>
            <p:spPr bwMode="auto">
              <a:xfrm>
                <a:off x="647377" y="4392082"/>
                <a:ext cx="3025775" cy="62071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sz="2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acc>
                            <m:accPr>
                              <m:chr m:val="̂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7" name="Object 73">
                <a:extLst>
                  <a:ext uri="{FF2B5EF4-FFF2-40B4-BE49-F238E27FC236}">
                    <a16:creationId xmlns:a16="http://schemas.microsoft.com/office/drawing/2014/main" id="{466AE0B3-60B7-4075-996C-883EE1A35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377" y="4392082"/>
                <a:ext cx="3025775" cy="62071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75">
                <a:extLst>
                  <a:ext uri="{FF2B5EF4-FFF2-40B4-BE49-F238E27FC236}">
                    <a16:creationId xmlns:a16="http://schemas.microsoft.com/office/drawing/2014/main" id="{52D1AAD0-BE5B-45C1-A22E-232A3DE7C8DB}"/>
                  </a:ext>
                </a:extLst>
              </p:cNvPr>
              <p:cNvSpPr txBox="1"/>
              <p:nvPr/>
            </p:nvSpPr>
            <p:spPr bwMode="auto">
              <a:xfrm>
                <a:off x="3406452" y="4226910"/>
                <a:ext cx="5339085" cy="94297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6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6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6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CN" altLang="en-US" sz="26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6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ℏ)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 sz="26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zh-CN" altLang="en-US" sz="26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6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6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f>
                        <m:fPr>
                          <m:ctrlP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ℏ</m:t>
                          </m:r>
                        </m:num>
                        <m:den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f>
                        <m:fPr>
                          <m:ctrlP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6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CN" sz="2600" b="1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[</m:t>
                      </m:r>
                      <m:r>
                        <a:rPr lang="zh-CN" altLang="en-US" sz="26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zh-CN" altLang="en-US" sz="26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zh-CN" altLang="en-US" sz="26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6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6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en-US" sz="2600" dirty="0">
                  <a:solidFill>
                    <a:srgbClr val="FFC000"/>
                  </a:solidFill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8" name="Object 75">
                <a:extLst>
                  <a:ext uri="{FF2B5EF4-FFF2-40B4-BE49-F238E27FC236}">
                    <a16:creationId xmlns:a16="http://schemas.microsoft.com/office/drawing/2014/main" id="{52D1AAD0-BE5B-45C1-A22E-232A3DE7C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6452" y="4226910"/>
                <a:ext cx="5339085" cy="9429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灯片编号占位符 1">
            <a:extLst>
              <a:ext uri="{FF2B5EF4-FFF2-40B4-BE49-F238E27FC236}">
                <a16:creationId xmlns:a16="http://schemas.microsoft.com/office/drawing/2014/main" id="{DF154849-6B77-4A0A-B974-6A51A735F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0A0B055-2438-4BA1-A415-CEDBC5AD89EF}" type="slidenum">
              <a:rPr lang="en-US" altLang="zh-CN" b="0">
                <a:solidFill>
                  <a:srgbClr val="FF00FF"/>
                </a:solidFill>
              </a:rPr>
              <a:pPr/>
              <a:t>24</a:t>
            </a:fld>
            <a:r>
              <a:rPr lang="en-US" altLang="zh-CN" b="0" dirty="0">
                <a:solidFill>
                  <a:srgbClr val="FF00FF"/>
                </a:solidFill>
              </a:rPr>
              <a:t>/22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7" grpId="0"/>
      <p:bldP spid="4118" grpId="0"/>
      <p:bldP spid="15" grpId="0"/>
      <p:bldP spid="16" grpId="0"/>
      <p:bldP spid="17" grpId="0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95" name="Group 67">
            <a:extLst>
              <a:ext uri="{FF2B5EF4-FFF2-40B4-BE49-F238E27FC236}">
                <a16:creationId xmlns:a16="http://schemas.microsoft.com/office/drawing/2014/main" id="{07B412FD-7FF6-4CAD-92AF-59A15008C7C4}"/>
              </a:ext>
            </a:extLst>
          </p:cNvPr>
          <p:cNvGrpSpPr>
            <a:grpSpLocks/>
          </p:cNvGrpSpPr>
          <p:nvPr/>
        </p:nvGrpSpPr>
        <p:grpSpPr bwMode="auto">
          <a:xfrm>
            <a:off x="555565" y="431652"/>
            <a:ext cx="3816350" cy="488950"/>
            <a:chOff x="340" y="2733"/>
            <a:chExt cx="2404" cy="308"/>
          </a:xfrm>
        </p:grpSpPr>
        <p:sp>
          <p:nvSpPr>
            <p:cNvPr id="99354" name="Text Box 26">
              <a:extLst>
                <a:ext uri="{FF2B5EF4-FFF2-40B4-BE49-F238E27FC236}">
                  <a16:creationId xmlns:a16="http://schemas.microsoft.com/office/drawing/2014/main" id="{E2EE5D9A-959B-4491-B819-B62EE00FCE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2750"/>
              <a:ext cx="240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而      是任意的，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357" name="Object 29">
                  <a:extLst>
                    <a:ext uri="{FF2B5EF4-FFF2-40B4-BE49-F238E27FC236}">
                      <a16:creationId xmlns:a16="http://schemas.microsoft.com/office/drawing/2014/main" id="{9AC769AD-003B-4D26-9FC3-6F6679C18D66}"/>
                    </a:ext>
                  </a:extLst>
                </p:cNvPr>
                <p:cNvSpPr txBox="1"/>
                <p:nvPr/>
              </p:nvSpPr>
              <p:spPr bwMode="auto">
                <a:xfrm>
                  <a:off x="578" y="2733"/>
                  <a:ext cx="545" cy="3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zh-CN" altLang="en-US" sz="28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  <m:r>
                          <a:rPr lang="zh-CN" altLang="en-US" sz="28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8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8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FFC000"/>
                    </a:solidFill>
                  </a:endParaRPr>
                </a:p>
              </p:txBody>
            </p:sp>
          </mc:Choice>
          <mc:Fallback xmlns="">
            <p:sp>
              <p:nvSpPr>
                <p:cNvPr id="99357" name="Object 29">
                  <a:extLst>
                    <a:ext uri="{FF2B5EF4-FFF2-40B4-BE49-F238E27FC236}">
                      <a16:creationId xmlns:a16="http://schemas.microsoft.com/office/drawing/2014/main" id="{9AC769AD-003B-4D26-9FC3-6F6679C18D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8" y="2733"/>
                  <a:ext cx="545" cy="3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407" name="Group 79">
            <a:extLst>
              <a:ext uri="{FF2B5EF4-FFF2-40B4-BE49-F238E27FC236}">
                <a16:creationId xmlns:a16="http://schemas.microsoft.com/office/drawing/2014/main" id="{5426FD46-B1DB-43F2-98A7-D0B5BC0EB469}"/>
              </a:ext>
            </a:extLst>
          </p:cNvPr>
          <p:cNvGrpSpPr>
            <a:grpSpLocks/>
          </p:cNvGrpSpPr>
          <p:nvPr/>
        </p:nvGrpSpPr>
        <p:grpSpPr bwMode="auto">
          <a:xfrm>
            <a:off x="3395166" y="404664"/>
            <a:ext cx="4379913" cy="569913"/>
            <a:chOff x="272" y="3420"/>
            <a:chExt cx="2450" cy="359"/>
          </a:xfrm>
        </p:grpSpPr>
        <p:sp>
          <p:nvSpPr>
            <p:cNvPr id="99359" name="Text Box 31">
              <a:extLst>
                <a:ext uri="{FF2B5EF4-FFF2-40B4-BE49-F238E27FC236}">
                  <a16:creationId xmlns:a16="http://schemas.microsoft.com/office/drawing/2014/main" id="{5A032139-E014-40AC-BF05-DA7C15E230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" y="3454"/>
              <a:ext cx="245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因此：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388" name="Object 60">
                  <a:extLst>
                    <a:ext uri="{FF2B5EF4-FFF2-40B4-BE49-F238E27FC236}">
                      <a16:creationId xmlns:a16="http://schemas.microsoft.com/office/drawing/2014/main" id="{5B1DC915-6615-4260-BD50-EDC036686869}"/>
                    </a:ext>
                  </a:extLst>
                </p:cNvPr>
                <p:cNvSpPr txBox="1"/>
                <p:nvPr/>
              </p:nvSpPr>
              <p:spPr bwMode="auto">
                <a:xfrm>
                  <a:off x="819" y="3420"/>
                  <a:ext cx="1220" cy="359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zh-CN" altLang="en-US" sz="28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zh-CN" altLang="en-US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zh-CN" altLang="en-US" sz="2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zh-CN" altLang="en-US" sz="2800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  <m:r>
                          <a:rPr lang="zh-CN" altLang="en-US" sz="28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8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28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ℏ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9388" name="Object 60">
                  <a:extLst>
                    <a:ext uri="{FF2B5EF4-FFF2-40B4-BE49-F238E27FC236}">
                      <a16:creationId xmlns:a16="http://schemas.microsoft.com/office/drawing/2014/main" id="{5B1DC915-6615-4260-BD50-EDC0366868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9" y="3420"/>
                  <a:ext cx="1220" cy="35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9398" name="Rectangle 70">
            <a:extLst>
              <a:ext uri="{FF2B5EF4-FFF2-40B4-BE49-F238E27FC236}">
                <a16:creationId xmlns:a16="http://schemas.microsoft.com/office/drawing/2014/main" id="{8CC5E7E4-599B-4EFF-B298-4C4429200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9300" y="4406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9400" name="Rectangle 72">
            <a:extLst>
              <a:ext uri="{FF2B5EF4-FFF2-40B4-BE49-F238E27FC236}">
                <a16:creationId xmlns:a16="http://schemas.microsoft.com/office/drawing/2014/main" id="{ACE2D61A-53A1-41C0-81CC-39B2E9C58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4127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4" name="Group 24">
            <a:extLst>
              <a:ext uri="{FF2B5EF4-FFF2-40B4-BE49-F238E27FC236}">
                <a16:creationId xmlns:a16="http://schemas.microsoft.com/office/drawing/2014/main" id="{49A47373-5912-4B62-959D-1EF6A8D73979}"/>
              </a:ext>
            </a:extLst>
          </p:cNvPr>
          <p:cNvGrpSpPr>
            <a:grpSpLocks/>
          </p:cNvGrpSpPr>
          <p:nvPr/>
        </p:nvGrpSpPr>
        <p:grpSpPr bwMode="auto">
          <a:xfrm>
            <a:off x="467544" y="1019399"/>
            <a:ext cx="8531225" cy="603250"/>
            <a:chOff x="295" y="255"/>
            <a:chExt cx="5374" cy="380"/>
          </a:xfrm>
        </p:grpSpPr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543B50DA-87AC-403E-8FD8-E950DF690C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55"/>
              <a:ext cx="5374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该式称为  和   的对易关系，不等于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0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，即   和   不对易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bject 12">
                  <a:extLst>
                    <a:ext uri="{FF2B5EF4-FFF2-40B4-BE49-F238E27FC236}">
                      <a16:creationId xmlns:a16="http://schemas.microsoft.com/office/drawing/2014/main" id="{91CD08F7-3529-4435-93C5-2B20854C9724}"/>
                    </a:ext>
                  </a:extLst>
                </p:cNvPr>
                <p:cNvSpPr txBox="1"/>
                <p:nvPr/>
              </p:nvSpPr>
              <p:spPr bwMode="auto">
                <a:xfrm>
                  <a:off x="1133" y="299"/>
                  <a:ext cx="227" cy="227"/>
                </a:xfrm>
                <a:prstGeom prst="rect">
                  <a:avLst/>
                </a:prstGeom>
                <a:noFill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zh-CN" altLang="en-US" sz="2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rgbClr val="FFC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Object 12">
                  <a:extLst>
                    <a:ext uri="{FF2B5EF4-FFF2-40B4-BE49-F238E27FC236}">
                      <a16:creationId xmlns:a16="http://schemas.microsoft.com/office/drawing/2014/main" id="{91CD08F7-3529-4435-93C5-2B20854C97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33" y="299"/>
                  <a:ext cx="227" cy="227"/>
                </a:xfrm>
                <a:prstGeom prst="rect">
                  <a:avLst/>
                </a:prstGeom>
                <a:blipFill>
                  <a:blip r:embed="rId4"/>
                  <a:stretch>
                    <a:fillRect b="-847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bject 14">
                  <a:extLst>
                    <a:ext uri="{FF2B5EF4-FFF2-40B4-BE49-F238E27FC236}">
                      <a16:creationId xmlns:a16="http://schemas.microsoft.com/office/drawing/2014/main" id="{F0897D4C-8C96-4025-BD76-8A85944A323A}"/>
                    </a:ext>
                  </a:extLst>
                </p:cNvPr>
                <p:cNvSpPr txBox="1"/>
                <p:nvPr/>
              </p:nvSpPr>
              <p:spPr bwMode="auto">
                <a:xfrm>
                  <a:off x="1498" y="272"/>
                  <a:ext cx="316" cy="363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CN" altLang="en-US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7" name="Object 14">
                  <a:extLst>
                    <a:ext uri="{FF2B5EF4-FFF2-40B4-BE49-F238E27FC236}">
                      <a16:creationId xmlns:a16="http://schemas.microsoft.com/office/drawing/2014/main" id="{F0897D4C-8C96-4025-BD76-8A85944A32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98" y="272"/>
                  <a:ext cx="316" cy="36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Object 16">
                  <a:extLst>
                    <a:ext uri="{FF2B5EF4-FFF2-40B4-BE49-F238E27FC236}">
                      <a16:creationId xmlns:a16="http://schemas.microsoft.com/office/drawing/2014/main" id="{6DAF2C3D-7A98-4497-B2F0-E3725EA916BC}"/>
                    </a:ext>
                  </a:extLst>
                </p:cNvPr>
                <p:cNvSpPr txBox="1"/>
                <p:nvPr/>
              </p:nvSpPr>
              <p:spPr bwMode="auto">
                <a:xfrm>
                  <a:off x="4030" y="299"/>
                  <a:ext cx="227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zh-CN" altLang="en-US" sz="2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zh-CN" altLang="en-US" sz="2800" dirty="0">
                    <a:solidFill>
                      <a:srgbClr val="FFC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Object 16">
                  <a:extLst>
                    <a:ext uri="{FF2B5EF4-FFF2-40B4-BE49-F238E27FC236}">
                      <a16:creationId xmlns:a16="http://schemas.microsoft.com/office/drawing/2014/main" id="{6DAF2C3D-7A98-4497-B2F0-E3725EA916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30" y="299"/>
                  <a:ext cx="227" cy="227"/>
                </a:xfrm>
                <a:prstGeom prst="rect">
                  <a:avLst/>
                </a:prstGeom>
                <a:blipFill>
                  <a:blip r:embed="rId6"/>
                  <a:stretch>
                    <a:fillRect b="-847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bject 21">
                  <a:extLst>
                    <a:ext uri="{FF2B5EF4-FFF2-40B4-BE49-F238E27FC236}">
                      <a16:creationId xmlns:a16="http://schemas.microsoft.com/office/drawing/2014/main" id="{C462D523-0718-49D8-9AFE-76FA839129ED}"/>
                    </a:ext>
                  </a:extLst>
                </p:cNvPr>
                <p:cNvSpPr txBox="1"/>
                <p:nvPr/>
              </p:nvSpPr>
              <p:spPr bwMode="auto">
                <a:xfrm>
                  <a:off x="4477" y="273"/>
                  <a:ext cx="315" cy="362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CN" altLang="en-US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8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" name="Object 21">
                  <a:extLst>
                    <a:ext uri="{FF2B5EF4-FFF2-40B4-BE49-F238E27FC236}">
                      <a16:creationId xmlns:a16="http://schemas.microsoft.com/office/drawing/2014/main" id="{C462D523-0718-49D8-9AFE-76FA839129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77" y="273"/>
                  <a:ext cx="315" cy="36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Text Box 23">
            <a:extLst>
              <a:ext uri="{FF2B5EF4-FFF2-40B4-BE49-F238E27FC236}">
                <a16:creationId xmlns:a16="http://schemas.microsoft.com/office/drawing/2014/main" id="{1742FF54-955E-488C-8969-1713114AA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327" y="1766665"/>
            <a:ext cx="23764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同样</a:t>
            </a:r>
            <a:r>
              <a:rPr kumimoji="0" lang="zh-CN" altLang="en-US" dirty="0">
                <a:solidFill>
                  <a:schemeClr val="bg1"/>
                </a:solidFill>
                <a:latin typeface="+mn-ea"/>
                <a:ea typeface="+mn-ea"/>
              </a:rPr>
              <a:t>的方法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25">
                <a:extLst>
                  <a:ext uri="{FF2B5EF4-FFF2-40B4-BE49-F238E27FC236}">
                    <a16:creationId xmlns:a16="http://schemas.microsoft.com/office/drawing/2014/main" id="{E37D43F5-3380-49BF-84B2-58490956E089}"/>
                  </a:ext>
                </a:extLst>
              </p:cNvPr>
              <p:cNvSpPr txBox="1"/>
              <p:nvPr/>
            </p:nvSpPr>
            <p:spPr bwMode="auto">
              <a:xfrm>
                <a:off x="2995792" y="5040569"/>
                <a:ext cx="3686175" cy="70167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1" name="Object 25">
                <a:extLst>
                  <a:ext uri="{FF2B5EF4-FFF2-40B4-BE49-F238E27FC236}">
                    <a16:creationId xmlns:a16="http://schemas.microsoft.com/office/drawing/2014/main" id="{E37D43F5-3380-49BF-84B2-58490956E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95792" y="5040569"/>
                <a:ext cx="3686175" cy="7016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27">
                <a:extLst>
                  <a:ext uri="{FF2B5EF4-FFF2-40B4-BE49-F238E27FC236}">
                    <a16:creationId xmlns:a16="http://schemas.microsoft.com/office/drawing/2014/main" id="{63949EDC-8DCC-43B0-9F1E-3EE6D30330A5}"/>
                  </a:ext>
                </a:extLst>
              </p:cNvPr>
              <p:cNvSpPr txBox="1"/>
              <p:nvPr/>
            </p:nvSpPr>
            <p:spPr bwMode="auto">
              <a:xfrm>
                <a:off x="2977310" y="5870784"/>
                <a:ext cx="5476875" cy="77787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2" name="Object 27">
                <a:extLst>
                  <a:ext uri="{FF2B5EF4-FFF2-40B4-BE49-F238E27FC236}">
                    <a16:creationId xmlns:a16="http://schemas.microsoft.com/office/drawing/2014/main" id="{63949EDC-8DCC-43B0-9F1E-3EE6D3033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7310" y="5870784"/>
                <a:ext cx="5476875" cy="7778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29">
                <a:extLst>
                  <a:ext uri="{FF2B5EF4-FFF2-40B4-BE49-F238E27FC236}">
                    <a16:creationId xmlns:a16="http://schemas.microsoft.com/office/drawing/2014/main" id="{F232046B-135C-44BE-9C85-641DED0ECEA7}"/>
                  </a:ext>
                </a:extLst>
              </p:cNvPr>
              <p:cNvSpPr txBox="1"/>
              <p:nvPr/>
            </p:nvSpPr>
            <p:spPr bwMode="auto">
              <a:xfrm>
                <a:off x="2977310" y="3273624"/>
                <a:ext cx="4291500" cy="7635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3" name="Object 29">
                <a:extLst>
                  <a:ext uri="{FF2B5EF4-FFF2-40B4-BE49-F238E27FC236}">
                    <a16:creationId xmlns:a16="http://schemas.microsoft.com/office/drawing/2014/main" id="{F232046B-135C-44BE-9C85-641DED0EC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7310" y="3273624"/>
                <a:ext cx="4291500" cy="76358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31">
                <a:extLst>
                  <a:ext uri="{FF2B5EF4-FFF2-40B4-BE49-F238E27FC236}">
                    <a16:creationId xmlns:a16="http://schemas.microsoft.com/office/drawing/2014/main" id="{D9A765CE-5D42-4B24-B0EA-789E3A174E0D}"/>
                  </a:ext>
                </a:extLst>
              </p:cNvPr>
              <p:cNvSpPr txBox="1"/>
              <p:nvPr/>
            </p:nvSpPr>
            <p:spPr bwMode="auto">
              <a:xfrm>
                <a:off x="2995792" y="4164213"/>
                <a:ext cx="3823799" cy="70008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sz="2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4" name="Object 31">
                <a:extLst>
                  <a:ext uri="{FF2B5EF4-FFF2-40B4-BE49-F238E27FC236}">
                    <a16:creationId xmlns:a16="http://schemas.microsoft.com/office/drawing/2014/main" id="{D9A765CE-5D42-4B24-B0EA-789E3A174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95792" y="4164213"/>
                <a:ext cx="3823799" cy="7000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33">
                <a:extLst>
                  <a:ext uri="{FF2B5EF4-FFF2-40B4-BE49-F238E27FC236}">
                    <a16:creationId xmlns:a16="http://schemas.microsoft.com/office/drawing/2014/main" id="{57285FDD-199D-40B4-95C6-9D113BF2EF62}"/>
                  </a:ext>
                </a:extLst>
              </p:cNvPr>
              <p:cNvSpPr txBox="1"/>
              <p:nvPr/>
            </p:nvSpPr>
            <p:spPr bwMode="auto">
              <a:xfrm>
                <a:off x="2977310" y="2483531"/>
                <a:ext cx="2883144" cy="701675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sz="2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</m:oMath>
                  </m:oMathPara>
                </a14:m>
                <a:endParaRPr lang="zh-CN" alt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5" name="Object 33">
                <a:extLst>
                  <a:ext uri="{FF2B5EF4-FFF2-40B4-BE49-F238E27FC236}">
                    <a16:creationId xmlns:a16="http://schemas.microsoft.com/office/drawing/2014/main" id="{57285FDD-199D-40B4-95C6-9D113BF2E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7310" y="2483531"/>
                <a:ext cx="2883144" cy="7016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36">
                <a:extLst>
                  <a:ext uri="{FF2B5EF4-FFF2-40B4-BE49-F238E27FC236}">
                    <a16:creationId xmlns:a16="http://schemas.microsoft.com/office/drawing/2014/main" id="{9FA1B294-E3CE-49FE-885A-E71BFE8F5771}"/>
                  </a:ext>
                </a:extLst>
              </p:cNvPr>
              <p:cNvSpPr txBox="1"/>
              <p:nvPr/>
            </p:nvSpPr>
            <p:spPr bwMode="auto">
              <a:xfrm>
                <a:off x="2995792" y="1694657"/>
                <a:ext cx="2603377" cy="649287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</m:oMath>
                  </m:oMathPara>
                </a14:m>
                <a:endParaRPr lang="zh-CN" alt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Object 36">
                <a:extLst>
                  <a:ext uri="{FF2B5EF4-FFF2-40B4-BE49-F238E27FC236}">
                    <a16:creationId xmlns:a16="http://schemas.microsoft.com/office/drawing/2014/main" id="{9FA1B294-E3CE-49FE-885A-E71BFE8F5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95792" y="1694657"/>
                <a:ext cx="2603377" cy="6492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灯片编号占位符 1">
            <a:extLst>
              <a:ext uri="{FF2B5EF4-FFF2-40B4-BE49-F238E27FC236}">
                <a16:creationId xmlns:a16="http://schemas.microsoft.com/office/drawing/2014/main" id="{BAE2589E-350A-43FF-B218-4248D3034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0A0B055-2438-4BA1-A415-CEDBC5AD89EF}" type="slidenum">
              <a:rPr lang="en-US" altLang="zh-CN" b="0">
                <a:solidFill>
                  <a:srgbClr val="FF00FF"/>
                </a:solidFill>
              </a:rPr>
              <a:pPr/>
              <a:t>25</a:t>
            </a:fld>
            <a:r>
              <a:rPr lang="en-US" altLang="zh-CN" b="0" dirty="0">
                <a:solidFill>
                  <a:srgbClr val="FF00FF"/>
                </a:solidFill>
              </a:rPr>
              <a:t>/22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04" name="Text Box 12">
            <a:extLst>
              <a:ext uri="{FF2B5EF4-FFF2-40B4-BE49-F238E27FC236}">
                <a16:creationId xmlns:a16="http://schemas.microsoft.com/office/drawing/2014/main" id="{188D2F1E-4D80-48E1-A5A8-26F89DDBE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919" y="315877"/>
            <a:ext cx="53990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小结：算符的基本对易关系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</a:p>
        </p:txBody>
      </p:sp>
      <p:sp>
        <p:nvSpPr>
          <p:cNvPr id="85005" name="Text Box 13">
            <a:extLst>
              <a:ext uri="{FF2B5EF4-FFF2-40B4-BE49-F238E27FC236}">
                <a16:creationId xmlns:a16="http://schemas.microsoft.com/office/drawing/2014/main" id="{13FEB7EF-FEBC-4565-9D5A-36AF62235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4" y="2670065"/>
            <a:ext cx="8179334" cy="111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同方向上的动量和坐标算符是不对易的，不同方向上的</a:t>
            </a:r>
            <a:r>
              <a:rPr kumimoji="0" lang="zh-CN" altLang="en-US" dirty="0">
                <a:solidFill>
                  <a:schemeClr val="bg1"/>
                </a:solidFill>
                <a:latin typeface="+mn-ea"/>
              </a:rPr>
              <a:t>动量和坐标算符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是对易的；动量各分量、坐标各分量是对易的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006" name="Object 14">
                <a:extLst>
                  <a:ext uri="{FF2B5EF4-FFF2-40B4-BE49-F238E27FC236}">
                    <a16:creationId xmlns:a16="http://schemas.microsoft.com/office/drawing/2014/main" id="{67D949B2-C192-4A66-A82B-425850BFFB7C}"/>
                  </a:ext>
                </a:extLst>
              </p:cNvPr>
              <p:cNvSpPr txBox="1"/>
              <p:nvPr/>
            </p:nvSpPr>
            <p:spPr bwMode="auto">
              <a:xfrm>
                <a:off x="1656334" y="806609"/>
                <a:ext cx="2842479" cy="21183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eqArr>
                            <m:eqArrPr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en-US" sz="2800" i="1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800" i="1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en-US" sz="28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en-US" sz="2800" i="1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2800" i="1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2800" b="0" i="1" smtClean="0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ℏ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en-US" sz="2800" i="1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800" i="1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en-US" sz="28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en-US" sz="2800" i="1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2800" i="1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2800" b="0" i="1" smtClean="0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en-US" sz="2800" i="1" smtClean="0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en-US" sz="2800" i="1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2800" i="1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2800" b="0" i="1" smtClean="0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en-US" sz="2800" i="1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2800" i="1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CN" sz="28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5006" name="Object 14">
                <a:extLst>
                  <a:ext uri="{FF2B5EF4-FFF2-40B4-BE49-F238E27FC236}">
                    <a16:creationId xmlns:a16="http://schemas.microsoft.com/office/drawing/2014/main" id="{67D949B2-C192-4A66-A82B-425850BFF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56334" y="806609"/>
                <a:ext cx="2842479" cy="21183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008" name="Object 16">
                <a:extLst>
                  <a:ext uri="{FF2B5EF4-FFF2-40B4-BE49-F238E27FC236}">
                    <a16:creationId xmlns:a16="http://schemas.microsoft.com/office/drawing/2014/main" id="{A8536904-9A32-41DA-B474-C3EDA46DA8D8}"/>
                  </a:ext>
                </a:extLst>
              </p:cNvPr>
              <p:cNvSpPr txBox="1"/>
              <p:nvPr/>
            </p:nvSpPr>
            <p:spPr bwMode="auto">
              <a:xfrm>
                <a:off x="4897307" y="857711"/>
                <a:ext cx="2338989" cy="14702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=1,2,3</m:t>
                      </m:r>
                    </m:oMath>
                  </m:oMathPara>
                </a14:m>
                <a:endParaRPr lang="en-US" altLang="zh-CN" sz="2800" i="1" dirty="0">
                  <a:solidFill>
                    <a:srgbClr val="FFC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+mn-ea"/>
                      </a:rPr>
                      <m:t>𝑖</m:t>
                    </m:r>
                    <m:r>
                      <a:rPr lang="en-US" altLang="zh-CN" sz="28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sz="28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+mn-ea"/>
                      </a:rPr>
                      <m:t>𝑗</m:t>
                    </m:r>
                    <m:r>
                      <a:rPr lang="zh-CN" altLang="en-US" sz="2800" b="0" i="1">
                        <a:solidFill>
                          <a:srgbClr val="FFC000"/>
                        </a:solidFill>
                        <a:latin typeface="Cambria Math" panose="02040503050406030204" pitchFamily="18" charset="0"/>
                        <a:ea typeface="+mn-ea"/>
                      </a:rPr>
                      <m:t>时</m:t>
                    </m:r>
                  </m:oMath>
                </a14:m>
                <a:r>
                  <a:rPr lang="zh-CN" altLang="en-US" sz="2800" b="0" dirty="0">
                    <a:solidFill>
                      <a:srgbClr val="FFC000"/>
                    </a:solidFill>
                    <a:latin typeface="+mn-ea"/>
                    <a:ea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b="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zh-CN" altLang="en-US" sz="2800" b="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𝛿</m:t>
                        </m:r>
                      </m:e>
                      <m:sub>
                        <m:r>
                          <a:rPr lang="zh-CN" altLang="en-US" sz="2800" b="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CN" sz="2800" b="0" dirty="0">
                    <a:solidFill>
                      <a:srgbClr val="FFC000"/>
                    </a:solidFill>
                    <a:latin typeface="+mn-ea"/>
                    <a:ea typeface="+mn-ea"/>
                  </a:rPr>
                  <a:t>=1</a:t>
                </a:r>
              </a:p>
              <a:p>
                <a:endParaRPr lang="zh-CN" alt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85008" name="Object 16">
                <a:extLst>
                  <a:ext uri="{FF2B5EF4-FFF2-40B4-BE49-F238E27FC236}">
                    <a16:creationId xmlns:a16="http://schemas.microsoft.com/office/drawing/2014/main" id="{A8536904-9A32-41DA-B474-C3EDA46DA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97307" y="857711"/>
                <a:ext cx="2338989" cy="14702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28">
            <a:extLst>
              <a:ext uri="{FF2B5EF4-FFF2-40B4-BE49-F238E27FC236}">
                <a16:creationId xmlns:a16="http://schemas.microsoft.com/office/drawing/2014/main" id="{11D01783-68E9-4243-AE01-CF54E901100D}"/>
              </a:ext>
            </a:extLst>
          </p:cNvPr>
          <p:cNvGrpSpPr>
            <a:grpSpLocks/>
          </p:cNvGrpSpPr>
          <p:nvPr/>
        </p:nvGrpSpPr>
        <p:grpSpPr bwMode="auto">
          <a:xfrm>
            <a:off x="774528" y="3893542"/>
            <a:ext cx="7899400" cy="1263650"/>
            <a:chOff x="308" y="494"/>
            <a:chExt cx="4976" cy="796"/>
          </a:xfrm>
        </p:grpSpPr>
        <p:sp>
          <p:nvSpPr>
            <p:cNvPr id="7" name="Text Box 11">
              <a:extLst>
                <a:ext uri="{FF2B5EF4-FFF2-40B4-BE49-F238E27FC236}">
                  <a16:creationId xmlns:a16="http://schemas.microsoft.com/office/drawing/2014/main" id="{E6665963-31D9-4F5C-9569-671AC332B6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" y="494"/>
              <a:ext cx="4976" cy="7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eaLnBrk="1" hangingPunct="1">
                <a:lnSpc>
                  <a:spcPct val="170000"/>
                </a:lnSpc>
                <a:spcBef>
                  <a:spcPct val="50000"/>
                </a:spcBef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 </a:t>
              </a:r>
              <a:r>
                <a:rPr kumimoji="0" lang="en-US" altLang="zh-CN" dirty="0">
                  <a:solidFill>
                    <a:schemeClr val="bg1"/>
                  </a:solidFill>
                  <a:latin typeface="+mn-ea"/>
                </a:rPr>
                <a:t>1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.             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称为   与   的对易关系，结果为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0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,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称这两个算符是</a:t>
              </a:r>
              <a:r>
                <a:rPr kumimoji="0" lang="zh-CN" altLang="en-US" dirty="0">
                  <a:solidFill>
                    <a:schemeClr val="bg1"/>
                  </a:solidFill>
                  <a:latin typeface="+mn-ea"/>
                  <a:ea typeface="+mn-ea"/>
                </a:rPr>
                <a:t>对易的；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否则这两个算符不对易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bject 12">
                  <a:extLst>
                    <a:ext uri="{FF2B5EF4-FFF2-40B4-BE49-F238E27FC236}">
                      <a16:creationId xmlns:a16="http://schemas.microsoft.com/office/drawing/2014/main" id="{EE7D28D1-F80B-4A4A-9E99-45ECADB5AB35}"/>
                    </a:ext>
                  </a:extLst>
                </p:cNvPr>
                <p:cNvSpPr txBox="1"/>
                <p:nvPr/>
              </p:nvSpPr>
              <p:spPr bwMode="auto">
                <a:xfrm>
                  <a:off x="734" y="603"/>
                  <a:ext cx="2001" cy="360"/>
                </a:xfrm>
                <a:prstGeom prst="rect">
                  <a:avLst/>
                </a:prstGeom>
                <a:noFill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acc>
                          <m:accPr>
                            <m:chr m:val="̂"/>
                            <m:ctrlPr>
                              <a:rPr lang="zh-CN" altLang="en-US" sz="2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zh-CN" altLang="en-US" sz="24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̂"/>
                            <m:ctrlPr>
                              <a:rPr lang="zh-CN" altLang="en-US" sz="2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zh-CN" altLang="en-US" sz="24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]=</m:t>
                        </m:r>
                        <m:acc>
                          <m:accPr>
                            <m:chr m:val="̂"/>
                            <m:ctrlPr>
                              <a:rPr lang="zh-CN" altLang="en-US" sz="2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acc>
                          <m:accPr>
                            <m:chr m:val="̂"/>
                            <m:ctrlPr>
                              <a:rPr lang="zh-CN" altLang="en-US" sz="2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zh-CN" altLang="en-US" sz="2400" i="1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zh-CN" altLang="en-US" sz="2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acc>
                          <m:accPr>
                            <m:chr m:val="̂"/>
                            <m:ctrlPr>
                              <a:rPr lang="zh-CN" altLang="en-US" sz="2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>
                    <a:solidFill>
                      <a:srgbClr val="FFC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Object 12">
                  <a:extLst>
                    <a:ext uri="{FF2B5EF4-FFF2-40B4-BE49-F238E27FC236}">
                      <a16:creationId xmlns:a16="http://schemas.microsoft.com/office/drawing/2014/main" id="{EE7D28D1-F80B-4A4A-9E99-45ECADB5AB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4" y="603"/>
                  <a:ext cx="2001" cy="36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bject 14">
                  <a:extLst>
                    <a:ext uri="{FF2B5EF4-FFF2-40B4-BE49-F238E27FC236}">
                      <a16:creationId xmlns:a16="http://schemas.microsoft.com/office/drawing/2014/main" id="{2ECEE9E2-31F7-4931-A11E-4F80F4458183}"/>
                    </a:ext>
                  </a:extLst>
                </p:cNvPr>
                <p:cNvSpPr txBox="1"/>
                <p:nvPr/>
              </p:nvSpPr>
              <p:spPr bwMode="auto">
                <a:xfrm>
                  <a:off x="2735" y="607"/>
                  <a:ext cx="235" cy="318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zh-CN" altLang="en-US" sz="24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9" name="Object 14">
                  <a:extLst>
                    <a:ext uri="{FF2B5EF4-FFF2-40B4-BE49-F238E27FC236}">
                      <a16:creationId xmlns:a16="http://schemas.microsoft.com/office/drawing/2014/main" id="{2ECEE9E2-31F7-4931-A11E-4F80F44581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35" y="607"/>
                  <a:ext cx="235" cy="31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bject 16">
                  <a:extLst>
                    <a:ext uri="{FF2B5EF4-FFF2-40B4-BE49-F238E27FC236}">
                      <a16:creationId xmlns:a16="http://schemas.microsoft.com/office/drawing/2014/main" id="{2F6EFA95-3A4C-47DB-8D85-853A257E7CB5}"/>
                    </a:ext>
                  </a:extLst>
                </p:cNvPr>
                <p:cNvSpPr txBox="1"/>
                <p:nvPr/>
              </p:nvSpPr>
              <p:spPr bwMode="auto">
                <a:xfrm>
                  <a:off x="3198" y="603"/>
                  <a:ext cx="206" cy="333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zh-CN" altLang="en-US" sz="24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0" name="Object 16">
                  <a:extLst>
                    <a:ext uri="{FF2B5EF4-FFF2-40B4-BE49-F238E27FC236}">
                      <a16:creationId xmlns:a16="http://schemas.microsoft.com/office/drawing/2014/main" id="{2F6EFA95-3A4C-47DB-8D85-853A257E7C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98" y="603"/>
                  <a:ext cx="206" cy="333"/>
                </a:xfrm>
                <a:prstGeom prst="rect">
                  <a:avLst/>
                </a:prstGeom>
                <a:blipFill>
                  <a:blip r:embed="rId6"/>
                  <a:stretch>
                    <a:fillRect l="-5660" t="-3448" r="-226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25">
            <a:extLst>
              <a:ext uri="{FF2B5EF4-FFF2-40B4-BE49-F238E27FC236}">
                <a16:creationId xmlns:a16="http://schemas.microsoft.com/office/drawing/2014/main" id="{3CF8CC00-89E0-40D2-98D5-3D351D7FD8D7}"/>
              </a:ext>
            </a:extLst>
          </p:cNvPr>
          <p:cNvGrpSpPr>
            <a:grpSpLocks/>
          </p:cNvGrpSpPr>
          <p:nvPr/>
        </p:nvGrpSpPr>
        <p:grpSpPr bwMode="auto">
          <a:xfrm>
            <a:off x="774466" y="5266903"/>
            <a:ext cx="8045670" cy="1114425"/>
            <a:chOff x="305" y="1616"/>
            <a:chExt cx="5130" cy="702"/>
          </a:xfrm>
        </p:grpSpPr>
        <p:sp>
          <p:nvSpPr>
            <p:cNvPr id="12" name="Text Box 18">
              <a:extLst>
                <a:ext uri="{FF2B5EF4-FFF2-40B4-BE49-F238E27FC236}">
                  <a16:creationId xmlns:a16="http://schemas.microsoft.com/office/drawing/2014/main" id="{D2F27003-8CFD-4B09-8AEC-8CF39764C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" y="1616"/>
              <a:ext cx="5130" cy="7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5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</a:rPr>
                <a:t>  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2.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以上   和   的对易关系是量子力学算符的基本对易关系，由它们可以推出其他的一些算符对易关系。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bject 19">
                  <a:extLst>
                    <a:ext uri="{FF2B5EF4-FFF2-40B4-BE49-F238E27FC236}">
                      <a16:creationId xmlns:a16="http://schemas.microsoft.com/office/drawing/2014/main" id="{7D05DE9B-CE2B-4231-9EC0-C034CE4C8318}"/>
                    </a:ext>
                  </a:extLst>
                </p:cNvPr>
                <p:cNvSpPr txBox="1"/>
                <p:nvPr/>
              </p:nvSpPr>
              <p:spPr bwMode="auto">
                <a:xfrm>
                  <a:off x="1241" y="1691"/>
                  <a:ext cx="338" cy="409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zh-CN" altLang="en-US" sz="2400" dirty="0">
                      <a:solidFill>
                        <a:srgbClr val="FFC000"/>
                      </a:solidFill>
                    </a:rPr>
                    <a:t>  </a:t>
                  </a:r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3" name="Object 19">
                  <a:extLst>
                    <a:ext uri="{FF2B5EF4-FFF2-40B4-BE49-F238E27FC236}">
                      <a16:creationId xmlns:a16="http://schemas.microsoft.com/office/drawing/2014/main" id="{7D05DE9B-CE2B-4231-9EC0-C034CE4C83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41" y="1691"/>
                  <a:ext cx="338" cy="409"/>
                </a:xfrm>
                <a:prstGeom prst="rect">
                  <a:avLst/>
                </a:prstGeom>
                <a:blipFill>
                  <a:blip r:embed="rId7"/>
                  <a:stretch>
                    <a:fillRect t="-1887" r="-1034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Object 21">
                  <a:extLst>
                    <a:ext uri="{FF2B5EF4-FFF2-40B4-BE49-F238E27FC236}">
                      <a16:creationId xmlns:a16="http://schemas.microsoft.com/office/drawing/2014/main" id="{95B4B5C6-F675-40D7-A75F-AF9EA299CFAB}"/>
                    </a:ext>
                  </a:extLst>
                </p:cNvPr>
                <p:cNvSpPr txBox="1"/>
                <p:nvPr/>
              </p:nvSpPr>
              <p:spPr bwMode="auto">
                <a:xfrm>
                  <a:off x="1707" y="1668"/>
                  <a:ext cx="285" cy="420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CN" altLang="en-US" sz="24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400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4" name="Object 21">
                  <a:extLst>
                    <a:ext uri="{FF2B5EF4-FFF2-40B4-BE49-F238E27FC236}">
                      <a16:creationId xmlns:a16="http://schemas.microsoft.com/office/drawing/2014/main" id="{95B4B5C6-F675-40D7-A75F-AF9EA299CF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07" y="1668"/>
                  <a:ext cx="285" cy="420"/>
                </a:xfrm>
                <a:prstGeom prst="rect">
                  <a:avLst/>
                </a:prstGeom>
                <a:blipFill>
                  <a:blip r:embed="rId8"/>
                  <a:stretch>
                    <a:fillRect l="-4110" t="-1835" r="-383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Rectangle 26">
            <a:extLst>
              <a:ext uri="{FF2B5EF4-FFF2-40B4-BE49-F238E27FC236}">
                <a16:creationId xmlns:a16="http://schemas.microsoft.com/office/drawing/2014/main" id="{9C2A3614-B61F-4676-81CA-502DF67C8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4052644"/>
            <a:ext cx="1584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说明：</a:t>
            </a:r>
          </a:p>
        </p:txBody>
      </p:sp>
      <p:sp>
        <p:nvSpPr>
          <p:cNvPr id="16" name="灯片编号占位符 1">
            <a:extLst>
              <a:ext uri="{FF2B5EF4-FFF2-40B4-BE49-F238E27FC236}">
                <a16:creationId xmlns:a16="http://schemas.microsoft.com/office/drawing/2014/main" id="{82EE6F36-7AAF-4DEA-8C6A-6D7DBCB14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0A0B055-2438-4BA1-A415-CEDBC5AD89EF}" type="slidenum">
              <a:rPr lang="en-US" altLang="zh-CN" b="0">
                <a:solidFill>
                  <a:srgbClr val="FF00FF"/>
                </a:solidFill>
              </a:rPr>
              <a:pPr/>
              <a:t>26</a:t>
            </a:fld>
            <a:r>
              <a:rPr lang="en-US" altLang="zh-CN" b="0" dirty="0">
                <a:solidFill>
                  <a:srgbClr val="FF00FF"/>
                </a:solidFill>
              </a:rPr>
              <a:t>/22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04" grpId="0"/>
      <p:bldP spid="85005" grpId="0"/>
      <p:bldP spid="85006" grpId="0"/>
      <p:bldP spid="85008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9" name="Text Box 11">
            <a:extLst>
              <a:ext uri="{FF2B5EF4-FFF2-40B4-BE49-F238E27FC236}">
                <a16:creationId xmlns:a16="http://schemas.microsoft.com/office/drawing/2014/main" id="{21ABC120-C61D-4DA6-913E-AE805DF47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713" y="460464"/>
            <a:ext cx="7784574" cy="111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若两算符不对易，则一般它们没有共同的本征态，即</a:t>
            </a:r>
            <a:r>
              <a:rPr lang="zh-CN" altLang="en-US" sz="2400" b="1" dirty="0">
                <a:solidFill>
                  <a:srgbClr val="FFFF00"/>
                </a:solidFill>
                <a:latin typeface="+mn-ea"/>
                <a:ea typeface="+mn-ea"/>
              </a:rPr>
              <a:t>不可能同时具有确定值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。</a:t>
            </a:r>
          </a:p>
        </p:txBody>
      </p:sp>
      <p:grpSp>
        <p:nvGrpSpPr>
          <p:cNvPr id="104467" name="Group 19">
            <a:extLst>
              <a:ext uri="{FF2B5EF4-FFF2-40B4-BE49-F238E27FC236}">
                <a16:creationId xmlns:a16="http://schemas.microsoft.com/office/drawing/2014/main" id="{3568280F-5A59-4992-82B5-1FB2326D0319}"/>
              </a:ext>
            </a:extLst>
          </p:cNvPr>
          <p:cNvGrpSpPr>
            <a:grpSpLocks/>
          </p:cNvGrpSpPr>
          <p:nvPr/>
        </p:nvGrpSpPr>
        <p:grpSpPr bwMode="auto">
          <a:xfrm>
            <a:off x="675089" y="1796652"/>
            <a:ext cx="7785206" cy="2784476"/>
            <a:chOff x="86" y="1117"/>
            <a:chExt cx="4968" cy="1754"/>
          </a:xfrm>
        </p:grpSpPr>
        <p:sp>
          <p:nvSpPr>
            <p:cNvPr id="104460" name="Text Box 12">
              <a:extLst>
                <a:ext uri="{FF2B5EF4-FFF2-40B4-BE49-F238E27FC236}">
                  <a16:creationId xmlns:a16="http://schemas.microsoft.com/office/drawing/2014/main" id="{B8EC2ED0-AD4F-4454-A2B1-64C60830AC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" y="1117"/>
              <a:ext cx="4968" cy="17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>
                <a:lnSpc>
                  <a:spcPct val="140000"/>
                </a:lnSpc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bg1"/>
                  </a:solidFill>
                  <a:latin typeface="+mn-ea"/>
                  <a:ea typeface="+mn-ea"/>
                </a:rPr>
                <a:t>一个确定（如自由粒子）  ，另一个不确定（如   ），形成一种按可能值的统计分布；或二者均无定值，都形成按自己的可能值的一种统计分布。</a:t>
              </a:r>
              <a:endParaRPr lang="en-US" altLang="zh-CN" sz="2400" b="1" dirty="0">
                <a:solidFill>
                  <a:schemeClr val="bg1"/>
                </a:solidFill>
                <a:latin typeface="+mn-ea"/>
                <a:ea typeface="+mn-ea"/>
              </a:endParaRPr>
            </a:p>
            <a:p>
              <a:pPr algn="just">
                <a:lnSpc>
                  <a:spcPct val="140000"/>
                </a:lnSpc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bg1"/>
                  </a:solidFill>
                  <a:latin typeface="+mn-ea"/>
                  <a:ea typeface="+mn-ea"/>
                </a:rPr>
                <a:t>下面确定两个不对易的力学量的统计分布范围之间的一般关系</a:t>
              </a:r>
              <a:r>
                <a:rPr lang="en-US" altLang="zh-CN" sz="2400" b="1" dirty="0">
                  <a:solidFill>
                    <a:schemeClr val="bg1"/>
                  </a:solidFill>
                  <a:latin typeface="+mn-ea"/>
                  <a:ea typeface="+mn-ea"/>
                </a:rPr>
                <a:t>——</a:t>
              </a:r>
              <a:r>
                <a:rPr lang="zh-CN" altLang="en-US" sz="2400" b="1" dirty="0">
                  <a:solidFill>
                    <a:schemeClr val="bg1"/>
                  </a:solidFill>
                  <a:latin typeface="+mn-ea"/>
                  <a:ea typeface="+mn-ea"/>
                </a:rPr>
                <a:t>测不准关系（不确定关系）。</a:t>
              </a:r>
              <a:r>
                <a:rPr lang="zh-CN" altLang="en-US" sz="1600" dirty="0">
                  <a:solidFill>
                    <a:schemeClr val="bg1"/>
                  </a:solidFill>
                  <a:latin typeface="+mn-ea"/>
                  <a:ea typeface="+mn-ea"/>
                </a:rPr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461" name="Object 13">
                  <a:extLst>
                    <a:ext uri="{FF2B5EF4-FFF2-40B4-BE49-F238E27FC236}">
                      <a16:creationId xmlns:a16="http://schemas.microsoft.com/office/drawing/2014/main" id="{F52945C7-54CA-4B09-ADA3-4BB4A8C352D0}"/>
                    </a:ext>
                  </a:extLst>
                </p:cNvPr>
                <p:cNvSpPr txBox="1"/>
                <p:nvPr/>
              </p:nvSpPr>
              <p:spPr bwMode="auto">
                <a:xfrm>
                  <a:off x="2297" y="1117"/>
                  <a:ext cx="225" cy="363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zh-CN" altLang="en-US" sz="28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4461" name="Object 13">
                  <a:extLst>
                    <a:ext uri="{FF2B5EF4-FFF2-40B4-BE49-F238E27FC236}">
                      <a16:creationId xmlns:a16="http://schemas.microsoft.com/office/drawing/2014/main" id="{F52945C7-54CA-4B09-ADA3-4BB4A8C352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97" y="1117"/>
                  <a:ext cx="225" cy="36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463" name="Object 15">
                  <a:extLst>
                    <a:ext uri="{FF2B5EF4-FFF2-40B4-BE49-F238E27FC236}">
                      <a16:creationId xmlns:a16="http://schemas.microsoft.com/office/drawing/2014/main" id="{F4FE633A-B3D8-401A-887E-C0CC05CEBF50}"/>
                    </a:ext>
                  </a:extLst>
                </p:cNvPr>
                <p:cNvSpPr txBox="1"/>
                <p:nvPr/>
              </p:nvSpPr>
              <p:spPr bwMode="auto">
                <a:xfrm>
                  <a:off x="4365" y="1134"/>
                  <a:ext cx="249" cy="346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:pPr algn="ju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zh-CN" altLang="en-US" sz="28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4463" name="Object 15">
                  <a:extLst>
                    <a:ext uri="{FF2B5EF4-FFF2-40B4-BE49-F238E27FC236}">
                      <a16:creationId xmlns:a16="http://schemas.microsoft.com/office/drawing/2014/main" id="{F4FE633A-B3D8-401A-887E-C0CC05CEBF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65" y="1134"/>
                  <a:ext cx="249" cy="34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Box 7">
            <a:extLst>
              <a:ext uri="{FF2B5EF4-FFF2-40B4-BE49-F238E27FC236}">
                <a16:creationId xmlns:a16="http://schemas.microsoft.com/office/drawing/2014/main" id="{170E0C02-E431-4D9D-AB41-4CC0A34C8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077" y="4983559"/>
            <a:ext cx="58791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力学量 </a:t>
            </a:r>
            <a:r>
              <a:rPr lang="en-US" altLang="zh-CN" sz="2400" b="1" i="1" dirty="0">
                <a:solidFill>
                  <a:srgbClr val="FFC000"/>
                </a:solidFill>
                <a:latin typeface="+mn-ea"/>
                <a:ea typeface="+mn-ea"/>
                <a:cs typeface="Times New Roman" panose="02020603050405020304" pitchFamily="18" charset="0"/>
              </a:rPr>
              <a:t>F</a:t>
            </a:r>
            <a:r>
              <a:rPr lang="en-US" altLang="zh-CN" sz="2400" b="1" i="1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的标准差：</a:t>
            </a:r>
            <a:r>
              <a:rPr lang="zh-CN" altLang="en-US" sz="2400" b="1" dirty="0">
                <a:solidFill>
                  <a:srgbClr val="FFFF00"/>
                </a:solidFill>
                <a:latin typeface="+mn-ea"/>
                <a:ea typeface="+mn-ea"/>
              </a:rPr>
              <a:t>不确定度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15">
                <a:extLst>
                  <a:ext uri="{FF2B5EF4-FFF2-40B4-BE49-F238E27FC236}">
                    <a16:creationId xmlns:a16="http://schemas.microsoft.com/office/drawing/2014/main" id="{B744941A-CA69-4628-B24E-5528F120C5E4}"/>
                  </a:ext>
                </a:extLst>
              </p:cNvPr>
              <p:cNvSpPr txBox="1"/>
              <p:nvPr/>
            </p:nvSpPr>
            <p:spPr bwMode="auto">
              <a:xfrm>
                <a:off x="2438318" y="5636148"/>
                <a:ext cx="3398030" cy="745180"/>
              </a:xfrm>
              <a:prstGeom prst="rect">
                <a:avLst/>
              </a:prstGeom>
              <a:noFill/>
              <a:ln w="19050">
                <a:solidFill>
                  <a:srgbClr val="FFFF00"/>
                </a:solidFill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sz="28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  <m:r>
                                        <a:rPr lang="zh-CN" altLang="en-US" sz="28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d>
                                        <m:dPr>
                                          <m:begChr m:val="⟨"/>
                                          <m:endChr m:val="⟩"/>
                                          <m:ctrlPr>
                                            <a:rPr lang="zh-CN" altLang="en-US" sz="2800" i="1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2800" i="1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rad>
                    </m:oMath>
                  </m:oMathPara>
                </a14:m>
                <a:endParaRPr lang="zh-CN" altLang="en-US" sz="20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6" name="对象 15">
                <a:extLst>
                  <a:ext uri="{FF2B5EF4-FFF2-40B4-BE49-F238E27FC236}">
                    <a16:creationId xmlns:a16="http://schemas.microsoft.com/office/drawing/2014/main" id="{B744941A-CA69-4628-B24E-5528F120C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8318" y="5636148"/>
                <a:ext cx="3398030" cy="7451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FFFF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灯片编号占位符 1">
            <a:extLst>
              <a:ext uri="{FF2B5EF4-FFF2-40B4-BE49-F238E27FC236}">
                <a16:creationId xmlns:a16="http://schemas.microsoft.com/office/drawing/2014/main" id="{19505C9D-334D-4C05-B556-9D57FF281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0A0B055-2438-4BA1-A415-CEDBC5AD89EF}" type="slidenum">
              <a:rPr lang="en-US" altLang="zh-CN" b="0">
                <a:solidFill>
                  <a:srgbClr val="FF00FF"/>
                </a:solidFill>
              </a:rPr>
              <a:pPr/>
              <a:t>27</a:t>
            </a:fld>
            <a:r>
              <a:rPr lang="en-US" altLang="zh-CN" b="0" dirty="0">
                <a:solidFill>
                  <a:srgbClr val="FF00FF"/>
                </a:solidFill>
              </a:rPr>
              <a:t>/22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E8F5BAAA-4BFE-43ED-B470-43557BBE298B}"/>
                  </a:ext>
                </a:extLst>
              </p:cNvPr>
              <p:cNvSpPr txBox="1"/>
              <p:nvPr/>
            </p:nvSpPr>
            <p:spPr>
              <a:xfrm>
                <a:off x="4989829" y="2252156"/>
                <a:ext cx="2508550" cy="58105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</m:oMath>
                  </m:oMathPara>
                </a14:m>
                <a:endParaRPr lang="zh-CN" alt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7" name="对象 6">
                <a:extLst>
                  <a:ext uri="{FF2B5EF4-FFF2-40B4-BE49-F238E27FC236}">
                    <a16:creationId xmlns:a16="http://schemas.microsoft.com/office/drawing/2014/main" id="{E8F5BAAA-4BFE-43ED-B470-43557BBE2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829" y="2252156"/>
                <a:ext cx="2508550" cy="5810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>
                <a:extLst>
                  <a:ext uri="{FF2B5EF4-FFF2-40B4-BE49-F238E27FC236}">
                    <a16:creationId xmlns:a16="http://schemas.microsoft.com/office/drawing/2014/main" id="{0DC821E6-6D10-4656-8586-892E066BFB98}"/>
                  </a:ext>
                </a:extLst>
              </p:cNvPr>
              <p:cNvSpPr txBox="1"/>
              <p:nvPr/>
            </p:nvSpPr>
            <p:spPr>
              <a:xfrm>
                <a:off x="2542247" y="2925073"/>
                <a:ext cx="4956132" cy="65350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CN" altLang="en-US" sz="28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8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zh-CN" altLang="en-US" sz="2800" i="1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zh-CN" altLang="en-US" sz="2800" i="1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zh-CN" altLang="en-US" sz="28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/2=ℏ/2</m:t>
                      </m:r>
                    </m:oMath>
                  </m:oMathPara>
                </a14:m>
                <a:endParaRPr lang="zh-CN" alt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8" name="对象 7">
                <a:extLst>
                  <a:ext uri="{FF2B5EF4-FFF2-40B4-BE49-F238E27FC236}">
                    <a16:creationId xmlns:a16="http://schemas.microsoft.com/office/drawing/2014/main" id="{0DC821E6-6D10-4656-8586-892E066BF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247" y="2925073"/>
                <a:ext cx="4956132" cy="6535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Box 11">
            <a:extLst>
              <a:ext uri="{FF2B5EF4-FFF2-40B4-BE49-F238E27FC236}">
                <a16:creationId xmlns:a16="http://schemas.microsoft.com/office/drawing/2014/main" id="{F6018E0A-3C83-4EAE-92CB-E69002443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072" y="2159281"/>
            <a:ext cx="4956133" cy="636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7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以位置算符和动量算符为例：</a:t>
            </a:r>
          </a:p>
        </p:txBody>
      </p:sp>
      <p:sp>
        <p:nvSpPr>
          <p:cNvPr id="24" name="Text Box 11">
            <a:extLst>
              <a:ext uri="{FF2B5EF4-FFF2-40B4-BE49-F238E27FC236}">
                <a16:creationId xmlns:a16="http://schemas.microsoft.com/office/drawing/2014/main" id="{F7DFD31B-AABF-4F9F-B251-9582C5458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2484" y="2803737"/>
            <a:ext cx="1181881" cy="636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 defTabSz="914400" fontAlgn="base">
              <a:lnSpc>
                <a:spcPct val="170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因此：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70474EE-59D1-43B4-8851-8A065461188B}"/>
              </a:ext>
            </a:extLst>
          </p:cNvPr>
          <p:cNvSpPr txBox="1"/>
          <p:nvPr/>
        </p:nvSpPr>
        <p:spPr>
          <a:xfrm>
            <a:off x="898072" y="3616933"/>
            <a:ext cx="57444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表明坐标和动量无法同时精确测量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E127020-6E77-414C-973F-AB12B9BB0F9C}"/>
              </a:ext>
            </a:extLst>
          </p:cNvPr>
          <p:cNvSpPr txBox="1"/>
          <p:nvPr/>
        </p:nvSpPr>
        <p:spPr>
          <a:xfrm>
            <a:off x="867833" y="4286245"/>
            <a:ext cx="64404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对于时间和能量，它们的对易关系为：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B93C4D4-B83E-40A9-9E1B-C2DD2A358E72}"/>
              </a:ext>
            </a:extLst>
          </p:cNvPr>
          <p:cNvSpPr txBox="1"/>
          <p:nvPr/>
        </p:nvSpPr>
        <p:spPr>
          <a:xfrm>
            <a:off x="827584" y="5487392"/>
            <a:ext cx="71221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</a:rPr>
              <a:t>所以，能量和时间也同样具有不确定关系：</a:t>
            </a:r>
            <a:endParaRPr lang="zh-CN" altLang="en-US" sz="2400" dirty="0">
              <a:latin typeface="+mn-ea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60">
                <a:extLst>
                  <a:ext uri="{FF2B5EF4-FFF2-40B4-BE49-F238E27FC236}">
                    <a16:creationId xmlns:a16="http://schemas.microsoft.com/office/drawing/2014/main" id="{B13120F7-517B-47D4-8E0D-FBAC7473A4CD}"/>
                  </a:ext>
                </a:extLst>
              </p:cNvPr>
              <p:cNvSpPr txBox="1"/>
              <p:nvPr/>
            </p:nvSpPr>
            <p:spPr bwMode="auto">
              <a:xfrm>
                <a:off x="3476220" y="4858750"/>
                <a:ext cx="2181018" cy="56991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sz="2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acc>
                        </m:e>
                      </m:d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ℏ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" name="Object 60">
                <a:extLst>
                  <a:ext uri="{FF2B5EF4-FFF2-40B4-BE49-F238E27FC236}">
                    <a16:creationId xmlns:a16="http://schemas.microsoft.com/office/drawing/2014/main" id="{B13120F7-517B-47D4-8E0D-FBAC7473A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6220" y="4858750"/>
                <a:ext cx="2181018" cy="5699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对象 7">
                <a:extLst>
                  <a:ext uri="{FF2B5EF4-FFF2-40B4-BE49-F238E27FC236}">
                    <a16:creationId xmlns:a16="http://schemas.microsoft.com/office/drawing/2014/main" id="{FE8905AD-E6B6-4676-AD31-0F2C9893C341}"/>
                  </a:ext>
                </a:extLst>
              </p:cNvPr>
              <p:cNvSpPr txBox="1"/>
              <p:nvPr/>
            </p:nvSpPr>
            <p:spPr>
              <a:xfrm>
                <a:off x="3476220" y="6035033"/>
                <a:ext cx="4956132" cy="65350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2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CN" sz="28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ℏ/2</m:t>
                      </m:r>
                    </m:oMath>
                  </m:oMathPara>
                </a14:m>
                <a:endParaRPr lang="zh-CN" altLang="en-US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6" name="对象 7">
                <a:extLst>
                  <a:ext uri="{FF2B5EF4-FFF2-40B4-BE49-F238E27FC236}">
                    <a16:creationId xmlns:a16="http://schemas.microsoft.com/office/drawing/2014/main" id="{FE8905AD-E6B6-4676-AD31-0F2C9893C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6220" y="6035033"/>
                <a:ext cx="4956132" cy="6535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4">
                <a:extLst>
                  <a:ext uri="{FF2B5EF4-FFF2-40B4-BE49-F238E27FC236}">
                    <a16:creationId xmlns:a16="http://schemas.microsoft.com/office/drawing/2014/main" id="{C8C2EC3B-D98A-44FC-8CC3-C27B348F4D3A}"/>
                  </a:ext>
                </a:extLst>
              </p:cNvPr>
              <p:cNvSpPr txBox="1"/>
              <p:nvPr/>
            </p:nvSpPr>
            <p:spPr>
              <a:xfrm>
                <a:off x="1828167" y="913472"/>
                <a:ext cx="5185508" cy="653506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CN" altLang="en-US" sz="28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  <m:r>
                                    <a:rPr lang="zh-CN" altLang="en-US" sz="28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zh-CN" altLang="en-US" sz="28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800" b="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zh-CN" altLang="en-US" sz="28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p>
                          <m:r>
                            <a:rPr lang="zh-CN" altLang="en-US" sz="28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/4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对象 4">
                <a:extLst>
                  <a:ext uri="{FF2B5EF4-FFF2-40B4-BE49-F238E27FC236}">
                    <a16:creationId xmlns:a16="http://schemas.microsoft.com/office/drawing/2014/main" id="{C8C2EC3B-D98A-44FC-8CC3-C27B348F4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167" y="913472"/>
                <a:ext cx="5185508" cy="6535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5">
                <a:extLst>
                  <a:ext uri="{FF2B5EF4-FFF2-40B4-BE49-F238E27FC236}">
                    <a16:creationId xmlns:a16="http://schemas.microsoft.com/office/drawing/2014/main" id="{BFB0E9D6-1EA4-476C-9864-06E2FAAF2E63}"/>
                  </a:ext>
                </a:extLst>
              </p:cNvPr>
              <p:cNvSpPr txBox="1"/>
              <p:nvPr/>
            </p:nvSpPr>
            <p:spPr>
              <a:xfrm>
                <a:off x="1941363" y="1639859"/>
                <a:ext cx="4082377" cy="65350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7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27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7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zh-CN" altLang="en-US" sz="27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en-US" sz="27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7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7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zh-CN" altLang="en-US" sz="27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zh-CN" altLang="en-US" sz="27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zh-CN" altLang="en-US" sz="27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700" b="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  <m:r>
                                    <a:rPr lang="zh-CN" altLang="en-US" sz="27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zh-CN" altLang="en-US" sz="27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700" b="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acc>
                                </m:e>
                              </m:d>
                            </m:e>
                          </m:d>
                        </m:e>
                      </m:d>
                      <m:r>
                        <a:rPr lang="zh-CN" altLang="en-US" sz="270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zh-CN" altLang="en-US" sz="27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2" name="对象 5">
                <a:extLst>
                  <a:ext uri="{FF2B5EF4-FFF2-40B4-BE49-F238E27FC236}">
                    <a16:creationId xmlns:a16="http://schemas.microsoft.com/office/drawing/2014/main" id="{BFB0E9D6-1EA4-476C-9864-06E2FAAF2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363" y="1639859"/>
                <a:ext cx="4082377" cy="6535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28">
            <a:extLst>
              <a:ext uri="{FF2B5EF4-FFF2-40B4-BE49-F238E27FC236}">
                <a16:creationId xmlns:a16="http://schemas.microsoft.com/office/drawing/2014/main" id="{2138C87C-0052-48EB-B32A-E43DEAC410E8}"/>
              </a:ext>
            </a:extLst>
          </p:cNvPr>
          <p:cNvGrpSpPr>
            <a:grpSpLocks/>
          </p:cNvGrpSpPr>
          <p:nvPr/>
        </p:nvGrpSpPr>
        <p:grpSpPr bwMode="auto">
          <a:xfrm>
            <a:off x="920756" y="188640"/>
            <a:ext cx="8351837" cy="665163"/>
            <a:chOff x="341" y="508"/>
            <a:chExt cx="5261" cy="419"/>
          </a:xfrm>
        </p:grpSpPr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82280AA3-BA14-4C31-B97B-F91D71D39B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" y="508"/>
              <a:ext cx="5261" cy="4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7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若算符   与   是不对易的，可以证明：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bject 14">
                  <a:extLst>
                    <a:ext uri="{FF2B5EF4-FFF2-40B4-BE49-F238E27FC236}">
                      <a16:creationId xmlns:a16="http://schemas.microsoft.com/office/drawing/2014/main" id="{A9B8ED02-73F7-42CD-9594-E6C276F2771B}"/>
                    </a:ext>
                  </a:extLst>
                </p:cNvPr>
                <p:cNvSpPr txBox="1"/>
                <p:nvPr/>
              </p:nvSpPr>
              <p:spPr bwMode="auto">
                <a:xfrm>
                  <a:off x="1015" y="609"/>
                  <a:ext cx="235" cy="318"/>
                </a:xfrm>
                <a:prstGeom prst="rect">
                  <a:avLst/>
                </a:prstGeom>
                <a:noFill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zh-CN" altLang="en-US" sz="28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7" name="Object 14">
                  <a:extLst>
                    <a:ext uri="{FF2B5EF4-FFF2-40B4-BE49-F238E27FC236}">
                      <a16:creationId xmlns:a16="http://schemas.microsoft.com/office/drawing/2014/main" id="{A9B8ED02-73F7-42CD-9594-E6C276F27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15" y="609"/>
                  <a:ext cx="235" cy="31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bject 16">
                  <a:extLst>
                    <a:ext uri="{FF2B5EF4-FFF2-40B4-BE49-F238E27FC236}">
                      <a16:creationId xmlns:a16="http://schemas.microsoft.com/office/drawing/2014/main" id="{D85FAAFF-057F-4ED0-9B82-1576CEF8B8BC}"/>
                    </a:ext>
                  </a:extLst>
                </p:cNvPr>
                <p:cNvSpPr txBox="1"/>
                <p:nvPr/>
              </p:nvSpPr>
              <p:spPr bwMode="auto">
                <a:xfrm>
                  <a:off x="1508" y="594"/>
                  <a:ext cx="206" cy="333"/>
                </a:xfrm>
                <a:prstGeom prst="rect">
                  <a:avLst/>
                </a:prstGeom>
                <a:noFill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zh-CN" altLang="en-US" sz="280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8" name="Object 16">
                  <a:extLst>
                    <a:ext uri="{FF2B5EF4-FFF2-40B4-BE49-F238E27FC236}">
                      <a16:creationId xmlns:a16="http://schemas.microsoft.com/office/drawing/2014/main" id="{D85FAAFF-057F-4ED0-9B82-1576CEF8B8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08" y="594"/>
                  <a:ext cx="206" cy="33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Text Box 11">
            <a:extLst>
              <a:ext uri="{FF2B5EF4-FFF2-40B4-BE49-F238E27FC236}">
                <a16:creationId xmlns:a16="http://schemas.microsoft.com/office/drawing/2014/main" id="{09C36EC7-AA07-4DC2-A4CD-C22283D92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6772" y="1521212"/>
            <a:ext cx="1082790" cy="636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7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即：</a:t>
            </a:r>
          </a:p>
        </p:txBody>
      </p:sp>
      <p:sp>
        <p:nvSpPr>
          <p:cNvPr id="21" name="灯片编号占位符 1">
            <a:extLst>
              <a:ext uri="{FF2B5EF4-FFF2-40B4-BE49-F238E27FC236}">
                <a16:creationId xmlns:a16="http://schemas.microsoft.com/office/drawing/2014/main" id="{DD4A8C47-285F-4FF5-A278-0CB596192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0A0B055-2438-4BA1-A415-CEDBC5AD89EF}" type="slidenum">
              <a:rPr lang="en-US" altLang="zh-CN" b="0">
                <a:solidFill>
                  <a:srgbClr val="FF00FF"/>
                </a:solidFill>
              </a:rPr>
              <a:pPr/>
              <a:t>28</a:t>
            </a:fld>
            <a:r>
              <a:rPr lang="en-US" altLang="zh-CN" b="0" dirty="0">
                <a:solidFill>
                  <a:srgbClr val="FF00FF"/>
                </a:solidFill>
              </a:rPr>
              <a:t>/22</a:t>
            </a:r>
          </a:p>
        </p:txBody>
      </p:sp>
    </p:spTree>
    <p:extLst>
      <p:ext uri="{BB962C8B-B14F-4D97-AF65-F5344CB8AC3E}">
        <p14:creationId xmlns:p14="http://schemas.microsoft.com/office/powerpoint/2010/main" val="28291624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470D10E-70A7-400F-9F8E-5DAF609FA07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58000" y="2143125"/>
            <a:ext cx="1000125" cy="357188"/>
          </a:xfrm>
          <a:prstGeom prst="line">
            <a:avLst/>
          </a:prstGeom>
          <a:noFill/>
          <a:ln w="12700">
            <a:solidFill>
              <a:schemeClr val="bg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108" name="Text Box 4">
            <a:extLst>
              <a:ext uri="{FF2B5EF4-FFF2-40B4-BE49-F238E27FC236}">
                <a16:creationId xmlns:a16="http://schemas.microsoft.com/office/drawing/2014/main" id="{B26D2DB2-E6DE-43FB-B70D-312647D15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3" y="214313"/>
            <a:ext cx="3144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六</a:t>
            </a:r>
            <a:r>
              <a:rPr lang="en-US" altLang="zh-CN" sz="2800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氢原子</a:t>
            </a:r>
          </a:p>
        </p:txBody>
      </p:sp>
      <p:graphicFrame>
        <p:nvGraphicFramePr>
          <p:cNvPr id="47109" name="Object 2">
            <a:extLst>
              <a:ext uri="{FF2B5EF4-FFF2-40B4-BE49-F238E27FC236}">
                <a16:creationId xmlns:a16="http://schemas.microsoft.com/office/drawing/2014/main" id="{42A18B1E-2CFE-4C56-8582-784AF3F3B3EA}"/>
              </a:ext>
            </a:extLst>
          </p:cNvPr>
          <p:cNvGraphicFramePr>
            <a:graphicFrameLocks/>
          </p:cNvGraphicFramePr>
          <p:nvPr/>
        </p:nvGraphicFramePr>
        <p:xfrm>
          <a:off x="1455738" y="1666875"/>
          <a:ext cx="42957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874" r:id="rId3" imgW="4646880" imgH="808560" progId="Equation.3">
                  <p:embed/>
                </p:oleObj>
              </mc:Choice>
              <mc:Fallback>
                <p:oleObj r:id="rId3" imgW="4646880" imgH="808560" progId="Equation.3">
                  <p:embed/>
                  <p:pic>
                    <p:nvPicPr>
                      <p:cNvPr id="47109" name="Object 2">
                        <a:extLst>
                          <a:ext uri="{FF2B5EF4-FFF2-40B4-BE49-F238E27FC236}">
                            <a16:creationId xmlns:a16="http://schemas.microsoft.com/office/drawing/2014/main" id="{42A18B1E-2CFE-4C56-8582-784AF3F3B3E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738" y="1666875"/>
                        <a:ext cx="429577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3">
            <a:extLst>
              <a:ext uri="{FF2B5EF4-FFF2-40B4-BE49-F238E27FC236}">
                <a16:creationId xmlns:a16="http://schemas.microsoft.com/office/drawing/2014/main" id="{C432A1C2-0FFA-4489-9407-45D29A8A37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750" y="714375"/>
          <a:ext cx="131762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875" r:id="rId5" imgW="677880" imgH="379440" progId="Equation.3">
                  <p:embed/>
                </p:oleObj>
              </mc:Choice>
              <mc:Fallback>
                <p:oleObj r:id="rId5" imgW="677880" imgH="379440" progId="Equation.3">
                  <p:embed/>
                  <p:pic>
                    <p:nvPicPr>
                      <p:cNvPr id="47110" name="Object 3">
                        <a:extLst>
                          <a:ext uri="{FF2B5EF4-FFF2-40B4-BE49-F238E27FC236}">
                            <a16:creationId xmlns:a16="http://schemas.microsoft.com/office/drawing/2014/main" id="{C432A1C2-0FFA-4489-9407-45D29A8A37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714375"/>
                        <a:ext cx="131762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1" name="AutoShape 7">
            <a:extLst>
              <a:ext uri="{FF2B5EF4-FFF2-40B4-BE49-F238E27FC236}">
                <a16:creationId xmlns:a16="http://schemas.microsoft.com/office/drawing/2014/main" id="{898E9C47-45E3-4154-B9FA-7F097146B9F1}"/>
              </a:ext>
            </a:extLst>
          </p:cNvPr>
          <p:cNvSpPr>
            <a:spLocks/>
          </p:cNvSpPr>
          <p:nvPr/>
        </p:nvSpPr>
        <p:spPr bwMode="auto">
          <a:xfrm>
            <a:off x="1000125" y="1071563"/>
            <a:ext cx="307975" cy="1000125"/>
          </a:xfrm>
          <a:prstGeom prst="leftBrace">
            <a:avLst>
              <a:gd name="adj1" fmla="val 39601"/>
              <a:gd name="adj2" fmla="val 52431"/>
            </a:avLst>
          </a:prstGeom>
          <a:noFill/>
          <a:ln w="12700">
            <a:solidFill>
              <a:srgbClr val="99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7112" name="Text Box 8">
            <a:extLst>
              <a:ext uri="{FF2B5EF4-FFF2-40B4-BE49-F238E27FC236}">
                <a16:creationId xmlns:a16="http://schemas.microsoft.com/office/drawing/2014/main" id="{E67683C5-81EF-447D-8696-8BE7FBA7B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2428875"/>
            <a:ext cx="4354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球坐标的定态薛定谔方程</a:t>
            </a:r>
          </a:p>
        </p:txBody>
      </p:sp>
      <p:sp>
        <p:nvSpPr>
          <p:cNvPr id="47113" name="AutoShape 9">
            <a:extLst>
              <a:ext uri="{FF2B5EF4-FFF2-40B4-BE49-F238E27FC236}">
                <a16:creationId xmlns:a16="http://schemas.microsoft.com/office/drawing/2014/main" id="{6E51BE70-89D4-4778-9338-BBB2EC23C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2954338"/>
            <a:ext cx="5970588" cy="1893887"/>
          </a:xfrm>
          <a:prstGeom prst="bevel">
            <a:avLst>
              <a:gd name="adj" fmla="val 0"/>
            </a:avLst>
          </a:prstGeom>
          <a:solidFill>
            <a:srgbClr val="0066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47114" name="Object 4">
            <a:extLst>
              <a:ext uri="{FF2B5EF4-FFF2-40B4-BE49-F238E27FC236}">
                <a16:creationId xmlns:a16="http://schemas.microsoft.com/office/drawing/2014/main" id="{259D0D81-7EFA-42C6-B5E0-D11F1D1A0C4E}"/>
              </a:ext>
            </a:extLst>
          </p:cNvPr>
          <p:cNvGraphicFramePr>
            <a:graphicFrameLocks/>
          </p:cNvGraphicFramePr>
          <p:nvPr/>
        </p:nvGraphicFramePr>
        <p:xfrm>
          <a:off x="1392238" y="3119438"/>
          <a:ext cx="5180012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876" r:id="rId7" imgW="5606280" imgH="1633680" progId="Equation.3">
                  <p:embed/>
                </p:oleObj>
              </mc:Choice>
              <mc:Fallback>
                <p:oleObj r:id="rId7" imgW="5606280" imgH="1633680" progId="Equation.3">
                  <p:embed/>
                  <p:pic>
                    <p:nvPicPr>
                      <p:cNvPr id="47114" name="Object 4">
                        <a:extLst>
                          <a:ext uri="{FF2B5EF4-FFF2-40B4-BE49-F238E27FC236}">
                            <a16:creationId xmlns:a16="http://schemas.microsoft.com/office/drawing/2014/main" id="{259D0D81-7EFA-42C6-B5E0-D11F1D1A0C4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238" y="3119438"/>
                        <a:ext cx="5180012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9" name="Arc 15">
            <a:extLst>
              <a:ext uri="{FF2B5EF4-FFF2-40B4-BE49-F238E27FC236}">
                <a16:creationId xmlns:a16="http://schemas.microsoft.com/office/drawing/2014/main" id="{D516FD23-1625-4B44-BE15-5969DEF52CDA}"/>
              </a:ext>
            </a:extLst>
          </p:cNvPr>
          <p:cNvSpPr>
            <a:spLocks noChangeArrowheads="1"/>
          </p:cNvSpPr>
          <p:nvPr/>
        </p:nvSpPr>
        <p:spPr bwMode="auto">
          <a:xfrm rot="-891319">
            <a:off x="6929438" y="1528763"/>
            <a:ext cx="239712" cy="303212"/>
          </a:xfrm>
          <a:custGeom>
            <a:avLst/>
            <a:gdLst>
              <a:gd name="T0" fmla="*/ -1 w 21600"/>
              <a:gd name="T1" fmla="*/ 0 h 21600"/>
              <a:gd name="T2" fmla="*/ 21600 w 21600"/>
              <a:gd name="T3" fmla="*/ 21600 h 21600"/>
              <a:gd name="T4" fmla="*/ -1 w 21600"/>
              <a:gd name="T5" fmla="*/ 0 h 21600"/>
              <a:gd name="T6" fmla="*/ 21600 w 21600"/>
              <a:gd name="T7" fmla="*/ 21600 h 21600"/>
              <a:gd name="T8" fmla="*/ 0 w 21600"/>
              <a:gd name="T9" fmla="*/ 21600 h 21600"/>
              <a:gd name="T10" fmla="*/ -1 w 21600"/>
              <a:gd name="T11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graphicFrame>
        <p:nvGraphicFramePr>
          <p:cNvPr id="47121" name="Object 5">
            <a:extLst>
              <a:ext uri="{FF2B5EF4-FFF2-40B4-BE49-F238E27FC236}">
                <a16:creationId xmlns:a16="http://schemas.microsoft.com/office/drawing/2014/main" id="{43759031-C8E7-448F-99BE-BAA623EAF7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00875" y="1285875"/>
          <a:ext cx="255588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877" r:id="rId9" imgW="259200" imgH="258480" progId="Equation.3">
                  <p:embed/>
                </p:oleObj>
              </mc:Choice>
              <mc:Fallback>
                <p:oleObj r:id="rId9" imgW="259200" imgH="258480" progId="Equation.3">
                  <p:embed/>
                  <p:pic>
                    <p:nvPicPr>
                      <p:cNvPr id="47121" name="Object 5">
                        <a:extLst>
                          <a:ext uri="{FF2B5EF4-FFF2-40B4-BE49-F238E27FC236}">
                            <a16:creationId xmlns:a16="http://schemas.microsoft.com/office/drawing/2014/main" id="{43759031-C8E7-448F-99BE-BAA623EAF7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75" y="1285875"/>
                        <a:ext cx="255588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2" name="Object 6">
            <a:extLst>
              <a:ext uri="{FF2B5EF4-FFF2-40B4-BE49-F238E27FC236}">
                <a16:creationId xmlns:a16="http://schemas.microsoft.com/office/drawing/2014/main" id="{BE6E1287-F18B-45D3-9DD0-B54B8153A9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86563" y="2500313"/>
          <a:ext cx="276225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878" r:id="rId11" imgW="281160" imgH="247680" progId="Equation.3">
                  <p:embed/>
                </p:oleObj>
              </mc:Choice>
              <mc:Fallback>
                <p:oleObj r:id="rId11" imgW="281160" imgH="247680" progId="Equation.3">
                  <p:embed/>
                  <p:pic>
                    <p:nvPicPr>
                      <p:cNvPr id="47122" name="Object 6">
                        <a:extLst>
                          <a:ext uri="{FF2B5EF4-FFF2-40B4-BE49-F238E27FC236}">
                            <a16:creationId xmlns:a16="http://schemas.microsoft.com/office/drawing/2014/main" id="{BE6E1287-F18B-45D3-9DD0-B54B8153A9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63" y="2500313"/>
                        <a:ext cx="276225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42">
            <a:extLst>
              <a:ext uri="{FF2B5EF4-FFF2-40B4-BE49-F238E27FC236}">
                <a16:creationId xmlns:a16="http://schemas.microsoft.com/office/drawing/2014/main" id="{BBBF0EF6-DF06-4E36-BDED-3151F03A7097}"/>
              </a:ext>
            </a:extLst>
          </p:cNvPr>
          <p:cNvGrpSpPr>
            <a:grpSpLocks/>
          </p:cNvGrpSpPr>
          <p:nvPr/>
        </p:nvGrpSpPr>
        <p:grpSpPr bwMode="auto">
          <a:xfrm>
            <a:off x="5837238" y="442913"/>
            <a:ext cx="2895600" cy="2489200"/>
            <a:chOff x="5837238" y="442913"/>
            <a:chExt cx="2895626" cy="2489194"/>
          </a:xfrm>
        </p:grpSpPr>
        <p:grpSp>
          <p:nvGrpSpPr>
            <p:cNvPr id="27661" name="组合 40">
              <a:extLst>
                <a:ext uri="{FF2B5EF4-FFF2-40B4-BE49-F238E27FC236}">
                  <a16:creationId xmlns:a16="http://schemas.microsoft.com/office/drawing/2014/main" id="{13CD899C-61C4-4FB8-9ADE-73ABE82900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37238" y="442913"/>
              <a:ext cx="2895626" cy="2489194"/>
              <a:chOff x="5837238" y="442913"/>
              <a:chExt cx="2895626" cy="2489194"/>
            </a:xfrm>
          </p:grpSpPr>
          <p:cxnSp>
            <p:nvCxnSpPr>
              <p:cNvPr id="27662" name="直接连接符 29">
                <a:extLst>
                  <a:ext uri="{FF2B5EF4-FFF2-40B4-BE49-F238E27FC236}">
                    <a16:creationId xmlns:a16="http://schemas.microsoft.com/office/drawing/2014/main" id="{17C35652-4DF9-471F-B248-A25DCC86005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858016" y="2143116"/>
                <a:ext cx="1643074" cy="158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7663" name="Line 11">
                <a:extLst>
                  <a:ext uri="{FF2B5EF4-FFF2-40B4-BE49-F238E27FC236}">
                    <a16:creationId xmlns:a16="http://schemas.microsoft.com/office/drawing/2014/main" id="{4EFF052C-C074-4011-A086-9572D4D0C4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837238" y="2185988"/>
                <a:ext cx="1058862" cy="695325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4" name="Line 12">
                <a:extLst>
                  <a:ext uri="{FF2B5EF4-FFF2-40B4-BE49-F238E27FC236}">
                    <a16:creationId xmlns:a16="http://schemas.microsoft.com/office/drawing/2014/main" id="{9143F6CC-1DAD-4B33-9C52-3E1C9D4434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875463" y="442913"/>
                <a:ext cx="0" cy="1743075"/>
              </a:xfrm>
              <a:prstGeom prst="line">
                <a:avLst/>
              </a:prstGeom>
              <a:noFill/>
              <a:ln w="19050">
                <a:solidFill>
                  <a:srgbClr val="FFFFFF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7665" name="Object 7">
                <a:extLst>
                  <a:ext uri="{FF2B5EF4-FFF2-40B4-BE49-F238E27FC236}">
                    <a16:creationId xmlns:a16="http://schemas.microsoft.com/office/drawing/2014/main" id="{50951F48-ED1E-47F8-AB15-144566682A9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999288" y="577850"/>
              <a:ext cx="295275" cy="215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4879" r:id="rId13" imgW="236880" imgH="170640" progId="Equation.3">
                      <p:embed/>
                    </p:oleObj>
                  </mc:Choice>
                  <mc:Fallback>
                    <p:oleObj r:id="rId13" imgW="236880" imgH="170640" progId="Equation.3">
                      <p:embed/>
                      <p:pic>
                        <p:nvPicPr>
                          <p:cNvPr id="27665" name="Object 7">
                            <a:extLst>
                              <a:ext uri="{FF2B5EF4-FFF2-40B4-BE49-F238E27FC236}">
                                <a16:creationId xmlns:a16="http://schemas.microsoft.com/office/drawing/2014/main" id="{50951F48-ED1E-47F8-AB15-144566682A9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99288" y="577850"/>
                            <a:ext cx="295275" cy="215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66" name="Object 29">
                <a:extLst>
                  <a:ext uri="{FF2B5EF4-FFF2-40B4-BE49-F238E27FC236}">
                    <a16:creationId xmlns:a16="http://schemas.microsoft.com/office/drawing/2014/main" id="{0FAD9EC9-FED5-43CF-B5AE-3300C93BB00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143636" y="2643182"/>
              <a:ext cx="349250" cy="2889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4880" r:id="rId15" imgW="126720" imgH="104400" progId="Equation.3">
                      <p:embed/>
                    </p:oleObj>
                  </mc:Choice>
                  <mc:Fallback>
                    <p:oleObj r:id="rId15" imgW="126720" imgH="104400" progId="Equation.3">
                      <p:embed/>
                      <p:pic>
                        <p:nvPicPr>
                          <p:cNvPr id="27666" name="Object 29">
                            <a:extLst>
                              <a:ext uri="{FF2B5EF4-FFF2-40B4-BE49-F238E27FC236}">
                                <a16:creationId xmlns:a16="http://schemas.microsoft.com/office/drawing/2014/main" id="{0FAD9EC9-FED5-43CF-B5AE-3300C93BB00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43636" y="2643182"/>
                            <a:ext cx="349250" cy="2889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67" name="Object 30">
                <a:extLst>
                  <a:ext uri="{FF2B5EF4-FFF2-40B4-BE49-F238E27FC236}">
                    <a16:creationId xmlns:a16="http://schemas.microsoft.com/office/drawing/2014/main" id="{3B46AEA2-E478-4D82-8A5A-6D11A4FC16F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358214" y="2143116"/>
              <a:ext cx="374650" cy="341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4881" r:id="rId17" imgW="137880" imgH="126360" progId="Equation.3">
                      <p:embed/>
                    </p:oleObj>
                  </mc:Choice>
                  <mc:Fallback>
                    <p:oleObj r:id="rId17" imgW="137880" imgH="126360" progId="Equation.3">
                      <p:embed/>
                      <p:pic>
                        <p:nvPicPr>
                          <p:cNvPr id="27667" name="Object 30">
                            <a:extLst>
                              <a:ext uri="{FF2B5EF4-FFF2-40B4-BE49-F238E27FC236}">
                                <a16:creationId xmlns:a16="http://schemas.microsoft.com/office/drawing/2014/main" id="{3B46AEA2-E478-4D82-8A5A-6D11A4FC16F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58214" y="2143116"/>
                            <a:ext cx="374650" cy="341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668" name="组合 41">
              <a:extLst>
                <a:ext uri="{FF2B5EF4-FFF2-40B4-BE49-F238E27FC236}">
                  <a16:creationId xmlns:a16="http://schemas.microsoft.com/office/drawing/2014/main" id="{9FA2F18B-17C2-4A10-907A-214FB3A8B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83300" y="641336"/>
              <a:ext cx="2366987" cy="1685939"/>
              <a:chOff x="6083300" y="641336"/>
              <a:chExt cx="2366987" cy="1685939"/>
            </a:xfrm>
          </p:grpSpPr>
          <p:sp>
            <p:nvSpPr>
              <p:cNvPr id="27669" name="Line 13">
                <a:extLst>
                  <a:ext uri="{FF2B5EF4-FFF2-40B4-BE49-F238E27FC236}">
                    <a16:creationId xmlns:a16="http://schemas.microsoft.com/office/drawing/2014/main" id="{37966814-967D-457A-84E3-283F3842CC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875463" y="1119188"/>
                <a:ext cx="1039812" cy="1025525"/>
              </a:xfrm>
              <a:prstGeom prst="line">
                <a:avLst/>
              </a:prstGeom>
              <a:noFill/>
              <a:ln w="19050">
                <a:solidFill>
                  <a:srgbClr val="00FF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0" name="Oval 14">
                <a:extLst>
                  <a:ext uri="{FF2B5EF4-FFF2-40B4-BE49-F238E27FC236}">
                    <a16:creationId xmlns:a16="http://schemas.microsoft.com/office/drawing/2014/main" id="{6783497B-AD18-4CF5-9B1B-431D308F53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826375" y="1039813"/>
                <a:ext cx="161925" cy="161925"/>
              </a:xfrm>
              <a:prstGeom prst="ellipse">
                <a:avLst/>
              </a:prstGeom>
              <a:gradFill rotWithShape="1">
                <a:gsLst>
                  <a:gs pos="0">
                    <a:srgbClr val="76762F"/>
                  </a:gs>
                  <a:gs pos="100000">
                    <a:srgbClr val="FFFF66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graphicFrame>
            <p:nvGraphicFramePr>
              <p:cNvPr id="27671" name="Object 8">
                <a:extLst>
                  <a:ext uri="{FF2B5EF4-FFF2-40B4-BE49-F238E27FC236}">
                    <a16:creationId xmlns:a16="http://schemas.microsoft.com/office/drawing/2014/main" id="{4E0DB3F0-A81F-4DEC-B3A5-9596305D46A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083300" y="1890713"/>
              <a:ext cx="679450" cy="431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4882" r:id="rId19" imgW="567720" imgH="357480" progId="Equation.3">
                      <p:embed/>
                    </p:oleObj>
                  </mc:Choice>
                  <mc:Fallback>
                    <p:oleObj r:id="rId19" imgW="567720" imgH="357480" progId="Equation.3">
                      <p:embed/>
                      <p:pic>
                        <p:nvPicPr>
                          <p:cNvPr id="27671" name="Object 8">
                            <a:extLst>
                              <a:ext uri="{FF2B5EF4-FFF2-40B4-BE49-F238E27FC236}">
                                <a16:creationId xmlns:a16="http://schemas.microsoft.com/office/drawing/2014/main" id="{4E0DB3F0-A81F-4DEC-B3A5-9596305D46A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83300" y="1890713"/>
                            <a:ext cx="679450" cy="431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72" name="Object 9">
                <a:extLst>
                  <a:ext uri="{FF2B5EF4-FFF2-40B4-BE49-F238E27FC236}">
                    <a16:creationId xmlns:a16="http://schemas.microsoft.com/office/drawing/2014/main" id="{A16A4BD0-F80B-4F55-848B-E248FB0422F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16800" y="1612900"/>
              <a:ext cx="280988" cy="215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4883" r:id="rId21" imgW="226080" imgH="170640" progId="Equation.3">
                      <p:embed/>
                    </p:oleObj>
                  </mc:Choice>
                  <mc:Fallback>
                    <p:oleObj r:id="rId21" imgW="226080" imgH="170640" progId="Equation.3">
                      <p:embed/>
                      <p:pic>
                        <p:nvPicPr>
                          <p:cNvPr id="27672" name="Object 9">
                            <a:extLst>
                              <a:ext uri="{FF2B5EF4-FFF2-40B4-BE49-F238E27FC236}">
                                <a16:creationId xmlns:a16="http://schemas.microsoft.com/office/drawing/2014/main" id="{A16A4BD0-F80B-4F55-848B-E248FB0422F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16800" y="1612900"/>
                            <a:ext cx="280988" cy="215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673" name="Object 10">
                <a:extLst>
                  <a:ext uri="{FF2B5EF4-FFF2-40B4-BE49-F238E27FC236}">
                    <a16:creationId xmlns:a16="http://schemas.microsoft.com/office/drawing/2014/main" id="{91A79DEA-D8F7-4926-99E4-B9CA95CCAB4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072462" y="641336"/>
              <a:ext cx="377825" cy="7159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44884" r:id="rId23" imgW="181800" imgH="357480" progId="Equation.3">
                      <p:embed/>
                    </p:oleObj>
                  </mc:Choice>
                  <mc:Fallback>
                    <p:oleObj r:id="rId23" imgW="181800" imgH="357480" progId="Equation.3">
                      <p:embed/>
                      <p:pic>
                        <p:nvPicPr>
                          <p:cNvPr id="27673" name="Object 10">
                            <a:extLst>
                              <a:ext uri="{FF2B5EF4-FFF2-40B4-BE49-F238E27FC236}">
                                <a16:creationId xmlns:a16="http://schemas.microsoft.com/office/drawing/2014/main" id="{91A79DEA-D8F7-4926-99E4-B9CA95CCAB4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072462" y="641336"/>
                            <a:ext cx="377825" cy="7159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7674" name="Oval 23">
                <a:extLst>
                  <a:ext uri="{FF2B5EF4-FFF2-40B4-BE49-F238E27FC236}">
                    <a16:creationId xmlns:a16="http://schemas.microsoft.com/office/drawing/2014/main" id="{1DB11719-03FD-4254-B849-38CCB5C21F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00" y="1960563"/>
                <a:ext cx="366713" cy="366712"/>
              </a:xfrm>
              <a:prstGeom prst="ellipse">
                <a:avLst/>
              </a:prstGeom>
              <a:gradFill rotWithShape="1">
                <a:gsLst>
                  <a:gs pos="0">
                    <a:srgbClr val="007676"/>
                  </a:gs>
                  <a:gs pos="100000">
                    <a:srgbClr val="00FFFF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7129" name="Text Box 25">
            <a:extLst>
              <a:ext uri="{FF2B5EF4-FFF2-40B4-BE49-F238E27FC236}">
                <a16:creationId xmlns:a16="http://schemas.microsoft.com/office/drawing/2014/main" id="{E08C1D1A-4626-485E-9B1E-FF696E51D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288" y="5467350"/>
            <a:ext cx="2041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给出的结论：</a:t>
            </a:r>
          </a:p>
        </p:txBody>
      </p:sp>
      <p:sp>
        <p:nvSpPr>
          <p:cNvPr id="47132" name="Text Box 28">
            <a:extLst>
              <a:ext uri="{FF2B5EF4-FFF2-40B4-BE49-F238E27FC236}">
                <a16:creationId xmlns:a16="http://schemas.microsoft.com/office/drawing/2014/main" id="{3DDD4C40-6280-445C-A47D-A7DEA6118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5972175"/>
            <a:ext cx="5345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0FFFF"/>
                </a:solidFill>
                <a:ea typeface="STZhongsong" panose="02010600040101010101" pitchFamily="2" charset="-122"/>
              </a:rPr>
              <a:t>1. </a:t>
            </a:r>
            <a:r>
              <a:rPr lang="zh-CN" altLang="en-US">
                <a:solidFill>
                  <a:srgbClr val="00FFFF"/>
                </a:solidFill>
                <a:ea typeface="STZhongsong" panose="02010600040101010101" pitchFamily="2" charset="-122"/>
              </a:rPr>
              <a:t>能量量子化         主量子数 </a:t>
            </a:r>
          </a:p>
        </p:txBody>
      </p:sp>
      <p:sp>
        <p:nvSpPr>
          <p:cNvPr id="47134" name="Rectangle 30">
            <a:extLst>
              <a:ext uri="{FF2B5EF4-FFF2-40B4-BE49-F238E27FC236}">
                <a16:creationId xmlns:a16="http://schemas.microsoft.com/office/drawing/2014/main" id="{7ADA6EDF-AB0B-4F25-8680-1033BAF94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938" y="4938713"/>
            <a:ext cx="7620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其解一般为</a:t>
            </a:r>
          </a:p>
        </p:txBody>
      </p:sp>
      <p:sp>
        <p:nvSpPr>
          <p:cNvPr id="47135" name="Rectangle 31">
            <a:extLst>
              <a:ext uri="{FF2B5EF4-FFF2-40B4-BE49-F238E27FC236}">
                <a16:creationId xmlns:a16="http://schemas.microsoft.com/office/drawing/2014/main" id="{9EB219FF-8773-49CF-8F76-017D6BDAF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1263" y="4940300"/>
            <a:ext cx="1905000" cy="457200"/>
          </a:xfrm>
          <a:prstGeom prst="rect">
            <a:avLst/>
          </a:prstGeom>
          <a:noFill/>
          <a:ln w="222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的函数：</a:t>
            </a:r>
          </a:p>
        </p:txBody>
      </p:sp>
      <p:graphicFrame>
        <p:nvGraphicFramePr>
          <p:cNvPr id="47136" name="Object 11">
            <a:extLst>
              <a:ext uri="{FF2B5EF4-FFF2-40B4-BE49-F238E27FC236}">
                <a16:creationId xmlns:a16="http://schemas.microsoft.com/office/drawing/2014/main" id="{043F1B43-EE42-4A6B-BE10-50F88804CC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4625" y="5003800"/>
          <a:ext cx="109378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885" r:id="rId25" imgW="336240" imgH="159480" progId="Equation.3">
                  <p:embed/>
                </p:oleObj>
              </mc:Choice>
              <mc:Fallback>
                <p:oleObj r:id="rId25" imgW="336240" imgH="159480" progId="Equation.3">
                  <p:embed/>
                  <p:pic>
                    <p:nvPicPr>
                      <p:cNvPr id="47136" name="Object 11">
                        <a:extLst>
                          <a:ext uri="{FF2B5EF4-FFF2-40B4-BE49-F238E27FC236}">
                            <a16:creationId xmlns:a16="http://schemas.microsoft.com/office/drawing/2014/main" id="{043F1B43-EE42-4A6B-BE10-50F88804CC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5003800"/>
                        <a:ext cx="109378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7" name="Object 12">
            <a:extLst>
              <a:ext uri="{FF2B5EF4-FFF2-40B4-BE49-F238E27FC236}">
                <a16:creationId xmlns:a16="http://schemas.microsoft.com/office/drawing/2014/main" id="{4E4776F2-8C3B-4EBE-9A08-0BE9B5DE6E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8725" y="4959350"/>
          <a:ext cx="203358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886" r:id="rId27" imgW="744120" imgH="159480" progId="Equation.3">
                  <p:embed/>
                </p:oleObj>
              </mc:Choice>
              <mc:Fallback>
                <p:oleObj r:id="rId27" imgW="744120" imgH="159480" progId="Equation.3">
                  <p:embed/>
                  <p:pic>
                    <p:nvPicPr>
                      <p:cNvPr id="47137" name="Object 12">
                        <a:extLst>
                          <a:ext uri="{FF2B5EF4-FFF2-40B4-BE49-F238E27FC236}">
                            <a16:creationId xmlns:a16="http://schemas.microsoft.com/office/drawing/2014/main" id="{4E4776F2-8C3B-4EBE-9A08-0BE9B5DE6E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8725" y="4959350"/>
                        <a:ext cx="203358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BD0CF47-D785-4BF6-A638-F637DC8E2A7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7212013" y="1820863"/>
            <a:ext cx="1323975" cy="34925"/>
          </a:xfrm>
          <a:prstGeom prst="line">
            <a:avLst/>
          </a:prstGeom>
          <a:noFill/>
          <a:ln w="12700">
            <a:solidFill>
              <a:schemeClr val="bg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任意多边形 37">
            <a:extLst>
              <a:ext uri="{FF2B5EF4-FFF2-40B4-BE49-F238E27FC236}">
                <a16:creationId xmlns:a16="http://schemas.microsoft.com/office/drawing/2014/main" id="{7956E379-D73E-45B8-A080-D7BF19391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6388" y="2295525"/>
            <a:ext cx="509587" cy="133350"/>
          </a:xfrm>
          <a:custGeom>
            <a:avLst/>
            <a:gdLst>
              <a:gd name="T0" fmla="*/ 0 w 509954"/>
              <a:gd name="T1" fmla="*/ 70339 h 134816"/>
              <a:gd name="T2" fmla="*/ 316523 w 509954"/>
              <a:gd name="T3" fmla="*/ 123093 h 134816"/>
              <a:gd name="T4" fmla="*/ 509954 w 509954"/>
              <a:gd name="T5" fmla="*/ 0 h 1348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09954" h="134816">
                <a:moveTo>
                  <a:pt x="0" y="70339"/>
                </a:moveTo>
                <a:cubicBezTo>
                  <a:pt x="115765" y="102577"/>
                  <a:pt x="231531" y="134816"/>
                  <a:pt x="316523" y="123093"/>
                </a:cubicBezTo>
                <a:cubicBezTo>
                  <a:pt x="401515" y="111370"/>
                  <a:pt x="509954" y="0"/>
                  <a:pt x="509954" y="0"/>
                </a:cubicBezTo>
              </a:path>
            </a:pathLst>
          </a:custGeom>
          <a:noFill/>
          <a:ln w="127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27683" name="灯片编号占位符 1">
            <a:extLst>
              <a:ext uri="{FF2B5EF4-FFF2-40B4-BE49-F238E27FC236}">
                <a16:creationId xmlns:a16="http://schemas.microsoft.com/office/drawing/2014/main" id="{617660A8-69FA-4B16-A566-70EE8EFA6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14BEBEAF-4D42-4821-A045-4E7FB293D784}" type="slidenum">
              <a:rPr lang="en-US" altLang="zh-CN" b="0">
                <a:solidFill>
                  <a:srgbClr val="FF00FF"/>
                </a:solidFill>
              </a:rPr>
              <a:pPr/>
              <a:t>29</a:t>
            </a:fld>
            <a:r>
              <a:rPr lang="en-US" altLang="zh-CN" b="0">
                <a:solidFill>
                  <a:srgbClr val="FF00FF"/>
                </a:solidFill>
              </a:rPr>
              <a:t>/22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5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7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7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7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7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4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47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/>
      <p:bldP spid="47111" grpId="0" animBg="1"/>
      <p:bldP spid="47112" grpId="0"/>
      <p:bldP spid="47113" grpId="0" animBg="1"/>
      <p:bldP spid="47129" grpId="0"/>
      <p:bldP spid="47132" grpId="0"/>
      <p:bldP spid="47134" grpId="0"/>
      <p:bldP spid="4713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4" name="Text Box 4">
            <a:extLst>
              <a:ext uri="{FF2B5EF4-FFF2-40B4-BE49-F238E27FC236}">
                <a16:creationId xmlns:a16="http://schemas.microsoft.com/office/drawing/2014/main" id="{A0C7C05A-9E05-485B-8162-B08115C30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31813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FF00"/>
                </a:solidFill>
                <a:ea typeface="仿宋_GB2312" pitchFamily="49" charset="-122"/>
              </a:rPr>
              <a:t>能量</a:t>
            </a:r>
          </a:p>
        </p:txBody>
      </p:sp>
      <p:sp>
        <p:nvSpPr>
          <p:cNvPr id="92166" name="Text Box 6">
            <a:extLst>
              <a:ext uri="{FF2B5EF4-FFF2-40B4-BE49-F238E27FC236}">
                <a16:creationId xmlns:a16="http://schemas.microsoft.com/office/drawing/2014/main" id="{181D3053-E206-4A45-B711-178EA7915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175" y="1257300"/>
            <a:ext cx="2036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ea typeface="仿宋_GB2312" pitchFamily="49" charset="-122"/>
              </a:rPr>
              <a:t>电子分布</a:t>
            </a:r>
          </a:p>
        </p:txBody>
      </p:sp>
      <p:graphicFrame>
        <p:nvGraphicFramePr>
          <p:cNvPr id="92167" name="Object 2">
            <a:extLst>
              <a:ext uri="{FF2B5EF4-FFF2-40B4-BE49-F238E27FC236}">
                <a16:creationId xmlns:a16="http://schemas.microsoft.com/office/drawing/2014/main" id="{D6A7BA67-F900-4AAC-8EF8-E10A5F7B4FD3}"/>
              </a:ext>
            </a:extLst>
          </p:cNvPr>
          <p:cNvGraphicFramePr>
            <a:graphicFrameLocks/>
          </p:cNvGraphicFramePr>
          <p:nvPr/>
        </p:nvGraphicFramePr>
        <p:xfrm>
          <a:off x="1985963" y="371475"/>
          <a:ext cx="28003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22" r:id="rId3" imgW="2409120" imgH="709560" progId="Equation.3">
                  <p:embed/>
                </p:oleObj>
              </mc:Choice>
              <mc:Fallback>
                <p:oleObj r:id="rId3" imgW="2409120" imgH="709560" progId="Equation.3">
                  <p:embed/>
                  <p:pic>
                    <p:nvPicPr>
                      <p:cNvPr id="92167" name="Object 2">
                        <a:extLst>
                          <a:ext uri="{FF2B5EF4-FFF2-40B4-BE49-F238E27FC236}">
                            <a16:creationId xmlns:a16="http://schemas.microsoft.com/office/drawing/2014/main" id="{D6A7BA67-F900-4AAC-8EF8-E10A5F7B4F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963" y="371475"/>
                        <a:ext cx="280035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>
            <a:extLst>
              <a:ext uri="{FF2B5EF4-FFF2-40B4-BE49-F238E27FC236}">
                <a16:creationId xmlns:a16="http://schemas.microsoft.com/office/drawing/2014/main" id="{02F1414F-A9B2-41D6-A637-9CEDA0EB3603}"/>
              </a:ext>
            </a:extLst>
          </p:cNvPr>
          <p:cNvGrpSpPr>
            <a:grpSpLocks/>
          </p:cNvGrpSpPr>
          <p:nvPr/>
        </p:nvGrpSpPr>
        <p:grpSpPr bwMode="auto">
          <a:xfrm>
            <a:off x="2786063" y="1257300"/>
            <a:ext cx="4937125" cy="461963"/>
            <a:chOff x="1882" y="2115"/>
            <a:chExt cx="3110" cy="291"/>
          </a:xfrm>
        </p:grpSpPr>
        <p:sp>
          <p:nvSpPr>
            <p:cNvPr id="8231" name="Rectangle 9">
              <a:extLst>
                <a:ext uri="{FF2B5EF4-FFF2-40B4-BE49-F238E27FC236}">
                  <a16:creationId xmlns:a16="http://schemas.microsoft.com/office/drawing/2014/main" id="{488F1115-36E8-4A1B-97CD-95F20B721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2115"/>
              <a:ext cx="3110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宋体" panose="02010600030101010101" pitchFamily="2" charset="-122"/>
                </a:rPr>
                <a:t>电子云密度        概率密度</a:t>
              </a:r>
              <a:r>
                <a:rPr lang="en-US" altLang="zh-CN" dirty="0">
                  <a:solidFill>
                    <a:srgbClr val="00FFFF"/>
                  </a:solidFill>
                  <a:latin typeface="宋体" panose="02010600030101010101" pitchFamily="2" charset="-122"/>
                </a:rPr>
                <a:t>|</a:t>
              </a:r>
              <a:r>
                <a:rPr lang="el-GR" altLang="zh-CN" i="1" dirty="0">
                  <a:solidFill>
                    <a:srgbClr val="00FFFF"/>
                  </a:solidFill>
                  <a:latin typeface="宋体" panose="02010600030101010101" pitchFamily="2" charset="-122"/>
                </a:rPr>
                <a:t>Ψ</a:t>
              </a:r>
              <a:r>
                <a:rPr lang="en-US" altLang="zh-CN" dirty="0">
                  <a:solidFill>
                    <a:srgbClr val="00FFFF"/>
                  </a:solidFill>
                  <a:latin typeface="宋体" panose="02010600030101010101" pitchFamily="2" charset="-122"/>
                </a:rPr>
                <a:t>|</a:t>
              </a:r>
              <a:r>
                <a:rPr lang="en-US" altLang="zh-CN" baseline="58000" dirty="0">
                  <a:solidFill>
                    <a:srgbClr val="00FFFF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8232" name="AutoShape 10">
              <a:extLst>
                <a:ext uri="{FF2B5EF4-FFF2-40B4-BE49-F238E27FC236}">
                  <a16:creationId xmlns:a16="http://schemas.microsoft.com/office/drawing/2014/main" id="{C9EFD832-C198-48CA-B263-4A3261658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2" y="2184"/>
              <a:ext cx="432" cy="144"/>
            </a:xfrm>
            <a:prstGeom prst="leftRightArrow">
              <a:avLst>
                <a:gd name="adj1" fmla="val 50000"/>
                <a:gd name="adj2" fmla="val 60000"/>
              </a:avLst>
            </a:prstGeom>
            <a:solidFill>
              <a:schemeClr val="accent1"/>
            </a:solidFill>
            <a:ln w="9525">
              <a:solidFill>
                <a:schemeClr val="tx2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92172" name="Line 12">
            <a:extLst>
              <a:ext uri="{FF2B5EF4-FFF2-40B4-BE49-F238E27FC236}">
                <a16:creationId xmlns:a16="http://schemas.microsoft.com/office/drawing/2014/main" id="{9BDC3002-DFF7-475E-85E4-C5BB0AFA36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04988" y="1835150"/>
            <a:ext cx="0" cy="3479800"/>
          </a:xfrm>
          <a:prstGeom prst="line">
            <a:avLst/>
          </a:prstGeom>
          <a:noFill/>
          <a:ln w="2222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73" name="Line 13">
            <a:extLst>
              <a:ext uri="{FF2B5EF4-FFF2-40B4-BE49-F238E27FC236}">
                <a16:creationId xmlns:a16="http://schemas.microsoft.com/office/drawing/2014/main" id="{0F639034-2811-4774-B1EC-B181593E3D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4988" y="5159375"/>
            <a:ext cx="5867400" cy="0"/>
          </a:xfrm>
          <a:prstGeom prst="line">
            <a:avLst/>
          </a:prstGeom>
          <a:noFill/>
          <a:ln w="158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74" name="Line 14">
            <a:extLst>
              <a:ext uri="{FF2B5EF4-FFF2-40B4-BE49-F238E27FC236}">
                <a16:creationId xmlns:a16="http://schemas.microsoft.com/office/drawing/2014/main" id="{E98439FD-E1B7-4BEB-AC62-4795687E0F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4988" y="3886200"/>
            <a:ext cx="5867400" cy="0"/>
          </a:xfrm>
          <a:prstGeom prst="line">
            <a:avLst/>
          </a:prstGeom>
          <a:noFill/>
          <a:ln w="158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75" name="Line 15">
            <a:extLst>
              <a:ext uri="{FF2B5EF4-FFF2-40B4-BE49-F238E27FC236}">
                <a16:creationId xmlns:a16="http://schemas.microsoft.com/office/drawing/2014/main" id="{33218138-0EFB-4D81-9448-332249DA7B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4988" y="3200400"/>
            <a:ext cx="5867400" cy="0"/>
          </a:xfrm>
          <a:prstGeom prst="line">
            <a:avLst/>
          </a:prstGeom>
          <a:noFill/>
          <a:ln w="158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76" name="Freeform 16">
            <a:extLst>
              <a:ext uri="{FF2B5EF4-FFF2-40B4-BE49-F238E27FC236}">
                <a16:creationId xmlns:a16="http://schemas.microsoft.com/office/drawing/2014/main" id="{13DD1630-1B3C-4910-B286-F5D4A8DE4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4097338"/>
            <a:ext cx="3657600" cy="1046162"/>
          </a:xfrm>
          <a:custGeom>
            <a:avLst/>
            <a:gdLst>
              <a:gd name="T0" fmla="*/ 0 w 2448"/>
              <a:gd name="T1" fmla="*/ 928 h 928"/>
              <a:gd name="T2" fmla="*/ 96 w 2448"/>
              <a:gd name="T3" fmla="*/ 832 h 928"/>
              <a:gd name="T4" fmla="*/ 144 w 2448"/>
              <a:gd name="T5" fmla="*/ 352 h 928"/>
              <a:gd name="T6" fmla="*/ 192 w 2448"/>
              <a:gd name="T7" fmla="*/ 64 h 928"/>
              <a:gd name="T8" fmla="*/ 336 w 2448"/>
              <a:gd name="T9" fmla="*/ 16 h 928"/>
              <a:gd name="T10" fmla="*/ 432 w 2448"/>
              <a:gd name="T11" fmla="*/ 160 h 928"/>
              <a:gd name="T12" fmla="*/ 528 w 2448"/>
              <a:gd name="T13" fmla="*/ 448 h 928"/>
              <a:gd name="T14" fmla="*/ 624 w 2448"/>
              <a:gd name="T15" fmla="*/ 592 h 928"/>
              <a:gd name="T16" fmla="*/ 816 w 2448"/>
              <a:gd name="T17" fmla="*/ 736 h 928"/>
              <a:gd name="T18" fmla="*/ 1152 w 2448"/>
              <a:gd name="T19" fmla="*/ 832 h 928"/>
              <a:gd name="T20" fmla="*/ 1584 w 2448"/>
              <a:gd name="T21" fmla="*/ 880 h 928"/>
              <a:gd name="T22" fmla="*/ 1920 w 2448"/>
              <a:gd name="T23" fmla="*/ 880 h 928"/>
              <a:gd name="T24" fmla="*/ 2448 w 2448"/>
              <a:gd name="T25" fmla="*/ 928 h 9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448" h="928">
                <a:moveTo>
                  <a:pt x="0" y="928"/>
                </a:moveTo>
                <a:cubicBezTo>
                  <a:pt x="36" y="928"/>
                  <a:pt x="72" y="928"/>
                  <a:pt x="96" y="832"/>
                </a:cubicBezTo>
                <a:cubicBezTo>
                  <a:pt x="120" y="736"/>
                  <a:pt x="128" y="480"/>
                  <a:pt x="144" y="352"/>
                </a:cubicBezTo>
                <a:cubicBezTo>
                  <a:pt x="160" y="224"/>
                  <a:pt x="160" y="120"/>
                  <a:pt x="192" y="64"/>
                </a:cubicBezTo>
                <a:cubicBezTo>
                  <a:pt x="224" y="8"/>
                  <a:pt x="296" y="0"/>
                  <a:pt x="336" y="16"/>
                </a:cubicBezTo>
                <a:cubicBezTo>
                  <a:pt x="376" y="32"/>
                  <a:pt x="400" y="88"/>
                  <a:pt x="432" y="160"/>
                </a:cubicBezTo>
                <a:cubicBezTo>
                  <a:pt x="464" y="232"/>
                  <a:pt x="496" y="376"/>
                  <a:pt x="528" y="448"/>
                </a:cubicBezTo>
                <a:cubicBezTo>
                  <a:pt x="560" y="520"/>
                  <a:pt x="576" y="544"/>
                  <a:pt x="624" y="592"/>
                </a:cubicBezTo>
                <a:cubicBezTo>
                  <a:pt x="672" y="640"/>
                  <a:pt x="728" y="696"/>
                  <a:pt x="816" y="736"/>
                </a:cubicBezTo>
                <a:cubicBezTo>
                  <a:pt x="904" y="776"/>
                  <a:pt x="1024" y="808"/>
                  <a:pt x="1152" y="832"/>
                </a:cubicBezTo>
                <a:cubicBezTo>
                  <a:pt x="1280" y="856"/>
                  <a:pt x="1456" y="872"/>
                  <a:pt x="1584" y="880"/>
                </a:cubicBezTo>
                <a:cubicBezTo>
                  <a:pt x="1712" y="888"/>
                  <a:pt x="1776" y="872"/>
                  <a:pt x="1920" y="880"/>
                </a:cubicBezTo>
                <a:cubicBezTo>
                  <a:pt x="2064" y="888"/>
                  <a:pt x="2256" y="908"/>
                  <a:pt x="2448" y="928"/>
                </a:cubicBezTo>
              </a:path>
            </a:pathLst>
          </a:cu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92177" name="Freeform 17">
            <a:extLst>
              <a:ext uri="{FF2B5EF4-FFF2-40B4-BE49-F238E27FC236}">
                <a16:creationId xmlns:a16="http://schemas.microsoft.com/office/drawing/2014/main" id="{26BE7DE0-1525-42B3-A426-F3D194A1B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988" y="3505200"/>
            <a:ext cx="3429000" cy="381000"/>
          </a:xfrm>
          <a:custGeom>
            <a:avLst/>
            <a:gdLst>
              <a:gd name="T0" fmla="*/ 0 w 3024"/>
              <a:gd name="T1" fmla="*/ 392 h 392"/>
              <a:gd name="T2" fmla="*/ 624 w 3024"/>
              <a:gd name="T3" fmla="*/ 344 h 392"/>
              <a:gd name="T4" fmla="*/ 1008 w 3024"/>
              <a:gd name="T5" fmla="*/ 200 h 392"/>
              <a:gd name="T6" fmla="*/ 1248 w 3024"/>
              <a:gd name="T7" fmla="*/ 56 h 392"/>
              <a:gd name="T8" fmla="*/ 1488 w 3024"/>
              <a:gd name="T9" fmla="*/ 8 h 392"/>
              <a:gd name="T10" fmla="*/ 1776 w 3024"/>
              <a:gd name="T11" fmla="*/ 104 h 392"/>
              <a:gd name="T12" fmla="*/ 2112 w 3024"/>
              <a:gd name="T13" fmla="*/ 248 h 392"/>
              <a:gd name="T14" fmla="*/ 2544 w 3024"/>
              <a:gd name="T15" fmla="*/ 344 h 392"/>
              <a:gd name="T16" fmla="*/ 3024 w 3024"/>
              <a:gd name="T17" fmla="*/ 392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024" h="392">
                <a:moveTo>
                  <a:pt x="0" y="392"/>
                </a:moveTo>
                <a:cubicBezTo>
                  <a:pt x="228" y="384"/>
                  <a:pt x="456" y="376"/>
                  <a:pt x="624" y="344"/>
                </a:cubicBezTo>
                <a:cubicBezTo>
                  <a:pt x="792" y="312"/>
                  <a:pt x="904" y="248"/>
                  <a:pt x="1008" y="200"/>
                </a:cubicBezTo>
                <a:cubicBezTo>
                  <a:pt x="1112" y="152"/>
                  <a:pt x="1168" y="88"/>
                  <a:pt x="1248" y="56"/>
                </a:cubicBezTo>
                <a:cubicBezTo>
                  <a:pt x="1328" y="24"/>
                  <a:pt x="1400" y="0"/>
                  <a:pt x="1488" y="8"/>
                </a:cubicBezTo>
                <a:cubicBezTo>
                  <a:pt x="1576" y="16"/>
                  <a:pt x="1672" y="64"/>
                  <a:pt x="1776" y="104"/>
                </a:cubicBezTo>
                <a:cubicBezTo>
                  <a:pt x="1880" y="144"/>
                  <a:pt x="1984" y="208"/>
                  <a:pt x="2112" y="248"/>
                </a:cubicBezTo>
                <a:cubicBezTo>
                  <a:pt x="2240" y="288"/>
                  <a:pt x="2392" y="320"/>
                  <a:pt x="2544" y="344"/>
                </a:cubicBezTo>
                <a:cubicBezTo>
                  <a:pt x="2696" y="368"/>
                  <a:pt x="2860" y="380"/>
                  <a:pt x="3024" y="392"/>
                </a:cubicBezTo>
              </a:path>
            </a:pathLst>
          </a:custGeom>
          <a:solidFill>
            <a:srgbClr val="00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92178" name="Freeform 18">
            <a:extLst>
              <a:ext uri="{FF2B5EF4-FFF2-40B4-BE49-F238E27FC236}">
                <a16:creationId xmlns:a16="http://schemas.microsoft.com/office/drawing/2014/main" id="{0DD7D171-C480-4749-A9D6-5633193DD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188" y="2951163"/>
            <a:ext cx="4191000" cy="228600"/>
          </a:xfrm>
          <a:custGeom>
            <a:avLst/>
            <a:gdLst>
              <a:gd name="T0" fmla="*/ 0 w 3024"/>
              <a:gd name="T1" fmla="*/ 392 h 392"/>
              <a:gd name="T2" fmla="*/ 624 w 3024"/>
              <a:gd name="T3" fmla="*/ 344 h 392"/>
              <a:gd name="T4" fmla="*/ 1008 w 3024"/>
              <a:gd name="T5" fmla="*/ 200 h 392"/>
              <a:gd name="T6" fmla="*/ 1248 w 3024"/>
              <a:gd name="T7" fmla="*/ 56 h 392"/>
              <a:gd name="T8" fmla="*/ 1488 w 3024"/>
              <a:gd name="T9" fmla="*/ 8 h 392"/>
              <a:gd name="T10" fmla="*/ 1776 w 3024"/>
              <a:gd name="T11" fmla="*/ 104 h 392"/>
              <a:gd name="T12" fmla="*/ 2112 w 3024"/>
              <a:gd name="T13" fmla="*/ 248 h 392"/>
              <a:gd name="T14" fmla="*/ 2544 w 3024"/>
              <a:gd name="T15" fmla="*/ 344 h 392"/>
              <a:gd name="T16" fmla="*/ 3024 w 3024"/>
              <a:gd name="T17" fmla="*/ 392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024" h="392">
                <a:moveTo>
                  <a:pt x="0" y="392"/>
                </a:moveTo>
                <a:cubicBezTo>
                  <a:pt x="228" y="384"/>
                  <a:pt x="456" y="376"/>
                  <a:pt x="624" y="344"/>
                </a:cubicBezTo>
                <a:cubicBezTo>
                  <a:pt x="792" y="312"/>
                  <a:pt x="904" y="248"/>
                  <a:pt x="1008" y="200"/>
                </a:cubicBezTo>
                <a:cubicBezTo>
                  <a:pt x="1112" y="152"/>
                  <a:pt x="1168" y="88"/>
                  <a:pt x="1248" y="56"/>
                </a:cubicBezTo>
                <a:cubicBezTo>
                  <a:pt x="1328" y="24"/>
                  <a:pt x="1400" y="0"/>
                  <a:pt x="1488" y="8"/>
                </a:cubicBezTo>
                <a:cubicBezTo>
                  <a:pt x="1576" y="16"/>
                  <a:pt x="1672" y="64"/>
                  <a:pt x="1776" y="104"/>
                </a:cubicBezTo>
                <a:cubicBezTo>
                  <a:pt x="1880" y="144"/>
                  <a:pt x="1984" y="208"/>
                  <a:pt x="2112" y="248"/>
                </a:cubicBezTo>
                <a:cubicBezTo>
                  <a:pt x="2240" y="288"/>
                  <a:pt x="2392" y="320"/>
                  <a:pt x="2544" y="344"/>
                </a:cubicBezTo>
                <a:cubicBezTo>
                  <a:pt x="2696" y="368"/>
                  <a:pt x="2860" y="380"/>
                  <a:pt x="3024" y="392"/>
                </a:cubicBezTo>
              </a:path>
            </a:pathLst>
          </a:custGeom>
          <a:solidFill>
            <a:srgbClr val="96969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/>
          </a:p>
        </p:txBody>
      </p:sp>
      <p:sp>
        <p:nvSpPr>
          <p:cNvPr id="92179" name="Line 19">
            <a:extLst>
              <a:ext uri="{FF2B5EF4-FFF2-40B4-BE49-F238E27FC236}">
                <a16:creationId xmlns:a16="http://schemas.microsoft.com/office/drawing/2014/main" id="{7039757B-47BE-43B8-8CDA-0DA6607DEE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4988" y="2673350"/>
            <a:ext cx="6019800" cy="0"/>
          </a:xfrm>
          <a:prstGeom prst="line">
            <a:avLst/>
          </a:prstGeom>
          <a:noFill/>
          <a:ln w="158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0" name="Line 20">
            <a:extLst>
              <a:ext uri="{FF2B5EF4-FFF2-40B4-BE49-F238E27FC236}">
                <a16:creationId xmlns:a16="http://schemas.microsoft.com/office/drawing/2014/main" id="{5072EDB7-18B0-4EA8-BA60-91AE0C3A8C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2188" y="2673350"/>
            <a:ext cx="0" cy="2519363"/>
          </a:xfrm>
          <a:prstGeom prst="line">
            <a:avLst/>
          </a:prstGeom>
          <a:noFill/>
          <a:ln w="1587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1" name="Line 21">
            <a:extLst>
              <a:ext uri="{FF2B5EF4-FFF2-40B4-BE49-F238E27FC236}">
                <a16:creationId xmlns:a16="http://schemas.microsoft.com/office/drawing/2014/main" id="{6E00E200-3D4A-4929-AFD6-C42825B9906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5188" y="2673350"/>
            <a:ext cx="0" cy="1295400"/>
          </a:xfrm>
          <a:prstGeom prst="line">
            <a:avLst/>
          </a:prstGeom>
          <a:noFill/>
          <a:ln w="1587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2" name="Line 22">
            <a:extLst>
              <a:ext uri="{FF2B5EF4-FFF2-40B4-BE49-F238E27FC236}">
                <a16:creationId xmlns:a16="http://schemas.microsoft.com/office/drawing/2014/main" id="{B9C37EEA-2722-4B5E-BF20-92BF2EFA4E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250" y="2676525"/>
            <a:ext cx="0" cy="609600"/>
          </a:xfrm>
          <a:prstGeom prst="line">
            <a:avLst/>
          </a:prstGeom>
          <a:noFill/>
          <a:ln w="15875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2183" name="Object 3">
            <a:extLst>
              <a:ext uri="{FF2B5EF4-FFF2-40B4-BE49-F238E27FC236}">
                <a16:creationId xmlns:a16="http://schemas.microsoft.com/office/drawing/2014/main" id="{0E720AEE-04C1-4783-BD3D-5D30092C4A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1857375"/>
          <a:ext cx="960437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23" r:id="rId5" imgW="369360" imgH="159480" progId="Equation.3">
                  <p:embed/>
                </p:oleObj>
              </mc:Choice>
              <mc:Fallback>
                <p:oleObj r:id="rId5" imgW="369360" imgH="159480" progId="Equation.3">
                  <p:embed/>
                  <p:pic>
                    <p:nvPicPr>
                      <p:cNvPr id="92183" name="Object 3">
                        <a:extLst>
                          <a:ext uri="{FF2B5EF4-FFF2-40B4-BE49-F238E27FC236}">
                            <a16:creationId xmlns:a16="http://schemas.microsoft.com/office/drawing/2014/main" id="{0E720AEE-04C1-4783-BD3D-5D30092C4A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1857375"/>
                        <a:ext cx="960437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84" name="Object 4">
            <a:extLst>
              <a:ext uri="{FF2B5EF4-FFF2-40B4-BE49-F238E27FC236}">
                <a16:creationId xmlns:a16="http://schemas.microsoft.com/office/drawing/2014/main" id="{844F9E8B-ADB8-4B23-B433-7EAB5C1B14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9788" y="2139950"/>
          <a:ext cx="3460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24" r:id="rId7" imgW="93600" imgH="170640" progId="Equation.3">
                  <p:embed/>
                </p:oleObj>
              </mc:Choice>
              <mc:Fallback>
                <p:oleObj r:id="rId7" imgW="93600" imgH="170640" progId="Equation.3">
                  <p:embed/>
                  <p:pic>
                    <p:nvPicPr>
                      <p:cNvPr id="92184" name="Object 4">
                        <a:extLst>
                          <a:ext uri="{FF2B5EF4-FFF2-40B4-BE49-F238E27FC236}">
                            <a16:creationId xmlns:a16="http://schemas.microsoft.com/office/drawing/2014/main" id="{844F9E8B-ADB8-4B23-B433-7EAB5C1B14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788" y="2139950"/>
                        <a:ext cx="3460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85" name="Object 5">
            <a:extLst>
              <a:ext uri="{FF2B5EF4-FFF2-40B4-BE49-F238E27FC236}">
                <a16:creationId xmlns:a16="http://schemas.microsoft.com/office/drawing/2014/main" id="{7AE8CF35-357C-4A16-8016-1A802E807B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2788" y="2139950"/>
          <a:ext cx="3810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25" r:id="rId9" imgW="104760" imgH="170640" progId="Equation.3">
                  <p:embed/>
                </p:oleObj>
              </mc:Choice>
              <mc:Fallback>
                <p:oleObj r:id="rId9" imgW="104760" imgH="170640" progId="Equation.3">
                  <p:embed/>
                  <p:pic>
                    <p:nvPicPr>
                      <p:cNvPr id="92185" name="Object 5">
                        <a:extLst>
                          <a:ext uri="{FF2B5EF4-FFF2-40B4-BE49-F238E27FC236}">
                            <a16:creationId xmlns:a16="http://schemas.microsoft.com/office/drawing/2014/main" id="{7AE8CF35-357C-4A16-8016-1A802E807B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2788" y="2139950"/>
                        <a:ext cx="3810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86" name="Object 6">
            <a:extLst>
              <a:ext uri="{FF2B5EF4-FFF2-40B4-BE49-F238E27FC236}">
                <a16:creationId xmlns:a16="http://schemas.microsoft.com/office/drawing/2014/main" id="{7C64A134-66CC-4212-ABA9-030479BC17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6375" y="2139950"/>
          <a:ext cx="3810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26" r:id="rId11" imgW="104760" imgH="181440" progId="Equation.3">
                  <p:embed/>
                </p:oleObj>
              </mc:Choice>
              <mc:Fallback>
                <p:oleObj r:id="rId11" imgW="104760" imgH="181440" progId="Equation.3">
                  <p:embed/>
                  <p:pic>
                    <p:nvPicPr>
                      <p:cNvPr id="92186" name="Object 6">
                        <a:extLst>
                          <a:ext uri="{FF2B5EF4-FFF2-40B4-BE49-F238E27FC236}">
                            <a16:creationId xmlns:a16="http://schemas.microsoft.com/office/drawing/2014/main" id="{7C64A134-66CC-4212-ABA9-030479BC17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2139950"/>
                        <a:ext cx="3810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87" name="Object 7">
            <a:extLst>
              <a:ext uri="{FF2B5EF4-FFF2-40B4-BE49-F238E27FC236}">
                <a16:creationId xmlns:a16="http://schemas.microsoft.com/office/drawing/2014/main" id="{CDCFA146-0B91-4763-84A5-E39E01F9AB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188" y="4894263"/>
          <a:ext cx="48418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27" r:id="rId13" imgW="137880" imgH="170640" progId="Equation.3">
                  <p:embed/>
                </p:oleObj>
              </mc:Choice>
              <mc:Fallback>
                <p:oleObj r:id="rId13" imgW="137880" imgH="170640" progId="Equation.3">
                  <p:embed/>
                  <p:pic>
                    <p:nvPicPr>
                      <p:cNvPr id="92187" name="Object 7">
                        <a:extLst>
                          <a:ext uri="{FF2B5EF4-FFF2-40B4-BE49-F238E27FC236}">
                            <a16:creationId xmlns:a16="http://schemas.microsoft.com/office/drawing/2014/main" id="{CDCFA146-0B91-4763-84A5-E39E01F9AB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4894263"/>
                        <a:ext cx="484187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88" name="Object 8">
            <a:extLst>
              <a:ext uri="{FF2B5EF4-FFF2-40B4-BE49-F238E27FC236}">
                <a16:creationId xmlns:a16="http://schemas.microsoft.com/office/drawing/2014/main" id="{AFB1F8D6-9993-49E6-A48A-E3097F4574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138" y="3643313"/>
          <a:ext cx="51911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28" r:id="rId15" imgW="148680" imgH="170640" progId="Equation.3">
                  <p:embed/>
                </p:oleObj>
              </mc:Choice>
              <mc:Fallback>
                <p:oleObj r:id="rId15" imgW="148680" imgH="170640" progId="Equation.3">
                  <p:embed/>
                  <p:pic>
                    <p:nvPicPr>
                      <p:cNvPr id="92188" name="Object 8">
                        <a:extLst>
                          <a:ext uri="{FF2B5EF4-FFF2-40B4-BE49-F238E27FC236}">
                            <a16:creationId xmlns:a16="http://schemas.microsoft.com/office/drawing/2014/main" id="{AFB1F8D6-9993-49E6-A48A-E3097F4574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8" y="3643313"/>
                        <a:ext cx="51911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89" name="Object 9">
            <a:extLst>
              <a:ext uri="{FF2B5EF4-FFF2-40B4-BE49-F238E27FC236}">
                <a16:creationId xmlns:a16="http://schemas.microsoft.com/office/drawing/2014/main" id="{1AD6820B-76DD-4052-8AC2-C3C7AA85E9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138" y="2940050"/>
          <a:ext cx="5191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29" r:id="rId17" imgW="148680" imgH="181440" progId="Equation.3">
                  <p:embed/>
                </p:oleObj>
              </mc:Choice>
              <mc:Fallback>
                <p:oleObj r:id="rId17" imgW="148680" imgH="181440" progId="Equation.3">
                  <p:embed/>
                  <p:pic>
                    <p:nvPicPr>
                      <p:cNvPr id="92189" name="Object 9">
                        <a:extLst>
                          <a:ext uri="{FF2B5EF4-FFF2-40B4-BE49-F238E27FC236}">
                            <a16:creationId xmlns:a16="http://schemas.microsoft.com/office/drawing/2014/main" id="{1AD6820B-76DD-4052-8AC2-C3C7AA85E9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8" y="2940050"/>
                        <a:ext cx="519112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0" name="Object 10">
            <a:extLst>
              <a:ext uri="{FF2B5EF4-FFF2-40B4-BE49-F238E27FC236}">
                <a16:creationId xmlns:a16="http://schemas.microsoft.com/office/drawing/2014/main" id="{0CCE6D12-8AFB-4254-B6A8-BB3999863B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7788" y="2520950"/>
          <a:ext cx="3460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30" r:id="rId19" imgW="93600" imgH="137520" progId="Equation.3">
                  <p:embed/>
                </p:oleObj>
              </mc:Choice>
              <mc:Fallback>
                <p:oleObj r:id="rId19" imgW="93600" imgH="137520" progId="Equation.3">
                  <p:embed/>
                  <p:pic>
                    <p:nvPicPr>
                      <p:cNvPr id="92190" name="Object 10">
                        <a:extLst>
                          <a:ext uri="{FF2B5EF4-FFF2-40B4-BE49-F238E27FC236}">
                            <a16:creationId xmlns:a16="http://schemas.microsoft.com/office/drawing/2014/main" id="{0CCE6D12-8AFB-4254-B6A8-BB3999863B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7788" y="2520950"/>
                        <a:ext cx="3460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1" name="Object 11">
            <a:extLst>
              <a:ext uri="{FF2B5EF4-FFF2-40B4-BE49-F238E27FC236}">
                <a16:creationId xmlns:a16="http://schemas.microsoft.com/office/drawing/2014/main" id="{A4EDBA9A-5EF3-47A3-A647-7A5C5A5C8AED}"/>
              </a:ext>
            </a:extLst>
          </p:cNvPr>
          <p:cNvGraphicFramePr>
            <a:graphicFrameLocks/>
          </p:cNvGraphicFramePr>
          <p:nvPr/>
        </p:nvGraphicFramePr>
        <p:xfrm>
          <a:off x="966788" y="4930775"/>
          <a:ext cx="8096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31" r:id="rId21" imgW="336240" imgH="137520" progId="Equation.3">
                  <p:embed/>
                </p:oleObj>
              </mc:Choice>
              <mc:Fallback>
                <p:oleObj r:id="rId21" imgW="336240" imgH="137520" progId="Equation.3">
                  <p:embed/>
                  <p:pic>
                    <p:nvPicPr>
                      <p:cNvPr id="92191" name="Object 11">
                        <a:extLst>
                          <a:ext uri="{FF2B5EF4-FFF2-40B4-BE49-F238E27FC236}">
                            <a16:creationId xmlns:a16="http://schemas.microsoft.com/office/drawing/2014/main" id="{A4EDBA9A-5EF3-47A3-A647-7A5C5A5C8AE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8" y="4930775"/>
                        <a:ext cx="80962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2" name="Object 12">
            <a:extLst>
              <a:ext uri="{FF2B5EF4-FFF2-40B4-BE49-F238E27FC236}">
                <a16:creationId xmlns:a16="http://schemas.microsoft.com/office/drawing/2014/main" id="{2BAA4D7F-BBD6-49DF-927C-92D7C2D201B4}"/>
              </a:ext>
            </a:extLst>
          </p:cNvPr>
          <p:cNvGraphicFramePr>
            <a:graphicFrameLocks/>
          </p:cNvGraphicFramePr>
          <p:nvPr/>
        </p:nvGraphicFramePr>
        <p:xfrm>
          <a:off x="1047750" y="3657600"/>
          <a:ext cx="68421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32" r:id="rId23" imgW="281160" imgH="137520" progId="Equation.3">
                  <p:embed/>
                </p:oleObj>
              </mc:Choice>
              <mc:Fallback>
                <p:oleObj r:id="rId23" imgW="281160" imgH="137520" progId="Equation.3">
                  <p:embed/>
                  <p:pic>
                    <p:nvPicPr>
                      <p:cNvPr id="92192" name="Object 12">
                        <a:extLst>
                          <a:ext uri="{FF2B5EF4-FFF2-40B4-BE49-F238E27FC236}">
                            <a16:creationId xmlns:a16="http://schemas.microsoft.com/office/drawing/2014/main" id="{2BAA4D7F-BBD6-49DF-927C-92D7C2D201B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0" y="3657600"/>
                        <a:ext cx="684213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3" name="Object 13">
            <a:extLst>
              <a:ext uri="{FF2B5EF4-FFF2-40B4-BE49-F238E27FC236}">
                <a16:creationId xmlns:a16="http://schemas.microsoft.com/office/drawing/2014/main" id="{69E26D3B-001C-40E7-8B9E-8C673B07EC11}"/>
              </a:ext>
            </a:extLst>
          </p:cNvPr>
          <p:cNvGraphicFramePr>
            <a:graphicFrameLocks/>
          </p:cNvGraphicFramePr>
          <p:nvPr/>
        </p:nvGraphicFramePr>
        <p:xfrm>
          <a:off x="946150" y="2986088"/>
          <a:ext cx="787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33" r:id="rId25" imgW="325080" imgH="137520" progId="Equation.3">
                  <p:embed/>
                </p:oleObj>
              </mc:Choice>
              <mc:Fallback>
                <p:oleObj r:id="rId25" imgW="325080" imgH="137520" progId="Equation.3">
                  <p:embed/>
                  <p:pic>
                    <p:nvPicPr>
                      <p:cNvPr id="92193" name="Object 13">
                        <a:extLst>
                          <a:ext uri="{FF2B5EF4-FFF2-40B4-BE49-F238E27FC236}">
                            <a16:creationId xmlns:a16="http://schemas.microsoft.com/office/drawing/2014/main" id="{69E26D3B-001C-40E7-8B9E-8C673B07EC1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150" y="2986088"/>
                        <a:ext cx="787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4" name="Rectangle 34">
            <a:extLst>
              <a:ext uri="{FF2B5EF4-FFF2-40B4-BE49-F238E27FC236}">
                <a16:creationId xmlns:a16="http://schemas.microsoft.com/office/drawing/2014/main" id="{4449D369-D98D-463E-8F30-BEB64956A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8616" y="1824038"/>
            <a:ext cx="525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rgbClr val="00FFFF"/>
                </a:solidFill>
              </a:rPr>
              <a:t>氢原子径向概率密度与 </a:t>
            </a:r>
            <a:r>
              <a:rPr lang="en-US" altLang="zh-CN" sz="2000" i="1" dirty="0">
                <a:solidFill>
                  <a:srgbClr val="FFFF66"/>
                </a:solidFill>
              </a:rPr>
              <a:t>r </a:t>
            </a:r>
            <a:r>
              <a:rPr lang="zh-CN" altLang="en-US" sz="2000" dirty="0">
                <a:solidFill>
                  <a:srgbClr val="00FFFF"/>
                </a:solidFill>
              </a:rPr>
              <a:t>的关系</a:t>
            </a:r>
          </a:p>
        </p:txBody>
      </p:sp>
      <p:graphicFrame>
        <p:nvGraphicFramePr>
          <p:cNvPr id="92195" name="Object 14">
            <a:extLst>
              <a:ext uri="{FF2B5EF4-FFF2-40B4-BE49-F238E27FC236}">
                <a16:creationId xmlns:a16="http://schemas.microsoft.com/office/drawing/2014/main" id="{92C1606A-5A7F-4889-80DC-494D5CD099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67588" y="2292350"/>
          <a:ext cx="311150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34" r:id="rId27" imgW="82800" imgH="93600" progId="Equation.3">
                  <p:embed/>
                </p:oleObj>
              </mc:Choice>
              <mc:Fallback>
                <p:oleObj r:id="rId27" imgW="82800" imgH="93600" progId="Equation.3">
                  <p:embed/>
                  <p:pic>
                    <p:nvPicPr>
                      <p:cNvPr id="92195" name="Object 14">
                        <a:extLst>
                          <a:ext uri="{FF2B5EF4-FFF2-40B4-BE49-F238E27FC236}">
                            <a16:creationId xmlns:a16="http://schemas.microsoft.com/office/drawing/2014/main" id="{92C1606A-5A7F-4889-80DC-494D5CD099A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7588" y="2292350"/>
                        <a:ext cx="311150" cy="27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7" name="Object 15">
            <a:extLst>
              <a:ext uri="{FF2B5EF4-FFF2-40B4-BE49-F238E27FC236}">
                <a16:creationId xmlns:a16="http://schemas.microsoft.com/office/drawing/2014/main" id="{BEDE3BEF-4B1A-4CD6-88A3-F089CA11FC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0238" y="5405438"/>
          <a:ext cx="2465387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35" r:id="rId29" imgW="2353680" imgH="401400" progId="Equation.DSMT4">
                  <p:embed/>
                </p:oleObj>
              </mc:Choice>
              <mc:Fallback>
                <p:oleObj r:id="rId29" imgW="2353680" imgH="401400" progId="Equation.DSMT4">
                  <p:embed/>
                  <p:pic>
                    <p:nvPicPr>
                      <p:cNvPr id="92197" name="Object 15">
                        <a:extLst>
                          <a:ext uri="{FF2B5EF4-FFF2-40B4-BE49-F238E27FC236}">
                            <a16:creationId xmlns:a16="http://schemas.microsoft.com/office/drawing/2014/main" id="{BEDE3BEF-4B1A-4CD6-88A3-F089CA11FC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0238" y="5405438"/>
                        <a:ext cx="2465387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8" name="Object 16">
            <a:extLst>
              <a:ext uri="{FF2B5EF4-FFF2-40B4-BE49-F238E27FC236}">
                <a16:creationId xmlns:a16="http://schemas.microsoft.com/office/drawing/2014/main" id="{05CFBB66-9CE0-4AFB-9D74-44B43A1C2E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1175" y="6103938"/>
          <a:ext cx="876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36" r:id="rId31" imgW="744120" imgH="302400" progId="Equation.3">
                  <p:embed/>
                </p:oleObj>
              </mc:Choice>
              <mc:Fallback>
                <p:oleObj r:id="rId31" imgW="744120" imgH="302400" progId="Equation.3">
                  <p:embed/>
                  <p:pic>
                    <p:nvPicPr>
                      <p:cNvPr id="92198" name="Object 16">
                        <a:extLst>
                          <a:ext uri="{FF2B5EF4-FFF2-40B4-BE49-F238E27FC236}">
                            <a16:creationId xmlns:a16="http://schemas.microsoft.com/office/drawing/2014/main" id="{05CFBB66-9CE0-4AFB-9D74-44B43A1C2E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175" y="6103938"/>
                        <a:ext cx="8763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9" name="Object 17">
            <a:extLst>
              <a:ext uri="{FF2B5EF4-FFF2-40B4-BE49-F238E27FC236}">
                <a16:creationId xmlns:a16="http://schemas.microsoft.com/office/drawing/2014/main" id="{C75A2629-2E59-4ACE-8DBA-EBFDD0C935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5763" y="6097588"/>
          <a:ext cx="1054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37" r:id="rId33" imgW="898560" imgH="313560" progId="Equation.3">
                  <p:embed/>
                </p:oleObj>
              </mc:Choice>
              <mc:Fallback>
                <p:oleObj r:id="rId33" imgW="898560" imgH="313560" progId="Equation.3">
                  <p:embed/>
                  <p:pic>
                    <p:nvPicPr>
                      <p:cNvPr id="92199" name="Object 17">
                        <a:extLst>
                          <a:ext uri="{FF2B5EF4-FFF2-40B4-BE49-F238E27FC236}">
                            <a16:creationId xmlns:a16="http://schemas.microsoft.com/office/drawing/2014/main" id="{C75A2629-2E59-4ACE-8DBA-EBFDD0C935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763" y="6097588"/>
                        <a:ext cx="1054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1" name="Rectangle 41">
            <a:extLst>
              <a:ext uri="{FF2B5EF4-FFF2-40B4-BE49-F238E27FC236}">
                <a16:creationId xmlns:a16="http://schemas.microsoft.com/office/drawing/2014/main" id="{5DAF53A4-5A58-428F-862C-7DB764F13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3825" y="6022975"/>
            <a:ext cx="8524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FFFF66"/>
                </a:solidFill>
                <a:ea typeface="仿宋_GB2312" pitchFamily="49" charset="-122"/>
              </a:rPr>
              <a:t>，</a:t>
            </a:r>
            <a:r>
              <a:rPr lang="en-US" altLang="zh-CN">
                <a:solidFill>
                  <a:srgbClr val="FFFF66"/>
                </a:solidFill>
                <a:latin typeface="Arial" panose="020B0604020202020204" pitchFamily="34" charset="0"/>
                <a:ea typeface="仿宋_GB2312" pitchFamily="49" charset="-122"/>
              </a:rPr>
              <a:t>···</a:t>
            </a:r>
          </a:p>
        </p:txBody>
      </p:sp>
      <p:sp>
        <p:nvSpPr>
          <p:cNvPr id="92203" name="Rectangle 43">
            <a:extLst>
              <a:ext uri="{FF2B5EF4-FFF2-40B4-BE49-F238E27FC236}">
                <a16:creationId xmlns:a16="http://schemas.microsoft.com/office/drawing/2014/main" id="{90F99AB3-9C3C-45F9-88AD-E31F09444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488" y="603250"/>
            <a:ext cx="37988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rgbClr val="00FFFF"/>
                </a:solidFill>
                <a:ea typeface="楷体_GB2312" pitchFamily="49" charset="-122"/>
              </a:rPr>
              <a:t>主量子数</a:t>
            </a:r>
            <a:r>
              <a:rPr lang="zh-CN" altLang="en-US" sz="2000">
                <a:solidFill>
                  <a:srgbClr val="99FFCC"/>
                </a:solidFill>
              </a:rPr>
              <a:t>   </a:t>
            </a:r>
            <a:r>
              <a:rPr lang="en-US" altLang="zh-CN" sz="2000" i="1">
                <a:solidFill>
                  <a:srgbClr val="66FFFF"/>
                </a:solidFill>
              </a:rPr>
              <a:t>n = </a:t>
            </a:r>
            <a:r>
              <a:rPr lang="en-US" altLang="zh-CN" sz="2000">
                <a:solidFill>
                  <a:srgbClr val="66FFFF"/>
                </a:solidFill>
              </a:rPr>
              <a:t>1 </a:t>
            </a:r>
            <a:r>
              <a:rPr lang="zh-CN" altLang="en-US" sz="2000">
                <a:solidFill>
                  <a:srgbClr val="66FFFF"/>
                </a:solidFill>
              </a:rPr>
              <a:t>，</a:t>
            </a:r>
            <a:r>
              <a:rPr lang="en-US" altLang="zh-CN" sz="2000">
                <a:solidFill>
                  <a:srgbClr val="66FFFF"/>
                </a:solidFill>
              </a:rPr>
              <a:t>2 </a:t>
            </a:r>
            <a:r>
              <a:rPr lang="zh-CN" altLang="en-US" sz="2000">
                <a:solidFill>
                  <a:srgbClr val="66FFFF"/>
                </a:solidFill>
              </a:rPr>
              <a:t>，</a:t>
            </a:r>
            <a:r>
              <a:rPr lang="en-US" altLang="zh-CN" sz="2000">
                <a:solidFill>
                  <a:srgbClr val="66FFFF"/>
                </a:solidFill>
              </a:rPr>
              <a:t>3 </a:t>
            </a:r>
            <a:r>
              <a:rPr lang="zh-CN" altLang="en-US" sz="2000">
                <a:solidFill>
                  <a:srgbClr val="66FFFF"/>
                </a:solidFill>
              </a:rPr>
              <a:t>，</a:t>
            </a:r>
            <a:r>
              <a:rPr lang="en-US" altLang="zh-CN" sz="2000">
                <a:solidFill>
                  <a:srgbClr val="66FFFF"/>
                </a:solidFill>
              </a:rPr>
              <a:t>……</a:t>
            </a:r>
          </a:p>
        </p:txBody>
      </p:sp>
      <p:sp>
        <p:nvSpPr>
          <p:cNvPr id="92204" name="Rectangle 44">
            <a:extLst>
              <a:ext uri="{FF2B5EF4-FFF2-40B4-BE49-F238E27FC236}">
                <a16:creationId xmlns:a16="http://schemas.microsoft.com/office/drawing/2014/main" id="{0C2C320C-0CFB-42C6-8B33-1FEA61BDE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0" y="5500688"/>
            <a:ext cx="273526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ea typeface="仿宋_GB2312" pitchFamily="49" charset="-122"/>
              </a:rPr>
              <a:t>玻尔氢原子理论中</a:t>
            </a:r>
            <a:endParaRPr lang="en-US" altLang="zh-CN">
              <a:solidFill>
                <a:schemeClr val="bg1"/>
              </a:solidFill>
              <a:ea typeface="仿宋_GB2312" pitchFamily="49" charset="-122"/>
            </a:endParaRPr>
          </a:p>
          <a:p>
            <a:r>
              <a:rPr lang="zh-CN" altLang="en-US">
                <a:solidFill>
                  <a:schemeClr val="bg1"/>
                </a:solidFill>
                <a:ea typeface="仿宋_GB2312" pitchFamily="49" charset="-122"/>
              </a:rPr>
              <a:t>电子的轨道位置</a:t>
            </a:r>
            <a:r>
              <a:rPr lang="en-US" altLang="zh-CN">
                <a:solidFill>
                  <a:schemeClr val="bg1"/>
                </a:solidFill>
                <a:ea typeface="仿宋_GB2312" pitchFamily="49" charset="-122"/>
              </a:rPr>
              <a:t>… </a:t>
            </a:r>
          </a:p>
        </p:txBody>
      </p:sp>
      <p:sp>
        <p:nvSpPr>
          <p:cNvPr id="28709" name="灯片编号占位符 1">
            <a:extLst>
              <a:ext uri="{FF2B5EF4-FFF2-40B4-BE49-F238E27FC236}">
                <a16:creationId xmlns:a16="http://schemas.microsoft.com/office/drawing/2014/main" id="{5C933ECB-DA1C-4F0F-B3E5-02DED05FC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0A0B055-2438-4BA1-A415-CEDBC5AD89EF}" type="slidenum">
              <a:rPr lang="en-US" altLang="zh-CN" b="0">
                <a:solidFill>
                  <a:srgbClr val="FF00FF"/>
                </a:solidFill>
              </a:rPr>
              <a:pPr/>
              <a:t>30</a:t>
            </a:fld>
            <a:r>
              <a:rPr lang="en-US" altLang="zh-CN" b="0" dirty="0">
                <a:solidFill>
                  <a:srgbClr val="FF00FF"/>
                </a:solidFill>
              </a:rPr>
              <a:t>/22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2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2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2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2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2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2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2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92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92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92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92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92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92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7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92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92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92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92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500"/>
                                        <p:tgtEl>
                                          <p:spTgt spid="92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92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3" dur="500"/>
                                        <p:tgtEl>
                                          <p:spTgt spid="92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9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1" dur="500"/>
                                        <p:tgtEl>
                                          <p:spTgt spid="92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9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1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92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92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5" dur="500"/>
                                        <p:tgtEl>
                                          <p:spTgt spid="9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9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92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92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4" grpId="0"/>
      <p:bldP spid="92166" grpId="0"/>
      <p:bldP spid="92194" grpId="0"/>
      <p:bldP spid="92201" grpId="0"/>
      <p:bldP spid="92203" grpId="0"/>
      <p:bldP spid="9220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2">
            <a:extLst>
              <a:ext uri="{FF2B5EF4-FFF2-40B4-BE49-F238E27FC236}">
                <a16:creationId xmlns:a16="http://schemas.microsoft.com/office/drawing/2014/main" id="{3965D2D5-EFF8-4230-A08F-E7B5C3EFF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00075"/>
            <a:ext cx="3319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0FFFF"/>
                </a:solidFill>
              </a:rPr>
              <a:t>2. </a:t>
            </a:r>
            <a:r>
              <a:rPr lang="zh-CN" altLang="en-US">
                <a:solidFill>
                  <a:srgbClr val="00FFFF"/>
                </a:solidFill>
              </a:rPr>
              <a:t>角动量量子化 </a:t>
            </a:r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437E362B-1972-4E2E-9B1A-B0579E263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576513"/>
            <a:ext cx="5595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角量子数</a:t>
            </a:r>
            <a:r>
              <a:rPr lang="zh-CN" altLang="en-US">
                <a:solidFill>
                  <a:srgbClr val="99FFCC"/>
                </a:solidFill>
              </a:rPr>
              <a:t>      </a:t>
            </a:r>
            <a:r>
              <a:rPr lang="en-US" altLang="zh-CN" i="1">
                <a:solidFill>
                  <a:srgbClr val="66FFFF"/>
                </a:solidFill>
              </a:rPr>
              <a:t>l </a:t>
            </a:r>
            <a:r>
              <a:rPr lang="en-US" altLang="zh-CN">
                <a:solidFill>
                  <a:srgbClr val="66FFFF"/>
                </a:solidFill>
              </a:rPr>
              <a:t>= 0 </a:t>
            </a:r>
            <a:r>
              <a:rPr lang="zh-CN" altLang="en-US">
                <a:solidFill>
                  <a:srgbClr val="66FFFF"/>
                </a:solidFill>
              </a:rPr>
              <a:t>，</a:t>
            </a:r>
            <a:r>
              <a:rPr lang="en-US" altLang="zh-CN">
                <a:solidFill>
                  <a:srgbClr val="66FFFF"/>
                </a:solidFill>
              </a:rPr>
              <a:t>1 </a:t>
            </a:r>
            <a:r>
              <a:rPr lang="zh-CN" altLang="en-US">
                <a:solidFill>
                  <a:srgbClr val="66FFFF"/>
                </a:solidFill>
              </a:rPr>
              <a:t>，</a:t>
            </a:r>
            <a:r>
              <a:rPr lang="en-US" altLang="zh-CN">
                <a:solidFill>
                  <a:srgbClr val="66FFFF"/>
                </a:solidFill>
              </a:rPr>
              <a:t>2 </a:t>
            </a:r>
            <a:r>
              <a:rPr lang="zh-CN" altLang="en-US">
                <a:solidFill>
                  <a:srgbClr val="66FFFF"/>
                </a:solidFill>
              </a:rPr>
              <a:t>， </a:t>
            </a:r>
            <a:r>
              <a:rPr lang="en-US" altLang="zh-CN">
                <a:solidFill>
                  <a:srgbClr val="66FFFF"/>
                </a:solidFill>
              </a:rPr>
              <a:t>…… , </a:t>
            </a:r>
            <a:r>
              <a:rPr lang="en-US" altLang="zh-CN" i="1">
                <a:solidFill>
                  <a:srgbClr val="66FFFF"/>
                </a:solidFill>
              </a:rPr>
              <a:t>n</a:t>
            </a:r>
            <a:r>
              <a:rPr lang="en-US" altLang="zh-CN">
                <a:solidFill>
                  <a:srgbClr val="66FFFF"/>
                </a:solidFill>
              </a:rPr>
              <a:t>-1</a:t>
            </a:r>
          </a:p>
        </p:txBody>
      </p:sp>
      <p:graphicFrame>
        <p:nvGraphicFramePr>
          <p:cNvPr id="183300" name="Object 2">
            <a:extLst>
              <a:ext uri="{FF2B5EF4-FFF2-40B4-BE49-F238E27FC236}">
                <a16:creationId xmlns:a16="http://schemas.microsoft.com/office/drawing/2014/main" id="{91E2CA85-876D-4C79-92AD-754F7223B66D}"/>
              </a:ext>
            </a:extLst>
          </p:cNvPr>
          <p:cNvGraphicFramePr>
            <a:graphicFrameLocks/>
          </p:cNvGraphicFramePr>
          <p:nvPr/>
        </p:nvGraphicFramePr>
        <p:xfrm>
          <a:off x="2428875" y="1916113"/>
          <a:ext cx="194151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834" r:id="rId4" imgW="1670400" imgH="379440" progId="Equation.3">
                  <p:embed/>
                </p:oleObj>
              </mc:Choice>
              <mc:Fallback>
                <p:oleObj r:id="rId4" imgW="1670400" imgH="379440" progId="Equation.3">
                  <p:embed/>
                  <p:pic>
                    <p:nvPicPr>
                      <p:cNvPr id="183300" name="Object 2">
                        <a:extLst>
                          <a:ext uri="{FF2B5EF4-FFF2-40B4-BE49-F238E27FC236}">
                            <a16:creationId xmlns:a16="http://schemas.microsoft.com/office/drawing/2014/main" id="{91E2CA85-876D-4C79-92AD-754F7223B66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75" y="1916113"/>
                        <a:ext cx="1941513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01" name="Text Box 5">
            <a:extLst>
              <a:ext uri="{FF2B5EF4-FFF2-40B4-BE49-F238E27FC236}">
                <a16:creationId xmlns:a16="http://schemas.microsoft.com/office/drawing/2014/main" id="{6A646CA1-E2B8-413F-B9A1-2B3325273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950" y="3471863"/>
            <a:ext cx="40116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0FFFF"/>
                </a:solidFill>
              </a:rPr>
              <a:t>3. </a:t>
            </a:r>
            <a:r>
              <a:rPr lang="zh-CN" altLang="en-US">
                <a:solidFill>
                  <a:srgbClr val="00FFFF"/>
                </a:solidFill>
              </a:rPr>
              <a:t>角动量空间量子化 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77062A2C-2FBD-40DE-88B6-4F996508992D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233488"/>
            <a:ext cx="4957763" cy="457200"/>
            <a:chOff x="432" y="777"/>
            <a:chExt cx="3123" cy="288"/>
          </a:xfrm>
        </p:grpSpPr>
        <p:sp>
          <p:nvSpPr>
            <p:cNvPr id="29702" name="Text Box 7">
              <a:extLst>
                <a:ext uri="{FF2B5EF4-FFF2-40B4-BE49-F238E27FC236}">
                  <a16:creationId xmlns:a16="http://schemas.microsoft.com/office/drawing/2014/main" id="{B8E4ED2E-979C-4F5F-919A-8DB618B56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777"/>
              <a:ext cx="31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</a:rPr>
                <a:t>电子绕核运动的角动量 </a:t>
              </a:r>
              <a:r>
                <a:rPr lang="en-US" altLang="zh-CN" i="1" dirty="0">
                  <a:solidFill>
                    <a:srgbClr val="66FFFF"/>
                  </a:solidFill>
                </a:rPr>
                <a:t>L </a:t>
              </a:r>
              <a:r>
                <a:rPr lang="zh-CN" altLang="en-US" dirty="0">
                  <a:solidFill>
                    <a:schemeClr val="bg1"/>
                  </a:solidFill>
                </a:rPr>
                <a:t>的大小</a:t>
              </a:r>
            </a:p>
          </p:txBody>
        </p:sp>
        <p:sp>
          <p:nvSpPr>
            <p:cNvPr id="29703" name="Line 8">
              <a:extLst>
                <a:ext uri="{FF2B5EF4-FFF2-40B4-BE49-F238E27FC236}">
                  <a16:creationId xmlns:a16="http://schemas.microsoft.com/office/drawing/2014/main" id="{8D877D1B-CF65-49FB-B58F-99081F2D19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6" y="812"/>
              <a:ext cx="144" cy="0"/>
            </a:xfrm>
            <a:prstGeom prst="line">
              <a:avLst/>
            </a:prstGeom>
            <a:noFill/>
            <a:ln w="12700">
              <a:solidFill>
                <a:srgbClr val="00FFFF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76B88846-3186-4406-9B39-7547ACD42045}"/>
              </a:ext>
            </a:extLst>
          </p:cNvPr>
          <p:cNvGrpSpPr>
            <a:grpSpLocks/>
          </p:cNvGrpSpPr>
          <p:nvPr/>
        </p:nvGrpSpPr>
        <p:grpSpPr bwMode="auto">
          <a:xfrm>
            <a:off x="817563" y="4183063"/>
            <a:ext cx="5254625" cy="457200"/>
            <a:chOff x="457" y="2208"/>
            <a:chExt cx="3310" cy="288"/>
          </a:xfrm>
        </p:grpSpPr>
        <p:sp>
          <p:nvSpPr>
            <p:cNvPr id="4" name="Rectangle 10">
              <a:extLst>
                <a:ext uri="{FF2B5EF4-FFF2-40B4-BE49-F238E27FC236}">
                  <a16:creationId xmlns:a16="http://schemas.microsoft.com/office/drawing/2014/main" id="{F90478F4-C523-4192-A152-DA3F3E4D0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" y="2208"/>
              <a:ext cx="3310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</a:rPr>
                <a:t>角动量</a:t>
              </a:r>
              <a:r>
                <a:rPr lang="zh-CN" altLang="en-US">
                  <a:solidFill>
                    <a:srgbClr val="FFCC66"/>
                  </a:solidFill>
                </a:rPr>
                <a:t> </a:t>
              </a:r>
              <a:r>
                <a:rPr lang="en-US" altLang="zh-CN" i="1">
                  <a:solidFill>
                    <a:srgbClr val="66FFFF"/>
                  </a:solidFill>
                </a:rPr>
                <a:t>L </a:t>
              </a:r>
              <a:r>
                <a:rPr lang="zh-CN" altLang="en-US">
                  <a:solidFill>
                    <a:schemeClr val="bg1"/>
                  </a:solidFill>
                </a:rPr>
                <a:t>的在外磁场 </a:t>
              </a:r>
              <a:r>
                <a:rPr lang="en-US" altLang="zh-CN" i="1">
                  <a:solidFill>
                    <a:srgbClr val="FFFF00"/>
                  </a:solidFill>
                </a:rPr>
                <a:t>z </a:t>
              </a:r>
              <a:r>
                <a:rPr lang="zh-CN" altLang="en-US">
                  <a:solidFill>
                    <a:schemeClr val="bg1"/>
                  </a:solidFill>
                </a:rPr>
                <a:t>方向的投影</a:t>
              </a:r>
            </a:p>
          </p:txBody>
        </p:sp>
        <p:sp>
          <p:nvSpPr>
            <p:cNvPr id="29706" name="Line 11">
              <a:extLst>
                <a:ext uri="{FF2B5EF4-FFF2-40B4-BE49-F238E27FC236}">
                  <a16:creationId xmlns:a16="http://schemas.microsoft.com/office/drawing/2014/main" id="{16D1AA22-F8BB-4C2A-9D18-956837203B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8" y="2256"/>
              <a:ext cx="144" cy="0"/>
            </a:xfrm>
            <a:prstGeom prst="line">
              <a:avLst/>
            </a:prstGeom>
            <a:noFill/>
            <a:ln w="12700">
              <a:solidFill>
                <a:srgbClr val="00FFFF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83308" name="Object 3">
            <a:extLst>
              <a:ext uri="{FF2B5EF4-FFF2-40B4-BE49-F238E27FC236}">
                <a16:creationId xmlns:a16="http://schemas.microsoft.com/office/drawing/2014/main" id="{F151F05E-000F-4244-9147-F28DEC204E16}"/>
              </a:ext>
            </a:extLst>
          </p:cNvPr>
          <p:cNvGraphicFramePr>
            <a:graphicFrameLocks/>
          </p:cNvGraphicFramePr>
          <p:nvPr/>
        </p:nvGraphicFramePr>
        <p:xfrm>
          <a:off x="3214688" y="4852988"/>
          <a:ext cx="1230312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835" r:id="rId6" imgW="1053000" imgH="357480" progId="Equation.3">
                  <p:embed/>
                </p:oleObj>
              </mc:Choice>
              <mc:Fallback>
                <p:oleObj r:id="rId6" imgW="1053000" imgH="357480" progId="Equation.3">
                  <p:embed/>
                  <p:pic>
                    <p:nvPicPr>
                      <p:cNvPr id="183308" name="Object 3">
                        <a:extLst>
                          <a:ext uri="{FF2B5EF4-FFF2-40B4-BE49-F238E27FC236}">
                            <a16:creationId xmlns:a16="http://schemas.microsoft.com/office/drawing/2014/main" id="{F151F05E-000F-4244-9147-F28DEC204E1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4852988"/>
                        <a:ext cx="1230312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09" name="Text Box 13">
            <a:extLst>
              <a:ext uri="{FF2B5EF4-FFF2-40B4-BE49-F238E27FC236}">
                <a16:creationId xmlns:a16="http://schemas.microsoft.com/office/drawing/2014/main" id="{AB4815C8-5772-4765-8C2C-711677731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5373688"/>
            <a:ext cx="617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磁量子数</a:t>
            </a:r>
            <a:r>
              <a:rPr lang="zh-CN" altLang="en-US">
                <a:solidFill>
                  <a:srgbClr val="99FFCC"/>
                </a:solidFill>
              </a:rPr>
              <a:t>      </a:t>
            </a:r>
            <a:r>
              <a:rPr lang="en-US" altLang="zh-CN" i="1">
                <a:solidFill>
                  <a:srgbClr val="66FFFF"/>
                </a:solidFill>
              </a:rPr>
              <a:t>m</a:t>
            </a:r>
            <a:r>
              <a:rPr lang="en-US" altLang="zh-CN" i="1" baseline="-25000">
                <a:solidFill>
                  <a:srgbClr val="66FFFF"/>
                </a:solidFill>
              </a:rPr>
              <a:t>l</a:t>
            </a:r>
            <a:r>
              <a:rPr lang="en-US" altLang="zh-CN">
                <a:solidFill>
                  <a:srgbClr val="66FFFF"/>
                </a:solidFill>
              </a:rPr>
              <a:t> = 0 , </a:t>
            </a:r>
            <a:r>
              <a:rPr lang="en-US" altLang="zh-CN" sz="2000">
                <a:solidFill>
                  <a:srgbClr val="66FFFF"/>
                </a:solidFill>
              </a:rPr>
              <a:t>±</a:t>
            </a:r>
            <a:r>
              <a:rPr lang="en-US" altLang="zh-CN">
                <a:solidFill>
                  <a:srgbClr val="66FFFF"/>
                </a:solidFill>
              </a:rPr>
              <a:t>1 , </a:t>
            </a:r>
            <a:r>
              <a:rPr lang="en-US" altLang="zh-CN" sz="2000">
                <a:solidFill>
                  <a:srgbClr val="66FFFF"/>
                </a:solidFill>
              </a:rPr>
              <a:t>±</a:t>
            </a:r>
            <a:r>
              <a:rPr lang="en-US" altLang="zh-CN">
                <a:solidFill>
                  <a:srgbClr val="66FFFF"/>
                </a:solidFill>
              </a:rPr>
              <a:t>2 , …… , </a:t>
            </a:r>
            <a:r>
              <a:rPr lang="en-US" altLang="zh-CN" sz="2000">
                <a:solidFill>
                  <a:srgbClr val="66FFFF"/>
                </a:solidFill>
              </a:rPr>
              <a:t>±</a:t>
            </a:r>
            <a:r>
              <a:rPr lang="en-US" altLang="zh-CN" i="1">
                <a:solidFill>
                  <a:srgbClr val="66FFFF"/>
                </a:solidFill>
              </a:rPr>
              <a:t>l</a:t>
            </a:r>
            <a:r>
              <a:rPr lang="en-US" altLang="zh-CN">
                <a:solidFill>
                  <a:srgbClr val="FFFF99"/>
                </a:solidFill>
              </a:rPr>
              <a:t> </a:t>
            </a:r>
          </a:p>
        </p:txBody>
      </p:sp>
      <p:sp>
        <p:nvSpPr>
          <p:cNvPr id="29709" name="灯片编号占位符 1">
            <a:extLst>
              <a:ext uri="{FF2B5EF4-FFF2-40B4-BE49-F238E27FC236}">
                <a16:creationId xmlns:a16="http://schemas.microsoft.com/office/drawing/2014/main" id="{9673F574-5D31-4E67-B35D-1DE545DC66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EC916AA-384B-4205-983D-27D0FD7ECB58}" type="slidenum">
              <a:rPr lang="en-US" altLang="zh-CN" b="0">
                <a:solidFill>
                  <a:srgbClr val="FF00FF"/>
                </a:solidFill>
              </a:rPr>
              <a:pPr/>
              <a:t>31</a:t>
            </a:fld>
            <a:r>
              <a:rPr lang="en-US" altLang="zh-CN" b="0">
                <a:solidFill>
                  <a:srgbClr val="FF00FF"/>
                </a:solidFill>
              </a:rPr>
              <a:t>/22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8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8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8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9" grpId="0"/>
      <p:bldP spid="183301" grpId="0"/>
      <p:bldP spid="18330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346" name="Picture 2" descr="角动量空间量子化2+++++++++++2">
            <a:extLst>
              <a:ext uri="{FF2B5EF4-FFF2-40B4-BE49-F238E27FC236}">
                <a16:creationId xmlns:a16="http://schemas.microsoft.com/office/drawing/2014/main" id="{509E1FDA-8C73-44D2-BFB3-792DFED403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326699"/>
              </a:clrFrom>
              <a:clrTo>
                <a:srgbClr val="3266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955925"/>
            <a:ext cx="19050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347" name="Picture 3" descr="角动量空间量子化21">
            <a:extLst>
              <a:ext uri="{FF2B5EF4-FFF2-40B4-BE49-F238E27FC236}">
                <a16:creationId xmlns:a16="http://schemas.microsoft.com/office/drawing/2014/main" id="{F23572C1-30E1-495E-8304-FDDD8517A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326699"/>
              </a:clrFrom>
              <a:clrTo>
                <a:srgbClr val="3266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955925"/>
            <a:ext cx="19050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348" name="Picture 4" descr="角动量空间量子化20">
            <a:extLst>
              <a:ext uri="{FF2B5EF4-FFF2-40B4-BE49-F238E27FC236}">
                <a16:creationId xmlns:a16="http://schemas.microsoft.com/office/drawing/2014/main" id="{8945FD93-1E90-4E24-A3EA-E82CF231D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326699"/>
              </a:clrFrom>
              <a:clrTo>
                <a:srgbClr val="3266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955925"/>
            <a:ext cx="19050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349" name="Picture 5" descr="角动量空间量子化2-1">
            <a:extLst>
              <a:ext uri="{FF2B5EF4-FFF2-40B4-BE49-F238E27FC236}">
                <a16:creationId xmlns:a16="http://schemas.microsoft.com/office/drawing/2014/main" id="{5F526B57-30D4-4243-8B46-7C963F670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326699"/>
              </a:clrFrom>
              <a:clrTo>
                <a:srgbClr val="3266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955925"/>
            <a:ext cx="19050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350" name="Picture 6" descr="角动量空间量子化2-2">
            <a:extLst>
              <a:ext uri="{FF2B5EF4-FFF2-40B4-BE49-F238E27FC236}">
                <a16:creationId xmlns:a16="http://schemas.microsoft.com/office/drawing/2014/main" id="{3DC2E45C-0F4B-46B9-8994-67C385891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326699"/>
              </a:clrFrom>
              <a:clrTo>
                <a:srgbClr val="3266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955925"/>
            <a:ext cx="19050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5351" name="Picture 7" descr="角动量空间量子化2">
            <a:extLst>
              <a:ext uri="{FF2B5EF4-FFF2-40B4-BE49-F238E27FC236}">
                <a16:creationId xmlns:a16="http://schemas.microsoft.com/office/drawing/2014/main" id="{408301A2-88E0-45EA-870A-7EC8ADC77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326699"/>
              </a:clrFrom>
              <a:clrTo>
                <a:srgbClr val="3266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955925"/>
            <a:ext cx="19050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85352" name="Object 2">
            <a:extLst>
              <a:ext uri="{FF2B5EF4-FFF2-40B4-BE49-F238E27FC236}">
                <a16:creationId xmlns:a16="http://schemas.microsoft.com/office/drawing/2014/main" id="{B2409832-A61E-45EF-9DD5-4D90F76858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9413" y="3284538"/>
          <a:ext cx="330200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946" r:id="rId10" imgW="336240" imgH="247680" progId="Equation.3">
                  <p:embed/>
                </p:oleObj>
              </mc:Choice>
              <mc:Fallback>
                <p:oleObj r:id="rId10" imgW="336240" imgH="247680" progId="Equation.3">
                  <p:embed/>
                  <p:pic>
                    <p:nvPicPr>
                      <p:cNvPr id="185352" name="Object 2">
                        <a:extLst>
                          <a:ext uri="{FF2B5EF4-FFF2-40B4-BE49-F238E27FC236}">
                            <a16:creationId xmlns:a16="http://schemas.microsoft.com/office/drawing/2014/main" id="{B2409832-A61E-45EF-9DD5-4D90F76858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413" y="3284538"/>
                        <a:ext cx="330200" cy="249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3" name="Object 3">
            <a:extLst>
              <a:ext uri="{FF2B5EF4-FFF2-40B4-BE49-F238E27FC236}">
                <a16:creationId xmlns:a16="http://schemas.microsoft.com/office/drawing/2014/main" id="{441947B4-BCAC-46C5-8014-6FBF6245C4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0675" y="5084763"/>
          <a:ext cx="388938" cy="24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947" r:id="rId12" imgW="402480" imgH="247680" progId="Equation.3">
                  <p:embed/>
                </p:oleObj>
              </mc:Choice>
              <mc:Fallback>
                <p:oleObj r:id="rId12" imgW="402480" imgH="247680" progId="Equation.3">
                  <p:embed/>
                  <p:pic>
                    <p:nvPicPr>
                      <p:cNvPr id="185353" name="Object 3">
                        <a:extLst>
                          <a:ext uri="{FF2B5EF4-FFF2-40B4-BE49-F238E27FC236}">
                            <a16:creationId xmlns:a16="http://schemas.microsoft.com/office/drawing/2014/main" id="{441947B4-BCAC-46C5-8014-6FBF6245C4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675" y="5084763"/>
                        <a:ext cx="388938" cy="24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4" name="Object 4">
            <a:extLst>
              <a:ext uri="{FF2B5EF4-FFF2-40B4-BE49-F238E27FC236}">
                <a16:creationId xmlns:a16="http://schemas.microsoft.com/office/drawing/2014/main" id="{6D267629-A48C-4799-AE51-ABEB39A100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0975" y="5632450"/>
          <a:ext cx="528638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948" r:id="rId14" imgW="556920" imgH="247680" progId="Equation.3">
                  <p:embed/>
                </p:oleObj>
              </mc:Choice>
              <mc:Fallback>
                <p:oleObj r:id="rId14" imgW="556920" imgH="247680" progId="Equation.3">
                  <p:embed/>
                  <p:pic>
                    <p:nvPicPr>
                      <p:cNvPr id="185354" name="Object 4">
                        <a:extLst>
                          <a:ext uri="{FF2B5EF4-FFF2-40B4-BE49-F238E27FC236}">
                            <a16:creationId xmlns:a16="http://schemas.microsoft.com/office/drawing/2014/main" id="{6D267629-A48C-4799-AE51-ABEB39A100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975" y="5632450"/>
                        <a:ext cx="528638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5" name="Object 5">
            <a:extLst>
              <a:ext uri="{FF2B5EF4-FFF2-40B4-BE49-F238E27FC236}">
                <a16:creationId xmlns:a16="http://schemas.microsoft.com/office/drawing/2014/main" id="{7D2A96D5-37FC-4806-BA09-BA9729E759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1338" y="4464050"/>
          <a:ext cx="168275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949" r:id="rId16" imgW="159840" imgH="258480" progId="Equation.3">
                  <p:embed/>
                </p:oleObj>
              </mc:Choice>
              <mc:Fallback>
                <p:oleObj r:id="rId16" imgW="159840" imgH="258480" progId="Equation.3">
                  <p:embed/>
                  <p:pic>
                    <p:nvPicPr>
                      <p:cNvPr id="185355" name="Object 5">
                        <a:extLst>
                          <a:ext uri="{FF2B5EF4-FFF2-40B4-BE49-F238E27FC236}">
                            <a16:creationId xmlns:a16="http://schemas.microsoft.com/office/drawing/2014/main" id="{7D2A96D5-37FC-4806-BA09-BA9729E759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338" y="4464050"/>
                        <a:ext cx="168275" cy="26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6" name="Object 6">
            <a:extLst>
              <a:ext uri="{FF2B5EF4-FFF2-40B4-BE49-F238E27FC236}">
                <a16:creationId xmlns:a16="http://schemas.microsoft.com/office/drawing/2014/main" id="{54CEAF80-C7A3-4183-A277-D395A32975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6575" y="3760788"/>
          <a:ext cx="173038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950" r:id="rId18" imgW="171000" imgH="247680" progId="Equation.3">
                  <p:embed/>
                </p:oleObj>
              </mc:Choice>
              <mc:Fallback>
                <p:oleObj r:id="rId18" imgW="171000" imgH="247680" progId="Equation.3">
                  <p:embed/>
                  <p:pic>
                    <p:nvPicPr>
                      <p:cNvPr id="185356" name="Object 6">
                        <a:extLst>
                          <a:ext uri="{FF2B5EF4-FFF2-40B4-BE49-F238E27FC236}">
                            <a16:creationId xmlns:a16="http://schemas.microsoft.com/office/drawing/2014/main" id="{54CEAF80-C7A3-4183-A277-D395A32975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5" y="3760788"/>
                        <a:ext cx="173038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7" name="Object 7">
            <a:extLst>
              <a:ext uri="{FF2B5EF4-FFF2-40B4-BE49-F238E27FC236}">
                <a16:creationId xmlns:a16="http://schemas.microsoft.com/office/drawing/2014/main" id="{B87EE3F0-30E8-4FA2-9120-07CDD3703B6A}"/>
              </a:ext>
            </a:extLst>
          </p:cNvPr>
          <p:cNvGraphicFramePr>
            <a:graphicFrameLocks/>
          </p:cNvGraphicFramePr>
          <p:nvPr/>
        </p:nvGraphicFramePr>
        <p:xfrm>
          <a:off x="3587750" y="4010025"/>
          <a:ext cx="1208088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951" r:id="rId20" imgW="1030680" imgH="313560" progId="Equation.3">
                  <p:embed/>
                </p:oleObj>
              </mc:Choice>
              <mc:Fallback>
                <p:oleObj r:id="rId20" imgW="1030680" imgH="313560" progId="Equation.3">
                  <p:embed/>
                  <p:pic>
                    <p:nvPicPr>
                      <p:cNvPr id="185357" name="Object 7">
                        <a:extLst>
                          <a:ext uri="{FF2B5EF4-FFF2-40B4-BE49-F238E27FC236}">
                            <a16:creationId xmlns:a16="http://schemas.microsoft.com/office/drawing/2014/main" id="{B87EE3F0-30E8-4FA2-9120-07CDD3703B6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0" y="4010025"/>
                        <a:ext cx="1208088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8" name="Object 8">
            <a:extLst>
              <a:ext uri="{FF2B5EF4-FFF2-40B4-BE49-F238E27FC236}">
                <a16:creationId xmlns:a16="http://schemas.microsoft.com/office/drawing/2014/main" id="{54E6C319-889E-4E2D-8EE4-3F3D1B30E084}"/>
              </a:ext>
            </a:extLst>
          </p:cNvPr>
          <p:cNvGraphicFramePr>
            <a:graphicFrameLocks/>
          </p:cNvGraphicFramePr>
          <p:nvPr/>
        </p:nvGraphicFramePr>
        <p:xfrm>
          <a:off x="3746500" y="4765675"/>
          <a:ext cx="687388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952" r:id="rId22" imgW="578880" imgH="258480" progId="Equation.3">
                  <p:embed/>
                </p:oleObj>
              </mc:Choice>
              <mc:Fallback>
                <p:oleObj r:id="rId22" imgW="578880" imgH="258480" progId="Equation.3">
                  <p:embed/>
                  <p:pic>
                    <p:nvPicPr>
                      <p:cNvPr id="185358" name="Object 8">
                        <a:extLst>
                          <a:ext uri="{FF2B5EF4-FFF2-40B4-BE49-F238E27FC236}">
                            <a16:creationId xmlns:a16="http://schemas.microsoft.com/office/drawing/2014/main" id="{54E6C319-889E-4E2D-8EE4-3F3D1B30E08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0" y="4765675"/>
                        <a:ext cx="687388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9" name="Object 9">
            <a:extLst>
              <a:ext uri="{FF2B5EF4-FFF2-40B4-BE49-F238E27FC236}">
                <a16:creationId xmlns:a16="http://schemas.microsoft.com/office/drawing/2014/main" id="{86958FFB-D951-41C9-BD33-1C872C7DC914}"/>
              </a:ext>
            </a:extLst>
          </p:cNvPr>
          <p:cNvGraphicFramePr>
            <a:graphicFrameLocks/>
          </p:cNvGraphicFramePr>
          <p:nvPr/>
        </p:nvGraphicFramePr>
        <p:xfrm>
          <a:off x="5794375" y="5699125"/>
          <a:ext cx="21304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953" r:id="rId24" imgW="1835640" imgH="302400" progId="Equation.3">
                  <p:embed/>
                </p:oleObj>
              </mc:Choice>
              <mc:Fallback>
                <p:oleObj r:id="rId24" imgW="1835640" imgH="302400" progId="Equation.3">
                  <p:embed/>
                  <p:pic>
                    <p:nvPicPr>
                      <p:cNvPr id="185359" name="Object 9">
                        <a:extLst>
                          <a:ext uri="{FF2B5EF4-FFF2-40B4-BE49-F238E27FC236}">
                            <a16:creationId xmlns:a16="http://schemas.microsoft.com/office/drawing/2014/main" id="{86958FFB-D951-41C9-BD33-1C872C7DC91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75" y="5699125"/>
                        <a:ext cx="213042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9" name="Rectangle 16">
            <a:extLst>
              <a:ext uri="{FF2B5EF4-FFF2-40B4-BE49-F238E27FC236}">
                <a16:creationId xmlns:a16="http://schemas.microsoft.com/office/drawing/2014/main" id="{D814D57D-1375-42F5-94DC-082A2EEA7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581150"/>
            <a:ext cx="5311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磁量子数                   </a:t>
            </a:r>
            <a:r>
              <a:rPr lang="en-US" altLang="zh-CN" i="1">
                <a:solidFill>
                  <a:srgbClr val="00FFFF"/>
                </a:solidFill>
              </a:rPr>
              <a:t>m</a:t>
            </a:r>
            <a:r>
              <a:rPr lang="en-US" altLang="zh-CN" i="1" baseline="-25000">
                <a:solidFill>
                  <a:srgbClr val="00FFFF"/>
                </a:solidFill>
              </a:rPr>
              <a:t>l</a:t>
            </a:r>
            <a:r>
              <a:rPr lang="en-US" altLang="zh-CN">
                <a:solidFill>
                  <a:srgbClr val="00FFFF"/>
                </a:solidFill>
              </a:rPr>
              <a:t> = 0 , </a:t>
            </a:r>
            <a:r>
              <a:rPr lang="en-US" altLang="zh-CN" sz="2000">
                <a:solidFill>
                  <a:srgbClr val="00FFFF"/>
                </a:solidFill>
              </a:rPr>
              <a:t>±</a:t>
            </a:r>
            <a:r>
              <a:rPr lang="en-US" altLang="zh-CN">
                <a:solidFill>
                  <a:srgbClr val="00FFFF"/>
                </a:solidFill>
              </a:rPr>
              <a:t>1 , </a:t>
            </a:r>
            <a:r>
              <a:rPr lang="en-US" altLang="zh-CN" sz="2000">
                <a:solidFill>
                  <a:srgbClr val="00FFFF"/>
                </a:solidFill>
              </a:rPr>
              <a:t>±</a:t>
            </a:r>
            <a:r>
              <a:rPr lang="en-US" altLang="zh-CN">
                <a:solidFill>
                  <a:srgbClr val="00FFFF"/>
                </a:solidFill>
              </a:rPr>
              <a:t>2</a:t>
            </a:r>
          </a:p>
        </p:txBody>
      </p:sp>
      <p:grpSp>
        <p:nvGrpSpPr>
          <p:cNvPr id="2" name="Group 17">
            <a:extLst>
              <a:ext uri="{FF2B5EF4-FFF2-40B4-BE49-F238E27FC236}">
                <a16:creationId xmlns:a16="http://schemas.microsoft.com/office/drawing/2014/main" id="{116C6227-4D9D-432B-A761-D67C9E13E6C5}"/>
              </a:ext>
            </a:extLst>
          </p:cNvPr>
          <p:cNvGrpSpPr>
            <a:grpSpLocks/>
          </p:cNvGrpSpPr>
          <p:nvPr/>
        </p:nvGrpSpPr>
        <p:grpSpPr bwMode="auto">
          <a:xfrm>
            <a:off x="642938" y="2251075"/>
            <a:ext cx="4500562" cy="461963"/>
            <a:chOff x="540" y="1152"/>
            <a:chExt cx="2835" cy="291"/>
          </a:xfrm>
        </p:grpSpPr>
        <p:sp>
          <p:nvSpPr>
            <p:cNvPr id="3" name="Rectangle 18">
              <a:extLst>
                <a:ext uri="{FF2B5EF4-FFF2-40B4-BE49-F238E27FC236}">
                  <a16:creationId xmlns:a16="http://schemas.microsoft.com/office/drawing/2014/main" id="{4DA62052-9DD4-4564-9281-52739F04C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" y="1152"/>
              <a:ext cx="2835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i="1">
                  <a:solidFill>
                    <a:srgbClr val="66FFFF"/>
                  </a:solidFill>
                </a:rPr>
                <a:t>L</a:t>
              </a:r>
              <a:r>
                <a:rPr lang="en-US" altLang="zh-CN" i="1">
                  <a:solidFill>
                    <a:srgbClr val="99FFCC"/>
                  </a:solidFill>
                </a:rPr>
                <a:t> </a:t>
              </a:r>
              <a:r>
                <a:rPr lang="zh-CN" altLang="en-US">
                  <a:solidFill>
                    <a:schemeClr val="bg1"/>
                  </a:solidFill>
                </a:rPr>
                <a:t>在</a:t>
              </a:r>
              <a:r>
                <a:rPr lang="zh-CN" altLang="en-US" i="1">
                  <a:solidFill>
                    <a:srgbClr val="FFFF00"/>
                  </a:solidFill>
                </a:rPr>
                <a:t> </a:t>
              </a:r>
              <a:r>
                <a:rPr lang="en-US" altLang="zh-CN" i="1">
                  <a:solidFill>
                    <a:srgbClr val="FFFF00"/>
                  </a:solidFill>
                </a:rPr>
                <a:t>z </a:t>
              </a:r>
              <a:r>
                <a:rPr lang="zh-CN" altLang="en-US">
                  <a:solidFill>
                    <a:schemeClr val="bg1"/>
                  </a:solidFill>
                </a:rPr>
                <a:t>方向（外磁场）的投影</a:t>
              </a:r>
            </a:p>
          </p:txBody>
        </p:sp>
        <p:sp>
          <p:nvSpPr>
            <p:cNvPr id="31762" name="Line 19">
              <a:extLst>
                <a:ext uri="{FF2B5EF4-FFF2-40B4-BE49-F238E27FC236}">
                  <a16:creationId xmlns:a16="http://schemas.microsoft.com/office/drawing/2014/main" id="{C5B6FA9E-019B-4CD1-B73B-D840326CE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" y="1174"/>
              <a:ext cx="144" cy="0"/>
            </a:xfrm>
            <a:prstGeom prst="line">
              <a:avLst/>
            </a:prstGeom>
            <a:noFill/>
            <a:ln w="12700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85364" name="Object 10">
            <a:extLst>
              <a:ext uri="{FF2B5EF4-FFF2-40B4-BE49-F238E27FC236}">
                <a16:creationId xmlns:a16="http://schemas.microsoft.com/office/drawing/2014/main" id="{69DC3CD2-7DBB-40AE-B590-677A1C37146C}"/>
              </a:ext>
            </a:extLst>
          </p:cNvPr>
          <p:cNvGraphicFramePr>
            <a:graphicFrameLocks/>
          </p:cNvGraphicFramePr>
          <p:nvPr/>
        </p:nvGraphicFramePr>
        <p:xfrm>
          <a:off x="4845050" y="2274888"/>
          <a:ext cx="3513138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954" r:id="rId26" imgW="3037320" imgH="346680" progId="Equation.3">
                  <p:embed/>
                </p:oleObj>
              </mc:Choice>
              <mc:Fallback>
                <p:oleObj r:id="rId26" imgW="3037320" imgH="346680" progId="Equation.3">
                  <p:embed/>
                  <p:pic>
                    <p:nvPicPr>
                      <p:cNvPr id="185364" name="Object 10">
                        <a:extLst>
                          <a:ext uri="{FF2B5EF4-FFF2-40B4-BE49-F238E27FC236}">
                            <a16:creationId xmlns:a16="http://schemas.microsoft.com/office/drawing/2014/main" id="{69DC3CD2-7DBB-40AE-B590-677A1C37146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050" y="2274888"/>
                        <a:ext cx="3513138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65" name="Line 21">
            <a:extLst>
              <a:ext uri="{FF2B5EF4-FFF2-40B4-BE49-F238E27FC236}">
                <a16:creationId xmlns:a16="http://schemas.microsoft.com/office/drawing/2014/main" id="{B67E50EF-6034-47E8-A930-4C1345FD96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68513" y="3032125"/>
            <a:ext cx="0" cy="304800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5366" name="Text Box 22">
            <a:extLst>
              <a:ext uri="{FF2B5EF4-FFF2-40B4-BE49-F238E27FC236}">
                <a16:creationId xmlns:a16="http://schemas.microsoft.com/office/drawing/2014/main" id="{71A3E363-3916-4BBD-A99D-C962D9BCC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8200" y="2708275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hlink"/>
                </a:solidFill>
              </a:rPr>
              <a:t>z</a:t>
            </a:r>
          </a:p>
        </p:txBody>
      </p:sp>
      <p:graphicFrame>
        <p:nvGraphicFramePr>
          <p:cNvPr id="31766" name="Object 11">
            <a:extLst>
              <a:ext uri="{FF2B5EF4-FFF2-40B4-BE49-F238E27FC236}">
                <a16:creationId xmlns:a16="http://schemas.microsoft.com/office/drawing/2014/main" id="{0541AEC1-CA15-4F55-9CBC-355530AC25E9}"/>
              </a:ext>
            </a:extLst>
          </p:cNvPr>
          <p:cNvGraphicFramePr>
            <a:graphicFrameLocks/>
          </p:cNvGraphicFramePr>
          <p:nvPr/>
        </p:nvGraphicFramePr>
        <p:xfrm>
          <a:off x="4159250" y="982663"/>
          <a:ext cx="3005138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955" r:id="rId28" imgW="2596320" imgH="379440" progId="Equation.3">
                  <p:embed/>
                </p:oleObj>
              </mc:Choice>
              <mc:Fallback>
                <p:oleObj r:id="rId28" imgW="2596320" imgH="379440" progId="Equation.3">
                  <p:embed/>
                  <p:pic>
                    <p:nvPicPr>
                      <p:cNvPr id="31766" name="Object 11">
                        <a:extLst>
                          <a:ext uri="{FF2B5EF4-FFF2-40B4-BE49-F238E27FC236}">
                            <a16:creationId xmlns:a16="http://schemas.microsoft.com/office/drawing/2014/main" id="{0541AEC1-CA15-4F55-9CBC-355530AC25E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250" y="982663"/>
                        <a:ext cx="3005138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7" name="Rectangle 24">
            <a:extLst>
              <a:ext uri="{FF2B5EF4-FFF2-40B4-BE49-F238E27FC236}">
                <a16:creationId xmlns:a16="http://schemas.microsoft.com/office/drawing/2014/main" id="{F88F0C70-83F0-4305-B100-8ED94A9E1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982663"/>
            <a:ext cx="1355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rgbClr val="66FFFF"/>
                </a:solidFill>
              </a:rPr>
              <a:t>L</a:t>
            </a:r>
            <a:r>
              <a:rPr lang="en-US" altLang="zh-CN" i="1">
                <a:solidFill>
                  <a:srgbClr val="99FFCC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的大小</a:t>
            </a:r>
          </a:p>
        </p:txBody>
      </p:sp>
      <p:sp>
        <p:nvSpPr>
          <p:cNvPr id="31768" name="Line 25">
            <a:extLst>
              <a:ext uri="{FF2B5EF4-FFF2-40B4-BE49-F238E27FC236}">
                <a16:creationId xmlns:a16="http://schemas.microsoft.com/office/drawing/2014/main" id="{979F804C-D95E-43EE-8FD7-8D44E0B681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00188" y="1042988"/>
            <a:ext cx="200025" cy="6350"/>
          </a:xfrm>
          <a:prstGeom prst="line">
            <a:avLst/>
          </a:prstGeom>
          <a:noFill/>
          <a:ln w="12700">
            <a:solidFill>
              <a:srgbClr val="00FFFF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1769" name="Group 26">
            <a:extLst>
              <a:ext uri="{FF2B5EF4-FFF2-40B4-BE49-F238E27FC236}">
                <a16:creationId xmlns:a16="http://schemas.microsoft.com/office/drawing/2014/main" id="{C081E6D8-7DD3-4890-9B96-349EB60E82A6}"/>
              </a:ext>
            </a:extLst>
          </p:cNvPr>
          <p:cNvGrpSpPr>
            <a:grpSpLocks/>
          </p:cNvGrpSpPr>
          <p:nvPr/>
        </p:nvGrpSpPr>
        <p:grpSpPr bwMode="auto">
          <a:xfrm>
            <a:off x="315913" y="306388"/>
            <a:ext cx="6399212" cy="457200"/>
            <a:chOff x="614" y="3290"/>
            <a:chExt cx="4031" cy="288"/>
          </a:xfrm>
        </p:grpSpPr>
        <p:sp>
          <p:nvSpPr>
            <p:cNvPr id="31770" name="Text Box 27">
              <a:extLst>
                <a:ext uri="{FF2B5EF4-FFF2-40B4-BE49-F238E27FC236}">
                  <a16:creationId xmlns:a16="http://schemas.microsoft.com/office/drawing/2014/main" id="{7A25F169-FBBA-4804-B83A-C8658B2CBF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" y="3290"/>
              <a:ext cx="40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rgbClr val="FFFF00"/>
                  </a:solidFill>
                </a:rPr>
                <a:t>例如</a:t>
              </a:r>
              <a:r>
                <a:rPr lang="zh-CN" altLang="en-US">
                  <a:solidFill>
                    <a:srgbClr val="FFCC66"/>
                  </a:solidFill>
                </a:rPr>
                <a:t>    </a:t>
              </a:r>
              <a:r>
                <a:rPr lang="en-US" altLang="zh-CN" i="1">
                  <a:solidFill>
                    <a:srgbClr val="66FFFF"/>
                  </a:solidFill>
                </a:rPr>
                <a:t>l </a:t>
              </a:r>
              <a:r>
                <a:rPr lang="en-US" altLang="zh-CN">
                  <a:solidFill>
                    <a:srgbClr val="66FFFF"/>
                  </a:solidFill>
                </a:rPr>
                <a:t>= 2</a:t>
              </a:r>
              <a:r>
                <a:rPr lang="en-US" altLang="zh-CN">
                  <a:solidFill>
                    <a:srgbClr val="FFCC66"/>
                  </a:solidFill>
                </a:rPr>
                <a:t>  </a:t>
              </a:r>
              <a:r>
                <a:rPr lang="zh-CN" altLang="en-US">
                  <a:solidFill>
                    <a:schemeClr val="bg1"/>
                  </a:solidFill>
                </a:rPr>
                <a:t>电子角动量的大小及空间取向 ？</a:t>
              </a:r>
            </a:p>
          </p:txBody>
        </p:sp>
        <p:sp>
          <p:nvSpPr>
            <p:cNvPr id="31771" name="Line 28">
              <a:extLst>
                <a:ext uri="{FF2B5EF4-FFF2-40B4-BE49-F238E27FC236}">
                  <a16:creationId xmlns:a16="http://schemas.microsoft.com/office/drawing/2014/main" id="{0EE1355A-E2F3-4C9A-94D1-2778DEE34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312"/>
              <a:ext cx="144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9">
            <a:extLst>
              <a:ext uri="{FF2B5EF4-FFF2-40B4-BE49-F238E27FC236}">
                <a16:creationId xmlns:a16="http://schemas.microsoft.com/office/drawing/2014/main" id="{DDE4E0F2-7929-49ED-B2E1-66DB069E3086}"/>
              </a:ext>
            </a:extLst>
          </p:cNvPr>
          <p:cNvGrpSpPr>
            <a:grpSpLocks/>
          </p:cNvGrpSpPr>
          <p:nvPr/>
        </p:nvGrpSpPr>
        <p:grpSpPr bwMode="auto">
          <a:xfrm>
            <a:off x="6054725" y="2827338"/>
            <a:ext cx="1544638" cy="2784475"/>
            <a:chOff x="3814" y="1781"/>
            <a:chExt cx="973" cy="1754"/>
          </a:xfrm>
        </p:grpSpPr>
        <p:pic>
          <p:nvPicPr>
            <p:cNvPr id="31773" name="Picture 30" descr="角动量空间量子化1">
              <a:extLst>
                <a:ext uri="{FF2B5EF4-FFF2-40B4-BE49-F238E27FC236}">
                  <a16:creationId xmlns:a16="http://schemas.microsoft.com/office/drawing/2014/main" id="{6114A94F-63BF-4080-847C-CCEE7C36FF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clrChange>
                <a:clrFrom>
                  <a:srgbClr val="326699"/>
                </a:clrFrom>
                <a:clrTo>
                  <a:srgbClr val="326699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8" y="1855"/>
              <a:ext cx="909" cy="1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31774" name="Object 12">
              <a:extLst>
                <a:ext uri="{FF2B5EF4-FFF2-40B4-BE49-F238E27FC236}">
                  <a16:creationId xmlns:a16="http://schemas.microsoft.com/office/drawing/2014/main" id="{145A0C7C-7673-4573-A0AE-5918E2B6EE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50" y="2233"/>
            <a:ext cx="109" cy="1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956" r:id="rId31" imgW="171000" imgH="247680" progId="Equation.3">
                    <p:embed/>
                  </p:oleObj>
                </mc:Choice>
                <mc:Fallback>
                  <p:oleObj r:id="rId31" imgW="171000" imgH="247680" progId="Equation.3">
                    <p:embed/>
                    <p:pic>
                      <p:nvPicPr>
                        <p:cNvPr id="31774" name="Object 12">
                          <a:extLst>
                            <a:ext uri="{FF2B5EF4-FFF2-40B4-BE49-F238E27FC236}">
                              <a16:creationId xmlns:a16="http://schemas.microsoft.com/office/drawing/2014/main" id="{145A0C7C-7673-4573-A0AE-5918E2B6EE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0" y="2233"/>
                          <a:ext cx="109" cy="1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5" name="Text Box 32">
              <a:extLst>
                <a:ext uri="{FF2B5EF4-FFF2-40B4-BE49-F238E27FC236}">
                  <a16:creationId xmlns:a16="http://schemas.microsoft.com/office/drawing/2014/main" id="{D5AE9750-6E6F-4522-B7DD-DB35D41BE7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1781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hlink"/>
                  </a:solidFill>
                </a:rPr>
                <a:t>z</a:t>
              </a:r>
            </a:p>
          </p:txBody>
        </p:sp>
        <p:graphicFrame>
          <p:nvGraphicFramePr>
            <p:cNvPr id="31776" name="Object 13">
              <a:extLst>
                <a:ext uri="{FF2B5EF4-FFF2-40B4-BE49-F238E27FC236}">
                  <a16:creationId xmlns:a16="http://schemas.microsoft.com/office/drawing/2014/main" id="{DD42F943-34C2-4B34-9867-188635A5ADA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14" y="3048"/>
            <a:ext cx="245" cy="1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957" r:id="rId33" imgW="402480" imgH="247680" progId="Equation.3">
                    <p:embed/>
                  </p:oleObj>
                </mc:Choice>
                <mc:Fallback>
                  <p:oleObj r:id="rId33" imgW="402480" imgH="247680" progId="Equation.3">
                    <p:embed/>
                    <p:pic>
                      <p:nvPicPr>
                        <p:cNvPr id="31776" name="Object 13">
                          <a:extLst>
                            <a:ext uri="{FF2B5EF4-FFF2-40B4-BE49-F238E27FC236}">
                              <a16:creationId xmlns:a16="http://schemas.microsoft.com/office/drawing/2014/main" id="{DD42F943-34C2-4B34-9867-188635A5AD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4" y="3048"/>
                          <a:ext cx="245" cy="1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77" name="Object 14">
              <a:extLst>
                <a:ext uri="{FF2B5EF4-FFF2-40B4-BE49-F238E27FC236}">
                  <a16:creationId xmlns:a16="http://schemas.microsoft.com/office/drawing/2014/main" id="{9F48B403-12FA-49E3-A6FB-23D9F2FE0A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23" y="2631"/>
            <a:ext cx="106" cy="1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958" r:id="rId35" imgW="159840" imgH="258480" progId="Equation.3">
                    <p:embed/>
                  </p:oleObj>
                </mc:Choice>
                <mc:Fallback>
                  <p:oleObj r:id="rId35" imgW="159840" imgH="258480" progId="Equation.3">
                    <p:embed/>
                    <p:pic>
                      <p:nvPicPr>
                        <p:cNvPr id="31777" name="Object 14">
                          <a:extLst>
                            <a:ext uri="{FF2B5EF4-FFF2-40B4-BE49-F238E27FC236}">
                              <a16:creationId xmlns:a16="http://schemas.microsoft.com/office/drawing/2014/main" id="{9F48B403-12FA-49E3-A6FB-23D9F2FE0A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2631"/>
                          <a:ext cx="106" cy="1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8" name="Line 35">
              <a:extLst>
                <a:ext uri="{FF2B5EF4-FFF2-40B4-BE49-F238E27FC236}">
                  <a16:creationId xmlns:a16="http://schemas.microsoft.com/office/drawing/2014/main" id="{7B77AEB5-E2EF-45B8-8D3A-142AC2D57A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05" y="1933"/>
              <a:ext cx="0" cy="137"/>
            </a:xfrm>
            <a:prstGeom prst="line">
              <a:avLst/>
            </a:prstGeom>
            <a:noFill/>
            <a:ln w="9525">
              <a:solidFill>
                <a:srgbClr val="CCCC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1779" name="灯片编号占位符 1">
            <a:extLst>
              <a:ext uri="{FF2B5EF4-FFF2-40B4-BE49-F238E27FC236}">
                <a16:creationId xmlns:a16="http://schemas.microsoft.com/office/drawing/2014/main" id="{473CA88C-3FA0-4594-8EE3-AFD2C8CFE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C594F640-AFE0-474B-90B0-77133C213A9F}" type="slidenum">
              <a:rPr lang="en-US" altLang="zh-CN" b="0">
                <a:solidFill>
                  <a:srgbClr val="FF00FF"/>
                </a:solidFill>
              </a:rPr>
              <a:pPr/>
              <a:t>32</a:t>
            </a:fld>
            <a:r>
              <a:rPr lang="en-US" altLang="zh-CN" b="0">
                <a:solidFill>
                  <a:srgbClr val="FF00FF"/>
                </a:solidFill>
              </a:rPr>
              <a:t>/22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8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8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18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8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8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18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85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8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8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8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185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85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8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85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85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6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ext Box 2">
            <a:extLst>
              <a:ext uri="{FF2B5EF4-FFF2-40B4-BE49-F238E27FC236}">
                <a16:creationId xmlns:a16="http://schemas.microsoft.com/office/drawing/2014/main" id="{377AFFDE-944E-45A3-82C3-06857849F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28688"/>
            <a:ext cx="3095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</a:rPr>
              <a:t>实验现象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74F95ACB-EC8E-4D69-8D30-AEF0A3639F13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6873875" y="1123950"/>
            <a:ext cx="1371600" cy="685800"/>
            <a:chOff x="2064" y="3552"/>
            <a:chExt cx="864" cy="432"/>
          </a:xfrm>
        </p:grpSpPr>
        <p:sp>
          <p:nvSpPr>
            <p:cNvPr id="33795" name="Rectangle 4">
              <a:extLst>
                <a:ext uri="{FF2B5EF4-FFF2-40B4-BE49-F238E27FC236}">
                  <a16:creationId xmlns:a16="http://schemas.microsoft.com/office/drawing/2014/main" id="{170B5496-4271-4306-92B0-7388C80AA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552"/>
              <a:ext cx="864" cy="43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3796" name="Line 5">
              <a:extLst>
                <a:ext uri="{FF2B5EF4-FFF2-40B4-BE49-F238E27FC236}">
                  <a16:creationId xmlns:a16="http://schemas.microsoft.com/office/drawing/2014/main" id="{FE26A684-D7DE-4A37-9607-D2D07A16B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552"/>
              <a:ext cx="0" cy="43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BE7FFDC6-FE20-489E-B3F6-6867C36ED6FA}"/>
              </a:ext>
            </a:extLst>
          </p:cNvPr>
          <p:cNvGrpSpPr>
            <a:grpSpLocks/>
          </p:cNvGrpSpPr>
          <p:nvPr/>
        </p:nvGrpSpPr>
        <p:grpSpPr bwMode="auto">
          <a:xfrm>
            <a:off x="7216775" y="784225"/>
            <a:ext cx="685800" cy="1371600"/>
            <a:chOff x="3552" y="432"/>
            <a:chExt cx="432" cy="864"/>
          </a:xfrm>
        </p:grpSpPr>
        <p:sp>
          <p:nvSpPr>
            <p:cNvPr id="33798" name="Rectangle 7">
              <a:extLst>
                <a:ext uri="{FF2B5EF4-FFF2-40B4-BE49-F238E27FC236}">
                  <a16:creationId xmlns:a16="http://schemas.microsoft.com/office/drawing/2014/main" id="{71725C35-E323-451B-B921-708E4874B79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336" y="648"/>
              <a:ext cx="864" cy="43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3799" name="Line 8">
              <a:extLst>
                <a:ext uri="{FF2B5EF4-FFF2-40B4-BE49-F238E27FC236}">
                  <a16:creationId xmlns:a16="http://schemas.microsoft.com/office/drawing/2014/main" id="{08184353-4F3A-47AF-A4A6-2BE63AE334C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768" y="648"/>
              <a:ext cx="0" cy="43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7401" name="Text Box 9">
            <a:extLst>
              <a:ext uri="{FF2B5EF4-FFF2-40B4-BE49-F238E27FC236}">
                <a16:creationId xmlns:a16="http://schemas.microsoft.com/office/drawing/2014/main" id="{A6E1E3DE-1987-417D-B00F-CD2F5D2B6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1212850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bg1"/>
                </a:solidFill>
              </a:rPr>
              <a:t>v</a:t>
            </a:r>
            <a:r>
              <a:rPr lang="en-US" altLang="zh-CN" baseline="-20000">
                <a:solidFill>
                  <a:schemeClr val="bg1"/>
                </a:solidFill>
              </a:rPr>
              <a:t>0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87402" name="Text Box 10">
            <a:extLst>
              <a:ext uri="{FF2B5EF4-FFF2-40B4-BE49-F238E27FC236}">
                <a16:creationId xmlns:a16="http://schemas.microsoft.com/office/drawing/2014/main" id="{99228A8F-9E12-41BC-83ED-2EC9AD5BD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875" y="757238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i="1">
                <a:solidFill>
                  <a:schemeClr val="bg1"/>
                </a:solidFill>
              </a:rPr>
              <a:t>v</a:t>
            </a:r>
            <a:r>
              <a:rPr lang="en-US" altLang="zh-CN" baseline="-20000">
                <a:solidFill>
                  <a:schemeClr val="bg1"/>
                </a:solidFill>
              </a:rPr>
              <a:t>0 </a:t>
            </a:r>
            <a:r>
              <a:rPr lang="en-US" altLang="zh-CN" sz="2000">
                <a:solidFill>
                  <a:schemeClr val="bg1"/>
                </a:solidFill>
              </a:rPr>
              <a:t>+</a:t>
            </a:r>
            <a:r>
              <a:rPr lang="en-US" altLang="zh-CN" sz="1800">
                <a:solidFill>
                  <a:schemeClr val="bg1"/>
                </a:solidFill>
              </a:rPr>
              <a:t>△</a:t>
            </a:r>
            <a:r>
              <a:rPr lang="en-US" altLang="zh-CN" i="1">
                <a:solidFill>
                  <a:schemeClr val="bg1"/>
                </a:solidFill>
              </a:rPr>
              <a:t>v</a:t>
            </a:r>
          </a:p>
        </p:txBody>
      </p:sp>
      <p:sp>
        <p:nvSpPr>
          <p:cNvPr id="187403" name="Text Box 11">
            <a:extLst>
              <a:ext uri="{FF2B5EF4-FFF2-40B4-BE49-F238E27FC236}">
                <a16:creationId xmlns:a16="http://schemas.microsoft.com/office/drawing/2014/main" id="{0E62E973-74C3-4BE6-8B73-69865E415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113" y="1670050"/>
            <a:ext cx="938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bg1"/>
                </a:solidFill>
              </a:rPr>
              <a:t>v</a:t>
            </a:r>
            <a:r>
              <a:rPr lang="en-US" altLang="zh-CN" baseline="-20000">
                <a:solidFill>
                  <a:schemeClr val="bg1"/>
                </a:solidFill>
              </a:rPr>
              <a:t>0 </a:t>
            </a:r>
            <a:r>
              <a:rPr lang="en-US" altLang="zh-CN">
                <a:solidFill>
                  <a:schemeClr val="bg1"/>
                </a:solidFill>
              </a:rPr>
              <a:t>-</a:t>
            </a:r>
            <a:r>
              <a:rPr lang="en-US" altLang="zh-CN" sz="1800">
                <a:solidFill>
                  <a:schemeClr val="bg1"/>
                </a:solidFill>
              </a:rPr>
              <a:t>△</a:t>
            </a:r>
            <a:r>
              <a:rPr lang="en-US" altLang="zh-CN" i="1">
                <a:solidFill>
                  <a:schemeClr val="bg1"/>
                </a:solidFill>
              </a:rPr>
              <a:t>v</a:t>
            </a:r>
          </a:p>
        </p:txBody>
      </p:sp>
      <p:sp>
        <p:nvSpPr>
          <p:cNvPr id="187404" name="Text Box 12">
            <a:extLst>
              <a:ext uri="{FF2B5EF4-FFF2-40B4-BE49-F238E27FC236}">
                <a16:creationId xmlns:a16="http://schemas.microsoft.com/office/drawing/2014/main" id="{EFE3A8E6-AA7B-4244-962E-BEF07CA2F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1412875"/>
            <a:ext cx="40005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光源处于磁场中时，一条谱线会分裂成若干条谱线</a:t>
            </a:r>
          </a:p>
        </p:txBody>
      </p:sp>
      <p:sp>
        <p:nvSpPr>
          <p:cNvPr id="33804" name="Text Box 13">
            <a:extLst>
              <a:ext uri="{FF2B5EF4-FFF2-40B4-BE49-F238E27FC236}">
                <a16:creationId xmlns:a16="http://schemas.microsoft.com/office/drawing/2014/main" id="{279CDF7F-BD59-487A-B0C9-2453B32C8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1262063"/>
            <a:ext cx="5127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</a:rPr>
              <a:t>光源</a:t>
            </a:r>
          </a:p>
        </p:txBody>
      </p:sp>
      <p:pic>
        <p:nvPicPr>
          <p:cNvPr id="187406" name="Picture 14" descr="原子磁矩1">
            <a:extLst>
              <a:ext uri="{FF2B5EF4-FFF2-40B4-BE49-F238E27FC236}">
                <a16:creationId xmlns:a16="http://schemas.microsoft.com/office/drawing/2014/main" id="{1A023F84-81ED-471F-9785-CE964BD3F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006599"/>
              </a:clrFrom>
              <a:clrTo>
                <a:srgbClr val="0065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0038" y="3165475"/>
            <a:ext cx="1708150" cy="181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5">
            <a:extLst>
              <a:ext uri="{FF2B5EF4-FFF2-40B4-BE49-F238E27FC236}">
                <a16:creationId xmlns:a16="http://schemas.microsoft.com/office/drawing/2014/main" id="{BD091488-12FF-402A-AA78-24A7CBF370DF}"/>
              </a:ext>
            </a:extLst>
          </p:cNvPr>
          <p:cNvGrpSpPr>
            <a:grpSpLocks/>
          </p:cNvGrpSpPr>
          <p:nvPr/>
        </p:nvGrpSpPr>
        <p:grpSpPr bwMode="auto">
          <a:xfrm>
            <a:off x="7370763" y="3381375"/>
            <a:ext cx="411162" cy="457200"/>
            <a:chOff x="4464" y="777"/>
            <a:chExt cx="300" cy="329"/>
          </a:xfrm>
        </p:grpSpPr>
        <p:sp>
          <p:nvSpPr>
            <p:cNvPr id="33807" name="Oval 16">
              <a:extLst>
                <a:ext uri="{FF2B5EF4-FFF2-40B4-BE49-F238E27FC236}">
                  <a16:creationId xmlns:a16="http://schemas.microsoft.com/office/drawing/2014/main" id="{658CB91F-77A6-46EC-9BD8-DFD47ED78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992"/>
              <a:ext cx="113" cy="112"/>
            </a:xfrm>
            <a:prstGeom prst="ellipse">
              <a:avLst/>
            </a:prstGeom>
            <a:gradFill rotWithShape="1">
              <a:gsLst>
                <a:gs pos="0">
                  <a:srgbClr val="33CCFF"/>
                </a:gs>
                <a:gs pos="100000">
                  <a:srgbClr val="185E76"/>
                </a:gs>
              </a:gsLst>
              <a:path path="shape">
                <a:fillToRect l="50000" t="50000" r="50000" b="50000"/>
              </a:path>
            </a:gradFill>
            <a:ln w="31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3808" name="Text Box 17">
              <a:extLst>
                <a:ext uri="{FF2B5EF4-FFF2-40B4-BE49-F238E27FC236}">
                  <a16:creationId xmlns:a16="http://schemas.microsoft.com/office/drawing/2014/main" id="{738B9666-23F9-4178-9FBA-77E0E6A3F6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1" y="777"/>
              <a:ext cx="233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chemeClr val="bg1"/>
                  </a:solidFill>
                </a:rPr>
                <a:t>e</a:t>
              </a:r>
            </a:p>
          </p:txBody>
        </p:sp>
      </p:grpSp>
      <p:graphicFrame>
        <p:nvGraphicFramePr>
          <p:cNvPr id="187410" name="Object 2">
            <a:extLst>
              <a:ext uri="{FF2B5EF4-FFF2-40B4-BE49-F238E27FC236}">
                <a16:creationId xmlns:a16="http://schemas.microsoft.com/office/drawing/2014/main" id="{0900BCE8-6992-4830-9AD1-C04E020CAD65}"/>
              </a:ext>
            </a:extLst>
          </p:cNvPr>
          <p:cNvGraphicFramePr>
            <a:graphicFrameLocks/>
          </p:cNvGraphicFramePr>
          <p:nvPr/>
        </p:nvGraphicFramePr>
        <p:xfrm>
          <a:off x="7869238" y="3017838"/>
          <a:ext cx="227012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938" r:id="rId5" imgW="204120" imgH="302400" progId="Equation.3">
                  <p:embed/>
                </p:oleObj>
              </mc:Choice>
              <mc:Fallback>
                <p:oleObj r:id="rId5" imgW="204120" imgH="302400" progId="Equation.3">
                  <p:embed/>
                  <p:pic>
                    <p:nvPicPr>
                      <p:cNvPr id="187410" name="Object 2">
                        <a:extLst>
                          <a:ext uri="{FF2B5EF4-FFF2-40B4-BE49-F238E27FC236}">
                            <a16:creationId xmlns:a16="http://schemas.microsoft.com/office/drawing/2014/main" id="{0900BCE8-6992-4830-9AD1-C04E020CAD6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9238" y="3017838"/>
                        <a:ext cx="227012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12" name="Object 4">
            <a:extLst>
              <a:ext uri="{FF2B5EF4-FFF2-40B4-BE49-F238E27FC236}">
                <a16:creationId xmlns:a16="http://schemas.microsoft.com/office/drawing/2014/main" id="{BAE4F1CE-DD36-4253-A8ED-4C77501CF4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0563" y="4214813"/>
          <a:ext cx="4595812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939" r:id="rId7" imgW="4503600" imgH="775440" progId="Equation.3">
                  <p:embed/>
                </p:oleObj>
              </mc:Choice>
              <mc:Fallback>
                <p:oleObj r:id="rId7" imgW="4503600" imgH="775440" progId="Equation.3">
                  <p:embed/>
                  <p:pic>
                    <p:nvPicPr>
                      <p:cNvPr id="187412" name="Object 4">
                        <a:extLst>
                          <a:ext uri="{FF2B5EF4-FFF2-40B4-BE49-F238E27FC236}">
                            <a16:creationId xmlns:a16="http://schemas.microsoft.com/office/drawing/2014/main" id="{BAE4F1CE-DD36-4253-A8ED-4C77501CF4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563" y="4214813"/>
                        <a:ext cx="4595812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13" name="Text Box 21">
            <a:extLst>
              <a:ext uri="{FF2B5EF4-FFF2-40B4-BE49-F238E27FC236}">
                <a16:creationId xmlns:a16="http://schemas.microsoft.com/office/drawing/2014/main" id="{42871256-58D4-48D0-AC2E-74C5F03A1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" y="3714750"/>
            <a:ext cx="4899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磁矩在 </a:t>
            </a:r>
            <a:r>
              <a:rPr lang="en-US" altLang="zh-CN" i="1">
                <a:solidFill>
                  <a:srgbClr val="FFFF00"/>
                </a:solidFill>
              </a:rPr>
              <a:t>z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轴（外磁场方向）投影</a:t>
            </a:r>
          </a:p>
        </p:txBody>
      </p:sp>
      <p:sp>
        <p:nvSpPr>
          <p:cNvPr id="33812" name="Text Box 23">
            <a:extLst>
              <a:ext uri="{FF2B5EF4-FFF2-40B4-BE49-F238E27FC236}">
                <a16:creationId xmlns:a16="http://schemas.microsoft.com/office/drawing/2014/main" id="{0F929B69-5386-4E79-A8C8-CE52E3F44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4225" y="571500"/>
            <a:ext cx="1300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摄谱仪</a:t>
            </a:r>
          </a:p>
        </p:txBody>
      </p:sp>
      <p:grpSp>
        <p:nvGrpSpPr>
          <p:cNvPr id="33813" name="Group 24">
            <a:extLst>
              <a:ext uri="{FF2B5EF4-FFF2-40B4-BE49-F238E27FC236}">
                <a16:creationId xmlns:a16="http://schemas.microsoft.com/office/drawing/2014/main" id="{732E827B-D32D-43B8-A56A-38652F9B72AB}"/>
              </a:ext>
            </a:extLst>
          </p:cNvPr>
          <p:cNvGrpSpPr>
            <a:grpSpLocks/>
          </p:cNvGrpSpPr>
          <p:nvPr/>
        </p:nvGrpSpPr>
        <p:grpSpPr bwMode="auto">
          <a:xfrm>
            <a:off x="4964113" y="1341438"/>
            <a:ext cx="457200" cy="347662"/>
            <a:chOff x="2208" y="1872"/>
            <a:chExt cx="1104" cy="840"/>
          </a:xfrm>
        </p:grpSpPr>
        <p:sp>
          <p:nvSpPr>
            <p:cNvPr id="33814" name="AutoShape 25">
              <a:extLst>
                <a:ext uri="{FF2B5EF4-FFF2-40B4-BE49-F238E27FC236}">
                  <a16:creationId xmlns:a16="http://schemas.microsoft.com/office/drawing/2014/main" id="{0E79FB38-9C01-4237-8D37-6C71D4471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0" y="1872"/>
              <a:ext cx="840" cy="840"/>
            </a:xfrm>
            <a:prstGeom prst="sun">
              <a:avLst>
                <a:gd name="adj" fmla="val 19602"/>
              </a:avLst>
            </a:prstGeom>
            <a:gradFill rotWithShape="0">
              <a:gsLst>
                <a:gs pos="0">
                  <a:srgbClr val="FFCC99"/>
                </a:gs>
                <a:gs pos="100000">
                  <a:srgbClr val="FF9966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rgbClr val="FF99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pic>
          <p:nvPicPr>
            <p:cNvPr id="33815" name="Picture 26" descr="原子">
              <a:extLst>
                <a:ext uri="{FF2B5EF4-FFF2-40B4-BE49-F238E27FC236}">
                  <a16:creationId xmlns:a16="http://schemas.microsoft.com/office/drawing/2014/main" id="{9F37B36C-50AD-474C-8889-F51C693E08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clrChange>
                <a:clrFrom>
                  <a:srgbClr val="00669A"/>
                </a:clrFrom>
                <a:clrTo>
                  <a:srgbClr val="00669A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1900"/>
              <a:ext cx="1104" cy="7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Group 27">
            <a:extLst>
              <a:ext uri="{FF2B5EF4-FFF2-40B4-BE49-F238E27FC236}">
                <a16:creationId xmlns:a16="http://schemas.microsoft.com/office/drawing/2014/main" id="{575A47B9-947E-402A-A0EB-2E7EC36B6BB9}"/>
              </a:ext>
            </a:extLst>
          </p:cNvPr>
          <p:cNvGrpSpPr>
            <a:grpSpLocks/>
          </p:cNvGrpSpPr>
          <p:nvPr/>
        </p:nvGrpSpPr>
        <p:grpSpPr bwMode="auto">
          <a:xfrm>
            <a:off x="7216775" y="1008063"/>
            <a:ext cx="685800" cy="914400"/>
            <a:chOff x="2496" y="575"/>
            <a:chExt cx="432" cy="576"/>
          </a:xfrm>
        </p:grpSpPr>
        <p:sp>
          <p:nvSpPr>
            <p:cNvPr id="33817" name="Line 28">
              <a:extLst>
                <a:ext uri="{FF2B5EF4-FFF2-40B4-BE49-F238E27FC236}">
                  <a16:creationId xmlns:a16="http://schemas.microsoft.com/office/drawing/2014/main" id="{94049224-903F-4C9E-97E5-AA34E412299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712" y="359"/>
              <a:ext cx="0" cy="43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18" name="Line 29">
              <a:extLst>
                <a:ext uri="{FF2B5EF4-FFF2-40B4-BE49-F238E27FC236}">
                  <a16:creationId xmlns:a16="http://schemas.microsoft.com/office/drawing/2014/main" id="{55772890-4AA7-4EB5-861C-92FF8C1FAC3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712" y="935"/>
              <a:ext cx="0" cy="43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87422" name="Object 5">
            <a:extLst>
              <a:ext uri="{FF2B5EF4-FFF2-40B4-BE49-F238E27FC236}">
                <a16:creationId xmlns:a16="http://schemas.microsoft.com/office/drawing/2014/main" id="{301AE4A5-2788-4B4F-928E-D87706CCA7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24650" y="4500563"/>
          <a:ext cx="347663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940" r:id="rId10" imgW="226080" imgH="313560" progId="Equation.3">
                  <p:embed/>
                </p:oleObj>
              </mc:Choice>
              <mc:Fallback>
                <p:oleObj r:id="rId10" imgW="226080" imgH="313560" progId="Equation.3">
                  <p:embed/>
                  <p:pic>
                    <p:nvPicPr>
                      <p:cNvPr id="187422" name="Object 5">
                        <a:extLst>
                          <a:ext uri="{FF2B5EF4-FFF2-40B4-BE49-F238E27FC236}">
                            <a16:creationId xmlns:a16="http://schemas.microsoft.com/office/drawing/2014/main" id="{301AE4A5-2788-4B4F-928E-D87706CCA7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4650" y="4500563"/>
                        <a:ext cx="347663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23" name="Text Box 31">
            <a:extLst>
              <a:ext uri="{FF2B5EF4-FFF2-40B4-BE49-F238E27FC236}">
                <a16:creationId xmlns:a16="http://schemas.microsoft.com/office/drawing/2014/main" id="{D5257A5A-83F2-4C35-94FC-46AD84306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9363" y="4370388"/>
            <a:ext cx="3587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ea typeface="楷体_GB2312" pitchFamily="49" charset="-122"/>
              </a:rPr>
              <a:t>磁矩</a:t>
            </a:r>
          </a:p>
        </p:txBody>
      </p:sp>
      <p:sp>
        <p:nvSpPr>
          <p:cNvPr id="187424" name="Text Box 32">
            <a:extLst>
              <a:ext uri="{FF2B5EF4-FFF2-40B4-BE49-F238E27FC236}">
                <a16:creationId xmlns:a16="http://schemas.microsoft.com/office/drawing/2014/main" id="{A9C487B9-A316-41FB-BA89-668E3F2E9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100" y="2379663"/>
            <a:ext cx="33115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磁矩和角动量的关系</a:t>
            </a:r>
          </a:p>
        </p:txBody>
      </p:sp>
      <p:sp>
        <p:nvSpPr>
          <p:cNvPr id="187425" name="Text Box 33">
            <a:extLst>
              <a:ext uri="{FF2B5EF4-FFF2-40B4-BE49-F238E27FC236}">
                <a16:creationId xmlns:a16="http://schemas.microsoft.com/office/drawing/2014/main" id="{58617CCA-6B61-4332-B0D0-8C01ED65E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" y="2428875"/>
            <a:ext cx="2663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</a:rPr>
              <a:t>解释</a:t>
            </a:r>
          </a:p>
        </p:txBody>
      </p:sp>
      <p:grpSp>
        <p:nvGrpSpPr>
          <p:cNvPr id="8" name="Group 34">
            <a:extLst>
              <a:ext uri="{FF2B5EF4-FFF2-40B4-BE49-F238E27FC236}">
                <a16:creationId xmlns:a16="http://schemas.microsoft.com/office/drawing/2014/main" id="{6B4B3979-66D1-4384-8AF5-C5B98FB6F743}"/>
              </a:ext>
            </a:extLst>
          </p:cNvPr>
          <p:cNvGrpSpPr>
            <a:grpSpLocks/>
          </p:cNvGrpSpPr>
          <p:nvPr/>
        </p:nvGrpSpPr>
        <p:grpSpPr bwMode="auto">
          <a:xfrm>
            <a:off x="4779963" y="549275"/>
            <a:ext cx="863600" cy="646113"/>
            <a:chOff x="2608" y="210"/>
            <a:chExt cx="544" cy="407"/>
          </a:xfrm>
        </p:grpSpPr>
        <p:sp>
          <p:nvSpPr>
            <p:cNvPr id="187427" name="Freeform 35">
              <a:extLst>
                <a:ext uri="{FF2B5EF4-FFF2-40B4-BE49-F238E27FC236}">
                  <a16:creationId xmlns:a16="http://schemas.microsoft.com/office/drawing/2014/main" id="{3FAFC960-4157-442D-A8AF-490A2AD97E67}"/>
                </a:ext>
              </a:extLst>
            </p:cNvPr>
            <p:cNvSpPr/>
            <p:nvPr/>
          </p:nvSpPr>
          <p:spPr bwMode="auto">
            <a:xfrm>
              <a:off x="2608" y="210"/>
              <a:ext cx="544" cy="407"/>
            </a:xfrm>
            <a:custGeom>
              <a:avLst/>
              <a:gdLst/>
              <a:ahLst/>
              <a:cxnLst>
                <a:cxn ang="0">
                  <a:pos x="968" y="1420"/>
                </a:cxn>
                <a:cxn ang="0">
                  <a:pos x="469" y="1420"/>
                </a:cxn>
                <a:cxn ang="0">
                  <a:pos x="15" y="785"/>
                </a:cxn>
                <a:cxn ang="0">
                  <a:pos x="15" y="13"/>
                </a:cxn>
                <a:cxn ang="0">
                  <a:pos x="1467" y="13"/>
                </a:cxn>
                <a:cxn ang="0">
                  <a:pos x="1467" y="785"/>
                </a:cxn>
                <a:cxn ang="0">
                  <a:pos x="968" y="1420"/>
                </a:cxn>
              </a:cxnLst>
              <a:rect l="0" t="0" r="r" b="b"/>
              <a:pathLst>
                <a:path w="1470" h="1446">
                  <a:moveTo>
                    <a:pt x="968" y="1420"/>
                  </a:moveTo>
                  <a:cubicBezTo>
                    <a:pt x="976" y="1434"/>
                    <a:pt x="456" y="1421"/>
                    <a:pt x="469" y="1420"/>
                  </a:cubicBezTo>
                  <a:cubicBezTo>
                    <a:pt x="467" y="1421"/>
                    <a:pt x="0" y="787"/>
                    <a:pt x="15" y="785"/>
                  </a:cubicBezTo>
                  <a:cubicBezTo>
                    <a:pt x="24" y="799"/>
                    <a:pt x="12" y="11"/>
                    <a:pt x="15" y="13"/>
                  </a:cubicBezTo>
                  <a:cubicBezTo>
                    <a:pt x="24" y="0"/>
                    <a:pt x="1470" y="11"/>
                    <a:pt x="1467" y="13"/>
                  </a:cubicBezTo>
                  <a:cubicBezTo>
                    <a:pt x="1458" y="23"/>
                    <a:pt x="1470" y="799"/>
                    <a:pt x="1467" y="785"/>
                  </a:cubicBezTo>
                  <a:cubicBezTo>
                    <a:pt x="1470" y="787"/>
                    <a:pt x="964" y="1446"/>
                    <a:pt x="968" y="142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3825" name="Rectangle 36">
              <a:extLst>
                <a:ext uri="{FF2B5EF4-FFF2-40B4-BE49-F238E27FC236}">
                  <a16:creationId xmlns:a16="http://schemas.microsoft.com/office/drawing/2014/main" id="{DC994B10-22B3-4321-8771-DBC587AC7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2" y="301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bg1"/>
                  </a:solidFill>
                </a:rPr>
                <a:t>N</a:t>
              </a:r>
            </a:p>
          </p:txBody>
        </p:sp>
      </p:grpSp>
      <p:grpSp>
        <p:nvGrpSpPr>
          <p:cNvPr id="9" name="Group 37">
            <a:extLst>
              <a:ext uri="{FF2B5EF4-FFF2-40B4-BE49-F238E27FC236}">
                <a16:creationId xmlns:a16="http://schemas.microsoft.com/office/drawing/2014/main" id="{BC94E8DD-5E05-49E1-A9F5-47AAB4A98A93}"/>
              </a:ext>
            </a:extLst>
          </p:cNvPr>
          <p:cNvGrpSpPr>
            <a:grpSpLocks/>
          </p:cNvGrpSpPr>
          <p:nvPr/>
        </p:nvGrpSpPr>
        <p:grpSpPr bwMode="auto">
          <a:xfrm>
            <a:off x="4779963" y="1771650"/>
            <a:ext cx="863600" cy="649288"/>
            <a:chOff x="2608" y="980"/>
            <a:chExt cx="544" cy="409"/>
          </a:xfrm>
        </p:grpSpPr>
        <p:sp>
          <p:nvSpPr>
            <p:cNvPr id="187430" name="Freeform 38">
              <a:extLst>
                <a:ext uri="{FF2B5EF4-FFF2-40B4-BE49-F238E27FC236}">
                  <a16:creationId xmlns:a16="http://schemas.microsoft.com/office/drawing/2014/main" id="{7DDE12AF-153E-400B-9CD7-5FF847EB95BA}"/>
                </a:ext>
              </a:extLst>
            </p:cNvPr>
            <p:cNvSpPr/>
            <p:nvPr/>
          </p:nvSpPr>
          <p:spPr bwMode="auto">
            <a:xfrm rot="-10800000">
              <a:off x="2608" y="980"/>
              <a:ext cx="544" cy="407"/>
            </a:xfrm>
            <a:custGeom>
              <a:avLst/>
              <a:gdLst/>
              <a:ahLst/>
              <a:cxnLst>
                <a:cxn ang="0">
                  <a:pos x="968" y="1420"/>
                </a:cxn>
                <a:cxn ang="0">
                  <a:pos x="469" y="1420"/>
                </a:cxn>
                <a:cxn ang="0">
                  <a:pos x="15" y="785"/>
                </a:cxn>
                <a:cxn ang="0">
                  <a:pos x="15" y="13"/>
                </a:cxn>
                <a:cxn ang="0">
                  <a:pos x="1467" y="13"/>
                </a:cxn>
                <a:cxn ang="0">
                  <a:pos x="1467" y="785"/>
                </a:cxn>
                <a:cxn ang="0">
                  <a:pos x="968" y="1420"/>
                </a:cxn>
              </a:cxnLst>
              <a:rect l="0" t="0" r="r" b="b"/>
              <a:pathLst>
                <a:path w="1470" h="1446">
                  <a:moveTo>
                    <a:pt x="968" y="1420"/>
                  </a:moveTo>
                  <a:cubicBezTo>
                    <a:pt x="976" y="1434"/>
                    <a:pt x="456" y="1421"/>
                    <a:pt x="469" y="1420"/>
                  </a:cubicBezTo>
                  <a:cubicBezTo>
                    <a:pt x="467" y="1421"/>
                    <a:pt x="0" y="787"/>
                    <a:pt x="15" y="785"/>
                  </a:cubicBezTo>
                  <a:cubicBezTo>
                    <a:pt x="24" y="799"/>
                    <a:pt x="12" y="11"/>
                    <a:pt x="15" y="13"/>
                  </a:cubicBezTo>
                  <a:cubicBezTo>
                    <a:pt x="24" y="0"/>
                    <a:pt x="1470" y="11"/>
                    <a:pt x="1467" y="13"/>
                  </a:cubicBezTo>
                  <a:cubicBezTo>
                    <a:pt x="1458" y="23"/>
                    <a:pt x="1470" y="799"/>
                    <a:pt x="1467" y="785"/>
                  </a:cubicBezTo>
                  <a:cubicBezTo>
                    <a:pt x="1470" y="787"/>
                    <a:pt x="964" y="1446"/>
                    <a:pt x="968" y="142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3828" name="Line 39">
              <a:extLst>
                <a:ext uri="{FF2B5EF4-FFF2-40B4-BE49-F238E27FC236}">
                  <a16:creationId xmlns:a16="http://schemas.microsoft.com/office/drawing/2014/main" id="{D7FD6908-3426-4B50-A69D-BA3A8D288C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981"/>
              <a:ext cx="0" cy="408"/>
            </a:xfrm>
            <a:prstGeom prst="line">
              <a:avLst/>
            </a:prstGeom>
            <a:noFill/>
            <a:ln w="76200">
              <a:solidFill>
                <a:srgbClr val="0066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9" name="Text Box 40">
              <a:extLst>
                <a:ext uri="{FF2B5EF4-FFF2-40B4-BE49-F238E27FC236}">
                  <a16:creationId xmlns:a16="http://schemas.microsoft.com/office/drawing/2014/main" id="{8B59C5A2-2AB8-4065-9A07-42701F578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02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bg1"/>
                  </a:solidFill>
                </a:rPr>
                <a:t>S</a:t>
              </a:r>
            </a:p>
          </p:txBody>
        </p:sp>
      </p:grpSp>
      <p:grpSp>
        <p:nvGrpSpPr>
          <p:cNvPr id="33830" name="Group 41">
            <a:extLst>
              <a:ext uri="{FF2B5EF4-FFF2-40B4-BE49-F238E27FC236}">
                <a16:creationId xmlns:a16="http://schemas.microsoft.com/office/drawing/2014/main" id="{9812DC0B-44F0-4884-9A82-7F769F786CE9}"/>
              </a:ext>
            </a:extLst>
          </p:cNvPr>
          <p:cNvGrpSpPr>
            <a:grpSpLocks/>
          </p:cNvGrpSpPr>
          <p:nvPr/>
        </p:nvGrpSpPr>
        <p:grpSpPr bwMode="auto">
          <a:xfrm>
            <a:off x="5861050" y="1076325"/>
            <a:ext cx="1008063" cy="792163"/>
            <a:chOff x="3606" y="618"/>
            <a:chExt cx="635" cy="499"/>
          </a:xfrm>
        </p:grpSpPr>
        <p:sp>
          <p:nvSpPr>
            <p:cNvPr id="33831" name="Line 42">
              <a:extLst>
                <a:ext uri="{FF2B5EF4-FFF2-40B4-BE49-F238E27FC236}">
                  <a16:creationId xmlns:a16="http://schemas.microsoft.com/office/drawing/2014/main" id="{8250AF9A-DB7A-487D-B44A-EBEBAEC87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1117"/>
              <a:ext cx="635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2" name="Line 43">
              <a:extLst>
                <a:ext uri="{FF2B5EF4-FFF2-40B4-BE49-F238E27FC236}">
                  <a16:creationId xmlns:a16="http://schemas.microsoft.com/office/drawing/2014/main" id="{102AA16D-0F46-4153-B865-36B3B38593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618"/>
              <a:ext cx="635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3" name="Line 44">
              <a:extLst>
                <a:ext uri="{FF2B5EF4-FFF2-40B4-BE49-F238E27FC236}">
                  <a16:creationId xmlns:a16="http://schemas.microsoft.com/office/drawing/2014/main" id="{3CC6A26D-A2E0-4A86-A9AA-D48B1C299B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935"/>
              <a:ext cx="0" cy="182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4" name="Line 45">
              <a:extLst>
                <a:ext uri="{FF2B5EF4-FFF2-40B4-BE49-F238E27FC236}">
                  <a16:creationId xmlns:a16="http://schemas.microsoft.com/office/drawing/2014/main" id="{BD5CAEB7-7A2A-4423-A0DA-8F5A716C42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618"/>
              <a:ext cx="0" cy="182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835" name="Rectangle 46">
            <a:extLst>
              <a:ext uri="{FF2B5EF4-FFF2-40B4-BE49-F238E27FC236}">
                <a16:creationId xmlns:a16="http://schemas.microsoft.com/office/drawing/2014/main" id="{6E120D1C-37CA-49EE-8315-2945093D4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550" y="450850"/>
            <a:ext cx="416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00FFFF"/>
                </a:solidFill>
              </a:rPr>
              <a:t>4.  </a:t>
            </a:r>
            <a:r>
              <a:rPr lang="zh-CN" altLang="en-US">
                <a:solidFill>
                  <a:srgbClr val="00FFFF"/>
                </a:solidFill>
              </a:rPr>
              <a:t>塞曼效应  </a:t>
            </a:r>
            <a:r>
              <a:rPr lang="en-US" altLang="zh-CN">
                <a:solidFill>
                  <a:schemeClr val="bg1"/>
                </a:solidFill>
              </a:rPr>
              <a:t>( 1896</a:t>
            </a:r>
            <a:r>
              <a:rPr lang="zh-CN" altLang="en-US">
                <a:solidFill>
                  <a:schemeClr val="bg1"/>
                </a:solidFill>
              </a:rPr>
              <a:t>，荷兰 </a:t>
            </a:r>
            <a:r>
              <a:rPr lang="en-US" altLang="zh-CN">
                <a:solidFill>
                  <a:schemeClr val="bg1"/>
                </a:solidFill>
              </a:rPr>
              <a:t>)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836" name="Text Box 47">
            <a:extLst>
              <a:ext uri="{FF2B5EF4-FFF2-40B4-BE49-F238E27FC236}">
                <a16:creationId xmlns:a16="http://schemas.microsoft.com/office/drawing/2014/main" id="{5CF11A3A-EB07-4D9E-8B89-4AA1693F2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3" y="5800725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zh-CN" altLang="zh-CN" sz="2800">
              <a:solidFill>
                <a:schemeClr val="bg1"/>
              </a:solidFill>
            </a:endParaRPr>
          </a:p>
        </p:txBody>
      </p:sp>
      <p:sp>
        <p:nvSpPr>
          <p:cNvPr id="187441" name="Line 49">
            <a:extLst>
              <a:ext uri="{FF2B5EF4-FFF2-40B4-BE49-F238E27FC236}">
                <a16:creationId xmlns:a16="http://schemas.microsoft.com/office/drawing/2014/main" id="{A78AA7E8-16A9-491C-BE02-25C5259919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66025" y="2643188"/>
            <a:ext cx="0" cy="7207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7442" name="Text Box 50">
            <a:extLst>
              <a:ext uri="{FF2B5EF4-FFF2-40B4-BE49-F238E27FC236}">
                <a16:creationId xmlns:a16="http://schemas.microsoft.com/office/drawing/2014/main" id="{FD20C82C-5D8E-4D9E-8712-225860E7E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2175" y="2543175"/>
            <a:ext cx="303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rgbClr val="FF0000"/>
                </a:solidFill>
              </a:rPr>
              <a:t>z</a:t>
            </a:r>
          </a:p>
        </p:txBody>
      </p:sp>
      <p:graphicFrame>
        <p:nvGraphicFramePr>
          <p:cNvPr id="51" name="Object 51">
            <a:extLst>
              <a:ext uri="{FF2B5EF4-FFF2-40B4-BE49-F238E27FC236}">
                <a16:creationId xmlns:a16="http://schemas.microsoft.com/office/drawing/2014/main" id="{30562505-D1A7-46DF-A8EF-CA1F0443E8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100" y="5900738"/>
          <a:ext cx="28797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941" r:id="rId12" imgW="2486160" imgH="379440" progId="Equation.3">
                  <p:embed/>
                </p:oleObj>
              </mc:Choice>
              <mc:Fallback>
                <p:oleObj r:id="rId12" imgW="2486160" imgH="379440" progId="Equation.3">
                  <p:embed/>
                  <p:pic>
                    <p:nvPicPr>
                      <p:cNvPr id="51" name="Object 51">
                        <a:extLst>
                          <a:ext uri="{FF2B5EF4-FFF2-40B4-BE49-F238E27FC236}">
                            <a16:creationId xmlns:a16="http://schemas.microsoft.com/office/drawing/2014/main" id="{30562505-D1A7-46DF-A8EF-CA1F0443E8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00" y="5900738"/>
                        <a:ext cx="28797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Rectangle 3">
            <a:extLst>
              <a:ext uri="{FF2B5EF4-FFF2-40B4-BE49-F238E27FC236}">
                <a16:creationId xmlns:a16="http://schemas.microsoft.com/office/drawing/2014/main" id="{B28EA309-A61F-4B9D-84E2-4D1986921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5214938"/>
            <a:ext cx="4602163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由于磁场作用</a:t>
            </a:r>
            <a:r>
              <a:rPr lang="en-US" altLang="zh-CN">
                <a:solidFill>
                  <a:schemeClr val="bg1"/>
                </a:solidFill>
              </a:rPr>
              <a:t>,  </a:t>
            </a:r>
            <a:r>
              <a:rPr lang="zh-CN" altLang="en-US">
                <a:solidFill>
                  <a:schemeClr val="bg1"/>
                </a:solidFill>
              </a:rPr>
              <a:t>原子附加能量 </a:t>
            </a:r>
          </a:p>
        </p:txBody>
      </p:sp>
      <p:graphicFrame>
        <p:nvGraphicFramePr>
          <p:cNvPr id="53" name="Object 52">
            <a:extLst>
              <a:ext uri="{FF2B5EF4-FFF2-40B4-BE49-F238E27FC236}">
                <a16:creationId xmlns:a16="http://schemas.microsoft.com/office/drawing/2014/main" id="{AF80FD3A-057D-4A91-8778-D019C54C67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21088" y="5900738"/>
          <a:ext cx="13573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942" r:id="rId14" imgW="1163160" imgH="357480" progId="Equation.3">
                  <p:embed/>
                </p:oleObj>
              </mc:Choice>
              <mc:Fallback>
                <p:oleObj r:id="rId14" imgW="1163160" imgH="357480" progId="Equation.3">
                  <p:embed/>
                  <p:pic>
                    <p:nvPicPr>
                      <p:cNvPr id="53" name="Object 52">
                        <a:extLst>
                          <a:ext uri="{FF2B5EF4-FFF2-40B4-BE49-F238E27FC236}">
                            <a16:creationId xmlns:a16="http://schemas.microsoft.com/office/drawing/2014/main" id="{AF80FD3A-057D-4A91-8778-D019C54C67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1088" y="5900738"/>
                        <a:ext cx="13573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56">
            <a:extLst>
              <a:ext uri="{FF2B5EF4-FFF2-40B4-BE49-F238E27FC236}">
                <a16:creationId xmlns:a16="http://schemas.microsoft.com/office/drawing/2014/main" id="{437B92AC-1AB7-455F-BE9D-982467E9DD0D}"/>
              </a:ext>
            </a:extLst>
          </p:cNvPr>
          <p:cNvGrpSpPr>
            <a:grpSpLocks/>
          </p:cNvGrpSpPr>
          <p:nvPr/>
        </p:nvGrpSpPr>
        <p:grpSpPr bwMode="auto">
          <a:xfrm>
            <a:off x="5214938" y="4829175"/>
            <a:ext cx="1857375" cy="814388"/>
            <a:chOff x="5072066" y="5214950"/>
            <a:chExt cx="1857388" cy="814390"/>
          </a:xfrm>
        </p:grpSpPr>
        <p:sp>
          <p:nvSpPr>
            <p:cNvPr id="33843" name="Rectangle 22">
              <a:extLst>
                <a:ext uri="{FF2B5EF4-FFF2-40B4-BE49-F238E27FC236}">
                  <a16:creationId xmlns:a16="http://schemas.microsoft.com/office/drawing/2014/main" id="{268D27DD-08DD-4141-B475-E6B3C1F8A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7818" y="5572140"/>
              <a:ext cx="1571636" cy="457200"/>
            </a:xfrm>
            <a:prstGeom prst="rect">
              <a:avLst/>
            </a:prstGeom>
            <a:noFill/>
            <a:ln w="19050">
              <a:solidFill>
                <a:srgbClr val="FF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ea typeface="楷体_GB2312" pitchFamily="49" charset="-122"/>
                </a:rPr>
                <a:t>玻尔磁子</a:t>
              </a:r>
            </a:p>
          </p:txBody>
        </p:sp>
        <p:cxnSp>
          <p:nvCxnSpPr>
            <p:cNvPr id="33844" name="直接连接符 54">
              <a:extLst>
                <a:ext uri="{FF2B5EF4-FFF2-40B4-BE49-F238E27FC236}">
                  <a16:creationId xmlns:a16="http://schemas.microsoft.com/office/drawing/2014/main" id="{5FD64E4A-0E2E-4880-9BA9-22C25B1394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5036347" y="5250669"/>
              <a:ext cx="357190" cy="285752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4">
            <a:extLst>
              <a:ext uri="{FF2B5EF4-FFF2-40B4-BE49-F238E27FC236}">
                <a16:creationId xmlns:a16="http://schemas.microsoft.com/office/drawing/2014/main" id="{2F05AD1E-A4CC-44F6-B9DC-9B95C65B6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5857875"/>
            <a:ext cx="3681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i="1">
                <a:solidFill>
                  <a:srgbClr val="FFC000"/>
                </a:solidFill>
              </a:rPr>
              <a:t>m</a:t>
            </a:r>
            <a:r>
              <a:rPr lang="en-US" altLang="zh-CN" i="1" baseline="-20000">
                <a:solidFill>
                  <a:srgbClr val="FFC000"/>
                </a:solidFill>
              </a:rPr>
              <a:t>l  </a:t>
            </a:r>
            <a:r>
              <a:rPr lang="en-US" altLang="zh-CN">
                <a:solidFill>
                  <a:srgbClr val="FFC000"/>
                </a:solidFill>
              </a:rPr>
              <a:t>= 0, </a:t>
            </a:r>
            <a:r>
              <a:rPr lang="en-US" altLang="zh-CN" sz="2000">
                <a:solidFill>
                  <a:srgbClr val="FFC000"/>
                </a:solidFill>
              </a:rPr>
              <a:t>±</a:t>
            </a:r>
            <a:r>
              <a:rPr lang="en-US" altLang="zh-CN">
                <a:solidFill>
                  <a:srgbClr val="FFC000"/>
                </a:solidFill>
              </a:rPr>
              <a:t>1, </a:t>
            </a:r>
            <a:r>
              <a:rPr lang="en-US" altLang="zh-CN" sz="2000">
                <a:solidFill>
                  <a:srgbClr val="FFC000"/>
                </a:solidFill>
              </a:rPr>
              <a:t>±</a:t>
            </a:r>
            <a:r>
              <a:rPr lang="en-US" altLang="zh-CN">
                <a:solidFill>
                  <a:srgbClr val="FFC000"/>
                </a:solidFill>
              </a:rPr>
              <a:t> 2, …, </a:t>
            </a:r>
            <a:r>
              <a:rPr lang="en-US" altLang="zh-CN" sz="2000">
                <a:solidFill>
                  <a:srgbClr val="FFC000"/>
                </a:solidFill>
              </a:rPr>
              <a:t>±</a:t>
            </a:r>
            <a:r>
              <a:rPr lang="en-US" altLang="zh-CN">
                <a:solidFill>
                  <a:srgbClr val="FFC000"/>
                </a:solidFill>
              </a:rPr>
              <a:t> </a:t>
            </a:r>
            <a:r>
              <a:rPr lang="en-US" altLang="zh-CN" i="1">
                <a:solidFill>
                  <a:srgbClr val="FFC000"/>
                </a:solidFill>
              </a:rPr>
              <a:t>l</a:t>
            </a:r>
          </a:p>
        </p:txBody>
      </p:sp>
      <p:graphicFrame>
        <p:nvGraphicFramePr>
          <p:cNvPr id="86044" name="Object 7">
            <a:extLst>
              <a:ext uri="{FF2B5EF4-FFF2-40B4-BE49-F238E27FC236}">
                <a16:creationId xmlns:a16="http://schemas.microsoft.com/office/drawing/2014/main" id="{788977C8-E7F8-46F2-BB90-FF896BF17C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4125" y="3101975"/>
          <a:ext cx="925513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943" r:id="rId16" imgW="380520" imgH="159480" progId="Equation.3">
                  <p:embed/>
                </p:oleObj>
              </mc:Choice>
              <mc:Fallback>
                <p:oleObj r:id="rId16" imgW="380520" imgH="159480" progId="Equation.3">
                  <p:embed/>
                  <p:pic>
                    <p:nvPicPr>
                      <p:cNvPr id="86044" name="Object 7">
                        <a:extLst>
                          <a:ext uri="{FF2B5EF4-FFF2-40B4-BE49-F238E27FC236}">
                            <a16:creationId xmlns:a16="http://schemas.microsoft.com/office/drawing/2014/main" id="{788977C8-E7F8-46F2-BB90-FF896BF17C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25" y="3101975"/>
                        <a:ext cx="925513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73" name="Object 13">
            <a:extLst>
              <a:ext uri="{FF2B5EF4-FFF2-40B4-BE49-F238E27FC236}">
                <a16:creationId xmlns:a16="http://schemas.microsoft.com/office/drawing/2014/main" id="{ACF50F46-4A7C-4C34-9819-D9D9CAF388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6188" y="2857500"/>
          <a:ext cx="1336675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944" r:id="rId18" imgW="556920" imgH="357480" progId="Equation.3">
                  <p:embed/>
                </p:oleObj>
              </mc:Choice>
              <mc:Fallback>
                <p:oleObj r:id="rId18" imgW="556920" imgH="357480" progId="Equation.3">
                  <p:embed/>
                  <p:pic>
                    <p:nvPicPr>
                      <p:cNvPr id="86073" name="Object 13">
                        <a:extLst>
                          <a:ext uri="{FF2B5EF4-FFF2-40B4-BE49-F238E27FC236}">
                            <a16:creationId xmlns:a16="http://schemas.microsoft.com/office/drawing/2014/main" id="{ACF50F46-4A7C-4C34-9819-D9D9CAF388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2857500"/>
                        <a:ext cx="1336675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75" name="Object 14">
            <a:extLst>
              <a:ext uri="{FF2B5EF4-FFF2-40B4-BE49-F238E27FC236}">
                <a16:creationId xmlns:a16="http://schemas.microsoft.com/office/drawing/2014/main" id="{73D4AC87-9BD2-4A0C-8C25-C3A58DE56B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4563" y="2886075"/>
          <a:ext cx="14636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945" r:id="rId20" imgW="612000" imgH="324360" progId="Equation.3">
                  <p:embed/>
                </p:oleObj>
              </mc:Choice>
              <mc:Fallback>
                <p:oleObj r:id="rId20" imgW="612000" imgH="324360" progId="Equation.3">
                  <p:embed/>
                  <p:pic>
                    <p:nvPicPr>
                      <p:cNvPr id="86075" name="Object 14">
                        <a:extLst>
                          <a:ext uri="{FF2B5EF4-FFF2-40B4-BE49-F238E27FC236}">
                            <a16:creationId xmlns:a16="http://schemas.microsoft.com/office/drawing/2014/main" id="{73D4AC87-9BD2-4A0C-8C25-C3A58DE56B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2886075"/>
                        <a:ext cx="1463675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">
            <a:extLst>
              <a:ext uri="{FF2B5EF4-FFF2-40B4-BE49-F238E27FC236}">
                <a16:creationId xmlns:a16="http://schemas.microsoft.com/office/drawing/2014/main" id="{68E12B30-E69E-4222-B952-22127EE178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72313" y="4786313"/>
          <a:ext cx="3429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8946" r:id="rId22" imgW="93600" imgH="137520" progId="Equation.3">
                  <p:embed/>
                </p:oleObj>
              </mc:Choice>
              <mc:Fallback>
                <p:oleObj r:id="rId22" imgW="93600" imgH="137520" progId="Equation.3">
                  <p:embed/>
                  <p:pic>
                    <p:nvPicPr>
                      <p:cNvPr id="5" name="Object 10">
                        <a:extLst>
                          <a:ext uri="{FF2B5EF4-FFF2-40B4-BE49-F238E27FC236}">
                            <a16:creationId xmlns:a16="http://schemas.microsoft.com/office/drawing/2014/main" id="{68E12B30-E69E-4222-B952-22127EE178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313" y="4786313"/>
                        <a:ext cx="3429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50" name="灯片编号占位符 1">
            <a:extLst>
              <a:ext uri="{FF2B5EF4-FFF2-40B4-BE49-F238E27FC236}">
                <a16:creationId xmlns:a16="http://schemas.microsoft.com/office/drawing/2014/main" id="{E32558BA-9864-48E1-84F7-2DA791599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F8BF186-7F3A-46E9-BFB2-87E1D857E806}" type="slidenum">
              <a:rPr lang="en-US" altLang="zh-CN" b="0">
                <a:solidFill>
                  <a:srgbClr val="FF00FF"/>
                </a:solidFill>
              </a:rPr>
              <a:pPr/>
              <a:t>33</a:t>
            </a:fld>
            <a:r>
              <a:rPr lang="en-US" altLang="zh-CN" b="0">
                <a:solidFill>
                  <a:srgbClr val="FF00FF"/>
                </a:solidFill>
              </a:rPr>
              <a:t>/22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87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87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87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87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87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8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8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8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87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8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8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8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401" grpId="0"/>
      <p:bldP spid="187402" grpId="0"/>
      <p:bldP spid="187403" grpId="0"/>
      <p:bldP spid="187404" grpId="0"/>
      <p:bldP spid="187413" grpId="0"/>
      <p:bldP spid="187423" grpId="0"/>
      <p:bldP spid="187424" grpId="0"/>
      <p:bldP spid="187425" grpId="0"/>
      <p:bldP spid="187442" grpId="0"/>
      <p:bldP spid="52" grpId="0"/>
      <p:bldP spid="6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6" name="Text Box 6">
            <a:extLst>
              <a:ext uri="{FF2B5EF4-FFF2-40B4-BE49-F238E27FC236}">
                <a16:creationId xmlns:a16="http://schemas.microsoft.com/office/drawing/2014/main" id="{BD8EFD07-35CC-4AA3-97A8-475DD9A9E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3300" y="3419475"/>
            <a:ext cx="2663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← 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能 级 简 并 </a:t>
            </a:r>
          </a:p>
        </p:txBody>
      </p:sp>
      <p:sp>
        <p:nvSpPr>
          <p:cNvPr id="189447" name="Line 7">
            <a:extLst>
              <a:ext uri="{FF2B5EF4-FFF2-40B4-BE49-F238E27FC236}">
                <a16:creationId xmlns:a16="http://schemas.microsoft.com/office/drawing/2014/main" id="{AFB6EA95-1CBB-4E65-91DF-9B3724C01D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8863" y="3668713"/>
            <a:ext cx="1308100" cy="0"/>
          </a:xfrm>
          <a:prstGeom prst="line">
            <a:avLst/>
          </a:prstGeom>
          <a:noFill/>
          <a:ln w="38100">
            <a:solidFill>
              <a:srgbClr val="FFCC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9448" name="Line 8">
            <a:extLst>
              <a:ext uri="{FF2B5EF4-FFF2-40B4-BE49-F238E27FC236}">
                <a16:creationId xmlns:a16="http://schemas.microsoft.com/office/drawing/2014/main" id="{70171F1B-A7C4-45BD-8FC8-D5018AFDEF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28863" y="5268913"/>
            <a:ext cx="1379537" cy="0"/>
          </a:xfrm>
          <a:prstGeom prst="line">
            <a:avLst/>
          </a:prstGeom>
          <a:noFill/>
          <a:ln w="38100">
            <a:solidFill>
              <a:srgbClr val="FFCC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7250256A-CB52-4523-A472-B4E6737B6516}"/>
              </a:ext>
            </a:extLst>
          </p:cNvPr>
          <p:cNvGrpSpPr>
            <a:grpSpLocks/>
          </p:cNvGrpSpPr>
          <p:nvPr/>
        </p:nvGrpSpPr>
        <p:grpSpPr bwMode="auto">
          <a:xfrm>
            <a:off x="4284663" y="3363913"/>
            <a:ext cx="1579562" cy="609600"/>
            <a:chOff x="1488" y="2064"/>
            <a:chExt cx="768" cy="384"/>
          </a:xfrm>
        </p:grpSpPr>
        <p:sp>
          <p:nvSpPr>
            <p:cNvPr id="35845" name="Line 10">
              <a:extLst>
                <a:ext uri="{FF2B5EF4-FFF2-40B4-BE49-F238E27FC236}">
                  <a16:creationId xmlns:a16="http://schemas.microsoft.com/office/drawing/2014/main" id="{98030C94-3F5A-44D5-9570-F7866FEF5E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064"/>
              <a:ext cx="768" cy="0"/>
            </a:xfrm>
            <a:prstGeom prst="line">
              <a:avLst/>
            </a:prstGeom>
            <a:noFill/>
            <a:ln w="38100">
              <a:solidFill>
                <a:srgbClr val="FFCC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6" name="Line 11">
              <a:extLst>
                <a:ext uri="{FF2B5EF4-FFF2-40B4-BE49-F238E27FC236}">
                  <a16:creationId xmlns:a16="http://schemas.microsoft.com/office/drawing/2014/main" id="{962254FE-6D5C-45C7-BC48-80ED8B28B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256"/>
              <a:ext cx="768" cy="0"/>
            </a:xfrm>
            <a:prstGeom prst="line">
              <a:avLst/>
            </a:prstGeom>
            <a:noFill/>
            <a:ln w="38100">
              <a:solidFill>
                <a:srgbClr val="FFCC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47" name="Line 12">
              <a:extLst>
                <a:ext uri="{FF2B5EF4-FFF2-40B4-BE49-F238E27FC236}">
                  <a16:creationId xmlns:a16="http://schemas.microsoft.com/office/drawing/2014/main" id="{F7724883-EBA8-41F6-A952-0CD28F58AC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448"/>
              <a:ext cx="768" cy="0"/>
            </a:xfrm>
            <a:prstGeom prst="line">
              <a:avLst/>
            </a:prstGeom>
            <a:noFill/>
            <a:ln w="38100">
              <a:solidFill>
                <a:srgbClr val="FFCC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9453" name="Line 13">
            <a:extLst>
              <a:ext uri="{FF2B5EF4-FFF2-40B4-BE49-F238E27FC236}">
                <a16:creationId xmlns:a16="http://schemas.microsoft.com/office/drawing/2014/main" id="{65DE342F-6E92-4A2D-99DB-52CE846FAA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3225" y="5268913"/>
            <a:ext cx="1651000" cy="0"/>
          </a:xfrm>
          <a:prstGeom prst="line">
            <a:avLst/>
          </a:prstGeom>
          <a:noFill/>
          <a:ln w="38100">
            <a:solidFill>
              <a:srgbClr val="FFCC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9454" name="Line 14">
            <a:extLst>
              <a:ext uri="{FF2B5EF4-FFF2-40B4-BE49-F238E27FC236}">
                <a16:creationId xmlns:a16="http://schemas.microsoft.com/office/drawing/2014/main" id="{C96EAE0D-16F2-4F4A-93A0-85CE9EF4CA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4975" y="3668713"/>
            <a:ext cx="0" cy="16002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24578263-BCC1-4CD4-A6EA-23441C31AE49}"/>
              </a:ext>
            </a:extLst>
          </p:cNvPr>
          <p:cNvGrpSpPr>
            <a:grpSpLocks/>
          </p:cNvGrpSpPr>
          <p:nvPr/>
        </p:nvGrpSpPr>
        <p:grpSpPr bwMode="auto">
          <a:xfrm>
            <a:off x="3679825" y="3363913"/>
            <a:ext cx="533400" cy="609600"/>
            <a:chOff x="1152" y="2064"/>
            <a:chExt cx="336" cy="384"/>
          </a:xfrm>
        </p:grpSpPr>
        <p:sp>
          <p:nvSpPr>
            <p:cNvPr id="35851" name="Line 16">
              <a:extLst>
                <a:ext uri="{FF2B5EF4-FFF2-40B4-BE49-F238E27FC236}">
                  <a16:creationId xmlns:a16="http://schemas.microsoft.com/office/drawing/2014/main" id="{E8ABA56C-75F1-4F03-823E-DD38CE0F53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2064"/>
              <a:ext cx="336" cy="192"/>
            </a:xfrm>
            <a:prstGeom prst="line">
              <a:avLst/>
            </a:prstGeom>
            <a:noFill/>
            <a:ln w="9525" cap="rnd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2" name="Line 17">
              <a:extLst>
                <a:ext uri="{FF2B5EF4-FFF2-40B4-BE49-F238E27FC236}">
                  <a16:creationId xmlns:a16="http://schemas.microsoft.com/office/drawing/2014/main" id="{282AA622-90FA-49B9-B6BD-5835788ED9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256"/>
              <a:ext cx="336" cy="192"/>
            </a:xfrm>
            <a:prstGeom prst="line">
              <a:avLst/>
            </a:prstGeom>
            <a:noFill/>
            <a:ln w="9525" cap="rnd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3" name="Line 18">
              <a:extLst>
                <a:ext uri="{FF2B5EF4-FFF2-40B4-BE49-F238E27FC236}">
                  <a16:creationId xmlns:a16="http://schemas.microsoft.com/office/drawing/2014/main" id="{4DE1B150-6770-48FD-8C59-A65393A95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256"/>
              <a:ext cx="240" cy="0"/>
            </a:xfrm>
            <a:prstGeom prst="line">
              <a:avLst/>
            </a:prstGeom>
            <a:noFill/>
            <a:ln w="9525" cap="rnd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9459" name="Text Box 19">
            <a:extLst>
              <a:ext uri="{FF2B5EF4-FFF2-40B4-BE49-F238E27FC236}">
                <a16:creationId xmlns:a16="http://schemas.microsoft.com/office/drawing/2014/main" id="{539CAEE9-A298-48AA-B3F4-D8947A112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440113"/>
            <a:ext cx="74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bg1"/>
                </a:solidFill>
              </a:rPr>
              <a:t>l = </a:t>
            </a:r>
            <a:r>
              <a:rPr lang="en-US" altLang="zh-CN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89460" name="Text Box 20">
            <a:extLst>
              <a:ext uri="{FF2B5EF4-FFF2-40B4-BE49-F238E27FC236}">
                <a16:creationId xmlns:a16="http://schemas.microsoft.com/office/drawing/2014/main" id="{2FD01503-7D0A-469C-8F5F-4FC753EA8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5040313"/>
            <a:ext cx="74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bg1"/>
                </a:solidFill>
              </a:rPr>
              <a:t>l = </a:t>
            </a:r>
            <a:r>
              <a:rPr lang="en-US" altLang="zh-CN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89461" name="Rectangle 21">
            <a:extLst>
              <a:ext uri="{FF2B5EF4-FFF2-40B4-BE49-F238E27FC236}">
                <a16:creationId xmlns:a16="http://schemas.microsoft.com/office/drawing/2014/main" id="{7805AC52-38D2-4018-A3FA-500BA1324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4413" y="2714625"/>
            <a:ext cx="477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bg1"/>
                </a:solidFill>
              </a:rPr>
              <a:t>m</a:t>
            </a:r>
            <a:r>
              <a:rPr lang="en-US" altLang="zh-CN" i="1" baseline="-2000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89462" name="Text Box 22">
            <a:extLst>
              <a:ext uri="{FF2B5EF4-FFF2-40B4-BE49-F238E27FC236}">
                <a16:creationId xmlns:a16="http://schemas.microsoft.com/office/drawing/2014/main" id="{191EE007-0374-43E3-A65E-EFCB4C081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0138" y="3135313"/>
            <a:ext cx="374650" cy="103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1800">
                <a:solidFill>
                  <a:schemeClr val="bg1"/>
                </a:solidFill>
              </a:rPr>
              <a:t>1</a:t>
            </a:r>
          </a:p>
          <a:p>
            <a:pPr>
              <a:lnSpc>
                <a:spcPct val="115000"/>
              </a:lnSpc>
            </a:pPr>
            <a:r>
              <a:rPr lang="en-US" altLang="zh-CN" sz="1800">
                <a:solidFill>
                  <a:schemeClr val="bg1"/>
                </a:solidFill>
              </a:rPr>
              <a:t>0</a:t>
            </a:r>
          </a:p>
          <a:p>
            <a:pPr>
              <a:lnSpc>
                <a:spcPct val="115000"/>
              </a:lnSpc>
            </a:pPr>
            <a:r>
              <a:rPr lang="en-US" altLang="zh-CN" sz="1800">
                <a:solidFill>
                  <a:schemeClr val="bg1"/>
                </a:solidFill>
              </a:rPr>
              <a:t>-1</a:t>
            </a:r>
          </a:p>
        </p:txBody>
      </p:sp>
      <p:sp>
        <p:nvSpPr>
          <p:cNvPr id="189463" name="Rectangle 23">
            <a:extLst>
              <a:ext uri="{FF2B5EF4-FFF2-40B4-BE49-F238E27FC236}">
                <a16:creationId xmlns:a16="http://schemas.microsoft.com/office/drawing/2014/main" id="{6201FFAE-652B-45CA-88DB-1C46560C6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6563" y="2757488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00FFFF"/>
                </a:solidFill>
              </a:rPr>
              <a:t>△</a:t>
            </a:r>
            <a:r>
              <a:rPr lang="en-US" altLang="zh-CN" i="1">
                <a:solidFill>
                  <a:srgbClr val="00FFFF"/>
                </a:solidFill>
              </a:rPr>
              <a:t>E</a:t>
            </a:r>
          </a:p>
        </p:txBody>
      </p:sp>
      <p:graphicFrame>
        <p:nvGraphicFramePr>
          <p:cNvPr id="189464" name="Object 4">
            <a:extLst>
              <a:ext uri="{FF2B5EF4-FFF2-40B4-BE49-F238E27FC236}">
                <a16:creationId xmlns:a16="http://schemas.microsoft.com/office/drawing/2014/main" id="{BBFE8C1C-B314-43D6-9F33-72A36F09DC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3238" y="3143250"/>
          <a:ext cx="57626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914" r:id="rId5" imgW="556920" imgH="346680" progId="Equation.3">
                  <p:embed/>
                </p:oleObj>
              </mc:Choice>
              <mc:Fallback>
                <p:oleObj r:id="rId5" imgW="556920" imgH="346680" progId="Equation.3">
                  <p:embed/>
                  <p:pic>
                    <p:nvPicPr>
                      <p:cNvPr id="189464" name="Object 4">
                        <a:extLst>
                          <a:ext uri="{FF2B5EF4-FFF2-40B4-BE49-F238E27FC236}">
                            <a16:creationId xmlns:a16="http://schemas.microsoft.com/office/drawing/2014/main" id="{BBFE8C1C-B314-43D6-9F33-72A36F09DC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3238" y="3143250"/>
                        <a:ext cx="576262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65" name="Object 5">
            <a:extLst>
              <a:ext uri="{FF2B5EF4-FFF2-40B4-BE49-F238E27FC236}">
                <a16:creationId xmlns:a16="http://schemas.microsoft.com/office/drawing/2014/main" id="{F0B1B9BC-74AC-49C5-B5A6-B0CD895D33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83375" y="3798888"/>
          <a:ext cx="795338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915" r:id="rId7" imgW="777240" imgH="346680" progId="Equation.3">
                  <p:embed/>
                </p:oleObj>
              </mc:Choice>
              <mc:Fallback>
                <p:oleObj r:id="rId7" imgW="777240" imgH="346680" progId="Equation.3">
                  <p:embed/>
                  <p:pic>
                    <p:nvPicPr>
                      <p:cNvPr id="189465" name="Object 5">
                        <a:extLst>
                          <a:ext uri="{FF2B5EF4-FFF2-40B4-BE49-F238E27FC236}">
                            <a16:creationId xmlns:a16="http://schemas.microsoft.com/office/drawing/2014/main" id="{F0B1B9BC-74AC-49C5-B5A6-B0CD895D33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75" y="3798888"/>
                        <a:ext cx="795338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466" name="Rectangle 26">
            <a:extLst>
              <a:ext uri="{FF2B5EF4-FFF2-40B4-BE49-F238E27FC236}">
                <a16:creationId xmlns:a16="http://schemas.microsoft.com/office/drawing/2014/main" id="{CA9081D7-A43C-4C8C-A1A7-C1427ECE1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8175" y="3509963"/>
            <a:ext cx="29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>
                <a:solidFill>
                  <a:srgbClr val="00FFFF"/>
                </a:solidFill>
              </a:rPr>
              <a:t>0</a:t>
            </a:r>
          </a:p>
        </p:txBody>
      </p:sp>
      <p:sp>
        <p:nvSpPr>
          <p:cNvPr id="189467" name="Line 27">
            <a:extLst>
              <a:ext uri="{FF2B5EF4-FFF2-40B4-BE49-F238E27FC236}">
                <a16:creationId xmlns:a16="http://schemas.microsoft.com/office/drawing/2014/main" id="{B62975C3-8692-469B-BB80-635C3E5A898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5268913"/>
            <a:ext cx="381000" cy="0"/>
          </a:xfrm>
          <a:prstGeom prst="line">
            <a:avLst/>
          </a:prstGeom>
          <a:noFill/>
          <a:ln w="9525" cap="rnd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9468" name="Line 28">
            <a:extLst>
              <a:ext uri="{FF2B5EF4-FFF2-40B4-BE49-F238E27FC236}">
                <a16:creationId xmlns:a16="http://schemas.microsoft.com/office/drawing/2014/main" id="{A232B575-418A-4CD4-86BF-7681A02F77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2225" y="3668713"/>
            <a:ext cx="0" cy="16002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9469" name="Line 29">
            <a:extLst>
              <a:ext uri="{FF2B5EF4-FFF2-40B4-BE49-F238E27FC236}">
                <a16:creationId xmlns:a16="http://schemas.microsoft.com/office/drawing/2014/main" id="{07EAAA6E-14E4-4966-8191-A7924FAE809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5025" y="3973513"/>
            <a:ext cx="0" cy="12954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9470" name="Line 30">
            <a:extLst>
              <a:ext uri="{FF2B5EF4-FFF2-40B4-BE49-F238E27FC236}">
                <a16:creationId xmlns:a16="http://schemas.microsoft.com/office/drawing/2014/main" id="{171FE3EB-27C8-4406-B459-A3B8B9EE73A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9425" y="3363913"/>
            <a:ext cx="0" cy="19050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31">
            <a:extLst>
              <a:ext uri="{FF2B5EF4-FFF2-40B4-BE49-F238E27FC236}">
                <a16:creationId xmlns:a16="http://schemas.microsoft.com/office/drawing/2014/main" id="{7FE3E3DF-FD61-4B37-AB37-0467C094BA71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4429125" y="5641975"/>
            <a:ext cx="1371600" cy="614363"/>
            <a:chOff x="1440" y="2640"/>
            <a:chExt cx="864" cy="432"/>
          </a:xfrm>
        </p:grpSpPr>
        <p:sp>
          <p:nvSpPr>
            <p:cNvPr id="35867" name="Rectangle 32">
              <a:extLst>
                <a:ext uri="{FF2B5EF4-FFF2-40B4-BE49-F238E27FC236}">
                  <a16:creationId xmlns:a16="http://schemas.microsoft.com/office/drawing/2014/main" id="{FB957C7E-8CD7-458B-AEE9-9E189F65D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640"/>
              <a:ext cx="864" cy="43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5868" name="Line 33">
              <a:extLst>
                <a:ext uri="{FF2B5EF4-FFF2-40B4-BE49-F238E27FC236}">
                  <a16:creationId xmlns:a16="http://schemas.microsoft.com/office/drawing/2014/main" id="{F9E9575F-982D-42F9-B22B-600E96A047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640"/>
              <a:ext cx="0" cy="43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9" name="Line 34">
              <a:extLst>
                <a:ext uri="{FF2B5EF4-FFF2-40B4-BE49-F238E27FC236}">
                  <a16:creationId xmlns:a16="http://schemas.microsoft.com/office/drawing/2014/main" id="{B6F480AE-A314-4FEE-8FDD-657EC66853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640"/>
              <a:ext cx="0" cy="43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0" name="Line 35">
              <a:extLst>
                <a:ext uri="{FF2B5EF4-FFF2-40B4-BE49-F238E27FC236}">
                  <a16:creationId xmlns:a16="http://schemas.microsoft.com/office/drawing/2014/main" id="{CFE2E3D9-2432-48B2-914B-1C77D7D72F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640"/>
              <a:ext cx="0" cy="43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36">
            <a:extLst>
              <a:ext uri="{FF2B5EF4-FFF2-40B4-BE49-F238E27FC236}">
                <a16:creationId xmlns:a16="http://schemas.microsoft.com/office/drawing/2014/main" id="{4FC14C22-9512-46B0-BDC2-23258BA5DDD9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2289175" y="5641975"/>
            <a:ext cx="1371600" cy="614363"/>
            <a:chOff x="2064" y="3552"/>
            <a:chExt cx="864" cy="432"/>
          </a:xfrm>
        </p:grpSpPr>
        <p:sp>
          <p:nvSpPr>
            <p:cNvPr id="35872" name="Rectangle 37">
              <a:extLst>
                <a:ext uri="{FF2B5EF4-FFF2-40B4-BE49-F238E27FC236}">
                  <a16:creationId xmlns:a16="http://schemas.microsoft.com/office/drawing/2014/main" id="{1162EA07-53DC-490D-AA3A-A773836CD6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552"/>
              <a:ext cx="864" cy="43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5873" name="Line 38">
              <a:extLst>
                <a:ext uri="{FF2B5EF4-FFF2-40B4-BE49-F238E27FC236}">
                  <a16:creationId xmlns:a16="http://schemas.microsoft.com/office/drawing/2014/main" id="{8C6A471A-8F66-4B9E-B115-98B52D716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552"/>
              <a:ext cx="0" cy="432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9479" name="Text Box 39">
            <a:extLst>
              <a:ext uri="{FF2B5EF4-FFF2-40B4-BE49-F238E27FC236}">
                <a16:creationId xmlns:a16="http://schemas.microsoft.com/office/drawing/2014/main" id="{FFC80A62-9F3F-4011-98A3-8A5FE07A1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5219700"/>
            <a:ext cx="384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chemeClr val="bg1"/>
                </a:solidFill>
              </a:rPr>
              <a:t>v</a:t>
            </a:r>
            <a:r>
              <a:rPr lang="en-US" altLang="zh-CN" sz="2000" baseline="-20000">
                <a:solidFill>
                  <a:schemeClr val="bg1"/>
                </a:solidFill>
              </a:rPr>
              <a:t>0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189480" name="Text Box 40">
            <a:extLst>
              <a:ext uri="{FF2B5EF4-FFF2-40B4-BE49-F238E27FC236}">
                <a16:creationId xmlns:a16="http://schemas.microsoft.com/office/drawing/2014/main" id="{456D1A9E-69EE-419F-A4D8-347674867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0613" y="5184775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bg1"/>
                </a:solidFill>
              </a:rPr>
              <a:t>v</a:t>
            </a:r>
            <a:r>
              <a:rPr lang="en-US" altLang="zh-CN" baseline="-20000">
                <a:solidFill>
                  <a:schemeClr val="bg1"/>
                </a:solidFill>
              </a:rPr>
              <a:t>0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89481" name="Text Box 41">
            <a:extLst>
              <a:ext uri="{FF2B5EF4-FFF2-40B4-BE49-F238E27FC236}">
                <a16:creationId xmlns:a16="http://schemas.microsoft.com/office/drawing/2014/main" id="{7201CEA1-1DB9-47CA-93AF-286AF3A5B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1950" y="6119813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i="1">
                <a:solidFill>
                  <a:schemeClr val="bg1"/>
                </a:solidFill>
              </a:rPr>
              <a:t>v</a:t>
            </a:r>
            <a:r>
              <a:rPr lang="en-US" altLang="zh-CN" baseline="-20000">
                <a:solidFill>
                  <a:schemeClr val="bg1"/>
                </a:solidFill>
              </a:rPr>
              <a:t>0</a:t>
            </a:r>
            <a:r>
              <a:rPr lang="en-US" altLang="zh-CN" sz="2000">
                <a:solidFill>
                  <a:schemeClr val="bg1"/>
                </a:solidFill>
              </a:rPr>
              <a:t>+</a:t>
            </a:r>
            <a:r>
              <a:rPr lang="en-US" altLang="zh-CN" sz="1600">
                <a:solidFill>
                  <a:schemeClr val="bg1"/>
                </a:solidFill>
              </a:rPr>
              <a:t>△</a:t>
            </a:r>
            <a:r>
              <a:rPr lang="en-US" altLang="zh-CN" i="1">
                <a:solidFill>
                  <a:schemeClr val="bg1"/>
                </a:solidFill>
              </a:rPr>
              <a:t>v</a:t>
            </a:r>
          </a:p>
        </p:txBody>
      </p:sp>
      <p:sp>
        <p:nvSpPr>
          <p:cNvPr id="189482" name="Text Box 42">
            <a:extLst>
              <a:ext uri="{FF2B5EF4-FFF2-40B4-BE49-F238E27FC236}">
                <a16:creationId xmlns:a16="http://schemas.microsoft.com/office/drawing/2014/main" id="{72A02B6E-A15E-44C6-A70A-1BD32FC05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5888" y="6119813"/>
            <a:ext cx="862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bg1"/>
                </a:solidFill>
              </a:rPr>
              <a:t>v</a:t>
            </a:r>
            <a:r>
              <a:rPr lang="en-US" altLang="zh-CN" baseline="-20000">
                <a:solidFill>
                  <a:schemeClr val="bg1"/>
                </a:solidFill>
              </a:rPr>
              <a:t>0</a:t>
            </a:r>
            <a:r>
              <a:rPr lang="en-US" altLang="zh-CN">
                <a:solidFill>
                  <a:schemeClr val="bg1"/>
                </a:solidFill>
              </a:rPr>
              <a:t>-</a:t>
            </a:r>
            <a:r>
              <a:rPr lang="en-US" altLang="zh-CN" sz="1600">
                <a:solidFill>
                  <a:schemeClr val="bg1"/>
                </a:solidFill>
              </a:rPr>
              <a:t>△</a:t>
            </a:r>
            <a:r>
              <a:rPr lang="en-US" altLang="zh-CN" i="1">
                <a:solidFill>
                  <a:schemeClr val="bg1"/>
                </a:solidFill>
              </a:rPr>
              <a:t>v</a:t>
            </a:r>
          </a:p>
        </p:txBody>
      </p:sp>
      <p:sp>
        <p:nvSpPr>
          <p:cNvPr id="189483" name="Text Box 43">
            <a:extLst>
              <a:ext uri="{FF2B5EF4-FFF2-40B4-BE49-F238E27FC236}">
                <a16:creationId xmlns:a16="http://schemas.microsoft.com/office/drawing/2014/main" id="{7526DBEB-551F-4ACA-BA5A-8FF07621C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1575" y="2786063"/>
            <a:ext cx="1985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无磁场</a:t>
            </a:r>
          </a:p>
        </p:txBody>
      </p:sp>
      <p:sp>
        <p:nvSpPr>
          <p:cNvPr id="189484" name="Text Box 44">
            <a:extLst>
              <a:ext uri="{FF2B5EF4-FFF2-40B4-BE49-F238E27FC236}">
                <a16:creationId xmlns:a16="http://schemas.microsoft.com/office/drawing/2014/main" id="{6AB09C76-FEB2-40B4-B48B-F17520681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5025" y="2757488"/>
            <a:ext cx="1655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有磁场</a:t>
            </a:r>
          </a:p>
        </p:txBody>
      </p:sp>
      <p:sp>
        <p:nvSpPr>
          <p:cNvPr id="189485" name="Rectangle 45">
            <a:extLst>
              <a:ext uri="{FF2B5EF4-FFF2-40B4-BE49-F238E27FC236}">
                <a16:creationId xmlns:a16="http://schemas.microsoft.com/office/drawing/2014/main" id="{BBE28393-8A26-454A-9A9C-34573D1ED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2525" y="5094288"/>
            <a:ext cx="1041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0           </a:t>
            </a:r>
            <a:r>
              <a:rPr lang="en-US" altLang="zh-CN" sz="1800">
                <a:solidFill>
                  <a:srgbClr val="00FFFF"/>
                </a:solidFill>
              </a:rPr>
              <a:t>0</a:t>
            </a:r>
          </a:p>
        </p:txBody>
      </p:sp>
      <p:sp>
        <p:nvSpPr>
          <p:cNvPr id="189486" name="Text Box 46">
            <a:extLst>
              <a:ext uri="{FF2B5EF4-FFF2-40B4-BE49-F238E27FC236}">
                <a16:creationId xmlns:a16="http://schemas.microsoft.com/office/drawing/2014/main" id="{487EF8FE-CA6F-4FFA-8CBE-183F8AE8F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2063" y="2714625"/>
            <a:ext cx="531812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Clr>
                <a:srgbClr val="00FF00"/>
              </a:buClr>
            </a:pPr>
            <a:r>
              <a:rPr lang="zh-CN" altLang="en-US">
                <a:solidFill>
                  <a:schemeClr val="bg1"/>
                </a:solidFill>
              </a:rPr>
              <a:t>能</a:t>
            </a:r>
            <a:endParaRPr lang="en-US" altLang="zh-CN">
              <a:solidFill>
                <a:schemeClr val="bg1"/>
              </a:solidFill>
            </a:endParaRPr>
          </a:p>
          <a:p>
            <a:pPr>
              <a:buClr>
                <a:srgbClr val="00FF00"/>
              </a:buClr>
            </a:pPr>
            <a:r>
              <a:rPr lang="zh-CN" altLang="en-US">
                <a:solidFill>
                  <a:schemeClr val="bg1"/>
                </a:solidFill>
              </a:rPr>
              <a:t>级</a:t>
            </a:r>
            <a:endParaRPr lang="en-US" altLang="zh-CN">
              <a:solidFill>
                <a:schemeClr val="bg1"/>
              </a:solidFill>
            </a:endParaRPr>
          </a:p>
          <a:p>
            <a:pPr>
              <a:buClr>
                <a:srgbClr val="00FF00"/>
              </a:buClr>
            </a:pPr>
            <a:r>
              <a:rPr lang="zh-CN" altLang="en-US">
                <a:solidFill>
                  <a:schemeClr val="bg1"/>
                </a:solidFill>
              </a:rPr>
              <a:t>分</a:t>
            </a:r>
            <a:endParaRPr lang="en-US" altLang="zh-CN">
              <a:solidFill>
                <a:schemeClr val="bg1"/>
              </a:solidFill>
            </a:endParaRPr>
          </a:p>
          <a:p>
            <a:pPr>
              <a:buClr>
                <a:srgbClr val="00FF00"/>
              </a:buClr>
            </a:pPr>
            <a:r>
              <a:rPr lang="zh-CN" altLang="en-US">
                <a:solidFill>
                  <a:schemeClr val="bg1"/>
                </a:solidFill>
              </a:rPr>
              <a:t>裂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C67A692C-7B13-4169-AAB9-9E62224B19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43063" y="1785938"/>
          <a:ext cx="176053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9916" r:id="rId9" imgW="677880" imgH="181440" progId="Equation.3">
                  <p:embed/>
                </p:oleObj>
              </mc:Choice>
              <mc:Fallback>
                <p:oleObj r:id="rId9" imgW="677880" imgH="181440" progId="Equation.3">
                  <p:embed/>
                  <p:pic>
                    <p:nvPicPr>
                      <p:cNvPr id="6" name="Object 2">
                        <a:extLst>
                          <a:ext uri="{FF2B5EF4-FFF2-40B4-BE49-F238E27FC236}">
                            <a16:creationId xmlns:a16="http://schemas.microsoft.com/office/drawing/2014/main" id="{C67A692C-7B13-4169-AAB9-9E62224B19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63" y="1785938"/>
                        <a:ext cx="176053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Rectangle 4">
            <a:extLst>
              <a:ext uri="{FF2B5EF4-FFF2-40B4-BE49-F238E27FC236}">
                <a16:creationId xmlns:a16="http://schemas.microsoft.com/office/drawing/2014/main" id="{CF628E74-FEA9-470C-BC15-A40989F4A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0" y="1785938"/>
            <a:ext cx="3681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i="1">
                <a:solidFill>
                  <a:srgbClr val="00FFFF"/>
                </a:solidFill>
              </a:rPr>
              <a:t>m</a:t>
            </a:r>
            <a:r>
              <a:rPr lang="en-US" altLang="zh-CN" i="1" baseline="-20000">
                <a:solidFill>
                  <a:srgbClr val="00FFFF"/>
                </a:solidFill>
              </a:rPr>
              <a:t>l  </a:t>
            </a:r>
            <a:r>
              <a:rPr lang="en-US" altLang="zh-CN">
                <a:solidFill>
                  <a:srgbClr val="00FFFF"/>
                </a:solidFill>
              </a:rPr>
              <a:t>= 0, </a:t>
            </a:r>
            <a:r>
              <a:rPr lang="en-US" altLang="zh-CN" sz="2000">
                <a:solidFill>
                  <a:srgbClr val="00FFFF"/>
                </a:solidFill>
              </a:rPr>
              <a:t>±</a:t>
            </a:r>
            <a:r>
              <a:rPr lang="en-US" altLang="zh-CN">
                <a:solidFill>
                  <a:srgbClr val="00FFFF"/>
                </a:solidFill>
              </a:rPr>
              <a:t>1, </a:t>
            </a:r>
            <a:r>
              <a:rPr lang="en-US" altLang="zh-CN" sz="2000">
                <a:solidFill>
                  <a:srgbClr val="00FFFF"/>
                </a:solidFill>
              </a:rPr>
              <a:t>±</a:t>
            </a:r>
            <a:r>
              <a:rPr lang="en-US" altLang="zh-CN">
                <a:solidFill>
                  <a:srgbClr val="00FFFF"/>
                </a:solidFill>
              </a:rPr>
              <a:t> 2, …, </a:t>
            </a:r>
            <a:r>
              <a:rPr lang="en-US" altLang="zh-CN" sz="2000">
                <a:solidFill>
                  <a:srgbClr val="00FFFF"/>
                </a:solidFill>
              </a:rPr>
              <a:t>±</a:t>
            </a:r>
            <a:r>
              <a:rPr lang="en-US" altLang="zh-CN">
                <a:solidFill>
                  <a:srgbClr val="00FFFF"/>
                </a:solidFill>
              </a:rPr>
              <a:t> </a:t>
            </a:r>
            <a:r>
              <a:rPr lang="en-US" altLang="zh-CN" i="1">
                <a:solidFill>
                  <a:srgbClr val="00FFFF"/>
                </a:solidFill>
              </a:rPr>
              <a:t>l</a:t>
            </a:r>
          </a:p>
        </p:txBody>
      </p:sp>
      <p:sp>
        <p:nvSpPr>
          <p:cNvPr id="50" name="Text Box 46">
            <a:extLst>
              <a:ext uri="{FF2B5EF4-FFF2-40B4-BE49-F238E27FC236}">
                <a16:creationId xmlns:a16="http://schemas.microsoft.com/office/drawing/2014/main" id="{C9C8C5CD-1936-4B90-B1A1-6A8866CDC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1000125"/>
            <a:ext cx="6572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Clr>
                <a:srgbClr val="00FF00"/>
              </a:buClr>
              <a:buFontTx/>
              <a:buChar char="•"/>
            </a:pP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磁矩在外磁场的取向不同，附加能量</a:t>
            </a:r>
          </a:p>
        </p:txBody>
      </p:sp>
      <p:sp>
        <p:nvSpPr>
          <p:cNvPr id="35885" name="灯片编号占位符 1">
            <a:extLst>
              <a:ext uri="{FF2B5EF4-FFF2-40B4-BE49-F238E27FC236}">
                <a16:creationId xmlns:a16="http://schemas.microsoft.com/office/drawing/2014/main" id="{987A5C01-B109-4B82-81CE-6F1F4318E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3C0C4135-9809-492F-8831-0271F51635B6}" type="slidenum">
              <a:rPr lang="en-US" altLang="zh-CN" b="0">
                <a:solidFill>
                  <a:srgbClr val="FF00FF"/>
                </a:solidFill>
              </a:rPr>
              <a:pPr/>
              <a:t>34</a:t>
            </a:fld>
            <a:r>
              <a:rPr lang="en-US" altLang="zh-CN" b="0">
                <a:solidFill>
                  <a:srgbClr val="FF00FF"/>
                </a:solidFill>
              </a:rPr>
              <a:t>/22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9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8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8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8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89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0" dur="500"/>
                                        <p:tgtEl>
                                          <p:spTgt spid="189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8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89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8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8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8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8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8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8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89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0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8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2" dur="500"/>
                                        <p:tgtEl>
                                          <p:spTgt spid="18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18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0" dur="500"/>
                                        <p:tgtEl>
                                          <p:spTgt spid="18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18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8" dur="500"/>
                                        <p:tgtEl>
                                          <p:spTgt spid="18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18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6" grpId="0"/>
      <p:bldP spid="189446" grpId="1"/>
      <p:bldP spid="189459" grpId="0"/>
      <p:bldP spid="189460" grpId="0"/>
      <p:bldP spid="189463" grpId="0"/>
      <p:bldP spid="189466" grpId="0"/>
      <p:bldP spid="189479" grpId="0"/>
      <p:bldP spid="189480" grpId="0"/>
      <p:bldP spid="189481" grpId="0"/>
      <p:bldP spid="189482" grpId="0"/>
      <p:bldP spid="189483" grpId="0"/>
      <p:bldP spid="189484" grpId="0"/>
      <p:bldP spid="189485" grpId="0"/>
      <p:bldP spid="189486" grpId="0"/>
      <p:bldP spid="49" grpId="0"/>
      <p:bldP spid="5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24966</TotalTime>
  <Words>2472</Words>
  <Application>Microsoft Office PowerPoint</Application>
  <PresentationFormat>全屏显示(4:3)</PresentationFormat>
  <Paragraphs>410</Paragraphs>
  <Slides>34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34</vt:i4>
      </vt:variant>
    </vt:vector>
  </HeadingPairs>
  <TitlesOfParts>
    <vt:vector size="50" baseType="lpstr">
      <vt:lpstr>仿宋_GB2312</vt:lpstr>
      <vt:lpstr>SimHei</vt:lpstr>
      <vt:lpstr>华文仿宋</vt:lpstr>
      <vt:lpstr>STZhongsong</vt:lpstr>
      <vt:lpstr>楷体_GB2312</vt:lpstr>
      <vt:lpstr>宋体</vt:lpstr>
      <vt:lpstr>Arial</vt:lpstr>
      <vt:lpstr>Cambria Math</vt:lpstr>
      <vt:lpstr>Symbol</vt:lpstr>
      <vt:lpstr>Times New Roman</vt:lpstr>
      <vt:lpstr>Wingdings</vt:lpstr>
      <vt:lpstr>默认设计模板</vt:lpstr>
      <vt:lpstr>公式</vt:lpstr>
      <vt:lpstr>Equation.3</vt:lpstr>
      <vt:lpstr>Equation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1537</cp:revision>
  <cp:lastPrinted>2025-12-01T02:49:05Z</cp:lastPrinted>
  <dcterms:created xsi:type="dcterms:W3CDTF">1998-11-21T01:35:00Z</dcterms:created>
  <dcterms:modified xsi:type="dcterms:W3CDTF">2025-12-18T04:45:46Z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