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39" r:id="rId2"/>
    <p:sldId id="465" r:id="rId3"/>
    <p:sldId id="491" r:id="rId4"/>
    <p:sldId id="492" r:id="rId5"/>
    <p:sldId id="493" r:id="rId6"/>
    <p:sldId id="466" r:id="rId7"/>
    <p:sldId id="604" r:id="rId8"/>
    <p:sldId id="605" r:id="rId9"/>
    <p:sldId id="606" r:id="rId10"/>
    <p:sldId id="590" r:id="rId11"/>
    <p:sldId id="591" r:id="rId12"/>
    <p:sldId id="592" r:id="rId13"/>
    <p:sldId id="593" r:id="rId14"/>
    <p:sldId id="594" r:id="rId15"/>
    <p:sldId id="595" r:id="rId16"/>
  </p:sldIdLst>
  <p:sldSz cx="9144000" cy="6858000" type="screen4x3"/>
  <p:notesSz cx="6797675" cy="9928225"/>
  <p:custDataLst>
    <p:tags r:id="rId1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Relationship Id="rId5" Type="http://schemas.openxmlformats.org/officeDocument/2006/relationships/image" Target="../media/image10.emf"/><Relationship Id="rId4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13" Type="http://schemas.openxmlformats.org/officeDocument/2006/relationships/image" Target="../media/image40.emf"/><Relationship Id="rId3" Type="http://schemas.openxmlformats.org/officeDocument/2006/relationships/image" Target="../media/image30.emf"/><Relationship Id="rId7" Type="http://schemas.openxmlformats.org/officeDocument/2006/relationships/image" Target="../media/image34.emf"/><Relationship Id="rId12" Type="http://schemas.openxmlformats.org/officeDocument/2006/relationships/image" Target="../media/image39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Relationship Id="rId6" Type="http://schemas.openxmlformats.org/officeDocument/2006/relationships/image" Target="../media/image33.emf"/><Relationship Id="rId11" Type="http://schemas.openxmlformats.org/officeDocument/2006/relationships/image" Target="../media/image38.emf"/><Relationship Id="rId5" Type="http://schemas.openxmlformats.org/officeDocument/2006/relationships/image" Target="../media/image32.emf"/><Relationship Id="rId10" Type="http://schemas.openxmlformats.org/officeDocument/2006/relationships/image" Target="../media/image37.emf"/><Relationship Id="rId4" Type="http://schemas.openxmlformats.org/officeDocument/2006/relationships/image" Target="../media/image31.emf"/><Relationship Id="rId9" Type="http://schemas.openxmlformats.org/officeDocument/2006/relationships/image" Target="../media/image3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image" Target="../media/image44.emf"/><Relationship Id="rId7" Type="http://schemas.openxmlformats.org/officeDocument/2006/relationships/image" Target="../media/image48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Relationship Id="rId6" Type="http://schemas.openxmlformats.org/officeDocument/2006/relationships/image" Target="../media/image47.emf"/><Relationship Id="rId11" Type="http://schemas.openxmlformats.org/officeDocument/2006/relationships/image" Target="../media/image52.emf"/><Relationship Id="rId5" Type="http://schemas.openxmlformats.org/officeDocument/2006/relationships/image" Target="../media/image46.emf"/><Relationship Id="rId10" Type="http://schemas.openxmlformats.org/officeDocument/2006/relationships/image" Target="../media/image51.emf"/><Relationship Id="rId4" Type="http://schemas.openxmlformats.org/officeDocument/2006/relationships/image" Target="../media/image45.emf"/><Relationship Id="rId9" Type="http://schemas.openxmlformats.org/officeDocument/2006/relationships/image" Target="../media/image50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13" Type="http://schemas.openxmlformats.org/officeDocument/2006/relationships/image" Target="../media/image65.emf"/><Relationship Id="rId3" Type="http://schemas.openxmlformats.org/officeDocument/2006/relationships/image" Target="../media/image55.emf"/><Relationship Id="rId7" Type="http://schemas.openxmlformats.org/officeDocument/2006/relationships/image" Target="../media/image59.emf"/><Relationship Id="rId12" Type="http://schemas.openxmlformats.org/officeDocument/2006/relationships/image" Target="../media/image64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Relationship Id="rId6" Type="http://schemas.openxmlformats.org/officeDocument/2006/relationships/image" Target="../media/image58.emf"/><Relationship Id="rId11" Type="http://schemas.openxmlformats.org/officeDocument/2006/relationships/image" Target="../media/image63.emf"/><Relationship Id="rId5" Type="http://schemas.openxmlformats.org/officeDocument/2006/relationships/image" Target="../media/image57.emf"/><Relationship Id="rId10" Type="http://schemas.openxmlformats.org/officeDocument/2006/relationships/image" Target="../media/image62.emf"/><Relationship Id="rId4" Type="http://schemas.openxmlformats.org/officeDocument/2006/relationships/image" Target="../media/image56.emf"/><Relationship Id="rId9" Type="http://schemas.openxmlformats.org/officeDocument/2006/relationships/image" Target="../media/image61.emf"/><Relationship Id="rId14" Type="http://schemas.openxmlformats.org/officeDocument/2006/relationships/image" Target="../media/image6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44E291F-1B0D-4EAD-B4BE-769D959C15B0}" type="slidenum">
              <a:rPr kumimoji="0" lang="en-US" altLang="zh-CN" b="0">
                <a:latin typeface="Arial" panose="020B0604020202020204" pitchFamily="34" charset="0"/>
              </a:rPr>
              <a:t>6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yzhang520@mail.xjtu.edu.cn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GI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9.w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4.e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4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1.emf"/><Relationship Id="rId1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2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5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5.emf"/><Relationship Id="rId26" Type="http://schemas.openxmlformats.org/officeDocument/2006/relationships/image" Target="../media/image39.emf"/><Relationship Id="rId3" Type="http://schemas.openxmlformats.org/officeDocument/2006/relationships/oleObject" Target="../embeddings/oleObject23.bin"/><Relationship Id="rId21" Type="http://schemas.openxmlformats.org/officeDocument/2006/relationships/oleObject" Target="../embeddings/oleObject32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2.emf"/><Relationship Id="rId17" Type="http://schemas.openxmlformats.org/officeDocument/2006/relationships/oleObject" Target="../embeddings/oleObject30.bin"/><Relationship Id="rId25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.emf"/><Relationship Id="rId20" Type="http://schemas.openxmlformats.org/officeDocument/2006/relationships/image" Target="../media/image36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emf"/><Relationship Id="rId11" Type="http://schemas.openxmlformats.org/officeDocument/2006/relationships/oleObject" Target="../embeddings/oleObject27.bin"/><Relationship Id="rId24" Type="http://schemas.openxmlformats.org/officeDocument/2006/relationships/image" Target="../media/image38.emf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23" Type="http://schemas.openxmlformats.org/officeDocument/2006/relationships/oleObject" Target="../embeddings/oleObject33.bin"/><Relationship Id="rId28" Type="http://schemas.openxmlformats.org/officeDocument/2006/relationships/image" Target="../media/image40.emf"/><Relationship Id="rId10" Type="http://schemas.openxmlformats.org/officeDocument/2006/relationships/image" Target="../media/image31.e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8.e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3.emf"/><Relationship Id="rId22" Type="http://schemas.openxmlformats.org/officeDocument/2006/relationships/image" Target="../media/image37.emf"/><Relationship Id="rId27" Type="http://schemas.openxmlformats.org/officeDocument/2006/relationships/oleObject" Target="../embeddings/oleObject3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41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49.emf"/><Relationship Id="rId3" Type="http://schemas.openxmlformats.org/officeDocument/2006/relationships/oleObject" Target="../embeddings/oleObject37.bin"/><Relationship Id="rId21" Type="http://schemas.openxmlformats.org/officeDocument/2006/relationships/oleObject" Target="../embeddings/oleObject46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6.emf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8.emf"/><Relationship Id="rId20" Type="http://schemas.openxmlformats.org/officeDocument/2006/relationships/image" Target="../media/image50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3.emf"/><Relationship Id="rId11" Type="http://schemas.openxmlformats.org/officeDocument/2006/relationships/oleObject" Target="../embeddings/oleObject41.bin"/><Relationship Id="rId24" Type="http://schemas.openxmlformats.org/officeDocument/2006/relationships/image" Target="../media/image52.emf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23" Type="http://schemas.openxmlformats.org/officeDocument/2006/relationships/oleObject" Target="../embeddings/oleObject47.bin"/><Relationship Id="rId10" Type="http://schemas.openxmlformats.org/officeDocument/2006/relationships/image" Target="../media/image45.emf"/><Relationship Id="rId19" Type="http://schemas.openxmlformats.org/officeDocument/2006/relationships/oleObject" Target="../embeddings/oleObject45.bin"/><Relationship Id="rId4" Type="http://schemas.openxmlformats.org/officeDocument/2006/relationships/image" Target="../media/image42.e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7.emf"/><Relationship Id="rId22" Type="http://schemas.openxmlformats.org/officeDocument/2006/relationships/image" Target="../media/image51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60.emf"/><Relationship Id="rId26" Type="http://schemas.openxmlformats.org/officeDocument/2006/relationships/image" Target="../media/image64.emf"/><Relationship Id="rId3" Type="http://schemas.openxmlformats.org/officeDocument/2006/relationships/oleObject" Target="../embeddings/oleObject48.bin"/><Relationship Id="rId21" Type="http://schemas.openxmlformats.org/officeDocument/2006/relationships/oleObject" Target="../embeddings/oleObject57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7.emf"/><Relationship Id="rId17" Type="http://schemas.openxmlformats.org/officeDocument/2006/relationships/oleObject" Target="../embeddings/oleObject55.bin"/><Relationship Id="rId25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.emf"/><Relationship Id="rId20" Type="http://schemas.openxmlformats.org/officeDocument/2006/relationships/image" Target="../media/image61.emf"/><Relationship Id="rId29" Type="http://schemas.openxmlformats.org/officeDocument/2006/relationships/oleObject" Target="../embeddings/oleObject61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54.emf"/><Relationship Id="rId11" Type="http://schemas.openxmlformats.org/officeDocument/2006/relationships/oleObject" Target="../embeddings/oleObject52.bin"/><Relationship Id="rId24" Type="http://schemas.openxmlformats.org/officeDocument/2006/relationships/image" Target="../media/image63.emf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23" Type="http://schemas.openxmlformats.org/officeDocument/2006/relationships/oleObject" Target="../embeddings/oleObject58.bin"/><Relationship Id="rId28" Type="http://schemas.openxmlformats.org/officeDocument/2006/relationships/image" Target="../media/image65.emf"/><Relationship Id="rId10" Type="http://schemas.openxmlformats.org/officeDocument/2006/relationships/image" Target="../media/image56.emf"/><Relationship Id="rId19" Type="http://schemas.openxmlformats.org/officeDocument/2006/relationships/oleObject" Target="../embeddings/oleObject56.bin"/><Relationship Id="rId31" Type="http://schemas.openxmlformats.org/officeDocument/2006/relationships/hyperlink" Target="file:///H:\FLASH&#36164;&#26009;\7%20&#26059;&#36716;&#30690;&#37327;&#22270;&#27861;(xva).swf" TargetMode="External"/><Relationship Id="rId4" Type="http://schemas.openxmlformats.org/officeDocument/2006/relationships/image" Target="../media/image53.e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8.emf"/><Relationship Id="rId22" Type="http://schemas.openxmlformats.org/officeDocument/2006/relationships/image" Target="../media/image62.emf"/><Relationship Id="rId27" Type="http://schemas.openxmlformats.org/officeDocument/2006/relationships/oleObject" Target="../embeddings/oleObject60.bin"/><Relationship Id="rId30" Type="http://schemas.openxmlformats.org/officeDocument/2006/relationships/image" Target="../media/image6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Sep. 9,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5">
            <a:extLst>
              <a:ext uri="{FF2B5EF4-FFF2-40B4-BE49-F238E27FC236}">
                <a16:creationId xmlns:a16="http://schemas.microsoft.com/office/drawing/2014/main" id="{4DAB720E-753F-4B9B-8DA5-BF1DEACF9D7A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231122F7-4825-4E81-AFA8-BD7108B580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矩形 4">
              <a:extLst>
                <a:ext uri="{FF2B5EF4-FFF2-40B4-BE49-F238E27FC236}">
                  <a16:creationId xmlns:a16="http://schemas.microsoft.com/office/drawing/2014/main" id="{3816B908-4DB8-4C96-9B7F-8E042333F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1274763" y="2071688"/>
            <a:ext cx="71548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6000" dirty="0">
                <a:solidFill>
                  <a:srgbClr val="FF0000"/>
                </a:solidFill>
              </a:rPr>
              <a:t>同学们，新学期好！</a:t>
            </a:r>
          </a:p>
        </p:txBody>
      </p:sp>
      <p:sp>
        <p:nvSpPr>
          <p:cNvPr id="5124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CD4C16F-5CBB-46A1-9466-9472A2DF1757}" type="slidenum">
              <a:rPr lang="en-US" altLang="zh-CN" b="0">
                <a:solidFill>
                  <a:srgbClr val="FF00FF"/>
                </a:solidFill>
              </a:rPr>
              <a:t>2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539750" y="3500438"/>
            <a:ext cx="8424863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40000"/>
              </a:lnSpc>
              <a:defRPr/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上课班级：大类授课；电气、电子、信息、自动化、计算机、</a:t>
            </a:r>
            <a:endParaRPr lang="en-US" altLang="zh-CN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>
              <a:lnSpc>
                <a:spcPct val="140000"/>
              </a:lnSpc>
              <a:defRPr/>
            </a:pP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            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微电子、软件、航天等专业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， 共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121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人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539750" y="549275"/>
            <a:ext cx="8032750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任课教师：张    杨      物理学院副教授        凝聚态物理；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               低维纳米结构的热、力、光、电等性质研究；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               新材料设计和性能预测，纳米材料电化学性质；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2000" b="0">
                <a:solidFill>
                  <a:schemeClr val="bg1"/>
                </a:solidFill>
                <a:ea typeface="楷体_GB2312" pitchFamily="49" charset="-122"/>
              </a:rPr>
              <a:t>                        </a:t>
            </a:r>
            <a:r>
              <a:rPr lang="en-US" altLang="zh-CN" sz="2000" u="sng">
                <a:solidFill>
                  <a:schemeClr val="bg1"/>
                </a:solidFill>
                <a:ea typeface="楷体_GB2312" pitchFamily="49" charset="-122"/>
              </a:rPr>
              <a:t>https://gr.xjtu.edu.cn/en/web/yzhang520/home</a:t>
            </a:r>
            <a:endParaRPr lang="zh-CN" altLang="en-US" sz="2000" u="sng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539750" y="4570413"/>
            <a:ext cx="8424863" cy="100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上课时间：周二上午  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、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节，周四下午  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5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、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6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节；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64+8 </a:t>
            </a:r>
            <a:r>
              <a:rPr lang="zh-CN" altLang="en-US" dirty="0">
                <a:solidFill>
                  <a:srgbClr val="FFFF00"/>
                </a:solidFill>
                <a:ea typeface="楷体_GB2312" pitchFamily="49" charset="-122"/>
              </a:rPr>
              <a:t>学时，上课地点：中 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2-3321</a:t>
            </a:r>
          </a:p>
        </p:txBody>
      </p:sp>
      <p:sp>
        <p:nvSpPr>
          <p:cNvPr id="6149" name="Text Box 7"/>
          <p:cNvSpPr txBox="1">
            <a:spLocks noChangeArrowheads="1"/>
          </p:cNvSpPr>
          <p:nvPr/>
        </p:nvSpPr>
        <p:spPr bwMode="auto">
          <a:xfrm>
            <a:off x="539750" y="115888"/>
            <a:ext cx="792003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600" u="sng">
                <a:solidFill>
                  <a:srgbClr val="FF0000"/>
                </a:solidFill>
                <a:ea typeface="楷体_GB2312" pitchFamily="49" charset="-122"/>
              </a:rPr>
              <a:t>教学基本情况</a:t>
            </a:r>
          </a:p>
        </p:txBody>
      </p:sp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539750" y="5516563"/>
            <a:ext cx="8424863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主  教  材：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《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大学物理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》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吴百诗  主编    高教出版社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参  考  书：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《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大学物理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》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学习指导    张孝林 主编   科学出版社</a:t>
            </a: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5367" name="Rectangle 10"/>
          <p:cNvSpPr>
            <a:spLocks noChangeArrowheads="1"/>
          </p:cNvSpPr>
          <p:nvPr/>
        </p:nvSpPr>
        <p:spPr bwMode="auto">
          <a:xfrm>
            <a:off x="565150" y="2552700"/>
            <a:ext cx="5541963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联系方式：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yzhang520@mail.xjtu.edu.cn</a:t>
            </a:r>
            <a:endParaRPr lang="en-US" altLang="zh-CN" b="0" dirty="0">
              <a:solidFill>
                <a:srgbClr val="FFFF00"/>
              </a:solidFill>
              <a:ea typeface="楷体_GB2312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           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仲英楼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B-721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（七楼东北角）</a:t>
            </a:r>
          </a:p>
        </p:txBody>
      </p:sp>
      <p:sp>
        <p:nvSpPr>
          <p:cNvPr id="6152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9F76D47-1FC5-48ED-8C40-08BB50AEF927}" type="slidenum">
              <a:rPr lang="en-US" altLang="zh-CN" b="0">
                <a:solidFill>
                  <a:srgbClr val="FF00FF"/>
                </a:solidFill>
              </a:rPr>
              <a:t>3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5" decel="1000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85" decel="100000"/>
                                        <p:tgtEl>
                                          <p:spTgt spid="1536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5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6" dur="385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7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8" dur="385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9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/>
      <p:bldP spid="36869" grpId="0"/>
      <p:bldP spid="36870" grpId="0"/>
      <p:bldP spid="36872" grpId="0"/>
      <p:bldP spid="1536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608012" y="803275"/>
            <a:ext cx="8353299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时间</a:t>
            </a:r>
            <a:r>
              <a:rPr kumimoji="0"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:   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周一、三晚上 </a:t>
            </a:r>
            <a:r>
              <a:rPr kumimoji="0" lang="en-US" altLang="zh-CN" dirty="0">
                <a:solidFill>
                  <a:schemeClr val="hlink"/>
                </a:solidFill>
                <a:ea typeface="楷体_GB2312" pitchFamily="49" charset="-122"/>
              </a:rPr>
              <a:t>19:00 – 21:00                  </a:t>
            </a: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第 </a:t>
            </a:r>
            <a:r>
              <a:rPr kumimoji="0"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2 ~ 16 </a:t>
            </a: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周</a:t>
            </a:r>
            <a:endParaRPr kumimoji="0" lang="zh-CN" altLang="en-US" dirty="0">
              <a:solidFill>
                <a:schemeClr val="hlink"/>
              </a:solidFill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地点</a:t>
            </a:r>
            <a:r>
              <a:rPr kumimoji="0"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:   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主楼</a:t>
            </a:r>
            <a:r>
              <a:rPr kumimoji="0"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C-202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室 </a:t>
            </a:r>
            <a:r>
              <a:rPr kumimoji="0" lang="en-US" altLang="zh-CN" dirty="0">
                <a:solidFill>
                  <a:schemeClr val="hlink"/>
                </a:solidFill>
                <a:ea typeface="楷体_GB2312" pitchFamily="49" charset="-122"/>
              </a:rPr>
              <a:t>——</a:t>
            </a:r>
            <a:r>
              <a:rPr kumimoji="0"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zh-CN" altLang="en-US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线下集中答疑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579438" y="3455268"/>
            <a:ext cx="816927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本学期：期中考试，期末考试 </a:t>
            </a:r>
            <a:endParaRPr kumimoji="0" lang="en-US" altLang="zh-CN" dirty="0">
              <a:solidFill>
                <a:schemeClr val="hlink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0"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              </a:t>
            </a:r>
            <a:r>
              <a:rPr kumimoji="0"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期中（第 </a:t>
            </a:r>
            <a:r>
              <a:rPr kumimoji="0"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8 </a:t>
            </a:r>
            <a:r>
              <a:rPr kumimoji="0"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周周末，振动，机械波，波动光学）</a:t>
            </a:r>
            <a:endParaRPr kumimoji="0" lang="en-US" altLang="zh-CN" dirty="0">
              <a:solidFill>
                <a:schemeClr val="hlink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0"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              </a:t>
            </a:r>
            <a:r>
              <a:rPr kumimoji="0"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期末（全部内容）</a:t>
            </a:r>
          </a:p>
        </p:txBody>
      </p:sp>
      <p:sp>
        <p:nvSpPr>
          <p:cNvPr id="18436" name="Line 4"/>
          <p:cNvSpPr>
            <a:spLocks noChangeShapeType="1"/>
          </p:cNvSpPr>
          <p:nvPr/>
        </p:nvSpPr>
        <p:spPr bwMode="auto">
          <a:xfrm>
            <a:off x="681038" y="3501008"/>
            <a:ext cx="7920037" cy="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571500" y="2924944"/>
            <a:ext cx="443254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000" dirty="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rPr>
              <a:t>考试：</a:t>
            </a:r>
            <a:r>
              <a:rPr kumimoji="0" lang="zh-CN" altLang="en-US" sz="20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楷体_GB2312" pitchFamily="49" charset="-122"/>
              </a:rPr>
              <a:t>模块化教学</a:t>
            </a:r>
          </a:p>
        </p:txBody>
      </p:sp>
      <p:sp>
        <p:nvSpPr>
          <p:cNvPr id="18438" name="Line 6"/>
          <p:cNvSpPr>
            <a:spLocks noChangeShapeType="1"/>
          </p:cNvSpPr>
          <p:nvPr/>
        </p:nvSpPr>
        <p:spPr bwMode="auto">
          <a:xfrm>
            <a:off x="681038" y="760413"/>
            <a:ext cx="7920037" cy="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576263" y="188913"/>
            <a:ext cx="54308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0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rPr>
              <a:t>答疑（线上</a:t>
            </a:r>
            <a:r>
              <a:rPr kumimoji="0" lang="en-US" altLang="zh-CN" sz="30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rPr>
              <a:t>&amp;</a:t>
            </a:r>
            <a:r>
              <a:rPr kumimoji="0" lang="zh-CN" altLang="en-US" sz="30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rPr>
              <a:t>线下）：</a:t>
            </a: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577851" y="5447740"/>
            <a:ext cx="8315324" cy="1005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平时成绩：</a:t>
            </a:r>
            <a:r>
              <a:rPr kumimoji="0" lang="en-US" altLang="zh-CN" dirty="0">
                <a:solidFill>
                  <a:schemeClr val="hlink"/>
                </a:solidFill>
                <a:ea typeface="楷体_GB2312" pitchFamily="49" charset="-122"/>
              </a:rPr>
              <a:t>20 %</a:t>
            </a:r>
            <a:r>
              <a:rPr kumimoji="0" lang="zh-CN" altLang="en-US" dirty="0">
                <a:solidFill>
                  <a:schemeClr val="hlink"/>
                </a:solidFill>
                <a:ea typeface="楷体_GB2312" pitchFamily="49" charset="-122"/>
              </a:rPr>
              <a:t> （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作业、考勤、课堂小测验、</a:t>
            </a:r>
            <a:r>
              <a:rPr kumimoji="0"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习题课讲解</a:t>
            </a:r>
            <a:r>
              <a:rPr kumimoji="0" lang="zh-CN" altLang="en-US" dirty="0">
                <a:solidFill>
                  <a:schemeClr val="hlink"/>
                </a:solidFill>
                <a:ea typeface="楷体_GB2312" pitchFamily="49" charset="-122"/>
              </a:rPr>
              <a:t>）</a:t>
            </a:r>
            <a:endParaRPr kumimoji="0" lang="zh-CN" altLang="en-US" dirty="0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期中考试：</a:t>
            </a:r>
            <a:r>
              <a:rPr kumimoji="0" lang="en-US" altLang="zh-CN" dirty="0">
                <a:solidFill>
                  <a:schemeClr val="hlink"/>
                </a:solidFill>
                <a:ea typeface="楷体_GB2312" pitchFamily="49" charset="-122"/>
              </a:rPr>
              <a:t>30 %         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期末考试：</a:t>
            </a:r>
            <a:r>
              <a:rPr kumimoji="0" lang="en-US" altLang="zh-CN" dirty="0">
                <a:solidFill>
                  <a:schemeClr val="hlink"/>
                </a:solidFill>
                <a:ea typeface="楷体_GB2312" pitchFamily="49" charset="-122"/>
              </a:rPr>
              <a:t>50 %          </a:t>
            </a:r>
            <a:r>
              <a:rPr kumimoji="0" lang="zh-CN" altLang="en-US" dirty="0">
                <a:solidFill>
                  <a:schemeClr val="hlink"/>
                </a:solidFill>
                <a:ea typeface="楷体_GB2312" pitchFamily="49" charset="-122"/>
              </a:rPr>
              <a:t>研讨课附加成绩</a:t>
            </a:r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>
            <a:off x="679450" y="5493308"/>
            <a:ext cx="7920038" cy="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587375" y="4895949"/>
            <a:ext cx="13319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3000" dirty="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rPr>
              <a:t>成绩：</a:t>
            </a:r>
          </a:p>
        </p:txBody>
      </p:sp>
      <p:sp>
        <p:nvSpPr>
          <p:cNvPr id="7179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fld id="{F52315F3-A294-490E-8A73-21FC5173C3B5}" type="slidenum">
              <a:rPr kumimoji="0" lang="en-US" altLang="zh-CN" sz="2600" b="0">
                <a:solidFill>
                  <a:srgbClr val="FF00FF"/>
                </a:solidFill>
              </a:rPr>
              <a:t>4</a:t>
            </a:fld>
            <a:r>
              <a:rPr kumimoji="0" lang="en-US" altLang="zh-CN" sz="2600" b="0">
                <a:solidFill>
                  <a:srgbClr val="FF00FF"/>
                </a:solidFill>
              </a:rPr>
              <a:t>/</a:t>
            </a:r>
            <a:r>
              <a:rPr lang="en-US" altLang="zh-CN" sz="2800" b="0">
                <a:solidFill>
                  <a:srgbClr val="FF00FF"/>
                </a:solidFill>
              </a:rPr>
              <a:t>24</a:t>
            </a:r>
            <a:endParaRPr kumimoji="0" lang="en-US" altLang="zh-CN" sz="2600" b="0">
              <a:solidFill>
                <a:srgbClr val="FF00FF"/>
              </a:solidFill>
            </a:endParaRP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611188" y="2255271"/>
            <a:ext cx="8353300" cy="525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线上习题课</a:t>
            </a:r>
            <a:r>
              <a:rPr kumimoji="0"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 第</a:t>
            </a:r>
            <a:r>
              <a:rPr kumimoji="0"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周、</a:t>
            </a:r>
            <a:r>
              <a:rPr kumimoji="0"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周、</a:t>
            </a:r>
            <a:r>
              <a:rPr kumimoji="0"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12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周、</a:t>
            </a:r>
            <a:r>
              <a:rPr kumimoji="0"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16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周，星期二 </a:t>
            </a:r>
            <a:r>
              <a:rPr kumimoji="0" lang="en-US" altLang="zh-CN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9-10</a:t>
            </a:r>
            <a:endParaRPr kumimoji="0" lang="zh-CN" altLang="en-US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611189" y="1751215"/>
            <a:ext cx="7988299" cy="525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班级答疑：线下 </a:t>
            </a:r>
            <a:r>
              <a:rPr kumimoji="0"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集中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或 </a:t>
            </a:r>
            <a:r>
              <a:rPr kumimoji="0"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分散 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？</a:t>
            </a:r>
            <a:endParaRPr kumimoji="0" lang="zh-CN" altLang="en-US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35" grpId="0"/>
      <p:bldP spid="18437" grpId="0"/>
      <p:bldP spid="18439" grpId="0"/>
      <p:bldP spid="18440" grpId="0"/>
      <p:bldP spid="1844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5BEE3F4-A421-4D23-9299-7ED852D0BB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4077072"/>
            <a:ext cx="2258987" cy="2424365"/>
          </a:xfrm>
          <a:prstGeom prst="rect">
            <a:avLst/>
          </a:prstGeom>
        </p:spPr>
      </p:pic>
      <p:sp>
        <p:nvSpPr>
          <p:cNvPr id="104451" name="Rectangle 3"/>
          <p:cNvSpPr>
            <a:spLocks noChangeArrowheads="1"/>
          </p:cNvSpPr>
          <p:nvPr/>
        </p:nvSpPr>
        <p:spPr bwMode="auto">
          <a:xfrm>
            <a:off x="682625" y="441325"/>
            <a:ext cx="7993063" cy="320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ts val="1800"/>
              </a:spcAft>
            </a:pPr>
            <a:r>
              <a:rPr kumimoji="0" lang="en-US" altLang="zh-CN" sz="26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《</a:t>
            </a:r>
            <a:r>
              <a:rPr kumimoji="0" lang="zh-CN" altLang="en-US" sz="26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西安交通大学课程考核办法</a:t>
            </a:r>
            <a:r>
              <a:rPr kumimoji="0" lang="en-US" altLang="zh-CN" sz="26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》</a:t>
            </a:r>
            <a:r>
              <a:rPr kumimoji="0" lang="zh-CN" altLang="en-US" sz="26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第</a:t>
            </a:r>
            <a:r>
              <a:rPr kumimoji="0" lang="en-US" altLang="zh-CN" sz="2600" dirty="0">
                <a:solidFill>
                  <a:srgbClr val="FFFF00"/>
                </a:solidFill>
                <a:ea typeface="楷体_GB2312" pitchFamily="49" charset="-122"/>
              </a:rPr>
              <a:t>25</a:t>
            </a:r>
            <a:r>
              <a:rPr kumimoji="0" lang="zh-CN" altLang="en-US" sz="26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条之规定：</a:t>
            </a:r>
          </a:p>
          <a:p>
            <a:pPr eaLnBrk="1" hangingPunct="1">
              <a:lnSpc>
                <a:spcPct val="130000"/>
              </a:lnSpc>
            </a:pP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      本科生因病因事请假，缺课时数累计超过该课程学时数</a:t>
            </a:r>
            <a:r>
              <a:rPr kumimoji="0" lang="en-US" altLang="zh-CN" dirty="0">
                <a:solidFill>
                  <a:srgbClr val="FFFF00"/>
                </a:solidFill>
                <a:ea typeface="楷体_GB2312" pitchFamily="49" charset="-122"/>
              </a:rPr>
              <a:t>1/3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以上者，无故旷课达</a:t>
            </a:r>
            <a:r>
              <a:rPr kumimoji="0" lang="en-US" altLang="zh-CN" dirty="0">
                <a:solidFill>
                  <a:srgbClr val="FFFF00"/>
                </a:solidFill>
                <a:ea typeface="楷体_GB2312" pitchFamily="49" charset="-122"/>
              </a:rPr>
              <a:t>6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学时（</a:t>
            </a:r>
            <a:r>
              <a:rPr kumimoji="0" lang="zh-CN" altLang="en-US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迟到两次折合</a:t>
            </a:r>
            <a:r>
              <a:rPr kumimoji="0" lang="en-US" altLang="zh-CN" dirty="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kumimoji="0" lang="zh-CN" altLang="en-US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学时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）以上者，缺交作业（含实验报告）达</a:t>
            </a:r>
            <a:r>
              <a:rPr kumimoji="0" lang="en-US" altLang="zh-CN" dirty="0">
                <a:solidFill>
                  <a:srgbClr val="FFFF00"/>
                </a:solidFill>
                <a:ea typeface="楷体_GB2312" pitchFamily="49" charset="-122"/>
              </a:rPr>
              <a:t>1/3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以上者，或未完成教师要求的报告、实验者，不得参加该课程考核，成绩档案中记录</a:t>
            </a:r>
            <a:r>
              <a:rPr kumimoji="0" lang="zh-CN" altLang="en-US" dirty="0">
                <a:solidFill>
                  <a:schemeClr val="hlink"/>
                </a:solidFill>
                <a:ea typeface="楷体_GB2312" pitchFamily="49" charset="-122"/>
              </a:rPr>
              <a:t>“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缺考</a:t>
            </a:r>
            <a:r>
              <a:rPr kumimoji="0" lang="zh-CN" altLang="en-US" dirty="0">
                <a:solidFill>
                  <a:schemeClr val="hlink"/>
                </a:solidFill>
                <a:ea typeface="楷体_GB2312" pitchFamily="49" charset="-122"/>
              </a:rPr>
              <a:t>”</a:t>
            </a:r>
            <a:r>
              <a:rPr kumimoji="0"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104453" name="Line 5"/>
          <p:cNvSpPr>
            <a:spLocks noChangeShapeType="1"/>
          </p:cNvSpPr>
          <p:nvPr/>
        </p:nvSpPr>
        <p:spPr bwMode="auto">
          <a:xfrm>
            <a:off x="0" y="3789363"/>
            <a:ext cx="91440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6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fld id="{0D835116-D534-4F37-AC21-C0E415C7B503}" type="slidenum">
              <a:rPr kumimoji="0" lang="en-US" altLang="zh-CN" sz="2600" b="0">
                <a:solidFill>
                  <a:srgbClr val="FF00FF"/>
                </a:solidFill>
              </a:rPr>
              <a:t>5</a:t>
            </a:fld>
            <a:r>
              <a:rPr kumimoji="0" lang="en-US" altLang="zh-CN" sz="2600" b="0">
                <a:solidFill>
                  <a:srgbClr val="FF00FF"/>
                </a:solidFill>
              </a:rPr>
              <a:t>/</a:t>
            </a:r>
            <a:r>
              <a:rPr lang="en-US" altLang="zh-CN" sz="2800" b="0">
                <a:solidFill>
                  <a:srgbClr val="FF00FF"/>
                </a:solidFill>
              </a:rPr>
              <a:t>24</a:t>
            </a:r>
            <a:endParaRPr kumimoji="0" lang="en-US" altLang="zh-CN" sz="2600" b="0">
              <a:solidFill>
                <a:srgbClr val="FF00FF"/>
              </a:solidFill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755575" y="4581128"/>
            <a:ext cx="5616625" cy="1601400"/>
          </a:xfrm>
          <a:prstGeom prst="rect">
            <a:avLst/>
          </a:prstGeom>
          <a:noFill/>
          <a:ln w="15875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kumimoji="0" lang="zh-CN" altLang="en-US" sz="2600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课件分享</a:t>
            </a:r>
            <a:endParaRPr kumimoji="0" lang="en-US" altLang="zh-CN" sz="2600" dirty="0">
              <a:solidFill>
                <a:schemeClr val="hlink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0" lang="en-US" altLang="zh-CN" sz="2600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   </a:t>
            </a:r>
            <a:r>
              <a:rPr kumimoji="0" lang="zh-CN" altLang="en-US" sz="2600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思源学堂 </a:t>
            </a:r>
            <a:r>
              <a:rPr kumimoji="0" lang="en-US" altLang="zh-CN" sz="2600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http://syxt.xjtu.edu.cn</a:t>
            </a:r>
          </a:p>
          <a:p>
            <a:pPr eaLnBrk="1" hangingPunct="1">
              <a:lnSpc>
                <a:spcPct val="130000"/>
              </a:lnSpc>
            </a:pPr>
            <a:r>
              <a:rPr kumimoji="0" lang="en-US" altLang="zh-CN" sz="2600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              QQ </a:t>
            </a:r>
            <a:r>
              <a:rPr kumimoji="0" lang="zh-CN" altLang="en-US" sz="2600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群 </a:t>
            </a:r>
            <a:r>
              <a:rPr kumimoji="0" lang="en-US" altLang="zh-CN" sz="2600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1034985939</a:t>
            </a:r>
            <a:endParaRPr kumimoji="0" lang="zh-CN" altLang="en-US" sz="2600" dirty="0">
              <a:solidFill>
                <a:schemeClr val="hlink"/>
              </a:solidFill>
              <a:ea typeface="楷体_GB2312" pitchFamily="49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187624" y="4005263"/>
            <a:ext cx="5429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rgbClr val="FFFF00"/>
                </a:solidFill>
              </a:rPr>
              <a:t>要求：</a:t>
            </a:r>
            <a:r>
              <a:rPr kumimoji="0" lang="zh-CN" altLang="en-US" dirty="0">
                <a:solidFill>
                  <a:schemeClr val="bg1"/>
                </a:solidFill>
              </a:rPr>
              <a:t>课堂上不要用手机来拍课件</a:t>
            </a:r>
            <a:endParaRPr kumimoji="0" lang="zh-CN" alt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7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770" decel="100000"/>
                                        <p:tgtEl>
                                          <p:spTgt spid="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4" dur="7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6" dur="7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/>
      <p:bldP spid="6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2555875" y="357188"/>
            <a:ext cx="55451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600">
                <a:solidFill>
                  <a:srgbClr val="FFFF99"/>
                </a:solidFill>
              </a:rPr>
              <a:t>本学期的教学内容</a:t>
            </a:r>
            <a:endParaRPr kumimoji="0" lang="en-US" altLang="zh-CN" sz="3600">
              <a:solidFill>
                <a:srgbClr val="FFFF99"/>
              </a:solidFill>
            </a:endParaRP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857250" y="3357563"/>
            <a:ext cx="778668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3200" dirty="0">
                <a:solidFill>
                  <a:srgbClr val="66FF33"/>
                </a:solidFill>
              </a:rPr>
              <a:t>3. </a:t>
            </a:r>
            <a:r>
              <a:rPr kumimoji="0" lang="zh-CN" altLang="en-US" sz="3200" dirty="0">
                <a:solidFill>
                  <a:srgbClr val="66FF33"/>
                </a:solidFill>
              </a:rPr>
              <a:t>热学（热力学、气体动理论）  </a:t>
            </a:r>
            <a:r>
              <a:rPr kumimoji="0" lang="zh-CN" altLang="en-US" dirty="0">
                <a:solidFill>
                  <a:srgbClr val="FFFF00"/>
                </a:solidFill>
              </a:rPr>
              <a:t>（</a:t>
            </a:r>
            <a:r>
              <a:rPr kumimoji="0" lang="en-US" altLang="zh-CN" dirty="0">
                <a:solidFill>
                  <a:srgbClr val="FFFF00"/>
                </a:solidFill>
              </a:rPr>
              <a:t>16 h</a:t>
            </a:r>
            <a:r>
              <a:rPr kumimoji="0" lang="zh-CN" altLang="en-US" dirty="0">
                <a:solidFill>
                  <a:srgbClr val="FFFF00"/>
                </a:solidFill>
              </a:rPr>
              <a:t>）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857250" y="1196752"/>
            <a:ext cx="5286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3200" dirty="0">
                <a:solidFill>
                  <a:srgbClr val="66FF33"/>
                </a:solidFill>
              </a:rPr>
              <a:t>1. </a:t>
            </a:r>
            <a:r>
              <a:rPr kumimoji="0" lang="zh-CN" altLang="en-US" sz="3200" dirty="0">
                <a:solidFill>
                  <a:srgbClr val="66FF33"/>
                </a:solidFill>
              </a:rPr>
              <a:t>机械振动    机械波   </a:t>
            </a:r>
            <a:r>
              <a:rPr kumimoji="0" lang="zh-CN" altLang="en-US" dirty="0">
                <a:solidFill>
                  <a:srgbClr val="FFFF00"/>
                </a:solidFill>
              </a:rPr>
              <a:t>（</a:t>
            </a:r>
            <a:r>
              <a:rPr kumimoji="0" lang="en-US" altLang="zh-CN" dirty="0">
                <a:solidFill>
                  <a:srgbClr val="FFFF00"/>
                </a:solidFill>
              </a:rPr>
              <a:t>14 h</a:t>
            </a:r>
            <a:r>
              <a:rPr kumimoji="0" lang="zh-CN" altLang="en-US" dirty="0">
                <a:solidFill>
                  <a:srgbClr val="FFFF00"/>
                </a:solidFill>
              </a:rPr>
              <a:t>）</a:t>
            </a:r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882650" y="1988914"/>
            <a:ext cx="326072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3200" dirty="0">
                <a:solidFill>
                  <a:srgbClr val="66FF33"/>
                </a:solidFill>
              </a:rPr>
              <a:t>2. </a:t>
            </a:r>
            <a:r>
              <a:rPr kumimoji="0" lang="zh-CN" altLang="en-US" sz="3200" dirty="0">
                <a:solidFill>
                  <a:srgbClr val="66FF33"/>
                </a:solidFill>
              </a:rPr>
              <a:t>波动光学</a:t>
            </a:r>
            <a:endParaRPr kumimoji="0" lang="en-US" altLang="zh-CN" sz="3200" dirty="0">
              <a:solidFill>
                <a:srgbClr val="66FF33"/>
              </a:solidFill>
            </a:endParaRPr>
          </a:p>
          <a:p>
            <a:pPr eaLnBrk="1" hangingPunct="1"/>
            <a:r>
              <a:rPr kumimoji="0" lang="en-US" altLang="zh-CN" sz="3200" dirty="0">
                <a:solidFill>
                  <a:srgbClr val="66FF33"/>
                </a:solidFill>
              </a:rPr>
              <a:t> </a:t>
            </a:r>
            <a:r>
              <a:rPr kumimoji="0" lang="en-US" altLang="zh-CN" dirty="0">
                <a:solidFill>
                  <a:srgbClr val="FFFF00"/>
                </a:solidFill>
              </a:rPr>
              <a:t>   </a:t>
            </a:r>
            <a:r>
              <a:rPr kumimoji="0" lang="zh-CN" altLang="en-US" dirty="0">
                <a:solidFill>
                  <a:srgbClr val="FFFF00"/>
                </a:solidFill>
              </a:rPr>
              <a:t>（</a:t>
            </a:r>
            <a:r>
              <a:rPr kumimoji="0" lang="en-US" altLang="zh-CN" dirty="0">
                <a:solidFill>
                  <a:srgbClr val="FFFF00"/>
                </a:solidFill>
              </a:rPr>
              <a:t>18 h</a:t>
            </a:r>
            <a:r>
              <a:rPr kumimoji="0" lang="zh-CN" altLang="en-US" dirty="0">
                <a:solidFill>
                  <a:srgbClr val="FFFF00"/>
                </a:solidFill>
              </a:rPr>
              <a:t>）</a:t>
            </a: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857250" y="4867275"/>
            <a:ext cx="414337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3200" dirty="0">
                <a:solidFill>
                  <a:srgbClr val="66FF33"/>
                </a:solidFill>
              </a:rPr>
              <a:t>4. </a:t>
            </a:r>
            <a:r>
              <a:rPr kumimoji="0" lang="zh-CN" altLang="en-US" sz="3200" dirty="0">
                <a:solidFill>
                  <a:srgbClr val="66FF33"/>
                </a:solidFill>
              </a:rPr>
              <a:t>近代物理基础</a:t>
            </a:r>
            <a:endParaRPr kumimoji="0" lang="en-US" altLang="zh-CN" sz="3200" dirty="0">
              <a:solidFill>
                <a:srgbClr val="66FF33"/>
              </a:solidFill>
            </a:endParaRPr>
          </a:p>
          <a:p>
            <a:pPr eaLnBrk="1" hangingPunct="1"/>
            <a:r>
              <a:rPr kumimoji="0" lang="en-US" altLang="zh-CN" sz="3200" dirty="0">
                <a:solidFill>
                  <a:srgbClr val="66FF33"/>
                </a:solidFill>
              </a:rPr>
              <a:t>   </a:t>
            </a:r>
            <a:r>
              <a:rPr kumimoji="0" lang="zh-CN" altLang="en-US" dirty="0">
                <a:solidFill>
                  <a:srgbClr val="FFFF00"/>
                </a:solidFill>
              </a:rPr>
              <a:t>（</a:t>
            </a:r>
            <a:r>
              <a:rPr kumimoji="0" lang="en-US" altLang="zh-CN" dirty="0">
                <a:solidFill>
                  <a:srgbClr val="FFFF00"/>
                </a:solidFill>
              </a:rPr>
              <a:t>16 h</a:t>
            </a:r>
            <a:r>
              <a:rPr kumimoji="0" lang="zh-CN" altLang="en-US" dirty="0">
                <a:solidFill>
                  <a:srgbClr val="FFFF00"/>
                </a:solidFill>
              </a:rPr>
              <a:t>）</a:t>
            </a:r>
            <a:endParaRPr kumimoji="0" lang="zh-CN" altLang="en-US" dirty="0">
              <a:solidFill>
                <a:srgbClr val="66FF33"/>
              </a:solidFill>
            </a:endParaRPr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4356100" y="4143375"/>
            <a:ext cx="2665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量子物理基础</a:t>
            </a:r>
          </a:p>
        </p:txBody>
      </p:sp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4356100" y="4718050"/>
            <a:ext cx="2809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固体物理简介</a:t>
            </a:r>
          </a:p>
        </p:txBody>
      </p:sp>
      <p:sp>
        <p:nvSpPr>
          <p:cNvPr id="44041" name="Text Box 9"/>
          <p:cNvSpPr txBox="1">
            <a:spLocks noChangeArrowheads="1"/>
          </p:cNvSpPr>
          <p:nvPr/>
        </p:nvSpPr>
        <p:spPr bwMode="auto">
          <a:xfrm>
            <a:off x="4356100" y="5294313"/>
            <a:ext cx="1517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激光</a:t>
            </a:r>
          </a:p>
        </p:txBody>
      </p:sp>
      <p:sp>
        <p:nvSpPr>
          <p:cNvPr id="44042" name="AutoShape 10"/>
          <p:cNvSpPr/>
          <p:nvPr/>
        </p:nvSpPr>
        <p:spPr bwMode="auto">
          <a:xfrm>
            <a:off x="3995936" y="4360863"/>
            <a:ext cx="212725" cy="1728787"/>
          </a:xfrm>
          <a:prstGeom prst="leftBrace">
            <a:avLst>
              <a:gd name="adj1" fmla="val 67724"/>
              <a:gd name="adj2" fmla="val 50000"/>
            </a:avLst>
          </a:prstGeom>
          <a:noFill/>
          <a:ln w="254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zh-CN">
              <a:solidFill>
                <a:schemeClr val="bg1"/>
              </a:solidFill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4211960" y="5919366"/>
            <a:ext cx="4752404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rgbClr val="FF0000"/>
                </a:solidFill>
              </a:rPr>
              <a:t>*</a:t>
            </a:r>
            <a:r>
              <a:rPr kumimoji="0" lang="zh-CN" altLang="en-US" dirty="0">
                <a:solidFill>
                  <a:schemeClr val="bg1"/>
                </a:solidFill>
              </a:rPr>
              <a:t>原子核物理与粒子物理</a:t>
            </a:r>
            <a:endParaRPr kumimoji="0" lang="zh-CN" altLang="en-US" dirty="0">
              <a:solidFill>
                <a:srgbClr val="FFFF00"/>
              </a:solidFill>
            </a:endParaRPr>
          </a:p>
        </p:txBody>
      </p:sp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3418085" y="2060352"/>
            <a:ext cx="5186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</a:rPr>
              <a:t>偏振光的干涉和人工双折射</a:t>
            </a:r>
            <a:r>
              <a:rPr kumimoji="0" lang="zh-CN" altLang="en-US" dirty="0">
                <a:solidFill>
                  <a:srgbClr val="FFFF00"/>
                </a:solidFill>
              </a:rPr>
              <a:t>（拓展）</a:t>
            </a:r>
          </a:p>
        </p:txBody>
      </p:sp>
      <p:sp>
        <p:nvSpPr>
          <p:cNvPr id="9229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6049FCA-1797-4689-955D-D1EE1507A775}" type="slidenum">
              <a:rPr lang="en-US" altLang="zh-CN" b="0">
                <a:solidFill>
                  <a:srgbClr val="FF00FF"/>
                </a:solidFill>
              </a:rPr>
              <a:t>6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14" name="Line 4">
            <a:extLst>
              <a:ext uri="{FF2B5EF4-FFF2-40B4-BE49-F238E27FC236}">
                <a16:creationId xmlns:a16="http://schemas.microsoft.com/office/drawing/2014/main" id="{8116DCD9-D48A-4037-8112-B510589568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3140968"/>
            <a:ext cx="7165975" cy="2033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D0B3B2B1-3ABF-4463-B25D-0367CB140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288" y="2924944"/>
            <a:ext cx="169624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600" dirty="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rPr>
              <a:t>期中考试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  <p:bldP spid="44035" grpId="0"/>
      <p:bldP spid="44036" grpId="0"/>
      <p:bldP spid="44037" grpId="0"/>
      <p:bldP spid="44038" grpId="0"/>
      <p:bldP spid="44039" grpId="0"/>
      <p:bldP spid="44040" grpId="0"/>
      <p:bldP spid="44041" grpId="0"/>
      <p:bldP spid="44042" grpId="0" animBg="1"/>
      <p:bldP spid="11" grpId="0"/>
      <p:bldP spid="2" grpId="0"/>
      <p:bldP spid="14" grpId="0" animBg="1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83" name="Picture 19" descr="https://gimg2.baidu.com/image_search/src=http%3A%2F%2Fwww.szthks.com%2Flocalimg%2F687474703a2f2f6777312e616c6963646e2e636f6d2f62616f2f75706c6f616465642f69312f54315a31745a58764e6658585858585858585f2121302d6974656d5f7069632e6a7067.jpg&amp;refer=http%3A%2F%2Fwww.szthks.com&amp;app=2002&amp;size=f9999,10000&amp;q=a80&amp;n=0&amp;g=0n&amp;fmt=jpeg?sec=1633932224&amp;t=8924e6f6535527ae23d189fb202d877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621" y="1957388"/>
            <a:ext cx="227647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685800" y="4370388"/>
            <a:ext cx="2209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200" u="sng">
                <a:solidFill>
                  <a:srgbClr val="FFFF00"/>
                </a:solidFill>
                <a:ea typeface="楷体_GB2312" pitchFamily="49" charset="-122"/>
              </a:rPr>
              <a:t> 广义振动：</a:t>
            </a: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2411413" y="4357688"/>
            <a:ext cx="6335712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200" b="0">
                <a:solidFill>
                  <a:schemeClr val="bg1"/>
                </a:solidFill>
                <a:ea typeface="楷体_GB2312" pitchFamily="49" charset="-122"/>
              </a:rPr>
              <a:t>任一物理量 </a:t>
            </a:r>
            <a:r>
              <a:rPr lang="en-US" altLang="zh-CN" sz="2200" b="0">
                <a:solidFill>
                  <a:schemeClr val="bg1"/>
                </a:solidFill>
                <a:ea typeface="楷体_GB2312" pitchFamily="49" charset="-122"/>
              </a:rPr>
              <a:t>(</a:t>
            </a:r>
            <a:r>
              <a:rPr lang="zh-CN" altLang="en-US" sz="2200" b="0">
                <a:solidFill>
                  <a:schemeClr val="bg1"/>
                </a:solidFill>
                <a:ea typeface="楷体_GB2312" pitchFamily="49" charset="-122"/>
              </a:rPr>
              <a:t>如位移、电流等</a:t>
            </a:r>
            <a:r>
              <a:rPr lang="en-US" altLang="zh-CN" sz="2200" b="0">
                <a:solidFill>
                  <a:schemeClr val="bg1"/>
                </a:solidFill>
                <a:ea typeface="楷体_GB2312" pitchFamily="49" charset="-122"/>
              </a:rPr>
              <a:t>) </a:t>
            </a:r>
            <a:r>
              <a:rPr lang="zh-CN" altLang="en-US" sz="2200" b="0">
                <a:solidFill>
                  <a:schemeClr val="bg1"/>
                </a:solidFill>
                <a:ea typeface="楷体_GB2312" pitchFamily="49" charset="-122"/>
              </a:rPr>
              <a:t>在某一量值附近作往复变化。</a:t>
            </a:r>
          </a:p>
        </p:txBody>
      </p:sp>
      <p:grpSp>
        <p:nvGrpSpPr>
          <p:cNvPr id="2" name="Group 6"/>
          <p:cNvGrpSpPr/>
          <p:nvPr/>
        </p:nvGrpSpPr>
        <p:grpSpPr bwMode="auto">
          <a:xfrm>
            <a:off x="5216525" y="5356225"/>
            <a:ext cx="3141663" cy="1144588"/>
            <a:chOff x="2164" y="47"/>
            <a:chExt cx="1979" cy="721"/>
          </a:xfrm>
        </p:grpSpPr>
        <p:grpSp>
          <p:nvGrpSpPr>
            <p:cNvPr id="11279" name="Group 7"/>
            <p:cNvGrpSpPr/>
            <p:nvPr/>
          </p:nvGrpSpPr>
          <p:grpSpPr bwMode="auto">
            <a:xfrm>
              <a:off x="2832" y="47"/>
              <a:ext cx="1311" cy="721"/>
              <a:chOff x="2832" y="47"/>
              <a:chExt cx="1311" cy="721"/>
            </a:xfrm>
          </p:grpSpPr>
          <p:sp>
            <p:nvSpPr>
              <p:cNvPr id="11281" name="Text Box 8"/>
              <p:cNvSpPr txBox="1">
                <a:spLocks noChangeArrowheads="1"/>
              </p:cNvSpPr>
              <p:nvPr/>
            </p:nvSpPr>
            <p:spPr bwMode="auto">
              <a:xfrm>
                <a:off x="3120" y="47"/>
                <a:ext cx="1023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200" b="0">
                    <a:solidFill>
                      <a:srgbClr val="FFFF00"/>
                    </a:solidFill>
                    <a:ea typeface="楷体_GB2312" pitchFamily="49" charset="-122"/>
                  </a:rPr>
                  <a:t>机械振动  </a:t>
                </a:r>
              </a:p>
              <a:p>
                <a:pPr eaLnBrk="1" hangingPunct="1"/>
                <a:r>
                  <a:rPr lang="zh-CN" altLang="en-US" sz="2200" b="0">
                    <a:solidFill>
                      <a:srgbClr val="FFFF00"/>
                    </a:solidFill>
                    <a:ea typeface="楷体_GB2312" pitchFamily="49" charset="-122"/>
                  </a:rPr>
                  <a:t>电磁振动 </a:t>
                </a:r>
              </a:p>
              <a:p>
                <a:pPr eaLnBrk="1" hangingPunct="1"/>
                <a:r>
                  <a:rPr lang="zh-CN" altLang="en-US" sz="2200" b="0">
                    <a:solidFill>
                      <a:srgbClr val="FFFF00"/>
                    </a:solidFill>
                    <a:ea typeface="楷体_GB2312" pitchFamily="49" charset="-122"/>
                  </a:rPr>
                  <a:t> </a:t>
                </a:r>
                <a:r>
                  <a:rPr lang="zh-CN" altLang="en-US" sz="2200" b="0">
                    <a:solidFill>
                      <a:srgbClr val="FFFF00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</a:t>
                </a:r>
                <a:r>
                  <a:rPr lang="zh-CN" altLang="en-US" sz="2200" b="0">
                    <a:solidFill>
                      <a:srgbClr val="FFFF00"/>
                    </a:solidFill>
                    <a:ea typeface="楷体_GB2312" pitchFamily="49" charset="-122"/>
                  </a:rPr>
                  <a:t> </a:t>
                </a:r>
              </a:p>
            </p:txBody>
          </p:sp>
          <p:sp>
            <p:nvSpPr>
              <p:cNvPr id="11282" name="AutoShape 9"/>
              <p:cNvSpPr/>
              <p:nvPr/>
            </p:nvSpPr>
            <p:spPr bwMode="auto">
              <a:xfrm>
                <a:off x="2832" y="144"/>
                <a:ext cx="240" cy="624"/>
              </a:xfrm>
              <a:prstGeom prst="leftBrace">
                <a:avLst>
                  <a:gd name="adj1" fmla="val 21667"/>
                  <a:gd name="adj2" fmla="val 50000"/>
                </a:avLst>
              </a:prstGeom>
              <a:noFill/>
              <a:ln w="38100">
                <a:solidFill>
                  <a:srgbClr val="FF33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1280" name="Text Box 10"/>
            <p:cNvSpPr txBox="1">
              <a:spLocks noChangeArrowheads="1"/>
            </p:cNvSpPr>
            <p:nvPr/>
          </p:nvSpPr>
          <p:spPr bwMode="auto">
            <a:xfrm>
              <a:off x="2164" y="297"/>
              <a:ext cx="6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200" i="1">
                  <a:solidFill>
                    <a:srgbClr val="FFFF00"/>
                  </a:solidFill>
                  <a:ea typeface="楷体_GB2312" pitchFamily="49" charset="-122"/>
                </a:rPr>
                <a:t>形式：</a:t>
              </a:r>
            </a:p>
          </p:txBody>
        </p:sp>
      </p:grpSp>
      <p:pic>
        <p:nvPicPr>
          <p:cNvPr id="63499" name="Picture 11" descr="dan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439738"/>
            <a:ext cx="294957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500" name="Picture 12" descr="FB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800" y="428625"/>
            <a:ext cx="3419475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501" name="Text Box 13"/>
          <p:cNvSpPr txBox="1">
            <a:spLocks noChangeArrowheads="1"/>
          </p:cNvSpPr>
          <p:nvPr/>
        </p:nvSpPr>
        <p:spPr bwMode="auto">
          <a:xfrm>
            <a:off x="3357563" y="860425"/>
            <a:ext cx="1905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0">
                <a:solidFill>
                  <a:srgbClr val="FFFF00"/>
                </a:solidFill>
                <a:ea typeface="楷体_GB2312" pitchFamily="49" charset="-122"/>
              </a:rPr>
              <a:t>振动</a:t>
            </a:r>
            <a:r>
              <a:rPr lang="zh-CN" altLang="en-US" sz="2800" b="0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800" b="0">
                <a:solidFill>
                  <a:srgbClr val="FFFF00"/>
                </a:solidFill>
              </a:rPr>
              <a:t>Vibration</a:t>
            </a:r>
          </a:p>
        </p:txBody>
      </p:sp>
      <p:sp>
        <p:nvSpPr>
          <p:cNvPr id="11273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77DE9B9-23A6-4DC9-85EB-7857DE941AC7}" type="slidenum">
              <a:rPr lang="en-US" altLang="zh-CN" b="0">
                <a:solidFill>
                  <a:srgbClr val="FF00FF"/>
                </a:solidFill>
              </a:rPr>
              <a:t>7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pSp>
        <p:nvGrpSpPr>
          <p:cNvPr id="4" name="Group 6"/>
          <p:cNvGrpSpPr/>
          <p:nvPr/>
        </p:nvGrpSpPr>
        <p:grpSpPr bwMode="auto">
          <a:xfrm>
            <a:off x="1216025" y="5392738"/>
            <a:ext cx="3336925" cy="1108075"/>
            <a:chOff x="2029" y="69"/>
            <a:chExt cx="2102" cy="698"/>
          </a:xfrm>
        </p:grpSpPr>
        <p:grpSp>
          <p:nvGrpSpPr>
            <p:cNvPr id="11275" name="Group 7"/>
            <p:cNvGrpSpPr/>
            <p:nvPr/>
          </p:nvGrpSpPr>
          <p:grpSpPr bwMode="auto">
            <a:xfrm>
              <a:off x="2877" y="69"/>
              <a:ext cx="1254" cy="698"/>
              <a:chOff x="2877" y="69"/>
              <a:chExt cx="1254" cy="698"/>
            </a:xfrm>
          </p:grpSpPr>
          <p:sp>
            <p:nvSpPr>
              <p:cNvPr id="11277" name="Text Box 8"/>
              <p:cNvSpPr txBox="1">
                <a:spLocks noChangeArrowheads="1"/>
              </p:cNvSpPr>
              <p:nvPr/>
            </p:nvSpPr>
            <p:spPr bwMode="auto">
              <a:xfrm>
                <a:off x="3108" y="69"/>
                <a:ext cx="1023" cy="6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200" b="0">
                    <a:solidFill>
                      <a:srgbClr val="FFFF00"/>
                    </a:solidFill>
                    <a:ea typeface="楷体_GB2312" pitchFamily="49" charset="-122"/>
                  </a:rPr>
                  <a:t>周期振动  </a:t>
                </a:r>
              </a:p>
              <a:p>
                <a:pPr eaLnBrk="1" hangingPunct="1"/>
                <a:endParaRPr lang="en-US" altLang="zh-CN" sz="2200" b="0">
                  <a:solidFill>
                    <a:srgbClr val="FFFF00"/>
                  </a:solidFill>
                  <a:ea typeface="楷体_GB2312" pitchFamily="49" charset="-122"/>
                </a:endParaRPr>
              </a:p>
              <a:p>
                <a:pPr eaLnBrk="1" hangingPunct="1"/>
                <a:r>
                  <a:rPr lang="zh-CN" altLang="en-US" sz="2200" b="0">
                    <a:solidFill>
                      <a:srgbClr val="FFFF00"/>
                    </a:solidFill>
                    <a:ea typeface="楷体_GB2312" pitchFamily="49" charset="-122"/>
                  </a:rPr>
                  <a:t>非周期振动</a:t>
                </a:r>
              </a:p>
            </p:txBody>
          </p:sp>
          <p:sp>
            <p:nvSpPr>
              <p:cNvPr id="11278" name="AutoShape 9"/>
              <p:cNvSpPr/>
              <p:nvPr/>
            </p:nvSpPr>
            <p:spPr bwMode="auto">
              <a:xfrm>
                <a:off x="2877" y="137"/>
                <a:ext cx="187" cy="586"/>
              </a:xfrm>
              <a:prstGeom prst="leftBrace">
                <a:avLst>
                  <a:gd name="adj1" fmla="val 35791"/>
                  <a:gd name="adj2" fmla="val 50000"/>
                </a:avLst>
              </a:prstGeom>
              <a:noFill/>
              <a:ln w="38100">
                <a:solidFill>
                  <a:srgbClr val="FF33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1276" name="Text Box 10"/>
            <p:cNvSpPr txBox="1">
              <a:spLocks noChangeArrowheads="1"/>
            </p:cNvSpPr>
            <p:nvPr/>
          </p:nvSpPr>
          <p:spPr bwMode="auto">
            <a:xfrm>
              <a:off x="2029" y="297"/>
              <a:ext cx="9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200" i="1">
                  <a:solidFill>
                    <a:srgbClr val="FFFF00"/>
                  </a:solidFill>
                  <a:ea typeface="楷体_GB2312" pitchFamily="49" charset="-122"/>
                </a:rPr>
                <a:t>周期性：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build="p" autoUpdateAnimBg="0"/>
      <p:bldP spid="63493" grpId="0" autoUpdateAnimBg="0"/>
      <p:bldP spid="6350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419100" y="1489075"/>
            <a:ext cx="33607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FFFF00"/>
                </a:solidFill>
                <a:ea typeface="楷体_GB2312" pitchFamily="49" charset="-122"/>
              </a:rPr>
              <a:t>§7-1   </a:t>
            </a:r>
            <a:r>
              <a:rPr lang="zh-CN" altLang="en-US" sz="2200">
                <a:solidFill>
                  <a:srgbClr val="FFFF00"/>
                </a:solidFill>
                <a:ea typeface="楷体_GB2312" pitchFamily="49" charset="-122"/>
              </a:rPr>
              <a:t>简谐振动</a:t>
            </a:r>
          </a:p>
        </p:txBody>
      </p: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515938" y="1993900"/>
            <a:ext cx="50641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1. </a:t>
            </a:r>
            <a:r>
              <a:rPr lang="zh-CN" altLang="en-US" sz="220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简谐振动的动力学和运动学描述</a:t>
            </a:r>
            <a:endParaRPr lang="zh-CN" altLang="en-US" sz="2200" b="0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5881688" y="1844675"/>
            <a:ext cx="2362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例：</a:t>
            </a: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弹簧振子</a:t>
            </a:r>
            <a:endParaRPr lang="zh-CN" altLang="en-US" sz="2200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41"/>
          <p:cNvGrpSpPr/>
          <p:nvPr/>
        </p:nvGrpSpPr>
        <p:grpSpPr bwMode="auto">
          <a:xfrm>
            <a:off x="5384800" y="2349500"/>
            <a:ext cx="3473450" cy="1398588"/>
            <a:chOff x="3504" y="1480"/>
            <a:chExt cx="2188" cy="881"/>
          </a:xfrm>
        </p:grpSpPr>
        <p:sp>
          <p:nvSpPr>
            <p:cNvPr id="12319" name="Line 7"/>
            <p:cNvSpPr>
              <a:spLocks noChangeShapeType="1"/>
            </p:cNvSpPr>
            <p:nvPr/>
          </p:nvSpPr>
          <p:spPr bwMode="auto">
            <a:xfrm>
              <a:off x="3504" y="2125"/>
              <a:ext cx="2112" cy="0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320" name="Group 40"/>
            <p:cNvGrpSpPr/>
            <p:nvPr/>
          </p:nvGrpSpPr>
          <p:grpSpPr bwMode="auto">
            <a:xfrm>
              <a:off x="3504" y="1480"/>
              <a:ext cx="2188" cy="881"/>
              <a:chOff x="3504" y="1480"/>
              <a:chExt cx="2188" cy="881"/>
            </a:xfrm>
          </p:grpSpPr>
          <p:grpSp>
            <p:nvGrpSpPr>
              <p:cNvPr id="12321" name="Group 39"/>
              <p:cNvGrpSpPr/>
              <p:nvPr/>
            </p:nvGrpSpPr>
            <p:grpSpPr bwMode="auto">
              <a:xfrm>
                <a:off x="3504" y="1480"/>
                <a:ext cx="1838" cy="632"/>
                <a:chOff x="3504" y="1480"/>
                <a:chExt cx="1838" cy="632"/>
              </a:xfrm>
            </p:grpSpPr>
            <p:sp>
              <p:nvSpPr>
                <p:cNvPr id="12324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3504" y="1488"/>
                  <a:ext cx="0" cy="624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25" name="Rectangle 9"/>
                <p:cNvSpPr>
                  <a:spLocks noChangeArrowheads="1"/>
                </p:cNvSpPr>
                <p:nvPr/>
              </p:nvSpPr>
              <p:spPr bwMode="auto">
                <a:xfrm>
                  <a:off x="4896" y="1741"/>
                  <a:ext cx="240" cy="371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2326" name="Freeform 10"/>
                <p:cNvSpPr/>
                <p:nvPr/>
              </p:nvSpPr>
              <p:spPr bwMode="auto">
                <a:xfrm>
                  <a:off x="3504" y="1837"/>
                  <a:ext cx="1392" cy="192"/>
                </a:xfrm>
                <a:custGeom>
                  <a:avLst/>
                  <a:gdLst>
                    <a:gd name="T0" fmla="*/ 0 w 1392"/>
                    <a:gd name="T1" fmla="*/ 2147483646 h 96"/>
                    <a:gd name="T2" fmla="*/ 96 w 1392"/>
                    <a:gd name="T3" fmla="*/ 2147483646 h 96"/>
                    <a:gd name="T4" fmla="*/ 192 w 1392"/>
                    <a:gd name="T5" fmla="*/ 0 h 96"/>
                    <a:gd name="T6" fmla="*/ 288 w 1392"/>
                    <a:gd name="T7" fmla="*/ 2147483646 h 96"/>
                    <a:gd name="T8" fmla="*/ 384 w 1392"/>
                    <a:gd name="T9" fmla="*/ 0 h 96"/>
                    <a:gd name="T10" fmla="*/ 480 w 1392"/>
                    <a:gd name="T11" fmla="*/ 2147483646 h 96"/>
                    <a:gd name="T12" fmla="*/ 576 w 1392"/>
                    <a:gd name="T13" fmla="*/ 0 h 96"/>
                    <a:gd name="T14" fmla="*/ 672 w 1392"/>
                    <a:gd name="T15" fmla="*/ 2147483646 h 96"/>
                    <a:gd name="T16" fmla="*/ 768 w 1392"/>
                    <a:gd name="T17" fmla="*/ 0 h 96"/>
                    <a:gd name="T18" fmla="*/ 864 w 1392"/>
                    <a:gd name="T19" fmla="*/ 2147483646 h 96"/>
                    <a:gd name="T20" fmla="*/ 960 w 1392"/>
                    <a:gd name="T21" fmla="*/ 0 h 96"/>
                    <a:gd name="T22" fmla="*/ 1056 w 1392"/>
                    <a:gd name="T23" fmla="*/ 2147483646 h 96"/>
                    <a:gd name="T24" fmla="*/ 1152 w 1392"/>
                    <a:gd name="T25" fmla="*/ 0 h 96"/>
                    <a:gd name="T26" fmla="*/ 1248 w 1392"/>
                    <a:gd name="T27" fmla="*/ 2147483646 h 96"/>
                    <a:gd name="T28" fmla="*/ 1296 w 1392"/>
                    <a:gd name="T29" fmla="*/ 2147483646 h 96"/>
                    <a:gd name="T30" fmla="*/ 1392 w 1392"/>
                    <a:gd name="T31" fmla="*/ 2147483646 h 9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1392"/>
                    <a:gd name="T49" fmla="*/ 0 h 96"/>
                    <a:gd name="T50" fmla="*/ 1392 w 1392"/>
                    <a:gd name="T51" fmla="*/ 96 h 9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1392" h="96">
                      <a:moveTo>
                        <a:pt x="0" y="48"/>
                      </a:moveTo>
                      <a:lnTo>
                        <a:pt x="96" y="96"/>
                      </a:lnTo>
                      <a:lnTo>
                        <a:pt x="192" y="0"/>
                      </a:lnTo>
                      <a:lnTo>
                        <a:pt x="288" y="96"/>
                      </a:lnTo>
                      <a:lnTo>
                        <a:pt x="384" y="0"/>
                      </a:lnTo>
                      <a:lnTo>
                        <a:pt x="480" y="96"/>
                      </a:lnTo>
                      <a:lnTo>
                        <a:pt x="576" y="0"/>
                      </a:lnTo>
                      <a:lnTo>
                        <a:pt x="672" y="96"/>
                      </a:lnTo>
                      <a:lnTo>
                        <a:pt x="768" y="0"/>
                      </a:lnTo>
                      <a:lnTo>
                        <a:pt x="864" y="96"/>
                      </a:lnTo>
                      <a:lnTo>
                        <a:pt x="960" y="0"/>
                      </a:lnTo>
                      <a:lnTo>
                        <a:pt x="1056" y="96"/>
                      </a:lnTo>
                      <a:lnTo>
                        <a:pt x="1152" y="0"/>
                      </a:lnTo>
                      <a:lnTo>
                        <a:pt x="1248" y="96"/>
                      </a:lnTo>
                      <a:lnTo>
                        <a:pt x="1296" y="48"/>
                      </a:lnTo>
                      <a:lnTo>
                        <a:pt x="1392" y="48"/>
                      </a:lnTo>
                    </a:path>
                  </a:pathLst>
                </a:custGeom>
                <a:noFill/>
                <a:ln w="22225">
                  <a:solidFill>
                    <a:srgbClr val="FF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27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876" y="1480"/>
                  <a:ext cx="466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i="1">
                      <a:solidFill>
                        <a:srgbClr val="FFFF00"/>
                      </a:solidFill>
                      <a:ea typeface="楷体_GB2312" pitchFamily="49" charset="-122"/>
                    </a:rPr>
                    <a:t>m</a:t>
                  </a:r>
                </a:p>
              </p:txBody>
            </p:sp>
            <p:sp>
              <p:nvSpPr>
                <p:cNvPr id="12328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4032" y="1516"/>
                  <a:ext cx="61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i="1">
                      <a:solidFill>
                        <a:srgbClr val="FFFF00"/>
                      </a:solidFill>
                      <a:ea typeface="楷体_GB2312" pitchFamily="49" charset="-122"/>
                    </a:rPr>
                    <a:t>k</a:t>
                  </a:r>
                </a:p>
              </p:txBody>
            </p:sp>
          </p:grpSp>
          <p:sp>
            <p:nvSpPr>
              <p:cNvPr id="12322" name="Text Box 13"/>
              <p:cNvSpPr txBox="1">
                <a:spLocks noChangeArrowheads="1"/>
              </p:cNvSpPr>
              <p:nvPr/>
            </p:nvSpPr>
            <p:spPr bwMode="auto">
              <a:xfrm>
                <a:off x="5374" y="1842"/>
                <a:ext cx="31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FFFF00"/>
                    </a:solidFill>
                    <a:ea typeface="楷体_GB2312" pitchFamily="49" charset="-122"/>
                  </a:rPr>
                  <a:t>x</a:t>
                </a:r>
              </a:p>
            </p:txBody>
          </p:sp>
          <p:sp>
            <p:nvSpPr>
              <p:cNvPr id="12323" name="Text Box 14"/>
              <p:cNvSpPr txBox="1">
                <a:spLocks noChangeArrowheads="1"/>
              </p:cNvSpPr>
              <p:nvPr/>
            </p:nvSpPr>
            <p:spPr bwMode="auto">
              <a:xfrm>
                <a:off x="4377" y="2092"/>
                <a:ext cx="20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200" i="1">
                    <a:solidFill>
                      <a:srgbClr val="FFFF00"/>
                    </a:solidFill>
                    <a:ea typeface="楷体_GB2312" pitchFamily="49" charset="-122"/>
                  </a:rPr>
                  <a:t>o</a:t>
                </a:r>
              </a:p>
            </p:txBody>
          </p:sp>
        </p:grpSp>
      </p:grpSp>
      <p:sp>
        <p:nvSpPr>
          <p:cNvPr id="64527" name="AutoShape 15"/>
          <p:cNvSpPr>
            <a:spLocks noChangeArrowheads="1"/>
          </p:cNvSpPr>
          <p:nvPr/>
        </p:nvSpPr>
        <p:spPr bwMode="auto">
          <a:xfrm>
            <a:off x="7162800" y="2997200"/>
            <a:ext cx="609600" cy="144463"/>
          </a:xfrm>
          <a:prstGeom prst="leftArrow">
            <a:avLst>
              <a:gd name="adj1" fmla="val 50000"/>
              <a:gd name="adj2" fmla="val 105494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28" name="Text Box 16"/>
          <p:cNvSpPr txBox="1">
            <a:spLocks noChangeArrowheads="1"/>
          </p:cNvSpPr>
          <p:nvPr/>
        </p:nvSpPr>
        <p:spPr bwMode="auto">
          <a:xfrm>
            <a:off x="7235825" y="2363788"/>
            <a:ext cx="85248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i="1">
                <a:solidFill>
                  <a:srgbClr val="FF0000"/>
                </a:solidFill>
                <a:ea typeface="楷体_GB2312" pitchFamily="49" charset="-122"/>
              </a:rPr>
              <a:t>f</a:t>
            </a:r>
          </a:p>
        </p:txBody>
      </p:sp>
      <p:sp>
        <p:nvSpPr>
          <p:cNvPr id="64529" name="Text Box 17"/>
          <p:cNvSpPr txBox="1">
            <a:spLocks noChangeArrowheads="1"/>
          </p:cNvSpPr>
          <p:nvPr/>
        </p:nvSpPr>
        <p:spPr bwMode="auto">
          <a:xfrm>
            <a:off x="2843213" y="2641600"/>
            <a:ext cx="244951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chemeClr val="bg1"/>
                </a:solidFill>
                <a:ea typeface="楷体_GB2312" pitchFamily="49" charset="-122"/>
              </a:rPr>
              <a:t>—</a:t>
            </a:r>
            <a:r>
              <a:rPr lang="en-US" altLang="zh-CN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线性回复力</a:t>
            </a:r>
          </a:p>
        </p:txBody>
      </p:sp>
      <p:graphicFrame>
        <p:nvGraphicFramePr>
          <p:cNvPr id="64530" name="Object 18"/>
          <p:cNvGraphicFramePr>
            <a:graphicFrameLocks noChangeAspect="1"/>
          </p:cNvGraphicFramePr>
          <p:nvPr/>
        </p:nvGraphicFramePr>
        <p:xfrm>
          <a:off x="896938" y="2595563"/>
          <a:ext cx="18748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6" name="公式" r:id="rId3" imgW="579755" imgH="144780" progId="Equation.3">
                  <p:embed/>
                </p:oleObj>
              </mc:Choice>
              <mc:Fallback>
                <p:oleObj name="公式" r:id="rId3" imgW="579755" imgH="1447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938" y="2595563"/>
                        <a:ext cx="1874837" cy="5461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1" name="Object 19"/>
          <p:cNvGraphicFramePr>
            <a:graphicFrameLocks noChangeAspect="1"/>
          </p:cNvGraphicFramePr>
          <p:nvPr/>
        </p:nvGraphicFramePr>
        <p:xfrm>
          <a:off x="971550" y="4076700"/>
          <a:ext cx="273526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7" name="公式" r:id="rId5" imgW="1282700" imgH="356870" progId="Equation.3">
                  <p:embed/>
                </p:oleObj>
              </mc:Choice>
              <mc:Fallback>
                <p:oleObj name="公式" r:id="rId5" imgW="1282700" imgH="35687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076700"/>
                        <a:ext cx="273526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2" name="Object 20"/>
          <p:cNvGraphicFramePr>
            <a:graphicFrameLocks noChangeAspect="1"/>
          </p:cNvGraphicFramePr>
          <p:nvPr/>
        </p:nvGraphicFramePr>
        <p:xfrm>
          <a:off x="2198688" y="5583238"/>
          <a:ext cx="2157412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8" name="公式" r:id="rId7" imgW="948055" imgH="356870" progId="Equation.3">
                  <p:embed/>
                </p:oleObj>
              </mc:Choice>
              <mc:Fallback>
                <p:oleObj name="公式" r:id="rId7" imgW="948055" imgH="35687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688" y="5583238"/>
                        <a:ext cx="2157412" cy="941387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33" name="AutoShape 21"/>
          <p:cNvSpPr>
            <a:spLocks noChangeArrowheads="1"/>
          </p:cNvSpPr>
          <p:nvPr/>
        </p:nvSpPr>
        <p:spPr bwMode="auto">
          <a:xfrm>
            <a:off x="4500563" y="5934075"/>
            <a:ext cx="1008062" cy="303213"/>
          </a:xfrm>
          <a:prstGeom prst="rightArrow">
            <a:avLst>
              <a:gd name="adj1" fmla="val 50000"/>
              <a:gd name="adj2" fmla="val 135801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34" name="Text Box 22"/>
          <p:cNvSpPr txBox="1">
            <a:spLocks noChangeArrowheads="1"/>
          </p:cNvSpPr>
          <p:nvPr/>
        </p:nvSpPr>
        <p:spPr bwMode="auto">
          <a:xfrm>
            <a:off x="523875" y="5810250"/>
            <a:ext cx="25352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动力学方程</a:t>
            </a:r>
            <a:endParaRPr lang="zh-CN" altLang="en-US" sz="2200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4536" name="AutoShape 24"/>
          <p:cNvSpPr>
            <a:spLocks noChangeArrowheads="1"/>
          </p:cNvSpPr>
          <p:nvPr/>
        </p:nvSpPr>
        <p:spPr bwMode="auto">
          <a:xfrm>
            <a:off x="2268538" y="3286125"/>
            <a:ext cx="320675" cy="1079500"/>
          </a:xfrm>
          <a:prstGeom prst="downArrow">
            <a:avLst>
              <a:gd name="adj1" fmla="val 47583"/>
              <a:gd name="adj2" fmla="val 10296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37" name="Text Box 25"/>
          <p:cNvSpPr txBox="1">
            <a:spLocks noChangeArrowheads="1"/>
          </p:cNvSpPr>
          <p:nvPr/>
        </p:nvSpPr>
        <p:spPr bwMode="auto">
          <a:xfrm>
            <a:off x="323850" y="3429000"/>
            <a:ext cx="223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00FF00"/>
                </a:solidFill>
                <a:ea typeface="楷体_GB2312" pitchFamily="49" charset="-122"/>
              </a:rPr>
              <a:t>Newton’s Law</a:t>
            </a:r>
            <a:endParaRPr lang="en-US" altLang="zh-CN" i="1">
              <a:solidFill>
                <a:srgbClr val="FFFF66"/>
              </a:solidFill>
              <a:ea typeface="楷体_GB2312" pitchFamily="49" charset="-122"/>
            </a:endParaRPr>
          </a:p>
        </p:txBody>
      </p:sp>
      <p:grpSp>
        <p:nvGrpSpPr>
          <p:cNvPr id="5" name="Group 42"/>
          <p:cNvGrpSpPr/>
          <p:nvPr/>
        </p:nvGrpSpPr>
        <p:grpSpPr bwMode="auto">
          <a:xfrm>
            <a:off x="4211638" y="4352925"/>
            <a:ext cx="1447800" cy="947738"/>
            <a:chOff x="2653" y="2742"/>
            <a:chExt cx="912" cy="597"/>
          </a:xfrm>
        </p:grpSpPr>
        <p:sp>
          <p:nvSpPr>
            <p:cNvPr id="12317" name="AutoShape 27"/>
            <p:cNvSpPr>
              <a:spLocks noChangeArrowheads="1"/>
            </p:cNvSpPr>
            <p:nvPr/>
          </p:nvSpPr>
          <p:spPr bwMode="auto">
            <a:xfrm flipV="1">
              <a:off x="2653" y="2750"/>
              <a:ext cx="912" cy="576"/>
            </a:xfrm>
            <a:prstGeom prst="wedgeRectCallout">
              <a:avLst>
                <a:gd name="adj1" fmla="val -92000"/>
                <a:gd name="adj2" fmla="val -106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rot="10800000"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200" b="0">
                <a:ea typeface="楷体_GB2312" pitchFamily="49" charset="-122"/>
              </a:endParaRPr>
            </a:p>
          </p:txBody>
        </p:sp>
        <p:graphicFrame>
          <p:nvGraphicFramePr>
            <p:cNvPr id="12318" name="Object 28"/>
            <p:cNvGraphicFramePr>
              <a:graphicFrameLocks noChangeAspect="1"/>
            </p:cNvGraphicFramePr>
            <p:nvPr/>
          </p:nvGraphicFramePr>
          <p:xfrm>
            <a:off x="2702" y="2742"/>
            <a:ext cx="768" cy="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99" name="公式" r:id="rId9" imgW="533400" imgH="393700" progId="Equation.3">
                    <p:embed/>
                  </p:oleObj>
                </mc:Choice>
                <mc:Fallback>
                  <p:oleObj name="公式" r:id="rId9" imgW="533400" imgH="3937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2" y="2742"/>
                          <a:ext cx="768" cy="5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541" name="Object 29"/>
          <p:cNvGraphicFramePr>
            <a:graphicFrameLocks noChangeAspect="1"/>
          </p:cNvGraphicFramePr>
          <p:nvPr/>
        </p:nvGraphicFramePr>
        <p:xfrm>
          <a:off x="5580063" y="5805488"/>
          <a:ext cx="3024187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0" name="公式" r:id="rId11" imgW="1215390" imgH="133985" progId="Equation.3">
                  <p:embed/>
                </p:oleObj>
              </mc:Choice>
              <mc:Fallback>
                <p:oleObj name="公式" r:id="rId11" imgW="1215390" imgH="133985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805488"/>
                        <a:ext cx="3024187" cy="53181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42" name="AutoShape 30"/>
          <p:cNvSpPr>
            <a:spLocks noChangeArrowheads="1"/>
          </p:cNvSpPr>
          <p:nvPr/>
        </p:nvSpPr>
        <p:spPr bwMode="auto">
          <a:xfrm>
            <a:off x="1331913" y="4941888"/>
            <a:ext cx="287337" cy="863600"/>
          </a:xfrm>
          <a:prstGeom prst="downArrow">
            <a:avLst>
              <a:gd name="adj1" fmla="val 47398"/>
              <a:gd name="adj2" fmla="val 127944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43" name="Text Box 31"/>
          <p:cNvSpPr txBox="1">
            <a:spLocks noChangeArrowheads="1"/>
          </p:cNvSpPr>
          <p:nvPr/>
        </p:nvSpPr>
        <p:spPr bwMode="auto">
          <a:xfrm>
            <a:off x="5724525" y="5300663"/>
            <a:ext cx="2667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运动学方程</a:t>
            </a:r>
            <a:endParaRPr lang="zh-CN" altLang="en-US" sz="2200" b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64544" name="AutoShape 32"/>
          <p:cNvSpPr>
            <a:spLocks noChangeArrowheads="1"/>
          </p:cNvSpPr>
          <p:nvPr/>
        </p:nvSpPr>
        <p:spPr bwMode="auto">
          <a:xfrm>
            <a:off x="6315075" y="4508500"/>
            <a:ext cx="201613" cy="793750"/>
          </a:xfrm>
          <a:prstGeom prst="upDownArrow">
            <a:avLst>
              <a:gd name="adj1" fmla="val 39454"/>
              <a:gd name="adj2" fmla="val 8665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45" name="Text Box 33"/>
          <p:cNvSpPr txBox="1">
            <a:spLocks noChangeArrowheads="1"/>
          </p:cNvSpPr>
          <p:nvPr/>
        </p:nvSpPr>
        <p:spPr bwMode="auto">
          <a:xfrm>
            <a:off x="5934075" y="4010025"/>
            <a:ext cx="10858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特征：</a:t>
            </a:r>
            <a:endParaRPr lang="zh-CN" altLang="en-US" sz="2200" b="0">
              <a:solidFill>
                <a:schemeClr val="hlink"/>
              </a:solidFill>
              <a:ea typeface="楷体_GB2312" pitchFamily="49" charset="-122"/>
            </a:endParaRPr>
          </a:p>
        </p:txBody>
      </p:sp>
      <p:sp>
        <p:nvSpPr>
          <p:cNvPr id="64546" name="Text Box 34"/>
          <p:cNvSpPr txBox="1">
            <a:spLocks noChangeArrowheads="1"/>
          </p:cNvSpPr>
          <p:nvPr/>
        </p:nvSpPr>
        <p:spPr bwMode="auto">
          <a:xfrm>
            <a:off x="7207250" y="3722688"/>
            <a:ext cx="17224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  <a:sym typeface="Symbol" panose="05050102010706020507" pitchFamily="18" charset="2"/>
              </a:rPr>
              <a:t>等幅振动</a:t>
            </a:r>
            <a:endParaRPr lang="zh-CN" altLang="en-US" sz="2200" b="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64547" name="Text Box 35"/>
          <p:cNvSpPr txBox="1">
            <a:spLocks noChangeArrowheads="1"/>
          </p:cNvSpPr>
          <p:nvPr/>
        </p:nvSpPr>
        <p:spPr bwMode="auto">
          <a:xfrm>
            <a:off x="7235825" y="4292600"/>
            <a:ext cx="16938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  <a:sym typeface="Symbol" panose="05050102010706020507" pitchFamily="18" charset="2"/>
              </a:rPr>
              <a:t>周期运动</a:t>
            </a:r>
            <a:endParaRPr lang="zh-CN" altLang="en-US" sz="2200" b="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64548" name="AutoShape 36"/>
          <p:cNvSpPr/>
          <p:nvPr/>
        </p:nvSpPr>
        <p:spPr bwMode="auto">
          <a:xfrm>
            <a:off x="6948488" y="3870325"/>
            <a:ext cx="230187" cy="782638"/>
          </a:xfrm>
          <a:prstGeom prst="leftBrace">
            <a:avLst>
              <a:gd name="adj1" fmla="val 43681"/>
              <a:gd name="adj2" fmla="val 50000"/>
            </a:avLst>
          </a:prstGeom>
          <a:noFill/>
          <a:ln w="317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50" name="Text Box 38"/>
          <p:cNvSpPr txBox="1">
            <a:spLocks noChangeArrowheads="1"/>
          </p:cNvSpPr>
          <p:nvPr/>
        </p:nvSpPr>
        <p:spPr bwMode="auto">
          <a:xfrm>
            <a:off x="468313" y="981075"/>
            <a:ext cx="845661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机械振动 </a:t>
            </a:r>
            <a:r>
              <a:rPr lang="en-US" altLang="zh-CN" sz="2200" dirty="0">
                <a:solidFill>
                  <a:schemeClr val="bg1"/>
                </a:solidFill>
                <a:ea typeface="楷体_GB2312" pitchFamily="49" charset="-122"/>
              </a:rPr>
              <a:t>——</a:t>
            </a:r>
            <a:r>
              <a:rPr lang="en-US" altLang="zh-CN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物体在平衡位置附近所作的往复运动，简称振动</a:t>
            </a:r>
            <a:endParaRPr lang="zh-CN" altLang="en-US" sz="22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4549" name="Text Box 37"/>
          <p:cNvSpPr txBox="1">
            <a:spLocks noChangeArrowheads="1"/>
          </p:cNvSpPr>
          <p:nvPr/>
        </p:nvSpPr>
        <p:spPr bwMode="auto">
          <a:xfrm>
            <a:off x="2286000" y="287338"/>
            <a:ext cx="46085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>
                <a:solidFill>
                  <a:srgbClr val="00FF00"/>
                </a:solidFill>
                <a:latin typeface="宋体" panose="02010600030101010101" pitchFamily="2" charset="-122"/>
              </a:rPr>
              <a:t>第</a:t>
            </a:r>
            <a:r>
              <a:rPr lang="zh-CN" altLang="en-US" sz="3600">
                <a:solidFill>
                  <a:srgbClr val="00FF00"/>
                </a:solidFill>
              </a:rPr>
              <a:t> </a:t>
            </a:r>
            <a:r>
              <a:rPr lang="en-US" altLang="zh-CN" sz="3600">
                <a:solidFill>
                  <a:srgbClr val="00FF00"/>
                </a:solidFill>
              </a:rPr>
              <a:t>7 </a:t>
            </a:r>
            <a:r>
              <a:rPr lang="zh-CN" altLang="en-US" sz="3600">
                <a:solidFill>
                  <a:srgbClr val="00FF00"/>
                </a:solidFill>
                <a:latin typeface="宋体" panose="02010600030101010101" pitchFamily="2" charset="-122"/>
              </a:rPr>
              <a:t>章   机械振动</a:t>
            </a:r>
            <a:endParaRPr lang="zh-CN" altLang="en-US" sz="3600" b="0">
              <a:solidFill>
                <a:srgbClr val="00FF00"/>
              </a:solidFill>
              <a:latin typeface="宋体" panose="02010600030101010101" pitchFamily="2" charset="-122"/>
            </a:endParaRPr>
          </a:p>
        </p:txBody>
      </p:sp>
      <p:sp>
        <p:nvSpPr>
          <p:cNvPr id="12315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FDD7627-E3C1-4BC5-8D48-E52C74F83E19}" type="slidenum">
              <a:rPr lang="en-US" altLang="zh-CN" b="0">
                <a:solidFill>
                  <a:srgbClr val="FF00FF"/>
                </a:solidFill>
              </a:rPr>
              <a:t>8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40" name="椭圆 39"/>
          <p:cNvSpPr>
            <a:spLocks noChangeArrowheads="1"/>
          </p:cNvSpPr>
          <p:nvPr/>
        </p:nvSpPr>
        <p:spPr bwMode="auto">
          <a:xfrm>
            <a:off x="6858000" y="3340100"/>
            <a:ext cx="71438" cy="71438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4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4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4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4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6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4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4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64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64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4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64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64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6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6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build="p" autoUpdateAnimBg="0"/>
      <p:bldP spid="64517" grpId="0" autoUpdateAnimBg="0"/>
      <p:bldP spid="64518" grpId="0" build="p" autoUpdateAnimBg="0"/>
      <p:bldP spid="64527" grpId="0" animBg="1"/>
      <p:bldP spid="64528" grpId="0" build="p" autoUpdateAnimBg="0"/>
      <p:bldP spid="64529" grpId="0" build="p" autoUpdateAnimBg="0"/>
      <p:bldP spid="64533" grpId="0" animBg="1"/>
      <p:bldP spid="64534" grpId="0" build="p" autoUpdateAnimBg="0"/>
      <p:bldP spid="64536" grpId="0" animBg="1"/>
      <p:bldP spid="64537" grpId="0" build="p" autoUpdateAnimBg="0"/>
      <p:bldP spid="64542" grpId="0" animBg="1"/>
      <p:bldP spid="64543" grpId="0" build="p" autoUpdateAnimBg="0"/>
      <p:bldP spid="64544" grpId="0" animBg="1"/>
      <p:bldP spid="64545" grpId="0" build="p" autoUpdateAnimBg="0"/>
      <p:bldP spid="64546" grpId="0" build="p" autoUpdateAnimBg="0"/>
      <p:bldP spid="64547" grpId="0" autoUpdateAnimBg="0"/>
      <p:bldP spid="64548" grpId="0" animBg="1"/>
      <p:bldP spid="64550" grpId="0" build="p" autoUpdateAnimBg="0"/>
      <p:bldP spid="64549" grpId="0" autoUpdateAnimBg="0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358775" y="188565"/>
            <a:ext cx="1981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速度</a:t>
            </a:r>
            <a:endParaRPr lang="zh-CN" altLang="en-US" sz="22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1436688" y="-86072"/>
          <a:ext cx="382746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7" name="公式" r:id="rId3" imgW="1750695" imgH="368300" progId="Equation.3">
                  <p:embed/>
                </p:oleObj>
              </mc:Choice>
              <mc:Fallback>
                <p:oleObj name="公式" r:id="rId3" imgW="1750695" imgH="368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688" y="-86072"/>
                        <a:ext cx="3827462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2" name="Object 6"/>
          <p:cNvGraphicFramePr>
            <a:graphicFrameLocks noChangeAspect="1"/>
          </p:cNvGraphicFramePr>
          <p:nvPr/>
        </p:nvGraphicFramePr>
        <p:xfrm>
          <a:off x="5219700" y="-98772"/>
          <a:ext cx="338455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8" name="公式" r:id="rId5" imgW="1483360" imgH="323215" progId="Equation.3">
                  <p:embed/>
                </p:oleObj>
              </mc:Choice>
              <mc:Fallback>
                <p:oleObj name="公式" r:id="rId5" imgW="1483360" imgH="32321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-98772"/>
                        <a:ext cx="338455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7"/>
          <p:cNvGraphicFramePr>
            <a:graphicFrameLocks noChangeAspect="1"/>
          </p:cNvGraphicFramePr>
          <p:nvPr/>
        </p:nvGraphicFramePr>
        <p:xfrm>
          <a:off x="1620838" y="858739"/>
          <a:ext cx="352742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9" name="公式" r:id="rId7" imgW="1471930" imgH="133985" progId="Equation.3">
                  <p:embed/>
                </p:oleObj>
              </mc:Choice>
              <mc:Fallback>
                <p:oleObj name="公式" r:id="rId7" imgW="1471930" imgH="13398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858739"/>
                        <a:ext cx="3527425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4" name="AutoShape 8"/>
          <p:cNvSpPr>
            <a:spLocks noChangeArrowheads="1"/>
          </p:cNvSpPr>
          <p:nvPr/>
        </p:nvSpPr>
        <p:spPr bwMode="auto">
          <a:xfrm>
            <a:off x="646113" y="1001614"/>
            <a:ext cx="830262" cy="288925"/>
          </a:xfrm>
          <a:prstGeom prst="rightArrow">
            <a:avLst>
              <a:gd name="adj1" fmla="val 49454"/>
              <a:gd name="adj2" fmla="val 92462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5" name="Text Box 9"/>
          <p:cNvSpPr txBox="1">
            <a:spLocks noChangeArrowheads="1"/>
          </p:cNvSpPr>
          <p:nvPr/>
        </p:nvSpPr>
        <p:spPr bwMode="auto">
          <a:xfrm>
            <a:off x="373063" y="1772122"/>
            <a:ext cx="18224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chemeClr val="bg1"/>
                </a:solidFill>
                <a:ea typeface="楷体_GB2312" pitchFamily="49" charset="-122"/>
              </a:rPr>
              <a:t>•</a:t>
            </a:r>
            <a:r>
              <a:rPr lang="en-US" altLang="zh-CN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加速度</a:t>
            </a:r>
            <a:endParaRPr lang="zh-CN" altLang="en-US" sz="22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65546" name="Object 10"/>
          <p:cNvGraphicFramePr>
            <a:graphicFrameLocks noChangeAspect="1"/>
          </p:cNvGraphicFramePr>
          <p:nvPr/>
        </p:nvGraphicFramePr>
        <p:xfrm>
          <a:off x="1666875" y="1484784"/>
          <a:ext cx="433705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0" name="公式" r:id="rId9" imgW="2141220" imgH="401320" progId="Equation.3">
                  <p:embed/>
                </p:oleObj>
              </mc:Choice>
              <mc:Fallback>
                <p:oleObj name="公式" r:id="rId9" imgW="2141220" imgH="4013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5" y="1484784"/>
                        <a:ext cx="433705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7" name="Object 11"/>
          <p:cNvGraphicFramePr>
            <a:graphicFrameLocks noChangeAspect="1"/>
          </p:cNvGraphicFramePr>
          <p:nvPr/>
        </p:nvGraphicFramePr>
        <p:xfrm>
          <a:off x="1547813" y="2492896"/>
          <a:ext cx="316865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1" name="公式" r:id="rId11" imgW="1471930" imgH="133985" progId="Equation.3">
                  <p:embed/>
                </p:oleObj>
              </mc:Choice>
              <mc:Fallback>
                <p:oleObj name="公式" r:id="rId11" imgW="1471930" imgH="13398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492896"/>
                        <a:ext cx="316865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8" name="Text Box 12"/>
          <p:cNvSpPr txBox="1">
            <a:spLocks noChangeArrowheads="1"/>
          </p:cNvSpPr>
          <p:nvPr/>
        </p:nvSpPr>
        <p:spPr bwMode="auto">
          <a:xfrm>
            <a:off x="4859338" y="2523058"/>
            <a:ext cx="29527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</a:rPr>
              <a:t>——</a:t>
            </a:r>
            <a:r>
              <a:rPr lang="en-US" altLang="zh-CN" sz="220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仍是简谐振动</a:t>
            </a:r>
          </a:p>
        </p:txBody>
      </p:sp>
      <p:sp>
        <p:nvSpPr>
          <p:cNvPr id="65549" name="AutoShape 13"/>
          <p:cNvSpPr>
            <a:spLocks noChangeArrowheads="1"/>
          </p:cNvSpPr>
          <p:nvPr/>
        </p:nvSpPr>
        <p:spPr bwMode="auto">
          <a:xfrm>
            <a:off x="684213" y="2589733"/>
            <a:ext cx="685800" cy="288925"/>
          </a:xfrm>
          <a:prstGeom prst="rightArrow">
            <a:avLst>
              <a:gd name="adj1" fmla="val 50250"/>
              <a:gd name="adj2" fmla="val 7362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5550" name="Object 14"/>
          <p:cNvGraphicFramePr>
            <a:graphicFrameLocks noChangeAspect="1"/>
          </p:cNvGraphicFramePr>
          <p:nvPr/>
        </p:nvGraphicFramePr>
        <p:xfrm>
          <a:off x="5988050" y="1700684"/>
          <a:ext cx="11049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2" name="公式" r:id="rId13" imgW="457200" imgH="100330" progId="Equation.3">
                  <p:embed/>
                </p:oleObj>
              </mc:Choice>
              <mc:Fallback>
                <p:oleObj name="公式" r:id="rId13" imgW="457200" imgH="10033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050" y="1700684"/>
                        <a:ext cx="11049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1" name="AutoShape 15"/>
          <p:cNvSpPr>
            <a:spLocks noChangeArrowheads="1"/>
          </p:cNvSpPr>
          <p:nvPr/>
        </p:nvSpPr>
        <p:spPr bwMode="auto">
          <a:xfrm>
            <a:off x="7524328" y="1141735"/>
            <a:ext cx="1335088" cy="769938"/>
          </a:xfrm>
          <a:prstGeom prst="wedgeRectCallout">
            <a:avLst>
              <a:gd name="adj1" fmla="val -82272"/>
              <a:gd name="adj2" fmla="val 563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运动学</a:t>
            </a:r>
          </a:p>
          <a:p>
            <a:pPr algn="ctr" eaLnBrk="1" hangingPunct="1"/>
            <a:r>
              <a:rPr lang="zh-CN" altLang="en-US" sz="2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特征</a:t>
            </a:r>
          </a:p>
        </p:txBody>
      </p:sp>
      <p:sp>
        <p:nvSpPr>
          <p:cNvPr id="65552" name="Text Box 16"/>
          <p:cNvSpPr txBox="1">
            <a:spLocks noChangeArrowheads="1"/>
          </p:cNvSpPr>
          <p:nvPr/>
        </p:nvSpPr>
        <p:spPr bwMode="auto">
          <a:xfrm>
            <a:off x="5295900" y="930176"/>
            <a:ext cx="294798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</a:rPr>
              <a:t>——</a:t>
            </a:r>
            <a:r>
              <a:rPr lang="en-US" altLang="zh-CN" sz="220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是简谐振动</a:t>
            </a:r>
          </a:p>
        </p:txBody>
      </p:sp>
      <p:sp>
        <p:nvSpPr>
          <p:cNvPr id="13337" name="Rectangle 74"/>
          <p:cNvSpPr>
            <a:spLocks noChangeArrowheads="1"/>
          </p:cNvSpPr>
          <p:nvPr/>
        </p:nvSpPr>
        <p:spPr bwMode="auto">
          <a:xfrm>
            <a:off x="8004175" y="4530997"/>
            <a:ext cx="1093788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200" i="1">
                <a:solidFill>
                  <a:schemeClr val="bg1"/>
                </a:solidFill>
                <a:ea typeface="楷体_GB2312" pitchFamily="49" charset="-122"/>
              </a:rPr>
              <a:t>T</a:t>
            </a:r>
          </a:p>
        </p:txBody>
      </p:sp>
      <p:sp>
        <p:nvSpPr>
          <p:cNvPr id="13339" name="Rectangle 76"/>
          <p:cNvSpPr>
            <a:spLocks noChangeArrowheads="1"/>
          </p:cNvSpPr>
          <p:nvPr/>
        </p:nvSpPr>
        <p:spPr bwMode="auto">
          <a:xfrm>
            <a:off x="4027488" y="4318272"/>
            <a:ext cx="1049337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200" i="1">
                <a:solidFill>
                  <a:schemeClr val="bg1"/>
                </a:solidFill>
                <a:ea typeface="楷体_GB2312" pitchFamily="49" charset="-122"/>
              </a:rPr>
              <a:t>x</a:t>
            </a:r>
          </a:p>
        </p:txBody>
      </p:sp>
      <p:sp>
        <p:nvSpPr>
          <p:cNvPr id="65614" name="Rectangle 78"/>
          <p:cNvSpPr>
            <a:spLocks noChangeArrowheads="1"/>
          </p:cNvSpPr>
          <p:nvPr/>
        </p:nvSpPr>
        <p:spPr bwMode="auto">
          <a:xfrm>
            <a:off x="1535113" y="5632722"/>
            <a:ext cx="1322387" cy="330200"/>
          </a:xfrm>
          <a:prstGeom prst="rect">
            <a:avLst/>
          </a:prstGeom>
          <a:noFill/>
          <a:ln w="6350">
            <a:noFill/>
            <a:miter lim="800000"/>
          </a:ln>
          <a:effectLst/>
        </p:spPr>
        <p:txBody>
          <a:bodyPr lIns="12700" tIns="12700" rIns="12700" bIns="12700"/>
          <a:lstStyle/>
          <a:p>
            <a:pPr algn="just" eaLnBrk="1" hangingPunct="1">
              <a:defRPr/>
            </a:pPr>
            <a:r>
              <a:rPr lang="zh-CN" altLang="en-US" sz="2200" i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</a:t>
            </a:r>
            <a:r>
              <a:rPr lang="zh-CN" altLang="en-US" sz="2200" i="1" dirty="0">
                <a:solidFill>
                  <a:srgbClr val="FFFF00"/>
                </a:solidFill>
                <a:latin typeface="+mn-lt"/>
                <a:ea typeface="楷体_GB2312" pitchFamily="49" charset="-122"/>
                <a:sym typeface="Symbol" panose="05050102010706020507" pitchFamily="18" charset="2"/>
              </a:rPr>
              <a:t> </a:t>
            </a:r>
            <a:r>
              <a:rPr lang="en-US" altLang="zh-CN" sz="2200" i="1" dirty="0">
                <a:solidFill>
                  <a:srgbClr val="FFFF66"/>
                </a:solidFill>
                <a:ea typeface="楷体_GB2312" pitchFamily="49" charset="-122"/>
              </a:rPr>
              <a:t>&gt; 0</a:t>
            </a:r>
          </a:p>
        </p:txBody>
      </p:sp>
      <p:sp>
        <p:nvSpPr>
          <p:cNvPr id="13342" name="Rectangle 79"/>
          <p:cNvSpPr>
            <a:spLocks noChangeArrowheads="1"/>
          </p:cNvSpPr>
          <p:nvPr/>
        </p:nvSpPr>
        <p:spPr bwMode="auto">
          <a:xfrm>
            <a:off x="3225800" y="5661297"/>
            <a:ext cx="1135063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00" i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 </a:t>
            </a:r>
            <a:r>
              <a:rPr lang="en-US" altLang="zh-CN" sz="2200" i="1">
                <a:solidFill>
                  <a:srgbClr val="FFFF66"/>
                </a:solidFill>
                <a:ea typeface="楷体_GB2312" pitchFamily="49" charset="-122"/>
              </a:rPr>
              <a:t>&lt; 0</a:t>
            </a:r>
          </a:p>
        </p:txBody>
      </p:sp>
      <p:sp>
        <p:nvSpPr>
          <p:cNvPr id="13343" name="Rectangle 80"/>
          <p:cNvSpPr>
            <a:spLocks noChangeArrowheads="1"/>
          </p:cNvSpPr>
          <p:nvPr/>
        </p:nvSpPr>
        <p:spPr bwMode="auto">
          <a:xfrm>
            <a:off x="5067300" y="5634310"/>
            <a:ext cx="1009650" cy="22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00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 </a:t>
            </a:r>
            <a:r>
              <a:rPr lang="en-US" altLang="zh-CN" sz="2200" i="1">
                <a:solidFill>
                  <a:srgbClr val="FFFF66"/>
                </a:solidFill>
                <a:ea typeface="楷体_GB2312" pitchFamily="49" charset="-122"/>
              </a:rPr>
              <a:t>&lt; 0</a:t>
            </a:r>
          </a:p>
        </p:txBody>
      </p:sp>
      <p:sp>
        <p:nvSpPr>
          <p:cNvPr id="13344" name="Rectangle 81"/>
          <p:cNvSpPr>
            <a:spLocks noChangeArrowheads="1"/>
          </p:cNvSpPr>
          <p:nvPr/>
        </p:nvSpPr>
        <p:spPr bwMode="auto">
          <a:xfrm>
            <a:off x="6748463" y="5632722"/>
            <a:ext cx="1290637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00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 </a:t>
            </a:r>
            <a:r>
              <a:rPr lang="en-US" altLang="zh-CN" sz="2200" i="1">
                <a:solidFill>
                  <a:srgbClr val="FFFF66"/>
                </a:solidFill>
                <a:ea typeface="楷体_GB2312" pitchFamily="49" charset="-122"/>
              </a:rPr>
              <a:t>&gt; 0</a:t>
            </a:r>
          </a:p>
        </p:txBody>
      </p:sp>
      <p:sp>
        <p:nvSpPr>
          <p:cNvPr id="13345" name="Rectangle 82"/>
          <p:cNvSpPr>
            <a:spLocks noChangeArrowheads="1"/>
          </p:cNvSpPr>
          <p:nvPr/>
        </p:nvSpPr>
        <p:spPr bwMode="auto">
          <a:xfrm>
            <a:off x="1692275" y="5923235"/>
            <a:ext cx="1447800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200" i="1">
                <a:solidFill>
                  <a:srgbClr val="FF9933"/>
                </a:solidFill>
                <a:ea typeface="楷体_GB2312" pitchFamily="49" charset="-122"/>
              </a:rPr>
              <a:t>a &lt; 0</a:t>
            </a:r>
          </a:p>
        </p:txBody>
      </p:sp>
      <p:sp>
        <p:nvSpPr>
          <p:cNvPr id="13346" name="Rectangle 83"/>
          <p:cNvSpPr>
            <a:spLocks noChangeArrowheads="1"/>
          </p:cNvSpPr>
          <p:nvPr/>
        </p:nvSpPr>
        <p:spPr bwMode="auto">
          <a:xfrm>
            <a:off x="3225800" y="5937522"/>
            <a:ext cx="147955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00" i="1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200" i="1">
                <a:solidFill>
                  <a:srgbClr val="FF9933"/>
                </a:solidFill>
                <a:ea typeface="楷体_GB2312" pitchFamily="49" charset="-122"/>
              </a:rPr>
              <a:t>a &lt; 0</a:t>
            </a:r>
          </a:p>
        </p:txBody>
      </p:sp>
      <p:sp>
        <p:nvSpPr>
          <p:cNvPr id="13347" name="Rectangle 84"/>
          <p:cNvSpPr>
            <a:spLocks noChangeArrowheads="1"/>
          </p:cNvSpPr>
          <p:nvPr/>
        </p:nvSpPr>
        <p:spPr bwMode="auto">
          <a:xfrm>
            <a:off x="4986338" y="5937522"/>
            <a:ext cx="15113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00" i="1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200" i="1">
                <a:solidFill>
                  <a:srgbClr val="FF9933"/>
                </a:solidFill>
                <a:ea typeface="楷体_GB2312" pitchFamily="49" charset="-122"/>
              </a:rPr>
              <a:t>a &gt; 0</a:t>
            </a:r>
          </a:p>
        </p:txBody>
      </p:sp>
      <p:sp>
        <p:nvSpPr>
          <p:cNvPr id="13348" name="Rectangle 85"/>
          <p:cNvSpPr>
            <a:spLocks noChangeArrowheads="1"/>
          </p:cNvSpPr>
          <p:nvPr/>
        </p:nvSpPr>
        <p:spPr bwMode="auto">
          <a:xfrm>
            <a:off x="6748463" y="5939110"/>
            <a:ext cx="1196975" cy="22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200" i="1">
                <a:solidFill>
                  <a:srgbClr val="FF9933"/>
                </a:solidFill>
                <a:ea typeface="楷体_GB2312" pitchFamily="49" charset="-122"/>
              </a:rPr>
              <a:t>a &gt; 0</a:t>
            </a:r>
            <a:endParaRPr lang="en-US" altLang="zh-CN" sz="2200" i="1">
              <a:ea typeface="楷体_GB2312" pitchFamily="49" charset="-122"/>
            </a:endParaRPr>
          </a:p>
        </p:txBody>
      </p:sp>
      <p:sp>
        <p:nvSpPr>
          <p:cNvPr id="13349" name="Rectangle 86"/>
          <p:cNvSpPr>
            <a:spLocks noChangeArrowheads="1"/>
          </p:cNvSpPr>
          <p:nvPr/>
        </p:nvSpPr>
        <p:spPr bwMode="auto">
          <a:xfrm>
            <a:off x="1747838" y="6239147"/>
            <a:ext cx="13239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0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减速</a:t>
            </a:r>
          </a:p>
        </p:txBody>
      </p:sp>
      <p:sp>
        <p:nvSpPr>
          <p:cNvPr id="13350" name="Rectangle 87"/>
          <p:cNvSpPr>
            <a:spLocks noChangeArrowheads="1"/>
          </p:cNvSpPr>
          <p:nvPr/>
        </p:nvSpPr>
        <p:spPr bwMode="auto">
          <a:xfrm>
            <a:off x="3333750" y="6243910"/>
            <a:ext cx="1166813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0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加速</a:t>
            </a:r>
          </a:p>
        </p:txBody>
      </p:sp>
      <p:sp>
        <p:nvSpPr>
          <p:cNvPr id="13351" name="Rectangle 88"/>
          <p:cNvSpPr>
            <a:spLocks noChangeArrowheads="1"/>
          </p:cNvSpPr>
          <p:nvPr/>
        </p:nvSpPr>
        <p:spPr bwMode="auto">
          <a:xfrm>
            <a:off x="5064125" y="6255022"/>
            <a:ext cx="1009650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0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减速</a:t>
            </a:r>
            <a:endParaRPr lang="zh-CN" altLang="en-US" sz="2200" i="1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352" name="Rectangle 89"/>
          <p:cNvSpPr>
            <a:spLocks noChangeArrowheads="1"/>
          </p:cNvSpPr>
          <p:nvPr/>
        </p:nvSpPr>
        <p:spPr bwMode="auto">
          <a:xfrm>
            <a:off x="6715125" y="6242322"/>
            <a:ext cx="10572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0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加速</a:t>
            </a:r>
            <a:endParaRPr lang="zh-CN" altLang="en-US" sz="220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 bwMode="auto">
          <a:xfrm>
            <a:off x="-158750" y="4369072"/>
            <a:ext cx="9699625" cy="1017588"/>
            <a:chOff x="-159267" y="4343400"/>
            <a:chExt cx="9700782" cy="1017588"/>
          </a:xfrm>
        </p:grpSpPr>
        <p:sp>
          <p:nvSpPr>
            <p:cNvPr id="13378" name="Freeform 68"/>
            <p:cNvSpPr/>
            <p:nvPr/>
          </p:nvSpPr>
          <p:spPr bwMode="auto">
            <a:xfrm>
              <a:off x="-159267" y="4343400"/>
              <a:ext cx="3254964" cy="52863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72"/>
                  </a:moveTo>
                  <a:lnTo>
                    <a:pt x="229" y="18490"/>
                  </a:lnTo>
                  <a:lnTo>
                    <a:pt x="438" y="17864"/>
                  </a:lnTo>
                  <a:lnTo>
                    <a:pt x="666" y="17260"/>
                  </a:lnTo>
                  <a:lnTo>
                    <a:pt x="885" y="16677"/>
                  </a:lnTo>
                  <a:lnTo>
                    <a:pt x="1104" y="16073"/>
                  </a:lnTo>
                  <a:lnTo>
                    <a:pt x="1323" y="15448"/>
                  </a:lnTo>
                  <a:lnTo>
                    <a:pt x="1551" y="14887"/>
                  </a:lnTo>
                  <a:lnTo>
                    <a:pt x="1760" y="14283"/>
                  </a:lnTo>
                  <a:lnTo>
                    <a:pt x="1989" y="13700"/>
                  </a:lnTo>
                  <a:lnTo>
                    <a:pt x="2228" y="13139"/>
                  </a:lnTo>
                  <a:lnTo>
                    <a:pt x="2447" y="12600"/>
                  </a:lnTo>
                  <a:lnTo>
                    <a:pt x="2675" y="12017"/>
                  </a:lnTo>
                  <a:lnTo>
                    <a:pt x="2884" y="11478"/>
                  </a:lnTo>
                  <a:lnTo>
                    <a:pt x="3113" y="10852"/>
                  </a:lnTo>
                  <a:lnTo>
                    <a:pt x="3342" y="10378"/>
                  </a:lnTo>
                  <a:lnTo>
                    <a:pt x="3550" y="9773"/>
                  </a:lnTo>
                  <a:lnTo>
                    <a:pt x="3779" y="9277"/>
                  </a:lnTo>
                  <a:lnTo>
                    <a:pt x="3998" y="8759"/>
                  </a:lnTo>
                  <a:lnTo>
                    <a:pt x="4227" y="8220"/>
                  </a:lnTo>
                  <a:lnTo>
                    <a:pt x="4436" y="7702"/>
                  </a:lnTo>
                  <a:lnTo>
                    <a:pt x="4664" y="7249"/>
                  </a:lnTo>
                  <a:lnTo>
                    <a:pt x="4883" y="6796"/>
                  </a:lnTo>
                  <a:lnTo>
                    <a:pt x="5112" y="6343"/>
                  </a:lnTo>
                  <a:lnTo>
                    <a:pt x="5341" y="5890"/>
                  </a:lnTo>
                  <a:lnTo>
                    <a:pt x="5549" y="5415"/>
                  </a:lnTo>
                  <a:lnTo>
                    <a:pt x="5758" y="4984"/>
                  </a:lnTo>
                  <a:lnTo>
                    <a:pt x="5977" y="4574"/>
                  </a:lnTo>
                  <a:lnTo>
                    <a:pt x="6196" y="4164"/>
                  </a:lnTo>
                  <a:lnTo>
                    <a:pt x="6425" y="3754"/>
                  </a:lnTo>
                  <a:lnTo>
                    <a:pt x="6634" y="3409"/>
                  </a:lnTo>
                  <a:lnTo>
                    <a:pt x="6862" y="3042"/>
                  </a:lnTo>
                  <a:lnTo>
                    <a:pt x="7091" y="2718"/>
                  </a:lnTo>
                  <a:lnTo>
                    <a:pt x="7280" y="2438"/>
                  </a:lnTo>
                  <a:lnTo>
                    <a:pt x="7509" y="2114"/>
                  </a:lnTo>
                  <a:lnTo>
                    <a:pt x="7737" y="1791"/>
                  </a:lnTo>
                  <a:lnTo>
                    <a:pt x="7956" y="1597"/>
                  </a:lnTo>
                  <a:lnTo>
                    <a:pt x="8155" y="1316"/>
                  </a:lnTo>
                  <a:lnTo>
                    <a:pt x="8374" y="1079"/>
                  </a:lnTo>
                  <a:lnTo>
                    <a:pt x="8583" y="841"/>
                  </a:lnTo>
                  <a:lnTo>
                    <a:pt x="8812" y="690"/>
                  </a:lnTo>
                  <a:lnTo>
                    <a:pt x="9020" y="518"/>
                  </a:lnTo>
                  <a:lnTo>
                    <a:pt x="9229" y="388"/>
                  </a:lnTo>
                  <a:lnTo>
                    <a:pt x="9448" y="280"/>
                  </a:lnTo>
                  <a:lnTo>
                    <a:pt x="9647" y="129"/>
                  </a:lnTo>
                  <a:lnTo>
                    <a:pt x="9856" y="108"/>
                  </a:lnTo>
                  <a:lnTo>
                    <a:pt x="10075" y="22"/>
                  </a:lnTo>
                  <a:lnTo>
                    <a:pt x="10293" y="0"/>
                  </a:lnTo>
                  <a:lnTo>
                    <a:pt x="10502" y="22"/>
                  </a:lnTo>
                  <a:lnTo>
                    <a:pt x="10701" y="22"/>
                  </a:lnTo>
                  <a:lnTo>
                    <a:pt x="10910" y="108"/>
                  </a:lnTo>
                  <a:lnTo>
                    <a:pt x="11129" y="216"/>
                  </a:lnTo>
                  <a:lnTo>
                    <a:pt x="11338" y="302"/>
                  </a:lnTo>
                  <a:lnTo>
                    <a:pt x="11566" y="539"/>
                  </a:lnTo>
                  <a:lnTo>
                    <a:pt x="11785" y="777"/>
                  </a:lnTo>
                  <a:lnTo>
                    <a:pt x="12004" y="992"/>
                  </a:lnTo>
                  <a:lnTo>
                    <a:pt x="12223" y="1230"/>
                  </a:lnTo>
                  <a:lnTo>
                    <a:pt x="12452" y="1597"/>
                  </a:lnTo>
                  <a:lnTo>
                    <a:pt x="12690" y="1899"/>
                  </a:lnTo>
                  <a:lnTo>
                    <a:pt x="12909" y="2287"/>
                  </a:lnTo>
                  <a:lnTo>
                    <a:pt x="13148" y="2718"/>
                  </a:lnTo>
                  <a:lnTo>
                    <a:pt x="13376" y="3085"/>
                  </a:lnTo>
                  <a:lnTo>
                    <a:pt x="13615" y="3517"/>
                  </a:lnTo>
                  <a:lnTo>
                    <a:pt x="13844" y="3948"/>
                  </a:lnTo>
                  <a:lnTo>
                    <a:pt x="14063" y="4444"/>
                  </a:lnTo>
                  <a:lnTo>
                    <a:pt x="14291" y="4962"/>
                  </a:lnTo>
                  <a:lnTo>
                    <a:pt x="14530" y="5437"/>
                  </a:lnTo>
                  <a:lnTo>
                    <a:pt x="14759" y="5976"/>
                  </a:lnTo>
                  <a:lnTo>
                    <a:pt x="14998" y="6494"/>
                  </a:lnTo>
                  <a:lnTo>
                    <a:pt x="15216" y="7033"/>
                  </a:lnTo>
                  <a:lnTo>
                    <a:pt x="15445" y="7594"/>
                  </a:lnTo>
                  <a:lnTo>
                    <a:pt x="15684" y="8198"/>
                  </a:lnTo>
                  <a:lnTo>
                    <a:pt x="15893" y="8781"/>
                  </a:lnTo>
                  <a:lnTo>
                    <a:pt x="16101" y="9320"/>
                  </a:lnTo>
                  <a:lnTo>
                    <a:pt x="16320" y="9903"/>
                  </a:lnTo>
                  <a:lnTo>
                    <a:pt x="16529" y="10442"/>
                  </a:lnTo>
                  <a:lnTo>
                    <a:pt x="16738" y="11025"/>
                  </a:lnTo>
                  <a:lnTo>
                    <a:pt x="16957" y="11629"/>
                  </a:lnTo>
                  <a:lnTo>
                    <a:pt x="17156" y="12190"/>
                  </a:lnTo>
                  <a:lnTo>
                    <a:pt x="17355" y="12729"/>
                  </a:lnTo>
                  <a:lnTo>
                    <a:pt x="17553" y="13290"/>
                  </a:lnTo>
                  <a:lnTo>
                    <a:pt x="17732" y="13830"/>
                  </a:lnTo>
                  <a:lnTo>
                    <a:pt x="17931" y="14369"/>
                  </a:lnTo>
                  <a:lnTo>
                    <a:pt x="18120" y="14930"/>
                  </a:lnTo>
                  <a:lnTo>
                    <a:pt x="18289" y="15426"/>
                  </a:lnTo>
                  <a:lnTo>
                    <a:pt x="18468" y="15922"/>
                  </a:lnTo>
                  <a:lnTo>
                    <a:pt x="18637" y="16397"/>
                  </a:lnTo>
                  <a:lnTo>
                    <a:pt x="18797" y="16872"/>
                  </a:lnTo>
                  <a:lnTo>
                    <a:pt x="18956" y="17303"/>
                  </a:lnTo>
                  <a:lnTo>
                    <a:pt x="19095" y="17713"/>
                  </a:lnTo>
                  <a:lnTo>
                    <a:pt x="19254" y="18145"/>
                  </a:lnTo>
                  <a:lnTo>
                    <a:pt x="19393" y="18511"/>
                  </a:lnTo>
                  <a:lnTo>
                    <a:pt x="19523" y="18900"/>
                  </a:lnTo>
                  <a:lnTo>
                    <a:pt x="19642" y="19180"/>
                  </a:lnTo>
                  <a:lnTo>
                    <a:pt x="19771" y="19461"/>
                  </a:lnTo>
                  <a:lnTo>
                    <a:pt x="19881" y="19763"/>
                  </a:lnTo>
                  <a:lnTo>
                    <a:pt x="19990" y="19978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9" name="Freeform 71"/>
            <p:cNvSpPr/>
            <p:nvPr/>
          </p:nvSpPr>
          <p:spPr bwMode="auto">
            <a:xfrm>
              <a:off x="6230449" y="4343697"/>
              <a:ext cx="3311066" cy="52546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19990" y="19072"/>
                  </a:moveTo>
                  <a:lnTo>
                    <a:pt x="19761" y="18490"/>
                  </a:lnTo>
                  <a:lnTo>
                    <a:pt x="19552" y="17864"/>
                  </a:lnTo>
                  <a:lnTo>
                    <a:pt x="19324" y="17260"/>
                  </a:lnTo>
                  <a:lnTo>
                    <a:pt x="19095" y="16677"/>
                  </a:lnTo>
                  <a:lnTo>
                    <a:pt x="18886" y="16073"/>
                  </a:lnTo>
                  <a:lnTo>
                    <a:pt x="18657" y="15448"/>
                  </a:lnTo>
                  <a:lnTo>
                    <a:pt x="18439" y="14887"/>
                  </a:lnTo>
                  <a:lnTo>
                    <a:pt x="18230" y="14283"/>
                  </a:lnTo>
                  <a:lnTo>
                    <a:pt x="18001" y="13700"/>
                  </a:lnTo>
                  <a:lnTo>
                    <a:pt x="17762" y="13139"/>
                  </a:lnTo>
                  <a:lnTo>
                    <a:pt x="17534" y="12600"/>
                  </a:lnTo>
                  <a:lnTo>
                    <a:pt x="17315" y="12017"/>
                  </a:lnTo>
                  <a:lnTo>
                    <a:pt x="17096" y="11478"/>
                  </a:lnTo>
                  <a:lnTo>
                    <a:pt x="16877" y="10852"/>
                  </a:lnTo>
                  <a:lnTo>
                    <a:pt x="16648" y="10378"/>
                  </a:lnTo>
                  <a:lnTo>
                    <a:pt x="16440" y="9773"/>
                  </a:lnTo>
                  <a:lnTo>
                    <a:pt x="16211" y="9277"/>
                  </a:lnTo>
                  <a:lnTo>
                    <a:pt x="15982" y="8759"/>
                  </a:lnTo>
                  <a:lnTo>
                    <a:pt x="15763" y="8220"/>
                  </a:lnTo>
                  <a:lnTo>
                    <a:pt x="15554" y="7702"/>
                  </a:lnTo>
                  <a:lnTo>
                    <a:pt x="15326" y="7249"/>
                  </a:lnTo>
                  <a:lnTo>
                    <a:pt x="15097" y="6796"/>
                  </a:lnTo>
                  <a:lnTo>
                    <a:pt x="14878" y="6343"/>
                  </a:lnTo>
                  <a:lnTo>
                    <a:pt x="14649" y="5890"/>
                  </a:lnTo>
                  <a:lnTo>
                    <a:pt x="14441" y="5415"/>
                  </a:lnTo>
                  <a:lnTo>
                    <a:pt x="14222" y="4984"/>
                  </a:lnTo>
                  <a:lnTo>
                    <a:pt x="14013" y="4574"/>
                  </a:lnTo>
                  <a:lnTo>
                    <a:pt x="13784" y="4164"/>
                  </a:lnTo>
                  <a:lnTo>
                    <a:pt x="13565" y="3754"/>
                  </a:lnTo>
                  <a:lnTo>
                    <a:pt x="13347" y="3409"/>
                  </a:lnTo>
                  <a:lnTo>
                    <a:pt x="13128" y="3042"/>
                  </a:lnTo>
                  <a:lnTo>
                    <a:pt x="12899" y="2718"/>
                  </a:lnTo>
                  <a:lnTo>
                    <a:pt x="12700" y="2438"/>
                  </a:lnTo>
                  <a:lnTo>
                    <a:pt x="12481" y="2114"/>
                  </a:lnTo>
                  <a:lnTo>
                    <a:pt x="12253" y="1791"/>
                  </a:lnTo>
                  <a:lnTo>
                    <a:pt x="12024" y="1597"/>
                  </a:lnTo>
                  <a:lnTo>
                    <a:pt x="11825" y="1316"/>
                  </a:lnTo>
                  <a:lnTo>
                    <a:pt x="11616" y="1079"/>
                  </a:lnTo>
                  <a:lnTo>
                    <a:pt x="11407" y="841"/>
                  </a:lnTo>
                  <a:lnTo>
                    <a:pt x="11179" y="690"/>
                  </a:lnTo>
                  <a:lnTo>
                    <a:pt x="10970" y="518"/>
                  </a:lnTo>
                  <a:lnTo>
                    <a:pt x="10751" y="388"/>
                  </a:lnTo>
                  <a:lnTo>
                    <a:pt x="10542" y="280"/>
                  </a:lnTo>
                  <a:lnTo>
                    <a:pt x="10343" y="129"/>
                  </a:lnTo>
                  <a:lnTo>
                    <a:pt x="10134" y="108"/>
                  </a:lnTo>
                  <a:lnTo>
                    <a:pt x="9906" y="22"/>
                  </a:lnTo>
                  <a:lnTo>
                    <a:pt x="9697" y="0"/>
                  </a:lnTo>
                  <a:lnTo>
                    <a:pt x="9488" y="22"/>
                  </a:lnTo>
                  <a:lnTo>
                    <a:pt x="9289" y="22"/>
                  </a:lnTo>
                  <a:lnTo>
                    <a:pt x="9070" y="108"/>
                  </a:lnTo>
                  <a:lnTo>
                    <a:pt x="8861" y="216"/>
                  </a:lnTo>
                  <a:lnTo>
                    <a:pt x="8652" y="302"/>
                  </a:lnTo>
                  <a:lnTo>
                    <a:pt x="8424" y="539"/>
                  </a:lnTo>
                  <a:lnTo>
                    <a:pt x="8195" y="777"/>
                  </a:lnTo>
                  <a:lnTo>
                    <a:pt x="7986" y="992"/>
                  </a:lnTo>
                  <a:lnTo>
                    <a:pt x="7757" y="1230"/>
                  </a:lnTo>
                  <a:lnTo>
                    <a:pt x="7539" y="1597"/>
                  </a:lnTo>
                  <a:lnTo>
                    <a:pt x="7300" y="1899"/>
                  </a:lnTo>
                  <a:lnTo>
                    <a:pt x="7071" y="2287"/>
                  </a:lnTo>
                  <a:lnTo>
                    <a:pt x="6832" y="2718"/>
                  </a:lnTo>
                  <a:lnTo>
                    <a:pt x="6614" y="3085"/>
                  </a:lnTo>
                  <a:lnTo>
                    <a:pt x="6375" y="3517"/>
                  </a:lnTo>
                  <a:lnTo>
                    <a:pt x="6146" y="3948"/>
                  </a:lnTo>
                  <a:lnTo>
                    <a:pt x="5917" y="4444"/>
                  </a:lnTo>
                  <a:lnTo>
                    <a:pt x="5699" y="4962"/>
                  </a:lnTo>
                  <a:lnTo>
                    <a:pt x="5460" y="5437"/>
                  </a:lnTo>
                  <a:lnTo>
                    <a:pt x="5231" y="5976"/>
                  </a:lnTo>
                  <a:lnTo>
                    <a:pt x="4993" y="6494"/>
                  </a:lnTo>
                  <a:lnTo>
                    <a:pt x="4764" y="7033"/>
                  </a:lnTo>
                  <a:lnTo>
                    <a:pt x="4545" y="7594"/>
                  </a:lnTo>
                  <a:lnTo>
                    <a:pt x="4306" y="8198"/>
                  </a:lnTo>
                  <a:lnTo>
                    <a:pt x="4097" y="8781"/>
                  </a:lnTo>
                  <a:lnTo>
                    <a:pt x="3879" y="9320"/>
                  </a:lnTo>
                  <a:lnTo>
                    <a:pt x="3670" y="9903"/>
                  </a:lnTo>
                  <a:lnTo>
                    <a:pt x="3461" y="10442"/>
                  </a:lnTo>
                  <a:lnTo>
                    <a:pt x="3242" y="11025"/>
                  </a:lnTo>
                  <a:lnTo>
                    <a:pt x="3033" y="11629"/>
                  </a:lnTo>
                  <a:lnTo>
                    <a:pt x="2834" y="12190"/>
                  </a:lnTo>
                  <a:lnTo>
                    <a:pt x="2636" y="12729"/>
                  </a:lnTo>
                  <a:lnTo>
                    <a:pt x="2437" y="13290"/>
                  </a:lnTo>
                  <a:lnTo>
                    <a:pt x="2248" y="13830"/>
                  </a:lnTo>
                  <a:lnTo>
                    <a:pt x="2049" y="14369"/>
                  </a:lnTo>
                  <a:lnTo>
                    <a:pt x="1870" y="14930"/>
                  </a:lnTo>
                  <a:lnTo>
                    <a:pt x="1691" y="15426"/>
                  </a:lnTo>
                  <a:lnTo>
                    <a:pt x="1522" y="15922"/>
                  </a:lnTo>
                  <a:lnTo>
                    <a:pt x="1353" y="16397"/>
                  </a:lnTo>
                  <a:lnTo>
                    <a:pt x="1193" y="16872"/>
                  </a:lnTo>
                  <a:lnTo>
                    <a:pt x="1034" y="17303"/>
                  </a:lnTo>
                  <a:lnTo>
                    <a:pt x="885" y="17713"/>
                  </a:lnTo>
                  <a:lnTo>
                    <a:pt x="726" y="18145"/>
                  </a:lnTo>
                  <a:lnTo>
                    <a:pt x="597" y="18511"/>
                  </a:lnTo>
                  <a:lnTo>
                    <a:pt x="467" y="18900"/>
                  </a:lnTo>
                  <a:lnTo>
                    <a:pt x="348" y="19180"/>
                  </a:lnTo>
                  <a:lnTo>
                    <a:pt x="209" y="19461"/>
                  </a:lnTo>
                  <a:lnTo>
                    <a:pt x="109" y="19763"/>
                  </a:lnTo>
                  <a:lnTo>
                    <a:pt x="0" y="19978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0" name="Freeform 90"/>
            <p:cNvSpPr/>
            <p:nvPr/>
          </p:nvSpPr>
          <p:spPr bwMode="auto">
            <a:xfrm>
              <a:off x="3060757" y="4851400"/>
              <a:ext cx="3176876" cy="5095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96" y="648"/>
                  </a:lnTo>
                  <a:lnTo>
                    <a:pt x="402" y="1251"/>
                  </a:lnTo>
                  <a:lnTo>
                    <a:pt x="599" y="1855"/>
                  </a:lnTo>
                  <a:lnTo>
                    <a:pt x="795" y="2503"/>
                  </a:lnTo>
                  <a:lnTo>
                    <a:pt x="982" y="3151"/>
                  </a:lnTo>
                  <a:lnTo>
                    <a:pt x="1188" y="3754"/>
                  </a:lnTo>
                  <a:lnTo>
                    <a:pt x="1384" y="4335"/>
                  </a:lnTo>
                  <a:lnTo>
                    <a:pt x="1581" y="4939"/>
                  </a:lnTo>
                  <a:lnTo>
                    <a:pt x="1777" y="5564"/>
                  </a:lnTo>
                  <a:lnTo>
                    <a:pt x="1983" y="6168"/>
                  </a:lnTo>
                  <a:lnTo>
                    <a:pt x="2180" y="6726"/>
                  </a:lnTo>
                  <a:lnTo>
                    <a:pt x="2376" y="7285"/>
                  </a:lnTo>
                  <a:lnTo>
                    <a:pt x="2563" y="7866"/>
                  </a:lnTo>
                  <a:lnTo>
                    <a:pt x="2769" y="8492"/>
                  </a:lnTo>
                  <a:lnTo>
                    <a:pt x="2965" y="9028"/>
                  </a:lnTo>
                  <a:lnTo>
                    <a:pt x="3162" y="9609"/>
                  </a:lnTo>
                  <a:lnTo>
                    <a:pt x="3368" y="10123"/>
                  </a:lnTo>
                  <a:lnTo>
                    <a:pt x="3564" y="10659"/>
                  </a:lnTo>
                  <a:lnTo>
                    <a:pt x="3761" y="11196"/>
                  </a:lnTo>
                  <a:lnTo>
                    <a:pt x="3966" y="11732"/>
                  </a:lnTo>
                  <a:lnTo>
                    <a:pt x="4163" y="12223"/>
                  </a:lnTo>
                  <a:lnTo>
                    <a:pt x="4359" y="12715"/>
                  </a:lnTo>
                  <a:lnTo>
                    <a:pt x="4574" y="13162"/>
                  </a:lnTo>
                  <a:lnTo>
                    <a:pt x="4790" y="13676"/>
                  </a:lnTo>
                  <a:lnTo>
                    <a:pt x="4977" y="14123"/>
                  </a:lnTo>
                  <a:lnTo>
                    <a:pt x="5173" y="14570"/>
                  </a:lnTo>
                  <a:lnTo>
                    <a:pt x="5370" y="14994"/>
                  </a:lnTo>
                  <a:lnTo>
                    <a:pt x="5566" y="15397"/>
                  </a:lnTo>
                  <a:lnTo>
                    <a:pt x="5781" y="15821"/>
                  </a:lnTo>
                  <a:lnTo>
                    <a:pt x="5978" y="16201"/>
                  </a:lnTo>
                  <a:lnTo>
                    <a:pt x="6183" y="16626"/>
                  </a:lnTo>
                  <a:lnTo>
                    <a:pt x="6380" y="16961"/>
                  </a:lnTo>
                  <a:lnTo>
                    <a:pt x="6576" y="17251"/>
                  </a:lnTo>
                  <a:lnTo>
                    <a:pt x="6791" y="17609"/>
                  </a:lnTo>
                  <a:lnTo>
                    <a:pt x="6988" y="17922"/>
                  </a:lnTo>
                  <a:lnTo>
                    <a:pt x="7203" y="18190"/>
                  </a:lnTo>
                  <a:lnTo>
                    <a:pt x="7399" y="18458"/>
                  </a:lnTo>
                  <a:lnTo>
                    <a:pt x="7615" y="18749"/>
                  </a:lnTo>
                  <a:lnTo>
                    <a:pt x="7811" y="18950"/>
                  </a:lnTo>
                  <a:lnTo>
                    <a:pt x="8026" y="19151"/>
                  </a:lnTo>
                  <a:lnTo>
                    <a:pt x="8241" y="19330"/>
                  </a:lnTo>
                  <a:lnTo>
                    <a:pt x="8438" y="19464"/>
                  </a:lnTo>
                  <a:lnTo>
                    <a:pt x="8644" y="19642"/>
                  </a:lnTo>
                  <a:lnTo>
                    <a:pt x="8859" y="19754"/>
                  </a:lnTo>
                  <a:lnTo>
                    <a:pt x="9055" y="19866"/>
                  </a:lnTo>
                  <a:lnTo>
                    <a:pt x="9270" y="19888"/>
                  </a:lnTo>
                  <a:lnTo>
                    <a:pt x="9486" y="19978"/>
                  </a:lnTo>
                  <a:lnTo>
                    <a:pt x="9691" y="19978"/>
                  </a:lnTo>
                  <a:lnTo>
                    <a:pt x="9906" y="19978"/>
                  </a:lnTo>
                  <a:lnTo>
                    <a:pt x="10122" y="19911"/>
                  </a:lnTo>
                  <a:lnTo>
                    <a:pt x="10327" y="19821"/>
                  </a:lnTo>
                  <a:lnTo>
                    <a:pt x="10552" y="19709"/>
                  </a:lnTo>
                  <a:lnTo>
                    <a:pt x="10795" y="19553"/>
                  </a:lnTo>
                  <a:lnTo>
                    <a:pt x="11020" y="19330"/>
                  </a:lnTo>
                  <a:lnTo>
                    <a:pt x="11244" y="19128"/>
                  </a:lnTo>
                  <a:lnTo>
                    <a:pt x="11478" y="18860"/>
                  </a:lnTo>
                  <a:lnTo>
                    <a:pt x="11712" y="18570"/>
                  </a:lnTo>
                  <a:lnTo>
                    <a:pt x="11964" y="18235"/>
                  </a:lnTo>
                  <a:lnTo>
                    <a:pt x="12208" y="17899"/>
                  </a:lnTo>
                  <a:lnTo>
                    <a:pt x="12460" y="17497"/>
                  </a:lnTo>
                  <a:lnTo>
                    <a:pt x="12713" y="17095"/>
                  </a:lnTo>
                  <a:lnTo>
                    <a:pt x="12956" y="16760"/>
                  </a:lnTo>
                  <a:lnTo>
                    <a:pt x="13199" y="16246"/>
                  </a:lnTo>
                  <a:lnTo>
                    <a:pt x="13442" y="15799"/>
                  </a:lnTo>
                  <a:lnTo>
                    <a:pt x="13704" y="15352"/>
                  </a:lnTo>
                  <a:lnTo>
                    <a:pt x="13957" y="14860"/>
                  </a:lnTo>
                  <a:lnTo>
                    <a:pt x="14210" y="14369"/>
                  </a:lnTo>
                  <a:lnTo>
                    <a:pt x="14443" y="13810"/>
                  </a:lnTo>
                  <a:lnTo>
                    <a:pt x="14696" y="13296"/>
                  </a:lnTo>
                  <a:lnTo>
                    <a:pt x="14958" y="12760"/>
                  </a:lnTo>
                  <a:lnTo>
                    <a:pt x="15201" y="12223"/>
                  </a:lnTo>
                  <a:lnTo>
                    <a:pt x="15454" y="11620"/>
                  </a:lnTo>
                  <a:lnTo>
                    <a:pt x="15688" y="11084"/>
                  </a:lnTo>
                  <a:lnTo>
                    <a:pt x="15921" y="10592"/>
                  </a:lnTo>
                  <a:lnTo>
                    <a:pt x="16146" y="10056"/>
                  </a:lnTo>
                  <a:lnTo>
                    <a:pt x="16389" y="9453"/>
                  </a:lnTo>
                  <a:lnTo>
                    <a:pt x="16614" y="8916"/>
                  </a:lnTo>
                  <a:lnTo>
                    <a:pt x="16848" y="8380"/>
                  </a:lnTo>
                  <a:lnTo>
                    <a:pt x="17072" y="7821"/>
                  </a:lnTo>
                  <a:lnTo>
                    <a:pt x="17287" y="7285"/>
                  </a:lnTo>
                  <a:lnTo>
                    <a:pt x="17493" y="6749"/>
                  </a:lnTo>
                  <a:lnTo>
                    <a:pt x="17717" y="6257"/>
                  </a:lnTo>
                  <a:lnTo>
                    <a:pt x="17923" y="5743"/>
                  </a:lnTo>
                  <a:lnTo>
                    <a:pt x="18120" y="5207"/>
                  </a:lnTo>
                  <a:lnTo>
                    <a:pt x="18307" y="4737"/>
                  </a:lnTo>
                  <a:lnTo>
                    <a:pt x="18494" y="4291"/>
                  </a:lnTo>
                  <a:lnTo>
                    <a:pt x="18681" y="3866"/>
                  </a:lnTo>
                  <a:lnTo>
                    <a:pt x="18849" y="3374"/>
                  </a:lnTo>
                  <a:lnTo>
                    <a:pt x="19018" y="2972"/>
                  </a:lnTo>
                  <a:lnTo>
                    <a:pt x="19177" y="2637"/>
                  </a:lnTo>
                  <a:lnTo>
                    <a:pt x="19336" y="2279"/>
                  </a:lnTo>
                  <a:lnTo>
                    <a:pt x="19486" y="1899"/>
                  </a:lnTo>
                  <a:lnTo>
                    <a:pt x="19616" y="1654"/>
                  </a:lnTo>
                  <a:lnTo>
                    <a:pt x="19747" y="1341"/>
                  </a:lnTo>
                  <a:lnTo>
                    <a:pt x="19878" y="1050"/>
                  </a:lnTo>
                  <a:lnTo>
                    <a:pt x="19991" y="849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 bwMode="auto">
          <a:xfrm>
            <a:off x="1498600" y="4521472"/>
            <a:ext cx="6491288" cy="682625"/>
            <a:chOff x="1498389" y="4495800"/>
            <a:chExt cx="6492187" cy="682626"/>
          </a:xfrm>
        </p:grpSpPr>
        <p:sp>
          <p:nvSpPr>
            <p:cNvPr id="13376" name="Freeform 91"/>
            <p:cNvSpPr/>
            <p:nvPr/>
          </p:nvSpPr>
          <p:spPr bwMode="auto">
            <a:xfrm>
              <a:off x="1498389" y="4495800"/>
              <a:ext cx="3164289" cy="35401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00"/>
                  </a:moveTo>
                  <a:lnTo>
                    <a:pt x="229" y="18521"/>
                  </a:lnTo>
                  <a:lnTo>
                    <a:pt x="438" y="17878"/>
                  </a:lnTo>
                  <a:lnTo>
                    <a:pt x="666" y="17299"/>
                  </a:lnTo>
                  <a:lnTo>
                    <a:pt x="885" y="16656"/>
                  </a:lnTo>
                  <a:lnTo>
                    <a:pt x="1104" y="16077"/>
                  </a:lnTo>
                  <a:lnTo>
                    <a:pt x="1323" y="15498"/>
                  </a:lnTo>
                  <a:lnTo>
                    <a:pt x="1551" y="14887"/>
                  </a:lnTo>
                  <a:lnTo>
                    <a:pt x="1760" y="14309"/>
                  </a:lnTo>
                  <a:lnTo>
                    <a:pt x="1989" y="13730"/>
                  </a:lnTo>
                  <a:lnTo>
                    <a:pt x="2228" y="13151"/>
                  </a:lnTo>
                  <a:lnTo>
                    <a:pt x="2447" y="12572"/>
                  </a:lnTo>
                  <a:lnTo>
                    <a:pt x="2675" y="12026"/>
                  </a:lnTo>
                  <a:lnTo>
                    <a:pt x="2884" y="11447"/>
                  </a:lnTo>
                  <a:lnTo>
                    <a:pt x="3113" y="10900"/>
                  </a:lnTo>
                  <a:lnTo>
                    <a:pt x="3342" y="10354"/>
                  </a:lnTo>
                  <a:lnTo>
                    <a:pt x="3550" y="9807"/>
                  </a:lnTo>
                  <a:lnTo>
                    <a:pt x="3779" y="9293"/>
                  </a:lnTo>
                  <a:lnTo>
                    <a:pt x="3998" y="8746"/>
                  </a:lnTo>
                  <a:lnTo>
                    <a:pt x="4227" y="8232"/>
                  </a:lnTo>
                  <a:lnTo>
                    <a:pt x="4436" y="7717"/>
                  </a:lnTo>
                  <a:lnTo>
                    <a:pt x="4664" y="7235"/>
                  </a:lnTo>
                  <a:lnTo>
                    <a:pt x="4883" y="6817"/>
                  </a:lnTo>
                  <a:lnTo>
                    <a:pt x="5112" y="6334"/>
                  </a:lnTo>
                  <a:lnTo>
                    <a:pt x="5341" y="5884"/>
                  </a:lnTo>
                  <a:lnTo>
                    <a:pt x="5549" y="5402"/>
                  </a:lnTo>
                  <a:lnTo>
                    <a:pt x="5758" y="4984"/>
                  </a:lnTo>
                  <a:lnTo>
                    <a:pt x="5977" y="4566"/>
                  </a:lnTo>
                  <a:lnTo>
                    <a:pt x="6196" y="4148"/>
                  </a:lnTo>
                  <a:lnTo>
                    <a:pt x="6425" y="3794"/>
                  </a:lnTo>
                  <a:lnTo>
                    <a:pt x="6634" y="3408"/>
                  </a:lnTo>
                  <a:lnTo>
                    <a:pt x="6862" y="3055"/>
                  </a:lnTo>
                  <a:lnTo>
                    <a:pt x="7091" y="2733"/>
                  </a:lnTo>
                  <a:lnTo>
                    <a:pt x="7280" y="2412"/>
                  </a:lnTo>
                  <a:lnTo>
                    <a:pt x="7509" y="2090"/>
                  </a:lnTo>
                  <a:lnTo>
                    <a:pt x="7737" y="1833"/>
                  </a:lnTo>
                  <a:lnTo>
                    <a:pt x="7956" y="1543"/>
                  </a:lnTo>
                  <a:lnTo>
                    <a:pt x="8155" y="1286"/>
                  </a:lnTo>
                  <a:lnTo>
                    <a:pt x="8374" y="1061"/>
                  </a:lnTo>
                  <a:lnTo>
                    <a:pt x="8583" y="836"/>
                  </a:lnTo>
                  <a:lnTo>
                    <a:pt x="8812" y="675"/>
                  </a:lnTo>
                  <a:lnTo>
                    <a:pt x="9020" y="482"/>
                  </a:lnTo>
                  <a:lnTo>
                    <a:pt x="9229" y="386"/>
                  </a:lnTo>
                  <a:lnTo>
                    <a:pt x="9448" y="225"/>
                  </a:lnTo>
                  <a:lnTo>
                    <a:pt x="9647" y="129"/>
                  </a:lnTo>
                  <a:lnTo>
                    <a:pt x="9856" y="64"/>
                  </a:lnTo>
                  <a:lnTo>
                    <a:pt x="10075" y="32"/>
                  </a:lnTo>
                  <a:lnTo>
                    <a:pt x="10293" y="0"/>
                  </a:lnTo>
                  <a:lnTo>
                    <a:pt x="10502" y="32"/>
                  </a:lnTo>
                  <a:lnTo>
                    <a:pt x="10701" y="32"/>
                  </a:lnTo>
                  <a:lnTo>
                    <a:pt x="10910" y="64"/>
                  </a:lnTo>
                  <a:lnTo>
                    <a:pt x="11129" y="225"/>
                  </a:lnTo>
                  <a:lnTo>
                    <a:pt x="11338" y="322"/>
                  </a:lnTo>
                  <a:lnTo>
                    <a:pt x="11566" y="514"/>
                  </a:lnTo>
                  <a:lnTo>
                    <a:pt x="11785" y="772"/>
                  </a:lnTo>
                  <a:lnTo>
                    <a:pt x="12004" y="997"/>
                  </a:lnTo>
                  <a:lnTo>
                    <a:pt x="12223" y="1254"/>
                  </a:lnTo>
                  <a:lnTo>
                    <a:pt x="12452" y="1543"/>
                  </a:lnTo>
                  <a:lnTo>
                    <a:pt x="12690" y="1897"/>
                  </a:lnTo>
                  <a:lnTo>
                    <a:pt x="12909" y="2283"/>
                  </a:lnTo>
                  <a:lnTo>
                    <a:pt x="13148" y="2701"/>
                  </a:lnTo>
                  <a:lnTo>
                    <a:pt x="13376" y="3087"/>
                  </a:lnTo>
                  <a:lnTo>
                    <a:pt x="13615" y="3537"/>
                  </a:lnTo>
                  <a:lnTo>
                    <a:pt x="13844" y="3987"/>
                  </a:lnTo>
                  <a:lnTo>
                    <a:pt x="14063" y="4469"/>
                  </a:lnTo>
                  <a:lnTo>
                    <a:pt x="14291" y="4920"/>
                  </a:lnTo>
                  <a:lnTo>
                    <a:pt x="14530" y="5466"/>
                  </a:lnTo>
                  <a:lnTo>
                    <a:pt x="14759" y="6013"/>
                  </a:lnTo>
                  <a:lnTo>
                    <a:pt x="14998" y="6527"/>
                  </a:lnTo>
                  <a:lnTo>
                    <a:pt x="15216" y="7074"/>
                  </a:lnTo>
                  <a:lnTo>
                    <a:pt x="15445" y="7621"/>
                  </a:lnTo>
                  <a:lnTo>
                    <a:pt x="15684" y="8199"/>
                  </a:lnTo>
                  <a:lnTo>
                    <a:pt x="15893" y="8778"/>
                  </a:lnTo>
                  <a:lnTo>
                    <a:pt x="16101" y="9357"/>
                  </a:lnTo>
                  <a:lnTo>
                    <a:pt x="16320" y="9904"/>
                  </a:lnTo>
                  <a:lnTo>
                    <a:pt x="16529" y="10450"/>
                  </a:lnTo>
                  <a:lnTo>
                    <a:pt x="16738" y="11061"/>
                  </a:lnTo>
                  <a:lnTo>
                    <a:pt x="16957" y="11608"/>
                  </a:lnTo>
                  <a:lnTo>
                    <a:pt x="17156" y="12186"/>
                  </a:lnTo>
                  <a:lnTo>
                    <a:pt x="17355" y="12765"/>
                  </a:lnTo>
                  <a:lnTo>
                    <a:pt x="17553" y="13280"/>
                  </a:lnTo>
                  <a:lnTo>
                    <a:pt x="17732" y="13859"/>
                  </a:lnTo>
                  <a:lnTo>
                    <a:pt x="17931" y="14373"/>
                  </a:lnTo>
                  <a:lnTo>
                    <a:pt x="18120" y="14952"/>
                  </a:lnTo>
                  <a:lnTo>
                    <a:pt x="18289" y="15434"/>
                  </a:lnTo>
                  <a:lnTo>
                    <a:pt x="18468" y="15949"/>
                  </a:lnTo>
                  <a:lnTo>
                    <a:pt x="18637" y="16431"/>
                  </a:lnTo>
                  <a:lnTo>
                    <a:pt x="18797" y="16849"/>
                  </a:lnTo>
                  <a:lnTo>
                    <a:pt x="18956" y="17331"/>
                  </a:lnTo>
                  <a:lnTo>
                    <a:pt x="19095" y="17749"/>
                  </a:lnTo>
                  <a:lnTo>
                    <a:pt x="19254" y="18167"/>
                  </a:lnTo>
                  <a:lnTo>
                    <a:pt x="19393" y="18553"/>
                  </a:lnTo>
                  <a:lnTo>
                    <a:pt x="19523" y="18875"/>
                  </a:lnTo>
                  <a:lnTo>
                    <a:pt x="19642" y="19196"/>
                  </a:lnTo>
                  <a:lnTo>
                    <a:pt x="19771" y="19518"/>
                  </a:lnTo>
                  <a:lnTo>
                    <a:pt x="19881" y="19775"/>
                  </a:lnTo>
                  <a:lnTo>
                    <a:pt x="19990" y="19968"/>
                  </a:lnTo>
                </a:path>
              </a:pathLst>
            </a:custGeom>
            <a:noFill/>
            <a:ln w="571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7" name="Freeform 92"/>
            <p:cNvSpPr/>
            <p:nvPr/>
          </p:nvSpPr>
          <p:spPr bwMode="auto">
            <a:xfrm>
              <a:off x="4624923" y="4837113"/>
              <a:ext cx="3365653" cy="34131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96" y="632"/>
                  </a:lnTo>
                  <a:lnTo>
                    <a:pt x="402" y="1265"/>
                  </a:lnTo>
                  <a:lnTo>
                    <a:pt x="599" y="1864"/>
                  </a:lnTo>
                  <a:lnTo>
                    <a:pt x="795" y="2529"/>
                  </a:lnTo>
                  <a:lnTo>
                    <a:pt x="982" y="3161"/>
                  </a:lnTo>
                  <a:lnTo>
                    <a:pt x="1188" y="3727"/>
                  </a:lnTo>
                  <a:lnTo>
                    <a:pt x="1384" y="4359"/>
                  </a:lnTo>
                  <a:lnTo>
                    <a:pt x="1581" y="4958"/>
                  </a:lnTo>
                  <a:lnTo>
                    <a:pt x="1777" y="5557"/>
                  </a:lnTo>
                  <a:lnTo>
                    <a:pt x="1983" y="6156"/>
                  </a:lnTo>
                  <a:lnTo>
                    <a:pt x="2180" y="6755"/>
                  </a:lnTo>
                  <a:lnTo>
                    <a:pt x="2376" y="7288"/>
                  </a:lnTo>
                  <a:lnTo>
                    <a:pt x="2563" y="7920"/>
                  </a:lnTo>
                  <a:lnTo>
                    <a:pt x="2769" y="8486"/>
                  </a:lnTo>
                  <a:lnTo>
                    <a:pt x="2965" y="9018"/>
                  </a:lnTo>
                  <a:lnTo>
                    <a:pt x="3162" y="9584"/>
                  </a:lnTo>
                  <a:lnTo>
                    <a:pt x="3368" y="10150"/>
                  </a:lnTo>
                  <a:lnTo>
                    <a:pt x="3564" y="10682"/>
                  </a:lnTo>
                  <a:lnTo>
                    <a:pt x="3761" y="11215"/>
                  </a:lnTo>
                  <a:lnTo>
                    <a:pt x="3966" y="11714"/>
                  </a:lnTo>
                  <a:lnTo>
                    <a:pt x="4163" y="12246"/>
                  </a:lnTo>
                  <a:lnTo>
                    <a:pt x="4359" y="12712"/>
                  </a:lnTo>
                  <a:lnTo>
                    <a:pt x="4574" y="13178"/>
                  </a:lnTo>
                  <a:lnTo>
                    <a:pt x="4790" y="13644"/>
                  </a:lnTo>
                  <a:lnTo>
                    <a:pt x="4977" y="14143"/>
                  </a:lnTo>
                  <a:lnTo>
                    <a:pt x="5173" y="14576"/>
                  </a:lnTo>
                  <a:lnTo>
                    <a:pt x="5370" y="15008"/>
                  </a:lnTo>
                  <a:lnTo>
                    <a:pt x="5566" y="15441"/>
                  </a:lnTo>
                  <a:lnTo>
                    <a:pt x="5781" y="15840"/>
                  </a:lnTo>
                  <a:lnTo>
                    <a:pt x="5978" y="16206"/>
                  </a:lnTo>
                  <a:lnTo>
                    <a:pt x="6183" y="16606"/>
                  </a:lnTo>
                  <a:lnTo>
                    <a:pt x="6380" y="16938"/>
                  </a:lnTo>
                  <a:lnTo>
                    <a:pt x="6576" y="17304"/>
                  </a:lnTo>
                  <a:lnTo>
                    <a:pt x="6791" y="17604"/>
                  </a:lnTo>
                  <a:lnTo>
                    <a:pt x="6988" y="17937"/>
                  </a:lnTo>
                  <a:lnTo>
                    <a:pt x="7203" y="18203"/>
                  </a:lnTo>
                  <a:lnTo>
                    <a:pt x="7399" y="18469"/>
                  </a:lnTo>
                  <a:lnTo>
                    <a:pt x="7615" y="18735"/>
                  </a:lnTo>
                  <a:lnTo>
                    <a:pt x="7811" y="18935"/>
                  </a:lnTo>
                  <a:lnTo>
                    <a:pt x="8026" y="19168"/>
                  </a:lnTo>
                  <a:lnTo>
                    <a:pt x="8241" y="19334"/>
                  </a:lnTo>
                  <a:lnTo>
                    <a:pt x="8438" y="19501"/>
                  </a:lnTo>
                  <a:lnTo>
                    <a:pt x="8644" y="19667"/>
                  </a:lnTo>
                  <a:lnTo>
                    <a:pt x="8859" y="19767"/>
                  </a:lnTo>
                  <a:lnTo>
                    <a:pt x="9055" y="19867"/>
                  </a:lnTo>
                  <a:lnTo>
                    <a:pt x="9270" y="19933"/>
                  </a:lnTo>
                  <a:lnTo>
                    <a:pt x="9486" y="19967"/>
                  </a:lnTo>
                  <a:lnTo>
                    <a:pt x="9691" y="19967"/>
                  </a:lnTo>
                  <a:lnTo>
                    <a:pt x="9906" y="19967"/>
                  </a:lnTo>
                  <a:lnTo>
                    <a:pt x="10122" y="19933"/>
                  </a:lnTo>
                  <a:lnTo>
                    <a:pt x="10327" y="19834"/>
                  </a:lnTo>
                  <a:lnTo>
                    <a:pt x="10552" y="19700"/>
                  </a:lnTo>
                  <a:lnTo>
                    <a:pt x="10795" y="19567"/>
                  </a:lnTo>
                  <a:lnTo>
                    <a:pt x="11020" y="19334"/>
                  </a:lnTo>
                  <a:lnTo>
                    <a:pt x="11244" y="19135"/>
                  </a:lnTo>
                  <a:lnTo>
                    <a:pt x="11478" y="18835"/>
                  </a:lnTo>
                  <a:lnTo>
                    <a:pt x="11712" y="18569"/>
                  </a:lnTo>
                  <a:lnTo>
                    <a:pt x="11964" y="18236"/>
                  </a:lnTo>
                  <a:lnTo>
                    <a:pt x="12208" y="17903"/>
                  </a:lnTo>
                  <a:lnTo>
                    <a:pt x="12460" y="17504"/>
                  </a:lnTo>
                  <a:lnTo>
                    <a:pt x="12713" y="17138"/>
                  </a:lnTo>
                  <a:lnTo>
                    <a:pt x="12956" y="16739"/>
                  </a:lnTo>
                  <a:lnTo>
                    <a:pt x="13199" y="16273"/>
                  </a:lnTo>
                  <a:lnTo>
                    <a:pt x="13442" y="15807"/>
                  </a:lnTo>
                  <a:lnTo>
                    <a:pt x="13704" y="15341"/>
                  </a:lnTo>
                  <a:lnTo>
                    <a:pt x="13957" y="14842"/>
                  </a:lnTo>
                  <a:lnTo>
                    <a:pt x="14210" y="14376"/>
                  </a:lnTo>
                  <a:lnTo>
                    <a:pt x="14443" y="13810"/>
                  </a:lnTo>
                  <a:lnTo>
                    <a:pt x="14696" y="13311"/>
                  </a:lnTo>
                  <a:lnTo>
                    <a:pt x="14958" y="12779"/>
                  </a:lnTo>
                  <a:lnTo>
                    <a:pt x="15201" y="12246"/>
                  </a:lnTo>
                  <a:lnTo>
                    <a:pt x="15454" y="11681"/>
                  </a:lnTo>
                  <a:lnTo>
                    <a:pt x="15688" y="11115"/>
                  </a:lnTo>
                  <a:lnTo>
                    <a:pt x="15921" y="10582"/>
                  </a:lnTo>
                  <a:lnTo>
                    <a:pt x="16146" y="10050"/>
                  </a:lnTo>
                  <a:lnTo>
                    <a:pt x="16389" y="9451"/>
                  </a:lnTo>
                  <a:lnTo>
                    <a:pt x="16614" y="8918"/>
                  </a:lnTo>
                  <a:lnTo>
                    <a:pt x="16848" y="8386"/>
                  </a:lnTo>
                  <a:lnTo>
                    <a:pt x="17072" y="7820"/>
                  </a:lnTo>
                  <a:lnTo>
                    <a:pt x="17287" y="7288"/>
                  </a:lnTo>
                  <a:lnTo>
                    <a:pt x="17493" y="6755"/>
                  </a:lnTo>
                  <a:lnTo>
                    <a:pt x="17717" y="6256"/>
                  </a:lnTo>
                  <a:lnTo>
                    <a:pt x="17923" y="5724"/>
                  </a:lnTo>
                  <a:lnTo>
                    <a:pt x="18120" y="5191"/>
                  </a:lnTo>
                  <a:lnTo>
                    <a:pt x="18307" y="4725"/>
                  </a:lnTo>
                  <a:lnTo>
                    <a:pt x="18494" y="4293"/>
                  </a:lnTo>
                  <a:lnTo>
                    <a:pt x="18681" y="3860"/>
                  </a:lnTo>
                  <a:lnTo>
                    <a:pt x="18849" y="3394"/>
                  </a:lnTo>
                  <a:lnTo>
                    <a:pt x="19018" y="2995"/>
                  </a:lnTo>
                  <a:lnTo>
                    <a:pt x="19177" y="2629"/>
                  </a:lnTo>
                  <a:lnTo>
                    <a:pt x="19336" y="2230"/>
                  </a:lnTo>
                  <a:lnTo>
                    <a:pt x="19486" y="1897"/>
                  </a:lnTo>
                  <a:lnTo>
                    <a:pt x="19616" y="1597"/>
                  </a:lnTo>
                  <a:lnTo>
                    <a:pt x="19747" y="1331"/>
                  </a:lnTo>
                  <a:lnTo>
                    <a:pt x="19878" y="1065"/>
                  </a:lnTo>
                  <a:lnTo>
                    <a:pt x="19991" y="832"/>
                  </a:lnTo>
                </a:path>
              </a:pathLst>
            </a:custGeom>
            <a:noFill/>
            <a:ln w="571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1498600" y="4111897"/>
            <a:ext cx="6491288" cy="1539875"/>
            <a:chOff x="1498389" y="4086225"/>
            <a:chExt cx="6492187" cy="1539876"/>
          </a:xfrm>
        </p:grpSpPr>
        <p:sp>
          <p:nvSpPr>
            <p:cNvPr id="2" name="Freeform 93"/>
            <p:cNvSpPr/>
            <p:nvPr/>
          </p:nvSpPr>
          <p:spPr bwMode="auto">
            <a:xfrm>
              <a:off x="1498389" y="4827588"/>
              <a:ext cx="3164289" cy="79851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4"/>
                  </a:moveTo>
                  <a:lnTo>
                    <a:pt x="229" y="1484"/>
                  </a:lnTo>
                  <a:lnTo>
                    <a:pt x="438" y="2097"/>
                  </a:lnTo>
                  <a:lnTo>
                    <a:pt x="666" y="2696"/>
                  </a:lnTo>
                  <a:lnTo>
                    <a:pt x="885" y="3324"/>
                  </a:lnTo>
                  <a:lnTo>
                    <a:pt x="1104" y="3909"/>
                  </a:lnTo>
                  <a:lnTo>
                    <a:pt x="1323" y="4494"/>
                  </a:lnTo>
                  <a:lnTo>
                    <a:pt x="1551" y="5093"/>
                  </a:lnTo>
                  <a:lnTo>
                    <a:pt x="1760" y="5678"/>
                  </a:lnTo>
                  <a:lnTo>
                    <a:pt x="1989" y="6248"/>
                  </a:lnTo>
                  <a:lnTo>
                    <a:pt x="2228" y="6833"/>
                  </a:lnTo>
                  <a:lnTo>
                    <a:pt x="2447" y="7404"/>
                  </a:lnTo>
                  <a:lnTo>
                    <a:pt x="2675" y="7960"/>
                  </a:lnTo>
                  <a:lnTo>
                    <a:pt x="2884" y="8531"/>
                  </a:lnTo>
                  <a:lnTo>
                    <a:pt x="3113" y="9101"/>
                  </a:lnTo>
                  <a:lnTo>
                    <a:pt x="3342" y="9643"/>
                  </a:lnTo>
                  <a:lnTo>
                    <a:pt x="3550" y="10171"/>
                  </a:lnTo>
                  <a:lnTo>
                    <a:pt x="3779" y="10699"/>
                  </a:lnTo>
                  <a:lnTo>
                    <a:pt x="3998" y="11227"/>
                  </a:lnTo>
                  <a:lnTo>
                    <a:pt x="4227" y="11755"/>
                  </a:lnTo>
                  <a:lnTo>
                    <a:pt x="4436" y="12254"/>
                  </a:lnTo>
                  <a:lnTo>
                    <a:pt x="4664" y="12739"/>
                  </a:lnTo>
                  <a:lnTo>
                    <a:pt x="4883" y="13181"/>
                  </a:lnTo>
                  <a:lnTo>
                    <a:pt x="5112" y="13652"/>
                  </a:lnTo>
                  <a:lnTo>
                    <a:pt x="5341" y="14094"/>
                  </a:lnTo>
                  <a:lnTo>
                    <a:pt x="5549" y="14565"/>
                  </a:lnTo>
                  <a:lnTo>
                    <a:pt x="5758" y="14993"/>
                  </a:lnTo>
                  <a:lnTo>
                    <a:pt x="5977" y="15407"/>
                  </a:lnTo>
                  <a:lnTo>
                    <a:pt x="6196" y="15820"/>
                  </a:lnTo>
                  <a:lnTo>
                    <a:pt x="6425" y="16205"/>
                  </a:lnTo>
                  <a:lnTo>
                    <a:pt x="6634" y="16576"/>
                  </a:lnTo>
                  <a:lnTo>
                    <a:pt x="6862" y="16919"/>
                  </a:lnTo>
                  <a:lnTo>
                    <a:pt x="7091" y="17261"/>
                  </a:lnTo>
                  <a:lnTo>
                    <a:pt x="7280" y="17575"/>
                  </a:lnTo>
                  <a:lnTo>
                    <a:pt x="7509" y="17889"/>
                  </a:lnTo>
                  <a:lnTo>
                    <a:pt x="7737" y="18160"/>
                  </a:lnTo>
                  <a:lnTo>
                    <a:pt x="7956" y="18431"/>
                  </a:lnTo>
                  <a:lnTo>
                    <a:pt x="8155" y="18688"/>
                  </a:lnTo>
                  <a:lnTo>
                    <a:pt x="8374" y="18930"/>
                  </a:lnTo>
                  <a:lnTo>
                    <a:pt x="8583" y="19144"/>
                  </a:lnTo>
                  <a:lnTo>
                    <a:pt x="8812" y="19315"/>
                  </a:lnTo>
                  <a:lnTo>
                    <a:pt x="9020" y="19486"/>
                  </a:lnTo>
                  <a:lnTo>
                    <a:pt x="9229" y="19601"/>
                  </a:lnTo>
                  <a:lnTo>
                    <a:pt x="9448" y="19743"/>
                  </a:lnTo>
                  <a:lnTo>
                    <a:pt x="9647" y="19857"/>
                  </a:lnTo>
                  <a:lnTo>
                    <a:pt x="9856" y="19900"/>
                  </a:lnTo>
                  <a:lnTo>
                    <a:pt x="10075" y="19971"/>
                  </a:lnTo>
                  <a:lnTo>
                    <a:pt x="10293" y="19986"/>
                  </a:lnTo>
                  <a:lnTo>
                    <a:pt x="10502" y="19971"/>
                  </a:lnTo>
                  <a:lnTo>
                    <a:pt x="10701" y="19971"/>
                  </a:lnTo>
                  <a:lnTo>
                    <a:pt x="10910" y="19900"/>
                  </a:lnTo>
                  <a:lnTo>
                    <a:pt x="11129" y="19772"/>
                  </a:lnTo>
                  <a:lnTo>
                    <a:pt x="11338" y="19658"/>
                  </a:lnTo>
                  <a:lnTo>
                    <a:pt x="11566" y="19472"/>
                  </a:lnTo>
                  <a:lnTo>
                    <a:pt x="11785" y="19230"/>
                  </a:lnTo>
                  <a:lnTo>
                    <a:pt x="12004" y="19001"/>
                  </a:lnTo>
                  <a:lnTo>
                    <a:pt x="12223" y="18730"/>
                  </a:lnTo>
                  <a:lnTo>
                    <a:pt x="12452" y="18431"/>
                  </a:lnTo>
                  <a:lnTo>
                    <a:pt x="12690" y="18074"/>
                  </a:lnTo>
                  <a:lnTo>
                    <a:pt x="12909" y="17718"/>
                  </a:lnTo>
                  <a:lnTo>
                    <a:pt x="13148" y="17290"/>
                  </a:lnTo>
                  <a:lnTo>
                    <a:pt x="13376" y="16890"/>
                  </a:lnTo>
                  <a:lnTo>
                    <a:pt x="13615" y="16462"/>
                  </a:lnTo>
                  <a:lnTo>
                    <a:pt x="13844" y="16006"/>
                  </a:lnTo>
                  <a:lnTo>
                    <a:pt x="14063" y="15535"/>
                  </a:lnTo>
                  <a:lnTo>
                    <a:pt x="14291" y="15050"/>
                  </a:lnTo>
                  <a:lnTo>
                    <a:pt x="14530" y="14522"/>
                  </a:lnTo>
                  <a:lnTo>
                    <a:pt x="14759" y="13980"/>
                  </a:lnTo>
                  <a:lnTo>
                    <a:pt x="14998" y="13466"/>
                  </a:lnTo>
                  <a:lnTo>
                    <a:pt x="15216" y="12924"/>
                  </a:lnTo>
                  <a:lnTo>
                    <a:pt x="15445" y="12354"/>
                  </a:lnTo>
                  <a:lnTo>
                    <a:pt x="15684" y="11797"/>
                  </a:lnTo>
                  <a:lnTo>
                    <a:pt x="15893" y="11213"/>
                  </a:lnTo>
                  <a:lnTo>
                    <a:pt x="16101" y="10628"/>
                  </a:lnTo>
                  <a:lnTo>
                    <a:pt x="16320" y="10071"/>
                  </a:lnTo>
                  <a:lnTo>
                    <a:pt x="16529" y="9515"/>
                  </a:lnTo>
                  <a:lnTo>
                    <a:pt x="16738" y="8944"/>
                  </a:lnTo>
                  <a:lnTo>
                    <a:pt x="16957" y="8359"/>
                  </a:lnTo>
                  <a:lnTo>
                    <a:pt x="17156" y="7803"/>
                  </a:lnTo>
                  <a:lnTo>
                    <a:pt x="17355" y="7233"/>
                  </a:lnTo>
                  <a:lnTo>
                    <a:pt x="17553" y="6690"/>
                  </a:lnTo>
                  <a:lnTo>
                    <a:pt x="17732" y="6134"/>
                  </a:lnTo>
                  <a:lnTo>
                    <a:pt x="17931" y="5592"/>
                  </a:lnTo>
                  <a:lnTo>
                    <a:pt x="18120" y="5050"/>
                  </a:lnTo>
                  <a:lnTo>
                    <a:pt x="18289" y="4551"/>
                  </a:lnTo>
                  <a:lnTo>
                    <a:pt x="18468" y="4037"/>
                  </a:lnTo>
                  <a:lnTo>
                    <a:pt x="18637" y="3566"/>
                  </a:lnTo>
                  <a:lnTo>
                    <a:pt x="18797" y="3124"/>
                  </a:lnTo>
                  <a:lnTo>
                    <a:pt x="18956" y="2653"/>
                  </a:lnTo>
                  <a:lnTo>
                    <a:pt x="19095" y="2240"/>
                  </a:lnTo>
                  <a:lnTo>
                    <a:pt x="19254" y="1840"/>
                  </a:lnTo>
                  <a:lnTo>
                    <a:pt x="19393" y="1441"/>
                  </a:lnTo>
                  <a:lnTo>
                    <a:pt x="19523" y="1098"/>
                  </a:lnTo>
                  <a:lnTo>
                    <a:pt x="19642" y="799"/>
                  </a:lnTo>
                  <a:lnTo>
                    <a:pt x="19771" y="471"/>
                  </a:lnTo>
                  <a:lnTo>
                    <a:pt x="19881" y="214"/>
                  </a:lnTo>
                  <a:lnTo>
                    <a:pt x="19990" y="0"/>
                  </a:lnTo>
                </a:path>
              </a:pathLst>
            </a:cu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5" name="Freeform 94"/>
            <p:cNvSpPr/>
            <p:nvPr/>
          </p:nvSpPr>
          <p:spPr bwMode="auto">
            <a:xfrm>
              <a:off x="4624923" y="4086225"/>
              <a:ext cx="3365653" cy="77152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985"/>
                  </a:moveTo>
                  <a:lnTo>
                    <a:pt x="196" y="19365"/>
                  </a:lnTo>
                  <a:lnTo>
                    <a:pt x="402" y="18731"/>
                  </a:lnTo>
                  <a:lnTo>
                    <a:pt x="599" y="18111"/>
                  </a:lnTo>
                  <a:lnTo>
                    <a:pt x="795" y="17461"/>
                  </a:lnTo>
                  <a:lnTo>
                    <a:pt x="982" y="16841"/>
                  </a:lnTo>
                  <a:lnTo>
                    <a:pt x="1188" y="16251"/>
                  </a:lnTo>
                  <a:lnTo>
                    <a:pt x="1384" y="15631"/>
                  </a:lnTo>
                  <a:lnTo>
                    <a:pt x="1581" y="15026"/>
                  </a:lnTo>
                  <a:lnTo>
                    <a:pt x="1777" y="14421"/>
                  </a:lnTo>
                  <a:lnTo>
                    <a:pt x="1983" y="13830"/>
                  </a:lnTo>
                  <a:lnTo>
                    <a:pt x="2180" y="13240"/>
                  </a:lnTo>
                  <a:lnTo>
                    <a:pt x="2376" y="12694"/>
                  </a:lnTo>
                  <a:lnTo>
                    <a:pt x="2563" y="12089"/>
                  </a:lnTo>
                  <a:lnTo>
                    <a:pt x="2769" y="11513"/>
                  </a:lnTo>
                  <a:lnTo>
                    <a:pt x="2965" y="10952"/>
                  </a:lnTo>
                  <a:lnTo>
                    <a:pt x="3162" y="10391"/>
                  </a:lnTo>
                  <a:lnTo>
                    <a:pt x="3368" y="9845"/>
                  </a:lnTo>
                  <a:lnTo>
                    <a:pt x="3564" y="9314"/>
                  </a:lnTo>
                  <a:lnTo>
                    <a:pt x="3761" y="8782"/>
                  </a:lnTo>
                  <a:lnTo>
                    <a:pt x="3966" y="8266"/>
                  </a:lnTo>
                  <a:lnTo>
                    <a:pt x="4163" y="7749"/>
                  </a:lnTo>
                  <a:lnTo>
                    <a:pt x="4359" y="7277"/>
                  </a:lnTo>
                  <a:lnTo>
                    <a:pt x="4574" y="6790"/>
                  </a:lnTo>
                  <a:lnTo>
                    <a:pt x="4790" y="6332"/>
                  </a:lnTo>
                  <a:lnTo>
                    <a:pt x="4977" y="5845"/>
                  </a:lnTo>
                  <a:lnTo>
                    <a:pt x="5173" y="5402"/>
                  </a:lnTo>
                  <a:lnTo>
                    <a:pt x="5370" y="4974"/>
                  </a:lnTo>
                  <a:lnTo>
                    <a:pt x="5566" y="4546"/>
                  </a:lnTo>
                  <a:lnTo>
                    <a:pt x="5781" y="4148"/>
                  </a:lnTo>
                  <a:lnTo>
                    <a:pt x="5978" y="3779"/>
                  </a:lnTo>
                  <a:lnTo>
                    <a:pt x="6183" y="3380"/>
                  </a:lnTo>
                  <a:lnTo>
                    <a:pt x="6380" y="3026"/>
                  </a:lnTo>
                  <a:lnTo>
                    <a:pt x="6576" y="2686"/>
                  </a:lnTo>
                  <a:lnTo>
                    <a:pt x="6791" y="2376"/>
                  </a:lnTo>
                  <a:lnTo>
                    <a:pt x="6988" y="2066"/>
                  </a:lnTo>
                  <a:lnTo>
                    <a:pt x="7203" y="1801"/>
                  </a:lnTo>
                  <a:lnTo>
                    <a:pt x="7399" y="1506"/>
                  </a:lnTo>
                  <a:lnTo>
                    <a:pt x="7615" y="1255"/>
                  </a:lnTo>
                  <a:lnTo>
                    <a:pt x="7811" y="1033"/>
                  </a:lnTo>
                  <a:lnTo>
                    <a:pt x="8026" y="827"/>
                  </a:lnTo>
                  <a:lnTo>
                    <a:pt x="8241" y="649"/>
                  </a:lnTo>
                  <a:lnTo>
                    <a:pt x="8438" y="502"/>
                  </a:lnTo>
                  <a:lnTo>
                    <a:pt x="8644" y="339"/>
                  </a:lnTo>
                  <a:lnTo>
                    <a:pt x="8859" y="221"/>
                  </a:lnTo>
                  <a:lnTo>
                    <a:pt x="9055" y="118"/>
                  </a:lnTo>
                  <a:lnTo>
                    <a:pt x="9270" y="74"/>
                  </a:lnTo>
                  <a:lnTo>
                    <a:pt x="9486" y="30"/>
                  </a:lnTo>
                  <a:lnTo>
                    <a:pt x="9691" y="30"/>
                  </a:lnTo>
                  <a:lnTo>
                    <a:pt x="9906" y="0"/>
                  </a:lnTo>
                  <a:lnTo>
                    <a:pt x="10122" y="44"/>
                  </a:lnTo>
                  <a:lnTo>
                    <a:pt x="10327" y="162"/>
                  </a:lnTo>
                  <a:lnTo>
                    <a:pt x="10552" y="266"/>
                  </a:lnTo>
                  <a:lnTo>
                    <a:pt x="10795" y="428"/>
                  </a:lnTo>
                  <a:lnTo>
                    <a:pt x="11020" y="649"/>
                  </a:lnTo>
                  <a:lnTo>
                    <a:pt x="11244" y="856"/>
                  </a:lnTo>
                  <a:lnTo>
                    <a:pt x="11478" y="1137"/>
                  </a:lnTo>
                  <a:lnTo>
                    <a:pt x="11712" y="1432"/>
                  </a:lnTo>
                  <a:lnTo>
                    <a:pt x="11964" y="1742"/>
                  </a:lnTo>
                  <a:lnTo>
                    <a:pt x="12208" y="2081"/>
                  </a:lnTo>
                  <a:lnTo>
                    <a:pt x="12460" y="2465"/>
                  </a:lnTo>
                  <a:lnTo>
                    <a:pt x="12713" y="2849"/>
                  </a:lnTo>
                  <a:lnTo>
                    <a:pt x="12956" y="3247"/>
                  </a:lnTo>
                  <a:lnTo>
                    <a:pt x="13199" y="3705"/>
                  </a:lnTo>
                  <a:lnTo>
                    <a:pt x="13442" y="4162"/>
                  </a:lnTo>
                  <a:lnTo>
                    <a:pt x="13704" y="4635"/>
                  </a:lnTo>
                  <a:lnTo>
                    <a:pt x="13957" y="5151"/>
                  </a:lnTo>
                  <a:lnTo>
                    <a:pt x="14210" y="5624"/>
                  </a:lnTo>
                  <a:lnTo>
                    <a:pt x="14443" y="6155"/>
                  </a:lnTo>
                  <a:lnTo>
                    <a:pt x="14696" y="6672"/>
                  </a:lnTo>
                  <a:lnTo>
                    <a:pt x="14958" y="7218"/>
                  </a:lnTo>
                  <a:lnTo>
                    <a:pt x="15201" y="7749"/>
                  </a:lnTo>
                  <a:lnTo>
                    <a:pt x="15454" y="8325"/>
                  </a:lnTo>
                  <a:lnTo>
                    <a:pt x="15688" y="8871"/>
                  </a:lnTo>
                  <a:lnTo>
                    <a:pt x="15921" y="9402"/>
                  </a:lnTo>
                  <a:lnTo>
                    <a:pt x="16146" y="9948"/>
                  </a:lnTo>
                  <a:lnTo>
                    <a:pt x="16389" y="10524"/>
                  </a:lnTo>
                  <a:lnTo>
                    <a:pt x="16614" y="11085"/>
                  </a:lnTo>
                  <a:lnTo>
                    <a:pt x="16848" y="11616"/>
                  </a:lnTo>
                  <a:lnTo>
                    <a:pt x="17072" y="12162"/>
                  </a:lnTo>
                  <a:lnTo>
                    <a:pt x="17287" y="12694"/>
                  </a:lnTo>
                  <a:lnTo>
                    <a:pt x="17493" y="13225"/>
                  </a:lnTo>
                  <a:lnTo>
                    <a:pt x="17717" y="13742"/>
                  </a:lnTo>
                  <a:lnTo>
                    <a:pt x="17923" y="14258"/>
                  </a:lnTo>
                  <a:lnTo>
                    <a:pt x="18120" y="14775"/>
                  </a:lnTo>
                  <a:lnTo>
                    <a:pt x="18307" y="15247"/>
                  </a:lnTo>
                  <a:lnTo>
                    <a:pt x="18494" y="15690"/>
                  </a:lnTo>
                  <a:lnTo>
                    <a:pt x="18681" y="16133"/>
                  </a:lnTo>
                  <a:lnTo>
                    <a:pt x="18849" y="16590"/>
                  </a:lnTo>
                  <a:lnTo>
                    <a:pt x="19018" y="17004"/>
                  </a:lnTo>
                  <a:lnTo>
                    <a:pt x="19177" y="17373"/>
                  </a:lnTo>
                  <a:lnTo>
                    <a:pt x="19336" y="17742"/>
                  </a:lnTo>
                  <a:lnTo>
                    <a:pt x="19486" y="18081"/>
                  </a:lnTo>
                  <a:lnTo>
                    <a:pt x="19616" y="18376"/>
                  </a:lnTo>
                  <a:lnTo>
                    <a:pt x="19747" y="18672"/>
                  </a:lnTo>
                  <a:lnTo>
                    <a:pt x="19878" y="18937"/>
                  </a:lnTo>
                  <a:lnTo>
                    <a:pt x="19991" y="19144"/>
                  </a:lnTo>
                </a:path>
              </a:pathLst>
            </a:custGeom>
            <a:noFill/>
            <a:ln w="38100">
              <a:solidFill>
                <a:srgbClr val="FF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64" name="Line 101"/>
          <p:cNvSpPr>
            <a:spLocks noChangeShapeType="1"/>
          </p:cNvSpPr>
          <p:nvPr/>
        </p:nvSpPr>
        <p:spPr bwMode="auto">
          <a:xfrm>
            <a:off x="3071813" y="4111897"/>
            <a:ext cx="1587" cy="2276475"/>
          </a:xfrm>
          <a:prstGeom prst="line">
            <a:avLst/>
          </a:prstGeom>
          <a:noFill/>
          <a:ln w="6350">
            <a:solidFill>
              <a:schemeClr val="bg1"/>
            </a:solidFill>
            <a:prstDash val="sys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65" name="Line 102"/>
          <p:cNvSpPr>
            <a:spLocks noChangeShapeType="1"/>
          </p:cNvSpPr>
          <p:nvPr/>
        </p:nvSpPr>
        <p:spPr bwMode="auto">
          <a:xfrm>
            <a:off x="4646613" y="4111897"/>
            <a:ext cx="0" cy="2276475"/>
          </a:xfrm>
          <a:prstGeom prst="line">
            <a:avLst/>
          </a:prstGeom>
          <a:noFill/>
          <a:ln w="6350">
            <a:solidFill>
              <a:schemeClr val="bg1"/>
            </a:solidFill>
            <a:prstDash val="sys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66" name="Line 103"/>
          <p:cNvSpPr>
            <a:spLocks noChangeShapeType="1"/>
          </p:cNvSpPr>
          <p:nvPr/>
        </p:nvSpPr>
        <p:spPr bwMode="auto">
          <a:xfrm>
            <a:off x="7918450" y="4123010"/>
            <a:ext cx="3175" cy="2276475"/>
          </a:xfrm>
          <a:prstGeom prst="line">
            <a:avLst/>
          </a:prstGeom>
          <a:noFill/>
          <a:ln w="6350">
            <a:solidFill>
              <a:schemeClr val="bg1"/>
            </a:solidFill>
            <a:prstDash val="sys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67" name="Line 104"/>
          <p:cNvSpPr>
            <a:spLocks noChangeShapeType="1"/>
          </p:cNvSpPr>
          <p:nvPr/>
        </p:nvSpPr>
        <p:spPr bwMode="auto">
          <a:xfrm>
            <a:off x="6249988" y="4111897"/>
            <a:ext cx="1587" cy="2276475"/>
          </a:xfrm>
          <a:prstGeom prst="line">
            <a:avLst/>
          </a:prstGeom>
          <a:noFill/>
          <a:ln w="6350">
            <a:solidFill>
              <a:schemeClr val="bg1"/>
            </a:solidFill>
            <a:prstDash val="sys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 bwMode="auto">
          <a:xfrm>
            <a:off x="838200" y="4413522"/>
            <a:ext cx="7115175" cy="930275"/>
            <a:chOff x="838563" y="4387850"/>
            <a:chExt cx="7114257" cy="930276"/>
          </a:xfrm>
        </p:grpSpPr>
        <p:sp>
          <p:nvSpPr>
            <p:cNvPr id="13370" name="Line 97"/>
            <p:cNvSpPr>
              <a:spLocks noChangeShapeType="1"/>
            </p:cNvSpPr>
            <p:nvPr/>
          </p:nvSpPr>
          <p:spPr bwMode="auto">
            <a:xfrm>
              <a:off x="1467825" y="4495800"/>
              <a:ext cx="6484995" cy="0"/>
            </a:xfrm>
            <a:prstGeom prst="line">
              <a:avLst/>
            </a:prstGeom>
            <a:noFill/>
            <a:ln w="635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1" name="Line 98"/>
            <p:cNvSpPr>
              <a:spLocks noChangeShapeType="1"/>
            </p:cNvSpPr>
            <p:nvPr/>
          </p:nvSpPr>
          <p:spPr bwMode="auto">
            <a:xfrm>
              <a:off x="1435463" y="5178425"/>
              <a:ext cx="6486793" cy="0"/>
            </a:xfrm>
            <a:prstGeom prst="line">
              <a:avLst/>
            </a:prstGeom>
            <a:noFill/>
            <a:ln w="635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2" name="Rectangle 106"/>
            <p:cNvSpPr>
              <a:spLocks noChangeArrowheads="1"/>
            </p:cNvSpPr>
            <p:nvPr/>
          </p:nvSpPr>
          <p:spPr bwMode="auto">
            <a:xfrm>
              <a:off x="996777" y="4387850"/>
              <a:ext cx="533974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200" i="1">
                  <a:solidFill>
                    <a:schemeClr val="bg1"/>
                  </a:solidFill>
                  <a:ea typeface="楷体_GB2312" pitchFamily="49" charset="-122"/>
                </a:rPr>
                <a:t>A</a:t>
              </a:r>
            </a:p>
          </p:txBody>
        </p:sp>
        <p:sp>
          <p:nvSpPr>
            <p:cNvPr id="10" name="Rectangle 107"/>
            <p:cNvSpPr>
              <a:spLocks noChangeArrowheads="1"/>
            </p:cNvSpPr>
            <p:nvPr/>
          </p:nvSpPr>
          <p:spPr bwMode="auto">
            <a:xfrm>
              <a:off x="838563" y="4997450"/>
              <a:ext cx="726348" cy="320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200" i="1">
                  <a:solidFill>
                    <a:schemeClr val="bg1"/>
                  </a:solidFill>
                  <a:ea typeface="楷体_GB2312" pitchFamily="49" charset="-122"/>
                </a:rPr>
                <a:t>-A</a:t>
              </a:r>
            </a:p>
          </p:txBody>
        </p:sp>
      </p:grpSp>
      <p:grpSp>
        <p:nvGrpSpPr>
          <p:cNvPr id="8" name="组合 7"/>
          <p:cNvGrpSpPr/>
          <p:nvPr/>
        </p:nvGrpSpPr>
        <p:grpSpPr bwMode="auto">
          <a:xfrm>
            <a:off x="487363" y="3803922"/>
            <a:ext cx="7466012" cy="1979613"/>
            <a:chOff x="487974" y="3778250"/>
            <a:chExt cx="7464846" cy="1979613"/>
          </a:xfrm>
        </p:grpSpPr>
        <p:sp>
          <p:nvSpPr>
            <p:cNvPr id="11" name="Rectangle 77"/>
            <p:cNvSpPr>
              <a:spLocks noChangeArrowheads="1"/>
            </p:cNvSpPr>
            <p:nvPr/>
          </p:nvSpPr>
          <p:spPr bwMode="auto">
            <a:xfrm>
              <a:off x="718104" y="3778250"/>
              <a:ext cx="1069746" cy="196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200" i="1">
                  <a:solidFill>
                    <a:srgbClr val="FF9933"/>
                  </a:solidFill>
                  <a:ea typeface="楷体_GB2312" pitchFamily="49" charset="-122"/>
                  <a:sym typeface="Symbol" panose="05050102010706020507" pitchFamily="18" charset="2"/>
                </a:rPr>
                <a:t> </a:t>
              </a:r>
              <a:r>
                <a:rPr lang="en-US" altLang="zh-CN" sz="2200" i="1" baseline="30000">
                  <a:solidFill>
                    <a:srgbClr val="FF9933"/>
                  </a:solidFill>
                  <a:ea typeface="楷体_GB2312" pitchFamily="49" charset="-122"/>
                </a:rPr>
                <a:t>2</a:t>
              </a:r>
              <a:r>
                <a:rPr lang="en-US" altLang="zh-CN" sz="2200" i="1">
                  <a:solidFill>
                    <a:srgbClr val="FF9933"/>
                  </a:solidFill>
                  <a:ea typeface="楷体_GB2312" pitchFamily="49" charset="-122"/>
                </a:rPr>
                <a:t>A</a:t>
              </a:r>
              <a:endParaRPr lang="en-US" altLang="zh-CN" sz="2200" i="1">
                <a:ea typeface="楷体_GB2312" pitchFamily="49" charset="-122"/>
              </a:endParaRPr>
            </a:p>
          </p:txBody>
        </p:sp>
        <p:sp>
          <p:nvSpPr>
            <p:cNvPr id="12" name="Line 95"/>
            <p:cNvSpPr>
              <a:spLocks noChangeShapeType="1"/>
            </p:cNvSpPr>
            <p:nvPr/>
          </p:nvSpPr>
          <p:spPr bwMode="auto">
            <a:xfrm>
              <a:off x="1467825" y="4075113"/>
              <a:ext cx="6484995" cy="0"/>
            </a:xfrm>
            <a:prstGeom prst="line">
              <a:avLst/>
            </a:prstGeom>
            <a:noFill/>
            <a:ln w="635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8" name="Line 100"/>
            <p:cNvSpPr>
              <a:spLocks noChangeShapeType="1"/>
            </p:cNvSpPr>
            <p:nvPr/>
          </p:nvSpPr>
          <p:spPr bwMode="auto">
            <a:xfrm>
              <a:off x="1467825" y="5622925"/>
              <a:ext cx="6484995" cy="0"/>
            </a:xfrm>
            <a:prstGeom prst="line">
              <a:avLst/>
            </a:prstGeom>
            <a:noFill/>
            <a:ln w="635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9" name="Rectangle 109"/>
            <p:cNvSpPr>
              <a:spLocks noChangeArrowheads="1"/>
            </p:cNvSpPr>
            <p:nvPr/>
          </p:nvSpPr>
          <p:spPr bwMode="auto">
            <a:xfrm>
              <a:off x="487974" y="5530850"/>
              <a:ext cx="1040979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200" i="1">
                  <a:solidFill>
                    <a:srgbClr val="FF9933"/>
                  </a:solidFill>
                  <a:ea typeface="楷体_GB2312" pitchFamily="49" charset="-122"/>
                </a:rPr>
                <a:t>-</a:t>
              </a:r>
              <a:r>
                <a:rPr lang="en-US" altLang="zh-CN" sz="2200" i="1">
                  <a:solidFill>
                    <a:srgbClr val="FF9933"/>
                  </a:solidFill>
                  <a:ea typeface="楷体_GB2312" pitchFamily="49" charset="-122"/>
                  <a:sym typeface="Symbol" panose="05050102010706020507" pitchFamily="18" charset="2"/>
                </a:rPr>
                <a:t> </a:t>
              </a:r>
              <a:r>
                <a:rPr lang="en-US" altLang="zh-CN" sz="2200" i="1" baseline="30000">
                  <a:solidFill>
                    <a:srgbClr val="FF9933"/>
                  </a:solidFill>
                  <a:ea typeface="楷体_GB2312" pitchFamily="49" charset="-122"/>
                </a:rPr>
                <a:t>2</a:t>
              </a:r>
              <a:r>
                <a:rPr lang="en-US" altLang="zh-CN" sz="2200" i="1">
                  <a:solidFill>
                    <a:srgbClr val="FF9933"/>
                  </a:solidFill>
                  <a:ea typeface="楷体_GB2312" pitchFamily="49" charset="-122"/>
                </a:rPr>
                <a:t>A</a:t>
              </a:r>
              <a:endParaRPr lang="en-US" altLang="zh-CN" sz="2200" i="1">
                <a:ea typeface="楷体_GB2312" pitchFamily="49" charset="-122"/>
              </a:endParaRPr>
            </a:p>
          </p:txBody>
        </p:sp>
      </p:grpSp>
      <p:sp>
        <p:nvSpPr>
          <p:cNvPr id="13373" name="Rectangle 110"/>
          <p:cNvSpPr>
            <a:spLocks noChangeArrowheads="1"/>
          </p:cNvSpPr>
          <p:nvPr/>
        </p:nvSpPr>
        <p:spPr bwMode="auto">
          <a:xfrm>
            <a:off x="1619250" y="4030935"/>
            <a:ext cx="88265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00" i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</a:t>
            </a:r>
            <a:r>
              <a:rPr lang="zh-CN" altLang="en-US" sz="2200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</a:t>
            </a:r>
            <a:endParaRPr lang="zh-CN" altLang="en-US" sz="2200" i="1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13374" name="Rectangle 111"/>
          <p:cNvSpPr>
            <a:spLocks noChangeArrowheads="1"/>
          </p:cNvSpPr>
          <p:nvPr/>
        </p:nvSpPr>
        <p:spPr bwMode="auto">
          <a:xfrm>
            <a:off x="6432550" y="3734072"/>
            <a:ext cx="66040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200" i="1">
                <a:solidFill>
                  <a:srgbClr val="FF9933"/>
                </a:solidFill>
                <a:ea typeface="楷体_GB2312" pitchFamily="49" charset="-122"/>
              </a:rPr>
              <a:t>a</a:t>
            </a:r>
          </a:p>
        </p:txBody>
      </p:sp>
      <p:sp useBgFill="1">
        <p:nvSpPr>
          <p:cNvPr id="13" name="Rectangle 114"/>
          <p:cNvSpPr>
            <a:spLocks noChangeArrowheads="1"/>
          </p:cNvSpPr>
          <p:nvPr/>
        </p:nvSpPr>
        <p:spPr bwMode="auto">
          <a:xfrm rot="1359202">
            <a:off x="7899400" y="4467497"/>
            <a:ext cx="1646238" cy="3048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 bwMode="auto">
          <a:xfrm>
            <a:off x="995363" y="3575322"/>
            <a:ext cx="8150225" cy="3048000"/>
            <a:chOff x="994979" y="3549650"/>
            <a:chExt cx="8149844" cy="3048000"/>
          </a:xfrm>
        </p:grpSpPr>
        <p:sp>
          <p:nvSpPr>
            <p:cNvPr id="13361" name="Rectangle 73"/>
            <p:cNvSpPr>
              <a:spLocks noChangeArrowheads="1"/>
            </p:cNvSpPr>
            <p:nvPr/>
          </p:nvSpPr>
          <p:spPr bwMode="auto">
            <a:xfrm>
              <a:off x="994979" y="4692650"/>
              <a:ext cx="965468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200">
                  <a:solidFill>
                    <a:schemeClr val="bg1"/>
                  </a:solidFill>
                  <a:ea typeface="楷体_GB2312" pitchFamily="49" charset="-122"/>
                </a:rPr>
                <a:t>o</a:t>
              </a:r>
              <a:endParaRPr lang="en-US" altLang="zh-CN" sz="2200">
                <a:ea typeface="楷体_GB2312" pitchFamily="49" charset="-122"/>
              </a:endParaRPr>
            </a:p>
          </p:txBody>
        </p:sp>
        <p:sp>
          <p:nvSpPr>
            <p:cNvPr id="13362" name="Rectangle 75"/>
            <p:cNvSpPr>
              <a:spLocks noChangeArrowheads="1"/>
            </p:cNvSpPr>
            <p:nvPr/>
          </p:nvSpPr>
          <p:spPr bwMode="auto">
            <a:xfrm>
              <a:off x="1656604" y="3549650"/>
              <a:ext cx="1943521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200" i="1">
                  <a:solidFill>
                    <a:schemeClr val="bg1"/>
                  </a:solidFill>
                  <a:ea typeface="楷体_GB2312" pitchFamily="49" charset="-122"/>
                </a:rPr>
                <a:t>x</a:t>
              </a:r>
              <a:r>
                <a:rPr lang="zh-CN" altLang="en-US" sz="2200" i="1">
                  <a:solidFill>
                    <a:srgbClr val="FFFF66"/>
                  </a:solidFill>
                  <a:ea typeface="楷体_GB2312" pitchFamily="49" charset="-122"/>
                </a:rPr>
                <a:t>、 </a:t>
              </a:r>
              <a:r>
                <a:rPr lang="zh-CN" altLang="en-US" sz="2200" i="1">
                  <a:solidFill>
                    <a:srgbClr val="FFFF00"/>
                  </a:solidFill>
                  <a:ea typeface="楷体_GB2312" pitchFamily="49" charset="-122"/>
                  <a:sym typeface="Symbol" panose="05050102010706020507" pitchFamily="18" charset="2"/>
                </a:rPr>
                <a:t></a:t>
              </a:r>
              <a:r>
                <a:rPr lang="zh-CN" altLang="en-US" sz="2200">
                  <a:solidFill>
                    <a:srgbClr val="FFFF00"/>
                  </a:solidFill>
                  <a:ea typeface="楷体_GB2312" pitchFamily="49" charset="-122"/>
                  <a:sym typeface="Symbol" panose="05050102010706020507" pitchFamily="18" charset="2"/>
                </a:rPr>
                <a:t></a:t>
              </a:r>
              <a:r>
                <a:rPr lang="zh-CN" altLang="en-US" sz="2200">
                  <a:solidFill>
                    <a:srgbClr val="FFFF66"/>
                  </a:solidFill>
                  <a:ea typeface="楷体_GB2312" pitchFamily="49" charset="-122"/>
                </a:rPr>
                <a:t> </a:t>
              </a:r>
              <a:r>
                <a:rPr lang="zh-CN" altLang="en-US" sz="2200" i="1">
                  <a:solidFill>
                    <a:srgbClr val="FFFF66"/>
                  </a:solidFill>
                  <a:ea typeface="楷体_GB2312" pitchFamily="49" charset="-122"/>
                </a:rPr>
                <a:t>、</a:t>
              </a:r>
              <a:r>
                <a:rPr lang="en-US" altLang="zh-CN" sz="2200" i="1">
                  <a:solidFill>
                    <a:srgbClr val="FF9933"/>
                  </a:solidFill>
                  <a:ea typeface="楷体_GB2312" pitchFamily="49" charset="-122"/>
                </a:rPr>
                <a:t>a</a:t>
              </a:r>
            </a:p>
          </p:txBody>
        </p:sp>
        <p:sp>
          <p:nvSpPr>
            <p:cNvPr id="13363" name="Line 105"/>
            <p:cNvSpPr>
              <a:spLocks noChangeShapeType="1"/>
            </p:cNvSpPr>
            <p:nvPr/>
          </p:nvSpPr>
          <p:spPr bwMode="auto">
            <a:xfrm>
              <a:off x="1467825" y="4860925"/>
              <a:ext cx="7428888" cy="0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12"/>
            <p:cNvSpPr>
              <a:spLocks noChangeShapeType="1"/>
            </p:cNvSpPr>
            <p:nvPr/>
          </p:nvSpPr>
          <p:spPr bwMode="auto">
            <a:xfrm flipH="1">
              <a:off x="1442654" y="3625850"/>
              <a:ext cx="0" cy="2971800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15"/>
            <p:cNvSpPr>
              <a:spLocks noChangeArrowheads="1"/>
            </p:cNvSpPr>
            <p:nvPr/>
          </p:nvSpPr>
          <p:spPr bwMode="auto">
            <a:xfrm>
              <a:off x="8799628" y="4462463"/>
              <a:ext cx="345195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200" i="1">
                  <a:solidFill>
                    <a:schemeClr val="bg1"/>
                  </a:solidFill>
                  <a:ea typeface="楷体_GB2312" pitchFamily="49" charset="-122"/>
                </a:rPr>
                <a:t>t</a:t>
              </a:r>
            </a:p>
          </p:txBody>
        </p:sp>
      </p:grpSp>
      <p:sp>
        <p:nvSpPr>
          <p:cNvPr id="13354" name="灯片编号占位符 1"/>
          <p:cNvSpPr txBox="1"/>
          <p:nvPr/>
        </p:nvSpPr>
        <p:spPr bwMode="auto">
          <a:xfrm>
            <a:off x="0" y="6381328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9E7A035-8F60-43DA-8718-B17F79D11A25}" type="slidenum">
              <a:rPr lang="en-US" altLang="zh-CN" b="0">
                <a:solidFill>
                  <a:srgbClr val="FF00FF"/>
                </a:solidFill>
              </a:rPr>
              <a:t>9</a:t>
            </a:fld>
            <a:r>
              <a:rPr lang="en-US" altLang="zh-CN" b="0" dirty="0">
                <a:solidFill>
                  <a:srgbClr val="FF00FF"/>
                </a:solidFill>
              </a:rPr>
              <a:t>/24</a:t>
            </a:r>
          </a:p>
        </p:txBody>
      </p:sp>
      <p:sp useBgFill="1">
        <p:nvSpPr>
          <p:cNvPr id="13355" name="Rectangle 69"/>
          <p:cNvSpPr>
            <a:spLocks noChangeArrowheads="1"/>
          </p:cNvSpPr>
          <p:nvPr/>
        </p:nvSpPr>
        <p:spPr bwMode="auto">
          <a:xfrm rot="20350877">
            <a:off x="-290513" y="4446860"/>
            <a:ext cx="1725613" cy="28098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 bwMode="auto">
          <a:xfrm>
            <a:off x="630238" y="4108722"/>
            <a:ext cx="7323137" cy="1349375"/>
            <a:chOff x="630007" y="4083050"/>
            <a:chExt cx="7322813" cy="1349375"/>
          </a:xfrm>
        </p:grpSpPr>
        <p:sp>
          <p:nvSpPr>
            <p:cNvPr id="13357" name="Line 96"/>
            <p:cNvSpPr>
              <a:spLocks noChangeShapeType="1"/>
            </p:cNvSpPr>
            <p:nvPr/>
          </p:nvSpPr>
          <p:spPr bwMode="auto">
            <a:xfrm>
              <a:off x="1467825" y="4325938"/>
              <a:ext cx="6484995" cy="0"/>
            </a:xfrm>
            <a:prstGeom prst="line">
              <a:avLst/>
            </a:prstGeom>
            <a:noFill/>
            <a:ln w="635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8" name="Line 99"/>
            <p:cNvSpPr>
              <a:spLocks noChangeShapeType="1"/>
            </p:cNvSpPr>
            <p:nvPr/>
          </p:nvSpPr>
          <p:spPr bwMode="auto">
            <a:xfrm>
              <a:off x="1467825" y="5372100"/>
              <a:ext cx="6484995" cy="0"/>
            </a:xfrm>
            <a:prstGeom prst="line">
              <a:avLst/>
            </a:prstGeom>
            <a:noFill/>
            <a:ln w="635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9" name="Rectangle 108"/>
            <p:cNvSpPr>
              <a:spLocks noChangeArrowheads="1"/>
            </p:cNvSpPr>
            <p:nvPr/>
          </p:nvSpPr>
          <p:spPr bwMode="auto">
            <a:xfrm>
              <a:off x="630007" y="5226050"/>
              <a:ext cx="1071543" cy="206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200" i="1">
                  <a:solidFill>
                    <a:srgbClr val="FFFF66"/>
                  </a:solidFill>
                  <a:ea typeface="楷体_GB2312" pitchFamily="49" charset="-122"/>
                </a:rPr>
                <a:t>-</a:t>
              </a:r>
              <a:r>
                <a:rPr lang="en-US" altLang="zh-CN" sz="2200" i="1">
                  <a:solidFill>
                    <a:srgbClr val="FFFF66"/>
                  </a:solidFill>
                  <a:ea typeface="楷体_GB2312" pitchFamily="49" charset="-122"/>
                  <a:sym typeface="Symbol" panose="05050102010706020507" pitchFamily="18" charset="2"/>
                </a:rPr>
                <a:t> </a:t>
              </a:r>
              <a:r>
                <a:rPr lang="en-US" altLang="zh-CN" sz="2200" i="1">
                  <a:solidFill>
                    <a:srgbClr val="FFFF66"/>
                  </a:solidFill>
                  <a:ea typeface="楷体_GB2312" pitchFamily="49" charset="-122"/>
                </a:rPr>
                <a:t>A</a:t>
              </a:r>
              <a:endParaRPr lang="en-US" altLang="zh-CN" sz="2200" i="1">
                <a:ea typeface="楷体_GB2312" pitchFamily="49" charset="-122"/>
              </a:endParaRPr>
            </a:p>
          </p:txBody>
        </p:sp>
        <p:sp>
          <p:nvSpPr>
            <p:cNvPr id="13360" name="Rectangle 113"/>
            <p:cNvSpPr>
              <a:spLocks noChangeArrowheads="1"/>
            </p:cNvSpPr>
            <p:nvPr/>
          </p:nvSpPr>
          <p:spPr bwMode="auto">
            <a:xfrm>
              <a:off x="752264" y="4083050"/>
              <a:ext cx="913329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200" i="1">
                  <a:solidFill>
                    <a:srgbClr val="FFFF66"/>
                  </a:solidFill>
                  <a:ea typeface="楷体_GB2312" pitchFamily="49" charset="-122"/>
                  <a:sym typeface="Symbol" panose="05050102010706020507" pitchFamily="18" charset="2"/>
                </a:rPr>
                <a:t> </a:t>
              </a:r>
              <a:r>
                <a:rPr lang="en-US" altLang="zh-CN" sz="2200" i="1">
                  <a:solidFill>
                    <a:srgbClr val="FFFF66"/>
                  </a:solidFill>
                  <a:ea typeface="楷体_GB2312" pitchFamily="49" charset="-122"/>
                </a:rPr>
                <a:t>A</a:t>
              </a:r>
              <a:endParaRPr lang="en-US" altLang="zh-CN" sz="2200" i="1">
                <a:ea typeface="楷体_GB2312" pitchFamily="49" charset="-122"/>
              </a:endParaRPr>
            </a:p>
          </p:txBody>
        </p:sp>
      </p:grpSp>
      <p:sp>
        <p:nvSpPr>
          <p:cNvPr id="69" name="Text Box 17"/>
          <p:cNvSpPr txBox="1">
            <a:spLocks noChangeArrowheads="1"/>
          </p:cNvSpPr>
          <p:nvPr/>
        </p:nvSpPr>
        <p:spPr bwMode="auto">
          <a:xfrm>
            <a:off x="756098" y="3068960"/>
            <a:ext cx="6912246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问题：</a:t>
            </a:r>
            <a:r>
              <a:rPr lang="zh-CN" altLang="en-US" sz="22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如何判断一个力学系统是否是谐振动系统？</a:t>
            </a:r>
          </a:p>
        </p:txBody>
      </p:sp>
      <p:sp>
        <p:nvSpPr>
          <p:cNvPr id="71" name="AutoShape 15"/>
          <p:cNvSpPr>
            <a:spLocks noChangeArrowheads="1"/>
          </p:cNvSpPr>
          <p:nvPr/>
        </p:nvSpPr>
        <p:spPr bwMode="auto">
          <a:xfrm>
            <a:off x="7534125" y="2073301"/>
            <a:ext cx="1335088" cy="769938"/>
          </a:xfrm>
          <a:prstGeom prst="wedgeRectCallout">
            <a:avLst>
              <a:gd name="adj1" fmla="val -50310"/>
              <a:gd name="adj2" fmla="val -2169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动力学</a:t>
            </a:r>
          </a:p>
          <a:p>
            <a:pPr algn="ctr" eaLnBrk="1" hangingPunct="1"/>
            <a:r>
              <a:rPr lang="zh-CN" altLang="en-US" sz="2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特征 ？</a:t>
            </a:r>
          </a:p>
        </p:txBody>
      </p:sp>
      <p:sp>
        <p:nvSpPr>
          <p:cNvPr id="72" name="AutoShape 15">
            <a:extLst>
              <a:ext uri="{FF2B5EF4-FFF2-40B4-BE49-F238E27FC236}">
                <a16:creationId xmlns:a16="http://schemas.microsoft.com/office/drawing/2014/main" id="{1532A412-97C4-41D0-9050-D02662A82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4125" y="2803078"/>
            <a:ext cx="1335088" cy="769938"/>
          </a:xfrm>
          <a:prstGeom prst="wedgeRectCallout">
            <a:avLst>
              <a:gd name="adj1" fmla="val -50310"/>
              <a:gd name="adj2" fmla="val -2169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i="1" dirty="0">
                <a:solidFill>
                  <a:srgbClr val="FF0000"/>
                </a:solidFill>
                <a:latin typeface="+mj-lt"/>
                <a:ea typeface="楷体_GB2312" pitchFamily="49" charset="-122"/>
              </a:rPr>
              <a:t>F </a:t>
            </a:r>
            <a:r>
              <a:rPr lang="en-US" altLang="zh-CN" sz="3200" dirty="0">
                <a:solidFill>
                  <a:srgbClr val="FF0000"/>
                </a:solidFill>
                <a:latin typeface="+mj-lt"/>
                <a:ea typeface="楷体_GB2312" pitchFamily="49" charset="-122"/>
              </a:rPr>
              <a:t>= -</a:t>
            </a:r>
            <a:r>
              <a:rPr lang="en-US" altLang="zh-CN" sz="3200" i="1" dirty="0" err="1">
                <a:solidFill>
                  <a:srgbClr val="FF0000"/>
                </a:solidFill>
                <a:latin typeface="+mj-lt"/>
                <a:ea typeface="楷体_GB2312" pitchFamily="49" charset="-122"/>
              </a:rPr>
              <a:t>kx</a:t>
            </a:r>
            <a:endParaRPr lang="zh-CN" altLang="en-US" sz="3200" i="1" dirty="0">
              <a:solidFill>
                <a:srgbClr val="FF0000"/>
              </a:solidFill>
              <a:latin typeface="+mj-lt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13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6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1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autoUpdateAnimBg="0"/>
      <p:bldP spid="65544" grpId="0" animBg="1"/>
      <p:bldP spid="65545" grpId="0" autoUpdateAnimBg="0"/>
      <p:bldP spid="65548" grpId="0" build="p" autoUpdateAnimBg="0"/>
      <p:bldP spid="65549" grpId="0" animBg="1"/>
      <p:bldP spid="65551" grpId="0" animBg="1" autoUpdateAnimBg="0"/>
      <p:bldP spid="65552" grpId="0" build="p" autoUpdateAnimBg="0"/>
      <p:bldP spid="13337" grpId="0"/>
      <p:bldP spid="13339" grpId="0"/>
      <p:bldP spid="65614" grpId="0"/>
      <p:bldP spid="13342" grpId="0"/>
      <p:bldP spid="13343" grpId="0"/>
      <p:bldP spid="13344" grpId="0"/>
      <p:bldP spid="13345" grpId="0"/>
      <p:bldP spid="13346" grpId="0"/>
      <p:bldP spid="13347" grpId="0"/>
      <p:bldP spid="13348" grpId="0"/>
      <p:bldP spid="13349" grpId="0"/>
      <p:bldP spid="13350" grpId="0"/>
      <p:bldP spid="13351" grpId="0"/>
      <p:bldP spid="13352" grpId="0"/>
      <p:bldP spid="13373" grpId="0"/>
      <p:bldP spid="13374" grpId="0"/>
      <p:bldP spid="69" grpId="0" build="p" autoUpdateAnimBg="0"/>
      <p:bldP spid="71" grpId="0" animBg="1" autoUpdateAnimBg="0"/>
      <p:bldP spid="72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514350" y="428625"/>
            <a:ext cx="4343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  <a:ea typeface="楷体_GB2312" pitchFamily="49" charset="-122"/>
              </a:rPr>
              <a:t>2.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简谐振动的特征量</a:t>
            </a:r>
          </a:p>
        </p:txBody>
      </p:sp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609600" y="1143000"/>
            <a:ext cx="3505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振幅</a:t>
            </a:r>
            <a:r>
              <a:rPr lang="zh-CN" altLang="en-US" sz="2200">
                <a:solidFill>
                  <a:srgbClr val="FFFF00"/>
                </a:solidFill>
                <a:ea typeface="楷体_GB2312" pitchFamily="49" charset="-122"/>
              </a:rPr>
              <a:t> </a:t>
            </a:r>
            <a:r>
              <a:rPr lang="en-US" altLang="zh-CN" sz="2200" i="1">
                <a:solidFill>
                  <a:srgbClr val="FFFF00"/>
                </a:solidFill>
                <a:ea typeface="楷体_GB2312" pitchFamily="49" charset="-122"/>
              </a:rPr>
              <a:t>A</a:t>
            </a:r>
            <a:endParaRPr lang="en-US" altLang="zh-CN" sz="2200" i="1">
              <a:solidFill>
                <a:srgbClr val="FF9933"/>
              </a:solidFill>
              <a:ea typeface="楷体_GB2312" pitchFamily="49" charset="-122"/>
            </a:endParaRPr>
          </a:p>
        </p:txBody>
      </p:sp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571500" y="5000625"/>
            <a:ext cx="2514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FFFF00"/>
                </a:solidFill>
                <a:ea typeface="楷体_GB2312" pitchFamily="49" charset="-122"/>
              </a:rPr>
              <a:t>•</a:t>
            </a:r>
            <a:r>
              <a:rPr lang="en-US" altLang="zh-CN" sz="220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相位和初相位</a:t>
            </a:r>
          </a:p>
        </p:txBody>
      </p:sp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2295525" y="5505450"/>
            <a:ext cx="4648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  <a:ea typeface="楷体_GB2312" pitchFamily="49" charset="-122"/>
              </a:rPr>
              <a:t>—— </a:t>
            </a:r>
            <a:r>
              <a:rPr lang="en-US" altLang="zh-CN" sz="2200" i="1">
                <a:solidFill>
                  <a:schemeClr val="bg1"/>
                </a:solidFill>
                <a:ea typeface="楷体_GB2312" pitchFamily="49" charset="-122"/>
              </a:rPr>
              <a:t>t 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时刻的相位（</a:t>
            </a:r>
            <a:r>
              <a:rPr lang="en-US" altLang="zh-CN" sz="2200" i="1">
                <a:solidFill>
                  <a:schemeClr val="bg1"/>
                </a:solidFill>
                <a:ea typeface="楷体_GB2312" pitchFamily="49" charset="-122"/>
              </a:rPr>
              <a:t>Phase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）</a:t>
            </a:r>
          </a:p>
        </p:txBody>
      </p:sp>
      <p:sp>
        <p:nvSpPr>
          <p:cNvPr id="66568" name="Text Box 8"/>
          <p:cNvSpPr txBox="1">
            <a:spLocks noChangeArrowheads="1"/>
          </p:cNvSpPr>
          <p:nvPr/>
        </p:nvSpPr>
        <p:spPr bwMode="auto">
          <a:xfrm>
            <a:off x="1457325" y="6081713"/>
            <a:ext cx="757237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  <a:ea typeface="楷体_GB2312" pitchFamily="49" charset="-122"/>
              </a:rPr>
              <a:t>—— </a:t>
            </a:r>
            <a:r>
              <a:rPr lang="en-US" altLang="zh-CN" sz="2200" i="1">
                <a:solidFill>
                  <a:schemeClr val="bg1"/>
                </a:solidFill>
                <a:ea typeface="楷体_GB2312" pitchFamily="49" charset="-122"/>
              </a:rPr>
              <a:t>t </a:t>
            </a:r>
            <a:r>
              <a:rPr lang="en-US" altLang="zh-CN" sz="2200">
                <a:solidFill>
                  <a:schemeClr val="bg1"/>
                </a:solidFill>
                <a:ea typeface="楷体_GB2312" pitchFamily="49" charset="-122"/>
              </a:rPr>
              <a:t>=0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时的相位</a:t>
            </a:r>
            <a:r>
              <a:rPr lang="en-US" altLang="zh-CN" sz="2200">
                <a:solidFill>
                  <a:schemeClr val="bg1"/>
                </a:solidFill>
                <a:ea typeface="楷体_GB2312" pitchFamily="49" charset="-122"/>
              </a:rPr>
              <a:t>——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初相位</a:t>
            </a:r>
            <a:r>
              <a:rPr lang="en-US" altLang="zh-CN" sz="2200">
                <a:solidFill>
                  <a:schemeClr val="bg1"/>
                </a:solidFill>
                <a:ea typeface="楷体_GB2312" pitchFamily="49" charset="-122"/>
              </a:rPr>
              <a:t>(</a:t>
            </a:r>
            <a:r>
              <a:rPr lang="zh-CN" altLang="en-US" sz="2200">
                <a:solidFill>
                  <a:srgbClr val="FF0000"/>
                </a:solidFill>
                <a:ea typeface="楷体_GB2312" pitchFamily="49" charset="-122"/>
              </a:rPr>
              <a:t>初始条件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确定</a:t>
            </a:r>
            <a:r>
              <a:rPr lang="en-US" altLang="zh-CN" sz="2200">
                <a:solidFill>
                  <a:schemeClr val="bg1"/>
                </a:solidFill>
                <a:ea typeface="楷体_GB2312" pitchFamily="49" charset="-122"/>
              </a:rPr>
              <a:t>)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，取 </a:t>
            </a:r>
            <a:r>
              <a:rPr lang="en-US" altLang="zh-CN" sz="2200">
                <a:solidFill>
                  <a:srgbClr val="FFFF00"/>
                </a:solidFill>
                <a:ea typeface="楷体_GB2312" pitchFamily="49" charset="-122"/>
              </a:rPr>
              <a:t>[0,  2</a:t>
            </a:r>
            <a:r>
              <a:rPr lang="el-GR" altLang="zh-CN" sz="2200">
                <a:solidFill>
                  <a:srgbClr val="FFFF00"/>
                </a:solidFill>
                <a:ea typeface="楷体_GB2312" pitchFamily="49" charset="-122"/>
              </a:rPr>
              <a:t>π</a:t>
            </a:r>
            <a:r>
              <a:rPr lang="en-US" altLang="zh-CN" sz="2200">
                <a:solidFill>
                  <a:srgbClr val="FFFF00"/>
                </a:solidFill>
                <a:ea typeface="楷体_GB2312" pitchFamily="49" charset="-122"/>
              </a:rPr>
              <a:t>)</a:t>
            </a:r>
            <a:endParaRPr lang="zh-CN" altLang="en-US" sz="2200">
              <a:solidFill>
                <a:srgbClr val="FFFF00"/>
              </a:solidFill>
              <a:ea typeface="楷体_GB2312" pitchFamily="49" charset="-122"/>
            </a:endParaRPr>
          </a:p>
        </p:txBody>
      </p:sp>
      <p:graphicFrame>
        <p:nvGraphicFramePr>
          <p:cNvPr id="66569" name="Object 9"/>
          <p:cNvGraphicFramePr>
            <a:graphicFrameLocks noChangeAspect="1"/>
          </p:cNvGraphicFramePr>
          <p:nvPr/>
        </p:nvGraphicFramePr>
        <p:xfrm>
          <a:off x="3651250" y="339725"/>
          <a:ext cx="36576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8" name="公式" r:id="rId3" imgW="1215390" imgH="133985" progId="Equation.3">
                  <p:embed/>
                </p:oleObj>
              </mc:Choice>
              <mc:Fallback>
                <p:oleObj name="公式" r:id="rId3" imgW="1215390" imgH="13398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339725"/>
                        <a:ext cx="3657600" cy="58896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1714500" y="1143000"/>
            <a:ext cx="7010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  <a:ea typeface="楷体_GB2312" pitchFamily="49" charset="-122"/>
              </a:rPr>
              <a:t>——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表征振动的强弱，其大小由</a:t>
            </a:r>
            <a:r>
              <a:rPr lang="zh-CN" altLang="en-US" sz="2200">
                <a:solidFill>
                  <a:srgbClr val="FF0000"/>
                </a:solidFill>
                <a:ea typeface="楷体_GB2312" pitchFamily="49" charset="-122"/>
              </a:rPr>
              <a:t>初始条件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确定</a:t>
            </a:r>
            <a:endParaRPr lang="zh-CN" altLang="en-US" sz="2200" i="1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66571" name="Text Box 11"/>
          <p:cNvSpPr txBox="1">
            <a:spLocks noChangeArrowheads="1"/>
          </p:cNvSpPr>
          <p:nvPr/>
        </p:nvSpPr>
        <p:spPr bwMode="auto">
          <a:xfrm>
            <a:off x="1700213" y="1693863"/>
            <a:ext cx="67294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  <a:ea typeface="楷体_GB2312" pitchFamily="49" charset="-122"/>
              </a:rPr>
              <a:t>——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表征振动的周期性，由</a:t>
            </a:r>
            <a:r>
              <a:rPr lang="zh-CN" altLang="en-US" sz="2200">
                <a:solidFill>
                  <a:srgbClr val="FF0000"/>
                </a:solidFill>
                <a:ea typeface="楷体_GB2312" pitchFamily="49" charset="-122"/>
              </a:rPr>
              <a:t>振子固有性质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确定</a:t>
            </a:r>
            <a:endParaRPr lang="zh-CN" altLang="en-US" sz="2200" i="1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66572" name="Object 12"/>
          <p:cNvGraphicFramePr>
            <a:graphicFrameLocks noChangeAspect="1"/>
          </p:cNvGraphicFramePr>
          <p:nvPr/>
        </p:nvGraphicFramePr>
        <p:xfrm>
          <a:off x="901700" y="2286000"/>
          <a:ext cx="66500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9" name="公式" r:id="rId5" imgW="2776855" imgH="133985" progId="Equation.3">
                  <p:embed/>
                </p:oleObj>
              </mc:Choice>
              <mc:Fallback>
                <p:oleObj name="公式" r:id="rId5" imgW="2776855" imgH="13398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2286000"/>
                        <a:ext cx="66500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3" name="AutoShape 13"/>
          <p:cNvSpPr>
            <a:spLocks noChangeArrowheads="1"/>
          </p:cNvSpPr>
          <p:nvPr/>
        </p:nvSpPr>
        <p:spPr bwMode="auto">
          <a:xfrm>
            <a:off x="898525" y="3238500"/>
            <a:ext cx="642938" cy="228600"/>
          </a:xfrm>
          <a:prstGeom prst="rightArrow">
            <a:avLst>
              <a:gd name="adj1" fmla="val 50000"/>
              <a:gd name="adj2" fmla="val 8175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6574" name="Object 14"/>
          <p:cNvGraphicFramePr>
            <a:graphicFrameLocks noChangeAspect="1"/>
          </p:cNvGraphicFramePr>
          <p:nvPr/>
        </p:nvGraphicFramePr>
        <p:xfrm>
          <a:off x="1550988" y="2871788"/>
          <a:ext cx="3429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30" name="公式" r:id="rId7" imgW="1349375" imgH="323215" progId="Equation.3">
                  <p:embed/>
                </p:oleObj>
              </mc:Choice>
              <mc:Fallback>
                <p:oleObj name="公式" r:id="rId7" imgW="1349375" imgH="32321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988" y="2871788"/>
                        <a:ext cx="3429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5" name="AutoShape 15"/>
          <p:cNvSpPr>
            <a:spLocks noChangeArrowheads="1"/>
          </p:cNvSpPr>
          <p:nvPr/>
        </p:nvSpPr>
        <p:spPr bwMode="auto">
          <a:xfrm>
            <a:off x="3929063" y="4286250"/>
            <a:ext cx="762000" cy="223838"/>
          </a:xfrm>
          <a:prstGeom prst="rightArrow">
            <a:avLst>
              <a:gd name="adj1" fmla="val 50000"/>
              <a:gd name="adj2" fmla="val 92482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6576" name="Object 16"/>
          <p:cNvGraphicFramePr>
            <a:graphicFrameLocks noChangeAspect="1"/>
          </p:cNvGraphicFramePr>
          <p:nvPr/>
        </p:nvGraphicFramePr>
        <p:xfrm>
          <a:off x="4979988" y="3081338"/>
          <a:ext cx="11334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31" name="公式" r:id="rId9" imgW="323215" imgH="78105" progId="Equation.3">
                  <p:embed/>
                </p:oleObj>
              </mc:Choice>
              <mc:Fallback>
                <p:oleObj name="公式" r:id="rId9" imgW="323215" imgH="7810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9988" y="3081338"/>
                        <a:ext cx="11334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7" name="Text Box 17"/>
          <p:cNvSpPr txBox="1">
            <a:spLocks noChangeArrowheads="1"/>
          </p:cNvSpPr>
          <p:nvPr/>
        </p:nvSpPr>
        <p:spPr bwMode="auto">
          <a:xfrm>
            <a:off x="6129338" y="3100388"/>
            <a:ext cx="25146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00FF00"/>
                </a:solidFill>
                <a:ea typeface="楷体_GB2312" pitchFamily="49" charset="-122"/>
              </a:rPr>
              <a:t>—— </a:t>
            </a:r>
            <a:r>
              <a:rPr lang="zh-CN" altLang="en-US" sz="2200">
                <a:solidFill>
                  <a:srgbClr val="00FF00"/>
                </a:solidFill>
                <a:ea typeface="楷体_GB2312" pitchFamily="49" charset="-122"/>
              </a:rPr>
              <a:t>振动圆频率</a:t>
            </a:r>
            <a:endParaRPr lang="zh-CN" altLang="en-US" sz="2200" i="1">
              <a:solidFill>
                <a:srgbClr val="FF9933"/>
              </a:solidFill>
              <a:ea typeface="楷体_GB2312" pitchFamily="49" charset="-122"/>
            </a:endParaRPr>
          </a:p>
        </p:txBody>
      </p:sp>
      <p:graphicFrame>
        <p:nvGraphicFramePr>
          <p:cNvPr id="66578" name="Object 18"/>
          <p:cNvGraphicFramePr>
            <a:graphicFrameLocks noChangeAspect="1"/>
          </p:cNvGraphicFramePr>
          <p:nvPr/>
        </p:nvGraphicFramePr>
        <p:xfrm>
          <a:off x="2143125" y="3857625"/>
          <a:ext cx="154305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32" name="公式" r:id="rId11" imgW="535305" imgH="390525" progId="Equation.3">
                  <p:embed/>
                </p:oleObj>
              </mc:Choice>
              <mc:Fallback>
                <p:oleObj name="公式" r:id="rId11" imgW="535305" imgH="39052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3857625"/>
                        <a:ext cx="1543050" cy="99536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9" name="Object 19"/>
          <p:cNvGraphicFramePr>
            <a:graphicFrameLocks noChangeAspect="1"/>
          </p:cNvGraphicFramePr>
          <p:nvPr/>
        </p:nvGraphicFramePr>
        <p:xfrm>
          <a:off x="4883150" y="3841750"/>
          <a:ext cx="2832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33" name="公式" r:id="rId13" imgW="1148715" imgH="390525" progId="Equation.3">
                  <p:embed/>
                </p:oleObj>
              </mc:Choice>
              <mc:Fallback>
                <p:oleObj name="公式" r:id="rId13" imgW="1148715" imgH="39052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0" y="3841750"/>
                        <a:ext cx="28321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1" name="Object 21"/>
          <p:cNvGraphicFramePr>
            <a:graphicFrameLocks noChangeAspect="1"/>
          </p:cNvGraphicFramePr>
          <p:nvPr/>
        </p:nvGraphicFramePr>
        <p:xfrm>
          <a:off x="1000125" y="5929313"/>
          <a:ext cx="514350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34" name="公式" r:id="rId15" imgW="88900" imgH="133985" progId="Equation.3">
                  <p:embed/>
                </p:oleObj>
              </mc:Choice>
              <mc:Fallback>
                <p:oleObj name="公式" r:id="rId15" imgW="88900" imgH="13398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5929313"/>
                        <a:ext cx="514350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2" name="Object 22"/>
          <p:cNvGraphicFramePr>
            <a:graphicFrameLocks noChangeAspect="1"/>
          </p:cNvGraphicFramePr>
          <p:nvPr/>
        </p:nvGraphicFramePr>
        <p:xfrm>
          <a:off x="1000125" y="5429250"/>
          <a:ext cx="129857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35" name="公式" r:id="rId17" imgW="434975" imgH="133985" progId="Equation.3">
                  <p:embed/>
                </p:oleObj>
              </mc:Choice>
              <mc:Fallback>
                <p:oleObj name="公式" r:id="rId17" imgW="434975" imgH="133985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5429250"/>
                        <a:ext cx="129857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3" name="AutoShape 23"/>
          <p:cNvSpPr/>
          <p:nvPr/>
        </p:nvSpPr>
        <p:spPr bwMode="auto">
          <a:xfrm>
            <a:off x="714375" y="5715000"/>
            <a:ext cx="242888" cy="642938"/>
          </a:xfrm>
          <a:prstGeom prst="leftBrace">
            <a:avLst>
              <a:gd name="adj1" fmla="val 36005"/>
              <a:gd name="adj2" fmla="val 50000"/>
            </a:avLst>
          </a:prstGeom>
          <a:noFill/>
          <a:ln w="3492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6584" name="AutoShape 24"/>
          <p:cNvSpPr>
            <a:spLocks noChangeArrowheads="1"/>
          </p:cNvSpPr>
          <p:nvPr/>
        </p:nvSpPr>
        <p:spPr bwMode="auto">
          <a:xfrm>
            <a:off x="142875" y="4976813"/>
            <a:ext cx="457200" cy="452437"/>
          </a:xfrm>
          <a:prstGeom prst="star5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66585" name="Text Box 25"/>
          <p:cNvSpPr txBox="1">
            <a:spLocks noChangeArrowheads="1"/>
          </p:cNvSpPr>
          <p:nvPr/>
        </p:nvSpPr>
        <p:spPr bwMode="auto">
          <a:xfrm>
            <a:off x="2571750" y="5000625"/>
            <a:ext cx="4953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chemeClr val="bg1"/>
                </a:solidFill>
                <a:ea typeface="楷体_GB2312" pitchFamily="49" charset="-122"/>
              </a:rPr>
              <a:t>—— </a:t>
            </a:r>
            <a:r>
              <a:rPr lang="zh-CN" altLang="en-US" sz="2200" dirty="0">
                <a:solidFill>
                  <a:schemeClr val="bg1"/>
                </a:solidFill>
                <a:ea typeface="楷体_GB2312" pitchFamily="49" charset="-122"/>
              </a:rPr>
              <a:t>可确定</a:t>
            </a:r>
            <a:r>
              <a:rPr lang="zh-CN" altLang="en-US" sz="2200" dirty="0">
                <a:solidFill>
                  <a:srgbClr val="FFFF00"/>
                </a:solidFill>
                <a:ea typeface="楷体_GB2312" pitchFamily="49" charset="-122"/>
              </a:rPr>
              <a:t>物体振动状态</a:t>
            </a:r>
            <a:endParaRPr lang="zh-CN" altLang="en-US" sz="2200" i="1" dirty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66586" name="Text Box 26"/>
          <p:cNvSpPr txBox="1">
            <a:spLocks noChangeArrowheads="1"/>
          </p:cNvSpPr>
          <p:nvPr/>
        </p:nvSpPr>
        <p:spPr bwMode="auto">
          <a:xfrm>
            <a:off x="609600" y="1693863"/>
            <a:ext cx="2667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周期</a:t>
            </a:r>
            <a:r>
              <a:rPr lang="zh-CN" altLang="en-US" sz="2200">
                <a:solidFill>
                  <a:srgbClr val="FFFF00"/>
                </a:solidFill>
                <a:ea typeface="楷体_GB2312" pitchFamily="49" charset="-122"/>
              </a:rPr>
              <a:t> </a:t>
            </a:r>
            <a:r>
              <a:rPr lang="en-US" altLang="zh-CN" sz="2200" i="1">
                <a:solidFill>
                  <a:srgbClr val="FFFF00"/>
                </a:solidFill>
                <a:ea typeface="楷体_GB2312" pitchFamily="49" charset="-122"/>
              </a:rPr>
              <a:t>T</a:t>
            </a:r>
          </a:p>
        </p:txBody>
      </p:sp>
      <p:sp>
        <p:nvSpPr>
          <p:cNvPr id="66587" name="Text Box 27"/>
          <p:cNvSpPr txBox="1">
            <a:spLocks noChangeArrowheads="1"/>
          </p:cNvSpPr>
          <p:nvPr/>
        </p:nvSpPr>
        <p:spPr bwMode="auto">
          <a:xfrm>
            <a:off x="639094" y="4144707"/>
            <a:ext cx="15953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dirty="0">
                <a:solidFill>
                  <a:srgbClr val="FFFF99"/>
                </a:solidFill>
                <a:ea typeface="楷体_GB2312" pitchFamily="49" charset="-122"/>
              </a:rPr>
              <a:t>弹簧振子：</a:t>
            </a:r>
          </a:p>
        </p:txBody>
      </p:sp>
      <p:sp>
        <p:nvSpPr>
          <p:cNvPr id="14361" name="灯片编号占位符 1"/>
          <p:cNvSpPr txBox="1"/>
          <p:nvPr/>
        </p:nvSpPr>
        <p:spPr bwMode="auto">
          <a:xfrm>
            <a:off x="0" y="6381750"/>
            <a:ext cx="12144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FF1487DD-5A9A-4E49-98E3-5C6ABC468ECE}" type="slidenum">
              <a:rPr lang="en-US" altLang="zh-CN" b="0">
                <a:solidFill>
                  <a:srgbClr val="FF00FF"/>
                </a:solidFill>
              </a:rPr>
              <a:t>10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6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6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6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6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6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6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6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6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 autoUpdateAnimBg="0"/>
      <p:bldP spid="66565" grpId="0" autoUpdateAnimBg="0"/>
      <p:bldP spid="66566" grpId="0" autoUpdateAnimBg="0"/>
      <p:bldP spid="66567" grpId="0" autoUpdateAnimBg="0"/>
      <p:bldP spid="66568" grpId="0" autoUpdateAnimBg="0"/>
      <p:bldP spid="66570" grpId="0" autoUpdateAnimBg="0"/>
      <p:bldP spid="66571" grpId="0" autoUpdateAnimBg="0"/>
      <p:bldP spid="66573" grpId="0" animBg="1"/>
      <p:bldP spid="66575" grpId="0" animBg="1"/>
      <p:bldP spid="66577" grpId="0" autoUpdateAnimBg="0"/>
      <p:bldP spid="66583" grpId="0" animBg="1"/>
      <p:bldP spid="66585" grpId="0" autoUpdateAnimBg="0"/>
      <p:bldP spid="66586" grpId="0" build="p" autoUpdateAnimBg="0"/>
      <p:bldP spid="6658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585788" y="501650"/>
            <a:ext cx="3835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99"/>
                </a:solidFill>
                <a:ea typeface="楷体_GB2312" pitchFamily="49" charset="-122"/>
              </a:rPr>
              <a:t>相位的物理意义</a:t>
            </a: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2786063" y="501650"/>
            <a:ext cx="564356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00FF00"/>
                </a:solidFill>
                <a:ea typeface="楷体_GB2312" pitchFamily="49" charset="-122"/>
              </a:rPr>
              <a:t>—— </a:t>
            </a:r>
            <a:r>
              <a:rPr lang="zh-CN" altLang="en-US" sz="2200">
                <a:solidFill>
                  <a:srgbClr val="00FF00"/>
                </a:solidFill>
                <a:ea typeface="楷体_GB2312" pitchFamily="49" charset="-122"/>
              </a:rPr>
              <a:t>反映振动物体某一时刻的运动状态</a:t>
            </a:r>
            <a:endParaRPr lang="zh-CN" altLang="en-US" sz="2200">
              <a:solidFill>
                <a:srgbClr val="FFFF99"/>
              </a:solidFill>
              <a:ea typeface="楷体_GB2312" pitchFamily="49" charset="-122"/>
            </a:endParaRPr>
          </a:p>
        </p:txBody>
      </p:sp>
      <p:sp>
        <p:nvSpPr>
          <p:cNvPr id="67588" name="Line 4"/>
          <p:cNvSpPr>
            <a:spLocks noChangeShapeType="1"/>
          </p:cNvSpPr>
          <p:nvPr/>
        </p:nvSpPr>
        <p:spPr bwMode="auto">
          <a:xfrm flipH="1">
            <a:off x="1066800" y="1285875"/>
            <a:ext cx="6350" cy="224155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 type="triangl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89" name="Line 5"/>
          <p:cNvSpPr>
            <a:spLocks noChangeShapeType="1"/>
          </p:cNvSpPr>
          <p:nvPr/>
        </p:nvSpPr>
        <p:spPr bwMode="auto">
          <a:xfrm>
            <a:off x="1066800" y="2428875"/>
            <a:ext cx="4495800" cy="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771525" y="2293938"/>
            <a:ext cx="44767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  <a:ea typeface="楷体_GB2312" pitchFamily="49" charset="-122"/>
              </a:rPr>
              <a:t>o</a:t>
            </a:r>
            <a:endParaRPr lang="en-US" altLang="zh-CN" sz="2200">
              <a:ea typeface="楷体_GB2312" pitchFamily="49" charset="-122"/>
            </a:endParaRPr>
          </a:p>
        </p:txBody>
      </p:sp>
      <p:sp>
        <p:nvSpPr>
          <p:cNvPr id="67591" name="Rectangle 7"/>
          <p:cNvSpPr>
            <a:spLocks noChangeArrowheads="1"/>
          </p:cNvSpPr>
          <p:nvPr/>
        </p:nvSpPr>
        <p:spPr bwMode="auto">
          <a:xfrm>
            <a:off x="457200" y="3114675"/>
            <a:ext cx="512763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FF66"/>
                </a:solidFill>
                <a:ea typeface="楷体_GB2312" pitchFamily="49" charset="-122"/>
              </a:rPr>
              <a:t>- A</a:t>
            </a:r>
          </a:p>
        </p:txBody>
      </p:sp>
      <p:sp>
        <p:nvSpPr>
          <p:cNvPr id="67592" name="Rectangle 8"/>
          <p:cNvSpPr>
            <a:spLocks noChangeArrowheads="1"/>
          </p:cNvSpPr>
          <p:nvPr/>
        </p:nvSpPr>
        <p:spPr bwMode="auto">
          <a:xfrm>
            <a:off x="5353050" y="1989138"/>
            <a:ext cx="6477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chemeClr val="bg1"/>
                </a:solidFill>
                <a:ea typeface="楷体_GB2312" pitchFamily="49" charset="-122"/>
              </a:rPr>
              <a:t>t</a:t>
            </a:r>
            <a:endParaRPr lang="en-US" altLang="zh-CN" sz="2200" i="1">
              <a:solidFill>
                <a:srgbClr val="FF9933"/>
              </a:solidFill>
              <a:ea typeface="楷体_GB2312" pitchFamily="49" charset="-122"/>
            </a:endParaRPr>
          </a:p>
        </p:txBody>
      </p:sp>
      <p:sp>
        <p:nvSpPr>
          <p:cNvPr id="67593" name="Rectangle 9"/>
          <p:cNvSpPr>
            <a:spLocks noChangeArrowheads="1"/>
          </p:cNvSpPr>
          <p:nvPr/>
        </p:nvSpPr>
        <p:spPr bwMode="auto">
          <a:xfrm>
            <a:off x="1214438" y="962025"/>
            <a:ext cx="46990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chemeClr val="bg1"/>
                </a:solidFill>
                <a:ea typeface="楷体_GB2312" pitchFamily="49" charset="-122"/>
              </a:rPr>
              <a:t>x</a:t>
            </a:r>
            <a:endParaRPr lang="en-US" altLang="zh-CN" sz="2200" i="1">
              <a:solidFill>
                <a:srgbClr val="FF9933"/>
              </a:solidFill>
              <a:ea typeface="楷体_GB2312" pitchFamily="49" charset="-122"/>
            </a:endParaRPr>
          </a:p>
        </p:txBody>
      </p:sp>
      <p:sp>
        <p:nvSpPr>
          <p:cNvPr id="67594" name="Line 10"/>
          <p:cNvSpPr>
            <a:spLocks noChangeShapeType="1"/>
          </p:cNvSpPr>
          <p:nvPr/>
        </p:nvSpPr>
        <p:spPr bwMode="auto">
          <a:xfrm>
            <a:off x="1066800" y="3267075"/>
            <a:ext cx="1600200" cy="0"/>
          </a:xfrm>
          <a:prstGeom prst="line">
            <a:avLst/>
          </a:prstGeom>
          <a:noFill/>
          <a:ln w="6350">
            <a:solidFill>
              <a:schemeClr val="bg1"/>
            </a:solidFill>
            <a:prstDash val="sys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5" name="Freeform 11"/>
          <p:cNvSpPr/>
          <p:nvPr/>
        </p:nvSpPr>
        <p:spPr bwMode="auto">
          <a:xfrm>
            <a:off x="1447800" y="2428875"/>
            <a:ext cx="1265238" cy="8382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2147483646 h 20000"/>
              <a:gd name="T48" fmla="*/ 2147483646 w 20000"/>
              <a:gd name="T49" fmla="*/ 2147483646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0"/>
                </a:moveTo>
                <a:lnTo>
                  <a:pt x="189" y="642"/>
                </a:lnTo>
                <a:lnTo>
                  <a:pt x="396" y="1248"/>
                </a:lnTo>
                <a:lnTo>
                  <a:pt x="584" y="1889"/>
                </a:lnTo>
                <a:lnTo>
                  <a:pt x="792" y="2496"/>
                </a:lnTo>
                <a:lnTo>
                  <a:pt x="980" y="3137"/>
                </a:lnTo>
                <a:lnTo>
                  <a:pt x="1188" y="3743"/>
                </a:lnTo>
                <a:lnTo>
                  <a:pt x="1395" y="4349"/>
                </a:lnTo>
                <a:lnTo>
                  <a:pt x="1565" y="4955"/>
                </a:lnTo>
                <a:lnTo>
                  <a:pt x="1772" y="5561"/>
                </a:lnTo>
                <a:lnTo>
                  <a:pt x="1979" y="6132"/>
                </a:lnTo>
                <a:lnTo>
                  <a:pt x="2168" y="6774"/>
                </a:lnTo>
                <a:lnTo>
                  <a:pt x="2375" y="7308"/>
                </a:lnTo>
                <a:lnTo>
                  <a:pt x="2564" y="7879"/>
                </a:lnTo>
                <a:lnTo>
                  <a:pt x="2790" y="8485"/>
                </a:lnTo>
                <a:lnTo>
                  <a:pt x="2959" y="9020"/>
                </a:lnTo>
                <a:lnTo>
                  <a:pt x="3167" y="9626"/>
                </a:lnTo>
                <a:lnTo>
                  <a:pt x="3374" y="10160"/>
                </a:lnTo>
                <a:lnTo>
                  <a:pt x="3582" y="10660"/>
                </a:lnTo>
                <a:lnTo>
                  <a:pt x="3770" y="11194"/>
                </a:lnTo>
                <a:lnTo>
                  <a:pt x="3959" y="11693"/>
                </a:lnTo>
                <a:lnTo>
                  <a:pt x="4166" y="12228"/>
                </a:lnTo>
                <a:lnTo>
                  <a:pt x="4373" y="12727"/>
                </a:lnTo>
                <a:lnTo>
                  <a:pt x="4562" y="13155"/>
                </a:lnTo>
                <a:lnTo>
                  <a:pt x="4788" y="13654"/>
                </a:lnTo>
                <a:lnTo>
                  <a:pt x="4976" y="14118"/>
                </a:lnTo>
                <a:lnTo>
                  <a:pt x="5165" y="14581"/>
                </a:lnTo>
                <a:lnTo>
                  <a:pt x="5353" y="15009"/>
                </a:lnTo>
                <a:lnTo>
                  <a:pt x="5542" y="15401"/>
                </a:lnTo>
                <a:lnTo>
                  <a:pt x="5768" y="15829"/>
                </a:lnTo>
                <a:lnTo>
                  <a:pt x="5975" y="16221"/>
                </a:lnTo>
                <a:lnTo>
                  <a:pt x="6183" y="16613"/>
                </a:lnTo>
                <a:lnTo>
                  <a:pt x="6390" y="16934"/>
                </a:lnTo>
                <a:lnTo>
                  <a:pt x="6598" y="17291"/>
                </a:lnTo>
                <a:lnTo>
                  <a:pt x="6786" y="17611"/>
                </a:lnTo>
                <a:lnTo>
                  <a:pt x="6993" y="17932"/>
                </a:lnTo>
                <a:lnTo>
                  <a:pt x="7182" y="18217"/>
                </a:lnTo>
                <a:lnTo>
                  <a:pt x="7408" y="18467"/>
                </a:lnTo>
                <a:lnTo>
                  <a:pt x="7615" y="18717"/>
                </a:lnTo>
                <a:lnTo>
                  <a:pt x="7842" y="18930"/>
                </a:lnTo>
                <a:lnTo>
                  <a:pt x="8030" y="19144"/>
                </a:lnTo>
                <a:lnTo>
                  <a:pt x="8238" y="19358"/>
                </a:lnTo>
                <a:lnTo>
                  <a:pt x="8464" y="19465"/>
                </a:lnTo>
                <a:lnTo>
                  <a:pt x="8633" y="19608"/>
                </a:lnTo>
                <a:lnTo>
                  <a:pt x="8841" y="19715"/>
                </a:lnTo>
                <a:lnTo>
                  <a:pt x="9048" y="19893"/>
                </a:lnTo>
                <a:lnTo>
                  <a:pt x="9274" y="19929"/>
                </a:lnTo>
                <a:lnTo>
                  <a:pt x="9482" y="19929"/>
                </a:lnTo>
                <a:lnTo>
                  <a:pt x="9670" y="19929"/>
                </a:lnTo>
                <a:lnTo>
                  <a:pt x="9877" y="19964"/>
                </a:lnTo>
                <a:lnTo>
                  <a:pt x="10123" y="19929"/>
                </a:lnTo>
                <a:lnTo>
                  <a:pt x="10330" y="19857"/>
                </a:lnTo>
                <a:lnTo>
                  <a:pt x="10556" y="19715"/>
                </a:lnTo>
                <a:lnTo>
                  <a:pt x="10782" y="19537"/>
                </a:lnTo>
                <a:lnTo>
                  <a:pt x="11008" y="19358"/>
                </a:lnTo>
                <a:lnTo>
                  <a:pt x="11235" y="19109"/>
                </a:lnTo>
                <a:lnTo>
                  <a:pt x="11499" y="18859"/>
                </a:lnTo>
                <a:lnTo>
                  <a:pt x="11725" y="18574"/>
                </a:lnTo>
                <a:lnTo>
                  <a:pt x="11951" y="18253"/>
                </a:lnTo>
                <a:lnTo>
                  <a:pt x="12196" y="17861"/>
                </a:lnTo>
                <a:lnTo>
                  <a:pt x="12460" y="17504"/>
                </a:lnTo>
                <a:lnTo>
                  <a:pt x="12724" y="17148"/>
                </a:lnTo>
                <a:lnTo>
                  <a:pt x="12950" y="16720"/>
                </a:lnTo>
                <a:lnTo>
                  <a:pt x="13195" y="16292"/>
                </a:lnTo>
                <a:lnTo>
                  <a:pt x="13459" y="15829"/>
                </a:lnTo>
                <a:lnTo>
                  <a:pt x="13704" y="15330"/>
                </a:lnTo>
                <a:lnTo>
                  <a:pt x="13949" y="14866"/>
                </a:lnTo>
                <a:lnTo>
                  <a:pt x="14194" y="14332"/>
                </a:lnTo>
                <a:lnTo>
                  <a:pt x="14458" y="13832"/>
                </a:lnTo>
                <a:lnTo>
                  <a:pt x="14703" y="13298"/>
                </a:lnTo>
                <a:lnTo>
                  <a:pt x="14948" y="12763"/>
                </a:lnTo>
                <a:lnTo>
                  <a:pt x="15193" y="12228"/>
                </a:lnTo>
                <a:lnTo>
                  <a:pt x="15476" y="11693"/>
                </a:lnTo>
                <a:lnTo>
                  <a:pt x="15683" y="11123"/>
                </a:lnTo>
                <a:lnTo>
                  <a:pt x="15910" y="10588"/>
                </a:lnTo>
                <a:lnTo>
                  <a:pt x="16155" y="10018"/>
                </a:lnTo>
                <a:lnTo>
                  <a:pt x="16381" y="9447"/>
                </a:lnTo>
                <a:lnTo>
                  <a:pt x="16626" y="8913"/>
                </a:lnTo>
                <a:lnTo>
                  <a:pt x="16833" y="8342"/>
                </a:lnTo>
                <a:lnTo>
                  <a:pt x="17059" y="7807"/>
                </a:lnTo>
                <a:lnTo>
                  <a:pt x="17267" y="7273"/>
                </a:lnTo>
                <a:lnTo>
                  <a:pt x="17493" y="6774"/>
                </a:lnTo>
                <a:lnTo>
                  <a:pt x="17719" y="6239"/>
                </a:lnTo>
                <a:lnTo>
                  <a:pt x="17926" y="5704"/>
                </a:lnTo>
                <a:lnTo>
                  <a:pt x="18153" y="5205"/>
                </a:lnTo>
                <a:lnTo>
                  <a:pt x="18322" y="4742"/>
                </a:lnTo>
                <a:lnTo>
                  <a:pt x="18492" y="4278"/>
                </a:lnTo>
                <a:lnTo>
                  <a:pt x="18680" y="3815"/>
                </a:lnTo>
                <a:lnTo>
                  <a:pt x="18850" y="3387"/>
                </a:lnTo>
                <a:lnTo>
                  <a:pt x="19020" y="2995"/>
                </a:lnTo>
                <a:lnTo>
                  <a:pt x="19171" y="2638"/>
                </a:lnTo>
                <a:lnTo>
                  <a:pt x="19340" y="2246"/>
                </a:lnTo>
                <a:lnTo>
                  <a:pt x="19491" y="1925"/>
                </a:lnTo>
                <a:lnTo>
                  <a:pt x="19604" y="1569"/>
                </a:lnTo>
                <a:lnTo>
                  <a:pt x="19755" y="1319"/>
                </a:lnTo>
                <a:lnTo>
                  <a:pt x="19887" y="1070"/>
                </a:lnTo>
                <a:lnTo>
                  <a:pt x="19981" y="856"/>
                </a:lnTo>
              </a:path>
            </a:pathLst>
          </a:custGeom>
          <a:noFill/>
          <a:ln w="41275">
            <a:solidFill>
              <a:srgbClr val="FFFF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6" name="Freeform 12"/>
          <p:cNvSpPr/>
          <p:nvPr/>
        </p:nvSpPr>
        <p:spPr bwMode="auto">
          <a:xfrm>
            <a:off x="2743200" y="1514475"/>
            <a:ext cx="1295400" cy="9144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2147483646 h 20000"/>
              <a:gd name="T48" fmla="*/ 2147483646 w 20000"/>
              <a:gd name="T49" fmla="*/ 0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19967"/>
                </a:moveTo>
                <a:lnTo>
                  <a:pt x="189" y="19301"/>
                </a:lnTo>
                <a:lnTo>
                  <a:pt x="396" y="18735"/>
                </a:lnTo>
                <a:lnTo>
                  <a:pt x="584" y="18070"/>
                </a:lnTo>
                <a:lnTo>
                  <a:pt x="792" y="17438"/>
                </a:lnTo>
                <a:lnTo>
                  <a:pt x="980" y="16805"/>
                </a:lnTo>
                <a:lnTo>
                  <a:pt x="1206" y="16240"/>
                </a:lnTo>
                <a:lnTo>
                  <a:pt x="1395" y="15607"/>
                </a:lnTo>
                <a:lnTo>
                  <a:pt x="1583" y="15008"/>
                </a:lnTo>
                <a:lnTo>
                  <a:pt x="1772" y="14409"/>
                </a:lnTo>
                <a:lnTo>
                  <a:pt x="1979" y="13810"/>
                </a:lnTo>
                <a:lnTo>
                  <a:pt x="2187" y="13211"/>
                </a:lnTo>
                <a:lnTo>
                  <a:pt x="2375" y="12679"/>
                </a:lnTo>
                <a:lnTo>
                  <a:pt x="2564" y="12080"/>
                </a:lnTo>
                <a:lnTo>
                  <a:pt x="2771" y="11448"/>
                </a:lnTo>
                <a:lnTo>
                  <a:pt x="2959" y="10948"/>
                </a:lnTo>
                <a:lnTo>
                  <a:pt x="3148" y="10349"/>
                </a:lnTo>
                <a:lnTo>
                  <a:pt x="3374" y="9784"/>
                </a:lnTo>
                <a:lnTo>
                  <a:pt x="3582" y="9318"/>
                </a:lnTo>
                <a:lnTo>
                  <a:pt x="3751" y="8752"/>
                </a:lnTo>
                <a:lnTo>
                  <a:pt x="3959" y="8286"/>
                </a:lnTo>
                <a:lnTo>
                  <a:pt x="4147" y="7720"/>
                </a:lnTo>
                <a:lnTo>
                  <a:pt x="4373" y="7221"/>
                </a:lnTo>
                <a:lnTo>
                  <a:pt x="4562" y="6789"/>
                </a:lnTo>
                <a:lnTo>
                  <a:pt x="4788" y="6290"/>
                </a:lnTo>
                <a:lnTo>
                  <a:pt x="4976" y="5857"/>
                </a:lnTo>
                <a:lnTo>
                  <a:pt x="5184" y="5358"/>
                </a:lnTo>
                <a:lnTo>
                  <a:pt x="5353" y="4958"/>
                </a:lnTo>
                <a:lnTo>
                  <a:pt x="5542" y="4559"/>
                </a:lnTo>
                <a:lnTo>
                  <a:pt x="5768" y="4126"/>
                </a:lnTo>
                <a:lnTo>
                  <a:pt x="5975" y="3727"/>
                </a:lnTo>
                <a:lnTo>
                  <a:pt x="6202" y="3361"/>
                </a:lnTo>
                <a:lnTo>
                  <a:pt x="6390" y="2995"/>
                </a:lnTo>
                <a:lnTo>
                  <a:pt x="6616" y="2662"/>
                </a:lnTo>
                <a:lnTo>
                  <a:pt x="6786" y="2363"/>
                </a:lnTo>
                <a:lnTo>
                  <a:pt x="6993" y="2030"/>
                </a:lnTo>
                <a:lnTo>
                  <a:pt x="7201" y="1730"/>
                </a:lnTo>
                <a:lnTo>
                  <a:pt x="7408" y="1531"/>
                </a:lnTo>
                <a:lnTo>
                  <a:pt x="7615" y="1231"/>
                </a:lnTo>
                <a:lnTo>
                  <a:pt x="7823" y="1032"/>
                </a:lnTo>
                <a:lnTo>
                  <a:pt x="8030" y="799"/>
                </a:lnTo>
                <a:lnTo>
                  <a:pt x="8238" y="632"/>
                </a:lnTo>
                <a:lnTo>
                  <a:pt x="8445" y="532"/>
                </a:lnTo>
                <a:lnTo>
                  <a:pt x="8633" y="333"/>
                </a:lnTo>
                <a:lnTo>
                  <a:pt x="8841" y="233"/>
                </a:lnTo>
                <a:lnTo>
                  <a:pt x="9048" y="67"/>
                </a:lnTo>
                <a:lnTo>
                  <a:pt x="9274" y="33"/>
                </a:lnTo>
                <a:lnTo>
                  <a:pt x="9463" y="33"/>
                </a:lnTo>
                <a:lnTo>
                  <a:pt x="9670" y="33"/>
                </a:lnTo>
                <a:lnTo>
                  <a:pt x="9877" y="0"/>
                </a:lnTo>
                <a:lnTo>
                  <a:pt x="10123" y="33"/>
                </a:lnTo>
                <a:lnTo>
                  <a:pt x="10330" y="100"/>
                </a:lnTo>
                <a:lnTo>
                  <a:pt x="10556" y="233"/>
                </a:lnTo>
                <a:lnTo>
                  <a:pt x="10782" y="399"/>
                </a:lnTo>
                <a:lnTo>
                  <a:pt x="11008" y="632"/>
                </a:lnTo>
                <a:lnTo>
                  <a:pt x="11254" y="865"/>
                </a:lnTo>
                <a:lnTo>
                  <a:pt x="11499" y="1098"/>
                </a:lnTo>
                <a:lnTo>
                  <a:pt x="11725" y="1398"/>
                </a:lnTo>
                <a:lnTo>
                  <a:pt x="11970" y="1697"/>
                </a:lnTo>
                <a:lnTo>
                  <a:pt x="12215" y="2063"/>
                </a:lnTo>
                <a:lnTo>
                  <a:pt x="12460" y="2463"/>
                </a:lnTo>
                <a:lnTo>
                  <a:pt x="12705" y="2795"/>
                </a:lnTo>
                <a:lnTo>
                  <a:pt x="12950" y="3261"/>
                </a:lnTo>
                <a:lnTo>
                  <a:pt x="13195" y="3661"/>
                </a:lnTo>
                <a:lnTo>
                  <a:pt x="13440" y="4126"/>
                </a:lnTo>
                <a:lnTo>
                  <a:pt x="13704" y="4626"/>
                </a:lnTo>
                <a:lnTo>
                  <a:pt x="13949" y="5092"/>
                </a:lnTo>
                <a:lnTo>
                  <a:pt x="14194" y="5624"/>
                </a:lnTo>
                <a:lnTo>
                  <a:pt x="14458" y="6123"/>
                </a:lnTo>
                <a:lnTo>
                  <a:pt x="14703" y="6689"/>
                </a:lnTo>
                <a:lnTo>
                  <a:pt x="14948" y="7188"/>
                </a:lnTo>
                <a:lnTo>
                  <a:pt x="15193" y="7720"/>
                </a:lnTo>
                <a:lnTo>
                  <a:pt x="15476" y="8286"/>
                </a:lnTo>
                <a:lnTo>
                  <a:pt x="15683" y="8852"/>
                </a:lnTo>
                <a:lnTo>
                  <a:pt x="15910" y="9384"/>
                </a:lnTo>
                <a:lnTo>
                  <a:pt x="16155" y="9950"/>
                </a:lnTo>
                <a:lnTo>
                  <a:pt x="16381" y="10483"/>
                </a:lnTo>
                <a:lnTo>
                  <a:pt x="16626" y="11048"/>
                </a:lnTo>
                <a:lnTo>
                  <a:pt x="16852" y="11614"/>
                </a:lnTo>
                <a:lnTo>
                  <a:pt x="17059" y="12146"/>
                </a:lnTo>
                <a:lnTo>
                  <a:pt x="17286" y="12712"/>
                </a:lnTo>
                <a:lnTo>
                  <a:pt x="17493" y="13211"/>
                </a:lnTo>
                <a:lnTo>
                  <a:pt x="17700" y="13710"/>
                </a:lnTo>
                <a:lnTo>
                  <a:pt x="17926" y="14243"/>
                </a:lnTo>
                <a:lnTo>
                  <a:pt x="18134" y="14742"/>
                </a:lnTo>
                <a:lnTo>
                  <a:pt x="18322" y="15208"/>
                </a:lnTo>
                <a:lnTo>
                  <a:pt x="18492" y="15674"/>
                </a:lnTo>
                <a:lnTo>
                  <a:pt x="18680" y="16140"/>
                </a:lnTo>
                <a:lnTo>
                  <a:pt x="18850" y="16572"/>
                </a:lnTo>
                <a:lnTo>
                  <a:pt x="19020" y="16938"/>
                </a:lnTo>
                <a:lnTo>
                  <a:pt x="19171" y="17338"/>
                </a:lnTo>
                <a:lnTo>
                  <a:pt x="19340" y="17704"/>
                </a:lnTo>
                <a:lnTo>
                  <a:pt x="19472" y="18037"/>
                </a:lnTo>
                <a:lnTo>
                  <a:pt x="19604" y="18369"/>
                </a:lnTo>
                <a:lnTo>
                  <a:pt x="19755" y="18636"/>
                </a:lnTo>
                <a:lnTo>
                  <a:pt x="19887" y="18902"/>
                </a:lnTo>
                <a:lnTo>
                  <a:pt x="19981" y="19101"/>
                </a:lnTo>
              </a:path>
            </a:pathLst>
          </a:custGeom>
          <a:noFill/>
          <a:ln w="41275">
            <a:solidFill>
              <a:srgbClr val="FFFF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7" name="Line 13"/>
          <p:cNvSpPr>
            <a:spLocks noChangeShapeType="1"/>
          </p:cNvSpPr>
          <p:nvPr/>
        </p:nvSpPr>
        <p:spPr bwMode="auto">
          <a:xfrm>
            <a:off x="1143000" y="1514475"/>
            <a:ext cx="2895600" cy="0"/>
          </a:xfrm>
          <a:prstGeom prst="line">
            <a:avLst/>
          </a:prstGeom>
          <a:noFill/>
          <a:ln w="6350">
            <a:solidFill>
              <a:schemeClr val="bg1"/>
            </a:solidFill>
            <a:prstDash val="sys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8" name="Rectangle 14"/>
          <p:cNvSpPr>
            <a:spLocks noChangeArrowheads="1"/>
          </p:cNvSpPr>
          <p:nvPr/>
        </p:nvSpPr>
        <p:spPr bwMode="auto">
          <a:xfrm>
            <a:off x="4267200" y="2505075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FF66"/>
                </a:solidFill>
                <a:ea typeface="楷体_GB2312" pitchFamily="49" charset="-122"/>
              </a:rPr>
              <a:t>b</a:t>
            </a:r>
            <a:endParaRPr lang="en-US" altLang="zh-CN" sz="2200" i="1">
              <a:ea typeface="楷体_GB2312" pitchFamily="49" charset="-122"/>
            </a:endParaRPr>
          </a:p>
        </p:txBody>
      </p:sp>
      <p:sp>
        <p:nvSpPr>
          <p:cNvPr id="67599" name="Freeform 15"/>
          <p:cNvSpPr/>
          <p:nvPr/>
        </p:nvSpPr>
        <p:spPr bwMode="auto">
          <a:xfrm>
            <a:off x="4038600" y="2428875"/>
            <a:ext cx="1265238" cy="8382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2147483646 h 20000"/>
              <a:gd name="T48" fmla="*/ 2147483646 w 20000"/>
              <a:gd name="T49" fmla="*/ 2147483646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0"/>
                </a:moveTo>
                <a:lnTo>
                  <a:pt x="189" y="642"/>
                </a:lnTo>
                <a:lnTo>
                  <a:pt x="396" y="1248"/>
                </a:lnTo>
                <a:lnTo>
                  <a:pt x="584" y="1889"/>
                </a:lnTo>
                <a:lnTo>
                  <a:pt x="792" y="2496"/>
                </a:lnTo>
                <a:lnTo>
                  <a:pt x="980" y="3137"/>
                </a:lnTo>
                <a:lnTo>
                  <a:pt x="1188" y="3743"/>
                </a:lnTo>
                <a:lnTo>
                  <a:pt x="1395" y="4349"/>
                </a:lnTo>
                <a:lnTo>
                  <a:pt x="1565" y="4955"/>
                </a:lnTo>
                <a:lnTo>
                  <a:pt x="1772" y="5561"/>
                </a:lnTo>
                <a:lnTo>
                  <a:pt x="1979" y="6132"/>
                </a:lnTo>
                <a:lnTo>
                  <a:pt x="2168" y="6774"/>
                </a:lnTo>
                <a:lnTo>
                  <a:pt x="2375" y="7308"/>
                </a:lnTo>
                <a:lnTo>
                  <a:pt x="2564" y="7879"/>
                </a:lnTo>
                <a:lnTo>
                  <a:pt x="2790" y="8485"/>
                </a:lnTo>
                <a:lnTo>
                  <a:pt x="2959" y="9020"/>
                </a:lnTo>
                <a:lnTo>
                  <a:pt x="3167" y="9626"/>
                </a:lnTo>
                <a:lnTo>
                  <a:pt x="3374" y="10160"/>
                </a:lnTo>
                <a:lnTo>
                  <a:pt x="3582" y="10660"/>
                </a:lnTo>
                <a:lnTo>
                  <a:pt x="3770" y="11194"/>
                </a:lnTo>
                <a:lnTo>
                  <a:pt x="3959" y="11693"/>
                </a:lnTo>
                <a:lnTo>
                  <a:pt x="4166" y="12228"/>
                </a:lnTo>
                <a:lnTo>
                  <a:pt x="4373" y="12727"/>
                </a:lnTo>
                <a:lnTo>
                  <a:pt x="4562" y="13155"/>
                </a:lnTo>
                <a:lnTo>
                  <a:pt x="4788" y="13654"/>
                </a:lnTo>
                <a:lnTo>
                  <a:pt x="4976" y="14118"/>
                </a:lnTo>
                <a:lnTo>
                  <a:pt x="5165" y="14581"/>
                </a:lnTo>
                <a:lnTo>
                  <a:pt x="5353" y="15009"/>
                </a:lnTo>
                <a:lnTo>
                  <a:pt x="5542" y="15401"/>
                </a:lnTo>
                <a:lnTo>
                  <a:pt x="5768" y="15829"/>
                </a:lnTo>
                <a:lnTo>
                  <a:pt x="5975" y="16221"/>
                </a:lnTo>
                <a:lnTo>
                  <a:pt x="6183" y="16613"/>
                </a:lnTo>
                <a:lnTo>
                  <a:pt x="6390" y="16934"/>
                </a:lnTo>
                <a:lnTo>
                  <a:pt x="6598" y="17291"/>
                </a:lnTo>
                <a:lnTo>
                  <a:pt x="6786" y="17611"/>
                </a:lnTo>
                <a:lnTo>
                  <a:pt x="6993" y="17932"/>
                </a:lnTo>
                <a:lnTo>
                  <a:pt x="7182" y="18217"/>
                </a:lnTo>
                <a:lnTo>
                  <a:pt x="7408" y="18467"/>
                </a:lnTo>
                <a:lnTo>
                  <a:pt x="7615" y="18717"/>
                </a:lnTo>
                <a:lnTo>
                  <a:pt x="7842" y="18930"/>
                </a:lnTo>
                <a:lnTo>
                  <a:pt x="8030" y="19144"/>
                </a:lnTo>
                <a:lnTo>
                  <a:pt x="8238" y="19358"/>
                </a:lnTo>
                <a:lnTo>
                  <a:pt x="8464" y="19465"/>
                </a:lnTo>
                <a:lnTo>
                  <a:pt x="8633" y="19608"/>
                </a:lnTo>
                <a:lnTo>
                  <a:pt x="8841" y="19715"/>
                </a:lnTo>
                <a:lnTo>
                  <a:pt x="9048" y="19893"/>
                </a:lnTo>
                <a:lnTo>
                  <a:pt x="9274" y="19929"/>
                </a:lnTo>
                <a:lnTo>
                  <a:pt x="9482" y="19929"/>
                </a:lnTo>
                <a:lnTo>
                  <a:pt x="9670" y="19929"/>
                </a:lnTo>
                <a:lnTo>
                  <a:pt x="9877" y="19964"/>
                </a:lnTo>
                <a:lnTo>
                  <a:pt x="10123" y="19929"/>
                </a:lnTo>
                <a:lnTo>
                  <a:pt x="10330" y="19857"/>
                </a:lnTo>
                <a:lnTo>
                  <a:pt x="10556" y="19715"/>
                </a:lnTo>
                <a:lnTo>
                  <a:pt x="10782" y="19537"/>
                </a:lnTo>
                <a:lnTo>
                  <a:pt x="11008" y="19358"/>
                </a:lnTo>
                <a:lnTo>
                  <a:pt x="11235" y="19109"/>
                </a:lnTo>
                <a:lnTo>
                  <a:pt x="11499" y="18859"/>
                </a:lnTo>
                <a:lnTo>
                  <a:pt x="11725" y="18574"/>
                </a:lnTo>
                <a:lnTo>
                  <a:pt x="11951" y="18253"/>
                </a:lnTo>
                <a:lnTo>
                  <a:pt x="12196" y="17861"/>
                </a:lnTo>
                <a:lnTo>
                  <a:pt x="12460" y="17504"/>
                </a:lnTo>
                <a:lnTo>
                  <a:pt x="12724" y="17148"/>
                </a:lnTo>
                <a:lnTo>
                  <a:pt x="12950" y="16720"/>
                </a:lnTo>
                <a:lnTo>
                  <a:pt x="13195" y="16292"/>
                </a:lnTo>
                <a:lnTo>
                  <a:pt x="13459" y="15829"/>
                </a:lnTo>
                <a:lnTo>
                  <a:pt x="13704" y="15330"/>
                </a:lnTo>
                <a:lnTo>
                  <a:pt x="13949" y="14866"/>
                </a:lnTo>
                <a:lnTo>
                  <a:pt x="14194" y="14332"/>
                </a:lnTo>
                <a:lnTo>
                  <a:pt x="14458" y="13832"/>
                </a:lnTo>
                <a:lnTo>
                  <a:pt x="14703" y="13298"/>
                </a:lnTo>
                <a:lnTo>
                  <a:pt x="14948" y="12763"/>
                </a:lnTo>
                <a:lnTo>
                  <a:pt x="15193" y="12228"/>
                </a:lnTo>
                <a:lnTo>
                  <a:pt x="15476" y="11693"/>
                </a:lnTo>
                <a:lnTo>
                  <a:pt x="15683" y="11123"/>
                </a:lnTo>
                <a:lnTo>
                  <a:pt x="15910" y="10588"/>
                </a:lnTo>
                <a:lnTo>
                  <a:pt x="16155" y="10018"/>
                </a:lnTo>
                <a:lnTo>
                  <a:pt x="16381" y="9447"/>
                </a:lnTo>
                <a:lnTo>
                  <a:pt x="16626" y="8913"/>
                </a:lnTo>
                <a:lnTo>
                  <a:pt x="16833" y="8342"/>
                </a:lnTo>
                <a:lnTo>
                  <a:pt x="17059" y="7807"/>
                </a:lnTo>
                <a:lnTo>
                  <a:pt x="17267" y="7273"/>
                </a:lnTo>
                <a:lnTo>
                  <a:pt x="17493" y="6774"/>
                </a:lnTo>
                <a:lnTo>
                  <a:pt x="17719" y="6239"/>
                </a:lnTo>
                <a:lnTo>
                  <a:pt x="17926" y="5704"/>
                </a:lnTo>
                <a:lnTo>
                  <a:pt x="18153" y="5205"/>
                </a:lnTo>
                <a:lnTo>
                  <a:pt x="18322" y="4742"/>
                </a:lnTo>
                <a:lnTo>
                  <a:pt x="18492" y="4278"/>
                </a:lnTo>
                <a:lnTo>
                  <a:pt x="18680" y="3815"/>
                </a:lnTo>
                <a:lnTo>
                  <a:pt x="18850" y="3387"/>
                </a:lnTo>
                <a:lnTo>
                  <a:pt x="19020" y="2995"/>
                </a:lnTo>
                <a:lnTo>
                  <a:pt x="19171" y="2638"/>
                </a:lnTo>
                <a:lnTo>
                  <a:pt x="19340" y="2246"/>
                </a:lnTo>
                <a:lnTo>
                  <a:pt x="19491" y="1925"/>
                </a:lnTo>
                <a:lnTo>
                  <a:pt x="19604" y="1569"/>
                </a:lnTo>
                <a:lnTo>
                  <a:pt x="19755" y="1319"/>
                </a:lnTo>
                <a:lnTo>
                  <a:pt x="19887" y="1070"/>
                </a:lnTo>
                <a:lnTo>
                  <a:pt x="19981" y="856"/>
                </a:lnTo>
              </a:path>
            </a:pathLst>
          </a:custGeom>
          <a:noFill/>
          <a:ln w="41275">
            <a:solidFill>
              <a:srgbClr val="FFFF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0" name="Freeform 16"/>
          <p:cNvSpPr/>
          <p:nvPr/>
        </p:nvSpPr>
        <p:spPr bwMode="auto">
          <a:xfrm>
            <a:off x="228600" y="1666875"/>
            <a:ext cx="1295400" cy="9144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2147483646 h 20000"/>
              <a:gd name="T48" fmla="*/ 2147483646 w 20000"/>
              <a:gd name="T49" fmla="*/ 0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19967"/>
                </a:moveTo>
                <a:lnTo>
                  <a:pt x="189" y="19301"/>
                </a:lnTo>
                <a:lnTo>
                  <a:pt x="396" y="18735"/>
                </a:lnTo>
                <a:lnTo>
                  <a:pt x="584" y="18070"/>
                </a:lnTo>
                <a:lnTo>
                  <a:pt x="792" y="17438"/>
                </a:lnTo>
                <a:lnTo>
                  <a:pt x="980" y="16805"/>
                </a:lnTo>
                <a:lnTo>
                  <a:pt x="1206" y="16240"/>
                </a:lnTo>
                <a:lnTo>
                  <a:pt x="1395" y="15607"/>
                </a:lnTo>
                <a:lnTo>
                  <a:pt x="1583" y="15008"/>
                </a:lnTo>
                <a:lnTo>
                  <a:pt x="1772" y="14409"/>
                </a:lnTo>
                <a:lnTo>
                  <a:pt x="1979" y="13810"/>
                </a:lnTo>
                <a:lnTo>
                  <a:pt x="2187" y="13211"/>
                </a:lnTo>
                <a:lnTo>
                  <a:pt x="2375" y="12679"/>
                </a:lnTo>
                <a:lnTo>
                  <a:pt x="2564" y="12080"/>
                </a:lnTo>
                <a:lnTo>
                  <a:pt x="2771" y="11448"/>
                </a:lnTo>
                <a:lnTo>
                  <a:pt x="2959" y="10948"/>
                </a:lnTo>
                <a:lnTo>
                  <a:pt x="3148" y="10349"/>
                </a:lnTo>
                <a:lnTo>
                  <a:pt x="3374" y="9784"/>
                </a:lnTo>
                <a:lnTo>
                  <a:pt x="3582" y="9318"/>
                </a:lnTo>
                <a:lnTo>
                  <a:pt x="3751" y="8752"/>
                </a:lnTo>
                <a:lnTo>
                  <a:pt x="3959" y="8286"/>
                </a:lnTo>
                <a:lnTo>
                  <a:pt x="4147" y="7720"/>
                </a:lnTo>
                <a:lnTo>
                  <a:pt x="4373" y="7221"/>
                </a:lnTo>
                <a:lnTo>
                  <a:pt x="4562" y="6789"/>
                </a:lnTo>
                <a:lnTo>
                  <a:pt x="4788" y="6290"/>
                </a:lnTo>
                <a:lnTo>
                  <a:pt x="4976" y="5857"/>
                </a:lnTo>
                <a:lnTo>
                  <a:pt x="5184" y="5358"/>
                </a:lnTo>
                <a:lnTo>
                  <a:pt x="5353" y="4958"/>
                </a:lnTo>
                <a:lnTo>
                  <a:pt x="5542" y="4559"/>
                </a:lnTo>
                <a:lnTo>
                  <a:pt x="5768" y="4126"/>
                </a:lnTo>
                <a:lnTo>
                  <a:pt x="5975" y="3727"/>
                </a:lnTo>
                <a:lnTo>
                  <a:pt x="6202" y="3361"/>
                </a:lnTo>
                <a:lnTo>
                  <a:pt x="6390" y="2995"/>
                </a:lnTo>
                <a:lnTo>
                  <a:pt x="6616" y="2662"/>
                </a:lnTo>
                <a:lnTo>
                  <a:pt x="6786" y="2363"/>
                </a:lnTo>
                <a:lnTo>
                  <a:pt x="6993" y="2030"/>
                </a:lnTo>
                <a:lnTo>
                  <a:pt x="7201" y="1730"/>
                </a:lnTo>
                <a:lnTo>
                  <a:pt x="7408" y="1531"/>
                </a:lnTo>
                <a:lnTo>
                  <a:pt x="7615" y="1231"/>
                </a:lnTo>
                <a:lnTo>
                  <a:pt x="7823" y="1032"/>
                </a:lnTo>
                <a:lnTo>
                  <a:pt x="8030" y="799"/>
                </a:lnTo>
                <a:lnTo>
                  <a:pt x="8238" y="632"/>
                </a:lnTo>
                <a:lnTo>
                  <a:pt x="8445" y="532"/>
                </a:lnTo>
                <a:lnTo>
                  <a:pt x="8633" y="333"/>
                </a:lnTo>
                <a:lnTo>
                  <a:pt x="8841" y="233"/>
                </a:lnTo>
                <a:lnTo>
                  <a:pt x="9048" y="67"/>
                </a:lnTo>
                <a:lnTo>
                  <a:pt x="9274" y="33"/>
                </a:lnTo>
                <a:lnTo>
                  <a:pt x="9463" y="33"/>
                </a:lnTo>
                <a:lnTo>
                  <a:pt x="9670" y="33"/>
                </a:lnTo>
                <a:lnTo>
                  <a:pt x="9877" y="0"/>
                </a:lnTo>
                <a:lnTo>
                  <a:pt x="10123" y="33"/>
                </a:lnTo>
                <a:lnTo>
                  <a:pt x="10330" y="100"/>
                </a:lnTo>
                <a:lnTo>
                  <a:pt x="10556" y="233"/>
                </a:lnTo>
                <a:lnTo>
                  <a:pt x="10782" y="399"/>
                </a:lnTo>
                <a:lnTo>
                  <a:pt x="11008" y="632"/>
                </a:lnTo>
                <a:lnTo>
                  <a:pt x="11254" y="865"/>
                </a:lnTo>
                <a:lnTo>
                  <a:pt x="11499" y="1098"/>
                </a:lnTo>
                <a:lnTo>
                  <a:pt x="11725" y="1398"/>
                </a:lnTo>
                <a:lnTo>
                  <a:pt x="11970" y="1697"/>
                </a:lnTo>
                <a:lnTo>
                  <a:pt x="12215" y="2063"/>
                </a:lnTo>
                <a:lnTo>
                  <a:pt x="12460" y="2463"/>
                </a:lnTo>
                <a:lnTo>
                  <a:pt x="12705" y="2795"/>
                </a:lnTo>
                <a:lnTo>
                  <a:pt x="12950" y="3261"/>
                </a:lnTo>
                <a:lnTo>
                  <a:pt x="13195" y="3661"/>
                </a:lnTo>
                <a:lnTo>
                  <a:pt x="13440" y="4126"/>
                </a:lnTo>
                <a:lnTo>
                  <a:pt x="13704" y="4626"/>
                </a:lnTo>
                <a:lnTo>
                  <a:pt x="13949" y="5092"/>
                </a:lnTo>
                <a:lnTo>
                  <a:pt x="14194" y="5624"/>
                </a:lnTo>
                <a:lnTo>
                  <a:pt x="14458" y="6123"/>
                </a:lnTo>
                <a:lnTo>
                  <a:pt x="14703" y="6689"/>
                </a:lnTo>
                <a:lnTo>
                  <a:pt x="14948" y="7188"/>
                </a:lnTo>
                <a:lnTo>
                  <a:pt x="15193" y="7720"/>
                </a:lnTo>
                <a:lnTo>
                  <a:pt x="15476" y="8286"/>
                </a:lnTo>
                <a:lnTo>
                  <a:pt x="15683" y="8852"/>
                </a:lnTo>
                <a:lnTo>
                  <a:pt x="15910" y="9384"/>
                </a:lnTo>
                <a:lnTo>
                  <a:pt x="16155" y="9950"/>
                </a:lnTo>
                <a:lnTo>
                  <a:pt x="16381" y="10483"/>
                </a:lnTo>
                <a:lnTo>
                  <a:pt x="16626" y="11048"/>
                </a:lnTo>
                <a:lnTo>
                  <a:pt x="16852" y="11614"/>
                </a:lnTo>
                <a:lnTo>
                  <a:pt x="17059" y="12146"/>
                </a:lnTo>
                <a:lnTo>
                  <a:pt x="17286" y="12712"/>
                </a:lnTo>
                <a:lnTo>
                  <a:pt x="17493" y="13211"/>
                </a:lnTo>
                <a:lnTo>
                  <a:pt x="17700" y="13710"/>
                </a:lnTo>
                <a:lnTo>
                  <a:pt x="17926" y="14243"/>
                </a:lnTo>
                <a:lnTo>
                  <a:pt x="18134" y="14742"/>
                </a:lnTo>
                <a:lnTo>
                  <a:pt x="18322" y="15208"/>
                </a:lnTo>
                <a:lnTo>
                  <a:pt x="18492" y="15674"/>
                </a:lnTo>
                <a:lnTo>
                  <a:pt x="18680" y="16140"/>
                </a:lnTo>
                <a:lnTo>
                  <a:pt x="18850" y="16572"/>
                </a:lnTo>
                <a:lnTo>
                  <a:pt x="19020" y="16938"/>
                </a:lnTo>
                <a:lnTo>
                  <a:pt x="19171" y="17338"/>
                </a:lnTo>
                <a:lnTo>
                  <a:pt x="19340" y="17704"/>
                </a:lnTo>
                <a:lnTo>
                  <a:pt x="19472" y="18037"/>
                </a:lnTo>
                <a:lnTo>
                  <a:pt x="19604" y="18369"/>
                </a:lnTo>
                <a:lnTo>
                  <a:pt x="19755" y="18636"/>
                </a:lnTo>
                <a:lnTo>
                  <a:pt x="19887" y="18902"/>
                </a:lnTo>
                <a:lnTo>
                  <a:pt x="19981" y="19101"/>
                </a:lnTo>
              </a:path>
            </a:pathLst>
          </a:custGeom>
          <a:noFill/>
          <a:ln w="41275">
            <a:solidFill>
              <a:srgbClr val="FFFF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7" name="AutoShape 17"/>
          <p:cNvSpPr>
            <a:spLocks noChangeArrowheads="1"/>
          </p:cNvSpPr>
          <p:nvPr/>
        </p:nvSpPr>
        <p:spPr bwMode="auto">
          <a:xfrm rot="1009843">
            <a:off x="228600" y="1514475"/>
            <a:ext cx="685800" cy="1295400"/>
          </a:xfrm>
          <a:prstGeom prst="parallelogram">
            <a:avLst>
              <a:gd name="adj" fmla="val 25000"/>
            </a:avLst>
          </a:prstGeom>
          <a:solidFill>
            <a:srgbClr val="002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602" name="Rectangle 18"/>
          <p:cNvSpPr>
            <a:spLocks noChangeArrowheads="1"/>
          </p:cNvSpPr>
          <p:nvPr/>
        </p:nvSpPr>
        <p:spPr bwMode="auto">
          <a:xfrm>
            <a:off x="533400" y="136207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FF66"/>
                </a:solidFill>
                <a:ea typeface="楷体_GB2312" pitchFamily="49" charset="-122"/>
              </a:rPr>
              <a:t>A</a:t>
            </a:r>
          </a:p>
        </p:txBody>
      </p:sp>
      <p:sp>
        <p:nvSpPr>
          <p:cNvPr id="67603" name="Line 19"/>
          <p:cNvSpPr>
            <a:spLocks noChangeShapeType="1"/>
          </p:cNvSpPr>
          <p:nvPr/>
        </p:nvSpPr>
        <p:spPr bwMode="auto">
          <a:xfrm>
            <a:off x="1066800" y="2733675"/>
            <a:ext cx="312420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604" name="Rectangle 20"/>
          <p:cNvSpPr>
            <a:spLocks noChangeArrowheads="1"/>
          </p:cNvSpPr>
          <p:nvPr/>
        </p:nvSpPr>
        <p:spPr bwMode="auto">
          <a:xfrm>
            <a:off x="2514600" y="2733675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FF66"/>
                </a:solidFill>
                <a:ea typeface="楷体_GB2312" pitchFamily="49" charset="-122"/>
              </a:rPr>
              <a:t>a</a:t>
            </a:r>
            <a:endParaRPr lang="en-US" altLang="zh-CN" sz="2200" i="1">
              <a:ea typeface="楷体_GB2312" pitchFamily="49" charset="-122"/>
            </a:endParaRPr>
          </a:p>
        </p:txBody>
      </p:sp>
      <p:sp>
        <p:nvSpPr>
          <p:cNvPr id="67605" name="Line 21"/>
          <p:cNvSpPr>
            <a:spLocks noChangeShapeType="1"/>
          </p:cNvSpPr>
          <p:nvPr/>
        </p:nvSpPr>
        <p:spPr bwMode="auto">
          <a:xfrm flipV="1">
            <a:off x="2514600" y="2124075"/>
            <a:ext cx="0" cy="609600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606" name="Line 22"/>
          <p:cNvSpPr>
            <a:spLocks noChangeShapeType="1"/>
          </p:cNvSpPr>
          <p:nvPr/>
        </p:nvSpPr>
        <p:spPr bwMode="auto">
          <a:xfrm>
            <a:off x="4191000" y="2733675"/>
            <a:ext cx="0" cy="533400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607" name="Text Box 23"/>
          <p:cNvSpPr txBox="1">
            <a:spLocks noChangeArrowheads="1"/>
          </p:cNvSpPr>
          <p:nvPr/>
        </p:nvSpPr>
        <p:spPr bwMode="auto">
          <a:xfrm>
            <a:off x="5580063" y="981075"/>
            <a:ext cx="320675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200">
                <a:solidFill>
                  <a:srgbClr val="FFFF00"/>
                </a:solidFill>
                <a:ea typeface="楷体_GB2312" pitchFamily="49" charset="-122"/>
              </a:rPr>
              <a:t>•</a:t>
            </a:r>
            <a:r>
              <a:rPr lang="en-US" altLang="zh-CN" sz="220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en-US" altLang="zh-CN" sz="2200" i="1">
                <a:solidFill>
                  <a:srgbClr val="FFFF99"/>
                </a:solidFill>
                <a:ea typeface="楷体_GB2312" pitchFamily="49" charset="-122"/>
              </a:rPr>
              <a:t>a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与</a:t>
            </a:r>
            <a:r>
              <a:rPr lang="en-US" altLang="zh-CN" sz="2200" i="1">
                <a:solidFill>
                  <a:srgbClr val="FFFF99"/>
                </a:solidFill>
                <a:ea typeface="楷体_GB2312" pitchFamily="49" charset="-122"/>
              </a:rPr>
              <a:t>b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点位移相同，但速度状态不同 </a:t>
            </a:r>
          </a:p>
        </p:txBody>
      </p:sp>
      <p:sp>
        <p:nvSpPr>
          <p:cNvPr id="67608" name="AutoShape 24"/>
          <p:cNvSpPr>
            <a:spLocks noChangeArrowheads="1"/>
          </p:cNvSpPr>
          <p:nvPr/>
        </p:nvSpPr>
        <p:spPr bwMode="auto">
          <a:xfrm>
            <a:off x="7000875" y="1928813"/>
            <a:ext cx="285750" cy="687387"/>
          </a:xfrm>
          <a:prstGeom prst="downArrow">
            <a:avLst>
              <a:gd name="adj1" fmla="val 50000"/>
              <a:gd name="adj2" fmla="val 7696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609" name="Text Box 25"/>
          <p:cNvSpPr txBox="1">
            <a:spLocks noChangeArrowheads="1"/>
          </p:cNvSpPr>
          <p:nvPr/>
        </p:nvSpPr>
        <p:spPr bwMode="auto">
          <a:xfrm>
            <a:off x="5580063" y="2684463"/>
            <a:ext cx="34559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FFFF00"/>
                </a:solidFill>
                <a:ea typeface="楷体_GB2312" pitchFamily="49" charset="-122"/>
              </a:rPr>
              <a:t>•</a:t>
            </a:r>
            <a:r>
              <a:rPr lang="en-US" altLang="zh-CN" sz="2200">
                <a:solidFill>
                  <a:schemeClr val="bg1"/>
                </a:solidFill>
                <a:ea typeface="楷体_GB2312" pitchFamily="49" charset="-122"/>
              </a:rPr>
              <a:t>  </a:t>
            </a:r>
            <a:r>
              <a:rPr lang="en-US" altLang="zh-CN" sz="2200" i="1">
                <a:solidFill>
                  <a:srgbClr val="FFFF99"/>
                </a:solidFill>
                <a:ea typeface="楷体_GB2312" pitchFamily="49" charset="-122"/>
              </a:rPr>
              <a:t>a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与</a:t>
            </a:r>
            <a:r>
              <a:rPr lang="en-US" altLang="zh-CN" sz="2200" i="1">
                <a:solidFill>
                  <a:srgbClr val="FFFF99"/>
                </a:solidFill>
                <a:ea typeface="楷体_GB2312" pitchFamily="49" charset="-122"/>
              </a:rPr>
              <a:t>b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点的相位不同 </a:t>
            </a:r>
          </a:p>
        </p:txBody>
      </p:sp>
      <p:sp>
        <p:nvSpPr>
          <p:cNvPr id="67610" name="Text Box 26"/>
          <p:cNvSpPr txBox="1">
            <a:spLocks noChangeArrowheads="1"/>
          </p:cNvSpPr>
          <p:nvPr/>
        </p:nvSpPr>
        <p:spPr bwMode="auto">
          <a:xfrm>
            <a:off x="642938" y="3681413"/>
            <a:ext cx="28575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200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 sz="2200">
                <a:solidFill>
                  <a:srgbClr val="FFFF00"/>
                </a:solidFill>
                <a:ea typeface="楷体_GB2312" pitchFamily="49" charset="-122"/>
              </a:rPr>
              <a:t>相位差：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比较两个同频率谐振动的步调</a:t>
            </a:r>
          </a:p>
        </p:txBody>
      </p:sp>
      <p:graphicFrame>
        <p:nvGraphicFramePr>
          <p:cNvPr id="67611" name="Object 27"/>
          <p:cNvGraphicFramePr>
            <a:graphicFrameLocks noChangeAspect="1"/>
          </p:cNvGraphicFramePr>
          <p:nvPr/>
        </p:nvGraphicFramePr>
        <p:xfrm>
          <a:off x="3856038" y="3603625"/>
          <a:ext cx="300196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4" name="公式" r:id="rId3" imgW="1349375" imgH="122555" progId="Equation.3">
                  <p:embed/>
                </p:oleObj>
              </mc:Choice>
              <mc:Fallback>
                <p:oleObj name="公式" r:id="rId3" imgW="1349375" imgH="122555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6038" y="3603625"/>
                        <a:ext cx="300196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12" name="Object 28"/>
          <p:cNvGraphicFramePr>
            <a:graphicFrameLocks noChangeAspect="1"/>
          </p:cNvGraphicFramePr>
          <p:nvPr/>
        </p:nvGraphicFramePr>
        <p:xfrm>
          <a:off x="3857625" y="4214813"/>
          <a:ext cx="30019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5" name="公式" r:id="rId5" imgW="1383030" imgH="122555" progId="Equation.3">
                  <p:embed/>
                </p:oleObj>
              </mc:Choice>
              <mc:Fallback>
                <p:oleObj name="公式" r:id="rId5" imgW="1383030" imgH="122555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4214813"/>
                        <a:ext cx="3001963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13" name="AutoShape 29"/>
          <p:cNvSpPr/>
          <p:nvPr/>
        </p:nvSpPr>
        <p:spPr bwMode="auto">
          <a:xfrm flipH="1">
            <a:off x="6929438" y="3786188"/>
            <a:ext cx="285750" cy="785812"/>
          </a:xfrm>
          <a:prstGeom prst="leftBrace">
            <a:avLst>
              <a:gd name="adj1" fmla="val 52797"/>
              <a:gd name="adj2" fmla="val 50000"/>
            </a:avLst>
          </a:prstGeom>
          <a:noFill/>
          <a:ln w="317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7615" name="Object 31"/>
          <p:cNvGraphicFramePr>
            <a:graphicFrameLocks noChangeAspect="1"/>
          </p:cNvGraphicFramePr>
          <p:nvPr/>
        </p:nvGraphicFramePr>
        <p:xfrm>
          <a:off x="2005013" y="4854575"/>
          <a:ext cx="50673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6" name="公式" r:id="rId7" imgW="2464435" imgH="122555" progId="Equation.3">
                  <p:embed/>
                </p:oleObj>
              </mc:Choice>
              <mc:Fallback>
                <p:oleObj name="公式" r:id="rId7" imgW="2464435" imgH="122555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013" y="4854575"/>
                        <a:ext cx="50673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16" name="Text Box 32"/>
          <p:cNvSpPr txBox="1">
            <a:spLocks noChangeArrowheads="1"/>
          </p:cNvSpPr>
          <p:nvPr/>
        </p:nvSpPr>
        <p:spPr bwMode="auto">
          <a:xfrm>
            <a:off x="1033463" y="5500688"/>
            <a:ext cx="739616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zh-CN" altLang="en-US" sz="2200" i="1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zh-CN" altLang="en-US" sz="2200" i="1">
                <a:solidFill>
                  <a:srgbClr val="FFFF66"/>
                </a:solidFill>
                <a:ea typeface="楷体_GB2312" pitchFamily="49" charset="-122"/>
              </a:rPr>
              <a:t>  </a:t>
            </a: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</a:rPr>
              <a:t>= </a:t>
            </a: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</a:t>
            </a: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</a:rPr>
              <a:t>2</a:t>
            </a:r>
            <a:r>
              <a:rPr lang="en-US" altLang="zh-CN" sz="2200" i="1">
                <a:solidFill>
                  <a:srgbClr val="FFFF66"/>
                </a:solidFill>
                <a:ea typeface="楷体_GB2312" pitchFamily="49" charset="-122"/>
              </a:rPr>
              <a:t>k</a:t>
            </a: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 </a:t>
            </a: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</a:rPr>
              <a:t>,  (</a:t>
            </a:r>
            <a:r>
              <a:rPr lang="en-US" altLang="zh-CN" sz="2200" i="1">
                <a:solidFill>
                  <a:srgbClr val="FFFF66"/>
                </a:solidFill>
                <a:ea typeface="楷体_GB2312" pitchFamily="49" charset="-122"/>
              </a:rPr>
              <a:t> k </a:t>
            </a: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</a:rPr>
              <a:t>=0,1,2,…),  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两振动步调相同 </a:t>
            </a: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</a:rPr>
              <a:t>—— </a:t>
            </a:r>
            <a:r>
              <a:rPr lang="zh-CN" altLang="en-US" sz="2200">
                <a:solidFill>
                  <a:srgbClr val="FFFF00"/>
                </a:solidFill>
                <a:ea typeface="楷体_GB2312" pitchFamily="49" charset="-122"/>
              </a:rPr>
              <a:t>同相</a:t>
            </a:r>
          </a:p>
        </p:txBody>
      </p:sp>
      <p:sp>
        <p:nvSpPr>
          <p:cNvPr id="67617" name="Text Box 33"/>
          <p:cNvSpPr txBox="1">
            <a:spLocks noChangeArrowheads="1"/>
          </p:cNvSpPr>
          <p:nvPr/>
        </p:nvSpPr>
        <p:spPr bwMode="auto">
          <a:xfrm>
            <a:off x="1033463" y="6072188"/>
            <a:ext cx="77533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2200" i="1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200" i="1">
                <a:solidFill>
                  <a:srgbClr val="FFFF66"/>
                </a:solidFill>
                <a:ea typeface="楷体_GB2312" pitchFamily="49" charset="-122"/>
              </a:rPr>
              <a:t>  </a:t>
            </a: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</a:rPr>
              <a:t>= </a:t>
            </a: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</a:t>
            </a: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</a:rPr>
              <a:t>(2</a:t>
            </a:r>
            <a:r>
              <a:rPr lang="en-US" altLang="zh-CN" sz="2200" i="1">
                <a:solidFill>
                  <a:srgbClr val="FFFF66"/>
                </a:solidFill>
                <a:ea typeface="楷体_GB2312" pitchFamily="49" charset="-122"/>
              </a:rPr>
              <a:t>k</a:t>
            </a: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</a:rPr>
              <a:t>+1)</a:t>
            </a: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  <a:sym typeface="Symbol" panose="05050102010706020507" pitchFamily="18" charset="2"/>
              </a:rPr>
              <a:t> </a:t>
            </a: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</a:rPr>
              <a:t>,  (</a:t>
            </a:r>
            <a:r>
              <a:rPr lang="en-US" altLang="zh-CN" sz="2200" i="1">
                <a:solidFill>
                  <a:srgbClr val="FFFF66"/>
                </a:solidFill>
                <a:ea typeface="楷体_GB2312" pitchFamily="49" charset="-122"/>
              </a:rPr>
              <a:t> k </a:t>
            </a: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</a:rPr>
              <a:t>=0,1,2,…),  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两振动步调相反 </a:t>
            </a:r>
            <a:r>
              <a:rPr lang="en-US" altLang="zh-CN" sz="2200">
                <a:solidFill>
                  <a:srgbClr val="FFFF66"/>
                </a:solidFill>
                <a:ea typeface="楷体_GB2312" pitchFamily="49" charset="-122"/>
              </a:rPr>
              <a:t>—— </a:t>
            </a:r>
            <a:r>
              <a:rPr lang="zh-CN" altLang="en-US" sz="2200">
                <a:solidFill>
                  <a:srgbClr val="FFFF00"/>
                </a:solidFill>
                <a:ea typeface="楷体_GB2312" pitchFamily="49" charset="-122"/>
              </a:rPr>
              <a:t>反相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 </a:t>
            </a:r>
            <a:endParaRPr lang="zh-CN" altLang="en-US" sz="2200">
              <a:solidFill>
                <a:srgbClr val="FF9933"/>
              </a:solidFill>
              <a:ea typeface="楷体_GB2312" pitchFamily="49" charset="-122"/>
            </a:endParaRPr>
          </a:p>
        </p:txBody>
      </p:sp>
      <p:sp>
        <p:nvSpPr>
          <p:cNvPr id="67618" name="AutoShape 34"/>
          <p:cNvSpPr/>
          <p:nvPr/>
        </p:nvSpPr>
        <p:spPr bwMode="auto">
          <a:xfrm>
            <a:off x="785813" y="5715000"/>
            <a:ext cx="228600" cy="642938"/>
          </a:xfrm>
          <a:prstGeom prst="leftBrace">
            <a:avLst>
              <a:gd name="adj1" fmla="val 60013"/>
              <a:gd name="adj2" fmla="val 50000"/>
            </a:avLst>
          </a:prstGeom>
          <a:noFill/>
          <a:ln w="34925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94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7B50BE5-FEAA-4EDB-BFD5-2BA9D49EED38}" type="slidenum">
              <a:rPr lang="en-US" altLang="zh-CN" b="0">
                <a:solidFill>
                  <a:srgbClr val="FF00FF"/>
                </a:solidFill>
              </a:rPr>
              <a:t>11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36" name="右弧形箭头 35"/>
          <p:cNvSpPr>
            <a:spLocks noChangeArrowheads="1"/>
          </p:cNvSpPr>
          <p:nvPr/>
        </p:nvSpPr>
        <p:spPr bwMode="auto">
          <a:xfrm>
            <a:off x="7286625" y="4143375"/>
            <a:ext cx="571500" cy="11430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7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67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7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7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6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6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6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6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6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67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67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build="p" autoUpdateAnimBg="0"/>
      <p:bldP spid="67587" grpId="0" build="p" autoUpdateAnimBg="0"/>
      <p:bldP spid="67590" grpId="0" autoUpdateAnimBg="0"/>
      <p:bldP spid="67591" grpId="0" autoUpdateAnimBg="0"/>
      <p:bldP spid="67592" grpId="0" autoUpdateAnimBg="0"/>
      <p:bldP spid="67593" grpId="0" autoUpdateAnimBg="0"/>
      <p:bldP spid="67598" grpId="0" build="p" autoUpdateAnimBg="0" advAuto="0"/>
      <p:bldP spid="67602" grpId="0" autoUpdateAnimBg="0"/>
      <p:bldP spid="67604" grpId="0" build="p" autoUpdateAnimBg="0" advAuto="0"/>
      <p:bldP spid="67607" grpId="0" build="p" autoUpdateAnimBg="0"/>
      <p:bldP spid="67608" grpId="0" animBg="1"/>
      <p:bldP spid="67609" grpId="0" autoUpdateAnimBg="0"/>
      <p:bldP spid="67610" grpId="0" autoUpdateAnimBg="0"/>
      <p:bldP spid="67613" grpId="0" animBg="1"/>
      <p:bldP spid="67616" grpId="0" build="p" autoUpdateAnimBg="0"/>
      <p:bldP spid="67617" grpId="0" build="p" autoUpdateAnimBg="0"/>
      <p:bldP spid="67618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>
            <a:grpSpLocks noChangeAspect="1"/>
          </p:cNvGrpSpPr>
          <p:nvPr/>
        </p:nvGrpSpPr>
        <p:grpSpPr bwMode="auto">
          <a:xfrm>
            <a:off x="4643438" y="95250"/>
            <a:ext cx="4197350" cy="2333625"/>
            <a:chOff x="3146" y="944"/>
            <a:chExt cx="2806" cy="1560"/>
          </a:xfrm>
        </p:grpSpPr>
        <p:sp>
          <p:nvSpPr>
            <p:cNvPr id="16434" name="Rectangle 18"/>
            <p:cNvSpPr>
              <a:spLocks noChangeArrowheads="1"/>
            </p:cNvSpPr>
            <p:nvPr/>
          </p:nvSpPr>
          <p:spPr bwMode="auto">
            <a:xfrm>
              <a:off x="4370" y="1968"/>
              <a:ext cx="303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i="1">
                  <a:solidFill>
                    <a:schemeClr val="bg1"/>
                  </a:solidFill>
                </a:rPr>
                <a:t>x</a:t>
              </a:r>
              <a:r>
                <a:rPr lang="en-US" altLang="zh-CN" sz="2200" i="1" baseline="-25000">
                  <a:solidFill>
                    <a:schemeClr val="bg1"/>
                  </a:solidFill>
                </a:rPr>
                <a:t>2</a:t>
              </a:r>
              <a:endParaRPr lang="en-US" altLang="zh-CN" sz="2200" i="1"/>
            </a:p>
          </p:txBody>
        </p:sp>
        <p:sp>
          <p:nvSpPr>
            <p:cNvPr id="16435" name="Rectangle 19"/>
            <p:cNvSpPr>
              <a:spLocks noChangeArrowheads="1"/>
            </p:cNvSpPr>
            <p:nvPr/>
          </p:nvSpPr>
          <p:spPr bwMode="auto">
            <a:xfrm>
              <a:off x="5589" y="1616"/>
              <a:ext cx="358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i="1">
                  <a:solidFill>
                    <a:schemeClr val="bg1"/>
                  </a:solidFill>
                </a:rPr>
                <a:t>T</a:t>
              </a:r>
            </a:p>
          </p:txBody>
        </p:sp>
        <p:sp>
          <p:nvSpPr>
            <p:cNvPr id="16436" name="Freeform 20"/>
            <p:cNvSpPr/>
            <p:nvPr/>
          </p:nvSpPr>
          <p:spPr bwMode="auto">
            <a:xfrm>
              <a:off x="3498" y="1293"/>
              <a:ext cx="1038" cy="56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01"/>
                  </a:moveTo>
                  <a:lnTo>
                    <a:pt x="225" y="18502"/>
                  </a:lnTo>
                  <a:lnTo>
                    <a:pt x="437" y="17889"/>
                  </a:lnTo>
                  <a:lnTo>
                    <a:pt x="662" y="17290"/>
                  </a:lnTo>
                  <a:lnTo>
                    <a:pt x="887" y="16662"/>
                  </a:lnTo>
                  <a:lnTo>
                    <a:pt x="1099" y="16077"/>
                  </a:lnTo>
                  <a:lnTo>
                    <a:pt x="1325" y="15492"/>
                  </a:lnTo>
                  <a:lnTo>
                    <a:pt x="1550" y="14893"/>
                  </a:lnTo>
                  <a:lnTo>
                    <a:pt x="1762" y="14308"/>
                  </a:lnTo>
                  <a:lnTo>
                    <a:pt x="1987" y="13738"/>
                  </a:lnTo>
                  <a:lnTo>
                    <a:pt x="2225" y="13153"/>
                  </a:lnTo>
                  <a:lnTo>
                    <a:pt x="2450" y="12582"/>
                  </a:lnTo>
                  <a:lnTo>
                    <a:pt x="2675" y="12026"/>
                  </a:lnTo>
                  <a:lnTo>
                    <a:pt x="2887" y="11455"/>
                  </a:lnTo>
                  <a:lnTo>
                    <a:pt x="3113" y="10884"/>
                  </a:lnTo>
                  <a:lnTo>
                    <a:pt x="3338" y="10342"/>
                  </a:lnTo>
                  <a:lnTo>
                    <a:pt x="3550" y="9815"/>
                  </a:lnTo>
                  <a:lnTo>
                    <a:pt x="3775" y="9287"/>
                  </a:lnTo>
                  <a:lnTo>
                    <a:pt x="4000" y="8759"/>
                  </a:lnTo>
                  <a:lnTo>
                    <a:pt x="4225" y="8231"/>
                  </a:lnTo>
                  <a:lnTo>
                    <a:pt x="4437" y="7732"/>
                  </a:lnTo>
                  <a:lnTo>
                    <a:pt x="4662" y="7247"/>
                  </a:lnTo>
                  <a:lnTo>
                    <a:pt x="4887" y="6805"/>
                  </a:lnTo>
                  <a:lnTo>
                    <a:pt x="5113" y="6334"/>
                  </a:lnTo>
                  <a:lnTo>
                    <a:pt x="5338" y="5892"/>
                  </a:lnTo>
                  <a:lnTo>
                    <a:pt x="5550" y="5421"/>
                  </a:lnTo>
                  <a:lnTo>
                    <a:pt x="5762" y="4993"/>
                  </a:lnTo>
                  <a:lnTo>
                    <a:pt x="5974" y="4579"/>
                  </a:lnTo>
                  <a:lnTo>
                    <a:pt x="6199" y="4165"/>
                  </a:lnTo>
                  <a:lnTo>
                    <a:pt x="6424" y="3780"/>
                  </a:lnTo>
                  <a:lnTo>
                    <a:pt x="6636" y="3409"/>
                  </a:lnTo>
                  <a:lnTo>
                    <a:pt x="6861" y="3067"/>
                  </a:lnTo>
                  <a:lnTo>
                    <a:pt x="7086" y="2725"/>
                  </a:lnTo>
                  <a:lnTo>
                    <a:pt x="7285" y="2411"/>
                  </a:lnTo>
                  <a:lnTo>
                    <a:pt x="7510" y="2097"/>
                  </a:lnTo>
                  <a:lnTo>
                    <a:pt x="7735" y="1826"/>
                  </a:lnTo>
                  <a:lnTo>
                    <a:pt x="7960" y="1555"/>
                  </a:lnTo>
                  <a:lnTo>
                    <a:pt x="8159" y="1298"/>
                  </a:lnTo>
                  <a:lnTo>
                    <a:pt x="8371" y="1056"/>
                  </a:lnTo>
                  <a:lnTo>
                    <a:pt x="8583" y="842"/>
                  </a:lnTo>
                  <a:lnTo>
                    <a:pt x="8808" y="670"/>
                  </a:lnTo>
                  <a:lnTo>
                    <a:pt x="9020" y="499"/>
                  </a:lnTo>
                  <a:lnTo>
                    <a:pt x="9232" y="385"/>
                  </a:lnTo>
                  <a:lnTo>
                    <a:pt x="9444" y="243"/>
                  </a:lnTo>
                  <a:lnTo>
                    <a:pt x="9642" y="128"/>
                  </a:lnTo>
                  <a:lnTo>
                    <a:pt x="9854" y="86"/>
                  </a:lnTo>
                  <a:lnTo>
                    <a:pt x="10079" y="14"/>
                  </a:lnTo>
                  <a:lnTo>
                    <a:pt x="10291" y="0"/>
                  </a:lnTo>
                  <a:lnTo>
                    <a:pt x="10503" y="14"/>
                  </a:lnTo>
                  <a:lnTo>
                    <a:pt x="10702" y="14"/>
                  </a:lnTo>
                  <a:lnTo>
                    <a:pt x="10914" y="86"/>
                  </a:lnTo>
                  <a:lnTo>
                    <a:pt x="11126" y="214"/>
                  </a:lnTo>
                  <a:lnTo>
                    <a:pt x="11338" y="328"/>
                  </a:lnTo>
                  <a:lnTo>
                    <a:pt x="11563" y="514"/>
                  </a:lnTo>
                  <a:lnTo>
                    <a:pt x="11788" y="756"/>
                  </a:lnTo>
                  <a:lnTo>
                    <a:pt x="12000" y="984"/>
                  </a:lnTo>
                  <a:lnTo>
                    <a:pt x="12225" y="1255"/>
                  </a:lnTo>
                  <a:lnTo>
                    <a:pt x="12450" y="1555"/>
                  </a:lnTo>
                  <a:lnTo>
                    <a:pt x="12689" y="1912"/>
                  </a:lnTo>
                  <a:lnTo>
                    <a:pt x="12914" y="2268"/>
                  </a:lnTo>
                  <a:lnTo>
                    <a:pt x="13152" y="2696"/>
                  </a:lnTo>
                  <a:lnTo>
                    <a:pt x="13377" y="3096"/>
                  </a:lnTo>
                  <a:lnTo>
                    <a:pt x="13616" y="3524"/>
                  </a:lnTo>
                  <a:lnTo>
                    <a:pt x="13841" y="3980"/>
                  </a:lnTo>
                  <a:lnTo>
                    <a:pt x="14066" y="4451"/>
                  </a:lnTo>
                  <a:lnTo>
                    <a:pt x="14291" y="4936"/>
                  </a:lnTo>
                  <a:lnTo>
                    <a:pt x="14530" y="5464"/>
                  </a:lnTo>
                  <a:lnTo>
                    <a:pt x="14755" y="6006"/>
                  </a:lnTo>
                  <a:lnTo>
                    <a:pt x="14993" y="6519"/>
                  </a:lnTo>
                  <a:lnTo>
                    <a:pt x="15219" y="7061"/>
                  </a:lnTo>
                  <a:lnTo>
                    <a:pt x="15444" y="7632"/>
                  </a:lnTo>
                  <a:lnTo>
                    <a:pt x="15682" y="8188"/>
                  </a:lnTo>
                  <a:lnTo>
                    <a:pt x="15894" y="8773"/>
                  </a:lnTo>
                  <a:lnTo>
                    <a:pt x="16106" y="9358"/>
                  </a:lnTo>
                  <a:lnTo>
                    <a:pt x="16318" y="9914"/>
                  </a:lnTo>
                  <a:lnTo>
                    <a:pt x="16530" y="10471"/>
                  </a:lnTo>
                  <a:lnTo>
                    <a:pt x="16742" y="11041"/>
                  </a:lnTo>
                  <a:lnTo>
                    <a:pt x="16954" y="11626"/>
                  </a:lnTo>
                  <a:lnTo>
                    <a:pt x="17152" y="12183"/>
                  </a:lnTo>
                  <a:lnTo>
                    <a:pt x="17351" y="12753"/>
                  </a:lnTo>
                  <a:lnTo>
                    <a:pt x="17550" y="13295"/>
                  </a:lnTo>
                  <a:lnTo>
                    <a:pt x="17735" y="13852"/>
                  </a:lnTo>
                  <a:lnTo>
                    <a:pt x="17934" y="14394"/>
                  </a:lnTo>
                  <a:lnTo>
                    <a:pt x="18119" y="14936"/>
                  </a:lnTo>
                  <a:lnTo>
                    <a:pt x="18291" y="15435"/>
                  </a:lnTo>
                  <a:lnTo>
                    <a:pt x="18464" y="15949"/>
                  </a:lnTo>
                  <a:lnTo>
                    <a:pt x="18636" y="16419"/>
                  </a:lnTo>
                  <a:lnTo>
                    <a:pt x="18795" y="16862"/>
                  </a:lnTo>
                  <a:lnTo>
                    <a:pt x="18954" y="17332"/>
                  </a:lnTo>
                  <a:lnTo>
                    <a:pt x="19099" y="17746"/>
                  </a:lnTo>
                  <a:lnTo>
                    <a:pt x="19258" y="18146"/>
                  </a:lnTo>
                  <a:lnTo>
                    <a:pt x="19391" y="18545"/>
                  </a:lnTo>
                  <a:lnTo>
                    <a:pt x="19523" y="18887"/>
                  </a:lnTo>
                  <a:lnTo>
                    <a:pt x="19642" y="19187"/>
                  </a:lnTo>
                  <a:lnTo>
                    <a:pt x="19775" y="19515"/>
                  </a:lnTo>
                  <a:lnTo>
                    <a:pt x="19881" y="19772"/>
                  </a:lnTo>
                  <a:lnTo>
                    <a:pt x="19987" y="19986"/>
                  </a:lnTo>
                </a:path>
              </a:pathLst>
            </a:custGeom>
            <a:noFill/>
            <a:ln w="38100">
              <a:solidFill>
                <a:srgbClr val="FF99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7" name="Freeform 21"/>
            <p:cNvSpPr/>
            <p:nvPr/>
          </p:nvSpPr>
          <p:spPr bwMode="auto">
            <a:xfrm>
              <a:off x="4525" y="1833"/>
              <a:ext cx="1103" cy="54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99" y="620"/>
                  </a:lnTo>
                  <a:lnTo>
                    <a:pt x="399" y="1255"/>
                  </a:lnTo>
                  <a:lnTo>
                    <a:pt x="598" y="1875"/>
                  </a:lnTo>
                  <a:lnTo>
                    <a:pt x="798" y="2524"/>
                  </a:lnTo>
                  <a:lnTo>
                    <a:pt x="984" y="3144"/>
                  </a:lnTo>
                  <a:lnTo>
                    <a:pt x="1184" y="3734"/>
                  </a:lnTo>
                  <a:lnTo>
                    <a:pt x="1383" y="4354"/>
                  </a:lnTo>
                  <a:lnTo>
                    <a:pt x="1583" y="4959"/>
                  </a:lnTo>
                  <a:lnTo>
                    <a:pt x="1782" y="5565"/>
                  </a:lnTo>
                  <a:lnTo>
                    <a:pt x="1981" y="6155"/>
                  </a:lnTo>
                  <a:lnTo>
                    <a:pt x="2181" y="6745"/>
                  </a:lnTo>
                  <a:lnTo>
                    <a:pt x="2380" y="7292"/>
                  </a:lnTo>
                  <a:lnTo>
                    <a:pt x="2567" y="7897"/>
                  </a:lnTo>
                  <a:lnTo>
                    <a:pt x="2766" y="8472"/>
                  </a:lnTo>
                  <a:lnTo>
                    <a:pt x="2966" y="9033"/>
                  </a:lnTo>
                  <a:lnTo>
                    <a:pt x="3165" y="9594"/>
                  </a:lnTo>
                  <a:lnTo>
                    <a:pt x="3364" y="10140"/>
                  </a:lnTo>
                  <a:lnTo>
                    <a:pt x="3564" y="10672"/>
                  </a:lnTo>
                  <a:lnTo>
                    <a:pt x="3763" y="11203"/>
                  </a:lnTo>
                  <a:lnTo>
                    <a:pt x="3963" y="11720"/>
                  </a:lnTo>
                  <a:lnTo>
                    <a:pt x="4162" y="12236"/>
                  </a:lnTo>
                  <a:lnTo>
                    <a:pt x="4361" y="12708"/>
                  </a:lnTo>
                  <a:lnTo>
                    <a:pt x="4573" y="13196"/>
                  </a:lnTo>
                  <a:lnTo>
                    <a:pt x="4785" y="13653"/>
                  </a:lnTo>
                  <a:lnTo>
                    <a:pt x="4972" y="14140"/>
                  </a:lnTo>
                  <a:lnTo>
                    <a:pt x="5171" y="14583"/>
                  </a:lnTo>
                  <a:lnTo>
                    <a:pt x="5371" y="15011"/>
                  </a:lnTo>
                  <a:lnTo>
                    <a:pt x="5570" y="15439"/>
                  </a:lnTo>
                  <a:lnTo>
                    <a:pt x="5782" y="15838"/>
                  </a:lnTo>
                  <a:lnTo>
                    <a:pt x="5981" y="16207"/>
                  </a:lnTo>
                  <a:lnTo>
                    <a:pt x="6181" y="16605"/>
                  </a:lnTo>
                  <a:lnTo>
                    <a:pt x="6380" y="16959"/>
                  </a:lnTo>
                  <a:lnTo>
                    <a:pt x="6579" y="17299"/>
                  </a:lnTo>
                  <a:lnTo>
                    <a:pt x="6791" y="17609"/>
                  </a:lnTo>
                  <a:lnTo>
                    <a:pt x="6991" y="17919"/>
                  </a:lnTo>
                  <a:lnTo>
                    <a:pt x="7202" y="18185"/>
                  </a:lnTo>
                  <a:lnTo>
                    <a:pt x="7402" y="18480"/>
                  </a:lnTo>
                  <a:lnTo>
                    <a:pt x="7614" y="18731"/>
                  </a:lnTo>
                  <a:lnTo>
                    <a:pt x="7813" y="18952"/>
                  </a:lnTo>
                  <a:lnTo>
                    <a:pt x="8025" y="19159"/>
                  </a:lnTo>
                  <a:lnTo>
                    <a:pt x="8237" y="19336"/>
                  </a:lnTo>
                  <a:lnTo>
                    <a:pt x="8436" y="19483"/>
                  </a:lnTo>
                  <a:lnTo>
                    <a:pt x="8648" y="19646"/>
                  </a:lnTo>
                  <a:lnTo>
                    <a:pt x="8860" y="19764"/>
                  </a:lnTo>
                  <a:lnTo>
                    <a:pt x="9059" y="19867"/>
                  </a:lnTo>
                  <a:lnTo>
                    <a:pt x="9271" y="19911"/>
                  </a:lnTo>
                  <a:lnTo>
                    <a:pt x="9483" y="19956"/>
                  </a:lnTo>
                  <a:lnTo>
                    <a:pt x="9695" y="19956"/>
                  </a:lnTo>
                  <a:lnTo>
                    <a:pt x="9907" y="19985"/>
                  </a:lnTo>
                  <a:lnTo>
                    <a:pt x="10118" y="19941"/>
                  </a:lnTo>
                  <a:lnTo>
                    <a:pt x="10330" y="19823"/>
                  </a:lnTo>
                  <a:lnTo>
                    <a:pt x="10555" y="19720"/>
                  </a:lnTo>
                  <a:lnTo>
                    <a:pt x="10791" y="19557"/>
                  </a:lnTo>
                  <a:lnTo>
                    <a:pt x="11016" y="19336"/>
                  </a:lnTo>
                  <a:lnTo>
                    <a:pt x="11240" y="19129"/>
                  </a:lnTo>
                  <a:lnTo>
                    <a:pt x="11477" y="18849"/>
                  </a:lnTo>
                  <a:lnTo>
                    <a:pt x="11713" y="18554"/>
                  </a:lnTo>
                  <a:lnTo>
                    <a:pt x="11963" y="18244"/>
                  </a:lnTo>
                  <a:lnTo>
                    <a:pt x="12212" y="17904"/>
                  </a:lnTo>
                  <a:lnTo>
                    <a:pt x="12461" y="17520"/>
                  </a:lnTo>
                  <a:lnTo>
                    <a:pt x="12710" y="17137"/>
                  </a:lnTo>
                  <a:lnTo>
                    <a:pt x="12960" y="16738"/>
                  </a:lnTo>
                  <a:lnTo>
                    <a:pt x="13196" y="16280"/>
                  </a:lnTo>
                  <a:lnTo>
                    <a:pt x="13445" y="15823"/>
                  </a:lnTo>
                  <a:lnTo>
                    <a:pt x="13707" y="15351"/>
                  </a:lnTo>
                  <a:lnTo>
                    <a:pt x="13956" y="14834"/>
                  </a:lnTo>
                  <a:lnTo>
                    <a:pt x="14206" y="14362"/>
                  </a:lnTo>
                  <a:lnTo>
                    <a:pt x="14442" y="13830"/>
                  </a:lnTo>
                  <a:lnTo>
                    <a:pt x="14692" y="13314"/>
                  </a:lnTo>
                  <a:lnTo>
                    <a:pt x="14953" y="12768"/>
                  </a:lnTo>
                  <a:lnTo>
                    <a:pt x="15202" y="12236"/>
                  </a:lnTo>
                  <a:lnTo>
                    <a:pt x="15452" y="11661"/>
                  </a:lnTo>
                  <a:lnTo>
                    <a:pt x="15688" y="11114"/>
                  </a:lnTo>
                  <a:lnTo>
                    <a:pt x="15925" y="10583"/>
                  </a:lnTo>
                  <a:lnTo>
                    <a:pt x="16150" y="10037"/>
                  </a:lnTo>
                  <a:lnTo>
                    <a:pt x="16386" y="9461"/>
                  </a:lnTo>
                  <a:lnTo>
                    <a:pt x="16611" y="8900"/>
                  </a:lnTo>
                  <a:lnTo>
                    <a:pt x="16847" y="8369"/>
                  </a:lnTo>
                  <a:lnTo>
                    <a:pt x="17072" y="7823"/>
                  </a:lnTo>
                  <a:lnTo>
                    <a:pt x="17283" y="7292"/>
                  </a:lnTo>
                  <a:lnTo>
                    <a:pt x="17495" y="6760"/>
                  </a:lnTo>
                  <a:lnTo>
                    <a:pt x="17720" y="6244"/>
                  </a:lnTo>
                  <a:lnTo>
                    <a:pt x="17919" y="5727"/>
                  </a:lnTo>
                  <a:lnTo>
                    <a:pt x="18118" y="5210"/>
                  </a:lnTo>
                  <a:lnTo>
                    <a:pt x="18305" y="4738"/>
                  </a:lnTo>
                  <a:lnTo>
                    <a:pt x="18492" y="4295"/>
                  </a:lnTo>
                  <a:lnTo>
                    <a:pt x="18679" y="3852"/>
                  </a:lnTo>
                  <a:lnTo>
                    <a:pt x="18854" y="3395"/>
                  </a:lnTo>
                  <a:lnTo>
                    <a:pt x="19016" y="2982"/>
                  </a:lnTo>
                  <a:lnTo>
                    <a:pt x="19178" y="2613"/>
                  </a:lnTo>
                  <a:lnTo>
                    <a:pt x="19340" y="2244"/>
                  </a:lnTo>
                  <a:lnTo>
                    <a:pt x="19489" y="1904"/>
                  </a:lnTo>
                  <a:lnTo>
                    <a:pt x="19614" y="1609"/>
                  </a:lnTo>
                  <a:lnTo>
                    <a:pt x="19751" y="1314"/>
                  </a:lnTo>
                  <a:lnTo>
                    <a:pt x="19875" y="1048"/>
                  </a:lnTo>
                  <a:lnTo>
                    <a:pt x="19988" y="841"/>
                  </a:lnTo>
                </a:path>
              </a:pathLst>
            </a:custGeom>
            <a:noFill/>
            <a:ln w="38100">
              <a:solidFill>
                <a:srgbClr val="FF99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8" name="Rectangle 22"/>
            <p:cNvSpPr>
              <a:spLocks noChangeArrowheads="1"/>
            </p:cNvSpPr>
            <p:nvPr/>
          </p:nvSpPr>
          <p:spPr bwMode="auto">
            <a:xfrm>
              <a:off x="3352" y="944"/>
              <a:ext cx="30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i="1">
                  <a:solidFill>
                    <a:schemeClr val="bg1"/>
                  </a:solidFill>
                </a:rPr>
                <a:t>x</a:t>
              </a:r>
              <a:endParaRPr lang="en-US" altLang="zh-CN" sz="2200" i="1"/>
            </a:p>
          </p:txBody>
        </p:sp>
        <p:sp>
          <p:nvSpPr>
            <p:cNvPr id="16439" name="Rectangle 23"/>
            <p:cNvSpPr>
              <a:spLocks noChangeArrowheads="1"/>
            </p:cNvSpPr>
            <p:nvPr/>
          </p:nvSpPr>
          <p:spPr bwMode="auto">
            <a:xfrm>
              <a:off x="3311" y="1744"/>
              <a:ext cx="31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>
                  <a:solidFill>
                    <a:schemeClr val="bg1"/>
                  </a:solidFill>
                </a:rPr>
                <a:t>o</a:t>
              </a:r>
            </a:p>
          </p:txBody>
        </p:sp>
        <p:sp>
          <p:nvSpPr>
            <p:cNvPr id="16440" name="Freeform 24"/>
            <p:cNvSpPr/>
            <p:nvPr/>
          </p:nvSpPr>
          <p:spPr bwMode="auto">
            <a:xfrm>
              <a:off x="3489" y="1828"/>
              <a:ext cx="1038" cy="2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0"/>
                  </a:moveTo>
                  <a:lnTo>
                    <a:pt x="225" y="1489"/>
                  </a:lnTo>
                  <a:lnTo>
                    <a:pt x="437" y="2098"/>
                  </a:lnTo>
                  <a:lnTo>
                    <a:pt x="662" y="2707"/>
                  </a:lnTo>
                  <a:lnTo>
                    <a:pt x="887" y="3283"/>
                  </a:lnTo>
                  <a:lnTo>
                    <a:pt x="1099" y="3892"/>
                  </a:lnTo>
                  <a:lnTo>
                    <a:pt x="1325" y="4501"/>
                  </a:lnTo>
                  <a:lnTo>
                    <a:pt x="1550" y="5076"/>
                  </a:lnTo>
                  <a:lnTo>
                    <a:pt x="1762" y="5685"/>
                  </a:lnTo>
                  <a:lnTo>
                    <a:pt x="1987" y="6261"/>
                  </a:lnTo>
                  <a:lnTo>
                    <a:pt x="2225" y="6802"/>
                  </a:lnTo>
                  <a:lnTo>
                    <a:pt x="2450" y="7377"/>
                  </a:lnTo>
                  <a:lnTo>
                    <a:pt x="2675" y="7953"/>
                  </a:lnTo>
                  <a:lnTo>
                    <a:pt x="2887" y="8494"/>
                  </a:lnTo>
                  <a:lnTo>
                    <a:pt x="3113" y="9103"/>
                  </a:lnTo>
                  <a:lnTo>
                    <a:pt x="3338" y="9611"/>
                  </a:lnTo>
                  <a:lnTo>
                    <a:pt x="3550" y="10186"/>
                  </a:lnTo>
                  <a:lnTo>
                    <a:pt x="3775" y="10694"/>
                  </a:lnTo>
                  <a:lnTo>
                    <a:pt x="4000" y="11235"/>
                  </a:lnTo>
                  <a:lnTo>
                    <a:pt x="4225" y="11743"/>
                  </a:lnTo>
                  <a:lnTo>
                    <a:pt x="4437" y="12250"/>
                  </a:lnTo>
                  <a:lnTo>
                    <a:pt x="4662" y="12724"/>
                  </a:lnTo>
                  <a:lnTo>
                    <a:pt x="4887" y="13164"/>
                  </a:lnTo>
                  <a:lnTo>
                    <a:pt x="5113" y="13638"/>
                  </a:lnTo>
                  <a:lnTo>
                    <a:pt x="5338" y="14078"/>
                  </a:lnTo>
                  <a:lnTo>
                    <a:pt x="5550" y="14552"/>
                  </a:lnTo>
                  <a:lnTo>
                    <a:pt x="5762" y="14992"/>
                  </a:lnTo>
                  <a:lnTo>
                    <a:pt x="5974" y="15398"/>
                  </a:lnTo>
                  <a:lnTo>
                    <a:pt x="6199" y="15804"/>
                  </a:lnTo>
                  <a:lnTo>
                    <a:pt x="6424" y="16210"/>
                  </a:lnTo>
                  <a:lnTo>
                    <a:pt x="6636" y="16548"/>
                  </a:lnTo>
                  <a:lnTo>
                    <a:pt x="6861" y="16920"/>
                  </a:lnTo>
                  <a:lnTo>
                    <a:pt x="7086" y="17259"/>
                  </a:lnTo>
                  <a:lnTo>
                    <a:pt x="7285" y="17530"/>
                  </a:lnTo>
                  <a:lnTo>
                    <a:pt x="7510" y="17868"/>
                  </a:lnTo>
                  <a:lnTo>
                    <a:pt x="7735" y="18173"/>
                  </a:lnTo>
                  <a:lnTo>
                    <a:pt x="7960" y="18376"/>
                  </a:lnTo>
                  <a:lnTo>
                    <a:pt x="8159" y="18646"/>
                  </a:lnTo>
                  <a:lnTo>
                    <a:pt x="8371" y="18883"/>
                  </a:lnTo>
                  <a:lnTo>
                    <a:pt x="8583" y="19120"/>
                  </a:lnTo>
                  <a:lnTo>
                    <a:pt x="8808" y="19289"/>
                  </a:lnTo>
                  <a:lnTo>
                    <a:pt x="9020" y="19459"/>
                  </a:lnTo>
                  <a:lnTo>
                    <a:pt x="9232" y="19594"/>
                  </a:lnTo>
                  <a:lnTo>
                    <a:pt x="9444" y="19695"/>
                  </a:lnTo>
                  <a:lnTo>
                    <a:pt x="9642" y="19831"/>
                  </a:lnTo>
                  <a:lnTo>
                    <a:pt x="9854" y="19865"/>
                  </a:lnTo>
                  <a:lnTo>
                    <a:pt x="10079" y="19932"/>
                  </a:lnTo>
                  <a:lnTo>
                    <a:pt x="10291" y="19966"/>
                  </a:lnTo>
                  <a:lnTo>
                    <a:pt x="10503" y="19932"/>
                  </a:lnTo>
                  <a:lnTo>
                    <a:pt x="10702" y="19932"/>
                  </a:lnTo>
                  <a:lnTo>
                    <a:pt x="10914" y="19865"/>
                  </a:lnTo>
                  <a:lnTo>
                    <a:pt x="11126" y="19763"/>
                  </a:lnTo>
                  <a:lnTo>
                    <a:pt x="11338" y="19662"/>
                  </a:lnTo>
                  <a:lnTo>
                    <a:pt x="11563" y="19425"/>
                  </a:lnTo>
                  <a:lnTo>
                    <a:pt x="11788" y="19222"/>
                  </a:lnTo>
                  <a:lnTo>
                    <a:pt x="12000" y="18985"/>
                  </a:lnTo>
                  <a:lnTo>
                    <a:pt x="12225" y="18714"/>
                  </a:lnTo>
                  <a:lnTo>
                    <a:pt x="12450" y="18376"/>
                  </a:lnTo>
                  <a:lnTo>
                    <a:pt x="12689" y="18071"/>
                  </a:lnTo>
                  <a:lnTo>
                    <a:pt x="12914" y="17699"/>
                  </a:lnTo>
                  <a:lnTo>
                    <a:pt x="13152" y="17259"/>
                  </a:lnTo>
                  <a:lnTo>
                    <a:pt x="13377" y="16887"/>
                  </a:lnTo>
                  <a:lnTo>
                    <a:pt x="13616" y="16447"/>
                  </a:lnTo>
                  <a:lnTo>
                    <a:pt x="13841" y="16007"/>
                  </a:lnTo>
                  <a:lnTo>
                    <a:pt x="14066" y="15533"/>
                  </a:lnTo>
                  <a:lnTo>
                    <a:pt x="14291" y="15025"/>
                  </a:lnTo>
                  <a:lnTo>
                    <a:pt x="14530" y="14518"/>
                  </a:lnTo>
                  <a:lnTo>
                    <a:pt x="14755" y="13976"/>
                  </a:lnTo>
                  <a:lnTo>
                    <a:pt x="14993" y="13469"/>
                  </a:lnTo>
                  <a:lnTo>
                    <a:pt x="15219" y="12927"/>
                  </a:lnTo>
                  <a:lnTo>
                    <a:pt x="15444" y="12352"/>
                  </a:lnTo>
                  <a:lnTo>
                    <a:pt x="15682" y="11777"/>
                  </a:lnTo>
                  <a:lnTo>
                    <a:pt x="15894" y="11201"/>
                  </a:lnTo>
                  <a:lnTo>
                    <a:pt x="16106" y="10626"/>
                  </a:lnTo>
                  <a:lnTo>
                    <a:pt x="16318" y="10051"/>
                  </a:lnTo>
                  <a:lnTo>
                    <a:pt x="16530" y="9509"/>
                  </a:lnTo>
                  <a:lnTo>
                    <a:pt x="16742" y="8934"/>
                  </a:lnTo>
                  <a:lnTo>
                    <a:pt x="16954" y="8325"/>
                  </a:lnTo>
                  <a:lnTo>
                    <a:pt x="17152" y="7783"/>
                  </a:lnTo>
                  <a:lnTo>
                    <a:pt x="17351" y="7242"/>
                  </a:lnTo>
                  <a:lnTo>
                    <a:pt x="17550" y="6667"/>
                  </a:lnTo>
                  <a:lnTo>
                    <a:pt x="17735" y="6125"/>
                  </a:lnTo>
                  <a:lnTo>
                    <a:pt x="17934" y="5584"/>
                  </a:lnTo>
                  <a:lnTo>
                    <a:pt x="18119" y="5042"/>
                  </a:lnTo>
                  <a:lnTo>
                    <a:pt x="18291" y="4535"/>
                  </a:lnTo>
                  <a:lnTo>
                    <a:pt x="18464" y="4061"/>
                  </a:lnTo>
                  <a:lnTo>
                    <a:pt x="18636" y="3553"/>
                  </a:lnTo>
                  <a:lnTo>
                    <a:pt x="18795" y="3113"/>
                  </a:lnTo>
                  <a:lnTo>
                    <a:pt x="18954" y="2640"/>
                  </a:lnTo>
                  <a:lnTo>
                    <a:pt x="19099" y="2234"/>
                  </a:lnTo>
                  <a:lnTo>
                    <a:pt x="19258" y="1827"/>
                  </a:lnTo>
                  <a:lnTo>
                    <a:pt x="19391" y="1455"/>
                  </a:lnTo>
                  <a:lnTo>
                    <a:pt x="19523" y="1083"/>
                  </a:lnTo>
                  <a:lnTo>
                    <a:pt x="19642" y="778"/>
                  </a:lnTo>
                  <a:lnTo>
                    <a:pt x="19775" y="508"/>
                  </a:lnTo>
                  <a:lnTo>
                    <a:pt x="19881" y="203"/>
                  </a:lnTo>
                  <a:lnTo>
                    <a:pt x="19987" y="0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1" name="Freeform 25"/>
            <p:cNvSpPr/>
            <p:nvPr/>
          </p:nvSpPr>
          <p:spPr bwMode="auto">
            <a:xfrm>
              <a:off x="4516" y="1608"/>
              <a:ext cx="1103" cy="22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965"/>
                  </a:moveTo>
                  <a:lnTo>
                    <a:pt x="199" y="19335"/>
                  </a:lnTo>
                  <a:lnTo>
                    <a:pt x="399" y="18704"/>
                  </a:lnTo>
                  <a:lnTo>
                    <a:pt x="598" y="18109"/>
                  </a:lnTo>
                  <a:lnTo>
                    <a:pt x="798" y="17478"/>
                  </a:lnTo>
                  <a:lnTo>
                    <a:pt x="984" y="16813"/>
                  </a:lnTo>
                  <a:lnTo>
                    <a:pt x="1184" y="16217"/>
                  </a:lnTo>
                  <a:lnTo>
                    <a:pt x="1383" y="15622"/>
                  </a:lnTo>
                  <a:lnTo>
                    <a:pt x="1583" y="15026"/>
                  </a:lnTo>
                  <a:lnTo>
                    <a:pt x="1782" y="14396"/>
                  </a:lnTo>
                  <a:lnTo>
                    <a:pt x="1981" y="13800"/>
                  </a:lnTo>
                  <a:lnTo>
                    <a:pt x="2181" y="13240"/>
                  </a:lnTo>
                  <a:lnTo>
                    <a:pt x="2380" y="12680"/>
                  </a:lnTo>
                  <a:lnTo>
                    <a:pt x="2567" y="12084"/>
                  </a:lnTo>
                  <a:lnTo>
                    <a:pt x="2766" y="11489"/>
                  </a:lnTo>
                  <a:lnTo>
                    <a:pt x="2966" y="10928"/>
                  </a:lnTo>
                  <a:lnTo>
                    <a:pt x="3165" y="10368"/>
                  </a:lnTo>
                  <a:lnTo>
                    <a:pt x="3364" y="9842"/>
                  </a:lnTo>
                  <a:lnTo>
                    <a:pt x="3564" y="9317"/>
                  </a:lnTo>
                  <a:lnTo>
                    <a:pt x="3763" y="8757"/>
                  </a:lnTo>
                  <a:lnTo>
                    <a:pt x="3963" y="8231"/>
                  </a:lnTo>
                  <a:lnTo>
                    <a:pt x="4162" y="7741"/>
                  </a:lnTo>
                  <a:lnTo>
                    <a:pt x="4361" y="7250"/>
                  </a:lnTo>
                  <a:lnTo>
                    <a:pt x="4573" y="6795"/>
                  </a:lnTo>
                  <a:lnTo>
                    <a:pt x="4785" y="6305"/>
                  </a:lnTo>
                  <a:lnTo>
                    <a:pt x="4972" y="5849"/>
                  </a:lnTo>
                  <a:lnTo>
                    <a:pt x="5171" y="5394"/>
                  </a:lnTo>
                  <a:lnTo>
                    <a:pt x="5371" y="4939"/>
                  </a:lnTo>
                  <a:lnTo>
                    <a:pt x="5570" y="4553"/>
                  </a:lnTo>
                  <a:lnTo>
                    <a:pt x="5782" y="4133"/>
                  </a:lnTo>
                  <a:lnTo>
                    <a:pt x="5981" y="3783"/>
                  </a:lnTo>
                  <a:lnTo>
                    <a:pt x="6181" y="3363"/>
                  </a:lnTo>
                  <a:lnTo>
                    <a:pt x="6380" y="3012"/>
                  </a:lnTo>
                  <a:lnTo>
                    <a:pt x="6579" y="2697"/>
                  </a:lnTo>
                  <a:lnTo>
                    <a:pt x="6791" y="2347"/>
                  </a:lnTo>
                  <a:lnTo>
                    <a:pt x="6991" y="2032"/>
                  </a:lnTo>
                  <a:lnTo>
                    <a:pt x="7202" y="1786"/>
                  </a:lnTo>
                  <a:lnTo>
                    <a:pt x="7402" y="1506"/>
                  </a:lnTo>
                  <a:lnTo>
                    <a:pt x="7614" y="1226"/>
                  </a:lnTo>
                  <a:lnTo>
                    <a:pt x="7813" y="1016"/>
                  </a:lnTo>
                  <a:lnTo>
                    <a:pt x="8025" y="806"/>
                  </a:lnTo>
                  <a:lnTo>
                    <a:pt x="8237" y="630"/>
                  </a:lnTo>
                  <a:lnTo>
                    <a:pt x="8436" y="490"/>
                  </a:lnTo>
                  <a:lnTo>
                    <a:pt x="8648" y="315"/>
                  </a:lnTo>
                  <a:lnTo>
                    <a:pt x="8860" y="210"/>
                  </a:lnTo>
                  <a:lnTo>
                    <a:pt x="9059" y="105"/>
                  </a:lnTo>
                  <a:lnTo>
                    <a:pt x="9271" y="70"/>
                  </a:lnTo>
                  <a:lnTo>
                    <a:pt x="9483" y="0"/>
                  </a:lnTo>
                  <a:lnTo>
                    <a:pt x="9695" y="0"/>
                  </a:lnTo>
                  <a:lnTo>
                    <a:pt x="9907" y="0"/>
                  </a:lnTo>
                  <a:lnTo>
                    <a:pt x="10118" y="35"/>
                  </a:lnTo>
                  <a:lnTo>
                    <a:pt x="10330" y="140"/>
                  </a:lnTo>
                  <a:lnTo>
                    <a:pt x="10555" y="245"/>
                  </a:lnTo>
                  <a:lnTo>
                    <a:pt x="10791" y="420"/>
                  </a:lnTo>
                  <a:lnTo>
                    <a:pt x="11016" y="630"/>
                  </a:lnTo>
                  <a:lnTo>
                    <a:pt x="11240" y="841"/>
                  </a:lnTo>
                  <a:lnTo>
                    <a:pt x="11477" y="1121"/>
                  </a:lnTo>
                  <a:lnTo>
                    <a:pt x="11713" y="1401"/>
                  </a:lnTo>
                  <a:lnTo>
                    <a:pt x="11963" y="1716"/>
                  </a:lnTo>
                  <a:lnTo>
                    <a:pt x="12212" y="2067"/>
                  </a:lnTo>
                  <a:lnTo>
                    <a:pt x="12461" y="2452"/>
                  </a:lnTo>
                  <a:lnTo>
                    <a:pt x="12710" y="2837"/>
                  </a:lnTo>
                  <a:lnTo>
                    <a:pt x="12960" y="3222"/>
                  </a:lnTo>
                  <a:lnTo>
                    <a:pt x="13196" y="3713"/>
                  </a:lnTo>
                  <a:lnTo>
                    <a:pt x="13445" y="4168"/>
                  </a:lnTo>
                  <a:lnTo>
                    <a:pt x="13707" y="4623"/>
                  </a:lnTo>
                  <a:lnTo>
                    <a:pt x="13956" y="5114"/>
                  </a:lnTo>
                  <a:lnTo>
                    <a:pt x="14206" y="5604"/>
                  </a:lnTo>
                  <a:lnTo>
                    <a:pt x="14442" y="6165"/>
                  </a:lnTo>
                  <a:lnTo>
                    <a:pt x="14692" y="6655"/>
                  </a:lnTo>
                  <a:lnTo>
                    <a:pt x="14953" y="7215"/>
                  </a:lnTo>
                  <a:lnTo>
                    <a:pt x="15202" y="7741"/>
                  </a:lnTo>
                  <a:lnTo>
                    <a:pt x="15452" y="8336"/>
                  </a:lnTo>
                  <a:lnTo>
                    <a:pt x="15688" y="8862"/>
                  </a:lnTo>
                  <a:lnTo>
                    <a:pt x="15925" y="9387"/>
                  </a:lnTo>
                  <a:lnTo>
                    <a:pt x="16150" y="9912"/>
                  </a:lnTo>
                  <a:lnTo>
                    <a:pt x="16386" y="10508"/>
                  </a:lnTo>
                  <a:lnTo>
                    <a:pt x="16611" y="11068"/>
                  </a:lnTo>
                  <a:lnTo>
                    <a:pt x="16847" y="11594"/>
                  </a:lnTo>
                  <a:lnTo>
                    <a:pt x="17072" y="12154"/>
                  </a:lnTo>
                  <a:lnTo>
                    <a:pt x="17283" y="12680"/>
                  </a:lnTo>
                  <a:lnTo>
                    <a:pt x="17495" y="13205"/>
                  </a:lnTo>
                  <a:lnTo>
                    <a:pt x="17720" y="13730"/>
                  </a:lnTo>
                  <a:lnTo>
                    <a:pt x="17919" y="14221"/>
                  </a:lnTo>
                  <a:lnTo>
                    <a:pt x="18118" y="14746"/>
                  </a:lnTo>
                  <a:lnTo>
                    <a:pt x="18305" y="15236"/>
                  </a:lnTo>
                  <a:lnTo>
                    <a:pt x="18492" y="15692"/>
                  </a:lnTo>
                  <a:lnTo>
                    <a:pt x="18679" y="16112"/>
                  </a:lnTo>
                  <a:lnTo>
                    <a:pt x="18854" y="16567"/>
                  </a:lnTo>
                  <a:lnTo>
                    <a:pt x="19016" y="16988"/>
                  </a:lnTo>
                  <a:lnTo>
                    <a:pt x="19178" y="17338"/>
                  </a:lnTo>
                  <a:lnTo>
                    <a:pt x="19340" y="17688"/>
                  </a:lnTo>
                  <a:lnTo>
                    <a:pt x="19489" y="18074"/>
                  </a:lnTo>
                  <a:lnTo>
                    <a:pt x="19614" y="18319"/>
                  </a:lnTo>
                  <a:lnTo>
                    <a:pt x="19751" y="18634"/>
                  </a:lnTo>
                  <a:lnTo>
                    <a:pt x="19875" y="18914"/>
                  </a:lnTo>
                  <a:lnTo>
                    <a:pt x="19988" y="19124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2" name="Line 26"/>
            <p:cNvSpPr>
              <a:spLocks noChangeShapeType="1"/>
            </p:cNvSpPr>
            <p:nvPr/>
          </p:nvSpPr>
          <p:spPr bwMode="auto">
            <a:xfrm>
              <a:off x="3501" y="1829"/>
              <a:ext cx="227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3" name="Line 27"/>
            <p:cNvSpPr>
              <a:spLocks noChangeShapeType="1"/>
            </p:cNvSpPr>
            <p:nvPr/>
          </p:nvSpPr>
          <p:spPr bwMode="auto">
            <a:xfrm>
              <a:off x="3489" y="1160"/>
              <a:ext cx="2" cy="13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4" name="Line 28"/>
            <p:cNvSpPr>
              <a:spLocks noChangeShapeType="1"/>
            </p:cNvSpPr>
            <p:nvPr/>
          </p:nvSpPr>
          <p:spPr bwMode="auto">
            <a:xfrm>
              <a:off x="3517" y="1280"/>
              <a:ext cx="551" cy="0"/>
            </a:xfrm>
            <a:prstGeom prst="line">
              <a:avLst/>
            </a:prstGeom>
            <a:noFill/>
            <a:ln w="635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5" name="Line 29"/>
            <p:cNvSpPr>
              <a:spLocks noChangeShapeType="1"/>
            </p:cNvSpPr>
            <p:nvPr/>
          </p:nvSpPr>
          <p:spPr bwMode="auto">
            <a:xfrm>
              <a:off x="3517" y="1608"/>
              <a:ext cx="1555" cy="0"/>
            </a:xfrm>
            <a:prstGeom prst="line">
              <a:avLst/>
            </a:prstGeom>
            <a:noFill/>
            <a:ln w="635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6" name="Line 30"/>
            <p:cNvSpPr>
              <a:spLocks noChangeShapeType="1"/>
            </p:cNvSpPr>
            <p:nvPr/>
          </p:nvSpPr>
          <p:spPr bwMode="auto">
            <a:xfrm>
              <a:off x="3517" y="2368"/>
              <a:ext cx="1555" cy="0"/>
            </a:xfrm>
            <a:prstGeom prst="line">
              <a:avLst/>
            </a:prstGeom>
            <a:noFill/>
            <a:ln w="635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7" name="Rectangle 31"/>
            <p:cNvSpPr>
              <a:spLocks noChangeArrowheads="1"/>
            </p:cNvSpPr>
            <p:nvPr/>
          </p:nvSpPr>
          <p:spPr bwMode="auto">
            <a:xfrm>
              <a:off x="3255" y="1184"/>
              <a:ext cx="262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i="1">
                  <a:solidFill>
                    <a:schemeClr val="bg1"/>
                  </a:solidFill>
                </a:rPr>
                <a:t>A</a:t>
              </a:r>
              <a:r>
                <a:rPr lang="en-US" altLang="zh-CN" sz="2200" i="1" baseline="-25000">
                  <a:solidFill>
                    <a:schemeClr val="bg1"/>
                  </a:solidFill>
                </a:rPr>
                <a:t>1</a:t>
              </a:r>
              <a:endParaRPr lang="en-US" altLang="zh-CN" sz="2200" i="1"/>
            </a:p>
          </p:txBody>
        </p:sp>
        <p:sp>
          <p:nvSpPr>
            <p:cNvPr id="16448" name="Rectangle 32"/>
            <p:cNvSpPr>
              <a:spLocks noChangeArrowheads="1"/>
            </p:cNvSpPr>
            <p:nvPr/>
          </p:nvSpPr>
          <p:spPr bwMode="auto">
            <a:xfrm>
              <a:off x="3187" y="2288"/>
              <a:ext cx="757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i="1">
                  <a:solidFill>
                    <a:schemeClr val="bg1"/>
                  </a:solidFill>
                </a:rPr>
                <a:t>-A</a:t>
              </a:r>
              <a:r>
                <a:rPr lang="en-US" altLang="zh-CN" sz="2200" i="1" baseline="-25000">
                  <a:solidFill>
                    <a:schemeClr val="bg1"/>
                  </a:solidFill>
                </a:rPr>
                <a:t>1</a:t>
              </a:r>
              <a:endParaRPr lang="en-US" altLang="zh-CN" sz="2200" i="1"/>
            </a:p>
          </p:txBody>
        </p:sp>
        <p:sp>
          <p:nvSpPr>
            <p:cNvPr id="16449" name="Rectangle 33"/>
            <p:cNvSpPr>
              <a:spLocks noChangeArrowheads="1"/>
            </p:cNvSpPr>
            <p:nvPr/>
          </p:nvSpPr>
          <p:spPr bwMode="auto">
            <a:xfrm>
              <a:off x="3255" y="1512"/>
              <a:ext cx="30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i="1">
                  <a:solidFill>
                    <a:schemeClr val="bg1"/>
                  </a:solidFill>
                </a:rPr>
                <a:t>A</a:t>
              </a:r>
              <a:r>
                <a:rPr lang="en-US" altLang="zh-CN" sz="2200" i="1" baseline="-25000">
                  <a:solidFill>
                    <a:schemeClr val="bg1"/>
                  </a:solidFill>
                </a:rPr>
                <a:t>2</a:t>
              </a:r>
              <a:endParaRPr lang="en-US" altLang="zh-CN" sz="2200" i="1"/>
            </a:p>
          </p:txBody>
        </p:sp>
        <p:sp>
          <p:nvSpPr>
            <p:cNvPr id="16450" name="Rectangle 34"/>
            <p:cNvSpPr>
              <a:spLocks noChangeArrowheads="1"/>
            </p:cNvSpPr>
            <p:nvPr/>
          </p:nvSpPr>
          <p:spPr bwMode="auto">
            <a:xfrm>
              <a:off x="3146" y="1960"/>
              <a:ext cx="536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i="1">
                  <a:solidFill>
                    <a:schemeClr val="bg1"/>
                  </a:solidFill>
                </a:rPr>
                <a:t>- A</a:t>
              </a:r>
              <a:r>
                <a:rPr lang="en-US" altLang="zh-CN" sz="2200" i="1" baseline="-25000">
                  <a:solidFill>
                    <a:schemeClr val="bg1"/>
                  </a:solidFill>
                </a:rPr>
                <a:t>2</a:t>
              </a:r>
              <a:endParaRPr lang="en-US" altLang="zh-CN" sz="2200" i="1"/>
            </a:p>
          </p:txBody>
        </p:sp>
        <p:sp>
          <p:nvSpPr>
            <p:cNvPr id="16451" name="Rectangle 35"/>
            <p:cNvSpPr>
              <a:spLocks noChangeArrowheads="1"/>
            </p:cNvSpPr>
            <p:nvPr/>
          </p:nvSpPr>
          <p:spPr bwMode="auto">
            <a:xfrm>
              <a:off x="4342" y="1232"/>
              <a:ext cx="34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i="1">
                  <a:solidFill>
                    <a:srgbClr val="FF9933"/>
                  </a:solidFill>
                </a:rPr>
                <a:t>x</a:t>
              </a:r>
              <a:r>
                <a:rPr lang="en-US" altLang="zh-CN" sz="2200" i="1" baseline="-25000">
                  <a:solidFill>
                    <a:srgbClr val="FF9933"/>
                  </a:solidFill>
                </a:rPr>
                <a:t>1</a:t>
              </a:r>
              <a:endParaRPr lang="en-US" altLang="zh-CN" sz="2200" i="1"/>
            </a:p>
          </p:txBody>
        </p:sp>
        <p:sp>
          <p:nvSpPr>
            <p:cNvPr id="16452" name="Rectangle 36"/>
            <p:cNvSpPr>
              <a:spLocks noChangeArrowheads="1"/>
            </p:cNvSpPr>
            <p:nvPr/>
          </p:nvSpPr>
          <p:spPr bwMode="auto">
            <a:xfrm>
              <a:off x="5718" y="1823"/>
              <a:ext cx="234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i="1">
                  <a:solidFill>
                    <a:schemeClr val="bg1"/>
                  </a:solidFill>
                </a:rPr>
                <a:t>t</a:t>
              </a:r>
              <a:endParaRPr lang="en-US" altLang="zh-CN" sz="2200" i="1"/>
            </a:p>
          </p:txBody>
        </p:sp>
        <p:sp>
          <p:nvSpPr>
            <p:cNvPr id="16453" name="Line 37"/>
            <p:cNvSpPr>
              <a:spLocks noChangeShapeType="1"/>
            </p:cNvSpPr>
            <p:nvPr/>
          </p:nvSpPr>
          <p:spPr bwMode="auto">
            <a:xfrm>
              <a:off x="4026" y="1288"/>
              <a:ext cx="0" cy="768"/>
            </a:xfrm>
            <a:prstGeom prst="line">
              <a:avLst/>
            </a:prstGeom>
            <a:noFill/>
            <a:ln w="635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4" name="Line 38"/>
            <p:cNvSpPr>
              <a:spLocks noChangeShapeType="1"/>
            </p:cNvSpPr>
            <p:nvPr/>
          </p:nvSpPr>
          <p:spPr bwMode="auto">
            <a:xfrm>
              <a:off x="5058" y="1616"/>
              <a:ext cx="0" cy="768"/>
            </a:xfrm>
            <a:prstGeom prst="line">
              <a:avLst/>
            </a:prstGeom>
            <a:noFill/>
            <a:ln w="635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5" name="Rectangle 39"/>
            <p:cNvSpPr>
              <a:spLocks noChangeArrowheads="1"/>
            </p:cNvSpPr>
            <p:nvPr/>
          </p:nvSpPr>
          <p:spPr bwMode="auto">
            <a:xfrm>
              <a:off x="4920" y="1244"/>
              <a:ext cx="798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200">
                  <a:solidFill>
                    <a:srgbClr val="FFFF66"/>
                  </a:solidFill>
                </a:rPr>
                <a:t>反相</a:t>
              </a:r>
              <a:endParaRPr lang="zh-CN" altLang="en-US" sz="2200"/>
            </a:p>
          </p:txBody>
        </p:sp>
      </p:grpSp>
      <p:grpSp>
        <p:nvGrpSpPr>
          <p:cNvPr id="4" name="Group 40"/>
          <p:cNvGrpSpPr>
            <a:grpSpLocks noChangeAspect="1"/>
          </p:cNvGrpSpPr>
          <p:nvPr/>
        </p:nvGrpSpPr>
        <p:grpSpPr bwMode="auto">
          <a:xfrm>
            <a:off x="414338" y="152400"/>
            <a:ext cx="4229100" cy="2276475"/>
            <a:chOff x="240" y="992"/>
            <a:chExt cx="2826" cy="1521"/>
          </a:xfrm>
        </p:grpSpPr>
        <p:sp>
          <p:nvSpPr>
            <p:cNvPr id="16410" name="Rectangle 41"/>
            <p:cNvSpPr>
              <a:spLocks noChangeArrowheads="1"/>
            </p:cNvSpPr>
            <p:nvPr/>
          </p:nvSpPr>
          <p:spPr bwMode="auto">
            <a:xfrm>
              <a:off x="2832" y="1832"/>
              <a:ext cx="234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i="1">
                  <a:solidFill>
                    <a:schemeClr val="bg1"/>
                  </a:solidFill>
                </a:rPr>
                <a:t>t</a:t>
              </a:r>
              <a:endParaRPr lang="en-US" altLang="zh-CN" sz="2200" i="1"/>
            </a:p>
          </p:txBody>
        </p:sp>
        <p:grpSp>
          <p:nvGrpSpPr>
            <p:cNvPr id="16411" name="Group 42"/>
            <p:cNvGrpSpPr/>
            <p:nvPr/>
          </p:nvGrpSpPr>
          <p:grpSpPr bwMode="auto">
            <a:xfrm>
              <a:off x="240" y="992"/>
              <a:ext cx="2655" cy="1521"/>
              <a:chOff x="240" y="992"/>
              <a:chExt cx="2655" cy="1521"/>
            </a:xfrm>
          </p:grpSpPr>
          <p:sp>
            <p:nvSpPr>
              <p:cNvPr id="16412" name="Rectangle 43"/>
              <p:cNvSpPr>
                <a:spLocks noChangeArrowheads="1"/>
              </p:cNvSpPr>
              <p:nvPr/>
            </p:nvSpPr>
            <p:spPr bwMode="auto">
              <a:xfrm>
                <a:off x="482" y="992"/>
                <a:ext cx="290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200" i="1">
                    <a:solidFill>
                      <a:schemeClr val="bg1"/>
                    </a:solidFill>
                  </a:rPr>
                  <a:t>x</a:t>
                </a:r>
                <a:endParaRPr lang="en-US" altLang="zh-CN" sz="2200" i="1"/>
              </a:p>
            </p:txBody>
          </p:sp>
          <p:sp>
            <p:nvSpPr>
              <p:cNvPr id="16413" name="Rectangle 44"/>
              <p:cNvSpPr>
                <a:spLocks noChangeArrowheads="1"/>
              </p:cNvSpPr>
              <p:nvPr/>
            </p:nvSpPr>
            <p:spPr bwMode="auto">
              <a:xfrm>
                <a:off x="405" y="1753"/>
                <a:ext cx="31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200">
                    <a:solidFill>
                      <a:schemeClr val="bg1"/>
                    </a:solidFill>
                  </a:rPr>
                  <a:t>o</a:t>
                </a:r>
                <a:endParaRPr lang="en-US" altLang="zh-CN" sz="2200" i="1"/>
              </a:p>
            </p:txBody>
          </p:sp>
          <p:sp>
            <p:nvSpPr>
              <p:cNvPr id="16414" name="Freeform 45"/>
              <p:cNvSpPr/>
              <p:nvPr/>
            </p:nvSpPr>
            <p:spPr bwMode="auto">
              <a:xfrm>
                <a:off x="609" y="1603"/>
                <a:ext cx="1038" cy="236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86"/>
                    </a:moveTo>
                    <a:lnTo>
                      <a:pt x="225" y="18477"/>
                    </a:lnTo>
                    <a:lnTo>
                      <a:pt x="437" y="17868"/>
                    </a:lnTo>
                    <a:lnTo>
                      <a:pt x="662" y="17259"/>
                    </a:lnTo>
                    <a:lnTo>
                      <a:pt x="887" y="16684"/>
                    </a:lnTo>
                    <a:lnTo>
                      <a:pt x="1099" y="16074"/>
                    </a:lnTo>
                    <a:lnTo>
                      <a:pt x="1325" y="15465"/>
                    </a:lnTo>
                    <a:lnTo>
                      <a:pt x="1550" y="14890"/>
                    </a:lnTo>
                    <a:lnTo>
                      <a:pt x="1762" y="14281"/>
                    </a:lnTo>
                    <a:lnTo>
                      <a:pt x="1987" y="13706"/>
                    </a:lnTo>
                    <a:lnTo>
                      <a:pt x="2225" y="13164"/>
                    </a:lnTo>
                    <a:lnTo>
                      <a:pt x="2450" y="12589"/>
                    </a:lnTo>
                    <a:lnTo>
                      <a:pt x="2675" y="12014"/>
                    </a:lnTo>
                    <a:lnTo>
                      <a:pt x="2887" y="11472"/>
                    </a:lnTo>
                    <a:lnTo>
                      <a:pt x="3113" y="10863"/>
                    </a:lnTo>
                    <a:lnTo>
                      <a:pt x="3338" y="10355"/>
                    </a:lnTo>
                    <a:lnTo>
                      <a:pt x="3550" y="9780"/>
                    </a:lnTo>
                    <a:lnTo>
                      <a:pt x="3775" y="9272"/>
                    </a:lnTo>
                    <a:lnTo>
                      <a:pt x="4000" y="8731"/>
                    </a:lnTo>
                    <a:lnTo>
                      <a:pt x="4225" y="8223"/>
                    </a:lnTo>
                    <a:lnTo>
                      <a:pt x="4437" y="7716"/>
                    </a:lnTo>
                    <a:lnTo>
                      <a:pt x="4662" y="7242"/>
                    </a:lnTo>
                    <a:lnTo>
                      <a:pt x="4887" y="6802"/>
                    </a:lnTo>
                    <a:lnTo>
                      <a:pt x="5113" y="6328"/>
                    </a:lnTo>
                    <a:lnTo>
                      <a:pt x="5338" y="5888"/>
                    </a:lnTo>
                    <a:lnTo>
                      <a:pt x="5550" y="5415"/>
                    </a:lnTo>
                    <a:lnTo>
                      <a:pt x="5762" y="4975"/>
                    </a:lnTo>
                    <a:lnTo>
                      <a:pt x="5974" y="4569"/>
                    </a:lnTo>
                    <a:lnTo>
                      <a:pt x="6199" y="4162"/>
                    </a:lnTo>
                    <a:lnTo>
                      <a:pt x="6424" y="3756"/>
                    </a:lnTo>
                    <a:lnTo>
                      <a:pt x="6636" y="3418"/>
                    </a:lnTo>
                    <a:lnTo>
                      <a:pt x="6861" y="3046"/>
                    </a:lnTo>
                    <a:lnTo>
                      <a:pt x="7086" y="2707"/>
                    </a:lnTo>
                    <a:lnTo>
                      <a:pt x="7285" y="2437"/>
                    </a:lnTo>
                    <a:lnTo>
                      <a:pt x="7510" y="2098"/>
                    </a:lnTo>
                    <a:lnTo>
                      <a:pt x="7735" y="1794"/>
                    </a:lnTo>
                    <a:lnTo>
                      <a:pt x="7960" y="1591"/>
                    </a:lnTo>
                    <a:lnTo>
                      <a:pt x="8159" y="1320"/>
                    </a:lnTo>
                    <a:lnTo>
                      <a:pt x="8371" y="1083"/>
                    </a:lnTo>
                    <a:lnTo>
                      <a:pt x="8583" y="846"/>
                    </a:lnTo>
                    <a:lnTo>
                      <a:pt x="8808" y="677"/>
                    </a:lnTo>
                    <a:lnTo>
                      <a:pt x="9020" y="508"/>
                    </a:lnTo>
                    <a:lnTo>
                      <a:pt x="9232" y="372"/>
                    </a:lnTo>
                    <a:lnTo>
                      <a:pt x="9444" y="271"/>
                    </a:lnTo>
                    <a:lnTo>
                      <a:pt x="9642" y="135"/>
                    </a:lnTo>
                    <a:lnTo>
                      <a:pt x="9854" y="102"/>
                    </a:lnTo>
                    <a:lnTo>
                      <a:pt x="10079" y="34"/>
                    </a:lnTo>
                    <a:lnTo>
                      <a:pt x="10291" y="0"/>
                    </a:lnTo>
                    <a:lnTo>
                      <a:pt x="10503" y="34"/>
                    </a:lnTo>
                    <a:lnTo>
                      <a:pt x="10702" y="34"/>
                    </a:lnTo>
                    <a:lnTo>
                      <a:pt x="10914" y="102"/>
                    </a:lnTo>
                    <a:lnTo>
                      <a:pt x="11126" y="203"/>
                    </a:lnTo>
                    <a:lnTo>
                      <a:pt x="11338" y="305"/>
                    </a:lnTo>
                    <a:lnTo>
                      <a:pt x="11563" y="541"/>
                    </a:lnTo>
                    <a:lnTo>
                      <a:pt x="11788" y="745"/>
                    </a:lnTo>
                    <a:lnTo>
                      <a:pt x="12000" y="981"/>
                    </a:lnTo>
                    <a:lnTo>
                      <a:pt x="12225" y="1252"/>
                    </a:lnTo>
                    <a:lnTo>
                      <a:pt x="12450" y="1591"/>
                    </a:lnTo>
                    <a:lnTo>
                      <a:pt x="12689" y="1895"/>
                    </a:lnTo>
                    <a:lnTo>
                      <a:pt x="12914" y="2267"/>
                    </a:lnTo>
                    <a:lnTo>
                      <a:pt x="13152" y="2707"/>
                    </a:lnTo>
                    <a:lnTo>
                      <a:pt x="13377" y="3080"/>
                    </a:lnTo>
                    <a:lnTo>
                      <a:pt x="13616" y="3519"/>
                    </a:lnTo>
                    <a:lnTo>
                      <a:pt x="13841" y="3959"/>
                    </a:lnTo>
                    <a:lnTo>
                      <a:pt x="14066" y="4433"/>
                    </a:lnTo>
                    <a:lnTo>
                      <a:pt x="14291" y="4941"/>
                    </a:lnTo>
                    <a:lnTo>
                      <a:pt x="14530" y="5448"/>
                    </a:lnTo>
                    <a:lnTo>
                      <a:pt x="14755" y="5990"/>
                    </a:lnTo>
                    <a:lnTo>
                      <a:pt x="14993" y="6497"/>
                    </a:lnTo>
                    <a:lnTo>
                      <a:pt x="15219" y="7039"/>
                    </a:lnTo>
                    <a:lnTo>
                      <a:pt x="15444" y="7614"/>
                    </a:lnTo>
                    <a:lnTo>
                      <a:pt x="15682" y="8190"/>
                    </a:lnTo>
                    <a:lnTo>
                      <a:pt x="15894" y="8765"/>
                    </a:lnTo>
                    <a:lnTo>
                      <a:pt x="16106" y="9340"/>
                    </a:lnTo>
                    <a:lnTo>
                      <a:pt x="16318" y="9915"/>
                    </a:lnTo>
                    <a:lnTo>
                      <a:pt x="16530" y="10457"/>
                    </a:lnTo>
                    <a:lnTo>
                      <a:pt x="16742" y="11032"/>
                    </a:lnTo>
                    <a:lnTo>
                      <a:pt x="16954" y="11641"/>
                    </a:lnTo>
                    <a:lnTo>
                      <a:pt x="17152" y="12183"/>
                    </a:lnTo>
                    <a:lnTo>
                      <a:pt x="17351" y="12724"/>
                    </a:lnTo>
                    <a:lnTo>
                      <a:pt x="17550" y="13299"/>
                    </a:lnTo>
                    <a:lnTo>
                      <a:pt x="17735" y="13841"/>
                    </a:lnTo>
                    <a:lnTo>
                      <a:pt x="17934" y="14382"/>
                    </a:lnTo>
                    <a:lnTo>
                      <a:pt x="18119" y="14924"/>
                    </a:lnTo>
                    <a:lnTo>
                      <a:pt x="18291" y="15431"/>
                    </a:lnTo>
                    <a:lnTo>
                      <a:pt x="18464" y="15905"/>
                    </a:lnTo>
                    <a:lnTo>
                      <a:pt x="18636" y="16413"/>
                    </a:lnTo>
                    <a:lnTo>
                      <a:pt x="18795" y="16853"/>
                    </a:lnTo>
                    <a:lnTo>
                      <a:pt x="18954" y="17327"/>
                    </a:lnTo>
                    <a:lnTo>
                      <a:pt x="19099" y="17733"/>
                    </a:lnTo>
                    <a:lnTo>
                      <a:pt x="19258" y="18139"/>
                    </a:lnTo>
                    <a:lnTo>
                      <a:pt x="19391" y="18511"/>
                    </a:lnTo>
                    <a:lnTo>
                      <a:pt x="19523" y="18883"/>
                    </a:lnTo>
                    <a:lnTo>
                      <a:pt x="19642" y="19188"/>
                    </a:lnTo>
                    <a:lnTo>
                      <a:pt x="19775" y="19459"/>
                    </a:lnTo>
                    <a:lnTo>
                      <a:pt x="19881" y="19763"/>
                    </a:lnTo>
                    <a:lnTo>
                      <a:pt x="19987" y="19966"/>
                    </a:lnTo>
                  </a:path>
                </a:pathLst>
              </a:custGeom>
              <a:noFill/>
              <a:ln w="38100">
                <a:solidFill>
                  <a:srgbClr val="FF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5" name="Freeform 46"/>
              <p:cNvSpPr/>
              <p:nvPr/>
            </p:nvSpPr>
            <p:spPr bwMode="auto">
              <a:xfrm>
                <a:off x="1636" y="1831"/>
                <a:ext cx="1103" cy="22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99" y="630"/>
                    </a:lnTo>
                    <a:lnTo>
                      <a:pt x="399" y="1261"/>
                    </a:lnTo>
                    <a:lnTo>
                      <a:pt x="598" y="1856"/>
                    </a:lnTo>
                    <a:lnTo>
                      <a:pt x="798" y="2487"/>
                    </a:lnTo>
                    <a:lnTo>
                      <a:pt x="984" y="3152"/>
                    </a:lnTo>
                    <a:lnTo>
                      <a:pt x="1184" y="3748"/>
                    </a:lnTo>
                    <a:lnTo>
                      <a:pt x="1383" y="4343"/>
                    </a:lnTo>
                    <a:lnTo>
                      <a:pt x="1583" y="4939"/>
                    </a:lnTo>
                    <a:lnTo>
                      <a:pt x="1782" y="5569"/>
                    </a:lnTo>
                    <a:lnTo>
                      <a:pt x="1981" y="6165"/>
                    </a:lnTo>
                    <a:lnTo>
                      <a:pt x="2181" y="6725"/>
                    </a:lnTo>
                    <a:lnTo>
                      <a:pt x="2380" y="7285"/>
                    </a:lnTo>
                    <a:lnTo>
                      <a:pt x="2567" y="7881"/>
                    </a:lnTo>
                    <a:lnTo>
                      <a:pt x="2766" y="8476"/>
                    </a:lnTo>
                    <a:lnTo>
                      <a:pt x="2966" y="9037"/>
                    </a:lnTo>
                    <a:lnTo>
                      <a:pt x="3165" y="9597"/>
                    </a:lnTo>
                    <a:lnTo>
                      <a:pt x="3364" y="10123"/>
                    </a:lnTo>
                    <a:lnTo>
                      <a:pt x="3564" y="10648"/>
                    </a:lnTo>
                    <a:lnTo>
                      <a:pt x="3763" y="11208"/>
                    </a:lnTo>
                    <a:lnTo>
                      <a:pt x="3963" y="11734"/>
                    </a:lnTo>
                    <a:lnTo>
                      <a:pt x="4162" y="12224"/>
                    </a:lnTo>
                    <a:lnTo>
                      <a:pt x="4361" y="12715"/>
                    </a:lnTo>
                    <a:lnTo>
                      <a:pt x="4573" y="13170"/>
                    </a:lnTo>
                    <a:lnTo>
                      <a:pt x="4785" y="13660"/>
                    </a:lnTo>
                    <a:lnTo>
                      <a:pt x="4972" y="14116"/>
                    </a:lnTo>
                    <a:lnTo>
                      <a:pt x="5171" y="14571"/>
                    </a:lnTo>
                    <a:lnTo>
                      <a:pt x="5371" y="15026"/>
                    </a:lnTo>
                    <a:lnTo>
                      <a:pt x="5570" y="15412"/>
                    </a:lnTo>
                    <a:lnTo>
                      <a:pt x="5782" y="15832"/>
                    </a:lnTo>
                    <a:lnTo>
                      <a:pt x="5981" y="16182"/>
                    </a:lnTo>
                    <a:lnTo>
                      <a:pt x="6181" y="16602"/>
                    </a:lnTo>
                    <a:lnTo>
                      <a:pt x="6380" y="16953"/>
                    </a:lnTo>
                    <a:lnTo>
                      <a:pt x="6579" y="17268"/>
                    </a:lnTo>
                    <a:lnTo>
                      <a:pt x="6791" y="17618"/>
                    </a:lnTo>
                    <a:lnTo>
                      <a:pt x="6991" y="17933"/>
                    </a:lnTo>
                    <a:lnTo>
                      <a:pt x="7202" y="18179"/>
                    </a:lnTo>
                    <a:lnTo>
                      <a:pt x="7402" y="18459"/>
                    </a:lnTo>
                    <a:lnTo>
                      <a:pt x="7614" y="18739"/>
                    </a:lnTo>
                    <a:lnTo>
                      <a:pt x="7813" y="18949"/>
                    </a:lnTo>
                    <a:lnTo>
                      <a:pt x="8025" y="19159"/>
                    </a:lnTo>
                    <a:lnTo>
                      <a:pt x="8237" y="19335"/>
                    </a:lnTo>
                    <a:lnTo>
                      <a:pt x="8436" y="19475"/>
                    </a:lnTo>
                    <a:lnTo>
                      <a:pt x="8648" y="19650"/>
                    </a:lnTo>
                    <a:lnTo>
                      <a:pt x="8860" y="19755"/>
                    </a:lnTo>
                    <a:lnTo>
                      <a:pt x="9059" y="19860"/>
                    </a:lnTo>
                    <a:lnTo>
                      <a:pt x="9271" y="19895"/>
                    </a:lnTo>
                    <a:lnTo>
                      <a:pt x="9483" y="19965"/>
                    </a:lnTo>
                    <a:lnTo>
                      <a:pt x="9695" y="19965"/>
                    </a:lnTo>
                    <a:lnTo>
                      <a:pt x="9907" y="19965"/>
                    </a:lnTo>
                    <a:lnTo>
                      <a:pt x="10118" y="19930"/>
                    </a:lnTo>
                    <a:lnTo>
                      <a:pt x="10330" y="19825"/>
                    </a:lnTo>
                    <a:lnTo>
                      <a:pt x="10555" y="19720"/>
                    </a:lnTo>
                    <a:lnTo>
                      <a:pt x="10791" y="19545"/>
                    </a:lnTo>
                    <a:lnTo>
                      <a:pt x="11016" y="19335"/>
                    </a:lnTo>
                    <a:lnTo>
                      <a:pt x="11240" y="19124"/>
                    </a:lnTo>
                    <a:lnTo>
                      <a:pt x="11477" y="18844"/>
                    </a:lnTo>
                    <a:lnTo>
                      <a:pt x="11713" y="18564"/>
                    </a:lnTo>
                    <a:lnTo>
                      <a:pt x="11963" y="18249"/>
                    </a:lnTo>
                    <a:lnTo>
                      <a:pt x="12212" y="17898"/>
                    </a:lnTo>
                    <a:lnTo>
                      <a:pt x="12461" y="17513"/>
                    </a:lnTo>
                    <a:lnTo>
                      <a:pt x="12710" y="17128"/>
                    </a:lnTo>
                    <a:lnTo>
                      <a:pt x="12960" y="16743"/>
                    </a:lnTo>
                    <a:lnTo>
                      <a:pt x="13196" y="16252"/>
                    </a:lnTo>
                    <a:lnTo>
                      <a:pt x="13445" y="15797"/>
                    </a:lnTo>
                    <a:lnTo>
                      <a:pt x="13707" y="15342"/>
                    </a:lnTo>
                    <a:lnTo>
                      <a:pt x="13956" y="14851"/>
                    </a:lnTo>
                    <a:lnTo>
                      <a:pt x="14206" y="14361"/>
                    </a:lnTo>
                    <a:lnTo>
                      <a:pt x="14442" y="13800"/>
                    </a:lnTo>
                    <a:lnTo>
                      <a:pt x="14692" y="13310"/>
                    </a:lnTo>
                    <a:lnTo>
                      <a:pt x="14953" y="12750"/>
                    </a:lnTo>
                    <a:lnTo>
                      <a:pt x="15202" y="12224"/>
                    </a:lnTo>
                    <a:lnTo>
                      <a:pt x="15452" y="11629"/>
                    </a:lnTo>
                    <a:lnTo>
                      <a:pt x="15688" y="11103"/>
                    </a:lnTo>
                    <a:lnTo>
                      <a:pt x="15925" y="10578"/>
                    </a:lnTo>
                    <a:lnTo>
                      <a:pt x="16150" y="10053"/>
                    </a:lnTo>
                    <a:lnTo>
                      <a:pt x="16386" y="9457"/>
                    </a:lnTo>
                    <a:lnTo>
                      <a:pt x="16611" y="8897"/>
                    </a:lnTo>
                    <a:lnTo>
                      <a:pt x="16847" y="8371"/>
                    </a:lnTo>
                    <a:lnTo>
                      <a:pt x="17072" y="7811"/>
                    </a:lnTo>
                    <a:lnTo>
                      <a:pt x="17283" y="7285"/>
                    </a:lnTo>
                    <a:lnTo>
                      <a:pt x="17495" y="6760"/>
                    </a:lnTo>
                    <a:lnTo>
                      <a:pt x="17720" y="6235"/>
                    </a:lnTo>
                    <a:lnTo>
                      <a:pt x="17919" y="5744"/>
                    </a:lnTo>
                    <a:lnTo>
                      <a:pt x="18118" y="5219"/>
                    </a:lnTo>
                    <a:lnTo>
                      <a:pt x="18305" y="4729"/>
                    </a:lnTo>
                    <a:lnTo>
                      <a:pt x="18492" y="4273"/>
                    </a:lnTo>
                    <a:lnTo>
                      <a:pt x="18679" y="3853"/>
                    </a:lnTo>
                    <a:lnTo>
                      <a:pt x="18854" y="3398"/>
                    </a:lnTo>
                    <a:lnTo>
                      <a:pt x="19016" y="2977"/>
                    </a:lnTo>
                    <a:lnTo>
                      <a:pt x="19178" y="2627"/>
                    </a:lnTo>
                    <a:lnTo>
                      <a:pt x="19340" y="2277"/>
                    </a:lnTo>
                    <a:lnTo>
                      <a:pt x="19489" y="1891"/>
                    </a:lnTo>
                    <a:lnTo>
                      <a:pt x="19614" y="1646"/>
                    </a:lnTo>
                    <a:lnTo>
                      <a:pt x="19751" y="1331"/>
                    </a:lnTo>
                    <a:lnTo>
                      <a:pt x="19875" y="1051"/>
                    </a:lnTo>
                    <a:lnTo>
                      <a:pt x="19988" y="841"/>
                    </a:lnTo>
                  </a:path>
                </a:pathLst>
              </a:custGeom>
              <a:noFill/>
              <a:ln w="38100">
                <a:solidFill>
                  <a:srgbClr val="FF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6" name="Freeform 47"/>
              <p:cNvSpPr/>
              <p:nvPr/>
            </p:nvSpPr>
            <p:spPr bwMode="auto">
              <a:xfrm>
                <a:off x="619" y="1293"/>
                <a:ext cx="1039" cy="56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101"/>
                    </a:moveTo>
                    <a:lnTo>
                      <a:pt x="225" y="18502"/>
                    </a:lnTo>
                    <a:lnTo>
                      <a:pt x="437" y="17889"/>
                    </a:lnTo>
                    <a:lnTo>
                      <a:pt x="662" y="17290"/>
                    </a:lnTo>
                    <a:lnTo>
                      <a:pt x="887" y="16662"/>
                    </a:lnTo>
                    <a:lnTo>
                      <a:pt x="1099" y="16077"/>
                    </a:lnTo>
                    <a:lnTo>
                      <a:pt x="1325" y="15492"/>
                    </a:lnTo>
                    <a:lnTo>
                      <a:pt x="1550" y="14893"/>
                    </a:lnTo>
                    <a:lnTo>
                      <a:pt x="1762" y="14308"/>
                    </a:lnTo>
                    <a:lnTo>
                      <a:pt x="1987" y="13738"/>
                    </a:lnTo>
                    <a:lnTo>
                      <a:pt x="2225" y="13153"/>
                    </a:lnTo>
                    <a:lnTo>
                      <a:pt x="2450" y="12582"/>
                    </a:lnTo>
                    <a:lnTo>
                      <a:pt x="2675" y="12026"/>
                    </a:lnTo>
                    <a:lnTo>
                      <a:pt x="2887" y="11455"/>
                    </a:lnTo>
                    <a:lnTo>
                      <a:pt x="3113" y="10884"/>
                    </a:lnTo>
                    <a:lnTo>
                      <a:pt x="3338" y="10342"/>
                    </a:lnTo>
                    <a:lnTo>
                      <a:pt x="3550" y="9815"/>
                    </a:lnTo>
                    <a:lnTo>
                      <a:pt x="3775" y="9287"/>
                    </a:lnTo>
                    <a:lnTo>
                      <a:pt x="4000" y="8759"/>
                    </a:lnTo>
                    <a:lnTo>
                      <a:pt x="4225" y="8231"/>
                    </a:lnTo>
                    <a:lnTo>
                      <a:pt x="4437" y="7732"/>
                    </a:lnTo>
                    <a:lnTo>
                      <a:pt x="4662" y="7247"/>
                    </a:lnTo>
                    <a:lnTo>
                      <a:pt x="4887" y="6805"/>
                    </a:lnTo>
                    <a:lnTo>
                      <a:pt x="5113" y="6334"/>
                    </a:lnTo>
                    <a:lnTo>
                      <a:pt x="5338" y="5892"/>
                    </a:lnTo>
                    <a:lnTo>
                      <a:pt x="5550" y="5421"/>
                    </a:lnTo>
                    <a:lnTo>
                      <a:pt x="5762" y="4993"/>
                    </a:lnTo>
                    <a:lnTo>
                      <a:pt x="5974" y="4579"/>
                    </a:lnTo>
                    <a:lnTo>
                      <a:pt x="6199" y="4165"/>
                    </a:lnTo>
                    <a:lnTo>
                      <a:pt x="6424" y="3780"/>
                    </a:lnTo>
                    <a:lnTo>
                      <a:pt x="6636" y="3409"/>
                    </a:lnTo>
                    <a:lnTo>
                      <a:pt x="6861" y="3067"/>
                    </a:lnTo>
                    <a:lnTo>
                      <a:pt x="7086" y="2725"/>
                    </a:lnTo>
                    <a:lnTo>
                      <a:pt x="7285" y="2411"/>
                    </a:lnTo>
                    <a:lnTo>
                      <a:pt x="7510" y="2097"/>
                    </a:lnTo>
                    <a:lnTo>
                      <a:pt x="7735" y="1826"/>
                    </a:lnTo>
                    <a:lnTo>
                      <a:pt x="7960" y="1555"/>
                    </a:lnTo>
                    <a:lnTo>
                      <a:pt x="8159" y="1298"/>
                    </a:lnTo>
                    <a:lnTo>
                      <a:pt x="8371" y="1056"/>
                    </a:lnTo>
                    <a:lnTo>
                      <a:pt x="8583" y="842"/>
                    </a:lnTo>
                    <a:lnTo>
                      <a:pt x="8808" y="670"/>
                    </a:lnTo>
                    <a:lnTo>
                      <a:pt x="9020" y="499"/>
                    </a:lnTo>
                    <a:lnTo>
                      <a:pt x="9232" y="385"/>
                    </a:lnTo>
                    <a:lnTo>
                      <a:pt x="9444" y="243"/>
                    </a:lnTo>
                    <a:lnTo>
                      <a:pt x="9642" y="128"/>
                    </a:lnTo>
                    <a:lnTo>
                      <a:pt x="9854" y="86"/>
                    </a:lnTo>
                    <a:lnTo>
                      <a:pt x="10079" y="14"/>
                    </a:lnTo>
                    <a:lnTo>
                      <a:pt x="10291" y="0"/>
                    </a:lnTo>
                    <a:lnTo>
                      <a:pt x="10503" y="14"/>
                    </a:lnTo>
                    <a:lnTo>
                      <a:pt x="10702" y="14"/>
                    </a:lnTo>
                    <a:lnTo>
                      <a:pt x="10914" y="86"/>
                    </a:lnTo>
                    <a:lnTo>
                      <a:pt x="11126" y="214"/>
                    </a:lnTo>
                    <a:lnTo>
                      <a:pt x="11338" y="328"/>
                    </a:lnTo>
                    <a:lnTo>
                      <a:pt x="11563" y="514"/>
                    </a:lnTo>
                    <a:lnTo>
                      <a:pt x="11788" y="756"/>
                    </a:lnTo>
                    <a:lnTo>
                      <a:pt x="12000" y="984"/>
                    </a:lnTo>
                    <a:lnTo>
                      <a:pt x="12225" y="1255"/>
                    </a:lnTo>
                    <a:lnTo>
                      <a:pt x="12450" y="1555"/>
                    </a:lnTo>
                    <a:lnTo>
                      <a:pt x="12689" y="1912"/>
                    </a:lnTo>
                    <a:lnTo>
                      <a:pt x="12914" y="2268"/>
                    </a:lnTo>
                    <a:lnTo>
                      <a:pt x="13152" y="2696"/>
                    </a:lnTo>
                    <a:lnTo>
                      <a:pt x="13377" y="3096"/>
                    </a:lnTo>
                    <a:lnTo>
                      <a:pt x="13616" y="3524"/>
                    </a:lnTo>
                    <a:lnTo>
                      <a:pt x="13841" y="3980"/>
                    </a:lnTo>
                    <a:lnTo>
                      <a:pt x="14066" y="4451"/>
                    </a:lnTo>
                    <a:lnTo>
                      <a:pt x="14291" y="4936"/>
                    </a:lnTo>
                    <a:lnTo>
                      <a:pt x="14530" y="5464"/>
                    </a:lnTo>
                    <a:lnTo>
                      <a:pt x="14755" y="6006"/>
                    </a:lnTo>
                    <a:lnTo>
                      <a:pt x="14993" y="6519"/>
                    </a:lnTo>
                    <a:lnTo>
                      <a:pt x="15219" y="7061"/>
                    </a:lnTo>
                    <a:lnTo>
                      <a:pt x="15444" y="7632"/>
                    </a:lnTo>
                    <a:lnTo>
                      <a:pt x="15682" y="8188"/>
                    </a:lnTo>
                    <a:lnTo>
                      <a:pt x="15894" y="8773"/>
                    </a:lnTo>
                    <a:lnTo>
                      <a:pt x="16106" y="9358"/>
                    </a:lnTo>
                    <a:lnTo>
                      <a:pt x="16318" y="9914"/>
                    </a:lnTo>
                    <a:lnTo>
                      <a:pt x="16530" y="10471"/>
                    </a:lnTo>
                    <a:lnTo>
                      <a:pt x="16742" y="11041"/>
                    </a:lnTo>
                    <a:lnTo>
                      <a:pt x="16954" y="11626"/>
                    </a:lnTo>
                    <a:lnTo>
                      <a:pt x="17152" y="12183"/>
                    </a:lnTo>
                    <a:lnTo>
                      <a:pt x="17351" y="12753"/>
                    </a:lnTo>
                    <a:lnTo>
                      <a:pt x="17550" y="13295"/>
                    </a:lnTo>
                    <a:lnTo>
                      <a:pt x="17735" y="13852"/>
                    </a:lnTo>
                    <a:lnTo>
                      <a:pt x="17934" y="14394"/>
                    </a:lnTo>
                    <a:lnTo>
                      <a:pt x="18119" y="14936"/>
                    </a:lnTo>
                    <a:lnTo>
                      <a:pt x="18291" y="15435"/>
                    </a:lnTo>
                    <a:lnTo>
                      <a:pt x="18464" y="15949"/>
                    </a:lnTo>
                    <a:lnTo>
                      <a:pt x="18636" y="16419"/>
                    </a:lnTo>
                    <a:lnTo>
                      <a:pt x="18795" y="16862"/>
                    </a:lnTo>
                    <a:lnTo>
                      <a:pt x="18954" y="17332"/>
                    </a:lnTo>
                    <a:lnTo>
                      <a:pt x="19099" y="17746"/>
                    </a:lnTo>
                    <a:lnTo>
                      <a:pt x="19258" y="18146"/>
                    </a:lnTo>
                    <a:lnTo>
                      <a:pt x="19391" y="18545"/>
                    </a:lnTo>
                    <a:lnTo>
                      <a:pt x="19523" y="18887"/>
                    </a:lnTo>
                    <a:lnTo>
                      <a:pt x="19642" y="19187"/>
                    </a:lnTo>
                    <a:lnTo>
                      <a:pt x="19775" y="19515"/>
                    </a:lnTo>
                    <a:lnTo>
                      <a:pt x="19881" y="19772"/>
                    </a:lnTo>
                    <a:lnTo>
                      <a:pt x="19987" y="19986"/>
                    </a:lnTo>
                  </a:path>
                </a:pathLst>
              </a:custGeom>
              <a:noFill/>
              <a:ln w="38100">
                <a:solidFill>
                  <a:srgbClr val="FF99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7" name="Freeform 48"/>
              <p:cNvSpPr/>
              <p:nvPr/>
            </p:nvSpPr>
            <p:spPr bwMode="auto">
              <a:xfrm>
                <a:off x="1646" y="1833"/>
                <a:ext cx="1104" cy="542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99" y="620"/>
                    </a:lnTo>
                    <a:lnTo>
                      <a:pt x="399" y="1255"/>
                    </a:lnTo>
                    <a:lnTo>
                      <a:pt x="598" y="1875"/>
                    </a:lnTo>
                    <a:lnTo>
                      <a:pt x="798" y="2524"/>
                    </a:lnTo>
                    <a:lnTo>
                      <a:pt x="984" y="3144"/>
                    </a:lnTo>
                    <a:lnTo>
                      <a:pt x="1184" y="3734"/>
                    </a:lnTo>
                    <a:lnTo>
                      <a:pt x="1383" y="4354"/>
                    </a:lnTo>
                    <a:lnTo>
                      <a:pt x="1583" y="4959"/>
                    </a:lnTo>
                    <a:lnTo>
                      <a:pt x="1782" y="5565"/>
                    </a:lnTo>
                    <a:lnTo>
                      <a:pt x="1981" y="6155"/>
                    </a:lnTo>
                    <a:lnTo>
                      <a:pt x="2181" y="6745"/>
                    </a:lnTo>
                    <a:lnTo>
                      <a:pt x="2380" y="7292"/>
                    </a:lnTo>
                    <a:lnTo>
                      <a:pt x="2567" y="7897"/>
                    </a:lnTo>
                    <a:lnTo>
                      <a:pt x="2766" y="8472"/>
                    </a:lnTo>
                    <a:lnTo>
                      <a:pt x="2966" y="9033"/>
                    </a:lnTo>
                    <a:lnTo>
                      <a:pt x="3165" y="9594"/>
                    </a:lnTo>
                    <a:lnTo>
                      <a:pt x="3364" y="10140"/>
                    </a:lnTo>
                    <a:lnTo>
                      <a:pt x="3564" y="10672"/>
                    </a:lnTo>
                    <a:lnTo>
                      <a:pt x="3763" y="11203"/>
                    </a:lnTo>
                    <a:lnTo>
                      <a:pt x="3963" y="11720"/>
                    </a:lnTo>
                    <a:lnTo>
                      <a:pt x="4162" y="12236"/>
                    </a:lnTo>
                    <a:lnTo>
                      <a:pt x="4361" y="12708"/>
                    </a:lnTo>
                    <a:lnTo>
                      <a:pt x="4573" y="13196"/>
                    </a:lnTo>
                    <a:lnTo>
                      <a:pt x="4785" y="13653"/>
                    </a:lnTo>
                    <a:lnTo>
                      <a:pt x="4972" y="14140"/>
                    </a:lnTo>
                    <a:lnTo>
                      <a:pt x="5171" y="14583"/>
                    </a:lnTo>
                    <a:lnTo>
                      <a:pt x="5371" y="15011"/>
                    </a:lnTo>
                    <a:lnTo>
                      <a:pt x="5570" y="15439"/>
                    </a:lnTo>
                    <a:lnTo>
                      <a:pt x="5782" y="15838"/>
                    </a:lnTo>
                    <a:lnTo>
                      <a:pt x="5981" y="16207"/>
                    </a:lnTo>
                    <a:lnTo>
                      <a:pt x="6181" y="16605"/>
                    </a:lnTo>
                    <a:lnTo>
                      <a:pt x="6380" y="16959"/>
                    </a:lnTo>
                    <a:lnTo>
                      <a:pt x="6579" y="17299"/>
                    </a:lnTo>
                    <a:lnTo>
                      <a:pt x="6791" y="17609"/>
                    </a:lnTo>
                    <a:lnTo>
                      <a:pt x="6991" y="17919"/>
                    </a:lnTo>
                    <a:lnTo>
                      <a:pt x="7202" y="18185"/>
                    </a:lnTo>
                    <a:lnTo>
                      <a:pt x="7402" y="18480"/>
                    </a:lnTo>
                    <a:lnTo>
                      <a:pt x="7614" y="18731"/>
                    </a:lnTo>
                    <a:lnTo>
                      <a:pt x="7813" y="18952"/>
                    </a:lnTo>
                    <a:lnTo>
                      <a:pt x="8025" y="19159"/>
                    </a:lnTo>
                    <a:lnTo>
                      <a:pt x="8237" y="19336"/>
                    </a:lnTo>
                    <a:lnTo>
                      <a:pt x="8436" y="19483"/>
                    </a:lnTo>
                    <a:lnTo>
                      <a:pt x="8648" y="19646"/>
                    </a:lnTo>
                    <a:lnTo>
                      <a:pt x="8860" y="19764"/>
                    </a:lnTo>
                    <a:lnTo>
                      <a:pt x="9059" y="19867"/>
                    </a:lnTo>
                    <a:lnTo>
                      <a:pt x="9271" y="19911"/>
                    </a:lnTo>
                    <a:lnTo>
                      <a:pt x="9483" y="19956"/>
                    </a:lnTo>
                    <a:lnTo>
                      <a:pt x="9695" y="19956"/>
                    </a:lnTo>
                    <a:lnTo>
                      <a:pt x="9907" y="19985"/>
                    </a:lnTo>
                    <a:lnTo>
                      <a:pt x="10118" y="19941"/>
                    </a:lnTo>
                    <a:lnTo>
                      <a:pt x="10330" y="19823"/>
                    </a:lnTo>
                    <a:lnTo>
                      <a:pt x="10555" y="19720"/>
                    </a:lnTo>
                    <a:lnTo>
                      <a:pt x="10791" y="19557"/>
                    </a:lnTo>
                    <a:lnTo>
                      <a:pt x="11016" y="19336"/>
                    </a:lnTo>
                    <a:lnTo>
                      <a:pt x="11240" y="19129"/>
                    </a:lnTo>
                    <a:lnTo>
                      <a:pt x="11477" y="18849"/>
                    </a:lnTo>
                    <a:lnTo>
                      <a:pt x="11713" y="18554"/>
                    </a:lnTo>
                    <a:lnTo>
                      <a:pt x="11963" y="18244"/>
                    </a:lnTo>
                    <a:lnTo>
                      <a:pt x="12212" y="17904"/>
                    </a:lnTo>
                    <a:lnTo>
                      <a:pt x="12461" y="17520"/>
                    </a:lnTo>
                    <a:lnTo>
                      <a:pt x="12710" y="17137"/>
                    </a:lnTo>
                    <a:lnTo>
                      <a:pt x="12960" y="16738"/>
                    </a:lnTo>
                    <a:lnTo>
                      <a:pt x="13196" y="16280"/>
                    </a:lnTo>
                    <a:lnTo>
                      <a:pt x="13445" y="15823"/>
                    </a:lnTo>
                    <a:lnTo>
                      <a:pt x="13707" y="15351"/>
                    </a:lnTo>
                    <a:lnTo>
                      <a:pt x="13956" y="14834"/>
                    </a:lnTo>
                    <a:lnTo>
                      <a:pt x="14206" y="14362"/>
                    </a:lnTo>
                    <a:lnTo>
                      <a:pt x="14442" y="13830"/>
                    </a:lnTo>
                    <a:lnTo>
                      <a:pt x="14692" y="13314"/>
                    </a:lnTo>
                    <a:lnTo>
                      <a:pt x="14953" y="12768"/>
                    </a:lnTo>
                    <a:lnTo>
                      <a:pt x="15202" y="12236"/>
                    </a:lnTo>
                    <a:lnTo>
                      <a:pt x="15452" y="11661"/>
                    </a:lnTo>
                    <a:lnTo>
                      <a:pt x="15688" y="11114"/>
                    </a:lnTo>
                    <a:lnTo>
                      <a:pt x="15925" y="10583"/>
                    </a:lnTo>
                    <a:lnTo>
                      <a:pt x="16150" y="10037"/>
                    </a:lnTo>
                    <a:lnTo>
                      <a:pt x="16386" y="9461"/>
                    </a:lnTo>
                    <a:lnTo>
                      <a:pt x="16611" y="8900"/>
                    </a:lnTo>
                    <a:lnTo>
                      <a:pt x="16847" y="8369"/>
                    </a:lnTo>
                    <a:lnTo>
                      <a:pt x="17072" y="7823"/>
                    </a:lnTo>
                    <a:lnTo>
                      <a:pt x="17283" y="7292"/>
                    </a:lnTo>
                    <a:lnTo>
                      <a:pt x="17495" y="6760"/>
                    </a:lnTo>
                    <a:lnTo>
                      <a:pt x="17720" y="6244"/>
                    </a:lnTo>
                    <a:lnTo>
                      <a:pt x="17919" y="5727"/>
                    </a:lnTo>
                    <a:lnTo>
                      <a:pt x="18118" y="5210"/>
                    </a:lnTo>
                    <a:lnTo>
                      <a:pt x="18305" y="4738"/>
                    </a:lnTo>
                    <a:lnTo>
                      <a:pt x="18492" y="4295"/>
                    </a:lnTo>
                    <a:lnTo>
                      <a:pt x="18679" y="3852"/>
                    </a:lnTo>
                    <a:lnTo>
                      <a:pt x="18854" y="3395"/>
                    </a:lnTo>
                    <a:lnTo>
                      <a:pt x="19016" y="2982"/>
                    </a:lnTo>
                    <a:lnTo>
                      <a:pt x="19178" y="2613"/>
                    </a:lnTo>
                    <a:lnTo>
                      <a:pt x="19340" y="2244"/>
                    </a:lnTo>
                    <a:lnTo>
                      <a:pt x="19489" y="1904"/>
                    </a:lnTo>
                    <a:lnTo>
                      <a:pt x="19614" y="1609"/>
                    </a:lnTo>
                    <a:lnTo>
                      <a:pt x="19751" y="1314"/>
                    </a:lnTo>
                    <a:lnTo>
                      <a:pt x="19875" y="1048"/>
                    </a:lnTo>
                    <a:lnTo>
                      <a:pt x="19988" y="841"/>
                    </a:lnTo>
                  </a:path>
                </a:pathLst>
              </a:custGeom>
              <a:noFill/>
              <a:ln w="38100">
                <a:solidFill>
                  <a:srgbClr val="FF99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8" name="Line 49"/>
              <p:cNvSpPr>
                <a:spLocks noChangeShapeType="1"/>
              </p:cNvSpPr>
              <p:nvPr/>
            </p:nvSpPr>
            <p:spPr bwMode="auto">
              <a:xfrm>
                <a:off x="609" y="1838"/>
                <a:ext cx="2272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 type="none" w="med" len="sm"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9" name="Line 50"/>
              <p:cNvSpPr>
                <a:spLocks noChangeShapeType="1"/>
              </p:cNvSpPr>
              <p:nvPr/>
            </p:nvSpPr>
            <p:spPr bwMode="auto">
              <a:xfrm>
                <a:off x="598" y="1169"/>
                <a:ext cx="1" cy="134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 type="triangl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0" name="Line 51"/>
              <p:cNvSpPr>
                <a:spLocks noChangeShapeType="1"/>
              </p:cNvSpPr>
              <p:nvPr/>
            </p:nvSpPr>
            <p:spPr bwMode="auto">
              <a:xfrm>
                <a:off x="612" y="1289"/>
                <a:ext cx="550" cy="0"/>
              </a:xfrm>
              <a:prstGeom prst="line">
                <a:avLst/>
              </a:prstGeom>
              <a:noFill/>
              <a:ln w="6350">
                <a:solidFill>
                  <a:schemeClr val="bg1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1" name="Line 52"/>
              <p:cNvSpPr>
                <a:spLocks noChangeShapeType="1"/>
              </p:cNvSpPr>
              <p:nvPr/>
            </p:nvSpPr>
            <p:spPr bwMode="auto">
              <a:xfrm>
                <a:off x="612" y="1601"/>
                <a:ext cx="550" cy="0"/>
              </a:xfrm>
              <a:prstGeom prst="line">
                <a:avLst/>
              </a:prstGeom>
              <a:noFill/>
              <a:ln w="6350">
                <a:solidFill>
                  <a:schemeClr val="bg1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2" name="Line 53"/>
              <p:cNvSpPr>
                <a:spLocks noChangeShapeType="1"/>
              </p:cNvSpPr>
              <p:nvPr/>
            </p:nvSpPr>
            <p:spPr bwMode="auto">
              <a:xfrm>
                <a:off x="598" y="2057"/>
                <a:ext cx="1554" cy="0"/>
              </a:xfrm>
              <a:prstGeom prst="line">
                <a:avLst/>
              </a:prstGeom>
              <a:noFill/>
              <a:ln w="6350">
                <a:solidFill>
                  <a:schemeClr val="bg1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3" name="Line 54"/>
              <p:cNvSpPr>
                <a:spLocks noChangeShapeType="1"/>
              </p:cNvSpPr>
              <p:nvPr/>
            </p:nvSpPr>
            <p:spPr bwMode="auto">
              <a:xfrm>
                <a:off x="612" y="2377"/>
                <a:ext cx="1554" cy="0"/>
              </a:xfrm>
              <a:prstGeom prst="line">
                <a:avLst/>
              </a:prstGeom>
              <a:noFill/>
              <a:ln w="6350">
                <a:solidFill>
                  <a:schemeClr val="bg1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4" name="Line 55"/>
              <p:cNvSpPr>
                <a:spLocks noChangeShapeType="1"/>
              </p:cNvSpPr>
              <p:nvPr/>
            </p:nvSpPr>
            <p:spPr bwMode="auto">
              <a:xfrm>
                <a:off x="1148" y="1289"/>
                <a:ext cx="0" cy="552"/>
              </a:xfrm>
              <a:prstGeom prst="line">
                <a:avLst/>
              </a:prstGeom>
              <a:noFill/>
              <a:ln w="6350">
                <a:solidFill>
                  <a:schemeClr val="bg1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5" name="Line 56"/>
              <p:cNvSpPr>
                <a:spLocks noChangeShapeType="1"/>
              </p:cNvSpPr>
              <p:nvPr/>
            </p:nvSpPr>
            <p:spPr bwMode="auto">
              <a:xfrm>
                <a:off x="2180" y="1841"/>
                <a:ext cx="0" cy="552"/>
              </a:xfrm>
              <a:prstGeom prst="line">
                <a:avLst/>
              </a:prstGeom>
              <a:noFill/>
              <a:ln w="6350">
                <a:solidFill>
                  <a:schemeClr val="bg1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6" name="Rectangle 57"/>
              <p:cNvSpPr>
                <a:spLocks noChangeArrowheads="1"/>
              </p:cNvSpPr>
              <p:nvPr/>
            </p:nvSpPr>
            <p:spPr bwMode="auto">
              <a:xfrm>
                <a:off x="350" y="1193"/>
                <a:ext cx="262" cy="1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200" i="1">
                    <a:solidFill>
                      <a:schemeClr val="bg1"/>
                    </a:solidFill>
                  </a:rPr>
                  <a:t>A</a:t>
                </a:r>
                <a:r>
                  <a:rPr lang="en-US" altLang="zh-CN" sz="2200" i="1" baseline="-25000">
                    <a:solidFill>
                      <a:schemeClr val="bg1"/>
                    </a:solidFill>
                  </a:rPr>
                  <a:t>1</a:t>
                </a:r>
                <a:endParaRPr lang="en-US" altLang="zh-CN" sz="2200" i="1">
                  <a:solidFill>
                    <a:schemeClr val="bg1"/>
                  </a:solidFill>
                </a:endParaRPr>
              </a:p>
            </p:txBody>
          </p:sp>
          <p:sp>
            <p:nvSpPr>
              <p:cNvPr id="16427" name="Rectangle 58"/>
              <p:cNvSpPr>
                <a:spLocks noChangeArrowheads="1"/>
              </p:cNvSpPr>
              <p:nvPr/>
            </p:nvSpPr>
            <p:spPr bwMode="auto">
              <a:xfrm>
                <a:off x="282" y="2297"/>
                <a:ext cx="757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200" i="1">
                    <a:solidFill>
                      <a:schemeClr val="bg1"/>
                    </a:solidFill>
                  </a:rPr>
                  <a:t>-A</a:t>
                </a:r>
                <a:r>
                  <a:rPr lang="en-US" altLang="zh-CN" sz="2200" i="1" baseline="-25000">
                    <a:solidFill>
                      <a:schemeClr val="bg1"/>
                    </a:solidFill>
                  </a:rPr>
                  <a:t>1</a:t>
                </a:r>
                <a:endParaRPr lang="en-US" altLang="zh-CN" sz="2200" i="1"/>
              </a:p>
            </p:txBody>
          </p:sp>
          <p:sp>
            <p:nvSpPr>
              <p:cNvPr id="16428" name="Rectangle 59"/>
              <p:cNvSpPr>
                <a:spLocks noChangeArrowheads="1"/>
              </p:cNvSpPr>
              <p:nvPr/>
            </p:nvSpPr>
            <p:spPr bwMode="auto">
              <a:xfrm>
                <a:off x="350" y="1521"/>
                <a:ext cx="30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200" i="1">
                    <a:solidFill>
                      <a:schemeClr val="bg1"/>
                    </a:solidFill>
                  </a:rPr>
                  <a:t>A</a:t>
                </a:r>
                <a:r>
                  <a:rPr lang="en-US" altLang="zh-CN" sz="2200" i="1" baseline="-25000">
                    <a:solidFill>
                      <a:schemeClr val="bg1"/>
                    </a:solidFill>
                  </a:rPr>
                  <a:t>2</a:t>
                </a:r>
                <a:endParaRPr lang="en-US" altLang="zh-CN" sz="2200" i="1">
                  <a:solidFill>
                    <a:schemeClr val="bg1"/>
                  </a:solidFill>
                </a:endParaRPr>
              </a:p>
            </p:txBody>
          </p:sp>
          <p:sp>
            <p:nvSpPr>
              <p:cNvPr id="16429" name="Rectangle 60"/>
              <p:cNvSpPr>
                <a:spLocks noChangeArrowheads="1"/>
              </p:cNvSpPr>
              <p:nvPr/>
            </p:nvSpPr>
            <p:spPr bwMode="auto">
              <a:xfrm>
                <a:off x="240" y="1969"/>
                <a:ext cx="537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200" i="1">
                    <a:solidFill>
                      <a:schemeClr val="bg1"/>
                    </a:solidFill>
                  </a:rPr>
                  <a:t>- A</a:t>
                </a:r>
                <a:r>
                  <a:rPr lang="en-US" altLang="zh-CN" sz="2200" i="1" baseline="-25000">
                    <a:solidFill>
                      <a:schemeClr val="bg1"/>
                    </a:solidFill>
                  </a:rPr>
                  <a:t>2</a:t>
                </a:r>
                <a:endParaRPr lang="en-US" altLang="zh-CN" sz="2200" i="1"/>
              </a:p>
            </p:txBody>
          </p:sp>
          <p:sp>
            <p:nvSpPr>
              <p:cNvPr id="16430" name="Rectangle 61"/>
              <p:cNvSpPr>
                <a:spLocks noChangeArrowheads="1"/>
              </p:cNvSpPr>
              <p:nvPr/>
            </p:nvSpPr>
            <p:spPr bwMode="auto">
              <a:xfrm>
                <a:off x="1449" y="1232"/>
                <a:ext cx="34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200" i="1">
                    <a:solidFill>
                      <a:srgbClr val="FF9933"/>
                    </a:solidFill>
                  </a:rPr>
                  <a:t>x</a:t>
                </a:r>
                <a:r>
                  <a:rPr lang="en-US" altLang="zh-CN" sz="2200" i="1" baseline="-25000">
                    <a:solidFill>
                      <a:srgbClr val="FF9933"/>
                    </a:solidFill>
                  </a:rPr>
                  <a:t>1</a:t>
                </a:r>
                <a:endParaRPr lang="en-US" altLang="zh-CN" sz="2200" i="1"/>
              </a:p>
            </p:txBody>
          </p:sp>
          <p:sp>
            <p:nvSpPr>
              <p:cNvPr id="16431" name="Rectangle 62"/>
              <p:cNvSpPr>
                <a:spLocks noChangeArrowheads="1"/>
              </p:cNvSpPr>
              <p:nvPr/>
            </p:nvSpPr>
            <p:spPr bwMode="auto">
              <a:xfrm>
                <a:off x="1161" y="1392"/>
                <a:ext cx="303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200" i="1">
                    <a:solidFill>
                      <a:srgbClr val="FFFF00"/>
                    </a:solidFill>
                  </a:rPr>
                  <a:t>x</a:t>
                </a:r>
                <a:r>
                  <a:rPr lang="en-US" altLang="zh-CN" sz="2200" i="1" baseline="-25000">
                    <a:solidFill>
                      <a:srgbClr val="FFFF00"/>
                    </a:solidFill>
                  </a:rPr>
                  <a:t>2</a:t>
                </a:r>
                <a:endParaRPr lang="en-US" altLang="zh-CN" sz="2200" i="1"/>
              </a:p>
            </p:txBody>
          </p:sp>
          <p:sp>
            <p:nvSpPr>
              <p:cNvPr id="16432" name="Rectangle 63"/>
              <p:cNvSpPr>
                <a:spLocks noChangeArrowheads="1"/>
              </p:cNvSpPr>
              <p:nvPr/>
            </p:nvSpPr>
            <p:spPr bwMode="auto">
              <a:xfrm>
                <a:off x="2538" y="1616"/>
                <a:ext cx="357" cy="1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200" i="1">
                    <a:solidFill>
                      <a:schemeClr val="bg1"/>
                    </a:solidFill>
                  </a:rPr>
                  <a:t>T</a:t>
                </a:r>
                <a:endParaRPr lang="en-US" altLang="zh-CN" sz="2200" i="1"/>
              </a:p>
            </p:txBody>
          </p:sp>
          <p:sp>
            <p:nvSpPr>
              <p:cNvPr id="16433" name="Rectangle 64"/>
              <p:cNvSpPr>
                <a:spLocks noChangeArrowheads="1"/>
              </p:cNvSpPr>
              <p:nvPr/>
            </p:nvSpPr>
            <p:spPr bwMode="auto">
              <a:xfrm>
                <a:off x="1932" y="1248"/>
                <a:ext cx="619" cy="1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200">
                    <a:solidFill>
                      <a:srgbClr val="FFFF66"/>
                    </a:solidFill>
                  </a:rPr>
                  <a:t>同相</a:t>
                </a:r>
              </a:p>
            </p:txBody>
          </p:sp>
        </p:grpSp>
      </p:grpSp>
      <p:graphicFrame>
        <p:nvGraphicFramePr>
          <p:cNvPr id="50" name="Object 2"/>
          <p:cNvGraphicFramePr>
            <a:graphicFrameLocks noChangeAspect="1"/>
          </p:cNvGraphicFramePr>
          <p:nvPr/>
        </p:nvGraphicFramePr>
        <p:xfrm>
          <a:off x="2860675" y="2579688"/>
          <a:ext cx="49688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74" name="公式" r:id="rId3" imgW="78105" imgH="122555" progId="Equation.3">
                  <p:embed/>
                </p:oleObj>
              </mc:Choice>
              <mc:Fallback>
                <p:oleObj name="公式" r:id="rId3" imgW="78105" imgH="12255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0675" y="2579688"/>
                        <a:ext cx="496888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3"/>
          <p:cNvGraphicFramePr>
            <a:graphicFrameLocks noChangeAspect="1"/>
          </p:cNvGraphicFramePr>
          <p:nvPr/>
        </p:nvGraphicFramePr>
        <p:xfrm>
          <a:off x="4016375" y="2559050"/>
          <a:ext cx="4603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75" name="公式" r:id="rId5" imgW="55880" imgH="122555" progId="Equation.3">
                  <p:embed/>
                </p:oleObj>
              </mc:Choice>
              <mc:Fallback>
                <p:oleObj name="公式" r:id="rId5" imgW="55880" imgH="12255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75" y="2559050"/>
                        <a:ext cx="46037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4"/>
          <p:cNvGraphicFramePr>
            <a:graphicFrameLocks noChangeAspect="1"/>
          </p:cNvGraphicFramePr>
          <p:nvPr/>
        </p:nvGraphicFramePr>
        <p:xfrm>
          <a:off x="1395413" y="2697163"/>
          <a:ext cx="123983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76" name="公式" r:id="rId7" imgW="434975" imgH="100330" progId="Equation.3">
                  <p:embed/>
                </p:oleObj>
              </mc:Choice>
              <mc:Fallback>
                <p:oleObj name="公式" r:id="rId7" imgW="434975" imgH="10033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413" y="2697163"/>
                        <a:ext cx="1239837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"/>
          <p:cNvGraphicFramePr>
            <a:graphicFrameLocks noChangeAspect="1"/>
          </p:cNvGraphicFramePr>
          <p:nvPr/>
        </p:nvGraphicFramePr>
        <p:xfrm>
          <a:off x="1395413" y="3279775"/>
          <a:ext cx="12398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77" name="公式" r:id="rId9" imgW="434975" imgH="100330" progId="Equation.3">
                  <p:embed/>
                </p:oleObj>
              </mc:Choice>
              <mc:Fallback>
                <p:oleObj name="公式" r:id="rId9" imgW="434975" imgH="10033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413" y="3279775"/>
                        <a:ext cx="123983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AutoShape 9"/>
          <p:cNvSpPr/>
          <p:nvPr/>
        </p:nvSpPr>
        <p:spPr bwMode="auto">
          <a:xfrm flipH="1">
            <a:off x="4614863" y="2786063"/>
            <a:ext cx="314325" cy="860425"/>
          </a:xfrm>
          <a:prstGeom prst="leftBrace">
            <a:avLst>
              <a:gd name="adj1" fmla="val 49982"/>
              <a:gd name="adj2" fmla="val 50000"/>
            </a:avLst>
          </a:prstGeom>
          <a:noFill/>
          <a:ln w="317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5" name="Text Box 10"/>
          <p:cNvSpPr txBox="1">
            <a:spLocks noChangeArrowheads="1"/>
          </p:cNvSpPr>
          <p:nvPr/>
        </p:nvSpPr>
        <p:spPr bwMode="auto">
          <a:xfrm>
            <a:off x="3311525" y="2644775"/>
            <a:ext cx="914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CCECFF"/>
                </a:solidFill>
              </a:rPr>
              <a:t>超前</a:t>
            </a:r>
          </a:p>
        </p:txBody>
      </p:sp>
      <p:sp>
        <p:nvSpPr>
          <p:cNvPr id="56" name="Text Box 11"/>
          <p:cNvSpPr txBox="1">
            <a:spLocks noChangeArrowheads="1"/>
          </p:cNvSpPr>
          <p:nvPr/>
        </p:nvSpPr>
        <p:spPr bwMode="auto">
          <a:xfrm>
            <a:off x="3305175" y="3222625"/>
            <a:ext cx="838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CCECFF"/>
                </a:solidFill>
              </a:rPr>
              <a:t>落后</a:t>
            </a:r>
          </a:p>
        </p:txBody>
      </p:sp>
      <p:graphicFrame>
        <p:nvGraphicFramePr>
          <p:cNvPr id="57" name="Object 6"/>
          <p:cNvGraphicFramePr>
            <a:graphicFrameLocks noChangeAspect="1"/>
          </p:cNvGraphicFramePr>
          <p:nvPr/>
        </p:nvGraphicFramePr>
        <p:xfrm>
          <a:off x="2860675" y="3146425"/>
          <a:ext cx="496888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78" name="公式" r:id="rId11" imgW="78105" imgH="122555" progId="Equation.3">
                  <p:embed/>
                </p:oleObj>
              </mc:Choice>
              <mc:Fallback>
                <p:oleObj name="公式" r:id="rId11" imgW="78105" imgH="12255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0675" y="3146425"/>
                        <a:ext cx="496888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7"/>
          <p:cNvGraphicFramePr>
            <a:graphicFrameLocks noChangeAspect="1"/>
          </p:cNvGraphicFramePr>
          <p:nvPr/>
        </p:nvGraphicFramePr>
        <p:xfrm>
          <a:off x="4016375" y="3146425"/>
          <a:ext cx="4603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79" name="公式" r:id="rId13" imgW="55880" imgH="122555" progId="Equation.3">
                  <p:embed/>
                </p:oleObj>
              </mc:Choice>
              <mc:Fallback>
                <p:oleObj name="公式" r:id="rId13" imgW="55880" imgH="12255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75" y="3146425"/>
                        <a:ext cx="46037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2"/>
          <p:cNvGraphicFramePr>
            <a:graphicFrameLocks noChangeAspect="1"/>
          </p:cNvGraphicFramePr>
          <p:nvPr/>
        </p:nvGraphicFramePr>
        <p:xfrm>
          <a:off x="5143500" y="2982913"/>
          <a:ext cx="1989138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0" name="公式" r:id="rId15" imgW="880745" imgH="100330" progId="Equation.3">
                  <p:embed/>
                </p:oleObj>
              </mc:Choice>
              <mc:Fallback>
                <p:oleObj name="公式" r:id="rId15" imgW="880745" imgH="10033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2982913"/>
                        <a:ext cx="1989138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 Box 4"/>
          <p:cNvSpPr txBox="1">
            <a:spLocks noChangeArrowheads="1"/>
          </p:cNvSpPr>
          <p:nvPr/>
        </p:nvSpPr>
        <p:spPr bwMode="auto">
          <a:xfrm>
            <a:off x="428625" y="3787775"/>
            <a:ext cx="59864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  <a:ea typeface="楷体_GB2312" pitchFamily="49" charset="-122"/>
              </a:rPr>
              <a:t>3.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振幅和初相的确定（</a:t>
            </a:r>
            <a:r>
              <a:rPr lang="zh-CN" altLang="en-US" sz="2200">
                <a:solidFill>
                  <a:srgbClr val="FFFF00"/>
                </a:solidFill>
                <a:ea typeface="楷体_GB2312" pitchFamily="49" charset="-122"/>
              </a:rPr>
              <a:t>运动的初始条件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）</a:t>
            </a:r>
          </a:p>
        </p:txBody>
      </p:sp>
      <p:graphicFrame>
        <p:nvGraphicFramePr>
          <p:cNvPr id="66" name="Object 63"/>
          <p:cNvGraphicFramePr>
            <a:graphicFrameLocks noChangeAspect="1"/>
          </p:cNvGraphicFramePr>
          <p:nvPr/>
        </p:nvGraphicFramePr>
        <p:xfrm>
          <a:off x="785813" y="4384675"/>
          <a:ext cx="352901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1" name="公式" r:id="rId17" imgW="3222625" imgH="323215" progId="Equation.3">
                  <p:embed/>
                </p:oleObj>
              </mc:Choice>
              <mc:Fallback>
                <p:oleObj name="公式" r:id="rId17" imgW="3222625" imgH="323215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4384675"/>
                        <a:ext cx="3529012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AutoShape 4"/>
          <p:cNvSpPr>
            <a:spLocks noChangeArrowheads="1"/>
          </p:cNvSpPr>
          <p:nvPr/>
        </p:nvSpPr>
        <p:spPr bwMode="auto">
          <a:xfrm>
            <a:off x="4572000" y="4572000"/>
            <a:ext cx="857250" cy="169863"/>
          </a:xfrm>
          <a:prstGeom prst="rightArrow">
            <a:avLst>
              <a:gd name="adj1" fmla="val 50000"/>
              <a:gd name="adj2" fmla="val 8135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8" name="Object 64"/>
          <p:cNvGraphicFramePr>
            <a:graphicFrameLocks noChangeAspect="1"/>
          </p:cNvGraphicFramePr>
          <p:nvPr/>
        </p:nvGraphicFramePr>
        <p:xfrm>
          <a:off x="5500688" y="4357688"/>
          <a:ext cx="21875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2" name="公式" r:id="rId19" imgW="1873250" imgH="368300" progId="Equation.3">
                  <p:embed/>
                </p:oleObj>
              </mc:Choice>
              <mc:Fallback>
                <p:oleObj name="公式" r:id="rId19" imgW="1873250" imgH="36830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4357688"/>
                        <a:ext cx="218757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5"/>
          <p:cNvGraphicFramePr>
            <a:graphicFrameLocks noChangeAspect="1"/>
          </p:cNvGraphicFramePr>
          <p:nvPr/>
        </p:nvGraphicFramePr>
        <p:xfrm>
          <a:off x="785813" y="5027613"/>
          <a:ext cx="36036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3" name="公式" r:id="rId21" imgW="3378835" imgH="323215" progId="Equation.3">
                  <p:embed/>
                </p:oleObj>
              </mc:Choice>
              <mc:Fallback>
                <p:oleObj name="公式" r:id="rId21" imgW="3378835" imgH="323215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5027613"/>
                        <a:ext cx="36036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AutoShape 7"/>
          <p:cNvSpPr>
            <a:spLocks noChangeArrowheads="1"/>
          </p:cNvSpPr>
          <p:nvPr/>
        </p:nvSpPr>
        <p:spPr bwMode="auto">
          <a:xfrm>
            <a:off x="4572000" y="5143500"/>
            <a:ext cx="857250" cy="187325"/>
          </a:xfrm>
          <a:prstGeom prst="rightArrow">
            <a:avLst>
              <a:gd name="adj1" fmla="val 50000"/>
              <a:gd name="adj2" fmla="val 82373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1" name="Object 66"/>
          <p:cNvGraphicFramePr>
            <a:graphicFrameLocks noChangeAspect="1"/>
          </p:cNvGraphicFramePr>
          <p:nvPr/>
        </p:nvGraphicFramePr>
        <p:xfrm>
          <a:off x="5500688" y="5000625"/>
          <a:ext cx="279876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4" name="公式" r:id="rId23" imgW="2453005" imgH="368300" progId="Equation.3">
                  <p:embed/>
                </p:oleObj>
              </mc:Choice>
              <mc:Fallback>
                <p:oleObj name="公式" r:id="rId23" imgW="2453005" imgH="36830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5000625"/>
                        <a:ext cx="2798762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9" name="Object 67"/>
          <p:cNvGraphicFramePr/>
          <p:nvPr/>
        </p:nvGraphicFramePr>
        <p:xfrm>
          <a:off x="1281113" y="5648325"/>
          <a:ext cx="20764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5" name="公式" r:id="rId25" imgW="2308225" imgH="948055" progId="Equation.3">
                  <p:embed/>
                </p:oleObj>
              </mc:Choice>
              <mc:Fallback>
                <p:oleObj name="公式" r:id="rId25" imgW="2308225" imgH="948055" progId="Equation.3">
                  <p:embed/>
                  <p:pic>
                    <p:nvPicPr>
                      <p:cNvPr id="0" name="Object 67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13" y="5648325"/>
                        <a:ext cx="2076450" cy="928688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0" name="Object 68"/>
          <p:cNvGraphicFramePr/>
          <p:nvPr/>
        </p:nvGraphicFramePr>
        <p:xfrm>
          <a:off x="3714750" y="5643563"/>
          <a:ext cx="22637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86" name="公式" r:id="rId27" imgW="2508885" imgH="936625" progId="Equation.3">
                  <p:embed/>
                </p:oleObj>
              </mc:Choice>
              <mc:Fallback>
                <p:oleObj name="公式" r:id="rId27" imgW="2508885" imgH="936625" progId="Equation.3">
                  <p:embed/>
                  <p:pic>
                    <p:nvPicPr>
                      <p:cNvPr id="0" name="Object 68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5643563"/>
                        <a:ext cx="2263775" cy="9112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 Box 11"/>
          <p:cNvSpPr txBox="1">
            <a:spLocks noChangeArrowheads="1"/>
          </p:cNvSpPr>
          <p:nvPr/>
        </p:nvSpPr>
        <p:spPr bwMode="auto">
          <a:xfrm>
            <a:off x="6143625" y="5670550"/>
            <a:ext cx="25003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注意</a:t>
            </a:r>
            <a:r>
              <a:rPr lang="en-US" altLang="zh-CN">
                <a:solidFill>
                  <a:srgbClr val="FFFF00"/>
                </a:solidFill>
              </a:rPr>
              <a:t>:</a:t>
            </a:r>
            <a:r>
              <a:rPr lang="en-US" altLang="zh-CN">
                <a:solidFill>
                  <a:srgbClr val="00FFFF"/>
                </a:solidFill>
              </a:rPr>
              <a:t>  </a:t>
            </a:r>
          </a:p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如何最后确定</a:t>
            </a:r>
            <a:r>
              <a:rPr lang="zh-CN" altLang="en-US"/>
              <a:t> </a:t>
            </a:r>
            <a:r>
              <a:rPr lang="zh-CN" altLang="en-US" i="1">
                <a:solidFill>
                  <a:srgbClr val="FFFF00"/>
                </a:solidFill>
                <a:latin typeface="Bookman Old Style" panose="02050604050505020204" pitchFamily="18" charset="0"/>
                <a:sym typeface="Symbol" panose="05050102010706020507" pitchFamily="18" charset="2"/>
              </a:rPr>
              <a:t></a:t>
            </a:r>
            <a:r>
              <a:rPr lang="zh-CN" altLang="en-US" i="1">
                <a:solidFill>
                  <a:srgbClr val="FFFF00"/>
                </a:solidFill>
                <a:sym typeface="Symbol" panose="05050102010706020507" pitchFamily="18" charset="2"/>
              </a:rPr>
              <a:t> </a:t>
            </a:r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16408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E2D183A-DB7C-4A16-AF61-E938D6E4459B}" type="slidenum">
              <a:rPr lang="en-US" altLang="zh-CN" b="0">
                <a:solidFill>
                  <a:srgbClr val="FF00FF"/>
                </a:solidFill>
              </a:rPr>
              <a:t>12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74" name="Rectangle 16"/>
          <p:cNvSpPr>
            <a:spLocks noChangeArrowheads="1"/>
          </p:cNvSpPr>
          <p:nvPr/>
        </p:nvSpPr>
        <p:spPr bwMode="auto">
          <a:xfrm>
            <a:off x="4735513" y="4743450"/>
            <a:ext cx="9794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00"/>
                </a:solidFill>
              </a:rPr>
              <a:t>t =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0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0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utoUpdateAnimBg="0"/>
      <p:bldP spid="56" grpId="0" autoUpdateAnimBg="0"/>
      <p:bldP spid="65" grpId="0" autoUpdateAnimBg="0"/>
      <p:bldP spid="67" grpId="0" animBg="1"/>
      <p:bldP spid="70" grpId="0" animBg="1"/>
      <p:bldP spid="72" grpId="0"/>
      <p:bldP spid="7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1021904" y="904875"/>
            <a:ext cx="2792413" cy="1309688"/>
            <a:chOff x="432" y="36"/>
            <a:chExt cx="1759" cy="825"/>
          </a:xfrm>
        </p:grpSpPr>
        <p:sp>
          <p:nvSpPr>
            <p:cNvPr id="17607" name="Rectangle 3"/>
            <p:cNvSpPr>
              <a:spLocks noChangeAspect="1" noChangeArrowheads="1"/>
            </p:cNvSpPr>
            <p:nvPr/>
          </p:nvSpPr>
          <p:spPr bwMode="auto">
            <a:xfrm>
              <a:off x="2008" y="590"/>
              <a:ext cx="1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66FFFF"/>
                  </a:solidFill>
                </a:rPr>
                <a:t>x</a:t>
              </a:r>
              <a:endParaRPr lang="en-US" altLang="zh-CN" sz="1000" b="0"/>
            </a:p>
          </p:txBody>
        </p:sp>
        <p:sp>
          <p:nvSpPr>
            <p:cNvPr id="17608" name="Line 4"/>
            <p:cNvSpPr>
              <a:spLocks noChangeAspect="1" noChangeShapeType="1"/>
            </p:cNvSpPr>
            <p:nvPr/>
          </p:nvSpPr>
          <p:spPr bwMode="auto">
            <a:xfrm>
              <a:off x="1219" y="328"/>
              <a:ext cx="1" cy="25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609" name="Group 5"/>
            <p:cNvGrpSpPr>
              <a:grpSpLocks noChangeAspect="1"/>
            </p:cNvGrpSpPr>
            <p:nvPr/>
          </p:nvGrpSpPr>
          <p:grpSpPr bwMode="auto">
            <a:xfrm>
              <a:off x="440" y="473"/>
              <a:ext cx="1053" cy="73"/>
              <a:chOff x="0" y="14"/>
              <a:chExt cx="20001" cy="19978"/>
            </a:xfrm>
          </p:grpSpPr>
          <p:grpSp>
            <p:nvGrpSpPr>
              <p:cNvPr id="17618" name="Group 6"/>
              <p:cNvGrpSpPr>
                <a:grpSpLocks noChangeAspect="1"/>
              </p:cNvGrpSpPr>
              <p:nvPr/>
            </p:nvGrpSpPr>
            <p:grpSpPr bwMode="auto">
              <a:xfrm>
                <a:off x="0" y="14"/>
                <a:ext cx="17937" cy="19978"/>
                <a:chOff x="0" y="14"/>
                <a:chExt cx="19999" cy="19978"/>
              </a:xfrm>
            </p:grpSpPr>
            <p:sp>
              <p:nvSpPr>
                <p:cNvPr id="17621" name="Line 7"/>
                <p:cNvSpPr>
                  <a:spLocks noChangeAspect="1" noChangeShapeType="1"/>
                </p:cNvSpPr>
                <p:nvPr/>
              </p:nvSpPr>
              <p:spPr bwMode="auto">
                <a:xfrm>
                  <a:off x="0" y="11528"/>
                  <a:ext cx="2597" cy="135"/>
                </a:xfrm>
                <a:prstGeom prst="line">
                  <a:avLst/>
                </a:prstGeom>
                <a:noFill/>
                <a:ln w="38100">
                  <a:solidFill>
                    <a:srgbClr val="00FF00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7622" name="Group 8"/>
                <p:cNvGrpSpPr>
                  <a:grpSpLocks noChangeAspect="1"/>
                </p:cNvGrpSpPr>
                <p:nvPr/>
              </p:nvGrpSpPr>
              <p:grpSpPr bwMode="auto">
                <a:xfrm>
                  <a:off x="3017" y="14"/>
                  <a:ext cx="16982" cy="19978"/>
                  <a:chOff x="0" y="2"/>
                  <a:chExt cx="19987" cy="19996"/>
                </a:xfrm>
              </p:grpSpPr>
              <p:grpSp>
                <p:nvGrpSpPr>
                  <p:cNvPr id="17624" name="Group 9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0" y="2"/>
                    <a:ext cx="7123" cy="19996"/>
                    <a:chOff x="0" y="2"/>
                    <a:chExt cx="19985" cy="19996"/>
                  </a:xfrm>
                </p:grpSpPr>
                <p:grpSp>
                  <p:nvGrpSpPr>
                    <p:cNvPr id="17657" name="Group 10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0" y="786"/>
                      <a:ext cx="7188" cy="19212"/>
                      <a:chOff x="0" y="0"/>
                      <a:chExt cx="19992" cy="19999"/>
                    </a:xfrm>
                  </p:grpSpPr>
                  <p:sp>
                    <p:nvSpPr>
                      <p:cNvPr id="17668" name="Arc 11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0" y="1112"/>
                        <a:ext cx="13851" cy="13642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69" name="Arc 12"/>
                      <p:cNvSpPr>
                        <a:spLocks noChangeAspect="1"/>
                      </p:cNvSpPr>
                      <p:nvPr/>
                    </p:nvSpPr>
                    <p:spPr bwMode="auto">
                      <a:xfrm flipH="1">
                        <a:off x="6850" y="0"/>
                        <a:ext cx="13142" cy="15162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70" name="Arc 13"/>
                      <p:cNvSpPr>
                        <a:spLocks noChangeAspect="1"/>
                      </p:cNvSpPr>
                      <p:nvPr/>
                    </p:nvSpPr>
                    <p:spPr bwMode="auto">
                      <a:xfrm flipH="1" flipV="1">
                        <a:off x="7476" y="15712"/>
                        <a:ext cx="1911" cy="3865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71" name="Arc 14"/>
                      <p:cNvSpPr>
                        <a:spLocks noChangeAspect="1"/>
                      </p:cNvSpPr>
                      <p:nvPr/>
                    </p:nvSpPr>
                    <p:spPr bwMode="auto">
                      <a:xfrm flipV="1">
                        <a:off x="10613" y="15035"/>
                        <a:ext cx="2473" cy="4964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17658" name="Group 15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6290" y="394"/>
                      <a:ext cx="7227" cy="19334"/>
                      <a:chOff x="0" y="0"/>
                      <a:chExt cx="20000" cy="20000"/>
                    </a:xfrm>
                  </p:grpSpPr>
                  <p:sp>
                    <p:nvSpPr>
                      <p:cNvPr id="17664" name="Arc 16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0" y="965"/>
                        <a:ext cx="13765" cy="13558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65" name="Arc 17"/>
                      <p:cNvSpPr>
                        <a:spLocks noChangeAspect="1"/>
                      </p:cNvSpPr>
                      <p:nvPr/>
                    </p:nvSpPr>
                    <p:spPr bwMode="auto">
                      <a:xfrm flipH="1">
                        <a:off x="6871" y="0"/>
                        <a:ext cx="13129" cy="15067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66" name="Arc 18"/>
                      <p:cNvSpPr>
                        <a:spLocks noChangeAspect="1"/>
                      </p:cNvSpPr>
                      <p:nvPr/>
                    </p:nvSpPr>
                    <p:spPr bwMode="auto">
                      <a:xfrm flipH="1" flipV="1">
                        <a:off x="7439" y="15347"/>
                        <a:ext cx="1854" cy="3841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67" name="Arc 19"/>
                      <p:cNvSpPr>
                        <a:spLocks noChangeAspect="1"/>
                      </p:cNvSpPr>
                      <p:nvPr/>
                    </p:nvSpPr>
                    <p:spPr bwMode="auto">
                      <a:xfrm flipV="1">
                        <a:off x="10497" y="15067"/>
                        <a:ext cx="2537" cy="4933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17659" name="Group 20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2777" y="2"/>
                      <a:ext cx="7208" cy="19333"/>
                      <a:chOff x="3" y="0"/>
                      <a:chExt cx="20000" cy="20001"/>
                    </a:xfrm>
                  </p:grpSpPr>
                  <p:sp>
                    <p:nvSpPr>
                      <p:cNvPr id="17660" name="Arc 21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3" y="813"/>
                        <a:ext cx="13771" cy="13571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61" name="Arc 22"/>
                      <p:cNvSpPr>
                        <a:spLocks noChangeAspect="1"/>
                      </p:cNvSpPr>
                      <p:nvPr/>
                    </p:nvSpPr>
                    <p:spPr bwMode="auto">
                      <a:xfrm flipH="1">
                        <a:off x="6884" y="0"/>
                        <a:ext cx="13119" cy="15069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62" name="Arc 23"/>
                      <p:cNvSpPr>
                        <a:spLocks noChangeAspect="1"/>
                      </p:cNvSpPr>
                      <p:nvPr/>
                    </p:nvSpPr>
                    <p:spPr bwMode="auto">
                      <a:xfrm flipH="1" flipV="1">
                        <a:off x="7561" y="15474"/>
                        <a:ext cx="1815" cy="3842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63" name="Arc 24"/>
                      <p:cNvSpPr>
                        <a:spLocks noChangeAspect="1"/>
                      </p:cNvSpPr>
                      <p:nvPr/>
                    </p:nvSpPr>
                    <p:spPr bwMode="auto">
                      <a:xfrm flipV="1">
                        <a:off x="10622" y="15069"/>
                        <a:ext cx="2522" cy="4932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17625" name="Group 25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6261" y="2"/>
                    <a:ext cx="7123" cy="19996"/>
                    <a:chOff x="-6" y="0"/>
                    <a:chExt cx="20005" cy="20000"/>
                  </a:xfrm>
                </p:grpSpPr>
                <p:grpSp>
                  <p:nvGrpSpPr>
                    <p:cNvPr id="17642" name="Group 26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-6" y="786"/>
                      <a:ext cx="7195" cy="19214"/>
                      <a:chOff x="0" y="0"/>
                      <a:chExt cx="20000" cy="20001"/>
                    </a:xfrm>
                  </p:grpSpPr>
                  <p:sp>
                    <p:nvSpPr>
                      <p:cNvPr id="17653" name="Arc 27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0" y="1110"/>
                        <a:ext cx="13857" cy="13644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54" name="Arc 28"/>
                      <p:cNvSpPr>
                        <a:spLocks noChangeAspect="1"/>
                      </p:cNvSpPr>
                      <p:nvPr/>
                    </p:nvSpPr>
                    <p:spPr bwMode="auto">
                      <a:xfrm flipH="1">
                        <a:off x="6855" y="0"/>
                        <a:ext cx="13145" cy="15163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55" name="Arc 29"/>
                      <p:cNvSpPr>
                        <a:spLocks noChangeAspect="1"/>
                      </p:cNvSpPr>
                      <p:nvPr/>
                    </p:nvSpPr>
                    <p:spPr bwMode="auto">
                      <a:xfrm flipH="1" flipV="1">
                        <a:off x="7525" y="15712"/>
                        <a:ext cx="1826" cy="3867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56" name="Arc 30"/>
                      <p:cNvSpPr>
                        <a:spLocks noChangeAspect="1"/>
                      </p:cNvSpPr>
                      <p:nvPr/>
                    </p:nvSpPr>
                    <p:spPr bwMode="auto">
                      <a:xfrm flipV="1">
                        <a:off x="10655" y="15036"/>
                        <a:ext cx="2563" cy="4965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17643" name="Group 31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6282" y="392"/>
                      <a:ext cx="7232" cy="19338"/>
                      <a:chOff x="-22" y="0"/>
                      <a:chExt cx="20031" cy="20000"/>
                    </a:xfrm>
                  </p:grpSpPr>
                  <p:sp>
                    <p:nvSpPr>
                      <p:cNvPr id="17649" name="Arc 32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-22" y="965"/>
                        <a:ext cx="13738" cy="13558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50" name="Arc 33"/>
                      <p:cNvSpPr>
                        <a:spLocks noChangeAspect="1"/>
                      </p:cNvSpPr>
                      <p:nvPr/>
                    </p:nvSpPr>
                    <p:spPr bwMode="auto">
                      <a:xfrm flipH="1">
                        <a:off x="6864" y="0"/>
                        <a:ext cx="13145" cy="15067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51" name="Arc 34"/>
                      <p:cNvSpPr>
                        <a:spLocks noChangeAspect="1"/>
                      </p:cNvSpPr>
                      <p:nvPr/>
                    </p:nvSpPr>
                    <p:spPr bwMode="auto">
                      <a:xfrm flipH="1" flipV="1">
                        <a:off x="7509" y="15347"/>
                        <a:ext cx="1859" cy="3841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52" name="Arc 35"/>
                      <p:cNvSpPr>
                        <a:spLocks noChangeAspect="1"/>
                      </p:cNvSpPr>
                      <p:nvPr/>
                    </p:nvSpPr>
                    <p:spPr bwMode="auto">
                      <a:xfrm flipV="1">
                        <a:off x="10597" y="15067"/>
                        <a:ext cx="2496" cy="4933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17644" name="Group 36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2770" y="0"/>
                      <a:ext cx="7229" cy="19337"/>
                      <a:chOff x="-8" y="0"/>
                      <a:chExt cx="20008" cy="20001"/>
                    </a:xfrm>
                  </p:grpSpPr>
                  <p:sp>
                    <p:nvSpPr>
                      <p:cNvPr id="17645" name="Arc 37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-8" y="813"/>
                        <a:ext cx="13767" cy="13571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46" name="Arc 38"/>
                      <p:cNvSpPr>
                        <a:spLocks noChangeAspect="1"/>
                      </p:cNvSpPr>
                      <p:nvPr/>
                    </p:nvSpPr>
                    <p:spPr bwMode="auto">
                      <a:xfrm flipH="1">
                        <a:off x="6878" y="0"/>
                        <a:ext cx="13122" cy="15069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47" name="Arc 39"/>
                      <p:cNvSpPr>
                        <a:spLocks noChangeAspect="1"/>
                      </p:cNvSpPr>
                      <p:nvPr/>
                    </p:nvSpPr>
                    <p:spPr bwMode="auto">
                      <a:xfrm flipH="1" flipV="1">
                        <a:off x="7639" y="15473"/>
                        <a:ext cx="1827" cy="3843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48" name="Arc 40"/>
                      <p:cNvSpPr>
                        <a:spLocks noChangeAspect="1"/>
                      </p:cNvSpPr>
                      <p:nvPr/>
                    </p:nvSpPr>
                    <p:spPr bwMode="auto">
                      <a:xfrm flipV="1">
                        <a:off x="10695" y="15069"/>
                        <a:ext cx="2527" cy="4932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17626" name="Group 41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2864" y="2"/>
                    <a:ext cx="7123" cy="19996"/>
                    <a:chOff x="-6" y="0"/>
                    <a:chExt cx="20004" cy="20000"/>
                  </a:xfrm>
                </p:grpSpPr>
                <p:grpSp>
                  <p:nvGrpSpPr>
                    <p:cNvPr id="17627" name="Group 42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-6" y="786"/>
                      <a:ext cx="7203" cy="19214"/>
                      <a:chOff x="-8" y="0"/>
                      <a:chExt cx="20008" cy="20001"/>
                    </a:xfrm>
                  </p:grpSpPr>
                  <p:sp>
                    <p:nvSpPr>
                      <p:cNvPr id="17638" name="Arc 43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-8" y="1110"/>
                        <a:ext cx="13869" cy="13644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39" name="Arc 44"/>
                      <p:cNvSpPr>
                        <a:spLocks noChangeAspect="1"/>
                      </p:cNvSpPr>
                      <p:nvPr/>
                    </p:nvSpPr>
                    <p:spPr bwMode="auto">
                      <a:xfrm flipH="1">
                        <a:off x="6864" y="0"/>
                        <a:ext cx="13136" cy="15163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40" name="Arc 45"/>
                      <p:cNvSpPr>
                        <a:spLocks noChangeAspect="1"/>
                      </p:cNvSpPr>
                      <p:nvPr/>
                    </p:nvSpPr>
                    <p:spPr bwMode="auto">
                      <a:xfrm flipH="1" flipV="1">
                        <a:off x="7597" y="15712"/>
                        <a:ext cx="1864" cy="3867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41" name="Arc 46"/>
                      <p:cNvSpPr>
                        <a:spLocks noChangeAspect="1"/>
                      </p:cNvSpPr>
                      <p:nvPr/>
                    </p:nvSpPr>
                    <p:spPr bwMode="auto">
                      <a:xfrm flipV="1">
                        <a:off x="10664" y="15036"/>
                        <a:ext cx="2494" cy="4965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17628" name="Group 47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6321" y="392"/>
                      <a:ext cx="7226" cy="19338"/>
                      <a:chOff x="0" y="0"/>
                      <a:chExt cx="20003" cy="20000"/>
                    </a:xfrm>
                  </p:grpSpPr>
                  <p:sp>
                    <p:nvSpPr>
                      <p:cNvPr id="17634" name="Arc 48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0" y="965"/>
                        <a:ext cx="13783" cy="13558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35" name="Arc 49"/>
                      <p:cNvSpPr>
                        <a:spLocks noChangeAspect="1"/>
                      </p:cNvSpPr>
                      <p:nvPr/>
                    </p:nvSpPr>
                    <p:spPr bwMode="auto">
                      <a:xfrm flipH="1">
                        <a:off x="6871" y="0"/>
                        <a:ext cx="13132" cy="15067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36" name="Arc 50"/>
                      <p:cNvSpPr>
                        <a:spLocks noChangeAspect="1"/>
                      </p:cNvSpPr>
                      <p:nvPr/>
                    </p:nvSpPr>
                    <p:spPr bwMode="auto">
                      <a:xfrm flipH="1" flipV="1">
                        <a:off x="7441" y="15347"/>
                        <a:ext cx="1904" cy="3841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37" name="Arc 51"/>
                      <p:cNvSpPr>
                        <a:spLocks noChangeAspect="1"/>
                      </p:cNvSpPr>
                      <p:nvPr/>
                    </p:nvSpPr>
                    <p:spPr bwMode="auto">
                      <a:xfrm flipV="1">
                        <a:off x="10541" y="15067"/>
                        <a:ext cx="2489" cy="4933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17629" name="Group 52"/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12806" y="0"/>
                      <a:ext cx="7192" cy="19337"/>
                      <a:chOff x="0" y="0"/>
                      <a:chExt cx="20000" cy="20001"/>
                    </a:xfrm>
                  </p:grpSpPr>
                  <p:sp>
                    <p:nvSpPr>
                      <p:cNvPr id="17630" name="Arc 53"/>
                      <p:cNvSpPr>
                        <a:spLocks noChangeAspect="1"/>
                      </p:cNvSpPr>
                      <p:nvPr/>
                    </p:nvSpPr>
                    <p:spPr bwMode="auto">
                      <a:xfrm>
                        <a:off x="0" y="813"/>
                        <a:ext cx="13854" cy="13571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31" name="Arc 54"/>
                      <p:cNvSpPr>
                        <a:spLocks noChangeAspect="1"/>
                      </p:cNvSpPr>
                      <p:nvPr/>
                    </p:nvSpPr>
                    <p:spPr bwMode="auto">
                      <a:xfrm flipH="1">
                        <a:off x="6849" y="0"/>
                        <a:ext cx="13151" cy="15069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1 w 21600"/>
                          <a:gd name="T3" fmla="*/ 1 h 21600"/>
                          <a:gd name="T4" fmla="*/ 0 w 21600"/>
                          <a:gd name="T5" fmla="*/ 1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32" name="Arc 55"/>
                      <p:cNvSpPr>
                        <a:spLocks noChangeAspect="1"/>
                      </p:cNvSpPr>
                      <p:nvPr/>
                    </p:nvSpPr>
                    <p:spPr bwMode="auto">
                      <a:xfrm flipH="1" flipV="1">
                        <a:off x="7519" y="15473"/>
                        <a:ext cx="1822" cy="3843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7633" name="Arc 56"/>
                      <p:cNvSpPr>
                        <a:spLocks noChangeAspect="1"/>
                      </p:cNvSpPr>
                      <p:nvPr/>
                    </p:nvSpPr>
                    <p:spPr bwMode="auto">
                      <a:xfrm flipV="1">
                        <a:off x="10551" y="15069"/>
                        <a:ext cx="2561" cy="4932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FF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  <p:sp>
              <p:nvSpPr>
                <p:cNvPr id="17623" name="Arc 57"/>
                <p:cNvSpPr>
                  <a:spLocks noChangeAspect="1"/>
                </p:cNvSpPr>
                <p:nvPr/>
              </p:nvSpPr>
              <p:spPr bwMode="auto">
                <a:xfrm flipH="1">
                  <a:off x="2727" y="1608"/>
                  <a:ext cx="435" cy="846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619" name="Arc 58"/>
              <p:cNvSpPr>
                <a:spLocks noChangeAspect="1"/>
              </p:cNvSpPr>
              <p:nvPr/>
            </p:nvSpPr>
            <p:spPr bwMode="auto">
              <a:xfrm>
                <a:off x="17548" y="14"/>
                <a:ext cx="1423" cy="1176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1 h 21600"/>
                  <a:gd name="T4" fmla="*/ 0 w 21600"/>
                  <a:gd name="T5" fmla="*/ 1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0" name="Line 59"/>
              <p:cNvSpPr>
                <a:spLocks noChangeAspect="1" noChangeShapeType="1"/>
              </p:cNvSpPr>
              <p:nvPr/>
            </p:nvSpPr>
            <p:spPr bwMode="auto">
              <a:xfrm>
                <a:off x="18832" y="13365"/>
                <a:ext cx="1169" cy="148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610" name="Rectangle 60"/>
            <p:cNvSpPr>
              <a:spLocks noChangeAspect="1" noChangeArrowheads="1"/>
            </p:cNvSpPr>
            <p:nvPr/>
          </p:nvSpPr>
          <p:spPr bwMode="auto">
            <a:xfrm>
              <a:off x="1500" y="461"/>
              <a:ext cx="170" cy="115"/>
            </a:xfrm>
            <a:prstGeom prst="rect">
              <a:avLst/>
            </a:prstGeom>
            <a:solidFill>
              <a:srgbClr val="00FF00"/>
            </a:solidFill>
            <a:ln w="25400">
              <a:solidFill>
                <a:srgbClr val="00FF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611" name="Line 61"/>
            <p:cNvSpPr>
              <a:spLocks noChangeAspect="1" noChangeShapeType="1"/>
            </p:cNvSpPr>
            <p:nvPr/>
          </p:nvSpPr>
          <p:spPr bwMode="auto">
            <a:xfrm>
              <a:off x="432" y="264"/>
              <a:ext cx="0" cy="318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2" name="Line 62"/>
            <p:cNvSpPr>
              <a:spLocks noChangeAspect="1" noChangeShapeType="1"/>
            </p:cNvSpPr>
            <p:nvPr/>
          </p:nvSpPr>
          <p:spPr bwMode="auto">
            <a:xfrm>
              <a:off x="432" y="576"/>
              <a:ext cx="1588" cy="1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" name="Rectangle 63"/>
            <p:cNvSpPr>
              <a:spLocks noChangeAspect="1" noChangeArrowheads="1"/>
            </p:cNvSpPr>
            <p:nvPr/>
          </p:nvSpPr>
          <p:spPr bwMode="auto">
            <a:xfrm>
              <a:off x="1517" y="180"/>
              <a:ext cx="173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00FF00"/>
                  </a:solidFill>
                </a:rPr>
                <a:t>m</a:t>
              </a:r>
              <a:endParaRPr lang="en-US" altLang="zh-CN" sz="1800" b="0"/>
            </a:p>
          </p:txBody>
        </p:sp>
        <p:sp>
          <p:nvSpPr>
            <p:cNvPr id="17614" name="Rectangle 64"/>
            <p:cNvSpPr>
              <a:spLocks noChangeAspect="1" noChangeArrowheads="1"/>
            </p:cNvSpPr>
            <p:nvPr/>
          </p:nvSpPr>
          <p:spPr bwMode="auto">
            <a:xfrm>
              <a:off x="1171" y="552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66FFFF"/>
                  </a:solidFill>
                </a:rPr>
                <a:t>o</a:t>
              </a:r>
              <a:endParaRPr lang="en-US" altLang="zh-CN" i="1"/>
            </a:p>
          </p:txBody>
        </p:sp>
        <p:sp>
          <p:nvSpPr>
            <p:cNvPr id="17615" name="Rectangle 65"/>
            <p:cNvSpPr>
              <a:spLocks noChangeAspect="1" noChangeArrowheads="1"/>
            </p:cNvSpPr>
            <p:nvPr/>
          </p:nvSpPr>
          <p:spPr bwMode="auto">
            <a:xfrm>
              <a:off x="1517" y="587"/>
              <a:ext cx="193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A</a:t>
              </a:r>
              <a:endParaRPr lang="en-US" altLang="zh-CN" sz="1000" b="0"/>
            </a:p>
          </p:txBody>
        </p:sp>
        <p:sp>
          <p:nvSpPr>
            <p:cNvPr id="17616" name="Line 66"/>
            <p:cNvSpPr>
              <a:spLocks noChangeAspect="1" noChangeShapeType="1"/>
            </p:cNvSpPr>
            <p:nvPr/>
          </p:nvSpPr>
          <p:spPr bwMode="auto">
            <a:xfrm>
              <a:off x="1575" y="372"/>
              <a:ext cx="0" cy="24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" name="Rectangle 67"/>
            <p:cNvSpPr>
              <a:spLocks noChangeAspect="1" noChangeArrowheads="1"/>
            </p:cNvSpPr>
            <p:nvPr/>
          </p:nvSpPr>
          <p:spPr bwMode="auto">
            <a:xfrm>
              <a:off x="1536" y="36"/>
              <a:ext cx="624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66"/>
                  </a:solidFill>
                </a:rPr>
                <a:t>x</a:t>
              </a:r>
              <a:r>
                <a:rPr lang="en-US" altLang="zh-CN" baseline="-25000">
                  <a:solidFill>
                    <a:srgbClr val="FFFF66"/>
                  </a:solidFill>
                </a:rPr>
                <a:t>0</a:t>
              </a:r>
              <a:r>
                <a:rPr lang="en-US" altLang="zh-CN">
                  <a:solidFill>
                    <a:srgbClr val="FFFF66"/>
                  </a:solidFill>
                </a:rPr>
                <a:t> = </a:t>
              </a:r>
              <a:r>
                <a:rPr lang="en-US" altLang="zh-CN" i="1">
                  <a:solidFill>
                    <a:srgbClr val="FFFF66"/>
                  </a:solidFill>
                </a:rPr>
                <a:t>A</a:t>
              </a:r>
              <a:endParaRPr lang="en-US" altLang="zh-CN" b="0">
                <a:solidFill>
                  <a:srgbClr val="FFFF66"/>
                </a:solidFill>
              </a:endParaRPr>
            </a:p>
          </p:txBody>
        </p:sp>
      </p:grpSp>
      <p:sp>
        <p:nvSpPr>
          <p:cNvPr id="17601" name="Rectangle 82"/>
          <p:cNvSpPr>
            <a:spLocks noChangeAspect="1" noChangeArrowheads="1"/>
          </p:cNvSpPr>
          <p:nvPr/>
        </p:nvSpPr>
        <p:spPr bwMode="auto">
          <a:xfrm>
            <a:off x="3611910" y="1315371"/>
            <a:ext cx="763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 dirty="0">
                <a:solidFill>
                  <a:srgbClr val="FFFF66"/>
                </a:solidFill>
                <a:sym typeface="Symbol" panose="05050102010706020507" pitchFamily="18" charset="2"/>
              </a:rPr>
              <a:t></a:t>
            </a:r>
            <a:r>
              <a:rPr lang="en-US" altLang="zh-CN" dirty="0">
                <a:solidFill>
                  <a:srgbClr val="FFFF66"/>
                </a:solidFill>
              </a:rPr>
              <a:t> = 0</a:t>
            </a:r>
            <a:endParaRPr lang="en-US" altLang="zh-CN" b="0" dirty="0"/>
          </a:p>
        </p:txBody>
      </p:sp>
      <p:grpSp>
        <p:nvGrpSpPr>
          <p:cNvPr id="13" name="组合 12"/>
          <p:cNvGrpSpPr/>
          <p:nvPr/>
        </p:nvGrpSpPr>
        <p:grpSpPr bwMode="auto">
          <a:xfrm>
            <a:off x="107504" y="2030413"/>
            <a:ext cx="3736975" cy="1755775"/>
            <a:chOff x="365870" y="2030413"/>
            <a:chExt cx="3736230" cy="1755775"/>
          </a:xfrm>
        </p:grpSpPr>
        <p:grpSp>
          <p:nvGrpSpPr>
            <p:cNvPr id="17591" name="组合 11"/>
            <p:cNvGrpSpPr/>
            <p:nvPr/>
          </p:nvGrpSpPr>
          <p:grpSpPr bwMode="auto">
            <a:xfrm>
              <a:off x="860425" y="2030413"/>
              <a:ext cx="3241675" cy="1755775"/>
              <a:chOff x="860425" y="2030413"/>
              <a:chExt cx="3241675" cy="1755775"/>
            </a:xfrm>
          </p:grpSpPr>
          <p:sp>
            <p:nvSpPr>
              <p:cNvPr id="17595" name="Freeform 69"/>
              <p:cNvSpPr>
                <a:spLocks noChangeAspect="1"/>
              </p:cNvSpPr>
              <p:nvPr/>
            </p:nvSpPr>
            <p:spPr bwMode="auto">
              <a:xfrm>
                <a:off x="1758950" y="3052763"/>
                <a:ext cx="852487" cy="39528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97" y="656"/>
                    </a:lnTo>
                    <a:lnTo>
                      <a:pt x="394" y="1236"/>
                    </a:lnTo>
                    <a:lnTo>
                      <a:pt x="591" y="1892"/>
                    </a:lnTo>
                    <a:lnTo>
                      <a:pt x="788" y="2510"/>
                    </a:lnTo>
                    <a:lnTo>
                      <a:pt x="985" y="3127"/>
                    </a:lnTo>
                    <a:lnTo>
                      <a:pt x="1200" y="3745"/>
                    </a:lnTo>
                    <a:lnTo>
                      <a:pt x="1397" y="4363"/>
                    </a:lnTo>
                    <a:lnTo>
                      <a:pt x="1576" y="4942"/>
                    </a:lnTo>
                    <a:lnTo>
                      <a:pt x="1773" y="5560"/>
                    </a:lnTo>
                    <a:lnTo>
                      <a:pt x="1987" y="6139"/>
                    </a:lnTo>
                    <a:lnTo>
                      <a:pt x="2184" y="6757"/>
                    </a:lnTo>
                    <a:lnTo>
                      <a:pt x="2381" y="7297"/>
                    </a:lnTo>
                    <a:lnTo>
                      <a:pt x="2560" y="7876"/>
                    </a:lnTo>
                    <a:lnTo>
                      <a:pt x="2775" y="8494"/>
                    </a:lnTo>
                    <a:lnTo>
                      <a:pt x="2954" y="9035"/>
                    </a:lnTo>
                    <a:lnTo>
                      <a:pt x="3151" y="9614"/>
                    </a:lnTo>
                    <a:lnTo>
                      <a:pt x="3366" y="10154"/>
                    </a:lnTo>
                    <a:lnTo>
                      <a:pt x="3581" y="10656"/>
                    </a:lnTo>
                    <a:lnTo>
                      <a:pt x="3760" y="11197"/>
                    </a:lnTo>
                    <a:lnTo>
                      <a:pt x="3957" y="11699"/>
                    </a:lnTo>
                    <a:lnTo>
                      <a:pt x="4154" y="12239"/>
                    </a:lnTo>
                    <a:lnTo>
                      <a:pt x="4369" y="12741"/>
                    </a:lnTo>
                    <a:lnTo>
                      <a:pt x="4566" y="13166"/>
                    </a:lnTo>
                    <a:lnTo>
                      <a:pt x="4781" y="13668"/>
                    </a:lnTo>
                    <a:lnTo>
                      <a:pt x="4978" y="14131"/>
                    </a:lnTo>
                    <a:lnTo>
                      <a:pt x="5175" y="14595"/>
                    </a:lnTo>
                    <a:lnTo>
                      <a:pt x="5354" y="15019"/>
                    </a:lnTo>
                    <a:lnTo>
                      <a:pt x="5551" y="15405"/>
                    </a:lnTo>
                    <a:lnTo>
                      <a:pt x="5765" y="15830"/>
                    </a:lnTo>
                    <a:lnTo>
                      <a:pt x="5980" y="16216"/>
                    </a:lnTo>
                    <a:lnTo>
                      <a:pt x="6195" y="16602"/>
                    </a:lnTo>
                    <a:lnTo>
                      <a:pt x="6392" y="16950"/>
                    </a:lnTo>
                    <a:lnTo>
                      <a:pt x="6607" y="17297"/>
                    </a:lnTo>
                    <a:lnTo>
                      <a:pt x="6786" y="17606"/>
                    </a:lnTo>
                    <a:lnTo>
                      <a:pt x="7001" y="17915"/>
                    </a:lnTo>
                    <a:lnTo>
                      <a:pt x="7198" y="18224"/>
                    </a:lnTo>
                    <a:lnTo>
                      <a:pt x="7413" y="18456"/>
                    </a:lnTo>
                    <a:lnTo>
                      <a:pt x="7610" y="18726"/>
                    </a:lnTo>
                    <a:lnTo>
                      <a:pt x="7825" y="18919"/>
                    </a:lnTo>
                    <a:lnTo>
                      <a:pt x="8021" y="19151"/>
                    </a:lnTo>
                    <a:lnTo>
                      <a:pt x="8236" y="19344"/>
                    </a:lnTo>
                    <a:lnTo>
                      <a:pt x="8451" y="19459"/>
                    </a:lnTo>
                    <a:lnTo>
                      <a:pt x="8630" y="19614"/>
                    </a:lnTo>
                    <a:lnTo>
                      <a:pt x="8845" y="19730"/>
                    </a:lnTo>
                    <a:lnTo>
                      <a:pt x="9042" y="19884"/>
                    </a:lnTo>
                    <a:lnTo>
                      <a:pt x="9275" y="19923"/>
                    </a:lnTo>
                    <a:lnTo>
                      <a:pt x="9472" y="19923"/>
                    </a:lnTo>
                    <a:lnTo>
                      <a:pt x="9669" y="19923"/>
                    </a:lnTo>
                    <a:lnTo>
                      <a:pt x="9884" y="19961"/>
                    </a:lnTo>
                    <a:lnTo>
                      <a:pt x="10116" y="19923"/>
                    </a:lnTo>
                    <a:lnTo>
                      <a:pt x="10331" y="19846"/>
                    </a:lnTo>
                    <a:lnTo>
                      <a:pt x="10564" y="19730"/>
                    </a:lnTo>
                    <a:lnTo>
                      <a:pt x="10779" y="19537"/>
                    </a:lnTo>
                    <a:lnTo>
                      <a:pt x="11012" y="19344"/>
                    </a:lnTo>
                    <a:lnTo>
                      <a:pt x="11244" y="19112"/>
                    </a:lnTo>
                    <a:lnTo>
                      <a:pt x="11495" y="18842"/>
                    </a:lnTo>
                    <a:lnTo>
                      <a:pt x="11728" y="18571"/>
                    </a:lnTo>
                    <a:lnTo>
                      <a:pt x="11961" y="18263"/>
                    </a:lnTo>
                    <a:lnTo>
                      <a:pt x="12211" y="17876"/>
                    </a:lnTo>
                    <a:lnTo>
                      <a:pt x="12462" y="17490"/>
                    </a:lnTo>
                    <a:lnTo>
                      <a:pt x="12713" y="17143"/>
                    </a:lnTo>
                    <a:lnTo>
                      <a:pt x="12945" y="16718"/>
                    </a:lnTo>
                    <a:lnTo>
                      <a:pt x="13196" y="16293"/>
                    </a:lnTo>
                    <a:lnTo>
                      <a:pt x="13447" y="15830"/>
                    </a:lnTo>
                    <a:lnTo>
                      <a:pt x="13697" y="15328"/>
                    </a:lnTo>
                    <a:lnTo>
                      <a:pt x="13948" y="14865"/>
                    </a:lnTo>
                    <a:lnTo>
                      <a:pt x="14199" y="14324"/>
                    </a:lnTo>
                    <a:lnTo>
                      <a:pt x="14449" y="13822"/>
                    </a:lnTo>
                    <a:lnTo>
                      <a:pt x="14700" y="13282"/>
                    </a:lnTo>
                    <a:lnTo>
                      <a:pt x="14951" y="12780"/>
                    </a:lnTo>
                    <a:lnTo>
                      <a:pt x="15201" y="12239"/>
                    </a:lnTo>
                    <a:lnTo>
                      <a:pt x="15470" y="11699"/>
                    </a:lnTo>
                    <a:lnTo>
                      <a:pt x="15685" y="11120"/>
                    </a:lnTo>
                    <a:lnTo>
                      <a:pt x="15918" y="10579"/>
                    </a:lnTo>
                    <a:lnTo>
                      <a:pt x="16150" y="10000"/>
                    </a:lnTo>
                    <a:lnTo>
                      <a:pt x="16383" y="9459"/>
                    </a:lnTo>
                    <a:lnTo>
                      <a:pt x="16634" y="8919"/>
                    </a:lnTo>
                    <a:lnTo>
                      <a:pt x="16849" y="8340"/>
                    </a:lnTo>
                    <a:lnTo>
                      <a:pt x="17064" y="7799"/>
                    </a:lnTo>
                    <a:lnTo>
                      <a:pt x="17278" y="7259"/>
                    </a:lnTo>
                    <a:lnTo>
                      <a:pt x="17493" y="6757"/>
                    </a:lnTo>
                    <a:lnTo>
                      <a:pt x="17708" y="6255"/>
                    </a:lnTo>
                    <a:lnTo>
                      <a:pt x="17923" y="5714"/>
                    </a:lnTo>
                    <a:lnTo>
                      <a:pt x="18138" y="5212"/>
                    </a:lnTo>
                    <a:lnTo>
                      <a:pt x="18317" y="4749"/>
                    </a:lnTo>
                    <a:lnTo>
                      <a:pt x="18496" y="4286"/>
                    </a:lnTo>
                    <a:lnTo>
                      <a:pt x="18675" y="3822"/>
                    </a:lnTo>
                    <a:lnTo>
                      <a:pt x="18854" y="3398"/>
                    </a:lnTo>
                    <a:lnTo>
                      <a:pt x="19015" y="3012"/>
                    </a:lnTo>
                    <a:lnTo>
                      <a:pt x="19176" y="2625"/>
                    </a:lnTo>
                    <a:lnTo>
                      <a:pt x="19338" y="2239"/>
                    </a:lnTo>
                    <a:lnTo>
                      <a:pt x="19481" y="1931"/>
                    </a:lnTo>
                    <a:lnTo>
                      <a:pt x="19606" y="1583"/>
                    </a:lnTo>
                    <a:lnTo>
                      <a:pt x="19749" y="1313"/>
                    </a:lnTo>
                    <a:lnTo>
                      <a:pt x="19893" y="1081"/>
                    </a:lnTo>
                    <a:lnTo>
                      <a:pt x="19982" y="849"/>
                    </a:lnTo>
                  </a:path>
                </a:pathLst>
              </a:custGeom>
              <a:noFill/>
              <a:ln w="381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96" name="Freeform 70"/>
              <p:cNvSpPr>
                <a:spLocks noChangeAspect="1"/>
              </p:cNvSpPr>
              <p:nvPr/>
            </p:nvSpPr>
            <p:spPr bwMode="auto">
              <a:xfrm>
                <a:off x="860425" y="2551113"/>
                <a:ext cx="893762" cy="4826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81"/>
                    </a:moveTo>
                    <a:lnTo>
                      <a:pt x="205" y="18510"/>
                    </a:lnTo>
                    <a:lnTo>
                      <a:pt x="443" y="17908"/>
                    </a:lnTo>
                    <a:lnTo>
                      <a:pt x="665" y="17306"/>
                    </a:lnTo>
                    <a:lnTo>
                      <a:pt x="887" y="16640"/>
                    </a:lnTo>
                    <a:lnTo>
                      <a:pt x="1091" y="16070"/>
                    </a:lnTo>
                    <a:lnTo>
                      <a:pt x="1330" y="15468"/>
                    </a:lnTo>
                    <a:lnTo>
                      <a:pt x="1552" y="14897"/>
                    </a:lnTo>
                    <a:lnTo>
                      <a:pt x="1756" y="14326"/>
                    </a:lnTo>
                    <a:lnTo>
                      <a:pt x="1978" y="13724"/>
                    </a:lnTo>
                    <a:lnTo>
                      <a:pt x="2199" y="13154"/>
                    </a:lnTo>
                    <a:lnTo>
                      <a:pt x="2455" y="12552"/>
                    </a:lnTo>
                    <a:lnTo>
                      <a:pt x="2677" y="12044"/>
                    </a:lnTo>
                    <a:lnTo>
                      <a:pt x="2916" y="11474"/>
                    </a:lnTo>
                    <a:lnTo>
                      <a:pt x="3120" y="10872"/>
                    </a:lnTo>
                    <a:lnTo>
                      <a:pt x="3325" y="10333"/>
                    </a:lnTo>
                    <a:lnTo>
                      <a:pt x="3564" y="9794"/>
                    </a:lnTo>
                    <a:lnTo>
                      <a:pt x="3768" y="9287"/>
                    </a:lnTo>
                    <a:lnTo>
                      <a:pt x="4007" y="8748"/>
                    </a:lnTo>
                    <a:lnTo>
                      <a:pt x="4228" y="8241"/>
                    </a:lnTo>
                    <a:lnTo>
                      <a:pt x="4450" y="7734"/>
                    </a:lnTo>
                    <a:lnTo>
                      <a:pt x="4655" y="7290"/>
                    </a:lnTo>
                    <a:lnTo>
                      <a:pt x="4893" y="6783"/>
                    </a:lnTo>
                    <a:lnTo>
                      <a:pt x="5098" y="6339"/>
                    </a:lnTo>
                    <a:lnTo>
                      <a:pt x="5320" y="5895"/>
                    </a:lnTo>
                    <a:lnTo>
                      <a:pt x="5558" y="5452"/>
                    </a:lnTo>
                    <a:lnTo>
                      <a:pt x="5746" y="5008"/>
                    </a:lnTo>
                    <a:lnTo>
                      <a:pt x="5968" y="4532"/>
                    </a:lnTo>
                    <a:lnTo>
                      <a:pt x="6206" y="4184"/>
                    </a:lnTo>
                    <a:lnTo>
                      <a:pt x="6445" y="3772"/>
                    </a:lnTo>
                    <a:lnTo>
                      <a:pt x="6650" y="3423"/>
                    </a:lnTo>
                    <a:lnTo>
                      <a:pt x="6854" y="3074"/>
                    </a:lnTo>
                    <a:lnTo>
                      <a:pt x="7093" y="2694"/>
                    </a:lnTo>
                    <a:lnTo>
                      <a:pt x="7298" y="2409"/>
                    </a:lnTo>
                    <a:lnTo>
                      <a:pt x="7519" y="2092"/>
                    </a:lnTo>
                    <a:lnTo>
                      <a:pt x="7724" y="1807"/>
                    </a:lnTo>
                    <a:lnTo>
                      <a:pt x="7962" y="1553"/>
                    </a:lnTo>
                    <a:lnTo>
                      <a:pt x="8150" y="1300"/>
                    </a:lnTo>
                    <a:lnTo>
                      <a:pt x="8355" y="1078"/>
                    </a:lnTo>
                    <a:lnTo>
                      <a:pt x="8593" y="856"/>
                    </a:lnTo>
                    <a:lnTo>
                      <a:pt x="8798" y="697"/>
                    </a:lnTo>
                    <a:lnTo>
                      <a:pt x="9020" y="507"/>
                    </a:lnTo>
                    <a:lnTo>
                      <a:pt x="9224" y="380"/>
                    </a:lnTo>
                    <a:lnTo>
                      <a:pt x="9412" y="254"/>
                    </a:lnTo>
                    <a:lnTo>
                      <a:pt x="9633" y="127"/>
                    </a:lnTo>
                    <a:lnTo>
                      <a:pt x="9838" y="95"/>
                    </a:lnTo>
                    <a:lnTo>
                      <a:pt x="10094" y="32"/>
                    </a:lnTo>
                    <a:lnTo>
                      <a:pt x="10281" y="0"/>
                    </a:lnTo>
                    <a:lnTo>
                      <a:pt x="10486" y="32"/>
                    </a:lnTo>
                    <a:lnTo>
                      <a:pt x="10708" y="32"/>
                    </a:lnTo>
                    <a:lnTo>
                      <a:pt x="10895" y="95"/>
                    </a:lnTo>
                    <a:lnTo>
                      <a:pt x="11134" y="222"/>
                    </a:lnTo>
                    <a:lnTo>
                      <a:pt x="11338" y="349"/>
                    </a:lnTo>
                    <a:lnTo>
                      <a:pt x="11577" y="539"/>
                    </a:lnTo>
                    <a:lnTo>
                      <a:pt x="11782" y="761"/>
                    </a:lnTo>
                    <a:lnTo>
                      <a:pt x="12003" y="983"/>
                    </a:lnTo>
                    <a:lnTo>
                      <a:pt x="12242" y="1236"/>
                    </a:lnTo>
                    <a:lnTo>
                      <a:pt x="12447" y="1553"/>
                    </a:lnTo>
                    <a:lnTo>
                      <a:pt x="12685" y="1902"/>
                    </a:lnTo>
                    <a:lnTo>
                      <a:pt x="12890" y="2282"/>
                    </a:lnTo>
                    <a:lnTo>
                      <a:pt x="13146" y="2694"/>
                    </a:lnTo>
                    <a:lnTo>
                      <a:pt x="13367" y="3138"/>
                    </a:lnTo>
                    <a:lnTo>
                      <a:pt x="13623" y="3487"/>
                    </a:lnTo>
                    <a:lnTo>
                      <a:pt x="13828" y="3962"/>
                    </a:lnTo>
                    <a:lnTo>
                      <a:pt x="14049" y="4469"/>
                    </a:lnTo>
                    <a:lnTo>
                      <a:pt x="14305" y="4945"/>
                    </a:lnTo>
                    <a:lnTo>
                      <a:pt x="14544" y="5483"/>
                    </a:lnTo>
                    <a:lnTo>
                      <a:pt x="14766" y="5959"/>
                    </a:lnTo>
                    <a:lnTo>
                      <a:pt x="14987" y="6498"/>
                    </a:lnTo>
                    <a:lnTo>
                      <a:pt x="15226" y="7068"/>
                    </a:lnTo>
                    <a:lnTo>
                      <a:pt x="15431" y="7607"/>
                    </a:lnTo>
                    <a:lnTo>
                      <a:pt x="15686" y="8177"/>
                    </a:lnTo>
                    <a:lnTo>
                      <a:pt x="15908" y="8780"/>
                    </a:lnTo>
                    <a:lnTo>
                      <a:pt x="16095" y="9350"/>
                    </a:lnTo>
                    <a:lnTo>
                      <a:pt x="16317" y="9921"/>
                    </a:lnTo>
                    <a:lnTo>
                      <a:pt x="16522" y="10491"/>
                    </a:lnTo>
                    <a:lnTo>
                      <a:pt x="16743" y="11030"/>
                    </a:lnTo>
                    <a:lnTo>
                      <a:pt x="16931" y="11632"/>
                    </a:lnTo>
                    <a:lnTo>
                      <a:pt x="17136" y="12203"/>
                    </a:lnTo>
                    <a:lnTo>
                      <a:pt x="17340" y="12710"/>
                    </a:lnTo>
                    <a:lnTo>
                      <a:pt x="17545" y="13312"/>
                    </a:lnTo>
                    <a:lnTo>
                      <a:pt x="17749" y="13819"/>
                    </a:lnTo>
                    <a:lnTo>
                      <a:pt x="17920" y="14390"/>
                    </a:lnTo>
                    <a:lnTo>
                      <a:pt x="18107" y="14929"/>
                    </a:lnTo>
                    <a:lnTo>
                      <a:pt x="18295" y="15468"/>
                    </a:lnTo>
                    <a:lnTo>
                      <a:pt x="18448" y="15943"/>
                    </a:lnTo>
                    <a:lnTo>
                      <a:pt x="18636" y="16418"/>
                    </a:lnTo>
                    <a:lnTo>
                      <a:pt x="18806" y="16830"/>
                    </a:lnTo>
                    <a:lnTo>
                      <a:pt x="18943" y="17306"/>
                    </a:lnTo>
                    <a:lnTo>
                      <a:pt x="19096" y="17718"/>
                    </a:lnTo>
                    <a:lnTo>
                      <a:pt x="19267" y="18162"/>
                    </a:lnTo>
                    <a:lnTo>
                      <a:pt x="19403" y="18542"/>
                    </a:lnTo>
                    <a:lnTo>
                      <a:pt x="19523" y="18859"/>
                    </a:lnTo>
                    <a:lnTo>
                      <a:pt x="19642" y="19176"/>
                    </a:lnTo>
                    <a:lnTo>
                      <a:pt x="19778" y="19493"/>
                    </a:lnTo>
                    <a:lnTo>
                      <a:pt x="19898" y="19778"/>
                    </a:lnTo>
                    <a:lnTo>
                      <a:pt x="19983" y="19968"/>
                    </a:lnTo>
                  </a:path>
                </a:pathLst>
              </a:custGeom>
              <a:noFill/>
              <a:ln w="381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97" name="Freeform 71"/>
              <p:cNvSpPr>
                <a:spLocks noChangeAspect="1"/>
              </p:cNvSpPr>
              <p:nvPr/>
            </p:nvSpPr>
            <p:spPr bwMode="auto">
              <a:xfrm>
                <a:off x="2609850" y="2543176"/>
                <a:ext cx="889000" cy="51276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19983" y="19076"/>
                    </a:moveTo>
                    <a:lnTo>
                      <a:pt x="19760" y="18480"/>
                    </a:lnTo>
                    <a:lnTo>
                      <a:pt x="19536" y="17884"/>
                    </a:lnTo>
                    <a:lnTo>
                      <a:pt x="19313" y="17258"/>
                    </a:lnTo>
                    <a:lnTo>
                      <a:pt x="19107" y="16632"/>
                    </a:lnTo>
                    <a:lnTo>
                      <a:pt x="18884" y="16066"/>
                    </a:lnTo>
                    <a:lnTo>
                      <a:pt x="18661" y="15469"/>
                    </a:lnTo>
                    <a:lnTo>
                      <a:pt x="18438" y="14903"/>
                    </a:lnTo>
                    <a:lnTo>
                      <a:pt x="18232" y="14307"/>
                    </a:lnTo>
                    <a:lnTo>
                      <a:pt x="17991" y="13741"/>
                    </a:lnTo>
                    <a:lnTo>
                      <a:pt x="17768" y="13174"/>
                    </a:lnTo>
                    <a:lnTo>
                      <a:pt x="17528" y="12578"/>
                    </a:lnTo>
                    <a:lnTo>
                      <a:pt x="17305" y="12012"/>
                    </a:lnTo>
                    <a:lnTo>
                      <a:pt x="17082" y="11475"/>
                    </a:lnTo>
                    <a:lnTo>
                      <a:pt x="16858" y="10879"/>
                    </a:lnTo>
                    <a:lnTo>
                      <a:pt x="16652" y="10343"/>
                    </a:lnTo>
                    <a:lnTo>
                      <a:pt x="16429" y="9806"/>
                    </a:lnTo>
                    <a:lnTo>
                      <a:pt x="16206" y="9270"/>
                    </a:lnTo>
                    <a:lnTo>
                      <a:pt x="15983" y="8733"/>
                    </a:lnTo>
                    <a:lnTo>
                      <a:pt x="15760" y="8256"/>
                    </a:lnTo>
                    <a:lnTo>
                      <a:pt x="15536" y="7690"/>
                    </a:lnTo>
                    <a:lnTo>
                      <a:pt x="15313" y="7243"/>
                    </a:lnTo>
                    <a:lnTo>
                      <a:pt x="15107" y="6796"/>
                    </a:lnTo>
                    <a:lnTo>
                      <a:pt x="14884" y="6319"/>
                    </a:lnTo>
                    <a:lnTo>
                      <a:pt x="14661" y="5872"/>
                    </a:lnTo>
                    <a:lnTo>
                      <a:pt x="14438" y="5425"/>
                    </a:lnTo>
                    <a:lnTo>
                      <a:pt x="14232" y="5007"/>
                    </a:lnTo>
                    <a:lnTo>
                      <a:pt x="14026" y="4560"/>
                    </a:lnTo>
                    <a:lnTo>
                      <a:pt x="13785" y="4173"/>
                    </a:lnTo>
                    <a:lnTo>
                      <a:pt x="13562" y="3785"/>
                    </a:lnTo>
                    <a:lnTo>
                      <a:pt x="13339" y="3398"/>
                    </a:lnTo>
                    <a:lnTo>
                      <a:pt x="13116" y="3070"/>
                    </a:lnTo>
                    <a:lnTo>
                      <a:pt x="12910" y="2742"/>
                    </a:lnTo>
                    <a:lnTo>
                      <a:pt x="12687" y="2414"/>
                    </a:lnTo>
                    <a:lnTo>
                      <a:pt x="12464" y="2086"/>
                    </a:lnTo>
                    <a:lnTo>
                      <a:pt x="12258" y="1788"/>
                    </a:lnTo>
                    <a:lnTo>
                      <a:pt x="12034" y="1520"/>
                    </a:lnTo>
                    <a:lnTo>
                      <a:pt x="11828" y="1311"/>
                    </a:lnTo>
                    <a:lnTo>
                      <a:pt x="11622" y="1073"/>
                    </a:lnTo>
                    <a:lnTo>
                      <a:pt x="11399" y="864"/>
                    </a:lnTo>
                    <a:lnTo>
                      <a:pt x="11176" y="656"/>
                    </a:lnTo>
                    <a:lnTo>
                      <a:pt x="10953" y="507"/>
                    </a:lnTo>
                    <a:lnTo>
                      <a:pt x="10764" y="387"/>
                    </a:lnTo>
                    <a:lnTo>
                      <a:pt x="10558" y="268"/>
                    </a:lnTo>
                    <a:lnTo>
                      <a:pt x="10335" y="149"/>
                    </a:lnTo>
                    <a:lnTo>
                      <a:pt x="10129" y="89"/>
                    </a:lnTo>
                    <a:lnTo>
                      <a:pt x="9906" y="30"/>
                    </a:lnTo>
                    <a:lnTo>
                      <a:pt x="9682" y="0"/>
                    </a:lnTo>
                    <a:lnTo>
                      <a:pt x="9476" y="30"/>
                    </a:lnTo>
                    <a:lnTo>
                      <a:pt x="9288" y="30"/>
                    </a:lnTo>
                    <a:lnTo>
                      <a:pt x="9064" y="89"/>
                    </a:lnTo>
                    <a:lnTo>
                      <a:pt x="8858" y="209"/>
                    </a:lnTo>
                    <a:lnTo>
                      <a:pt x="8652" y="358"/>
                    </a:lnTo>
                    <a:lnTo>
                      <a:pt x="8429" y="507"/>
                    </a:lnTo>
                    <a:lnTo>
                      <a:pt x="8206" y="745"/>
                    </a:lnTo>
                    <a:lnTo>
                      <a:pt x="7983" y="1013"/>
                    </a:lnTo>
                    <a:lnTo>
                      <a:pt x="7760" y="1252"/>
                    </a:lnTo>
                    <a:lnTo>
                      <a:pt x="7536" y="1520"/>
                    </a:lnTo>
                    <a:lnTo>
                      <a:pt x="7296" y="1937"/>
                    </a:lnTo>
                    <a:lnTo>
                      <a:pt x="7073" y="2295"/>
                    </a:lnTo>
                    <a:lnTo>
                      <a:pt x="6833" y="2712"/>
                    </a:lnTo>
                    <a:lnTo>
                      <a:pt x="6609" y="3100"/>
                    </a:lnTo>
                    <a:lnTo>
                      <a:pt x="6386" y="3517"/>
                    </a:lnTo>
                    <a:lnTo>
                      <a:pt x="6146" y="3964"/>
                    </a:lnTo>
                    <a:lnTo>
                      <a:pt x="5923" y="4471"/>
                    </a:lnTo>
                    <a:lnTo>
                      <a:pt x="5682" y="4978"/>
                    </a:lnTo>
                    <a:lnTo>
                      <a:pt x="5459" y="5484"/>
                    </a:lnTo>
                    <a:lnTo>
                      <a:pt x="5236" y="5991"/>
                    </a:lnTo>
                    <a:lnTo>
                      <a:pt x="4996" y="6498"/>
                    </a:lnTo>
                    <a:lnTo>
                      <a:pt x="4755" y="7064"/>
                    </a:lnTo>
                    <a:lnTo>
                      <a:pt x="4532" y="7630"/>
                    </a:lnTo>
                    <a:lnTo>
                      <a:pt x="4309" y="8197"/>
                    </a:lnTo>
                    <a:lnTo>
                      <a:pt x="4086" y="8763"/>
                    </a:lnTo>
                    <a:lnTo>
                      <a:pt x="3863" y="9359"/>
                    </a:lnTo>
                    <a:lnTo>
                      <a:pt x="3657" y="9896"/>
                    </a:lnTo>
                    <a:lnTo>
                      <a:pt x="3468" y="10492"/>
                    </a:lnTo>
                    <a:lnTo>
                      <a:pt x="3245" y="11028"/>
                    </a:lnTo>
                    <a:lnTo>
                      <a:pt x="3039" y="11624"/>
                    </a:lnTo>
                    <a:lnTo>
                      <a:pt x="2850" y="12191"/>
                    </a:lnTo>
                    <a:lnTo>
                      <a:pt x="2644" y="12757"/>
                    </a:lnTo>
                    <a:lnTo>
                      <a:pt x="2438" y="13323"/>
                    </a:lnTo>
                    <a:lnTo>
                      <a:pt x="2249" y="13860"/>
                    </a:lnTo>
                    <a:lnTo>
                      <a:pt x="2077" y="14396"/>
                    </a:lnTo>
                    <a:lnTo>
                      <a:pt x="1854" y="14933"/>
                    </a:lnTo>
                    <a:lnTo>
                      <a:pt x="1700" y="15440"/>
                    </a:lnTo>
                    <a:lnTo>
                      <a:pt x="1528" y="15946"/>
                    </a:lnTo>
                    <a:lnTo>
                      <a:pt x="1356" y="16423"/>
                    </a:lnTo>
                    <a:lnTo>
                      <a:pt x="1202" y="16841"/>
                    </a:lnTo>
                    <a:lnTo>
                      <a:pt x="1047" y="17317"/>
                    </a:lnTo>
                    <a:lnTo>
                      <a:pt x="876" y="17705"/>
                    </a:lnTo>
                    <a:lnTo>
                      <a:pt x="738" y="18152"/>
                    </a:lnTo>
                    <a:lnTo>
                      <a:pt x="584" y="18510"/>
                    </a:lnTo>
                    <a:lnTo>
                      <a:pt x="464" y="18897"/>
                    </a:lnTo>
                    <a:lnTo>
                      <a:pt x="326" y="19195"/>
                    </a:lnTo>
                    <a:lnTo>
                      <a:pt x="223" y="19493"/>
                    </a:lnTo>
                    <a:lnTo>
                      <a:pt x="103" y="19762"/>
                    </a:lnTo>
                    <a:lnTo>
                      <a:pt x="0" y="19970"/>
                    </a:lnTo>
                  </a:path>
                </a:pathLst>
              </a:custGeom>
              <a:noFill/>
              <a:ln w="381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98" name="Line 72"/>
              <p:cNvSpPr>
                <a:spLocks noChangeAspect="1" noChangeShapeType="1"/>
              </p:cNvSpPr>
              <p:nvPr/>
            </p:nvSpPr>
            <p:spPr bwMode="auto">
              <a:xfrm>
                <a:off x="1290638" y="2230438"/>
                <a:ext cx="0" cy="1555750"/>
              </a:xfrm>
              <a:prstGeom prst="line">
                <a:avLst/>
              </a:prstGeom>
              <a:noFill/>
              <a:ln w="38100">
                <a:solidFill>
                  <a:srgbClr val="66FFFF"/>
                </a:solidFill>
                <a:round/>
                <a:headEnd type="triangl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99" name="Line 73"/>
              <p:cNvSpPr>
                <a:spLocks noChangeAspect="1" noChangeShapeType="1"/>
              </p:cNvSpPr>
              <p:nvPr/>
            </p:nvSpPr>
            <p:spPr bwMode="auto">
              <a:xfrm>
                <a:off x="1303338" y="2557463"/>
                <a:ext cx="168910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00" name="Line 74"/>
              <p:cNvSpPr>
                <a:spLocks noChangeAspect="1" noChangeShapeType="1"/>
              </p:cNvSpPr>
              <p:nvPr/>
            </p:nvSpPr>
            <p:spPr bwMode="auto">
              <a:xfrm>
                <a:off x="1303338" y="3459163"/>
                <a:ext cx="863600" cy="1588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" name="Line 75"/>
              <p:cNvSpPr>
                <a:spLocks noChangeAspect="1" noChangeShapeType="1"/>
              </p:cNvSpPr>
              <p:nvPr/>
            </p:nvSpPr>
            <p:spPr bwMode="auto">
              <a:xfrm>
                <a:off x="3059832" y="2557463"/>
                <a:ext cx="0" cy="461963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02" name="Line 76"/>
              <p:cNvSpPr>
                <a:spLocks noChangeAspect="1" noChangeShapeType="1"/>
              </p:cNvSpPr>
              <p:nvPr/>
            </p:nvSpPr>
            <p:spPr bwMode="auto">
              <a:xfrm>
                <a:off x="1290638" y="3021013"/>
                <a:ext cx="2519362" cy="0"/>
              </a:xfrm>
              <a:prstGeom prst="line">
                <a:avLst/>
              </a:prstGeom>
              <a:noFill/>
              <a:ln w="38100">
                <a:solidFill>
                  <a:srgbClr val="66FFFF"/>
                </a:solidFill>
                <a:round/>
                <a:headEnd type="none" w="med" len="sm"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03" name="Rectangle 79"/>
              <p:cNvSpPr>
                <a:spLocks noChangeAspect="1" noChangeArrowheads="1"/>
              </p:cNvSpPr>
              <p:nvPr/>
            </p:nvSpPr>
            <p:spPr bwMode="auto">
              <a:xfrm>
                <a:off x="909638" y="3249613"/>
                <a:ext cx="488950" cy="334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>
                    <a:solidFill>
                      <a:srgbClr val="FFFF66"/>
                    </a:solidFill>
                  </a:rPr>
                  <a:t>-</a:t>
                </a:r>
                <a:r>
                  <a:rPr lang="en-US" altLang="zh-CN" i="1">
                    <a:solidFill>
                      <a:srgbClr val="FFFF66"/>
                    </a:solidFill>
                  </a:rPr>
                  <a:t>A</a:t>
                </a:r>
                <a:endParaRPr lang="en-US" altLang="zh-CN" sz="1000" b="0">
                  <a:solidFill>
                    <a:srgbClr val="FFFF66"/>
                  </a:solidFill>
                </a:endParaRPr>
              </a:p>
            </p:txBody>
          </p:sp>
          <p:sp>
            <p:nvSpPr>
              <p:cNvPr id="17604" name="Rectangle 80"/>
              <p:cNvSpPr>
                <a:spLocks noChangeAspect="1" noChangeArrowheads="1"/>
              </p:cNvSpPr>
              <p:nvPr/>
            </p:nvSpPr>
            <p:spPr bwMode="auto">
              <a:xfrm>
                <a:off x="3857625" y="2840038"/>
                <a:ext cx="244475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66FFFF"/>
                    </a:solidFill>
                  </a:rPr>
                  <a:t>t</a:t>
                </a:r>
                <a:endParaRPr lang="en-US" altLang="zh-CN" b="0">
                  <a:solidFill>
                    <a:srgbClr val="66FFFF"/>
                  </a:solidFill>
                </a:endParaRPr>
              </a:p>
            </p:txBody>
          </p:sp>
          <p:sp>
            <p:nvSpPr>
              <p:cNvPr id="17605" name="Rectangle 81"/>
              <p:cNvSpPr>
                <a:spLocks noChangeAspect="1" noChangeArrowheads="1"/>
              </p:cNvSpPr>
              <p:nvPr/>
            </p:nvSpPr>
            <p:spPr bwMode="auto">
              <a:xfrm>
                <a:off x="1449388" y="2030413"/>
                <a:ext cx="306388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>
                    <a:solidFill>
                      <a:srgbClr val="66FFFF"/>
                    </a:solidFill>
                  </a:rPr>
                  <a:t>x</a:t>
                </a:r>
                <a:endParaRPr lang="en-US" altLang="zh-CN" sz="2000" b="0">
                  <a:solidFill>
                    <a:srgbClr val="66FFFF"/>
                  </a:solidFill>
                </a:endParaRPr>
              </a:p>
            </p:txBody>
          </p:sp>
          <p:sp>
            <p:nvSpPr>
              <p:cNvPr id="17606" name="Rectangle 83"/>
              <p:cNvSpPr>
                <a:spLocks noChangeAspect="1" noChangeArrowheads="1"/>
              </p:cNvSpPr>
              <p:nvPr/>
            </p:nvSpPr>
            <p:spPr bwMode="auto">
              <a:xfrm>
                <a:off x="2905127" y="3079752"/>
                <a:ext cx="381000" cy="320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FFFF66"/>
                    </a:solidFill>
                  </a:rPr>
                  <a:t>T</a:t>
                </a:r>
                <a:endParaRPr lang="en-US" altLang="zh-CN" b="0">
                  <a:solidFill>
                    <a:srgbClr val="FFFF66"/>
                  </a:solidFill>
                </a:endParaRPr>
              </a:p>
            </p:txBody>
          </p:sp>
        </p:grpSp>
        <p:sp useBgFill="1">
          <p:nvSpPr>
            <p:cNvPr id="17592" name="Rectangle 69"/>
            <p:cNvSpPr>
              <a:spLocks noChangeArrowheads="1"/>
            </p:cNvSpPr>
            <p:nvPr/>
          </p:nvSpPr>
          <p:spPr bwMode="auto">
            <a:xfrm>
              <a:off x="365870" y="2365375"/>
              <a:ext cx="893762" cy="78263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7593" name="Rectangle 77"/>
            <p:cNvSpPr>
              <a:spLocks noChangeAspect="1" noChangeArrowheads="1"/>
            </p:cNvSpPr>
            <p:nvPr/>
          </p:nvSpPr>
          <p:spPr bwMode="auto">
            <a:xfrm>
              <a:off x="1062038" y="2792413"/>
              <a:ext cx="290513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66"/>
                  </a:solidFill>
                </a:rPr>
                <a:t>o</a:t>
              </a:r>
              <a:endParaRPr lang="en-US" altLang="zh-CN" b="0" i="1"/>
            </a:p>
          </p:txBody>
        </p:sp>
        <p:sp>
          <p:nvSpPr>
            <p:cNvPr id="17594" name="Rectangle 78"/>
            <p:cNvSpPr>
              <a:spLocks noChangeAspect="1" noChangeArrowheads="1"/>
            </p:cNvSpPr>
            <p:nvPr/>
          </p:nvSpPr>
          <p:spPr bwMode="auto">
            <a:xfrm>
              <a:off x="985838" y="2335213"/>
              <a:ext cx="244475" cy="341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66"/>
                  </a:solidFill>
                </a:rPr>
                <a:t>A</a:t>
              </a:r>
              <a:endParaRPr lang="en-US" altLang="zh-CN" sz="1000" b="0"/>
            </a:p>
          </p:txBody>
        </p:sp>
      </p:grpSp>
      <p:sp>
        <p:nvSpPr>
          <p:cNvPr id="17586" name="Rectangle 98"/>
          <p:cNvSpPr>
            <a:spLocks noChangeAspect="1" noChangeArrowheads="1"/>
          </p:cNvSpPr>
          <p:nvPr/>
        </p:nvSpPr>
        <p:spPr bwMode="auto">
          <a:xfrm>
            <a:off x="7795767" y="1264810"/>
            <a:ext cx="95885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dirty="0">
                <a:solidFill>
                  <a:srgbClr val="FF0000"/>
                </a:solidFill>
              </a:rPr>
              <a:t> </a:t>
            </a:r>
            <a:r>
              <a:rPr lang="en-US" altLang="zh-CN" i="1" dirty="0">
                <a:solidFill>
                  <a:srgbClr val="FFFF66"/>
                </a:solidFill>
                <a:sym typeface="Symbol" panose="05050102010706020507" pitchFamily="18" charset="2"/>
              </a:rPr>
              <a:t></a:t>
            </a:r>
            <a:r>
              <a:rPr lang="en-US" altLang="zh-CN" dirty="0">
                <a:solidFill>
                  <a:srgbClr val="FFFF66"/>
                </a:solidFill>
              </a:rPr>
              <a:t> = </a:t>
            </a:r>
            <a:r>
              <a:rPr lang="en-US" altLang="zh-CN" dirty="0">
                <a:solidFill>
                  <a:srgbClr val="FFFF66"/>
                </a:solidFill>
                <a:sym typeface="Symbol" panose="05050102010706020507" pitchFamily="18" charset="2"/>
              </a:rPr>
              <a:t></a:t>
            </a:r>
            <a:endParaRPr lang="en-US" altLang="zh-CN" b="0" dirty="0">
              <a:solidFill>
                <a:srgbClr val="FFFF66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 bwMode="auto">
          <a:xfrm>
            <a:off x="4130229" y="2143125"/>
            <a:ext cx="3940175" cy="1749425"/>
            <a:chOff x="4388570" y="2143125"/>
            <a:chExt cx="3939455" cy="1749425"/>
          </a:xfrm>
        </p:grpSpPr>
        <p:grpSp>
          <p:nvGrpSpPr>
            <p:cNvPr id="17575" name="组合 13"/>
            <p:cNvGrpSpPr/>
            <p:nvPr/>
          </p:nvGrpSpPr>
          <p:grpSpPr bwMode="auto">
            <a:xfrm>
              <a:off x="4803775" y="2143125"/>
              <a:ext cx="3524250" cy="1749425"/>
              <a:chOff x="4803775" y="2143125"/>
              <a:chExt cx="3524250" cy="1749425"/>
            </a:xfrm>
          </p:grpSpPr>
          <p:sp>
            <p:nvSpPr>
              <p:cNvPr id="17579" name="Freeform 85"/>
              <p:cNvSpPr>
                <a:spLocks noChangeAspect="1"/>
              </p:cNvSpPr>
              <p:nvPr/>
            </p:nvSpPr>
            <p:spPr bwMode="auto">
              <a:xfrm>
                <a:off x="5746750" y="2581275"/>
                <a:ext cx="890588" cy="41433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961"/>
                    </a:moveTo>
                    <a:lnTo>
                      <a:pt x="197" y="19305"/>
                    </a:lnTo>
                    <a:lnTo>
                      <a:pt x="394" y="18726"/>
                    </a:lnTo>
                    <a:lnTo>
                      <a:pt x="591" y="18069"/>
                    </a:lnTo>
                    <a:lnTo>
                      <a:pt x="788" y="17452"/>
                    </a:lnTo>
                    <a:lnTo>
                      <a:pt x="985" y="16834"/>
                    </a:lnTo>
                    <a:lnTo>
                      <a:pt x="1200" y="16216"/>
                    </a:lnTo>
                    <a:lnTo>
                      <a:pt x="1397" y="15598"/>
                    </a:lnTo>
                    <a:lnTo>
                      <a:pt x="1576" y="15019"/>
                    </a:lnTo>
                    <a:lnTo>
                      <a:pt x="1773" y="14402"/>
                    </a:lnTo>
                    <a:lnTo>
                      <a:pt x="1987" y="13822"/>
                    </a:lnTo>
                    <a:lnTo>
                      <a:pt x="2184" y="13205"/>
                    </a:lnTo>
                    <a:lnTo>
                      <a:pt x="2381" y="12664"/>
                    </a:lnTo>
                    <a:lnTo>
                      <a:pt x="2560" y="12085"/>
                    </a:lnTo>
                    <a:lnTo>
                      <a:pt x="2775" y="11467"/>
                    </a:lnTo>
                    <a:lnTo>
                      <a:pt x="2954" y="10927"/>
                    </a:lnTo>
                    <a:lnTo>
                      <a:pt x="3151" y="10347"/>
                    </a:lnTo>
                    <a:lnTo>
                      <a:pt x="3366" y="9807"/>
                    </a:lnTo>
                    <a:lnTo>
                      <a:pt x="3581" y="9305"/>
                    </a:lnTo>
                    <a:lnTo>
                      <a:pt x="3760" y="8764"/>
                    </a:lnTo>
                    <a:lnTo>
                      <a:pt x="3957" y="8263"/>
                    </a:lnTo>
                    <a:lnTo>
                      <a:pt x="4154" y="7722"/>
                    </a:lnTo>
                    <a:lnTo>
                      <a:pt x="4369" y="7220"/>
                    </a:lnTo>
                    <a:lnTo>
                      <a:pt x="4566" y="6795"/>
                    </a:lnTo>
                    <a:lnTo>
                      <a:pt x="4781" y="6293"/>
                    </a:lnTo>
                    <a:lnTo>
                      <a:pt x="4978" y="5830"/>
                    </a:lnTo>
                    <a:lnTo>
                      <a:pt x="5175" y="5367"/>
                    </a:lnTo>
                    <a:lnTo>
                      <a:pt x="5354" y="4942"/>
                    </a:lnTo>
                    <a:lnTo>
                      <a:pt x="5551" y="4556"/>
                    </a:lnTo>
                    <a:lnTo>
                      <a:pt x="5765" y="4131"/>
                    </a:lnTo>
                    <a:lnTo>
                      <a:pt x="5980" y="3745"/>
                    </a:lnTo>
                    <a:lnTo>
                      <a:pt x="6195" y="3359"/>
                    </a:lnTo>
                    <a:lnTo>
                      <a:pt x="6392" y="3012"/>
                    </a:lnTo>
                    <a:lnTo>
                      <a:pt x="6607" y="2664"/>
                    </a:lnTo>
                    <a:lnTo>
                      <a:pt x="6786" y="2355"/>
                    </a:lnTo>
                    <a:lnTo>
                      <a:pt x="7001" y="2046"/>
                    </a:lnTo>
                    <a:lnTo>
                      <a:pt x="7198" y="1737"/>
                    </a:lnTo>
                    <a:lnTo>
                      <a:pt x="7413" y="1506"/>
                    </a:lnTo>
                    <a:lnTo>
                      <a:pt x="7610" y="1236"/>
                    </a:lnTo>
                    <a:lnTo>
                      <a:pt x="7825" y="1042"/>
                    </a:lnTo>
                    <a:lnTo>
                      <a:pt x="8021" y="811"/>
                    </a:lnTo>
                    <a:lnTo>
                      <a:pt x="8236" y="618"/>
                    </a:lnTo>
                    <a:lnTo>
                      <a:pt x="8451" y="502"/>
                    </a:lnTo>
                    <a:lnTo>
                      <a:pt x="8630" y="347"/>
                    </a:lnTo>
                    <a:lnTo>
                      <a:pt x="8845" y="232"/>
                    </a:lnTo>
                    <a:lnTo>
                      <a:pt x="9042" y="77"/>
                    </a:lnTo>
                    <a:lnTo>
                      <a:pt x="9275" y="39"/>
                    </a:lnTo>
                    <a:lnTo>
                      <a:pt x="9472" y="39"/>
                    </a:lnTo>
                    <a:lnTo>
                      <a:pt x="9669" y="39"/>
                    </a:lnTo>
                    <a:lnTo>
                      <a:pt x="9884" y="0"/>
                    </a:lnTo>
                    <a:lnTo>
                      <a:pt x="10116" y="39"/>
                    </a:lnTo>
                    <a:lnTo>
                      <a:pt x="10331" y="116"/>
                    </a:lnTo>
                    <a:lnTo>
                      <a:pt x="10564" y="232"/>
                    </a:lnTo>
                    <a:lnTo>
                      <a:pt x="10779" y="425"/>
                    </a:lnTo>
                    <a:lnTo>
                      <a:pt x="11012" y="618"/>
                    </a:lnTo>
                    <a:lnTo>
                      <a:pt x="11244" y="849"/>
                    </a:lnTo>
                    <a:lnTo>
                      <a:pt x="11495" y="1120"/>
                    </a:lnTo>
                    <a:lnTo>
                      <a:pt x="11728" y="1390"/>
                    </a:lnTo>
                    <a:lnTo>
                      <a:pt x="11961" y="1699"/>
                    </a:lnTo>
                    <a:lnTo>
                      <a:pt x="12211" y="2085"/>
                    </a:lnTo>
                    <a:lnTo>
                      <a:pt x="12462" y="2471"/>
                    </a:lnTo>
                    <a:lnTo>
                      <a:pt x="12713" y="2819"/>
                    </a:lnTo>
                    <a:lnTo>
                      <a:pt x="12945" y="3243"/>
                    </a:lnTo>
                    <a:lnTo>
                      <a:pt x="13196" y="3668"/>
                    </a:lnTo>
                    <a:lnTo>
                      <a:pt x="13447" y="4131"/>
                    </a:lnTo>
                    <a:lnTo>
                      <a:pt x="13697" y="4633"/>
                    </a:lnTo>
                    <a:lnTo>
                      <a:pt x="13948" y="5097"/>
                    </a:lnTo>
                    <a:lnTo>
                      <a:pt x="14199" y="5637"/>
                    </a:lnTo>
                    <a:lnTo>
                      <a:pt x="14449" y="6139"/>
                    </a:lnTo>
                    <a:lnTo>
                      <a:pt x="14700" y="6680"/>
                    </a:lnTo>
                    <a:lnTo>
                      <a:pt x="14951" y="7181"/>
                    </a:lnTo>
                    <a:lnTo>
                      <a:pt x="15201" y="7722"/>
                    </a:lnTo>
                    <a:lnTo>
                      <a:pt x="15470" y="8263"/>
                    </a:lnTo>
                    <a:lnTo>
                      <a:pt x="15685" y="8842"/>
                    </a:lnTo>
                    <a:lnTo>
                      <a:pt x="15918" y="9382"/>
                    </a:lnTo>
                    <a:lnTo>
                      <a:pt x="16150" y="9961"/>
                    </a:lnTo>
                    <a:lnTo>
                      <a:pt x="16383" y="10502"/>
                    </a:lnTo>
                    <a:lnTo>
                      <a:pt x="16634" y="11042"/>
                    </a:lnTo>
                    <a:lnTo>
                      <a:pt x="16849" y="11622"/>
                    </a:lnTo>
                    <a:lnTo>
                      <a:pt x="17064" y="12162"/>
                    </a:lnTo>
                    <a:lnTo>
                      <a:pt x="17278" y="12703"/>
                    </a:lnTo>
                    <a:lnTo>
                      <a:pt x="17493" y="13205"/>
                    </a:lnTo>
                    <a:lnTo>
                      <a:pt x="17708" y="13707"/>
                    </a:lnTo>
                    <a:lnTo>
                      <a:pt x="17923" y="14247"/>
                    </a:lnTo>
                    <a:lnTo>
                      <a:pt x="18138" y="14749"/>
                    </a:lnTo>
                    <a:lnTo>
                      <a:pt x="18317" y="15212"/>
                    </a:lnTo>
                    <a:lnTo>
                      <a:pt x="18496" y="15676"/>
                    </a:lnTo>
                    <a:lnTo>
                      <a:pt x="18675" y="16139"/>
                    </a:lnTo>
                    <a:lnTo>
                      <a:pt x="18854" y="16564"/>
                    </a:lnTo>
                    <a:lnTo>
                      <a:pt x="19015" y="16950"/>
                    </a:lnTo>
                    <a:lnTo>
                      <a:pt x="19176" y="17336"/>
                    </a:lnTo>
                    <a:lnTo>
                      <a:pt x="19338" y="17722"/>
                    </a:lnTo>
                    <a:lnTo>
                      <a:pt x="19481" y="18031"/>
                    </a:lnTo>
                    <a:lnTo>
                      <a:pt x="19606" y="18378"/>
                    </a:lnTo>
                    <a:lnTo>
                      <a:pt x="19749" y="18649"/>
                    </a:lnTo>
                    <a:lnTo>
                      <a:pt x="19893" y="18880"/>
                    </a:lnTo>
                    <a:lnTo>
                      <a:pt x="19982" y="19112"/>
                    </a:lnTo>
                  </a:path>
                </a:pathLst>
              </a:custGeom>
              <a:noFill/>
              <a:ln w="381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80" name="Freeform 86"/>
              <p:cNvSpPr>
                <a:spLocks noChangeAspect="1"/>
              </p:cNvSpPr>
              <p:nvPr/>
            </p:nvSpPr>
            <p:spPr bwMode="auto">
              <a:xfrm>
                <a:off x="4803775" y="3016250"/>
                <a:ext cx="936625" cy="5048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887"/>
                    </a:moveTo>
                    <a:lnTo>
                      <a:pt x="205" y="1458"/>
                    </a:lnTo>
                    <a:lnTo>
                      <a:pt x="443" y="2060"/>
                    </a:lnTo>
                    <a:lnTo>
                      <a:pt x="665" y="2662"/>
                    </a:lnTo>
                    <a:lnTo>
                      <a:pt x="887" y="3328"/>
                    </a:lnTo>
                    <a:lnTo>
                      <a:pt x="1091" y="3899"/>
                    </a:lnTo>
                    <a:lnTo>
                      <a:pt x="1330" y="4501"/>
                    </a:lnTo>
                    <a:lnTo>
                      <a:pt x="1552" y="5071"/>
                    </a:lnTo>
                    <a:lnTo>
                      <a:pt x="1756" y="5642"/>
                    </a:lnTo>
                    <a:lnTo>
                      <a:pt x="1978" y="6244"/>
                    </a:lnTo>
                    <a:lnTo>
                      <a:pt x="2199" y="6815"/>
                    </a:lnTo>
                    <a:lnTo>
                      <a:pt x="2455" y="7417"/>
                    </a:lnTo>
                    <a:lnTo>
                      <a:pt x="2677" y="7924"/>
                    </a:lnTo>
                    <a:lnTo>
                      <a:pt x="2916" y="8494"/>
                    </a:lnTo>
                    <a:lnTo>
                      <a:pt x="3120" y="9097"/>
                    </a:lnTo>
                    <a:lnTo>
                      <a:pt x="3325" y="9635"/>
                    </a:lnTo>
                    <a:lnTo>
                      <a:pt x="3564" y="10174"/>
                    </a:lnTo>
                    <a:lnTo>
                      <a:pt x="3768" y="10681"/>
                    </a:lnTo>
                    <a:lnTo>
                      <a:pt x="4007" y="11220"/>
                    </a:lnTo>
                    <a:lnTo>
                      <a:pt x="4228" y="11727"/>
                    </a:lnTo>
                    <a:lnTo>
                      <a:pt x="4450" y="12235"/>
                    </a:lnTo>
                    <a:lnTo>
                      <a:pt x="4655" y="12678"/>
                    </a:lnTo>
                    <a:lnTo>
                      <a:pt x="4893" y="13185"/>
                    </a:lnTo>
                    <a:lnTo>
                      <a:pt x="5098" y="13629"/>
                    </a:lnTo>
                    <a:lnTo>
                      <a:pt x="5320" y="14073"/>
                    </a:lnTo>
                    <a:lnTo>
                      <a:pt x="5558" y="14517"/>
                    </a:lnTo>
                    <a:lnTo>
                      <a:pt x="5746" y="14960"/>
                    </a:lnTo>
                    <a:lnTo>
                      <a:pt x="5968" y="15436"/>
                    </a:lnTo>
                    <a:lnTo>
                      <a:pt x="6206" y="15784"/>
                    </a:lnTo>
                    <a:lnTo>
                      <a:pt x="6445" y="16197"/>
                    </a:lnTo>
                    <a:lnTo>
                      <a:pt x="6650" y="16545"/>
                    </a:lnTo>
                    <a:lnTo>
                      <a:pt x="6854" y="16894"/>
                    </a:lnTo>
                    <a:lnTo>
                      <a:pt x="7093" y="17274"/>
                    </a:lnTo>
                    <a:lnTo>
                      <a:pt x="7298" y="17559"/>
                    </a:lnTo>
                    <a:lnTo>
                      <a:pt x="7519" y="17876"/>
                    </a:lnTo>
                    <a:lnTo>
                      <a:pt x="7724" y="18162"/>
                    </a:lnTo>
                    <a:lnTo>
                      <a:pt x="7962" y="18415"/>
                    </a:lnTo>
                    <a:lnTo>
                      <a:pt x="8150" y="18669"/>
                    </a:lnTo>
                    <a:lnTo>
                      <a:pt x="8355" y="18891"/>
                    </a:lnTo>
                    <a:lnTo>
                      <a:pt x="8593" y="19113"/>
                    </a:lnTo>
                    <a:lnTo>
                      <a:pt x="8798" y="19271"/>
                    </a:lnTo>
                    <a:lnTo>
                      <a:pt x="9020" y="19461"/>
                    </a:lnTo>
                    <a:lnTo>
                      <a:pt x="9224" y="19588"/>
                    </a:lnTo>
                    <a:lnTo>
                      <a:pt x="9412" y="19715"/>
                    </a:lnTo>
                    <a:lnTo>
                      <a:pt x="9633" y="19842"/>
                    </a:lnTo>
                    <a:lnTo>
                      <a:pt x="9838" y="19873"/>
                    </a:lnTo>
                    <a:lnTo>
                      <a:pt x="10094" y="19937"/>
                    </a:lnTo>
                    <a:lnTo>
                      <a:pt x="10281" y="19968"/>
                    </a:lnTo>
                    <a:lnTo>
                      <a:pt x="10486" y="19937"/>
                    </a:lnTo>
                    <a:lnTo>
                      <a:pt x="10708" y="19937"/>
                    </a:lnTo>
                    <a:lnTo>
                      <a:pt x="10895" y="19873"/>
                    </a:lnTo>
                    <a:lnTo>
                      <a:pt x="11134" y="19746"/>
                    </a:lnTo>
                    <a:lnTo>
                      <a:pt x="11338" y="19620"/>
                    </a:lnTo>
                    <a:lnTo>
                      <a:pt x="11577" y="19429"/>
                    </a:lnTo>
                    <a:lnTo>
                      <a:pt x="11782" y="19208"/>
                    </a:lnTo>
                    <a:lnTo>
                      <a:pt x="12003" y="18986"/>
                    </a:lnTo>
                    <a:lnTo>
                      <a:pt x="12242" y="18732"/>
                    </a:lnTo>
                    <a:lnTo>
                      <a:pt x="12447" y="18415"/>
                    </a:lnTo>
                    <a:lnTo>
                      <a:pt x="12685" y="18067"/>
                    </a:lnTo>
                    <a:lnTo>
                      <a:pt x="12890" y="17686"/>
                    </a:lnTo>
                    <a:lnTo>
                      <a:pt x="13146" y="17274"/>
                    </a:lnTo>
                    <a:lnTo>
                      <a:pt x="13367" y="16830"/>
                    </a:lnTo>
                    <a:lnTo>
                      <a:pt x="13623" y="16482"/>
                    </a:lnTo>
                    <a:lnTo>
                      <a:pt x="13828" y="16006"/>
                    </a:lnTo>
                    <a:lnTo>
                      <a:pt x="14049" y="15499"/>
                    </a:lnTo>
                    <a:lnTo>
                      <a:pt x="14305" y="15024"/>
                    </a:lnTo>
                    <a:lnTo>
                      <a:pt x="14544" y="14485"/>
                    </a:lnTo>
                    <a:lnTo>
                      <a:pt x="14766" y="14010"/>
                    </a:lnTo>
                    <a:lnTo>
                      <a:pt x="14987" y="13471"/>
                    </a:lnTo>
                    <a:lnTo>
                      <a:pt x="15226" y="12900"/>
                    </a:lnTo>
                    <a:lnTo>
                      <a:pt x="15431" y="12361"/>
                    </a:lnTo>
                    <a:lnTo>
                      <a:pt x="15686" y="11791"/>
                    </a:lnTo>
                    <a:lnTo>
                      <a:pt x="15908" y="11189"/>
                    </a:lnTo>
                    <a:lnTo>
                      <a:pt x="16095" y="10618"/>
                    </a:lnTo>
                    <a:lnTo>
                      <a:pt x="16317" y="10048"/>
                    </a:lnTo>
                    <a:lnTo>
                      <a:pt x="16522" y="9477"/>
                    </a:lnTo>
                    <a:lnTo>
                      <a:pt x="16743" y="8938"/>
                    </a:lnTo>
                    <a:lnTo>
                      <a:pt x="16931" y="8336"/>
                    </a:lnTo>
                    <a:lnTo>
                      <a:pt x="17136" y="7765"/>
                    </a:lnTo>
                    <a:lnTo>
                      <a:pt x="17340" y="7258"/>
                    </a:lnTo>
                    <a:lnTo>
                      <a:pt x="17545" y="6656"/>
                    </a:lnTo>
                    <a:lnTo>
                      <a:pt x="17749" y="6149"/>
                    </a:lnTo>
                    <a:lnTo>
                      <a:pt x="17920" y="5578"/>
                    </a:lnTo>
                    <a:lnTo>
                      <a:pt x="18107" y="5040"/>
                    </a:lnTo>
                    <a:lnTo>
                      <a:pt x="18295" y="4501"/>
                    </a:lnTo>
                    <a:lnTo>
                      <a:pt x="18448" y="4025"/>
                    </a:lnTo>
                    <a:lnTo>
                      <a:pt x="18636" y="3550"/>
                    </a:lnTo>
                    <a:lnTo>
                      <a:pt x="18806" y="3138"/>
                    </a:lnTo>
                    <a:lnTo>
                      <a:pt x="18943" y="2662"/>
                    </a:lnTo>
                    <a:lnTo>
                      <a:pt x="19096" y="2250"/>
                    </a:lnTo>
                    <a:lnTo>
                      <a:pt x="19267" y="1807"/>
                    </a:lnTo>
                    <a:lnTo>
                      <a:pt x="19403" y="1426"/>
                    </a:lnTo>
                    <a:lnTo>
                      <a:pt x="19523" y="1109"/>
                    </a:lnTo>
                    <a:lnTo>
                      <a:pt x="19642" y="792"/>
                    </a:lnTo>
                    <a:lnTo>
                      <a:pt x="19778" y="475"/>
                    </a:lnTo>
                    <a:lnTo>
                      <a:pt x="19898" y="190"/>
                    </a:lnTo>
                    <a:lnTo>
                      <a:pt x="19983" y="0"/>
                    </a:lnTo>
                  </a:path>
                </a:pathLst>
              </a:custGeom>
              <a:noFill/>
              <a:ln w="381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81" name="Freeform 87"/>
              <p:cNvSpPr>
                <a:spLocks noChangeAspect="1"/>
              </p:cNvSpPr>
              <p:nvPr/>
            </p:nvSpPr>
            <p:spPr bwMode="auto">
              <a:xfrm>
                <a:off x="6637337" y="2994025"/>
                <a:ext cx="931863" cy="53498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19983" y="894"/>
                    </a:moveTo>
                    <a:lnTo>
                      <a:pt x="19760" y="1490"/>
                    </a:lnTo>
                    <a:lnTo>
                      <a:pt x="19536" y="2086"/>
                    </a:lnTo>
                    <a:lnTo>
                      <a:pt x="19313" y="2712"/>
                    </a:lnTo>
                    <a:lnTo>
                      <a:pt x="19107" y="3338"/>
                    </a:lnTo>
                    <a:lnTo>
                      <a:pt x="18884" y="3905"/>
                    </a:lnTo>
                    <a:lnTo>
                      <a:pt x="18661" y="4501"/>
                    </a:lnTo>
                    <a:lnTo>
                      <a:pt x="18438" y="5067"/>
                    </a:lnTo>
                    <a:lnTo>
                      <a:pt x="18232" y="5663"/>
                    </a:lnTo>
                    <a:lnTo>
                      <a:pt x="17991" y="6230"/>
                    </a:lnTo>
                    <a:lnTo>
                      <a:pt x="17768" y="6796"/>
                    </a:lnTo>
                    <a:lnTo>
                      <a:pt x="17528" y="7392"/>
                    </a:lnTo>
                    <a:lnTo>
                      <a:pt x="17305" y="7958"/>
                    </a:lnTo>
                    <a:lnTo>
                      <a:pt x="17082" y="8495"/>
                    </a:lnTo>
                    <a:lnTo>
                      <a:pt x="16858" y="9091"/>
                    </a:lnTo>
                    <a:lnTo>
                      <a:pt x="16652" y="9627"/>
                    </a:lnTo>
                    <a:lnTo>
                      <a:pt x="16429" y="10164"/>
                    </a:lnTo>
                    <a:lnTo>
                      <a:pt x="16206" y="10700"/>
                    </a:lnTo>
                    <a:lnTo>
                      <a:pt x="15983" y="11237"/>
                    </a:lnTo>
                    <a:lnTo>
                      <a:pt x="15760" y="11714"/>
                    </a:lnTo>
                    <a:lnTo>
                      <a:pt x="15536" y="12280"/>
                    </a:lnTo>
                    <a:lnTo>
                      <a:pt x="15313" y="12727"/>
                    </a:lnTo>
                    <a:lnTo>
                      <a:pt x="15107" y="13174"/>
                    </a:lnTo>
                    <a:lnTo>
                      <a:pt x="14884" y="13651"/>
                    </a:lnTo>
                    <a:lnTo>
                      <a:pt x="14661" y="14098"/>
                    </a:lnTo>
                    <a:lnTo>
                      <a:pt x="14438" y="14545"/>
                    </a:lnTo>
                    <a:lnTo>
                      <a:pt x="14232" y="14963"/>
                    </a:lnTo>
                    <a:lnTo>
                      <a:pt x="14026" y="15410"/>
                    </a:lnTo>
                    <a:lnTo>
                      <a:pt x="13785" y="15797"/>
                    </a:lnTo>
                    <a:lnTo>
                      <a:pt x="13562" y="16185"/>
                    </a:lnTo>
                    <a:lnTo>
                      <a:pt x="13339" y="16572"/>
                    </a:lnTo>
                    <a:lnTo>
                      <a:pt x="13116" y="16900"/>
                    </a:lnTo>
                    <a:lnTo>
                      <a:pt x="12910" y="17228"/>
                    </a:lnTo>
                    <a:lnTo>
                      <a:pt x="12687" y="17556"/>
                    </a:lnTo>
                    <a:lnTo>
                      <a:pt x="12464" y="17884"/>
                    </a:lnTo>
                    <a:lnTo>
                      <a:pt x="12258" y="18182"/>
                    </a:lnTo>
                    <a:lnTo>
                      <a:pt x="12034" y="18450"/>
                    </a:lnTo>
                    <a:lnTo>
                      <a:pt x="11828" y="18659"/>
                    </a:lnTo>
                    <a:lnTo>
                      <a:pt x="11622" y="18897"/>
                    </a:lnTo>
                    <a:lnTo>
                      <a:pt x="11399" y="19106"/>
                    </a:lnTo>
                    <a:lnTo>
                      <a:pt x="11176" y="19314"/>
                    </a:lnTo>
                    <a:lnTo>
                      <a:pt x="10953" y="19463"/>
                    </a:lnTo>
                    <a:lnTo>
                      <a:pt x="10764" y="19583"/>
                    </a:lnTo>
                    <a:lnTo>
                      <a:pt x="10558" y="19702"/>
                    </a:lnTo>
                    <a:lnTo>
                      <a:pt x="10335" y="19821"/>
                    </a:lnTo>
                    <a:lnTo>
                      <a:pt x="10129" y="19881"/>
                    </a:lnTo>
                    <a:lnTo>
                      <a:pt x="9906" y="19940"/>
                    </a:lnTo>
                    <a:lnTo>
                      <a:pt x="9682" y="19970"/>
                    </a:lnTo>
                    <a:lnTo>
                      <a:pt x="9476" y="19940"/>
                    </a:lnTo>
                    <a:lnTo>
                      <a:pt x="9288" y="19940"/>
                    </a:lnTo>
                    <a:lnTo>
                      <a:pt x="9064" y="19881"/>
                    </a:lnTo>
                    <a:lnTo>
                      <a:pt x="8858" y="19762"/>
                    </a:lnTo>
                    <a:lnTo>
                      <a:pt x="8652" y="19613"/>
                    </a:lnTo>
                    <a:lnTo>
                      <a:pt x="8429" y="19463"/>
                    </a:lnTo>
                    <a:lnTo>
                      <a:pt x="8206" y="19225"/>
                    </a:lnTo>
                    <a:lnTo>
                      <a:pt x="7983" y="18957"/>
                    </a:lnTo>
                    <a:lnTo>
                      <a:pt x="7760" y="18718"/>
                    </a:lnTo>
                    <a:lnTo>
                      <a:pt x="7536" y="18450"/>
                    </a:lnTo>
                    <a:lnTo>
                      <a:pt x="7296" y="18033"/>
                    </a:lnTo>
                    <a:lnTo>
                      <a:pt x="7073" y="17675"/>
                    </a:lnTo>
                    <a:lnTo>
                      <a:pt x="6833" y="17258"/>
                    </a:lnTo>
                    <a:lnTo>
                      <a:pt x="6609" y="16870"/>
                    </a:lnTo>
                    <a:lnTo>
                      <a:pt x="6386" y="16453"/>
                    </a:lnTo>
                    <a:lnTo>
                      <a:pt x="6146" y="16006"/>
                    </a:lnTo>
                    <a:lnTo>
                      <a:pt x="5923" y="15499"/>
                    </a:lnTo>
                    <a:lnTo>
                      <a:pt x="5682" y="14993"/>
                    </a:lnTo>
                    <a:lnTo>
                      <a:pt x="5459" y="14486"/>
                    </a:lnTo>
                    <a:lnTo>
                      <a:pt x="5236" y="13979"/>
                    </a:lnTo>
                    <a:lnTo>
                      <a:pt x="4996" y="13472"/>
                    </a:lnTo>
                    <a:lnTo>
                      <a:pt x="4755" y="12906"/>
                    </a:lnTo>
                    <a:lnTo>
                      <a:pt x="4532" y="12340"/>
                    </a:lnTo>
                    <a:lnTo>
                      <a:pt x="4309" y="11773"/>
                    </a:lnTo>
                    <a:lnTo>
                      <a:pt x="4086" y="11207"/>
                    </a:lnTo>
                    <a:lnTo>
                      <a:pt x="3863" y="10611"/>
                    </a:lnTo>
                    <a:lnTo>
                      <a:pt x="3657" y="10075"/>
                    </a:lnTo>
                    <a:lnTo>
                      <a:pt x="3468" y="9478"/>
                    </a:lnTo>
                    <a:lnTo>
                      <a:pt x="3245" y="8942"/>
                    </a:lnTo>
                    <a:lnTo>
                      <a:pt x="3039" y="8346"/>
                    </a:lnTo>
                    <a:lnTo>
                      <a:pt x="2850" y="7779"/>
                    </a:lnTo>
                    <a:lnTo>
                      <a:pt x="2644" y="7213"/>
                    </a:lnTo>
                    <a:lnTo>
                      <a:pt x="2438" y="6647"/>
                    </a:lnTo>
                    <a:lnTo>
                      <a:pt x="2249" y="6110"/>
                    </a:lnTo>
                    <a:lnTo>
                      <a:pt x="2077" y="5574"/>
                    </a:lnTo>
                    <a:lnTo>
                      <a:pt x="1854" y="5037"/>
                    </a:lnTo>
                    <a:lnTo>
                      <a:pt x="1700" y="4531"/>
                    </a:lnTo>
                    <a:lnTo>
                      <a:pt x="1528" y="4024"/>
                    </a:lnTo>
                    <a:lnTo>
                      <a:pt x="1356" y="3547"/>
                    </a:lnTo>
                    <a:lnTo>
                      <a:pt x="1202" y="3130"/>
                    </a:lnTo>
                    <a:lnTo>
                      <a:pt x="1047" y="2653"/>
                    </a:lnTo>
                    <a:lnTo>
                      <a:pt x="876" y="2265"/>
                    </a:lnTo>
                    <a:lnTo>
                      <a:pt x="738" y="1818"/>
                    </a:lnTo>
                    <a:lnTo>
                      <a:pt x="584" y="1461"/>
                    </a:lnTo>
                    <a:lnTo>
                      <a:pt x="464" y="1073"/>
                    </a:lnTo>
                    <a:lnTo>
                      <a:pt x="326" y="775"/>
                    </a:lnTo>
                    <a:lnTo>
                      <a:pt x="223" y="477"/>
                    </a:lnTo>
                    <a:lnTo>
                      <a:pt x="103" y="209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82" name="Line 88"/>
              <p:cNvSpPr>
                <a:spLocks noChangeAspect="1" noChangeShapeType="1"/>
              </p:cNvSpPr>
              <p:nvPr/>
            </p:nvSpPr>
            <p:spPr bwMode="auto">
              <a:xfrm>
                <a:off x="5302250" y="2262188"/>
                <a:ext cx="0" cy="1630362"/>
              </a:xfrm>
              <a:prstGeom prst="line">
                <a:avLst/>
              </a:prstGeom>
              <a:noFill/>
              <a:ln w="38100">
                <a:solidFill>
                  <a:srgbClr val="66FFFF"/>
                </a:solidFill>
                <a:round/>
                <a:headEnd type="triangl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83" name="Line 89"/>
              <p:cNvSpPr>
                <a:spLocks noChangeAspect="1" noChangeShapeType="1"/>
              </p:cNvSpPr>
              <p:nvPr/>
            </p:nvSpPr>
            <p:spPr bwMode="auto">
              <a:xfrm>
                <a:off x="5334000" y="3524249"/>
                <a:ext cx="1773237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84" name="Line 90"/>
              <p:cNvSpPr>
                <a:spLocks noChangeAspect="1" noChangeShapeType="1"/>
              </p:cNvSpPr>
              <p:nvPr/>
            </p:nvSpPr>
            <p:spPr bwMode="auto">
              <a:xfrm>
                <a:off x="5318125" y="2549525"/>
                <a:ext cx="906463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85" name="Line 91"/>
              <p:cNvSpPr>
                <a:spLocks noChangeAspect="1" noChangeShapeType="1"/>
              </p:cNvSpPr>
              <p:nvPr/>
            </p:nvSpPr>
            <p:spPr bwMode="auto">
              <a:xfrm>
                <a:off x="7077074" y="3028949"/>
                <a:ext cx="0" cy="484188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" name="Line 92"/>
              <p:cNvSpPr>
                <a:spLocks noChangeAspect="1" noChangeShapeType="1"/>
              </p:cNvSpPr>
              <p:nvPr/>
            </p:nvSpPr>
            <p:spPr bwMode="auto">
              <a:xfrm>
                <a:off x="5313363" y="3013075"/>
                <a:ext cx="2700337" cy="0"/>
              </a:xfrm>
              <a:prstGeom prst="line">
                <a:avLst/>
              </a:prstGeom>
              <a:noFill/>
              <a:ln w="38100">
                <a:solidFill>
                  <a:srgbClr val="66FFFF"/>
                </a:solidFill>
                <a:round/>
                <a:headEnd type="none" w="med" len="sm"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87" name="Rectangle 94"/>
              <p:cNvSpPr>
                <a:spLocks noChangeAspect="1" noChangeArrowheads="1"/>
              </p:cNvSpPr>
              <p:nvPr/>
            </p:nvSpPr>
            <p:spPr bwMode="auto">
              <a:xfrm>
                <a:off x="5003800" y="2295525"/>
                <a:ext cx="255588" cy="352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FFFF66"/>
                    </a:solidFill>
                  </a:rPr>
                  <a:t>A</a:t>
                </a:r>
                <a:endParaRPr lang="en-US" altLang="zh-CN" sz="1000" b="0"/>
              </a:p>
            </p:txBody>
          </p:sp>
          <p:sp>
            <p:nvSpPr>
              <p:cNvPr id="17588" name="Rectangle 96"/>
              <p:cNvSpPr>
                <a:spLocks noChangeAspect="1" noChangeArrowheads="1"/>
              </p:cNvSpPr>
              <p:nvPr/>
            </p:nvSpPr>
            <p:spPr bwMode="auto">
              <a:xfrm>
                <a:off x="8072437" y="2824163"/>
                <a:ext cx="255588" cy="415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66FFFF"/>
                    </a:solidFill>
                  </a:rPr>
                  <a:t>t</a:t>
                </a:r>
                <a:endParaRPr lang="en-US" altLang="zh-CN" b="0"/>
              </a:p>
            </p:txBody>
          </p:sp>
          <p:sp>
            <p:nvSpPr>
              <p:cNvPr id="17589" name="Rectangle 97"/>
              <p:cNvSpPr>
                <a:spLocks noChangeAspect="1" noChangeArrowheads="1"/>
              </p:cNvSpPr>
              <p:nvPr/>
            </p:nvSpPr>
            <p:spPr bwMode="auto">
              <a:xfrm>
                <a:off x="5384800" y="2143125"/>
                <a:ext cx="319088" cy="415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66FFFF"/>
                    </a:solidFill>
                  </a:rPr>
                  <a:t>x</a:t>
                </a:r>
                <a:endParaRPr lang="en-US" altLang="zh-CN" sz="1000" b="0"/>
              </a:p>
            </p:txBody>
          </p:sp>
          <p:sp>
            <p:nvSpPr>
              <p:cNvPr id="17590" name="Rectangle 99"/>
              <p:cNvSpPr>
                <a:spLocks noChangeAspect="1" noChangeArrowheads="1"/>
              </p:cNvSpPr>
              <p:nvPr/>
            </p:nvSpPr>
            <p:spPr bwMode="auto">
              <a:xfrm>
                <a:off x="6984999" y="2643188"/>
                <a:ext cx="319088" cy="419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FFFF66"/>
                    </a:solidFill>
                  </a:rPr>
                  <a:t>T</a:t>
                </a:r>
                <a:endParaRPr lang="en-US" altLang="zh-CN" b="0"/>
              </a:p>
            </p:txBody>
          </p:sp>
        </p:grpSp>
        <p:sp useBgFill="1">
          <p:nvSpPr>
            <p:cNvPr id="17576" name="Rectangle 69"/>
            <p:cNvSpPr>
              <a:spLocks noChangeArrowheads="1"/>
            </p:cNvSpPr>
            <p:nvPr/>
          </p:nvSpPr>
          <p:spPr bwMode="auto">
            <a:xfrm>
              <a:off x="4388570" y="3001625"/>
              <a:ext cx="893762" cy="78263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7577" name="Rectangle 93"/>
            <p:cNvSpPr>
              <a:spLocks noChangeAspect="1" noChangeArrowheads="1"/>
            </p:cNvSpPr>
            <p:nvPr/>
          </p:nvSpPr>
          <p:spPr bwMode="auto">
            <a:xfrm>
              <a:off x="5003800" y="2752725"/>
              <a:ext cx="3048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66FFFF"/>
                  </a:solidFill>
                </a:rPr>
                <a:t>o</a:t>
              </a:r>
              <a:endParaRPr lang="en-US" altLang="zh-CN" sz="1000" b="0"/>
            </a:p>
          </p:txBody>
        </p:sp>
        <p:sp>
          <p:nvSpPr>
            <p:cNvPr id="17578" name="Rectangle 95"/>
            <p:cNvSpPr>
              <a:spLocks noChangeAspect="1" noChangeArrowheads="1"/>
            </p:cNvSpPr>
            <p:nvPr/>
          </p:nvSpPr>
          <p:spPr bwMode="auto">
            <a:xfrm>
              <a:off x="4927600" y="3286124"/>
              <a:ext cx="511175" cy="417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-</a:t>
              </a:r>
              <a:r>
                <a:rPr lang="en-US" altLang="zh-CN" i="1">
                  <a:solidFill>
                    <a:srgbClr val="FFFF66"/>
                  </a:solidFill>
                </a:rPr>
                <a:t>A</a:t>
              </a:r>
              <a:endParaRPr lang="en-US" altLang="zh-CN" sz="1000" b="0"/>
            </a:p>
          </p:txBody>
        </p:sp>
      </p:grpSp>
      <p:sp>
        <p:nvSpPr>
          <p:cNvPr id="17570" name="Rectangle 112"/>
          <p:cNvSpPr>
            <a:spLocks noChangeAspect="1" noChangeArrowheads="1"/>
          </p:cNvSpPr>
          <p:nvPr/>
        </p:nvSpPr>
        <p:spPr bwMode="auto">
          <a:xfrm>
            <a:off x="7690282" y="3854456"/>
            <a:ext cx="128905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 dirty="0">
                <a:solidFill>
                  <a:srgbClr val="FFFF00"/>
                </a:solidFill>
                <a:sym typeface="Symbol" panose="05050102010706020507" pitchFamily="18" charset="2"/>
              </a:rPr>
              <a:t></a:t>
            </a:r>
            <a:r>
              <a:rPr lang="en-US" altLang="zh-CN" dirty="0">
                <a:solidFill>
                  <a:srgbClr val="FFFF00"/>
                </a:solidFill>
              </a:rPr>
              <a:t> = 3</a:t>
            </a:r>
            <a:r>
              <a:rPr lang="en-US" altLang="zh-CN" dirty="0">
                <a:solidFill>
                  <a:srgbClr val="FFFF00"/>
                </a:solidFill>
                <a:sym typeface="Symbol" panose="05050102010706020507" pitchFamily="18" charset="2"/>
              </a:rPr>
              <a:t></a:t>
            </a:r>
            <a:r>
              <a:rPr lang="en-US" altLang="zh-CN" dirty="0">
                <a:solidFill>
                  <a:srgbClr val="FFFF00"/>
                </a:solidFill>
              </a:rPr>
              <a:t>/2</a:t>
            </a:r>
            <a:endParaRPr lang="en-US" altLang="zh-CN" b="0" dirty="0">
              <a:solidFill>
                <a:srgbClr val="FFFF00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 bwMode="auto">
          <a:xfrm>
            <a:off x="4693792" y="4786313"/>
            <a:ext cx="3406775" cy="1887537"/>
            <a:chOff x="4951413" y="4786313"/>
            <a:chExt cx="3406776" cy="1887537"/>
          </a:xfrm>
        </p:grpSpPr>
        <p:sp>
          <p:nvSpPr>
            <p:cNvPr id="17563" name="Line 101"/>
            <p:cNvSpPr>
              <a:spLocks noChangeAspect="1" noChangeShapeType="1"/>
            </p:cNvSpPr>
            <p:nvPr/>
          </p:nvSpPr>
          <p:spPr bwMode="auto">
            <a:xfrm>
              <a:off x="5341938" y="5318125"/>
              <a:ext cx="46355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4" name="Line 102"/>
            <p:cNvSpPr>
              <a:spLocks noChangeAspect="1" noChangeShapeType="1"/>
            </p:cNvSpPr>
            <p:nvPr/>
          </p:nvSpPr>
          <p:spPr bwMode="auto">
            <a:xfrm>
              <a:off x="5321301" y="4989513"/>
              <a:ext cx="0" cy="1684337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5" name="Line 103"/>
            <p:cNvSpPr>
              <a:spLocks noChangeAspect="1" noChangeShapeType="1"/>
            </p:cNvSpPr>
            <p:nvPr/>
          </p:nvSpPr>
          <p:spPr bwMode="auto">
            <a:xfrm>
              <a:off x="5335588" y="5813425"/>
              <a:ext cx="2700338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66" name="Rectangle 104"/>
            <p:cNvSpPr>
              <a:spLocks noChangeAspect="1" noChangeArrowheads="1"/>
            </p:cNvSpPr>
            <p:nvPr/>
          </p:nvSpPr>
          <p:spPr bwMode="auto">
            <a:xfrm>
              <a:off x="5126038" y="5613400"/>
              <a:ext cx="315913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00"/>
                  </a:solidFill>
                </a:rPr>
                <a:t>o</a:t>
              </a:r>
              <a:endParaRPr lang="en-US" altLang="zh-CN" sz="1000" b="0"/>
            </a:p>
          </p:txBody>
        </p:sp>
        <p:sp>
          <p:nvSpPr>
            <p:cNvPr id="17567" name="Rectangle 105"/>
            <p:cNvSpPr>
              <a:spLocks noChangeAspect="1" noChangeArrowheads="1"/>
            </p:cNvSpPr>
            <p:nvPr/>
          </p:nvSpPr>
          <p:spPr bwMode="auto">
            <a:xfrm>
              <a:off x="5027613" y="5091113"/>
              <a:ext cx="265113" cy="477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A</a:t>
              </a:r>
              <a:endParaRPr lang="en-US" altLang="zh-CN" sz="1000" b="0"/>
            </a:p>
          </p:txBody>
        </p:sp>
        <p:sp>
          <p:nvSpPr>
            <p:cNvPr id="17568" name="Rectangle 106"/>
            <p:cNvSpPr>
              <a:spLocks noChangeAspect="1" noChangeArrowheads="1"/>
            </p:cNvSpPr>
            <p:nvPr/>
          </p:nvSpPr>
          <p:spPr bwMode="auto">
            <a:xfrm>
              <a:off x="4951413" y="6081713"/>
              <a:ext cx="530225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00"/>
                  </a:solidFill>
                </a:rPr>
                <a:t>-</a:t>
              </a:r>
              <a:r>
                <a:rPr lang="en-US" altLang="zh-CN" i="1">
                  <a:solidFill>
                    <a:srgbClr val="FFFF00"/>
                  </a:solidFill>
                </a:rPr>
                <a:t>A</a:t>
              </a:r>
              <a:endParaRPr lang="en-US" altLang="zh-CN" sz="1000" b="0"/>
            </a:p>
          </p:txBody>
        </p:sp>
        <p:sp>
          <p:nvSpPr>
            <p:cNvPr id="17569" name="Rectangle 107"/>
            <p:cNvSpPr>
              <a:spLocks noChangeAspect="1" noChangeArrowheads="1"/>
            </p:cNvSpPr>
            <p:nvPr/>
          </p:nvSpPr>
          <p:spPr bwMode="auto">
            <a:xfrm>
              <a:off x="8093076" y="5562600"/>
              <a:ext cx="265113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zh-CN" sz="1000" b="0"/>
            </a:p>
            <a:p>
              <a:pPr eaLnBrk="1" hangingPunct="1"/>
              <a:r>
                <a:rPr lang="en-US" altLang="zh-CN" i="1">
                  <a:solidFill>
                    <a:srgbClr val="00FFFF"/>
                  </a:solidFill>
                </a:rPr>
                <a:t>t</a:t>
              </a:r>
              <a:endParaRPr lang="en-US" altLang="zh-CN" sz="1600" i="1"/>
            </a:p>
          </p:txBody>
        </p:sp>
        <p:sp>
          <p:nvSpPr>
            <p:cNvPr id="7" name="Rectangle 108"/>
            <p:cNvSpPr>
              <a:spLocks noChangeAspect="1" noChangeArrowheads="1"/>
            </p:cNvSpPr>
            <p:nvPr/>
          </p:nvSpPr>
          <p:spPr bwMode="auto">
            <a:xfrm>
              <a:off x="5489576" y="4786313"/>
              <a:ext cx="331788" cy="430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00FFFF"/>
                  </a:solidFill>
                </a:rPr>
                <a:t>x</a:t>
              </a:r>
              <a:endParaRPr lang="en-US" altLang="zh-CN" sz="1000" b="0"/>
            </a:p>
          </p:txBody>
        </p:sp>
        <p:sp>
          <p:nvSpPr>
            <p:cNvPr id="17571" name="Freeform 109"/>
            <p:cNvSpPr>
              <a:spLocks noChangeAspect="1"/>
            </p:cNvSpPr>
            <p:nvPr/>
          </p:nvSpPr>
          <p:spPr bwMode="auto">
            <a:xfrm>
              <a:off x="5357813" y="5348288"/>
              <a:ext cx="876300" cy="46196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964"/>
                  </a:moveTo>
                  <a:lnTo>
                    <a:pt x="189" y="19323"/>
                  </a:lnTo>
                  <a:lnTo>
                    <a:pt x="396" y="18717"/>
                  </a:lnTo>
                  <a:lnTo>
                    <a:pt x="584" y="18075"/>
                  </a:lnTo>
                  <a:lnTo>
                    <a:pt x="792" y="17469"/>
                  </a:lnTo>
                  <a:lnTo>
                    <a:pt x="980" y="16827"/>
                  </a:lnTo>
                  <a:lnTo>
                    <a:pt x="1188" y="16221"/>
                  </a:lnTo>
                  <a:lnTo>
                    <a:pt x="1395" y="15615"/>
                  </a:lnTo>
                  <a:lnTo>
                    <a:pt x="1565" y="15009"/>
                  </a:lnTo>
                  <a:lnTo>
                    <a:pt x="1772" y="14403"/>
                  </a:lnTo>
                  <a:lnTo>
                    <a:pt x="1979" y="13832"/>
                  </a:lnTo>
                  <a:lnTo>
                    <a:pt x="2168" y="13191"/>
                  </a:lnTo>
                  <a:lnTo>
                    <a:pt x="2375" y="12656"/>
                  </a:lnTo>
                  <a:lnTo>
                    <a:pt x="2564" y="12086"/>
                  </a:lnTo>
                  <a:lnTo>
                    <a:pt x="2790" y="11480"/>
                  </a:lnTo>
                  <a:lnTo>
                    <a:pt x="2959" y="10945"/>
                  </a:lnTo>
                  <a:lnTo>
                    <a:pt x="3167" y="10339"/>
                  </a:lnTo>
                  <a:lnTo>
                    <a:pt x="3374" y="9804"/>
                  </a:lnTo>
                  <a:lnTo>
                    <a:pt x="3582" y="9305"/>
                  </a:lnTo>
                  <a:lnTo>
                    <a:pt x="3770" y="8770"/>
                  </a:lnTo>
                  <a:lnTo>
                    <a:pt x="3959" y="8271"/>
                  </a:lnTo>
                  <a:lnTo>
                    <a:pt x="4166" y="7736"/>
                  </a:lnTo>
                  <a:lnTo>
                    <a:pt x="4373" y="7237"/>
                  </a:lnTo>
                  <a:lnTo>
                    <a:pt x="4562" y="6809"/>
                  </a:lnTo>
                  <a:lnTo>
                    <a:pt x="4788" y="6310"/>
                  </a:lnTo>
                  <a:lnTo>
                    <a:pt x="4976" y="5847"/>
                  </a:lnTo>
                  <a:lnTo>
                    <a:pt x="5165" y="5383"/>
                  </a:lnTo>
                  <a:lnTo>
                    <a:pt x="5353" y="4955"/>
                  </a:lnTo>
                  <a:lnTo>
                    <a:pt x="5542" y="4563"/>
                  </a:lnTo>
                  <a:lnTo>
                    <a:pt x="5768" y="4135"/>
                  </a:lnTo>
                  <a:lnTo>
                    <a:pt x="5975" y="3743"/>
                  </a:lnTo>
                  <a:lnTo>
                    <a:pt x="6183" y="3351"/>
                  </a:lnTo>
                  <a:lnTo>
                    <a:pt x="6390" y="3030"/>
                  </a:lnTo>
                  <a:lnTo>
                    <a:pt x="6598" y="2674"/>
                  </a:lnTo>
                  <a:lnTo>
                    <a:pt x="6786" y="2353"/>
                  </a:lnTo>
                  <a:lnTo>
                    <a:pt x="6993" y="2032"/>
                  </a:lnTo>
                  <a:lnTo>
                    <a:pt x="7182" y="1747"/>
                  </a:lnTo>
                  <a:lnTo>
                    <a:pt x="7408" y="1497"/>
                  </a:lnTo>
                  <a:lnTo>
                    <a:pt x="7615" y="1248"/>
                  </a:lnTo>
                  <a:lnTo>
                    <a:pt x="7842" y="1034"/>
                  </a:lnTo>
                  <a:lnTo>
                    <a:pt x="8030" y="820"/>
                  </a:lnTo>
                  <a:lnTo>
                    <a:pt x="8238" y="606"/>
                  </a:lnTo>
                  <a:lnTo>
                    <a:pt x="8464" y="499"/>
                  </a:lnTo>
                  <a:lnTo>
                    <a:pt x="8633" y="357"/>
                  </a:lnTo>
                  <a:lnTo>
                    <a:pt x="8841" y="250"/>
                  </a:lnTo>
                  <a:lnTo>
                    <a:pt x="9048" y="71"/>
                  </a:lnTo>
                  <a:lnTo>
                    <a:pt x="9274" y="36"/>
                  </a:lnTo>
                  <a:lnTo>
                    <a:pt x="9482" y="36"/>
                  </a:lnTo>
                  <a:lnTo>
                    <a:pt x="9670" y="36"/>
                  </a:lnTo>
                  <a:lnTo>
                    <a:pt x="9877" y="0"/>
                  </a:lnTo>
                  <a:lnTo>
                    <a:pt x="10123" y="36"/>
                  </a:lnTo>
                  <a:lnTo>
                    <a:pt x="10330" y="107"/>
                  </a:lnTo>
                  <a:lnTo>
                    <a:pt x="10556" y="250"/>
                  </a:lnTo>
                  <a:lnTo>
                    <a:pt x="10782" y="428"/>
                  </a:lnTo>
                  <a:lnTo>
                    <a:pt x="11008" y="606"/>
                  </a:lnTo>
                  <a:lnTo>
                    <a:pt x="11235" y="856"/>
                  </a:lnTo>
                  <a:lnTo>
                    <a:pt x="11499" y="1105"/>
                  </a:lnTo>
                  <a:lnTo>
                    <a:pt x="11725" y="1390"/>
                  </a:lnTo>
                  <a:lnTo>
                    <a:pt x="11951" y="1711"/>
                  </a:lnTo>
                  <a:lnTo>
                    <a:pt x="12196" y="2103"/>
                  </a:lnTo>
                  <a:lnTo>
                    <a:pt x="12460" y="2460"/>
                  </a:lnTo>
                  <a:lnTo>
                    <a:pt x="12724" y="2816"/>
                  </a:lnTo>
                  <a:lnTo>
                    <a:pt x="12950" y="3244"/>
                  </a:lnTo>
                  <a:lnTo>
                    <a:pt x="13195" y="3672"/>
                  </a:lnTo>
                  <a:lnTo>
                    <a:pt x="13459" y="4135"/>
                  </a:lnTo>
                  <a:lnTo>
                    <a:pt x="13704" y="4635"/>
                  </a:lnTo>
                  <a:lnTo>
                    <a:pt x="13949" y="5098"/>
                  </a:lnTo>
                  <a:lnTo>
                    <a:pt x="14194" y="5633"/>
                  </a:lnTo>
                  <a:lnTo>
                    <a:pt x="14458" y="6132"/>
                  </a:lnTo>
                  <a:lnTo>
                    <a:pt x="14703" y="6667"/>
                  </a:lnTo>
                  <a:lnTo>
                    <a:pt x="14948" y="7201"/>
                  </a:lnTo>
                  <a:lnTo>
                    <a:pt x="15193" y="7736"/>
                  </a:lnTo>
                  <a:lnTo>
                    <a:pt x="15476" y="8271"/>
                  </a:lnTo>
                  <a:lnTo>
                    <a:pt x="15683" y="8841"/>
                  </a:lnTo>
                  <a:lnTo>
                    <a:pt x="15910" y="9376"/>
                  </a:lnTo>
                  <a:lnTo>
                    <a:pt x="16155" y="9947"/>
                  </a:lnTo>
                  <a:lnTo>
                    <a:pt x="16381" y="10517"/>
                  </a:lnTo>
                  <a:lnTo>
                    <a:pt x="16626" y="11052"/>
                  </a:lnTo>
                  <a:lnTo>
                    <a:pt x="16833" y="11622"/>
                  </a:lnTo>
                  <a:lnTo>
                    <a:pt x="17059" y="12157"/>
                  </a:lnTo>
                  <a:lnTo>
                    <a:pt x="17267" y="12692"/>
                  </a:lnTo>
                  <a:lnTo>
                    <a:pt x="17493" y="13191"/>
                  </a:lnTo>
                  <a:lnTo>
                    <a:pt x="17719" y="13725"/>
                  </a:lnTo>
                  <a:lnTo>
                    <a:pt x="17926" y="14260"/>
                  </a:lnTo>
                  <a:lnTo>
                    <a:pt x="18153" y="14759"/>
                  </a:lnTo>
                  <a:lnTo>
                    <a:pt x="18322" y="15223"/>
                  </a:lnTo>
                  <a:lnTo>
                    <a:pt x="18492" y="15686"/>
                  </a:lnTo>
                  <a:lnTo>
                    <a:pt x="18680" y="16150"/>
                  </a:lnTo>
                  <a:lnTo>
                    <a:pt x="18850" y="16578"/>
                  </a:lnTo>
                  <a:lnTo>
                    <a:pt x="19020" y="16970"/>
                  </a:lnTo>
                  <a:lnTo>
                    <a:pt x="19171" y="17326"/>
                  </a:lnTo>
                  <a:lnTo>
                    <a:pt x="19340" y="17718"/>
                  </a:lnTo>
                  <a:lnTo>
                    <a:pt x="19491" y="18039"/>
                  </a:lnTo>
                  <a:lnTo>
                    <a:pt x="19604" y="18396"/>
                  </a:lnTo>
                  <a:lnTo>
                    <a:pt x="19755" y="18645"/>
                  </a:lnTo>
                  <a:lnTo>
                    <a:pt x="19887" y="18895"/>
                  </a:lnTo>
                  <a:lnTo>
                    <a:pt x="19981" y="19109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110"/>
            <p:cNvSpPr>
              <a:spLocks noChangeAspect="1"/>
            </p:cNvSpPr>
            <p:nvPr/>
          </p:nvSpPr>
          <p:spPr bwMode="auto">
            <a:xfrm>
              <a:off x="6232526" y="5794375"/>
              <a:ext cx="876300" cy="495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9" y="666"/>
                  </a:lnTo>
                  <a:lnTo>
                    <a:pt x="396" y="1231"/>
                  </a:lnTo>
                  <a:lnTo>
                    <a:pt x="584" y="1897"/>
                  </a:lnTo>
                  <a:lnTo>
                    <a:pt x="792" y="2529"/>
                  </a:lnTo>
                  <a:lnTo>
                    <a:pt x="980" y="3161"/>
                  </a:lnTo>
                  <a:lnTo>
                    <a:pt x="1206" y="3727"/>
                  </a:lnTo>
                  <a:lnTo>
                    <a:pt x="1395" y="4359"/>
                  </a:lnTo>
                  <a:lnTo>
                    <a:pt x="1583" y="4958"/>
                  </a:lnTo>
                  <a:lnTo>
                    <a:pt x="1772" y="5557"/>
                  </a:lnTo>
                  <a:lnTo>
                    <a:pt x="1979" y="6156"/>
                  </a:lnTo>
                  <a:lnTo>
                    <a:pt x="2187" y="6755"/>
                  </a:lnTo>
                  <a:lnTo>
                    <a:pt x="2375" y="7288"/>
                  </a:lnTo>
                  <a:lnTo>
                    <a:pt x="2564" y="7887"/>
                  </a:lnTo>
                  <a:lnTo>
                    <a:pt x="2771" y="8519"/>
                  </a:lnTo>
                  <a:lnTo>
                    <a:pt x="2959" y="9018"/>
                  </a:lnTo>
                  <a:lnTo>
                    <a:pt x="3148" y="9617"/>
                  </a:lnTo>
                  <a:lnTo>
                    <a:pt x="3374" y="10183"/>
                  </a:lnTo>
                  <a:lnTo>
                    <a:pt x="3582" y="10649"/>
                  </a:lnTo>
                  <a:lnTo>
                    <a:pt x="3751" y="11215"/>
                  </a:lnTo>
                  <a:lnTo>
                    <a:pt x="3959" y="11681"/>
                  </a:lnTo>
                  <a:lnTo>
                    <a:pt x="4147" y="12246"/>
                  </a:lnTo>
                  <a:lnTo>
                    <a:pt x="4373" y="12745"/>
                  </a:lnTo>
                  <a:lnTo>
                    <a:pt x="4562" y="13178"/>
                  </a:lnTo>
                  <a:lnTo>
                    <a:pt x="4788" y="13677"/>
                  </a:lnTo>
                  <a:lnTo>
                    <a:pt x="4976" y="14110"/>
                  </a:lnTo>
                  <a:lnTo>
                    <a:pt x="5184" y="14609"/>
                  </a:lnTo>
                  <a:lnTo>
                    <a:pt x="5353" y="15008"/>
                  </a:lnTo>
                  <a:lnTo>
                    <a:pt x="5542" y="15408"/>
                  </a:lnTo>
                  <a:lnTo>
                    <a:pt x="5768" y="15840"/>
                  </a:lnTo>
                  <a:lnTo>
                    <a:pt x="5975" y="16240"/>
                  </a:lnTo>
                  <a:lnTo>
                    <a:pt x="6202" y="16606"/>
                  </a:lnTo>
                  <a:lnTo>
                    <a:pt x="6390" y="16972"/>
                  </a:lnTo>
                  <a:lnTo>
                    <a:pt x="6616" y="17304"/>
                  </a:lnTo>
                  <a:lnTo>
                    <a:pt x="6786" y="17604"/>
                  </a:lnTo>
                  <a:lnTo>
                    <a:pt x="6993" y="17937"/>
                  </a:lnTo>
                  <a:lnTo>
                    <a:pt x="7201" y="18236"/>
                  </a:lnTo>
                  <a:lnTo>
                    <a:pt x="7408" y="18436"/>
                  </a:lnTo>
                  <a:lnTo>
                    <a:pt x="7615" y="18735"/>
                  </a:lnTo>
                  <a:lnTo>
                    <a:pt x="7823" y="18935"/>
                  </a:lnTo>
                  <a:lnTo>
                    <a:pt x="8030" y="19168"/>
                  </a:lnTo>
                  <a:lnTo>
                    <a:pt x="8238" y="19334"/>
                  </a:lnTo>
                  <a:lnTo>
                    <a:pt x="8445" y="19434"/>
                  </a:lnTo>
                  <a:lnTo>
                    <a:pt x="8633" y="19634"/>
                  </a:lnTo>
                  <a:lnTo>
                    <a:pt x="8841" y="19734"/>
                  </a:lnTo>
                  <a:lnTo>
                    <a:pt x="9048" y="19900"/>
                  </a:lnTo>
                  <a:lnTo>
                    <a:pt x="9274" y="19933"/>
                  </a:lnTo>
                  <a:lnTo>
                    <a:pt x="9463" y="19933"/>
                  </a:lnTo>
                  <a:lnTo>
                    <a:pt x="9670" y="19933"/>
                  </a:lnTo>
                  <a:lnTo>
                    <a:pt x="9877" y="19967"/>
                  </a:lnTo>
                  <a:lnTo>
                    <a:pt x="10123" y="19933"/>
                  </a:lnTo>
                  <a:lnTo>
                    <a:pt x="10330" y="19867"/>
                  </a:lnTo>
                  <a:lnTo>
                    <a:pt x="10556" y="19734"/>
                  </a:lnTo>
                  <a:lnTo>
                    <a:pt x="10782" y="19567"/>
                  </a:lnTo>
                  <a:lnTo>
                    <a:pt x="11008" y="19334"/>
                  </a:lnTo>
                  <a:lnTo>
                    <a:pt x="11254" y="19101"/>
                  </a:lnTo>
                  <a:lnTo>
                    <a:pt x="11499" y="18869"/>
                  </a:lnTo>
                  <a:lnTo>
                    <a:pt x="11725" y="18569"/>
                  </a:lnTo>
                  <a:lnTo>
                    <a:pt x="11970" y="18270"/>
                  </a:lnTo>
                  <a:lnTo>
                    <a:pt x="12215" y="17903"/>
                  </a:lnTo>
                  <a:lnTo>
                    <a:pt x="12460" y="17504"/>
                  </a:lnTo>
                  <a:lnTo>
                    <a:pt x="12705" y="17171"/>
                  </a:lnTo>
                  <a:lnTo>
                    <a:pt x="12950" y="16705"/>
                  </a:lnTo>
                  <a:lnTo>
                    <a:pt x="13195" y="16306"/>
                  </a:lnTo>
                  <a:lnTo>
                    <a:pt x="13440" y="15840"/>
                  </a:lnTo>
                  <a:lnTo>
                    <a:pt x="13704" y="15341"/>
                  </a:lnTo>
                  <a:lnTo>
                    <a:pt x="13949" y="14875"/>
                  </a:lnTo>
                  <a:lnTo>
                    <a:pt x="14194" y="14343"/>
                  </a:lnTo>
                  <a:lnTo>
                    <a:pt x="14458" y="13844"/>
                  </a:lnTo>
                  <a:lnTo>
                    <a:pt x="14703" y="13278"/>
                  </a:lnTo>
                  <a:lnTo>
                    <a:pt x="14948" y="12779"/>
                  </a:lnTo>
                  <a:lnTo>
                    <a:pt x="15193" y="12246"/>
                  </a:lnTo>
                  <a:lnTo>
                    <a:pt x="15476" y="11681"/>
                  </a:lnTo>
                  <a:lnTo>
                    <a:pt x="15683" y="11115"/>
                  </a:lnTo>
                  <a:lnTo>
                    <a:pt x="15910" y="10582"/>
                  </a:lnTo>
                  <a:lnTo>
                    <a:pt x="16155" y="10017"/>
                  </a:lnTo>
                  <a:lnTo>
                    <a:pt x="16381" y="9484"/>
                  </a:lnTo>
                  <a:lnTo>
                    <a:pt x="16626" y="8918"/>
                  </a:lnTo>
                  <a:lnTo>
                    <a:pt x="16852" y="8353"/>
                  </a:lnTo>
                  <a:lnTo>
                    <a:pt x="17059" y="7820"/>
                  </a:lnTo>
                  <a:lnTo>
                    <a:pt x="17286" y="7255"/>
                  </a:lnTo>
                  <a:lnTo>
                    <a:pt x="17493" y="6755"/>
                  </a:lnTo>
                  <a:lnTo>
                    <a:pt x="17700" y="6256"/>
                  </a:lnTo>
                  <a:lnTo>
                    <a:pt x="17926" y="5724"/>
                  </a:lnTo>
                  <a:lnTo>
                    <a:pt x="18134" y="5225"/>
                  </a:lnTo>
                  <a:lnTo>
                    <a:pt x="18322" y="4759"/>
                  </a:lnTo>
                  <a:lnTo>
                    <a:pt x="18492" y="4293"/>
                  </a:lnTo>
                  <a:lnTo>
                    <a:pt x="18680" y="3827"/>
                  </a:lnTo>
                  <a:lnTo>
                    <a:pt x="18850" y="3394"/>
                  </a:lnTo>
                  <a:lnTo>
                    <a:pt x="19020" y="3028"/>
                  </a:lnTo>
                  <a:lnTo>
                    <a:pt x="19171" y="2629"/>
                  </a:lnTo>
                  <a:lnTo>
                    <a:pt x="19340" y="2263"/>
                  </a:lnTo>
                  <a:lnTo>
                    <a:pt x="19472" y="1930"/>
                  </a:lnTo>
                  <a:lnTo>
                    <a:pt x="19604" y="1597"/>
                  </a:lnTo>
                  <a:lnTo>
                    <a:pt x="19755" y="1331"/>
                  </a:lnTo>
                  <a:lnTo>
                    <a:pt x="19887" y="1065"/>
                  </a:lnTo>
                  <a:lnTo>
                    <a:pt x="19981" y="865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3" name="Line 111"/>
            <p:cNvSpPr>
              <a:spLocks noChangeAspect="1" noChangeShapeType="1"/>
            </p:cNvSpPr>
            <p:nvPr/>
          </p:nvSpPr>
          <p:spPr bwMode="auto">
            <a:xfrm>
              <a:off x="5324476" y="6291263"/>
              <a:ext cx="1322388" cy="1587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74" name="Rectangle 113"/>
            <p:cNvSpPr>
              <a:spLocks noChangeAspect="1" noChangeArrowheads="1"/>
            </p:cNvSpPr>
            <p:nvPr/>
          </p:nvSpPr>
          <p:spPr bwMode="auto">
            <a:xfrm>
              <a:off x="6892926" y="5413375"/>
              <a:ext cx="447675" cy="33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00"/>
                  </a:solidFill>
                </a:rPr>
                <a:t> </a:t>
              </a:r>
              <a:r>
                <a:rPr lang="en-US" altLang="zh-CN" i="1">
                  <a:solidFill>
                    <a:srgbClr val="FFFF00"/>
                  </a:solidFill>
                </a:rPr>
                <a:t>T</a:t>
              </a:r>
              <a:endParaRPr lang="en-US" altLang="zh-CN" sz="1000" b="0"/>
            </a:p>
          </p:txBody>
        </p:sp>
      </p:grpSp>
      <p:sp>
        <p:nvSpPr>
          <p:cNvPr id="17572" name="Rectangle 114"/>
          <p:cNvSpPr>
            <a:spLocks noChangeAspect="1" noChangeArrowheads="1"/>
          </p:cNvSpPr>
          <p:nvPr/>
        </p:nvSpPr>
        <p:spPr bwMode="auto">
          <a:xfrm>
            <a:off x="7956376" y="4244342"/>
            <a:ext cx="124301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或 </a:t>
            </a:r>
            <a:r>
              <a:rPr lang="en-US" altLang="zh-CN" dirty="0">
                <a:solidFill>
                  <a:srgbClr val="FFFF00"/>
                </a:solidFill>
              </a:rPr>
              <a:t>-</a:t>
            </a:r>
            <a:r>
              <a:rPr lang="en-US" altLang="zh-CN" dirty="0">
                <a:solidFill>
                  <a:srgbClr val="FFFF00"/>
                </a:solidFill>
                <a:sym typeface="Symbol" panose="05050102010706020507" pitchFamily="18" charset="2"/>
              </a:rPr>
              <a:t></a:t>
            </a:r>
            <a:r>
              <a:rPr lang="en-US" altLang="zh-CN" dirty="0">
                <a:solidFill>
                  <a:srgbClr val="FFFF00"/>
                </a:solidFill>
              </a:rPr>
              <a:t>/2</a:t>
            </a:r>
            <a:endParaRPr lang="en-US" altLang="zh-CN" b="0" dirty="0">
              <a:solidFill>
                <a:srgbClr val="FFFF00"/>
              </a:solidFill>
            </a:endParaRPr>
          </a:p>
        </p:txBody>
      </p:sp>
      <p:grpSp>
        <p:nvGrpSpPr>
          <p:cNvPr id="21" name="Group 115"/>
          <p:cNvGrpSpPr/>
          <p:nvPr/>
        </p:nvGrpSpPr>
        <p:grpSpPr bwMode="auto">
          <a:xfrm>
            <a:off x="5050980" y="857250"/>
            <a:ext cx="2916238" cy="1404938"/>
            <a:chOff x="3036" y="-14"/>
            <a:chExt cx="1837" cy="885"/>
          </a:xfrm>
        </p:grpSpPr>
        <p:sp>
          <p:nvSpPr>
            <p:cNvPr id="17531" name="Rectangle 116"/>
            <p:cNvSpPr>
              <a:spLocks noChangeAspect="1" noChangeArrowheads="1"/>
            </p:cNvSpPr>
            <p:nvPr/>
          </p:nvSpPr>
          <p:spPr bwMode="auto">
            <a:xfrm>
              <a:off x="4661" y="561"/>
              <a:ext cx="21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solidFill>
                    <a:srgbClr val="66FFFF"/>
                  </a:solidFill>
                </a:rPr>
                <a:t>x</a:t>
              </a:r>
              <a:endParaRPr lang="en-US" altLang="zh-CN" b="0" dirty="0">
                <a:solidFill>
                  <a:srgbClr val="66FFFF"/>
                </a:solidFill>
              </a:endParaRPr>
            </a:p>
          </p:txBody>
        </p:sp>
        <p:sp>
          <p:nvSpPr>
            <p:cNvPr id="17532" name="Line 117"/>
            <p:cNvSpPr>
              <a:spLocks noChangeAspect="1" noChangeShapeType="1"/>
            </p:cNvSpPr>
            <p:nvPr/>
          </p:nvSpPr>
          <p:spPr bwMode="auto">
            <a:xfrm>
              <a:off x="3954" y="284"/>
              <a:ext cx="2" cy="29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" name="Rectangle 118"/>
            <p:cNvSpPr>
              <a:spLocks noChangeAspect="1" noChangeArrowheads="1"/>
            </p:cNvSpPr>
            <p:nvPr/>
          </p:nvSpPr>
          <p:spPr bwMode="auto">
            <a:xfrm>
              <a:off x="3612" y="432"/>
              <a:ext cx="199" cy="134"/>
            </a:xfrm>
            <a:prstGeom prst="rect">
              <a:avLst/>
            </a:prstGeom>
            <a:solidFill>
              <a:srgbClr val="00FF00"/>
            </a:solidFill>
            <a:ln w="25400">
              <a:solidFill>
                <a:srgbClr val="00FF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534" name="Line 119"/>
            <p:cNvSpPr>
              <a:spLocks noChangeAspect="1" noChangeShapeType="1"/>
            </p:cNvSpPr>
            <p:nvPr/>
          </p:nvSpPr>
          <p:spPr bwMode="auto">
            <a:xfrm>
              <a:off x="3037" y="210"/>
              <a:ext cx="2" cy="37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5" name="Line 120"/>
            <p:cNvSpPr>
              <a:spLocks noChangeAspect="1" noChangeShapeType="1"/>
            </p:cNvSpPr>
            <p:nvPr/>
          </p:nvSpPr>
          <p:spPr bwMode="auto">
            <a:xfrm>
              <a:off x="3037" y="573"/>
              <a:ext cx="1701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6" name="Rectangle 121"/>
            <p:cNvSpPr>
              <a:spLocks noChangeAspect="1" noChangeArrowheads="1"/>
            </p:cNvSpPr>
            <p:nvPr/>
          </p:nvSpPr>
          <p:spPr bwMode="auto">
            <a:xfrm>
              <a:off x="3516" y="192"/>
              <a:ext cx="203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00FF00"/>
                  </a:solidFill>
                </a:rPr>
                <a:t>m</a:t>
              </a:r>
              <a:endParaRPr lang="en-US" altLang="zh-CN" sz="1000" b="0"/>
            </a:p>
          </p:txBody>
        </p:sp>
        <p:sp>
          <p:nvSpPr>
            <p:cNvPr id="17537" name="Rectangle 122"/>
            <p:cNvSpPr>
              <a:spLocks noChangeAspect="1" noChangeArrowheads="1"/>
            </p:cNvSpPr>
            <p:nvPr/>
          </p:nvSpPr>
          <p:spPr bwMode="auto">
            <a:xfrm>
              <a:off x="3911" y="545"/>
              <a:ext cx="235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solidFill>
                    <a:srgbClr val="66FFFF"/>
                  </a:solidFill>
                </a:rPr>
                <a:t>o</a:t>
              </a:r>
              <a:endParaRPr lang="en-US" altLang="zh-CN" sz="1000" b="0" dirty="0"/>
            </a:p>
          </p:txBody>
        </p:sp>
        <p:sp>
          <p:nvSpPr>
            <p:cNvPr id="17538" name="Rectangle 123"/>
            <p:cNvSpPr>
              <a:spLocks noChangeAspect="1" noChangeArrowheads="1"/>
            </p:cNvSpPr>
            <p:nvPr/>
          </p:nvSpPr>
          <p:spPr bwMode="auto">
            <a:xfrm>
              <a:off x="3540" y="571"/>
              <a:ext cx="22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solidFill>
                    <a:srgbClr val="66FFFF"/>
                  </a:solidFill>
                </a:rPr>
                <a:t>-</a:t>
              </a:r>
              <a:r>
                <a:rPr lang="en-US" altLang="zh-CN" i="1" dirty="0">
                  <a:solidFill>
                    <a:srgbClr val="66FFFF"/>
                  </a:solidFill>
                </a:rPr>
                <a:t>A</a:t>
              </a:r>
              <a:endParaRPr lang="en-US" altLang="zh-CN" b="0" dirty="0">
                <a:solidFill>
                  <a:srgbClr val="66FFFF"/>
                </a:solidFill>
              </a:endParaRPr>
            </a:p>
          </p:txBody>
        </p:sp>
        <p:sp>
          <p:nvSpPr>
            <p:cNvPr id="17539" name="Line 124"/>
            <p:cNvSpPr>
              <a:spLocks noChangeAspect="1" noChangeShapeType="1"/>
            </p:cNvSpPr>
            <p:nvPr/>
          </p:nvSpPr>
          <p:spPr bwMode="auto">
            <a:xfrm>
              <a:off x="3707" y="288"/>
              <a:ext cx="2" cy="311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40" name="Rectangle 125"/>
            <p:cNvSpPr>
              <a:spLocks noChangeAspect="1" noChangeArrowheads="1"/>
            </p:cNvSpPr>
            <p:nvPr/>
          </p:nvSpPr>
          <p:spPr bwMode="auto">
            <a:xfrm>
              <a:off x="3607" y="-14"/>
              <a:ext cx="716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66"/>
                  </a:solidFill>
                </a:rPr>
                <a:t>x</a:t>
              </a:r>
              <a:r>
                <a:rPr lang="en-US" altLang="zh-CN" baseline="-25000">
                  <a:solidFill>
                    <a:srgbClr val="FFFF66"/>
                  </a:solidFill>
                </a:rPr>
                <a:t>0</a:t>
              </a:r>
              <a:r>
                <a:rPr lang="en-US" altLang="zh-CN">
                  <a:solidFill>
                    <a:srgbClr val="FFFF66"/>
                  </a:solidFill>
                </a:rPr>
                <a:t> = -</a:t>
              </a:r>
              <a:r>
                <a:rPr lang="en-US" altLang="zh-CN" i="1">
                  <a:solidFill>
                    <a:srgbClr val="FFFF66"/>
                  </a:solidFill>
                </a:rPr>
                <a:t>A</a:t>
              </a:r>
              <a:endParaRPr lang="en-US" altLang="zh-CN" b="0">
                <a:solidFill>
                  <a:srgbClr val="FFFF66"/>
                </a:solidFill>
              </a:endParaRPr>
            </a:p>
          </p:txBody>
        </p:sp>
        <p:grpSp>
          <p:nvGrpSpPr>
            <p:cNvPr id="17541" name="Group 126"/>
            <p:cNvGrpSpPr/>
            <p:nvPr/>
          </p:nvGrpSpPr>
          <p:grpSpPr bwMode="auto">
            <a:xfrm>
              <a:off x="3036" y="432"/>
              <a:ext cx="564" cy="73"/>
              <a:chOff x="1872" y="960"/>
              <a:chExt cx="564" cy="73"/>
            </a:xfrm>
          </p:grpSpPr>
          <p:sp>
            <p:nvSpPr>
              <p:cNvPr id="17542" name="Line 127"/>
              <p:cNvSpPr>
                <a:spLocks noChangeAspect="1" noChangeShapeType="1"/>
              </p:cNvSpPr>
              <p:nvPr/>
            </p:nvSpPr>
            <p:spPr bwMode="auto">
              <a:xfrm>
                <a:off x="1872" y="1002"/>
                <a:ext cx="123" cy="1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7543" name="Group 128"/>
              <p:cNvGrpSpPr>
                <a:grpSpLocks noChangeAspect="1"/>
              </p:cNvGrpSpPr>
              <p:nvPr/>
            </p:nvGrpSpPr>
            <p:grpSpPr bwMode="auto">
              <a:xfrm>
                <a:off x="2014" y="960"/>
                <a:ext cx="286" cy="73"/>
                <a:chOff x="0" y="2"/>
                <a:chExt cx="19985" cy="19996"/>
              </a:xfrm>
            </p:grpSpPr>
            <p:grpSp>
              <p:nvGrpSpPr>
                <p:cNvPr id="17548" name="Group 129"/>
                <p:cNvGrpSpPr>
                  <a:grpSpLocks noChangeAspect="1"/>
                </p:cNvGrpSpPr>
                <p:nvPr/>
              </p:nvGrpSpPr>
              <p:grpSpPr bwMode="auto">
                <a:xfrm>
                  <a:off x="0" y="786"/>
                  <a:ext cx="7188" cy="19212"/>
                  <a:chOff x="0" y="0"/>
                  <a:chExt cx="19992" cy="19999"/>
                </a:xfrm>
              </p:grpSpPr>
              <p:sp>
                <p:nvSpPr>
                  <p:cNvPr id="17559" name="Arc 130"/>
                  <p:cNvSpPr>
                    <a:spLocks noChangeAspect="1"/>
                  </p:cNvSpPr>
                  <p:nvPr/>
                </p:nvSpPr>
                <p:spPr bwMode="auto">
                  <a:xfrm>
                    <a:off x="0" y="1112"/>
                    <a:ext cx="13851" cy="1364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0" name="Arc 131"/>
                  <p:cNvSpPr>
                    <a:spLocks noChangeAspect="1"/>
                  </p:cNvSpPr>
                  <p:nvPr/>
                </p:nvSpPr>
                <p:spPr bwMode="auto">
                  <a:xfrm flipH="1">
                    <a:off x="6850" y="0"/>
                    <a:ext cx="13142" cy="1516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1" name="Arc 132"/>
                  <p:cNvSpPr>
                    <a:spLocks noChangeAspect="1"/>
                  </p:cNvSpPr>
                  <p:nvPr/>
                </p:nvSpPr>
                <p:spPr bwMode="auto">
                  <a:xfrm flipH="1" flipV="1">
                    <a:off x="7476" y="15712"/>
                    <a:ext cx="1911" cy="386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62" name="Arc 133"/>
                  <p:cNvSpPr>
                    <a:spLocks noChangeAspect="1"/>
                  </p:cNvSpPr>
                  <p:nvPr/>
                </p:nvSpPr>
                <p:spPr bwMode="auto">
                  <a:xfrm flipV="1">
                    <a:off x="10613" y="15035"/>
                    <a:ext cx="2473" cy="4964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549" name="Group 134"/>
                <p:cNvGrpSpPr>
                  <a:grpSpLocks noChangeAspect="1"/>
                </p:cNvGrpSpPr>
                <p:nvPr/>
              </p:nvGrpSpPr>
              <p:grpSpPr bwMode="auto">
                <a:xfrm>
                  <a:off x="6290" y="394"/>
                  <a:ext cx="7227" cy="19334"/>
                  <a:chOff x="0" y="0"/>
                  <a:chExt cx="20000" cy="20000"/>
                </a:xfrm>
              </p:grpSpPr>
              <p:sp>
                <p:nvSpPr>
                  <p:cNvPr id="17555" name="Arc 135"/>
                  <p:cNvSpPr>
                    <a:spLocks noChangeAspect="1"/>
                  </p:cNvSpPr>
                  <p:nvPr/>
                </p:nvSpPr>
                <p:spPr bwMode="auto">
                  <a:xfrm>
                    <a:off x="0" y="965"/>
                    <a:ext cx="13765" cy="13558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6" name="Arc 136"/>
                  <p:cNvSpPr>
                    <a:spLocks noChangeAspect="1"/>
                  </p:cNvSpPr>
                  <p:nvPr/>
                </p:nvSpPr>
                <p:spPr bwMode="auto">
                  <a:xfrm flipH="1">
                    <a:off x="6871" y="0"/>
                    <a:ext cx="13129" cy="1506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7" name="Arc 137"/>
                  <p:cNvSpPr>
                    <a:spLocks noChangeAspect="1"/>
                  </p:cNvSpPr>
                  <p:nvPr/>
                </p:nvSpPr>
                <p:spPr bwMode="auto">
                  <a:xfrm flipH="1" flipV="1">
                    <a:off x="7439" y="15347"/>
                    <a:ext cx="1854" cy="384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8" name="Arc 138"/>
                  <p:cNvSpPr>
                    <a:spLocks noChangeAspect="1"/>
                  </p:cNvSpPr>
                  <p:nvPr/>
                </p:nvSpPr>
                <p:spPr bwMode="auto">
                  <a:xfrm flipV="1">
                    <a:off x="10497" y="15067"/>
                    <a:ext cx="2537" cy="4933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550" name="Group 139"/>
                <p:cNvGrpSpPr>
                  <a:grpSpLocks noChangeAspect="1"/>
                </p:cNvGrpSpPr>
                <p:nvPr/>
              </p:nvGrpSpPr>
              <p:grpSpPr bwMode="auto">
                <a:xfrm>
                  <a:off x="12777" y="2"/>
                  <a:ext cx="7208" cy="19333"/>
                  <a:chOff x="3" y="0"/>
                  <a:chExt cx="20000" cy="20001"/>
                </a:xfrm>
              </p:grpSpPr>
              <p:sp>
                <p:nvSpPr>
                  <p:cNvPr id="17551" name="Arc 140"/>
                  <p:cNvSpPr>
                    <a:spLocks noChangeAspect="1"/>
                  </p:cNvSpPr>
                  <p:nvPr/>
                </p:nvSpPr>
                <p:spPr bwMode="auto">
                  <a:xfrm>
                    <a:off x="3" y="813"/>
                    <a:ext cx="13771" cy="1357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2" name="Arc 141"/>
                  <p:cNvSpPr>
                    <a:spLocks noChangeAspect="1"/>
                  </p:cNvSpPr>
                  <p:nvPr/>
                </p:nvSpPr>
                <p:spPr bwMode="auto">
                  <a:xfrm flipH="1">
                    <a:off x="6884" y="0"/>
                    <a:ext cx="13119" cy="15069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3" name="Arc 142"/>
                  <p:cNvSpPr>
                    <a:spLocks noChangeAspect="1"/>
                  </p:cNvSpPr>
                  <p:nvPr/>
                </p:nvSpPr>
                <p:spPr bwMode="auto">
                  <a:xfrm flipH="1" flipV="1">
                    <a:off x="7561" y="15474"/>
                    <a:ext cx="1815" cy="384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54" name="Arc 143"/>
                  <p:cNvSpPr>
                    <a:spLocks noChangeAspect="1"/>
                  </p:cNvSpPr>
                  <p:nvPr/>
                </p:nvSpPr>
                <p:spPr bwMode="auto">
                  <a:xfrm flipV="1">
                    <a:off x="10622" y="15069"/>
                    <a:ext cx="2522" cy="493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7544" name="Arc 144"/>
              <p:cNvSpPr>
                <a:spLocks noChangeAspect="1"/>
              </p:cNvSpPr>
              <p:nvPr/>
            </p:nvSpPr>
            <p:spPr bwMode="auto">
              <a:xfrm flipH="1">
                <a:off x="2001" y="966"/>
                <a:ext cx="20" cy="3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45" name="Arc 145"/>
              <p:cNvSpPr>
                <a:spLocks noChangeAspect="1"/>
              </p:cNvSpPr>
              <p:nvPr/>
            </p:nvSpPr>
            <p:spPr bwMode="auto">
              <a:xfrm>
                <a:off x="2256" y="960"/>
                <a:ext cx="75" cy="49"/>
              </a:xfrm>
              <a:custGeom>
                <a:avLst/>
                <a:gdLst>
                  <a:gd name="T0" fmla="*/ 0 w 21600"/>
                  <a:gd name="T1" fmla="*/ 0 h 24368"/>
                  <a:gd name="T2" fmla="*/ 0 w 21600"/>
                  <a:gd name="T3" fmla="*/ 0 h 24368"/>
                  <a:gd name="T4" fmla="*/ 0 w 21600"/>
                  <a:gd name="T5" fmla="*/ 0 h 24368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4368"/>
                  <a:gd name="T11" fmla="*/ 21600 w 21600"/>
                  <a:gd name="T12" fmla="*/ 24368 h 243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4368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2525"/>
                      <a:pt x="21540" y="23450"/>
                      <a:pt x="21421" y="24367"/>
                    </a:cubicBezTo>
                  </a:path>
                  <a:path w="21600" h="24368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2525"/>
                      <a:pt x="21540" y="23450"/>
                      <a:pt x="21421" y="2436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46" name="Line 146"/>
              <p:cNvSpPr>
                <a:spLocks noChangeAspect="1" noChangeShapeType="1"/>
              </p:cNvSpPr>
              <p:nvPr/>
            </p:nvSpPr>
            <p:spPr bwMode="auto">
              <a:xfrm flipH="1">
                <a:off x="2352" y="1008"/>
                <a:ext cx="0" cy="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47" name="Line 147"/>
              <p:cNvSpPr>
                <a:spLocks noChangeShapeType="1"/>
              </p:cNvSpPr>
              <p:nvPr/>
            </p:nvSpPr>
            <p:spPr bwMode="auto">
              <a:xfrm>
                <a:off x="2340" y="1008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7" name="Group 148"/>
          <p:cNvGrpSpPr/>
          <p:nvPr/>
        </p:nvGrpSpPr>
        <p:grpSpPr bwMode="auto">
          <a:xfrm>
            <a:off x="1040954" y="3848100"/>
            <a:ext cx="2706688" cy="1074738"/>
            <a:chOff x="690" y="2513"/>
            <a:chExt cx="1705" cy="677"/>
          </a:xfrm>
        </p:grpSpPr>
        <p:sp>
          <p:nvSpPr>
            <p:cNvPr id="17485" name="Line 149"/>
            <p:cNvSpPr>
              <a:spLocks noChangeAspect="1" noChangeShapeType="1"/>
            </p:cNvSpPr>
            <p:nvPr/>
          </p:nvSpPr>
          <p:spPr bwMode="auto">
            <a:xfrm>
              <a:off x="690" y="2879"/>
              <a:ext cx="123" cy="1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6" name="Rectangle 150"/>
            <p:cNvSpPr>
              <a:spLocks noChangeAspect="1" noChangeArrowheads="1"/>
            </p:cNvSpPr>
            <p:nvPr/>
          </p:nvSpPr>
          <p:spPr bwMode="auto">
            <a:xfrm>
              <a:off x="1506" y="2813"/>
              <a:ext cx="170" cy="115"/>
            </a:xfrm>
            <a:prstGeom prst="rect">
              <a:avLst/>
            </a:prstGeom>
            <a:solidFill>
              <a:srgbClr val="00FF00"/>
            </a:solidFill>
            <a:ln w="25400">
              <a:solidFill>
                <a:srgbClr val="00FF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87" name="Line 151"/>
            <p:cNvSpPr>
              <a:spLocks noChangeAspect="1" noChangeShapeType="1"/>
            </p:cNvSpPr>
            <p:nvPr/>
          </p:nvSpPr>
          <p:spPr bwMode="auto">
            <a:xfrm>
              <a:off x="690" y="2623"/>
              <a:ext cx="1" cy="336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8" name="Line 152"/>
            <p:cNvSpPr>
              <a:spLocks noChangeAspect="1" noChangeShapeType="1"/>
            </p:cNvSpPr>
            <p:nvPr/>
          </p:nvSpPr>
          <p:spPr bwMode="auto">
            <a:xfrm>
              <a:off x="690" y="2949"/>
              <a:ext cx="1589" cy="1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9" name="Rectangle 153"/>
            <p:cNvSpPr>
              <a:spLocks noChangeAspect="1" noChangeArrowheads="1"/>
            </p:cNvSpPr>
            <p:nvPr/>
          </p:nvSpPr>
          <p:spPr bwMode="auto">
            <a:xfrm>
              <a:off x="1554" y="2951"/>
              <a:ext cx="20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66FFFF"/>
                  </a:solidFill>
                </a:rPr>
                <a:t>o</a:t>
              </a:r>
              <a:endParaRPr lang="en-US" altLang="zh-CN" sz="1000" b="0"/>
            </a:p>
          </p:txBody>
        </p:sp>
        <p:sp>
          <p:nvSpPr>
            <p:cNvPr id="17490" name="Rectangle 154"/>
            <p:cNvSpPr>
              <a:spLocks noChangeAspect="1" noChangeArrowheads="1"/>
            </p:cNvSpPr>
            <p:nvPr/>
          </p:nvSpPr>
          <p:spPr bwMode="auto">
            <a:xfrm>
              <a:off x="2212" y="2951"/>
              <a:ext cx="183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66FFFF"/>
                  </a:solidFill>
                </a:rPr>
                <a:t>x</a:t>
              </a:r>
              <a:endParaRPr lang="en-US" altLang="zh-CN" b="0">
                <a:solidFill>
                  <a:srgbClr val="66FFFF"/>
                </a:solidFill>
              </a:endParaRPr>
            </a:p>
          </p:txBody>
        </p:sp>
        <p:sp>
          <p:nvSpPr>
            <p:cNvPr id="17491" name="Line 155"/>
            <p:cNvSpPr>
              <a:spLocks noChangeAspect="1" noChangeShapeType="1"/>
            </p:cNvSpPr>
            <p:nvPr/>
          </p:nvSpPr>
          <p:spPr bwMode="auto">
            <a:xfrm>
              <a:off x="1602" y="2663"/>
              <a:ext cx="1" cy="279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2" name="Rectangle 156"/>
            <p:cNvSpPr>
              <a:spLocks noChangeAspect="1" noChangeArrowheads="1"/>
            </p:cNvSpPr>
            <p:nvPr/>
          </p:nvSpPr>
          <p:spPr bwMode="auto">
            <a:xfrm>
              <a:off x="1314" y="2615"/>
              <a:ext cx="174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00FF00"/>
                  </a:solidFill>
                </a:rPr>
                <a:t>m</a:t>
              </a:r>
              <a:endParaRPr lang="en-US" altLang="zh-CN" sz="1000" b="0" i="1"/>
            </a:p>
          </p:txBody>
        </p:sp>
        <p:sp>
          <p:nvSpPr>
            <p:cNvPr id="17493" name="Line 157"/>
            <p:cNvSpPr>
              <a:spLocks noChangeAspect="1" noChangeShapeType="1"/>
            </p:cNvSpPr>
            <p:nvPr/>
          </p:nvSpPr>
          <p:spPr bwMode="auto">
            <a:xfrm flipH="1">
              <a:off x="1372" y="2594"/>
              <a:ext cx="250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4" name="Rectangle 158"/>
            <p:cNvSpPr>
              <a:spLocks noChangeAspect="1" noChangeArrowheads="1"/>
            </p:cNvSpPr>
            <p:nvPr/>
          </p:nvSpPr>
          <p:spPr bwMode="auto">
            <a:xfrm>
              <a:off x="1710" y="2513"/>
              <a:ext cx="491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solidFill>
                    <a:srgbClr val="FFFF66"/>
                  </a:solidFill>
                </a:rPr>
                <a:t>x</a:t>
              </a:r>
              <a:r>
                <a:rPr lang="en-US" altLang="zh-CN" baseline="-25000" dirty="0">
                  <a:solidFill>
                    <a:srgbClr val="FFFF66"/>
                  </a:solidFill>
                </a:rPr>
                <a:t>0</a:t>
              </a:r>
              <a:r>
                <a:rPr lang="en-US" altLang="zh-CN" dirty="0">
                  <a:solidFill>
                    <a:srgbClr val="FFFF66"/>
                  </a:solidFill>
                </a:rPr>
                <a:t> = 0</a:t>
              </a:r>
              <a:endParaRPr lang="en-US" altLang="zh-CN" sz="1000" b="0" dirty="0"/>
            </a:p>
          </p:txBody>
        </p:sp>
        <p:grpSp>
          <p:nvGrpSpPr>
            <p:cNvPr id="17495" name="Group 159"/>
            <p:cNvGrpSpPr/>
            <p:nvPr/>
          </p:nvGrpSpPr>
          <p:grpSpPr bwMode="auto">
            <a:xfrm>
              <a:off x="804" y="2855"/>
              <a:ext cx="701" cy="79"/>
              <a:chOff x="1857" y="1770"/>
              <a:chExt cx="701" cy="79"/>
            </a:xfrm>
          </p:grpSpPr>
          <p:grpSp>
            <p:nvGrpSpPr>
              <p:cNvPr id="17496" name="Group 160"/>
              <p:cNvGrpSpPr>
                <a:grpSpLocks noChangeAspect="1"/>
              </p:cNvGrpSpPr>
              <p:nvPr/>
            </p:nvGrpSpPr>
            <p:grpSpPr bwMode="auto">
              <a:xfrm>
                <a:off x="1870" y="1776"/>
                <a:ext cx="286" cy="73"/>
                <a:chOff x="0" y="2"/>
                <a:chExt cx="19985" cy="19996"/>
              </a:xfrm>
            </p:grpSpPr>
            <p:grpSp>
              <p:nvGrpSpPr>
                <p:cNvPr id="17516" name="Group 161"/>
                <p:cNvGrpSpPr>
                  <a:grpSpLocks noChangeAspect="1"/>
                </p:cNvGrpSpPr>
                <p:nvPr/>
              </p:nvGrpSpPr>
              <p:grpSpPr bwMode="auto">
                <a:xfrm>
                  <a:off x="0" y="786"/>
                  <a:ext cx="7188" cy="19212"/>
                  <a:chOff x="0" y="0"/>
                  <a:chExt cx="19992" cy="19999"/>
                </a:xfrm>
              </p:grpSpPr>
              <p:sp>
                <p:nvSpPr>
                  <p:cNvPr id="17527" name="Arc 162"/>
                  <p:cNvSpPr>
                    <a:spLocks noChangeAspect="1"/>
                  </p:cNvSpPr>
                  <p:nvPr/>
                </p:nvSpPr>
                <p:spPr bwMode="auto">
                  <a:xfrm>
                    <a:off x="0" y="1112"/>
                    <a:ext cx="13851" cy="1364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8" name="Arc 163"/>
                  <p:cNvSpPr>
                    <a:spLocks noChangeAspect="1"/>
                  </p:cNvSpPr>
                  <p:nvPr/>
                </p:nvSpPr>
                <p:spPr bwMode="auto">
                  <a:xfrm flipH="1">
                    <a:off x="6850" y="0"/>
                    <a:ext cx="13142" cy="1516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9" name="Arc 164"/>
                  <p:cNvSpPr>
                    <a:spLocks noChangeAspect="1"/>
                  </p:cNvSpPr>
                  <p:nvPr/>
                </p:nvSpPr>
                <p:spPr bwMode="auto">
                  <a:xfrm flipH="1" flipV="1">
                    <a:off x="7476" y="15712"/>
                    <a:ext cx="1911" cy="386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30" name="Arc 165"/>
                  <p:cNvSpPr>
                    <a:spLocks noChangeAspect="1"/>
                  </p:cNvSpPr>
                  <p:nvPr/>
                </p:nvSpPr>
                <p:spPr bwMode="auto">
                  <a:xfrm flipV="1">
                    <a:off x="10613" y="15035"/>
                    <a:ext cx="2473" cy="4964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517" name="Group 166"/>
                <p:cNvGrpSpPr>
                  <a:grpSpLocks noChangeAspect="1"/>
                </p:cNvGrpSpPr>
                <p:nvPr/>
              </p:nvGrpSpPr>
              <p:grpSpPr bwMode="auto">
                <a:xfrm>
                  <a:off x="6290" y="394"/>
                  <a:ext cx="7227" cy="19334"/>
                  <a:chOff x="0" y="0"/>
                  <a:chExt cx="20000" cy="20000"/>
                </a:xfrm>
              </p:grpSpPr>
              <p:sp>
                <p:nvSpPr>
                  <p:cNvPr id="17523" name="Arc 167"/>
                  <p:cNvSpPr>
                    <a:spLocks noChangeAspect="1"/>
                  </p:cNvSpPr>
                  <p:nvPr/>
                </p:nvSpPr>
                <p:spPr bwMode="auto">
                  <a:xfrm>
                    <a:off x="0" y="965"/>
                    <a:ext cx="13765" cy="13558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4" name="Arc 168"/>
                  <p:cNvSpPr>
                    <a:spLocks noChangeAspect="1"/>
                  </p:cNvSpPr>
                  <p:nvPr/>
                </p:nvSpPr>
                <p:spPr bwMode="auto">
                  <a:xfrm flipH="1">
                    <a:off x="6871" y="0"/>
                    <a:ext cx="13129" cy="1506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5" name="Arc 169"/>
                  <p:cNvSpPr>
                    <a:spLocks noChangeAspect="1"/>
                  </p:cNvSpPr>
                  <p:nvPr/>
                </p:nvSpPr>
                <p:spPr bwMode="auto">
                  <a:xfrm flipH="1" flipV="1">
                    <a:off x="7439" y="15347"/>
                    <a:ext cx="1854" cy="384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6" name="Arc 170"/>
                  <p:cNvSpPr>
                    <a:spLocks noChangeAspect="1"/>
                  </p:cNvSpPr>
                  <p:nvPr/>
                </p:nvSpPr>
                <p:spPr bwMode="auto">
                  <a:xfrm flipV="1">
                    <a:off x="10497" y="15067"/>
                    <a:ext cx="2537" cy="4933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518" name="Group 171"/>
                <p:cNvGrpSpPr>
                  <a:grpSpLocks noChangeAspect="1"/>
                </p:cNvGrpSpPr>
                <p:nvPr/>
              </p:nvGrpSpPr>
              <p:grpSpPr bwMode="auto">
                <a:xfrm>
                  <a:off x="12777" y="2"/>
                  <a:ext cx="7208" cy="19333"/>
                  <a:chOff x="3" y="0"/>
                  <a:chExt cx="20000" cy="20001"/>
                </a:xfrm>
              </p:grpSpPr>
              <p:sp>
                <p:nvSpPr>
                  <p:cNvPr id="17519" name="Arc 172"/>
                  <p:cNvSpPr>
                    <a:spLocks noChangeAspect="1"/>
                  </p:cNvSpPr>
                  <p:nvPr/>
                </p:nvSpPr>
                <p:spPr bwMode="auto">
                  <a:xfrm>
                    <a:off x="3" y="813"/>
                    <a:ext cx="13771" cy="1357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0" name="Arc 173"/>
                  <p:cNvSpPr>
                    <a:spLocks noChangeAspect="1"/>
                  </p:cNvSpPr>
                  <p:nvPr/>
                </p:nvSpPr>
                <p:spPr bwMode="auto">
                  <a:xfrm flipH="1">
                    <a:off x="6884" y="0"/>
                    <a:ext cx="13119" cy="15069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1" name="Arc 174"/>
                  <p:cNvSpPr>
                    <a:spLocks noChangeAspect="1"/>
                  </p:cNvSpPr>
                  <p:nvPr/>
                </p:nvSpPr>
                <p:spPr bwMode="auto">
                  <a:xfrm flipH="1" flipV="1">
                    <a:off x="7561" y="15474"/>
                    <a:ext cx="1815" cy="384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22" name="Arc 175"/>
                  <p:cNvSpPr>
                    <a:spLocks noChangeAspect="1"/>
                  </p:cNvSpPr>
                  <p:nvPr/>
                </p:nvSpPr>
                <p:spPr bwMode="auto">
                  <a:xfrm flipV="1">
                    <a:off x="10622" y="15069"/>
                    <a:ext cx="2522" cy="493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497" name="Group 176"/>
              <p:cNvGrpSpPr>
                <a:grpSpLocks noChangeAspect="1"/>
              </p:cNvGrpSpPr>
              <p:nvPr/>
            </p:nvGrpSpPr>
            <p:grpSpPr bwMode="auto">
              <a:xfrm>
                <a:off x="2148" y="1770"/>
                <a:ext cx="286" cy="73"/>
                <a:chOff x="-6" y="0"/>
                <a:chExt cx="20004" cy="20000"/>
              </a:xfrm>
            </p:grpSpPr>
            <p:grpSp>
              <p:nvGrpSpPr>
                <p:cNvPr id="17501" name="Group 177"/>
                <p:cNvGrpSpPr>
                  <a:grpSpLocks noChangeAspect="1"/>
                </p:cNvGrpSpPr>
                <p:nvPr/>
              </p:nvGrpSpPr>
              <p:grpSpPr bwMode="auto">
                <a:xfrm>
                  <a:off x="-6" y="786"/>
                  <a:ext cx="7203" cy="19214"/>
                  <a:chOff x="-8" y="0"/>
                  <a:chExt cx="20008" cy="20001"/>
                </a:xfrm>
              </p:grpSpPr>
              <p:sp>
                <p:nvSpPr>
                  <p:cNvPr id="17512" name="Arc 178"/>
                  <p:cNvSpPr>
                    <a:spLocks noChangeAspect="1"/>
                  </p:cNvSpPr>
                  <p:nvPr/>
                </p:nvSpPr>
                <p:spPr bwMode="auto">
                  <a:xfrm>
                    <a:off x="-8" y="1110"/>
                    <a:ext cx="13869" cy="13644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3" name="Arc 179"/>
                  <p:cNvSpPr>
                    <a:spLocks noChangeAspect="1"/>
                  </p:cNvSpPr>
                  <p:nvPr/>
                </p:nvSpPr>
                <p:spPr bwMode="auto">
                  <a:xfrm flipH="1">
                    <a:off x="6864" y="0"/>
                    <a:ext cx="13136" cy="15163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4" name="Arc 180"/>
                  <p:cNvSpPr>
                    <a:spLocks noChangeAspect="1"/>
                  </p:cNvSpPr>
                  <p:nvPr/>
                </p:nvSpPr>
                <p:spPr bwMode="auto">
                  <a:xfrm flipH="1" flipV="1">
                    <a:off x="7597" y="15712"/>
                    <a:ext cx="1864" cy="386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5" name="Arc 181"/>
                  <p:cNvSpPr>
                    <a:spLocks noChangeAspect="1"/>
                  </p:cNvSpPr>
                  <p:nvPr/>
                </p:nvSpPr>
                <p:spPr bwMode="auto">
                  <a:xfrm flipV="1">
                    <a:off x="10664" y="15036"/>
                    <a:ext cx="2494" cy="496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502" name="Group 182"/>
                <p:cNvGrpSpPr>
                  <a:grpSpLocks noChangeAspect="1"/>
                </p:cNvGrpSpPr>
                <p:nvPr/>
              </p:nvGrpSpPr>
              <p:grpSpPr bwMode="auto">
                <a:xfrm>
                  <a:off x="6321" y="392"/>
                  <a:ext cx="7226" cy="19338"/>
                  <a:chOff x="0" y="0"/>
                  <a:chExt cx="20003" cy="20000"/>
                </a:xfrm>
              </p:grpSpPr>
              <p:sp>
                <p:nvSpPr>
                  <p:cNvPr id="17508" name="Arc 183"/>
                  <p:cNvSpPr>
                    <a:spLocks noChangeAspect="1"/>
                  </p:cNvSpPr>
                  <p:nvPr/>
                </p:nvSpPr>
                <p:spPr bwMode="auto">
                  <a:xfrm>
                    <a:off x="0" y="965"/>
                    <a:ext cx="13783" cy="13558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9" name="Arc 184"/>
                  <p:cNvSpPr>
                    <a:spLocks noChangeAspect="1"/>
                  </p:cNvSpPr>
                  <p:nvPr/>
                </p:nvSpPr>
                <p:spPr bwMode="auto">
                  <a:xfrm flipH="1">
                    <a:off x="6871" y="0"/>
                    <a:ext cx="13132" cy="1506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0" name="Arc 185"/>
                  <p:cNvSpPr>
                    <a:spLocks noChangeAspect="1"/>
                  </p:cNvSpPr>
                  <p:nvPr/>
                </p:nvSpPr>
                <p:spPr bwMode="auto">
                  <a:xfrm flipH="1" flipV="1">
                    <a:off x="7441" y="15347"/>
                    <a:ext cx="1904" cy="384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11" name="Arc 186"/>
                  <p:cNvSpPr>
                    <a:spLocks noChangeAspect="1"/>
                  </p:cNvSpPr>
                  <p:nvPr/>
                </p:nvSpPr>
                <p:spPr bwMode="auto">
                  <a:xfrm flipV="1">
                    <a:off x="10541" y="15067"/>
                    <a:ext cx="2489" cy="4933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503" name="Group 187"/>
                <p:cNvGrpSpPr>
                  <a:grpSpLocks noChangeAspect="1"/>
                </p:cNvGrpSpPr>
                <p:nvPr/>
              </p:nvGrpSpPr>
              <p:grpSpPr bwMode="auto">
                <a:xfrm>
                  <a:off x="12806" y="0"/>
                  <a:ext cx="7192" cy="19337"/>
                  <a:chOff x="0" y="0"/>
                  <a:chExt cx="20000" cy="20001"/>
                </a:xfrm>
              </p:grpSpPr>
              <p:sp>
                <p:nvSpPr>
                  <p:cNvPr id="17504" name="Arc 188"/>
                  <p:cNvSpPr>
                    <a:spLocks noChangeAspect="1"/>
                  </p:cNvSpPr>
                  <p:nvPr/>
                </p:nvSpPr>
                <p:spPr bwMode="auto">
                  <a:xfrm>
                    <a:off x="0" y="813"/>
                    <a:ext cx="13854" cy="1357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5" name="Arc 189"/>
                  <p:cNvSpPr>
                    <a:spLocks noChangeAspect="1"/>
                  </p:cNvSpPr>
                  <p:nvPr/>
                </p:nvSpPr>
                <p:spPr bwMode="auto">
                  <a:xfrm flipH="1">
                    <a:off x="6849" y="0"/>
                    <a:ext cx="13151" cy="15069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6" name="Arc 190"/>
                  <p:cNvSpPr>
                    <a:spLocks noChangeAspect="1"/>
                  </p:cNvSpPr>
                  <p:nvPr/>
                </p:nvSpPr>
                <p:spPr bwMode="auto">
                  <a:xfrm flipH="1" flipV="1">
                    <a:off x="7519" y="15473"/>
                    <a:ext cx="1822" cy="3843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7" name="Arc 191"/>
                  <p:cNvSpPr>
                    <a:spLocks noChangeAspect="1"/>
                  </p:cNvSpPr>
                  <p:nvPr/>
                </p:nvSpPr>
                <p:spPr bwMode="auto">
                  <a:xfrm flipV="1">
                    <a:off x="10551" y="15069"/>
                    <a:ext cx="2561" cy="493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7498" name="Arc 192"/>
              <p:cNvSpPr>
                <a:spLocks noChangeAspect="1"/>
              </p:cNvSpPr>
              <p:nvPr/>
            </p:nvSpPr>
            <p:spPr bwMode="auto">
              <a:xfrm flipH="1">
                <a:off x="1857" y="1782"/>
                <a:ext cx="20" cy="3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99" name="Arc 193"/>
              <p:cNvSpPr>
                <a:spLocks noChangeAspect="1"/>
              </p:cNvSpPr>
              <p:nvPr/>
            </p:nvSpPr>
            <p:spPr bwMode="auto">
              <a:xfrm>
                <a:off x="2430" y="1770"/>
                <a:ext cx="75" cy="4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00" name="Line 194"/>
              <p:cNvSpPr>
                <a:spLocks noChangeAspect="1" noChangeShapeType="1"/>
              </p:cNvSpPr>
              <p:nvPr/>
            </p:nvSpPr>
            <p:spPr bwMode="auto">
              <a:xfrm>
                <a:off x="2496" y="1824"/>
                <a:ext cx="62" cy="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478" name="Rectangle 206"/>
          <p:cNvSpPr>
            <a:spLocks noChangeAspect="1" noChangeArrowheads="1"/>
          </p:cNvSpPr>
          <p:nvPr/>
        </p:nvSpPr>
        <p:spPr bwMode="auto">
          <a:xfrm>
            <a:off x="3553725" y="4079081"/>
            <a:ext cx="10953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 dirty="0">
                <a:solidFill>
                  <a:srgbClr val="FFFF66"/>
                </a:solidFill>
                <a:sym typeface="Symbol" panose="05050102010706020507" pitchFamily="18" charset="2"/>
              </a:rPr>
              <a:t></a:t>
            </a:r>
            <a:r>
              <a:rPr lang="en-US" altLang="zh-CN" dirty="0">
                <a:solidFill>
                  <a:srgbClr val="FFFF66"/>
                </a:solidFill>
              </a:rPr>
              <a:t> = </a:t>
            </a:r>
            <a:r>
              <a:rPr lang="en-US" altLang="zh-CN" dirty="0">
                <a:solidFill>
                  <a:srgbClr val="FFFF66"/>
                </a:solidFill>
                <a:sym typeface="Symbol" panose="05050102010706020507" pitchFamily="18" charset="2"/>
              </a:rPr>
              <a:t></a:t>
            </a:r>
            <a:r>
              <a:rPr lang="en-US" altLang="zh-CN" dirty="0">
                <a:solidFill>
                  <a:srgbClr val="FFFF66"/>
                </a:solidFill>
              </a:rPr>
              <a:t>/2</a:t>
            </a:r>
            <a:endParaRPr lang="en-US" altLang="zh-CN" b="0" dirty="0">
              <a:solidFill>
                <a:srgbClr val="FFFF66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621854" y="4675188"/>
            <a:ext cx="3233738" cy="1968500"/>
            <a:chOff x="879475" y="4675188"/>
            <a:chExt cx="3233738" cy="1968500"/>
          </a:xfrm>
        </p:grpSpPr>
        <p:sp>
          <p:nvSpPr>
            <p:cNvPr id="17473" name="Freeform 196"/>
            <p:cNvSpPr>
              <a:spLocks noChangeAspect="1"/>
            </p:cNvSpPr>
            <p:nvPr/>
          </p:nvSpPr>
          <p:spPr bwMode="auto">
            <a:xfrm>
              <a:off x="1336675" y="5834063"/>
              <a:ext cx="809625" cy="42862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9" y="642"/>
                  </a:lnTo>
                  <a:lnTo>
                    <a:pt x="396" y="1248"/>
                  </a:lnTo>
                  <a:lnTo>
                    <a:pt x="584" y="1889"/>
                  </a:lnTo>
                  <a:lnTo>
                    <a:pt x="792" y="2496"/>
                  </a:lnTo>
                  <a:lnTo>
                    <a:pt x="980" y="3137"/>
                  </a:lnTo>
                  <a:lnTo>
                    <a:pt x="1188" y="3743"/>
                  </a:lnTo>
                  <a:lnTo>
                    <a:pt x="1395" y="4349"/>
                  </a:lnTo>
                  <a:lnTo>
                    <a:pt x="1565" y="4955"/>
                  </a:lnTo>
                  <a:lnTo>
                    <a:pt x="1772" y="5561"/>
                  </a:lnTo>
                  <a:lnTo>
                    <a:pt x="1979" y="6132"/>
                  </a:lnTo>
                  <a:lnTo>
                    <a:pt x="2168" y="6774"/>
                  </a:lnTo>
                  <a:lnTo>
                    <a:pt x="2375" y="7308"/>
                  </a:lnTo>
                  <a:lnTo>
                    <a:pt x="2564" y="7879"/>
                  </a:lnTo>
                  <a:lnTo>
                    <a:pt x="2790" y="8485"/>
                  </a:lnTo>
                  <a:lnTo>
                    <a:pt x="2959" y="9020"/>
                  </a:lnTo>
                  <a:lnTo>
                    <a:pt x="3167" y="9626"/>
                  </a:lnTo>
                  <a:lnTo>
                    <a:pt x="3374" y="10160"/>
                  </a:lnTo>
                  <a:lnTo>
                    <a:pt x="3582" y="10660"/>
                  </a:lnTo>
                  <a:lnTo>
                    <a:pt x="3770" y="11194"/>
                  </a:lnTo>
                  <a:lnTo>
                    <a:pt x="3959" y="11693"/>
                  </a:lnTo>
                  <a:lnTo>
                    <a:pt x="4166" y="12228"/>
                  </a:lnTo>
                  <a:lnTo>
                    <a:pt x="4373" y="12727"/>
                  </a:lnTo>
                  <a:lnTo>
                    <a:pt x="4562" y="13155"/>
                  </a:lnTo>
                  <a:lnTo>
                    <a:pt x="4788" y="13654"/>
                  </a:lnTo>
                  <a:lnTo>
                    <a:pt x="4976" y="14118"/>
                  </a:lnTo>
                  <a:lnTo>
                    <a:pt x="5165" y="14581"/>
                  </a:lnTo>
                  <a:lnTo>
                    <a:pt x="5353" y="15009"/>
                  </a:lnTo>
                  <a:lnTo>
                    <a:pt x="5542" y="15401"/>
                  </a:lnTo>
                  <a:lnTo>
                    <a:pt x="5768" y="15829"/>
                  </a:lnTo>
                  <a:lnTo>
                    <a:pt x="5975" y="16221"/>
                  </a:lnTo>
                  <a:lnTo>
                    <a:pt x="6183" y="16613"/>
                  </a:lnTo>
                  <a:lnTo>
                    <a:pt x="6390" y="16934"/>
                  </a:lnTo>
                  <a:lnTo>
                    <a:pt x="6598" y="17291"/>
                  </a:lnTo>
                  <a:lnTo>
                    <a:pt x="6786" y="17611"/>
                  </a:lnTo>
                  <a:lnTo>
                    <a:pt x="6993" y="17932"/>
                  </a:lnTo>
                  <a:lnTo>
                    <a:pt x="7182" y="18217"/>
                  </a:lnTo>
                  <a:lnTo>
                    <a:pt x="7408" y="18467"/>
                  </a:lnTo>
                  <a:lnTo>
                    <a:pt x="7615" y="18717"/>
                  </a:lnTo>
                  <a:lnTo>
                    <a:pt x="7842" y="18930"/>
                  </a:lnTo>
                  <a:lnTo>
                    <a:pt x="8030" y="19144"/>
                  </a:lnTo>
                  <a:lnTo>
                    <a:pt x="8238" y="19358"/>
                  </a:lnTo>
                  <a:lnTo>
                    <a:pt x="8464" y="19465"/>
                  </a:lnTo>
                  <a:lnTo>
                    <a:pt x="8633" y="19608"/>
                  </a:lnTo>
                  <a:lnTo>
                    <a:pt x="8841" y="19715"/>
                  </a:lnTo>
                  <a:lnTo>
                    <a:pt x="9048" y="19893"/>
                  </a:lnTo>
                  <a:lnTo>
                    <a:pt x="9274" y="19929"/>
                  </a:lnTo>
                  <a:lnTo>
                    <a:pt x="9482" y="19929"/>
                  </a:lnTo>
                  <a:lnTo>
                    <a:pt x="9670" y="19929"/>
                  </a:lnTo>
                  <a:lnTo>
                    <a:pt x="9877" y="19964"/>
                  </a:lnTo>
                  <a:lnTo>
                    <a:pt x="10123" y="19929"/>
                  </a:lnTo>
                  <a:lnTo>
                    <a:pt x="10330" y="19857"/>
                  </a:lnTo>
                  <a:lnTo>
                    <a:pt x="10556" y="19715"/>
                  </a:lnTo>
                  <a:lnTo>
                    <a:pt x="10782" y="19537"/>
                  </a:lnTo>
                  <a:lnTo>
                    <a:pt x="11008" y="19358"/>
                  </a:lnTo>
                  <a:lnTo>
                    <a:pt x="11235" y="19109"/>
                  </a:lnTo>
                  <a:lnTo>
                    <a:pt x="11499" y="18859"/>
                  </a:lnTo>
                  <a:lnTo>
                    <a:pt x="11725" y="18574"/>
                  </a:lnTo>
                  <a:lnTo>
                    <a:pt x="11951" y="18253"/>
                  </a:lnTo>
                  <a:lnTo>
                    <a:pt x="12196" y="17861"/>
                  </a:lnTo>
                  <a:lnTo>
                    <a:pt x="12460" y="17504"/>
                  </a:lnTo>
                  <a:lnTo>
                    <a:pt x="12724" y="17148"/>
                  </a:lnTo>
                  <a:lnTo>
                    <a:pt x="12950" y="16720"/>
                  </a:lnTo>
                  <a:lnTo>
                    <a:pt x="13195" y="16292"/>
                  </a:lnTo>
                  <a:lnTo>
                    <a:pt x="13459" y="15829"/>
                  </a:lnTo>
                  <a:lnTo>
                    <a:pt x="13704" y="15330"/>
                  </a:lnTo>
                  <a:lnTo>
                    <a:pt x="13949" y="14866"/>
                  </a:lnTo>
                  <a:lnTo>
                    <a:pt x="14194" y="14332"/>
                  </a:lnTo>
                  <a:lnTo>
                    <a:pt x="14458" y="13832"/>
                  </a:lnTo>
                  <a:lnTo>
                    <a:pt x="14703" y="13298"/>
                  </a:lnTo>
                  <a:lnTo>
                    <a:pt x="14948" y="12763"/>
                  </a:lnTo>
                  <a:lnTo>
                    <a:pt x="15193" y="12228"/>
                  </a:lnTo>
                  <a:lnTo>
                    <a:pt x="15476" y="11693"/>
                  </a:lnTo>
                  <a:lnTo>
                    <a:pt x="15683" y="11123"/>
                  </a:lnTo>
                  <a:lnTo>
                    <a:pt x="15910" y="10588"/>
                  </a:lnTo>
                  <a:lnTo>
                    <a:pt x="16155" y="10018"/>
                  </a:lnTo>
                  <a:lnTo>
                    <a:pt x="16381" y="9447"/>
                  </a:lnTo>
                  <a:lnTo>
                    <a:pt x="16626" y="8913"/>
                  </a:lnTo>
                  <a:lnTo>
                    <a:pt x="16833" y="8342"/>
                  </a:lnTo>
                  <a:lnTo>
                    <a:pt x="17059" y="7807"/>
                  </a:lnTo>
                  <a:lnTo>
                    <a:pt x="17267" y="7273"/>
                  </a:lnTo>
                  <a:lnTo>
                    <a:pt x="17493" y="6774"/>
                  </a:lnTo>
                  <a:lnTo>
                    <a:pt x="17719" y="6239"/>
                  </a:lnTo>
                  <a:lnTo>
                    <a:pt x="17926" y="5704"/>
                  </a:lnTo>
                  <a:lnTo>
                    <a:pt x="18153" y="5205"/>
                  </a:lnTo>
                  <a:lnTo>
                    <a:pt x="18322" y="4742"/>
                  </a:lnTo>
                  <a:lnTo>
                    <a:pt x="18492" y="4278"/>
                  </a:lnTo>
                  <a:lnTo>
                    <a:pt x="18680" y="3815"/>
                  </a:lnTo>
                  <a:lnTo>
                    <a:pt x="18850" y="3387"/>
                  </a:lnTo>
                  <a:lnTo>
                    <a:pt x="19020" y="2995"/>
                  </a:lnTo>
                  <a:lnTo>
                    <a:pt x="19171" y="2638"/>
                  </a:lnTo>
                  <a:lnTo>
                    <a:pt x="19340" y="2246"/>
                  </a:lnTo>
                  <a:lnTo>
                    <a:pt x="19491" y="1925"/>
                  </a:lnTo>
                  <a:lnTo>
                    <a:pt x="19604" y="1569"/>
                  </a:lnTo>
                  <a:lnTo>
                    <a:pt x="19755" y="1319"/>
                  </a:lnTo>
                  <a:lnTo>
                    <a:pt x="19887" y="1070"/>
                  </a:lnTo>
                  <a:lnTo>
                    <a:pt x="19981" y="856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4" name="Line 197"/>
            <p:cNvSpPr>
              <a:spLocks noChangeAspect="1" noChangeShapeType="1"/>
            </p:cNvSpPr>
            <p:nvPr/>
          </p:nvSpPr>
          <p:spPr bwMode="auto">
            <a:xfrm>
              <a:off x="1336675" y="5853113"/>
              <a:ext cx="2428875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5" name="Rectangle 198"/>
            <p:cNvSpPr>
              <a:spLocks noChangeAspect="1" noChangeArrowheads="1"/>
            </p:cNvSpPr>
            <p:nvPr/>
          </p:nvSpPr>
          <p:spPr bwMode="auto">
            <a:xfrm>
              <a:off x="1031875" y="5653088"/>
              <a:ext cx="2905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66FFFF"/>
                  </a:solidFill>
                </a:rPr>
                <a:t>o</a:t>
              </a:r>
              <a:endParaRPr lang="en-US" altLang="zh-CN" sz="1000" b="0"/>
            </a:p>
          </p:txBody>
        </p:sp>
        <p:sp>
          <p:nvSpPr>
            <p:cNvPr id="17476" name="Rectangle 199"/>
            <p:cNvSpPr>
              <a:spLocks noChangeAspect="1" noChangeArrowheads="1"/>
            </p:cNvSpPr>
            <p:nvPr/>
          </p:nvSpPr>
          <p:spPr bwMode="auto">
            <a:xfrm>
              <a:off x="955675" y="5195888"/>
              <a:ext cx="290513" cy="42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66"/>
                  </a:solidFill>
                </a:rPr>
                <a:t>A</a:t>
              </a:r>
              <a:endParaRPr lang="en-US" altLang="zh-CN" sz="1000" b="0"/>
            </a:p>
          </p:txBody>
        </p:sp>
        <p:sp>
          <p:nvSpPr>
            <p:cNvPr id="17477" name="Rectangle 200"/>
            <p:cNvSpPr>
              <a:spLocks noChangeAspect="1" noChangeArrowheads="1"/>
            </p:cNvSpPr>
            <p:nvPr/>
          </p:nvSpPr>
          <p:spPr bwMode="auto">
            <a:xfrm>
              <a:off x="879475" y="6110288"/>
              <a:ext cx="4889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-</a:t>
              </a:r>
              <a:r>
                <a:rPr lang="en-US" altLang="zh-CN" i="1">
                  <a:solidFill>
                    <a:srgbClr val="FFFF66"/>
                  </a:solidFill>
                </a:rPr>
                <a:t>A</a:t>
              </a:r>
              <a:endParaRPr lang="en-US" altLang="zh-CN" sz="1000" b="0"/>
            </a:p>
          </p:txBody>
        </p:sp>
        <p:sp>
          <p:nvSpPr>
            <p:cNvPr id="9" name="Rectangle 201"/>
            <p:cNvSpPr>
              <a:spLocks noChangeAspect="1" noChangeArrowheads="1"/>
            </p:cNvSpPr>
            <p:nvPr/>
          </p:nvSpPr>
          <p:spPr bwMode="auto">
            <a:xfrm>
              <a:off x="3868738" y="5700713"/>
              <a:ext cx="2444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66FFFF"/>
                  </a:solidFill>
                </a:rPr>
                <a:t>t</a:t>
              </a:r>
              <a:endParaRPr lang="en-US" altLang="zh-CN" b="0">
                <a:solidFill>
                  <a:srgbClr val="66FFFF"/>
                </a:solidFill>
              </a:endParaRPr>
            </a:p>
          </p:txBody>
        </p:sp>
        <p:sp>
          <p:nvSpPr>
            <p:cNvPr id="17479" name="Rectangle 202"/>
            <p:cNvSpPr>
              <a:spLocks noChangeAspect="1" noChangeArrowheads="1"/>
            </p:cNvSpPr>
            <p:nvPr/>
          </p:nvSpPr>
          <p:spPr bwMode="auto">
            <a:xfrm>
              <a:off x="1479550" y="4675188"/>
              <a:ext cx="3063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66FFFF"/>
                  </a:solidFill>
                </a:rPr>
                <a:t>x</a:t>
              </a:r>
              <a:endParaRPr lang="en-US" altLang="zh-CN" sz="1000" b="0"/>
            </a:p>
          </p:txBody>
        </p:sp>
        <p:sp>
          <p:nvSpPr>
            <p:cNvPr id="17480" name="Freeform 203"/>
            <p:cNvSpPr>
              <a:spLocks noChangeAspect="1"/>
            </p:cNvSpPr>
            <p:nvPr/>
          </p:nvSpPr>
          <p:spPr bwMode="auto">
            <a:xfrm>
              <a:off x="2146300" y="5405438"/>
              <a:ext cx="809625" cy="4587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967"/>
                  </a:moveTo>
                  <a:lnTo>
                    <a:pt x="189" y="19301"/>
                  </a:lnTo>
                  <a:lnTo>
                    <a:pt x="396" y="18735"/>
                  </a:lnTo>
                  <a:lnTo>
                    <a:pt x="584" y="18070"/>
                  </a:lnTo>
                  <a:lnTo>
                    <a:pt x="792" y="17438"/>
                  </a:lnTo>
                  <a:lnTo>
                    <a:pt x="980" y="16805"/>
                  </a:lnTo>
                  <a:lnTo>
                    <a:pt x="1206" y="16240"/>
                  </a:lnTo>
                  <a:lnTo>
                    <a:pt x="1395" y="15607"/>
                  </a:lnTo>
                  <a:lnTo>
                    <a:pt x="1583" y="15008"/>
                  </a:lnTo>
                  <a:lnTo>
                    <a:pt x="1772" y="14409"/>
                  </a:lnTo>
                  <a:lnTo>
                    <a:pt x="1979" y="13810"/>
                  </a:lnTo>
                  <a:lnTo>
                    <a:pt x="2187" y="13211"/>
                  </a:lnTo>
                  <a:lnTo>
                    <a:pt x="2375" y="12679"/>
                  </a:lnTo>
                  <a:lnTo>
                    <a:pt x="2564" y="12080"/>
                  </a:lnTo>
                  <a:lnTo>
                    <a:pt x="2771" y="11448"/>
                  </a:lnTo>
                  <a:lnTo>
                    <a:pt x="2959" y="10948"/>
                  </a:lnTo>
                  <a:lnTo>
                    <a:pt x="3148" y="10349"/>
                  </a:lnTo>
                  <a:lnTo>
                    <a:pt x="3374" y="9784"/>
                  </a:lnTo>
                  <a:lnTo>
                    <a:pt x="3582" y="9318"/>
                  </a:lnTo>
                  <a:lnTo>
                    <a:pt x="3751" y="8752"/>
                  </a:lnTo>
                  <a:lnTo>
                    <a:pt x="3959" y="8286"/>
                  </a:lnTo>
                  <a:lnTo>
                    <a:pt x="4147" y="7720"/>
                  </a:lnTo>
                  <a:lnTo>
                    <a:pt x="4373" y="7221"/>
                  </a:lnTo>
                  <a:lnTo>
                    <a:pt x="4562" y="6789"/>
                  </a:lnTo>
                  <a:lnTo>
                    <a:pt x="4788" y="6290"/>
                  </a:lnTo>
                  <a:lnTo>
                    <a:pt x="4976" y="5857"/>
                  </a:lnTo>
                  <a:lnTo>
                    <a:pt x="5184" y="5358"/>
                  </a:lnTo>
                  <a:lnTo>
                    <a:pt x="5353" y="4958"/>
                  </a:lnTo>
                  <a:lnTo>
                    <a:pt x="5542" y="4559"/>
                  </a:lnTo>
                  <a:lnTo>
                    <a:pt x="5768" y="4126"/>
                  </a:lnTo>
                  <a:lnTo>
                    <a:pt x="5975" y="3727"/>
                  </a:lnTo>
                  <a:lnTo>
                    <a:pt x="6202" y="3361"/>
                  </a:lnTo>
                  <a:lnTo>
                    <a:pt x="6390" y="2995"/>
                  </a:lnTo>
                  <a:lnTo>
                    <a:pt x="6616" y="2662"/>
                  </a:lnTo>
                  <a:lnTo>
                    <a:pt x="6786" y="2363"/>
                  </a:lnTo>
                  <a:lnTo>
                    <a:pt x="6993" y="2030"/>
                  </a:lnTo>
                  <a:lnTo>
                    <a:pt x="7201" y="1730"/>
                  </a:lnTo>
                  <a:lnTo>
                    <a:pt x="7408" y="1531"/>
                  </a:lnTo>
                  <a:lnTo>
                    <a:pt x="7615" y="1231"/>
                  </a:lnTo>
                  <a:lnTo>
                    <a:pt x="7823" y="1032"/>
                  </a:lnTo>
                  <a:lnTo>
                    <a:pt x="8030" y="799"/>
                  </a:lnTo>
                  <a:lnTo>
                    <a:pt x="8238" y="632"/>
                  </a:lnTo>
                  <a:lnTo>
                    <a:pt x="8445" y="532"/>
                  </a:lnTo>
                  <a:lnTo>
                    <a:pt x="8633" y="333"/>
                  </a:lnTo>
                  <a:lnTo>
                    <a:pt x="8841" y="233"/>
                  </a:lnTo>
                  <a:lnTo>
                    <a:pt x="9048" y="67"/>
                  </a:lnTo>
                  <a:lnTo>
                    <a:pt x="9274" y="33"/>
                  </a:lnTo>
                  <a:lnTo>
                    <a:pt x="9463" y="33"/>
                  </a:lnTo>
                  <a:lnTo>
                    <a:pt x="9670" y="33"/>
                  </a:lnTo>
                  <a:lnTo>
                    <a:pt x="9877" y="0"/>
                  </a:lnTo>
                  <a:lnTo>
                    <a:pt x="10123" y="33"/>
                  </a:lnTo>
                  <a:lnTo>
                    <a:pt x="10330" y="100"/>
                  </a:lnTo>
                  <a:lnTo>
                    <a:pt x="10556" y="233"/>
                  </a:lnTo>
                  <a:lnTo>
                    <a:pt x="10782" y="399"/>
                  </a:lnTo>
                  <a:lnTo>
                    <a:pt x="11008" y="632"/>
                  </a:lnTo>
                  <a:lnTo>
                    <a:pt x="11254" y="865"/>
                  </a:lnTo>
                  <a:lnTo>
                    <a:pt x="11499" y="1098"/>
                  </a:lnTo>
                  <a:lnTo>
                    <a:pt x="11725" y="1398"/>
                  </a:lnTo>
                  <a:lnTo>
                    <a:pt x="11970" y="1697"/>
                  </a:lnTo>
                  <a:lnTo>
                    <a:pt x="12215" y="2063"/>
                  </a:lnTo>
                  <a:lnTo>
                    <a:pt x="12460" y="2463"/>
                  </a:lnTo>
                  <a:lnTo>
                    <a:pt x="12705" y="2795"/>
                  </a:lnTo>
                  <a:lnTo>
                    <a:pt x="12950" y="3261"/>
                  </a:lnTo>
                  <a:lnTo>
                    <a:pt x="13195" y="3661"/>
                  </a:lnTo>
                  <a:lnTo>
                    <a:pt x="13440" y="4126"/>
                  </a:lnTo>
                  <a:lnTo>
                    <a:pt x="13704" y="4626"/>
                  </a:lnTo>
                  <a:lnTo>
                    <a:pt x="13949" y="5092"/>
                  </a:lnTo>
                  <a:lnTo>
                    <a:pt x="14194" y="5624"/>
                  </a:lnTo>
                  <a:lnTo>
                    <a:pt x="14458" y="6123"/>
                  </a:lnTo>
                  <a:lnTo>
                    <a:pt x="14703" y="6689"/>
                  </a:lnTo>
                  <a:lnTo>
                    <a:pt x="14948" y="7188"/>
                  </a:lnTo>
                  <a:lnTo>
                    <a:pt x="15193" y="7720"/>
                  </a:lnTo>
                  <a:lnTo>
                    <a:pt x="15476" y="8286"/>
                  </a:lnTo>
                  <a:lnTo>
                    <a:pt x="15683" y="8852"/>
                  </a:lnTo>
                  <a:lnTo>
                    <a:pt x="15910" y="9384"/>
                  </a:lnTo>
                  <a:lnTo>
                    <a:pt x="16155" y="9950"/>
                  </a:lnTo>
                  <a:lnTo>
                    <a:pt x="16381" y="10483"/>
                  </a:lnTo>
                  <a:lnTo>
                    <a:pt x="16626" y="11048"/>
                  </a:lnTo>
                  <a:lnTo>
                    <a:pt x="16852" y="11614"/>
                  </a:lnTo>
                  <a:lnTo>
                    <a:pt x="17059" y="12146"/>
                  </a:lnTo>
                  <a:lnTo>
                    <a:pt x="17286" y="12712"/>
                  </a:lnTo>
                  <a:lnTo>
                    <a:pt x="17493" y="13211"/>
                  </a:lnTo>
                  <a:lnTo>
                    <a:pt x="17700" y="13710"/>
                  </a:lnTo>
                  <a:lnTo>
                    <a:pt x="17926" y="14243"/>
                  </a:lnTo>
                  <a:lnTo>
                    <a:pt x="18134" y="14742"/>
                  </a:lnTo>
                  <a:lnTo>
                    <a:pt x="18322" y="15208"/>
                  </a:lnTo>
                  <a:lnTo>
                    <a:pt x="18492" y="15674"/>
                  </a:lnTo>
                  <a:lnTo>
                    <a:pt x="18680" y="16140"/>
                  </a:lnTo>
                  <a:lnTo>
                    <a:pt x="18850" y="16572"/>
                  </a:lnTo>
                  <a:lnTo>
                    <a:pt x="19020" y="16938"/>
                  </a:lnTo>
                  <a:lnTo>
                    <a:pt x="19171" y="17338"/>
                  </a:lnTo>
                  <a:lnTo>
                    <a:pt x="19340" y="17704"/>
                  </a:lnTo>
                  <a:lnTo>
                    <a:pt x="19472" y="18037"/>
                  </a:lnTo>
                  <a:lnTo>
                    <a:pt x="19604" y="18369"/>
                  </a:lnTo>
                  <a:lnTo>
                    <a:pt x="19755" y="18636"/>
                  </a:lnTo>
                  <a:lnTo>
                    <a:pt x="19887" y="18902"/>
                  </a:lnTo>
                  <a:lnTo>
                    <a:pt x="19981" y="19101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1" name="Line 204"/>
            <p:cNvSpPr>
              <a:spLocks noChangeAspect="1" noChangeShapeType="1"/>
            </p:cNvSpPr>
            <p:nvPr/>
          </p:nvSpPr>
          <p:spPr bwMode="auto">
            <a:xfrm>
              <a:off x="1336675" y="6280151"/>
              <a:ext cx="38100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2" name="Line 205"/>
            <p:cNvSpPr>
              <a:spLocks noChangeAspect="1" noChangeShapeType="1"/>
            </p:cNvSpPr>
            <p:nvPr/>
          </p:nvSpPr>
          <p:spPr bwMode="auto">
            <a:xfrm>
              <a:off x="1336675" y="5408613"/>
              <a:ext cx="114300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3" name="Rectangle 207"/>
            <p:cNvSpPr>
              <a:spLocks noChangeAspect="1" noChangeArrowheads="1"/>
            </p:cNvSpPr>
            <p:nvPr/>
          </p:nvSpPr>
          <p:spPr bwMode="auto">
            <a:xfrm>
              <a:off x="2786063" y="5849938"/>
              <a:ext cx="3968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66"/>
                  </a:solidFill>
                </a:rPr>
                <a:t>T</a:t>
              </a:r>
              <a:endParaRPr lang="en-US" altLang="zh-CN" b="0">
                <a:solidFill>
                  <a:srgbClr val="FFFF66"/>
                </a:solidFill>
              </a:endParaRPr>
            </a:p>
          </p:txBody>
        </p:sp>
        <p:sp>
          <p:nvSpPr>
            <p:cNvPr id="17484" name="Line 208"/>
            <p:cNvSpPr>
              <a:spLocks noChangeShapeType="1"/>
            </p:cNvSpPr>
            <p:nvPr/>
          </p:nvSpPr>
          <p:spPr bwMode="auto">
            <a:xfrm flipV="1">
              <a:off x="1331640" y="4814888"/>
              <a:ext cx="0" cy="182880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344" name="Group 209"/>
          <p:cNvGrpSpPr/>
          <p:nvPr/>
        </p:nvGrpSpPr>
        <p:grpSpPr bwMode="auto">
          <a:xfrm>
            <a:off x="5031930" y="3876680"/>
            <a:ext cx="2849563" cy="1057276"/>
            <a:chOff x="3204" y="2521"/>
            <a:chExt cx="1795" cy="666"/>
          </a:xfrm>
        </p:grpSpPr>
        <p:grpSp>
          <p:nvGrpSpPr>
            <p:cNvPr id="17426" name="Group 210"/>
            <p:cNvGrpSpPr/>
            <p:nvPr/>
          </p:nvGrpSpPr>
          <p:grpSpPr bwMode="auto">
            <a:xfrm>
              <a:off x="3204" y="2521"/>
              <a:ext cx="1795" cy="666"/>
              <a:chOff x="3204" y="2521"/>
              <a:chExt cx="1795" cy="666"/>
            </a:xfrm>
          </p:grpSpPr>
          <p:sp>
            <p:nvSpPr>
              <p:cNvPr id="17463" name="Rectangle 211"/>
              <p:cNvSpPr>
                <a:spLocks noChangeAspect="1" noChangeArrowheads="1"/>
              </p:cNvSpPr>
              <p:nvPr/>
            </p:nvSpPr>
            <p:spPr bwMode="auto">
              <a:xfrm>
                <a:off x="3876" y="2567"/>
                <a:ext cx="188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00FF00"/>
                    </a:solidFill>
                  </a:rPr>
                  <a:t>m</a:t>
                </a:r>
                <a:endParaRPr lang="en-US" altLang="zh-CN" sz="1000" b="0"/>
              </a:p>
            </p:txBody>
          </p:sp>
          <p:sp>
            <p:nvSpPr>
              <p:cNvPr id="17464" name="Line 212"/>
              <p:cNvSpPr>
                <a:spLocks noChangeAspect="1" noChangeShapeType="1"/>
              </p:cNvSpPr>
              <p:nvPr/>
            </p:nvSpPr>
            <p:spPr bwMode="auto">
              <a:xfrm>
                <a:off x="3204" y="2843"/>
                <a:ext cx="132" cy="1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5" name="Rectangle 213"/>
              <p:cNvSpPr>
                <a:spLocks noChangeAspect="1" noChangeArrowheads="1"/>
              </p:cNvSpPr>
              <p:nvPr/>
            </p:nvSpPr>
            <p:spPr bwMode="auto">
              <a:xfrm>
                <a:off x="4020" y="2807"/>
                <a:ext cx="184" cy="125"/>
              </a:xfrm>
              <a:prstGeom prst="rect">
                <a:avLst/>
              </a:prstGeom>
              <a:solidFill>
                <a:srgbClr val="00FF00"/>
              </a:solidFill>
              <a:ln w="25400">
                <a:solidFill>
                  <a:srgbClr val="00FF00"/>
                </a:solidFill>
                <a:miter lim="800000"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7466" name="Line 214"/>
              <p:cNvSpPr>
                <a:spLocks noChangeAspect="1" noChangeShapeType="1"/>
              </p:cNvSpPr>
              <p:nvPr/>
            </p:nvSpPr>
            <p:spPr bwMode="auto">
              <a:xfrm>
                <a:off x="3204" y="2590"/>
                <a:ext cx="1" cy="344"/>
              </a:xfrm>
              <a:prstGeom prst="line">
                <a:avLst/>
              </a:prstGeom>
              <a:noFill/>
              <a:ln w="38100">
                <a:solidFill>
                  <a:srgbClr val="66FFFF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7" name="Line 215"/>
              <p:cNvSpPr>
                <a:spLocks noChangeAspect="1" noChangeShapeType="1"/>
              </p:cNvSpPr>
              <p:nvPr/>
            </p:nvSpPr>
            <p:spPr bwMode="auto">
              <a:xfrm>
                <a:off x="3204" y="2927"/>
                <a:ext cx="1720" cy="1"/>
              </a:xfrm>
              <a:prstGeom prst="line">
                <a:avLst/>
              </a:prstGeom>
              <a:noFill/>
              <a:ln w="38100">
                <a:solidFill>
                  <a:srgbClr val="66FFFF"/>
                </a:solidFill>
                <a:round/>
                <a:headEnd type="none" w="med" len="sm"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8" name="Rectangle 216"/>
              <p:cNvSpPr>
                <a:spLocks noChangeAspect="1" noChangeArrowheads="1"/>
              </p:cNvSpPr>
              <p:nvPr/>
            </p:nvSpPr>
            <p:spPr bwMode="auto">
              <a:xfrm>
                <a:off x="4048" y="2919"/>
                <a:ext cx="219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dirty="0">
                    <a:solidFill>
                      <a:srgbClr val="66FFFF"/>
                    </a:solidFill>
                  </a:rPr>
                  <a:t>o</a:t>
                </a:r>
                <a:endParaRPr lang="en-US" altLang="zh-CN" b="0" dirty="0">
                  <a:solidFill>
                    <a:srgbClr val="66FFFF"/>
                  </a:solidFill>
                </a:endParaRPr>
              </a:p>
            </p:txBody>
          </p:sp>
          <p:sp>
            <p:nvSpPr>
              <p:cNvPr id="17469" name="Rectangle 217"/>
              <p:cNvSpPr>
                <a:spLocks noChangeAspect="1" noChangeArrowheads="1"/>
              </p:cNvSpPr>
              <p:nvPr/>
            </p:nvSpPr>
            <p:spPr bwMode="auto">
              <a:xfrm>
                <a:off x="4835" y="2914"/>
                <a:ext cx="164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 dirty="0">
                    <a:solidFill>
                      <a:srgbClr val="66FFFF"/>
                    </a:solidFill>
                  </a:rPr>
                  <a:t>x</a:t>
                </a:r>
                <a:endParaRPr lang="en-US" altLang="zh-CN" sz="1000" b="0" dirty="0">
                  <a:solidFill>
                    <a:srgbClr val="66FFFF"/>
                  </a:solidFill>
                </a:endParaRPr>
              </a:p>
            </p:txBody>
          </p:sp>
          <p:sp>
            <p:nvSpPr>
              <p:cNvPr id="17470" name="Line 218"/>
              <p:cNvSpPr>
                <a:spLocks noChangeAspect="1" noChangeShapeType="1"/>
              </p:cNvSpPr>
              <p:nvPr/>
            </p:nvSpPr>
            <p:spPr bwMode="auto">
              <a:xfrm>
                <a:off x="3994" y="2538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66FFFF"/>
                </a:solidFill>
                <a:round/>
                <a:headEnd type="none" w="med" len="sm"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71" name="Line 219"/>
              <p:cNvSpPr>
                <a:spLocks noChangeAspect="1" noChangeShapeType="1"/>
              </p:cNvSpPr>
              <p:nvPr/>
            </p:nvSpPr>
            <p:spPr bwMode="auto">
              <a:xfrm>
                <a:off x="4114" y="2632"/>
                <a:ext cx="0" cy="302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prstDash val="sysDot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72" name="Rectangle 220"/>
              <p:cNvSpPr>
                <a:spLocks noChangeAspect="1" noChangeArrowheads="1"/>
              </p:cNvSpPr>
              <p:nvPr/>
            </p:nvSpPr>
            <p:spPr bwMode="auto">
              <a:xfrm>
                <a:off x="4258" y="2521"/>
                <a:ext cx="604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 dirty="0">
                    <a:solidFill>
                      <a:srgbClr val="FFFF66"/>
                    </a:solidFill>
                  </a:rPr>
                  <a:t>x</a:t>
                </a:r>
                <a:r>
                  <a:rPr lang="en-US" altLang="zh-CN" baseline="-25000" dirty="0">
                    <a:solidFill>
                      <a:srgbClr val="FFFF66"/>
                    </a:solidFill>
                  </a:rPr>
                  <a:t>0</a:t>
                </a:r>
                <a:r>
                  <a:rPr lang="en-US" altLang="zh-CN" dirty="0">
                    <a:solidFill>
                      <a:srgbClr val="FFFF66"/>
                    </a:solidFill>
                  </a:rPr>
                  <a:t> = 0</a:t>
                </a:r>
                <a:endParaRPr lang="en-US" altLang="zh-CN" sz="1000" b="0" dirty="0"/>
              </a:p>
            </p:txBody>
          </p:sp>
        </p:grpSp>
        <p:grpSp>
          <p:nvGrpSpPr>
            <p:cNvPr id="17427" name="Group 221"/>
            <p:cNvGrpSpPr/>
            <p:nvPr/>
          </p:nvGrpSpPr>
          <p:grpSpPr bwMode="auto">
            <a:xfrm>
              <a:off x="3336" y="2807"/>
              <a:ext cx="701" cy="79"/>
              <a:chOff x="1857" y="1770"/>
              <a:chExt cx="701" cy="79"/>
            </a:xfrm>
          </p:grpSpPr>
          <p:grpSp>
            <p:nvGrpSpPr>
              <p:cNvPr id="17428" name="Group 222"/>
              <p:cNvGrpSpPr>
                <a:grpSpLocks noChangeAspect="1"/>
              </p:cNvGrpSpPr>
              <p:nvPr/>
            </p:nvGrpSpPr>
            <p:grpSpPr bwMode="auto">
              <a:xfrm>
                <a:off x="1870" y="1776"/>
                <a:ext cx="286" cy="73"/>
                <a:chOff x="0" y="2"/>
                <a:chExt cx="19985" cy="19996"/>
              </a:xfrm>
            </p:grpSpPr>
            <p:grpSp>
              <p:nvGrpSpPr>
                <p:cNvPr id="17448" name="Group 223"/>
                <p:cNvGrpSpPr>
                  <a:grpSpLocks noChangeAspect="1"/>
                </p:cNvGrpSpPr>
                <p:nvPr/>
              </p:nvGrpSpPr>
              <p:grpSpPr bwMode="auto">
                <a:xfrm>
                  <a:off x="0" y="786"/>
                  <a:ext cx="7188" cy="19212"/>
                  <a:chOff x="0" y="0"/>
                  <a:chExt cx="19992" cy="19999"/>
                </a:xfrm>
              </p:grpSpPr>
              <p:sp>
                <p:nvSpPr>
                  <p:cNvPr id="17459" name="Arc 224"/>
                  <p:cNvSpPr>
                    <a:spLocks noChangeAspect="1"/>
                  </p:cNvSpPr>
                  <p:nvPr/>
                </p:nvSpPr>
                <p:spPr bwMode="auto">
                  <a:xfrm>
                    <a:off x="0" y="1112"/>
                    <a:ext cx="13851" cy="1364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0" name="Arc 225"/>
                  <p:cNvSpPr>
                    <a:spLocks noChangeAspect="1"/>
                  </p:cNvSpPr>
                  <p:nvPr/>
                </p:nvSpPr>
                <p:spPr bwMode="auto">
                  <a:xfrm flipH="1">
                    <a:off x="6850" y="0"/>
                    <a:ext cx="13142" cy="1516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1" name="Arc 226"/>
                  <p:cNvSpPr>
                    <a:spLocks noChangeAspect="1"/>
                  </p:cNvSpPr>
                  <p:nvPr/>
                </p:nvSpPr>
                <p:spPr bwMode="auto">
                  <a:xfrm flipH="1" flipV="1">
                    <a:off x="7476" y="15712"/>
                    <a:ext cx="1911" cy="386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62" name="Arc 227"/>
                  <p:cNvSpPr>
                    <a:spLocks noChangeAspect="1"/>
                  </p:cNvSpPr>
                  <p:nvPr/>
                </p:nvSpPr>
                <p:spPr bwMode="auto">
                  <a:xfrm flipV="1">
                    <a:off x="10613" y="15035"/>
                    <a:ext cx="2473" cy="4964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449" name="Group 228"/>
                <p:cNvGrpSpPr>
                  <a:grpSpLocks noChangeAspect="1"/>
                </p:cNvGrpSpPr>
                <p:nvPr/>
              </p:nvGrpSpPr>
              <p:grpSpPr bwMode="auto">
                <a:xfrm>
                  <a:off x="6290" y="394"/>
                  <a:ext cx="7227" cy="19334"/>
                  <a:chOff x="0" y="0"/>
                  <a:chExt cx="20000" cy="20000"/>
                </a:xfrm>
              </p:grpSpPr>
              <p:sp>
                <p:nvSpPr>
                  <p:cNvPr id="17455" name="Arc 229"/>
                  <p:cNvSpPr>
                    <a:spLocks noChangeAspect="1"/>
                  </p:cNvSpPr>
                  <p:nvPr/>
                </p:nvSpPr>
                <p:spPr bwMode="auto">
                  <a:xfrm>
                    <a:off x="0" y="965"/>
                    <a:ext cx="13765" cy="13558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6" name="Arc 230"/>
                  <p:cNvSpPr>
                    <a:spLocks noChangeAspect="1"/>
                  </p:cNvSpPr>
                  <p:nvPr/>
                </p:nvSpPr>
                <p:spPr bwMode="auto">
                  <a:xfrm flipH="1">
                    <a:off x="6871" y="0"/>
                    <a:ext cx="13129" cy="1506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7" name="Arc 231"/>
                  <p:cNvSpPr>
                    <a:spLocks noChangeAspect="1"/>
                  </p:cNvSpPr>
                  <p:nvPr/>
                </p:nvSpPr>
                <p:spPr bwMode="auto">
                  <a:xfrm flipH="1" flipV="1">
                    <a:off x="7439" y="15347"/>
                    <a:ext cx="1854" cy="384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8" name="Arc 232"/>
                  <p:cNvSpPr>
                    <a:spLocks noChangeAspect="1"/>
                  </p:cNvSpPr>
                  <p:nvPr/>
                </p:nvSpPr>
                <p:spPr bwMode="auto">
                  <a:xfrm flipV="1">
                    <a:off x="10497" y="15067"/>
                    <a:ext cx="2537" cy="4933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450" name="Group 233"/>
                <p:cNvGrpSpPr>
                  <a:grpSpLocks noChangeAspect="1"/>
                </p:cNvGrpSpPr>
                <p:nvPr/>
              </p:nvGrpSpPr>
              <p:grpSpPr bwMode="auto">
                <a:xfrm>
                  <a:off x="12777" y="2"/>
                  <a:ext cx="7208" cy="19333"/>
                  <a:chOff x="3" y="0"/>
                  <a:chExt cx="20000" cy="20001"/>
                </a:xfrm>
              </p:grpSpPr>
              <p:sp>
                <p:nvSpPr>
                  <p:cNvPr id="17451" name="Arc 234"/>
                  <p:cNvSpPr>
                    <a:spLocks noChangeAspect="1"/>
                  </p:cNvSpPr>
                  <p:nvPr/>
                </p:nvSpPr>
                <p:spPr bwMode="auto">
                  <a:xfrm>
                    <a:off x="3" y="813"/>
                    <a:ext cx="13771" cy="1357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2" name="Arc 235"/>
                  <p:cNvSpPr>
                    <a:spLocks noChangeAspect="1"/>
                  </p:cNvSpPr>
                  <p:nvPr/>
                </p:nvSpPr>
                <p:spPr bwMode="auto">
                  <a:xfrm flipH="1">
                    <a:off x="6884" y="0"/>
                    <a:ext cx="13119" cy="15069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3" name="Arc 236"/>
                  <p:cNvSpPr>
                    <a:spLocks noChangeAspect="1"/>
                  </p:cNvSpPr>
                  <p:nvPr/>
                </p:nvSpPr>
                <p:spPr bwMode="auto">
                  <a:xfrm flipH="1" flipV="1">
                    <a:off x="7561" y="15474"/>
                    <a:ext cx="1815" cy="384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54" name="Arc 237"/>
                  <p:cNvSpPr>
                    <a:spLocks noChangeAspect="1"/>
                  </p:cNvSpPr>
                  <p:nvPr/>
                </p:nvSpPr>
                <p:spPr bwMode="auto">
                  <a:xfrm flipV="1">
                    <a:off x="10622" y="15069"/>
                    <a:ext cx="2522" cy="493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429" name="Group 238"/>
              <p:cNvGrpSpPr>
                <a:grpSpLocks noChangeAspect="1"/>
              </p:cNvGrpSpPr>
              <p:nvPr/>
            </p:nvGrpSpPr>
            <p:grpSpPr bwMode="auto">
              <a:xfrm>
                <a:off x="2148" y="1770"/>
                <a:ext cx="286" cy="73"/>
                <a:chOff x="-6" y="0"/>
                <a:chExt cx="20004" cy="20000"/>
              </a:xfrm>
            </p:grpSpPr>
            <p:grpSp>
              <p:nvGrpSpPr>
                <p:cNvPr id="17433" name="Group 239"/>
                <p:cNvGrpSpPr>
                  <a:grpSpLocks noChangeAspect="1"/>
                </p:cNvGrpSpPr>
                <p:nvPr/>
              </p:nvGrpSpPr>
              <p:grpSpPr bwMode="auto">
                <a:xfrm>
                  <a:off x="-6" y="786"/>
                  <a:ext cx="7203" cy="19214"/>
                  <a:chOff x="-8" y="0"/>
                  <a:chExt cx="20008" cy="20001"/>
                </a:xfrm>
              </p:grpSpPr>
              <p:sp>
                <p:nvSpPr>
                  <p:cNvPr id="17444" name="Arc 240"/>
                  <p:cNvSpPr>
                    <a:spLocks noChangeAspect="1"/>
                  </p:cNvSpPr>
                  <p:nvPr/>
                </p:nvSpPr>
                <p:spPr bwMode="auto">
                  <a:xfrm>
                    <a:off x="-8" y="1110"/>
                    <a:ext cx="13869" cy="13644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5" name="Arc 241"/>
                  <p:cNvSpPr>
                    <a:spLocks noChangeAspect="1"/>
                  </p:cNvSpPr>
                  <p:nvPr/>
                </p:nvSpPr>
                <p:spPr bwMode="auto">
                  <a:xfrm flipH="1">
                    <a:off x="6864" y="0"/>
                    <a:ext cx="13136" cy="15163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6" name="Arc 242"/>
                  <p:cNvSpPr>
                    <a:spLocks noChangeAspect="1"/>
                  </p:cNvSpPr>
                  <p:nvPr/>
                </p:nvSpPr>
                <p:spPr bwMode="auto">
                  <a:xfrm flipH="1" flipV="1">
                    <a:off x="7597" y="15712"/>
                    <a:ext cx="1864" cy="386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7" name="Arc 243"/>
                  <p:cNvSpPr>
                    <a:spLocks noChangeAspect="1"/>
                  </p:cNvSpPr>
                  <p:nvPr/>
                </p:nvSpPr>
                <p:spPr bwMode="auto">
                  <a:xfrm flipV="1">
                    <a:off x="10664" y="15036"/>
                    <a:ext cx="2494" cy="496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434" name="Group 244"/>
                <p:cNvGrpSpPr>
                  <a:grpSpLocks noChangeAspect="1"/>
                </p:cNvGrpSpPr>
                <p:nvPr/>
              </p:nvGrpSpPr>
              <p:grpSpPr bwMode="auto">
                <a:xfrm>
                  <a:off x="6321" y="392"/>
                  <a:ext cx="7226" cy="19338"/>
                  <a:chOff x="0" y="0"/>
                  <a:chExt cx="20003" cy="20000"/>
                </a:xfrm>
              </p:grpSpPr>
              <p:sp>
                <p:nvSpPr>
                  <p:cNvPr id="17440" name="Arc 245"/>
                  <p:cNvSpPr>
                    <a:spLocks noChangeAspect="1"/>
                  </p:cNvSpPr>
                  <p:nvPr/>
                </p:nvSpPr>
                <p:spPr bwMode="auto">
                  <a:xfrm>
                    <a:off x="0" y="965"/>
                    <a:ext cx="13783" cy="13558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1" name="Arc 246"/>
                  <p:cNvSpPr>
                    <a:spLocks noChangeAspect="1"/>
                  </p:cNvSpPr>
                  <p:nvPr/>
                </p:nvSpPr>
                <p:spPr bwMode="auto">
                  <a:xfrm flipH="1">
                    <a:off x="6871" y="0"/>
                    <a:ext cx="13132" cy="1506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2" name="Arc 247"/>
                  <p:cNvSpPr>
                    <a:spLocks noChangeAspect="1"/>
                  </p:cNvSpPr>
                  <p:nvPr/>
                </p:nvSpPr>
                <p:spPr bwMode="auto">
                  <a:xfrm flipH="1" flipV="1">
                    <a:off x="7441" y="15347"/>
                    <a:ext cx="1904" cy="384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43" name="Arc 248"/>
                  <p:cNvSpPr>
                    <a:spLocks noChangeAspect="1"/>
                  </p:cNvSpPr>
                  <p:nvPr/>
                </p:nvSpPr>
                <p:spPr bwMode="auto">
                  <a:xfrm flipV="1">
                    <a:off x="10541" y="15067"/>
                    <a:ext cx="2489" cy="4933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435" name="Group 249"/>
                <p:cNvGrpSpPr>
                  <a:grpSpLocks noChangeAspect="1"/>
                </p:cNvGrpSpPr>
                <p:nvPr/>
              </p:nvGrpSpPr>
              <p:grpSpPr bwMode="auto">
                <a:xfrm>
                  <a:off x="12806" y="0"/>
                  <a:ext cx="7192" cy="19337"/>
                  <a:chOff x="0" y="0"/>
                  <a:chExt cx="20000" cy="20001"/>
                </a:xfrm>
              </p:grpSpPr>
              <p:sp>
                <p:nvSpPr>
                  <p:cNvPr id="17436" name="Arc 250"/>
                  <p:cNvSpPr>
                    <a:spLocks noChangeAspect="1"/>
                  </p:cNvSpPr>
                  <p:nvPr/>
                </p:nvSpPr>
                <p:spPr bwMode="auto">
                  <a:xfrm>
                    <a:off x="0" y="813"/>
                    <a:ext cx="13854" cy="1357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37" name="Arc 251"/>
                  <p:cNvSpPr>
                    <a:spLocks noChangeAspect="1"/>
                  </p:cNvSpPr>
                  <p:nvPr/>
                </p:nvSpPr>
                <p:spPr bwMode="auto">
                  <a:xfrm flipH="1">
                    <a:off x="6849" y="0"/>
                    <a:ext cx="13151" cy="15069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1 w 21600"/>
                      <a:gd name="T3" fmla="*/ 1 h 21600"/>
                      <a:gd name="T4" fmla="*/ 0 w 21600"/>
                      <a:gd name="T5" fmla="*/ 1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38" name="Arc 252"/>
                  <p:cNvSpPr>
                    <a:spLocks noChangeAspect="1"/>
                  </p:cNvSpPr>
                  <p:nvPr/>
                </p:nvSpPr>
                <p:spPr bwMode="auto">
                  <a:xfrm flipH="1" flipV="1">
                    <a:off x="7519" y="15473"/>
                    <a:ext cx="1822" cy="3843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39" name="Arc 253"/>
                  <p:cNvSpPr>
                    <a:spLocks noChangeAspect="1"/>
                  </p:cNvSpPr>
                  <p:nvPr/>
                </p:nvSpPr>
                <p:spPr bwMode="auto">
                  <a:xfrm flipV="1">
                    <a:off x="10551" y="15069"/>
                    <a:ext cx="2561" cy="493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rgbClr val="00FF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7430" name="Arc 254"/>
              <p:cNvSpPr>
                <a:spLocks noChangeAspect="1"/>
              </p:cNvSpPr>
              <p:nvPr/>
            </p:nvSpPr>
            <p:spPr bwMode="auto">
              <a:xfrm flipH="1">
                <a:off x="1857" y="1782"/>
                <a:ext cx="20" cy="3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31" name="Arc 255"/>
              <p:cNvSpPr>
                <a:spLocks noChangeAspect="1"/>
              </p:cNvSpPr>
              <p:nvPr/>
            </p:nvSpPr>
            <p:spPr bwMode="auto">
              <a:xfrm>
                <a:off x="2430" y="1770"/>
                <a:ext cx="75" cy="4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32" name="Line 256"/>
              <p:cNvSpPr>
                <a:spLocks noChangeAspect="1" noChangeShapeType="1"/>
              </p:cNvSpPr>
              <p:nvPr/>
            </p:nvSpPr>
            <p:spPr bwMode="auto">
              <a:xfrm>
                <a:off x="2496" y="1824"/>
                <a:ext cx="62" cy="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12225" name="Text Box 257"/>
          <p:cNvSpPr txBox="1">
            <a:spLocks noChangeArrowheads="1"/>
          </p:cNvSpPr>
          <p:nvPr/>
        </p:nvSpPr>
        <p:spPr bwMode="auto">
          <a:xfrm>
            <a:off x="571500" y="285750"/>
            <a:ext cx="3214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例：初相</a:t>
            </a:r>
            <a:r>
              <a:rPr lang="zh-CN" altLang="en-US" i="1">
                <a:solidFill>
                  <a:srgbClr val="FFFF00"/>
                </a:solidFill>
                <a:sym typeface="Symbol" panose="05050102010706020507" pitchFamily="18" charset="2"/>
              </a:rPr>
              <a:t>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的数值确定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7424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DC9DD24-D8E4-49CA-AC71-1EE0D8D4D4E7}" type="slidenum">
              <a:rPr lang="en-US" altLang="zh-CN" b="0">
                <a:solidFill>
                  <a:srgbClr val="FF00FF"/>
                </a:solidFill>
              </a:rPr>
              <a:t>13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aphicFrame>
        <p:nvGraphicFramePr>
          <p:cNvPr id="209930" name="Object 68"/>
          <p:cNvGraphicFramePr>
            <a:graphicFrameLocks noChangeAspect="1"/>
          </p:cNvGraphicFramePr>
          <p:nvPr/>
        </p:nvGraphicFramePr>
        <p:xfrm>
          <a:off x="3929063" y="142875"/>
          <a:ext cx="205422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公式" r:id="rId3" imgW="2498090" imgH="925830" progId="Equation.3">
                  <p:embed/>
                </p:oleObj>
              </mc:Choice>
              <mc:Fallback>
                <p:oleObj name="公式" r:id="rId3" imgW="2498090" imgH="925830" progId="Equation.3">
                  <p:embed/>
                  <p:pic>
                    <p:nvPicPr>
                      <p:cNvPr id="20993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63" y="142875"/>
                        <a:ext cx="205422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01" grpId="0"/>
      <p:bldP spid="17586" grpId="0"/>
      <p:bldP spid="17570" grpId="0"/>
      <p:bldP spid="17572" grpId="0"/>
      <p:bldP spid="17478" grpId="0"/>
      <p:bldP spid="21222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701" name="Line 5"/>
          <p:cNvSpPr>
            <a:spLocks noChangeShapeType="1"/>
          </p:cNvSpPr>
          <p:nvPr/>
        </p:nvSpPr>
        <p:spPr bwMode="auto">
          <a:xfrm flipH="1">
            <a:off x="5257800" y="701675"/>
            <a:ext cx="6350" cy="224155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 type="triangl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3702" name="Line 6"/>
          <p:cNvSpPr>
            <a:spLocks noChangeShapeType="1"/>
          </p:cNvSpPr>
          <p:nvPr/>
        </p:nvSpPr>
        <p:spPr bwMode="auto">
          <a:xfrm>
            <a:off x="5257800" y="1844675"/>
            <a:ext cx="3581400" cy="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3703" name="Rectangle 7"/>
          <p:cNvSpPr>
            <a:spLocks noChangeArrowheads="1"/>
          </p:cNvSpPr>
          <p:nvPr/>
        </p:nvSpPr>
        <p:spPr bwMode="auto">
          <a:xfrm>
            <a:off x="4962525" y="1709738"/>
            <a:ext cx="265113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chemeClr val="bg1"/>
                </a:solidFill>
              </a:rPr>
              <a:t>o</a:t>
            </a:r>
            <a:endParaRPr lang="en-US" altLang="zh-CN" sz="2200" i="1"/>
          </a:p>
        </p:txBody>
      </p:sp>
      <p:sp>
        <p:nvSpPr>
          <p:cNvPr id="413704" name="Rectangle 8"/>
          <p:cNvSpPr>
            <a:spLocks noChangeArrowheads="1"/>
          </p:cNvSpPr>
          <p:nvPr/>
        </p:nvSpPr>
        <p:spPr bwMode="auto">
          <a:xfrm>
            <a:off x="4702175" y="2454275"/>
            <a:ext cx="512763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FF66"/>
                </a:solidFill>
              </a:rPr>
              <a:t>-2.0</a:t>
            </a:r>
          </a:p>
        </p:txBody>
      </p:sp>
      <p:sp>
        <p:nvSpPr>
          <p:cNvPr id="413705" name="Rectangle 9"/>
          <p:cNvSpPr>
            <a:spLocks noChangeArrowheads="1"/>
          </p:cNvSpPr>
          <p:nvPr/>
        </p:nvSpPr>
        <p:spPr bwMode="auto">
          <a:xfrm>
            <a:off x="8429625" y="1462088"/>
            <a:ext cx="57150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FF00"/>
                </a:solidFill>
              </a:rPr>
              <a:t>t</a:t>
            </a:r>
            <a:r>
              <a:rPr lang="en-US" altLang="zh-CN" sz="2200" i="1">
                <a:solidFill>
                  <a:schemeClr val="bg1"/>
                </a:solidFill>
              </a:rPr>
              <a:t> </a:t>
            </a:r>
            <a:r>
              <a:rPr lang="en-US" altLang="zh-CN" sz="2200">
                <a:solidFill>
                  <a:schemeClr val="bg1"/>
                </a:solidFill>
              </a:rPr>
              <a:t>(</a:t>
            </a:r>
            <a:r>
              <a:rPr lang="en-US" altLang="zh-CN" sz="2200" i="1">
                <a:solidFill>
                  <a:schemeClr val="bg1"/>
                </a:solidFill>
              </a:rPr>
              <a:t>s</a:t>
            </a:r>
            <a:r>
              <a:rPr lang="en-US" altLang="zh-CN" sz="2200">
                <a:solidFill>
                  <a:schemeClr val="bg1"/>
                </a:solidFill>
              </a:rPr>
              <a:t>)</a:t>
            </a:r>
            <a:endParaRPr lang="en-US" altLang="zh-CN" sz="2200">
              <a:solidFill>
                <a:srgbClr val="FF9933"/>
              </a:solidFill>
            </a:endParaRPr>
          </a:p>
        </p:txBody>
      </p:sp>
      <p:sp>
        <p:nvSpPr>
          <p:cNvPr id="413706" name="Freeform 10"/>
          <p:cNvSpPr/>
          <p:nvPr/>
        </p:nvSpPr>
        <p:spPr bwMode="auto">
          <a:xfrm>
            <a:off x="5562600" y="1844675"/>
            <a:ext cx="1265238" cy="8382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2147483646 h 20000"/>
              <a:gd name="T48" fmla="*/ 2147483646 w 20000"/>
              <a:gd name="T49" fmla="*/ 2147483646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0"/>
                </a:moveTo>
                <a:lnTo>
                  <a:pt x="189" y="642"/>
                </a:lnTo>
                <a:lnTo>
                  <a:pt x="396" y="1248"/>
                </a:lnTo>
                <a:lnTo>
                  <a:pt x="584" y="1889"/>
                </a:lnTo>
                <a:lnTo>
                  <a:pt x="792" y="2496"/>
                </a:lnTo>
                <a:lnTo>
                  <a:pt x="980" y="3137"/>
                </a:lnTo>
                <a:lnTo>
                  <a:pt x="1188" y="3743"/>
                </a:lnTo>
                <a:lnTo>
                  <a:pt x="1395" y="4349"/>
                </a:lnTo>
                <a:lnTo>
                  <a:pt x="1565" y="4955"/>
                </a:lnTo>
                <a:lnTo>
                  <a:pt x="1772" y="5561"/>
                </a:lnTo>
                <a:lnTo>
                  <a:pt x="1979" y="6132"/>
                </a:lnTo>
                <a:lnTo>
                  <a:pt x="2168" y="6774"/>
                </a:lnTo>
                <a:lnTo>
                  <a:pt x="2375" y="7308"/>
                </a:lnTo>
                <a:lnTo>
                  <a:pt x="2564" y="7879"/>
                </a:lnTo>
                <a:lnTo>
                  <a:pt x="2790" y="8485"/>
                </a:lnTo>
                <a:lnTo>
                  <a:pt x="2959" y="9020"/>
                </a:lnTo>
                <a:lnTo>
                  <a:pt x="3167" y="9626"/>
                </a:lnTo>
                <a:lnTo>
                  <a:pt x="3374" y="10160"/>
                </a:lnTo>
                <a:lnTo>
                  <a:pt x="3582" y="10660"/>
                </a:lnTo>
                <a:lnTo>
                  <a:pt x="3770" y="11194"/>
                </a:lnTo>
                <a:lnTo>
                  <a:pt x="3959" y="11693"/>
                </a:lnTo>
                <a:lnTo>
                  <a:pt x="4166" y="12228"/>
                </a:lnTo>
                <a:lnTo>
                  <a:pt x="4373" y="12727"/>
                </a:lnTo>
                <a:lnTo>
                  <a:pt x="4562" y="13155"/>
                </a:lnTo>
                <a:lnTo>
                  <a:pt x="4788" y="13654"/>
                </a:lnTo>
                <a:lnTo>
                  <a:pt x="4976" y="14118"/>
                </a:lnTo>
                <a:lnTo>
                  <a:pt x="5165" y="14581"/>
                </a:lnTo>
                <a:lnTo>
                  <a:pt x="5353" y="15009"/>
                </a:lnTo>
                <a:lnTo>
                  <a:pt x="5542" y="15401"/>
                </a:lnTo>
                <a:lnTo>
                  <a:pt x="5768" y="15829"/>
                </a:lnTo>
                <a:lnTo>
                  <a:pt x="5975" y="16221"/>
                </a:lnTo>
                <a:lnTo>
                  <a:pt x="6183" y="16613"/>
                </a:lnTo>
                <a:lnTo>
                  <a:pt x="6390" y="16934"/>
                </a:lnTo>
                <a:lnTo>
                  <a:pt x="6598" y="17291"/>
                </a:lnTo>
                <a:lnTo>
                  <a:pt x="6786" y="17611"/>
                </a:lnTo>
                <a:lnTo>
                  <a:pt x="6993" y="17932"/>
                </a:lnTo>
                <a:lnTo>
                  <a:pt x="7182" y="18217"/>
                </a:lnTo>
                <a:lnTo>
                  <a:pt x="7408" y="18467"/>
                </a:lnTo>
                <a:lnTo>
                  <a:pt x="7615" y="18717"/>
                </a:lnTo>
                <a:lnTo>
                  <a:pt x="7842" y="18930"/>
                </a:lnTo>
                <a:lnTo>
                  <a:pt x="8030" y="19144"/>
                </a:lnTo>
                <a:lnTo>
                  <a:pt x="8238" y="19358"/>
                </a:lnTo>
                <a:lnTo>
                  <a:pt x="8464" y="19465"/>
                </a:lnTo>
                <a:lnTo>
                  <a:pt x="8633" y="19608"/>
                </a:lnTo>
                <a:lnTo>
                  <a:pt x="8841" y="19715"/>
                </a:lnTo>
                <a:lnTo>
                  <a:pt x="9048" y="19893"/>
                </a:lnTo>
                <a:lnTo>
                  <a:pt x="9274" y="19929"/>
                </a:lnTo>
                <a:lnTo>
                  <a:pt x="9482" y="19929"/>
                </a:lnTo>
                <a:lnTo>
                  <a:pt x="9670" y="19929"/>
                </a:lnTo>
                <a:lnTo>
                  <a:pt x="9877" y="19964"/>
                </a:lnTo>
                <a:lnTo>
                  <a:pt x="10123" y="19929"/>
                </a:lnTo>
                <a:lnTo>
                  <a:pt x="10330" y="19857"/>
                </a:lnTo>
                <a:lnTo>
                  <a:pt x="10556" y="19715"/>
                </a:lnTo>
                <a:lnTo>
                  <a:pt x="10782" y="19537"/>
                </a:lnTo>
                <a:lnTo>
                  <a:pt x="11008" y="19358"/>
                </a:lnTo>
                <a:lnTo>
                  <a:pt x="11235" y="19109"/>
                </a:lnTo>
                <a:lnTo>
                  <a:pt x="11499" y="18859"/>
                </a:lnTo>
                <a:lnTo>
                  <a:pt x="11725" y="18574"/>
                </a:lnTo>
                <a:lnTo>
                  <a:pt x="11951" y="18253"/>
                </a:lnTo>
                <a:lnTo>
                  <a:pt x="12196" y="17861"/>
                </a:lnTo>
                <a:lnTo>
                  <a:pt x="12460" y="17504"/>
                </a:lnTo>
                <a:lnTo>
                  <a:pt x="12724" y="17148"/>
                </a:lnTo>
                <a:lnTo>
                  <a:pt x="12950" y="16720"/>
                </a:lnTo>
                <a:lnTo>
                  <a:pt x="13195" y="16292"/>
                </a:lnTo>
                <a:lnTo>
                  <a:pt x="13459" y="15829"/>
                </a:lnTo>
                <a:lnTo>
                  <a:pt x="13704" y="15330"/>
                </a:lnTo>
                <a:lnTo>
                  <a:pt x="13949" y="14866"/>
                </a:lnTo>
                <a:lnTo>
                  <a:pt x="14194" y="14332"/>
                </a:lnTo>
                <a:lnTo>
                  <a:pt x="14458" y="13832"/>
                </a:lnTo>
                <a:lnTo>
                  <a:pt x="14703" y="13298"/>
                </a:lnTo>
                <a:lnTo>
                  <a:pt x="14948" y="12763"/>
                </a:lnTo>
                <a:lnTo>
                  <a:pt x="15193" y="12228"/>
                </a:lnTo>
                <a:lnTo>
                  <a:pt x="15476" y="11693"/>
                </a:lnTo>
                <a:lnTo>
                  <a:pt x="15683" y="11123"/>
                </a:lnTo>
                <a:lnTo>
                  <a:pt x="15910" y="10588"/>
                </a:lnTo>
                <a:lnTo>
                  <a:pt x="16155" y="10018"/>
                </a:lnTo>
                <a:lnTo>
                  <a:pt x="16381" y="9447"/>
                </a:lnTo>
                <a:lnTo>
                  <a:pt x="16626" y="8913"/>
                </a:lnTo>
                <a:lnTo>
                  <a:pt x="16833" y="8342"/>
                </a:lnTo>
                <a:lnTo>
                  <a:pt x="17059" y="7807"/>
                </a:lnTo>
                <a:lnTo>
                  <a:pt x="17267" y="7273"/>
                </a:lnTo>
                <a:lnTo>
                  <a:pt x="17493" y="6774"/>
                </a:lnTo>
                <a:lnTo>
                  <a:pt x="17719" y="6239"/>
                </a:lnTo>
                <a:lnTo>
                  <a:pt x="17926" y="5704"/>
                </a:lnTo>
                <a:lnTo>
                  <a:pt x="18153" y="5205"/>
                </a:lnTo>
                <a:lnTo>
                  <a:pt x="18322" y="4742"/>
                </a:lnTo>
                <a:lnTo>
                  <a:pt x="18492" y="4278"/>
                </a:lnTo>
                <a:lnTo>
                  <a:pt x="18680" y="3815"/>
                </a:lnTo>
                <a:lnTo>
                  <a:pt x="18850" y="3387"/>
                </a:lnTo>
                <a:lnTo>
                  <a:pt x="19020" y="2995"/>
                </a:lnTo>
                <a:lnTo>
                  <a:pt x="19171" y="2638"/>
                </a:lnTo>
                <a:lnTo>
                  <a:pt x="19340" y="2246"/>
                </a:lnTo>
                <a:lnTo>
                  <a:pt x="19491" y="1925"/>
                </a:lnTo>
                <a:lnTo>
                  <a:pt x="19604" y="1569"/>
                </a:lnTo>
                <a:lnTo>
                  <a:pt x="19755" y="1319"/>
                </a:lnTo>
                <a:lnTo>
                  <a:pt x="19887" y="1070"/>
                </a:lnTo>
                <a:lnTo>
                  <a:pt x="19981" y="856"/>
                </a:lnTo>
              </a:path>
            </a:pathLst>
          </a:custGeom>
          <a:noFill/>
          <a:ln w="41275">
            <a:solidFill>
              <a:srgbClr val="FFFF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3707" name="Freeform 11"/>
          <p:cNvSpPr/>
          <p:nvPr/>
        </p:nvSpPr>
        <p:spPr bwMode="auto">
          <a:xfrm>
            <a:off x="6827838" y="930275"/>
            <a:ext cx="1295400" cy="9144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2147483646 h 20000"/>
              <a:gd name="T48" fmla="*/ 2147483646 w 20000"/>
              <a:gd name="T49" fmla="*/ 0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19967"/>
                </a:moveTo>
                <a:lnTo>
                  <a:pt x="189" y="19301"/>
                </a:lnTo>
                <a:lnTo>
                  <a:pt x="396" y="18735"/>
                </a:lnTo>
                <a:lnTo>
                  <a:pt x="584" y="18070"/>
                </a:lnTo>
                <a:lnTo>
                  <a:pt x="792" y="17438"/>
                </a:lnTo>
                <a:lnTo>
                  <a:pt x="980" y="16805"/>
                </a:lnTo>
                <a:lnTo>
                  <a:pt x="1206" y="16240"/>
                </a:lnTo>
                <a:lnTo>
                  <a:pt x="1395" y="15607"/>
                </a:lnTo>
                <a:lnTo>
                  <a:pt x="1583" y="15008"/>
                </a:lnTo>
                <a:lnTo>
                  <a:pt x="1772" y="14409"/>
                </a:lnTo>
                <a:lnTo>
                  <a:pt x="1979" y="13810"/>
                </a:lnTo>
                <a:lnTo>
                  <a:pt x="2187" y="13211"/>
                </a:lnTo>
                <a:lnTo>
                  <a:pt x="2375" y="12679"/>
                </a:lnTo>
                <a:lnTo>
                  <a:pt x="2564" y="12080"/>
                </a:lnTo>
                <a:lnTo>
                  <a:pt x="2771" y="11448"/>
                </a:lnTo>
                <a:lnTo>
                  <a:pt x="2959" y="10948"/>
                </a:lnTo>
                <a:lnTo>
                  <a:pt x="3148" y="10349"/>
                </a:lnTo>
                <a:lnTo>
                  <a:pt x="3374" y="9784"/>
                </a:lnTo>
                <a:lnTo>
                  <a:pt x="3582" y="9318"/>
                </a:lnTo>
                <a:lnTo>
                  <a:pt x="3751" y="8752"/>
                </a:lnTo>
                <a:lnTo>
                  <a:pt x="3959" y="8286"/>
                </a:lnTo>
                <a:lnTo>
                  <a:pt x="4147" y="7720"/>
                </a:lnTo>
                <a:lnTo>
                  <a:pt x="4373" y="7221"/>
                </a:lnTo>
                <a:lnTo>
                  <a:pt x="4562" y="6789"/>
                </a:lnTo>
                <a:lnTo>
                  <a:pt x="4788" y="6290"/>
                </a:lnTo>
                <a:lnTo>
                  <a:pt x="4976" y="5857"/>
                </a:lnTo>
                <a:lnTo>
                  <a:pt x="5184" y="5358"/>
                </a:lnTo>
                <a:lnTo>
                  <a:pt x="5353" y="4958"/>
                </a:lnTo>
                <a:lnTo>
                  <a:pt x="5542" y="4559"/>
                </a:lnTo>
                <a:lnTo>
                  <a:pt x="5768" y="4126"/>
                </a:lnTo>
                <a:lnTo>
                  <a:pt x="5975" y="3727"/>
                </a:lnTo>
                <a:lnTo>
                  <a:pt x="6202" y="3361"/>
                </a:lnTo>
                <a:lnTo>
                  <a:pt x="6390" y="2995"/>
                </a:lnTo>
                <a:lnTo>
                  <a:pt x="6616" y="2662"/>
                </a:lnTo>
                <a:lnTo>
                  <a:pt x="6786" y="2363"/>
                </a:lnTo>
                <a:lnTo>
                  <a:pt x="6993" y="2030"/>
                </a:lnTo>
                <a:lnTo>
                  <a:pt x="7201" y="1730"/>
                </a:lnTo>
                <a:lnTo>
                  <a:pt x="7408" y="1531"/>
                </a:lnTo>
                <a:lnTo>
                  <a:pt x="7615" y="1231"/>
                </a:lnTo>
                <a:lnTo>
                  <a:pt x="7823" y="1032"/>
                </a:lnTo>
                <a:lnTo>
                  <a:pt x="8030" y="799"/>
                </a:lnTo>
                <a:lnTo>
                  <a:pt x="8238" y="632"/>
                </a:lnTo>
                <a:lnTo>
                  <a:pt x="8445" y="532"/>
                </a:lnTo>
                <a:lnTo>
                  <a:pt x="8633" y="333"/>
                </a:lnTo>
                <a:lnTo>
                  <a:pt x="8841" y="233"/>
                </a:lnTo>
                <a:lnTo>
                  <a:pt x="9048" y="67"/>
                </a:lnTo>
                <a:lnTo>
                  <a:pt x="9274" y="33"/>
                </a:lnTo>
                <a:lnTo>
                  <a:pt x="9463" y="33"/>
                </a:lnTo>
                <a:lnTo>
                  <a:pt x="9670" y="33"/>
                </a:lnTo>
                <a:lnTo>
                  <a:pt x="9877" y="0"/>
                </a:lnTo>
                <a:lnTo>
                  <a:pt x="10123" y="33"/>
                </a:lnTo>
                <a:lnTo>
                  <a:pt x="10330" y="100"/>
                </a:lnTo>
                <a:lnTo>
                  <a:pt x="10556" y="233"/>
                </a:lnTo>
                <a:lnTo>
                  <a:pt x="10782" y="399"/>
                </a:lnTo>
                <a:lnTo>
                  <a:pt x="11008" y="632"/>
                </a:lnTo>
                <a:lnTo>
                  <a:pt x="11254" y="865"/>
                </a:lnTo>
                <a:lnTo>
                  <a:pt x="11499" y="1098"/>
                </a:lnTo>
                <a:lnTo>
                  <a:pt x="11725" y="1398"/>
                </a:lnTo>
                <a:lnTo>
                  <a:pt x="11970" y="1697"/>
                </a:lnTo>
                <a:lnTo>
                  <a:pt x="12215" y="2063"/>
                </a:lnTo>
                <a:lnTo>
                  <a:pt x="12460" y="2463"/>
                </a:lnTo>
                <a:lnTo>
                  <a:pt x="12705" y="2795"/>
                </a:lnTo>
                <a:lnTo>
                  <a:pt x="12950" y="3261"/>
                </a:lnTo>
                <a:lnTo>
                  <a:pt x="13195" y="3661"/>
                </a:lnTo>
                <a:lnTo>
                  <a:pt x="13440" y="4126"/>
                </a:lnTo>
                <a:lnTo>
                  <a:pt x="13704" y="4626"/>
                </a:lnTo>
                <a:lnTo>
                  <a:pt x="13949" y="5092"/>
                </a:lnTo>
                <a:lnTo>
                  <a:pt x="14194" y="5624"/>
                </a:lnTo>
                <a:lnTo>
                  <a:pt x="14458" y="6123"/>
                </a:lnTo>
                <a:lnTo>
                  <a:pt x="14703" y="6689"/>
                </a:lnTo>
                <a:lnTo>
                  <a:pt x="14948" y="7188"/>
                </a:lnTo>
                <a:lnTo>
                  <a:pt x="15193" y="7720"/>
                </a:lnTo>
                <a:lnTo>
                  <a:pt x="15476" y="8286"/>
                </a:lnTo>
                <a:lnTo>
                  <a:pt x="15683" y="8852"/>
                </a:lnTo>
                <a:lnTo>
                  <a:pt x="15910" y="9384"/>
                </a:lnTo>
                <a:lnTo>
                  <a:pt x="16155" y="9950"/>
                </a:lnTo>
                <a:lnTo>
                  <a:pt x="16381" y="10483"/>
                </a:lnTo>
                <a:lnTo>
                  <a:pt x="16626" y="11048"/>
                </a:lnTo>
                <a:lnTo>
                  <a:pt x="16852" y="11614"/>
                </a:lnTo>
                <a:lnTo>
                  <a:pt x="17059" y="12146"/>
                </a:lnTo>
                <a:lnTo>
                  <a:pt x="17286" y="12712"/>
                </a:lnTo>
                <a:lnTo>
                  <a:pt x="17493" y="13211"/>
                </a:lnTo>
                <a:lnTo>
                  <a:pt x="17700" y="13710"/>
                </a:lnTo>
                <a:lnTo>
                  <a:pt x="17926" y="14243"/>
                </a:lnTo>
                <a:lnTo>
                  <a:pt x="18134" y="14742"/>
                </a:lnTo>
                <a:lnTo>
                  <a:pt x="18322" y="15208"/>
                </a:lnTo>
                <a:lnTo>
                  <a:pt x="18492" y="15674"/>
                </a:lnTo>
                <a:lnTo>
                  <a:pt x="18680" y="16140"/>
                </a:lnTo>
                <a:lnTo>
                  <a:pt x="18850" y="16572"/>
                </a:lnTo>
                <a:lnTo>
                  <a:pt x="19020" y="16938"/>
                </a:lnTo>
                <a:lnTo>
                  <a:pt x="19171" y="17338"/>
                </a:lnTo>
                <a:lnTo>
                  <a:pt x="19340" y="17704"/>
                </a:lnTo>
                <a:lnTo>
                  <a:pt x="19472" y="18037"/>
                </a:lnTo>
                <a:lnTo>
                  <a:pt x="19604" y="18369"/>
                </a:lnTo>
                <a:lnTo>
                  <a:pt x="19755" y="18636"/>
                </a:lnTo>
                <a:lnTo>
                  <a:pt x="19887" y="18902"/>
                </a:lnTo>
                <a:lnTo>
                  <a:pt x="19981" y="19101"/>
                </a:lnTo>
              </a:path>
            </a:pathLst>
          </a:custGeom>
          <a:noFill/>
          <a:ln w="41275">
            <a:solidFill>
              <a:srgbClr val="FFFF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3708" name="Line 12"/>
          <p:cNvSpPr>
            <a:spLocks noChangeShapeType="1"/>
          </p:cNvSpPr>
          <p:nvPr/>
        </p:nvSpPr>
        <p:spPr bwMode="auto">
          <a:xfrm>
            <a:off x="5257800" y="930275"/>
            <a:ext cx="2895600" cy="0"/>
          </a:xfrm>
          <a:prstGeom prst="line">
            <a:avLst/>
          </a:prstGeom>
          <a:noFill/>
          <a:ln w="6350">
            <a:solidFill>
              <a:schemeClr val="bg1"/>
            </a:solidFill>
            <a:prstDash val="sys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3709" name="Freeform 13"/>
          <p:cNvSpPr/>
          <p:nvPr/>
        </p:nvSpPr>
        <p:spPr bwMode="auto">
          <a:xfrm>
            <a:off x="4313238" y="1082675"/>
            <a:ext cx="1295400" cy="9144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2147483646 h 20000"/>
              <a:gd name="T48" fmla="*/ 2147483646 w 20000"/>
              <a:gd name="T49" fmla="*/ 0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19967"/>
                </a:moveTo>
                <a:lnTo>
                  <a:pt x="189" y="19301"/>
                </a:lnTo>
                <a:lnTo>
                  <a:pt x="396" y="18735"/>
                </a:lnTo>
                <a:lnTo>
                  <a:pt x="584" y="18070"/>
                </a:lnTo>
                <a:lnTo>
                  <a:pt x="792" y="17438"/>
                </a:lnTo>
                <a:lnTo>
                  <a:pt x="980" y="16805"/>
                </a:lnTo>
                <a:lnTo>
                  <a:pt x="1206" y="16240"/>
                </a:lnTo>
                <a:lnTo>
                  <a:pt x="1395" y="15607"/>
                </a:lnTo>
                <a:lnTo>
                  <a:pt x="1583" y="15008"/>
                </a:lnTo>
                <a:lnTo>
                  <a:pt x="1772" y="14409"/>
                </a:lnTo>
                <a:lnTo>
                  <a:pt x="1979" y="13810"/>
                </a:lnTo>
                <a:lnTo>
                  <a:pt x="2187" y="13211"/>
                </a:lnTo>
                <a:lnTo>
                  <a:pt x="2375" y="12679"/>
                </a:lnTo>
                <a:lnTo>
                  <a:pt x="2564" y="12080"/>
                </a:lnTo>
                <a:lnTo>
                  <a:pt x="2771" y="11448"/>
                </a:lnTo>
                <a:lnTo>
                  <a:pt x="2959" y="10948"/>
                </a:lnTo>
                <a:lnTo>
                  <a:pt x="3148" y="10349"/>
                </a:lnTo>
                <a:lnTo>
                  <a:pt x="3374" y="9784"/>
                </a:lnTo>
                <a:lnTo>
                  <a:pt x="3582" y="9318"/>
                </a:lnTo>
                <a:lnTo>
                  <a:pt x="3751" y="8752"/>
                </a:lnTo>
                <a:lnTo>
                  <a:pt x="3959" y="8286"/>
                </a:lnTo>
                <a:lnTo>
                  <a:pt x="4147" y="7720"/>
                </a:lnTo>
                <a:lnTo>
                  <a:pt x="4373" y="7221"/>
                </a:lnTo>
                <a:lnTo>
                  <a:pt x="4562" y="6789"/>
                </a:lnTo>
                <a:lnTo>
                  <a:pt x="4788" y="6290"/>
                </a:lnTo>
                <a:lnTo>
                  <a:pt x="4976" y="5857"/>
                </a:lnTo>
                <a:lnTo>
                  <a:pt x="5184" y="5358"/>
                </a:lnTo>
                <a:lnTo>
                  <a:pt x="5353" y="4958"/>
                </a:lnTo>
                <a:lnTo>
                  <a:pt x="5542" y="4559"/>
                </a:lnTo>
                <a:lnTo>
                  <a:pt x="5768" y="4126"/>
                </a:lnTo>
                <a:lnTo>
                  <a:pt x="5975" y="3727"/>
                </a:lnTo>
                <a:lnTo>
                  <a:pt x="6202" y="3361"/>
                </a:lnTo>
                <a:lnTo>
                  <a:pt x="6390" y="2995"/>
                </a:lnTo>
                <a:lnTo>
                  <a:pt x="6616" y="2662"/>
                </a:lnTo>
                <a:lnTo>
                  <a:pt x="6786" y="2363"/>
                </a:lnTo>
                <a:lnTo>
                  <a:pt x="6993" y="2030"/>
                </a:lnTo>
                <a:lnTo>
                  <a:pt x="7201" y="1730"/>
                </a:lnTo>
                <a:lnTo>
                  <a:pt x="7408" y="1531"/>
                </a:lnTo>
                <a:lnTo>
                  <a:pt x="7615" y="1231"/>
                </a:lnTo>
                <a:lnTo>
                  <a:pt x="7823" y="1032"/>
                </a:lnTo>
                <a:lnTo>
                  <a:pt x="8030" y="799"/>
                </a:lnTo>
                <a:lnTo>
                  <a:pt x="8238" y="632"/>
                </a:lnTo>
                <a:lnTo>
                  <a:pt x="8445" y="532"/>
                </a:lnTo>
                <a:lnTo>
                  <a:pt x="8633" y="333"/>
                </a:lnTo>
                <a:lnTo>
                  <a:pt x="8841" y="233"/>
                </a:lnTo>
                <a:lnTo>
                  <a:pt x="9048" y="67"/>
                </a:lnTo>
                <a:lnTo>
                  <a:pt x="9274" y="33"/>
                </a:lnTo>
                <a:lnTo>
                  <a:pt x="9463" y="33"/>
                </a:lnTo>
                <a:lnTo>
                  <a:pt x="9670" y="33"/>
                </a:lnTo>
                <a:lnTo>
                  <a:pt x="9877" y="0"/>
                </a:lnTo>
                <a:lnTo>
                  <a:pt x="10123" y="33"/>
                </a:lnTo>
                <a:lnTo>
                  <a:pt x="10330" y="100"/>
                </a:lnTo>
                <a:lnTo>
                  <a:pt x="10556" y="233"/>
                </a:lnTo>
                <a:lnTo>
                  <a:pt x="10782" y="399"/>
                </a:lnTo>
                <a:lnTo>
                  <a:pt x="11008" y="632"/>
                </a:lnTo>
                <a:lnTo>
                  <a:pt x="11254" y="865"/>
                </a:lnTo>
                <a:lnTo>
                  <a:pt x="11499" y="1098"/>
                </a:lnTo>
                <a:lnTo>
                  <a:pt x="11725" y="1398"/>
                </a:lnTo>
                <a:lnTo>
                  <a:pt x="11970" y="1697"/>
                </a:lnTo>
                <a:lnTo>
                  <a:pt x="12215" y="2063"/>
                </a:lnTo>
                <a:lnTo>
                  <a:pt x="12460" y="2463"/>
                </a:lnTo>
                <a:lnTo>
                  <a:pt x="12705" y="2795"/>
                </a:lnTo>
                <a:lnTo>
                  <a:pt x="12950" y="3261"/>
                </a:lnTo>
                <a:lnTo>
                  <a:pt x="13195" y="3661"/>
                </a:lnTo>
                <a:lnTo>
                  <a:pt x="13440" y="4126"/>
                </a:lnTo>
                <a:lnTo>
                  <a:pt x="13704" y="4626"/>
                </a:lnTo>
                <a:lnTo>
                  <a:pt x="13949" y="5092"/>
                </a:lnTo>
                <a:lnTo>
                  <a:pt x="14194" y="5624"/>
                </a:lnTo>
                <a:lnTo>
                  <a:pt x="14458" y="6123"/>
                </a:lnTo>
                <a:lnTo>
                  <a:pt x="14703" y="6689"/>
                </a:lnTo>
                <a:lnTo>
                  <a:pt x="14948" y="7188"/>
                </a:lnTo>
                <a:lnTo>
                  <a:pt x="15193" y="7720"/>
                </a:lnTo>
                <a:lnTo>
                  <a:pt x="15476" y="8286"/>
                </a:lnTo>
                <a:lnTo>
                  <a:pt x="15683" y="8852"/>
                </a:lnTo>
                <a:lnTo>
                  <a:pt x="15910" y="9384"/>
                </a:lnTo>
                <a:lnTo>
                  <a:pt x="16155" y="9950"/>
                </a:lnTo>
                <a:lnTo>
                  <a:pt x="16381" y="10483"/>
                </a:lnTo>
                <a:lnTo>
                  <a:pt x="16626" y="11048"/>
                </a:lnTo>
                <a:lnTo>
                  <a:pt x="16852" y="11614"/>
                </a:lnTo>
                <a:lnTo>
                  <a:pt x="17059" y="12146"/>
                </a:lnTo>
                <a:lnTo>
                  <a:pt x="17286" y="12712"/>
                </a:lnTo>
                <a:lnTo>
                  <a:pt x="17493" y="13211"/>
                </a:lnTo>
                <a:lnTo>
                  <a:pt x="17700" y="13710"/>
                </a:lnTo>
                <a:lnTo>
                  <a:pt x="17926" y="14243"/>
                </a:lnTo>
                <a:lnTo>
                  <a:pt x="18134" y="14742"/>
                </a:lnTo>
                <a:lnTo>
                  <a:pt x="18322" y="15208"/>
                </a:lnTo>
                <a:lnTo>
                  <a:pt x="18492" y="15674"/>
                </a:lnTo>
                <a:lnTo>
                  <a:pt x="18680" y="16140"/>
                </a:lnTo>
                <a:lnTo>
                  <a:pt x="18850" y="16572"/>
                </a:lnTo>
                <a:lnTo>
                  <a:pt x="19020" y="16938"/>
                </a:lnTo>
                <a:lnTo>
                  <a:pt x="19171" y="17338"/>
                </a:lnTo>
                <a:lnTo>
                  <a:pt x="19340" y="17704"/>
                </a:lnTo>
                <a:lnTo>
                  <a:pt x="19472" y="18037"/>
                </a:lnTo>
                <a:lnTo>
                  <a:pt x="19604" y="18369"/>
                </a:lnTo>
                <a:lnTo>
                  <a:pt x="19755" y="18636"/>
                </a:lnTo>
                <a:lnTo>
                  <a:pt x="19887" y="18902"/>
                </a:lnTo>
                <a:lnTo>
                  <a:pt x="19981" y="19101"/>
                </a:lnTo>
              </a:path>
            </a:pathLst>
          </a:custGeom>
          <a:noFill/>
          <a:ln w="41275">
            <a:solidFill>
              <a:srgbClr val="FFFF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9" name="AutoShape 14"/>
          <p:cNvSpPr>
            <a:spLocks noChangeArrowheads="1"/>
          </p:cNvSpPr>
          <p:nvPr/>
        </p:nvSpPr>
        <p:spPr bwMode="auto">
          <a:xfrm>
            <a:off x="4297363" y="922338"/>
            <a:ext cx="946150" cy="1227137"/>
          </a:xfrm>
          <a:prstGeom prst="parallelogram">
            <a:avLst>
              <a:gd name="adj" fmla="val 0"/>
            </a:avLst>
          </a:prstGeom>
          <a:solidFill>
            <a:srgbClr val="001E3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3711" name="Rectangle 15"/>
          <p:cNvSpPr>
            <a:spLocks noChangeArrowheads="1"/>
          </p:cNvSpPr>
          <p:nvPr/>
        </p:nvSpPr>
        <p:spPr bwMode="auto">
          <a:xfrm>
            <a:off x="4756150" y="757238"/>
            <a:ext cx="53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FF66"/>
                </a:solidFill>
              </a:rPr>
              <a:t>2.0</a:t>
            </a:r>
          </a:p>
        </p:txBody>
      </p:sp>
      <p:sp>
        <p:nvSpPr>
          <p:cNvPr id="413712" name="Rectangle 16"/>
          <p:cNvSpPr>
            <a:spLocks noChangeArrowheads="1"/>
          </p:cNvSpPr>
          <p:nvPr/>
        </p:nvSpPr>
        <p:spPr bwMode="auto">
          <a:xfrm>
            <a:off x="4756150" y="1185863"/>
            <a:ext cx="53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FF66"/>
                </a:solidFill>
              </a:rPr>
              <a:t>1.0</a:t>
            </a:r>
          </a:p>
        </p:txBody>
      </p:sp>
      <p:sp>
        <p:nvSpPr>
          <p:cNvPr id="413713" name="Line 17"/>
          <p:cNvSpPr>
            <a:spLocks noChangeShapeType="1"/>
          </p:cNvSpPr>
          <p:nvPr/>
        </p:nvSpPr>
        <p:spPr bwMode="auto">
          <a:xfrm>
            <a:off x="5562600" y="1844675"/>
            <a:ext cx="0" cy="12192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3714" name="Line 18"/>
          <p:cNvSpPr>
            <a:spLocks noChangeShapeType="1"/>
          </p:cNvSpPr>
          <p:nvPr/>
        </p:nvSpPr>
        <p:spPr bwMode="auto">
          <a:xfrm>
            <a:off x="8153400" y="1844675"/>
            <a:ext cx="0" cy="12192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3715" name="Line 19"/>
          <p:cNvSpPr>
            <a:spLocks noChangeShapeType="1"/>
          </p:cNvSpPr>
          <p:nvPr/>
        </p:nvSpPr>
        <p:spPr bwMode="auto">
          <a:xfrm>
            <a:off x="5562600" y="2786063"/>
            <a:ext cx="2590800" cy="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3716" name="Rectangle 20"/>
          <p:cNvSpPr>
            <a:spLocks noChangeArrowheads="1"/>
          </p:cNvSpPr>
          <p:nvPr/>
        </p:nvSpPr>
        <p:spPr bwMode="auto">
          <a:xfrm>
            <a:off x="6643688" y="2454275"/>
            <a:ext cx="53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FF66"/>
                </a:solidFill>
              </a:rPr>
              <a:t>4.0</a:t>
            </a:r>
          </a:p>
        </p:txBody>
      </p:sp>
      <p:sp>
        <p:nvSpPr>
          <p:cNvPr id="413717" name="Rectangle 21"/>
          <p:cNvSpPr>
            <a:spLocks noChangeArrowheads="1"/>
          </p:cNvSpPr>
          <p:nvPr/>
        </p:nvSpPr>
        <p:spPr bwMode="auto">
          <a:xfrm>
            <a:off x="5410200" y="549275"/>
            <a:ext cx="947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FF66"/>
                </a:solidFill>
              </a:rPr>
              <a:t>x </a:t>
            </a:r>
            <a:r>
              <a:rPr lang="en-US" altLang="zh-CN" sz="2200">
                <a:solidFill>
                  <a:schemeClr val="bg1"/>
                </a:solidFill>
              </a:rPr>
              <a:t>(</a:t>
            </a:r>
            <a:r>
              <a:rPr lang="en-US" altLang="zh-CN" sz="2200" i="1">
                <a:solidFill>
                  <a:schemeClr val="bg1"/>
                </a:solidFill>
              </a:rPr>
              <a:t>m</a:t>
            </a:r>
            <a:r>
              <a:rPr lang="en-US" altLang="zh-CN" sz="220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413718" name="Text Box 22"/>
          <p:cNvSpPr txBox="1">
            <a:spLocks noChangeArrowheads="1"/>
          </p:cNvSpPr>
          <p:nvPr/>
        </p:nvSpPr>
        <p:spPr bwMode="auto">
          <a:xfrm>
            <a:off x="304800" y="1341438"/>
            <a:ext cx="13382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CCECFF"/>
                </a:solidFill>
              </a:rPr>
              <a:t>解（</a:t>
            </a:r>
            <a:r>
              <a:rPr lang="en-US" altLang="zh-CN" sz="2200">
                <a:solidFill>
                  <a:srgbClr val="CCECFF"/>
                </a:solidFill>
              </a:rPr>
              <a:t>1</a:t>
            </a:r>
            <a:r>
              <a:rPr lang="zh-CN" altLang="en-US" sz="2200">
                <a:solidFill>
                  <a:srgbClr val="CCECFF"/>
                </a:solidFill>
              </a:rPr>
              <a:t>）</a:t>
            </a:r>
          </a:p>
        </p:txBody>
      </p:sp>
      <p:graphicFrame>
        <p:nvGraphicFramePr>
          <p:cNvPr id="413719" name="Object 2"/>
          <p:cNvGraphicFramePr>
            <a:graphicFrameLocks noChangeAspect="1"/>
          </p:cNvGraphicFramePr>
          <p:nvPr/>
        </p:nvGraphicFramePr>
        <p:xfrm>
          <a:off x="1557338" y="1125538"/>
          <a:ext cx="16192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8" name="公式" r:id="rId3" imgW="814070" imgH="334645" progId="Equation.3">
                  <p:embed/>
                </p:oleObj>
              </mc:Choice>
              <mc:Fallback>
                <p:oleObj name="公式" r:id="rId3" imgW="814070" imgH="334645" progId="Equation.3">
                  <p:embed/>
                  <p:pic>
                    <p:nvPicPr>
                      <p:cNvPr id="41371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338" y="1125538"/>
                        <a:ext cx="16192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20" name="Object 3"/>
          <p:cNvGraphicFramePr>
            <a:graphicFrameLocks noChangeAspect="1"/>
          </p:cNvGraphicFramePr>
          <p:nvPr/>
        </p:nvGraphicFramePr>
        <p:xfrm>
          <a:off x="1016000" y="1927225"/>
          <a:ext cx="2913063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9" name="公式" r:id="rId5" imgW="1349375" imgH="379095" progId="Equation.3">
                  <p:embed/>
                </p:oleObj>
              </mc:Choice>
              <mc:Fallback>
                <p:oleObj name="公式" r:id="rId5" imgW="1349375" imgH="379095" progId="Equation.3">
                  <p:embed/>
                  <p:pic>
                    <p:nvPicPr>
                      <p:cNvPr id="41372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0" y="1927225"/>
                        <a:ext cx="2913063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21" name="Object 4"/>
          <p:cNvGraphicFramePr>
            <a:graphicFrameLocks noChangeAspect="1"/>
          </p:cNvGraphicFramePr>
          <p:nvPr/>
        </p:nvGraphicFramePr>
        <p:xfrm>
          <a:off x="995363" y="2960688"/>
          <a:ext cx="28622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0" name="公式" r:id="rId7" imgW="1259840" imgH="88900" progId="Equation.3">
                  <p:embed/>
                </p:oleObj>
              </mc:Choice>
              <mc:Fallback>
                <p:oleObj name="公式" r:id="rId7" imgW="1259840" imgH="88900" progId="Equation.3">
                  <p:embed/>
                  <p:pic>
                    <p:nvPicPr>
                      <p:cNvPr id="41372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2960688"/>
                        <a:ext cx="286226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22" name="Object 5"/>
          <p:cNvGraphicFramePr>
            <a:graphicFrameLocks noChangeAspect="1"/>
          </p:cNvGraphicFramePr>
          <p:nvPr/>
        </p:nvGraphicFramePr>
        <p:xfrm>
          <a:off x="1285875" y="3552825"/>
          <a:ext cx="17494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1" name="公式" r:id="rId9" imgW="724535" imgH="111760" progId="Equation.3">
                  <p:embed/>
                </p:oleObj>
              </mc:Choice>
              <mc:Fallback>
                <p:oleObj name="公式" r:id="rId9" imgW="724535" imgH="111760" progId="Equation.3">
                  <p:embed/>
                  <p:pic>
                    <p:nvPicPr>
                      <p:cNvPr id="4137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3552825"/>
                        <a:ext cx="17494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24" name="AutoShape 28"/>
          <p:cNvSpPr>
            <a:spLocks noChangeArrowheads="1"/>
          </p:cNvSpPr>
          <p:nvPr/>
        </p:nvSpPr>
        <p:spPr bwMode="auto">
          <a:xfrm>
            <a:off x="3286125" y="3656013"/>
            <a:ext cx="1214438" cy="285750"/>
          </a:xfrm>
          <a:prstGeom prst="rightArrow">
            <a:avLst>
              <a:gd name="adj1" fmla="val 50000"/>
              <a:gd name="adj2" fmla="val 70558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13725" name="Object 6"/>
          <p:cNvGraphicFramePr>
            <a:graphicFrameLocks noChangeAspect="1"/>
          </p:cNvGraphicFramePr>
          <p:nvPr/>
        </p:nvGraphicFramePr>
        <p:xfrm>
          <a:off x="4691063" y="3370263"/>
          <a:ext cx="18351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2" name="公式" r:id="rId11" imgW="769620" imgH="334645" progId="Equation.3">
                  <p:embed/>
                </p:oleObj>
              </mc:Choice>
              <mc:Fallback>
                <p:oleObj name="公式" r:id="rId11" imgW="769620" imgH="334645" progId="Equation.3">
                  <p:embed/>
                  <p:pic>
                    <p:nvPicPr>
                      <p:cNvPr id="41372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1063" y="3370263"/>
                        <a:ext cx="183515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26" name="Object 7"/>
          <p:cNvGraphicFramePr>
            <a:graphicFrameLocks noChangeAspect="1"/>
          </p:cNvGraphicFramePr>
          <p:nvPr/>
        </p:nvGraphicFramePr>
        <p:xfrm>
          <a:off x="928688" y="4079875"/>
          <a:ext cx="550068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3" name="公式" r:id="rId13" imgW="2520315" imgH="334645" progId="Equation.3">
                  <p:embed/>
                </p:oleObj>
              </mc:Choice>
              <mc:Fallback>
                <p:oleObj name="公式" r:id="rId13" imgW="2520315" imgH="334645" progId="Equation.3">
                  <p:embed/>
                  <p:pic>
                    <p:nvPicPr>
                      <p:cNvPr id="41372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4079875"/>
                        <a:ext cx="5500687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27" name="Object 8"/>
          <p:cNvGraphicFramePr>
            <a:graphicFrameLocks noChangeAspect="1"/>
          </p:cNvGraphicFramePr>
          <p:nvPr/>
        </p:nvGraphicFramePr>
        <p:xfrm>
          <a:off x="1657350" y="4868863"/>
          <a:ext cx="28797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4" name="公式" r:id="rId15" imgW="1427480" imgH="379095" progId="Equation.3">
                  <p:embed/>
                </p:oleObj>
              </mc:Choice>
              <mc:Fallback>
                <p:oleObj name="公式" r:id="rId15" imgW="1427480" imgH="379095" progId="Equation.3">
                  <p:embed/>
                  <p:pic>
                    <p:nvPicPr>
                      <p:cNvPr id="41372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350" y="4868863"/>
                        <a:ext cx="28797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28" name="AutoShape 32"/>
          <p:cNvSpPr>
            <a:spLocks noChangeArrowheads="1"/>
          </p:cNvSpPr>
          <p:nvPr/>
        </p:nvSpPr>
        <p:spPr bwMode="auto">
          <a:xfrm>
            <a:off x="998538" y="5075238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3729" name="Text Box 33"/>
          <p:cNvSpPr txBox="1">
            <a:spLocks noChangeArrowheads="1"/>
          </p:cNvSpPr>
          <p:nvPr/>
        </p:nvSpPr>
        <p:spPr bwMode="auto">
          <a:xfrm>
            <a:off x="468313" y="6005513"/>
            <a:ext cx="12938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CCECFF"/>
                </a:solidFill>
              </a:rPr>
              <a:t>（</a:t>
            </a:r>
            <a:r>
              <a:rPr lang="en-US" altLang="zh-CN" sz="2200">
                <a:solidFill>
                  <a:srgbClr val="CCECFF"/>
                </a:solidFill>
              </a:rPr>
              <a:t>2</a:t>
            </a:r>
            <a:r>
              <a:rPr lang="zh-CN" altLang="en-US" sz="2200">
                <a:solidFill>
                  <a:srgbClr val="CCECFF"/>
                </a:solidFill>
              </a:rPr>
              <a:t>）</a:t>
            </a:r>
          </a:p>
        </p:txBody>
      </p:sp>
      <p:graphicFrame>
        <p:nvGraphicFramePr>
          <p:cNvPr id="413730" name="Object 9"/>
          <p:cNvGraphicFramePr>
            <a:graphicFrameLocks noChangeAspect="1"/>
          </p:cNvGraphicFramePr>
          <p:nvPr/>
        </p:nvGraphicFramePr>
        <p:xfrm>
          <a:off x="1250950" y="5789613"/>
          <a:ext cx="342582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5" name="公式" r:id="rId17" imgW="1784350" imgH="379095" progId="Equation.3">
                  <p:embed/>
                </p:oleObj>
              </mc:Choice>
              <mc:Fallback>
                <p:oleObj name="公式" r:id="rId17" imgW="1784350" imgH="379095" progId="Equation.3">
                  <p:embed/>
                  <p:pic>
                    <p:nvPicPr>
                      <p:cNvPr id="41373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950" y="5789613"/>
                        <a:ext cx="3425825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31" name="Object 10"/>
          <p:cNvGraphicFramePr>
            <a:graphicFrameLocks noChangeAspect="1"/>
          </p:cNvGraphicFramePr>
          <p:nvPr/>
        </p:nvGraphicFramePr>
        <p:xfrm>
          <a:off x="7396163" y="5770563"/>
          <a:ext cx="92075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6" name="公式" r:id="rId19" imgW="379095" imgH="334645" progId="Equation.3">
                  <p:embed/>
                </p:oleObj>
              </mc:Choice>
              <mc:Fallback>
                <p:oleObj name="公式" r:id="rId19" imgW="379095" imgH="334645" progId="Equation.3">
                  <p:embed/>
                  <p:pic>
                    <p:nvPicPr>
                      <p:cNvPr id="41373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6163" y="5770563"/>
                        <a:ext cx="92075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32" name="Object 11"/>
          <p:cNvGraphicFramePr>
            <a:graphicFrameLocks noChangeAspect="1"/>
          </p:cNvGraphicFramePr>
          <p:nvPr/>
        </p:nvGraphicFramePr>
        <p:xfrm>
          <a:off x="6372225" y="4289425"/>
          <a:ext cx="63658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7" name="公式" r:id="rId21" imgW="156210" imgH="88900" progId="Equation.3">
                  <p:embed/>
                </p:oleObj>
              </mc:Choice>
              <mc:Fallback>
                <p:oleObj name="公式" r:id="rId21" imgW="156210" imgH="88900" progId="Equation.3">
                  <p:embed/>
                  <p:pic>
                    <p:nvPicPr>
                      <p:cNvPr id="41373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289425"/>
                        <a:ext cx="636588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33" name="Text Box 37"/>
          <p:cNvSpPr txBox="1">
            <a:spLocks noChangeArrowheads="1"/>
          </p:cNvSpPr>
          <p:nvPr/>
        </p:nvSpPr>
        <p:spPr bwMode="auto">
          <a:xfrm>
            <a:off x="4751388" y="5084763"/>
            <a:ext cx="31892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</a:rPr>
              <a:t>—— </a:t>
            </a:r>
            <a:r>
              <a:rPr lang="zh-CN" altLang="en-US" sz="2200">
                <a:solidFill>
                  <a:schemeClr val="bg1"/>
                </a:solidFill>
              </a:rPr>
              <a:t>运动学方程</a:t>
            </a:r>
          </a:p>
        </p:txBody>
      </p:sp>
      <p:grpSp>
        <p:nvGrpSpPr>
          <p:cNvPr id="2" name="Group 38"/>
          <p:cNvGrpSpPr/>
          <p:nvPr/>
        </p:nvGrpSpPr>
        <p:grpSpPr bwMode="auto">
          <a:xfrm>
            <a:off x="6858000" y="3738563"/>
            <a:ext cx="1600200" cy="762000"/>
            <a:chOff x="4224" y="1968"/>
            <a:chExt cx="1008" cy="480"/>
          </a:xfrm>
        </p:grpSpPr>
        <p:sp>
          <p:nvSpPr>
            <p:cNvPr id="7210" name="Line 39"/>
            <p:cNvSpPr>
              <a:spLocks noChangeShapeType="1"/>
            </p:cNvSpPr>
            <p:nvPr/>
          </p:nvSpPr>
          <p:spPr bwMode="auto">
            <a:xfrm flipH="1">
              <a:off x="4224" y="1968"/>
              <a:ext cx="1008" cy="0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1" name="Line 40"/>
            <p:cNvSpPr>
              <a:spLocks noChangeShapeType="1"/>
            </p:cNvSpPr>
            <p:nvPr/>
          </p:nvSpPr>
          <p:spPr bwMode="auto">
            <a:xfrm flipH="1">
              <a:off x="4512" y="2448"/>
              <a:ext cx="720" cy="0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2" name="Line 41"/>
            <p:cNvSpPr>
              <a:spLocks noChangeShapeType="1"/>
            </p:cNvSpPr>
            <p:nvPr/>
          </p:nvSpPr>
          <p:spPr bwMode="auto">
            <a:xfrm>
              <a:off x="5232" y="1968"/>
              <a:ext cx="0" cy="480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13738" name="Object 12"/>
          <p:cNvGraphicFramePr>
            <a:graphicFrameLocks noChangeAspect="1"/>
          </p:cNvGraphicFramePr>
          <p:nvPr/>
        </p:nvGraphicFramePr>
        <p:xfrm>
          <a:off x="5559425" y="5767388"/>
          <a:ext cx="1533525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8" name="公式" r:id="rId23" imgW="780415" imgH="334645" progId="Equation.3">
                  <p:embed/>
                </p:oleObj>
              </mc:Choice>
              <mc:Fallback>
                <p:oleObj name="公式" r:id="rId23" imgW="780415" imgH="334645" progId="Equation.3">
                  <p:embed/>
                  <p:pic>
                    <p:nvPicPr>
                      <p:cNvPr id="41373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425" y="5767388"/>
                        <a:ext cx="1533525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39" name="AutoShape 43"/>
          <p:cNvSpPr>
            <a:spLocks noChangeArrowheads="1"/>
          </p:cNvSpPr>
          <p:nvPr/>
        </p:nvSpPr>
        <p:spPr bwMode="auto">
          <a:xfrm>
            <a:off x="4822825" y="6021388"/>
            <a:ext cx="571500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" name="Text Box 31"/>
          <p:cNvSpPr txBox="1">
            <a:spLocks noChangeArrowheads="1"/>
          </p:cNvSpPr>
          <p:nvPr/>
        </p:nvSpPr>
        <p:spPr bwMode="auto">
          <a:xfrm>
            <a:off x="285750" y="195263"/>
            <a:ext cx="450215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200" dirty="0">
                <a:solidFill>
                  <a:srgbClr val="FFFF00"/>
                </a:solidFill>
              </a:rPr>
              <a:t>例：</a:t>
            </a:r>
            <a:r>
              <a:rPr lang="zh-CN" altLang="en-US" sz="2200" dirty="0">
                <a:solidFill>
                  <a:schemeClr val="bg1"/>
                </a:solidFill>
              </a:rPr>
              <a:t>如图</a:t>
            </a:r>
            <a:r>
              <a:rPr lang="zh-CN" altLang="en-US" sz="2200" dirty="0">
                <a:solidFill>
                  <a:srgbClr val="FFFF00"/>
                </a:solidFill>
              </a:rPr>
              <a:t>振动曲线</a:t>
            </a:r>
            <a:r>
              <a:rPr lang="zh-CN" altLang="en-US" sz="2200" dirty="0">
                <a:solidFill>
                  <a:schemeClr val="bg1"/>
                </a:solidFill>
              </a:rPr>
              <a:t>，求振动方程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200" dirty="0">
                <a:solidFill>
                  <a:schemeClr val="bg1"/>
                </a:solidFill>
              </a:rPr>
              <a:t>        和</a:t>
            </a:r>
            <a:r>
              <a:rPr lang="zh-CN" altLang="en-US" sz="2200" i="1" dirty="0">
                <a:solidFill>
                  <a:schemeClr val="bg1"/>
                </a:solidFill>
              </a:rPr>
              <a:t> </a:t>
            </a:r>
            <a:r>
              <a:rPr lang="en-US" altLang="zh-CN" sz="2200" i="1" dirty="0">
                <a:solidFill>
                  <a:srgbClr val="FFFF00"/>
                </a:solidFill>
              </a:rPr>
              <a:t>x</a:t>
            </a:r>
            <a:r>
              <a:rPr lang="en-US" altLang="zh-CN" sz="2200" i="1" dirty="0">
                <a:solidFill>
                  <a:schemeClr val="bg1"/>
                </a:solidFill>
              </a:rPr>
              <a:t> </a:t>
            </a:r>
            <a:r>
              <a:rPr lang="zh-CN" altLang="en-US" sz="2200" dirty="0">
                <a:solidFill>
                  <a:schemeClr val="bg1"/>
                </a:solidFill>
              </a:rPr>
              <a:t>第一次通过零值的时间？</a:t>
            </a:r>
          </a:p>
        </p:txBody>
      </p:sp>
      <p:sp>
        <p:nvSpPr>
          <p:cNvPr id="7206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54E5A99-AE25-4326-B167-12F48815F77B}" type="slidenum">
              <a:rPr lang="en-US" altLang="zh-CN" b="0">
                <a:solidFill>
                  <a:srgbClr val="FF00FF"/>
                </a:solidFill>
              </a:rPr>
              <a:t>14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44" name="任意多边形 43"/>
          <p:cNvSpPr>
            <a:spLocks noChangeArrowheads="1"/>
          </p:cNvSpPr>
          <p:nvPr/>
        </p:nvSpPr>
        <p:spPr bwMode="auto">
          <a:xfrm>
            <a:off x="3917950" y="2382838"/>
            <a:ext cx="360363" cy="830262"/>
          </a:xfrm>
          <a:custGeom>
            <a:avLst/>
            <a:gdLst>
              <a:gd name="T0" fmla="*/ 0 w 360726"/>
              <a:gd name="T1" fmla="*/ 822610 h 830510"/>
              <a:gd name="T2" fmla="*/ 259937 w 360726"/>
              <a:gd name="T3" fmla="*/ 623191 h 830510"/>
              <a:gd name="T4" fmla="*/ 349289 w 360726"/>
              <a:gd name="T5" fmla="*/ 299130 h 830510"/>
              <a:gd name="T6" fmla="*/ 259937 w 360726"/>
              <a:gd name="T7" fmla="*/ 91408 h 830510"/>
              <a:gd name="T8" fmla="*/ 32492 w 360726"/>
              <a:gd name="T9" fmla="*/ 0 h 8305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0726"/>
              <a:gd name="T16" fmla="*/ 0 h 830510"/>
              <a:gd name="T17" fmla="*/ 360726 w 360726"/>
              <a:gd name="T18" fmla="*/ 830510 h 8305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0726" h="830510">
                <a:moveTo>
                  <a:pt x="0" y="830510"/>
                </a:moveTo>
                <a:cubicBezTo>
                  <a:pt x="104163" y="773884"/>
                  <a:pt x="208326" y="717258"/>
                  <a:pt x="268447" y="629174"/>
                </a:cubicBezTo>
                <a:cubicBezTo>
                  <a:pt x="328568" y="541090"/>
                  <a:pt x="360726" y="391486"/>
                  <a:pt x="360726" y="302004"/>
                </a:cubicBezTo>
                <a:cubicBezTo>
                  <a:pt x="360726" y="212522"/>
                  <a:pt x="322975" y="142613"/>
                  <a:pt x="268447" y="92279"/>
                </a:cubicBezTo>
                <a:cubicBezTo>
                  <a:pt x="213919" y="41945"/>
                  <a:pt x="123737" y="20972"/>
                  <a:pt x="33556" y="0"/>
                </a:cubicBezTo>
              </a:path>
            </a:pathLst>
          </a:custGeom>
          <a:noFill/>
          <a:ln w="25400" algn="ctr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任意多边形 44"/>
          <p:cNvSpPr>
            <a:spLocks noChangeArrowheads="1"/>
          </p:cNvSpPr>
          <p:nvPr/>
        </p:nvSpPr>
        <p:spPr bwMode="auto">
          <a:xfrm>
            <a:off x="514350" y="2413000"/>
            <a:ext cx="601663" cy="1376363"/>
          </a:xfrm>
          <a:custGeom>
            <a:avLst/>
            <a:gdLst>
              <a:gd name="T0" fmla="*/ 346 w 760601"/>
              <a:gd name="T1" fmla="*/ 0 h 1510018"/>
              <a:gd name="T2" fmla="*/ 78 w 760601"/>
              <a:gd name="T3" fmla="*/ 9735 h 1510018"/>
              <a:gd name="T4" fmla="*/ 8 w 760601"/>
              <a:gd name="T5" fmla="*/ 34705 h 1510018"/>
              <a:gd name="T6" fmla="*/ 40 w 760601"/>
              <a:gd name="T7" fmla="*/ 60519 h 1510018"/>
              <a:gd name="T8" fmla="*/ 248 w 760601"/>
              <a:gd name="T9" fmla="*/ 73638 h 1510018"/>
              <a:gd name="T10" fmla="*/ 421 w 760601"/>
              <a:gd name="T11" fmla="*/ 75755 h 151001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60601"/>
              <a:gd name="T19" fmla="*/ 0 h 1510018"/>
              <a:gd name="T20" fmla="*/ 760601 w 760601"/>
              <a:gd name="T21" fmla="*/ 1510018 h 151001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60601" h="1510018">
                <a:moveTo>
                  <a:pt x="626377" y="0"/>
                </a:moveTo>
                <a:cubicBezTo>
                  <a:pt x="434129" y="39149"/>
                  <a:pt x="241881" y="78298"/>
                  <a:pt x="139815" y="192947"/>
                </a:cubicBezTo>
                <a:cubicBezTo>
                  <a:pt x="37749" y="307596"/>
                  <a:pt x="25166" y="520117"/>
                  <a:pt x="13981" y="687897"/>
                </a:cubicBezTo>
                <a:cubicBezTo>
                  <a:pt x="2796" y="855677"/>
                  <a:pt x="0" y="1070995"/>
                  <a:pt x="72704" y="1199626"/>
                </a:cubicBezTo>
                <a:cubicBezTo>
                  <a:pt x="145408" y="1328257"/>
                  <a:pt x="335559" y="1409350"/>
                  <a:pt x="450208" y="1459684"/>
                </a:cubicBezTo>
                <a:cubicBezTo>
                  <a:pt x="564857" y="1510018"/>
                  <a:pt x="662729" y="1505823"/>
                  <a:pt x="760601" y="1501629"/>
                </a:cubicBezTo>
              </a:path>
            </a:pathLst>
          </a:custGeom>
          <a:noFill/>
          <a:ln w="25400" algn="ctr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47" name="直接连接符 46"/>
          <p:cNvCxnSpPr>
            <a:cxnSpLocks noChangeShapeType="1"/>
          </p:cNvCxnSpPr>
          <p:nvPr/>
        </p:nvCxnSpPr>
        <p:spPr bwMode="auto">
          <a:xfrm>
            <a:off x="6000750" y="3513138"/>
            <a:ext cx="642938" cy="57150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1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1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13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13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3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13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1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13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13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13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13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13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1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1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1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13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13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41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1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41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41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41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1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1000"/>
                                        <p:tgtEl>
                                          <p:spTgt spid="41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1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1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13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1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1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1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1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1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03" grpId="0" build="p" autoUpdateAnimBg="0"/>
      <p:bldP spid="413704" grpId="0" build="p" autoUpdateAnimBg="0"/>
      <p:bldP spid="413705" grpId="0" autoUpdateAnimBg="0"/>
      <p:bldP spid="413711" grpId="0" build="p" autoUpdateAnimBg="0" advAuto="0"/>
      <p:bldP spid="413712" grpId="0" build="p" autoUpdateAnimBg="0" advAuto="0"/>
      <p:bldP spid="413716" grpId="0" build="p" autoUpdateAnimBg="0" advAuto="0"/>
      <p:bldP spid="413717" grpId="0" build="p" autoUpdateAnimBg="0" advAuto="0"/>
      <p:bldP spid="413718" grpId="0" build="p" autoUpdateAnimBg="0"/>
      <p:bldP spid="413724" grpId="0" animBg="1"/>
      <p:bldP spid="413728" grpId="0" animBg="1"/>
      <p:bldP spid="413729" grpId="0" build="p" autoUpdateAnimBg="0"/>
      <p:bldP spid="413733" grpId="0" build="p" autoUpdateAnimBg="0"/>
      <p:bldP spid="413739" grpId="0" animBg="1"/>
      <p:bldP spid="42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0B570F9-DB4B-497D-9CA2-7698FB8AD910}"/>
              </a:ext>
            </a:extLst>
          </p:cNvPr>
          <p:cNvGrpSpPr/>
          <p:nvPr/>
        </p:nvGrpSpPr>
        <p:grpSpPr>
          <a:xfrm>
            <a:off x="1785938" y="2944820"/>
            <a:ext cx="6457950" cy="577843"/>
            <a:chOff x="1785938" y="2944820"/>
            <a:chExt cx="6457950" cy="577843"/>
          </a:xfrm>
        </p:grpSpPr>
        <p:sp>
          <p:nvSpPr>
            <p:cNvPr id="8240" name="Line 6"/>
            <p:cNvSpPr>
              <a:spLocks noChangeShapeType="1"/>
            </p:cNvSpPr>
            <p:nvPr/>
          </p:nvSpPr>
          <p:spPr bwMode="auto">
            <a:xfrm>
              <a:off x="1785938" y="2989267"/>
              <a:ext cx="5897543" cy="158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3" name="Rectangle 12"/>
            <p:cNvSpPr>
              <a:spLocks noChangeArrowheads="1"/>
            </p:cNvSpPr>
            <p:nvPr/>
          </p:nvSpPr>
          <p:spPr bwMode="auto">
            <a:xfrm>
              <a:off x="4352919" y="2944820"/>
              <a:ext cx="238124" cy="577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o</a:t>
              </a:r>
            </a:p>
          </p:txBody>
        </p:sp>
        <p:sp>
          <p:nvSpPr>
            <p:cNvPr id="8244" name="Rectangle 14"/>
            <p:cNvSpPr>
              <a:spLocks noChangeArrowheads="1"/>
            </p:cNvSpPr>
            <p:nvPr/>
          </p:nvSpPr>
          <p:spPr bwMode="auto">
            <a:xfrm>
              <a:off x="7448554" y="2951164"/>
              <a:ext cx="795334" cy="366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x</a:t>
              </a:r>
            </a:p>
          </p:txBody>
        </p:sp>
      </p:grpSp>
      <p:sp>
        <p:nvSpPr>
          <p:cNvPr id="8245" name="Rectangle 16"/>
          <p:cNvSpPr>
            <a:spLocks noChangeArrowheads="1"/>
          </p:cNvSpPr>
          <p:nvPr/>
        </p:nvSpPr>
        <p:spPr bwMode="auto">
          <a:xfrm>
            <a:off x="7112010" y="1909763"/>
            <a:ext cx="979484" cy="400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 dirty="0">
                <a:solidFill>
                  <a:srgbClr val="FFFF00"/>
                </a:solidFill>
              </a:rPr>
              <a:t>t = 0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AA6BD06-9CEA-4FB9-8165-F9EED2F6754E}"/>
              </a:ext>
            </a:extLst>
          </p:cNvPr>
          <p:cNvGrpSpPr/>
          <p:nvPr/>
        </p:nvGrpSpPr>
        <p:grpSpPr>
          <a:xfrm>
            <a:off x="4411654" y="1951040"/>
            <a:ext cx="2489192" cy="1185864"/>
            <a:chOff x="4411654" y="1951040"/>
            <a:chExt cx="2489192" cy="1185864"/>
          </a:xfrm>
        </p:grpSpPr>
        <p:sp>
          <p:nvSpPr>
            <p:cNvPr id="8239" name="Rectangle 4"/>
            <p:cNvSpPr>
              <a:spLocks noChangeArrowheads="1"/>
            </p:cNvSpPr>
            <p:nvPr/>
          </p:nvSpPr>
          <p:spPr bwMode="auto">
            <a:xfrm>
              <a:off x="5581638" y="2505084"/>
              <a:ext cx="711198" cy="631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  <a:sym typeface="Symbol" panose="05050102010706020507" pitchFamily="18" charset="2"/>
                </a:rPr>
                <a:t></a:t>
              </a:r>
              <a:endParaRPr lang="en-US" altLang="zh-CN" i="1">
                <a:solidFill>
                  <a:srgbClr val="FFFF00"/>
                </a:solidFill>
              </a:endParaRPr>
            </a:p>
          </p:txBody>
        </p:sp>
        <p:sp>
          <p:nvSpPr>
            <p:cNvPr id="8241" name="Line 7"/>
            <p:cNvSpPr>
              <a:spLocks noChangeShapeType="1"/>
            </p:cNvSpPr>
            <p:nvPr/>
          </p:nvSpPr>
          <p:spPr bwMode="auto">
            <a:xfrm flipV="1">
              <a:off x="4411654" y="2146312"/>
              <a:ext cx="2174868" cy="85406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 type="none" w="med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2" name="Arc 10"/>
            <p:cNvSpPr/>
            <p:nvPr/>
          </p:nvSpPr>
          <p:spPr bwMode="auto">
            <a:xfrm>
              <a:off x="5330814" y="2687645"/>
              <a:ext cx="92075" cy="266698"/>
            </a:xfrm>
            <a:custGeom>
              <a:avLst/>
              <a:gdLst>
                <a:gd name="T0" fmla="*/ 0 w 21600"/>
                <a:gd name="T1" fmla="*/ 0 h 29405"/>
                <a:gd name="T2" fmla="*/ 2147483646 w 21600"/>
                <a:gd name="T3" fmla="*/ 2147483646 h 29405"/>
                <a:gd name="T4" fmla="*/ 0 w 21600"/>
                <a:gd name="T5" fmla="*/ 2147483646 h 2940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405"/>
                <a:gd name="T11" fmla="*/ 21600 w 21600"/>
                <a:gd name="T12" fmla="*/ 29405 h 294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40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4269"/>
                    <a:pt x="21105" y="26916"/>
                    <a:pt x="20140" y="29405"/>
                  </a:cubicBezTo>
                </a:path>
                <a:path w="21600" h="2940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4269"/>
                    <a:pt x="21105" y="26916"/>
                    <a:pt x="20140" y="2940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46" name="Object 2"/>
            <p:cNvGraphicFramePr>
              <a:graphicFrameLocks noChangeAspect="1"/>
            </p:cNvGraphicFramePr>
            <p:nvPr>
              <p:extLst/>
            </p:nvPr>
          </p:nvGraphicFramePr>
          <p:xfrm>
            <a:off x="6543660" y="1951040"/>
            <a:ext cx="357186" cy="452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0" name="公式" r:id="rId3" imgW="222885" imgH="312420" progId="Equation.3">
                    <p:embed/>
                  </p:oleObj>
                </mc:Choice>
                <mc:Fallback>
                  <p:oleObj name="公式" r:id="rId3" imgW="222885" imgH="312420" progId="Equation.3">
                    <p:embed/>
                    <p:pic>
                      <p:nvPicPr>
                        <p:cNvPr id="8246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43660" y="1951040"/>
                          <a:ext cx="357186" cy="4524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2995" name="Text Box 3"/>
          <p:cNvSpPr txBox="1">
            <a:spLocks noChangeArrowheads="1"/>
          </p:cNvSpPr>
          <p:nvPr/>
        </p:nvSpPr>
        <p:spPr bwMode="auto">
          <a:xfrm>
            <a:off x="457200" y="260350"/>
            <a:ext cx="4757738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solidFill>
                  <a:schemeClr val="bg1"/>
                </a:solidFill>
                <a:latin typeface="+mn-lt"/>
              </a:rPr>
              <a:t>4. </a:t>
            </a:r>
            <a:r>
              <a:rPr lang="zh-CN" altLang="en-US" dirty="0">
                <a:solidFill>
                  <a:schemeClr val="bg1"/>
                </a:solidFill>
                <a:latin typeface="+mn-lt"/>
              </a:rPr>
              <a:t>简谐振动的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旋转矢量表示法</a:t>
            </a:r>
          </a:p>
        </p:txBody>
      </p:sp>
      <p:grpSp>
        <p:nvGrpSpPr>
          <p:cNvPr id="8" name="组合 40"/>
          <p:cNvGrpSpPr/>
          <p:nvPr/>
        </p:nvGrpSpPr>
        <p:grpSpPr bwMode="auto">
          <a:xfrm>
            <a:off x="5940425" y="1474788"/>
            <a:ext cx="712788" cy="1809750"/>
            <a:chOff x="6297356" y="1919292"/>
            <a:chExt cx="712788" cy="1810193"/>
          </a:xfrm>
        </p:grpSpPr>
        <p:sp>
          <p:nvSpPr>
            <p:cNvPr id="8237" name="Line 8"/>
            <p:cNvSpPr>
              <a:spLocks noChangeShapeType="1"/>
            </p:cNvSpPr>
            <p:nvPr/>
          </p:nvSpPr>
          <p:spPr bwMode="auto">
            <a:xfrm>
              <a:off x="6388100" y="1919292"/>
              <a:ext cx="3175" cy="155575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8" name="Rectangle 13"/>
            <p:cNvSpPr>
              <a:spLocks noChangeArrowheads="1"/>
            </p:cNvSpPr>
            <p:nvPr/>
          </p:nvSpPr>
          <p:spPr bwMode="auto">
            <a:xfrm>
              <a:off x="6297356" y="3378647"/>
              <a:ext cx="712788" cy="350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x</a:t>
              </a:r>
            </a:p>
          </p:txBody>
        </p:sp>
      </p:grpSp>
      <p:grpSp>
        <p:nvGrpSpPr>
          <p:cNvPr id="9" name="组合 39"/>
          <p:cNvGrpSpPr/>
          <p:nvPr/>
        </p:nvGrpSpPr>
        <p:grpSpPr bwMode="auto">
          <a:xfrm>
            <a:off x="4411663" y="879475"/>
            <a:ext cx="2036762" cy="2714625"/>
            <a:chOff x="4749800" y="1357298"/>
            <a:chExt cx="2036778" cy="2714644"/>
          </a:xfrm>
        </p:grpSpPr>
        <p:sp>
          <p:nvSpPr>
            <p:cNvPr id="8231" name="Line 5"/>
            <p:cNvSpPr>
              <a:spLocks noChangeShapeType="1"/>
            </p:cNvSpPr>
            <p:nvPr/>
          </p:nvSpPr>
          <p:spPr bwMode="auto">
            <a:xfrm flipV="1">
              <a:off x="4749800" y="1919292"/>
              <a:ext cx="1641475" cy="155575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 type="none" w="med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2" name="Arc 9"/>
            <p:cNvSpPr/>
            <p:nvPr/>
          </p:nvSpPr>
          <p:spPr bwMode="auto">
            <a:xfrm>
              <a:off x="4932363" y="3163892"/>
              <a:ext cx="303212" cy="282575"/>
            </a:xfrm>
            <a:custGeom>
              <a:avLst/>
              <a:gdLst>
                <a:gd name="T0" fmla="*/ 2147483646 w 21600"/>
                <a:gd name="T1" fmla="*/ 0 h 20299"/>
                <a:gd name="T2" fmla="*/ 2147483646 w 21600"/>
                <a:gd name="T3" fmla="*/ 2147483646 h 20299"/>
                <a:gd name="T4" fmla="*/ 0 w 21600"/>
                <a:gd name="T5" fmla="*/ 2147483646 h 202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299"/>
                <a:gd name="T11" fmla="*/ 21600 w 21600"/>
                <a:gd name="T12" fmla="*/ 20299 h 20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299" fill="none" extrusionOk="0">
                  <a:moveTo>
                    <a:pt x="13504" y="-1"/>
                  </a:moveTo>
                  <a:cubicBezTo>
                    <a:pt x="18621" y="4099"/>
                    <a:pt x="21600" y="10301"/>
                    <a:pt x="21600" y="16858"/>
                  </a:cubicBezTo>
                  <a:cubicBezTo>
                    <a:pt x="21600" y="18010"/>
                    <a:pt x="21507" y="19161"/>
                    <a:pt x="21324" y="20299"/>
                  </a:cubicBezTo>
                </a:path>
                <a:path w="21600" h="20299" stroke="0" extrusionOk="0">
                  <a:moveTo>
                    <a:pt x="13504" y="-1"/>
                  </a:moveTo>
                  <a:cubicBezTo>
                    <a:pt x="18621" y="4099"/>
                    <a:pt x="21600" y="10301"/>
                    <a:pt x="21600" y="16858"/>
                  </a:cubicBezTo>
                  <a:cubicBezTo>
                    <a:pt x="21600" y="18010"/>
                    <a:pt x="21507" y="19161"/>
                    <a:pt x="21324" y="20299"/>
                  </a:cubicBezTo>
                  <a:lnTo>
                    <a:pt x="0" y="16858"/>
                  </a:lnTo>
                  <a:lnTo>
                    <a:pt x="13504" y="-1"/>
                  </a:lnTo>
                  <a:close/>
                </a:path>
              </a:pathLst>
            </a:custGeom>
            <a:noFill/>
            <a:ln w="25400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3" name="Rectangle 11"/>
            <p:cNvSpPr>
              <a:spLocks noChangeArrowheads="1"/>
            </p:cNvSpPr>
            <p:nvPr/>
          </p:nvSpPr>
          <p:spPr bwMode="auto">
            <a:xfrm>
              <a:off x="5084763" y="3657604"/>
              <a:ext cx="1257300" cy="41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CC00"/>
                  </a:solidFill>
                  <a:sym typeface="Symbol" panose="05050102010706020507" pitchFamily="18" charset="2"/>
                </a:rPr>
                <a:t> </a:t>
              </a:r>
              <a:r>
                <a:rPr lang="en-US" altLang="zh-CN" i="1">
                  <a:solidFill>
                    <a:srgbClr val="FFCC00"/>
                  </a:solidFill>
                </a:rPr>
                <a:t>t + </a:t>
              </a:r>
              <a:r>
                <a:rPr lang="en-US" altLang="zh-CN" i="1">
                  <a:solidFill>
                    <a:srgbClr val="FFCC00"/>
                  </a:solidFill>
                  <a:sym typeface="Symbol" panose="05050102010706020507" pitchFamily="18" charset="2"/>
                </a:rPr>
                <a:t></a:t>
              </a:r>
              <a:endParaRPr lang="en-US" altLang="zh-CN" i="1">
                <a:solidFill>
                  <a:srgbClr val="FFCC00"/>
                </a:solidFill>
              </a:endParaRPr>
            </a:p>
          </p:txBody>
        </p:sp>
        <p:sp>
          <p:nvSpPr>
            <p:cNvPr id="8234" name="Rectangle 15"/>
            <p:cNvSpPr>
              <a:spLocks noChangeArrowheads="1"/>
            </p:cNvSpPr>
            <p:nvPr/>
          </p:nvSpPr>
          <p:spPr bwMode="auto">
            <a:xfrm>
              <a:off x="5942015" y="1357298"/>
              <a:ext cx="273059" cy="5587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0" i="1">
                  <a:solidFill>
                    <a:srgbClr val="FFFF00"/>
                  </a:solidFill>
                </a:rPr>
                <a:t>t</a:t>
              </a:r>
            </a:p>
          </p:txBody>
        </p:sp>
        <p:graphicFrame>
          <p:nvGraphicFramePr>
            <p:cNvPr id="8235" name="Object 3"/>
            <p:cNvGraphicFramePr>
              <a:graphicFrameLocks noChangeAspect="1"/>
            </p:cNvGraphicFramePr>
            <p:nvPr/>
          </p:nvGraphicFramePr>
          <p:xfrm>
            <a:off x="6429391" y="1619240"/>
            <a:ext cx="357187" cy="452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1" name="公式" r:id="rId5" imgW="222885" imgH="312420" progId="Equation.3">
                    <p:embed/>
                  </p:oleObj>
                </mc:Choice>
                <mc:Fallback>
                  <p:oleObj name="公式" r:id="rId5" imgW="222885" imgH="312420" progId="Equation.3">
                    <p:embed/>
                    <p:pic>
                      <p:nvPicPr>
                        <p:cNvPr id="823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9391" y="1619240"/>
                          <a:ext cx="357187" cy="452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6" name="Freeform 21"/>
            <p:cNvSpPr/>
            <p:nvPr/>
          </p:nvSpPr>
          <p:spPr bwMode="auto">
            <a:xfrm>
              <a:off x="5249863" y="3063879"/>
              <a:ext cx="263525" cy="650875"/>
            </a:xfrm>
            <a:custGeom>
              <a:avLst/>
              <a:gdLst>
                <a:gd name="T0" fmla="*/ 0 w 166"/>
                <a:gd name="T1" fmla="*/ 2147483646 h 410"/>
                <a:gd name="T2" fmla="*/ 2147483646 w 166"/>
                <a:gd name="T3" fmla="*/ 2147483646 h 410"/>
                <a:gd name="T4" fmla="*/ 2147483646 w 166"/>
                <a:gd name="T5" fmla="*/ 2147483646 h 410"/>
                <a:gd name="T6" fmla="*/ 2147483646 w 166"/>
                <a:gd name="T7" fmla="*/ 2147483646 h 410"/>
                <a:gd name="T8" fmla="*/ 2147483646 w 166"/>
                <a:gd name="T9" fmla="*/ 2147483646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"/>
                <a:gd name="T16" fmla="*/ 0 h 410"/>
                <a:gd name="T17" fmla="*/ 166 w 166"/>
                <a:gd name="T18" fmla="*/ 410 h 4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" h="410">
                  <a:moveTo>
                    <a:pt x="0" y="88"/>
                  </a:moveTo>
                  <a:cubicBezTo>
                    <a:pt x="17" y="76"/>
                    <a:pt x="75" y="25"/>
                    <a:pt x="101" y="14"/>
                  </a:cubicBezTo>
                  <a:cubicBezTo>
                    <a:pt x="127" y="3"/>
                    <a:pt x="144" y="0"/>
                    <a:pt x="154" y="23"/>
                  </a:cubicBezTo>
                  <a:cubicBezTo>
                    <a:pt x="164" y="46"/>
                    <a:pt x="161" y="88"/>
                    <a:pt x="163" y="152"/>
                  </a:cubicBezTo>
                  <a:cubicBezTo>
                    <a:pt x="165" y="216"/>
                    <a:pt x="165" y="356"/>
                    <a:pt x="166" y="410"/>
                  </a:cubicBezTo>
                </a:path>
              </a:pathLst>
            </a:custGeom>
            <a:noFill/>
            <a:ln w="28575">
              <a:solidFill>
                <a:srgbClr val="00FF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13018" name="Object 4"/>
          <p:cNvGraphicFramePr/>
          <p:nvPr/>
        </p:nvGraphicFramePr>
        <p:xfrm>
          <a:off x="1609725" y="5010150"/>
          <a:ext cx="28178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2" name="公式" r:id="rId7" imgW="3178175" imgH="334645" progId="Equation.3">
                  <p:embed/>
                </p:oleObj>
              </mc:Choice>
              <mc:Fallback>
                <p:oleObj name="公式" r:id="rId7" imgW="3178175" imgH="334645" progId="Equation.3">
                  <p:embed/>
                  <p:pic>
                    <p:nvPicPr>
                      <p:cNvPr id="213018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5" y="5010150"/>
                        <a:ext cx="28178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19" name="Object 5"/>
          <p:cNvGraphicFramePr/>
          <p:nvPr/>
        </p:nvGraphicFramePr>
        <p:xfrm>
          <a:off x="4454525" y="4770438"/>
          <a:ext cx="29972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3" name="公式" r:id="rId9" imgW="3390265" imgH="847725" progId="Equation.3">
                  <p:embed/>
                </p:oleObj>
              </mc:Choice>
              <mc:Fallback>
                <p:oleObj name="公式" r:id="rId9" imgW="3390265" imgH="847725" progId="Equation.3">
                  <p:embed/>
                  <p:pic>
                    <p:nvPicPr>
                      <p:cNvPr id="213019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525" y="4770438"/>
                        <a:ext cx="29972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20" name="Object 6"/>
          <p:cNvGraphicFramePr/>
          <p:nvPr/>
        </p:nvGraphicFramePr>
        <p:xfrm>
          <a:off x="1612900" y="6270625"/>
          <a:ext cx="344805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4" name="公式" r:id="rId11" imgW="3902710" imgH="423545" progId="Equation.3">
                  <p:embed/>
                </p:oleObj>
              </mc:Choice>
              <mc:Fallback>
                <p:oleObj name="公式" r:id="rId11" imgW="3902710" imgH="423545" progId="Equation.3">
                  <p:embed/>
                  <p:pic>
                    <p:nvPicPr>
                      <p:cNvPr id="21302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6270625"/>
                        <a:ext cx="344805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21" name="Object 7"/>
          <p:cNvGraphicFramePr/>
          <p:nvPr/>
        </p:nvGraphicFramePr>
        <p:xfrm>
          <a:off x="1917700" y="5648325"/>
          <a:ext cx="251142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5" name="公式" r:id="rId13" imgW="2821305" imgH="379095" progId="Equation.3">
                  <p:embed/>
                </p:oleObj>
              </mc:Choice>
              <mc:Fallback>
                <p:oleObj name="公式" r:id="rId13" imgW="2821305" imgH="379095" progId="Equation.3">
                  <p:embed/>
                  <p:pic>
                    <p:nvPicPr>
                      <p:cNvPr id="213021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5648325"/>
                        <a:ext cx="251142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22" name="Object 8"/>
          <p:cNvGraphicFramePr/>
          <p:nvPr/>
        </p:nvGraphicFramePr>
        <p:xfrm>
          <a:off x="5164138" y="6289675"/>
          <a:ext cx="25034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6" name="公式" r:id="rId15" imgW="2821305" imgH="379095" progId="Equation.3">
                  <p:embed/>
                </p:oleObj>
              </mc:Choice>
              <mc:Fallback>
                <p:oleObj name="公式" r:id="rId15" imgW="2821305" imgH="379095" progId="Equation.3">
                  <p:embed/>
                  <p:pic>
                    <p:nvPicPr>
                      <p:cNvPr id="213022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138" y="6289675"/>
                        <a:ext cx="2503487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23" name="Text Box 31"/>
          <p:cNvSpPr txBox="1">
            <a:spLocks noChangeArrowheads="1"/>
          </p:cNvSpPr>
          <p:nvPr/>
        </p:nvSpPr>
        <p:spPr bwMode="auto">
          <a:xfrm>
            <a:off x="5013325" y="260350"/>
            <a:ext cx="3446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特点</a:t>
            </a:r>
            <a:r>
              <a:rPr lang="en-US" altLang="zh-CN" dirty="0">
                <a:solidFill>
                  <a:srgbClr val="FFFF00"/>
                </a:solidFill>
              </a:rPr>
              <a:t>:  </a:t>
            </a:r>
            <a:r>
              <a:rPr lang="zh-CN" altLang="en-US" dirty="0">
                <a:solidFill>
                  <a:schemeClr val="bg1"/>
                </a:solidFill>
              </a:rPr>
              <a:t>直观、方便</a:t>
            </a:r>
            <a:endParaRPr lang="en-US" altLang="zh-CN" dirty="0">
              <a:solidFill>
                <a:schemeClr val="bg1"/>
              </a:solidFill>
            </a:endParaRPr>
          </a:p>
        </p:txBody>
      </p:sp>
      <p:graphicFrame>
        <p:nvGraphicFramePr>
          <p:cNvPr id="213026" name="Object 9"/>
          <p:cNvGraphicFramePr/>
          <p:nvPr/>
        </p:nvGraphicFramePr>
        <p:xfrm>
          <a:off x="3779838" y="3876675"/>
          <a:ext cx="2824162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" name="公式" r:id="rId17" imgW="3188970" imgH="334645" progId="Equation.3">
                  <p:embed/>
                </p:oleObj>
              </mc:Choice>
              <mc:Fallback>
                <p:oleObj name="公式" r:id="rId17" imgW="3188970" imgH="334645" progId="Equation.3">
                  <p:embed/>
                  <p:pic>
                    <p:nvPicPr>
                      <p:cNvPr id="213026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3876675"/>
                        <a:ext cx="2824162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38"/>
          <p:cNvGrpSpPr/>
          <p:nvPr/>
        </p:nvGrpSpPr>
        <p:grpSpPr bwMode="auto">
          <a:xfrm>
            <a:off x="6211888" y="1200150"/>
            <a:ext cx="1541462" cy="752475"/>
            <a:chOff x="6550059" y="1677992"/>
            <a:chExt cx="1541429" cy="752459"/>
          </a:xfrm>
        </p:grpSpPr>
        <p:sp>
          <p:nvSpPr>
            <p:cNvPr id="8229" name="Rectangle 17"/>
            <p:cNvSpPr>
              <a:spLocks noChangeArrowheads="1"/>
            </p:cNvSpPr>
            <p:nvPr/>
          </p:nvSpPr>
          <p:spPr bwMode="auto">
            <a:xfrm>
              <a:off x="7380288" y="1677992"/>
              <a:ext cx="711200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  <a:sym typeface="Symbol" panose="05050102010706020507" pitchFamily="18" charset="2"/>
                </a:rPr>
                <a:t></a:t>
              </a:r>
              <a:endParaRPr lang="en-US" altLang="zh-CN" sz="1000" i="1">
                <a:solidFill>
                  <a:srgbClr val="FFFF00"/>
                </a:solidFill>
              </a:endParaRPr>
            </a:p>
          </p:txBody>
        </p:sp>
        <p:sp>
          <p:nvSpPr>
            <p:cNvPr id="8230" name="Arc 43"/>
            <p:cNvSpPr/>
            <p:nvPr/>
          </p:nvSpPr>
          <p:spPr bwMode="auto">
            <a:xfrm>
              <a:off x="6550059" y="1785926"/>
              <a:ext cx="808023" cy="644525"/>
            </a:xfrm>
            <a:custGeom>
              <a:avLst/>
              <a:gdLst>
                <a:gd name="T0" fmla="*/ 2147483646 w 21214"/>
                <a:gd name="T1" fmla="*/ 0 h 16681"/>
                <a:gd name="T2" fmla="*/ 2147483646 w 21214"/>
                <a:gd name="T3" fmla="*/ 2147483646 h 16681"/>
                <a:gd name="T4" fmla="*/ 0 w 21214"/>
                <a:gd name="T5" fmla="*/ 2147483646 h 16681"/>
                <a:gd name="T6" fmla="*/ 0 60000 65536"/>
                <a:gd name="T7" fmla="*/ 0 60000 65536"/>
                <a:gd name="T8" fmla="*/ 0 60000 65536"/>
                <a:gd name="T9" fmla="*/ 0 w 21214"/>
                <a:gd name="T10" fmla="*/ 0 h 16681"/>
                <a:gd name="T11" fmla="*/ 21214 w 21214"/>
                <a:gd name="T12" fmla="*/ 16681 h 166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214" h="16681" fill="none" extrusionOk="0">
                  <a:moveTo>
                    <a:pt x="13722" y="0"/>
                  </a:moveTo>
                  <a:cubicBezTo>
                    <a:pt x="17615" y="3202"/>
                    <a:pt x="20265" y="7666"/>
                    <a:pt x="21214" y="12616"/>
                  </a:cubicBezTo>
                </a:path>
                <a:path w="21214" h="16681" stroke="0" extrusionOk="0">
                  <a:moveTo>
                    <a:pt x="13722" y="0"/>
                  </a:moveTo>
                  <a:cubicBezTo>
                    <a:pt x="17615" y="3202"/>
                    <a:pt x="20265" y="7666"/>
                    <a:pt x="21214" y="12616"/>
                  </a:cubicBezTo>
                  <a:lnTo>
                    <a:pt x="0" y="16681"/>
                  </a:lnTo>
                  <a:lnTo>
                    <a:pt x="13722" y="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8" name="矩形 57"/>
          <p:cNvSpPr>
            <a:spLocks noChangeArrowheads="1"/>
          </p:cNvSpPr>
          <p:nvPr/>
        </p:nvSpPr>
        <p:spPr bwMode="auto">
          <a:xfrm>
            <a:off x="4572000" y="5632450"/>
            <a:ext cx="4214813" cy="4667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注意：</a:t>
            </a:r>
            <a:r>
              <a:rPr lang="zh-CN" altLang="en-US">
                <a:solidFill>
                  <a:schemeClr val="bg1"/>
                </a:solidFill>
              </a:rPr>
              <a:t>速度、加速度的方向</a:t>
            </a:r>
            <a:r>
              <a:rPr lang="en-US" altLang="zh-CN">
                <a:solidFill>
                  <a:schemeClr val="bg1"/>
                </a:solidFill>
              </a:rPr>
              <a:t>?</a:t>
            </a: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1" name="组合 42"/>
          <p:cNvGrpSpPr/>
          <p:nvPr/>
        </p:nvGrpSpPr>
        <p:grpSpPr bwMode="auto">
          <a:xfrm>
            <a:off x="3132138" y="1450975"/>
            <a:ext cx="1271587" cy="1920875"/>
            <a:chOff x="3469990" y="1928813"/>
            <a:chExt cx="1271873" cy="1921067"/>
          </a:xfrm>
        </p:grpSpPr>
        <p:sp>
          <p:nvSpPr>
            <p:cNvPr id="8225" name="Line 22"/>
            <p:cNvSpPr>
              <a:spLocks noChangeShapeType="1"/>
            </p:cNvSpPr>
            <p:nvPr/>
          </p:nvSpPr>
          <p:spPr bwMode="auto">
            <a:xfrm flipH="1" flipV="1">
              <a:off x="3714750" y="2214563"/>
              <a:ext cx="1027113" cy="1247775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6" name="Text Box 23"/>
            <p:cNvSpPr txBox="1">
              <a:spLocks noChangeArrowheads="1"/>
            </p:cNvSpPr>
            <p:nvPr/>
          </p:nvSpPr>
          <p:spPr bwMode="auto">
            <a:xfrm>
              <a:off x="3469990" y="3330768"/>
              <a:ext cx="376238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0" i="1">
                  <a:solidFill>
                    <a:srgbClr val="FFFF00"/>
                  </a:solidFill>
                  <a:latin typeface="Bookman Old Style" panose="02050604050505020204" pitchFamily="18" charset="0"/>
                </a:rPr>
                <a:t>v</a:t>
              </a:r>
            </a:p>
          </p:txBody>
        </p:sp>
        <p:sp>
          <p:nvSpPr>
            <p:cNvPr id="8227" name="Line 24"/>
            <p:cNvSpPr>
              <a:spLocks noChangeShapeType="1"/>
            </p:cNvSpPr>
            <p:nvPr/>
          </p:nvSpPr>
          <p:spPr bwMode="auto">
            <a:xfrm>
              <a:off x="3714750" y="2239963"/>
              <a:ext cx="14288" cy="1260475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28" name="Object 38"/>
            <p:cNvGraphicFramePr>
              <a:graphicFrameLocks noChangeAspect="1"/>
            </p:cNvGraphicFramePr>
            <p:nvPr/>
          </p:nvGraphicFramePr>
          <p:xfrm>
            <a:off x="3929063" y="1928813"/>
            <a:ext cx="509587" cy="679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8" name="公式" r:id="rId19" imgW="100330" imgH="178435" progId="Equation.3">
                    <p:embed/>
                  </p:oleObj>
                </mc:Choice>
                <mc:Fallback>
                  <p:oleObj name="公式" r:id="rId19" imgW="100330" imgH="178435" progId="Equation.3">
                    <p:embed/>
                    <p:pic>
                      <p:nvPicPr>
                        <p:cNvPr id="8228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9063" y="1928813"/>
                          <a:ext cx="509587" cy="679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47"/>
          <p:cNvGrpSpPr/>
          <p:nvPr/>
        </p:nvGrpSpPr>
        <p:grpSpPr bwMode="auto">
          <a:xfrm>
            <a:off x="3498850" y="2549525"/>
            <a:ext cx="949325" cy="1306513"/>
            <a:chOff x="3498464" y="2646680"/>
            <a:chExt cx="949692" cy="1306194"/>
          </a:xfrm>
        </p:grpSpPr>
        <p:sp>
          <p:nvSpPr>
            <p:cNvPr id="8220" name="Text Box 25"/>
            <p:cNvSpPr txBox="1">
              <a:spLocks noChangeArrowheads="1"/>
            </p:cNvSpPr>
            <p:nvPr/>
          </p:nvSpPr>
          <p:spPr bwMode="auto">
            <a:xfrm>
              <a:off x="3498464" y="2646680"/>
              <a:ext cx="4254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0" i="1">
                  <a:solidFill>
                    <a:srgbClr val="FFFF00"/>
                  </a:solidFill>
                </a:rPr>
                <a:t>a</a:t>
              </a:r>
            </a:p>
          </p:txBody>
        </p:sp>
        <p:grpSp>
          <p:nvGrpSpPr>
            <p:cNvPr id="8221" name="组合 44"/>
            <p:cNvGrpSpPr/>
            <p:nvPr/>
          </p:nvGrpSpPr>
          <p:grpSpPr bwMode="auto">
            <a:xfrm>
              <a:off x="3590906" y="3074992"/>
              <a:ext cx="857250" cy="877882"/>
              <a:chOff x="3929063" y="3455988"/>
              <a:chExt cx="857250" cy="877882"/>
            </a:xfrm>
          </p:grpSpPr>
          <p:sp>
            <p:nvSpPr>
              <p:cNvPr id="8222" name="Line 2"/>
              <p:cNvSpPr>
                <a:spLocks noChangeShapeType="1"/>
              </p:cNvSpPr>
              <p:nvPr/>
            </p:nvSpPr>
            <p:spPr bwMode="auto">
              <a:xfrm flipH="1">
                <a:off x="3929063" y="3455988"/>
                <a:ext cx="828675" cy="687387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3" name="Line 35"/>
              <p:cNvSpPr>
                <a:spLocks noChangeShapeType="1"/>
              </p:cNvSpPr>
              <p:nvPr/>
            </p:nvSpPr>
            <p:spPr bwMode="auto">
              <a:xfrm flipH="1">
                <a:off x="3929063" y="3471863"/>
                <a:ext cx="0" cy="64770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prstDash val="dash"/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8224" name="Object 39"/>
              <p:cNvGraphicFramePr>
                <a:graphicFrameLocks noChangeAspect="1"/>
              </p:cNvGraphicFramePr>
              <p:nvPr/>
            </p:nvGraphicFramePr>
            <p:xfrm>
              <a:off x="4286250" y="3667120"/>
              <a:ext cx="500063" cy="6667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509" name="公式" r:id="rId21" imgW="100330" imgH="178435" progId="Equation.3">
                      <p:embed/>
                    </p:oleObj>
                  </mc:Choice>
                  <mc:Fallback>
                    <p:oleObj name="公式" r:id="rId21" imgW="100330" imgH="178435" progId="Equation.3">
                      <p:embed/>
                      <p:pic>
                        <p:nvPicPr>
                          <p:cNvPr id="8224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6250" y="3667120"/>
                            <a:ext cx="500063" cy="6667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6" name="Text Box 31"/>
          <p:cNvSpPr txBox="1">
            <a:spLocks noChangeArrowheads="1"/>
          </p:cNvSpPr>
          <p:nvPr/>
        </p:nvSpPr>
        <p:spPr bwMode="auto">
          <a:xfrm>
            <a:off x="785813" y="3832225"/>
            <a:ext cx="3429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矢量      在 </a:t>
            </a:r>
            <a:r>
              <a:rPr lang="en-US" altLang="zh-CN" i="1">
                <a:solidFill>
                  <a:srgbClr val="FFFF00"/>
                </a:solidFill>
              </a:rPr>
              <a:t>x </a:t>
            </a:r>
            <a:r>
              <a:rPr lang="zh-CN" altLang="en-US">
                <a:solidFill>
                  <a:schemeClr val="bg1"/>
                </a:solidFill>
              </a:rPr>
              <a:t>轴投影：</a:t>
            </a:r>
            <a:endParaRPr lang="en-US" altLang="zh-CN">
              <a:solidFill>
                <a:schemeClr val="bg1"/>
              </a:solidFill>
            </a:endParaRPr>
          </a:p>
        </p:txBody>
      </p:sp>
      <p:graphicFrame>
        <p:nvGraphicFramePr>
          <p:cNvPr id="213011" name="Object 43"/>
          <p:cNvGraphicFramePr>
            <a:graphicFrameLocks noChangeAspect="1"/>
          </p:cNvGraphicFramePr>
          <p:nvPr/>
        </p:nvGraphicFramePr>
        <p:xfrm>
          <a:off x="1547813" y="3836988"/>
          <a:ext cx="2873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0" name="公式" r:id="rId23" imgW="222885" imgH="312420" progId="Equation.3">
                  <p:embed/>
                </p:oleObj>
              </mc:Choice>
              <mc:Fallback>
                <p:oleObj name="公式" r:id="rId23" imgW="222885" imgH="312420" progId="Equation.3">
                  <p:embed/>
                  <p:pic>
                    <p:nvPicPr>
                      <p:cNvPr id="21301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836988"/>
                        <a:ext cx="287337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1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4D10941-2533-4601-A57E-B566EE6E5AD3}" type="slidenum">
              <a:rPr lang="en-US" altLang="zh-CN" b="0">
                <a:solidFill>
                  <a:srgbClr val="FF00FF"/>
                </a:solidFill>
              </a:rPr>
              <a:t>15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pSp>
        <p:nvGrpSpPr>
          <p:cNvPr id="14" name="Group 51"/>
          <p:cNvGrpSpPr/>
          <p:nvPr/>
        </p:nvGrpSpPr>
        <p:grpSpPr bwMode="auto">
          <a:xfrm>
            <a:off x="785813" y="884238"/>
            <a:ext cx="3065462" cy="525462"/>
            <a:chOff x="495" y="618"/>
            <a:chExt cx="1931" cy="331"/>
          </a:xfrm>
        </p:grpSpPr>
        <p:sp>
          <p:nvSpPr>
            <p:cNvPr id="8217" name="Text Box 31"/>
            <p:cNvSpPr txBox="1">
              <a:spLocks noChangeArrowheads="1"/>
            </p:cNvSpPr>
            <p:nvPr/>
          </p:nvSpPr>
          <p:spPr bwMode="auto">
            <a:xfrm>
              <a:off x="495" y="630"/>
              <a:ext cx="17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引进矢量     ，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  <p:graphicFrame>
          <p:nvGraphicFramePr>
            <p:cNvPr id="8218" name="Object 42"/>
            <p:cNvGraphicFramePr>
              <a:graphicFrameLocks noChangeAspect="1"/>
            </p:cNvGraphicFramePr>
            <p:nvPr/>
          </p:nvGraphicFramePr>
          <p:xfrm>
            <a:off x="1338" y="663"/>
            <a:ext cx="17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11" name="公式" r:id="rId25" imgW="222885" imgH="312420" progId="Equation.3">
                    <p:embed/>
                  </p:oleObj>
                </mc:Choice>
                <mc:Fallback>
                  <p:oleObj name="公式" r:id="rId25" imgW="222885" imgH="312420" progId="Equation.3">
                    <p:embed/>
                    <p:pic>
                      <p:nvPicPr>
                        <p:cNvPr id="8218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663"/>
                          <a:ext cx="170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9" name="Object 50"/>
            <p:cNvGraphicFramePr>
              <a:graphicFrameLocks noChangeAspect="1"/>
            </p:cNvGraphicFramePr>
            <p:nvPr/>
          </p:nvGraphicFramePr>
          <p:xfrm>
            <a:off x="1737" y="618"/>
            <a:ext cx="689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12" name="公式" r:id="rId27" imgW="624205" imgH="234315" progId="Equation.3">
                    <p:embed/>
                  </p:oleObj>
                </mc:Choice>
                <mc:Fallback>
                  <p:oleObj name="公式" r:id="rId27" imgW="624205" imgH="234315" progId="Equation.3">
                    <p:embed/>
                    <p:pic>
                      <p:nvPicPr>
                        <p:cNvPr id="8219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7" y="618"/>
                          <a:ext cx="689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3733" name="Text Box 37"/>
          <p:cNvSpPr txBox="1">
            <a:spLocks noChangeArrowheads="1"/>
          </p:cNvSpPr>
          <p:nvPr/>
        </p:nvSpPr>
        <p:spPr bwMode="auto">
          <a:xfrm>
            <a:off x="6661150" y="3836988"/>
            <a:ext cx="24828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</a:rPr>
              <a:t>— </a:t>
            </a:r>
            <a:r>
              <a:rPr lang="zh-CN" altLang="en-US" sz="2200">
                <a:solidFill>
                  <a:schemeClr val="bg1"/>
                </a:solidFill>
              </a:rPr>
              <a:t>运动学方程</a:t>
            </a:r>
          </a:p>
        </p:txBody>
      </p:sp>
      <p:sp>
        <p:nvSpPr>
          <p:cNvPr id="52" name="Text Box 31"/>
          <p:cNvSpPr txBox="1">
            <a:spLocks noChangeArrowheads="1"/>
          </p:cNvSpPr>
          <p:nvPr/>
        </p:nvSpPr>
        <p:spPr bwMode="auto">
          <a:xfrm>
            <a:off x="714375" y="4332288"/>
            <a:ext cx="7786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注意</a:t>
            </a:r>
            <a:r>
              <a:rPr lang="en-US" altLang="zh-CN">
                <a:solidFill>
                  <a:srgbClr val="FFFF00"/>
                </a:solidFill>
              </a:rPr>
              <a:t>:  </a:t>
            </a:r>
            <a:r>
              <a:rPr lang="zh-CN" altLang="en-US">
                <a:solidFill>
                  <a:schemeClr val="bg1"/>
                </a:solidFill>
              </a:rPr>
              <a:t>旋转矢量法</a:t>
            </a:r>
            <a:endParaRPr lang="en-US" altLang="zh-CN">
              <a:solidFill>
                <a:schemeClr val="bg1"/>
              </a:solidFill>
            </a:endParaRPr>
          </a:p>
        </p:txBody>
      </p:sp>
      <p:graphicFrame>
        <p:nvGraphicFramePr>
          <p:cNvPr id="53" name="Object 53"/>
          <p:cNvGraphicFramePr>
            <a:graphicFrameLocks noChangeAspect="1"/>
          </p:cNvGraphicFramePr>
          <p:nvPr/>
        </p:nvGraphicFramePr>
        <p:xfrm>
          <a:off x="3235325" y="4332288"/>
          <a:ext cx="56229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3" name="公式" r:id="rId29" imgW="3702050" imgH="234315" progId="Equation.3">
                  <p:embed/>
                </p:oleObj>
              </mc:Choice>
              <mc:Fallback>
                <p:oleObj name="公式" r:id="rId29" imgW="3702050" imgH="234315" progId="Equation.3">
                  <p:embed/>
                  <p:pic>
                    <p:nvPicPr>
                      <p:cNvPr id="53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325" y="4332288"/>
                        <a:ext cx="5622925" cy="52546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动作按钮: 后退或前一项 53">
            <a:hlinkClick r:id="rId31" action="ppaction://program" highlightClick="1"/>
          </p:cNvPr>
          <p:cNvSpPr>
            <a:spLocks noChangeArrowheads="1"/>
          </p:cNvSpPr>
          <p:nvPr/>
        </p:nvSpPr>
        <p:spPr bwMode="auto">
          <a:xfrm>
            <a:off x="7715250" y="331788"/>
            <a:ext cx="642938" cy="357187"/>
          </a:xfrm>
          <a:prstGeom prst="actionButtonBackPrevious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1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1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1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1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5" grpId="0"/>
      <p:bldP spid="212995" grpId="0" autoUpdateAnimBg="0"/>
      <p:bldP spid="213023" grpId="0"/>
      <p:bldP spid="58" grpId="0" animBg="1"/>
      <p:bldP spid="46" grpId="0"/>
      <p:bldP spid="413733" grpId="0" build="p" autoUpdateAnimBg="0"/>
      <p:bldP spid="52" grpId="0"/>
      <p:bldP spid="5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1213</TotalTime>
  <Words>1088</Words>
  <Application>Microsoft Office PowerPoint</Application>
  <PresentationFormat>全屏显示(4:3)</PresentationFormat>
  <Paragraphs>259</Paragraphs>
  <Slides>15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Monotype Sorts</vt:lpstr>
      <vt:lpstr>华文仿宋</vt:lpstr>
      <vt:lpstr>楷体_GB2312</vt:lpstr>
      <vt:lpstr>宋体</vt:lpstr>
      <vt:lpstr>Arial</vt:lpstr>
      <vt:lpstr>Bookman Old Style</vt:lpstr>
      <vt:lpstr>Symbol</vt:lpstr>
      <vt:lpstr>Times New Roman</vt:lpstr>
      <vt:lpstr>默认设计模板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1282</cp:revision>
  <cp:lastPrinted>2025-09-08T06:15:41Z</cp:lastPrinted>
  <dcterms:created xsi:type="dcterms:W3CDTF">1998-11-21T01:35:00Z</dcterms:created>
  <dcterms:modified xsi:type="dcterms:W3CDTF">2025-09-09T02:10:54Z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