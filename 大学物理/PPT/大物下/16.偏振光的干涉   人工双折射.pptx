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39" r:id="rId2"/>
    <p:sldId id="587" r:id="rId3"/>
    <p:sldId id="588" r:id="rId4"/>
    <p:sldId id="589" r:id="rId5"/>
    <p:sldId id="590" r:id="rId6"/>
    <p:sldId id="592" r:id="rId7"/>
    <p:sldId id="593" r:id="rId8"/>
    <p:sldId id="594" r:id="rId9"/>
    <p:sldId id="595" r:id="rId10"/>
    <p:sldId id="596" r:id="rId11"/>
    <p:sldId id="597" r:id="rId12"/>
    <p:sldId id="598" r:id="rId13"/>
    <p:sldId id="599" r:id="rId14"/>
    <p:sldId id="600" r:id="rId15"/>
    <p:sldId id="601" r:id="rId16"/>
    <p:sldId id="602" r:id="rId17"/>
    <p:sldId id="603" r:id="rId18"/>
    <p:sldId id="604" r:id="rId19"/>
    <p:sldId id="605" r:id="rId20"/>
    <p:sldId id="606" r:id="rId21"/>
    <p:sldId id="545" r:id="rId22"/>
    <p:sldId id="546" r:id="rId23"/>
    <p:sldId id="548" r:id="rId24"/>
    <p:sldId id="549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456" r:id="rId33"/>
    <p:sldId id="458" r:id="rId34"/>
  </p:sldIdLst>
  <p:sldSz cx="9144000" cy="6858000" type="screen4x3"/>
  <p:notesSz cx="6797675" cy="9928225"/>
  <p:custDataLst>
    <p:tags r:id="rId3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10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18" Type="http://schemas.openxmlformats.org/officeDocument/2006/relationships/image" Target="../media/image19.emf"/><Relationship Id="rId3" Type="http://schemas.openxmlformats.org/officeDocument/2006/relationships/image" Target="../media/image4.emf"/><Relationship Id="rId21" Type="http://schemas.openxmlformats.org/officeDocument/2006/relationships/image" Target="../media/image22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17" Type="http://schemas.openxmlformats.org/officeDocument/2006/relationships/image" Target="../media/image18.emf"/><Relationship Id="rId2" Type="http://schemas.openxmlformats.org/officeDocument/2006/relationships/image" Target="../media/image3.emf"/><Relationship Id="rId16" Type="http://schemas.openxmlformats.org/officeDocument/2006/relationships/image" Target="../media/image17.emf"/><Relationship Id="rId20" Type="http://schemas.openxmlformats.org/officeDocument/2006/relationships/image" Target="../media/image21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6.emf"/><Relationship Id="rId15" Type="http://schemas.openxmlformats.org/officeDocument/2006/relationships/image" Target="../media/image16.emf"/><Relationship Id="rId10" Type="http://schemas.openxmlformats.org/officeDocument/2006/relationships/image" Target="../media/image11.emf"/><Relationship Id="rId19" Type="http://schemas.openxmlformats.org/officeDocument/2006/relationships/image" Target="../media/image20.emf"/><Relationship Id="rId4" Type="http://schemas.openxmlformats.org/officeDocument/2006/relationships/image" Target="../media/image5.emf"/><Relationship Id="rId9" Type="http://schemas.openxmlformats.org/officeDocument/2006/relationships/image" Target="../media/image10.emf"/><Relationship Id="rId14" Type="http://schemas.openxmlformats.org/officeDocument/2006/relationships/image" Target="../media/image15.emf"/><Relationship Id="rId22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2.emf"/><Relationship Id="rId7" Type="http://schemas.openxmlformats.org/officeDocument/2006/relationships/image" Target="../media/image46.emf"/><Relationship Id="rId12" Type="http://schemas.openxmlformats.org/officeDocument/2006/relationships/image" Target="../media/image51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6" Type="http://schemas.openxmlformats.org/officeDocument/2006/relationships/image" Target="../media/image45.emf"/><Relationship Id="rId11" Type="http://schemas.openxmlformats.org/officeDocument/2006/relationships/image" Target="../media/image50.emf"/><Relationship Id="rId5" Type="http://schemas.openxmlformats.org/officeDocument/2006/relationships/image" Target="../media/image44.emf"/><Relationship Id="rId10" Type="http://schemas.openxmlformats.org/officeDocument/2006/relationships/image" Target="../media/image49.emf"/><Relationship Id="rId4" Type="http://schemas.openxmlformats.org/officeDocument/2006/relationships/image" Target="../media/image43.emf"/><Relationship Id="rId9" Type="http://schemas.openxmlformats.org/officeDocument/2006/relationships/image" Target="../media/image4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71.emf"/><Relationship Id="rId3" Type="http://schemas.openxmlformats.org/officeDocument/2006/relationships/image" Target="../media/image61.emf"/><Relationship Id="rId7" Type="http://schemas.openxmlformats.org/officeDocument/2006/relationships/image" Target="../media/image65.emf"/><Relationship Id="rId12" Type="http://schemas.openxmlformats.org/officeDocument/2006/relationships/image" Target="../media/image70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Relationship Id="rId6" Type="http://schemas.openxmlformats.org/officeDocument/2006/relationships/image" Target="../media/image64.emf"/><Relationship Id="rId11" Type="http://schemas.openxmlformats.org/officeDocument/2006/relationships/image" Target="../media/image69.emf"/><Relationship Id="rId5" Type="http://schemas.openxmlformats.org/officeDocument/2006/relationships/image" Target="../media/image63.emf"/><Relationship Id="rId10" Type="http://schemas.openxmlformats.org/officeDocument/2006/relationships/image" Target="../media/image68.emf"/><Relationship Id="rId4" Type="http://schemas.openxmlformats.org/officeDocument/2006/relationships/image" Target="../media/image62.emf"/><Relationship Id="rId9" Type="http://schemas.openxmlformats.org/officeDocument/2006/relationships/image" Target="../media/image67.emf"/><Relationship Id="rId14" Type="http://schemas.openxmlformats.org/officeDocument/2006/relationships/image" Target="../media/image72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image" Target="../media/image85.emf"/><Relationship Id="rId18" Type="http://schemas.openxmlformats.org/officeDocument/2006/relationships/image" Target="../media/image90.emf"/><Relationship Id="rId3" Type="http://schemas.openxmlformats.org/officeDocument/2006/relationships/image" Target="../media/image75.emf"/><Relationship Id="rId7" Type="http://schemas.openxmlformats.org/officeDocument/2006/relationships/image" Target="../media/image79.emf"/><Relationship Id="rId12" Type="http://schemas.openxmlformats.org/officeDocument/2006/relationships/image" Target="../media/image84.emf"/><Relationship Id="rId17" Type="http://schemas.openxmlformats.org/officeDocument/2006/relationships/image" Target="../media/image89.emf"/><Relationship Id="rId2" Type="http://schemas.openxmlformats.org/officeDocument/2006/relationships/image" Target="../media/image74.emf"/><Relationship Id="rId16" Type="http://schemas.openxmlformats.org/officeDocument/2006/relationships/image" Target="../media/image88.emf"/><Relationship Id="rId20" Type="http://schemas.openxmlformats.org/officeDocument/2006/relationships/image" Target="../media/image92.emf"/><Relationship Id="rId1" Type="http://schemas.openxmlformats.org/officeDocument/2006/relationships/image" Target="../media/image73.emf"/><Relationship Id="rId6" Type="http://schemas.openxmlformats.org/officeDocument/2006/relationships/image" Target="../media/image78.emf"/><Relationship Id="rId11" Type="http://schemas.openxmlformats.org/officeDocument/2006/relationships/image" Target="../media/image83.emf"/><Relationship Id="rId5" Type="http://schemas.openxmlformats.org/officeDocument/2006/relationships/image" Target="../media/image77.emf"/><Relationship Id="rId15" Type="http://schemas.openxmlformats.org/officeDocument/2006/relationships/image" Target="../media/image87.emf"/><Relationship Id="rId10" Type="http://schemas.openxmlformats.org/officeDocument/2006/relationships/image" Target="../media/image82.emf"/><Relationship Id="rId19" Type="http://schemas.openxmlformats.org/officeDocument/2006/relationships/image" Target="../media/image91.emf"/><Relationship Id="rId4" Type="http://schemas.openxmlformats.org/officeDocument/2006/relationships/image" Target="../media/image76.emf"/><Relationship Id="rId9" Type="http://schemas.openxmlformats.org/officeDocument/2006/relationships/image" Target="../media/image81.emf"/><Relationship Id="rId14" Type="http://schemas.openxmlformats.org/officeDocument/2006/relationships/image" Target="../media/image86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4" Type="http://schemas.openxmlformats.org/officeDocument/2006/relationships/image" Target="../media/image96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emf"/><Relationship Id="rId7" Type="http://schemas.openxmlformats.org/officeDocument/2006/relationships/image" Target="../media/image103.emf"/><Relationship Id="rId12" Type="http://schemas.openxmlformats.org/officeDocument/2006/relationships/image" Target="../media/image108.emf"/><Relationship Id="rId2" Type="http://schemas.openxmlformats.org/officeDocument/2006/relationships/image" Target="../media/image98.emf"/><Relationship Id="rId1" Type="http://schemas.openxmlformats.org/officeDocument/2006/relationships/image" Target="../media/image97.emf"/><Relationship Id="rId6" Type="http://schemas.openxmlformats.org/officeDocument/2006/relationships/image" Target="../media/image102.emf"/><Relationship Id="rId11" Type="http://schemas.openxmlformats.org/officeDocument/2006/relationships/image" Target="../media/image107.emf"/><Relationship Id="rId5" Type="http://schemas.openxmlformats.org/officeDocument/2006/relationships/image" Target="../media/image101.emf"/><Relationship Id="rId10" Type="http://schemas.openxmlformats.org/officeDocument/2006/relationships/image" Target="../media/image106.emf"/><Relationship Id="rId4" Type="http://schemas.openxmlformats.org/officeDocument/2006/relationships/image" Target="../media/image100.emf"/><Relationship Id="rId9" Type="http://schemas.openxmlformats.org/officeDocument/2006/relationships/image" Target="../media/image10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7" Type="http://schemas.openxmlformats.org/officeDocument/2006/relationships/image" Target="../media/image120.e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Relationship Id="rId6" Type="http://schemas.openxmlformats.org/officeDocument/2006/relationships/image" Target="../media/image119.emf"/><Relationship Id="rId5" Type="http://schemas.openxmlformats.org/officeDocument/2006/relationships/image" Target="../media/image118.emf"/><Relationship Id="rId4" Type="http://schemas.openxmlformats.org/officeDocument/2006/relationships/image" Target="../media/image11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image" Target="../media/image13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emf"/><Relationship Id="rId3" Type="http://schemas.openxmlformats.org/officeDocument/2006/relationships/image" Target="../media/image140.emf"/><Relationship Id="rId7" Type="http://schemas.openxmlformats.org/officeDocument/2006/relationships/image" Target="../media/image144.emf"/><Relationship Id="rId2" Type="http://schemas.openxmlformats.org/officeDocument/2006/relationships/image" Target="../media/image139.emf"/><Relationship Id="rId1" Type="http://schemas.openxmlformats.org/officeDocument/2006/relationships/image" Target="../media/image138.emf"/><Relationship Id="rId6" Type="http://schemas.openxmlformats.org/officeDocument/2006/relationships/image" Target="../media/image143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Relationship Id="rId9" Type="http://schemas.openxmlformats.org/officeDocument/2006/relationships/image" Target="../media/image146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image" Target="../media/image150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image" Target="../media/image155.emf"/><Relationship Id="rId1" Type="http://schemas.openxmlformats.org/officeDocument/2006/relationships/image" Target="../media/image154.emf"/><Relationship Id="rId5" Type="http://schemas.openxmlformats.org/officeDocument/2006/relationships/image" Target="../media/image158.emf"/><Relationship Id="rId4" Type="http://schemas.openxmlformats.org/officeDocument/2006/relationships/image" Target="../media/image157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emf"/><Relationship Id="rId3" Type="http://schemas.openxmlformats.org/officeDocument/2006/relationships/image" Target="../media/image161.emf"/><Relationship Id="rId7" Type="http://schemas.openxmlformats.org/officeDocument/2006/relationships/image" Target="../media/image165.emf"/><Relationship Id="rId2" Type="http://schemas.openxmlformats.org/officeDocument/2006/relationships/image" Target="../media/image160.emf"/><Relationship Id="rId1" Type="http://schemas.openxmlformats.org/officeDocument/2006/relationships/image" Target="../media/image159.emf"/><Relationship Id="rId6" Type="http://schemas.openxmlformats.org/officeDocument/2006/relationships/image" Target="../media/image164.emf"/><Relationship Id="rId5" Type="http://schemas.openxmlformats.org/officeDocument/2006/relationships/image" Target="../media/image163.emf"/><Relationship Id="rId10" Type="http://schemas.openxmlformats.org/officeDocument/2006/relationships/image" Target="../media/image168.emf"/><Relationship Id="rId4" Type="http://schemas.openxmlformats.org/officeDocument/2006/relationships/image" Target="../media/image162.emf"/><Relationship Id="rId9" Type="http://schemas.openxmlformats.org/officeDocument/2006/relationships/image" Target="../media/image167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Relationship Id="rId4" Type="http://schemas.openxmlformats.org/officeDocument/2006/relationships/image" Target="../media/image172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3" Type="http://schemas.openxmlformats.org/officeDocument/2006/relationships/image" Target="../media/image175.emf"/><Relationship Id="rId7" Type="http://schemas.openxmlformats.org/officeDocument/2006/relationships/image" Target="../media/image179.emf"/><Relationship Id="rId2" Type="http://schemas.openxmlformats.org/officeDocument/2006/relationships/image" Target="../media/image174.emf"/><Relationship Id="rId1" Type="http://schemas.openxmlformats.org/officeDocument/2006/relationships/image" Target="../media/image173.emf"/><Relationship Id="rId6" Type="http://schemas.openxmlformats.org/officeDocument/2006/relationships/image" Target="../media/image178.emf"/><Relationship Id="rId5" Type="http://schemas.openxmlformats.org/officeDocument/2006/relationships/image" Target="../media/image177.emf"/><Relationship Id="rId10" Type="http://schemas.openxmlformats.org/officeDocument/2006/relationships/image" Target="../media/image182.emf"/><Relationship Id="rId4" Type="http://schemas.openxmlformats.org/officeDocument/2006/relationships/image" Target="../media/image176.emf"/><Relationship Id="rId9" Type="http://schemas.openxmlformats.org/officeDocument/2006/relationships/image" Target="../media/image181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e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Relationship Id="rId5" Type="http://schemas.openxmlformats.org/officeDocument/2006/relationships/image" Target="../media/image187.emf"/><Relationship Id="rId4" Type="http://schemas.openxmlformats.org/officeDocument/2006/relationships/image" Target="../media/image186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emf"/><Relationship Id="rId2" Type="http://schemas.openxmlformats.org/officeDocument/2006/relationships/image" Target="../media/image189.emf"/><Relationship Id="rId1" Type="http://schemas.openxmlformats.org/officeDocument/2006/relationships/image" Target="../media/image188.emf"/><Relationship Id="rId6" Type="http://schemas.openxmlformats.org/officeDocument/2006/relationships/image" Target="../media/image193.emf"/><Relationship Id="rId5" Type="http://schemas.openxmlformats.org/officeDocument/2006/relationships/image" Target="../media/image192.emf"/><Relationship Id="rId4" Type="http://schemas.openxmlformats.org/officeDocument/2006/relationships/image" Target="../media/image191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emf"/><Relationship Id="rId2" Type="http://schemas.openxmlformats.org/officeDocument/2006/relationships/image" Target="../media/image195.emf"/><Relationship Id="rId1" Type="http://schemas.openxmlformats.org/officeDocument/2006/relationships/image" Target="../media/image194.emf"/><Relationship Id="rId4" Type="http://schemas.openxmlformats.org/officeDocument/2006/relationships/image" Target="../media/image197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098296A2-32BA-481D-81DF-E54A98BE2E9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D802E12-A547-4524-86C9-59C3138C334E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163C851-452F-4983-A8B9-06FA04D8AE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0164591-CF1F-4BDB-B681-545372162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71386B88-1794-4251-B723-DF061D7833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89335436-9C93-45A2-8E0B-08BFC6097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https://image.baidu.com/search/detail?ct=503316480&amp;z=0&amp;ipn=d&amp;word=%E5%8F%B3%E6%97%8B%E5%9C%86%E5%81%8F%E6%8C%AF%E5%85%89&amp;step_word=&amp;hs=0&amp;pn=73&amp;spn=0&amp;di=33660&amp;pi=0&amp;rn=1&amp;tn=baiduimagedetail&amp;is=0%2C0&amp;istype=0&amp;ie=utf-8&amp;oe=utf-8&amp;in=&amp;cl=2&amp;lm=-1&amp;st=undefined&amp;cs=2647297630%2C1340718233&amp;os=605493496%2C3381495584&amp;simid=3501420481%2C413838625&amp;adpicid=0&amp;lpn=0&amp;ln=348&amp;fr=&amp;fmq=1636585830075_R&amp;fm=&amp;ic=undefined&amp;s=undefined&amp;hd=undefined&amp;latest=undefined&amp;copyright=undefined&amp;se=&amp;sme=&amp;tab=0&amp;width=undefined&amp;height=undefined&amp;face=undefined&amp;ist=&amp;jit=&amp;cg=&amp;bdtype=0&amp;oriquery=&amp;objurl=https%3A%2F%2Fgimg2.baidu.com%2Fimage_search%2Fsrc%3Dhttp%3A%2F%2Fs2.sinaimg.cn%2Fmiddle%2F554f6db1t841765ce0761%26690%26refer%3Dhttp%3A%2F%2Fs2.sinaimg.cn%26app%3D2002%26size%3Df9999%2C10000%26q%3Da80%26n%3D0%26g%3D0n%26fmt%3Djpeg%3Fsec%3D1639177836%26t%3Dc436e4acda2d12d48cec36909e99a82b&amp;fromurl=ippr_z2C%24qAzdH3FAzdH3Fks52_z%26e3Bftgw_z%26e3Bv54_z%26e3BvgAzdH3FfAzdH3Fks52_cc9um1k8a8aa3hqx_z%26e3Bip4s&amp;gsm=4a&amp;rpstart=0&amp;rpnum=0&amp;islist=&amp;querylist=&amp;nojc=undefined&amp;dyTabStr=MCwzLDUsNCw2LDEsMiw4LDcsOQ%3D%3D</a:t>
            </a:r>
            <a:endParaRPr lang="zh-CN" altLang="en-US" dirty="0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B1F5C1D8-048F-459F-9CDD-4BCFB348C5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B71B4D5-42C7-40BC-8061-8E5E2E383C04}" type="slidenum">
              <a:rPr lang="en-US" altLang="zh-CN" sz="1200" smtClean="0"/>
              <a:pPr/>
              <a:t>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7FDA2406-A5EE-48D9-9E49-3534C615279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DFFCCBA-E5C8-4C9B-A184-4506424EBDD3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6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6359518D-3F87-495A-A453-24321EB10D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99C78E5-AC21-4E20-9D6D-2CB91217D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9F448465-9DAA-4B44-9EB0-CAD4449650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2FCABD-8799-4F3B-A5A8-C62B6EB39C7A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4A7CDF7-ED72-411A-AD3D-F3397CD13C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E395AF5-2BCA-4064-8E3B-43F4B312E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8E02AD01-AD77-4948-AEA7-3D5312CD5B1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5D3E70-E666-4220-8360-4601E658398E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C27A29F-45A2-4622-BE22-88703FC602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B5F9DB4-3135-47A4-9D7A-1588BB564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AE553184-904C-47F1-BE1F-F355040DCCD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688E0B7-1C86-452C-B973-825DAA5F83DC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3555" name="Rectangle 7">
            <a:extLst>
              <a:ext uri="{FF2B5EF4-FFF2-40B4-BE49-F238E27FC236}">
                <a16:creationId xmlns:a16="http://schemas.microsoft.com/office/drawing/2014/main" id="{758DC8F4-1A4B-4629-9B4E-64D993F67D7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1CE61E2-2F8B-4761-B9C1-072EE8FBBC86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E30CD6DD-7748-48E8-B1F2-E521B751D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91010F20-DA03-46FB-8A42-1744B2CD0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9936C4C4-392C-4566-B040-51B0EBA2154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549D603-1940-4A84-BEB6-0405DFACE00B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0430E60-2633-4AD3-967F-E943402F1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A7ED464-92C0-4ABA-B211-7595C3E4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CB271A7-7F0B-42E6-99F3-4F827590F85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6F33AE-211A-4CAD-8753-1B23265B5AF5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FE64DB7-BFA2-4CC9-9C8C-16224542D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72D6AE3-E64E-414C-8DE4-0BD28EFF6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FC20465-427C-4342-B35E-0AD8C2612DF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50E82D-33B6-4328-BB15-1F6E0B00230F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15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419054E-374C-41AF-A6E8-690012C75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17A09B6-03EE-44F9-A735-746C34026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A02EE4F-214C-4298-B244-C7709581F62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57E9A3E-36E1-41CC-A342-D06519BE3D40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74322B6-B772-4AB1-9CE3-7C6312AA4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1BAA77E-AACA-4D8D-B196-E4E7B47AA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91EA4F7-5BF5-4866-B5DF-FD6980761C1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8DBB3B4-4C87-4235-9FCA-DDF54B09E592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20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41ED346-C7EB-4188-A39C-6A2A37EDA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B3E196B-997C-4E7E-AB6F-142CF47B7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8D932E6-B920-40EC-92D3-82889EA41827}" type="slidenum">
              <a:rPr lang="en-US" altLang="zh-CN" smtClean="0">
                <a:latin typeface="Arial" panose="020B0604020202020204" pitchFamily="34" charset="0"/>
              </a:rPr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B5A58A-F4AB-44CC-8090-525C3E90BA4F}" type="slidenum">
              <a:rPr lang="en-US" altLang="zh-CN" smtClean="0">
                <a:latin typeface="Arial" panose="020B0604020202020204" pitchFamily="34" charset="0"/>
              </a:rPr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96D12CA6-5241-4BF1-BEFD-38D57E159E3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24107B1-D4A7-4B34-8044-F6B4474F0BB6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25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0B9CE6C-2E00-4FAD-843C-F1785EFD8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DA02FA2-71E6-4524-95C6-F8632729D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0F28818-E4A9-4A0B-B7A5-78E49D03E13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F590160-3FEA-46F4-9FFA-E54A1C82FC79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26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E0089EF-5595-449B-933E-81D8683BE5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A77B0CD-5C41-4B55-BA37-AC7778660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FDB8670C-0FDC-43D3-884A-F46F9FA4812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BD25E59-6553-4A5C-B56E-C425BCACB7F9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27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0BB64A4-79ED-4DA4-9576-9CA2818A2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3C5B7686-8162-42AD-B180-DEAF8AF7B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40424BCE-6AF9-43EF-88B4-E0D6D675D1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3ADB962-79FB-4FED-892A-7173CF560D51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28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92082EA-7217-4624-BF5F-678E15E65E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779F0CF-174B-401E-880F-16DB0BE0C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4C5E425-AD1F-495E-8872-8FAFD8423E7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F7B16F-477F-45BD-A780-4412A24C8482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29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C63440C-2A7A-4616-8521-E799CC029D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C2976C6-0BDF-4B4E-BFCF-FC1DF0C1D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2F7B2BF-FE78-4A07-867A-10F336D5D67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26AA5B1-298B-4F8D-861B-C5B035AF5662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30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FDCDABB-90C2-410F-9E8E-FD24C8942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FCD190B-D14E-48B4-B518-2ED323805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8165710E-39C6-4AEA-8E3A-285D232745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684480" y="9971873"/>
            <a:ext cx="2819956" cy="5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B690473-674D-4D70-8E3B-194FD9CF5415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31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26A80EA-33BA-43BB-8F02-29606ECB1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1652E21F-FDA8-46BA-8F78-91148F1DF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92" y="4987616"/>
            <a:ext cx="5205372" cy="472404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e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9.emf"/><Relationship Id="rId21" Type="http://schemas.openxmlformats.org/officeDocument/2006/relationships/image" Target="../media/image10.e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47" Type="http://schemas.openxmlformats.org/officeDocument/2006/relationships/image" Target="../media/image23.emf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4.e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8.e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2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emf"/><Relationship Id="rId31" Type="http://schemas.openxmlformats.org/officeDocument/2006/relationships/image" Target="../media/image15.emf"/><Relationship Id="rId44" Type="http://schemas.openxmlformats.org/officeDocument/2006/relationships/oleObject" Target="../embeddings/oleObject21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3.e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7.emf"/><Relationship Id="rId43" Type="http://schemas.openxmlformats.org/officeDocument/2006/relationships/image" Target="../media/image21.emf"/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33" Type="http://schemas.openxmlformats.org/officeDocument/2006/relationships/image" Target="../media/image16.emf"/><Relationship Id="rId38" Type="http://schemas.openxmlformats.org/officeDocument/2006/relationships/oleObject" Target="../embeddings/oleObject18.bin"/><Relationship Id="rId46" Type="http://schemas.openxmlformats.org/officeDocument/2006/relationships/oleObject" Target="../embeddings/oleObject22.bin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2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0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6.emf"/><Relationship Id="rId18" Type="http://schemas.openxmlformats.org/officeDocument/2006/relationships/oleObject" Target="../embeddings/oleObject3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5" Type="http://schemas.openxmlformats.org/officeDocument/2006/relationships/image" Target="../media/image37.e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9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4.emf"/><Relationship Id="rId14" Type="http://schemas.openxmlformats.org/officeDocument/2006/relationships/oleObject" Target="../embeddings/oleObject3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4.e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48.emf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6.emf"/><Relationship Id="rId25" Type="http://schemas.openxmlformats.org/officeDocument/2006/relationships/image" Target="../media/image5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3.emf"/><Relationship Id="rId24" Type="http://schemas.openxmlformats.org/officeDocument/2006/relationships/oleObject" Target="../embeddings/oleObject47.bin"/><Relationship Id="rId5" Type="http://schemas.openxmlformats.org/officeDocument/2006/relationships/image" Target="../media/image40.emf"/><Relationship Id="rId15" Type="http://schemas.openxmlformats.org/officeDocument/2006/relationships/image" Target="../media/image45.emf"/><Relationship Id="rId23" Type="http://schemas.openxmlformats.org/officeDocument/2006/relationships/image" Target="../media/image49.e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7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2.e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5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3.e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55.e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6.emf"/><Relationship Id="rId26" Type="http://schemas.openxmlformats.org/officeDocument/2006/relationships/image" Target="../media/image70.emf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3.emf"/><Relationship Id="rId17" Type="http://schemas.openxmlformats.org/officeDocument/2006/relationships/oleObject" Target="../embeddings/oleObject63.bin"/><Relationship Id="rId25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emf"/><Relationship Id="rId20" Type="http://schemas.openxmlformats.org/officeDocument/2006/relationships/image" Target="../media/image67.emf"/><Relationship Id="rId29" Type="http://schemas.openxmlformats.org/officeDocument/2006/relationships/oleObject" Target="../embeddings/oleObject69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60.bin"/><Relationship Id="rId24" Type="http://schemas.openxmlformats.org/officeDocument/2006/relationships/image" Target="../media/image69.emf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23" Type="http://schemas.openxmlformats.org/officeDocument/2006/relationships/oleObject" Target="../embeddings/oleObject66.bin"/><Relationship Id="rId28" Type="http://schemas.openxmlformats.org/officeDocument/2006/relationships/image" Target="../media/image71.emf"/><Relationship Id="rId10" Type="http://schemas.openxmlformats.org/officeDocument/2006/relationships/image" Target="../media/image62.e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59.e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4.emf"/><Relationship Id="rId22" Type="http://schemas.openxmlformats.org/officeDocument/2006/relationships/image" Target="../media/image68.emf"/><Relationship Id="rId27" Type="http://schemas.openxmlformats.org/officeDocument/2006/relationships/oleObject" Target="../embeddings/oleObject68.bin"/><Relationship Id="rId30" Type="http://schemas.openxmlformats.org/officeDocument/2006/relationships/image" Target="../media/image72.e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emf"/><Relationship Id="rId18" Type="http://schemas.openxmlformats.org/officeDocument/2006/relationships/oleObject" Target="../embeddings/oleObject77.bin"/><Relationship Id="rId26" Type="http://schemas.openxmlformats.org/officeDocument/2006/relationships/oleObject" Target="../embeddings/oleObject81.bin"/><Relationship Id="rId39" Type="http://schemas.openxmlformats.org/officeDocument/2006/relationships/image" Target="../media/image90.emf"/><Relationship Id="rId21" Type="http://schemas.openxmlformats.org/officeDocument/2006/relationships/image" Target="../media/image81.emf"/><Relationship Id="rId34" Type="http://schemas.openxmlformats.org/officeDocument/2006/relationships/oleObject" Target="../embeddings/oleObject85.bin"/><Relationship Id="rId42" Type="http://schemas.openxmlformats.org/officeDocument/2006/relationships/oleObject" Target="../embeddings/oleObject89.bin"/><Relationship Id="rId7" Type="http://schemas.openxmlformats.org/officeDocument/2006/relationships/image" Target="../media/image7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29" Type="http://schemas.openxmlformats.org/officeDocument/2006/relationships/image" Target="../media/image85.emf"/><Relationship Id="rId41" Type="http://schemas.openxmlformats.org/officeDocument/2006/relationships/image" Target="../media/image91.e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6.emf"/><Relationship Id="rId24" Type="http://schemas.openxmlformats.org/officeDocument/2006/relationships/oleObject" Target="../embeddings/oleObject80.bin"/><Relationship Id="rId32" Type="http://schemas.openxmlformats.org/officeDocument/2006/relationships/oleObject" Target="../embeddings/oleObject84.bin"/><Relationship Id="rId37" Type="http://schemas.openxmlformats.org/officeDocument/2006/relationships/image" Target="../media/image89.emf"/><Relationship Id="rId40" Type="http://schemas.openxmlformats.org/officeDocument/2006/relationships/oleObject" Target="../embeddings/oleObject88.bin"/><Relationship Id="rId5" Type="http://schemas.openxmlformats.org/officeDocument/2006/relationships/image" Target="../media/image73.emf"/><Relationship Id="rId15" Type="http://schemas.openxmlformats.org/officeDocument/2006/relationships/image" Target="../media/image78.emf"/><Relationship Id="rId23" Type="http://schemas.openxmlformats.org/officeDocument/2006/relationships/image" Target="../media/image82.emf"/><Relationship Id="rId28" Type="http://schemas.openxmlformats.org/officeDocument/2006/relationships/oleObject" Target="../embeddings/oleObject82.bin"/><Relationship Id="rId36" Type="http://schemas.openxmlformats.org/officeDocument/2006/relationships/oleObject" Target="../embeddings/oleObject86.bin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80.emf"/><Relationship Id="rId31" Type="http://schemas.openxmlformats.org/officeDocument/2006/relationships/image" Target="../media/image86.e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5.emf"/><Relationship Id="rId14" Type="http://schemas.openxmlformats.org/officeDocument/2006/relationships/oleObject" Target="../embeddings/oleObject75.bin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84.emf"/><Relationship Id="rId30" Type="http://schemas.openxmlformats.org/officeDocument/2006/relationships/oleObject" Target="../embeddings/oleObject83.bin"/><Relationship Id="rId35" Type="http://schemas.openxmlformats.org/officeDocument/2006/relationships/image" Target="../media/image88.emf"/><Relationship Id="rId43" Type="http://schemas.openxmlformats.org/officeDocument/2006/relationships/image" Target="../media/image92.emf"/><Relationship Id="rId8" Type="http://schemas.openxmlformats.org/officeDocument/2006/relationships/oleObject" Target="../embeddings/oleObject72.bin"/><Relationship Id="rId3" Type="http://schemas.openxmlformats.org/officeDocument/2006/relationships/notesSlide" Target="../notesSlides/notesSlide6.xml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9.emf"/><Relationship Id="rId25" Type="http://schemas.openxmlformats.org/officeDocument/2006/relationships/image" Target="../media/image83.emf"/><Relationship Id="rId33" Type="http://schemas.openxmlformats.org/officeDocument/2006/relationships/image" Target="../media/image87.emf"/><Relationship Id="rId38" Type="http://schemas.openxmlformats.org/officeDocument/2006/relationships/oleObject" Target="../embeddings/oleObject8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96.emf"/><Relationship Id="rId4" Type="http://schemas.openxmlformats.org/officeDocument/2006/relationships/image" Target="../media/image93.emf"/><Relationship Id="rId9" Type="http://schemas.openxmlformats.org/officeDocument/2006/relationships/oleObject" Target="../embeddings/oleObject9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101.e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05.emf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03.emf"/><Relationship Id="rId25" Type="http://schemas.openxmlformats.org/officeDocument/2006/relationships/image" Target="../media/image10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00.emf"/><Relationship Id="rId24" Type="http://schemas.openxmlformats.org/officeDocument/2006/relationships/oleObject" Target="../embeddings/oleObject104.bin"/><Relationship Id="rId5" Type="http://schemas.openxmlformats.org/officeDocument/2006/relationships/image" Target="../media/image97.emf"/><Relationship Id="rId15" Type="http://schemas.openxmlformats.org/officeDocument/2006/relationships/image" Target="../media/image102.emf"/><Relationship Id="rId23" Type="http://schemas.openxmlformats.org/officeDocument/2006/relationships/image" Target="../media/image106.emf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04.e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0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3.e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0.emf"/><Relationship Id="rId12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2.emf"/><Relationship Id="rId5" Type="http://schemas.openxmlformats.org/officeDocument/2006/relationships/image" Target="../media/image109.e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8.emf"/><Relationship Id="rId18" Type="http://schemas.openxmlformats.org/officeDocument/2006/relationships/image" Target="../media/image121.jpe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5.e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2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7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17.emf"/><Relationship Id="rId5" Type="http://schemas.openxmlformats.org/officeDocument/2006/relationships/image" Target="../media/image114.emf"/><Relationship Id="rId15" Type="http://schemas.openxmlformats.org/officeDocument/2006/relationships/image" Target="../media/image119.emf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16.emf"/><Relationship Id="rId14" Type="http://schemas.openxmlformats.org/officeDocument/2006/relationships/oleObject" Target="../embeddings/oleObject11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hyperlink" Target="&#21333;&#36724;&#26230;&#20307;&#20316;&#22270;&#27861;3.swf" TargetMode="External"/><Relationship Id="rId4" Type="http://schemas.openxmlformats.org/officeDocument/2006/relationships/hyperlink" Target="file:///C:\Documents%20and%20Settings\Administrator\&#26700;&#38754;\&#21160;&#30011;\&#24377;&#31783;&#25391;&#23376;1(&#21147;&#30340;&#21464;&#21270;&#65289;.swf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2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23.bin"/><Relationship Id="rId5" Type="http://schemas.openxmlformats.org/officeDocument/2006/relationships/image" Target="../media/image129.emf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3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6.bin"/><Relationship Id="rId5" Type="http://schemas.openxmlformats.org/officeDocument/2006/relationships/image" Target="../media/image132.e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7.jpeg"/><Relationship Id="rId5" Type="http://schemas.openxmlformats.org/officeDocument/2006/relationships/hyperlink" Target="http://www.pep.com.cn/200406/ca488190.htm" TargetMode="External"/><Relationship Id="rId4" Type="http://schemas.openxmlformats.org/officeDocument/2006/relationships/image" Target="../media/image136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42.emf"/><Relationship Id="rId18" Type="http://schemas.openxmlformats.org/officeDocument/2006/relationships/oleObject" Target="../embeddings/oleObject135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146.emf"/><Relationship Id="rId7" Type="http://schemas.openxmlformats.org/officeDocument/2006/relationships/image" Target="../media/image139.e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4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41.emf"/><Relationship Id="rId5" Type="http://schemas.openxmlformats.org/officeDocument/2006/relationships/image" Target="../media/image138.emf"/><Relationship Id="rId15" Type="http://schemas.openxmlformats.org/officeDocument/2006/relationships/image" Target="../media/image143.e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45.e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40.emf"/><Relationship Id="rId14" Type="http://schemas.openxmlformats.org/officeDocument/2006/relationships/oleObject" Target="../embeddings/oleObject133.bin"/><Relationship Id="rId22" Type="http://schemas.openxmlformats.org/officeDocument/2006/relationships/image" Target="../media/image1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4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jpeg"/><Relationship Id="rId3" Type="http://schemas.openxmlformats.org/officeDocument/2006/relationships/oleObject" Target="../embeddings/oleObject139.bin"/><Relationship Id="rId7" Type="http://schemas.openxmlformats.org/officeDocument/2006/relationships/image" Target="../media/image15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1.e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5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58.e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55.emf"/><Relationship Id="rId12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57.emf"/><Relationship Id="rId5" Type="http://schemas.openxmlformats.org/officeDocument/2006/relationships/image" Target="../media/image154.e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5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63.emf"/><Relationship Id="rId18" Type="http://schemas.openxmlformats.org/officeDocument/2006/relationships/oleObject" Target="../embeddings/oleObject153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167.emf"/><Relationship Id="rId7" Type="http://schemas.openxmlformats.org/officeDocument/2006/relationships/image" Target="../media/image160.emf"/><Relationship Id="rId12" Type="http://schemas.openxmlformats.org/officeDocument/2006/relationships/oleObject" Target="../embeddings/oleObject150.bin"/><Relationship Id="rId17" Type="http://schemas.openxmlformats.org/officeDocument/2006/relationships/image" Target="../media/image16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2.bin"/><Relationship Id="rId20" Type="http://schemas.openxmlformats.org/officeDocument/2006/relationships/oleObject" Target="../embeddings/oleObject154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62.emf"/><Relationship Id="rId5" Type="http://schemas.openxmlformats.org/officeDocument/2006/relationships/image" Target="../media/image159.emf"/><Relationship Id="rId15" Type="http://schemas.openxmlformats.org/officeDocument/2006/relationships/image" Target="../media/image164.emf"/><Relationship Id="rId23" Type="http://schemas.openxmlformats.org/officeDocument/2006/relationships/image" Target="../media/image168.emf"/><Relationship Id="rId10" Type="http://schemas.openxmlformats.org/officeDocument/2006/relationships/oleObject" Target="../embeddings/oleObject149.bin"/><Relationship Id="rId19" Type="http://schemas.openxmlformats.org/officeDocument/2006/relationships/image" Target="../media/image166.e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61.emf"/><Relationship Id="rId14" Type="http://schemas.openxmlformats.org/officeDocument/2006/relationships/oleObject" Target="../embeddings/oleObject151.bin"/><Relationship Id="rId22" Type="http://schemas.openxmlformats.org/officeDocument/2006/relationships/oleObject" Target="../embeddings/oleObject15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7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72.emf"/><Relationship Id="rId5" Type="http://schemas.openxmlformats.org/officeDocument/2006/relationships/image" Target="../media/image169.emf"/><Relationship Id="rId10" Type="http://schemas.openxmlformats.org/officeDocument/2006/relationships/oleObject" Target="../embeddings/oleObject159.bin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7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77.emf"/><Relationship Id="rId18" Type="http://schemas.openxmlformats.org/officeDocument/2006/relationships/oleObject" Target="../embeddings/oleObject167.bin"/><Relationship Id="rId3" Type="http://schemas.openxmlformats.org/officeDocument/2006/relationships/notesSlide" Target="../notesSlides/notesSlide17.xml"/><Relationship Id="rId21" Type="http://schemas.openxmlformats.org/officeDocument/2006/relationships/image" Target="../media/image181.emf"/><Relationship Id="rId7" Type="http://schemas.openxmlformats.org/officeDocument/2006/relationships/image" Target="../media/image174.e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7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6.bin"/><Relationship Id="rId20" Type="http://schemas.openxmlformats.org/officeDocument/2006/relationships/oleObject" Target="../embeddings/oleObject168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76.emf"/><Relationship Id="rId5" Type="http://schemas.openxmlformats.org/officeDocument/2006/relationships/image" Target="../media/image173.emf"/><Relationship Id="rId15" Type="http://schemas.openxmlformats.org/officeDocument/2006/relationships/image" Target="../media/image178.emf"/><Relationship Id="rId23" Type="http://schemas.openxmlformats.org/officeDocument/2006/relationships/image" Target="../media/image182.emf"/><Relationship Id="rId10" Type="http://schemas.openxmlformats.org/officeDocument/2006/relationships/oleObject" Target="../embeddings/oleObject163.bin"/><Relationship Id="rId19" Type="http://schemas.openxmlformats.org/officeDocument/2006/relationships/image" Target="../media/image180.e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75.emf"/><Relationship Id="rId14" Type="http://schemas.openxmlformats.org/officeDocument/2006/relationships/oleObject" Target="../embeddings/oleObject165.bin"/><Relationship Id="rId22" Type="http://schemas.openxmlformats.org/officeDocument/2006/relationships/oleObject" Target="../embeddings/oleObject16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87.emf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84.emf"/><Relationship Id="rId12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86.emf"/><Relationship Id="rId5" Type="http://schemas.openxmlformats.org/officeDocument/2006/relationships/image" Target="../media/image183.e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85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92.emf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89.emf"/><Relationship Id="rId12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91.emf"/><Relationship Id="rId5" Type="http://schemas.openxmlformats.org/officeDocument/2006/relationships/image" Target="../media/image188.emf"/><Relationship Id="rId15" Type="http://schemas.openxmlformats.org/officeDocument/2006/relationships/image" Target="../media/image193.e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90.emf"/><Relationship Id="rId14" Type="http://schemas.openxmlformats.org/officeDocument/2006/relationships/oleObject" Target="../embeddings/oleObject18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9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197.emf"/><Relationship Id="rId5" Type="http://schemas.openxmlformats.org/officeDocument/2006/relationships/image" Target="../media/image194.emf"/><Relationship Id="rId10" Type="http://schemas.openxmlformats.org/officeDocument/2006/relationships/oleObject" Target="../embeddings/oleObject184.bin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96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9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20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7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10" Type="http://schemas.openxmlformats.org/officeDocument/2006/relationships/image" Target="../media/image204.wmf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20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Nov. 04,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7">
            <a:extLst>
              <a:ext uri="{FF2B5EF4-FFF2-40B4-BE49-F238E27FC236}">
                <a16:creationId xmlns:a16="http://schemas.microsoft.com/office/drawing/2014/main" id="{8C7AC6A3-D822-4D18-AF5C-05A7F9032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86607"/>
            <a:ext cx="75692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了解双折射现象，掌握 </a:t>
            </a:r>
            <a:r>
              <a:rPr lang="en-US" altLang="zh-CN" i="1" dirty="0">
                <a:solidFill>
                  <a:srgbClr val="FFFF00"/>
                </a:solidFill>
              </a:rPr>
              <a:t>o </a:t>
            </a:r>
            <a:r>
              <a:rPr lang="zh-CN" altLang="en-US" dirty="0">
                <a:solidFill>
                  <a:schemeClr val="bg1"/>
                </a:solidFill>
              </a:rPr>
              <a:t>光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US" altLang="zh-CN" i="1" dirty="0">
                <a:solidFill>
                  <a:srgbClr val="FFFF00"/>
                </a:solidFill>
              </a:rPr>
              <a:t>e </a:t>
            </a:r>
            <a:r>
              <a:rPr lang="zh-CN" altLang="en-US" dirty="0">
                <a:solidFill>
                  <a:schemeClr val="bg1"/>
                </a:solidFill>
              </a:rPr>
              <a:t>光的传播规律 </a:t>
            </a: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[</a:t>
            </a:r>
            <a:r>
              <a:rPr lang="zh-CN" altLang="en-US" dirty="0">
                <a:solidFill>
                  <a:schemeClr val="bg1"/>
                </a:solidFill>
              </a:rPr>
              <a:t>光矢量振动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方向（相对各自的主平面），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正、负晶体中的传播规律</a:t>
            </a: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Text Box 49">
            <a:extLst>
              <a:ext uri="{FF2B5EF4-FFF2-40B4-BE49-F238E27FC236}">
                <a16:creationId xmlns:a16="http://schemas.microsoft.com/office/drawing/2014/main" id="{13CE7248-9875-4668-A0AE-F6524C346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164954"/>
            <a:ext cx="43592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eriod" startAt="2"/>
            </a:pPr>
            <a:r>
              <a:rPr lang="zh-CN" altLang="en-US" dirty="0">
                <a:solidFill>
                  <a:schemeClr val="bg1"/>
                </a:solidFill>
              </a:rPr>
              <a:t>根据惠更斯原理定性画出双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折射光线（光轴方向传播速率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相等）              </a:t>
            </a:r>
          </a:p>
        </p:txBody>
      </p:sp>
      <p:sp>
        <p:nvSpPr>
          <p:cNvPr id="17" name="Text Box 51">
            <a:extLst>
              <a:ext uri="{FF2B5EF4-FFF2-40B4-BE49-F238E27FC236}">
                <a16:creationId xmlns:a16="http://schemas.microsoft.com/office/drawing/2014/main" id="{39CB9ED5-D529-4D41-ADCF-D2CF82072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243" y="4509120"/>
            <a:ext cx="8001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波片 </a:t>
            </a: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(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光轴 </a:t>
            </a: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//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表面，厚度 </a:t>
            </a:r>
            <a:r>
              <a:rPr lang="en-US" altLang="zh-CN" i="1" dirty="0">
                <a:solidFill>
                  <a:srgbClr val="FFFF00"/>
                </a:solidFill>
                <a:cs typeface="Times New Roman" panose="02020603050405020304" pitchFamily="18" charset="0"/>
              </a:rPr>
              <a:t>d </a:t>
            </a:r>
            <a:r>
              <a:rPr lang="en-US" altLang="zh-CN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zh-CN" altLang="el-GR" i="1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sp>
        <p:nvSpPr>
          <p:cNvPr id="5125" name="灯片编号占位符 1">
            <a:extLst>
              <a:ext uri="{FF2B5EF4-FFF2-40B4-BE49-F238E27FC236}">
                <a16:creationId xmlns:a16="http://schemas.microsoft.com/office/drawing/2014/main" id="{0C4FF8F4-2E94-4564-AF1E-8A4DBDE2DE6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15FD4C5-64C3-450D-9596-14D9970FC324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10" name="Text Box 51">
            <a:extLst>
              <a:ext uri="{FF2B5EF4-FFF2-40B4-BE49-F238E27FC236}">
                <a16:creationId xmlns:a16="http://schemas.microsoft.com/office/drawing/2014/main" id="{A4D678B7-A94E-413D-8C8F-E074783A8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371" y="354013"/>
            <a:ext cx="408463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回顾：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晶体双折射</a:t>
            </a:r>
            <a:endParaRPr lang="zh-CN" altLang="el-GR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A54D7906-8F91-420C-A112-844C73AAC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775" y="1057250"/>
            <a:ext cx="2376488" cy="1344613"/>
          </a:xfrm>
          <a:prstGeom prst="rect">
            <a:avLst/>
          </a:prstGeom>
          <a:solidFill>
            <a:srgbClr val="009999">
              <a:alpha val="6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9" name="Object 2">
            <a:extLst>
              <a:ext uri="{FF2B5EF4-FFF2-40B4-BE49-F238E27FC236}">
                <a16:creationId xmlns:a16="http://schemas.microsoft.com/office/drawing/2014/main" id="{B3B5C0C3-21E7-40A9-859C-776BA601BC4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75475" y="2420913"/>
          <a:ext cx="203200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14" name="公式" r:id="rId4" imgW="228753" imgH="247684" progId="Equation.3">
                  <p:embed/>
                </p:oleObj>
              </mc:Choice>
              <mc:Fallback>
                <p:oleObj name="公式" r:id="rId4" imgW="228753" imgH="247684" progId="Equation.3">
                  <p:embed/>
                  <p:pic>
                    <p:nvPicPr>
                      <p:cNvPr id="19" name="Object 2">
                        <a:extLst>
                          <a:ext uri="{FF2B5EF4-FFF2-40B4-BE49-F238E27FC236}">
                            <a16:creationId xmlns:a16="http://schemas.microsoft.com/office/drawing/2014/main" id="{B3B5C0C3-21E7-40A9-859C-776BA601BC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2420913"/>
                        <a:ext cx="203200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9A282EE9-AA91-4E48-92FF-39B89C263F2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47075" y="2371700"/>
          <a:ext cx="22542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15" name="公式" r:id="rId6" imgW="247714" imgH="238193" progId="Equation.3">
                  <p:embed/>
                </p:oleObj>
              </mc:Choice>
              <mc:Fallback>
                <p:oleObj name="公式" r:id="rId6" imgW="247714" imgH="238193" progId="Equation.3">
                  <p:embed/>
                  <p:pic>
                    <p:nvPicPr>
                      <p:cNvPr id="20" name="Object 3">
                        <a:extLst>
                          <a:ext uri="{FF2B5EF4-FFF2-40B4-BE49-F238E27FC236}">
                            <a16:creationId xmlns:a16="http://schemas.microsoft.com/office/drawing/2014/main" id="{9A282EE9-AA91-4E48-92FF-39B89C263F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7075" y="2371700"/>
                        <a:ext cx="22542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6">
            <a:extLst>
              <a:ext uri="{FF2B5EF4-FFF2-40B4-BE49-F238E27FC236}">
                <a16:creationId xmlns:a16="http://schemas.microsoft.com/office/drawing/2014/main" id="{5A3D1E74-7B7B-4E86-A383-8E0C91790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163" y="1139800"/>
            <a:ext cx="7239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20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7EE0852F-D8E4-42C7-AE3E-F1EEFF51803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6196013" y="639738"/>
            <a:ext cx="571500" cy="420687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" name="Line 28">
            <a:extLst>
              <a:ext uri="{FF2B5EF4-FFF2-40B4-BE49-F238E27FC236}">
                <a16:creationId xmlns:a16="http://schemas.microsoft.com/office/drawing/2014/main" id="{BB613FF6-665B-441D-AD20-711BB304D3F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976937" y="1412851"/>
            <a:ext cx="1584325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9">
            <a:extLst>
              <a:ext uri="{FF2B5EF4-FFF2-40B4-BE49-F238E27FC236}">
                <a16:creationId xmlns:a16="http://schemas.microsoft.com/office/drawing/2014/main" id="{E4C6009A-E24E-4450-B4D4-8443510CE9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7050" y="1104875"/>
            <a:ext cx="1150938" cy="669925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" name="Line 30">
            <a:extLst>
              <a:ext uri="{FF2B5EF4-FFF2-40B4-BE49-F238E27FC236}">
                <a16:creationId xmlns:a16="http://schemas.microsoft.com/office/drawing/2014/main" id="{54850024-A07B-4D0A-B4E5-F9F0E98EF2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7038" y="1092175"/>
            <a:ext cx="466725" cy="130968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" name="Line 31">
            <a:extLst>
              <a:ext uri="{FF2B5EF4-FFF2-40B4-BE49-F238E27FC236}">
                <a16:creationId xmlns:a16="http://schemas.microsoft.com/office/drawing/2014/main" id="{60FED58B-AC4A-4FFF-BDA6-70017CDB4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4975" y="1092175"/>
            <a:ext cx="1177925" cy="1309688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96BC3B7D-B9F4-47C1-B0BC-3180C168F81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15125" y="1003275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16" name="公式" r:id="rId8" imgW="161778" imgH="161959" progId="Equation.3">
                  <p:embed/>
                </p:oleObj>
              </mc:Choice>
              <mc:Fallback>
                <p:oleObj name="公式" r:id="rId8" imgW="161778" imgH="161959" progId="Equation.3">
                  <p:embed/>
                  <p:pic>
                    <p:nvPicPr>
                      <p:cNvPr id="27" name="Object 4">
                        <a:extLst>
                          <a:ext uri="{FF2B5EF4-FFF2-40B4-BE49-F238E27FC236}">
                            <a16:creationId xmlns:a16="http://schemas.microsoft.com/office/drawing/2014/main" id="{96BC3B7D-B9F4-47C1-B0BC-3180C168F8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1003275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33">
            <a:extLst>
              <a:ext uri="{FF2B5EF4-FFF2-40B4-BE49-F238E27FC236}">
                <a16:creationId xmlns:a16="http://schemas.microsoft.com/office/drawing/2014/main" id="{293961EC-22F4-47A5-AC5F-C7D4C88311DE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540000" flipH="1" flipV="1">
            <a:off x="6291263" y="703238"/>
            <a:ext cx="346075" cy="258762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83208AF1-9748-4023-BDFC-7967400898A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02438" y="1250925"/>
          <a:ext cx="115887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17" name="公式" r:id="rId10" imgW="161778" imgH="161959" progId="Equation.3">
                  <p:embed/>
                </p:oleObj>
              </mc:Choice>
              <mc:Fallback>
                <p:oleObj name="公式" r:id="rId10" imgW="161778" imgH="161959" progId="Equation.3">
                  <p:embed/>
                  <p:pic>
                    <p:nvPicPr>
                      <p:cNvPr id="29" name="Object 5">
                        <a:extLst>
                          <a:ext uri="{FF2B5EF4-FFF2-40B4-BE49-F238E27FC236}">
                            <a16:creationId xmlns:a16="http://schemas.microsoft.com/office/drawing/2014/main" id="{83208AF1-9748-4023-BDFC-7967400898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438" y="1250925"/>
                        <a:ext cx="115887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6">
            <a:extLst>
              <a:ext uri="{FF2B5EF4-FFF2-40B4-BE49-F238E27FC236}">
                <a16:creationId xmlns:a16="http://schemas.microsoft.com/office/drawing/2014/main" id="{117E142E-F0D1-4728-91A5-6B42E01637A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88163" y="1473175"/>
          <a:ext cx="115887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18" name="公式" r:id="rId12" imgW="161778" imgH="161959" progId="Equation.3">
                  <p:embed/>
                </p:oleObj>
              </mc:Choice>
              <mc:Fallback>
                <p:oleObj name="公式" r:id="rId12" imgW="161778" imgH="161959" progId="Equation.3">
                  <p:embed/>
                  <p:pic>
                    <p:nvPicPr>
                      <p:cNvPr id="30" name="Object 6">
                        <a:extLst>
                          <a:ext uri="{FF2B5EF4-FFF2-40B4-BE49-F238E27FC236}">
                            <a16:creationId xmlns:a16="http://schemas.microsoft.com/office/drawing/2014/main" id="{117E142E-F0D1-4728-91A5-6B42E01637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1473175"/>
                        <a:ext cx="115887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9">
            <a:extLst>
              <a:ext uri="{FF2B5EF4-FFF2-40B4-BE49-F238E27FC236}">
                <a16:creationId xmlns:a16="http://schemas.microsoft.com/office/drawing/2014/main" id="{C062B4B7-C836-483D-8A62-81C0CDEFBB4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69125" y="1709713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19" name="公式" r:id="rId14" imgW="161778" imgH="161959" progId="Equation.3">
                  <p:embed/>
                </p:oleObj>
              </mc:Choice>
              <mc:Fallback>
                <p:oleObj name="公式" r:id="rId14" imgW="161778" imgH="161959" progId="Equation.3">
                  <p:embed/>
                  <p:pic>
                    <p:nvPicPr>
                      <p:cNvPr id="31" name="Object 9">
                        <a:extLst>
                          <a:ext uri="{FF2B5EF4-FFF2-40B4-BE49-F238E27FC236}">
                            <a16:creationId xmlns:a16="http://schemas.microsoft.com/office/drawing/2014/main" id="{C062B4B7-C836-483D-8A62-81C0CDEFB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25" y="1709713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37">
            <a:extLst>
              <a:ext uri="{FF2B5EF4-FFF2-40B4-BE49-F238E27FC236}">
                <a16:creationId xmlns:a16="http://schemas.microsoft.com/office/drawing/2014/main" id="{69CB7B19-CD03-4363-BB62-6FA80653AE3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907213" y="1227113"/>
            <a:ext cx="115887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8">
            <a:extLst>
              <a:ext uri="{FF2B5EF4-FFF2-40B4-BE49-F238E27FC236}">
                <a16:creationId xmlns:a16="http://schemas.microsoft.com/office/drawing/2014/main" id="{9157A0E4-E85B-46FC-B7D2-6E0322C95CD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051675" y="1389038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9">
            <a:extLst>
              <a:ext uri="{FF2B5EF4-FFF2-40B4-BE49-F238E27FC236}">
                <a16:creationId xmlns:a16="http://schemas.microsoft.com/office/drawing/2014/main" id="{B7D94B1F-6037-4DB5-9C27-C642A6011BB9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204075" y="1562075"/>
            <a:ext cx="115888" cy="1158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5" name="Object 8">
            <a:extLst>
              <a:ext uri="{FF2B5EF4-FFF2-40B4-BE49-F238E27FC236}">
                <a16:creationId xmlns:a16="http://schemas.microsoft.com/office/drawing/2014/main" id="{F599497F-9AF2-48CC-A8F9-E17CB514FC9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31013" y="788963"/>
          <a:ext cx="195262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0" name="公式" r:id="rId16" imgW="209486" imgH="238193" progId="Equation.3">
                  <p:embed/>
                </p:oleObj>
              </mc:Choice>
              <mc:Fallback>
                <p:oleObj name="公式" r:id="rId16" imgW="209486" imgH="238193" progId="Equation.3">
                  <p:embed/>
                  <p:pic>
                    <p:nvPicPr>
                      <p:cNvPr id="35" name="Object 8">
                        <a:extLst>
                          <a:ext uri="{FF2B5EF4-FFF2-40B4-BE49-F238E27FC236}">
                            <a16:creationId xmlns:a16="http://schemas.microsoft.com/office/drawing/2014/main" id="{F599497F-9AF2-48CC-A8F9-E17CB514FC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1013" y="788963"/>
                        <a:ext cx="195262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9">
            <a:extLst>
              <a:ext uri="{FF2B5EF4-FFF2-40B4-BE49-F238E27FC236}">
                <a16:creationId xmlns:a16="http://schemas.microsoft.com/office/drawing/2014/main" id="{BE078860-950E-4585-B90B-C4B3160E160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61200" y="1970063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1" name="公式" r:id="rId18" imgW="161778" imgH="161959" progId="Equation.3">
                  <p:embed/>
                </p:oleObj>
              </mc:Choice>
              <mc:Fallback>
                <p:oleObj name="公式" r:id="rId18" imgW="161778" imgH="161959" progId="Equation.3">
                  <p:embed/>
                  <p:pic>
                    <p:nvPicPr>
                      <p:cNvPr id="36" name="Object 9">
                        <a:extLst>
                          <a:ext uri="{FF2B5EF4-FFF2-40B4-BE49-F238E27FC236}">
                            <a16:creationId xmlns:a16="http://schemas.microsoft.com/office/drawing/2014/main" id="{BE078860-950E-4585-B90B-C4B3160E16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1970063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">
            <a:extLst>
              <a:ext uri="{FF2B5EF4-FFF2-40B4-BE49-F238E27FC236}">
                <a16:creationId xmlns:a16="http://schemas.microsoft.com/office/drawing/2014/main" id="{79C98985-FB84-417D-8545-250AFB6471B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146925" y="2200250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2" name="公式" r:id="rId20" imgW="161778" imgH="161959" progId="Equation.3">
                  <p:embed/>
                </p:oleObj>
              </mc:Choice>
              <mc:Fallback>
                <p:oleObj name="公式" r:id="rId20" imgW="161778" imgH="161959" progId="Equation.3">
                  <p:embed/>
                  <p:pic>
                    <p:nvPicPr>
                      <p:cNvPr id="37" name="Object 10">
                        <a:extLst>
                          <a:ext uri="{FF2B5EF4-FFF2-40B4-BE49-F238E27FC236}">
                            <a16:creationId xmlns:a16="http://schemas.microsoft.com/office/drawing/2014/main" id="{79C98985-FB84-417D-8545-250AFB6471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6925" y="2200250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Line 43">
            <a:extLst>
              <a:ext uri="{FF2B5EF4-FFF2-40B4-BE49-F238E27FC236}">
                <a16:creationId xmlns:a16="http://schemas.microsoft.com/office/drawing/2014/main" id="{8F8778D7-B457-45AD-BD6E-33B4A66EB60E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239000" y="2397100"/>
            <a:ext cx="576263" cy="45085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9" name="Line 44">
            <a:extLst>
              <a:ext uri="{FF2B5EF4-FFF2-40B4-BE49-F238E27FC236}">
                <a16:creationId xmlns:a16="http://schemas.microsoft.com/office/drawing/2014/main" id="{DE583CCD-1827-42BE-8DB3-C771CE5C4004}"/>
              </a:ext>
            </a:extLst>
          </p:cNvPr>
          <p:cNvSpPr>
            <a:spLocks noChangeAspect="1" noChangeShapeType="1"/>
          </p:cNvSpPr>
          <p:nvPr/>
        </p:nvSpPr>
        <p:spPr bwMode="auto">
          <a:xfrm rot="60000" flipH="1" flipV="1">
            <a:off x="7697788" y="2755875"/>
            <a:ext cx="130175" cy="9683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" name="Line 45">
            <a:extLst>
              <a:ext uri="{FF2B5EF4-FFF2-40B4-BE49-F238E27FC236}">
                <a16:creationId xmlns:a16="http://schemas.microsoft.com/office/drawing/2014/main" id="{8D4300BD-B1F5-489E-9274-539A9C7BE39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7953375" y="2392338"/>
            <a:ext cx="576263" cy="45085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" name="Line 46">
            <a:extLst>
              <a:ext uri="{FF2B5EF4-FFF2-40B4-BE49-F238E27FC236}">
                <a16:creationId xmlns:a16="http://schemas.microsoft.com/office/drawing/2014/main" id="{7F6BAF73-4335-496B-BE06-0E412F4A9860}"/>
              </a:ext>
            </a:extLst>
          </p:cNvPr>
          <p:cNvSpPr>
            <a:spLocks noChangeAspect="1" noChangeShapeType="1"/>
          </p:cNvSpPr>
          <p:nvPr/>
        </p:nvSpPr>
        <p:spPr bwMode="auto">
          <a:xfrm rot="60000" flipH="1" flipV="1">
            <a:off x="8412163" y="2751113"/>
            <a:ext cx="130175" cy="9683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2" name="Line 47">
            <a:extLst>
              <a:ext uri="{FF2B5EF4-FFF2-40B4-BE49-F238E27FC236}">
                <a16:creationId xmlns:a16="http://schemas.microsoft.com/office/drawing/2014/main" id="{5EF2A702-4FFE-4BC2-B1B3-9A79B3A49F2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381875" y="1754163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D9B3DC7D-3865-4108-9BB3-610357F4AED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559675" y="1951013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49">
            <a:extLst>
              <a:ext uri="{FF2B5EF4-FFF2-40B4-BE49-F238E27FC236}">
                <a16:creationId xmlns:a16="http://schemas.microsoft.com/office/drawing/2014/main" id="{7ED12F22-588F-4EEB-8C6B-257A4B1AE96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7727950" y="2133575"/>
            <a:ext cx="115888" cy="1158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" name="Object 11">
            <a:extLst>
              <a:ext uri="{FF2B5EF4-FFF2-40B4-BE49-F238E27FC236}">
                <a16:creationId xmlns:a16="http://schemas.microsoft.com/office/drawing/2014/main" id="{40A521C8-7B88-40BA-A318-43716C26C63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77100" y="2405038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3" name="公式" r:id="rId22" imgW="161778" imgH="161959" progId="Equation.3">
                  <p:embed/>
                </p:oleObj>
              </mc:Choice>
              <mc:Fallback>
                <p:oleObj name="公式" r:id="rId22" imgW="161778" imgH="161959" progId="Equation.3">
                  <p:embed/>
                  <p:pic>
                    <p:nvPicPr>
                      <p:cNvPr id="45" name="Object 11">
                        <a:extLst>
                          <a:ext uri="{FF2B5EF4-FFF2-40B4-BE49-F238E27FC236}">
                            <a16:creationId xmlns:a16="http://schemas.microsoft.com/office/drawing/2014/main" id="{40A521C8-7B88-40BA-A318-43716C26C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100" y="2405038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2">
            <a:extLst>
              <a:ext uri="{FF2B5EF4-FFF2-40B4-BE49-F238E27FC236}">
                <a16:creationId xmlns:a16="http://schemas.microsoft.com/office/drawing/2014/main" id="{749FB148-D064-4403-ABCC-FD7C8EF9097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486650" y="2568550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4" name="公式" r:id="rId24" imgW="161778" imgH="161959" progId="Equation.3">
                  <p:embed/>
                </p:oleObj>
              </mc:Choice>
              <mc:Fallback>
                <p:oleObj name="公式" r:id="rId24" imgW="161778" imgH="161959" progId="Equation.3">
                  <p:embed/>
                  <p:pic>
                    <p:nvPicPr>
                      <p:cNvPr id="46" name="Object 12">
                        <a:extLst>
                          <a:ext uri="{FF2B5EF4-FFF2-40B4-BE49-F238E27FC236}">
                            <a16:creationId xmlns:a16="http://schemas.microsoft.com/office/drawing/2014/main" id="{749FB148-D064-4403-ABCC-FD7C8EF90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650" y="2568550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Line 53">
            <a:extLst>
              <a:ext uri="{FF2B5EF4-FFF2-40B4-BE49-F238E27FC236}">
                <a16:creationId xmlns:a16="http://schemas.microsoft.com/office/drawing/2014/main" id="{60EFDCDC-3852-45AB-9033-7DB3BAB18CCA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8061325" y="2452663"/>
            <a:ext cx="115888" cy="115887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54">
            <a:extLst>
              <a:ext uri="{FF2B5EF4-FFF2-40B4-BE49-F238E27FC236}">
                <a16:creationId xmlns:a16="http://schemas.microsoft.com/office/drawing/2014/main" id="{8AA84ACB-0BC1-4804-BC31-9AFEA9444997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8253413" y="2606650"/>
            <a:ext cx="115887" cy="115888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7">
            <a:extLst>
              <a:ext uri="{FF2B5EF4-FFF2-40B4-BE49-F238E27FC236}">
                <a16:creationId xmlns:a16="http://schemas.microsoft.com/office/drawing/2014/main" id="{8D7652D5-76EA-4873-8FF3-186744F89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0" y="2057375"/>
            <a:ext cx="6413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FF00"/>
                </a:solidFill>
                <a:ea typeface="黑体" panose="02010609060101010101" pitchFamily="49" charset="-122"/>
              </a:rPr>
              <a:t>o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 b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9D350113-F0FA-45F7-B467-F29F4B451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1519213"/>
            <a:ext cx="56991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00FFFF"/>
                </a:solidFill>
              </a:rPr>
              <a:t>e</a:t>
            </a:r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光</a:t>
            </a:r>
          </a:p>
        </p:txBody>
      </p:sp>
      <p:sp>
        <p:nvSpPr>
          <p:cNvPr id="51" name="Rectangle 2">
            <a:extLst>
              <a:ext uri="{FF2B5EF4-FFF2-40B4-BE49-F238E27FC236}">
                <a16:creationId xmlns:a16="http://schemas.microsoft.com/office/drawing/2014/main" id="{B5AD5E9F-1B5D-4D91-94C9-9C3D1089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3974157"/>
            <a:ext cx="3600450" cy="1128713"/>
          </a:xfrm>
          <a:prstGeom prst="rect">
            <a:avLst/>
          </a:prstGeom>
          <a:solidFill>
            <a:srgbClr val="00CC99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2" name="Line 5">
            <a:extLst>
              <a:ext uri="{FF2B5EF4-FFF2-40B4-BE49-F238E27FC236}">
                <a16:creationId xmlns:a16="http://schemas.microsoft.com/office/drawing/2014/main" id="{8F45280D-FE77-4B64-8E9D-B8607ABCD1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14938" y="2956570"/>
            <a:ext cx="1357312" cy="1035050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3" name="Text Box 6">
            <a:extLst>
              <a:ext uri="{FF2B5EF4-FFF2-40B4-BE49-F238E27FC236}">
                <a16:creationId xmlns:a16="http://schemas.microsoft.com/office/drawing/2014/main" id="{764AEF5F-F450-47FB-BD13-03D17150F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4761557"/>
            <a:ext cx="566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solidFill>
                  <a:srgbClr val="CCFFCC"/>
                </a:solidFill>
                <a:ea typeface="黑体" panose="02010609060101010101" pitchFamily="49" charset="-122"/>
              </a:rPr>
              <a:t>o</a:t>
            </a:r>
            <a:r>
              <a:rPr lang="zh-CN" altLang="zh-CN" sz="2000" dirty="0">
                <a:solidFill>
                  <a:srgbClr val="CCFFCC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 dirty="0">
              <a:solidFill>
                <a:srgbClr val="CCFF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4" name="Object 15">
            <a:extLst>
              <a:ext uri="{FF2B5EF4-FFF2-40B4-BE49-F238E27FC236}">
                <a16:creationId xmlns:a16="http://schemas.microsoft.com/office/drawing/2014/main" id="{C14E1CFA-D799-4335-A82D-777E41FDEF0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143750" y="3008957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5" name="公式" r:id="rId26" imgW="247714" imgH="266666" progId="Equation.3">
                  <p:embed/>
                </p:oleObj>
              </mc:Choice>
              <mc:Fallback>
                <p:oleObj name="公式" r:id="rId26" imgW="247714" imgH="266666" progId="Equation.3">
                  <p:embed/>
                  <p:pic>
                    <p:nvPicPr>
                      <p:cNvPr id="54" name="Object 15">
                        <a:extLst>
                          <a:ext uri="{FF2B5EF4-FFF2-40B4-BE49-F238E27FC236}">
                            <a16:creationId xmlns:a16="http://schemas.microsoft.com/office/drawing/2014/main" id="{C14E1CFA-D799-4335-A82D-777E41FDEF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3008957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6">
            <a:extLst>
              <a:ext uri="{FF2B5EF4-FFF2-40B4-BE49-F238E27FC236}">
                <a16:creationId xmlns:a16="http://schemas.microsoft.com/office/drawing/2014/main" id="{5578241C-103E-4C44-A838-0B70B12F9D0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083550" y="3663007"/>
          <a:ext cx="26670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6" name="公式" r:id="rId28" imgW="304902" imgH="276157" progId="Equation.3">
                  <p:embed/>
                </p:oleObj>
              </mc:Choice>
              <mc:Fallback>
                <p:oleObj name="公式" r:id="rId28" imgW="304902" imgH="276157" progId="Equation.3">
                  <p:embed/>
                  <p:pic>
                    <p:nvPicPr>
                      <p:cNvPr id="55" name="Object 16">
                        <a:extLst>
                          <a:ext uri="{FF2B5EF4-FFF2-40B4-BE49-F238E27FC236}">
                            <a16:creationId xmlns:a16="http://schemas.microsoft.com/office/drawing/2014/main" id="{5578241C-103E-4C44-A838-0B70B12F9D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3550" y="3663007"/>
                        <a:ext cx="26670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43">
            <a:extLst>
              <a:ext uri="{FF2B5EF4-FFF2-40B4-BE49-F238E27FC236}">
                <a16:creationId xmlns:a16="http://schemas.microsoft.com/office/drawing/2014/main" id="{D81A1541-61C5-4BD5-B112-76B08376E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4639320"/>
            <a:ext cx="7239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CCCCFF"/>
                </a:solidFill>
                <a:latin typeface="楷体_GB2312" pitchFamily="49" charset="-122"/>
                <a:ea typeface="楷体_GB2312" pitchFamily="49" charset="-122"/>
              </a:rPr>
              <a:t>光轴</a:t>
            </a:r>
            <a:endParaRPr lang="zh-CN" altLang="en-US" sz="2000" b="0">
              <a:solidFill>
                <a:srgbClr val="CCCC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" name="Text Box 44">
            <a:extLst>
              <a:ext uri="{FF2B5EF4-FFF2-40B4-BE49-F238E27FC236}">
                <a16:creationId xmlns:a16="http://schemas.microsoft.com/office/drawing/2014/main" id="{95054E0A-7A57-4ED6-A621-0C4841E23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774257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FFCC99"/>
                </a:solidFill>
                <a:ea typeface="黑体" panose="02010609060101010101" pitchFamily="49" charset="-122"/>
              </a:rPr>
              <a:t>e</a:t>
            </a:r>
            <a:r>
              <a:rPr lang="zh-CN" altLang="zh-CN" sz="2000">
                <a:solidFill>
                  <a:srgbClr val="FFCC99"/>
                </a:solidFill>
                <a:latin typeface="楷体_GB2312" pitchFamily="49" charset="-122"/>
                <a:ea typeface="楷体_GB2312" pitchFamily="49" charset="-122"/>
              </a:rPr>
              <a:t>光</a:t>
            </a:r>
            <a:endParaRPr lang="zh-CN" altLang="en-US" sz="2000">
              <a:solidFill>
                <a:srgbClr val="FFCC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" name="Oval 51">
            <a:extLst>
              <a:ext uri="{FF2B5EF4-FFF2-40B4-BE49-F238E27FC236}">
                <a16:creationId xmlns:a16="http://schemas.microsoft.com/office/drawing/2014/main" id="{F34FC897-098C-426A-9285-93EF24A394FB}"/>
              </a:ext>
            </a:extLst>
          </p:cNvPr>
          <p:cNvSpPr>
            <a:spLocks noChangeArrowheads="1"/>
          </p:cNvSpPr>
          <p:nvPr/>
        </p:nvSpPr>
        <p:spPr bwMode="auto">
          <a:xfrm rot="3305394">
            <a:off x="5780088" y="3521720"/>
            <a:ext cx="1584325" cy="936625"/>
          </a:xfrm>
          <a:prstGeom prst="ellipse">
            <a:avLst/>
          </a:prstGeom>
          <a:noFill/>
          <a:ln w="19050">
            <a:solidFill>
              <a:srgbClr val="FF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9" name="Oval 52">
            <a:extLst>
              <a:ext uri="{FF2B5EF4-FFF2-40B4-BE49-F238E27FC236}">
                <a16:creationId xmlns:a16="http://schemas.microsoft.com/office/drawing/2014/main" id="{E8680743-84C9-4C3F-A40C-03735B408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5" y="3521720"/>
            <a:ext cx="873125" cy="936625"/>
          </a:xfrm>
          <a:prstGeom prst="ellipse">
            <a:avLst/>
          </a:prstGeom>
          <a:noFill/>
          <a:ln w="19050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60" name="Line 53">
            <a:extLst>
              <a:ext uri="{FF2B5EF4-FFF2-40B4-BE49-F238E27FC236}">
                <a16:creationId xmlns:a16="http://schemas.microsoft.com/office/drawing/2014/main" id="{C750E8EC-7D17-489E-B63A-029B10E6F6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83375" y="2942282"/>
            <a:ext cx="1400175" cy="1049338"/>
          </a:xfrm>
          <a:prstGeom prst="line">
            <a:avLst/>
          </a:prstGeom>
          <a:noFill/>
          <a:ln w="28575">
            <a:solidFill>
              <a:srgbClr val="CC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1" name="Line 54">
            <a:extLst>
              <a:ext uri="{FF2B5EF4-FFF2-40B4-BE49-F238E27FC236}">
                <a16:creationId xmlns:a16="http://schemas.microsoft.com/office/drawing/2014/main" id="{6F3724DB-0974-4229-BC40-E26785A68165}"/>
              </a:ext>
            </a:extLst>
          </p:cNvPr>
          <p:cNvSpPr>
            <a:spLocks noChangeShapeType="1"/>
          </p:cNvSpPr>
          <p:nvPr/>
        </p:nvSpPr>
        <p:spPr bwMode="auto">
          <a:xfrm rot="16545603" flipH="1" flipV="1">
            <a:off x="5826919" y="3403451"/>
            <a:ext cx="1276350" cy="1379538"/>
          </a:xfrm>
          <a:prstGeom prst="line">
            <a:avLst/>
          </a:prstGeom>
          <a:noFill/>
          <a:ln w="19050">
            <a:solidFill>
              <a:srgbClr val="CCCCFF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2" name="Object 17">
            <a:extLst>
              <a:ext uri="{FF2B5EF4-FFF2-40B4-BE49-F238E27FC236}">
                <a16:creationId xmlns:a16="http://schemas.microsoft.com/office/drawing/2014/main" id="{352D4609-7A40-4C26-9991-6EB083FA6A3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99300" y="3242320"/>
          <a:ext cx="115888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7" name="公式" r:id="rId30" imgW="161778" imgH="161959" progId="Equation.3">
                  <p:embed/>
                </p:oleObj>
              </mc:Choice>
              <mc:Fallback>
                <p:oleObj name="公式" r:id="rId30" imgW="161778" imgH="161959" progId="Equation.3">
                  <p:embed/>
                  <p:pic>
                    <p:nvPicPr>
                      <p:cNvPr id="62" name="Object 17">
                        <a:extLst>
                          <a:ext uri="{FF2B5EF4-FFF2-40B4-BE49-F238E27FC236}">
                            <a16:creationId xmlns:a16="http://schemas.microsoft.com/office/drawing/2014/main" id="{352D4609-7A40-4C26-9991-6EB083FA6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9300" y="3242320"/>
                        <a:ext cx="115888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7">
            <a:extLst>
              <a:ext uri="{FF2B5EF4-FFF2-40B4-BE49-F238E27FC236}">
                <a16:creationId xmlns:a16="http://schemas.microsoft.com/office/drawing/2014/main" id="{B849A999-E2D1-4F75-8243-9E5340E780B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050213" y="3948757"/>
          <a:ext cx="115887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8" name="公式" r:id="rId32" imgW="161778" imgH="161959" progId="Equation.3">
                  <p:embed/>
                </p:oleObj>
              </mc:Choice>
              <mc:Fallback>
                <p:oleObj name="公式" r:id="rId32" imgW="161778" imgH="161959" progId="Equation.3">
                  <p:embed/>
                  <p:pic>
                    <p:nvPicPr>
                      <p:cNvPr id="63" name="Object 7">
                        <a:extLst>
                          <a:ext uri="{FF2B5EF4-FFF2-40B4-BE49-F238E27FC236}">
                            <a16:creationId xmlns:a16="http://schemas.microsoft.com/office/drawing/2014/main" id="{B849A999-E2D1-4F75-8243-9E5340E78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213" y="3948757"/>
                        <a:ext cx="115887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9">
            <a:extLst>
              <a:ext uri="{FF2B5EF4-FFF2-40B4-BE49-F238E27FC236}">
                <a16:creationId xmlns:a16="http://schemas.microsoft.com/office/drawing/2014/main" id="{4DFDA7CC-A89E-4913-A462-B2E0361F27D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56350" y="3631257"/>
          <a:ext cx="22383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29" name="公式" r:id="rId34" imgW="247714" imgH="276157" progId="Equation.3">
                  <p:embed/>
                </p:oleObj>
              </mc:Choice>
              <mc:Fallback>
                <p:oleObj name="公式" r:id="rId34" imgW="247714" imgH="276157" progId="Equation.3">
                  <p:embed/>
                  <p:pic>
                    <p:nvPicPr>
                      <p:cNvPr id="64" name="Object 19">
                        <a:extLst>
                          <a:ext uri="{FF2B5EF4-FFF2-40B4-BE49-F238E27FC236}">
                            <a16:creationId xmlns:a16="http://schemas.microsoft.com/office/drawing/2014/main" id="{4DFDA7CC-A89E-4913-A462-B2E0361F27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3631257"/>
                        <a:ext cx="22383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Line 58">
            <a:extLst>
              <a:ext uri="{FF2B5EF4-FFF2-40B4-BE49-F238E27FC236}">
                <a16:creationId xmlns:a16="http://schemas.microsoft.com/office/drawing/2014/main" id="{9C29C57C-57EE-46DE-A7FF-3584B19E7C8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780087" y="3991620"/>
            <a:ext cx="1584325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59">
            <a:extLst>
              <a:ext uri="{FF2B5EF4-FFF2-40B4-BE49-F238E27FC236}">
                <a16:creationId xmlns:a16="http://schemas.microsoft.com/office/drawing/2014/main" id="{8C181B6A-6AAC-4267-865A-06567AE4A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0" y="3991620"/>
            <a:ext cx="357188" cy="965200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" name="Line 60">
            <a:extLst>
              <a:ext uri="{FF2B5EF4-FFF2-40B4-BE49-F238E27FC236}">
                <a16:creationId xmlns:a16="http://schemas.microsoft.com/office/drawing/2014/main" id="{9DC35AFC-B388-4466-8AD7-A599AB95E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0" y="3991620"/>
            <a:ext cx="642938" cy="965200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8" name="Object 20">
            <a:extLst>
              <a:ext uri="{FF2B5EF4-FFF2-40B4-BE49-F238E27FC236}">
                <a16:creationId xmlns:a16="http://schemas.microsoft.com/office/drawing/2014/main" id="{6DFA2561-83D3-4A6E-A98D-248430242ED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15100" y="3926532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30" name="公式" r:id="rId36" imgW="161778" imgH="161959" progId="Equation.3">
                  <p:embed/>
                </p:oleObj>
              </mc:Choice>
              <mc:Fallback>
                <p:oleObj name="公式" r:id="rId36" imgW="161778" imgH="161959" progId="Equation.3">
                  <p:embed/>
                  <p:pic>
                    <p:nvPicPr>
                      <p:cNvPr id="68" name="Object 20">
                        <a:extLst>
                          <a:ext uri="{FF2B5EF4-FFF2-40B4-BE49-F238E27FC236}">
                            <a16:creationId xmlns:a16="http://schemas.microsoft.com/office/drawing/2014/main" id="{6DFA2561-83D3-4A6E-A98D-248430242E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3926532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1">
            <a:extLst>
              <a:ext uri="{FF2B5EF4-FFF2-40B4-BE49-F238E27FC236}">
                <a16:creationId xmlns:a16="http://schemas.microsoft.com/office/drawing/2014/main" id="{89312430-F9A2-43A3-B980-CCD532ED64A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675438" y="4382145"/>
          <a:ext cx="115887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31" name="公式" r:id="rId38" imgW="161778" imgH="161959" progId="Equation.3">
                  <p:embed/>
                </p:oleObj>
              </mc:Choice>
              <mc:Fallback>
                <p:oleObj name="公式" r:id="rId38" imgW="161778" imgH="161959" progId="Equation.3">
                  <p:embed/>
                  <p:pic>
                    <p:nvPicPr>
                      <p:cNvPr id="69" name="Object 21">
                        <a:extLst>
                          <a:ext uri="{FF2B5EF4-FFF2-40B4-BE49-F238E27FC236}">
                            <a16:creationId xmlns:a16="http://schemas.microsoft.com/office/drawing/2014/main" id="{89312430-F9A2-43A3-B980-CCD532ED64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5438" y="4382145"/>
                        <a:ext cx="115887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2">
            <a:extLst>
              <a:ext uri="{FF2B5EF4-FFF2-40B4-BE49-F238E27FC236}">
                <a16:creationId xmlns:a16="http://schemas.microsoft.com/office/drawing/2014/main" id="{D043DD44-89BE-4B21-B857-73B016AB5BA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56425" y="4599632"/>
          <a:ext cx="115888" cy="1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32" name="公式" r:id="rId40" imgW="161778" imgH="161959" progId="Equation.3">
                  <p:embed/>
                </p:oleObj>
              </mc:Choice>
              <mc:Fallback>
                <p:oleObj name="公式" r:id="rId40" imgW="161778" imgH="161959" progId="Equation.3">
                  <p:embed/>
                  <p:pic>
                    <p:nvPicPr>
                      <p:cNvPr id="70" name="Object 22">
                        <a:extLst>
                          <a:ext uri="{FF2B5EF4-FFF2-40B4-BE49-F238E27FC236}">
                            <a16:creationId xmlns:a16="http://schemas.microsoft.com/office/drawing/2014/main" id="{D043DD44-89BE-4B21-B857-73B016AB5B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425" y="4599632"/>
                        <a:ext cx="115888" cy="11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Line 80">
            <a:extLst>
              <a:ext uri="{FF2B5EF4-FFF2-40B4-BE49-F238E27FC236}">
                <a16:creationId xmlns:a16="http://schemas.microsoft.com/office/drawing/2014/main" id="{D91E6450-0000-44E8-9666-8452DCD35F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6213" y="4021782"/>
            <a:ext cx="1557337" cy="487363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2" name="Line 81">
            <a:extLst>
              <a:ext uri="{FF2B5EF4-FFF2-40B4-BE49-F238E27FC236}">
                <a16:creationId xmlns:a16="http://schemas.microsoft.com/office/drawing/2014/main" id="{6BA0B0B9-74C0-4D27-AC7D-EA569096EE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2613" y="4021782"/>
            <a:ext cx="1150937" cy="669925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3" name="Line 82">
            <a:extLst>
              <a:ext uri="{FF2B5EF4-FFF2-40B4-BE49-F238E27FC236}">
                <a16:creationId xmlns:a16="http://schemas.microsoft.com/office/drawing/2014/main" id="{EC33DDEF-DEC6-4E85-A404-BC9B8D594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3313757"/>
            <a:ext cx="571500" cy="708025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4" name="Line 89">
            <a:extLst>
              <a:ext uri="{FF2B5EF4-FFF2-40B4-BE49-F238E27FC236}">
                <a16:creationId xmlns:a16="http://schemas.microsoft.com/office/drawing/2014/main" id="{7A44C0FE-FEF9-4923-9A08-FD6510C58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2600" y="4009082"/>
            <a:ext cx="287338" cy="822325"/>
          </a:xfrm>
          <a:prstGeom prst="line">
            <a:avLst/>
          </a:prstGeom>
          <a:noFill/>
          <a:ln w="19050">
            <a:solidFill>
              <a:srgbClr val="CCFF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5" name="Line 90">
            <a:extLst>
              <a:ext uri="{FF2B5EF4-FFF2-40B4-BE49-F238E27FC236}">
                <a16:creationId xmlns:a16="http://schemas.microsoft.com/office/drawing/2014/main" id="{9FBC4D39-3888-4285-9AB9-65BBF4446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0538" y="4009082"/>
            <a:ext cx="719137" cy="822325"/>
          </a:xfrm>
          <a:prstGeom prst="line">
            <a:avLst/>
          </a:prstGeom>
          <a:noFill/>
          <a:ln w="19050">
            <a:solidFill>
              <a:srgbClr val="FFCC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0CCF42E-B9A4-4E17-8FE2-3B413AFC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2742257"/>
            <a:ext cx="442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FF00"/>
                </a:solidFill>
                <a:latin typeface="宋体" panose="02010600030101010101" pitchFamily="2" charset="-122"/>
              </a:rPr>
              <a:t>①</a:t>
            </a:r>
            <a:endParaRPr lang="zh-CN" altLang="en-US" sz="2000">
              <a:solidFill>
                <a:srgbClr val="FFFF00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4D89B68-369B-4159-BF5E-6F6329BA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13" y="2708920"/>
            <a:ext cx="442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FFFF00"/>
                </a:solidFill>
                <a:latin typeface="宋体" panose="02010600030101010101" pitchFamily="2" charset="-122"/>
              </a:rPr>
              <a:t>②</a:t>
            </a:r>
          </a:p>
        </p:txBody>
      </p:sp>
      <p:graphicFrame>
        <p:nvGraphicFramePr>
          <p:cNvPr id="78" name="Object 3">
            <a:extLst>
              <a:ext uri="{FF2B5EF4-FFF2-40B4-BE49-F238E27FC236}">
                <a16:creationId xmlns:a16="http://schemas.microsoft.com/office/drawing/2014/main" id="{2A8F1D67-3616-48FB-A9AD-0573CCE6B55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81288" y="5149263"/>
          <a:ext cx="58483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33" name="公式" r:id="rId42" imgW="3000394" imgH="352391" progId="Equation.3">
                  <p:embed/>
                </p:oleObj>
              </mc:Choice>
              <mc:Fallback>
                <p:oleObj name="公式" r:id="rId42" imgW="3000394" imgH="352391" progId="Equation.3">
                  <p:embed/>
                  <p:pic>
                    <p:nvPicPr>
                      <p:cNvPr id="78" name="Object 3">
                        <a:extLst>
                          <a:ext uri="{FF2B5EF4-FFF2-40B4-BE49-F238E27FC236}">
                            <a16:creationId xmlns:a16="http://schemas.microsoft.com/office/drawing/2014/main" id="{2A8F1D67-3616-48FB-A9AD-0573CCE6B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8" y="5149263"/>
                        <a:ext cx="58483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4">
            <a:extLst>
              <a:ext uri="{FF2B5EF4-FFF2-40B4-BE49-F238E27FC236}">
                <a16:creationId xmlns:a16="http://schemas.microsoft.com/office/drawing/2014/main" id="{04382E3B-E8A8-4A7D-AD2D-339C3BCFBB6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00674" y="5337472"/>
          <a:ext cx="43261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34" name="公式" r:id="rId44" imgW="418973" imgH="380864" progId="Equation.3">
                  <p:embed/>
                </p:oleObj>
              </mc:Choice>
              <mc:Fallback>
                <p:oleObj name="公式" r:id="rId44" imgW="418973" imgH="380864" progId="Equation.3">
                  <p:embed/>
                  <p:pic>
                    <p:nvPicPr>
                      <p:cNvPr id="79" name="Object 4">
                        <a:extLst>
                          <a:ext uri="{FF2B5EF4-FFF2-40B4-BE49-F238E27FC236}">
                            <a16:creationId xmlns:a16="http://schemas.microsoft.com/office/drawing/2014/main" id="{04382E3B-E8A8-4A7D-AD2D-339C3BCFBB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674" y="5337472"/>
                        <a:ext cx="432618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34">
            <a:extLst>
              <a:ext uri="{FF2B5EF4-FFF2-40B4-BE49-F238E27FC236}">
                <a16:creationId xmlns:a16="http://schemas.microsoft.com/office/drawing/2014/main" id="{8653E49C-A51E-4075-BD75-2420BD5F3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899" y="5318720"/>
            <a:ext cx="1007861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波片：</a:t>
            </a: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87A70E97-0FC6-4B61-93FE-184F75C7C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422" y="6214049"/>
            <a:ext cx="14210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半波片：</a:t>
            </a:r>
          </a:p>
        </p:txBody>
      </p:sp>
      <p:graphicFrame>
        <p:nvGraphicFramePr>
          <p:cNvPr id="86" name="Object 15">
            <a:extLst>
              <a:ext uri="{FF2B5EF4-FFF2-40B4-BE49-F238E27FC236}">
                <a16:creationId xmlns:a16="http://schemas.microsoft.com/office/drawing/2014/main" id="{F1AA9D88-C50D-4E24-A1D8-E6CA44D0987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11543" y="5990134"/>
          <a:ext cx="57515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35" name="公式" r:id="rId46" imgW="2943206" imgH="352391" progId="Equation.3">
                  <p:embed/>
                </p:oleObj>
              </mc:Choice>
              <mc:Fallback>
                <p:oleObj name="公式" r:id="rId46" imgW="2943206" imgH="352391" progId="Equation.3">
                  <p:embed/>
                  <p:pic>
                    <p:nvPicPr>
                      <p:cNvPr id="86" name="Object 15">
                        <a:extLst>
                          <a:ext uri="{FF2B5EF4-FFF2-40B4-BE49-F238E27FC236}">
                            <a16:creationId xmlns:a16="http://schemas.microsoft.com/office/drawing/2014/main" id="{F1AA9D88-C50D-4E24-A1D8-E6CA44D09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543" y="5990134"/>
                        <a:ext cx="57515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7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9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1500"/>
                            </p:stCondLst>
                            <p:childTnLst>
                              <p:par>
                                <p:cTn id="2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000"/>
                            </p:stCondLst>
                            <p:childTnLst>
                              <p:par>
                                <p:cTn id="2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500"/>
                            </p:stCondLst>
                            <p:childTnLst>
                              <p:par>
                                <p:cTn id="2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0" grpId="0"/>
      <p:bldP spid="18" grpId="0" animBg="1"/>
      <p:bldP spid="21" grpId="0" autoUpdateAnimBg="0"/>
      <p:bldP spid="49" grpId="0" autoUpdateAnimBg="0"/>
      <p:bldP spid="50" grpId="0" autoUpdateAnimBg="0"/>
      <p:bldP spid="51" grpId="0" animBg="1"/>
      <p:bldP spid="53" grpId="0" autoUpdateAnimBg="0"/>
      <p:bldP spid="56" grpId="0" autoUpdateAnimBg="0"/>
      <p:bldP spid="57" grpId="0" autoUpdateAnimBg="0"/>
      <p:bldP spid="58" grpId="0" animBg="1"/>
      <p:bldP spid="59" grpId="0" animBg="1"/>
      <p:bldP spid="76" grpId="0"/>
      <p:bldP spid="77" grpId="0"/>
      <p:bldP spid="80" grpId="0" autoUpdateAnimBg="0"/>
      <p:bldP spid="8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extLst>
              <a:ext uri="{FF2B5EF4-FFF2-40B4-BE49-F238E27FC236}">
                <a16:creationId xmlns:a16="http://schemas.microsoft.com/office/drawing/2014/main" id="{0490D795-8F35-42E3-8609-0050BA791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84163"/>
            <a:ext cx="4551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500" dirty="0">
                <a:solidFill>
                  <a:srgbClr val="FFFF00"/>
                </a:solidFill>
                <a:cs typeface="Times New Roman" panose="02020603050405020304" pitchFamily="18" charset="0"/>
              </a:rPr>
              <a:t>小结：</a:t>
            </a:r>
            <a:r>
              <a:rPr lang="en-US" altLang="zh-CN" sz="25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dirty="0">
                <a:solidFill>
                  <a:srgbClr val="FFFF00"/>
                </a:solidFill>
                <a:cs typeface="Times New Roman" panose="02020603050405020304" pitchFamily="18" charset="0"/>
              </a:rPr>
              <a:t>几种完全偏振光</a:t>
            </a:r>
            <a:endParaRPr lang="zh-CN" altLang="el-GR" sz="2500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 Box 51">
            <a:extLst>
              <a:ext uri="{FF2B5EF4-FFF2-40B4-BE49-F238E27FC236}">
                <a16:creationId xmlns:a16="http://schemas.microsoft.com/office/drawing/2014/main" id="{62243E0A-5799-43CB-90D1-C1750AEF5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1071563"/>
            <a:ext cx="45513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线偏振光：</a:t>
            </a:r>
            <a:endParaRPr lang="zh-CN" altLang="el-GR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87BF677-0124-43E6-8A18-A3653164F4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41750" y="142875"/>
            <a:ext cx="2444750" cy="1725613"/>
            <a:chOff x="960" y="1359"/>
            <a:chExt cx="1839" cy="1299"/>
          </a:xfrm>
        </p:grpSpPr>
        <p:sp>
          <p:nvSpPr>
            <p:cNvPr id="9303" name="Rectangle 5">
              <a:extLst>
                <a:ext uri="{FF2B5EF4-FFF2-40B4-BE49-F238E27FC236}">
                  <a16:creationId xmlns:a16="http://schemas.microsoft.com/office/drawing/2014/main" id="{DB0F84C8-834C-4CBA-8C86-F036E20A0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1897"/>
              <a:ext cx="19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</a:rPr>
                <a:t>E</a:t>
              </a:r>
              <a:endParaRPr lang="en-US" altLang="zh-CN" sz="1000"/>
            </a:p>
          </p:txBody>
        </p:sp>
        <p:sp>
          <p:nvSpPr>
            <p:cNvPr id="9304" name="Rectangle 6">
              <a:extLst>
                <a:ext uri="{FF2B5EF4-FFF2-40B4-BE49-F238E27FC236}">
                  <a16:creationId xmlns:a16="http://schemas.microsoft.com/office/drawing/2014/main" id="{A5ED30F7-B9BA-46E8-AE0E-84D49EEBA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1407"/>
              <a:ext cx="1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dirty="0">
                  <a:solidFill>
                    <a:srgbClr val="FF00FF"/>
                  </a:solidFill>
                </a:rPr>
                <a:t>播</a:t>
              </a:r>
              <a:endParaRPr lang="zh-CN" altLang="en-US" sz="1800" dirty="0"/>
            </a:p>
          </p:txBody>
        </p:sp>
        <p:sp>
          <p:nvSpPr>
            <p:cNvPr id="9305" name="Line 7">
              <a:extLst>
                <a:ext uri="{FF2B5EF4-FFF2-40B4-BE49-F238E27FC236}">
                  <a16:creationId xmlns:a16="http://schemas.microsoft.com/office/drawing/2014/main" id="{E184E7EE-2347-4D01-BA7F-9B024C1141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8" y="1869"/>
              <a:ext cx="0" cy="78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6" name="Line 8">
              <a:extLst>
                <a:ext uri="{FF2B5EF4-FFF2-40B4-BE49-F238E27FC236}">
                  <a16:creationId xmlns:a16="http://schemas.microsoft.com/office/drawing/2014/main" id="{46EFBC85-BAFF-484B-9560-29CB5DD5D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8" y="1520"/>
              <a:ext cx="1" cy="78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7" name="Line 9">
              <a:extLst>
                <a:ext uri="{FF2B5EF4-FFF2-40B4-BE49-F238E27FC236}">
                  <a16:creationId xmlns:a16="http://schemas.microsoft.com/office/drawing/2014/main" id="{B7727AD7-F0AD-47C5-A248-1F146D425D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520"/>
              <a:ext cx="1839" cy="35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8" name="Line 10">
              <a:extLst>
                <a:ext uri="{FF2B5EF4-FFF2-40B4-BE49-F238E27FC236}">
                  <a16:creationId xmlns:a16="http://schemas.microsoft.com/office/drawing/2014/main" id="{D2A11DF8-1480-4F58-9CEB-65534CAB6D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308"/>
              <a:ext cx="1839" cy="35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9" name="Line 11">
              <a:extLst>
                <a:ext uri="{FF2B5EF4-FFF2-40B4-BE49-F238E27FC236}">
                  <a16:creationId xmlns:a16="http://schemas.microsoft.com/office/drawing/2014/main" id="{8B44CD15-BC04-4D3D-8804-836BE71F3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3" y="1877"/>
              <a:ext cx="0" cy="71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0" name="Freeform 12">
              <a:extLst>
                <a:ext uri="{FF2B5EF4-FFF2-40B4-BE49-F238E27FC236}">
                  <a16:creationId xmlns:a16="http://schemas.microsoft.com/office/drawing/2014/main" id="{B1E05121-FD74-4707-9935-13C976ABF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6" y="1933"/>
              <a:ext cx="499" cy="30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02"/>
                  </a:moveTo>
                  <a:lnTo>
                    <a:pt x="220" y="18503"/>
                  </a:lnTo>
                  <a:lnTo>
                    <a:pt x="440" y="17905"/>
                  </a:lnTo>
                  <a:lnTo>
                    <a:pt x="659" y="17279"/>
                  </a:lnTo>
                  <a:lnTo>
                    <a:pt x="879" y="16653"/>
                  </a:lnTo>
                  <a:lnTo>
                    <a:pt x="1099" y="16054"/>
                  </a:lnTo>
                  <a:lnTo>
                    <a:pt x="1319" y="15483"/>
                  </a:lnTo>
                  <a:lnTo>
                    <a:pt x="1560" y="14884"/>
                  </a:lnTo>
                  <a:lnTo>
                    <a:pt x="1780" y="14313"/>
                  </a:lnTo>
                  <a:lnTo>
                    <a:pt x="2000" y="13714"/>
                  </a:lnTo>
                  <a:lnTo>
                    <a:pt x="2220" y="13143"/>
                  </a:lnTo>
                  <a:lnTo>
                    <a:pt x="2462" y="12571"/>
                  </a:lnTo>
                  <a:lnTo>
                    <a:pt x="2681" y="12027"/>
                  </a:lnTo>
                  <a:lnTo>
                    <a:pt x="2879" y="11456"/>
                  </a:lnTo>
                  <a:lnTo>
                    <a:pt x="3099" y="10884"/>
                  </a:lnTo>
                  <a:lnTo>
                    <a:pt x="3319" y="10340"/>
                  </a:lnTo>
                  <a:lnTo>
                    <a:pt x="3538" y="9796"/>
                  </a:lnTo>
                  <a:lnTo>
                    <a:pt x="3758" y="9279"/>
                  </a:lnTo>
                  <a:lnTo>
                    <a:pt x="3978" y="8789"/>
                  </a:lnTo>
                  <a:lnTo>
                    <a:pt x="4198" y="8218"/>
                  </a:lnTo>
                  <a:lnTo>
                    <a:pt x="4440" y="7701"/>
                  </a:lnTo>
                  <a:lnTo>
                    <a:pt x="4659" y="7211"/>
                  </a:lnTo>
                  <a:lnTo>
                    <a:pt x="4923" y="6803"/>
                  </a:lnTo>
                  <a:lnTo>
                    <a:pt x="5143" y="6340"/>
                  </a:lnTo>
                  <a:lnTo>
                    <a:pt x="5319" y="5905"/>
                  </a:lnTo>
                  <a:lnTo>
                    <a:pt x="5538" y="5442"/>
                  </a:lnTo>
                  <a:lnTo>
                    <a:pt x="5780" y="4980"/>
                  </a:lnTo>
                  <a:lnTo>
                    <a:pt x="5956" y="4571"/>
                  </a:lnTo>
                  <a:lnTo>
                    <a:pt x="6176" y="4163"/>
                  </a:lnTo>
                  <a:lnTo>
                    <a:pt x="6396" y="3782"/>
                  </a:lnTo>
                  <a:lnTo>
                    <a:pt x="6615" y="3429"/>
                  </a:lnTo>
                  <a:lnTo>
                    <a:pt x="6835" y="3075"/>
                  </a:lnTo>
                  <a:lnTo>
                    <a:pt x="7055" y="2721"/>
                  </a:lnTo>
                  <a:lnTo>
                    <a:pt x="7297" y="2395"/>
                  </a:lnTo>
                  <a:lnTo>
                    <a:pt x="7516" y="2068"/>
                  </a:lnTo>
                  <a:lnTo>
                    <a:pt x="7736" y="1823"/>
                  </a:lnTo>
                  <a:lnTo>
                    <a:pt x="7956" y="1551"/>
                  </a:lnTo>
                  <a:lnTo>
                    <a:pt x="8176" y="1333"/>
                  </a:lnTo>
                  <a:lnTo>
                    <a:pt x="8374" y="1061"/>
                  </a:lnTo>
                  <a:lnTo>
                    <a:pt x="8571" y="871"/>
                  </a:lnTo>
                  <a:lnTo>
                    <a:pt x="8791" y="653"/>
                  </a:lnTo>
                  <a:lnTo>
                    <a:pt x="9011" y="517"/>
                  </a:lnTo>
                  <a:lnTo>
                    <a:pt x="9231" y="381"/>
                  </a:lnTo>
                  <a:lnTo>
                    <a:pt x="9429" y="272"/>
                  </a:lnTo>
                  <a:lnTo>
                    <a:pt x="9648" y="163"/>
                  </a:lnTo>
                  <a:lnTo>
                    <a:pt x="9846" y="82"/>
                  </a:lnTo>
                  <a:lnTo>
                    <a:pt x="10088" y="27"/>
                  </a:lnTo>
                  <a:lnTo>
                    <a:pt x="10264" y="0"/>
                  </a:lnTo>
                  <a:lnTo>
                    <a:pt x="10484" y="27"/>
                  </a:lnTo>
                  <a:lnTo>
                    <a:pt x="10703" y="27"/>
                  </a:lnTo>
                  <a:lnTo>
                    <a:pt x="10901" y="82"/>
                  </a:lnTo>
                  <a:lnTo>
                    <a:pt x="11099" y="218"/>
                  </a:lnTo>
                  <a:lnTo>
                    <a:pt x="11319" y="327"/>
                  </a:lnTo>
                  <a:lnTo>
                    <a:pt x="11538" y="517"/>
                  </a:lnTo>
                  <a:lnTo>
                    <a:pt x="11758" y="789"/>
                  </a:lnTo>
                  <a:lnTo>
                    <a:pt x="11978" y="980"/>
                  </a:lnTo>
                  <a:lnTo>
                    <a:pt x="12198" y="1224"/>
                  </a:lnTo>
                  <a:lnTo>
                    <a:pt x="12440" y="1551"/>
                  </a:lnTo>
                  <a:lnTo>
                    <a:pt x="12659" y="1932"/>
                  </a:lnTo>
                  <a:lnTo>
                    <a:pt x="12945" y="2286"/>
                  </a:lnTo>
                  <a:lnTo>
                    <a:pt x="13165" y="2667"/>
                  </a:lnTo>
                  <a:lnTo>
                    <a:pt x="13385" y="3102"/>
                  </a:lnTo>
                  <a:lnTo>
                    <a:pt x="13604" y="3510"/>
                  </a:lnTo>
                  <a:lnTo>
                    <a:pt x="13824" y="3973"/>
                  </a:lnTo>
                  <a:lnTo>
                    <a:pt x="14066" y="4463"/>
                  </a:lnTo>
                  <a:lnTo>
                    <a:pt x="14286" y="4925"/>
                  </a:lnTo>
                  <a:lnTo>
                    <a:pt x="14527" y="5469"/>
                  </a:lnTo>
                  <a:lnTo>
                    <a:pt x="14747" y="5986"/>
                  </a:lnTo>
                  <a:lnTo>
                    <a:pt x="14967" y="6531"/>
                  </a:lnTo>
                  <a:lnTo>
                    <a:pt x="15187" y="7075"/>
                  </a:lnTo>
                  <a:lnTo>
                    <a:pt x="15407" y="7619"/>
                  </a:lnTo>
                  <a:lnTo>
                    <a:pt x="15670" y="8190"/>
                  </a:lnTo>
                  <a:lnTo>
                    <a:pt x="15912" y="8789"/>
                  </a:lnTo>
                  <a:lnTo>
                    <a:pt x="16088" y="9361"/>
                  </a:lnTo>
                  <a:lnTo>
                    <a:pt x="16308" y="9932"/>
                  </a:lnTo>
                  <a:lnTo>
                    <a:pt x="16527" y="10476"/>
                  </a:lnTo>
                  <a:lnTo>
                    <a:pt x="16725" y="11048"/>
                  </a:lnTo>
                  <a:lnTo>
                    <a:pt x="16945" y="11619"/>
                  </a:lnTo>
                  <a:lnTo>
                    <a:pt x="17143" y="12190"/>
                  </a:lnTo>
                  <a:lnTo>
                    <a:pt x="17341" y="12789"/>
                  </a:lnTo>
                  <a:lnTo>
                    <a:pt x="17538" y="13333"/>
                  </a:lnTo>
                  <a:lnTo>
                    <a:pt x="17714" y="13850"/>
                  </a:lnTo>
                  <a:lnTo>
                    <a:pt x="17912" y="14395"/>
                  </a:lnTo>
                  <a:lnTo>
                    <a:pt x="18110" y="14939"/>
                  </a:lnTo>
                  <a:lnTo>
                    <a:pt x="18264" y="15429"/>
                  </a:lnTo>
                  <a:lnTo>
                    <a:pt x="18462" y="15946"/>
                  </a:lnTo>
                  <a:lnTo>
                    <a:pt x="18659" y="16408"/>
                  </a:lnTo>
                  <a:lnTo>
                    <a:pt x="18791" y="16871"/>
                  </a:lnTo>
                  <a:lnTo>
                    <a:pt x="18945" y="17333"/>
                  </a:lnTo>
                  <a:lnTo>
                    <a:pt x="19099" y="17714"/>
                  </a:lnTo>
                  <a:lnTo>
                    <a:pt x="19253" y="18150"/>
                  </a:lnTo>
                  <a:lnTo>
                    <a:pt x="19385" y="18531"/>
                  </a:lnTo>
                  <a:lnTo>
                    <a:pt x="19538" y="18884"/>
                  </a:lnTo>
                  <a:lnTo>
                    <a:pt x="19648" y="19156"/>
                  </a:lnTo>
                  <a:lnTo>
                    <a:pt x="19758" y="19483"/>
                  </a:lnTo>
                  <a:lnTo>
                    <a:pt x="19868" y="19782"/>
                  </a:lnTo>
                  <a:lnTo>
                    <a:pt x="19978" y="19973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1" name="Freeform 13">
              <a:extLst>
                <a:ext uri="{FF2B5EF4-FFF2-40B4-BE49-F238E27FC236}">
                  <a16:creationId xmlns:a16="http://schemas.microsoft.com/office/drawing/2014/main" id="{31C7AAF4-AFF7-4C0A-92B0-1E6345771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2045"/>
              <a:ext cx="484" cy="29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1"/>
                  </a:moveTo>
                  <a:lnTo>
                    <a:pt x="220" y="1469"/>
                  </a:lnTo>
                  <a:lnTo>
                    <a:pt x="440" y="2068"/>
                  </a:lnTo>
                  <a:lnTo>
                    <a:pt x="659" y="2667"/>
                  </a:lnTo>
                  <a:lnTo>
                    <a:pt x="879" y="3320"/>
                  </a:lnTo>
                  <a:lnTo>
                    <a:pt x="1099" y="3918"/>
                  </a:lnTo>
                  <a:lnTo>
                    <a:pt x="1319" y="4490"/>
                  </a:lnTo>
                  <a:lnTo>
                    <a:pt x="1560" y="5088"/>
                  </a:lnTo>
                  <a:lnTo>
                    <a:pt x="1780" y="5660"/>
                  </a:lnTo>
                  <a:lnTo>
                    <a:pt x="2000" y="6231"/>
                  </a:lnTo>
                  <a:lnTo>
                    <a:pt x="2220" y="6830"/>
                  </a:lnTo>
                  <a:lnTo>
                    <a:pt x="2462" y="7401"/>
                  </a:lnTo>
                  <a:lnTo>
                    <a:pt x="2681" y="7946"/>
                  </a:lnTo>
                  <a:lnTo>
                    <a:pt x="2879" y="8517"/>
                  </a:lnTo>
                  <a:lnTo>
                    <a:pt x="3099" y="9088"/>
                  </a:lnTo>
                  <a:lnTo>
                    <a:pt x="3319" y="9633"/>
                  </a:lnTo>
                  <a:lnTo>
                    <a:pt x="3538" y="10177"/>
                  </a:lnTo>
                  <a:lnTo>
                    <a:pt x="3758" y="10667"/>
                  </a:lnTo>
                  <a:lnTo>
                    <a:pt x="3978" y="11184"/>
                  </a:lnTo>
                  <a:lnTo>
                    <a:pt x="4198" y="11728"/>
                  </a:lnTo>
                  <a:lnTo>
                    <a:pt x="4440" y="12272"/>
                  </a:lnTo>
                  <a:lnTo>
                    <a:pt x="4659" y="12735"/>
                  </a:lnTo>
                  <a:lnTo>
                    <a:pt x="4923" y="13170"/>
                  </a:lnTo>
                  <a:lnTo>
                    <a:pt x="5143" y="13633"/>
                  </a:lnTo>
                  <a:lnTo>
                    <a:pt x="5319" y="14068"/>
                  </a:lnTo>
                  <a:lnTo>
                    <a:pt x="5538" y="14531"/>
                  </a:lnTo>
                  <a:lnTo>
                    <a:pt x="5780" y="14966"/>
                  </a:lnTo>
                  <a:lnTo>
                    <a:pt x="5956" y="15401"/>
                  </a:lnTo>
                  <a:lnTo>
                    <a:pt x="6176" y="15810"/>
                  </a:lnTo>
                  <a:lnTo>
                    <a:pt x="6396" y="16190"/>
                  </a:lnTo>
                  <a:lnTo>
                    <a:pt x="6615" y="16544"/>
                  </a:lnTo>
                  <a:lnTo>
                    <a:pt x="6835" y="16898"/>
                  </a:lnTo>
                  <a:lnTo>
                    <a:pt x="7055" y="17224"/>
                  </a:lnTo>
                  <a:lnTo>
                    <a:pt x="7297" y="17551"/>
                  </a:lnTo>
                  <a:lnTo>
                    <a:pt x="7516" y="17905"/>
                  </a:lnTo>
                  <a:lnTo>
                    <a:pt x="7736" y="18150"/>
                  </a:lnTo>
                  <a:lnTo>
                    <a:pt x="7956" y="18395"/>
                  </a:lnTo>
                  <a:lnTo>
                    <a:pt x="8176" y="18639"/>
                  </a:lnTo>
                  <a:lnTo>
                    <a:pt x="8374" y="18912"/>
                  </a:lnTo>
                  <a:lnTo>
                    <a:pt x="8571" y="19102"/>
                  </a:lnTo>
                  <a:lnTo>
                    <a:pt x="8791" y="19320"/>
                  </a:lnTo>
                  <a:lnTo>
                    <a:pt x="9011" y="19456"/>
                  </a:lnTo>
                  <a:lnTo>
                    <a:pt x="9231" y="19592"/>
                  </a:lnTo>
                  <a:lnTo>
                    <a:pt x="9429" y="19701"/>
                  </a:lnTo>
                  <a:lnTo>
                    <a:pt x="9648" y="19810"/>
                  </a:lnTo>
                  <a:lnTo>
                    <a:pt x="9846" y="19891"/>
                  </a:lnTo>
                  <a:lnTo>
                    <a:pt x="10088" y="19946"/>
                  </a:lnTo>
                  <a:lnTo>
                    <a:pt x="10264" y="19973"/>
                  </a:lnTo>
                  <a:lnTo>
                    <a:pt x="10484" y="19946"/>
                  </a:lnTo>
                  <a:lnTo>
                    <a:pt x="10703" y="19946"/>
                  </a:lnTo>
                  <a:lnTo>
                    <a:pt x="10901" y="19891"/>
                  </a:lnTo>
                  <a:lnTo>
                    <a:pt x="11099" y="19728"/>
                  </a:lnTo>
                  <a:lnTo>
                    <a:pt x="11319" y="19646"/>
                  </a:lnTo>
                  <a:lnTo>
                    <a:pt x="11538" y="19456"/>
                  </a:lnTo>
                  <a:lnTo>
                    <a:pt x="11758" y="19184"/>
                  </a:lnTo>
                  <a:lnTo>
                    <a:pt x="11978" y="18966"/>
                  </a:lnTo>
                  <a:lnTo>
                    <a:pt x="12198" y="18721"/>
                  </a:lnTo>
                  <a:lnTo>
                    <a:pt x="12440" y="18395"/>
                  </a:lnTo>
                  <a:lnTo>
                    <a:pt x="12659" y="18041"/>
                  </a:lnTo>
                  <a:lnTo>
                    <a:pt x="12945" y="17687"/>
                  </a:lnTo>
                  <a:lnTo>
                    <a:pt x="13165" y="17279"/>
                  </a:lnTo>
                  <a:lnTo>
                    <a:pt x="13385" y="16871"/>
                  </a:lnTo>
                  <a:lnTo>
                    <a:pt x="13604" y="16463"/>
                  </a:lnTo>
                  <a:lnTo>
                    <a:pt x="13824" y="16000"/>
                  </a:lnTo>
                  <a:lnTo>
                    <a:pt x="14066" y="15510"/>
                  </a:lnTo>
                  <a:lnTo>
                    <a:pt x="14286" y="15048"/>
                  </a:lnTo>
                  <a:lnTo>
                    <a:pt x="14527" y="14503"/>
                  </a:lnTo>
                  <a:lnTo>
                    <a:pt x="14747" y="13986"/>
                  </a:lnTo>
                  <a:lnTo>
                    <a:pt x="14967" y="13442"/>
                  </a:lnTo>
                  <a:lnTo>
                    <a:pt x="15187" y="12898"/>
                  </a:lnTo>
                  <a:lnTo>
                    <a:pt x="15407" y="12354"/>
                  </a:lnTo>
                  <a:lnTo>
                    <a:pt x="15670" y="11782"/>
                  </a:lnTo>
                  <a:lnTo>
                    <a:pt x="15912" y="11184"/>
                  </a:lnTo>
                  <a:lnTo>
                    <a:pt x="16088" y="10612"/>
                  </a:lnTo>
                  <a:lnTo>
                    <a:pt x="16308" y="10041"/>
                  </a:lnTo>
                  <a:lnTo>
                    <a:pt x="16527" y="9497"/>
                  </a:lnTo>
                  <a:lnTo>
                    <a:pt x="16725" y="8925"/>
                  </a:lnTo>
                  <a:lnTo>
                    <a:pt x="16945" y="8354"/>
                  </a:lnTo>
                  <a:lnTo>
                    <a:pt x="17143" y="7782"/>
                  </a:lnTo>
                  <a:lnTo>
                    <a:pt x="17341" y="7184"/>
                  </a:lnTo>
                  <a:lnTo>
                    <a:pt x="17538" y="6639"/>
                  </a:lnTo>
                  <a:lnTo>
                    <a:pt x="17714" y="6095"/>
                  </a:lnTo>
                  <a:lnTo>
                    <a:pt x="17912" y="5551"/>
                  </a:lnTo>
                  <a:lnTo>
                    <a:pt x="18110" y="5034"/>
                  </a:lnTo>
                  <a:lnTo>
                    <a:pt x="18264" y="4544"/>
                  </a:lnTo>
                  <a:lnTo>
                    <a:pt x="18462" y="4027"/>
                  </a:lnTo>
                  <a:lnTo>
                    <a:pt x="18659" y="3537"/>
                  </a:lnTo>
                  <a:lnTo>
                    <a:pt x="18791" y="3102"/>
                  </a:lnTo>
                  <a:lnTo>
                    <a:pt x="18945" y="2639"/>
                  </a:lnTo>
                  <a:lnTo>
                    <a:pt x="19099" y="2231"/>
                  </a:lnTo>
                  <a:lnTo>
                    <a:pt x="19253" y="1823"/>
                  </a:lnTo>
                  <a:lnTo>
                    <a:pt x="19385" y="1442"/>
                  </a:lnTo>
                  <a:lnTo>
                    <a:pt x="19538" y="1088"/>
                  </a:lnTo>
                  <a:lnTo>
                    <a:pt x="19648" y="816"/>
                  </a:lnTo>
                  <a:lnTo>
                    <a:pt x="19758" y="490"/>
                  </a:lnTo>
                  <a:lnTo>
                    <a:pt x="19868" y="190"/>
                  </a:lnTo>
                  <a:lnTo>
                    <a:pt x="19978" y="0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2" name="Freeform 14">
              <a:extLst>
                <a:ext uri="{FF2B5EF4-FFF2-40B4-BE49-F238E27FC236}">
                  <a16:creationId xmlns:a16="http://schemas.microsoft.com/office/drawing/2014/main" id="{BF1C43EF-0DFD-4FD6-9580-3751D1046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1781"/>
              <a:ext cx="483" cy="29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02"/>
                  </a:moveTo>
                  <a:lnTo>
                    <a:pt x="220" y="18503"/>
                  </a:lnTo>
                  <a:lnTo>
                    <a:pt x="440" y="17905"/>
                  </a:lnTo>
                  <a:lnTo>
                    <a:pt x="659" y="17279"/>
                  </a:lnTo>
                  <a:lnTo>
                    <a:pt x="879" y="16653"/>
                  </a:lnTo>
                  <a:lnTo>
                    <a:pt x="1099" y="16054"/>
                  </a:lnTo>
                  <a:lnTo>
                    <a:pt x="1319" y="15483"/>
                  </a:lnTo>
                  <a:lnTo>
                    <a:pt x="1560" y="14884"/>
                  </a:lnTo>
                  <a:lnTo>
                    <a:pt x="1780" y="14313"/>
                  </a:lnTo>
                  <a:lnTo>
                    <a:pt x="2000" y="13714"/>
                  </a:lnTo>
                  <a:lnTo>
                    <a:pt x="2220" y="13143"/>
                  </a:lnTo>
                  <a:lnTo>
                    <a:pt x="2462" y="12571"/>
                  </a:lnTo>
                  <a:lnTo>
                    <a:pt x="2681" y="12027"/>
                  </a:lnTo>
                  <a:lnTo>
                    <a:pt x="2879" y="11456"/>
                  </a:lnTo>
                  <a:lnTo>
                    <a:pt x="3099" y="10884"/>
                  </a:lnTo>
                  <a:lnTo>
                    <a:pt x="3319" y="10340"/>
                  </a:lnTo>
                  <a:lnTo>
                    <a:pt x="3538" y="9796"/>
                  </a:lnTo>
                  <a:lnTo>
                    <a:pt x="3758" y="9279"/>
                  </a:lnTo>
                  <a:lnTo>
                    <a:pt x="3978" y="8789"/>
                  </a:lnTo>
                  <a:lnTo>
                    <a:pt x="4198" y="8218"/>
                  </a:lnTo>
                  <a:lnTo>
                    <a:pt x="4440" y="7701"/>
                  </a:lnTo>
                  <a:lnTo>
                    <a:pt x="4659" y="7211"/>
                  </a:lnTo>
                  <a:lnTo>
                    <a:pt x="4923" y="6803"/>
                  </a:lnTo>
                  <a:lnTo>
                    <a:pt x="5143" y="6340"/>
                  </a:lnTo>
                  <a:lnTo>
                    <a:pt x="5319" y="5905"/>
                  </a:lnTo>
                  <a:lnTo>
                    <a:pt x="5538" y="5442"/>
                  </a:lnTo>
                  <a:lnTo>
                    <a:pt x="5780" y="4980"/>
                  </a:lnTo>
                  <a:lnTo>
                    <a:pt x="5956" y="4571"/>
                  </a:lnTo>
                  <a:lnTo>
                    <a:pt x="6176" y="4163"/>
                  </a:lnTo>
                  <a:lnTo>
                    <a:pt x="6396" y="3782"/>
                  </a:lnTo>
                  <a:lnTo>
                    <a:pt x="6615" y="3429"/>
                  </a:lnTo>
                  <a:lnTo>
                    <a:pt x="6835" y="3075"/>
                  </a:lnTo>
                  <a:lnTo>
                    <a:pt x="7055" y="2721"/>
                  </a:lnTo>
                  <a:lnTo>
                    <a:pt x="7297" y="2395"/>
                  </a:lnTo>
                  <a:lnTo>
                    <a:pt x="7516" y="2068"/>
                  </a:lnTo>
                  <a:lnTo>
                    <a:pt x="7736" y="1823"/>
                  </a:lnTo>
                  <a:lnTo>
                    <a:pt x="7956" y="1551"/>
                  </a:lnTo>
                  <a:lnTo>
                    <a:pt x="8176" y="1333"/>
                  </a:lnTo>
                  <a:lnTo>
                    <a:pt x="8374" y="1061"/>
                  </a:lnTo>
                  <a:lnTo>
                    <a:pt x="8571" y="871"/>
                  </a:lnTo>
                  <a:lnTo>
                    <a:pt x="8791" y="653"/>
                  </a:lnTo>
                  <a:lnTo>
                    <a:pt x="9011" y="517"/>
                  </a:lnTo>
                  <a:lnTo>
                    <a:pt x="9231" y="381"/>
                  </a:lnTo>
                  <a:lnTo>
                    <a:pt x="9429" y="272"/>
                  </a:lnTo>
                  <a:lnTo>
                    <a:pt x="9648" y="163"/>
                  </a:lnTo>
                  <a:lnTo>
                    <a:pt x="9846" y="82"/>
                  </a:lnTo>
                  <a:lnTo>
                    <a:pt x="10088" y="27"/>
                  </a:lnTo>
                  <a:lnTo>
                    <a:pt x="10264" y="0"/>
                  </a:lnTo>
                  <a:lnTo>
                    <a:pt x="10484" y="27"/>
                  </a:lnTo>
                  <a:lnTo>
                    <a:pt x="10703" y="27"/>
                  </a:lnTo>
                  <a:lnTo>
                    <a:pt x="10901" y="82"/>
                  </a:lnTo>
                  <a:lnTo>
                    <a:pt x="11099" y="218"/>
                  </a:lnTo>
                  <a:lnTo>
                    <a:pt x="11319" y="327"/>
                  </a:lnTo>
                  <a:lnTo>
                    <a:pt x="11538" y="517"/>
                  </a:lnTo>
                  <a:lnTo>
                    <a:pt x="11758" y="789"/>
                  </a:lnTo>
                  <a:lnTo>
                    <a:pt x="11978" y="980"/>
                  </a:lnTo>
                  <a:lnTo>
                    <a:pt x="12198" y="1224"/>
                  </a:lnTo>
                  <a:lnTo>
                    <a:pt x="12440" y="1551"/>
                  </a:lnTo>
                  <a:lnTo>
                    <a:pt x="12659" y="1932"/>
                  </a:lnTo>
                  <a:lnTo>
                    <a:pt x="12945" y="2286"/>
                  </a:lnTo>
                  <a:lnTo>
                    <a:pt x="13165" y="2667"/>
                  </a:lnTo>
                  <a:lnTo>
                    <a:pt x="13385" y="3102"/>
                  </a:lnTo>
                  <a:lnTo>
                    <a:pt x="13604" y="3510"/>
                  </a:lnTo>
                  <a:lnTo>
                    <a:pt x="13824" y="3973"/>
                  </a:lnTo>
                  <a:lnTo>
                    <a:pt x="14066" y="4463"/>
                  </a:lnTo>
                  <a:lnTo>
                    <a:pt x="14286" y="4925"/>
                  </a:lnTo>
                  <a:lnTo>
                    <a:pt x="14527" y="5469"/>
                  </a:lnTo>
                  <a:lnTo>
                    <a:pt x="14747" y="5986"/>
                  </a:lnTo>
                  <a:lnTo>
                    <a:pt x="14967" y="6531"/>
                  </a:lnTo>
                  <a:lnTo>
                    <a:pt x="15187" y="7075"/>
                  </a:lnTo>
                  <a:lnTo>
                    <a:pt x="15407" y="7619"/>
                  </a:lnTo>
                  <a:lnTo>
                    <a:pt x="15670" y="8190"/>
                  </a:lnTo>
                  <a:lnTo>
                    <a:pt x="15912" y="8789"/>
                  </a:lnTo>
                  <a:lnTo>
                    <a:pt x="16088" y="9361"/>
                  </a:lnTo>
                  <a:lnTo>
                    <a:pt x="16308" y="9932"/>
                  </a:lnTo>
                  <a:lnTo>
                    <a:pt x="16527" y="10476"/>
                  </a:lnTo>
                  <a:lnTo>
                    <a:pt x="16725" y="11048"/>
                  </a:lnTo>
                  <a:lnTo>
                    <a:pt x="16945" y="11619"/>
                  </a:lnTo>
                  <a:lnTo>
                    <a:pt x="17143" y="12190"/>
                  </a:lnTo>
                  <a:lnTo>
                    <a:pt x="17341" y="12789"/>
                  </a:lnTo>
                  <a:lnTo>
                    <a:pt x="17538" y="13333"/>
                  </a:lnTo>
                  <a:lnTo>
                    <a:pt x="17714" y="13850"/>
                  </a:lnTo>
                  <a:lnTo>
                    <a:pt x="17912" y="14395"/>
                  </a:lnTo>
                  <a:lnTo>
                    <a:pt x="18110" y="14939"/>
                  </a:lnTo>
                  <a:lnTo>
                    <a:pt x="18264" y="15429"/>
                  </a:lnTo>
                  <a:lnTo>
                    <a:pt x="18462" y="15946"/>
                  </a:lnTo>
                  <a:lnTo>
                    <a:pt x="18659" y="16408"/>
                  </a:lnTo>
                  <a:lnTo>
                    <a:pt x="18791" y="16871"/>
                  </a:lnTo>
                  <a:lnTo>
                    <a:pt x="18945" y="17333"/>
                  </a:lnTo>
                  <a:lnTo>
                    <a:pt x="19099" y="17714"/>
                  </a:lnTo>
                  <a:lnTo>
                    <a:pt x="19253" y="18150"/>
                  </a:lnTo>
                  <a:lnTo>
                    <a:pt x="19385" y="18531"/>
                  </a:lnTo>
                  <a:lnTo>
                    <a:pt x="19538" y="18884"/>
                  </a:lnTo>
                  <a:lnTo>
                    <a:pt x="19648" y="19156"/>
                  </a:lnTo>
                  <a:lnTo>
                    <a:pt x="19758" y="19483"/>
                  </a:lnTo>
                  <a:lnTo>
                    <a:pt x="19868" y="19782"/>
                  </a:lnTo>
                  <a:lnTo>
                    <a:pt x="19978" y="19973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3" name="Line 15">
              <a:extLst>
                <a:ext uri="{FF2B5EF4-FFF2-40B4-BE49-F238E27FC236}">
                  <a16:creationId xmlns:a16="http://schemas.microsoft.com/office/drawing/2014/main" id="{6271775B-ABD4-4194-AF58-B67F44D67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3" y="1941"/>
              <a:ext cx="1477" cy="2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4" name="Line 16">
              <a:extLst>
                <a:ext uri="{FF2B5EF4-FFF2-40B4-BE49-F238E27FC236}">
                  <a16:creationId xmlns:a16="http://schemas.microsoft.com/office/drawing/2014/main" id="{FCF3C47B-534B-4E96-8F72-E883EB43B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1941"/>
              <a:ext cx="0" cy="24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5" name="Line 17">
              <a:extLst>
                <a:ext uri="{FF2B5EF4-FFF2-40B4-BE49-F238E27FC236}">
                  <a16:creationId xmlns:a16="http://schemas.microsoft.com/office/drawing/2014/main" id="{8EF2E861-76E6-4EB9-9086-C7F0A4BCEA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6" y="1997"/>
              <a:ext cx="7" cy="20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6" name="Line 18">
              <a:extLst>
                <a:ext uri="{FF2B5EF4-FFF2-40B4-BE49-F238E27FC236}">
                  <a16:creationId xmlns:a16="http://schemas.microsoft.com/office/drawing/2014/main" id="{162EAE14-BC89-4225-8AA0-9933CDF53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" y="1965"/>
              <a:ext cx="1" cy="20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7" name="Line 19">
              <a:extLst>
                <a:ext uri="{FF2B5EF4-FFF2-40B4-BE49-F238E27FC236}">
                  <a16:creationId xmlns:a16="http://schemas.microsoft.com/office/drawing/2014/main" id="{5D9AB4AF-9FFE-42E9-A6AE-5881C2189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2" y="2077"/>
              <a:ext cx="7" cy="13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8" name="Line 20">
              <a:extLst>
                <a:ext uri="{FF2B5EF4-FFF2-40B4-BE49-F238E27FC236}">
                  <a16:creationId xmlns:a16="http://schemas.microsoft.com/office/drawing/2014/main" id="{165C2ACD-DA63-4570-BF01-2BE4B0A0A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6" y="2061"/>
              <a:ext cx="0" cy="9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" name="Line 21">
              <a:extLst>
                <a:ext uri="{FF2B5EF4-FFF2-40B4-BE49-F238E27FC236}">
                  <a16:creationId xmlns:a16="http://schemas.microsoft.com/office/drawing/2014/main" id="{09E6B9F0-DDBB-46F4-A897-38393AFF3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1781"/>
              <a:ext cx="1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" name="Line 22">
              <a:extLst>
                <a:ext uri="{FF2B5EF4-FFF2-40B4-BE49-F238E27FC236}">
                  <a16:creationId xmlns:a16="http://schemas.microsoft.com/office/drawing/2014/main" id="{3D52311D-AAFC-4D32-BA5B-F6680BE6E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7" y="1837"/>
              <a:ext cx="7" cy="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" name="Line 23">
              <a:extLst>
                <a:ext uri="{FF2B5EF4-FFF2-40B4-BE49-F238E27FC236}">
                  <a16:creationId xmlns:a16="http://schemas.microsoft.com/office/drawing/2014/main" id="{EBA2D1BF-9AE6-4793-A21A-53A7E067E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1829"/>
              <a:ext cx="0" cy="17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" name="Line 24">
              <a:extLst>
                <a:ext uri="{FF2B5EF4-FFF2-40B4-BE49-F238E27FC236}">
                  <a16:creationId xmlns:a16="http://schemas.microsoft.com/office/drawing/2014/main" id="{44847F5B-2353-411E-A88E-C75A3C868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3" y="1917"/>
              <a:ext cx="7" cy="1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" name="Line 25">
              <a:extLst>
                <a:ext uri="{FF2B5EF4-FFF2-40B4-BE49-F238E27FC236}">
                  <a16:creationId xmlns:a16="http://schemas.microsoft.com/office/drawing/2014/main" id="{469E7A36-D318-4572-ACB0-BE7CA3CA6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7" y="1924"/>
              <a:ext cx="0" cy="6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4" name="Line 26">
              <a:extLst>
                <a:ext uri="{FF2B5EF4-FFF2-40B4-BE49-F238E27FC236}">
                  <a16:creationId xmlns:a16="http://schemas.microsoft.com/office/drawing/2014/main" id="{20732030-71F4-4E02-A269-45AFE3321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0" y="2099"/>
              <a:ext cx="1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" name="Line 27">
              <a:extLst>
                <a:ext uri="{FF2B5EF4-FFF2-40B4-BE49-F238E27FC236}">
                  <a16:creationId xmlns:a16="http://schemas.microsoft.com/office/drawing/2014/main" id="{334E6305-2B56-4E68-89A3-092499642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5" y="2083"/>
              <a:ext cx="0" cy="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6" name="Line 28">
              <a:extLst>
                <a:ext uri="{FF2B5EF4-FFF2-40B4-BE49-F238E27FC236}">
                  <a16:creationId xmlns:a16="http://schemas.microsoft.com/office/drawing/2014/main" id="{0E910CCF-5AAB-4CA4-872C-2C370149D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36" y="2115"/>
              <a:ext cx="8" cy="1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" name="Line 29">
              <a:extLst>
                <a:ext uri="{FF2B5EF4-FFF2-40B4-BE49-F238E27FC236}">
                  <a16:creationId xmlns:a16="http://schemas.microsoft.com/office/drawing/2014/main" id="{D1D44A90-BC02-4204-8056-AA94AE0A41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8" y="2075"/>
              <a:ext cx="1" cy="1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" name="Line 30">
              <a:extLst>
                <a:ext uri="{FF2B5EF4-FFF2-40B4-BE49-F238E27FC236}">
                  <a16:creationId xmlns:a16="http://schemas.microsoft.com/office/drawing/2014/main" id="{29D8A7A8-1644-41E0-9C32-644DAD374E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73" y="2125"/>
              <a:ext cx="7" cy="8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" name="Line 31">
              <a:extLst>
                <a:ext uri="{FF2B5EF4-FFF2-40B4-BE49-F238E27FC236}">
                  <a16:creationId xmlns:a16="http://schemas.microsoft.com/office/drawing/2014/main" id="{6BF725E2-8CBC-4296-AA35-06102DD24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3" y="1591"/>
              <a:ext cx="426" cy="88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0" name="Rectangle 32">
              <a:extLst>
                <a:ext uri="{FF2B5EF4-FFF2-40B4-BE49-F238E27FC236}">
                  <a16:creationId xmlns:a16="http://schemas.microsoft.com/office/drawing/2014/main" id="{B160DB98-0933-4C9C-B75C-77C3F1AD5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" y="1439"/>
              <a:ext cx="19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FF00FF"/>
                  </a:solidFill>
                </a:rPr>
                <a:t>传</a:t>
              </a:r>
              <a:endParaRPr lang="zh-CN" altLang="en-US" sz="2000"/>
            </a:p>
          </p:txBody>
        </p:sp>
        <p:sp>
          <p:nvSpPr>
            <p:cNvPr id="9331" name="Rectangle 33">
              <a:extLst>
                <a:ext uri="{FF2B5EF4-FFF2-40B4-BE49-F238E27FC236}">
                  <a16:creationId xmlns:a16="http://schemas.microsoft.com/office/drawing/2014/main" id="{23BFBAAA-A2AC-4A1F-BC5E-E846567E8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1391"/>
              <a:ext cx="18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FF00FF"/>
                  </a:solidFill>
                </a:rPr>
                <a:t>方</a:t>
              </a:r>
              <a:endParaRPr lang="zh-CN" altLang="en-US" sz="1800"/>
            </a:p>
          </p:txBody>
        </p:sp>
        <p:sp>
          <p:nvSpPr>
            <p:cNvPr id="9332" name="Rectangle 34">
              <a:extLst>
                <a:ext uri="{FF2B5EF4-FFF2-40B4-BE49-F238E27FC236}">
                  <a16:creationId xmlns:a16="http://schemas.microsoft.com/office/drawing/2014/main" id="{AF69B78A-CD94-4464-833A-AF81080CE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1359"/>
              <a:ext cx="19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FF00FF"/>
                  </a:solidFill>
                </a:rPr>
                <a:t>向</a:t>
              </a:r>
              <a:endParaRPr lang="zh-CN" altLang="en-US" sz="1800"/>
            </a:p>
          </p:txBody>
        </p:sp>
        <p:sp>
          <p:nvSpPr>
            <p:cNvPr id="9333" name="Rectangle 35">
              <a:extLst>
                <a:ext uri="{FF2B5EF4-FFF2-40B4-BE49-F238E27FC236}">
                  <a16:creationId xmlns:a16="http://schemas.microsoft.com/office/drawing/2014/main" id="{CD29C312-957F-4DED-A80B-54018E60C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" y="2485"/>
              <a:ext cx="245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</a:rPr>
                <a:t>振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9334" name="Rectangle 36">
              <a:extLst>
                <a:ext uri="{FF2B5EF4-FFF2-40B4-BE49-F238E27FC236}">
                  <a16:creationId xmlns:a16="http://schemas.microsoft.com/office/drawing/2014/main" id="{BF5EA64C-5D1E-4361-A46F-7E51F4CBC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2437"/>
              <a:ext cx="309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solidFill>
                    <a:schemeClr val="bg1"/>
                  </a:solidFill>
                </a:rPr>
                <a:t>动</a:t>
              </a:r>
            </a:p>
          </p:txBody>
        </p:sp>
        <p:sp>
          <p:nvSpPr>
            <p:cNvPr id="9335" name="Rectangle 37">
              <a:extLst>
                <a:ext uri="{FF2B5EF4-FFF2-40B4-BE49-F238E27FC236}">
                  <a16:creationId xmlns:a16="http://schemas.microsoft.com/office/drawing/2014/main" id="{5D19E312-E8E0-4CD5-A38A-41D38F028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381"/>
              <a:ext cx="2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>
                  <a:solidFill>
                    <a:schemeClr val="bg1"/>
                  </a:solidFill>
                </a:rPr>
                <a:t>面</a:t>
              </a:r>
            </a:p>
          </p:txBody>
        </p:sp>
      </p:grpSp>
      <p:sp>
        <p:nvSpPr>
          <p:cNvPr id="45" name="Text Box 51">
            <a:extLst>
              <a:ext uri="{FF2B5EF4-FFF2-40B4-BE49-F238E27FC236}">
                <a16:creationId xmlns:a16="http://schemas.microsoft.com/office/drawing/2014/main" id="{16778FC5-5F6B-4ACA-B311-F4EF4541B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1928813"/>
            <a:ext cx="4551362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cs typeface="Times New Roman" panose="02020603050405020304" pitchFamily="18" charset="0"/>
              </a:rPr>
              <a:t>圆（椭圆）偏振光：</a:t>
            </a:r>
            <a:endParaRPr lang="zh-CN" altLang="el-GR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5" name="Group 74">
            <a:extLst>
              <a:ext uri="{FF2B5EF4-FFF2-40B4-BE49-F238E27FC236}">
                <a16:creationId xmlns:a16="http://schemas.microsoft.com/office/drawing/2014/main" id="{ADE1F7BC-A640-4667-B36D-02160559DD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86313" y="2690813"/>
            <a:ext cx="4000500" cy="1452562"/>
            <a:chOff x="2925" y="935"/>
            <a:chExt cx="2728" cy="991"/>
          </a:xfrm>
        </p:grpSpPr>
        <p:sp>
          <p:nvSpPr>
            <p:cNvPr id="9293" name="Line 64">
              <a:extLst>
                <a:ext uri="{FF2B5EF4-FFF2-40B4-BE49-F238E27FC236}">
                  <a16:creationId xmlns:a16="http://schemas.microsoft.com/office/drawing/2014/main" id="{73216BDE-CC1E-438D-B06B-E21F4F7977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8" y="998"/>
              <a:ext cx="0" cy="736"/>
            </a:xfrm>
            <a:prstGeom prst="line">
              <a:avLst/>
            </a:prstGeom>
            <a:noFill/>
            <a:ln w="3492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4" name="Line 65">
              <a:extLst>
                <a:ext uri="{FF2B5EF4-FFF2-40B4-BE49-F238E27FC236}">
                  <a16:creationId xmlns:a16="http://schemas.microsoft.com/office/drawing/2014/main" id="{C1C18801-AA87-49FF-8E99-52AA42D5B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0" y="1000"/>
              <a:ext cx="553" cy="192"/>
            </a:xfrm>
            <a:prstGeom prst="line">
              <a:avLst/>
            </a:prstGeom>
            <a:noFill/>
            <a:ln w="3492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5" name="Line 66">
              <a:extLst>
                <a:ext uri="{FF2B5EF4-FFF2-40B4-BE49-F238E27FC236}">
                  <a16:creationId xmlns:a16="http://schemas.microsoft.com/office/drawing/2014/main" id="{9F5EEEAC-B445-404B-9C9C-773E0837E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2" y="1721"/>
              <a:ext cx="553" cy="193"/>
            </a:xfrm>
            <a:prstGeom prst="line">
              <a:avLst/>
            </a:prstGeom>
            <a:noFill/>
            <a:ln w="3492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6" name="Line 67">
              <a:extLst>
                <a:ext uri="{FF2B5EF4-FFF2-40B4-BE49-F238E27FC236}">
                  <a16:creationId xmlns:a16="http://schemas.microsoft.com/office/drawing/2014/main" id="{16D44B9F-EEA6-4CB2-A5DF-F9357B392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474"/>
              <a:ext cx="409" cy="0"/>
            </a:xfrm>
            <a:prstGeom prst="line">
              <a:avLst/>
            </a:prstGeom>
            <a:noFill/>
            <a:ln w="3492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7" name="Line 68">
              <a:extLst>
                <a:ext uri="{FF2B5EF4-FFF2-40B4-BE49-F238E27FC236}">
                  <a16:creationId xmlns:a16="http://schemas.microsoft.com/office/drawing/2014/main" id="{0F38B05C-66D0-4CA8-A519-3C6CD9D4D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1470"/>
              <a:ext cx="809" cy="0"/>
            </a:xfrm>
            <a:prstGeom prst="line">
              <a:avLst/>
            </a:prstGeom>
            <a:noFill/>
            <a:ln w="34925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8" name="Oval 69">
              <a:extLst>
                <a:ext uri="{FF2B5EF4-FFF2-40B4-BE49-F238E27FC236}">
                  <a16:creationId xmlns:a16="http://schemas.microsoft.com/office/drawing/2014/main" id="{549C3229-6D0A-47C9-9EA7-7E848372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1165"/>
              <a:ext cx="265" cy="6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99" name="Line 70">
              <a:extLst>
                <a:ext uri="{FF2B5EF4-FFF2-40B4-BE49-F238E27FC236}">
                  <a16:creationId xmlns:a16="http://schemas.microsoft.com/office/drawing/2014/main" id="{E0F3DD74-2BF5-4D8C-8DCF-14F919D07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8" y="1237"/>
              <a:ext cx="73" cy="23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med" len="sm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0" name="Rectangle 71">
              <a:extLst>
                <a:ext uri="{FF2B5EF4-FFF2-40B4-BE49-F238E27FC236}">
                  <a16:creationId xmlns:a16="http://schemas.microsoft.com/office/drawing/2014/main" id="{2C371E37-FEA0-4D35-B4F8-DA2128056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" y="935"/>
              <a:ext cx="1705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右旋椭圆偏振光</a:t>
              </a:r>
            </a:p>
            <a:p>
              <a:pPr eaLnBrk="1" hangingPunct="1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9301" name="Freeform 72">
              <a:extLst>
                <a:ext uri="{FF2B5EF4-FFF2-40B4-BE49-F238E27FC236}">
                  <a16:creationId xmlns:a16="http://schemas.microsoft.com/office/drawing/2014/main" id="{EDD929A9-7114-4B1A-BA19-EDC96502D9C2}"/>
                </a:ext>
              </a:extLst>
            </p:cNvPr>
            <p:cNvSpPr>
              <a:spLocks/>
            </p:cNvSpPr>
            <p:nvPr/>
          </p:nvSpPr>
          <p:spPr bwMode="auto">
            <a:xfrm rot="1047641">
              <a:off x="3620" y="1149"/>
              <a:ext cx="174" cy="126"/>
            </a:xfrm>
            <a:custGeom>
              <a:avLst/>
              <a:gdLst>
                <a:gd name="T0" fmla="*/ 0 w 435"/>
                <a:gd name="T1" fmla="*/ 0 h 315"/>
                <a:gd name="T2" fmla="*/ 0 w 435"/>
                <a:gd name="T3" fmla="*/ 0 h 315"/>
                <a:gd name="T4" fmla="*/ 0 w 435"/>
                <a:gd name="T5" fmla="*/ 0 h 315"/>
                <a:gd name="T6" fmla="*/ 0 60000 65536"/>
                <a:gd name="T7" fmla="*/ 0 60000 65536"/>
                <a:gd name="T8" fmla="*/ 0 60000 65536"/>
                <a:gd name="T9" fmla="*/ 0 w 435"/>
                <a:gd name="T10" fmla="*/ 0 h 315"/>
                <a:gd name="T11" fmla="*/ 435 w 435"/>
                <a:gd name="T12" fmla="*/ 315 h 3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5" h="315">
                  <a:moveTo>
                    <a:pt x="0" y="0"/>
                  </a:moveTo>
                  <a:cubicBezTo>
                    <a:pt x="99" y="26"/>
                    <a:pt x="198" y="53"/>
                    <a:pt x="270" y="105"/>
                  </a:cubicBezTo>
                  <a:cubicBezTo>
                    <a:pt x="342" y="157"/>
                    <a:pt x="388" y="236"/>
                    <a:pt x="435" y="315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2" name="Line 73">
              <a:extLst>
                <a:ext uri="{FF2B5EF4-FFF2-40B4-BE49-F238E27FC236}">
                  <a16:creationId xmlns:a16="http://schemas.microsoft.com/office/drawing/2014/main" id="{1D262099-085C-4C4E-8C35-29830F90D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0" y="1190"/>
              <a:ext cx="0" cy="736"/>
            </a:xfrm>
            <a:prstGeom prst="line">
              <a:avLst/>
            </a:prstGeom>
            <a:noFill/>
            <a:ln w="34925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82">
            <a:extLst>
              <a:ext uri="{FF2B5EF4-FFF2-40B4-BE49-F238E27FC236}">
                <a16:creationId xmlns:a16="http://schemas.microsoft.com/office/drawing/2014/main" id="{D33AA425-58BF-43F5-909D-96D465CF28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0125" y="2630488"/>
            <a:ext cx="3859213" cy="1479550"/>
            <a:chOff x="584" y="890"/>
            <a:chExt cx="2716" cy="1042"/>
          </a:xfrm>
        </p:grpSpPr>
        <p:grpSp>
          <p:nvGrpSpPr>
            <p:cNvPr id="9279" name="Group 2">
              <a:extLst>
                <a:ext uri="{FF2B5EF4-FFF2-40B4-BE49-F238E27FC236}">
                  <a16:creationId xmlns:a16="http://schemas.microsoft.com/office/drawing/2014/main" id="{0E958DF2-F6FE-4DC7-8645-0C9206634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4" y="890"/>
              <a:ext cx="2716" cy="1042"/>
              <a:chOff x="1057" y="966"/>
              <a:chExt cx="2716" cy="1042"/>
            </a:xfrm>
          </p:grpSpPr>
          <p:sp>
            <p:nvSpPr>
              <p:cNvPr id="9283" name="Line 3">
                <a:extLst>
                  <a:ext uri="{FF2B5EF4-FFF2-40B4-BE49-F238E27FC236}">
                    <a16:creationId xmlns:a16="http://schemas.microsoft.com/office/drawing/2014/main" id="{2F553198-4B73-446E-8A1F-FAB9D1A3E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3" y="1272"/>
                <a:ext cx="0" cy="736"/>
              </a:xfrm>
              <a:prstGeom prst="line">
                <a:avLst/>
              </a:prstGeom>
              <a:noFill/>
              <a:ln w="34925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4" name="Line 4">
                <a:extLst>
                  <a:ext uri="{FF2B5EF4-FFF2-40B4-BE49-F238E27FC236}">
                    <a16:creationId xmlns:a16="http://schemas.microsoft.com/office/drawing/2014/main" id="{88130A03-AFF4-461F-A674-005866AC9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5" y="1077"/>
                <a:ext cx="1" cy="735"/>
              </a:xfrm>
              <a:prstGeom prst="line">
                <a:avLst/>
              </a:prstGeom>
              <a:noFill/>
              <a:ln w="34925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5" name="Line 5">
                <a:extLst>
                  <a:ext uri="{FF2B5EF4-FFF2-40B4-BE49-F238E27FC236}">
                    <a16:creationId xmlns:a16="http://schemas.microsoft.com/office/drawing/2014/main" id="{BB7B6452-5D00-4212-88C6-E0F86D70E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67" y="1079"/>
                <a:ext cx="553" cy="19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6" name="Line 6">
                <a:extLst>
                  <a:ext uri="{FF2B5EF4-FFF2-40B4-BE49-F238E27FC236}">
                    <a16:creationId xmlns:a16="http://schemas.microsoft.com/office/drawing/2014/main" id="{8FF36973-4931-4871-8AFA-81AE8DE89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3" y="1812"/>
                <a:ext cx="553" cy="192"/>
              </a:xfrm>
              <a:prstGeom prst="line">
                <a:avLst/>
              </a:prstGeom>
              <a:noFill/>
              <a:ln w="34925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7" name="Line 7">
                <a:extLst>
                  <a:ext uri="{FF2B5EF4-FFF2-40B4-BE49-F238E27FC236}">
                    <a16:creationId xmlns:a16="http://schemas.microsoft.com/office/drawing/2014/main" id="{2D96B559-7123-4494-9672-053C17E2B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" y="1546"/>
                <a:ext cx="408" cy="1"/>
              </a:xfrm>
              <a:prstGeom prst="line">
                <a:avLst/>
              </a:prstGeom>
              <a:noFill/>
              <a:ln w="34925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8" name="Line 8">
                <a:extLst>
                  <a:ext uri="{FF2B5EF4-FFF2-40B4-BE49-F238E27FC236}">
                    <a16:creationId xmlns:a16="http://schemas.microsoft.com/office/drawing/2014/main" id="{91065EDD-5590-4C2F-BB05-C4307A53C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1549"/>
                <a:ext cx="809" cy="0"/>
              </a:xfrm>
              <a:prstGeom prst="line">
                <a:avLst/>
              </a:prstGeom>
              <a:noFill/>
              <a:ln w="34925">
                <a:solidFill>
                  <a:schemeClr val="bg1"/>
                </a:solidFill>
                <a:round/>
                <a:headEnd type="none" w="med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9" name="Oval 9">
                <a:extLst>
                  <a:ext uri="{FF2B5EF4-FFF2-40B4-BE49-F238E27FC236}">
                    <a16:creationId xmlns:a16="http://schemas.microsoft.com/office/drawing/2014/main" id="{1C1E103A-DFFC-4EAD-9628-DEAAAC5F1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5" y="1325"/>
                <a:ext cx="393" cy="448"/>
              </a:xfrm>
              <a:prstGeom prst="ellipse">
                <a:avLst/>
              </a:prstGeom>
              <a:noFill/>
              <a:ln w="28575">
                <a:solidFill>
                  <a:srgbClr val="FFC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90" name="Line 10">
                <a:extLst>
                  <a:ext uri="{FF2B5EF4-FFF2-40B4-BE49-F238E27FC236}">
                    <a16:creationId xmlns:a16="http://schemas.microsoft.com/office/drawing/2014/main" id="{2F8779B9-F509-4C64-A5AE-223E19B14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1" y="1337"/>
                <a:ext cx="71" cy="20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91" name="Rectangle 11">
                <a:extLst>
                  <a:ext uri="{FF2B5EF4-FFF2-40B4-BE49-F238E27FC236}">
                    <a16:creationId xmlns:a16="http://schemas.microsoft.com/office/drawing/2014/main" id="{F2076BE2-4B10-474B-A7AC-28009CCE2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9" y="966"/>
                <a:ext cx="1614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49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chemeClr val="bg1"/>
                    </a:solidFill>
                  </a:rPr>
                  <a:t>右旋圆偏振光</a:t>
                </a:r>
              </a:p>
            </p:txBody>
          </p:sp>
          <p:sp>
            <p:nvSpPr>
              <p:cNvPr id="9292" name="Freeform 12">
                <a:extLst>
                  <a:ext uri="{FF2B5EF4-FFF2-40B4-BE49-F238E27FC236}">
                    <a16:creationId xmlns:a16="http://schemas.microsoft.com/office/drawing/2014/main" id="{0B2711E4-FD1F-488C-AC78-6C99AB182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1254"/>
                <a:ext cx="174" cy="126"/>
              </a:xfrm>
              <a:custGeom>
                <a:avLst/>
                <a:gdLst>
                  <a:gd name="T0" fmla="*/ 0 w 435"/>
                  <a:gd name="T1" fmla="*/ 0 h 315"/>
                  <a:gd name="T2" fmla="*/ 0 w 435"/>
                  <a:gd name="T3" fmla="*/ 0 h 315"/>
                  <a:gd name="T4" fmla="*/ 0 w 435"/>
                  <a:gd name="T5" fmla="*/ 0 h 315"/>
                  <a:gd name="T6" fmla="*/ 0 60000 65536"/>
                  <a:gd name="T7" fmla="*/ 0 60000 65536"/>
                  <a:gd name="T8" fmla="*/ 0 60000 65536"/>
                  <a:gd name="T9" fmla="*/ 0 w 435"/>
                  <a:gd name="T10" fmla="*/ 0 h 315"/>
                  <a:gd name="T11" fmla="*/ 435 w 435"/>
                  <a:gd name="T12" fmla="*/ 315 h 3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5" h="315">
                    <a:moveTo>
                      <a:pt x="0" y="0"/>
                    </a:moveTo>
                    <a:cubicBezTo>
                      <a:pt x="99" y="26"/>
                      <a:pt x="198" y="53"/>
                      <a:pt x="270" y="105"/>
                    </a:cubicBezTo>
                    <a:cubicBezTo>
                      <a:pt x="342" y="157"/>
                      <a:pt x="388" y="236"/>
                      <a:pt x="435" y="315"/>
                    </a:cubicBezTo>
                  </a:path>
                </a:pathLst>
              </a:custGeom>
              <a:noFill/>
              <a:ln w="28575">
                <a:solidFill>
                  <a:srgbClr val="FFC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82" name="Text Box 77">
              <a:extLst>
                <a:ext uri="{FF2B5EF4-FFF2-40B4-BE49-F238E27FC236}">
                  <a16:creationId xmlns:a16="http://schemas.microsoft.com/office/drawing/2014/main" id="{07EA0B2A-C200-40ED-A398-7C7B7B843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3" y="1302"/>
              <a:ext cx="65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solidFill>
                    <a:srgbClr val="FFFF00"/>
                  </a:solidFill>
                </a:rPr>
                <a:t>观测</a:t>
              </a:r>
            </a:p>
          </p:txBody>
        </p:sp>
      </p:grpSp>
      <p:grpSp>
        <p:nvGrpSpPr>
          <p:cNvPr id="9" name="Group 82">
            <a:extLst>
              <a:ext uri="{FF2B5EF4-FFF2-40B4-BE49-F238E27FC236}">
                <a16:creationId xmlns:a16="http://schemas.microsoft.com/office/drawing/2014/main" id="{CE5965EB-C0A0-4F2C-A97E-A2C97169F1F2}"/>
              </a:ext>
            </a:extLst>
          </p:cNvPr>
          <p:cNvGrpSpPr>
            <a:grpSpLocks/>
          </p:cNvGrpSpPr>
          <p:nvPr/>
        </p:nvGrpSpPr>
        <p:grpSpPr bwMode="auto">
          <a:xfrm>
            <a:off x="6799263" y="500063"/>
            <a:ext cx="1344612" cy="1284287"/>
            <a:chOff x="3158" y="1253"/>
            <a:chExt cx="847" cy="809"/>
          </a:xfrm>
        </p:grpSpPr>
        <p:grpSp>
          <p:nvGrpSpPr>
            <p:cNvPr id="9274" name="Group 38">
              <a:extLst>
                <a:ext uri="{FF2B5EF4-FFF2-40B4-BE49-F238E27FC236}">
                  <a16:creationId xmlns:a16="http://schemas.microsoft.com/office/drawing/2014/main" id="{D545290E-6787-4EC9-86D4-C64FFE828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8" y="1253"/>
              <a:ext cx="810" cy="809"/>
              <a:chOff x="3158" y="1199"/>
              <a:chExt cx="810" cy="809"/>
            </a:xfrm>
          </p:grpSpPr>
          <p:sp>
            <p:nvSpPr>
              <p:cNvPr id="9276" name="Oval 39">
                <a:extLst>
                  <a:ext uri="{FF2B5EF4-FFF2-40B4-BE49-F238E27FC236}">
                    <a16:creationId xmlns:a16="http://schemas.microsoft.com/office/drawing/2014/main" id="{0FEE53F7-488C-4C50-B092-9C9016636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8" y="1199"/>
                <a:ext cx="810" cy="809"/>
              </a:xfrm>
              <a:prstGeom prst="ellipse">
                <a:avLst/>
              </a:prstGeom>
              <a:noFill/>
              <a:ln w="19050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77" name="Line 40">
                <a:extLst>
                  <a:ext uri="{FF2B5EF4-FFF2-40B4-BE49-F238E27FC236}">
                    <a16:creationId xmlns:a16="http://schemas.microsoft.com/office/drawing/2014/main" id="{B4812122-CC7F-46E7-B5B3-B605BBA54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73" y="1323"/>
                <a:ext cx="0" cy="53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8" name="Rectangle 41">
                <a:extLst>
                  <a:ext uri="{FF2B5EF4-FFF2-40B4-BE49-F238E27FC236}">
                    <a16:creationId xmlns:a16="http://schemas.microsoft.com/office/drawing/2014/main" id="{5EFD5358-5378-40F5-A212-A922CA8F7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8" y="1380"/>
                <a:ext cx="261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4400">
                    <a:solidFill>
                      <a:srgbClr val="FF00FF"/>
                    </a:solidFill>
                  </a:rPr>
                  <a:t>·</a:t>
                </a:r>
                <a:endParaRPr lang="en-US" altLang="zh-CN" sz="4400"/>
              </a:p>
            </p:txBody>
          </p:sp>
        </p:grpSp>
        <p:sp>
          <p:nvSpPr>
            <p:cNvPr id="9275" name="Text Box 81">
              <a:extLst>
                <a:ext uri="{FF2B5EF4-FFF2-40B4-BE49-F238E27FC236}">
                  <a16:creationId xmlns:a16="http://schemas.microsoft.com/office/drawing/2014/main" id="{4F9A16ED-5D05-4AE2-AC50-697CD9FB8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3" y="1350"/>
              <a:ext cx="4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i="1">
                  <a:solidFill>
                    <a:srgbClr val="FF0000"/>
                  </a:solidFill>
                </a:rPr>
                <a:t>E</a:t>
              </a:r>
            </a:p>
          </p:txBody>
        </p:sp>
      </p:grpSp>
      <p:grpSp>
        <p:nvGrpSpPr>
          <p:cNvPr id="11" name="Group 83">
            <a:extLst>
              <a:ext uri="{FF2B5EF4-FFF2-40B4-BE49-F238E27FC236}">
                <a16:creationId xmlns:a16="http://schemas.microsoft.com/office/drawing/2014/main" id="{2BCF9CB2-25B5-41AE-BC05-9066468763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8313" y="4078288"/>
            <a:ext cx="5000625" cy="2565400"/>
            <a:chOff x="1640" y="1611"/>
            <a:chExt cx="3477" cy="1784"/>
          </a:xfrm>
        </p:grpSpPr>
        <p:grpSp>
          <p:nvGrpSpPr>
            <p:cNvPr id="9228" name="Group 75">
              <a:extLst>
                <a:ext uri="{FF2B5EF4-FFF2-40B4-BE49-F238E27FC236}">
                  <a16:creationId xmlns:a16="http://schemas.microsoft.com/office/drawing/2014/main" id="{B10F4ABD-9181-41D1-ACE4-744674100A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0" y="1611"/>
              <a:ext cx="3477" cy="1784"/>
              <a:chOff x="1640" y="1611"/>
              <a:chExt cx="3477" cy="1784"/>
            </a:xfrm>
          </p:grpSpPr>
          <p:sp>
            <p:nvSpPr>
              <p:cNvPr id="9232" name="Line 24">
                <a:extLst>
                  <a:ext uri="{FF2B5EF4-FFF2-40B4-BE49-F238E27FC236}">
                    <a16:creationId xmlns:a16="http://schemas.microsoft.com/office/drawing/2014/main" id="{EBC34A40-3435-4369-A646-3049D0354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6" y="2649"/>
                <a:ext cx="2121" cy="376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3" name="Text Box 14">
                <a:extLst>
                  <a:ext uri="{FF2B5EF4-FFF2-40B4-BE49-F238E27FC236}">
                    <a16:creationId xmlns:a16="http://schemas.microsoft.com/office/drawing/2014/main" id="{979760D1-9D65-4123-BFEA-4FA4EC24C9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8" y="2439"/>
                <a:ext cx="222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200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9234" name="Line 15">
                <a:extLst>
                  <a:ext uri="{FF2B5EF4-FFF2-40B4-BE49-F238E27FC236}">
                    <a16:creationId xmlns:a16="http://schemas.microsoft.com/office/drawing/2014/main" id="{F2709E80-6040-41C9-9CEE-5FE557FF6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96"/>
                <a:ext cx="368" cy="57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 type="none" w="med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5" name="Oval 16">
                <a:extLst>
                  <a:ext uri="{FF2B5EF4-FFF2-40B4-BE49-F238E27FC236}">
                    <a16:creationId xmlns:a16="http://schemas.microsoft.com/office/drawing/2014/main" id="{DC1044CA-EAA4-43B7-B7D3-80A90C8F5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0" y="2289"/>
                <a:ext cx="408" cy="704"/>
              </a:xfrm>
              <a:prstGeom prst="ellipse">
                <a:avLst/>
              </a:pr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6" name="Line 17">
                <a:extLst>
                  <a:ext uri="{FF2B5EF4-FFF2-40B4-BE49-F238E27FC236}">
                    <a16:creationId xmlns:a16="http://schemas.microsoft.com/office/drawing/2014/main" id="{59117CE6-4A58-4D43-9625-62E3C7860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521"/>
                <a:ext cx="849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7" name="Line 18">
                <a:extLst>
                  <a:ext uri="{FF2B5EF4-FFF2-40B4-BE49-F238E27FC236}">
                    <a16:creationId xmlns:a16="http://schemas.microsoft.com/office/drawing/2014/main" id="{E474D649-7D8E-471D-A085-E27A6CA07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6" y="2065"/>
                <a:ext cx="0" cy="110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sm" len="lg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8" name="Oval 19">
                <a:extLst>
                  <a:ext uri="{FF2B5EF4-FFF2-40B4-BE49-F238E27FC236}">
                    <a16:creationId xmlns:a16="http://schemas.microsoft.com/office/drawing/2014/main" id="{8EE758C1-F639-49CC-ACFC-3E9B901D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2545"/>
                <a:ext cx="409" cy="704"/>
              </a:xfrm>
              <a:prstGeom prst="ellipse">
                <a:avLst/>
              </a:pr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39" name="Line 20">
                <a:extLst>
                  <a:ext uri="{FF2B5EF4-FFF2-40B4-BE49-F238E27FC236}">
                    <a16:creationId xmlns:a16="http://schemas.microsoft.com/office/drawing/2014/main" id="{4DAB6DBE-1FA9-492D-84B7-D550232CC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2" y="2793"/>
                <a:ext cx="849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none" w="med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0" name="Line 21">
                <a:extLst>
                  <a:ext uri="{FF2B5EF4-FFF2-40B4-BE49-F238E27FC236}">
                    <a16:creationId xmlns:a16="http://schemas.microsoft.com/office/drawing/2014/main" id="{C728BEC0-75E9-45F2-BEBF-D9CA3BE2A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8" y="2305"/>
                <a:ext cx="1" cy="109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sm" len="lg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1" name="Line 22">
                <a:extLst>
                  <a:ext uri="{FF2B5EF4-FFF2-40B4-BE49-F238E27FC236}">
                    <a16:creationId xmlns:a16="http://schemas.microsoft.com/office/drawing/2014/main" id="{B7BE7965-7340-485D-BC61-202C65100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8" y="2289"/>
                <a:ext cx="1505" cy="248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2" name="Line 23">
                <a:extLst>
                  <a:ext uri="{FF2B5EF4-FFF2-40B4-BE49-F238E27FC236}">
                    <a16:creationId xmlns:a16="http://schemas.microsoft.com/office/drawing/2014/main" id="{A7F1344C-6438-4475-B6E4-7D19A076C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4" y="3001"/>
                <a:ext cx="1505" cy="248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3" name="Arc 25">
                <a:extLst>
                  <a:ext uri="{FF2B5EF4-FFF2-40B4-BE49-F238E27FC236}">
                    <a16:creationId xmlns:a16="http://schemas.microsoft.com/office/drawing/2014/main" id="{40C498C0-ECD4-45C4-BDA0-C4F18DEB45D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432" y="2409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4" name="Arc 26">
                <a:extLst>
                  <a:ext uri="{FF2B5EF4-FFF2-40B4-BE49-F238E27FC236}">
                    <a16:creationId xmlns:a16="http://schemas.microsoft.com/office/drawing/2014/main" id="{14688111-687A-441A-9208-41A77B073BC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424" y="2777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5" name="Arc 27">
                <a:extLst>
                  <a:ext uri="{FF2B5EF4-FFF2-40B4-BE49-F238E27FC236}">
                    <a16:creationId xmlns:a16="http://schemas.microsoft.com/office/drawing/2014/main" id="{CEB63AA4-D7AA-47C8-93F5-03D0E430A4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968" y="2337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6" name="Arc 28">
                <a:extLst>
                  <a:ext uri="{FF2B5EF4-FFF2-40B4-BE49-F238E27FC236}">
                    <a16:creationId xmlns:a16="http://schemas.microsoft.com/office/drawing/2014/main" id="{CE0404A1-88B6-4F23-8222-A36DA5C1B9F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60" y="2693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7" name="Arc 29">
                <a:extLst>
                  <a:ext uri="{FF2B5EF4-FFF2-40B4-BE49-F238E27FC236}">
                    <a16:creationId xmlns:a16="http://schemas.microsoft.com/office/drawing/2014/main" id="{EAE313C4-09E4-4EC6-A972-F2BAAFD0E3B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192" y="2393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8" name="Arc 30">
                <a:extLst>
                  <a:ext uri="{FF2B5EF4-FFF2-40B4-BE49-F238E27FC236}">
                    <a16:creationId xmlns:a16="http://schemas.microsoft.com/office/drawing/2014/main" id="{7866D05B-4CB9-4E1E-98FA-D71FC72F7B8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184" y="2737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9" name="Arc 31">
                <a:extLst>
                  <a:ext uri="{FF2B5EF4-FFF2-40B4-BE49-F238E27FC236}">
                    <a16:creationId xmlns:a16="http://schemas.microsoft.com/office/drawing/2014/main" id="{5E040BAA-C914-4608-AD5D-0E50604D3D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920" y="2497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0" name="Arc 32">
                <a:extLst>
                  <a:ext uri="{FF2B5EF4-FFF2-40B4-BE49-F238E27FC236}">
                    <a16:creationId xmlns:a16="http://schemas.microsoft.com/office/drawing/2014/main" id="{E011CF61-C318-49DB-A1AE-B619F0A6790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912" y="2865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1" name="Arc 33">
                <a:extLst>
                  <a:ext uri="{FF2B5EF4-FFF2-40B4-BE49-F238E27FC236}">
                    <a16:creationId xmlns:a16="http://schemas.microsoft.com/office/drawing/2014/main" id="{98D65931-B999-4CF0-94DF-7C70C704852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72" y="2449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2" name="Arc 34">
                <a:extLst>
                  <a:ext uri="{FF2B5EF4-FFF2-40B4-BE49-F238E27FC236}">
                    <a16:creationId xmlns:a16="http://schemas.microsoft.com/office/drawing/2014/main" id="{CD9908ED-32D2-4B46-92E7-A3EEB43EF02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664" y="2817"/>
                <a:ext cx="177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3" name="Line 35">
                <a:extLst>
                  <a:ext uri="{FF2B5EF4-FFF2-40B4-BE49-F238E27FC236}">
                    <a16:creationId xmlns:a16="http://schemas.microsoft.com/office/drawing/2014/main" id="{AEA47BA1-C313-48C3-8573-D78EE73F1B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61" y="2289"/>
                <a:ext cx="0" cy="36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 type="triangle" w="sm" len="med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4" name="Line 36">
                <a:extLst>
                  <a:ext uri="{FF2B5EF4-FFF2-40B4-BE49-F238E27FC236}">
                    <a16:creationId xmlns:a16="http://schemas.microsoft.com/office/drawing/2014/main" id="{062C67F5-0E45-488A-97AC-276130736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4" y="2915"/>
                <a:ext cx="3" cy="34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5" name="Line 37">
                <a:extLst>
                  <a:ext uri="{FF2B5EF4-FFF2-40B4-BE49-F238E27FC236}">
                    <a16:creationId xmlns:a16="http://schemas.microsoft.com/office/drawing/2014/main" id="{BA262813-AD83-40DB-8FE5-99D180A0E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88" y="2457"/>
                <a:ext cx="109" cy="24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6" name="Line 38">
                <a:extLst>
                  <a:ext uri="{FF2B5EF4-FFF2-40B4-BE49-F238E27FC236}">
                    <a16:creationId xmlns:a16="http://schemas.microsoft.com/office/drawing/2014/main" id="{D6F29360-EE78-4791-8854-CC884846A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02" y="2669"/>
                <a:ext cx="117" cy="6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7" name="Line 39">
                <a:extLst>
                  <a:ext uri="{FF2B5EF4-FFF2-40B4-BE49-F238E27FC236}">
                    <a16:creationId xmlns:a16="http://schemas.microsoft.com/office/drawing/2014/main" id="{90DE6503-213B-4AC0-8134-AF77FA066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26" y="2777"/>
                <a:ext cx="135" cy="10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8" name="Line 40">
                <a:extLst>
                  <a:ext uri="{FF2B5EF4-FFF2-40B4-BE49-F238E27FC236}">
                    <a16:creationId xmlns:a16="http://schemas.microsoft.com/office/drawing/2014/main" id="{F6C11B34-8C83-4532-8D8D-85D953DCE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24" y="2823"/>
                <a:ext cx="115" cy="2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9" name="Line 41">
                <a:extLst>
                  <a:ext uri="{FF2B5EF4-FFF2-40B4-BE49-F238E27FC236}">
                    <a16:creationId xmlns:a16="http://schemas.microsoft.com/office/drawing/2014/main" id="{D27034C2-AEAF-4583-8AF1-5E5D84565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06" y="2865"/>
                <a:ext cx="111" cy="294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60" name="Rectangle 45">
                <a:extLst>
                  <a:ext uri="{FF2B5EF4-FFF2-40B4-BE49-F238E27FC236}">
                    <a16:creationId xmlns:a16="http://schemas.microsoft.com/office/drawing/2014/main" id="{39716D71-3C8B-4BFE-AD4F-D03DD6AA1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0" y="1951"/>
                <a:ext cx="231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i="1"/>
                  <a:t> </a:t>
                </a:r>
                <a:r>
                  <a:rPr lang="en-US" altLang="zh-CN" i="1">
                    <a:solidFill>
                      <a:schemeClr val="bg1"/>
                    </a:solidFill>
                  </a:rPr>
                  <a:t>y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9261" name="Rectangle 46">
                <a:extLst>
                  <a:ext uri="{FF2B5EF4-FFF2-40B4-BE49-F238E27FC236}">
                    <a16:creationId xmlns:a16="http://schemas.microsoft.com/office/drawing/2014/main" id="{58672793-D2D7-4D8A-9F19-7F6910669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9" y="2169"/>
                <a:ext cx="2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chemeClr val="bg1"/>
                    </a:solidFill>
                  </a:rPr>
                  <a:t> </a:t>
                </a:r>
                <a:r>
                  <a:rPr lang="en-US" altLang="zh-CN" i="1">
                    <a:solidFill>
                      <a:schemeClr val="bg1"/>
                    </a:solidFill>
                  </a:rPr>
                  <a:t>y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9262" name="Rectangle 47">
                <a:extLst>
                  <a:ext uri="{FF2B5EF4-FFF2-40B4-BE49-F238E27FC236}">
                    <a16:creationId xmlns:a16="http://schemas.microsoft.com/office/drawing/2014/main" id="{F4AF7AF2-C340-4D26-B2A4-88DBE9F47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3" y="2612"/>
                <a:ext cx="134" cy="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x</a:t>
                </a:r>
              </a:p>
            </p:txBody>
          </p:sp>
          <p:sp>
            <p:nvSpPr>
              <p:cNvPr id="9263" name="Rectangle 48">
                <a:extLst>
                  <a:ext uri="{FF2B5EF4-FFF2-40B4-BE49-F238E27FC236}">
                    <a16:creationId xmlns:a16="http://schemas.microsoft.com/office/drawing/2014/main" id="{7585750F-4673-45C2-8C2B-EBDD91878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3" y="2971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chemeClr val="bg1"/>
                    </a:solidFill>
                  </a:rPr>
                  <a:t> </a:t>
                </a:r>
                <a:r>
                  <a:rPr lang="en-US" altLang="zh-CN" i="1">
                    <a:solidFill>
                      <a:schemeClr val="bg1"/>
                    </a:solidFill>
                  </a:rPr>
                  <a:t>z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9264" name="Rectangle 49">
                <a:extLst>
                  <a:ext uri="{FF2B5EF4-FFF2-40B4-BE49-F238E27FC236}">
                    <a16:creationId xmlns:a16="http://schemas.microsoft.com/office/drawing/2014/main" id="{9FB7AC11-79D8-4AEC-B339-2F91B38C0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14858">
                <a:off x="2443" y="2173"/>
                <a:ext cx="936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rgbClr val="FFFF00"/>
                    </a:solidFill>
                  </a:rPr>
                  <a:t>传播方向</a:t>
                </a:r>
              </a:p>
            </p:txBody>
          </p:sp>
          <p:sp>
            <p:nvSpPr>
              <p:cNvPr id="9265" name="Rectangle 50">
                <a:extLst>
                  <a:ext uri="{FF2B5EF4-FFF2-40B4-BE49-F238E27FC236}">
                    <a16:creationId xmlns:a16="http://schemas.microsoft.com/office/drawing/2014/main" id="{4D103097-FEC9-4B2E-B36B-FA31F220E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5" y="3138"/>
                <a:ext cx="55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/>
                  <a:t> </a:t>
                </a:r>
                <a:r>
                  <a:rPr lang="zh-CN" altLang="en-US" sz="2000" i="1">
                    <a:solidFill>
                      <a:schemeClr val="bg1"/>
                    </a:solidFill>
                    <a:sym typeface="Symbol" panose="05050102010706020507" pitchFamily="18" charset="2"/>
                  </a:rPr>
                  <a:t></a:t>
                </a:r>
                <a:r>
                  <a:rPr lang="en-US" altLang="zh-CN" sz="2000">
                    <a:solidFill>
                      <a:schemeClr val="bg1"/>
                    </a:solidFill>
                  </a:rPr>
                  <a:t>/2</a:t>
                </a:r>
              </a:p>
            </p:txBody>
          </p:sp>
          <p:sp>
            <p:nvSpPr>
              <p:cNvPr id="9266" name="Rectangle 51">
                <a:extLst>
                  <a:ext uri="{FF2B5EF4-FFF2-40B4-BE49-F238E27FC236}">
                    <a16:creationId xmlns:a16="http://schemas.microsoft.com/office/drawing/2014/main" id="{3CB6DEBA-4031-4EEA-9528-88FD0E098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1" y="2409"/>
                <a:ext cx="185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x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9267" name="Rectangle 53">
                <a:extLst>
                  <a:ext uri="{FF2B5EF4-FFF2-40B4-BE49-F238E27FC236}">
                    <a16:creationId xmlns:a16="http://schemas.microsoft.com/office/drawing/2014/main" id="{9027BE9B-89AC-408E-8ED7-25F2A9AE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0" y="1611"/>
                <a:ext cx="3427" cy="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</a:rPr>
                  <a:t>某时刻圆偏振光 </a:t>
                </a:r>
                <a:r>
                  <a:rPr lang="en-US" altLang="zh-CN" i="1" dirty="0">
                    <a:solidFill>
                      <a:srgbClr val="FFFF00"/>
                    </a:solidFill>
                  </a:rPr>
                  <a:t>E</a:t>
                </a:r>
                <a:r>
                  <a:rPr lang="en-US" altLang="zh-CN" i="1" dirty="0">
                    <a:solidFill>
                      <a:schemeClr val="bg1"/>
                    </a:solidFill>
                  </a:rPr>
                  <a:t> 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随 </a:t>
                </a:r>
                <a:r>
                  <a:rPr lang="en-US" altLang="zh-CN" i="1" dirty="0">
                    <a:solidFill>
                      <a:srgbClr val="FFFF00"/>
                    </a:solidFill>
                  </a:rPr>
                  <a:t>z</a:t>
                </a:r>
                <a:r>
                  <a:rPr lang="en-US" altLang="zh-CN" i="1" dirty="0">
                    <a:solidFill>
                      <a:schemeClr val="bg1"/>
                    </a:solidFill>
                  </a:rPr>
                  <a:t> 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的变化</a:t>
                </a:r>
              </a:p>
            </p:txBody>
          </p:sp>
          <p:sp>
            <p:nvSpPr>
              <p:cNvPr id="9268" name="Rectangle 54">
                <a:extLst>
                  <a:ext uri="{FF2B5EF4-FFF2-40B4-BE49-F238E27FC236}">
                    <a16:creationId xmlns:a16="http://schemas.microsoft.com/office/drawing/2014/main" id="{CAA9DA8A-9E41-474D-B2AF-A5AFD6AF4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0" y="2400"/>
                <a:ext cx="160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0000"/>
                    </a:solidFill>
                  </a:rPr>
                  <a:t>E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9269" name="Line 55">
                <a:extLst>
                  <a:ext uri="{FF2B5EF4-FFF2-40B4-BE49-F238E27FC236}">
                    <a16:creationId xmlns:a16="http://schemas.microsoft.com/office/drawing/2014/main" id="{43213CAC-6D1C-4F97-B32E-AA5EBA785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5" y="2397"/>
                <a:ext cx="104" cy="5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0" name="Line 56">
                <a:extLst>
                  <a:ext uri="{FF2B5EF4-FFF2-40B4-BE49-F238E27FC236}">
                    <a16:creationId xmlns:a16="http://schemas.microsoft.com/office/drawing/2014/main" id="{15BADC3C-5B88-4706-936D-8690AFADF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50" y="1711"/>
                <a:ext cx="142" cy="1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none" w="med" len="sm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1" name="Freeform 57">
                <a:extLst>
                  <a:ext uri="{FF2B5EF4-FFF2-40B4-BE49-F238E27FC236}">
                    <a16:creationId xmlns:a16="http://schemas.microsoft.com/office/drawing/2014/main" id="{F9923262-87C2-4775-8D56-A8D0C6F35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295"/>
                <a:ext cx="1513" cy="954"/>
              </a:xfrm>
              <a:custGeom>
                <a:avLst/>
                <a:gdLst>
                  <a:gd name="T0" fmla="*/ 0 w 3780"/>
                  <a:gd name="T1" fmla="*/ 0 h 2385"/>
                  <a:gd name="T2" fmla="*/ 0 w 3780"/>
                  <a:gd name="T3" fmla="*/ 0 h 2385"/>
                  <a:gd name="T4" fmla="*/ 0 w 3780"/>
                  <a:gd name="T5" fmla="*/ 0 h 2385"/>
                  <a:gd name="T6" fmla="*/ 0 60000 65536"/>
                  <a:gd name="T7" fmla="*/ 0 60000 65536"/>
                  <a:gd name="T8" fmla="*/ 0 60000 65536"/>
                  <a:gd name="T9" fmla="*/ 0 w 3780"/>
                  <a:gd name="T10" fmla="*/ 0 h 2385"/>
                  <a:gd name="T11" fmla="*/ 3780 w 3780"/>
                  <a:gd name="T12" fmla="*/ 2385 h 23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0" h="2385">
                    <a:moveTo>
                      <a:pt x="0" y="0"/>
                    </a:moveTo>
                    <a:cubicBezTo>
                      <a:pt x="547" y="626"/>
                      <a:pt x="1095" y="1253"/>
                      <a:pt x="1725" y="1650"/>
                    </a:cubicBezTo>
                    <a:cubicBezTo>
                      <a:pt x="2355" y="2047"/>
                      <a:pt x="3067" y="2216"/>
                      <a:pt x="3780" y="2385"/>
                    </a:cubicBezTo>
                  </a:path>
                </a:pathLst>
              </a:cu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2" name="Line 58">
                <a:extLst>
                  <a:ext uri="{FF2B5EF4-FFF2-40B4-BE49-F238E27FC236}">
                    <a16:creationId xmlns:a16="http://schemas.microsoft.com/office/drawing/2014/main" id="{3D3814B3-850B-4191-8E27-710E1244C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7" y="3225"/>
                <a:ext cx="613" cy="96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3" name="Line 59">
                <a:extLst>
                  <a:ext uri="{FF2B5EF4-FFF2-40B4-BE49-F238E27FC236}">
                    <a16:creationId xmlns:a16="http://schemas.microsoft.com/office/drawing/2014/main" id="{FC4FAC4A-FA10-42F9-9DD4-5451C0110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57" y="3075"/>
                <a:ext cx="678" cy="114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29" name="Group 79">
              <a:extLst>
                <a:ext uri="{FF2B5EF4-FFF2-40B4-BE49-F238E27FC236}">
                  <a16:creationId xmlns:a16="http://schemas.microsoft.com/office/drawing/2014/main" id="{9B1DB905-B33D-4D64-8CFB-618CE5FDBD29}"/>
                </a:ext>
              </a:extLst>
            </p:cNvPr>
            <p:cNvGrpSpPr>
              <a:grpSpLocks/>
            </p:cNvGrpSpPr>
            <p:nvPr/>
          </p:nvGrpSpPr>
          <p:grpSpPr bwMode="auto">
            <a:xfrm rot="644476">
              <a:off x="3989" y="2946"/>
              <a:ext cx="1034" cy="321"/>
              <a:chOff x="2057" y="1307"/>
              <a:chExt cx="1034" cy="321"/>
            </a:xfrm>
          </p:grpSpPr>
          <p:sp>
            <p:nvSpPr>
              <p:cNvPr id="9230" name="Line 80">
                <a:extLst>
                  <a:ext uri="{FF2B5EF4-FFF2-40B4-BE49-F238E27FC236}">
                    <a16:creationId xmlns:a16="http://schemas.microsoft.com/office/drawing/2014/main" id="{299324C3-8367-4242-8886-6B0983D93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57" y="1496"/>
                <a:ext cx="397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1" name="Text Box 81">
                <a:extLst>
                  <a:ext uri="{FF2B5EF4-FFF2-40B4-BE49-F238E27FC236}">
                    <a16:creationId xmlns:a16="http://schemas.microsoft.com/office/drawing/2014/main" id="{349B14FE-F754-42C3-9B2A-E2F681C706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9" y="1307"/>
                <a:ext cx="652" cy="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zh-CN" altLang="en-US">
                    <a:solidFill>
                      <a:srgbClr val="FFFF00"/>
                    </a:solidFill>
                  </a:rPr>
                  <a:t>观测</a:t>
                </a:r>
              </a:p>
            </p:txBody>
          </p:sp>
        </p:grpSp>
      </p:grpSp>
      <p:sp>
        <p:nvSpPr>
          <p:cNvPr id="9226" name="灯片编号占位符 1">
            <a:extLst>
              <a:ext uri="{FF2B5EF4-FFF2-40B4-BE49-F238E27FC236}">
                <a16:creationId xmlns:a16="http://schemas.microsoft.com/office/drawing/2014/main" id="{282F2C60-7D07-4316-8F82-D7B260B4046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09B931-4379-42B5-83CD-FC9FE987978A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pic>
        <p:nvPicPr>
          <p:cNvPr id="119" name="图片 118">
            <a:extLst>
              <a:ext uri="{FF2B5EF4-FFF2-40B4-BE49-F238E27FC236}">
                <a16:creationId xmlns:a16="http://schemas.microsoft.com/office/drawing/2014/main" id="{E1FE294C-3723-4BAC-A630-EB3D47E5A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292600"/>
            <a:ext cx="3576638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ABBFAE6-CF07-4426-B142-AF6FDF8DCAE1}"/>
              </a:ext>
            </a:extLst>
          </p:cNvPr>
          <p:cNvSpPr/>
          <p:nvPr/>
        </p:nvSpPr>
        <p:spPr>
          <a:xfrm>
            <a:off x="3592749" y="4653136"/>
            <a:ext cx="14112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右旋圆偏振光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80576B01-FAC2-4FA8-869A-A4C74F2DF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48680"/>
            <a:ext cx="751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椭圆偏振光与圆偏振光的检偏</a:t>
            </a:r>
            <a:r>
              <a:rPr lang="en-US" altLang="zh-CN" dirty="0">
                <a:solidFill>
                  <a:srgbClr val="FFFF00"/>
                </a:solidFill>
              </a:rPr>
              <a:t>:</a:t>
            </a:r>
            <a:endParaRPr lang="zh-CN" altLang="en-US" b="0" dirty="0">
              <a:solidFill>
                <a:srgbClr val="FFFF00"/>
              </a:solidFill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003BFD7B-A1B3-4C73-AD4A-02A362D98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869160"/>
            <a:ext cx="705326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思考</a:t>
            </a:r>
            <a:r>
              <a:rPr lang="en-US" altLang="zh-CN" dirty="0">
                <a:solidFill>
                  <a:srgbClr val="FFFF00"/>
                </a:solidFill>
              </a:rPr>
              <a:t>】</a:t>
            </a:r>
            <a:r>
              <a:rPr lang="zh-CN" altLang="en-US" dirty="0">
                <a:solidFill>
                  <a:schemeClr val="bg1"/>
                </a:solidFill>
              </a:rPr>
              <a:t>如何区分？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B06DA-CA97-4F60-8988-376471F98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031" y="6093296"/>
            <a:ext cx="5102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部分偏振光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zh-CN" altLang="en-US" dirty="0">
                <a:solidFill>
                  <a:srgbClr val="FF3300"/>
                </a:solidFill>
              </a:rPr>
              <a:t>椭圆偏振光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603196F-9876-4813-B581-520CE2422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5517232"/>
            <a:ext cx="3990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自然光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zh-CN" altLang="en-US" dirty="0">
                <a:solidFill>
                  <a:srgbClr val="FF3300"/>
                </a:solidFill>
              </a:rPr>
              <a:t>圆偏振光</a:t>
            </a:r>
          </a:p>
        </p:txBody>
      </p:sp>
      <p:sp>
        <p:nvSpPr>
          <p:cNvPr id="11271" name="灯片编号占位符 1">
            <a:extLst>
              <a:ext uri="{FF2B5EF4-FFF2-40B4-BE49-F238E27FC236}">
                <a16:creationId xmlns:a16="http://schemas.microsoft.com/office/drawing/2014/main" id="{245670B5-786F-48DA-A449-3A92FAA8C11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1613E9C-1C7F-47D1-92C0-9DB07B6C9268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C9431DA-E7B7-42C9-AEE3-901109655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068960"/>
            <a:ext cx="7518400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检偏过程中光场变化：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        椭圆偏振光和部分偏振光的检偏结果类似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        圆偏振光和自然光的检偏结果类似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259AE5-12D0-4DD3-8AE4-279697810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163" y="4869160"/>
            <a:ext cx="4708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FF00"/>
                </a:solidFill>
              </a:rPr>
              <a:t>结合用 </a:t>
            </a:r>
            <a:r>
              <a:rPr lang="en-US" altLang="zh-CN" dirty="0">
                <a:solidFill>
                  <a:srgbClr val="FFFF00"/>
                </a:solidFill>
              </a:rPr>
              <a:t>1/4</a:t>
            </a:r>
            <a:r>
              <a:rPr lang="zh-CN" altLang="en-US" dirty="0">
                <a:solidFill>
                  <a:srgbClr val="FFFF00"/>
                </a:solidFill>
              </a:rPr>
              <a:t> 波片和偏振片检偏</a:t>
            </a:r>
          </a:p>
        </p:txBody>
      </p:sp>
      <p:pic>
        <p:nvPicPr>
          <p:cNvPr id="293890" name="Picture 2" descr="https://img-blog.csdnimg.cn/47654a971bf9468c9c769fc73cadb591.png">
            <a:extLst>
              <a:ext uri="{FF2B5EF4-FFF2-40B4-BE49-F238E27FC236}">
                <a16:creationId xmlns:a16="http://schemas.microsoft.com/office/drawing/2014/main" id="{F78F8885-4244-415D-8F05-A30ED1775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0" b="5787"/>
          <a:stretch/>
        </p:blipFill>
        <p:spPr bwMode="auto">
          <a:xfrm>
            <a:off x="827584" y="1162021"/>
            <a:ext cx="2376264" cy="183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6">
            <a:extLst>
              <a:ext uri="{FF2B5EF4-FFF2-40B4-BE49-F238E27FC236}">
                <a16:creationId xmlns:a16="http://schemas.microsoft.com/office/drawing/2014/main" id="{BA95C6A2-B4D2-4373-AAC0-6E08A4E8A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088" y="1130210"/>
            <a:ext cx="5270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FF00"/>
                </a:solidFill>
              </a:rPr>
              <a:t>椭圆偏振光</a:t>
            </a:r>
            <a:r>
              <a:rPr lang="zh-CN" altLang="en-US" sz="2200" dirty="0">
                <a:solidFill>
                  <a:schemeClr val="bg1"/>
                </a:solidFill>
              </a:rPr>
              <a:t>：两个相互垂直、频率相同、振幅不等、具有一定相位差‌的线偏振光‌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0E7B2696-67A4-4FF5-9C8D-7517A06BF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088" y="2004494"/>
            <a:ext cx="5270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FF00"/>
                </a:solidFill>
              </a:rPr>
              <a:t>圆偏振光</a:t>
            </a:r>
            <a:r>
              <a:rPr lang="zh-CN" altLang="en-US" sz="2200" dirty="0">
                <a:solidFill>
                  <a:schemeClr val="bg1"/>
                </a:solidFill>
              </a:rPr>
              <a:t>：两个相互垂直、频率相同、振幅相等、相位差‌ </a:t>
            </a:r>
            <a:r>
              <a:rPr lang="en-US" altLang="zh-CN" sz="2000" dirty="0">
                <a:solidFill>
                  <a:srgbClr val="FFFF00"/>
                </a:solidFill>
                <a:cs typeface="Times New Roman" panose="02020603050405020304" pitchFamily="18" charset="0"/>
              </a:rPr>
              <a:t>±</a:t>
            </a:r>
            <a:r>
              <a:rPr lang="el-GR" altLang="zh-CN" sz="2200" dirty="0">
                <a:solidFill>
                  <a:srgbClr val="FFFF00"/>
                </a:solidFill>
                <a:cs typeface="Times New Roman" panose="02020603050405020304" pitchFamily="18" charset="0"/>
              </a:rPr>
              <a:t>π</a:t>
            </a:r>
            <a:r>
              <a:rPr lang="en-US" altLang="zh-CN" sz="2200" dirty="0">
                <a:solidFill>
                  <a:srgbClr val="FFFF00"/>
                </a:solidFill>
                <a:cs typeface="Times New Roman" panose="02020603050405020304" pitchFamily="18" charset="0"/>
              </a:rPr>
              <a:t>/2</a:t>
            </a:r>
            <a:r>
              <a:rPr lang="en-US" altLang="zh-CN" sz="2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</a:rPr>
              <a:t>的线偏振光‌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6" grpId="0" autoUpdateAnimBg="0"/>
      <p:bldP spid="7" grpId="0" autoUpdateAnimBg="0"/>
      <p:bldP spid="9" grpId="1"/>
      <p:bldP spid="2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E7A77645-2BD3-4FC3-AD53-60B5EBDCB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630238"/>
            <a:ext cx="555625" cy="2195512"/>
          </a:xfrm>
          <a:prstGeom prst="rect">
            <a:avLst/>
          </a:prstGeom>
          <a:solidFill>
            <a:srgbClr val="FFFFCC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 四分之一波片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5D72E197-1135-445F-BDD6-F295F41B0EA7}"/>
              </a:ext>
            </a:extLst>
          </p:cNvPr>
          <p:cNvGrpSpPr>
            <a:grpSpLocks/>
          </p:cNvGrpSpPr>
          <p:nvPr/>
        </p:nvGrpSpPr>
        <p:grpSpPr bwMode="auto">
          <a:xfrm>
            <a:off x="984250" y="1589088"/>
            <a:ext cx="1500188" cy="568325"/>
            <a:chOff x="607" y="858"/>
            <a:chExt cx="945" cy="358"/>
          </a:xfrm>
        </p:grpSpPr>
        <p:sp>
          <p:nvSpPr>
            <p:cNvPr id="12339" name="Line 4">
              <a:extLst>
                <a:ext uri="{FF2B5EF4-FFF2-40B4-BE49-F238E27FC236}">
                  <a16:creationId xmlns:a16="http://schemas.microsoft.com/office/drawing/2014/main" id="{FA11316E-1BA3-467A-B6BB-F3F5A2741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1186"/>
              <a:ext cx="84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0" name="Text Box 5">
              <a:extLst>
                <a:ext uri="{FF2B5EF4-FFF2-40B4-BE49-F238E27FC236}">
                  <a16:creationId xmlns:a16="http://schemas.microsoft.com/office/drawing/2014/main" id="{30785B9C-0681-4F00-99C2-AEBF1C208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" y="858"/>
              <a:ext cx="945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FF00"/>
                  </a:solidFill>
                </a:rPr>
                <a:t>圆偏振光</a:t>
              </a:r>
            </a:p>
          </p:txBody>
        </p:sp>
      </p:grpSp>
      <p:grpSp>
        <p:nvGrpSpPr>
          <p:cNvPr id="4" name="Group 6">
            <a:extLst>
              <a:ext uri="{FF2B5EF4-FFF2-40B4-BE49-F238E27FC236}">
                <a16:creationId xmlns:a16="http://schemas.microsoft.com/office/drawing/2014/main" id="{C639FF7F-A1DC-4F2B-BBC9-0E2F8AAB9FAD}"/>
              </a:ext>
            </a:extLst>
          </p:cNvPr>
          <p:cNvGrpSpPr>
            <a:grpSpLocks/>
          </p:cNvGrpSpPr>
          <p:nvPr/>
        </p:nvGrpSpPr>
        <p:grpSpPr bwMode="auto">
          <a:xfrm>
            <a:off x="1119188" y="647700"/>
            <a:ext cx="1352550" cy="650875"/>
            <a:chOff x="692" y="265"/>
            <a:chExt cx="852" cy="410"/>
          </a:xfrm>
        </p:grpSpPr>
        <p:sp>
          <p:nvSpPr>
            <p:cNvPr id="12337" name="Line 7">
              <a:extLst>
                <a:ext uri="{FF2B5EF4-FFF2-40B4-BE49-F238E27FC236}">
                  <a16:creationId xmlns:a16="http://schemas.microsoft.com/office/drawing/2014/main" id="{D1214949-8009-4731-A05D-C6613B2E9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592"/>
              <a:ext cx="841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8" name="Text Box 8">
              <a:extLst>
                <a:ext uri="{FF2B5EF4-FFF2-40B4-BE49-F238E27FC236}">
                  <a16:creationId xmlns:a16="http://schemas.microsoft.com/office/drawing/2014/main" id="{EA293BEE-0708-4058-84F6-D52C5C0BA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" y="265"/>
              <a:ext cx="813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自然光</a:t>
              </a:r>
            </a:p>
          </p:txBody>
        </p:sp>
      </p:grpSp>
      <p:grpSp>
        <p:nvGrpSpPr>
          <p:cNvPr id="5" name="Group 9">
            <a:extLst>
              <a:ext uri="{FF2B5EF4-FFF2-40B4-BE49-F238E27FC236}">
                <a16:creationId xmlns:a16="http://schemas.microsoft.com/office/drawing/2014/main" id="{2F7C5525-E9D3-4A18-B62C-BC1483E2CA9B}"/>
              </a:ext>
            </a:extLst>
          </p:cNvPr>
          <p:cNvGrpSpPr>
            <a:grpSpLocks/>
          </p:cNvGrpSpPr>
          <p:nvPr/>
        </p:nvGrpSpPr>
        <p:grpSpPr bwMode="auto">
          <a:xfrm>
            <a:off x="3052763" y="663575"/>
            <a:ext cx="1352550" cy="650875"/>
            <a:chOff x="1910" y="275"/>
            <a:chExt cx="852" cy="410"/>
          </a:xfrm>
        </p:grpSpPr>
        <p:sp>
          <p:nvSpPr>
            <p:cNvPr id="12335" name="Line 10">
              <a:extLst>
                <a:ext uri="{FF2B5EF4-FFF2-40B4-BE49-F238E27FC236}">
                  <a16:creationId xmlns:a16="http://schemas.microsoft.com/office/drawing/2014/main" id="{DF601BAD-B62D-4C3D-B15C-1778BF1D6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" y="602"/>
              <a:ext cx="841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6" name="Text Box 11">
              <a:extLst>
                <a:ext uri="{FF2B5EF4-FFF2-40B4-BE49-F238E27FC236}">
                  <a16:creationId xmlns:a16="http://schemas.microsoft.com/office/drawing/2014/main" id="{95290CAA-8083-4437-91BB-0E7FC3B60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9" y="275"/>
              <a:ext cx="813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自然光</a:t>
              </a:r>
            </a:p>
          </p:txBody>
        </p:sp>
      </p:grpSp>
      <p:grpSp>
        <p:nvGrpSpPr>
          <p:cNvPr id="6" name="Group 12">
            <a:extLst>
              <a:ext uri="{FF2B5EF4-FFF2-40B4-BE49-F238E27FC236}">
                <a16:creationId xmlns:a16="http://schemas.microsoft.com/office/drawing/2014/main" id="{B5BC234A-4916-4FA4-B301-A5756367E118}"/>
              </a:ext>
            </a:extLst>
          </p:cNvPr>
          <p:cNvGrpSpPr>
            <a:grpSpLocks/>
          </p:cNvGrpSpPr>
          <p:nvPr/>
        </p:nvGrpSpPr>
        <p:grpSpPr bwMode="auto">
          <a:xfrm>
            <a:off x="2978150" y="1589088"/>
            <a:ext cx="1500188" cy="569912"/>
            <a:chOff x="1863" y="858"/>
            <a:chExt cx="945" cy="359"/>
          </a:xfrm>
        </p:grpSpPr>
        <p:sp>
          <p:nvSpPr>
            <p:cNvPr id="12333" name="Line 13">
              <a:extLst>
                <a:ext uri="{FF2B5EF4-FFF2-40B4-BE49-F238E27FC236}">
                  <a16:creationId xmlns:a16="http://schemas.microsoft.com/office/drawing/2014/main" id="{0B05A09F-A545-4A51-92E2-2579F3B39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" y="1196"/>
              <a:ext cx="84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Text Box 14">
              <a:extLst>
                <a:ext uri="{FF2B5EF4-FFF2-40B4-BE49-F238E27FC236}">
                  <a16:creationId xmlns:a16="http://schemas.microsoft.com/office/drawing/2014/main" id="{1CF2B0BB-742F-48C8-8857-87D02445D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858"/>
              <a:ext cx="94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FF00"/>
                  </a:solidFill>
                </a:rPr>
                <a:t>线偏振光</a:t>
              </a:r>
            </a:p>
          </p:txBody>
        </p:sp>
      </p:grpSp>
      <p:sp>
        <p:nvSpPr>
          <p:cNvPr id="16" name="Text Box 15">
            <a:extLst>
              <a:ext uri="{FF2B5EF4-FFF2-40B4-BE49-F238E27FC236}">
                <a16:creationId xmlns:a16="http://schemas.microsoft.com/office/drawing/2014/main" id="{4C7E263A-E20D-4B2E-9D74-F23665C5B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013" y="531813"/>
            <a:ext cx="614362" cy="2343150"/>
          </a:xfrm>
          <a:prstGeom prst="rect">
            <a:avLst/>
          </a:prstGeom>
          <a:solidFill>
            <a:srgbClr val="CC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vert="eaVert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</a:rPr>
              <a:t> 偏振片（转动）</a:t>
            </a:r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E51B7751-FBB0-44CA-B5AE-70407AABDEB7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650875"/>
            <a:ext cx="2713038" cy="815975"/>
            <a:chOff x="3139" y="267"/>
            <a:chExt cx="1709" cy="514"/>
          </a:xfrm>
        </p:grpSpPr>
        <p:sp>
          <p:nvSpPr>
            <p:cNvPr id="12330" name="Line 17">
              <a:extLst>
                <a:ext uri="{FF2B5EF4-FFF2-40B4-BE49-F238E27FC236}">
                  <a16:creationId xmlns:a16="http://schemas.microsoft.com/office/drawing/2014/main" id="{B8433BAD-D9AF-47C5-94EF-A238C4294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7" y="592"/>
              <a:ext cx="84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Text Box 18">
              <a:extLst>
                <a:ext uri="{FF2B5EF4-FFF2-40B4-BE49-F238E27FC236}">
                  <a16:creationId xmlns:a16="http://schemas.microsoft.com/office/drawing/2014/main" id="{D082BC08-3EA9-4538-A48A-90D3266F3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9" y="267"/>
              <a:ext cx="945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线偏振光</a:t>
              </a:r>
            </a:p>
          </p:txBody>
        </p:sp>
        <p:sp>
          <p:nvSpPr>
            <p:cNvPr id="12332" name="Text Box 19">
              <a:extLst>
                <a:ext uri="{FF2B5EF4-FFF2-40B4-BE49-F238E27FC236}">
                  <a16:creationId xmlns:a16="http://schemas.microsoft.com/office/drawing/2014/main" id="{B0C91DB6-0D8B-48B2-9BBD-9B893CB63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" y="442"/>
              <a:ext cx="86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 </a:t>
              </a:r>
              <a:r>
                <a:rPr lang="en-US" altLang="zh-CN" i="1">
                  <a:solidFill>
                    <a:srgbClr val="FF00FF"/>
                  </a:solidFill>
                </a:rPr>
                <a:t>I</a:t>
              </a:r>
              <a:r>
                <a:rPr lang="zh-CN" altLang="en-US">
                  <a:solidFill>
                    <a:srgbClr val="FF00FF"/>
                  </a:solidFill>
                </a:rPr>
                <a:t>不变</a:t>
              </a:r>
            </a:p>
          </p:txBody>
        </p:sp>
      </p:grpSp>
      <p:grpSp>
        <p:nvGrpSpPr>
          <p:cNvPr id="8" name="Group 20">
            <a:extLst>
              <a:ext uri="{FF2B5EF4-FFF2-40B4-BE49-F238E27FC236}">
                <a16:creationId xmlns:a16="http://schemas.microsoft.com/office/drawing/2014/main" id="{95E75C54-F0DA-4A93-834C-CE63DCB142E5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1604963"/>
            <a:ext cx="3611563" cy="823912"/>
            <a:chOff x="3149" y="868"/>
            <a:chExt cx="2275" cy="519"/>
          </a:xfrm>
        </p:grpSpPr>
        <p:sp>
          <p:nvSpPr>
            <p:cNvPr id="12327" name="Line 21">
              <a:extLst>
                <a:ext uri="{FF2B5EF4-FFF2-40B4-BE49-F238E27FC236}">
                  <a16:creationId xmlns:a16="http://schemas.microsoft.com/office/drawing/2014/main" id="{FD85C2A7-7465-473D-970F-7A4740253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1207"/>
              <a:ext cx="84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Text Box 22">
              <a:extLst>
                <a:ext uri="{FF2B5EF4-FFF2-40B4-BE49-F238E27FC236}">
                  <a16:creationId xmlns:a16="http://schemas.microsoft.com/office/drawing/2014/main" id="{04884DCD-9204-4AF6-B22D-74944D946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9" y="868"/>
              <a:ext cx="1219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FF00"/>
                  </a:solidFill>
                </a:rPr>
                <a:t>线偏振光</a:t>
              </a:r>
            </a:p>
          </p:txBody>
        </p:sp>
        <p:sp>
          <p:nvSpPr>
            <p:cNvPr id="12329" name="Text Box 23">
              <a:extLst>
                <a:ext uri="{FF2B5EF4-FFF2-40B4-BE49-F238E27FC236}">
                  <a16:creationId xmlns:a16="http://schemas.microsoft.com/office/drawing/2014/main" id="{FACCED1B-4E0B-4881-991A-BBE73CFB7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2" y="1048"/>
              <a:ext cx="138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I </a:t>
              </a:r>
              <a:r>
                <a:rPr lang="zh-CN" altLang="en-US">
                  <a:solidFill>
                    <a:srgbClr val="FFFF00"/>
                  </a:solidFill>
                </a:rPr>
                <a:t>变，有消光</a:t>
              </a:r>
            </a:p>
          </p:txBody>
        </p:sp>
      </p:grpSp>
      <p:sp>
        <p:nvSpPr>
          <p:cNvPr id="25" name="Text Box 24">
            <a:extLst>
              <a:ext uri="{FF2B5EF4-FFF2-40B4-BE49-F238E27FC236}">
                <a16:creationId xmlns:a16="http://schemas.microsoft.com/office/drawing/2014/main" id="{D29E3A73-B367-47C0-BE7A-FAC07F999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838" y="2665413"/>
            <a:ext cx="35337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以入射光方向为旋转轴</a:t>
            </a:r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C0AA01F4-168B-458C-A2D1-A70133191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9675" y="2433638"/>
            <a:ext cx="420688" cy="4413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004E0B0B-211B-4851-A440-BBA17CC9F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3" y="3276600"/>
            <a:ext cx="555625" cy="2197100"/>
          </a:xfrm>
          <a:prstGeom prst="rect">
            <a:avLst/>
          </a:prstGeom>
          <a:solidFill>
            <a:srgbClr val="FFFFCC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 四分之一波片</a:t>
            </a:r>
          </a:p>
        </p:txBody>
      </p:sp>
      <p:grpSp>
        <p:nvGrpSpPr>
          <p:cNvPr id="9" name="Group 27">
            <a:extLst>
              <a:ext uri="{FF2B5EF4-FFF2-40B4-BE49-F238E27FC236}">
                <a16:creationId xmlns:a16="http://schemas.microsoft.com/office/drawing/2014/main" id="{F2BC8988-B6F4-4891-959D-7D66D47802FC}"/>
              </a:ext>
            </a:extLst>
          </p:cNvPr>
          <p:cNvGrpSpPr>
            <a:grpSpLocks/>
          </p:cNvGrpSpPr>
          <p:nvPr/>
        </p:nvGrpSpPr>
        <p:grpSpPr bwMode="auto">
          <a:xfrm>
            <a:off x="839788" y="4235450"/>
            <a:ext cx="1784350" cy="569913"/>
            <a:chOff x="529" y="2668"/>
            <a:chExt cx="1124" cy="359"/>
          </a:xfrm>
        </p:grpSpPr>
        <p:sp>
          <p:nvSpPr>
            <p:cNvPr id="12325" name="Line 28">
              <a:extLst>
                <a:ext uri="{FF2B5EF4-FFF2-40B4-BE49-F238E27FC236}">
                  <a16:creationId xmlns:a16="http://schemas.microsoft.com/office/drawing/2014/main" id="{4D056348-3846-407F-A0C5-1545CE0A8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997"/>
              <a:ext cx="840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6" name="Text Box 29">
              <a:extLst>
                <a:ext uri="{FF2B5EF4-FFF2-40B4-BE49-F238E27FC236}">
                  <a16:creationId xmlns:a16="http://schemas.microsoft.com/office/drawing/2014/main" id="{DA6C9EB2-2685-485F-AC3D-9C78292B0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" y="2668"/>
              <a:ext cx="1124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FF00"/>
                  </a:solidFill>
                </a:rPr>
                <a:t>椭圆偏振光</a:t>
              </a:r>
            </a:p>
          </p:txBody>
        </p:sp>
      </p:grpSp>
      <p:grpSp>
        <p:nvGrpSpPr>
          <p:cNvPr id="10" name="Group 30">
            <a:extLst>
              <a:ext uri="{FF2B5EF4-FFF2-40B4-BE49-F238E27FC236}">
                <a16:creationId xmlns:a16="http://schemas.microsoft.com/office/drawing/2014/main" id="{A077E5C5-A84D-4C7F-8D4F-0382E6093106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295650"/>
            <a:ext cx="1725613" cy="650875"/>
            <a:chOff x="528" y="2076"/>
            <a:chExt cx="1087" cy="410"/>
          </a:xfrm>
        </p:grpSpPr>
        <p:sp>
          <p:nvSpPr>
            <p:cNvPr id="12323" name="Line 31">
              <a:extLst>
                <a:ext uri="{FF2B5EF4-FFF2-40B4-BE49-F238E27FC236}">
                  <a16:creationId xmlns:a16="http://schemas.microsoft.com/office/drawing/2014/main" id="{BA7BB87D-B143-48EF-8CC5-6199DD635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2403"/>
              <a:ext cx="841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4" name="Text Box 32">
              <a:extLst>
                <a:ext uri="{FF2B5EF4-FFF2-40B4-BE49-F238E27FC236}">
                  <a16:creationId xmlns:a16="http://schemas.microsoft.com/office/drawing/2014/main" id="{FAC42FE3-EF30-4281-83B4-85412563C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076"/>
              <a:ext cx="1087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部分偏振光</a:t>
              </a:r>
            </a:p>
          </p:txBody>
        </p:sp>
      </p:grpSp>
      <p:grpSp>
        <p:nvGrpSpPr>
          <p:cNvPr id="11" name="Group 33">
            <a:extLst>
              <a:ext uri="{FF2B5EF4-FFF2-40B4-BE49-F238E27FC236}">
                <a16:creationId xmlns:a16="http://schemas.microsoft.com/office/drawing/2014/main" id="{323F83A6-FAFA-484F-9016-D4DE32E86C6E}"/>
              </a:ext>
            </a:extLst>
          </p:cNvPr>
          <p:cNvGrpSpPr>
            <a:grpSpLocks/>
          </p:cNvGrpSpPr>
          <p:nvPr/>
        </p:nvGrpSpPr>
        <p:grpSpPr bwMode="auto">
          <a:xfrm>
            <a:off x="2970213" y="4237038"/>
            <a:ext cx="1500187" cy="569912"/>
            <a:chOff x="1871" y="2669"/>
            <a:chExt cx="945" cy="359"/>
          </a:xfrm>
        </p:grpSpPr>
        <p:sp>
          <p:nvSpPr>
            <p:cNvPr id="12321" name="Line 34">
              <a:extLst>
                <a:ext uri="{FF2B5EF4-FFF2-40B4-BE49-F238E27FC236}">
                  <a16:creationId xmlns:a16="http://schemas.microsoft.com/office/drawing/2014/main" id="{DEBB55EA-AB57-4019-9CCB-4DE558053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3007"/>
              <a:ext cx="84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2" name="Text Box 35">
              <a:extLst>
                <a:ext uri="{FF2B5EF4-FFF2-40B4-BE49-F238E27FC236}">
                  <a16:creationId xmlns:a16="http://schemas.microsoft.com/office/drawing/2014/main" id="{0B0AAE2A-A8CC-46D8-B4E8-3EE95359B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" y="2669"/>
              <a:ext cx="94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FF00"/>
                  </a:solidFill>
                </a:rPr>
                <a:t>线偏振光</a:t>
              </a:r>
            </a:p>
          </p:txBody>
        </p:sp>
      </p:grpSp>
      <p:sp>
        <p:nvSpPr>
          <p:cNvPr id="37" name="Text Box 36">
            <a:extLst>
              <a:ext uri="{FF2B5EF4-FFF2-40B4-BE49-F238E27FC236}">
                <a16:creationId xmlns:a16="http://schemas.microsoft.com/office/drawing/2014/main" id="{6BBCF68E-AE2B-4110-B474-08751FA78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3178175"/>
            <a:ext cx="614363" cy="2344738"/>
          </a:xfrm>
          <a:prstGeom prst="rect">
            <a:avLst/>
          </a:prstGeom>
          <a:solidFill>
            <a:srgbClr val="CC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vert="eaVert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</a:rPr>
              <a:t> 偏振片（转动）</a:t>
            </a:r>
          </a:p>
        </p:txBody>
      </p:sp>
      <p:grpSp>
        <p:nvGrpSpPr>
          <p:cNvPr id="12" name="Group 37">
            <a:extLst>
              <a:ext uri="{FF2B5EF4-FFF2-40B4-BE49-F238E27FC236}">
                <a16:creationId xmlns:a16="http://schemas.microsoft.com/office/drawing/2014/main" id="{E2C55604-CAF6-47E5-93DE-3F7F3E4A7251}"/>
              </a:ext>
            </a:extLst>
          </p:cNvPr>
          <p:cNvGrpSpPr>
            <a:grpSpLocks/>
          </p:cNvGrpSpPr>
          <p:nvPr/>
        </p:nvGrpSpPr>
        <p:grpSpPr bwMode="auto">
          <a:xfrm>
            <a:off x="5011738" y="4252913"/>
            <a:ext cx="3751262" cy="819150"/>
            <a:chOff x="3157" y="2679"/>
            <a:chExt cx="2363" cy="516"/>
          </a:xfrm>
        </p:grpSpPr>
        <p:sp>
          <p:nvSpPr>
            <p:cNvPr id="12318" name="Line 38">
              <a:extLst>
                <a:ext uri="{FF2B5EF4-FFF2-40B4-BE49-F238E27FC236}">
                  <a16:creationId xmlns:a16="http://schemas.microsoft.com/office/drawing/2014/main" id="{974307B5-3810-4243-9F30-441EFD403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4" y="3017"/>
              <a:ext cx="84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Text Box 39">
              <a:extLst>
                <a:ext uri="{FF2B5EF4-FFF2-40B4-BE49-F238E27FC236}">
                  <a16:creationId xmlns:a16="http://schemas.microsoft.com/office/drawing/2014/main" id="{AA12ED46-518A-40B5-A247-DDF114EB9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2679"/>
              <a:ext cx="1163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FF00"/>
                  </a:solidFill>
                </a:rPr>
                <a:t>线偏振光</a:t>
              </a:r>
            </a:p>
          </p:txBody>
        </p:sp>
        <p:sp>
          <p:nvSpPr>
            <p:cNvPr id="12320" name="Text Box 40">
              <a:extLst>
                <a:ext uri="{FF2B5EF4-FFF2-40B4-BE49-F238E27FC236}">
                  <a16:creationId xmlns:a16="http://schemas.microsoft.com/office/drawing/2014/main" id="{DC261390-DFEB-40B1-9B8B-67A902200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2" y="2856"/>
              <a:ext cx="147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I </a:t>
              </a:r>
              <a:r>
                <a:rPr lang="zh-CN" altLang="en-US">
                  <a:solidFill>
                    <a:srgbClr val="FFFF00"/>
                  </a:solidFill>
                </a:rPr>
                <a:t>变，有消光</a:t>
              </a:r>
            </a:p>
          </p:txBody>
        </p:sp>
      </p:grpSp>
      <p:grpSp>
        <p:nvGrpSpPr>
          <p:cNvPr id="13" name="Group 41">
            <a:extLst>
              <a:ext uri="{FF2B5EF4-FFF2-40B4-BE49-F238E27FC236}">
                <a16:creationId xmlns:a16="http://schemas.microsoft.com/office/drawing/2014/main" id="{ABE0BD32-C3EB-4A15-AF51-E373EAE9FC0F}"/>
              </a:ext>
            </a:extLst>
          </p:cNvPr>
          <p:cNvGrpSpPr>
            <a:grpSpLocks/>
          </p:cNvGrpSpPr>
          <p:nvPr/>
        </p:nvGrpSpPr>
        <p:grpSpPr bwMode="auto">
          <a:xfrm>
            <a:off x="3044825" y="2933700"/>
            <a:ext cx="1411288" cy="992188"/>
            <a:chOff x="1918" y="1848"/>
            <a:chExt cx="889" cy="625"/>
          </a:xfrm>
        </p:grpSpPr>
        <p:sp>
          <p:nvSpPr>
            <p:cNvPr id="12316" name="Line 42">
              <a:extLst>
                <a:ext uri="{FF2B5EF4-FFF2-40B4-BE49-F238E27FC236}">
                  <a16:creationId xmlns:a16="http://schemas.microsoft.com/office/drawing/2014/main" id="{D3D3B91F-77FB-414F-972E-1C768D798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2413"/>
              <a:ext cx="841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Text Box 43">
              <a:extLst>
                <a:ext uri="{FF2B5EF4-FFF2-40B4-BE49-F238E27FC236}">
                  <a16:creationId xmlns:a16="http://schemas.microsoft.com/office/drawing/2014/main" id="{159D7415-CF5D-4A00-A5A5-FCEA6B3CE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8" y="1848"/>
              <a:ext cx="859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 部分</a:t>
              </a:r>
            </a:p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偏振光</a:t>
              </a:r>
            </a:p>
          </p:txBody>
        </p:sp>
      </p:grpSp>
      <p:sp>
        <p:nvSpPr>
          <p:cNvPr id="45" name="Text Box 44">
            <a:extLst>
              <a:ext uri="{FF2B5EF4-FFF2-40B4-BE49-F238E27FC236}">
                <a16:creationId xmlns:a16="http://schemas.microsoft.com/office/drawing/2014/main" id="{9C5098F8-F37F-4DA9-8AE6-83959E69B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5715000"/>
            <a:ext cx="6497637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光轴平行最大光强或最小光强方向放置</a:t>
            </a:r>
          </a:p>
        </p:txBody>
      </p:sp>
      <p:sp>
        <p:nvSpPr>
          <p:cNvPr id="46" name="Line 45">
            <a:extLst>
              <a:ext uri="{FF2B5EF4-FFF2-40B4-BE49-F238E27FC236}">
                <a16:creationId xmlns:a16="http://schemas.microsoft.com/office/drawing/2014/main" id="{B85DC146-1252-49A5-B8B1-4EA0CDD299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3638" y="5359400"/>
            <a:ext cx="360362" cy="3905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" name="Group 46">
            <a:extLst>
              <a:ext uri="{FF2B5EF4-FFF2-40B4-BE49-F238E27FC236}">
                <a16:creationId xmlns:a16="http://schemas.microsoft.com/office/drawing/2014/main" id="{4BB67C29-AF0F-4D8A-9556-99C955DE41A0}"/>
              </a:ext>
            </a:extLst>
          </p:cNvPr>
          <p:cNvGrpSpPr>
            <a:grpSpLocks/>
          </p:cNvGrpSpPr>
          <p:nvPr/>
        </p:nvGrpSpPr>
        <p:grpSpPr bwMode="auto">
          <a:xfrm>
            <a:off x="4995863" y="3297238"/>
            <a:ext cx="3386137" cy="811212"/>
            <a:chOff x="3147" y="2077"/>
            <a:chExt cx="2133" cy="511"/>
          </a:xfrm>
        </p:grpSpPr>
        <p:sp>
          <p:nvSpPr>
            <p:cNvPr id="12313" name="Line 47">
              <a:extLst>
                <a:ext uri="{FF2B5EF4-FFF2-40B4-BE49-F238E27FC236}">
                  <a16:creationId xmlns:a16="http://schemas.microsoft.com/office/drawing/2014/main" id="{A5A56950-4F6A-40F4-BCFE-053036DDD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403"/>
              <a:ext cx="84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Text Box 48">
              <a:extLst>
                <a:ext uri="{FF2B5EF4-FFF2-40B4-BE49-F238E27FC236}">
                  <a16:creationId xmlns:a16="http://schemas.microsoft.com/office/drawing/2014/main" id="{1E6984AD-5402-4001-AC4E-186046063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7" y="2077"/>
              <a:ext cx="94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00FF"/>
                  </a:solidFill>
                </a:rPr>
                <a:t>线偏振光</a:t>
              </a:r>
            </a:p>
          </p:txBody>
        </p:sp>
        <p:sp>
          <p:nvSpPr>
            <p:cNvPr id="12315" name="Text Box 49">
              <a:extLst>
                <a:ext uri="{FF2B5EF4-FFF2-40B4-BE49-F238E27FC236}">
                  <a16:creationId xmlns:a16="http://schemas.microsoft.com/office/drawing/2014/main" id="{1BCAE71D-7D90-47FA-B24F-FCD46C383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2" y="2250"/>
              <a:ext cx="1238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00FF"/>
                  </a:solidFill>
                </a:rPr>
                <a:t>I</a:t>
              </a:r>
              <a:r>
                <a:rPr lang="zh-CN" altLang="en-US">
                  <a:solidFill>
                    <a:srgbClr val="FF00FF"/>
                  </a:solidFill>
                </a:rPr>
                <a:t>变</a:t>
              </a:r>
              <a:r>
                <a:rPr lang="en-US" altLang="zh-CN">
                  <a:solidFill>
                    <a:srgbClr val="FF00FF"/>
                  </a:solidFill>
                </a:rPr>
                <a:t>, </a:t>
              </a:r>
              <a:r>
                <a:rPr lang="zh-CN" altLang="en-US">
                  <a:solidFill>
                    <a:srgbClr val="FF00FF"/>
                  </a:solidFill>
                </a:rPr>
                <a:t>无消光</a:t>
              </a:r>
            </a:p>
          </p:txBody>
        </p:sp>
      </p:grpSp>
      <p:sp>
        <p:nvSpPr>
          <p:cNvPr id="51" name="Line 50">
            <a:extLst>
              <a:ext uri="{FF2B5EF4-FFF2-40B4-BE49-F238E27FC236}">
                <a16:creationId xmlns:a16="http://schemas.microsoft.com/office/drawing/2014/main" id="{0C10A4E5-9FA0-4EF9-8B86-2E0C28221E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8088" y="2933700"/>
            <a:ext cx="422275" cy="508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CC84AAC-695B-4B17-9D16-D8CD157C2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6186488"/>
            <a:ext cx="657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或光轴平行椭圆偏振光的长轴或短轴放置</a:t>
            </a:r>
          </a:p>
        </p:txBody>
      </p:sp>
      <p:sp>
        <p:nvSpPr>
          <p:cNvPr id="12312" name="灯片编号占位符 1">
            <a:extLst>
              <a:ext uri="{FF2B5EF4-FFF2-40B4-BE49-F238E27FC236}">
                <a16:creationId xmlns:a16="http://schemas.microsoft.com/office/drawing/2014/main" id="{707BA2B2-B818-428F-AD15-958DDF67632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4B1675-8644-46B8-83E2-CD2FB9D3497F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16" grpId="0" animBg="1" autoUpdateAnimBg="0"/>
      <p:bldP spid="25" grpId="0" autoUpdateAnimBg="0"/>
      <p:bldP spid="27" grpId="0" animBg="1" autoUpdateAnimBg="0"/>
      <p:bldP spid="37" grpId="0" animBg="1" autoUpdateAnimBg="0"/>
      <p:bldP spid="45" grpId="0" build="p" autoUpdateAnimBg="0" advAuto="0"/>
      <p:bldP spid="5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AutoShape 2">
            <a:extLst>
              <a:ext uri="{FF2B5EF4-FFF2-40B4-BE49-F238E27FC236}">
                <a16:creationId xmlns:a16="http://schemas.microsoft.com/office/drawing/2014/main" id="{491BCA83-B993-4D02-A6CC-318F6671E0C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764338" y="1628775"/>
            <a:ext cx="2222500" cy="1393825"/>
          </a:xfrm>
          <a:prstGeom prst="parallelogram">
            <a:avLst>
              <a:gd name="adj" fmla="val 22789"/>
            </a:avLst>
          </a:prstGeom>
          <a:solidFill>
            <a:schemeClr val="fol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0611" name="AutoShape 3">
            <a:extLst>
              <a:ext uri="{FF2B5EF4-FFF2-40B4-BE49-F238E27FC236}">
                <a16:creationId xmlns:a16="http://schemas.microsoft.com/office/drawing/2014/main" id="{76754C34-07C8-4B08-B63E-23FFBBECF3D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763544" y="1627982"/>
            <a:ext cx="2222500" cy="1395412"/>
          </a:xfrm>
          <a:prstGeom prst="parallelogram">
            <a:avLst>
              <a:gd name="adj" fmla="val 22785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0612" name="Line 4">
            <a:extLst>
              <a:ext uri="{FF2B5EF4-FFF2-40B4-BE49-F238E27FC236}">
                <a16:creationId xmlns:a16="http://schemas.microsoft.com/office/drawing/2014/main" id="{42D7FA37-88C2-4E53-BC57-017D9BB1939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122988" y="2239963"/>
            <a:ext cx="1806575" cy="29845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13" name="Oval 5">
            <a:extLst>
              <a:ext uri="{FF2B5EF4-FFF2-40B4-BE49-F238E27FC236}">
                <a16:creationId xmlns:a16="http://schemas.microsoft.com/office/drawing/2014/main" id="{180353CE-4894-4599-8627-9FB752ECE6EF}"/>
              </a:ext>
            </a:extLst>
          </p:cNvPr>
          <p:cNvSpPr>
            <a:spLocks noChangeArrowheads="1"/>
          </p:cNvSpPr>
          <p:nvPr/>
        </p:nvSpPr>
        <p:spPr bwMode="auto">
          <a:xfrm rot="-1312701">
            <a:off x="5561013" y="1519238"/>
            <a:ext cx="1131887" cy="2016125"/>
          </a:xfrm>
          <a:prstGeom prst="ellipse">
            <a:avLst/>
          </a:prstGeom>
          <a:solidFill>
            <a:srgbClr val="009999">
              <a:alpha val="67058"/>
            </a:srgbClr>
          </a:solidFill>
          <a:ln w="9525">
            <a:round/>
            <a:headEnd/>
            <a:tailEnd/>
          </a:ln>
          <a:scene3d>
            <a:camera prst="legacyObliqueTopRight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009999"/>
            </a:extrusionClr>
            <a:contourClr>
              <a:srgbClr val="0099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0614" name="Line 6">
            <a:extLst>
              <a:ext uri="{FF2B5EF4-FFF2-40B4-BE49-F238E27FC236}">
                <a16:creationId xmlns:a16="http://schemas.microsoft.com/office/drawing/2014/main" id="{E5060FB3-8D0E-4A7D-96F6-AE3D9186D46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164013" y="2533650"/>
            <a:ext cx="1968500" cy="327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15" name="Rectangle 7">
            <a:extLst>
              <a:ext uri="{FF2B5EF4-FFF2-40B4-BE49-F238E27FC236}">
                <a16:creationId xmlns:a16="http://schemas.microsoft.com/office/drawing/2014/main" id="{6DF93AF7-085B-4A44-9E64-3FA26B05F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2044700"/>
            <a:ext cx="1812925" cy="1741488"/>
          </a:xfrm>
          <a:prstGeom prst="rect">
            <a:avLst/>
          </a:prstGeom>
          <a:solidFill>
            <a:srgbClr val="009999">
              <a:alpha val="63921"/>
            </a:srgbClr>
          </a:solidFill>
          <a:ln w="9525">
            <a:miter lim="800000"/>
            <a:headEnd/>
            <a:tailEnd/>
          </a:ln>
          <a:scene3d>
            <a:camera prst="legacyObliqueTopRight">
              <a:rot lat="0" lon="1799995" rev="0"/>
            </a:camera>
            <a:lightRig rig="legacyFlat3" dir="t"/>
          </a:scene3d>
          <a:sp3d extrusionH="227000" prstMaterial="legacyMatte">
            <a:bevelT w="13500" h="13500" prst="angle"/>
            <a:bevelB w="13500" h="13500" prst="angle"/>
            <a:extrusionClr>
              <a:srgbClr val="009999"/>
            </a:extrusionClr>
            <a:contourClr>
              <a:srgbClr val="0099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0616" name="Line 8">
            <a:extLst>
              <a:ext uri="{FF2B5EF4-FFF2-40B4-BE49-F238E27FC236}">
                <a16:creationId xmlns:a16="http://schemas.microsoft.com/office/drawing/2014/main" id="{C4BB1A8C-EEAB-4D46-A42B-8A1E218D69B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90750" y="2863850"/>
            <a:ext cx="1968500" cy="327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17" name="Text Box 9">
            <a:extLst>
              <a:ext uri="{FF2B5EF4-FFF2-40B4-BE49-F238E27FC236}">
                <a16:creationId xmlns:a16="http://schemas.microsoft.com/office/drawing/2014/main" id="{79457F77-509A-44D4-BF13-961EBE120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57238"/>
            <a:ext cx="4032250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</a:rPr>
              <a:t>一</a:t>
            </a:r>
            <a:r>
              <a:rPr lang="en-US" altLang="zh-CN">
                <a:solidFill>
                  <a:srgbClr val="FFFF00"/>
                </a:solidFill>
              </a:rPr>
              <a:t>.</a:t>
            </a:r>
            <a:r>
              <a:rPr lang="zh-CN" altLang="en-US">
                <a:solidFill>
                  <a:srgbClr val="FFFF00"/>
                </a:solidFill>
              </a:rPr>
              <a:t> 偏振光的干涉</a:t>
            </a:r>
            <a:endParaRPr lang="zh-CN" altLang="en-US">
              <a:solidFill>
                <a:srgbClr val="FFFF00"/>
              </a:solidFill>
              <a:latin typeface="方正书宋简体"/>
            </a:endParaRPr>
          </a:p>
        </p:txBody>
      </p:sp>
      <p:sp>
        <p:nvSpPr>
          <p:cNvPr id="580618" name="Text Box 10">
            <a:extLst>
              <a:ext uri="{FF2B5EF4-FFF2-40B4-BE49-F238E27FC236}">
                <a16:creationId xmlns:a16="http://schemas.microsoft.com/office/drawing/2014/main" id="{4A497A54-B856-49A4-B498-2D81C134D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5875"/>
            <a:ext cx="2738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FFFF"/>
                </a:solidFill>
              </a:rPr>
              <a:t>1. </a:t>
            </a:r>
            <a:r>
              <a:rPr lang="zh-CN" altLang="en-US">
                <a:solidFill>
                  <a:srgbClr val="00FFFF"/>
                </a:solidFill>
              </a:rPr>
              <a:t>实验装置</a:t>
            </a:r>
          </a:p>
        </p:txBody>
      </p:sp>
      <p:sp>
        <p:nvSpPr>
          <p:cNvPr id="580619" name="Oval 11">
            <a:extLst>
              <a:ext uri="{FF2B5EF4-FFF2-40B4-BE49-F238E27FC236}">
                <a16:creationId xmlns:a16="http://schemas.microsoft.com/office/drawing/2014/main" id="{0469CE84-C735-49ED-AFEF-178C3F5789ED}"/>
              </a:ext>
            </a:extLst>
          </p:cNvPr>
          <p:cNvSpPr>
            <a:spLocks noChangeArrowheads="1"/>
          </p:cNvSpPr>
          <p:nvPr/>
        </p:nvSpPr>
        <p:spPr bwMode="auto">
          <a:xfrm rot="-1312701">
            <a:off x="1601788" y="2166938"/>
            <a:ext cx="1131887" cy="2016125"/>
          </a:xfrm>
          <a:prstGeom prst="ellipse">
            <a:avLst/>
          </a:prstGeom>
          <a:solidFill>
            <a:srgbClr val="009999">
              <a:alpha val="67058"/>
            </a:srgbClr>
          </a:solidFill>
          <a:ln w="9525">
            <a:round/>
            <a:headEnd/>
            <a:tailEnd/>
          </a:ln>
          <a:scene3d>
            <a:camera prst="legacyObliqueTopRight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009999"/>
            </a:extrusionClr>
            <a:contourClr>
              <a:srgbClr val="0099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0620" name="Line 12">
            <a:extLst>
              <a:ext uri="{FF2B5EF4-FFF2-40B4-BE49-F238E27FC236}">
                <a16:creationId xmlns:a16="http://schemas.microsoft.com/office/drawing/2014/main" id="{87595FEC-39BD-433B-99B9-B779C48725A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01688" y="3189288"/>
            <a:ext cx="1385887" cy="23018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1" name="Line 13">
            <a:extLst>
              <a:ext uri="{FF2B5EF4-FFF2-40B4-BE49-F238E27FC236}">
                <a16:creationId xmlns:a16="http://schemas.microsoft.com/office/drawing/2014/main" id="{936F348D-B9FE-4399-8D47-8FF4A979E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2338" y="1951038"/>
            <a:ext cx="0" cy="25209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2" name="Line 14">
            <a:extLst>
              <a:ext uri="{FF2B5EF4-FFF2-40B4-BE49-F238E27FC236}">
                <a16:creationId xmlns:a16="http://schemas.microsoft.com/office/drawing/2014/main" id="{480B658B-A59D-4C9D-AFCD-5A99D9F02C1E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440000">
            <a:off x="1439863" y="2589213"/>
            <a:ext cx="1511300" cy="12096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3" name="Line 15">
            <a:extLst>
              <a:ext uri="{FF2B5EF4-FFF2-40B4-BE49-F238E27FC236}">
                <a16:creationId xmlns:a16="http://schemas.microsoft.com/office/drawing/2014/main" id="{9F414E9B-5574-428E-BADD-E697E7C070CE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809625" y="3328988"/>
            <a:ext cx="576263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4" name="Line 16">
            <a:extLst>
              <a:ext uri="{FF2B5EF4-FFF2-40B4-BE49-F238E27FC236}">
                <a16:creationId xmlns:a16="http://schemas.microsoft.com/office/drawing/2014/main" id="{0F1AF162-CA49-4794-83D1-B1763D32A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592263"/>
            <a:ext cx="0" cy="2520950"/>
          </a:xfrm>
          <a:prstGeom prst="line">
            <a:avLst/>
          </a:prstGeom>
          <a:noFill/>
          <a:ln w="25400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5" name="Line 17">
            <a:extLst>
              <a:ext uri="{FF2B5EF4-FFF2-40B4-BE49-F238E27FC236}">
                <a16:creationId xmlns:a16="http://schemas.microsoft.com/office/drawing/2014/main" id="{F8D7357C-B0B0-4D60-B292-86BEE4D3B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7750" y="1309688"/>
            <a:ext cx="0" cy="25209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6" name="Line 18">
            <a:extLst>
              <a:ext uri="{FF2B5EF4-FFF2-40B4-BE49-F238E27FC236}">
                <a16:creationId xmlns:a16="http://schemas.microsoft.com/office/drawing/2014/main" id="{D34B3B3D-F0D6-458D-874E-2796A09706BE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2897188" y="2990850"/>
            <a:ext cx="576262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7" name="Line 19">
            <a:extLst>
              <a:ext uri="{FF2B5EF4-FFF2-40B4-BE49-F238E27FC236}">
                <a16:creationId xmlns:a16="http://schemas.microsoft.com/office/drawing/2014/main" id="{D25BB199-4718-4238-BD56-74C1B6B1BA6B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4986338" y="2638425"/>
            <a:ext cx="576262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8" name="Line 20">
            <a:extLst>
              <a:ext uri="{FF2B5EF4-FFF2-40B4-BE49-F238E27FC236}">
                <a16:creationId xmlns:a16="http://schemas.microsoft.com/office/drawing/2014/main" id="{5F4024E6-4950-408E-985F-BE36A0BE4FE7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7032625" y="2301875"/>
            <a:ext cx="576263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29" name="Line 21">
            <a:extLst>
              <a:ext uri="{FF2B5EF4-FFF2-40B4-BE49-F238E27FC236}">
                <a16:creationId xmlns:a16="http://schemas.microsoft.com/office/drawing/2014/main" id="{5CD956CD-0D4A-4E3F-9B2E-53445D75A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1624013"/>
            <a:ext cx="792162" cy="18002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30" name="Line 22">
            <a:extLst>
              <a:ext uri="{FF2B5EF4-FFF2-40B4-BE49-F238E27FC236}">
                <a16:creationId xmlns:a16="http://schemas.microsoft.com/office/drawing/2014/main" id="{A57CF4B5-EF27-4DA8-B854-CD5C34E9D8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974975"/>
            <a:ext cx="1008063" cy="4318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0631" name="Line 23">
            <a:extLst>
              <a:ext uri="{FF2B5EF4-FFF2-40B4-BE49-F238E27FC236}">
                <a16:creationId xmlns:a16="http://schemas.microsoft.com/office/drawing/2014/main" id="{CFFFCB97-5B3F-40BA-ACB7-AC65D145C5DB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440000">
            <a:off x="5399088" y="1936750"/>
            <a:ext cx="1511300" cy="12096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0632" name="Object 24">
            <a:extLst>
              <a:ext uri="{FF2B5EF4-FFF2-40B4-BE49-F238E27FC236}">
                <a16:creationId xmlns:a16="http://schemas.microsoft.com/office/drawing/2014/main" id="{322FC26B-2C61-4DF0-803A-CA163E3A9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846263"/>
          <a:ext cx="254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82" name="公式" r:id="rId4" imgW="228753" imgH="342900" progId="Equation.3">
                  <p:embed/>
                </p:oleObj>
              </mc:Choice>
              <mc:Fallback>
                <p:oleObj name="公式" r:id="rId4" imgW="228753" imgH="342900" progId="Equation.3">
                  <p:embed/>
                  <p:pic>
                    <p:nvPicPr>
                      <p:cNvPr id="580632" name="Object 24">
                        <a:extLst>
                          <a:ext uri="{FF2B5EF4-FFF2-40B4-BE49-F238E27FC236}">
                            <a16:creationId xmlns:a16="http://schemas.microsoft.com/office/drawing/2014/main" id="{322FC26B-2C61-4DF0-803A-CA163E3A9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846263"/>
                        <a:ext cx="254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0633" name="Object 25">
            <a:extLst>
              <a:ext uri="{FF2B5EF4-FFF2-40B4-BE49-F238E27FC236}">
                <a16:creationId xmlns:a16="http://schemas.microsoft.com/office/drawing/2014/main" id="{875043A8-84BC-4ED4-842C-B0A5DA8A2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5063" y="1131888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83" name="公式" r:id="rId6" imgW="247714" imgH="342900" progId="Equation.3">
                  <p:embed/>
                </p:oleObj>
              </mc:Choice>
              <mc:Fallback>
                <p:oleObj name="公式" r:id="rId6" imgW="247714" imgH="342900" progId="Equation.3">
                  <p:embed/>
                  <p:pic>
                    <p:nvPicPr>
                      <p:cNvPr id="580633" name="Object 25">
                        <a:extLst>
                          <a:ext uri="{FF2B5EF4-FFF2-40B4-BE49-F238E27FC236}">
                            <a16:creationId xmlns:a16="http://schemas.microsoft.com/office/drawing/2014/main" id="{875043A8-84BC-4ED4-842C-B0A5DA8A2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1131888"/>
                        <a:ext cx="279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0634" name="Object 26">
            <a:extLst>
              <a:ext uri="{FF2B5EF4-FFF2-40B4-BE49-F238E27FC236}">
                <a16:creationId xmlns:a16="http://schemas.microsoft.com/office/drawing/2014/main" id="{B77009DB-1BD5-4AE8-8497-EDA06C42D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412875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84" name="公式" r:id="rId8" imgW="209486" imgH="247684" progId="Equation.3">
                  <p:embed/>
                </p:oleObj>
              </mc:Choice>
              <mc:Fallback>
                <p:oleObj name="公式" r:id="rId8" imgW="209486" imgH="247684" progId="Equation.3">
                  <p:embed/>
                  <p:pic>
                    <p:nvPicPr>
                      <p:cNvPr id="580634" name="Object 26">
                        <a:extLst>
                          <a:ext uri="{FF2B5EF4-FFF2-40B4-BE49-F238E27FC236}">
                            <a16:creationId xmlns:a16="http://schemas.microsoft.com/office/drawing/2014/main" id="{B77009DB-1BD5-4AE8-8497-EDA06C42D3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412875"/>
                        <a:ext cx="241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35" name="Arc 27">
            <a:extLst>
              <a:ext uri="{FF2B5EF4-FFF2-40B4-BE49-F238E27FC236}">
                <a16:creationId xmlns:a16="http://schemas.microsoft.com/office/drawing/2014/main" id="{AB1EB881-FC43-439B-919B-6D859CA343F7}"/>
              </a:ext>
            </a:extLst>
          </p:cNvPr>
          <p:cNvSpPr>
            <a:spLocks/>
          </p:cNvSpPr>
          <p:nvPr/>
        </p:nvSpPr>
        <p:spPr bwMode="auto">
          <a:xfrm rot="14381396" flipV="1">
            <a:off x="2114550" y="2849563"/>
            <a:ext cx="301625" cy="339725"/>
          </a:xfrm>
          <a:custGeom>
            <a:avLst/>
            <a:gdLst>
              <a:gd name="T0" fmla="*/ 0 w 21618"/>
              <a:gd name="T1" fmla="*/ 2147483646 h 21600"/>
              <a:gd name="T2" fmla="*/ 2147483646 w 21618"/>
              <a:gd name="T3" fmla="*/ 2147483646 h 21600"/>
              <a:gd name="T4" fmla="*/ 2147483646 w 21618"/>
              <a:gd name="T5" fmla="*/ 2147483646 h 21600"/>
              <a:gd name="T6" fmla="*/ 0 60000 65536"/>
              <a:gd name="T7" fmla="*/ 0 60000 65536"/>
              <a:gd name="T8" fmla="*/ 0 60000 65536"/>
              <a:gd name="T9" fmla="*/ 0 w 21618"/>
              <a:gd name="T10" fmla="*/ 0 h 21600"/>
              <a:gd name="T11" fmla="*/ 21618 w 216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18" h="21600" fill="none" extrusionOk="0">
                <a:moveTo>
                  <a:pt x="-1" y="186"/>
                </a:moveTo>
                <a:cubicBezTo>
                  <a:pt x="939" y="62"/>
                  <a:pt x="1885" y="-1"/>
                  <a:pt x="2833" y="0"/>
                </a:cubicBezTo>
                <a:cubicBezTo>
                  <a:pt x="10606" y="0"/>
                  <a:pt x="17780" y="4177"/>
                  <a:pt x="21618" y="10937"/>
                </a:cubicBezTo>
              </a:path>
              <a:path w="21618" h="21600" stroke="0" extrusionOk="0">
                <a:moveTo>
                  <a:pt x="-1" y="186"/>
                </a:moveTo>
                <a:cubicBezTo>
                  <a:pt x="939" y="62"/>
                  <a:pt x="1885" y="-1"/>
                  <a:pt x="2833" y="0"/>
                </a:cubicBezTo>
                <a:cubicBezTo>
                  <a:pt x="10606" y="0"/>
                  <a:pt x="17780" y="4177"/>
                  <a:pt x="21618" y="10937"/>
                </a:cubicBezTo>
                <a:lnTo>
                  <a:pt x="2833" y="21600"/>
                </a:lnTo>
                <a:lnTo>
                  <a:pt x="-1" y="186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80636" name="Object 28">
            <a:extLst>
              <a:ext uri="{FF2B5EF4-FFF2-40B4-BE49-F238E27FC236}">
                <a16:creationId xmlns:a16="http://schemas.microsoft.com/office/drawing/2014/main" id="{3BCC86B5-0916-42AE-809F-3219726C7B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693988"/>
          <a:ext cx="220662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85" name="公式" r:id="rId10" imgW="247714" imgH="209414" progId="Equation.3">
                  <p:embed/>
                </p:oleObj>
              </mc:Choice>
              <mc:Fallback>
                <p:oleObj name="公式" r:id="rId10" imgW="247714" imgH="209414" progId="Equation.3">
                  <p:embed/>
                  <p:pic>
                    <p:nvPicPr>
                      <p:cNvPr id="580636" name="Object 28">
                        <a:extLst>
                          <a:ext uri="{FF2B5EF4-FFF2-40B4-BE49-F238E27FC236}">
                            <a16:creationId xmlns:a16="http://schemas.microsoft.com/office/drawing/2014/main" id="{3BCC86B5-0916-42AE-809F-3219726C7B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93988"/>
                        <a:ext cx="220662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37" name="Arc 29">
            <a:extLst>
              <a:ext uri="{FF2B5EF4-FFF2-40B4-BE49-F238E27FC236}">
                <a16:creationId xmlns:a16="http://schemas.microsoft.com/office/drawing/2014/main" id="{C64E7197-3932-4E9F-8444-CFFA2D97EFD3}"/>
              </a:ext>
            </a:extLst>
          </p:cNvPr>
          <p:cNvSpPr>
            <a:spLocks/>
          </p:cNvSpPr>
          <p:nvPr/>
        </p:nvSpPr>
        <p:spPr bwMode="auto">
          <a:xfrm rot="12029211" flipV="1">
            <a:off x="5908675" y="1976438"/>
            <a:ext cx="249238" cy="328612"/>
          </a:xfrm>
          <a:custGeom>
            <a:avLst/>
            <a:gdLst>
              <a:gd name="T0" fmla="*/ 2147483646 w 17885"/>
              <a:gd name="T1" fmla="*/ 0 h 20936"/>
              <a:gd name="T2" fmla="*/ 2147483646 w 17885"/>
              <a:gd name="T3" fmla="*/ 2147483646 h 20936"/>
              <a:gd name="T4" fmla="*/ 0 w 17885"/>
              <a:gd name="T5" fmla="*/ 2147483646 h 20936"/>
              <a:gd name="T6" fmla="*/ 0 60000 65536"/>
              <a:gd name="T7" fmla="*/ 0 60000 65536"/>
              <a:gd name="T8" fmla="*/ 0 60000 65536"/>
              <a:gd name="T9" fmla="*/ 0 w 17885"/>
              <a:gd name="T10" fmla="*/ 0 h 20936"/>
              <a:gd name="T11" fmla="*/ 17885 w 17885"/>
              <a:gd name="T12" fmla="*/ 20936 h 209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885" h="20936" fill="none" extrusionOk="0">
                <a:moveTo>
                  <a:pt x="5314" y="0"/>
                </a:moveTo>
                <a:cubicBezTo>
                  <a:pt x="10444" y="1302"/>
                  <a:pt x="14917" y="4442"/>
                  <a:pt x="17885" y="8824"/>
                </a:cubicBezTo>
              </a:path>
              <a:path w="17885" h="20936" stroke="0" extrusionOk="0">
                <a:moveTo>
                  <a:pt x="5314" y="0"/>
                </a:moveTo>
                <a:cubicBezTo>
                  <a:pt x="10444" y="1302"/>
                  <a:pt x="14917" y="4442"/>
                  <a:pt x="17885" y="8824"/>
                </a:cubicBezTo>
                <a:lnTo>
                  <a:pt x="0" y="20936"/>
                </a:lnTo>
                <a:lnTo>
                  <a:pt x="5314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80638" name="Object 30">
            <a:extLst>
              <a:ext uri="{FF2B5EF4-FFF2-40B4-BE49-F238E27FC236}">
                <a16:creationId xmlns:a16="http://schemas.microsoft.com/office/drawing/2014/main" id="{27FB754E-41BF-4137-A397-5AAD63957F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0413" y="1631950"/>
          <a:ext cx="2413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86" name="公式" r:id="rId12" imgW="276155" imgH="380864" progId="Equation.3">
                  <p:embed/>
                </p:oleObj>
              </mc:Choice>
              <mc:Fallback>
                <p:oleObj name="公式" r:id="rId12" imgW="276155" imgH="380864" progId="Equation.3">
                  <p:embed/>
                  <p:pic>
                    <p:nvPicPr>
                      <p:cNvPr id="580638" name="Object 30">
                        <a:extLst>
                          <a:ext uri="{FF2B5EF4-FFF2-40B4-BE49-F238E27FC236}">
                            <a16:creationId xmlns:a16="http://schemas.microsoft.com/office/drawing/2014/main" id="{27FB754E-41BF-4137-A397-5AAD63957F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413" y="1631950"/>
                        <a:ext cx="24130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39" name="Text Box 31">
            <a:extLst>
              <a:ext uri="{FF2B5EF4-FFF2-40B4-BE49-F238E27FC236}">
                <a16:creationId xmlns:a16="http://schemas.microsoft.com/office/drawing/2014/main" id="{054AB7BE-DC8E-439E-91C3-6F753E671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4214813"/>
            <a:ext cx="233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FFFF"/>
                </a:solidFill>
              </a:rPr>
              <a:t>2. </a:t>
            </a:r>
            <a:r>
              <a:rPr lang="zh-CN" altLang="en-US">
                <a:solidFill>
                  <a:srgbClr val="00FFFF"/>
                </a:solidFill>
              </a:rPr>
              <a:t>实验现象</a:t>
            </a:r>
          </a:p>
        </p:txBody>
      </p:sp>
      <p:sp>
        <p:nvSpPr>
          <p:cNvPr id="580640" name="Text Box 32">
            <a:extLst>
              <a:ext uri="{FF2B5EF4-FFF2-40B4-BE49-F238E27FC236}">
                <a16:creationId xmlns:a16="http://schemas.microsoft.com/office/drawing/2014/main" id="{6EA5094A-42A7-4C78-8A7C-2A0F0F579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654550"/>
            <a:ext cx="80930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 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单色自然光入射，波晶片厚度均匀，屏幕上光强均匀分布且稳定不变</a:t>
            </a:r>
            <a:endParaRPr lang="en-US" altLang="zh-CN">
              <a:solidFill>
                <a:schemeClr val="bg1"/>
              </a:solidFill>
              <a:ea typeface="仿宋_GB2312"/>
              <a:cs typeface="仿宋_GB2312"/>
              <a:sym typeface="Wingdings" panose="05000000000000000000" pitchFamily="2" charset="2"/>
            </a:endParaRPr>
          </a:p>
        </p:txBody>
      </p:sp>
      <p:graphicFrame>
        <p:nvGraphicFramePr>
          <p:cNvPr id="580641" name="Object 33">
            <a:extLst>
              <a:ext uri="{FF2B5EF4-FFF2-40B4-BE49-F238E27FC236}">
                <a16:creationId xmlns:a16="http://schemas.microsoft.com/office/drawing/2014/main" id="{4FBF4F22-13B7-4266-8410-147D76B58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3" y="2959100"/>
          <a:ext cx="2444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87" name="公式" r:id="rId14" imgW="209486" imgH="266666" progId="Equation.3">
                  <p:embed/>
                </p:oleObj>
              </mc:Choice>
              <mc:Fallback>
                <p:oleObj name="公式" r:id="rId14" imgW="209486" imgH="266666" progId="Equation.3">
                  <p:embed/>
                  <p:pic>
                    <p:nvPicPr>
                      <p:cNvPr id="580641" name="Object 33">
                        <a:extLst>
                          <a:ext uri="{FF2B5EF4-FFF2-40B4-BE49-F238E27FC236}">
                            <a16:creationId xmlns:a16="http://schemas.microsoft.com/office/drawing/2014/main" id="{4FBF4F22-13B7-4266-8410-147D76B585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959100"/>
                        <a:ext cx="2444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42" name="Text Box 34">
            <a:extLst>
              <a:ext uri="{FF2B5EF4-FFF2-40B4-BE49-F238E27FC236}">
                <a16:creationId xmlns:a16="http://schemas.microsoft.com/office/drawing/2014/main" id="{D8DBD253-5FD1-4B7E-9E4B-7F136B85E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627688"/>
            <a:ext cx="8154988" cy="97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bg1"/>
                </a:solidFill>
                <a:ea typeface="仿宋_GB2312"/>
                <a:cs typeface="仿宋_GB2312"/>
              </a:rPr>
              <a:t> 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转动任何一个元件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屏幕上光强发生变化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，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但仍然是</a:t>
            </a:r>
          </a:p>
          <a:p>
            <a:pPr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    均匀分布</a:t>
            </a:r>
            <a:endParaRPr lang="en-US" altLang="zh-CN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580643" name="Text Box 35">
            <a:extLst>
              <a:ext uri="{FF2B5EF4-FFF2-40B4-BE49-F238E27FC236}">
                <a16:creationId xmlns:a16="http://schemas.microsoft.com/office/drawing/2014/main" id="{A717CC80-A962-4CCF-9B23-6A6A25019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88913"/>
            <a:ext cx="5143500" cy="51911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66FF33"/>
                </a:solidFill>
              </a:rPr>
              <a:t>§14.14 </a:t>
            </a:r>
            <a:r>
              <a:rPr lang="en-US" altLang="zh-CN" sz="2800">
                <a:solidFill>
                  <a:srgbClr val="66FF33"/>
                </a:solidFill>
                <a:latin typeface="方正书宋简体"/>
              </a:rPr>
              <a:t> </a:t>
            </a:r>
            <a:r>
              <a:rPr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偏振光的干涉</a:t>
            </a:r>
            <a:endParaRPr lang="zh-CN" altLang="en-US" sz="2800">
              <a:solidFill>
                <a:srgbClr val="FFFF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72" name="灯片编号占位符 1">
            <a:extLst>
              <a:ext uri="{FF2B5EF4-FFF2-40B4-BE49-F238E27FC236}">
                <a16:creationId xmlns:a16="http://schemas.microsoft.com/office/drawing/2014/main" id="{AD6BDE83-05C0-43BB-95D3-88890EEC5D8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833CED-6EAB-4877-A80B-E507009A0F0D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8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8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8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8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8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8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8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8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8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80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80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8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80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8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8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8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8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8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8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8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8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80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8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8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8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8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8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8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8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8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80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80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8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0" grpId="0" animBg="1"/>
      <p:bldP spid="580611" grpId="0" animBg="1"/>
      <p:bldP spid="580613" grpId="0" animBg="1"/>
      <p:bldP spid="580615" grpId="0" animBg="1"/>
      <p:bldP spid="580617" grpId="0" autoUpdateAnimBg="0"/>
      <p:bldP spid="580618" grpId="0"/>
      <p:bldP spid="580619" grpId="0" animBg="1"/>
      <p:bldP spid="580639" grpId="0" autoUpdateAnimBg="0"/>
      <p:bldP spid="580640" grpId="0" autoUpdateAnimBg="0"/>
      <p:bldP spid="580642" grpId="0" autoUpdateAnimBg="0"/>
      <p:bldP spid="58064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Text Box 2">
            <a:extLst>
              <a:ext uri="{FF2B5EF4-FFF2-40B4-BE49-F238E27FC236}">
                <a16:creationId xmlns:a16="http://schemas.microsoft.com/office/drawing/2014/main" id="{67B3FC1C-795F-417A-8953-8030ABAD9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188913"/>
            <a:ext cx="8093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 白光入射，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波晶片厚度均匀，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屏幕上出现单一颜色  </a:t>
            </a:r>
            <a:r>
              <a:rPr lang="en-US" altLang="zh-CN" sz="3200">
                <a:solidFill>
                  <a:srgbClr val="FF0000"/>
                </a:solidFill>
                <a:ea typeface="仿宋_GB2312"/>
                <a:cs typeface="仿宋_GB2312"/>
              </a:rPr>
              <a:t>?</a:t>
            </a:r>
            <a:endParaRPr lang="en-US" altLang="zh-CN" sz="320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581635" name="AutoShape 3">
            <a:extLst>
              <a:ext uri="{FF2B5EF4-FFF2-40B4-BE49-F238E27FC236}">
                <a16:creationId xmlns:a16="http://schemas.microsoft.com/office/drawing/2014/main" id="{0151241B-BA08-41B3-A7FA-ECB41AB9B5E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580733" y="1576264"/>
            <a:ext cx="2554287" cy="1635125"/>
          </a:xfrm>
          <a:prstGeom prst="parallelogram">
            <a:avLst>
              <a:gd name="adj" fmla="val 22788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1636" name="Line 4">
            <a:extLst>
              <a:ext uri="{FF2B5EF4-FFF2-40B4-BE49-F238E27FC236}">
                <a16:creationId xmlns:a16="http://schemas.microsoft.com/office/drawing/2014/main" id="{F2A31C17-ED40-474A-ADF0-03D336872039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008439" y="2283495"/>
            <a:ext cx="1806575" cy="29845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2C86CED0-4F5B-49FD-B1FC-7E604A3609A5}"/>
              </a:ext>
            </a:extLst>
          </p:cNvPr>
          <p:cNvGrpSpPr>
            <a:grpSpLocks/>
          </p:cNvGrpSpPr>
          <p:nvPr/>
        </p:nvGrpSpPr>
        <p:grpSpPr bwMode="auto">
          <a:xfrm>
            <a:off x="5446464" y="1577058"/>
            <a:ext cx="1131888" cy="2016125"/>
            <a:chOff x="3527" y="1389"/>
            <a:chExt cx="713" cy="1270"/>
          </a:xfrm>
        </p:grpSpPr>
        <p:sp>
          <p:nvSpPr>
            <p:cNvPr id="16439" name="Oval 6">
              <a:extLst>
                <a:ext uri="{FF2B5EF4-FFF2-40B4-BE49-F238E27FC236}">
                  <a16:creationId xmlns:a16="http://schemas.microsoft.com/office/drawing/2014/main" id="{4A4720CF-E7FB-46A8-9834-830722F4E2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12701">
              <a:off x="3527" y="1389"/>
              <a:ext cx="713" cy="1270"/>
            </a:xfrm>
            <a:prstGeom prst="ellipse">
              <a:avLst/>
            </a:prstGeom>
            <a:solidFill>
              <a:srgbClr val="009999">
                <a:alpha val="67058"/>
              </a:srgbClr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rgbClr val="009999"/>
              </a:extrusionClr>
              <a:contourClr>
                <a:srgbClr val="009999"/>
              </a:contourClr>
            </a:sp3d>
          </p:spPr>
          <p:txBody>
            <a:bodyPr wrap="none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440" name="Line 7">
              <a:extLst>
                <a:ext uri="{FF2B5EF4-FFF2-40B4-BE49-F238E27FC236}">
                  <a16:creationId xmlns:a16="http://schemas.microsoft.com/office/drawing/2014/main" id="{83A6D52D-2CF4-4823-9F0E-20B6364DB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1" y="1455"/>
              <a:ext cx="499" cy="113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1640" name="Line 8">
            <a:extLst>
              <a:ext uri="{FF2B5EF4-FFF2-40B4-BE49-F238E27FC236}">
                <a16:creationId xmlns:a16="http://schemas.microsoft.com/office/drawing/2014/main" id="{70B18E15-91A0-4772-BD6C-7B202AD0F5A1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049464" y="2577183"/>
            <a:ext cx="1968500" cy="327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41" name="Line 9">
            <a:extLst>
              <a:ext uri="{FF2B5EF4-FFF2-40B4-BE49-F238E27FC236}">
                <a16:creationId xmlns:a16="http://schemas.microsoft.com/office/drawing/2014/main" id="{89FDE055-72E4-4F5C-A489-4E2A9ED85284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4871789" y="2681958"/>
            <a:ext cx="576263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42" name="Rectangle 10">
            <a:extLst>
              <a:ext uri="{FF2B5EF4-FFF2-40B4-BE49-F238E27FC236}">
                <a16:creationId xmlns:a16="http://schemas.microsoft.com/office/drawing/2014/main" id="{869E6E7E-419E-4CD8-9348-25100E540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064" y="2088233"/>
            <a:ext cx="1812925" cy="1741487"/>
          </a:xfrm>
          <a:prstGeom prst="rect">
            <a:avLst/>
          </a:prstGeom>
          <a:solidFill>
            <a:srgbClr val="009999">
              <a:alpha val="63921"/>
            </a:srgbClr>
          </a:solidFill>
          <a:ln w="9525">
            <a:miter lim="800000"/>
            <a:headEnd/>
            <a:tailEnd/>
          </a:ln>
          <a:scene3d>
            <a:camera prst="legacyObliqueTopRight">
              <a:rot lat="0" lon="1799995" rev="0"/>
            </a:camera>
            <a:lightRig rig="legacyFlat3" dir="t"/>
          </a:scene3d>
          <a:sp3d extrusionH="227000" prstMaterial="legacyMatte">
            <a:bevelT w="13500" h="13500" prst="angle"/>
            <a:bevelB w="13500" h="13500" prst="angle"/>
            <a:extrusionClr>
              <a:srgbClr val="009999"/>
            </a:extrusionClr>
            <a:contourClr>
              <a:srgbClr val="0099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1643" name="Line 11">
            <a:extLst>
              <a:ext uri="{FF2B5EF4-FFF2-40B4-BE49-F238E27FC236}">
                <a16:creationId xmlns:a16="http://schemas.microsoft.com/office/drawing/2014/main" id="{BACAC1E6-9214-491F-B591-D4848540C0F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76202" y="2907383"/>
            <a:ext cx="1968500" cy="327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44" name="Line 12">
            <a:extLst>
              <a:ext uri="{FF2B5EF4-FFF2-40B4-BE49-F238E27FC236}">
                <a16:creationId xmlns:a16="http://schemas.microsoft.com/office/drawing/2014/main" id="{E34AC9A9-D47C-44DA-825F-4E6175B12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289" y="1635795"/>
            <a:ext cx="0" cy="25209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45" name="Line 13">
            <a:extLst>
              <a:ext uri="{FF2B5EF4-FFF2-40B4-BE49-F238E27FC236}">
                <a16:creationId xmlns:a16="http://schemas.microsoft.com/office/drawing/2014/main" id="{AFB5EFB9-452C-420A-BC28-C73F30506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202" y="1353220"/>
            <a:ext cx="0" cy="25209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46" name="Line 14">
            <a:extLst>
              <a:ext uri="{FF2B5EF4-FFF2-40B4-BE49-F238E27FC236}">
                <a16:creationId xmlns:a16="http://schemas.microsoft.com/office/drawing/2014/main" id="{C7A1B457-1596-4E67-89BE-C54859F29D49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2782639" y="3034383"/>
            <a:ext cx="576263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47" name="Line 15">
            <a:extLst>
              <a:ext uri="{FF2B5EF4-FFF2-40B4-BE49-F238E27FC236}">
                <a16:creationId xmlns:a16="http://schemas.microsoft.com/office/drawing/2014/main" id="{967DA85F-3AD6-4B66-A53C-5E4AD1612DD8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160000">
            <a:off x="5284539" y="1980283"/>
            <a:ext cx="1511300" cy="12096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1648" name="Object 16">
            <a:extLst>
              <a:ext uri="{FF2B5EF4-FFF2-40B4-BE49-F238E27FC236}">
                <a16:creationId xmlns:a16="http://schemas.microsoft.com/office/drawing/2014/main" id="{18881B51-0E42-47B1-A644-E5546EB3098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88914" y="1826295"/>
          <a:ext cx="254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38" name="公式" r:id="rId4" imgW="228753" imgH="342900" progId="Equation.3">
                  <p:embed/>
                </p:oleObj>
              </mc:Choice>
              <mc:Fallback>
                <p:oleObj name="公式" r:id="rId4" imgW="228753" imgH="342900" progId="Equation.3">
                  <p:embed/>
                  <p:pic>
                    <p:nvPicPr>
                      <p:cNvPr id="581648" name="Object 16">
                        <a:extLst>
                          <a:ext uri="{FF2B5EF4-FFF2-40B4-BE49-F238E27FC236}">
                            <a16:creationId xmlns:a16="http://schemas.microsoft.com/office/drawing/2014/main" id="{18881B51-0E42-47B1-A644-E5546EB309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914" y="1826295"/>
                        <a:ext cx="254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1649" name="Object 17">
            <a:extLst>
              <a:ext uri="{FF2B5EF4-FFF2-40B4-BE49-F238E27FC236}">
                <a16:creationId xmlns:a16="http://schemas.microsoft.com/office/drawing/2014/main" id="{EA19146E-4CBF-4522-8457-1D617F5F5DE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92577" y="1326233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39" name="公式" r:id="rId6" imgW="247714" imgH="342900" progId="Equation.3">
                  <p:embed/>
                </p:oleObj>
              </mc:Choice>
              <mc:Fallback>
                <p:oleObj name="公式" r:id="rId6" imgW="247714" imgH="342900" progId="Equation.3">
                  <p:embed/>
                  <p:pic>
                    <p:nvPicPr>
                      <p:cNvPr id="581649" name="Object 17">
                        <a:extLst>
                          <a:ext uri="{FF2B5EF4-FFF2-40B4-BE49-F238E27FC236}">
                            <a16:creationId xmlns:a16="http://schemas.microsoft.com/office/drawing/2014/main" id="{EA19146E-4CBF-4522-8457-1D617F5F5D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577" y="1326233"/>
                        <a:ext cx="279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1650" name="Object 18">
            <a:extLst>
              <a:ext uri="{FF2B5EF4-FFF2-40B4-BE49-F238E27FC236}">
                <a16:creationId xmlns:a16="http://schemas.microsoft.com/office/drawing/2014/main" id="{1A1F948F-A008-4C92-AB01-79C9CA1E31C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2014" y="1586583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40" name="公式" r:id="rId8" imgW="209486" imgH="247684" progId="Equation.3">
                  <p:embed/>
                </p:oleObj>
              </mc:Choice>
              <mc:Fallback>
                <p:oleObj name="公式" r:id="rId8" imgW="209486" imgH="247684" progId="Equation.3">
                  <p:embed/>
                  <p:pic>
                    <p:nvPicPr>
                      <p:cNvPr id="581650" name="Object 18">
                        <a:extLst>
                          <a:ext uri="{FF2B5EF4-FFF2-40B4-BE49-F238E27FC236}">
                            <a16:creationId xmlns:a16="http://schemas.microsoft.com/office/drawing/2014/main" id="{1A1F948F-A008-4C92-AB01-79C9CA1E31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014" y="1586583"/>
                        <a:ext cx="241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1651" name="Object 19">
            <a:extLst>
              <a:ext uri="{FF2B5EF4-FFF2-40B4-BE49-F238E27FC236}">
                <a16:creationId xmlns:a16="http://schemas.microsoft.com/office/drawing/2014/main" id="{7874E618-8940-43B0-94B1-E50A76FC973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6664" y="2953420"/>
          <a:ext cx="2444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41" name="公式" r:id="rId10" imgW="209486" imgH="266666" progId="Equation.3">
                  <p:embed/>
                </p:oleObj>
              </mc:Choice>
              <mc:Fallback>
                <p:oleObj name="公式" r:id="rId10" imgW="209486" imgH="266666" progId="Equation.3">
                  <p:embed/>
                  <p:pic>
                    <p:nvPicPr>
                      <p:cNvPr id="581651" name="Object 19">
                        <a:extLst>
                          <a:ext uri="{FF2B5EF4-FFF2-40B4-BE49-F238E27FC236}">
                            <a16:creationId xmlns:a16="http://schemas.microsoft.com/office/drawing/2014/main" id="{7874E618-8940-43B0-94B1-E50A76FC97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664" y="2953420"/>
                        <a:ext cx="2444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1652" name="AutoShape 20">
            <a:extLst>
              <a:ext uri="{FF2B5EF4-FFF2-40B4-BE49-F238E27FC236}">
                <a16:creationId xmlns:a16="http://schemas.microsoft.com/office/drawing/2014/main" id="{1B4342E5-F3A8-4003-BB8A-811F526ABCB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590258" y="1598489"/>
            <a:ext cx="2554287" cy="1635125"/>
          </a:xfrm>
          <a:prstGeom prst="parallelogram">
            <a:avLst>
              <a:gd name="adj" fmla="val 22788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1653" name="AutoShape 21">
            <a:extLst>
              <a:ext uri="{FF2B5EF4-FFF2-40B4-BE49-F238E27FC236}">
                <a16:creationId xmlns:a16="http://schemas.microsoft.com/office/drawing/2014/main" id="{C1F846B0-B577-43B7-A651-34EF05A8546E}"/>
              </a:ext>
            </a:extLst>
          </p:cNvPr>
          <p:cNvSpPr>
            <a:spLocks noChangeArrowheads="1"/>
          </p:cNvSpPr>
          <p:nvPr/>
        </p:nvSpPr>
        <p:spPr bwMode="auto">
          <a:xfrm rot="21423580">
            <a:off x="2933452" y="1396083"/>
            <a:ext cx="2379662" cy="3016250"/>
          </a:xfrm>
          <a:prstGeom prst="parallelogram">
            <a:avLst>
              <a:gd name="adj" fmla="val 5981"/>
            </a:avLst>
          </a:prstGeom>
          <a:solidFill>
            <a:srgbClr val="001F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1654" name="Line 22">
            <a:extLst>
              <a:ext uri="{FF2B5EF4-FFF2-40B4-BE49-F238E27FC236}">
                <a16:creationId xmlns:a16="http://schemas.microsoft.com/office/drawing/2014/main" id="{99517455-CF8A-4D49-90C4-858646D39481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049464" y="2580358"/>
            <a:ext cx="1968500" cy="327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55" name="Freeform 23">
            <a:extLst>
              <a:ext uri="{FF2B5EF4-FFF2-40B4-BE49-F238E27FC236}">
                <a16:creationId xmlns:a16="http://schemas.microsoft.com/office/drawing/2014/main" id="{AE267594-9F85-49C2-A161-68EE7B057CF4}"/>
              </a:ext>
            </a:extLst>
          </p:cNvPr>
          <p:cNvSpPr>
            <a:spLocks/>
          </p:cNvSpPr>
          <p:nvPr/>
        </p:nvSpPr>
        <p:spPr bwMode="auto">
          <a:xfrm>
            <a:off x="3444627" y="1785020"/>
            <a:ext cx="1552575" cy="2114550"/>
          </a:xfrm>
          <a:custGeom>
            <a:avLst/>
            <a:gdLst>
              <a:gd name="T0" fmla="*/ 2147483646 w 978"/>
              <a:gd name="T1" fmla="*/ 2147483646 h 1332"/>
              <a:gd name="T2" fmla="*/ 2147483646 w 978"/>
              <a:gd name="T3" fmla="*/ 2147483646 h 1332"/>
              <a:gd name="T4" fmla="*/ 2147483646 w 978"/>
              <a:gd name="T5" fmla="*/ 2147483646 h 1332"/>
              <a:gd name="T6" fmla="*/ 2147483646 w 978"/>
              <a:gd name="T7" fmla="*/ 2147483646 h 1332"/>
              <a:gd name="T8" fmla="*/ 2147483646 w 978"/>
              <a:gd name="T9" fmla="*/ 2147483646 h 1332"/>
              <a:gd name="T10" fmla="*/ 2147483646 w 978"/>
              <a:gd name="T11" fmla="*/ 2147483646 h 1332"/>
              <a:gd name="T12" fmla="*/ 2147483646 w 978"/>
              <a:gd name="T13" fmla="*/ 2147483646 h 13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78"/>
              <a:gd name="T22" fmla="*/ 0 h 1332"/>
              <a:gd name="T23" fmla="*/ 978 w 978"/>
              <a:gd name="T24" fmla="*/ 1332 h 13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78" h="1332">
                <a:moveTo>
                  <a:pt x="780" y="1320"/>
                </a:moveTo>
                <a:cubicBezTo>
                  <a:pt x="792" y="1326"/>
                  <a:pt x="978" y="1200"/>
                  <a:pt x="972" y="1194"/>
                </a:cubicBezTo>
                <a:cubicBezTo>
                  <a:pt x="978" y="1200"/>
                  <a:pt x="780" y="234"/>
                  <a:pt x="792" y="246"/>
                </a:cubicBezTo>
                <a:cubicBezTo>
                  <a:pt x="780" y="252"/>
                  <a:pt x="780" y="1320"/>
                  <a:pt x="786" y="1314"/>
                </a:cubicBezTo>
                <a:cubicBezTo>
                  <a:pt x="774" y="1332"/>
                  <a:pt x="12" y="1128"/>
                  <a:pt x="6" y="1116"/>
                </a:cubicBezTo>
                <a:cubicBezTo>
                  <a:pt x="0" y="1122"/>
                  <a:pt x="24" y="18"/>
                  <a:pt x="18" y="12"/>
                </a:cubicBezTo>
                <a:cubicBezTo>
                  <a:pt x="30" y="0"/>
                  <a:pt x="792" y="240"/>
                  <a:pt x="792" y="228"/>
                </a:cubicBezTo>
              </a:path>
            </a:pathLst>
          </a:custGeom>
          <a:solidFill>
            <a:srgbClr val="009999">
              <a:alpha val="65881"/>
            </a:srgb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1656" name="Line 24">
            <a:extLst>
              <a:ext uri="{FF2B5EF4-FFF2-40B4-BE49-F238E27FC236}">
                <a16:creationId xmlns:a16="http://schemas.microsoft.com/office/drawing/2014/main" id="{20B42BE9-44EC-47EE-BF2E-F13CC4D109B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76202" y="2910558"/>
            <a:ext cx="1968500" cy="327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57" name="Line 25">
            <a:extLst>
              <a:ext uri="{FF2B5EF4-FFF2-40B4-BE49-F238E27FC236}">
                <a16:creationId xmlns:a16="http://schemas.microsoft.com/office/drawing/2014/main" id="{D8F85EE9-A222-4262-AAC3-4BA72EDFD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289" y="1638970"/>
            <a:ext cx="0" cy="2520950"/>
          </a:xfrm>
          <a:prstGeom prst="line">
            <a:avLst/>
          </a:prstGeom>
          <a:noFill/>
          <a:ln w="25400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1658" name="Object 26">
            <a:extLst>
              <a:ext uri="{FF2B5EF4-FFF2-40B4-BE49-F238E27FC236}">
                <a16:creationId xmlns:a16="http://schemas.microsoft.com/office/drawing/2014/main" id="{CEC3372B-AAF7-4F59-A378-0E1885B0FE6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32014" y="1700883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42" name="公式" r:id="rId12" imgW="209486" imgH="247684" progId="Equation.3">
                  <p:embed/>
                </p:oleObj>
              </mc:Choice>
              <mc:Fallback>
                <p:oleObj name="公式" r:id="rId12" imgW="209486" imgH="247684" progId="Equation.3">
                  <p:embed/>
                  <p:pic>
                    <p:nvPicPr>
                      <p:cNvPr id="581658" name="Object 26">
                        <a:extLst>
                          <a:ext uri="{FF2B5EF4-FFF2-40B4-BE49-F238E27FC236}">
                            <a16:creationId xmlns:a16="http://schemas.microsoft.com/office/drawing/2014/main" id="{CEC3372B-AAF7-4F59-A378-0E1885B0F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014" y="1700883"/>
                        <a:ext cx="241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1659" name="Object 27">
            <a:extLst>
              <a:ext uri="{FF2B5EF4-FFF2-40B4-BE49-F238E27FC236}">
                <a16:creationId xmlns:a16="http://schemas.microsoft.com/office/drawing/2014/main" id="{99A768F8-EF97-497C-A4AB-FA5A8B1D8BA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6664" y="2947070"/>
          <a:ext cx="2444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43" name="公式" r:id="rId14" imgW="209486" imgH="266666" progId="Equation.3">
                  <p:embed/>
                </p:oleObj>
              </mc:Choice>
              <mc:Fallback>
                <p:oleObj name="公式" r:id="rId14" imgW="209486" imgH="266666" progId="Equation.3">
                  <p:embed/>
                  <p:pic>
                    <p:nvPicPr>
                      <p:cNvPr id="581659" name="Object 27">
                        <a:extLst>
                          <a:ext uri="{FF2B5EF4-FFF2-40B4-BE49-F238E27FC236}">
                            <a16:creationId xmlns:a16="http://schemas.microsoft.com/office/drawing/2014/main" id="{99A768F8-EF97-497C-A4AB-FA5A8B1D8B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664" y="2947070"/>
                        <a:ext cx="2444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1660" name="Text Box 28">
            <a:extLst>
              <a:ext uri="{FF2B5EF4-FFF2-40B4-BE49-F238E27FC236}">
                <a16:creationId xmlns:a16="http://schemas.microsoft.com/office/drawing/2014/main" id="{6D34D541-041C-4964-8FE8-1FDE54EC6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928688"/>
            <a:ext cx="751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 转动任何一个元件，屏幕上颜色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变化</a:t>
            </a:r>
            <a:endParaRPr lang="en-US" altLang="zh-CN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581661" name="Rectangle 29">
            <a:extLst>
              <a:ext uri="{FF2B5EF4-FFF2-40B4-BE49-F238E27FC236}">
                <a16:creationId xmlns:a16="http://schemas.microsoft.com/office/drawing/2014/main" id="{4AF7C2B7-540D-4C3E-84CB-26604A55F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4468813"/>
            <a:ext cx="817245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6088" indent="-446088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白光照射时，由于某种颜色干涉相消</a:t>
            </a:r>
            <a:r>
              <a:rPr lang="en-US" altLang="zh-CN" dirty="0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而在屏上呈现它的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互补色，这叫（</a:t>
            </a:r>
            <a:r>
              <a:rPr lang="zh-CN" altLang="en-US" dirty="0">
                <a:solidFill>
                  <a:srgbClr val="66FFFF"/>
                </a:solidFill>
                <a:latin typeface="仿宋_GB2312"/>
                <a:ea typeface="仿宋_GB2312"/>
                <a:cs typeface="仿宋_GB2312"/>
              </a:rPr>
              <a:t>显</a:t>
            </a:r>
            <a:r>
              <a:rPr lang="zh-CN" altLang="en-US" dirty="0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）</a:t>
            </a:r>
            <a:r>
              <a:rPr lang="zh-CN" altLang="en-US" dirty="0">
                <a:solidFill>
                  <a:srgbClr val="66FFFF"/>
                </a:solidFill>
                <a:latin typeface="仿宋_GB2312"/>
                <a:ea typeface="仿宋_GB2312"/>
                <a:cs typeface="仿宋_GB2312"/>
              </a:rPr>
              <a:t>色偏振</a:t>
            </a:r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1662" name="Text Box 30">
            <a:extLst>
              <a:ext uri="{FF2B5EF4-FFF2-40B4-BE49-F238E27FC236}">
                <a16:creationId xmlns:a16="http://schemas.microsoft.com/office/drawing/2014/main" id="{CE5901EF-4EA3-40E8-A727-24D3B084F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456238"/>
            <a:ext cx="5903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¬"/>
            </a:pPr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 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单色光入射</a:t>
            </a:r>
            <a:r>
              <a:rPr lang="zh-CN" altLang="en-US">
                <a:solidFill>
                  <a:schemeClr val="bg1"/>
                </a:solidFill>
                <a:sym typeface="Wingdings" panose="05000000000000000000" pitchFamily="2" charset="2"/>
              </a:rPr>
              <a:t>，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波晶片厚度不均匀，</a:t>
            </a:r>
          </a:p>
        </p:txBody>
      </p:sp>
      <p:sp>
        <p:nvSpPr>
          <p:cNvPr id="581663" name="Text Box 31">
            <a:extLst>
              <a:ext uri="{FF2B5EF4-FFF2-40B4-BE49-F238E27FC236}">
                <a16:creationId xmlns:a16="http://schemas.microsoft.com/office/drawing/2014/main" id="{F67166B5-3C32-4607-9A6C-90088E081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5984875"/>
            <a:ext cx="8601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¬"/>
            </a:pPr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 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白光入射</a:t>
            </a:r>
            <a:r>
              <a:rPr lang="zh-CN" altLang="en-US">
                <a:solidFill>
                  <a:schemeClr val="bg1"/>
                </a:solidFill>
                <a:sym typeface="Wingdings" panose="05000000000000000000" pitchFamily="2" charset="2"/>
              </a:rPr>
              <a:t>，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波晶片厚度不均匀，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屏幕上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出现彩色干涉图</a:t>
            </a:r>
            <a:r>
              <a:rPr lang="en-US" altLang="zh-CN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81664" name="Line 32">
            <a:extLst>
              <a:ext uri="{FF2B5EF4-FFF2-40B4-BE49-F238E27FC236}">
                <a16:creationId xmlns:a16="http://schemas.microsoft.com/office/drawing/2014/main" id="{529957AA-FF13-42B1-8737-6588D344C5FA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2804864" y="3024858"/>
            <a:ext cx="576263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E7F53274-2293-423E-816A-1ECCCAA96C9F}"/>
              </a:ext>
            </a:extLst>
          </p:cNvPr>
          <p:cNvGrpSpPr>
            <a:grpSpLocks/>
          </p:cNvGrpSpPr>
          <p:nvPr/>
        </p:nvGrpSpPr>
        <p:grpSpPr bwMode="auto">
          <a:xfrm>
            <a:off x="1487239" y="2210470"/>
            <a:ext cx="1131888" cy="2016125"/>
            <a:chOff x="1033" y="1797"/>
            <a:chExt cx="713" cy="1270"/>
          </a:xfrm>
        </p:grpSpPr>
        <p:sp>
          <p:nvSpPr>
            <p:cNvPr id="16437" name="Oval 34">
              <a:extLst>
                <a:ext uri="{FF2B5EF4-FFF2-40B4-BE49-F238E27FC236}">
                  <a16:creationId xmlns:a16="http://schemas.microsoft.com/office/drawing/2014/main" id="{B4A896F4-05C6-4463-A0C0-4E0E22FA09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12701">
              <a:off x="1033" y="1797"/>
              <a:ext cx="713" cy="1270"/>
            </a:xfrm>
            <a:prstGeom prst="ellipse">
              <a:avLst/>
            </a:prstGeom>
            <a:solidFill>
              <a:srgbClr val="009999">
                <a:alpha val="67058"/>
              </a:srgbClr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227000" prstMaterial="legacyMatte">
              <a:bevelT w="13500" h="13500" prst="angle"/>
              <a:bevelB w="13500" h="13500" prst="angle"/>
              <a:extrusionClr>
                <a:srgbClr val="009999"/>
              </a:extrusionClr>
              <a:contourClr>
                <a:srgbClr val="009999"/>
              </a:contourClr>
            </a:sp3d>
          </p:spPr>
          <p:txBody>
            <a:bodyPr wrap="none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438" name="Line 35">
              <a:extLst>
                <a:ext uri="{FF2B5EF4-FFF2-40B4-BE49-F238E27FC236}">
                  <a16:creationId xmlns:a16="http://schemas.microsoft.com/office/drawing/2014/main" id="{BDE2A2EF-DC5F-4542-87AD-FCB72DDDA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0" y="2306"/>
              <a:ext cx="635" cy="2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1668" name="Line 36">
            <a:extLst>
              <a:ext uri="{FF2B5EF4-FFF2-40B4-BE49-F238E27FC236}">
                <a16:creationId xmlns:a16="http://schemas.microsoft.com/office/drawing/2014/main" id="{619117E5-395F-49A3-9DCE-FBB628850A9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87139" y="3232820"/>
            <a:ext cx="1385888" cy="230188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69" name="Line 37">
            <a:extLst>
              <a:ext uri="{FF2B5EF4-FFF2-40B4-BE49-F238E27FC236}">
                <a16:creationId xmlns:a16="http://schemas.microsoft.com/office/drawing/2014/main" id="{245CAD69-6D75-4D45-9510-DEB01D59E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7789" y="1835820"/>
            <a:ext cx="0" cy="25209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70" name="Line 38">
            <a:extLst>
              <a:ext uri="{FF2B5EF4-FFF2-40B4-BE49-F238E27FC236}">
                <a16:creationId xmlns:a16="http://schemas.microsoft.com/office/drawing/2014/main" id="{8529F9AF-1DF9-43F8-9278-724E3E948E0A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160000">
            <a:off x="1325314" y="2632745"/>
            <a:ext cx="1511300" cy="12096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71" name="Line 39">
            <a:extLst>
              <a:ext uri="{FF2B5EF4-FFF2-40B4-BE49-F238E27FC236}">
                <a16:creationId xmlns:a16="http://schemas.microsoft.com/office/drawing/2014/main" id="{B1F520E7-1EB3-4431-AC4F-9B2C5D03CDA6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695077" y="3372520"/>
            <a:ext cx="576262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68">
            <a:extLst>
              <a:ext uri="{FF2B5EF4-FFF2-40B4-BE49-F238E27FC236}">
                <a16:creationId xmlns:a16="http://schemas.microsoft.com/office/drawing/2014/main" id="{44461A78-86D3-4502-B08B-68AE2E365809}"/>
              </a:ext>
            </a:extLst>
          </p:cNvPr>
          <p:cNvGrpSpPr>
            <a:grpSpLocks/>
          </p:cNvGrpSpPr>
          <p:nvPr/>
        </p:nvGrpSpPr>
        <p:grpSpPr bwMode="auto">
          <a:xfrm>
            <a:off x="6962527" y="908720"/>
            <a:ext cx="1785937" cy="3071813"/>
            <a:chOff x="4656" y="816"/>
            <a:chExt cx="960" cy="1920"/>
          </a:xfrm>
        </p:grpSpPr>
        <p:sp>
          <p:nvSpPr>
            <p:cNvPr id="16428" name="Rectangle 69">
              <a:extLst>
                <a:ext uri="{FF2B5EF4-FFF2-40B4-BE49-F238E27FC236}">
                  <a16:creationId xmlns:a16="http://schemas.microsoft.com/office/drawing/2014/main" id="{A721520B-16D7-4FA9-A9BD-4CD3A5722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816"/>
              <a:ext cx="960" cy="19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6429" name="Group 70">
              <a:extLst>
                <a:ext uri="{FF2B5EF4-FFF2-40B4-BE49-F238E27FC236}">
                  <a16:creationId xmlns:a16="http://schemas.microsoft.com/office/drawing/2014/main" id="{8D5155B1-BC34-4DA4-8F84-CAB39225B9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1" y="1307"/>
              <a:ext cx="816" cy="984"/>
              <a:chOff x="3973" y="1355"/>
              <a:chExt cx="816" cy="984"/>
            </a:xfrm>
          </p:grpSpPr>
          <p:sp>
            <p:nvSpPr>
              <p:cNvPr id="16430" name="Rectangle 71">
                <a:extLst>
                  <a:ext uri="{FF2B5EF4-FFF2-40B4-BE49-F238E27FC236}">
                    <a16:creationId xmlns:a16="http://schemas.microsoft.com/office/drawing/2014/main" id="{D01DDD46-E2FC-4EE9-B35B-E2760CFEA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1355"/>
                <a:ext cx="816" cy="144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76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1" name="Rectangle 72">
                <a:extLst>
                  <a:ext uri="{FF2B5EF4-FFF2-40B4-BE49-F238E27FC236}">
                    <a16:creationId xmlns:a16="http://schemas.microsoft.com/office/drawing/2014/main" id="{F9F9575F-85BB-4098-85A1-3F08B33FF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1492"/>
                <a:ext cx="816" cy="144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76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2" name="Rectangle 73">
                <a:extLst>
                  <a:ext uri="{FF2B5EF4-FFF2-40B4-BE49-F238E27FC236}">
                    <a16:creationId xmlns:a16="http://schemas.microsoft.com/office/drawing/2014/main" id="{DFC6490A-D8D1-442A-B474-DD0F0B1C2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1636"/>
                <a:ext cx="816" cy="144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76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3" name="Rectangle 74">
                <a:extLst>
                  <a:ext uri="{FF2B5EF4-FFF2-40B4-BE49-F238E27FC236}">
                    <a16:creationId xmlns:a16="http://schemas.microsoft.com/office/drawing/2014/main" id="{7F5D043B-517B-435A-9D93-5090AF978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1770"/>
                <a:ext cx="816" cy="144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76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4" name="Rectangle 75">
                <a:extLst>
                  <a:ext uri="{FF2B5EF4-FFF2-40B4-BE49-F238E27FC236}">
                    <a16:creationId xmlns:a16="http://schemas.microsoft.com/office/drawing/2014/main" id="{6030F7AE-A39F-48A9-A969-CBB7A2B15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1914"/>
                <a:ext cx="816" cy="144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76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5" name="Rectangle 76">
                <a:extLst>
                  <a:ext uri="{FF2B5EF4-FFF2-40B4-BE49-F238E27FC236}">
                    <a16:creationId xmlns:a16="http://schemas.microsoft.com/office/drawing/2014/main" id="{241C1527-87C5-45C8-8462-2ED371276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2195"/>
                <a:ext cx="816" cy="144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76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6" name="Rectangle 77">
                <a:extLst>
                  <a:ext uri="{FF2B5EF4-FFF2-40B4-BE49-F238E27FC236}">
                    <a16:creationId xmlns:a16="http://schemas.microsoft.com/office/drawing/2014/main" id="{7C03BB62-1491-4065-9BC9-4BD5EAD4A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3" y="2057"/>
                <a:ext cx="816" cy="144"/>
              </a:xfrm>
              <a:prstGeom prst="rect">
                <a:avLst/>
              </a:prstGeom>
              <a:gradFill rotWithShape="0">
                <a:gsLst>
                  <a:gs pos="0">
                    <a:srgbClr val="FF0000"/>
                  </a:gs>
                  <a:gs pos="50000">
                    <a:srgbClr val="76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581672" name="Line 40">
            <a:extLst>
              <a:ext uri="{FF2B5EF4-FFF2-40B4-BE49-F238E27FC236}">
                <a16:creationId xmlns:a16="http://schemas.microsoft.com/office/drawing/2014/main" id="{26022145-C8DD-49D2-95A7-AA916B9BE563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6918077" y="2345408"/>
            <a:ext cx="576262" cy="730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1673" name="Rectangle 41">
            <a:extLst>
              <a:ext uri="{FF2B5EF4-FFF2-40B4-BE49-F238E27FC236}">
                <a16:creationId xmlns:a16="http://schemas.microsoft.com/office/drawing/2014/main" id="{632FA0BD-6461-4560-B1D4-4E1417BB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5456238"/>
            <a:ext cx="317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  <a:sym typeface="Wingdings" panose="05000000000000000000" pitchFamily="2" charset="2"/>
              </a:rPr>
              <a:t>屏幕上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出现干涉图样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6423" name="灯片编号占位符 1">
            <a:extLst>
              <a:ext uri="{FF2B5EF4-FFF2-40B4-BE49-F238E27FC236}">
                <a16:creationId xmlns:a16="http://schemas.microsoft.com/office/drawing/2014/main" id="{0B22CC2D-3F87-4C4E-BEB5-E288C9EFE41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0C822D-DBC0-4E03-AD4D-FC49C50B3C95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53" name="Arc 27">
            <a:extLst>
              <a:ext uri="{FF2B5EF4-FFF2-40B4-BE49-F238E27FC236}">
                <a16:creationId xmlns:a16="http://schemas.microsoft.com/office/drawing/2014/main" id="{F5032446-023F-4BD0-B851-401DCC55BC0A}"/>
              </a:ext>
            </a:extLst>
          </p:cNvPr>
          <p:cNvSpPr>
            <a:spLocks/>
          </p:cNvSpPr>
          <p:nvPr/>
        </p:nvSpPr>
        <p:spPr bwMode="auto">
          <a:xfrm rot="14381396" flipV="1">
            <a:off x="2017464" y="2859758"/>
            <a:ext cx="301625" cy="339725"/>
          </a:xfrm>
          <a:custGeom>
            <a:avLst/>
            <a:gdLst>
              <a:gd name="T0" fmla="*/ 0 w 21618"/>
              <a:gd name="T1" fmla="*/ 2147483646 h 21600"/>
              <a:gd name="T2" fmla="*/ 2147483646 w 21618"/>
              <a:gd name="T3" fmla="*/ 2147483646 h 21600"/>
              <a:gd name="T4" fmla="*/ 2147483646 w 21618"/>
              <a:gd name="T5" fmla="*/ 2147483646 h 21600"/>
              <a:gd name="T6" fmla="*/ 0 60000 65536"/>
              <a:gd name="T7" fmla="*/ 0 60000 65536"/>
              <a:gd name="T8" fmla="*/ 0 60000 65536"/>
              <a:gd name="T9" fmla="*/ 0 w 21618"/>
              <a:gd name="T10" fmla="*/ 0 h 21600"/>
              <a:gd name="T11" fmla="*/ 21618 w 216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18" h="21600" fill="none" extrusionOk="0">
                <a:moveTo>
                  <a:pt x="-1" y="186"/>
                </a:moveTo>
                <a:cubicBezTo>
                  <a:pt x="939" y="62"/>
                  <a:pt x="1885" y="-1"/>
                  <a:pt x="2833" y="0"/>
                </a:cubicBezTo>
                <a:cubicBezTo>
                  <a:pt x="10606" y="0"/>
                  <a:pt x="17780" y="4177"/>
                  <a:pt x="21618" y="10937"/>
                </a:cubicBezTo>
              </a:path>
              <a:path w="21618" h="21600" stroke="0" extrusionOk="0">
                <a:moveTo>
                  <a:pt x="-1" y="186"/>
                </a:moveTo>
                <a:cubicBezTo>
                  <a:pt x="939" y="62"/>
                  <a:pt x="1885" y="-1"/>
                  <a:pt x="2833" y="0"/>
                </a:cubicBezTo>
                <a:cubicBezTo>
                  <a:pt x="10606" y="0"/>
                  <a:pt x="17780" y="4177"/>
                  <a:pt x="21618" y="10937"/>
                </a:cubicBezTo>
                <a:lnTo>
                  <a:pt x="2833" y="21600"/>
                </a:lnTo>
                <a:lnTo>
                  <a:pt x="-1" y="186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" name="Object 28">
            <a:extLst>
              <a:ext uri="{FF2B5EF4-FFF2-40B4-BE49-F238E27FC236}">
                <a16:creationId xmlns:a16="http://schemas.microsoft.com/office/drawing/2014/main" id="{21D7F08B-7F82-407A-8D46-17481E86DE7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41302" y="2670845"/>
          <a:ext cx="220662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44" name="公式" r:id="rId16" imgW="247714" imgH="209414" progId="Equation.3">
                  <p:embed/>
                </p:oleObj>
              </mc:Choice>
              <mc:Fallback>
                <p:oleObj name="公式" r:id="rId16" imgW="247714" imgH="209414" progId="Equation.3">
                  <p:embed/>
                  <p:pic>
                    <p:nvPicPr>
                      <p:cNvPr id="54" name="Object 28">
                        <a:extLst>
                          <a:ext uri="{FF2B5EF4-FFF2-40B4-BE49-F238E27FC236}">
                            <a16:creationId xmlns:a16="http://schemas.microsoft.com/office/drawing/2014/main" id="{21D7F08B-7F82-407A-8D46-17481E86DE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302" y="2670845"/>
                        <a:ext cx="220662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Arc 29">
            <a:extLst>
              <a:ext uri="{FF2B5EF4-FFF2-40B4-BE49-F238E27FC236}">
                <a16:creationId xmlns:a16="http://schemas.microsoft.com/office/drawing/2014/main" id="{38361F31-3BAF-4DEF-9288-7BE8E82E4C7D}"/>
              </a:ext>
            </a:extLst>
          </p:cNvPr>
          <p:cNvSpPr>
            <a:spLocks/>
          </p:cNvSpPr>
          <p:nvPr/>
        </p:nvSpPr>
        <p:spPr bwMode="auto">
          <a:xfrm rot="12029211" flipV="1">
            <a:off x="5806827" y="2054895"/>
            <a:ext cx="249237" cy="328613"/>
          </a:xfrm>
          <a:custGeom>
            <a:avLst/>
            <a:gdLst>
              <a:gd name="T0" fmla="*/ 2147483646 w 17885"/>
              <a:gd name="T1" fmla="*/ 0 h 20936"/>
              <a:gd name="T2" fmla="*/ 2147483646 w 17885"/>
              <a:gd name="T3" fmla="*/ 2147483646 h 20936"/>
              <a:gd name="T4" fmla="*/ 0 w 17885"/>
              <a:gd name="T5" fmla="*/ 2147483646 h 20936"/>
              <a:gd name="T6" fmla="*/ 0 60000 65536"/>
              <a:gd name="T7" fmla="*/ 0 60000 65536"/>
              <a:gd name="T8" fmla="*/ 0 60000 65536"/>
              <a:gd name="T9" fmla="*/ 0 w 17885"/>
              <a:gd name="T10" fmla="*/ 0 h 20936"/>
              <a:gd name="T11" fmla="*/ 17885 w 17885"/>
              <a:gd name="T12" fmla="*/ 20936 h 209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885" h="20936" fill="none" extrusionOk="0">
                <a:moveTo>
                  <a:pt x="5314" y="0"/>
                </a:moveTo>
                <a:cubicBezTo>
                  <a:pt x="10444" y="1302"/>
                  <a:pt x="14917" y="4442"/>
                  <a:pt x="17885" y="8824"/>
                </a:cubicBezTo>
              </a:path>
              <a:path w="17885" h="20936" stroke="0" extrusionOk="0">
                <a:moveTo>
                  <a:pt x="5314" y="0"/>
                </a:moveTo>
                <a:cubicBezTo>
                  <a:pt x="10444" y="1302"/>
                  <a:pt x="14917" y="4442"/>
                  <a:pt x="17885" y="8824"/>
                </a:cubicBezTo>
                <a:lnTo>
                  <a:pt x="0" y="20936"/>
                </a:lnTo>
                <a:lnTo>
                  <a:pt x="5314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6" name="Object 30">
            <a:extLst>
              <a:ext uri="{FF2B5EF4-FFF2-40B4-BE49-F238E27FC236}">
                <a16:creationId xmlns:a16="http://schemas.microsoft.com/office/drawing/2014/main" id="{DA71C6EA-3FF2-4B35-858F-503D2305FCE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721102" y="1631033"/>
          <a:ext cx="2413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545" name="公式" r:id="rId18" imgW="276155" imgH="380864" progId="Equation.3">
                  <p:embed/>
                </p:oleObj>
              </mc:Choice>
              <mc:Fallback>
                <p:oleObj name="公式" r:id="rId18" imgW="276155" imgH="380864" progId="Equation.3">
                  <p:embed/>
                  <p:pic>
                    <p:nvPicPr>
                      <p:cNvPr id="56" name="Object 30">
                        <a:extLst>
                          <a:ext uri="{FF2B5EF4-FFF2-40B4-BE49-F238E27FC236}">
                            <a16:creationId xmlns:a16="http://schemas.microsoft.com/office/drawing/2014/main" id="{DA71C6EA-3FF2-4B35-858F-503D2305FC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102" y="1631033"/>
                        <a:ext cx="2413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500" fill="hold"/>
                                        <p:tgtEl>
                                          <p:spTgt spid="58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1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81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1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1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8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8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34" grpId="0" autoUpdateAnimBg="0"/>
      <p:bldP spid="581652" grpId="0" animBg="1"/>
      <p:bldP spid="581653" grpId="0" animBg="1"/>
      <p:bldP spid="581660" grpId="0"/>
      <p:bldP spid="581661" grpId="0" autoUpdateAnimBg="0"/>
      <p:bldP spid="581662" grpId="0" autoUpdateAnimBg="0"/>
      <p:bldP spid="581663" grpId="0" autoUpdateAnimBg="0"/>
      <p:bldP spid="5816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AutoShape 2">
            <a:extLst>
              <a:ext uri="{FF2B5EF4-FFF2-40B4-BE49-F238E27FC236}">
                <a16:creationId xmlns:a16="http://schemas.microsoft.com/office/drawing/2014/main" id="{EA055123-7267-4CF6-9FA5-3899E2478D2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673057" y="1955006"/>
            <a:ext cx="2554288" cy="1635125"/>
          </a:xfrm>
          <a:prstGeom prst="parallelogram">
            <a:avLst>
              <a:gd name="adj" fmla="val 22788"/>
            </a:avLst>
          </a:prstGeom>
          <a:solidFill>
            <a:schemeClr val="fol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2659" name="Line 3">
            <a:extLst>
              <a:ext uri="{FF2B5EF4-FFF2-40B4-BE49-F238E27FC236}">
                <a16:creationId xmlns:a16="http://schemas.microsoft.com/office/drawing/2014/main" id="{9E921537-D788-4350-9A8D-1F346FB0CA7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076950" y="2709863"/>
            <a:ext cx="1806575" cy="29845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60" name="Oval 4">
            <a:extLst>
              <a:ext uri="{FF2B5EF4-FFF2-40B4-BE49-F238E27FC236}">
                <a16:creationId xmlns:a16="http://schemas.microsoft.com/office/drawing/2014/main" id="{6EAC0891-5D39-4B51-BB75-50C4B91C249B}"/>
              </a:ext>
            </a:extLst>
          </p:cNvPr>
          <p:cNvSpPr>
            <a:spLocks noChangeArrowheads="1"/>
          </p:cNvSpPr>
          <p:nvPr/>
        </p:nvSpPr>
        <p:spPr bwMode="auto">
          <a:xfrm rot="-1312701">
            <a:off x="5514975" y="1989138"/>
            <a:ext cx="1131888" cy="2016125"/>
          </a:xfrm>
          <a:prstGeom prst="ellipse">
            <a:avLst/>
          </a:prstGeom>
          <a:solidFill>
            <a:srgbClr val="009999">
              <a:alpha val="67058"/>
            </a:srgbClr>
          </a:solidFill>
          <a:ln w="9525">
            <a:round/>
            <a:headEnd/>
            <a:tailEnd/>
          </a:ln>
          <a:scene3d>
            <a:camera prst="legacyObliqueTopRight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009999"/>
            </a:extrusionClr>
            <a:contourClr>
              <a:srgbClr val="0099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2661" name="Line 5">
            <a:extLst>
              <a:ext uri="{FF2B5EF4-FFF2-40B4-BE49-F238E27FC236}">
                <a16:creationId xmlns:a16="http://schemas.microsoft.com/office/drawing/2014/main" id="{B01747C3-93CD-4442-8F74-CBCBC3A7556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117975" y="3003550"/>
            <a:ext cx="1968500" cy="327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62" name="Rectangle 6">
            <a:extLst>
              <a:ext uri="{FF2B5EF4-FFF2-40B4-BE49-F238E27FC236}">
                <a16:creationId xmlns:a16="http://schemas.microsoft.com/office/drawing/2014/main" id="{F3372024-9D89-4A05-9F79-F152AB05B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514600"/>
            <a:ext cx="1812925" cy="1741488"/>
          </a:xfrm>
          <a:prstGeom prst="rect">
            <a:avLst/>
          </a:prstGeom>
          <a:solidFill>
            <a:srgbClr val="009999">
              <a:alpha val="67058"/>
            </a:srgbClr>
          </a:solidFill>
          <a:ln w="9525">
            <a:miter lim="800000"/>
            <a:headEnd/>
            <a:tailEnd/>
          </a:ln>
          <a:scene3d>
            <a:camera prst="legacyObliqueTopRight">
              <a:rot lat="0" lon="1799995" rev="0"/>
            </a:camera>
            <a:lightRig rig="legacyFlat3" dir="t"/>
          </a:scene3d>
          <a:sp3d extrusionH="227000" prstMaterial="legacyMatte">
            <a:bevelT w="13500" h="13500" prst="angle"/>
            <a:bevelB w="13500" h="13500" prst="angle"/>
            <a:extrusionClr>
              <a:srgbClr val="009999"/>
            </a:extrusionClr>
            <a:contourClr>
              <a:srgbClr val="0099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2663" name="Line 7">
            <a:extLst>
              <a:ext uri="{FF2B5EF4-FFF2-40B4-BE49-F238E27FC236}">
                <a16:creationId xmlns:a16="http://schemas.microsoft.com/office/drawing/2014/main" id="{F069E326-6592-4AFE-A9E9-50944C19C49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144713" y="3333750"/>
            <a:ext cx="1968500" cy="327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64" name="Text Box 8">
            <a:extLst>
              <a:ext uri="{FF2B5EF4-FFF2-40B4-BE49-F238E27FC236}">
                <a16:creationId xmlns:a16="http://schemas.microsoft.com/office/drawing/2014/main" id="{B90C6E2E-2773-437F-8504-AA393EA31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400050"/>
            <a:ext cx="380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偏振光的干涉原理分析</a:t>
            </a:r>
          </a:p>
        </p:txBody>
      </p:sp>
      <p:sp>
        <p:nvSpPr>
          <p:cNvPr id="582665" name="Oval 9">
            <a:extLst>
              <a:ext uri="{FF2B5EF4-FFF2-40B4-BE49-F238E27FC236}">
                <a16:creationId xmlns:a16="http://schemas.microsoft.com/office/drawing/2014/main" id="{F68C4886-5B5C-4C3C-9521-3D1072034FF5}"/>
              </a:ext>
            </a:extLst>
          </p:cNvPr>
          <p:cNvSpPr>
            <a:spLocks noChangeArrowheads="1"/>
          </p:cNvSpPr>
          <p:nvPr/>
        </p:nvSpPr>
        <p:spPr bwMode="auto">
          <a:xfrm rot="-1312701">
            <a:off x="1555750" y="2636838"/>
            <a:ext cx="1131888" cy="2016125"/>
          </a:xfrm>
          <a:prstGeom prst="ellipse">
            <a:avLst/>
          </a:prstGeom>
          <a:solidFill>
            <a:srgbClr val="009999">
              <a:alpha val="67058"/>
            </a:srgbClr>
          </a:solidFill>
          <a:ln w="9525">
            <a:round/>
            <a:headEnd/>
            <a:tailEnd/>
          </a:ln>
          <a:scene3d>
            <a:camera prst="legacyObliqueTopRight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009999"/>
            </a:extrusionClr>
            <a:contourClr>
              <a:srgbClr val="0099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82666" name="Line 10">
            <a:extLst>
              <a:ext uri="{FF2B5EF4-FFF2-40B4-BE49-F238E27FC236}">
                <a16:creationId xmlns:a16="http://schemas.microsoft.com/office/drawing/2014/main" id="{47A04862-CF22-46A4-92C1-BBDE72D197D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55650" y="3659188"/>
            <a:ext cx="1385888" cy="2301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67" name="Line 11">
            <a:extLst>
              <a:ext uri="{FF2B5EF4-FFF2-40B4-BE49-F238E27FC236}">
                <a16:creationId xmlns:a16="http://schemas.microsoft.com/office/drawing/2014/main" id="{59CC7AB1-B821-4B94-B929-480FF194F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2420938"/>
            <a:ext cx="0" cy="25209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68" name="Line 12">
            <a:extLst>
              <a:ext uri="{FF2B5EF4-FFF2-40B4-BE49-F238E27FC236}">
                <a16:creationId xmlns:a16="http://schemas.microsoft.com/office/drawing/2014/main" id="{0CC034B0-9628-4DD7-B043-DA967FC153FA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440000">
            <a:off x="1393825" y="3059113"/>
            <a:ext cx="1511300" cy="12096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69" name="Line 13">
            <a:extLst>
              <a:ext uri="{FF2B5EF4-FFF2-40B4-BE49-F238E27FC236}">
                <a16:creationId xmlns:a16="http://schemas.microsoft.com/office/drawing/2014/main" id="{29184792-14D7-4A74-B430-37647F770885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763588" y="3798888"/>
            <a:ext cx="576262" cy="73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0" name="Line 14">
            <a:extLst>
              <a:ext uri="{FF2B5EF4-FFF2-40B4-BE49-F238E27FC236}">
                <a16:creationId xmlns:a16="http://schemas.microsoft.com/office/drawing/2014/main" id="{B5016C0B-2FE1-4EEF-A000-B53CFBDF0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062163"/>
            <a:ext cx="0" cy="2520950"/>
          </a:xfrm>
          <a:prstGeom prst="line">
            <a:avLst/>
          </a:prstGeom>
          <a:noFill/>
          <a:ln w="25400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1" name="Line 15">
            <a:extLst>
              <a:ext uri="{FF2B5EF4-FFF2-40B4-BE49-F238E27FC236}">
                <a16:creationId xmlns:a16="http://schemas.microsoft.com/office/drawing/2014/main" id="{CCC6A409-0597-4771-8E09-1A9B7B4A5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1779588"/>
            <a:ext cx="0" cy="25209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2" name="Line 16">
            <a:extLst>
              <a:ext uri="{FF2B5EF4-FFF2-40B4-BE49-F238E27FC236}">
                <a16:creationId xmlns:a16="http://schemas.microsoft.com/office/drawing/2014/main" id="{4B74F4C1-85A6-4407-BD1C-59926EB43EF0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2851150" y="3460750"/>
            <a:ext cx="576263" cy="73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3" name="Line 17">
            <a:extLst>
              <a:ext uri="{FF2B5EF4-FFF2-40B4-BE49-F238E27FC236}">
                <a16:creationId xmlns:a16="http://schemas.microsoft.com/office/drawing/2014/main" id="{1CFB4643-E668-47F3-8B81-CD7C48DFC852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4940300" y="3108325"/>
            <a:ext cx="576263" cy="73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4" name="Line 18">
            <a:extLst>
              <a:ext uri="{FF2B5EF4-FFF2-40B4-BE49-F238E27FC236}">
                <a16:creationId xmlns:a16="http://schemas.microsoft.com/office/drawing/2014/main" id="{86692905-8584-4739-B8B2-844075A19392}"/>
              </a:ext>
            </a:extLst>
          </p:cNvPr>
          <p:cNvSpPr>
            <a:spLocks noChangeShapeType="1"/>
          </p:cNvSpPr>
          <p:nvPr/>
        </p:nvSpPr>
        <p:spPr bwMode="auto">
          <a:xfrm rot="21480000" flipV="1">
            <a:off x="6986588" y="2771775"/>
            <a:ext cx="576262" cy="73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5" name="Line 19">
            <a:extLst>
              <a:ext uri="{FF2B5EF4-FFF2-40B4-BE49-F238E27FC236}">
                <a16:creationId xmlns:a16="http://schemas.microsoft.com/office/drawing/2014/main" id="{AB3ACC88-8281-478F-B91E-47B8F3E4C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9563" y="2916238"/>
            <a:ext cx="0" cy="42068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6" name="Line 20">
            <a:extLst>
              <a:ext uri="{FF2B5EF4-FFF2-40B4-BE49-F238E27FC236}">
                <a16:creationId xmlns:a16="http://schemas.microsoft.com/office/drawing/2014/main" id="{A97BC9A4-DD33-4EC7-AF06-04B87C27E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0075" y="2093913"/>
            <a:ext cx="792163" cy="18002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7" name="Line 21">
            <a:extLst>
              <a:ext uri="{FF2B5EF4-FFF2-40B4-BE49-F238E27FC236}">
                <a16:creationId xmlns:a16="http://schemas.microsoft.com/office/drawing/2014/main" id="{D4E4AB2B-7F95-4AA4-BC97-7323F9BCD1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46238" y="3444875"/>
            <a:ext cx="1008062" cy="4318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78" name="Line 22">
            <a:extLst>
              <a:ext uri="{FF2B5EF4-FFF2-40B4-BE49-F238E27FC236}">
                <a16:creationId xmlns:a16="http://schemas.microsoft.com/office/drawing/2014/main" id="{993ED44E-904A-4242-A5AA-7FDB94F5DAEC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440000">
            <a:off x="5353050" y="2406650"/>
            <a:ext cx="1511300" cy="12096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2679" name="Object 23">
            <a:extLst>
              <a:ext uri="{FF2B5EF4-FFF2-40B4-BE49-F238E27FC236}">
                <a16:creationId xmlns:a16="http://schemas.microsoft.com/office/drawing/2014/main" id="{6344F003-1442-46DE-AA0D-6463FE0675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989138"/>
          <a:ext cx="2619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26" name="公式" r:id="rId4" imgW="266675" imgH="419134" progId="Equation.3">
                  <p:embed/>
                </p:oleObj>
              </mc:Choice>
              <mc:Fallback>
                <p:oleObj name="公式" r:id="rId4" imgW="266675" imgH="419134" progId="Equation.3">
                  <p:embed/>
                  <p:pic>
                    <p:nvPicPr>
                      <p:cNvPr id="582679" name="Object 23">
                        <a:extLst>
                          <a:ext uri="{FF2B5EF4-FFF2-40B4-BE49-F238E27FC236}">
                            <a16:creationId xmlns:a16="http://schemas.microsoft.com/office/drawing/2014/main" id="{6344F003-1442-46DE-AA0D-6463FE0675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1989138"/>
                        <a:ext cx="26193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80" name="Object 24">
            <a:extLst>
              <a:ext uri="{FF2B5EF4-FFF2-40B4-BE49-F238E27FC236}">
                <a16:creationId xmlns:a16="http://schemas.microsoft.com/office/drawing/2014/main" id="{3CF0B9AD-B625-4137-98B5-2259B830D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4975" y="1412875"/>
          <a:ext cx="2968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27" name="公式" r:id="rId6" imgW="304902" imgH="419134" progId="Equation.3">
                  <p:embed/>
                </p:oleObj>
              </mc:Choice>
              <mc:Fallback>
                <p:oleObj name="公式" r:id="rId6" imgW="304902" imgH="419134" progId="Equation.3">
                  <p:embed/>
                  <p:pic>
                    <p:nvPicPr>
                      <p:cNvPr id="582680" name="Object 24">
                        <a:extLst>
                          <a:ext uri="{FF2B5EF4-FFF2-40B4-BE49-F238E27FC236}">
                            <a16:creationId xmlns:a16="http://schemas.microsoft.com/office/drawing/2014/main" id="{3CF0B9AD-B625-4137-98B5-2259B830D8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75" y="1412875"/>
                        <a:ext cx="29686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81" name="Object 25">
            <a:extLst>
              <a:ext uri="{FF2B5EF4-FFF2-40B4-BE49-F238E27FC236}">
                <a16:creationId xmlns:a16="http://schemas.microsoft.com/office/drawing/2014/main" id="{F18DBEF5-8BDA-4E9E-ACC2-ACF921B91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1773238"/>
          <a:ext cx="250825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28" name="公式" r:id="rId8" imgW="247714" imgH="304936" progId="Equation.3">
                  <p:embed/>
                </p:oleObj>
              </mc:Choice>
              <mc:Fallback>
                <p:oleObj name="公式" r:id="rId8" imgW="247714" imgH="304936" progId="Equation.3">
                  <p:embed/>
                  <p:pic>
                    <p:nvPicPr>
                      <p:cNvPr id="582681" name="Object 25">
                        <a:extLst>
                          <a:ext uri="{FF2B5EF4-FFF2-40B4-BE49-F238E27FC236}">
                            <a16:creationId xmlns:a16="http://schemas.microsoft.com/office/drawing/2014/main" id="{F18DBEF5-8BDA-4E9E-ACC2-ACF921B91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773238"/>
                        <a:ext cx="250825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82" name="Arc 26">
            <a:extLst>
              <a:ext uri="{FF2B5EF4-FFF2-40B4-BE49-F238E27FC236}">
                <a16:creationId xmlns:a16="http://schemas.microsoft.com/office/drawing/2014/main" id="{8E9877A9-EBED-4D3C-A321-384A852EAABA}"/>
              </a:ext>
            </a:extLst>
          </p:cNvPr>
          <p:cNvSpPr>
            <a:spLocks/>
          </p:cNvSpPr>
          <p:nvPr/>
        </p:nvSpPr>
        <p:spPr bwMode="auto">
          <a:xfrm rot="14381396" flipV="1">
            <a:off x="2068513" y="3319463"/>
            <a:ext cx="301625" cy="339725"/>
          </a:xfrm>
          <a:custGeom>
            <a:avLst/>
            <a:gdLst>
              <a:gd name="T0" fmla="*/ 0 w 21618"/>
              <a:gd name="T1" fmla="*/ 2147483646 h 21600"/>
              <a:gd name="T2" fmla="*/ 2147483646 w 21618"/>
              <a:gd name="T3" fmla="*/ 2147483646 h 21600"/>
              <a:gd name="T4" fmla="*/ 2147483646 w 21618"/>
              <a:gd name="T5" fmla="*/ 2147483646 h 21600"/>
              <a:gd name="T6" fmla="*/ 0 60000 65536"/>
              <a:gd name="T7" fmla="*/ 0 60000 65536"/>
              <a:gd name="T8" fmla="*/ 0 60000 65536"/>
              <a:gd name="T9" fmla="*/ 0 w 21618"/>
              <a:gd name="T10" fmla="*/ 0 h 21600"/>
              <a:gd name="T11" fmla="*/ 21618 w 216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18" h="21600" fill="none" extrusionOk="0">
                <a:moveTo>
                  <a:pt x="-1" y="186"/>
                </a:moveTo>
                <a:cubicBezTo>
                  <a:pt x="939" y="62"/>
                  <a:pt x="1885" y="-1"/>
                  <a:pt x="2833" y="0"/>
                </a:cubicBezTo>
                <a:cubicBezTo>
                  <a:pt x="10606" y="0"/>
                  <a:pt x="17780" y="4177"/>
                  <a:pt x="21618" y="10937"/>
                </a:cubicBezTo>
              </a:path>
              <a:path w="21618" h="21600" stroke="0" extrusionOk="0">
                <a:moveTo>
                  <a:pt x="-1" y="186"/>
                </a:moveTo>
                <a:cubicBezTo>
                  <a:pt x="939" y="62"/>
                  <a:pt x="1885" y="-1"/>
                  <a:pt x="2833" y="0"/>
                </a:cubicBezTo>
                <a:cubicBezTo>
                  <a:pt x="10606" y="0"/>
                  <a:pt x="17780" y="4177"/>
                  <a:pt x="21618" y="10937"/>
                </a:cubicBezTo>
                <a:lnTo>
                  <a:pt x="2833" y="21600"/>
                </a:lnTo>
                <a:lnTo>
                  <a:pt x="-1" y="186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82683" name="Object 27">
            <a:extLst>
              <a:ext uri="{FF2B5EF4-FFF2-40B4-BE49-F238E27FC236}">
                <a16:creationId xmlns:a16="http://schemas.microsoft.com/office/drawing/2014/main" id="{69720DAF-681E-4928-8A55-A65275FBEE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2500" y="3163888"/>
          <a:ext cx="220663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29" name="公式" r:id="rId10" imgW="247714" imgH="209414" progId="Equation.3">
                  <p:embed/>
                </p:oleObj>
              </mc:Choice>
              <mc:Fallback>
                <p:oleObj name="公式" r:id="rId10" imgW="247714" imgH="209414" progId="Equation.3">
                  <p:embed/>
                  <p:pic>
                    <p:nvPicPr>
                      <p:cNvPr id="582683" name="Object 27">
                        <a:extLst>
                          <a:ext uri="{FF2B5EF4-FFF2-40B4-BE49-F238E27FC236}">
                            <a16:creationId xmlns:a16="http://schemas.microsoft.com/office/drawing/2014/main" id="{69720DAF-681E-4928-8A55-A65275FBEE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3163888"/>
                        <a:ext cx="220663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84" name="Arc 28">
            <a:extLst>
              <a:ext uri="{FF2B5EF4-FFF2-40B4-BE49-F238E27FC236}">
                <a16:creationId xmlns:a16="http://schemas.microsoft.com/office/drawing/2014/main" id="{401AE600-EAB4-49D9-AA1E-A67A71D22E15}"/>
              </a:ext>
            </a:extLst>
          </p:cNvPr>
          <p:cNvSpPr>
            <a:spLocks/>
          </p:cNvSpPr>
          <p:nvPr/>
        </p:nvSpPr>
        <p:spPr bwMode="auto">
          <a:xfrm rot="12029211" flipV="1">
            <a:off x="5862638" y="2446338"/>
            <a:ext cx="249237" cy="328612"/>
          </a:xfrm>
          <a:custGeom>
            <a:avLst/>
            <a:gdLst>
              <a:gd name="T0" fmla="*/ 2147483646 w 17885"/>
              <a:gd name="T1" fmla="*/ 0 h 20936"/>
              <a:gd name="T2" fmla="*/ 2147483646 w 17885"/>
              <a:gd name="T3" fmla="*/ 2147483646 h 20936"/>
              <a:gd name="T4" fmla="*/ 0 w 17885"/>
              <a:gd name="T5" fmla="*/ 2147483646 h 20936"/>
              <a:gd name="T6" fmla="*/ 0 60000 65536"/>
              <a:gd name="T7" fmla="*/ 0 60000 65536"/>
              <a:gd name="T8" fmla="*/ 0 60000 65536"/>
              <a:gd name="T9" fmla="*/ 0 w 17885"/>
              <a:gd name="T10" fmla="*/ 0 h 20936"/>
              <a:gd name="T11" fmla="*/ 17885 w 17885"/>
              <a:gd name="T12" fmla="*/ 20936 h 209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885" h="20936" fill="none" extrusionOk="0">
                <a:moveTo>
                  <a:pt x="5314" y="0"/>
                </a:moveTo>
                <a:cubicBezTo>
                  <a:pt x="10444" y="1302"/>
                  <a:pt x="14917" y="4442"/>
                  <a:pt x="17885" y="8824"/>
                </a:cubicBezTo>
              </a:path>
              <a:path w="17885" h="20936" stroke="0" extrusionOk="0">
                <a:moveTo>
                  <a:pt x="5314" y="0"/>
                </a:moveTo>
                <a:cubicBezTo>
                  <a:pt x="10444" y="1302"/>
                  <a:pt x="14917" y="4442"/>
                  <a:pt x="17885" y="8824"/>
                </a:cubicBezTo>
                <a:lnTo>
                  <a:pt x="0" y="20936"/>
                </a:lnTo>
                <a:lnTo>
                  <a:pt x="5314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82685" name="Object 29">
            <a:extLst>
              <a:ext uri="{FF2B5EF4-FFF2-40B4-BE49-F238E27FC236}">
                <a16:creationId xmlns:a16="http://schemas.microsoft.com/office/drawing/2014/main" id="{7893B13E-E502-4273-8A04-1B185DAE4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5" y="2101850"/>
          <a:ext cx="2413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0" name="公式" r:id="rId12" imgW="276155" imgH="380864" progId="Equation.3">
                  <p:embed/>
                </p:oleObj>
              </mc:Choice>
              <mc:Fallback>
                <p:oleObj name="公式" r:id="rId12" imgW="276155" imgH="380864" progId="Equation.3">
                  <p:embed/>
                  <p:pic>
                    <p:nvPicPr>
                      <p:cNvPr id="582685" name="Object 29">
                        <a:extLst>
                          <a:ext uri="{FF2B5EF4-FFF2-40B4-BE49-F238E27FC236}">
                            <a16:creationId xmlns:a16="http://schemas.microsoft.com/office/drawing/2014/main" id="{7893B13E-E502-4273-8A04-1B185DAE41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2101850"/>
                        <a:ext cx="24130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86" name="Object 30">
            <a:extLst>
              <a:ext uri="{FF2B5EF4-FFF2-40B4-BE49-F238E27FC236}">
                <a16:creationId xmlns:a16="http://schemas.microsoft.com/office/drawing/2014/main" id="{6415EDF6-18AD-46B6-A152-501A7CCE01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" y="3429000"/>
          <a:ext cx="2444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1" name="公式" r:id="rId14" imgW="209486" imgH="266666" progId="Equation.3">
                  <p:embed/>
                </p:oleObj>
              </mc:Choice>
              <mc:Fallback>
                <p:oleObj name="公式" r:id="rId14" imgW="209486" imgH="266666" progId="Equation.3">
                  <p:embed/>
                  <p:pic>
                    <p:nvPicPr>
                      <p:cNvPr id="582686" name="Object 30">
                        <a:extLst>
                          <a:ext uri="{FF2B5EF4-FFF2-40B4-BE49-F238E27FC236}">
                            <a16:creationId xmlns:a16="http://schemas.microsoft.com/office/drawing/2014/main" id="{6415EDF6-18AD-46B6-A152-501A7CCE01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3429000"/>
                        <a:ext cx="2444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87" name="Line 31">
            <a:extLst>
              <a:ext uri="{FF2B5EF4-FFF2-40B4-BE49-F238E27FC236}">
                <a16:creationId xmlns:a16="http://schemas.microsoft.com/office/drawing/2014/main" id="{2264095E-EF36-47F4-8A57-F32C8B303D9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840038" y="3365500"/>
            <a:ext cx="604837" cy="2587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88" name="Line 32">
            <a:extLst>
              <a:ext uri="{FF2B5EF4-FFF2-40B4-BE49-F238E27FC236}">
                <a16:creationId xmlns:a16="http://schemas.microsoft.com/office/drawing/2014/main" id="{0668EC34-8AEA-428C-9986-D1762187263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103563" y="3327400"/>
            <a:ext cx="604837" cy="2587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89" name="Line 33">
            <a:extLst>
              <a:ext uri="{FF2B5EF4-FFF2-40B4-BE49-F238E27FC236}">
                <a16:creationId xmlns:a16="http://schemas.microsoft.com/office/drawing/2014/main" id="{9579B01D-B387-41E2-B450-4EC7733B3E0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419475" y="3268663"/>
            <a:ext cx="604838" cy="258762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90" name="Line 34">
            <a:extLst>
              <a:ext uri="{FF2B5EF4-FFF2-40B4-BE49-F238E27FC236}">
                <a16:creationId xmlns:a16="http://schemas.microsoft.com/office/drawing/2014/main" id="{472C005F-A010-404B-A828-C4105B29CE3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116388" y="3073400"/>
            <a:ext cx="600075" cy="257175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91" name="Line 35">
            <a:extLst>
              <a:ext uri="{FF2B5EF4-FFF2-40B4-BE49-F238E27FC236}">
                <a16:creationId xmlns:a16="http://schemas.microsoft.com/office/drawing/2014/main" id="{4F74B982-857F-49A3-83F4-0580330A549F}"/>
              </a:ext>
            </a:extLst>
          </p:cNvPr>
          <p:cNvSpPr>
            <a:spLocks noChangeAspect="1" noChangeShapeType="1"/>
          </p:cNvSpPr>
          <p:nvPr/>
        </p:nvSpPr>
        <p:spPr bwMode="auto">
          <a:xfrm rot="1320000" flipV="1">
            <a:off x="4111625" y="2955925"/>
            <a:ext cx="593725" cy="74613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92" name="Line 36">
            <a:extLst>
              <a:ext uri="{FF2B5EF4-FFF2-40B4-BE49-F238E27FC236}">
                <a16:creationId xmlns:a16="http://schemas.microsoft.com/office/drawing/2014/main" id="{E647DB12-C3A4-47EA-9E58-FE1004C79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3067050"/>
            <a:ext cx="0" cy="431800"/>
          </a:xfrm>
          <a:prstGeom prst="line">
            <a:avLst/>
          </a:prstGeom>
          <a:noFill/>
          <a:ln w="28575">
            <a:solidFill>
              <a:srgbClr val="FF9900"/>
            </a:solidFill>
            <a:prstDash val="sysDot"/>
            <a:round/>
            <a:headEnd type="non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93" name="Text Box 37">
            <a:extLst>
              <a:ext uri="{FF2B5EF4-FFF2-40B4-BE49-F238E27FC236}">
                <a16:creationId xmlns:a16="http://schemas.microsoft.com/office/drawing/2014/main" id="{E0E1D59E-72D7-4071-A322-EF8EE5560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981075"/>
            <a:ext cx="4414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</a:pPr>
            <a:r>
              <a:rPr lang="en-US" altLang="zh-CN">
                <a:solidFill>
                  <a:srgbClr val="66FFFF"/>
                </a:solidFill>
                <a:ea typeface="仿宋_GB2312"/>
                <a:cs typeface="仿宋_GB2312"/>
              </a:rPr>
              <a:t>1. </a:t>
            </a:r>
            <a:r>
              <a:rPr lang="zh-CN" altLang="en-US">
                <a:solidFill>
                  <a:srgbClr val="66FFFF"/>
                </a:solidFill>
                <a:ea typeface="仿宋_GB2312"/>
                <a:cs typeface="仿宋_GB2312"/>
              </a:rPr>
              <a:t>各个区域光矢量偏振状态</a:t>
            </a:r>
            <a:endParaRPr lang="zh-CN" altLang="en-US">
              <a:solidFill>
                <a:srgbClr val="66FFFF"/>
              </a:solidFill>
              <a:ea typeface="仿宋_GB2312"/>
              <a:cs typeface="仿宋_GB2312"/>
              <a:sym typeface="Wingdings" panose="05000000000000000000" pitchFamily="2" charset="2"/>
            </a:endParaRPr>
          </a:p>
        </p:txBody>
      </p:sp>
      <p:graphicFrame>
        <p:nvGraphicFramePr>
          <p:cNvPr id="582694" name="Object 38">
            <a:extLst>
              <a:ext uri="{FF2B5EF4-FFF2-40B4-BE49-F238E27FC236}">
                <a16:creationId xmlns:a16="http://schemas.microsoft.com/office/drawing/2014/main" id="{88779BDA-DFCF-46DD-A622-669BA11FBA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2950" y="2655888"/>
          <a:ext cx="2714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2" name="公式" r:id="rId16" imgW="314382" imgH="419134" progId="Equation.3">
                  <p:embed/>
                </p:oleObj>
              </mc:Choice>
              <mc:Fallback>
                <p:oleObj name="公式" r:id="rId16" imgW="314382" imgH="419134" progId="Equation.3">
                  <p:embed/>
                  <p:pic>
                    <p:nvPicPr>
                      <p:cNvPr id="582694" name="Object 38">
                        <a:extLst>
                          <a:ext uri="{FF2B5EF4-FFF2-40B4-BE49-F238E27FC236}">
                            <a16:creationId xmlns:a16="http://schemas.microsoft.com/office/drawing/2014/main" id="{88779BDA-DFCF-46DD-A622-669BA11FBA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2655888"/>
                        <a:ext cx="27146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95" name="Object 39">
            <a:extLst>
              <a:ext uri="{FF2B5EF4-FFF2-40B4-BE49-F238E27FC236}">
                <a16:creationId xmlns:a16="http://schemas.microsoft.com/office/drawing/2014/main" id="{BA003333-393C-49D9-B27C-36B4D6021D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5638" y="3571875"/>
          <a:ext cx="3730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3" name="公式" r:id="rId18" imgW="438239" imgH="419134" progId="Equation.3">
                  <p:embed/>
                </p:oleObj>
              </mc:Choice>
              <mc:Fallback>
                <p:oleObj name="公式" r:id="rId18" imgW="438239" imgH="419134" progId="Equation.3">
                  <p:embed/>
                  <p:pic>
                    <p:nvPicPr>
                      <p:cNvPr id="582695" name="Object 39">
                        <a:extLst>
                          <a:ext uri="{FF2B5EF4-FFF2-40B4-BE49-F238E27FC236}">
                            <a16:creationId xmlns:a16="http://schemas.microsoft.com/office/drawing/2014/main" id="{BA003333-393C-49D9-B27C-36B4D6021D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8" y="3571875"/>
                        <a:ext cx="3730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2696" name="Object 40">
            <a:extLst>
              <a:ext uri="{FF2B5EF4-FFF2-40B4-BE49-F238E27FC236}">
                <a16:creationId xmlns:a16="http://schemas.microsoft.com/office/drawing/2014/main" id="{F6839F5E-D536-4D0C-9291-B19E63CC07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3163" y="2706688"/>
          <a:ext cx="3635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4" name="公式" r:id="rId20" imgW="428759" imgH="419134" progId="Equation.3">
                  <p:embed/>
                </p:oleObj>
              </mc:Choice>
              <mc:Fallback>
                <p:oleObj name="公式" r:id="rId20" imgW="428759" imgH="419134" progId="Equation.3">
                  <p:embed/>
                  <p:pic>
                    <p:nvPicPr>
                      <p:cNvPr id="582696" name="Object 40">
                        <a:extLst>
                          <a:ext uri="{FF2B5EF4-FFF2-40B4-BE49-F238E27FC236}">
                            <a16:creationId xmlns:a16="http://schemas.microsoft.com/office/drawing/2014/main" id="{F6839F5E-D536-4D0C-9291-B19E63CC07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3" y="2706688"/>
                        <a:ext cx="3635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697" name="Line 41">
            <a:extLst>
              <a:ext uri="{FF2B5EF4-FFF2-40B4-BE49-F238E27FC236}">
                <a16:creationId xmlns:a16="http://schemas.microsoft.com/office/drawing/2014/main" id="{0A587D93-7BAD-4487-BC21-3F1EFBFD644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719888" y="2603500"/>
            <a:ext cx="238125" cy="5397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98" name="Line 42">
            <a:extLst>
              <a:ext uri="{FF2B5EF4-FFF2-40B4-BE49-F238E27FC236}">
                <a16:creationId xmlns:a16="http://schemas.microsoft.com/office/drawing/2014/main" id="{30F4C5F9-43CE-41DE-BA2D-24C31354E30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935788" y="2559050"/>
            <a:ext cx="238125" cy="5397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699" name="Line 43">
            <a:extLst>
              <a:ext uri="{FF2B5EF4-FFF2-40B4-BE49-F238E27FC236}">
                <a16:creationId xmlns:a16="http://schemas.microsoft.com/office/drawing/2014/main" id="{F679327A-45FE-44D7-B90A-77D4D159917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156450" y="2506663"/>
            <a:ext cx="238125" cy="5397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2700" name="Object 44">
            <a:extLst>
              <a:ext uri="{FF2B5EF4-FFF2-40B4-BE49-F238E27FC236}">
                <a16:creationId xmlns:a16="http://schemas.microsoft.com/office/drawing/2014/main" id="{BBE4D964-01C8-4EB1-A712-9A911A13F1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989388"/>
          <a:ext cx="2778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5" name="公式" r:id="rId22" imgW="276155" imgH="419134" progId="Equation.3">
                  <p:embed/>
                </p:oleObj>
              </mc:Choice>
              <mc:Fallback>
                <p:oleObj name="公式" r:id="rId22" imgW="276155" imgH="419134" progId="Equation.3">
                  <p:embed/>
                  <p:pic>
                    <p:nvPicPr>
                      <p:cNvPr id="582700" name="Object 44">
                        <a:extLst>
                          <a:ext uri="{FF2B5EF4-FFF2-40B4-BE49-F238E27FC236}">
                            <a16:creationId xmlns:a16="http://schemas.microsoft.com/office/drawing/2014/main" id="{BBE4D964-01C8-4EB1-A712-9A911A13F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989388"/>
                        <a:ext cx="277812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2701" name="Line 45">
            <a:extLst>
              <a:ext uri="{FF2B5EF4-FFF2-40B4-BE49-F238E27FC236}">
                <a16:creationId xmlns:a16="http://schemas.microsoft.com/office/drawing/2014/main" id="{59C4AD71-2E9D-44B0-850E-E9937BC631F7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440000">
            <a:off x="3492500" y="2767013"/>
            <a:ext cx="1511300" cy="120967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702" name="Line 46">
            <a:extLst>
              <a:ext uri="{FF2B5EF4-FFF2-40B4-BE49-F238E27FC236}">
                <a16:creationId xmlns:a16="http://schemas.microsoft.com/office/drawing/2014/main" id="{951F945E-52A3-4167-B19C-E61AECD2B12A}"/>
              </a:ext>
            </a:extLst>
          </p:cNvPr>
          <p:cNvSpPr>
            <a:spLocks noChangeAspect="1" noChangeShapeType="1"/>
          </p:cNvSpPr>
          <p:nvPr/>
        </p:nvSpPr>
        <p:spPr bwMode="auto">
          <a:xfrm rot="1320000" flipV="1">
            <a:off x="4102100" y="3373438"/>
            <a:ext cx="622300" cy="7937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2703" name="AutoShape 47">
            <a:extLst>
              <a:ext uri="{FF2B5EF4-FFF2-40B4-BE49-F238E27FC236}">
                <a16:creationId xmlns:a16="http://schemas.microsoft.com/office/drawing/2014/main" id="{EC7F7B29-25A5-4E44-B8CF-BCC2DAA57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372100"/>
            <a:ext cx="1439862" cy="431800"/>
          </a:xfrm>
          <a:prstGeom prst="wedgeRoundRectCallout">
            <a:avLst>
              <a:gd name="adj1" fmla="val -16704"/>
              <a:gd name="adj2" fmla="val -347060"/>
              <a:gd name="adj3" fmla="val 16667"/>
            </a:avLst>
          </a:prstGeom>
          <a:solidFill>
            <a:srgbClr val="006699">
              <a:alpha val="20000"/>
            </a:srgbClr>
          </a:solidFill>
          <a:ln w="9525" algn="ctr">
            <a:solidFill>
              <a:srgbClr val="B2B2B2">
                <a:alpha val="52156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单色自然光</a:t>
            </a:r>
          </a:p>
        </p:txBody>
      </p:sp>
      <p:sp>
        <p:nvSpPr>
          <p:cNvPr id="582704" name="AutoShape 48">
            <a:extLst>
              <a:ext uri="{FF2B5EF4-FFF2-40B4-BE49-F238E27FC236}">
                <a16:creationId xmlns:a16="http://schemas.microsoft.com/office/drawing/2014/main" id="{68A0CBE9-93D8-40E5-AF9D-8BD85ADBB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372100"/>
            <a:ext cx="1223962" cy="431800"/>
          </a:xfrm>
          <a:prstGeom prst="wedgeRoundRectCallout">
            <a:avLst>
              <a:gd name="adj1" fmla="val 17444"/>
              <a:gd name="adj2" fmla="val -406616"/>
              <a:gd name="adj3" fmla="val 16667"/>
            </a:avLst>
          </a:prstGeom>
          <a:solidFill>
            <a:srgbClr val="006699">
              <a:alpha val="20000"/>
            </a:srgbClr>
          </a:solidFill>
          <a:ln w="9525" algn="ctr">
            <a:solidFill>
              <a:srgbClr val="B2B2B2">
                <a:alpha val="52156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线偏振光</a:t>
            </a:r>
          </a:p>
        </p:txBody>
      </p:sp>
      <p:sp>
        <p:nvSpPr>
          <p:cNvPr id="582705" name="AutoShape 49">
            <a:extLst>
              <a:ext uri="{FF2B5EF4-FFF2-40B4-BE49-F238E27FC236}">
                <a16:creationId xmlns:a16="http://schemas.microsoft.com/office/drawing/2014/main" id="{5E464FE2-18D2-4FC8-BEAC-1C6DF6D38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4868863"/>
            <a:ext cx="2714625" cy="1368425"/>
          </a:xfrm>
          <a:prstGeom prst="wedgeRoundRectCallout">
            <a:avLst>
              <a:gd name="adj1" fmla="val 13972"/>
              <a:gd name="adj2" fmla="val -172718"/>
              <a:gd name="adj3" fmla="val 16667"/>
            </a:avLst>
          </a:prstGeom>
          <a:solidFill>
            <a:srgbClr val="006699">
              <a:alpha val="20000"/>
            </a:srgbClr>
          </a:solidFill>
          <a:ln w="9525" algn="ctr">
            <a:solidFill>
              <a:srgbClr val="B2B2B2">
                <a:alpha val="52156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两束频率相同</a:t>
            </a:r>
            <a:r>
              <a:rPr kumimoji="0" lang="zh-CN" altLang="en-US" sz="1800">
                <a:solidFill>
                  <a:schemeClr val="bg1"/>
                </a:solidFill>
              </a:rPr>
              <a:t>，</a:t>
            </a:r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振动方向互相垂直</a:t>
            </a:r>
            <a:r>
              <a:rPr kumimoji="0" lang="zh-CN" altLang="en-US" sz="1800">
                <a:solidFill>
                  <a:schemeClr val="bg1"/>
                </a:solidFill>
              </a:rPr>
              <a:t>，</a:t>
            </a:r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具有恒定相位差的线偏振光，即合成为</a:t>
            </a:r>
            <a:r>
              <a:rPr kumimoji="0" lang="zh-CN" altLang="en-US" sz="1800">
                <a:solidFill>
                  <a:srgbClr val="FFFF00"/>
                </a:solidFill>
                <a:ea typeface="楷体_GB2312" pitchFamily="49" charset="-122"/>
              </a:rPr>
              <a:t>椭圆偏振光</a:t>
            </a:r>
            <a:endParaRPr kumimoji="0" lang="en-US" altLang="zh-CN" sz="1800">
              <a:solidFill>
                <a:srgbClr val="FFFF00"/>
              </a:solidFill>
              <a:ea typeface="楷体_GB2312" pitchFamily="49" charset="-122"/>
            </a:endParaRPr>
          </a:p>
          <a:p>
            <a:pPr algn="ctr" eaLnBrk="1" hangingPunct="1"/>
            <a:endParaRPr kumimoji="0" lang="en-US" altLang="zh-CN" sz="1800">
              <a:solidFill>
                <a:schemeClr val="bg1"/>
              </a:solidFill>
            </a:endParaRPr>
          </a:p>
        </p:txBody>
      </p:sp>
      <p:sp>
        <p:nvSpPr>
          <p:cNvPr id="582706" name="AutoShape 50">
            <a:extLst>
              <a:ext uri="{FF2B5EF4-FFF2-40B4-BE49-F238E27FC236}">
                <a16:creationId xmlns:a16="http://schemas.microsoft.com/office/drawing/2014/main" id="{D449AA9C-6170-4165-A598-5ACCF5A19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857750"/>
            <a:ext cx="2428875" cy="1379538"/>
          </a:xfrm>
          <a:prstGeom prst="wedgeRoundRectCallout">
            <a:avLst>
              <a:gd name="adj1" fmla="val -22227"/>
              <a:gd name="adj2" fmla="val -179019"/>
              <a:gd name="adj3" fmla="val 16667"/>
            </a:avLst>
          </a:prstGeom>
          <a:solidFill>
            <a:srgbClr val="006699">
              <a:alpha val="20000"/>
            </a:srgbClr>
          </a:solidFill>
          <a:ln w="9525" algn="ctr">
            <a:solidFill>
              <a:srgbClr val="B2B2B2">
                <a:alpha val="52156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两束频率相同</a:t>
            </a:r>
            <a:r>
              <a:rPr kumimoji="0" lang="zh-CN" altLang="en-US" sz="1800">
                <a:solidFill>
                  <a:schemeClr val="bg1"/>
                </a:solidFill>
              </a:rPr>
              <a:t>，</a:t>
            </a:r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振动方向平行</a:t>
            </a:r>
            <a:r>
              <a:rPr kumimoji="0" lang="zh-CN" altLang="en-US" sz="1800">
                <a:solidFill>
                  <a:schemeClr val="bg1"/>
                </a:solidFill>
              </a:rPr>
              <a:t>，</a:t>
            </a:r>
            <a:r>
              <a:rPr kumimoji="0" lang="zh-CN" altLang="en-US" sz="1800">
                <a:solidFill>
                  <a:schemeClr val="bg1"/>
                </a:solidFill>
                <a:ea typeface="楷体_GB2312" pitchFamily="49" charset="-122"/>
              </a:rPr>
              <a:t>具有恒定相位差的线偏振光，即</a:t>
            </a:r>
            <a:r>
              <a:rPr kumimoji="0" lang="zh-CN" altLang="en-US" sz="1800">
                <a:solidFill>
                  <a:srgbClr val="FFFF00"/>
                </a:solidFill>
                <a:ea typeface="楷体_GB2312" pitchFamily="49" charset="-122"/>
              </a:rPr>
              <a:t>满足相干条件</a:t>
            </a:r>
            <a:endParaRPr kumimoji="0" lang="en-US" altLang="zh-CN" sz="180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18483" name="灯片编号占位符 1">
            <a:extLst>
              <a:ext uri="{FF2B5EF4-FFF2-40B4-BE49-F238E27FC236}">
                <a16:creationId xmlns:a16="http://schemas.microsoft.com/office/drawing/2014/main" id="{4B7AAD9D-7CB0-44F3-8BFB-19ABE7DFF47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96F1E5-6AC6-4CB0-B036-25549B761138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84B03B31-6B3B-435B-B423-CF304A649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4150" y="2709863"/>
            <a:ext cx="0" cy="42068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70AA105C-BDA6-42B2-B631-729DBAAA8D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9125" y="3287713"/>
          <a:ext cx="3730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6" name="公式" r:id="rId24" imgW="438239" imgH="419134" progId="Equation.3">
                  <p:embed/>
                </p:oleObj>
              </mc:Choice>
              <mc:Fallback>
                <p:oleObj name="公式" r:id="rId24" imgW="438239" imgH="419134" progId="Equation.3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70AA105C-BDA6-42B2-B631-729DBAAA8D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3287713"/>
                        <a:ext cx="37306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C8325914-B2C1-4E39-BD1A-FE4A2C11AE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9188" y="2357438"/>
          <a:ext cx="3635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37" name="公式" r:id="rId26" imgW="428759" imgH="419134" progId="Equation.3">
                  <p:embed/>
                </p:oleObj>
              </mc:Choice>
              <mc:Fallback>
                <p:oleObj name="公式" r:id="rId26" imgW="428759" imgH="419134" progId="Equation.3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C8325914-B2C1-4E39-BD1A-FE4A2C11AE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2357438"/>
                        <a:ext cx="3635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Line 46">
            <a:extLst>
              <a:ext uri="{FF2B5EF4-FFF2-40B4-BE49-F238E27FC236}">
                <a16:creationId xmlns:a16="http://schemas.microsoft.com/office/drawing/2014/main" id="{FF5E462F-DBBD-48A8-93EE-212EA27C257E}"/>
              </a:ext>
            </a:extLst>
          </p:cNvPr>
          <p:cNvSpPr>
            <a:spLocks noChangeAspect="1" noChangeShapeType="1"/>
          </p:cNvSpPr>
          <p:nvPr/>
        </p:nvSpPr>
        <p:spPr bwMode="auto">
          <a:xfrm rot="1320000" flipV="1">
            <a:off x="5246688" y="3167063"/>
            <a:ext cx="622300" cy="79375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2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2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8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8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8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8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2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2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8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2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82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8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8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8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8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8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8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8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8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8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8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8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8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8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8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8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8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8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8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4" dur="1000" fill="hold"/>
                                        <p:tgtEl>
                                          <p:spTgt spid="58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8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82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82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8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58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8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82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82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8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8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8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58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8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8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8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8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82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82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58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8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8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58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58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58" grpId="0" animBg="1"/>
      <p:bldP spid="582660" grpId="0" animBg="1"/>
      <p:bldP spid="582662" grpId="0" animBg="1"/>
      <p:bldP spid="582664" grpId="0"/>
      <p:bldP spid="582665" grpId="0" animBg="1"/>
      <p:bldP spid="582693" grpId="0" autoUpdateAnimBg="0"/>
      <p:bldP spid="582703" grpId="0" animBg="1"/>
      <p:bldP spid="582704" grpId="0" animBg="1"/>
      <p:bldP spid="582705" grpId="0" animBg="1"/>
      <p:bldP spid="5827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378" name="Text Box 2">
            <a:extLst>
              <a:ext uri="{FF2B5EF4-FFF2-40B4-BE49-F238E27FC236}">
                <a16:creationId xmlns:a16="http://schemas.microsoft.com/office/drawing/2014/main" id="{3A65855A-25DE-4A4F-A774-39650193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811213"/>
            <a:ext cx="489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ea typeface="华文中宋" panose="02010600040101010101" pitchFamily="2" charset="-122"/>
              </a:rPr>
              <a:t>光线通过波片的传播情况</a:t>
            </a:r>
          </a:p>
        </p:txBody>
      </p:sp>
      <p:sp>
        <p:nvSpPr>
          <p:cNvPr id="1253379" name="Rectangle 3">
            <a:extLst>
              <a:ext uri="{FF2B5EF4-FFF2-40B4-BE49-F238E27FC236}">
                <a16:creationId xmlns:a16="http://schemas.microsoft.com/office/drawing/2014/main" id="{8FD3AED1-ADAA-43C9-8ED9-190F28749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3554413"/>
            <a:ext cx="3703637" cy="1336675"/>
          </a:xfrm>
          <a:prstGeom prst="rect">
            <a:avLst/>
          </a:prstGeom>
          <a:solidFill>
            <a:srgbClr val="FFFF00">
              <a:alpha val="50195"/>
            </a:srgbClr>
          </a:solidFill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>
              <a:solidFill>
                <a:schemeClr val="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253380" name="Line 4">
            <a:extLst>
              <a:ext uri="{FF2B5EF4-FFF2-40B4-BE49-F238E27FC236}">
                <a16:creationId xmlns:a16="http://schemas.microsoft.com/office/drawing/2014/main" id="{F6FDB80F-E8C8-48A4-91C0-6508C6F7D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725" y="4033838"/>
            <a:ext cx="3703638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1" name="Line 5">
            <a:extLst>
              <a:ext uri="{FF2B5EF4-FFF2-40B4-BE49-F238E27FC236}">
                <a16:creationId xmlns:a16="http://schemas.microsoft.com/office/drawing/2014/main" id="{249B63B1-CF65-45B4-ADD3-DB826D8FD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725" y="4619625"/>
            <a:ext cx="3703638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2" name="Line 6">
            <a:extLst>
              <a:ext uri="{FF2B5EF4-FFF2-40B4-BE49-F238E27FC236}">
                <a16:creationId xmlns:a16="http://schemas.microsoft.com/office/drawing/2014/main" id="{94A0925F-D6BC-436E-9F8A-252549465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8250" y="4248150"/>
            <a:ext cx="2728913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3" name="Line 7">
            <a:extLst>
              <a:ext uri="{FF2B5EF4-FFF2-40B4-BE49-F238E27FC236}">
                <a16:creationId xmlns:a16="http://schemas.microsoft.com/office/drawing/2014/main" id="{01B70959-DDAF-4E38-848B-100233BCDB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8250" y="4424363"/>
            <a:ext cx="2728913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4" name="Arc 8">
            <a:extLst>
              <a:ext uri="{FF2B5EF4-FFF2-40B4-BE49-F238E27FC236}">
                <a16:creationId xmlns:a16="http://schemas.microsoft.com/office/drawing/2014/main" id="{C3094AFD-EE42-48EA-844B-4ABA388D6622}"/>
              </a:ext>
            </a:extLst>
          </p:cNvPr>
          <p:cNvSpPr>
            <a:spLocks/>
          </p:cNvSpPr>
          <p:nvPr/>
        </p:nvSpPr>
        <p:spPr bwMode="auto">
          <a:xfrm>
            <a:off x="1330325" y="2949575"/>
            <a:ext cx="1198563" cy="612775"/>
          </a:xfrm>
          <a:custGeom>
            <a:avLst/>
            <a:gdLst>
              <a:gd name="T0" fmla="*/ 2147483646 w 43200"/>
              <a:gd name="T1" fmla="*/ 2147483646 h 22054"/>
              <a:gd name="T2" fmla="*/ 2147483646 w 43200"/>
              <a:gd name="T3" fmla="*/ 2147483646 h 22054"/>
              <a:gd name="T4" fmla="*/ 2147483646 w 43200"/>
              <a:gd name="T5" fmla="*/ 2147483646 h 22054"/>
              <a:gd name="T6" fmla="*/ 0 60000 65536"/>
              <a:gd name="T7" fmla="*/ 0 60000 65536"/>
              <a:gd name="T8" fmla="*/ 0 60000 65536"/>
              <a:gd name="T9" fmla="*/ 0 w 43200"/>
              <a:gd name="T10" fmla="*/ 0 h 22054"/>
              <a:gd name="T11" fmla="*/ 43200 w 43200"/>
              <a:gd name="T12" fmla="*/ 22054 h 220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054" fill="none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</a:path>
              <a:path w="43200" h="22054" stroke="0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  <a:lnTo>
                  <a:pt x="21600" y="21600"/>
                </a:lnTo>
                <a:lnTo>
                  <a:pt x="4" y="22054"/>
                </a:lnTo>
                <a:close/>
              </a:path>
            </a:pathLst>
          </a:custGeom>
          <a:noFill/>
          <a:ln w="254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5" name="Arc 9">
            <a:extLst>
              <a:ext uri="{FF2B5EF4-FFF2-40B4-BE49-F238E27FC236}">
                <a16:creationId xmlns:a16="http://schemas.microsoft.com/office/drawing/2014/main" id="{9A5E7149-CFF2-434B-AFB4-A2B86F1E59CB}"/>
              </a:ext>
            </a:extLst>
          </p:cNvPr>
          <p:cNvSpPr>
            <a:spLocks/>
          </p:cNvSpPr>
          <p:nvPr/>
        </p:nvSpPr>
        <p:spPr bwMode="auto">
          <a:xfrm>
            <a:off x="1328738" y="3571875"/>
            <a:ext cx="1196975" cy="666750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6" name="Arc 10">
            <a:extLst>
              <a:ext uri="{FF2B5EF4-FFF2-40B4-BE49-F238E27FC236}">
                <a16:creationId xmlns:a16="http://schemas.microsoft.com/office/drawing/2014/main" id="{2E0F12D8-0E85-471B-8D67-0046FEB5357C}"/>
              </a:ext>
            </a:extLst>
          </p:cNvPr>
          <p:cNvSpPr>
            <a:spLocks/>
          </p:cNvSpPr>
          <p:nvPr/>
        </p:nvSpPr>
        <p:spPr bwMode="auto">
          <a:xfrm>
            <a:off x="2986088" y="2949575"/>
            <a:ext cx="1196975" cy="612775"/>
          </a:xfrm>
          <a:custGeom>
            <a:avLst/>
            <a:gdLst>
              <a:gd name="T0" fmla="*/ 2147483646 w 43200"/>
              <a:gd name="T1" fmla="*/ 2147483646 h 22054"/>
              <a:gd name="T2" fmla="*/ 2147483646 w 43200"/>
              <a:gd name="T3" fmla="*/ 2147483646 h 22054"/>
              <a:gd name="T4" fmla="*/ 2147483646 w 43200"/>
              <a:gd name="T5" fmla="*/ 2147483646 h 22054"/>
              <a:gd name="T6" fmla="*/ 0 60000 65536"/>
              <a:gd name="T7" fmla="*/ 0 60000 65536"/>
              <a:gd name="T8" fmla="*/ 0 60000 65536"/>
              <a:gd name="T9" fmla="*/ 0 w 43200"/>
              <a:gd name="T10" fmla="*/ 0 h 22054"/>
              <a:gd name="T11" fmla="*/ 43200 w 43200"/>
              <a:gd name="T12" fmla="*/ 22054 h 220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054" fill="none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</a:path>
              <a:path w="43200" h="22054" stroke="0" extrusionOk="0">
                <a:moveTo>
                  <a:pt x="4" y="22054"/>
                </a:moveTo>
                <a:cubicBezTo>
                  <a:pt x="1" y="21902"/>
                  <a:pt x="0" y="2175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32"/>
                  <a:pt x="43199" y="21665"/>
                  <a:pt x="43199" y="21697"/>
                </a:cubicBezTo>
                <a:lnTo>
                  <a:pt x="21600" y="21600"/>
                </a:lnTo>
                <a:lnTo>
                  <a:pt x="4" y="22054"/>
                </a:lnTo>
                <a:close/>
              </a:path>
            </a:pathLst>
          </a:custGeom>
          <a:noFill/>
          <a:ln w="254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7" name="Arc 11">
            <a:extLst>
              <a:ext uri="{FF2B5EF4-FFF2-40B4-BE49-F238E27FC236}">
                <a16:creationId xmlns:a16="http://schemas.microsoft.com/office/drawing/2014/main" id="{A5CC0F04-785A-4E2A-ABE9-4C7D456FFE55}"/>
              </a:ext>
            </a:extLst>
          </p:cNvPr>
          <p:cNvSpPr>
            <a:spLocks/>
          </p:cNvSpPr>
          <p:nvPr/>
        </p:nvSpPr>
        <p:spPr bwMode="auto">
          <a:xfrm>
            <a:off x="2987675" y="3571875"/>
            <a:ext cx="1196975" cy="666750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8" name="Arc 12">
            <a:extLst>
              <a:ext uri="{FF2B5EF4-FFF2-40B4-BE49-F238E27FC236}">
                <a16:creationId xmlns:a16="http://schemas.microsoft.com/office/drawing/2014/main" id="{12A451B4-DA40-4789-848C-002F98547D36}"/>
              </a:ext>
            </a:extLst>
          </p:cNvPr>
          <p:cNvSpPr>
            <a:spLocks/>
          </p:cNvSpPr>
          <p:nvPr/>
        </p:nvSpPr>
        <p:spPr bwMode="auto">
          <a:xfrm>
            <a:off x="1328738" y="3524250"/>
            <a:ext cx="1196975" cy="890588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89" name="Arc 13">
            <a:extLst>
              <a:ext uri="{FF2B5EF4-FFF2-40B4-BE49-F238E27FC236}">
                <a16:creationId xmlns:a16="http://schemas.microsoft.com/office/drawing/2014/main" id="{B82D1C42-C500-4497-8406-14E4A6D1B241}"/>
              </a:ext>
            </a:extLst>
          </p:cNvPr>
          <p:cNvSpPr>
            <a:spLocks/>
          </p:cNvSpPr>
          <p:nvPr/>
        </p:nvSpPr>
        <p:spPr bwMode="auto">
          <a:xfrm>
            <a:off x="2986088" y="3567113"/>
            <a:ext cx="1195387" cy="857250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390" name="Arc 14">
            <a:extLst>
              <a:ext uri="{FF2B5EF4-FFF2-40B4-BE49-F238E27FC236}">
                <a16:creationId xmlns:a16="http://schemas.microsoft.com/office/drawing/2014/main" id="{1D16C51F-9294-4FB4-A2C7-3F9BB2E84F0D}"/>
              </a:ext>
            </a:extLst>
          </p:cNvPr>
          <p:cNvSpPr>
            <a:spLocks/>
          </p:cNvSpPr>
          <p:nvPr/>
        </p:nvSpPr>
        <p:spPr bwMode="auto">
          <a:xfrm flipV="1">
            <a:off x="1328738" y="2705100"/>
            <a:ext cx="1196975" cy="890588"/>
          </a:xfrm>
          <a:custGeom>
            <a:avLst/>
            <a:gdLst>
              <a:gd name="T0" fmla="*/ 2147483646 w 43200"/>
              <a:gd name="T1" fmla="*/ 0 h 24100"/>
              <a:gd name="T2" fmla="*/ 2147483646 w 43200"/>
              <a:gd name="T3" fmla="*/ 2147483646 h 24100"/>
              <a:gd name="T4" fmla="*/ 2147483646 w 43200"/>
              <a:gd name="T5" fmla="*/ 2147483646 h 24100"/>
              <a:gd name="T6" fmla="*/ 0 60000 65536"/>
              <a:gd name="T7" fmla="*/ 0 60000 65536"/>
              <a:gd name="T8" fmla="*/ 0 60000 65536"/>
              <a:gd name="T9" fmla="*/ 0 w 43200"/>
              <a:gd name="T10" fmla="*/ 0 h 24100"/>
              <a:gd name="T11" fmla="*/ 43200 w 43200"/>
              <a:gd name="T12" fmla="*/ 24100 h 24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00" fill="none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</a:path>
              <a:path w="43200" h="24100" stroke="0" extrusionOk="0">
                <a:moveTo>
                  <a:pt x="43054" y="0"/>
                </a:moveTo>
                <a:cubicBezTo>
                  <a:pt x="43151" y="829"/>
                  <a:pt x="43200" y="1664"/>
                  <a:pt x="43200" y="2500"/>
                </a:cubicBezTo>
                <a:cubicBezTo>
                  <a:pt x="43200" y="14429"/>
                  <a:pt x="33529" y="24100"/>
                  <a:pt x="21600" y="24100"/>
                </a:cubicBezTo>
                <a:cubicBezTo>
                  <a:pt x="9670" y="24100"/>
                  <a:pt x="0" y="14429"/>
                  <a:pt x="0" y="2500"/>
                </a:cubicBezTo>
                <a:cubicBezTo>
                  <a:pt x="-1" y="1786"/>
                  <a:pt x="35" y="1072"/>
                  <a:pt x="106" y="362"/>
                </a:cubicBezTo>
                <a:lnTo>
                  <a:pt x="21600" y="2500"/>
                </a:lnTo>
                <a:lnTo>
                  <a:pt x="43054" y="0"/>
                </a:lnTo>
                <a:close/>
              </a:path>
            </a:pathLst>
          </a:custGeom>
          <a:noFill/>
          <a:ln w="254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sp>
        <p:nvSpPr>
          <p:cNvPr id="1253391" name="Arc 15">
            <a:extLst>
              <a:ext uri="{FF2B5EF4-FFF2-40B4-BE49-F238E27FC236}">
                <a16:creationId xmlns:a16="http://schemas.microsoft.com/office/drawing/2014/main" id="{797F5761-CE9B-4FCA-8C1B-7C25BA193387}"/>
              </a:ext>
            </a:extLst>
          </p:cNvPr>
          <p:cNvSpPr>
            <a:spLocks/>
          </p:cNvSpPr>
          <p:nvPr/>
        </p:nvSpPr>
        <p:spPr bwMode="auto">
          <a:xfrm flipV="1">
            <a:off x="2987675" y="2703513"/>
            <a:ext cx="1196975" cy="868362"/>
          </a:xfrm>
          <a:custGeom>
            <a:avLst/>
            <a:gdLst>
              <a:gd name="T0" fmla="*/ 2147483646 w 43200"/>
              <a:gd name="T1" fmla="*/ 0 h 23507"/>
              <a:gd name="T2" fmla="*/ 2147483646 w 43200"/>
              <a:gd name="T3" fmla="*/ 2147483646 h 23507"/>
              <a:gd name="T4" fmla="*/ 2147483646 w 43200"/>
              <a:gd name="T5" fmla="*/ 2147483646 h 23507"/>
              <a:gd name="T6" fmla="*/ 0 60000 65536"/>
              <a:gd name="T7" fmla="*/ 0 60000 65536"/>
              <a:gd name="T8" fmla="*/ 0 60000 65536"/>
              <a:gd name="T9" fmla="*/ 0 w 43200"/>
              <a:gd name="T10" fmla="*/ 0 h 23507"/>
              <a:gd name="T11" fmla="*/ 43200 w 43200"/>
              <a:gd name="T12" fmla="*/ 23507 h 235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3507" fill="none" extrusionOk="0">
                <a:moveTo>
                  <a:pt x="43115" y="0"/>
                </a:moveTo>
                <a:cubicBezTo>
                  <a:pt x="43171" y="634"/>
                  <a:pt x="43200" y="1270"/>
                  <a:pt x="43200" y="1907"/>
                </a:cubicBezTo>
                <a:cubicBezTo>
                  <a:pt x="43200" y="13836"/>
                  <a:pt x="33529" y="23507"/>
                  <a:pt x="21600" y="23507"/>
                </a:cubicBezTo>
                <a:cubicBezTo>
                  <a:pt x="9670" y="23507"/>
                  <a:pt x="0" y="13836"/>
                  <a:pt x="0" y="1907"/>
                </a:cubicBezTo>
                <a:cubicBezTo>
                  <a:pt x="-1" y="1363"/>
                  <a:pt x="20" y="820"/>
                  <a:pt x="61" y="279"/>
                </a:cubicBezTo>
              </a:path>
              <a:path w="43200" h="23507" stroke="0" extrusionOk="0">
                <a:moveTo>
                  <a:pt x="43115" y="0"/>
                </a:moveTo>
                <a:cubicBezTo>
                  <a:pt x="43171" y="634"/>
                  <a:pt x="43200" y="1270"/>
                  <a:pt x="43200" y="1907"/>
                </a:cubicBezTo>
                <a:cubicBezTo>
                  <a:pt x="43200" y="13836"/>
                  <a:pt x="33529" y="23507"/>
                  <a:pt x="21600" y="23507"/>
                </a:cubicBezTo>
                <a:cubicBezTo>
                  <a:pt x="9670" y="23507"/>
                  <a:pt x="0" y="13836"/>
                  <a:pt x="0" y="1907"/>
                </a:cubicBezTo>
                <a:cubicBezTo>
                  <a:pt x="-1" y="1363"/>
                  <a:pt x="20" y="820"/>
                  <a:pt x="61" y="279"/>
                </a:cubicBezTo>
                <a:lnTo>
                  <a:pt x="21600" y="1907"/>
                </a:lnTo>
                <a:lnTo>
                  <a:pt x="43115" y="0"/>
                </a:lnTo>
                <a:close/>
              </a:path>
            </a:pathLst>
          </a:custGeom>
          <a:noFill/>
          <a:ln w="254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sp>
        <p:nvSpPr>
          <p:cNvPr id="1253392" name="Line 16">
            <a:extLst>
              <a:ext uri="{FF2B5EF4-FFF2-40B4-BE49-F238E27FC236}">
                <a16:creationId xmlns:a16="http://schemas.microsoft.com/office/drawing/2014/main" id="{DAA5DE01-747A-4AC0-82A0-9669C1CFF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9925" y="2487613"/>
            <a:ext cx="0" cy="11049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3393" name="Line 17">
            <a:extLst>
              <a:ext uri="{FF2B5EF4-FFF2-40B4-BE49-F238E27FC236}">
                <a16:creationId xmlns:a16="http://schemas.microsoft.com/office/drawing/2014/main" id="{809878D4-6D36-4920-8E22-B2DBE5A51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8863" y="2487613"/>
            <a:ext cx="0" cy="11049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89D4B594-2EA5-4F75-8064-AC7D8A0BA9CF}"/>
              </a:ext>
            </a:extLst>
          </p:cNvPr>
          <p:cNvGrpSpPr>
            <a:grpSpLocks/>
          </p:cNvGrpSpPr>
          <p:nvPr/>
        </p:nvGrpSpPr>
        <p:grpSpPr bwMode="auto">
          <a:xfrm>
            <a:off x="3500438" y="3551238"/>
            <a:ext cx="193675" cy="1793875"/>
            <a:chOff x="2135" y="1253"/>
            <a:chExt cx="96" cy="907"/>
          </a:xfrm>
        </p:grpSpPr>
        <p:sp>
          <p:nvSpPr>
            <p:cNvPr id="20518" name="Line 19">
              <a:extLst>
                <a:ext uri="{FF2B5EF4-FFF2-40B4-BE49-F238E27FC236}">
                  <a16:creationId xmlns:a16="http://schemas.microsoft.com/office/drawing/2014/main" id="{20ED1F5E-8F43-4F45-9116-D436CCD4A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3" y="1253"/>
              <a:ext cx="0" cy="907"/>
            </a:xfrm>
            <a:prstGeom prst="line">
              <a:avLst/>
            </a:prstGeom>
            <a:noFill/>
            <a:ln w="28575">
              <a:solidFill>
                <a:srgbClr val="CCFFCC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Line 20">
              <a:extLst>
                <a:ext uri="{FF2B5EF4-FFF2-40B4-BE49-F238E27FC236}">
                  <a16:creationId xmlns:a16="http://schemas.microsoft.com/office/drawing/2014/main" id="{1651FD19-15CF-4FEA-BFC2-4D9CCABE7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1741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20" name="Object 21">
              <a:extLst>
                <a:ext uri="{FF2B5EF4-FFF2-40B4-BE49-F238E27FC236}">
                  <a16:creationId xmlns:a16="http://schemas.microsoft.com/office/drawing/2014/main" id="{FE24F972-5017-4C18-9440-F8F923EDAD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6" y="181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570" name="Equation" r:id="rId3" imgW="85629" imgH="95216" progId="Equation.3">
                    <p:embed/>
                  </p:oleObj>
                </mc:Choice>
                <mc:Fallback>
                  <p:oleObj name="Equation" r:id="rId3" imgW="85629" imgH="95216" progId="Equation.3">
                    <p:embed/>
                    <p:pic>
                      <p:nvPicPr>
                        <p:cNvPr id="20520" name="Object 21">
                          <a:extLst>
                            <a:ext uri="{FF2B5EF4-FFF2-40B4-BE49-F238E27FC236}">
                              <a16:creationId xmlns:a16="http://schemas.microsoft.com/office/drawing/2014/main" id="{FE24F972-5017-4C18-9440-F8F923EDAD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" y="181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1" name="Object 22">
              <a:extLst>
                <a:ext uri="{FF2B5EF4-FFF2-40B4-BE49-F238E27FC236}">
                  <a16:creationId xmlns:a16="http://schemas.microsoft.com/office/drawing/2014/main" id="{BA5275C1-D39D-4005-8AEC-0F22B11E7E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6" y="160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571" name="Equation" r:id="rId5" imgW="85629" imgH="95216" progId="Equation.3">
                    <p:embed/>
                  </p:oleObj>
                </mc:Choice>
                <mc:Fallback>
                  <p:oleObj name="Equation" r:id="rId5" imgW="85629" imgH="95216" progId="Equation.3">
                    <p:embed/>
                    <p:pic>
                      <p:nvPicPr>
                        <p:cNvPr id="20521" name="Object 22">
                          <a:extLst>
                            <a:ext uri="{FF2B5EF4-FFF2-40B4-BE49-F238E27FC236}">
                              <a16:creationId xmlns:a16="http://schemas.microsoft.com/office/drawing/2014/main" id="{BA5275C1-D39D-4005-8AEC-0F22B11E7E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" y="160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2" name="Line 23">
              <a:extLst>
                <a:ext uri="{FF2B5EF4-FFF2-40B4-BE49-F238E27FC236}">
                  <a16:creationId xmlns:a16="http://schemas.microsoft.com/office/drawing/2014/main" id="{EA5EAD78-CF17-44B9-B6CA-BC5F26FAC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1933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4">
            <a:extLst>
              <a:ext uri="{FF2B5EF4-FFF2-40B4-BE49-F238E27FC236}">
                <a16:creationId xmlns:a16="http://schemas.microsoft.com/office/drawing/2014/main" id="{87122C98-A602-41E3-B7B8-48C2472BF93C}"/>
              </a:ext>
            </a:extLst>
          </p:cNvPr>
          <p:cNvGrpSpPr>
            <a:grpSpLocks/>
          </p:cNvGrpSpPr>
          <p:nvPr/>
        </p:nvGrpSpPr>
        <p:grpSpPr bwMode="auto">
          <a:xfrm>
            <a:off x="1841500" y="3552825"/>
            <a:ext cx="204788" cy="1792288"/>
            <a:chOff x="1318" y="1298"/>
            <a:chExt cx="101" cy="862"/>
          </a:xfrm>
        </p:grpSpPr>
        <p:sp>
          <p:nvSpPr>
            <p:cNvPr id="20513" name="Line 25">
              <a:extLst>
                <a:ext uri="{FF2B5EF4-FFF2-40B4-BE49-F238E27FC236}">
                  <a16:creationId xmlns:a16="http://schemas.microsoft.com/office/drawing/2014/main" id="{85535DFA-1B2C-422B-8338-04DFB8BAD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1298"/>
              <a:ext cx="0" cy="862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26">
              <a:extLst>
                <a:ext uri="{FF2B5EF4-FFF2-40B4-BE49-F238E27FC236}">
                  <a16:creationId xmlns:a16="http://schemas.microsoft.com/office/drawing/2014/main" id="{8A06AF57-3E5D-4864-BBAC-B12ADE1A7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3" y="1645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27">
              <a:extLst>
                <a:ext uri="{FF2B5EF4-FFF2-40B4-BE49-F238E27FC236}">
                  <a16:creationId xmlns:a16="http://schemas.microsoft.com/office/drawing/2014/main" id="{9156F3C6-96FE-40DC-8E1D-9FDA621AF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1836"/>
              <a:ext cx="9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6" name="Object 28">
              <a:extLst>
                <a:ext uri="{FF2B5EF4-FFF2-40B4-BE49-F238E27FC236}">
                  <a16:creationId xmlns:a16="http://schemas.microsoft.com/office/drawing/2014/main" id="{5CDA6C45-23DB-42A0-9F56-A05CB52C55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0" y="1694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572" name="Equation" r:id="rId7" imgW="85629" imgH="95216" progId="Equation.3">
                    <p:embed/>
                  </p:oleObj>
                </mc:Choice>
                <mc:Fallback>
                  <p:oleObj name="Equation" r:id="rId7" imgW="85629" imgH="95216" progId="Equation.3">
                    <p:embed/>
                    <p:pic>
                      <p:nvPicPr>
                        <p:cNvPr id="20516" name="Object 28">
                          <a:extLst>
                            <a:ext uri="{FF2B5EF4-FFF2-40B4-BE49-F238E27FC236}">
                              <a16:creationId xmlns:a16="http://schemas.microsoft.com/office/drawing/2014/main" id="{5CDA6C45-23DB-42A0-9F56-A05CB52C55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" y="1694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7" name="Object 29">
              <a:extLst>
                <a:ext uri="{FF2B5EF4-FFF2-40B4-BE49-F238E27FC236}">
                  <a16:creationId xmlns:a16="http://schemas.microsoft.com/office/drawing/2014/main" id="{1E31D77F-5D39-4367-9751-6254EDFB4C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6" y="1868"/>
            <a:ext cx="73" cy="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573" name="Equation" r:id="rId9" imgW="85629" imgH="95216" progId="Equation.3">
                    <p:embed/>
                  </p:oleObj>
                </mc:Choice>
                <mc:Fallback>
                  <p:oleObj name="Equation" r:id="rId9" imgW="85629" imgH="95216" progId="Equation.3">
                    <p:embed/>
                    <p:pic>
                      <p:nvPicPr>
                        <p:cNvPr id="20517" name="Object 29">
                          <a:extLst>
                            <a:ext uri="{FF2B5EF4-FFF2-40B4-BE49-F238E27FC236}">
                              <a16:creationId xmlns:a16="http://schemas.microsoft.com/office/drawing/2014/main" id="{1E31D77F-5D39-4367-9751-6254EDFB4C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" y="1868"/>
                          <a:ext cx="73" cy="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3406" name="Object 30">
            <a:extLst>
              <a:ext uri="{FF2B5EF4-FFF2-40B4-BE49-F238E27FC236}">
                <a16:creationId xmlns:a16="http://schemas.microsoft.com/office/drawing/2014/main" id="{8708879C-496D-47B4-9F75-25A6715D33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8738" y="4411663"/>
          <a:ext cx="4349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74" name="公式" r:id="rId11" imgW="514388" imgH="323918" progId="Equation.3">
                  <p:embed/>
                </p:oleObj>
              </mc:Choice>
              <mc:Fallback>
                <p:oleObj name="公式" r:id="rId11" imgW="514388" imgH="323918" progId="Equation.3">
                  <p:embed/>
                  <p:pic>
                    <p:nvPicPr>
                      <p:cNvPr id="1253406" name="Object 30">
                        <a:extLst>
                          <a:ext uri="{FF2B5EF4-FFF2-40B4-BE49-F238E27FC236}">
                            <a16:creationId xmlns:a16="http://schemas.microsoft.com/office/drawing/2014/main" id="{8708879C-496D-47B4-9F75-25A6715D3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4411663"/>
                        <a:ext cx="4349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3407" name="Object 31">
            <a:extLst>
              <a:ext uri="{FF2B5EF4-FFF2-40B4-BE49-F238E27FC236}">
                <a16:creationId xmlns:a16="http://schemas.microsoft.com/office/drawing/2014/main" id="{9C16F8E4-5226-4D46-A047-F13B7543B314}"/>
              </a:ext>
            </a:extLst>
          </p:cNvPr>
          <p:cNvGraphicFramePr>
            <a:graphicFrameLocks/>
          </p:cNvGraphicFramePr>
          <p:nvPr/>
        </p:nvGraphicFramePr>
        <p:xfrm>
          <a:off x="2547938" y="3932238"/>
          <a:ext cx="388937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75" name="公式" r:id="rId13" imgW="542829" imgH="323918" progId="Equation.3">
                  <p:embed/>
                </p:oleObj>
              </mc:Choice>
              <mc:Fallback>
                <p:oleObj name="公式" r:id="rId13" imgW="542829" imgH="323918" progId="Equation.3">
                  <p:embed/>
                  <p:pic>
                    <p:nvPicPr>
                      <p:cNvPr id="1253407" name="Object 31">
                        <a:extLst>
                          <a:ext uri="{FF2B5EF4-FFF2-40B4-BE49-F238E27FC236}">
                            <a16:creationId xmlns:a16="http://schemas.microsoft.com/office/drawing/2014/main" id="{9C16F8E4-5226-4D46-A047-F13B7543B3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3932238"/>
                        <a:ext cx="388937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3408" name="Line 32">
            <a:extLst>
              <a:ext uri="{FF2B5EF4-FFF2-40B4-BE49-F238E27FC236}">
                <a16:creationId xmlns:a16="http://schemas.microsoft.com/office/drawing/2014/main" id="{A2734619-4042-4D34-AE29-67FEE28F0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438" y="3548063"/>
            <a:ext cx="360362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409" name="Line 33">
            <a:extLst>
              <a:ext uri="{FF2B5EF4-FFF2-40B4-BE49-F238E27FC236}">
                <a16:creationId xmlns:a16="http://schemas.microsoft.com/office/drawing/2014/main" id="{903C644D-7218-4BE7-80EB-EE7AB4C6C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025" y="4884738"/>
            <a:ext cx="360363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410" name="Line 34">
            <a:extLst>
              <a:ext uri="{FF2B5EF4-FFF2-40B4-BE49-F238E27FC236}">
                <a16:creationId xmlns:a16="http://schemas.microsoft.com/office/drawing/2014/main" id="{603A7E5D-3C72-4061-90D1-F1F95066B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63" y="4449763"/>
            <a:ext cx="0" cy="4318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411" name="Line 35">
            <a:extLst>
              <a:ext uri="{FF2B5EF4-FFF2-40B4-BE49-F238E27FC236}">
                <a16:creationId xmlns:a16="http://schemas.microsoft.com/office/drawing/2014/main" id="{33F3F31B-BA4D-41D1-A80D-3CB15171E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3573463"/>
            <a:ext cx="0" cy="360362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3412" name="Text Box 36">
            <a:extLst>
              <a:ext uri="{FF2B5EF4-FFF2-40B4-BE49-F238E27FC236}">
                <a16:creationId xmlns:a16="http://schemas.microsoft.com/office/drawing/2014/main" id="{BF274EAA-F3FF-41DA-9413-B402B7B0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1955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000" i="1">
                <a:solidFill>
                  <a:schemeClr val="hlink"/>
                </a:solidFill>
              </a:rPr>
              <a:t>d</a:t>
            </a:r>
          </a:p>
        </p:txBody>
      </p:sp>
      <p:sp>
        <p:nvSpPr>
          <p:cNvPr id="1253413" name="Text Box 37">
            <a:extLst>
              <a:ext uri="{FF2B5EF4-FFF2-40B4-BE49-F238E27FC236}">
                <a16:creationId xmlns:a16="http://schemas.microsoft.com/office/drawing/2014/main" id="{7ECC01AC-C2C8-4D37-99FC-229D7C1F5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2388" y="1676400"/>
            <a:ext cx="40116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66FFFF"/>
                </a:solidFill>
              </a:rPr>
              <a:t>o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光和</a:t>
            </a:r>
            <a:r>
              <a:rPr lang="en-US" altLang="zh-CN">
                <a:solidFill>
                  <a:srgbClr val="66FFFF"/>
                </a:solidFill>
              </a:rPr>
              <a:t>e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光传播方向相同</a:t>
            </a:r>
            <a:r>
              <a:rPr lang="zh-CN" altLang="en-US">
                <a:solidFill>
                  <a:schemeClr val="hlink"/>
                </a:solidFill>
              </a:rPr>
              <a:t>，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但速度不同。</a:t>
            </a:r>
          </a:p>
        </p:txBody>
      </p:sp>
      <p:sp>
        <p:nvSpPr>
          <p:cNvPr id="1253414" name="Text Box 38">
            <a:extLst>
              <a:ext uri="{FF2B5EF4-FFF2-40B4-BE49-F238E27FC236}">
                <a16:creationId xmlns:a16="http://schemas.microsoft.com/office/drawing/2014/main" id="{6DDBDB9E-80CE-4A4C-80B5-EF6E4E578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2388" y="2782888"/>
            <a:ext cx="39020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rgbClr val="66FFFF"/>
                </a:solidFill>
              </a:rPr>
              <a:t>o 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光和</a:t>
            </a:r>
            <a:r>
              <a:rPr lang="en-US" altLang="zh-CN" dirty="0">
                <a:solidFill>
                  <a:srgbClr val="66FFFF"/>
                </a:solidFill>
              </a:rPr>
              <a:t>e </a:t>
            </a: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光通过波片后产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生的相位差为：</a:t>
            </a:r>
          </a:p>
        </p:txBody>
      </p:sp>
      <p:graphicFrame>
        <p:nvGraphicFramePr>
          <p:cNvPr id="1253415" name="Object 39">
            <a:extLst>
              <a:ext uri="{FF2B5EF4-FFF2-40B4-BE49-F238E27FC236}">
                <a16:creationId xmlns:a16="http://schemas.microsoft.com/office/drawing/2014/main" id="{F44AEFA5-4B8B-41D4-B8F7-76787EB78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3898900"/>
          <a:ext cx="27971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76" name="公式" r:id="rId15" imgW="2762161" imgH="799998" progId="Equation.3">
                  <p:embed/>
                </p:oleObj>
              </mc:Choice>
              <mc:Fallback>
                <p:oleObj name="公式" r:id="rId15" imgW="2762161" imgH="799998" progId="Equation.3">
                  <p:embed/>
                  <p:pic>
                    <p:nvPicPr>
                      <p:cNvPr id="1253415" name="Object 39">
                        <a:extLst>
                          <a:ext uri="{FF2B5EF4-FFF2-40B4-BE49-F238E27FC236}">
                            <a16:creationId xmlns:a16="http://schemas.microsoft.com/office/drawing/2014/main" id="{F44AEFA5-4B8B-41D4-B8F7-76787EB78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898900"/>
                        <a:ext cx="27971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3416" name="Text Box 40">
            <a:extLst>
              <a:ext uri="{FF2B5EF4-FFF2-40B4-BE49-F238E27FC236}">
                <a16:creationId xmlns:a16="http://schemas.microsoft.com/office/drawing/2014/main" id="{5427787C-224F-4365-8662-575972694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797425"/>
            <a:ext cx="3924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hlink"/>
                </a:solidFill>
              </a:rPr>
              <a:t>n</a:t>
            </a:r>
            <a:r>
              <a:rPr lang="en-US" altLang="zh-CN" sz="2800" i="1" baseline="-25000">
                <a:solidFill>
                  <a:schemeClr val="hlink"/>
                </a:solidFill>
              </a:rPr>
              <a:t>o</a:t>
            </a:r>
            <a:r>
              <a:rPr lang="en-US" altLang="zh-CN" sz="2800" baseline="-25000">
                <a:solidFill>
                  <a:schemeClr val="hlink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</a:rPr>
              <a:t>——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 sz="2800">
                <a:solidFill>
                  <a:srgbClr val="66FFFF"/>
                </a:solidFill>
              </a:rPr>
              <a:t>o</a:t>
            </a:r>
            <a:r>
              <a:rPr lang="en-US" altLang="zh-CN" sz="2800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光主折射率</a:t>
            </a:r>
            <a:endParaRPr lang="zh-CN" altLang="en-US" sz="280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253417" name="Text Box 41">
            <a:extLst>
              <a:ext uri="{FF2B5EF4-FFF2-40B4-BE49-F238E27FC236}">
                <a16:creationId xmlns:a16="http://schemas.microsoft.com/office/drawing/2014/main" id="{05A6B77B-351E-4802-B5BA-813DE5476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357813"/>
            <a:ext cx="3924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hlink"/>
                </a:solidFill>
              </a:rPr>
              <a:t>n</a:t>
            </a:r>
            <a:r>
              <a:rPr lang="en-US" altLang="zh-CN" sz="2800" i="1" baseline="-25000">
                <a:solidFill>
                  <a:schemeClr val="hlink"/>
                </a:solidFill>
              </a:rPr>
              <a:t>e </a:t>
            </a:r>
            <a:r>
              <a:rPr lang="en-US" altLang="zh-CN" i="1">
                <a:solidFill>
                  <a:schemeClr val="hlink"/>
                </a:solidFill>
              </a:rPr>
              <a:t>——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en-US" altLang="zh-CN" sz="2800">
                <a:solidFill>
                  <a:srgbClr val="66FFFF"/>
                </a:solidFill>
              </a:rPr>
              <a:t>e</a:t>
            </a:r>
            <a:r>
              <a:rPr lang="en-US" altLang="zh-CN" sz="2800" i="1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光主折射率</a:t>
            </a:r>
            <a:endParaRPr lang="zh-CN" altLang="en-US" sz="2800">
              <a:solidFill>
                <a:schemeClr val="hlink"/>
              </a:solidFill>
              <a:ea typeface="华文中宋" panose="02010600040101010101" pitchFamily="2" charset="-122"/>
            </a:endParaRPr>
          </a:p>
        </p:txBody>
      </p:sp>
      <p:sp>
        <p:nvSpPr>
          <p:cNvPr id="20512" name="灯片编号占位符 1">
            <a:extLst>
              <a:ext uri="{FF2B5EF4-FFF2-40B4-BE49-F238E27FC236}">
                <a16:creationId xmlns:a16="http://schemas.microsoft.com/office/drawing/2014/main" id="{55787B38-B315-48A6-899F-FAF2D7AB999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CF68D1-071A-49CA-BF59-AE234D227237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5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5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5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5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5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5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5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5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5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53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5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5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5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5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5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5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5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25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25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5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25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5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25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5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5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5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3378" grpId="0" autoUpdateAnimBg="0"/>
      <p:bldP spid="1253379" grpId="0" animBg="1"/>
      <p:bldP spid="1253412" grpId="0"/>
      <p:bldP spid="1253413" grpId="0" autoUpdateAnimBg="0"/>
      <p:bldP spid="1253414" grpId="0" autoUpdateAnimBg="0"/>
      <p:bldP spid="1253416" grpId="0" autoUpdateAnimBg="0"/>
      <p:bldP spid="125341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402" name="Line 2">
            <a:extLst>
              <a:ext uri="{FF2B5EF4-FFF2-40B4-BE49-F238E27FC236}">
                <a16:creationId xmlns:a16="http://schemas.microsoft.com/office/drawing/2014/main" id="{0337B713-9AF6-4E16-B4BB-C7E9FC160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300" y="1268413"/>
            <a:ext cx="1588" cy="3052762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03" name="Line 3">
            <a:extLst>
              <a:ext uri="{FF2B5EF4-FFF2-40B4-BE49-F238E27FC236}">
                <a16:creationId xmlns:a16="http://schemas.microsoft.com/office/drawing/2014/main" id="{5C7F2555-4865-4CA5-8E4E-4684658D0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7550" y="3495675"/>
            <a:ext cx="25908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5" name="Text Box 4">
            <a:extLst>
              <a:ext uri="{FF2B5EF4-FFF2-40B4-BE49-F238E27FC236}">
                <a16:creationId xmlns:a16="http://schemas.microsoft.com/office/drawing/2014/main" id="{FDE896E2-B686-43D8-B386-43355339B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28625"/>
            <a:ext cx="702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  <a:ea typeface="华文中宋" panose="02010600040101010101" pitchFamily="2" charset="-122"/>
              </a:rPr>
              <a:t>光线通过偏振片的传播情况及光强分析</a:t>
            </a:r>
          </a:p>
        </p:txBody>
      </p:sp>
      <p:sp>
        <p:nvSpPr>
          <p:cNvPr id="1254405" name="Line 5">
            <a:extLst>
              <a:ext uri="{FF2B5EF4-FFF2-40B4-BE49-F238E27FC236}">
                <a16:creationId xmlns:a16="http://schemas.microsoft.com/office/drawing/2014/main" id="{FE687E5F-2B8A-4F0F-80EE-42B067819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300" y="1819275"/>
            <a:ext cx="1588" cy="1662113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06" name="Line 6">
            <a:extLst>
              <a:ext uri="{FF2B5EF4-FFF2-40B4-BE49-F238E27FC236}">
                <a16:creationId xmlns:a16="http://schemas.microsoft.com/office/drawing/2014/main" id="{CC7DE1B7-D22B-4C9D-B3DA-53F9678F6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8175" y="1873250"/>
            <a:ext cx="827088" cy="795338"/>
          </a:xfrm>
          <a:prstGeom prst="line">
            <a:avLst/>
          </a:prstGeom>
          <a:noFill/>
          <a:ln w="19050">
            <a:solidFill>
              <a:srgbClr val="66FFFF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07" name="Arc 7">
            <a:extLst>
              <a:ext uri="{FF2B5EF4-FFF2-40B4-BE49-F238E27FC236}">
                <a16:creationId xmlns:a16="http://schemas.microsoft.com/office/drawing/2014/main" id="{D3E4AB51-7BD8-4FB5-93D8-20065FFA2046}"/>
              </a:ext>
            </a:extLst>
          </p:cNvPr>
          <p:cNvSpPr>
            <a:spLocks/>
          </p:cNvSpPr>
          <p:nvPr/>
        </p:nvSpPr>
        <p:spPr bwMode="auto">
          <a:xfrm>
            <a:off x="6972300" y="2887663"/>
            <a:ext cx="385763" cy="2206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08" name="Line 8">
            <a:extLst>
              <a:ext uri="{FF2B5EF4-FFF2-40B4-BE49-F238E27FC236}">
                <a16:creationId xmlns:a16="http://schemas.microsoft.com/office/drawing/2014/main" id="{26A60875-2156-41AB-84C3-8F9D867FB5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5063" y="2170113"/>
            <a:ext cx="2084387" cy="2084387"/>
          </a:xfrm>
          <a:prstGeom prst="line">
            <a:avLst/>
          </a:prstGeom>
          <a:noFill/>
          <a:ln w="28575">
            <a:solidFill>
              <a:schemeClr val="hlink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54409" name="Object 9">
            <a:extLst>
              <a:ext uri="{FF2B5EF4-FFF2-40B4-BE49-F238E27FC236}">
                <a16:creationId xmlns:a16="http://schemas.microsoft.com/office/drawing/2014/main" id="{E170A575-81E5-456C-BE59-7962D0DEFF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8200" y="2630488"/>
          <a:ext cx="338138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6" name="Equation" r:id="rId3" imgW="123857" imgH="114198" progId="Equation.DSMT4">
                  <p:embed/>
                </p:oleObj>
              </mc:Choice>
              <mc:Fallback>
                <p:oleObj name="Equation" r:id="rId3" imgW="123857" imgH="114198" progId="Equation.DSMT4">
                  <p:embed/>
                  <p:pic>
                    <p:nvPicPr>
                      <p:cNvPr id="1254409" name="Object 9">
                        <a:extLst>
                          <a:ext uri="{FF2B5EF4-FFF2-40B4-BE49-F238E27FC236}">
                            <a16:creationId xmlns:a16="http://schemas.microsoft.com/office/drawing/2014/main" id="{E170A575-81E5-456C-BE59-7962D0DEFF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2630488"/>
                        <a:ext cx="338138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4410" name="Line 10">
            <a:extLst>
              <a:ext uri="{FF2B5EF4-FFF2-40B4-BE49-F238E27FC236}">
                <a16:creationId xmlns:a16="http://schemas.microsoft.com/office/drawing/2014/main" id="{AE1E7020-250C-4311-856C-40B4BC761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5188" y="2457450"/>
            <a:ext cx="1943100" cy="1943100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54411" name="Object 11">
            <a:extLst>
              <a:ext uri="{FF2B5EF4-FFF2-40B4-BE49-F238E27FC236}">
                <a16:creationId xmlns:a16="http://schemas.microsoft.com/office/drawing/2014/main" id="{B42AE65D-5CF1-47E1-943E-73DCB41BE0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2088" y="1412875"/>
          <a:ext cx="3349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7" name="公式" r:id="rId5" imgW="304902" imgH="390661" progId="Equation.3">
                  <p:embed/>
                </p:oleObj>
              </mc:Choice>
              <mc:Fallback>
                <p:oleObj name="公式" r:id="rId5" imgW="304902" imgH="390661" progId="Equation.3">
                  <p:embed/>
                  <p:pic>
                    <p:nvPicPr>
                      <p:cNvPr id="1254411" name="Object 11">
                        <a:extLst>
                          <a:ext uri="{FF2B5EF4-FFF2-40B4-BE49-F238E27FC236}">
                            <a16:creationId xmlns:a16="http://schemas.microsoft.com/office/drawing/2014/main" id="{B42AE65D-5CF1-47E1-943E-73DCB41BE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088" y="1412875"/>
                        <a:ext cx="3349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12" name="Object 12">
            <a:extLst>
              <a:ext uri="{FF2B5EF4-FFF2-40B4-BE49-F238E27FC236}">
                <a16:creationId xmlns:a16="http://schemas.microsoft.com/office/drawing/2014/main" id="{8FCEBADC-CF56-460B-9B3D-144C4808DE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2630488"/>
          <a:ext cx="371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8" name="公式" r:id="rId7" imgW="342824" imgH="400152" progId="Equation.3">
                  <p:embed/>
                </p:oleObj>
              </mc:Choice>
              <mc:Fallback>
                <p:oleObj name="公式" r:id="rId7" imgW="342824" imgH="400152" progId="Equation.3">
                  <p:embed/>
                  <p:pic>
                    <p:nvPicPr>
                      <p:cNvPr id="1254412" name="Object 12">
                        <a:extLst>
                          <a:ext uri="{FF2B5EF4-FFF2-40B4-BE49-F238E27FC236}">
                            <a16:creationId xmlns:a16="http://schemas.microsoft.com/office/drawing/2014/main" id="{8FCEBADC-CF56-460B-9B3D-144C4808DE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630488"/>
                        <a:ext cx="3714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13" name="Object 13">
            <a:extLst>
              <a:ext uri="{FF2B5EF4-FFF2-40B4-BE49-F238E27FC236}">
                <a16:creationId xmlns:a16="http://schemas.microsoft.com/office/drawing/2014/main" id="{A14252F4-AF10-4979-8487-2B1B4E410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3" y="2414588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9" name="公式" r:id="rId9" imgW="323863" imgH="400152" progId="Equation.3">
                  <p:embed/>
                </p:oleObj>
              </mc:Choice>
              <mc:Fallback>
                <p:oleObj name="公式" r:id="rId9" imgW="323863" imgH="400152" progId="Equation.3">
                  <p:embed/>
                  <p:pic>
                    <p:nvPicPr>
                      <p:cNvPr id="1254413" name="Object 13">
                        <a:extLst>
                          <a:ext uri="{FF2B5EF4-FFF2-40B4-BE49-F238E27FC236}">
                            <a16:creationId xmlns:a16="http://schemas.microsoft.com/office/drawing/2014/main" id="{A14252F4-AF10-4979-8487-2B1B4E410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2414588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14" name="Object 14">
            <a:extLst>
              <a:ext uri="{FF2B5EF4-FFF2-40B4-BE49-F238E27FC236}">
                <a16:creationId xmlns:a16="http://schemas.microsoft.com/office/drawing/2014/main" id="{A6C2D991-410E-4865-9E29-F7034DBB86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9525" y="3563938"/>
          <a:ext cx="4714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0" name="公式" r:id="rId11" imgW="438239" imgH="400152" progId="Equation.3">
                  <p:embed/>
                </p:oleObj>
              </mc:Choice>
              <mc:Fallback>
                <p:oleObj name="公式" r:id="rId11" imgW="438239" imgH="400152" progId="Equation.3">
                  <p:embed/>
                  <p:pic>
                    <p:nvPicPr>
                      <p:cNvPr id="1254414" name="Object 14">
                        <a:extLst>
                          <a:ext uri="{FF2B5EF4-FFF2-40B4-BE49-F238E27FC236}">
                            <a16:creationId xmlns:a16="http://schemas.microsoft.com/office/drawing/2014/main" id="{A6C2D991-410E-4865-9E29-F7034DBB86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9525" y="3563938"/>
                        <a:ext cx="4714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15" name="Object 15">
            <a:extLst>
              <a:ext uri="{FF2B5EF4-FFF2-40B4-BE49-F238E27FC236}">
                <a16:creationId xmlns:a16="http://schemas.microsoft.com/office/drawing/2014/main" id="{8593075C-9496-422E-AAA7-DAE03EEF9F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1063" y="3565525"/>
          <a:ext cx="482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1" name="公式" r:id="rId13" imgW="457200" imgH="400152" progId="Equation.3">
                  <p:embed/>
                </p:oleObj>
              </mc:Choice>
              <mc:Fallback>
                <p:oleObj name="公式" r:id="rId13" imgW="457200" imgH="400152" progId="Equation.3">
                  <p:embed/>
                  <p:pic>
                    <p:nvPicPr>
                      <p:cNvPr id="1254415" name="Object 15">
                        <a:extLst>
                          <a:ext uri="{FF2B5EF4-FFF2-40B4-BE49-F238E27FC236}">
                            <a16:creationId xmlns:a16="http://schemas.microsoft.com/office/drawing/2014/main" id="{8593075C-9496-422E-AAA7-DAE03EEF9F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3565525"/>
                        <a:ext cx="482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16" name="Object 16">
            <a:extLst>
              <a:ext uri="{FF2B5EF4-FFF2-40B4-BE49-F238E27FC236}">
                <a16:creationId xmlns:a16="http://schemas.microsoft.com/office/drawing/2014/main" id="{DA88DF9B-C081-49E1-AD15-97586E107E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8950" y="3000375"/>
          <a:ext cx="3206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2" name="公式" r:id="rId15" imgW="285635" imgH="390661" progId="Equation.3">
                  <p:embed/>
                </p:oleObj>
              </mc:Choice>
              <mc:Fallback>
                <p:oleObj name="公式" r:id="rId15" imgW="285635" imgH="390661" progId="Equation.3">
                  <p:embed/>
                  <p:pic>
                    <p:nvPicPr>
                      <p:cNvPr id="1254416" name="Object 16">
                        <a:extLst>
                          <a:ext uri="{FF2B5EF4-FFF2-40B4-BE49-F238E27FC236}">
                            <a16:creationId xmlns:a16="http://schemas.microsoft.com/office/drawing/2014/main" id="{DA88DF9B-C081-49E1-AD15-97586E107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950" y="3000375"/>
                        <a:ext cx="3206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17" name="Object 17">
            <a:extLst>
              <a:ext uri="{FF2B5EF4-FFF2-40B4-BE49-F238E27FC236}">
                <a16:creationId xmlns:a16="http://schemas.microsoft.com/office/drawing/2014/main" id="{D64C06E0-D03C-4287-B596-25CB40F16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2313" y="1214438"/>
          <a:ext cx="2778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3" name="公式" r:id="rId17" imgW="247714" imgH="390661" progId="Equation.3">
                  <p:embed/>
                </p:oleObj>
              </mc:Choice>
              <mc:Fallback>
                <p:oleObj name="公式" r:id="rId17" imgW="247714" imgH="390661" progId="Equation.3">
                  <p:embed/>
                  <p:pic>
                    <p:nvPicPr>
                      <p:cNvPr id="1254417" name="Object 17">
                        <a:extLst>
                          <a:ext uri="{FF2B5EF4-FFF2-40B4-BE49-F238E27FC236}">
                            <a16:creationId xmlns:a16="http://schemas.microsoft.com/office/drawing/2014/main" id="{D64C06E0-D03C-4287-B596-25CB40F168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1214438"/>
                        <a:ext cx="2778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18" name="Object 18">
            <a:extLst>
              <a:ext uri="{FF2B5EF4-FFF2-40B4-BE49-F238E27FC236}">
                <a16:creationId xmlns:a16="http://schemas.microsoft.com/office/drawing/2014/main" id="{E36A61E1-5C47-4572-906B-90B5A93B6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3538" y="1827213"/>
          <a:ext cx="279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4" name="公式" r:id="rId19" imgW="247714" imgH="285648" progId="Equation.3">
                  <p:embed/>
                </p:oleObj>
              </mc:Choice>
              <mc:Fallback>
                <p:oleObj name="公式" r:id="rId19" imgW="247714" imgH="285648" progId="Equation.3">
                  <p:embed/>
                  <p:pic>
                    <p:nvPicPr>
                      <p:cNvPr id="1254418" name="Object 18">
                        <a:extLst>
                          <a:ext uri="{FF2B5EF4-FFF2-40B4-BE49-F238E27FC236}">
                            <a16:creationId xmlns:a16="http://schemas.microsoft.com/office/drawing/2014/main" id="{E36A61E1-5C47-4572-906B-90B5A93B6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38" y="1827213"/>
                        <a:ext cx="279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4419" name="Line 19">
            <a:extLst>
              <a:ext uri="{FF2B5EF4-FFF2-40B4-BE49-F238E27FC236}">
                <a16:creationId xmlns:a16="http://schemas.microsoft.com/office/drawing/2014/main" id="{595DA00F-63C1-4218-BF0D-C638AD9EE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5475" y="3497263"/>
            <a:ext cx="8382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20" name="Line 20">
            <a:extLst>
              <a:ext uri="{FF2B5EF4-FFF2-40B4-BE49-F238E27FC236}">
                <a16:creationId xmlns:a16="http://schemas.microsoft.com/office/drawing/2014/main" id="{D1C0CEE2-173B-429C-9749-A6850888B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9388" y="2659063"/>
            <a:ext cx="0" cy="838200"/>
          </a:xfrm>
          <a:prstGeom prst="line">
            <a:avLst/>
          </a:prstGeom>
          <a:noFill/>
          <a:ln w="19050">
            <a:solidFill>
              <a:srgbClr val="66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21" name="Line 21">
            <a:extLst>
              <a:ext uri="{FF2B5EF4-FFF2-40B4-BE49-F238E27FC236}">
                <a16:creationId xmlns:a16="http://schemas.microsoft.com/office/drawing/2014/main" id="{52890325-D137-47D1-901B-116343B2D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3475" y="2679700"/>
            <a:ext cx="0" cy="838200"/>
          </a:xfrm>
          <a:prstGeom prst="line">
            <a:avLst/>
          </a:prstGeom>
          <a:noFill/>
          <a:ln w="19050">
            <a:solidFill>
              <a:srgbClr val="FFCC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22" name="Line 22">
            <a:extLst>
              <a:ext uri="{FF2B5EF4-FFF2-40B4-BE49-F238E27FC236}">
                <a16:creationId xmlns:a16="http://schemas.microsoft.com/office/drawing/2014/main" id="{CC425123-7917-4950-9B76-60E6BE1C2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088" y="2668588"/>
            <a:ext cx="800100" cy="80010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23" name="Line 23">
            <a:extLst>
              <a:ext uri="{FF2B5EF4-FFF2-40B4-BE49-F238E27FC236}">
                <a16:creationId xmlns:a16="http://schemas.microsoft.com/office/drawing/2014/main" id="{29B189E7-A785-4F4D-86F8-F4D7E54020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5063" y="1878013"/>
            <a:ext cx="762000" cy="762000"/>
          </a:xfrm>
          <a:prstGeom prst="line">
            <a:avLst/>
          </a:prstGeom>
          <a:noFill/>
          <a:ln w="19050">
            <a:solidFill>
              <a:srgbClr val="FFCC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4424" name="Line 24">
            <a:extLst>
              <a:ext uri="{FF2B5EF4-FFF2-40B4-BE49-F238E27FC236}">
                <a16:creationId xmlns:a16="http://schemas.microsoft.com/office/drawing/2014/main" id="{DFB0FEE0-C1B8-424E-A1AC-B37BA0387F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5063" y="3495675"/>
            <a:ext cx="762000" cy="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54425" name="Object 25">
            <a:extLst>
              <a:ext uri="{FF2B5EF4-FFF2-40B4-BE49-F238E27FC236}">
                <a16:creationId xmlns:a16="http://schemas.microsoft.com/office/drawing/2014/main" id="{D43CCAE8-8CC7-4528-AC92-3079FAAEC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125" y="2362200"/>
          <a:ext cx="19843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5" name="Equation" r:id="rId21" imgW="838251" imgH="199923" progId="Equation.DSMT4">
                  <p:embed/>
                </p:oleObj>
              </mc:Choice>
              <mc:Fallback>
                <p:oleObj name="Equation" r:id="rId21" imgW="838251" imgH="199923" progId="Equation.DSMT4">
                  <p:embed/>
                  <p:pic>
                    <p:nvPicPr>
                      <p:cNvPr id="1254425" name="Object 25">
                        <a:extLst>
                          <a:ext uri="{FF2B5EF4-FFF2-40B4-BE49-F238E27FC236}">
                            <a16:creationId xmlns:a16="http://schemas.microsoft.com/office/drawing/2014/main" id="{D43CCAE8-8CC7-4528-AC92-3079FAAEC4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2362200"/>
                        <a:ext cx="198437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26" name="Object 26">
            <a:extLst>
              <a:ext uri="{FF2B5EF4-FFF2-40B4-BE49-F238E27FC236}">
                <a16:creationId xmlns:a16="http://schemas.microsoft.com/office/drawing/2014/main" id="{22C9FA65-9702-4921-9EEE-ADBACCEAD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7525" y="2327275"/>
          <a:ext cx="20145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6" name="Equation" r:id="rId23" imgW="847731" imgH="199923" progId="Equation.DSMT4">
                  <p:embed/>
                </p:oleObj>
              </mc:Choice>
              <mc:Fallback>
                <p:oleObj name="Equation" r:id="rId23" imgW="847731" imgH="199923" progId="Equation.DSMT4">
                  <p:embed/>
                  <p:pic>
                    <p:nvPicPr>
                      <p:cNvPr id="1254426" name="Object 26">
                        <a:extLst>
                          <a:ext uri="{FF2B5EF4-FFF2-40B4-BE49-F238E27FC236}">
                            <a16:creationId xmlns:a16="http://schemas.microsoft.com/office/drawing/2014/main" id="{22C9FA65-9702-4921-9EEE-ADBACCEAD8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2327275"/>
                        <a:ext cx="20145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27" name="Object 27">
            <a:extLst>
              <a:ext uri="{FF2B5EF4-FFF2-40B4-BE49-F238E27FC236}">
                <a16:creationId xmlns:a16="http://schemas.microsoft.com/office/drawing/2014/main" id="{6071E43A-D15E-442B-872E-4FA6D08942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3786188"/>
          <a:ext cx="42449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7" name="Equation" r:id="rId25" imgW="1904949" imgH="199923" progId="Equation.DSMT4">
                  <p:embed/>
                </p:oleObj>
              </mc:Choice>
              <mc:Fallback>
                <p:oleObj name="Equation" r:id="rId25" imgW="1904949" imgH="199923" progId="Equation.DSMT4">
                  <p:embed/>
                  <p:pic>
                    <p:nvPicPr>
                      <p:cNvPr id="1254427" name="Object 27">
                        <a:extLst>
                          <a:ext uri="{FF2B5EF4-FFF2-40B4-BE49-F238E27FC236}">
                            <a16:creationId xmlns:a16="http://schemas.microsoft.com/office/drawing/2014/main" id="{6071E43A-D15E-442B-872E-4FA6D0894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786188"/>
                        <a:ext cx="42449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4428" name="Object 28">
            <a:extLst>
              <a:ext uri="{FF2B5EF4-FFF2-40B4-BE49-F238E27FC236}">
                <a16:creationId xmlns:a16="http://schemas.microsoft.com/office/drawing/2014/main" id="{EF96E15D-01EB-4BAD-BFC6-F536C6730B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4364038"/>
          <a:ext cx="42862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8" name="Equation" r:id="rId27" imgW="1952657" imgH="199923" progId="Equation.DSMT4">
                  <p:embed/>
                </p:oleObj>
              </mc:Choice>
              <mc:Fallback>
                <p:oleObj name="Equation" r:id="rId27" imgW="1952657" imgH="199923" progId="Equation.DSMT4">
                  <p:embed/>
                  <p:pic>
                    <p:nvPicPr>
                      <p:cNvPr id="1254428" name="Object 28">
                        <a:extLst>
                          <a:ext uri="{FF2B5EF4-FFF2-40B4-BE49-F238E27FC236}">
                            <a16:creationId xmlns:a16="http://schemas.microsoft.com/office/drawing/2014/main" id="{EF96E15D-01EB-4BAD-BFC6-F536C6730B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364038"/>
                        <a:ext cx="42862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4429" name="Line 29">
            <a:extLst>
              <a:ext uri="{FF2B5EF4-FFF2-40B4-BE49-F238E27FC236}">
                <a16:creationId xmlns:a16="http://schemas.microsoft.com/office/drawing/2014/main" id="{ACDFE95C-5FC5-42EE-8F07-37683FC1E2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75475" y="2659063"/>
            <a:ext cx="838200" cy="83820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12" name="Text Box 32">
            <a:extLst>
              <a:ext uri="{FF2B5EF4-FFF2-40B4-BE49-F238E27FC236}">
                <a16:creationId xmlns:a16="http://schemas.microsoft.com/office/drawing/2014/main" id="{8E2114D5-6C41-4B22-8CA9-EAF894B06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1044575"/>
            <a:ext cx="577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(1)</a:t>
            </a:r>
            <a:r>
              <a:rPr kumimoji="0"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单色自然光通过偏振片</a:t>
            </a:r>
            <a:r>
              <a:rPr kumimoji="0" lang="en-US" altLang="zh-CN" i="1">
                <a:solidFill>
                  <a:srgbClr val="66FFFF"/>
                </a:solidFill>
              </a:rPr>
              <a:t>P</a:t>
            </a:r>
            <a:r>
              <a:rPr kumimoji="0" lang="en-US" altLang="zh-CN" baseline="-25000">
                <a:solidFill>
                  <a:srgbClr val="66FFFF"/>
                </a:solidFill>
              </a:rPr>
              <a:t>1</a:t>
            </a:r>
            <a:r>
              <a:rPr kumimoji="0"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后振幅为</a:t>
            </a:r>
            <a:r>
              <a:rPr kumimoji="0" lang="en-US" altLang="zh-CN" i="1">
                <a:solidFill>
                  <a:srgbClr val="FFFF00"/>
                </a:solidFill>
              </a:rPr>
              <a:t>A</a:t>
            </a:r>
            <a:r>
              <a:rPr kumimoji="0" lang="en-US" altLang="zh-CN" baseline="-2500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583713" name="Text Box 33">
            <a:extLst>
              <a:ext uri="{FF2B5EF4-FFF2-40B4-BE49-F238E27FC236}">
                <a16:creationId xmlns:a16="http://schemas.microsoft.com/office/drawing/2014/main" id="{1F51D0A7-E057-4B3F-B1B4-AA051186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1693863"/>
            <a:ext cx="4343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dirty="0">
                <a:solidFill>
                  <a:schemeClr val="hlink"/>
                </a:solidFill>
                <a:latin typeface="宋体" panose="02010600030101010101" pitchFamily="2" charset="-122"/>
              </a:rPr>
              <a:t>波片</a:t>
            </a:r>
            <a:r>
              <a:rPr kumimoji="0" lang="zh-CN" altLang="en-US" dirty="0">
                <a:solidFill>
                  <a:schemeClr val="hlink"/>
                </a:solidFill>
                <a:ea typeface="华文中宋" panose="02010600040101010101" pitchFamily="2" charset="-122"/>
              </a:rPr>
              <a:t>中</a:t>
            </a:r>
            <a:r>
              <a:rPr lang="en-US" altLang="zh-CN" i="1" dirty="0">
                <a:solidFill>
                  <a:srgbClr val="00FFFF"/>
                </a:solidFill>
                <a:latin typeface="宋体" panose="02010600030101010101" pitchFamily="2" charset="-122"/>
              </a:rPr>
              <a:t>o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光和</a:t>
            </a:r>
            <a:r>
              <a:rPr lang="en-US" altLang="zh-CN" i="1" dirty="0">
                <a:solidFill>
                  <a:srgbClr val="00FFFF"/>
                </a:solidFill>
                <a:latin typeface="宋体" panose="02010600030101010101" pitchFamily="2" charset="-122"/>
              </a:rPr>
              <a:t>e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光的振幅</a:t>
            </a:r>
          </a:p>
        </p:txBody>
      </p:sp>
      <p:sp>
        <p:nvSpPr>
          <p:cNvPr id="583715" name="Text Box 35">
            <a:extLst>
              <a:ext uri="{FF2B5EF4-FFF2-40B4-BE49-F238E27FC236}">
                <a16:creationId xmlns:a16="http://schemas.microsoft.com/office/drawing/2014/main" id="{E4F312F5-97D7-4B41-A0E6-60ADDEA27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125788"/>
            <a:ext cx="4686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(3)</a:t>
            </a:r>
            <a:r>
              <a:rPr kumimoji="0" lang="zh-CN" altLang="en-US">
                <a:solidFill>
                  <a:schemeClr val="hlink"/>
                </a:solidFill>
                <a:ea typeface="华文中宋" panose="02010600040101010101" pitchFamily="2" charset="-122"/>
              </a:rPr>
              <a:t>通过偏振片</a:t>
            </a:r>
            <a:r>
              <a:rPr kumimoji="0" lang="en-US" altLang="zh-CN" i="1">
                <a:solidFill>
                  <a:srgbClr val="00FFFF"/>
                </a:solidFill>
                <a:ea typeface="华文中宋" panose="02010600040101010101" pitchFamily="2" charset="-122"/>
              </a:rPr>
              <a:t>P</a:t>
            </a:r>
            <a:r>
              <a:rPr kumimoji="0" lang="en-US" altLang="zh-CN" baseline="-25000">
                <a:solidFill>
                  <a:srgbClr val="00FFFF"/>
                </a:solidFill>
              </a:rPr>
              <a:t>2</a:t>
            </a:r>
            <a:r>
              <a:rPr kumimoji="0"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后两分振动振幅</a:t>
            </a:r>
          </a:p>
        </p:txBody>
      </p:sp>
      <p:sp>
        <p:nvSpPr>
          <p:cNvPr id="1254433" name="Arc 33">
            <a:extLst>
              <a:ext uri="{FF2B5EF4-FFF2-40B4-BE49-F238E27FC236}">
                <a16:creationId xmlns:a16="http://schemas.microsoft.com/office/drawing/2014/main" id="{59397407-37B5-4506-BE2B-1119D89ACE19}"/>
              </a:ext>
            </a:extLst>
          </p:cNvPr>
          <p:cNvSpPr>
            <a:spLocks/>
          </p:cNvSpPr>
          <p:nvPr/>
        </p:nvSpPr>
        <p:spPr bwMode="auto">
          <a:xfrm rot="1527093">
            <a:off x="7221538" y="3243263"/>
            <a:ext cx="271462" cy="2206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54434" name="Object 34">
            <a:extLst>
              <a:ext uri="{FF2B5EF4-FFF2-40B4-BE49-F238E27FC236}">
                <a16:creationId xmlns:a16="http://schemas.microsoft.com/office/drawing/2014/main" id="{ABBA15A6-C103-4D23-98D9-073B8ADB77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2990850"/>
          <a:ext cx="3381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9" name="Equation" r:id="rId29" imgW="123857" imgH="171450" progId="Equation.DSMT4">
                  <p:embed/>
                </p:oleObj>
              </mc:Choice>
              <mc:Fallback>
                <p:oleObj name="Equation" r:id="rId29" imgW="123857" imgH="171450" progId="Equation.DSMT4">
                  <p:embed/>
                  <p:pic>
                    <p:nvPicPr>
                      <p:cNvPr id="1254434" name="Object 34">
                        <a:extLst>
                          <a:ext uri="{FF2B5EF4-FFF2-40B4-BE49-F238E27FC236}">
                            <a16:creationId xmlns:a16="http://schemas.microsoft.com/office/drawing/2014/main" id="{ABBA15A6-C103-4D23-98D9-073B8ADB77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2990850"/>
                        <a:ext cx="3381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738" name="Text Box 34">
            <a:extLst>
              <a:ext uri="{FF2B5EF4-FFF2-40B4-BE49-F238E27FC236}">
                <a16:creationId xmlns:a16="http://schemas.microsoft.com/office/drawing/2014/main" id="{22A378F9-ED3F-4B2F-A993-8527ABA44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999038"/>
            <a:ext cx="8107362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800"/>
              </a:lnSpc>
            </a:pP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经过偏振片</a:t>
            </a:r>
            <a:r>
              <a:rPr lang="en-US" altLang="zh-CN" i="1" dirty="0">
                <a:solidFill>
                  <a:srgbClr val="00FFFF"/>
                </a:solidFill>
                <a:ea typeface="华文中宋" panose="02010600040101010101" pitchFamily="2" charset="-122"/>
              </a:rPr>
              <a:t>P</a:t>
            </a:r>
            <a:r>
              <a:rPr lang="en-US" altLang="zh-CN" baseline="-25000" dirty="0">
                <a:solidFill>
                  <a:srgbClr val="00FFFF"/>
                </a:solidFill>
              </a:rPr>
              <a:t>2</a:t>
            </a:r>
            <a:r>
              <a:rPr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出射的两束光：振动方向平行，频率相同，相位差恒定，满足干涉条件</a:t>
            </a:r>
          </a:p>
          <a:p>
            <a:pPr>
              <a:lnSpc>
                <a:spcPts val="3800"/>
              </a:lnSpc>
            </a:pPr>
            <a:r>
              <a:rPr lang="zh-CN" altLang="en-US" dirty="0">
                <a:solidFill>
                  <a:schemeClr val="hlink"/>
                </a:solidFill>
                <a:latin typeface="宋体" panose="02010600030101010101" pitchFamily="2" charset="-122"/>
              </a:rPr>
              <a:t>若</a:t>
            </a:r>
            <a:r>
              <a:rPr lang="el-GR" altLang="zh-CN" i="1" dirty="0">
                <a:solidFill>
                  <a:schemeClr val="hlink"/>
                </a:solidFill>
                <a:latin typeface="宋体" panose="02010600030101010101" pitchFamily="2" charset="-122"/>
              </a:rPr>
              <a:t>α</a:t>
            </a:r>
            <a:r>
              <a:rPr lang="en-US" altLang="zh-CN" dirty="0">
                <a:solidFill>
                  <a:schemeClr val="hlink"/>
                </a:solidFill>
                <a:latin typeface="宋体" panose="02010600030101010101" pitchFamily="2" charset="-122"/>
              </a:rPr>
              <a:t>=</a:t>
            </a:r>
            <a:r>
              <a:rPr lang="el-GR" altLang="zh-CN" i="1" dirty="0">
                <a:solidFill>
                  <a:schemeClr val="hlink"/>
                </a:solidFill>
                <a:latin typeface="宋体" panose="02010600030101010101" pitchFamily="2" charset="-122"/>
              </a:rPr>
              <a:t>β</a:t>
            </a:r>
            <a:r>
              <a:rPr lang="en-US" altLang="zh-CN" dirty="0">
                <a:solidFill>
                  <a:schemeClr val="hlink"/>
                </a:solidFill>
                <a:latin typeface="宋体" panose="02010600030101010101" pitchFamily="2" charset="-122"/>
              </a:rPr>
              <a:t>= 45</a:t>
            </a:r>
            <a:r>
              <a:rPr lang="en-US" altLang="zh-CN" baseline="30000" dirty="0">
                <a:solidFill>
                  <a:schemeClr val="hlink"/>
                </a:solidFill>
                <a:latin typeface="宋体" panose="02010600030101010101" pitchFamily="2" charset="-122"/>
              </a:rPr>
              <a:t>o </a:t>
            </a:r>
            <a:r>
              <a:rPr lang="en-US" altLang="zh-CN" dirty="0">
                <a:solidFill>
                  <a:schemeClr val="hlink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kumimoji="0" lang="en-US" altLang="zh-CN" i="1" dirty="0">
                <a:solidFill>
                  <a:srgbClr val="66FFFF"/>
                </a:solidFill>
              </a:rPr>
              <a:t>A</a:t>
            </a:r>
            <a:r>
              <a:rPr kumimoji="0" lang="en-US" altLang="zh-CN" baseline="-25000" dirty="0">
                <a:solidFill>
                  <a:srgbClr val="66FFFF"/>
                </a:solidFill>
              </a:rPr>
              <a:t>o2</a:t>
            </a:r>
            <a:r>
              <a:rPr kumimoji="0" lang="en-US" altLang="zh-CN" dirty="0">
                <a:solidFill>
                  <a:schemeClr val="hlink"/>
                </a:solidFill>
              </a:rPr>
              <a:t>,  </a:t>
            </a:r>
            <a:r>
              <a:rPr kumimoji="0" lang="en-US" altLang="zh-CN" i="1" dirty="0">
                <a:solidFill>
                  <a:srgbClr val="66FFFF"/>
                </a:solidFill>
              </a:rPr>
              <a:t>A</a:t>
            </a:r>
            <a:r>
              <a:rPr kumimoji="0" lang="en-US" altLang="zh-CN" baseline="-25000" dirty="0">
                <a:solidFill>
                  <a:srgbClr val="66FFFF"/>
                </a:solidFill>
              </a:rPr>
              <a:t>e2 </a:t>
            </a:r>
            <a:r>
              <a:rPr kumimoji="0" lang="zh-CN" altLang="en-US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振幅最大且相等，干涉效果最好</a:t>
            </a:r>
            <a:endParaRPr kumimoji="0" lang="zh-CN" altLang="el-GR" baseline="-25000" dirty="0">
              <a:solidFill>
                <a:schemeClr val="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540" name="灯片编号占位符 1">
            <a:extLst>
              <a:ext uri="{FF2B5EF4-FFF2-40B4-BE49-F238E27FC236}">
                <a16:creationId xmlns:a16="http://schemas.microsoft.com/office/drawing/2014/main" id="{0F536E1C-EB10-4D1C-A34B-338B7F35B7C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2636BA-0425-4CA6-8C41-BDA682FC7FFA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5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5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5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5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5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5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5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5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5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5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5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5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25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5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25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5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5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5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54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8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25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125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5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5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25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5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25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254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84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584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5" grpId="0"/>
      <p:bldP spid="583712" grpId="0"/>
      <p:bldP spid="583713" grpId="0"/>
      <p:bldP spid="583715" grpId="0"/>
      <p:bldP spid="584738" grpId="0" build="allAtOnce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>
            <a:extLst>
              <a:ext uri="{FF2B5EF4-FFF2-40B4-BE49-F238E27FC236}">
                <a16:creationId xmlns:a16="http://schemas.microsoft.com/office/drawing/2014/main" id="{E1EC0B12-B55A-4CDF-95C7-5F3D4F207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429000"/>
            <a:ext cx="3529013" cy="3095625"/>
          </a:xfrm>
          <a:prstGeom prst="rect">
            <a:avLst/>
          </a:prstGeom>
          <a:solidFill>
            <a:srgbClr val="006699">
              <a:alpha val="43137"/>
            </a:srgbClr>
          </a:solidFill>
          <a:ln w="9525">
            <a:solidFill>
              <a:srgbClr val="B2B2B2">
                <a:alpha val="56078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zh-CN">
              <a:solidFill>
                <a:schemeClr val="bg1"/>
              </a:solidFill>
            </a:endParaRPr>
          </a:p>
        </p:txBody>
      </p:sp>
      <p:sp>
        <p:nvSpPr>
          <p:cNvPr id="584707" name="Text Box 3">
            <a:extLst>
              <a:ext uri="{FF2B5EF4-FFF2-40B4-BE49-F238E27FC236}">
                <a16:creationId xmlns:a16="http://schemas.microsoft.com/office/drawing/2014/main" id="{A77DB056-D90E-4439-B72D-A89520CF8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398838"/>
            <a:ext cx="1135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Ø"/>
            </a:pPr>
            <a:r>
              <a:rPr kumimoji="0" lang="en-US" altLang="zh-CN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kumimoji="0"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说明</a:t>
            </a:r>
          </a:p>
        </p:txBody>
      </p:sp>
      <p:sp>
        <p:nvSpPr>
          <p:cNvPr id="584708" name="Rectangle 4">
            <a:extLst>
              <a:ext uri="{FF2B5EF4-FFF2-40B4-BE49-F238E27FC236}">
                <a16:creationId xmlns:a16="http://schemas.microsoft.com/office/drawing/2014/main" id="{4EAD1FB4-E182-4570-8C74-CDF57865B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000500"/>
            <a:ext cx="400208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solidFill>
                  <a:schemeClr val="hlink"/>
                </a:solidFill>
                <a:latin typeface="宋体" panose="02010600030101010101" pitchFamily="2" charset="-122"/>
              </a:rPr>
              <a:t>是否存在附加 </a:t>
            </a:r>
            <a:r>
              <a:rPr kumimoji="0" lang="el-GR" altLang="zh-CN" i="1" dirty="0">
                <a:solidFill>
                  <a:srgbClr val="FFFF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π</a:t>
            </a:r>
            <a:r>
              <a:rPr kumimoji="0" lang="en-US" altLang="zh-CN" dirty="0">
                <a:solidFill>
                  <a:schemeClr val="hlin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kumimoji="0" lang="zh-CN" altLang="en-US" dirty="0">
                <a:solidFill>
                  <a:schemeClr val="hlink"/>
                </a:solidFill>
                <a:latin typeface="宋体" panose="02010600030101010101" pitchFamily="2" charset="-122"/>
              </a:rPr>
              <a:t>相位差要具体考虑</a:t>
            </a:r>
            <a:endParaRPr kumimoji="0" lang="en-US" altLang="zh-CN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584709" name="AutoShape 5">
            <a:extLst>
              <a:ext uri="{FF2B5EF4-FFF2-40B4-BE49-F238E27FC236}">
                <a16:creationId xmlns:a16="http://schemas.microsoft.com/office/drawing/2014/main" id="{7DD0EDC4-4F1B-4E85-BC6F-CC5025C06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663" y="5867400"/>
            <a:ext cx="574675" cy="433388"/>
          </a:xfrm>
          <a:prstGeom prst="wedgeRectCallout">
            <a:avLst>
              <a:gd name="adj1" fmla="val -82046"/>
              <a:gd name="adj2" fmla="val -264287"/>
            </a:avLst>
          </a:prstGeom>
          <a:solidFill>
            <a:srgbClr val="669900">
              <a:alpha val="50195"/>
            </a:srgbClr>
          </a:solidFill>
          <a:ln w="6350">
            <a:solidFill>
              <a:schemeClr val="folHlink"/>
            </a:solidFill>
            <a:miter lim="800000"/>
            <a:headEnd/>
            <a:tailEnd/>
          </a:ln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584710" name="Line 6">
            <a:extLst>
              <a:ext uri="{FF2B5EF4-FFF2-40B4-BE49-F238E27FC236}">
                <a16:creationId xmlns:a16="http://schemas.microsoft.com/office/drawing/2014/main" id="{33B4CD3E-5356-48AF-B415-F7E937E4AD93}"/>
              </a:ext>
            </a:extLst>
          </p:cNvPr>
          <p:cNvSpPr>
            <a:spLocks noChangeAspect="1" noChangeShapeType="1"/>
          </p:cNvSpPr>
          <p:nvPr/>
        </p:nvSpPr>
        <p:spPr bwMode="auto">
          <a:xfrm rot="420000" flipV="1">
            <a:off x="6570663" y="4330700"/>
            <a:ext cx="1733550" cy="220663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11" name="Line 7">
            <a:extLst>
              <a:ext uri="{FF2B5EF4-FFF2-40B4-BE49-F238E27FC236}">
                <a16:creationId xmlns:a16="http://schemas.microsoft.com/office/drawing/2014/main" id="{10A7D66A-1B10-46BA-A002-B2EF2A438946}"/>
              </a:ext>
            </a:extLst>
          </p:cNvPr>
          <p:cNvSpPr>
            <a:spLocks noChangeAspect="1" noChangeShapeType="1"/>
          </p:cNvSpPr>
          <p:nvPr/>
        </p:nvSpPr>
        <p:spPr bwMode="auto">
          <a:xfrm rot="2160000" flipH="1">
            <a:off x="6670675" y="3575050"/>
            <a:ext cx="1266825" cy="2879725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12" name="Line 8">
            <a:extLst>
              <a:ext uri="{FF2B5EF4-FFF2-40B4-BE49-F238E27FC236}">
                <a16:creationId xmlns:a16="http://schemas.microsoft.com/office/drawing/2014/main" id="{344E64A3-3D95-419F-A1FF-5531F0100F0C}"/>
              </a:ext>
            </a:extLst>
          </p:cNvPr>
          <p:cNvSpPr>
            <a:spLocks noChangeAspect="1" noChangeShapeType="1"/>
          </p:cNvSpPr>
          <p:nvPr/>
        </p:nvSpPr>
        <p:spPr bwMode="auto">
          <a:xfrm rot="19740000" flipV="1">
            <a:off x="5614988" y="4244975"/>
            <a:ext cx="2774950" cy="1190625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13" name="Line 9">
            <a:extLst>
              <a:ext uri="{FF2B5EF4-FFF2-40B4-BE49-F238E27FC236}">
                <a16:creationId xmlns:a16="http://schemas.microsoft.com/office/drawing/2014/main" id="{F1984EBD-9C8F-4F92-9748-F0642DC90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0" y="3649663"/>
            <a:ext cx="1588" cy="2663825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14" name="Line 10">
            <a:extLst>
              <a:ext uri="{FF2B5EF4-FFF2-40B4-BE49-F238E27FC236}">
                <a16:creationId xmlns:a16="http://schemas.microsoft.com/office/drawing/2014/main" id="{0F32B2C1-EA11-4321-99B0-28B0C4C00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0" y="4427538"/>
            <a:ext cx="0" cy="1014412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15" name="Line 11">
            <a:extLst>
              <a:ext uri="{FF2B5EF4-FFF2-40B4-BE49-F238E27FC236}">
                <a16:creationId xmlns:a16="http://schemas.microsoft.com/office/drawing/2014/main" id="{8B691F13-17A3-4989-801C-42A40A306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4213" y="4427538"/>
            <a:ext cx="0" cy="1008062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 type="non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84716" name="Object 12">
            <a:extLst>
              <a:ext uri="{FF2B5EF4-FFF2-40B4-BE49-F238E27FC236}">
                <a16:creationId xmlns:a16="http://schemas.microsoft.com/office/drawing/2014/main" id="{2DB96B9C-762F-4655-8F65-920708B19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0825" y="4714875"/>
          <a:ext cx="2714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26" name="公式" r:id="rId4" imgW="314382" imgH="419134" progId="Equation.3">
                  <p:embed/>
                </p:oleObj>
              </mc:Choice>
              <mc:Fallback>
                <p:oleObj name="公式" r:id="rId4" imgW="314382" imgH="419134" progId="Equation.3">
                  <p:embed/>
                  <p:pic>
                    <p:nvPicPr>
                      <p:cNvPr id="584716" name="Object 12">
                        <a:extLst>
                          <a:ext uri="{FF2B5EF4-FFF2-40B4-BE49-F238E27FC236}">
                            <a16:creationId xmlns:a16="http://schemas.microsoft.com/office/drawing/2014/main" id="{2DB96B9C-762F-4655-8F65-920708B19B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825" y="4714875"/>
                        <a:ext cx="27146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17" name="Object 13">
            <a:extLst>
              <a:ext uri="{FF2B5EF4-FFF2-40B4-BE49-F238E27FC236}">
                <a16:creationId xmlns:a16="http://schemas.microsoft.com/office/drawing/2014/main" id="{AA8A84CD-0555-4502-A273-57EA49286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6725" y="5507038"/>
          <a:ext cx="3730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27" name="公式" r:id="rId6" imgW="438239" imgH="419134" progId="Equation.3">
                  <p:embed/>
                </p:oleObj>
              </mc:Choice>
              <mc:Fallback>
                <p:oleObj name="公式" r:id="rId6" imgW="438239" imgH="419134" progId="Equation.3">
                  <p:embed/>
                  <p:pic>
                    <p:nvPicPr>
                      <p:cNvPr id="584717" name="Object 13">
                        <a:extLst>
                          <a:ext uri="{FF2B5EF4-FFF2-40B4-BE49-F238E27FC236}">
                            <a16:creationId xmlns:a16="http://schemas.microsoft.com/office/drawing/2014/main" id="{AA8A84CD-0555-4502-A273-57EA492865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6725" y="5507038"/>
                        <a:ext cx="37306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18" name="Object 14">
            <a:extLst>
              <a:ext uri="{FF2B5EF4-FFF2-40B4-BE49-F238E27FC236}">
                <a16:creationId xmlns:a16="http://schemas.microsoft.com/office/drawing/2014/main" id="{C0F83E3F-DBF3-4A61-B0B3-6498FFB0D9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3625" y="4221163"/>
          <a:ext cx="3651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28" name="公式" r:id="rId8" imgW="428759" imgH="419134" progId="Equation.3">
                  <p:embed/>
                </p:oleObj>
              </mc:Choice>
              <mc:Fallback>
                <p:oleObj name="公式" r:id="rId8" imgW="428759" imgH="419134" progId="Equation.3">
                  <p:embed/>
                  <p:pic>
                    <p:nvPicPr>
                      <p:cNvPr id="584718" name="Object 14">
                        <a:extLst>
                          <a:ext uri="{FF2B5EF4-FFF2-40B4-BE49-F238E27FC236}">
                            <a16:creationId xmlns:a16="http://schemas.microsoft.com/office/drawing/2014/main" id="{C0F83E3F-DBF3-4A61-B0B3-6498FFB0D9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4221163"/>
                        <a:ext cx="3651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19" name="Object 15">
            <a:extLst>
              <a:ext uri="{FF2B5EF4-FFF2-40B4-BE49-F238E27FC236}">
                <a16:creationId xmlns:a16="http://schemas.microsoft.com/office/drawing/2014/main" id="{C8BE0BD8-D401-43DD-B9C4-416B45E63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6413" y="5689600"/>
          <a:ext cx="2540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29" name="公式" r:id="rId10" imgW="228753" imgH="342900" progId="Equation.3">
                  <p:embed/>
                </p:oleObj>
              </mc:Choice>
              <mc:Fallback>
                <p:oleObj name="公式" r:id="rId10" imgW="228753" imgH="342900" progId="Equation.3">
                  <p:embed/>
                  <p:pic>
                    <p:nvPicPr>
                      <p:cNvPr id="584719" name="Object 15">
                        <a:extLst>
                          <a:ext uri="{FF2B5EF4-FFF2-40B4-BE49-F238E27FC236}">
                            <a16:creationId xmlns:a16="http://schemas.microsoft.com/office/drawing/2014/main" id="{C8BE0BD8-D401-43DD-B9C4-416B45E63C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6413" y="5689600"/>
                        <a:ext cx="2540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20" name="Object 16">
            <a:extLst>
              <a:ext uri="{FF2B5EF4-FFF2-40B4-BE49-F238E27FC236}">
                <a16:creationId xmlns:a16="http://schemas.microsoft.com/office/drawing/2014/main" id="{A1427EF5-4179-41DC-8CA7-8D232B93F1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25" y="6121400"/>
          <a:ext cx="2794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0" name="公式" r:id="rId12" imgW="247714" imgH="342900" progId="Equation.3">
                  <p:embed/>
                </p:oleObj>
              </mc:Choice>
              <mc:Fallback>
                <p:oleObj name="公式" r:id="rId12" imgW="247714" imgH="342900" progId="Equation.3">
                  <p:embed/>
                  <p:pic>
                    <p:nvPicPr>
                      <p:cNvPr id="584720" name="Object 16">
                        <a:extLst>
                          <a:ext uri="{FF2B5EF4-FFF2-40B4-BE49-F238E27FC236}">
                            <a16:creationId xmlns:a16="http://schemas.microsoft.com/office/drawing/2014/main" id="{A1427EF5-4179-41DC-8CA7-8D232B93F1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6121400"/>
                        <a:ext cx="2794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721" name="Object 17">
            <a:extLst>
              <a:ext uri="{FF2B5EF4-FFF2-40B4-BE49-F238E27FC236}">
                <a16:creationId xmlns:a16="http://schemas.microsoft.com/office/drawing/2014/main" id="{FA372013-29B3-4AA5-8901-0E0DBD718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1688" y="5867400"/>
          <a:ext cx="3857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1" name="公式" r:id="rId14" imgW="457200" imgH="419134" progId="Equation.3">
                  <p:embed/>
                </p:oleObj>
              </mc:Choice>
              <mc:Fallback>
                <p:oleObj name="公式" r:id="rId14" imgW="457200" imgH="419134" progId="Equation.3">
                  <p:embed/>
                  <p:pic>
                    <p:nvPicPr>
                      <p:cNvPr id="584721" name="Object 17">
                        <a:extLst>
                          <a:ext uri="{FF2B5EF4-FFF2-40B4-BE49-F238E27FC236}">
                            <a16:creationId xmlns:a16="http://schemas.microsoft.com/office/drawing/2014/main" id="{FA372013-29B3-4AA5-8901-0E0DBD718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688" y="5867400"/>
                        <a:ext cx="3857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722" name="Arc 18">
            <a:extLst>
              <a:ext uri="{FF2B5EF4-FFF2-40B4-BE49-F238E27FC236}">
                <a16:creationId xmlns:a16="http://schemas.microsoft.com/office/drawing/2014/main" id="{71F003A3-5122-49FE-A34B-EDA35116F4B4}"/>
              </a:ext>
            </a:extLst>
          </p:cNvPr>
          <p:cNvSpPr>
            <a:spLocks/>
          </p:cNvSpPr>
          <p:nvPr/>
        </p:nvSpPr>
        <p:spPr bwMode="auto">
          <a:xfrm rot="13411939" flipV="1">
            <a:off x="6488113" y="5153025"/>
            <a:ext cx="247650" cy="339725"/>
          </a:xfrm>
          <a:custGeom>
            <a:avLst/>
            <a:gdLst>
              <a:gd name="T0" fmla="*/ 0 w 17742"/>
              <a:gd name="T1" fmla="*/ 2147483646 h 21600"/>
              <a:gd name="T2" fmla="*/ 2147483646 w 17742"/>
              <a:gd name="T3" fmla="*/ 2147483646 h 21600"/>
              <a:gd name="T4" fmla="*/ 2147483646 w 17742"/>
              <a:gd name="T5" fmla="*/ 2147483646 h 21600"/>
              <a:gd name="T6" fmla="*/ 0 60000 65536"/>
              <a:gd name="T7" fmla="*/ 0 60000 65536"/>
              <a:gd name="T8" fmla="*/ 0 60000 65536"/>
              <a:gd name="T9" fmla="*/ 0 w 17742"/>
              <a:gd name="T10" fmla="*/ 0 h 21600"/>
              <a:gd name="T11" fmla="*/ 17742 w 1774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42" h="21600" fill="none" extrusionOk="0">
                <a:moveTo>
                  <a:pt x="0" y="198"/>
                </a:moveTo>
                <a:cubicBezTo>
                  <a:pt x="967" y="66"/>
                  <a:pt x="1942" y="-1"/>
                  <a:pt x="2919" y="0"/>
                </a:cubicBezTo>
                <a:cubicBezTo>
                  <a:pt x="8430" y="0"/>
                  <a:pt x="13733" y="2106"/>
                  <a:pt x="17742" y="5888"/>
                </a:cubicBezTo>
              </a:path>
              <a:path w="17742" h="21600" stroke="0" extrusionOk="0">
                <a:moveTo>
                  <a:pt x="0" y="198"/>
                </a:moveTo>
                <a:cubicBezTo>
                  <a:pt x="967" y="66"/>
                  <a:pt x="1942" y="-1"/>
                  <a:pt x="2919" y="0"/>
                </a:cubicBezTo>
                <a:cubicBezTo>
                  <a:pt x="8430" y="0"/>
                  <a:pt x="13733" y="2106"/>
                  <a:pt x="17742" y="5888"/>
                </a:cubicBezTo>
                <a:lnTo>
                  <a:pt x="2919" y="21600"/>
                </a:lnTo>
                <a:lnTo>
                  <a:pt x="0" y="198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84723" name="Object 19">
            <a:extLst>
              <a:ext uri="{FF2B5EF4-FFF2-40B4-BE49-F238E27FC236}">
                <a16:creationId xmlns:a16="http://schemas.microsoft.com/office/drawing/2014/main" id="{9E9EAD33-AB6A-4443-B0F5-8ABA2BF143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75425" y="4968875"/>
          <a:ext cx="220663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2" name="公式" r:id="rId16" imgW="247714" imgH="209414" progId="Equation.3">
                  <p:embed/>
                </p:oleObj>
              </mc:Choice>
              <mc:Fallback>
                <p:oleObj name="公式" r:id="rId16" imgW="247714" imgH="209414" progId="Equation.3">
                  <p:embed/>
                  <p:pic>
                    <p:nvPicPr>
                      <p:cNvPr id="584723" name="Object 19">
                        <a:extLst>
                          <a:ext uri="{FF2B5EF4-FFF2-40B4-BE49-F238E27FC236}">
                            <a16:creationId xmlns:a16="http://schemas.microsoft.com/office/drawing/2014/main" id="{9E9EAD33-AB6A-4443-B0F5-8ABA2BF143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4968875"/>
                        <a:ext cx="220663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724" name="Arc 20">
            <a:extLst>
              <a:ext uri="{FF2B5EF4-FFF2-40B4-BE49-F238E27FC236}">
                <a16:creationId xmlns:a16="http://schemas.microsoft.com/office/drawing/2014/main" id="{02374F42-2BE9-4808-95B6-5CE9A6A499B7}"/>
              </a:ext>
            </a:extLst>
          </p:cNvPr>
          <p:cNvSpPr>
            <a:spLocks/>
          </p:cNvSpPr>
          <p:nvPr/>
        </p:nvSpPr>
        <p:spPr bwMode="auto">
          <a:xfrm rot="13902532" flipV="1">
            <a:off x="6503195" y="4837906"/>
            <a:ext cx="303212" cy="339725"/>
          </a:xfrm>
          <a:custGeom>
            <a:avLst/>
            <a:gdLst>
              <a:gd name="T0" fmla="*/ 0 w 21712"/>
              <a:gd name="T1" fmla="*/ 2147483646 h 21600"/>
              <a:gd name="T2" fmla="*/ 2147483646 w 21712"/>
              <a:gd name="T3" fmla="*/ 2147483646 h 21600"/>
              <a:gd name="T4" fmla="*/ 2147483646 w 21712"/>
              <a:gd name="T5" fmla="*/ 2147483646 h 21600"/>
              <a:gd name="T6" fmla="*/ 0 60000 65536"/>
              <a:gd name="T7" fmla="*/ 0 60000 65536"/>
              <a:gd name="T8" fmla="*/ 0 60000 65536"/>
              <a:gd name="T9" fmla="*/ 0 w 21712"/>
              <a:gd name="T10" fmla="*/ 0 h 21600"/>
              <a:gd name="T11" fmla="*/ 21712 w 217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12" h="21600" fill="none" extrusionOk="0">
                <a:moveTo>
                  <a:pt x="-1" y="341"/>
                </a:moveTo>
                <a:cubicBezTo>
                  <a:pt x="1262" y="114"/>
                  <a:pt x="2543" y="-1"/>
                  <a:pt x="3827" y="0"/>
                </a:cubicBezTo>
                <a:cubicBezTo>
                  <a:pt x="10993" y="0"/>
                  <a:pt x="17693" y="3554"/>
                  <a:pt x="21712" y="9488"/>
                </a:cubicBezTo>
              </a:path>
              <a:path w="21712" h="21600" stroke="0" extrusionOk="0">
                <a:moveTo>
                  <a:pt x="-1" y="341"/>
                </a:moveTo>
                <a:cubicBezTo>
                  <a:pt x="1262" y="114"/>
                  <a:pt x="2543" y="-1"/>
                  <a:pt x="3827" y="0"/>
                </a:cubicBezTo>
                <a:cubicBezTo>
                  <a:pt x="10993" y="0"/>
                  <a:pt x="17693" y="3554"/>
                  <a:pt x="21712" y="9488"/>
                </a:cubicBezTo>
                <a:lnTo>
                  <a:pt x="3827" y="21600"/>
                </a:lnTo>
                <a:lnTo>
                  <a:pt x="-1" y="34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725" name="Line 21">
            <a:extLst>
              <a:ext uri="{FF2B5EF4-FFF2-40B4-BE49-F238E27FC236}">
                <a16:creationId xmlns:a16="http://schemas.microsoft.com/office/drawing/2014/main" id="{95092E44-BABF-4601-98EF-FE47EBF13BA2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440000">
            <a:off x="6661150" y="4340225"/>
            <a:ext cx="334963" cy="503238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26" name="Line 22">
            <a:extLst>
              <a:ext uri="{FF2B5EF4-FFF2-40B4-BE49-F238E27FC236}">
                <a16:creationId xmlns:a16="http://schemas.microsoft.com/office/drawing/2014/main" id="{1647859D-AF39-4837-8409-12E26DEF5F9B}"/>
              </a:ext>
            </a:extLst>
          </p:cNvPr>
          <p:cNvSpPr>
            <a:spLocks noChangeAspect="1" noChangeShapeType="1"/>
          </p:cNvSpPr>
          <p:nvPr/>
        </p:nvSpPr>
        <p:spPr bwMode="auto">
          <a:xfrm rot="9540000" flipH="1">
            <a:off x="6442075" y="4749800"/>
            <a:ext cx="841375" cy="56038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27" name="Text Box 23">
            <a:extLst>
              <a:ext uri="{FF2B5EF4-FFF2-40B4-BE49-F238E27FC236}">
                <a16:creationId xmlns:a16="http://schemas.microsoft.com/office/drawing/2014/main" id="{E5B35836-4767-4D1D-8882-B85345C20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4766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华文中宋" panose="02010600040101010101" pitchFamily="2" charset="-122"/>
              </a:rPr>
              <a:t>光轴</a:t>
            </a:r>
          </a:p>
        </p:txBody>
      </p:sp>
      <p:sp>
        <p:nvSpPr>
          <p:cNvPr id="584728" name="Line 24">
            <a:extLst>
              <a:ext uri="{FF2B5EF4-FFF2-40B4-BE49-F238E27FC236}">
                <a16:creationId xmlns:a16="http://schemas.microsoft.com/office/drawing/2014/main" id="{E44D0B24-92D7-4942-B644-8DAA3FF2F59F}"/>
              </a:ext>
            </a:extLst>
          </p:cNvPr>
          <p:cNvSpPr>
            <a:spLocks noChangeAspect="1" noChangeShapeType="1"/>
          </p:cNvSpPr>
          <p:nvPr/>
        </p:nvSpPr>
        <p:spPr bwMode="auto">
          <a:xfrm rot="-1260000">
            <a:off x="7345363" y="4451350"/>
            <a:ext cx="769937" cy="11557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29" name="Line 25">
            <a:extLst>
              <a:ext uri="{FF2B5EF4-FFF2-40B4-BE49-F238E27FC236}">
                <a16:creationId xmlns:a16="http://schemas.microsoft.com/office/drawing/2014/main" id="{9BA04D4F-1677-4C56-9EC3-B866300476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5425" y="5435600"/>
            <a:ext cx="1728788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30" name="Line 26">
            <a:extLst>
              <a:ext uri="{FF2B5EF4-FFF2-40B4-BE49-F238E27FC236}">
                <a16:creationId xmlns:a16="http://schemas.microsoft.com/office/drawing/2014/main" id="{EADDA300-E861-4743-A2E5-5AE7D2F7AC4A}"/>
              </a:ext>
            </a:extLst>
          </p:cNvPr>
          <p:cNvSpPr>
            <a:spLocks noChangeAspect="1" noChangeShapeType="1"/>
          </p:cNvSpPr>
          <p:nvPr/>
        </p:nvSpPr>
        <p:spPr bwMode="auto">
          <a:xfrm rot="9540000" flipH="1">
            <a:off x="6461125" y="4854575"/>
            <a:ext cx="719138" cy="477838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31" name="Line 27">
            <a:extLst>
              <a:ext uri="{FF2B5EF4-FFF2-40B4-BE49-F238E27FC236}">
                <a16:creationId xmlns:a16="http://schemas.microsoft.com/office/drawing/2014/main" id="{9AEA1B2C-E22A-4CFD-BD44-28544843152F}"/>
              </a:ext>
            </a:extLst>
          </p:cNvPr>
          <p:cNvSpPr>
            <a:spLocks noChangeAspect="1" noChangeShapeType="1"/>
          </p:cNvSpPr>
          <p:nvPr/>
        </p:nvSpPr>
        <p:spPr bwMode="auto">
          <a:xfrm rot="7620000" flipH="1" flipV="1">
            <a:off x="6519069" y="4531519"/>
            <a:ext cx="1860550" cy="795338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4732" name="AutoShape 28">
            <a:extLst>
              <a:ext uri="{FF2B5EF4-FFF2-40B4-BE49-F238E27FC236}">
                <a16:creationId xmlns:a16="http://schemas.microsoft.com/office/drawing/2014/main" id="{63CAD46A-FF35-4BC0-BAA9-54FC8B6F2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763" y="3562350"/>
            <a:ext cx="647700" cy="433388"/>
          </a:xfrm>
          <a:prstGeom prst="wedgeRectCallout">
            <a:avLst>
              <a:gd name="adj1" fmla="val -19606"/>
              <a:gd name="adj2" fmla="val 204579"/>
            </a:avLst>
          </a:prstGeom>
          <a:solidFill>
            <a:srgbClr val="669900">
              <a:alpha val="50195"/>
            </a:srgbClr>
          </a:solidFill>
          <a:ln w="6350">
            <a:solidFill>
              <a:schemeClr val="folHlink"/>
            </a:solidFill>
            <a:miter lim="800000"/>
            <a:headEnd/>
            <a:tailEnd/>
          </a:ln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chemeClr val="bg1"/>
              </a:solidFill>
            </a:endParaRPr>
          </a:p>
        </p:txBody>
      </p:sp>
      <p:graphicFrame>
        <p:nvGraphicFramePr>
          <p:cNvPr id="584733" name="Object 29">
            <a:extLst>
              <a:ext uri="{FF2B5EF4-FFF2-40B4-BE49-F238E27FC236}">
                <a16:creationId xmlns:a16="http://schemas.microsoft.com/office/drawing/2014/main" id="{8E1BA1D3-13AB-4D6F-AB19-126B02747B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5638" y="3592513"/>
          <a:ext cx="393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3" name="公式" r:id="rId18" imgW="466680" imgH="419134" progId="Equation.3">
                  <p:embed/>
                </p:oleObj>
              </mc:Choice>
              <mc:Fallback>
                <p:oleObj name="公式" r:id="rId18" imgW="466680" imgH="419134" progId="Equation.3">
                  <p:embed/>
                  <p:pic>
                    <p:nvPicPr>
                      <p:cNvPr id="584733" name="Object 29">
                        <a:extLst>
                          <a:ext uri="{FF2B5EF4-FFF2-40B4-BE49-F238E27FC236}">
                            <a16:creationId xmlns:a16="http://schemas.microsoft.com/office/drawing/2014/main" id="{8E1BA1D3-13AB-4D6F-AB19-126B02747B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5638" y="3592513"/>
                        <a:ext cx="393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734" name="AutoShape 30">
            <a:extLst>
              <a:ext uri="{FF2B5EF4-FFF2-40B4-BE49-F238E27FC236}">
                <a16:creationId xmlns:a16="http://schemas.microsoft.com/office/drawing/2014/main" id="{2BE20E50-9256-4E0F-B2B5-649C24E8C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429125"/>
            <a:ext cx="504825" cy="433388"/>
          </a:xfrm>
          <a:prstGeom prst="wedgeRectCallout">
            <a:avLst>
              <a:gd name="adj1" fmla="val 156657"/>
              <a:gd name="adj2" fmla="val 45338"/>
            </a:avLst>
          </a:prstGeom>
          <a:solidFill>
            <a:srgbClr val="669900">
              <a:alpha val="50195"/>
            </a:srgbClr>
          </a:solidFill>
          <a:ln w="6350">
            <a:solidFill>
              <a:schemeClr val="folHlink"/>
            </a:solidFill>
            <a:miter lim="800000"/>
            <a:headEnd/>
            <a:tailEnd/>
          </a:ln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chemeClr val="bg1"/>
              </a:solidFill>
            </a:endParaRPr>
          </a:p>
        </p:txBody>
      </p:sp>
      <p:graphicFrame>
        <p:nvGraphicFramePr>
          <p:cNvPr id="584735" name="Object 31">
            <a:extLst>
              <a:ext uri="{FF2B5EF4-FFF2-40B4-BE49-F238E27FC236}">
                <a16:creationId xmlns:a16="http://schemas.microsoft.com/office/drawing/2014/main" id="{880F4F71-0679-49B5-9E2D-8A7E2E7CFA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2938" y="4500563"/>
          <a:ext cx="2413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4" name="公式" r:id="rId20" imgW="276155" imgH="380864" progId="Equation.3">
                  <p:embed/>
                </p:oleObj>
              </mc:Choice>
              <mc:Fallback>
                <p:oleObj name="公式" r:id="rId20" imgW="276155" imgH="380864" progId="Equation.3">
                  <p:embed/>
                  <p:pic>
                    <p:nvPicPr>
                      <p:cNvPr id="584735" name="Object 31">
                        <a:extLst>
                          <a:ext uri="{FF2B5EF4-FFF2-40B4-BE49-F238E27FC236}">
                            <a16:creationId xmlns:a16="http://schemas.microsoft.com/office/drawing/2014/main" id="{880F4F71-0679-49B5-9E2D-8A7E2E7CFA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2938" y="4500563"/>
                        <a:ext cx="2413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736" name="Text Box 32">
            <a:extLst>
              <a:ext uri="{FF2B5EF4-FFF2-40B4-BE49-F238E27FC236}">
                <a16:creationId xmlns:a16="http://schemas.microsoft.com/office/drawing/2014/main" id="{A88FF986-CDC1-440C-A6A7-D89E8DB44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4900613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该情况无需附加相位差</a:t>
            </a:r>
            <a:r>
              <a:rPr kumimoji="0" lang="el-GR" altLang="zh-CN">
                <a:solidFill>
                  <a:schemeClr val="hlink"/>
                </a:solidFill>
                <a:latin typeface="宋体" panose="02010600030101010101" pitchFamily="2" charset="-122"/>
              </a:rPr>
              <a:t>π</a:t>
            </a:r>
          </a:p>
        </p:txBody>
      </p:sp>
      <p:graphicFrame>
        <p:nvGraphicFramePr>
          <p:cNvPr id="1255457" name="Object 33">
            <a:extLst>
              <a:ext uri="{FF2B5EF4-FFF2-40B4-BE49-F238E27FC236}">
                <a16:creationId xmlns:a16="http://schemas.microsoft.com/office/drawing/2014/main" id="{4ACAC760-60C8-4325-9E5D-8603428C6E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1317625"/>
          <a:ext cx="48609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5" name="公式" r:id="rId22" imgW="4838675" imgH="799998" progId="Equation.3">
                  <p:embed/>
                </p:oleObj>
              </mc:Choice>
              <mc:Fallback>
                <p:oleObj name="公式" r:id="rId22" imgW="4838675" imgH="799998" progId="Equation.3">
                  <p:embed/>
                  <p:pic>
                    <p:nvPicPr>
                      <p:cNvPr id="1255457" name="Object 33">
                        <a:extLst>
                          <a:ext uri="{FF2B5EF4-FFF2-40B4-BE49-F238E27FC236}">
                            <a16:creationId xmlns:a16="http://schemas.microsoft.com/office/drawing/2014/main" id="{4ACAC760-60C8-4325-9E5D-8603428C6E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317625"/>
                        <a:ext cx="4860925" cy="825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5458" name="Text Box 34">
            <a:extLst>
              <a:ext uri="{FF2B5EF4-FFF2-40B4-BE49-F238E27FC236}">
                <a16:creationId xmlns:a16="http://schemas.microsoft.com/office/drawing/2014/main" id="{8140B039-6A12-45DA-99BF-AFA6E6404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470150"/>
            <a:ext cx="2447925" cy="701675"/>
          </a:xfrm>
          <a:prstGeom prst="rect">
            <a:avLst/>
          </a:prstGeom>
          <a:solidFill>
            <a:srgbClr val="66FFFF">
              <a:alpha val="1803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式中</a:t>
            </a:r>
            <a:r>
              <a:rPr kumimoji="0" lang="zh-CN" altLang="en-US" sz="2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</a:t>
            </a:r>
            <a:r>
              <a:rPr kumimoji="0" lang="zh-CN" altLang="en-US" sz="20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为投影引入的附加相位</a:t>
            </a:r>
          </a:p>
        </p:txBody>
      </p:sp>
      <p:sp>
        <p:nvSpPr>
          <p:cNvPr id="583718" name="Text Box 38">
            <a:extLst>
              <a:ext uri="{FF2B5EF4-FFF2-40B4-BE49-F238E27FC236}">
                <a16:creationId xmlns:a16="http://schemas.microsoft.com/office/drawing/2014/main" id="{4EB9670C-D775-4DB1-A1CA-525486658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23875"/>
            <a:ext cx="388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(4)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考虑</a:t>
            </a:r>
            <a:r>
              <a:rPr kumimoji="0" lang="en-US" altLang="zh-CN" i="1">
                <a:solidFill>
                  <a:srgbClr val="66FFFF"/>
                </a:solidFill>
              </a:rPr>
              <a:t>A</a:t>
            </a:r>
            <a:r>
              <a:rPr kumimoji="0" lang="en-US" altLang="zh-CN" baseline="-25000">
                <a:solidFill>
                  <a:srgbClr val="66FFFF"/>
                </a:solidFill>
              </a:rPr>
              <a:t>o2</a:t>
            </a:r>
            <a:r>
              <a:rPr kumimoji="0"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，</a:t>
            </a:r>
            <a:r>
              <a:rPr kumimoji="0" lang="en-US" altLang="zh-CN" i="1">
                <a:solidFill>
                  <a:srgbClr val="66FFFF"/>
                </a:solidFill>
              </a:rPr>
              <a:t>A</a:t>
            </a:r>
            <a:r>
              <a:rPr kumimoji="0" lang="en-US" altLang="zh-CN" baseline="-25000">
                <a:solidFill>
                  <a:srgbClr val="66FFFF"/>
                </a:solidFill>
              </a:rPr>
              <a:t>e2</a:t>
            </a:r>
            <a:r>
              <a:rPr kumimoji="0"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附加相位差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49FB212C-C101-4B32-842C-68ED50964BEC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96863"/>
            <a:ext cx="2663825" cy="3132137"/>
            <a:chOff x="3651" y="96"/>
            <a:chExt cx="1678" cy="1973"/>
          </a:xfrm>
        </p:grpSpPr>
        <p:sp>
          <p:nvSpPr>
            <p:cNvPr id="22566" name="Line 37">
              <a:extLst>
                <a:ext uri="{FF2B5EF4-FFF2-40B4-BE49-F238E27FC236}">
                  <a16:creationId xmlns:a16="http://schemas.microsoft.com/office/drawing/2014/main" id="{5597FC53-F119-41F9-987B-CCE27C2C5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96"/>
              <a:ext cx="1" cy="1923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7" name="Line 38">
              <a:extLst>
                <a:ext uri="{FF2B5EF4-FFF2-40B4-BE49-F238E27FC236}">
                  <a16:creationId xmlns:a16="http://schemas.microsoft.com/office/drawing/2014/main" id="{AE210883-6593-486C-A9D5-499B1A7D6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7" y="1499"/>
              <a:ext cx="163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Line 39">
              <a:extLst>
                <a:ext uri="{FF2B5EF4-FFF2-40B4-BE49-F238E27FC236}">
                  <a16:creationId xmlns:a16="http://schemas.microsoft.com/office/drawing/2014/main" id="{4C0CEBB7-56BE-4EF5-A22B-50A519D5D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443"/>
              <a:ext cx="1" cy="104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9" name="Line 40">
              <a:extLst>
                <a:ext uri="{FF2B5EF4-FFF2-40B4-BE49-F238E27FC236}">
                  <a16:creationId xmlns:a16="http://schemas.microsoft.com/office/drawing/2014/main" id="{6E09B8EA-CE64-404E-A210-9A9F53E92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7" y="477"/>
              <a:ext cx="521" cy="501"/>
            </a:xfrm>
            <a:prstGeom prst="line">
              <a:avLst/>
            </a:prstGeom>
            <a:noFill/>
            <a:ln w="19050">
              <a:solidFill>
                <a:srgbClr val="66FFFF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0" name="Arc 41">
              <a:extLst>
                <a:ext uri="{FF2B5EF4-FFF2-40B4-BE49-F238E27FC236}">
                  <a16:creationId xmlns:a16="http://schemas.microsoft.com/office/drawing/2014/main" id="{A829BA87-690C-462C-A1FB-19D1B013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1116"/>
              <a:ext cx="243" cy="1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1" name="Line 42">
              <a:extLst>
                <a:ext uri="{FF2B5EF4-FFF2-40B4-BE49-F238E27FC236}">
                  <a16:creationId xmlns:a16="http://schemas.microsoft.com/office/drawing/2014/main" id="{AEA2A0ED-65D2-4742-A2F3-11A788122A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664"/>
              <a:ext cx="1313" cy="1313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72" name="Object 43">
              <a:extLst>
                <a:ext uri="{FF2B5EF4-FFF2-40B4-BE49-F238E27FC236}">
                  <a16:creationId xmlns:a16="http://schemas.microsoft.com/office/drawing/2014/main" id="{2CF12125-0DB7-4C9A-9BC5-D19D5FD414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73" y="954"/>
            <a:ext cx="213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36" name="Equation" r:id="rId24" imgW="123857" imgH="114198" progId="Equation.DSMT4">
                    <p:embed/>
                  </p:oleObj>
                </mc:Choice>
                <mc:Fallback>
                  <p:oleObj name="Equation" r:id="rId24" imgW="123857" imgH="114198" progId="Equation.DSMT4">
                    <p:embed/>
                    <p:pic>
                      <p:nvPicPr>
                        <p:cNvPr id="22572" name="Object 43">
                          <a:extLst>
                            <a:ext uri="{FF2B5EF4-FFF2-40B4-BE49-F238E27FC236}">
                              <a16:creationId xmlns:a16="http://schemas.microsoft.com/office/drawing/2014/main" id="{2CF12125-0DB7-4C9A-9BC5-D19D5FD414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3" y="954"/>
                          <a:ext cx="213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3" name="Line 44">
              <a:extLst>
                <a:ext uri="{FF2B5EF4-FFF2-40B4-BE49-F238E27FC236}">
                  <a16:creationId xmlns:a16="http://schemas.microsoft.com/office/drawing/2014/main" id="{E71079C4-8EBD-42D6-BB1E-79C5F5449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0" y="845"/>
              <a:ext cx="1224" cy="1224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74" name="Object 45">
              <a:extLst>
                <a:ext uri="{FF2B5EF4-FFF2-40B4-BE49-F238E27FC236}">
                  <a16:creationId xmlns:a16="http://schemas.microsoft.com/office/drawing/2014/main" id="{C5E61F67-613C-427A-AB1F-BE1C568982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6" y="187"/>
            <a:ext cx="211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37" name="公式" r:id="rId26" imgW="304902" imgH="390661" progId="Equation.3">
                    <p:embed/>
                  </p:oleObj>
                </mc:Choice>
                <mc:Fallback>
                  <p:oleObj name="公式" r:id="rId26" imgW="304902" imgH="390661" progId="Equation.3">
                    <p:embed/>
                    <p:pic>
                      <p:nvPicPr>
                        <p:cNvPr id="22574" name="Object 45">
                          <a:extLst>
                            <a:ext uri="{FF2B5EF4-FFF2-40B4-BE49-F238E27FC236}">
                              <a16:creationId xmlns:a16="http://schemas.microsoft.com/office/drawing/2014/main" id="{C5E61F67-613C-427A-AB1F-BE1C568982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187"/>
                          <a:ext cx="211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5" name="Object 46">
              <a:extLst>
                <a:ext uri="{FF2B5EF4-FFF2-40B4-BE49-F238E27FC236}">
                  <a16:creationId xmlns:a16="http://schemas.microsoft.com/office/drawing/2014/main" id="{A9B0C379-F952-47E5-BF51-2AF8A375B3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954"/>
            <a:ext cx="23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38" name="公式" r:id="rId28" imgW="342824" imgH="400152" progId="Equation.3">
                    <p:embed/>
                  </p:oleObj>
                </mc:Choice>
                <mc:Fallback>
                  <p:oleObj name="公式" r:id="rId28" imgW="342824" imgH="400152" progId="Equation.3">
                    <p:embed/>
                    <p:pic>
                      <p:nvPicPr>
                        <p:cNvPr id="22575" name="Object 46">
                          <a:extLst>
                            <a:ext uri="{FF2B5EF4-FFF2-40B4-BE49-F238E27FC236}">
                              <a16:creationId xmlns:a16="http://schemas.microsoft.com/office/drawing/2014/main" id="{A9B0C379-F952-47E5-BF51-2AF8A375B3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954"/>
                          <a:ext cx="23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6" name="Object 47">
              <a:extLst>
                <a:ext uri="{FF2B5EF4-FFF2-40B4-BE49-F238E27FC236}">
                  <a16:creationId xmlns:a16="http://schemas.microsoft.com/office/drawing/2014/main" id="{73F83915-2FA1-4566-A5B6-6EA39CFF7E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2" y="818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39" name="公式" r:id="rId30" imgW="323863" imgH="400152" progId="Equation.3">
                    <p:embed/>
                  </p:oleObj>
                </mc:Choice>
                <mc:Fallback>
                  <p:oleObj name="公式" r:id="rId30" imgW="323863" imgH="400152" progId="Equation.3">
                    <p:embed/>
                    <p:pic>
                      <p:nvPicPr>
                        <p:cNvPr id="22576" name="Object 47">
                          <a:extLst>
                            <a:ext uri="{FF2B5EF4-FFF2-40B4-BE49-F238E27FC236}">
                              <a16:creationId xmlns:a16="http://schemas.microsoft.com/office/drawing/2014/main" id="{73F83915-2FA1-4566-A5B6-6EA39CFF7E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818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7" name="Object 48">
              <a:extLst>
                <a:ext uri="{FF2B5EF4-FFF2-40B4-BE49-F238E27FC236}">
                  <a16:creationId xmlns:a16="http://schemas.microsoft.com/office/drawing/2014/main" id="{1378D4F0-BC72-449F-B09F-0701D0AF1E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1" y="1542"/>
            <a:ext cx="29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40" name="公式" r:id="rId32" imgW="438239" imgH="400152" progId="Equation.3">
                    <p:embed/>
                  </p:oleObj>
                </mc:Choice>
                <mc:Fallback>
                  <p:oleObj name="公式" r:id="rId32" imgW="438239" imgH="400152" progId="Equation.3">
                    <p:embed/>
                    <p:pic>
                      <p:nvPicPr>
                        <p:cNvPr id="22577" name="Object 48">
                          <a:extLst>
                            <a:ext uri="{FF2B5EF4-FFF2-40B4-BE49-F238E27FC236}">
                              <a16:creationId xmlns:a16="http://schemas.microsoft.com/office/drawing/2014/main" id="{1378D4F0-BC72-449F-B09F-0701D0AF1E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1" y="1542"/>
                          <a:ext cx="29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8" name="Object 49">
              <a:extLst>
                <a:ext uri="{FF2B5EF4-FFF2-40B4-BE49-F238E27FC236}">
                  <a16:creationId xmlns:a16="http://schemas.microsoft.com/office/drawing/2014/main" id="{A79C0E2A-2FA6-47D0-A9F6-AFF86935F5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0" y="1543"/>
            <a:ext cx="3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41" name="公式" r:id="rId34" imgW="457200" imgH="400152" progId="Equation.3">
                    <p:embed/>
                  </p:oleObj>
                </mc:Choice>
                <mc:Fallback>
                  <p:oleObj name="公式" r:id="rId34" imgW="457200" imgH="400152" progId="Equation.3">
                    <p:embed/>
                    <p:pic>
                      <p:nvPicPr>
                        <p:cNvPr id="22578" name="Object 49">
                          <a:extLst>
                            <a:ext uri="{FF2B5EF4-FFF2-40B4-BE49-F238E27FC236}">
                              <a16:creationId xmlns:a16="http://schemas.microsoft.com/office/drawing/2014/main" id="{A79C0E2A-2FA6-47D0-A9F6-AFF86935F5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" y="1543"/>
                          <a:ext cx="3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9" name="Object 50">
              <a:extLst>
                <a:ext uri="{FF2B5EF4-FFF2-40B4-BE49-F238E27FC236}">
                  <a16:creationId xmlns:a16="http://schemas.microsoft.com/office/drawing/2014/main" id="{1201A2F2-BD89-4DA4-8CDC-45089FEC5A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27" y="1232"/>
            <a:ext cx="20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42" name="公式" r:id="rId36" imgW="285635" imgH="390661" progId="Equation.3">
                    <p:embed/>
                  </p:oleObj>
                </mc:Choice>
                <mc:Fallback>
                  <p:oleObj name="公式" r:id="rId36" imgW="285635" imgH="390661" progId="Equation.3">
                    <p:embed/>
                    <p:pic>
                      <p:nvPicPr>
                        <p:cNvPr id="22579" name="Object 50">
                          <a:extLst>
                            <a:ext uri="{FF2B5EF4-FFF2-40B4-BE49-F238E27FC236}">
                              <a16:creationId xmlns:a16="http://schemas.microsoft.com/office/drawing/2014/main" id="{1201A2F2-BD89-4DA4-8CDC-45089FEC5A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7" y="1232"/>
                          <a:ext cx="20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0" name="Object 51">
              <a:extLst>
                <a:ext uri="{FF2B5EF4-FFF2-40B4-BE49-F238E27FC236}">
                  <a16:creationId xmlns:a16="http://schemas.microsoft.com/office/drawing/2014/main" id="{9CF59776-5FB9-42B0-A27A-D15B5277F8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3" y="137"/>
            <a:ext cx="17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43" name="公式" r:id="rId38" imgW="247714" imgH="390661" progId="Equation.3">
                    <p:embed/>
                  </p:oleObj>
                </mc:Choice>
                <mc:Fallback>
                  <p:oleObj name="公式" r:id="rId38" imgW="247714" imgH="390661" progId="Equation.3">
                    <p:embed/>
                    <p:pic>
                      <p:nvPicPr>
                        <p:cNvPr id="22580" name="Object 51">
                          <a:extLst>
                            <a:ext uri="{FF2B5EF4-FFF2-40B4-BE49-F238E27FC236}">
                              <a16:creationId xmlns:a16="http://schemas.microsoft.com/office/drawing/2014/main" id="{9CF59776-5FB9-42B0-A27A-D15B5277F8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37"/>
                          <a:ext cx="175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1" name="Object 52">
              <a:extLst>
                <a:ext uri="{FF2B5EF4-FFF2-40B4-BE49-F238E27FC236}">
                  <a16:creationId xmlns:a16="http://schemas.microsoft.com/office/drawing/2014/main" id="{757C567E-8E26-43AE-B179-9661DCFF2D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4" y="448"/>
            <a:ext cx="17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44" name="公式" r:id="rId40" imgW="247714" imgH="285648" progId="Equation.3">
                    <p:embed/>
                  </p:oleObj>
                </mc:Choice>
                <mc:Fallback>
                  <p:oleObj name="公式" r:id="rId40" imgW="247714" imgH="285648" progId="Equation.3">
                    <p:embed/>
                    <p:pic>
                      <p:nvPicPr>
                        <p:cNvPr id="22581" name="Object 52">
                          <a:extLst>
                            <a:ext uri="{FF2B5EF4-FFF2-40B4-BE49-F238E27FC236}">
                              <a16:creationId xmlns:a16="http://schemas.microsoft.com/office/drawing/2014/main" id="{757C567E-8E26-43AE-B179-9661DCFF2D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4" y="448"/>
                          <a:ext cx="17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82" name="Line 53">
              <a:extLst>
                <a:ext uri="{FF2B5EF4-FFF2-40B4-BE49-F238E27FC236}">
                  <a16:creationId xmlns:a16="http://schemas.microsoft.com/office/drawing/2014/main" id="{E35D8A11-5D62-4EF4-8B95-74418AA0B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9" y="1500"/>
              <a:ext cx="528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3" name="Line 54">
              <a:extLst>
                <a:ext uri="{FF2B5EF4-FFF2-40B4-BE49-F238E27FC236}">
                  <a16:creationId xmlns:a16="http://schemas.microsoft.com/office/drawing/2014/main" id="{60FC3DB6-9B66-48B9-89B4-C39F28426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8" y="972"/>
              <a:ext cx="0" cy="528"/>
            </a:xfrm>
            <a:prstGeom prst="line">
              <a:avLst/>
            </a:prstGeom>
            <a:noFill/>
            <a:ln w="19050">
              <a:solidFill>
                <a:srgbClr val="66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4" name="Line 55">
              <a:extLst>
                <a:ext uri="{FF2B5EF4-FFF2-40B4-BE49-F238E27FC236}">
                  <a16:creationId xmlns:a16="http://schemas.microsoft.com/office/drawing/2014/main" id="{6E19E9BD-841F-47F0-8777-A09A06CAA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9" y="985"/>
              <a:ext cx="0" cy="528"/>
            </a:xfrm>
            <a:prstGeom prst="line">
              <a:avLst/>
            </a:prstGeom>
            <a:noFill/>
            <a:ln w="19050">
              <a:solidFill>
                <a:srgbClr val="FFCC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5" name="Line 56">
              <a:extLst>
                <a:ext uri="{FF2B5EF4-FFF2-40B4-BE49-F238E27FC236}">
                  <a16:creationId xmlns:a16="http://schemas.microsoft.com/office/drawing/2014/main" id="{D2777F8F-653C-4087-A8EE-2DE857252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6" y="978"/>
              <a:ext cx="504" cy="504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6" name="Line 57">
              <a:extLst>
                <a:ext uri="{FF2B5EF4-FFF2-40B4-BE49-F238E27FC236}">
                  <a16:creationId xmlns:a16="http://schemas.microsoft.com/office/drawing/2014/main" id="{842839E7-AFCA-455C-B474-E36988F9F3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480"/>
              <a:ext cx="480" cy="480"/>
            </a:xfrm>
            <a:prstGeom prst="line">
              <a:avLst/>
            </a:prstGeom>
            <a:noFill/>
            <a:ln w="19050">
              <a:solidFill>
                <a:srgbClr val="FFCC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7" name="Line 58">
              <a:extLst>
                <a:ext uri="{FF2B5EF4-FFF2-40B4-BE49-F238E27FC236}">
                  <a16:creationId xmlns:a16="http://schemas.microsoft.com/office/drawing/2014/main" id="{03BFFCB7-AFCB-4787-AF01-5DCC25241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0" y="1499"/>
              <a:ext cx="480" cy="0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8" name="Line 59">
              <a:extLst>
                <a:ext uri="{FF2B5EF4-FFF2-40B4-BE49-F238E27FC236}">
                  <a16:creationId xmlns:a16="http://schemas.microsoft.com/office/drawing/2014/main" id="{4F16A3EF-65D4-4D06-B92C-5797EEF3E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9" y="972"/>
              <a:ext cx="528" cy="528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9" name="Arc 60">
              <a:extLst>
                <a:ext uri="{FF2B5EF4-FFF2-40B4-BE49-F238E27FC236}">
                  <a16:creationId xmlns:a16="http://schemas.microsoft.com/office/drawing/2014/main" id="{72F31F01-97B7-4705-B367-0FEEE93CD28C}"/>
                </a:ext>
              </a:extLst>
            </p:cNvPr>
            <p:cNvSpPr>
              <a:spLocks/>
            </p:cNvSpPr>
            <p:nvPr/>
          </p:nvSpPr>
          <p:spPr bwMode="auto">
            <a:xfrm rot="1527093">
              <a:off x="4594" y="1340"/>
              <a:ext cx="171" cy="1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90" name="Object 61">
              <a:extLst>
                <a:ext uri="{FF2B5EF4-FFF2-40B4-BE49-F238E27FC236}">
                  <a16:creationId xmlns:a16="http://schemas.microsoft.com/office/drawing/2014/main" id="{2AD24113-AB67-44E9-AF2B-A599A4953B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94" y="1181"/>
            <a:ext cx="21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45" name="Equation" r:id="rId42" imgW="123857" imgH="171450" progId="Equation.DSMT4">
                    <p:embed/>
                  </p:oleObj>
                </mc:Choice>
                <mc:Fallback>
                  <p:oleObj name="Equation" r:id="rId42" imgW="123857" imgH="171450" progId="Equation.DSMT4">
                    <p:embed/>
                    <p:pic>
                      <p:nvPicPr>
                        <p:cNvPr id="22590" name="Object 61">
                          <a:extLst>
                            <a:ext uri="{FF2B5EF4-FFF2-40B4-BE49-F238E27FC236}">
                              <a16:creationId xmlns:a16="http://schemas.microsoft.com/office/drawing/2014/main" id="{2AD24113-AB67-44E9-AF2B-A599A4953B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181"/>
                          <a:ext cx="21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65" name="灯片编号占位符 1">
            <a:extLst>
              <a:ext uri="{FF2B5EF4-FFF2-40B4-BE49-F238E27FC236}">
                <a16:creationId xmlns:a16="http://schemas.microsoft.com/office/drawing/2014/main" id="{5B3FDA85-5C8F-412A-8BCA-C645B5D2185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769DCC-672B-461B-A892-8A304D809F42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5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5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8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8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8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8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8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8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8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8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8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8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8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8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58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58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8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8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8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8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8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8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8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58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8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58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8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8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8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6" grpId="0" animBg="1"/>
      <p:bldP spid="584707" grpId="0"/>
      <p:bldP spid="584708" grpId="0"/>
      <p:bldP spid="584709" grpId="0" animBg="1" autoUpdateAnimBg="0"/>
      <p:bldP spid="584727" grpId="0"/>
      <p:bldP spid="584732" grpId="0" animBg="1" autoUpdateAnimBg="0"/>
      <p:bldP spid="584734" grpId="0" animBg="1" autoUpdateAnimBg="0"/>
      <p:bldP spid="584736" grpId="0"/>
      <p:bldP spid="1255458" grpId="0" animBg="1"/>
      <p:bldP spid="5837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474" name="Text Box 2">
            <a:extLst>
              <a:ext uri="{FF2B5EF4-FFF2-40B4-BE49-F238E27FC236}">
                <a16:creationId xmlns:a16="http://schemas.microsoft.com/office/drawing/2014/main" id="{34C44251-EC17-4064-AE74-218BD4B6F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3689350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—</a:t>
            </a:r>
            <a:r>
              <a:rPr lang="en-US" altLang="zh-CN">
                <a:solidFill>
                  <a:schemeClr val="hlink"/>
                </a:solidFill>
              </a:rPr>
              <a:t>  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干涉相长</a:t>
            </a:r>
          </a:p>
        </p:txBody>
      </p:sp>
      <p:sp>
        <p:nvSpPr>
          <p:cNvPr id="1257475" name="Text Box 3">
            <a:extLst>
              <a:ext uri="{FF2B5EF4-FFF2-40B4-BE49-F238E27FC236}">
                <a16:creationId xmlns:a16="http://schemas.microsoft.com/office/drawing/2014/main" id="{5217C7C0-DD41-4F40-A090-2035999F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550" y="4797425"/>
            <a:ext cx="2338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—</a:t>
            </a:r>
            <a:r>
              <a:rPr lang="en-US" altLang="zh-CN">
                <a:solidFill>
                  <a:schemeClr val="hlink"/>
                </a:solidFill>
              </a:rPr>
              <a:t>  </a:t>
            </a:r>
            <a:r>
              <a:rPr lang="zh-CN" altLang="en-US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干涉相消</a:t>
            </a:r>
          </a:p>
        </p:txBody>
      </p:sp>
      <p:sp>
        <p:nvSpPr>
          <p:cNvPr id="21514" name="Rectangle 7">
            <a:extLst>
              <a:ext uri="{FF2B5EF4-FFF2-40B4-BE49-F238E27FC236}">
                <a16:creationId xmlns:a16="http://schemas.microsoft.com/office/drawing/2014/main" id="{DFD4A664-BD08-4E8D-B631-2F05A7E35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522288"/>
            <a:ext cx="453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ea typeface="华文中宋" panose="02010600040101010101" pitchFamily="2" charset="-122"/>
              </a:rPr>
              <a:t>合振动振幅和强度：</a:t>
            </a:r>
          </a:p>
        </p:txBody>
      </p:sp>
      <p:graphicFrame>
        <p:nvGraphicFramePr>
          <p:cNvPr id="1257480" name="Object 8">
            <a:extLst>
              <a:ext uri="{FF2B5EF4-FFF2-40B4-BE49-F238E27FC236}">
                <a16:creationId xmlns:a16="http://schemas.microsoft.com/office/drawing/2014/main" id="{FEC8E320-3AEC-44B4-BAF0-C1BDF80ECC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4750" y="3502025"/>
          <a:ext cx="41116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94" name="公式" r:id="rId3" imgW="4086359" imgH="799998" progId="Equation.3">
                  <p:embed/>
                </p:oleObj>
              </mc:Choice>
              <mc:Fallback>
                <p:oleObj name="公式" r:id="rId3" imgW="4086359" imgH="799998" progId="Equation.3">
                  <p:embed/>
                  <p:pic>
                    <p:nvPicPr>
                      <p:cNvPr id="1257480" name="Object 8">
                        <a:extLst>
                          <a:ext uri="{FF2B5EF4-FFF2-40B4-BE49-F238E27FC236}">
                            <a16:creationId xmlns:a16="http://schemas.microsoft.com/office/drawing/2014/main" id="{FEC8E320-3AEC-44B4-BAF0-C1BDF80EC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3502025"/>
                        <a:ext cx="41116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7481" name="Object 9">
            <a:extLst>
              <a:ext uri="{FF2B5EF4-FFF2-40B4-BE49-F238E27FC236}">
                <a16:creationId xmlns:a16="http://schemas.microsoft.com/office/drawing/2014/main" id="{BDAE4BD9-443E-4960-955A-98E5B562D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4603750"/>
          <a:ext cx="48482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95" name="公式" r:id="rId5" imgW="4819714" imgH="799998" progId="Equation.3">
                  <p:embed/>
                </p:oleObj>
              </mc:Choice>
              <mc:Fallback>
                <p:oleObj name="公式" r:id="rId5" imgW="4819714" imgH="799998" progId="Equation.3">
                  <p:embed/>
                  <p:pic>
                    <p:nvPicPr>
                      <p:cNvPr id="1257481" name="Object 9">
                        <a:extLst>
                          <a:ext uri="{FF2B5EF4-FFF2-40B4-BE49-F238E27FC236}">
                            <a16:creationId xmlns:a16="http://schemas.microsoft.com/office/drawing/2014/main" id="{BDAE4BD9-443E-4960-955A-98E5B562D3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603750"/>
                        <a:ext cx="48482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7000" name="Object 12">
            <a:extLst>
              <a:ext uri="{FF2B5EF4-FFF2-40B4-BE49-F238E27FC236}">
                <a16:creationId xmlns:a16="http://schemas.microsoft.com/office/drawing/2014/main" id="{54930FB7-7D2D-4D38-BB70-486D7B316D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2428875"/>
          <a:ext cx="42068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96" name="公式" r:id="rId7" imgW="1914429" imgH="238193" progId="Equation.3">
                  <p:embed/>
                </p:oleObj>
              </mc:Choice>
              <mc:Fallback>
                <p:oleObj name="公式" r:id="rId7" imgW="1914429" imgH="238193" progId="Equation.3">
                  <p:embed/>
                  <p:pic>
                    <p:nvPicPr>
                      <p:cNvPr id="597000" name="Object 12">
                        <a:extLst>
                          <a:ext uri="{FF2B5EF4-FFF2-40B4-BE49-F238E27FC236}">
                            <a16:creationId xmlns:a16="http://schemas.microsoft.com/office/drawing/2014/main" id="{54930FB7-7D2D-4D38-BB70-486D7B316D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428875"/>
                        <a:ext cx="42068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>
            <a:extLst>
              <a:ext uri="{FF2B5EF4-FFF2-40B4-BE49-F238E27FC236}">
                <a16:creationId xmlns:a16="http://schemas.microsoft.com/office/drawing/2014/main" id="{48EC57BD-3FD9-46E0-ADED-461A93BD40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389063"/>
          <a:ext cx="53086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97" name="公式" r:id="rId9" imgW="2133702" imgH="209414" progId="Equation.3">
                  <p:embed/>
                </p:oleObj>
              </mc:Choice>
              <mc:Fallback>
                <p:oleObj name="公式" r:id="rId9" imgW="2133702" imgH="209414" progId="Equation.3">
                  <p:embed/>
                  <p:pic>
                    <p:nvPicPr>
                      <p:cNvPr id="2" name="Object 13">
                        <a:extLst>
                          <a:ext uri="{FF2B5EF4-FFF2-40B4-BE49-F238E27FC236}">
                            <a16:creationId xmlns:a16="http://schemas.microsoft.com/office/drawing/2014/main" id="{48EC57BD-3FD9-46E0-ADED-461A93BD40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89063"/>
                        <a:ext cx="53086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灯片编号占位符 1">
            <a:extLst>
              <a:ext uri="{FF2B5EF4-FFF2-40B4-BE49-F238E27FC236}">
                <a16:creationId xmlns:a16="http://schemas.microsoft.com/office/drawing/2014/main" id="{91C75E6D-CE7C-49ED-87E1-334ACB5A4B7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49E4C4-54AB-4156-93A4-A0A019BB273A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7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5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5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5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7474" grpId="0" autoUpdateAnimBg="0"/>
      <p:bldP spid="1257475" grpId="0" autoUpdateAnimBg="0"/>
      <p:bldP spid="215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8">
            <a:extLst>
              <a:ext uri="{FF2B5EF4-FFF2-40B4-BE49-F238E27FC236}">
                <a16:creationId xmlns:a16="http://schemas.microsoft.com/office/drawing/2014/main" id="{FAAE194A-38E4-446C-8D7F-2EFCB8D4E4F6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2935288"/>
            <a:ext cx="2646363" cy="2439987"/>
            <a:chOff x="5768977" y="2935289"/>
            <a:chExt cx="2646363" cy="2439990"/>
          </a:xfrm>
        </p:grpSpPr>
        <p:grpSp>
          <p:nvGrpSpPr>
            <p:cNvPr id="25631" name="Group 9">
              <a:extLst>
                <a:ext uri="{FF2B5EF4-FFF2-40B4-BE49-F238E27FC236}">
                  <a16:creationId xmlns:a16="http://schemas.microsoft.com/office/drawing/2014/main" id="{AB11E044-DD90-4EB1-9BF0-6B3CE50219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8977" y="2935289"/>
              <a:ext cx="2646363" cy="2439990"/>
              <a:chOff x="3654" y="1441"/>
              <a:chExt cx="1667" cy="1537"/>
            </a:xfrm>
          </p:grpSpPr>
          <p:sp>
            <p:nvSpPr>
              <p:cNvPr id="25635" name="Line 10">
                <a:extLst>
                  <a:ext uri="{FF2B5EF4-FFF2-40B4-BE49-F238E27FC236}">
                    <a16:creationId xmlns:a16="http://schemas.microsoft.com/office/drawing/2014/main" id="{2B922DB0-D7F2-4541-A3B6-AD28AD80F6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4" y="2667"/>
                <a:ext cx="1451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6" name="Line 11">
                <a:extLst>
                  <a:ext uri="{FF2B5EF4-FFF2-40B4-BE49-F238E27FC236}">
                    <a16:creationId xmlns:a16="http://schemas.microsoft.com/office/drawing/2014/main" id="{429667D8-41C9-4504-9EAB-B7AAFCD96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6" y="1617"/>
                <a:ext cx="1" cy="1361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7" name="Line 12">
                <a:extLst>
                  <a:ext uri="{FF2B5EF4-FFF2-40B4-BE49-F238E27FC236}">
                    <a16:creationId xmlns:a16="http://schemas.microsoft.com/office/drawing/2014/main" id="{4D099053-1D54-4DFB-8796-6D4CC7B38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5" y="1692"/>
                <a:ext cx="729" cy="1275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638" name="Object 13">
                <a:extLst>
                  <a:ext uri="{FF2B5EF4-FFF2-40B4-BE49-F238E27FC236}">
                    <a16:creationId xmlns:a16="http://schemas.microsoft.com/office/drawing/2014/main" id="{4E6BBCE7-B20C-4C3E-AD80-6D96FB3894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50" y="1570"/>
              <a:ext cx="176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9746" name="公式" r:id="rId4" imgW="247714" imgH="390661" progId="Equation.3">
                      <p:embed/>
                    </p:oleObj>
                  </mc:Choice>
                  <mc:Fallback>
                    <p:oleObj name="公式" r:id="rId4" imgW="247714" imgH="390661" progId="Equation.3">
                      <p:embed/>
                      <p:pic>
                        <p:nvPicPr>
                          <p:cNvPr id="25638" name="Object 13">
                            <a:extLst>
                              <a:ext uri="{FF2B5EF4-FFF2-40B4-BE49-F238E27FC236}">
                                <a16:creationId xmlns:a16="http://schemas.microsoft.com/office/drawing/2014/main" id="{4E6BBCE7-B20C-4C3E-AD80-6D96FB38942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0" y="1570"/>
                            <a:ext cx="176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9" name="Object 14">
                <a:extLst>
                  <a:ext uri="{FF2B5EF4-FFF2-40B4-BE49-F238E27FC236}">
                    <a16:creationId xmlns:a16="http://schemas.microsoft.com/office/drawing/2014/main" id="{FF520566-EFA3-42BA-9217-B4684F1AF3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05" y="2531"/>
              <a:ext cx="200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9747" name="公式" r:id="rId6" imgW="285635" imgH="390661" progId="Equation.3">
                      <p:embed/>
                    </p:oleObj>
                  </mc:Choice>
                  <mc:Fallback>
                    <p:oleObj name="公式" r:id="rId6" imgW="285635" imgH="390661" progId="Equation.3">
                      <p:embed/>
                      <p:pic>
                        <p:nvPicPr>
                          <p:cNvPr id="25639" name="Object 14">
                            <a:extLst>
                              <a:ext uri="{FF2B5EF4-FFF2-40B4-BE49-F238E27FC236}">
                                <a16:creationId xmlns:a16="http://schemas.microsoft.com/office/drawing/2014/main" id="{FF520566-EFA3-42BA-9217-B4684F1AF3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5" y="2531"/>
                            <a:ext cx="200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0" name="Text Box 15">
                <a:extLst>
                  <a:ext uri="{FF2B5EF4-FFF2-40B4-BE49-F238E27FC236}">
                    <a16:creationId xmlns:a16="http://schemas.microsoft.com/office/drawing/2014/main" id="{13170B86-4083-4C6B-BF1D-B7E47D4F19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0" y="1441"/>
                <a:ext cx="441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zh-CN" altLang="en-US" sz="2000">
                    <a:solidFill>
                      <a:schemeClr val="bg1"/>
                    </a:solidFill>
                  </a:rPr>
                  <a:t>波片</a:t>
                </a:r>
                <a:endParaRPr kumimoji="0" lang="en-US" altLang="zh-CN" sz="2000">
                  <a:solidFill>
                    <a:schemeClr val="bg1"/>
                  </a:solidFill>
                </a:endParaRPr>
              </a:p>
              <a:p>
                <a:pPr eaLnBrk="1" hangingPunct="1"/>
                <a:r>
                  <a:rPr kumimoji="0" lang="zh-CN" altLang="en-US" sz="2000">
                    <a:solidFill>
                      <a:schemeClr val="bg1"/>
                    </a:solidFill>
                  </a:rPr>
                  <a:t>光轴</a:t>
                </a:r>
                <a:endParaRPr kumimoji="0" lang="en-US" altLang="zh-CN" sz="2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632" name="组合 37">
              <a:extLst>
                <a:ext uri="{FF2B5EF4-FFF2-40B4-BE49-F238E27FC236}">
                  <a16:creationId xmlns:a16="http://schemas.microsoft.com/office/drawing/2014/main" id="{F98A3021-3FFF-467C-8283-74EC347B0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2642" y="4143380"/>
              <a:ext cx="418125" cy="600842"/>
              <a:chOff x="6852642" y="4143380"/>
              <a:chExt cx="418125" cy="600842"/>
            </a:xfrm>
          </p:grpSpPr>
          <p:sp>
            <p:nvSpPr>
              <p:cNvPr id="36" name="弧形 35">
                <a:extLst>
                  <a:ext uri="{FF2B5EF4-FFF2-40B4-BE49-F238E27FC236}">
                    <a16:creationId xmlns:a16="http://schemas.microsoft.com/office/drawing/2014/main" id="{CA389018-E805-4A3B-AF5A-5309973536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20217929">
                <a:off x="6853240" y="4527553"/>
                <a:ext cx="258762" cy="215900"/>
              </a:xfrm>
              <a:prstGeom prst="arc">
                <a:avLst/>
              </a:prstGeom>
              <a:noFill/>
              <a:ln w="25400" cap="flat" cmpd="sng" algn="ctr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aphicFrame>
            <p:nvGraphicFramePr>
              <p:cNvPr id="25634" name="Object 35">
                <a:extLst>
                  <a:ext uri="{FF2B5EF4-FFF2-40B4-BE49-F238E27FC236}">
                    <a16:creationId xmlns:a16="http://schemas.microsoft.com/office/drawing/2014/main" id="{C1534A1F-C000-46EC-9AE5-153FD9266C1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29454" y="4143380"/>
              <a:ext cx="341313" cy="285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9748" name="公式" r:id="rId8" imgW="209486" imgH="171450" progId="Equation.3">
                      <p:embed/>
                    </p:oleObj>
                  </mc:Choice>
                  <mc:Fallback>
                    <p:oleObj name="公式" r:id="rId8" imgW="209486" imgH="171450" progId="Equation.3">
                      <p:embed/>
                      <p:pic>
                        <p:nvPicPr>
                          <p:cNvPr id="25634" name="Object 35">
                            <a:extLst>
                              <a:ext uri="{FF2B5EF4-FFF2-40B4-BE49-F238E27FC236}">
                                <a16:creationId xmlns:a16="http://schemas.microsoft.com/office/drawing/2014/main" id="{C1534A1F-C000-46EC-9AE5-153FD9266C1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9454" y="4143380"/>
                            <a:ext cx="341313" cy="2857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85730" name="Line 2">
            <a:extLst>
              <a:ext uri="{FF2B5EF4-FFF2-40B4-BE49-F238E27FC236}">
                <a16:creationId xmlns:a16="http://schemas.microsoft.com/office/drawing/2014/main" id="{315D2BE8-E3A5-4504-9CCB-5CCFC185E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4572000"/>
            <a:ext cx="0" cy="287338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31" name="Text Box 3">
            <a:extLst>
              <a:ext uri="{FF2B5EF4-FFF2-40B4-BE49-F238E27FC236}">
                <a16:creationId xmlns:a16="http://schemas.microsoft.com/office/drawing/2014/main" id="{BEDCB140-CC68-455B-B8A5-275B65F70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257175"/>
            <a:ext cx="220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latin typeface="仿宋_GB2312"/>
                <a:ea typeface="仿宋_GB2312"/>
                <a:cs typeface="仿宋_GB2312"/>
              </a:rPr>
              <a:t>例</a:t>
            </a:r>
          </a:p>
        </p:txBody>
      </p:sp>
      <p:sp>
        <p:nvSpPr>
          <p:cNvPr id="585732" name="Text Box 4">
            <a:extLst>
              <a:ext uri="{FF2B5EF4-FFF2-40B4-BE49-F238E27FC236}">
                <a16:creationId xmlns:a16="http://schemas.microsoft.com/office/drawing/2014/main" id="{762BA5CD-9B7E-4F9E-8FA3-0854A874D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643063"/>
            <a:ext cx="74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求</a:t>
            </a:r>
          </a:p>
        </p:txBody>
      </p:sp>
      <p:sp>
        <p:nvSpPr>
          <p:cNvPr id="585733" name="Text Box 5">
            <a:extLst>
              <a:ext uri="{FF2B5EF4-FFF2-40B4-BE49-F238E27FC236}">
                <a16:creationId xmlns:a16="http://schemas.microsoft.com/office/drawing/2014/main" id="{53D25A55-D0AD-4814-909C-647701144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214313"/>
            <a:ext cx="7869237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两偏振化方向正交的偏振片共轴放置，其间放一块</a:t>
            </a: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 </a:t>
            </a:r>
            <a:r>
              <a:rPr kumimoji="0" lang="en-US" altLang="zh-CN">
                <a:solidFill>
                  <a:srgbClr val="00FFFF"/>
                </a:solidFill>
                <a:ea typeface="仿宋_GB2312"/>
                <a:cs typeface="仿宋_GB2312"/>
              </a:rPr>
              <a:t>1/4 </a:t>
            </a:r>
            <a:r>
              <a:rPr kumimoji="0" lang="zh-CN" altLang="en-US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波片，波片的光轴与第一块偏振片的起偏方向成</a:t>
            </a:r>
            <a:r>
              <a:rPr kumimoji="0" lang="en-US" altLang="zh-CN">
                <a:solidFill>
                  <a:srgbClr val="66FFFF"/>
                </a:solidFill>
                <a:latin typeface="仿宋_GB2312"/>
                <a:ea typeface="仿宋_GB2312"/>
                <a:cs typeface="仿宋_GB2312"/>
              </a:rPr>
              <a:t>30</a:t>
            </a:r>
            <a:r>
              <a:rPr kumimoji="0" lang="en-US" altLang="zh-CN" baseline="30000">
                <a:solidFill>
                  <a:srgbClr val="66FFFF"/>
                </a:solidFill>
                <a:latin typeface="仿宋_GB2312"/>
                <a:ea typeface="仿宋_GB2312"/>
                <a:cs typeface="仿宋_GB2312"/>
              </a:rPr>
              <a:t>0 </a:t>
            </a:r>
            <a:r>
              <a:rPr kumimoji="0" lang="zh-CN" altLang="en-US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角，光强为</a:t>
            </a:r>
            <a:r>
              <a:rPr kumimoji="0" lang="en-US" altLang="zh-CN" i="1">
                <a:solidFill>
                  <a:srgbClr val="66FFFF"/>
                </a:solidFill>
                <a:latin typeface="仿宋_GB2312"/>
                <a:ea typeface="仿宋_GB2312"/>
                <a:cs typeface="仿宋_GB2312"/>
              </a:rPr>
              <a:t>I</a:t>
            </a:r>
            <a:r>
              <a:rPr kumimoji="0" lang="en-US" altLang="zh-CN" baseline="-25000">
                <a:solidFill>
                  <a:srgbClr val="66FFFF"/>
                </a:solidFill>
                <a:latin typeface="仿宋_GB2312"/>
                <a:ea typeface="仿宋_GB2312"/>
                <a:cs typeface="仿宋_GB2312"/>
              </a:rPr>
              <a:t>0 </a:t>
            </a:r>
            <a:r>
              <a:rPr kumimoji="0" lang="zh-CN" altLang="en-US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的单色自然光通过该系统</a:t>
            </a:r>
            <a:endParaRPr kumimoji="0" lang="en-US" altLang="zh-CN">
              <a:solidFill>
                <a:schemeClr val="bg1"/>
              </a:solidFill>
              <a:latin typeface="仿宋_GB2312"/>
              <a:ea typeface="仿宋_GB2312"/>
              <a:cs typeface="仿宋_GB2312"/>
            </a:endParaRPr>
          </a:p>
        </p:txBody>
      </p:sp>
      <p:sp>
        <p:nvSpPr>
          <p:cNvPr id="585734" name="Text Box 6">
            <a:extLst>
              <a:ext uri="{FF2B5EF4-FFF2-40B4-BE49-F238E27FC236}">
                <a16:creationId xmlns:a16="http://schemas.microsoft.com/office/drawing/2014/main" id="{68B7D866-7208-4738-823F-562C32519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1643063"/>
            <a:ext cx="3265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  <a:ea typeface="仿宋_GB2312"/>
                <a:cs typeface="仿宋_GB2312"/>
              </a:rPr>
              <a:t>出射光的光强？</a:t>
            </a:r>
            <a:endParaRPr kumimoji="0" lang="en-US" altLang="zh-CN">
              <a:solidFill>
                <a:schemeClr val="bg1"/>
              </a:solidFill>
              <a:latin typeface="Arial" panose="020B0604020202020204" pitchFamily="34" charset="0"/>
              <a:ea typeface="仿宋_GB2312"/>
              <a:cs typeface="仿宋_GB2312"/>
            </a:endParaRPr>
          </a:p>
        </p:txBody>
      </p:sp>
      <p:sp>
        <p:nvSpPr>
          <p:cNvPr id="585735" name="Rectangle 7">
            <a:extLst>
              <a:ext uri="{FF2B5EF4-FFF2-40B4-BE49-F238E27FC236}">
                <a16:creationId xmlns:a16="http://schemas.microsoft.com/office/drawing/2014/main" id="{12B78331-5193-404B-AF94-F7965B177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2114550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解</a:t>
            </a:r>
          </a:p>
        </p:txBody>
      </p:sp>
      <p:sp>
        <p:nvSpPr>
          <p:cNvPr id="585736" name="Text Box 8">
            <a:extLst>
              <a:ext uri="{FF2B5EF4-FFF2-40B4-BE49-F238E27FC236}">
                <a16:creationId xmlns:a16="http://schemas.microsoft.com/office/drawing/2014/main" id="{2E1D3873-494D-4A1C-9F58-8ACB3A6A0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071688"/>
            <a:ext cx="78581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自然光通过第一块偏振片</a:t>
            </a:r>
            <a:r>
              <a:rPr kumimoji="0" lang="en-US" altLang="zh-CN" i="1">
                <a:solidFill>
                  <a:srgbClr val="00FFFF"/>
                </a:solidFill>
                <a:ea typeface="仿宋_GB2312"/>
                <a:cs typeface="仿宋_GB2312"/>
              </a:rPr>
              <a:t>P</a:t>
            </a:r>
            <a:r>
              <a:rPr kumimoji="0" lang="en-US" altLang="zh-CN" baseline="-25000">
                <a:solidFill>
                  <a:srgbClr val="00FFFF"/>
                </a:solidFill>
                <a:ea typeface="仿宋_GB2312"/>
                <a:cs typeface="仿宋_GB2312"/>
              </a:rPr>
              <a:t>1</a:t>
            </a: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后光强 </a:t>
            </a:r>
            <a:r>
              <a:rPr kumimoji="0" lang="en-US" altLang="zh-CN" i="1">
                <a:solidFill>
                  <a:srgbClr val="00FFFF"/>
                </a:solidFill>
                <a:ea typeface="仿宋_GB2312"/>
                <a:cs typeface="仿宋_GB2312"/>
              </a:rPr>
              <a:t>I</a:t>
            </a:r>
            <a:r>
              <a:rPr kumimoji="0" lang="en-US" altLang="zh-CN" baseline="-25000">
                <a:solidFill>
                  <a:srgbClr val="00FFFF"/>
                </a:solidFill>
                <a:ea typeface="仿宋_GB2312"/>
                <a:cs typeface="仿宋_GB2312"/>
              </a:rPr>
              <a:t>1 </a:t>
            </a:r>
            <a:r>
              <a:rPr kumimoji="0" lang="en-US" altLang="zh-CN">
                <a:solidFill>
                  <a:srgbClr val="00FFFF"/>
                </a:solidFill>
                <a:ea typeface="仿宋_GB2312"/>
                <a:cs typeface="仿宋_GB2312"/>
              </a:rPr>
              <a:t>= </a:t>
            </a:r>
            <a:r>
              <a:rPr kumimoji="0" lang="en-US" altLang="zh-CN" i="1">
                <a:solidFill>
                  <a:srgbClr val="00FFFF"/>
                </a:solidFill>
                <a:ea typeface="仿宋_GB2312"/>
                <a:cs typeface="仿宋_GB2312"/>
              </a:rPr>
              <a:t>I</a:t>
            </a:r>
            <a:r>
              <a:rPr kumimoji="0" lang="en-US" altLang="zh-CN" baseline="-25000">
                <a:solidFill>
                  <a:srgbClr val="00FFFF"/>
                </a:solidFill>
                <a:ea typeface="仿宋_GB2312"/>
                <a:cs typeface="仿宋_GB2312"/>
              </a:rPr>
              <a:t>0 </a:t>
            </a:r>
            <a:r>
              <a:rPr kumimoji="0" lang="en-US" altLang="zh-CN">
                <a:solidFill>
                  <a:srgbClr val="00FFFF"/>
                </a:solidFill>
                <a:ea typeface="仿宋_GB2312"/>
                <a:cs typeface="仿宋_GB2312"/>
              </a:rPr>
              <a:t>/2</a:t>
            </a: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，设振幅为 </a:t>
            </a:r>
            <a:r>
              <a:rPr kumimoji="0" lang="en-US" altLang="zh-CN" i="1">
                <a:solidFill>
                  <a:srgbClr val="66FFFF"/>
                </a:solidFill>
                <a:ea typeface="仿宋_GB2312"/>
                <a:cs typeface="仿宋_GB2312"/>
              </a:rPr>
              <a:t>A</a:t>
            </a: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，入射波片后</a:t>
            </a:r>
          </a:p>
        </p:txBody>
      </p:sp>
      <p:sp>
        <p:nvSpPr>
          <p:cNvPr id="585744" name="Line 16">
            <a:extLst>
              <a:ext uri="{FF2B5EF4-FFF2-40B4-BE49-F238E27FC236}">
                <a16:creationId xmlns:a16="http://schemas.microsoft.com/office/drawing/2014/main" id="{79D3017C-1FAA-4C89-8B86-ECBBBBE907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6738" y="3789363"/>
            <a:ext cx="0" cy="10795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45" name="Line 17">
            <a:extLst>
              <a:ext uri="{FF2B5EF4-FFF2-40B4-BE49-F238E27FC236}">
                <a16:creationId xmlns:a16="http://schemas.microsoft.com/office/drawing/2014/main" id="{F534EC92-511C-48A6-9AA6-42AF82FA8557}"/>
              </a:ext>
            </a:extLst>
          </p:cNvPr>
          <p:cNvSpPr>
            <a:spLocks noChangeShapeType="1"/>
          </p:cNvSpPr>
          <p:nvPr/>
        </p:nvSpPr>
        <p:spPr bwMode="auto">
          <a:xfrm rot="60000" flipV="1">
            <a:off x="6935788" y="4068763"/>
            <a:ext cx="449262" cy="8001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46" name="Line 18">
            <a:extLst>
              <a:ext uri="{FF2B5EF4-FFF2-40B4-BE49-F238E27FC236}">
                <a16:creationId xmlns:a16="http://schemas.microsoft.com/office/drawing/2014/main" id="{42D6FF26-64AB-4B19-9345-D48EA7DEE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738" y="3808413"/>
            <a:ext cx="441325" cy="263525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47" name="Line 19">
            <a:extLst>
              <a:ext uri="{FF2B5EF4-FFF2-40B4-BE49-F238E27FC236}">
                <a16:creationId xmlns:a16="http://schemas.microsoft.com/office/drawing/2014/main" id="{B3351BDA-9A66-40AE-85D3-BBAD3091C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9375" y="4572000"/>
            <a:ext cx="506413" cy="309563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48" name="Line 20">
            <a:extLst>
              <a:ext uri="{FF2B5EF4-FFF2-40B4-BE49-F238E27FC236}">
                <a16:creationId xmlns:a16="http://schemas.microsoft.com/office/drawing/2014/main" id="{3BFFD9D6-AFBA-487C-9F10-20F01A158F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4775" y="3786188"/>
            <a:ext cx="474663" cy="782637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49" name="Line 21">
            <a:extLst>
              <a:ext uri="{FF2B5EF4-FFF2-40B4-BE49-F238E27FC236}">
                <a16:creationId xmlns:a16="http://schemas.microsoft.com/office/drawing/2014/main" id="{81C65C1B-D246-411D-B6DB-AD7B52A850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288" y="4071938"/>
            <a:ext cx="0" cy="828675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50" name="Line 22">
            <a:extLst>
              <a:ext uri="{FF2B5EF4-FFF2-40B4-BE49-F238E27FC236}">
                <a16:creationId xmlns:a16="http://schemas.microsoft.com/office/drawing/2014/main" id="{09789674-6C03-4ADB-AD9A-A76E99053A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9375" y="4878388"/>
            <a:ext cx="50323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51" name="Line 23">
            <a:extLst>
              <a:ext uri="{FF2B5EF4-FFF2-40B4-BE49-F238E27FC236}">
                <a16:creationId xmlns:a16="http://schemas.microsoft.com/office/drawing/2014/main" id="{3B3C08D2-4C2A-47A0-9F5C-333312F5B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738" y="4878388"/>
            <a:ext cx="468312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5752" name="Text Box 24">
            <a:extLst>
              <a:ext uri="{FF2B5EF4-FFF2-40B4-BE49-F238E27FC236}">
                <a16:creationId xmlns:a16="http://schemas.microsoft.com/office/drawing/2014/main" id="{B7E9D10E-E1A5-4D8B-A1BD-91FFEE09A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275" y="34083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00"/>
                </a:solidFill>
              </a:rPr>
              <a:t>A</a:t>
            </a:r>
          </a:p>
        </p:txBody>
      </p:sp>
      <p:graphicFrame>
        <p:nvGraphicFramePr>
          <p:cNvPr id="585753" name="Object 25">
            <a:extLst>
              <a:ext uri="{FF2B5EF4-FFF2-40B4-BE49-F238E27FC236}">
                <a16:creationId xmlns:a16="http://schemas.microsoft.com/office/drawing/2014/main" id="{2106CE44-C135-432E-B760-9671ACD22B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4014788"/>
          <a:ext cx="2857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49" name="公式" r:id="rId10" imgW="285635" imgH="352391" progId="Equation.3">
                  <p:embed/>
                </p:oleObj>
              </mc:Choice>
              <mc:Fallback>
                <p:oleObj name="公式" r:id="rId10" imgW="285635" imgH="352391" progId="Equation.3">
                  <p:embed/>
                  <p:pic>
                    <p:nvPicPr>
                      <p:cNvPr id="585753" name="Object 25">
                        <a:extLst>
                          <a:ext uri="{FF2B5EF4-FFF2-40B4-BE49-F238E27FC236}">
                            <a16:creationId xmlns:a16="http://schemas.microsoft.com/office/drawing/2014/main" id="{2106CE44-C135-432E-B760-9671ACD22B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4014788"/>
                        <a:ext cx="2857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54" name="Object 26">
            <a:extLst>
              <a:ext uri="{FF2B5EF4-FFF2-40B4-BE49-F238E27FC236}">
                <a16:creationId xmlns:a16="http://schemas.microsoft.com/office/drawing/2014/main" id="{99ED85B3-663D-4A46-9F90-D4FCA5958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2188" y="4371975"/>
          <a:ext cx="2857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0" name="公式" r:id="rId12" imgW="285635" imgH="352391" progId="Equation.3">
                  <p:embed/>
                </p:oleObj>
              </mc:Choice>
              <mc:Fallback>
                <p:oleObj name="公式" r:id="rId12" imgW="285635" imgH="352391" progId="Equation.3">
                  <p:embed/>
                  <p:pic>
                    <p:nvPicPr>
                      <p:cNvPr id="585754" name="Object 26">
                        <a:extLst>
                          <a:ext uri="{FF2B5EF4-FFF2-40B4-BE49-F238E27FC236}">
                            <a16:creationId xmlns:a16="http://schemas.microsoft.com/office/drawing/2014/main" id="{99ED85B3-663D-4A46-9F90-D4FCA5958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4371975"/>
                        <a:ext cx="2857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55" name="Object 27">
            <a:extLst>
              <a:ext uri="{FF2B5EF4-FFF2-40B4-BE49-F238E27FC236}">
                <a16:creationId xmlns:a16="http://schemas.microsoft.com/office/drawing/2014/main" id="{FAA2A1B3-1E36-4A91-B426-A0A5844D38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4425" y="4881563"/>
          <a:ext cx="2968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1" name="公式" r:id="rId14" imgW="304902" imgH="390661" progId="Equation.3">
                  <p:embed/>
                </p:oleObj>
              </mc:Choice>
              <mc:Fallback>
                <p:oleObj name="公式" r:id="rId14" imgW="304902" imgH="390661" progId="Equation.3">
                  <p:embed/>
                  <p:pic>
                    <p:nvPicPr>
                      <p:cNvPr id="585755" name="Object 27">
                        <a:extLst>
                          <a:ext uri="{FF2B5EF4-FFF2-40B4-BE49-F238E27FC236}">
                            <a16:creationId xmlns:a16="http://schemas.microsoft.com/office/drawing/2014/main" id="{FAA2A1B3-1E36-4A91-B426-A0A5844D3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425" y="4881563"/>
                        <a:ext cx="2968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56" name="Object 28">
            <a:extLst>
              <a:ext uri="{FF2B5EF4-FFF2-40B4-BE49-F238E27FC236}">
                <a16:creationId xmlns:a16="http://schemas.microsoft.com/office/drawing/2014/main" id="{68123629-BFE6-4FD1-BF3F-E7489C7C0F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8538" y="4916488"/>
          <a:ext cx="3317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2" name="公式" r:id="rId16" imgW="342824" imgH="390661" progId="Equation.3">
                  <p:embed/>
                </p:oleObj>
              </mc:Choice>
              <mc:Fallback>
                <p:oleObj name="公式" r:id="rId16" imgW="342824" imgH="390661" progId="Equation.3">
                  <p:embed/>
                  <p:pic>
                    <p:nvPicPr>
                      <p:cNvPr id="585756" name="Object 28">
                        <a:extLst>
                          <a:ext uri="{FF2B5EF4-FFF2-40B4-BE49-F238E27FC236}">
                            <a16:creationId xmlns:a16="http://schemas.microsoft.com/office/drawing/2014/main" id="{68123629-BFE6-4FD1-BF3F-E7489C7C0F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8538" y="4916488"/>
                        <a:ext cx="3317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57" name="Object 29">
            <a:extLst>
              <a:ext uri="{FF2B5EF4-FFF2-40B4-BE49-F238E27FC236}">
                <a16:creationId xmlns:a16="http://schemas.microsoft.com/office/drawing/2014/main" id="{239D7558-7D80-40C6-A296-47A2B9AC66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4513" y="2997200"/>
          <a:ext cx="2260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3" name="公式" r:id="rId18" imgW="2228812" imgH="695291" progId="Equation.3">
                  <p:embed/>
                </p:oleObj>
              </mc:Choice>
              <mc:Fallback>
                <p:oleObj name="公式" r:id="rId18" imgW="2228812" imgH="695291" progId="Equation.3">
                  <p:embed/>
                  <p:pic>
                    <p:nvPicPr>
                      <p:cNvPr id="585757" name="Object 29">
                        <a:extLst>
                          <a:ext uri="{FF2B5EF4-FFF2-40B4-BE49-F238E27FC236}">
                            <a16:creationId xmlns:a16="http://schemas.microsoft.com/office/drawing/2014/main" id="{239D7558-7D80-40C6-A296-47A2B9AC66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2997200"/>
                        <a:ext cx="2260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58" name="Object 30">
            <a:extLst>
              <a:ext uri="{FF2B5EF4-FFF2-40B4-BE49-F238E27FC236}">
                <a16:creationId xmlns:a16="http://schemas.microsoft.com/office/drawing/2014/main" id="{0D9D3A77-C112-4415-9727-3CC8E24D3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0863" y="3776663"/>
          <a:ext cx="2616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4" name="公式" r:id="rId20" imgW="2590902" imgH="723764" progId="Equation.3">
                  <p:embed/>
                </p:oleObj>
              </mc:Choice>
              <mc:Fallback>
                <p:oleObj name="公式" r:id="rId20" imgW="2590902" imgH="723764" progId="Equation.3">
                  <p:embed/>
                  <p:pic>
                    <p:nvPicPr>
                      <p:cNvPr id="585758" name="Object 30">
                        <a:extLst>
                          <a:ext uri="{FF2B5EF4-FFF2-40B4-BE49-F238E27FC236}">
                            <a16:creationId xmlns:a16="http://schemas.microsoft.com/office/drawing/2014/main" id="{0D9D3A77-C112-4415-9727-3CC8E24D36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3776663"/>
                        <a:ext cx="26162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5759" name="Text Box 31">
            <a:extLst>
              <a:ext uri="{FF2B5EF4-FFF2-40B4-BE49-F238E27FC236}">
                <a16:creationId xmlns:a16="http://schemas.microsoft.com/office/drawing/2014/main" id="{25E1F7F0-C831-4140-84AA-4B1EEB0F0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4556125"/>
            <a:ext cx="45513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  <a:ea typeface="仿宋_GB2312"/>
                <a:cs typeface="仿宋_GB2312"/>
              </a:rPr>
              <a:t>通过第二块偏振片</a:t>
            </a:r>
            <a:r>
              <a:rPr kumimoji="0" lang="en-US" altLang="zh-CN" i="1">
                <a:solidFill>
                  <a:srgbClr val="00FFFF"/>
                </a:solidFill>
                <a:ea typeface="仿宋_GB2312"/>
                <a:cs typeface="仿宋_GB2312"/>
              </a:rPr>
              <a:t>P</a:t>
            </a:r>
            <a:r>
              <a:rPr kumimoji="0" lang="en-US" altLang="zh-CN" baseline="-25000">
                <a:solidFill>
                  <a:srgbClr val="00FFFF"/>
                </a:solidFill>
                <a:ea typeface="仿宋_GB2312"/>
                <a:cs typeface="仿宋_GB2312"/>
              </a:rPr>
              <a:t>2</a:t>
            </a:r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，振幅</a:t>
            </a:r>
          </a:p>
        </p:txBody>
      </p:sp>
      <p:graphicFrame>
        <p:nvGraphicFramePr>
          <p:cNvPr id="585760" name="Object 32">
            <a:extLst>
              <a:ext uri="{FF2B5EF4-FFF2-40B4-BE49-F238E27FC236}">
                <a16:creationId xmlns:a16="http://schemas.microsoft.com/office/drawing/2014/main" id="{84FB18C9-9FC4-4EAD-BABC-AF1C5A0A4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4663" y="5013325"/>
          <a:ext cx="2755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5" name="公式" r:id="rId22" imgW="2724239" imgH="723764" progId="Equation.3">
                  <p:embed/>
                </p:oleObj>
              </mc:Choice>
              <mc:Fallback>
                <p:oleObj name="公式" r:id="rId22" imgW="2724239" imgH="723764" progId="Equation.3">
                  <p:embed/>
                  <p:pic>
                    <p:nvPicPr>
                      <p:cNvPr id="585760" name="Object 32">
                        <a:extLst>
                          <a:ext uri="{FF2B5EF4-FFF2-40B4-BE49-F238E27FC236}">
                            <a16:creationId xmlns:a16="http://schemas.microsoft.com/office/drawing/2014/main" id="{84FB18C9-9FC4-4EAD-BABC-AF1C5A0A4E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63" y="5013325"/>
                        <a:ext cx="27559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61" name="Object 33">
            <a:extLst>
              <a:ext uri="{FF2B5EF4-FFF2-40B4-BE49-F238E27FC236}">
                <a16:creationId xmlns:a16="http://schemas.microsoft.com/office/drawing/2014/main" id="{94EBC73E-73CF-44C6-A5E0-759393B366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5925" y="5848350"/>
          <a:ext cx="2743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6" name="公式" r:id="rId24" imgW="2714759" imgH="723764" progId="Equation.3">
                  <p:embed/>
                </p:oleObj>
              </mc:Choice>
              <mc:Fallback>
                <p:oleObj name="公式" r:id="rId24" imgW="2714759" imgH="723764" progId="Equation.3">
                  <p:embed/>
                  <p:pic>
                    <p:nvPicPr>
                      <p:cNvPr id="585761" name="Object 33">
                        <a:extLst>
                          <a:ext uri="{FF2B5EF4-FFF2-40B4-BE49-F238E27FC236}">
                            <a16:creationId xmlns:a16="http://schemas.microsoft.com/office/drawing/2014/main" id="{94EBC73E-73CF-44C6-A5E0-759393B366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5848350"/>
                        <a:ext cx="27432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5762" name="Object 34">
            <a:extLst>
              <a:ext uri="{FF2B5EF4-FFF2-40B4-BE49-F238E27FC236}">
                <a16:creationId xmlns:a16="http://schemas.microsoft.com/office/drawing/2014/main" id="{9CC064BC-D51A-483B-A027-2EA5BB85A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5776913"/>
          <a:ext cx="205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57" name="公式" r:id="rId26" imgW="2028806" imgH="695291" progId="Equation.3">
                  <p:embed/>
                </p:oleObj>
              </mc:Choice>
              <mc:Fallback>
                <p:oleObj name="公式" r:id="rId26" imgW="2028806" imgH="695291" progId="Equation.3">
                  <p:embed/>
                  <p:pic>
                    <p:nvPicPr>
                      <p:cNvPr id="585762" name="Object 34">
                        <a:extLst>
                          <a:ext uri="{FF2B5EF4-FFF2-40B4-BE49-F238E27FC236}">
                            <a16:creationId xmlns:a16="http://schemas.microsoft.com/office/drawing/2014/main" id="{9CC064BC-D51A-483B-A027-2EA5BB85A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776913"/>
                        <a:ext cx="2057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>
            <a:extLst>
              <a:ext uri="{FF2B5EF4-FFF2-40B4-BE49-F238E27FC236}">
                <a16:creationId xmlns:a16="http://schemas.microsoft.com/office/drawing/2014/main" id="{5D5044F4-4771-4421-A0A3-00E2A4B14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5929313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/>
                <a:cs typeface="仿宋_GB2312"/>
              </a:rPr>
              <a:t>相位差：</a:t>
            </a:r>
          </a:p>
        </p:txBody>
      </p:sp>
      <p:sp>
        <p:nvSpPr>
          <p:cNvPr id="25630" name="灯片编号占位符 1">
            <a:extLst>
              <a:ext uri="{FF2B5EF4-FFF2-40B4-BE49-F238E27FC236}">
                <a16:creationId xmlns:a16="http://schemas.microsoft.com/office/drawing/2014/main" id="{961E3FB8-18BC-47A2-B007-DD6F2C1399A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B7F19B-AD1A-40F0-9F2A-D0750BE5D1D4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8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8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8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85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8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8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85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8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8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8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8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8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8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8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58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58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8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8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8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8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1" grpId="0"/>
      <p:bldP spid="585732" grpId="0"/>
      <p:bldP spid="585733" grpId="0"/>
      <p:bldP spid="585734" grpId="0"/>
      <p:bldP spid="585735" grpId="0"/>
      <p:bldP spid="585736" grpId="0"/>
      <p:bldP spid="585752" grpId="0"/>
      <p:bldP spid="585759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754" name="Object 2">
            <a:extLst>
              <a:ext uri="{FF2B5EF4-FFF2-40B4-BE49-F238E27FC236}">
                <a16:creationId xmlns:a16="http://schemas.microsoft.com/office/drawing/2014/main" id="{F1840B9C-0240-49B6-9850-DC33C63039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1281113"/>
          <a:ext cx="47656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58" name="公式" r:id="rId4" imgW="1838280" imgH="228702" progId="Equation.3">
                  <p:embed/>
                </p:oleObj>
              </mc:Choice>
              <mc:Fallback>
                <p:oleObj name="公式" r:id="rId4" imgW="1838280" imgH="228702" progId="Equation.3">
                  <p:embed/>
                  <p:pic>
                    <p:nvPicPr>
                      <p:cNvPr id="586754" name="Object 2">
                        <a:extLst>
                          <a:ext uri="{FF2B5EF4-FFF2-40B4-BE49-F238E27FC236}">
                            <a16:creationId xmlns:a16="http://schemas.microsoft.com/office/drawing/2014/main" id="{F1840B9C-0240-49B6-9850-DC33C63039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281113"/>
                        <a:ext cx="47656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5" name="Object 3">
            <a:extLst>
              <a:ext uri="{FF2B5EF4-FFF2-40B4-BE49-F238E27FC236}">
                <a16:creationId xmlns:a16="http://schemas.microsoft.com/office/drawing/2014/main" id="{75D7920C-4722-4250-A36C-5CED740571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8838" y="2357438"/>
          <a:ext cx="48006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59" name="公式" r:id="rId6" imgW="3829165" imgH="695291" progId="Equation.3">
                  <p:embed/>
                </p:oleObj>
              </mc:Choice>
              <mc:Fallback>
                <p:oleObj name="公式" r:id="rId6" imgW="3829165" imgH="695291" progId="Equation.3">
                  <p:embed/>
                  <p:pic>
                    <p:nvPicPr>
                      <p:cNvPr id="586755" name="Object 3">
                        <a:extLst>
                          <a:ext uri="{FF2B5EF4-FFF2-40B4-BE49-F238E27FC236}">
                            <a16:creationId xmlns:a16="http://schemas.microsoft.com/office/drawing/2014/main" id="{75D7920C-4722-4250-A36C-5CED740571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2357438"/>
                        <a:ext cx="48006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6" name="Object 4">
            <a:extLst>
              <a:ext uri="{FF2B5EF4-FFF2-40B4-BE49-F238E27FC236}">
                <a16:creationId xmlns:a16="http://schemas.microsoft.com/office/drawing/2014/main" id="{37DC2AD9-BD95-47A9-8B61-9EA181565E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2313" y="2357438"/>
          <a:ext cx="965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60" name="公式" r:id="rId8" imgW="742835" imgH="695291" progId="Equation.3">
                  <p:embed/>
                </p:oleObj>
              </mc:Choice>
              <mc:Fallback>
                <p:oleObj name="公式" r:id="rId8" imgW="742835" imgH="695291" progId="Equation.3">
                  <p:embed/>
                  <p:pic>
                    <p:nvPicPr>
                      <p:cNvPr id="586756" name="Object 4">
                        <a:extLst>
                          <a:ext uri="{FF2B5EF4-FFF2-40B4-BE49-F238E27FC236}">
                            <a16:creationId xmlns:a16="http://schemas.microsoft.com/office/drawing/2014/main" id="{37DC2AD9-BD95-47A9-8B61-9EA181565E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2357438"/>
                        <a:ext cx="965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757" name="Object 5">
            <a:extLst>
              <a:ext uri="{FF2B5EF4-FFF2-40B4-BE49-F238E27FC236}">
                <a16:creationId xmlns:a16="http://schemas.microsoft.com/office/drawing/2014/main" id="{0D11154E-109A-4326-9A85-307B0B521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0763" y="4572000"/>
          <a:ext cx="24399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61" name="公式" r:id="rId10" imgW="1038257" imgH="361882" progId="Equation.3">
                  <p:embed/>
                </p:oleObj>
              </mc:Choice>
              <mc:Fallback>
                <p:oleObj name="公式" r:id="rId10" imgW="1038257" imgH="361882" progId="Equation.3">
                  <p:embed/>
                  <p:pic>
                    <p:nvPicPr>
                      <p:cNvPr id="586757" name="Object 5">
                        <a:extLst>
                          <a:ext uri="{FF2B5EF4-FFF2-40B4-BE49-F238E27FC236}">
                            <a16:creationId xmlns:a16="http://schemas.microsoft.com/office/drawing/2014/main" id="{0D11154E-109A-4326-9A85-307B0B521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4572000"/>
                        <a:ext cx="24399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758" name="Text Box 6">
            <a:extLst>
              <a:ext uri="{FF2B5EF4-FFF2-40B4-BE49-F238E27FC236}">
                <a16:creationId xmlns:a16="http://schemas.microsoft.com/office/drawing/2014/main" id="{3EAD4EA9-5F8E-4032-9202-A6287C4A1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71500"/>
            <a:ext cx="3243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  <a:ea typeface="仿宋_GB2312"/>
                <a:cs typeface="仿宋_GB2312"/>
              </a:rPr>
              <a:t>出射光的振幅：</a:t>
            </a: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97C65BBC-3B05-40D0-8B9B-F12C993538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3838" y="3714750"/>
          <a:ext cx="23860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62" name="公式" r:id="rId12" imgW="914400" imgH="209414" progId="Equation.3">
                  <p:embed/>
                </p:oleObj>
              </mc:Choice>
              <mc:Fallback>
                <p:oleObj name="公式" r:id="rId12" imgW="914400" imgH="209414" progId="Equation.3">
                  <p:embed/>
                  <p:pic>
                    <p:nvPicPr>
                      <p:cNvPr id="2" name="Object 7">
                        <a:extLst>
                          <a:ext uri="{FF2B5EF4-FFF2-40B4-BE49-F238E27FC236}">
                            <a16:creationId xmlns:a16="http://schemas.microsoft.com/office/drawing/2014/main" id="{97C65BBC-3B05-40D0-8B9B-F12C993538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3714750"/>
                        <a:ext cx="238601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FBA3B2D7-233C-4FF1-9CC7-10049A660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4786313"/>
            <a:ext cx="3243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  <a:ea typeface="仿宋_GB2312"/>
                <a:cs typeface="仿宋_GB2312"/>
              </a:rPr>
              <a:t>出射光的光强：</a:t>
            </a:r>
          </a:p>
        </p:txBody>
      </p:sp>
      <p:sp>
        <p:nvSpPr>
          <p:cNvPr id="27657" name="灯片编号占位符 1">
            <a:extLst>
              <a:ext uri="{FF2B5EF4-FFF2-40B4-BE49-F238E27FC236}">
                <a16:creationId xmlns:a16="http://schemas.microsoft.com/office/drawing/2014/main" id="{74A54D09-D758-4289-92FE-B764FCFD868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05F138-B0C2-4E15-8E76-5EA6651A0851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8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60">
            <a:extLst>
              <a:ext uri="{FF2B5EF4-FFF2-40B4-BE49-F238E27FC236}">
                <a16:creationId xmlns:a16="http://schemas.microsoft.com/office/drawing/2014/main" id="{49A89686-AFBB-47B8-91E8-9EF8E7804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1087438"/>
            <a:ext cx="1254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非晶体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9026C71-839B-44CF-A158-CDE24AE2EC4F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2820988"/>
            <a:ext cx="877888" cy="777875"/>
            <a:chOff x="1813" y="1736"/>
            <a:chExt cx="553" cy="490"/>
          </a:xfrm>
        </p:grpSpPr>
        <p:sp>
          <p:nvSpPr>
            <p:cNvPr id="29762" name="Line 5">
              <a:extLst>
                <a:ext uri="{FF2B5EF4-FFF2-40B4-BE49-F238E27FC236}">
                  <a16:creationId xmlns:a16="http://schemas.microsoft.com/office/drawing/2014/main" id="{E6742B77-A530-4F86-BA13-0D7C0710CC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6" y="1736"/>
              <a:ext cx="0" cy="48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3" name="Text Box 6">
              <a:extLst>
                <a:ext uri="{FF2B5EF4-FFF2-40B4-BE49-F238E27FC236}">
                  <a16:creationId xmlns:a16="http://schemas.microsoft.com/office/drawing/2014/main" id="{1CA0B918-1081-4A47-AE17-DCACA6D3C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3" y="1938"/>
              <a:ext cx="5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F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104F164F-232C-45F0-B479-14F114C8AADB}"/>
              </a:ext>
            </a:extLst>
          </p:cNvPr>
          <p:cNvGrpSpPr>
            <a:grpSpLocks/>
          </p:cNvGrpSpPr>
          <p:nvPr/>
        </p:nvGrpSpPr>
        <p:grpSpPr bwMode="auto">
          <a:xfrm>
            <a:off x="1573213" y="1635125"/>
            <a:ext cx="1628775" cy="1681163"/>
            <a:chOff x="990" y="967"/>
            <a:chExt cx="1026" cy="1059"/>
          </a:xfrm>
        </p:grpSpPr>
        <p:sp>
          <p:nvSpPr>
            <p:cNvPr id="29759" name="Oval 8">
              <a:extLst>
                <a:ext uri="{FF2B5EF4-FFF2-40B4-BE49-F238E27FC236}">
                  <a16:creationId xmlns:a16="http://schemas.microsoft.com/office/drawing/2014/main" id="{A9C21564-E0CF-4D96-B016-7800493C6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967"/>
              <a:ext cx="336" cy="816"/>
            </a:xfrm>
            <a:prstGeom prst="ellipse">
              <a:avLst/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PerspectiveFront">
                <a:rot lat="1500000" lon="1799995" rev="0"/>
              </a:camera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0099CC"/>
              </a:extrusionClr>
              <a:contourClr>
                <a:schemeClr val="hlink"/>
              </a:contourClr>
            </a:sp3d>
          </p:spPr>
          <p:txBody>
            <a:bodyPr wrap="none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60" name="Line 9">
              <a:extLst>
                <a:ext uri="{FF2B5EF4-FFF2-40B4-BE49-F238E27FC236}">
                  <a16:creationId xmlns:a16="http://schemas.microsoft.com/office/drawing/2014/main" id="{36745C82-C78C-4672-9A5E-C5023DE7A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978"/>
              <a:ext cx="0" cy="768"/>
            </a:xfrm>
            <a:prstGeom prst="line">
              <a:avLst/>
            </a:prstGeom>
            <a:noFill/>
            <a:ln w="19050">
              <a:solidFill>
                <a:srgbClr val="3366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1" name="Text Box 10">
              <a:extLst>
                <a:ext uri="{FF2B5EF4-FFF2-40B4-BE49-F238E27FC236}">
                  <a16:creationId xmlns:a16="http://schemas.microsoft.com/office/drawing/2014/main" id="{BC92E92F-115B-4798-B24C-7E0D5228C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" y="1776"/>
              <a:ext cx="10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  <a:ea typeface="楷体_GB2312" pitchFamily="49" charset="-122"/>
                </a:rPr>
                <a:t>偏振片</a:t>
              </a:r>
              <a:r>
                <a:rPr lang="en-US" altLang="zh-CN" sz="20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93179F02-2C95-4202-9AB1-EBF9CE9AEC38}"/>
              </a:ext>
            </a:extLst>
          </p:cNvPr>
          <p:cNvGrpSpPr>
            <a:grpSpLocks/>
          </p:cNvGrpSpPr>
          <p:nvPr/>
        </p:nvGrpSpPr>
        <p:grpSpPr bwMode="auto">
          <a:xfrm>
            <a:off x="4451350" y="1595438"/>
            <a:ext cx="1828800" cy="1692275"/>
            <a:chOff x="2803" y="960"/>
            <a:chExt cx="1152" cy="1066"/>
          </a:xfrm>
        </p:grpSpPr>
        <p:sp>
          <p:nvSpPr>
            <p:cNvPr id="29756" name="Oval 12">
              <a:extLst>
                <a:ext uri="{FF2B5EF4-FFF2-40B4-BE49-F238E27FC236}">
                  <a16:creationId xmlns:a16="http://schemas.microsoft.com/office/drawing/2014/main" id="{8C4CD317-3902-4E4A-96E1-B5BEABD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960"/>
              <a:ext cx="336" cy="816"/>
            </a:xfrm>
            <a:prstGeom prst="ellipse">
              <a:avLst/>
            </a:prstGeom>
            <a:solidFill>
              <a:schemeClr val="hlink"/>
            </a:solidFill>
            <a:ln w="9525">
              <a:round/>
              <a:headEnd/>
              <a:tailEnd/>
            </a:ln>
            <a:scene3d>
              <a:camera prst="legacyPerspectiveFront">
                <a:rot lat="1500000" lon="1799995" rev="0"/>
              </a:camera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0099CC"/>
              </a:extrusionClr>
              <a:contourClr>
                <a:schemeClr val="hlink"/>
              </a:contourClr>
            </a:sp3d>
          </p:spPr>
          <p:txBody>
            <a:bodyPr wrap="none" anchor="ctr">
              <a:flatTx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57" name="Line 13">
              <a:extLst>
                <a:ext uri="{FF2B5EF4-FFF2-40B4-BE49-F238E27FC236}">
                  <a16:creationId xmlns:a16="http://schemas.microsoft.com/office/drawing/2014/main" id="{AB75247E-8357-4331-92A5-6655FB625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7" y="1366"/>
              <a:ext cx="277" cy="15"/>
            </a:xfrm>
            <a:prstGeom prst="line">
              <a:avLst/>
            </a:prstGeom>
            <a:noFill/>
            <a:ln w="19050">
              <a:solidFill>
                <a:srgbClr val="3366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8" name="Text Box 14">
              <a:extLst>
                <a:ext uri="{FF2B5EF4-FFF2-40B4-BE49-F238E27FC236}">
                  <a16:creationId xmlns:a16="http://schemas.microsoft.com/office/drawing/2014/main" id="{0511C6C5-EF3A-44FB-947D-28BA27B6C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3" y="1776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  <a:ea typeface="楷体_GB2312" pitchFamily="49" charset="-122"/>
                </a:rPr>
                <a:t>偏振片</a:t>
              </a:r>
              <a:r>
                <a:rPr lang="en-US" altLang="zh-CN" sz="2000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25" name="Text Box 15">
            <a:extLst>
              <a:ext uri="{FF2B5EF4-FFF2-40B4-BE49-F238E27FC236}">
                <a16:creationId xmlns:a16="http://schemas.microsoft.com/office/drawing/2014/main" id="{6FDC239E-382C-430E-94F8-C0DE9DB0A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14313"/>
            <a:ext cx="7437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光弹效应 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应力双折射效应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53F469AD-8C92-4E42-9E7B-87C938D52130}"/>
              </a:ext>
            </a:extLst>
          </p:cNvPr>
          <p:cNvGrpSpPr>
            <a:grpSpLocks/>
          </p:cNvGrpSpPr>
          <p:nvPr/>
        </p:nvGrpSpPr>
        <p:grpSpPr bwMode="auto">
          <a:xfrm>
            <a:off x="6332538" y="1079500"/>
            <a:ext cx="685800" cy="2514600"/>
            <a:chOff x="4224" y="1152"/>
            <a:chExt cx="432" cy="1584"/>
          </a:xfrm>
        </p:grpSpPr>
        <p:sp>
          <p:nvSpPr>
            <p:cNvPr id="29754" name="Freeform 17">
              <a:extLst>
                <a:ext uri="{FF2B5EF4-FFF2-40B4-BE49-F238E27FC236}">
                  <a16:creationId xmlns:a16="http://schemas.microsoft.com/office/drawing/2014/main" id="{BEA34707-F7AD-4414-9104-018E868D3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152"/>
              <a:ext cx="384" cy="1584"/>
            </a:xfrm>
            <a:custGeom>
              <a:avLst/>
              <a:gdLst>
                <a:gd name="T0" fmla="*/ 0 w 528"/>
                <a:gd name="T1" fmla="*/ 0 h 1440"/>
                <a:gd name="T2" fmla="*/ 4 w 528"/>
                <a:gd name="T3" fmla="*/ 2422 h 1440"/>
                <a:gd name="T4" fmla="*/ 4 w 528"/>
                <a:gd name="T5" fmla="*/ 6619 h 1440"/>
                <a:gd name="T6" fmla="*/ 0 w 528"/>
                <a:gd name="T7" fmla="*/ 4184 h 1440"/>
                <a:gd name="T8" fmla="*/ 0 w 528"/>
                <a:gd name="T9" fmla="*/ 0 h 1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440"/>
                <a:gd name="T17" fmla="*/ 528 w 528"/>
                <a:gd name="T18" fmla="*/ 1440 h 1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440">
                  <a:moveTo>
                    <a:pt x="0" y="0"/>
                  </a:moveTo>
                  <a:lnTo>
                    <a:pt x="528" y="528"/>
                  </a:lnTo>
                  <a:lnTo>
                    <a:pt x="528" y="1440"/>
                  </a:lnTo>
                  <a:lnTo>
                    <a:pt x="0" y="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5" name="Text Box 18">
              <a:extLst>
                <a:ext uri="{FF2B5EF4-FFF2-40B4-BE49-F238E27FC236}">
                  <a16:creationId xmlns:a16="http://schemas.microsoft.com/office/drawing/2014/main" id="{520AC2CD-D329-486D-A8FB-914B53BDC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5" y="1681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6600"/>
                  </a:solidFill>
                </a:rPr>
                <a:t>屏</a:t>
              </a:r>
            </a:p>
          </p:txBody>
        </p:sp>
      </p:grpSp>
      <p:graphicFrame>
        <p:nvGraphicFramePr>
          <p:cNvPr id="29" name="Object 7">
            <a:extLst>
              <a:ext uri="{FF2B5EF4-FFF2-40B4-BE49-F238E27FC236}">
                <a16:creationId xmlns:a16="http://schemas.microsoft.com/office/drawing/2014/main" id="{EC242218-9A4D-4361-922F-CFFE3C7D8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6775" y="3857625"/>
          <a:ext cx="17605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21" name="公式" r:id="rId4" imgW="1723904" imgH="428625" progId="Equation.3">
                  <p:embed/>
                </p:oleObj>
              </mc:Choice>
              <mc:Fallback>
                <p:oleObj name="公式" r:id="rId4" imgW="1723904" imgH="428625" progId="Equation.3">
                  <p:embed/>
                  <p:pic>
                    <p:nvPicPr>
                      <p:cNvPr id="29" name="Object 7">
                        <a:extLst>
                          <a:ext uri="{FF2B5EF4-FFF2-40B4-BE49-F238E27FC236}">
                            <a16:creationId xmlns:a16="http://schemas.microsoft.com/office/drawing/2014/main" id="{EC242218-9A4D-4361-922F-CFFE3C7D8B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3857625"/>
                        <a:ext cx="176053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8">
            <a:extLst>
              <a:ext uri="{FF2B5EF4-FFF2-40B4-BE49-F238E27FC236}">
                <a16:creationId xmlns:a16="http://schemas.microsoft.com/office/drawing/2014/main" id="{9392587B-8ECB-4EB3-A040-BD2126B55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3488" y="4316413"/>
          <a:ext cx="26082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22" name="公式" r:id="rId6" imgW="2571635" imgH="799998" progId="Equation.3">
                  <p:embed/>
                </p:oleObj>
              </mc:Choice>
              <mc:Fallback>
                <p:oleObj name="公式" r:id="rId6" imgW="2571635" imgH="799998" progId="Equation.3">
                  <p:embed/>
                  <p:pic>
                    <p:nvPicPr>
                      <p:cNvPr id="30" name="Object 8">
                        <a:extLst>
                          <a:ext uri="{FF2B5EF4-FFF2-40B4-BE49-F238E27FC236}">
                            <a16:creationId xmlns:a16="http://schemas.microsoft.com/office/drawing/2014/main" id="{9392587B-8ECB-4EB3-A040-BD2126B554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4316413"/>
                        <a:ext cx="26082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9">
            <a:extLst>
              <a:ext uri="{FF2B5EF4-FFF2-40B4-BE49-F238E27FC236}">
                <a16:creationId xmlns:a16="http://schemas.microsoft.com/office/drawing/2014/main" id="{6C09ED08-8A17-45A1-9F50-C4C4D239D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2725" y="4318000"/>
          <a:ext cx="144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23" name="公式" r:id="rId8" imgW="1419308" imgH="799998" progId="Equation.3">
                  <p:embed/>
                </p:oleObj>
              </mc:Choice>
              <mc:Fallback>
                <p:oleObj name="公式" r:id="rId8" imgW="1419308" imgH="799998" progId="Equation.3">
                  <p:embed/>
                  <p:pic>
                    <p:nvPicPr>
                      <p:cNvPr id="31" name="Object 9">
                        <a:extLst>
                          <a:ext uri="{FF2B5EF4-FFF2-40B4-BE49-F238E27FC236}">
                            <a16:creationId xmlns:a16="http://schemas.microsoft.com/office/drawing/2014/main" id="{6C09ED08-8A17-45A1-9F50-C4C4D239DF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4318000"/>
                        <a:ext cx="1447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22">
            <a:extLst>
              <a:ext uri="{FF2B5EF4-FFF2-40B4-BE49-F238E27FC236}">
                <a16:creationId xmlns:a16="http://schemas.microsoft.com/office/drawing/2014/main" id="{BEF6075C-0328-43EF-8806-4D2561E50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4476750"/>
            <a:ext cx="5122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66FFFF"/>
                </a:solidFill>
              </a:rPr>
              <a:t>o </a:t>
            </a:r>
            <a:r>
              <a:rPr lang="zh-CN" altLang="en-US" dirty="0">
                <a:solidFill>
                  <a:schemeClr val="bg1"/>
                </a:solidFill>
              </a:rPr>
              <a:t>光和</a:t>
            </a:r>
            <a:r>
              <a:rPr lang="en-US" altLang="zh-CN" i="1" dirty="0">
                <a:solidFill>
                  <a:srgbClr val="66FFFF"/>
                </a:solidFill>
              </a:rPr>
              <a:t>e</a:t>
            </a:r>
            <a:r>
              <a:rPr lang="en-US" altLang="zh-CN" sz="2800" i="1" dirty="0">
                <a:solidFill>
                  <a:srgbClr val="66FFFF"/>
                </a:solidFill>
              </a:rPr>
              <a:t>  </a:t>
            </a:r>
            <a:r>
              <a:rPr lang="zh-CN" altLang="en-US" dirty="0">
                <a:solidFill>
                  <a:schemeClr val="bg1"/>
                </a:solidFill>
              </a:rPr>
              <a:t>的相位差：</a:t>
            </a:r>
          </a:p>
        </p:txBody>
      </p:sp>
      <p:sp>
        <p:nvSpPr>
          <p:cNvPr id="33" name="Text Box 23">
            <a:extLst>
              <a:ext uri="{FF2B5EF4-FFF2-40B4-BE49-F238E27FC236}">
                <a16:creationId xmlns:a16="http://schemas.microsoft.com/office/drawing/2014/main" id="{1B4F382E-4131-4C20-B262-F4832EF2F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5575300"/>
            <a:ext cx="2922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  <a:sym typeface="Wingdings" panose="05000000000000000000" pitchFamily="2" charset="2"/>
              </a:rPr>
              <a:t>(1)</a:t>
            </a:r>
            <a:r>
              <a:rPr lang="en-US" altLang="zh-CN">
                <a:solidFill>
                  <a:srgbClr val="FFFF00"/>
                </a:solidFill>
                <a:sym typeface="Wingdings" panose="05000000000000000000" pitchFamily="2" charset="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各处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  <a:ea typeface="黑体" panose="02010609060101010101" pitchFamily="49" charset="-122"/>
              </a:rPr>
              <a:t>p 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不同</a:t>
            </a:r>
          </a:p>
        </p:txBody>
      </p:sp>
      <p:graphicFrame>
        <p:nvGraphicFramePr>
          <p:cNvPr id="34" name="Object 10">
            <a:extLst>
              <a:ext uri="{FF2B5EF4-FFF2-40B4-BE49-F238E27FC236}">
                <a16:creationId xmlns:a16="http://schemas.microsoft.com/office/drawing/2014/main" id="{B61A26C4-9A43-4333-9F11-FA1B340D51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9988" y="5632450"/>
          <a:ext cx="49371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24" name="公式" r:id="rId10" imgW="466680" imgH="352391" progId="Equation.3">
                  <p:embed/>
                </p:oleObj>
              </mc:Choice>
              <mc:Fallback>
                <p:oleObj name="公式" r:id="rId10" imgW="466680" imgH="352391" progId="Equation.3">
                  <p:embed/>
                  <p:pic>
                    <p:nvPicPr>
                      <p:cNvPr id="34" name="Object 10">
                        <a:extLst>
                          <a:ext uri="{FF2B5EF4-FFF2-40B4-BE49-F238E27FC236}">
                            <a16:creationId xmlns:a16="http://schemas.microsoft.com/office/drawing/2014/main" id="{B61A26C4-9A43-4333-9F11-FA1B340D51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5632450"/>
                        <a:ext cx="493712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25">
            <a:extLst>
              <a:ext uri="{FF2B5EF4-FFF2-40B4-BE49-F238E27FC236}">
                <a16:creationId xmlns:a16="http://schemas.microsoft.com/office/drawing/2014/main" id="{C2731B25-1413-466A-9A8C-4A1AE308F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00" y="5575300"/>
            <a:ext cx="1931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方正书宋简体"/>
              </a:rPr>
              <a:t>不同</a:t>
            </a:r>
          </a:p>
        </p:txBody>
      </p:sp>
      <p:sp>
        <p:nvSpPr>
          <p:cNvPr id="36" name="Rectangle 26">
            <a:extLst>
              <a:ext uri="{FF2B5EF4-FFF2-40B4-BE49-F238E27FC236}">
                <a16:creationId xmlns:a16="http://schemas.microsoft.com/office/drawing/2014/main" id="{7237C2B1-8EDF-403E-9605-A8D7DD5B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5561013"/>
            <a:ext cx="298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方正书宋简体"/>
              </a:rPr>
              <a:t>出现干涉条纹</a:t>
            </a:r>
          </a:p>
        </p:txBody>
      </p:sp>
      <p:sp>
        <p:nvSpPr>
          <p:cNvPr id="37" name="AutoShape 27">
            <a:extLst>
              <a:ext uri="{FF2B5EF4-FFF2-40B4-BE49-F238E27FC236}">
                <a16:creationId xmlns:a16="http://schemas.microsoft.com/office/drawing/2014/main" id="{F2074FB2-9FB9-414D-9E3B-560C667DF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5699125"/>
            <a:ext cx="660400" cy="211138"/>
          </a:xfrm>
          <a:prstGeom prst="rightArrow">
            <a:avLst>
              <a:gd name="adj1" fmla="val 50000"/>
              <a:gd name="adj2" fmla="val 78195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" name="Text Box 28">
            <a:extLst>
              <a:ext uri="{FF2B5EF4-FFF2-40B4-BE49-F238E27FC236}">
                <a16:creationId xmlns:a16="http://schemas.microsoft.com/office/drawing/2014/main" id="{7889E790-AD7D-4947-93EF-8910C7966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6137275"/>
            <a:ext cx="641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sym typeface="Wingdings" panose="05000000000000000000" pitchFamily="2" charset="2"/>
              </a:rPr>
              <a:t>(2) </a:t>
            </a:r>
            <a:r>
              <a:rPr lang="en-US" altLang="zh-CN" dirty="0">
                <a:solidFill>
                  <a:srgbClr val="FFFF00"/>
                </a:solidFill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chemeClr val="bg1"/>
                </a:solidFill>
                <a:sym typeface="Wingdings" panose="05000000000000000000" pitchFamily="2" charset="2"/>
              </a:rPr>
              <a:t>应力分布越集中的地方条纹越细密</a:t>
            </a:r>
          </a:p>
        </p:txBody>
      </p:sp>
      <p:sp>
        <p:nvSpPr>
          <p:cNvPr id="39" name="AutoShape 29">
            <a:extLst>
              <a:ext uri="{FF2B5EF4-FFF2-40B4-BE49-F238E27FC236}">
                <a16:creationId xmlns:a16="http://schemas.microsoft.com/office/drawing/2014/main" id="{B05E6452-6D65-43D2-B207-CD888CDF9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75" y="5699125"/>
            <a:ext cx="660400" cy="211138"/>
          </a:xfrm>
          <a:prstGeom prst="rightArrow">
            <a:avLst>
              <a:gd name="adj1" fmla="val 50000"/>
              <a:gd name="adj2" fmla="val 78195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" name="Object 11">
            <a:extLst>
              <a:ext uri="{FF2B5EF4-FFF2-40B4-BE49-F238E27FC236}">
                <a16:creationId xmlns:a16="http://schemas.microsoft.com/office/drawing/2014/main" id="{E90739FE-976E-4714-BA74-39BEF5B86B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6538" y="2984500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725" name="公式" r:id="rId12" imgW="228753" imgH="285648" progId="Equation.3">
                  <p:embed/>
                </p:oleObj>
              </mc:Choice>
              <mc:Fallback>
                <p:oleObj name="公式" r:id="rId12" imgW="228753" imgH="285648" progId="Equation.3">
                  <p:embed/>
                  <p:pic>
                    <p:nvPicPr>
                      <p:cNvPr id="40" name="Object 11">
                        <a:extLst>
                          <a:ext uri="{FF2B5EF4-FFF2-40B4-BE49-F238E27FC236}">
                            <a16:creationId xmlns:a16="http://schemas.microsoft.com/office/drawing/2014/main" id="{E90739FE-976E-4714-BA74-39BEF5B86B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2984500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1">
            <a:extLst>
              <a:ext uri="{FF2B5EF4-FFF2-40B4-BE49-F238E27FC236}">
                <a16:creationId xmlns:a16="http://schemas.microsoft.com/office/drawing/2014/main" id="{14C0EFE8-37EA-4DE2-9A9E-3FC408A6FDB3}"/>
              </a:ext>
            </a:extLst>
          </p:cNvPr>
          <p:cNvGrpSpPr>
            <a:grpSpLocks/>
          </p:cNvGrpSpPr>
          <p:nvPr/>
        </p:nvGrpSpPr>
        <p:grpSpPr bwMode="auto">
          <a:xfrm>
            <a:off x="3776663" y="2808288"/>
            <a:ext cx="592137" cy="428625"/>
            <a:chOff x="2496" y="1772"/>
            <a:chExt cx="373" cy="270"/>
          </a:xfrm>
        </p:grpSpPr>
        <p:sp>
          <p:nvSpPr>
            <p:cNvPr id="29750" name="Line 32">
              <a:extLst>
                <a:ext uri="{FF2B5EF4-FFF2-40B4-BE49-F238E27FC236}">
                  <a16:creationId xmlns:a16="http://schemas.microsoft.com/office/drawing/2014/main" id="{3BF0ECB3-5A3A-4960-A8E7-0F9EFA1DC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7" y="1946"/>
              <a:ext cx="144" cy="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Line 33">
              <a:extLst>
                <a:ext uri="{FF2B5EF4-FFF2-40B4-BE49-F238E27FC236}">
                  <a16:creationId xmlns:a16="http://schemas.microsoft.com/office/drawing/2014/main" id="{AC8AA96E-21FF-4905-81DE-975A7799C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5" y="1772"/>
              <a:ext cx="144" cy="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2" name="Line 34">
              <a:extLst>
                <a:ext uri="{FF2B5EF4-FFF2-40B4-BE49-F238E27FC236}">
                  <a16:creationId xmlns:a16="http://schemas.microsoft.com/office/drawing/2014/main" id="{F9F6FEC5-DD63-4C0E-99C4-9E84015410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872"/>
              <a:ext cx="192" cy="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3" name="Line 35">
              <a:extLst>
                <a:ext uri="{FF2B5EF4-FFF2-40B4-BE49-F238E27FC236}">
                  <a16:creationId xmlns:a16="http://schemas.microsoft.com/office/drawing/2014/main" id="{F7536A92-A87E-4D61-B9C6-956E2C101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6" y="1787"/>
              <a:ext cx="192" cy="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" name="Freeform 36">
            <a:extLst>
              <a:ext uri="{FF2B5EF4-FFF2-40B4-BE49-F238E27FC236}">
                <a16:creationId xmlns:a16="http://schemas.microsoft.com/office/drawing/2014/main" id="{4B41CEDB-5896-46DA-B839-0EE03089BF92}"/>
              </a:ext>
            </a:extLst>
          </p:cNvPr>
          <p:cNvSpPr>
            <a:spLocks/>
          </p:cNvSpPr>
          <p:nvPr/>
        </p:nvSpPr>
        <p:spPr bwMode="auto">
          <a:xfrm>
            <a:off x="3121025" y="1589088"/>
            <a:ext cx="762000" cy="1447800"/>
          </a:xfrm>
          <a:custGeom>
            <a:avLst/>
            <a:gdLst>
              <a:gd name="T0" fmla="*/ 2147483646 w 480"/>
              <a:gd name="T1" fmla="*/ 2147483646 h 912"/>
              <a:gd name="T2" fmla="*/ 2147483646 w 480"/>
              <a:gd name="T3" fmla="*/ 2147483646 h 912"/>
              <a:gd name="T4" fmla="*/ 0 w 480"/>
              <a:gd name="T5" fmla="*/ 2147483646 h 912"/>
              <a:gd name="T6" fmla="*/ 0 w 480"/>
              <a:gd name="T7" fmla="*/ 0 h 912"/>
              <a:gd name="T8" fmla="*/ 2147483646 w 480"/>
              <a:gd name="T9" fmla="*/ 2147483646 h 9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0"/>
              <a:gd name="T16" fmla="*/ 0 h 912"/>
              <a:gd name="T17" fmla="*/ 480 w 480"/>
              <a:gd name="T18" fmla="*/ 912 h 9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0" h="912">
                <a:moveTo>
                  <a:pt x="480" y="192"/>
                </a:moveTo>
                <a:lnTo>
                  <a:pt x="480" y="912"/>
                </a:lnTo>
                <a:lnTo>
                  <a:pt x="0" y="720"/>
                </a:lnTo>
                <a:lnTo>
                  <a:pt x="0" y="0"/>
                </a:lnTo>
                <a:lnTo>
                  <a:pt x="480" y="192"/>
                </a:lnTo>
                <a:close/>
              </a:path>
            </a:pathLst>
          </a:custGeom>
          <a:solidFill>
            <a:srgbClr val="66FFFF"/>
          </a:solidFill>
          <a:ln w="9525">
            <a:round/>
            <a:headEnd/>
            <a:tailEnd/>
          </a:ln>
          <a:scene3d>
            <a:camera prst="legacyObliqueFront">
              <a:rot lat="1500000" lon="1500000" rev="0"/>
            </a:camera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0099CC"/>
            </a:extrusionClr>
            <a:contourClr>
              <a:srgbClr val="66FFFF"/>
            </a:contour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pSp>
        <p:nvGrpSpPr>
          <p:cNvPr id="7" name="Group 37">
            <a:extLst>
              <a:ext uri="{FF2B5EF4-FFF2-40B4-BE49-F238E27FC236}">
                <a16:creationId xmlns:a16="http://schemas.microsoft.com/office/drawing/2014/main" id="{2DBE383D-D247-4193-AA47-0B9D1266B54A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990600"/>
            <a:ext cx="1066800" cy="774700"/>
            <a:chOff x="1913" y="535"/>
            <a:chExt cx="672" cy="488"/>
          </a:xfrm>
        </p:grpSpPr>
        <p:sp>
          <p:nvSpPr>
            <p:cNvPr id="29748" name="Line 38">
              <a:extLst>
                <a:ext uri="{FF2B5EF4-FFF2-40B4-BE49-F238E27FC236}">
                  <a16:creationId xmlns:a16="http://schemas.microsoft.com/office/drawing/2014/main" id="{0FE90784-680A-4E00-97B3-28811981C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543"/>
              <a:ext cx="0" cy="48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9" name="Rectangle 39">
              <a:extLst>
                <a:ext uri="{FF2B5EF4-FFF2-40B4-BE49-F238E27FC236}">
                  <a16:creationId xmlns:a16="http://schemas.microsoft.com/office/drawing/2014/main" id="{0F871973-AE0E-4B3E-8E37-94CFB6436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3" y="535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F</a:t>
              </a:r>
            </a:p>
          </p:txBody>
        </p:sp>
      </p:grpSp>
      <p:grpSp>
        <p:nvGrpSpPr>
          <p:cNvPr id="8" name="Group 40">
            <a:extLst>
              <a:ext uri="{FF2B5EF4-FFF2-40B4-BE49-F238E27FC236}">
                <a16:creationId xmlns:a16="http://schemas.microsoft.com/office/drawing/2014/main" id="{A3E54D0C-5AB2-434A-A6F8-BA9BF8C4E2DE}"/>
              </a:ext>
            </a:extLst>
          </p:cNvPr>
          <p:cNvGrpSpPr>
            <a:grpSpLocks/>
          </p:cNvGrpSpPr>
          <p:nvPr/>
        </p:nvGrpSpPr>
        <p:grpSpPr bwMode="auto">
          <a:xfrm>
            <a:off x="763588" y="2081213"/>
            <a:ext cx="1471612" cy="304800"/>
            <a:chOff x="720" y="1979"/>
            <a:chExt cx="960" cy="192"/>
          </a:xfrm>
        </p:grpSpPr>
        <p:sp>
          <p:nvSpPr>
            <p:cNvPr id="29743" name="Line 41">
              <a:extLst>
                <a:ext uri="{FF2B5EF4-FFF2-40B4-BE49-F238E27FC236}">
                  <a16:creationId xmlns:a16="http://schemas.microsoft.com/office/drawing/2014/main" id="{0C2D5623-449F-43E6-AD63-3AE835C76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075"/>
              <a:ext cx="96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44" name="Object 12">
              <a:extLst>
                <a:ext uri="{FF2B5EF4-FFF2-40B4-BE49-F238E27FC236}">
                  <a16:creationId xmlns:a16="http://schemas.microsoft.com/office/drawing/2014/main" id="{250F9983-2913-4A40-9F93-486E3750A2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2008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726" name="Equation" r:id="rId14" imgW="85629" imgH="95216" progId="Equation.3">
                    <p:embed/>
                  </p:oleObj>
                </mc:Choice>
                <mc:Fallback>
                  <p:oleObj name="Equation" r:id="rId14" imgW="85629" imgH="95216" progId="Equation.3">
                    <p:embed/>
                    <p:pic>
                      <p:nvPicPr>
                        <p:cNvPr id="29744" name="Object 12">
                          <a:extLst>
                            <a:ext uri="{FF2B5EF4-FFF2-40B4-BE49-F238E27FC236}">
                              <a16:creationId xmlns:a16="http://schemas.microsoft.com/office/drawing/2014/main" id="{250F9983-2913-4A40-9F93-486E3750A2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008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5" name="Object 13">
              <a:extLst>
                <a:ext uri="{FF2B5EF4-FFF2-40B4-BE49-F238E27FC236}">
                  <a16:creationId xmlns:a16="http://schemas.microsoft.com/office/drawing/2014/main" id="{003A913A-61A3-4B01-81E3-206F532629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8" y="2008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727" name="Equation" r:id="rId16" imgW="85629" imgH="95216" progId="Equation.3">
                    <p:embed/>
                  </p:oleObj>
                </mc:Choice>
                <mc:Fallback>
                  <p:oleObj name="Equation" r:id="rId16" imgW="85629" imgH="95216" progId="Equation.3">
                    <p:embed/>
                    <p:pic>
                      <p:nvPicPr>
                        <p:cNvPr id="29745" name="Object 13">
                          <a:extLst>
                            <a:ext uri="{FF2B5EF4-FFF2-40B4-BE49-F238E27FC236}">
                              <a16:creationId xmlns:a16="http://schemas.microsoft.com/office/drawing/2014/main" id="{003A913A-61A3-4B01-81E3-206F532629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" y="2008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6" name="Line 44">
              <a:extLst>
                <a:ext uri="{FF2B5EF4-FFF2-40B4-BE49-F238E27FC236}">
                  <a16:creationId xmlns:a16="http://schemas.microsoft.com/office/drawing/2014/main" id="{05D84E1D-5E6A-4575-98FA-8EA567C27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979"/>
              <a:ext cx="0" cy="19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7" name="Line 45">
              <a:extLst>
                <a:ext uri="{FF2B5EF4-FFF2-40B4-BE49-F238E27FC236}">
                  <a16:creationId xmlns:a16="http://schemas.microsoft.com/office/drawing/2014/main" id="{DE4D2C71-D6D4-405E-89C6-7CD91A211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79"/>
              <a:ext cx="0" cy="19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46">
            <a:extLst>
              <a:ext uri="{FF2B5EF4-FFF2-40B4-BE49-F238E27FC236}">
                <a16:creationId xmlns:a16="http://schemas.microsoft.com/office/drawing/2014/main" id="{C4976FDA-6C24-46FE-B2B7-65996935D8D0}"/>
              </a:ext>
            </a:extLst>
          </p:cNvPr>
          <p:cNvGrpSpPr>
            <a:grpSpLocks/>
          </p:cNvGrpSpPr>
          <p:nvPr/>
        </p:nvGrpSpPr>
        <p:grpSpPr bwMode="auto">
          <a:xfrm>
            <a:off x="2903538" y="908050"/>
            <a:ext cx="1477962" cy="2895600"/>
            <a:chOff x="1853" y="528"/>
            <a:chExt cx="931" cy="1824"/>
          </a:xfrm>
        </p:grpSpPr>
        <p:sp>
          <p:nvSpPr>
            <p:cNvPr id="29738" name="Rectangle 47">
              <a:extLst>
                <a:ext uri="{FF2B5EF4-FFF2-40B4-BE49-F238E27FC236}">
                  <a16:creationId xmlns:a16="http://schemas.microsoft.com/office/drawing/2014/main" id="{0BE58FDC-2417-4F4C-B17C-5CEFA9A15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" y="528"/>
              <a:ext cx="931" cy="1824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9739" name="Group 48">
              <a:extLst>
                <a:ext uri="{FF2B5EF4-FFF2-40B4-BE49-F238E27FC236}">
                  <a16:creationId xmlns:a16="http://schemas.microsoft.com/office/drawing/2014/main" id="{AFCD6B13-CC16-48CC-A27F-6DE9D33BC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4" y="1111"/>
              <a:ext cx="639" cy="606"/>
              <a:chOff x="3888" y="2721"/>
              <a:chExt cx="639" cy="606"/>
            </a:xfrm>
          </p:grpSpPr>
          <p:sp>
            <p:nvSpPr>
              <p:cNvPr id="29740" name="Rectangle 49">
                <a:extLst>
                  <a:ext uri="{FF2B5EF4-FFF2-40B4-BE49-F238E27FC236}">
                    <a16:creationId xmlns:a16="http://schemas.microsoft.com/office/drawing/2014/main" id="{E861D610-B649-45DB-A07A-231CD68D8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3" y="3183"/>
                <a:ext cx="62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scene3d>
                <a:camera prst="legacyObliqueFront">
                  <a:rot lat="1500000" lon="1500000" rev="0"/>
                </a:camera>
                <a:lightRig rig="legacyFlat2" dir="b"/>
              </a:scene3d>
              <a:sp3d extrusionH="354000" prstMaterial="legacyMatte">
                <a:bevelT w="13500" h="13500" prst="angle"/>
                <a:bevelB w="13500" h="13500" prst="angle"/>
                <a:extrusionClr>
                  <a:srgbClr val="009999"/>
                </a:extrusionClr>
                <a:contourClr>
                  <a:schemeClr val="accent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9741" name="Rectangle 50">
                <a:extLst>
                  <a:ext uri="{FF2B5EF4-FFF2-40B4-BE49-F238E27FC236}">
                    <a16:creationId xmlns:a16="http://schemas.microsoft.com/office/drawing/2014/main" id="{75DF5279-6BBD-4A6D-94AC-A5D41DAB8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832"/>
                <a:ext cx="144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scene3d>
                <a:camera prst="legacyObliqueFront">
                  <a:rot lat="1500000" lon="1500000" rev="0"/>
                </a:camera>
                <a:lightRig rig="legacyFlat2" dir="b"/>
              </a:scene3d>
              <a:sp3d extrusionH="354000" prstMaterial="legacyMatte">
                <a:bevelT w="13500" h="13500" prst="angle"/>
                <a:bevelB w="13500" h="13500" prst="angle"/>
                <a:extrusionClr>
                  <a:srgbClr val="009999"/>
                </a:extrusionClr>
                <a:contourClr>
                  <a:schemeClr val="accent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9742" name="Rectangle 51">
                <a:extLst>
                  <a:ext uri="{FF2B5EF4-FFF2-40B4-BE49-F238E27FC236}">
                    <a16:creationId xmlns:a16="http://schemas.microsoft.com/office/drawing/2014/main" id="{D25F82DA-7ACE-4589-9D86-966ED1984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721"/>
                <a:ext cx="62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miter lim="800000"/>
                <a:headEnd/>
                <a:tailEnd/>
              </a:ln>
              <a:scene3d>
                <a:camera prst="legacyObliqueFront">
                  <a:rot lat="1500000" lon="1500000" rev="0"/>
                </a:camera>
                <a:lightRig rig="legacyFlat2" dir="b"/>
              </a:scene3d>
              <a:sp3d extrusionH="354000" prstMaterial="legacyMatte">
                <a:bevelT w="13500" h="13500" prst="angle"/>
                <a:bevelB w="13500" h="13500" prst="angle"/>
                <a:extrusionClr>
                  <a:srgbClr val="009999"/>
                </a:extrusionClr>
                <a:contourClr>
                  <a:schemeClr val="accent1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62" name="Line 52">
            <a:extLst>
              <a:ext uri="{FF2B5EF4-FFF2-40B4-BE49-F238E27FC236}">
                <a16:creationId xmlns:a16="http://schemas.microsoft.com/office/drawing/2014/main" id="{5F2F722C-89CE-4531-A4C8-0809D36D1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2254250"/>
            <a:ext cx="762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53">
            <a:extLst>
              <a:ext uri="{FF2B5EF4-FFF2-40B4-BE49-F238E27FC236}">
                <a16:creationId xmlns:a16="http://schemas.microsoft.com/office/drawing/2014/main" id="{C48F3DFB-D7D4-44FF-A0D9-58EBC901EC9D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1014413"/>
            <a:ext cx="1066800" cy="774700"/>
            <a:chOff x="1955" y="535"/>
            <a:chExt cx="672" cy="488"/>
          </a:xfrm>
        </p:grpSpPr>
        <p:sp>
          <p:nvSpPr>
            <p:cNvPr id="29736" name="Line 54">
              <a:extLst>
                <a:ext uri="{FF2B5EF4-FFF2-40B4-BE49-F238E27FC236}">
                  <a16:creationId xmlns:a16="http://schemas.microsoft.com/office/drawing/2014/main" id="{6F5E4735-6ED2-4BBA-91DC-5AF5994DE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543"/>
              <a:ext cx="0" cy="48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7" name="Rectangle 55">
              <a:extLst>
                <a:ext uri="{FF2B5EF4-FFF2-40B4-BE49-F238E27FC236}">
                  <a16:creationId xmlns:a16="http://schemas.microsoft.com/office/drawing/2014/main" id="{3D54B335-5553-4946-BCBD-FCB819B7F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5" y="535"/>
              <a:ext cx="6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FF66"/>
                  </a:solidFill>
                </a:rPr>
                <a:t>F</a:t>
              </a:r>
            </a:p>
          </p:txBody>
        </p:sp>
      </p:grpSp>
      <p:grpSp>
        <p:nvGrpSpPr>
          <p:cNvPr id="12" name="Group 56">
            <a:extLst>
              <a:ext uri="{FF2B5EF4-FFF2-40B4-BE49-F238E27FC236}">
                <a16:creationId xmlns:a16="http://schemas.microsoft.com/office/drawing/2014/main" id="{5DE9A7B0-09E4-41DA-BD65-6F39F7413E42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2767013"/>
            <a:ext cx="877887" cy="762000"/>
            <a:chOff x="1912" y="1736"/>
            <a:chExt cx="553" cy="480"/>
          </a:xfrm>
        </p:grpSpPr>
        <p:sp>
          <p:nvSpPr>
            <p:cNvPr id="29734" name="Line 57">
              <a:extLst>
                <a:ext uri="{FF2B5EF4-FFF2-40B4-BE49-F238E27FC236}">
                  <a16:creationId xmlns:a16="http://schemas.microsoft.com/office/drawing/2014/main" id="{88C0295E-4497-448F-9EF4-531D4A0D3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6" y="1736"/>
              <a:ext cx="0" cy="48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Text Box 58">
              <a:extLst>
                <a:ext uri="{FF2B5EF4-FFF2-40B4-BE49-F238E27FC236}">
                  <a16:creationId xmlns:a16="http://schemas.microsoft.com/office/drawing/2014/main" id="{C0C58B90-9CD9-4104-96C6-07E264A22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" y="1938"/>
              <a:ext cx="55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FF66"/>
                  </a:solidFill>
                </a:rPr>
                <a:t>F</a:t>
              </a:r>
            </a:p>
          </p:txBody>
        </p:sp>
      </p:grpSp>
      <p:sp>
        <p:nvSpPr>
          <p:cNvPr id="69" name="Line 59">
            <a:extLst>
              <a:ext uri="{FF2B5EF4-FFF2-40B4-BE49-F238E27FC236}">
                <a16:creationId xmlns:a16="http://schemas.microsoft.com/office/drawing/2014/main" id="{0B1EF65C-C917-4D6B-B60E-C7A8C0D2C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2233613"/>
            <a:ext cx="838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Text Box 60">
            <a:extLst>
              <a:ext uri="{FF2B5EF4-FFF2-40B4-BE49-F238E27FC236}">
                <a16:creationId xmlns:a16="http://schemas.microsoft.com/office/drawing/2014/main" id="{819D1389-F975-47FE-8D3C-9E86BEEB6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1547813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66FFFF"/>
                </a:solidFill>
                <a:ea typeface="楷体_GB2312" pitchFamily="49" charset="-122"/>
              </a:rPr>
              <a:t>白光</a:t>
            </a:r>
          </a:p>
        </p:txBody>
      </p:sp>
      <p:sp>
        <p:nvSpPr>
          <p:cNvPr id="71" name="Text Box 61">
            <a:extLst>
              <a:ext uri="{FF2B5EF4-FFF2-40B4-BE49-F238E27FC236}">
                <a16:creationId xmlns:a16="http://schemas.microsoft.com/office/drawing/2014/main" id="{DBE702D1-5818-48FC-AED8-FEEEAAEA8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505618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说明</a:t>
            </a:r>
          </a:p>
        </p:txBody>
      </p:sp>
      <p:sp>
        <p:nvSpPr>
          <p:cNvPr id="72" name="Line 65">
            <a:extLst>
              <a:ext uri="{FF2B5EF4-FFF2-40B4-BE49-F238E27FC236}">
                <a16:creationId xmlns:a16="http://schemas.microsoft.com/office/drawing/2014/main" id="{FD418B74-BCB8-4F6E-8CB0-B229B2EBF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988" y="2254250"/>
            <a:ext cx="1482725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3" name="Picture 66" descr="booke9">
            <a:extLst>
              <a:ext uri="{FF2B5EF4-FFF2-40B4-BE49-F238E27FC236}">
                <a16:creationId xmlns:a16="http://schemas.microsoft.com/office/drawing/2014/main" id="{5F0889C6-EA13-4B96-8EAC-2EB233849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984250"/>
            <a:ext cx="2743200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Line 67">
            <a:extLst>
              <a:ext uri="{FF2B5EF4-FFF2-40B4-BE49-F238E27FC236}">
                <a16:creationId xmlns:a16="http://schemas.microsoft.com/office/drawing/2014/main" id="{C48BA3A4-21DE-4461-B256-D6338E4B7A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9588" y="3189288"/>
            <a:ext cx="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Line 68">
            <a:extLst>
              <a:ext uri="{FF2B5EF4-FFF2-40B4-BE49-F238E27FC236}">
                <a16:creationId xmlns:a16="http://schemas.microsoft.com/office/drawing/2014/main" id="{6C1488E8-D9BD-4AEE-B642-17F90FE6A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9588" y="785813"/>
            <a:ext cx="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AutoShape 69">
            <a:extLst>
              <a:ext uri="{FF2B5EF4-FFF2-40B4-BE49-F238E27FC236}">
                <a16:creationId xmlns:a16="http://schemas.microsoft.com/office/drawing/2014/main" id="{7AB81B19-AF8E-4B42-82B3-E6C4EB577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498951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7" name="Text Box 70">
            <a:extLst>
              <a:ext uri="{FF2B5EF4-FFF2-40B4-BE49-F238E27FC236}">
                <a16:creationId xmlns:a16="http://schemas.microsoft.com/office/drawing/2014/main" id="{CC76C603-0A3B-4CDD-A108-63C0D3EA9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857625"/>
            <a:ext cx="563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1"/>
                </a:solidFill>
              </a:rPr>
              <a:t>( </a:t>
            </a:r>
            <a:r>
              <a:rPr lang="en-US" altLang="zh-CN" sz="2000" i="1">
                <a:solidFill>
                  <a:srgbClr val="66FFFF"/>
                </a:solidFill>
              </a:rPr>
              <a:t>c</a:t>
            </a:r>
            <a:r>
              <a:rPr lang="en-US" altLang="zh-CN" sz="2000" i="1">
                <a:solidFill>
                  <a:schemeClr val="bg1"/>
                </a:solidFill>
              </a:rPr>
              <a:t>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是与材料有关的常数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en-US" altLang="zh-CN" sz="2000" i="1">
                <a:solidFill>
                  <a:srgbClr val="66FFFF"/>
                </a:solidFill>
              </a:rPr>
              <a:t>p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为样品材料中的应力</a:t>
            </a:r>
            <a:r>
              <a:rPr lang="en-US" altLang="zh-CN" sz="2000">
                <a:solidFill>
                  <a:schemeClr val="bg1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29733" name="灯片编号占位符 1">
            <a:extLst>
              <a:ext uri="{FF2B5EF4-FFF2-40B4-BE49-F238E27FC236}">
                <a16:creationId xmlns:a16="http://schemas.microsoft.com/office/drawing/2014/main" id="{D2F0BFE0-AC24-493F-BD99-B1509E32BAA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82D69F-2134-4D91-AE78-8F70C45D1B2E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utoUpdateAnimBg="0"/>
      <p:bldP spid="25" grpId="0" autoUpdateAnimBg="0"/>
      <p:bldP spid="32" grpId="0" autoUpdateAnimBg="0"/>
      <p:bldP spid="33" grpId="0" autoUpdateAnimBg="0"/>
      <p:bldP spid="35" grpId="0" autoUpdateAnimBg="0"/>
      <p:bldP spid="36" grpId="0" autoUpdateAnimBg="0"/>
      <p:bldP spid="37" grpId="0" animBg="1"/>
      <p:bldP spid="38" grpId="0" autoUpdateAnimBg="0"/>
      <p:bldP spid="39" grpId="0" animBg="1"/>
      <p:bldP spid="70" grpId="0" autoUpdateAnimBg="0"/>
      <p:bldP spid="71" grpId="0"/>
      <p:bldP spid="76" grpId="0" animBg="1"/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749D7133-F9C9-4F69-B531-CF7DEA93A5ED}"/>
              </a:ext>
            </a:extLst>
          </p:cNvPr>
          <p:cNvGrpSpPr>
            <a:grpSpLocks/>
          </p:cNvGrpSpPr>
          <p:nvPr/>
        </p:nvGrpSpPr>
        <p:grpSpPr bwMode="auto">
          <a:xfrm>
            <a:off x="4211960" y="908720"/>
            <a:ext cx="3643312" cy="3286125"/>
            <a:chOff x="2153" y="1866"/>
            <a:chExt cx="2295" cy="2070"/>
          </a:xfrm>
        </p:grpSpPr>
        <p:pic>
          <p:nvPicPr>
            <p:cNvPr id="31758" name="Picture 11" descr="光弹性模型">
              <a:extLst>
                <a:ext uri="{FF2B5EF4-FFF2-40B4-BE49-F238E27FC236}">
                  <a16:creationId xmlns:a16="http://schemas.microsoft.com/office/drawing/2014/main" id="{F62917B7-D402-4466-8AC3-854E2C2363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2" y="1866"/>
              <a:ext cx="1956" cy="2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9" name="Text Box 12">
              <a:extLst>
                <a:ext uri="{FF2B5EF4-FFF2-40B4-BE49-F238E27FC236}">
                  <a16:creationId xmlns:a16="http://schemas.microsoft.com/office/drawing/2014/main" id="{081E8141-4A4E-4B61-9FBB-29B67DF3E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3" y="2009"/>
              <a:ext cx="316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模型的光弹图象</a:t>
              </a: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4ECCB176-96C9-48E3-BBA4-6E75DDC52003}"/>
              </a:ext>
            </a:extLst>
          </p:cNvPr>
          <p:cNvGrpSpPr>
            <a:grpSpLocks/>
          </p:cNvGrpSpPr>
          <p:nvPr/>
        </p:nvGrpSpPr>
        <p:grpSpPr bwMode="auto">
          <a:xfrm>
            <a:off x="1068710" y="880145"/>
            <a:ext cx="2806700" cy="3314700"/>
            <a:chOff x="325" y="1861"/>
            <a:chExt cx="1768" cy="2088"/>
          </a:xfrm>
        </p:grpSpPr>
        <p:sp>
          <p:nvSpPr>
            <p:cNvPr id="31756" name="Text Box 14">
              <a:extLst>
                <a:ext uri="{FF2B5EF4-FFF2-40B4-BE49-F238E27FC236}">
                  <a16:creationId xmlns:a16="http://schemas.microsoft.com/office/drawing/2014/main" id="{E8D09CD9-540A-49D0-A3A8-FF3BCF3E9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" y="2009"/>
              <a:ext cx="429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吊钩的光弹图象</a:t>
              </a:r>
            </a:p>
          </p:txBody>
        </p:sp>
        <p:pic>
          <p:nvPicPr>
            <p:cNvPr id="31757" name="Picture 15" descr="f">
              <a:extLst>
                <a:ext uri="{FF2B5EF4-FFF2-40B4-BE49-F238E27FC236}">
                  <a16:creationId xmlns:a16="http://schemas.microsoft.com/office/drawing/2014/main" id="{F24349AC-38FB-4D18-819F-6AB3C6EB3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" y="1861"/>
              <a:ext cx="1414" cy="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48" name="灯片编号占位符 1">
            <a:extLst>
              <a:ext uri="{FF2B5EF4-FFF2-40B4-BE49-F238E27FC236}">
                <a16:creationId xmlns:a16="http://schemas.microsoft.com/office/drawing/2014/main" id="{705D6C86-DB05-474D-A190-DFD84F0C75B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6576D4-2E7F-4B5D-9850-40E088DCFB90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8ACC60D-6FF2-433D-A0E7-4C12B2E3F8E3}"/>
              </a:ext>
            </a:extLst>
          </p:cNvPr>
          <p:cNvGrpSpPr>
            <a:grpSpLocks/>
          </p:cNvGrpSpPr>
          <p:nvPr/>
        </p:nvGrpSpPr>
        <p:grpSpPr bwMode="auto">
          <a:xfrm>
            <a:off x="4388966" y="4581128"/>
            <a:ext cx="649288" cy="504825"/>
            <a:chOff x="5012" y="3612"/>
            <a:chExt cx="272" cy="184"/>
          </a:xfrm>
        </p:grpSpPr>
        <p:grpSp>
          <p:nvGrpSpPr>
            <p:cNvPr id="31750" name="Group 10">
              <a:extLst>
                <a:ext uri="{FF2B5EF4-FFF2-40B4-BE49-F238E27FC236}">
                  <a16:creationId xmlns:a16="http://schemas.microsoft.com/office/drawing/2014/main" id="{760B1D6F-99AA-49D5-A5FD-35B528292F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0" y="3621"/>
              <a:ext cx="248" cy="175"/>
              <a:chOff x="4958" y="1120"/>
              <a:chExt cx="248" cy="175"/>
            </a:xfrm>
          </p:grpSpPr>
          <p:sp>
            <p:nvSpPr>
              <p:cNvPr id="31752" name="AutoShape 11">
                <a:hlinkClick r:id="rId4" action="ppaction://hlinkfile"/>
                <a:extLst>
                  <a:ext uri="{FF2B5EF4-FFF2-40B4-BE49-F238E27FC236}">
                    <a16:creationId xmlns:a16="http://schemas.microsoft.com/office/drawing/2014/main" id="{0908CC34-8437-4627-A661-58A2A7DAE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8" y="1120"/>
                <a:ext cx="248" cy="175"/>
              </a:xfrm>
              <a:prstGeom prst="roundRect">
                <a:avLst>
                  <a:gd name="adj" fmla="val 19116"/>
                </a:avLst>
              </a:prstGeom>
              <a:solidFill>
                <a:srgbClr val="33CCCC">
                  <a:alpha val="39999"/>
                </a:srgbClr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53" name="AutoShape 12">
                <a:extLst>
                  <a:ext uri="{FF2B5EF4-FFF2-40B4-BE49-F238E27FC236}">
                    <a16:creationId xmlns:a16="http://schemas.microsoft.com/office/drawing/2014/main" id="{5ACC8A64-112F-436D-B604-3210024C0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1154"/>
                <a:ext cx="179" cy="104"/>
              </a:xfrm>
              <a:prstGeom prst="roundRect">
                <a:avLst>
                  <a:gd name="adj" fmla="val 22079"/>
                </a:avLst>
              </a:prstGeom>
              <a:solidFill>
                <a:srgbClr val="33CCCC">
                  <a:alpha val="50195"/>
                </a:srgbClr>
              </a:solidFill>
              <a:ln w="317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54" name="AutoShape 13">
                <a:extLst>
                  <a:ext uri="{FF2B5EF4-FFF2-40B4-BE49-F238E27FC236}">
                    <a16:creationId xmlns:a16="http://schemas.microsoft.com/office/drawing/2014/main" id="{6E8A1AC4-6402-49E7-9C7D-19EFBE969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4" y="1174"/>
                <a:ext cx="66" cy="66"/>
              </a:xfrm>
              <a:prstGeom prst="triangle">
                <a:avLst>
                  <a:gd name="adj" fmla="val 50000"/>
                </a:avLst>
              </a:prstGeom>
              <a:solidFill>
                <a:srgbClr val="006666"/>
              </a:solidFill>
              <a:ln w="9525">
                <a:solidFill>
                  <a:srgbClr val="0066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55" name="Line 14">
                <a:extLst>
                  <a:ext uri="{FF2B5EF4-FFF2-40B4-BE49-F238E27FC236}">
                    <a16:creationId xmlns:a16="http://schemas.microsoft.com/office/drawing/2014/main" id="{CB1C8912-058D-455A-869A-705BA940E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1177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33CC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51" name="Rectangle 15">
              <a:hlinkClick r:id="rId5" action="ppaction://hlinkfile" tooltip="点击播放动画"/>
              <a:extLst>
                <a:ext uri="{FF2B5EF4-FFF2-40B4-BE49-F238E27FC236}">
                  <a16:creationId xmlns:a16="http://schemas.microsoft.com/office/drawing/2014/main" id="{A98F7889-5685-4E41-A107-9348D1F7D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2"/>
              <a:ext cx="272" cy="181"/>
            </a:xfrm>
            <a:prstGeom prst="rect">
              <a:avLst/>
            </a:prstGeom>
            <a:solidFill>
              <a:srgbClr val="00CC99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8BA72EE-FF81-40E0-9DDB-DB6FF98B3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630685" y="4429795"/>
            <a:ext cx="2248857" cy="2101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5">
            <a:extLst>
              <a:ext uri="{FF2B5EF4-FFF2-40B4-BE49-F238E27FC236}">
                <a16:creationId xmlns:a16="http://schemas.microsoft.com/office/drawing/2014/main" id="{20DB9032-AB56-42F4-9B5E-BA85D1A46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66700"/>
            <a:ext cx="7437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四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电致双折射效应</a:t>
            </a:r>
            <a:r>
              <a:rPr lang="en-US" altLang="zh-CN" sz="2800">
                <a:solidFill>
                  <a:srgbClr val="FFFF00"/>
                </a:solidFill>
              </a:rPr>
              <a:t>---</a:t>
            </a:r>
            <a:r>
              <a:rPr lang="zh-CN" altLang="en-US" sz="2800">
                <a:solidFill>
                  <a:srgbClr val="FFFF00"/>
                </a:solidFill>
              </a:rPr>
              <a:t>克尔效应</a:t>
            </a:r>
            <a:endParaRPr lang="en-US" altLang="zh-CN" sz="280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5DF310D-75AF-4489-BB11-01EEB7C09C10}"/>
              </a:ext>
            </a:extLst>
          </p:cNvPr>
          <p:cNvGrpSpPr>
            <a:grpSpLocks/>
          </p:cNvGrpSpPr>
          <p:nvPr/>
        </p:nvGrpSpPr>
        <p:grpSpPr bwMode="auto">
          <a:xfrm>
            <a:off x="746125" y="895350"/>
            <a:ext cx="7469188" cy="1962150"/>
            <a:chOff x="709613" y="2201950"/>
            <a:chExt cx="7469187" cy="1962235"/>
          </a:xfrm>
        </p:grpSpPr>
        <p:grpSp>
          <p:nvGrpSpPr>
            <p:cNvPr id="32782" name="Group 5">
              <a:extLst>
                <a:ext uri="{FF2B5EF4-FFF2-40B4-BE49-F238E27FC236}">
                  <a16:creationId xmlns:a16="http://schemas.microsoft.com/office/drawing/2014/main" id="{98F0CF20-EC76-4279-A412-174C7D836F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0500" y="2306642"/>
              <a:ext cx="1455738" cy="1447801"/>
              <a:chOff x="3564" y="2770"/>
              <a:chExt cx="917" cy="912"/>
            </a:xfrm>
          </p:grpSpPr>
          <p:sp>
            <p:nvSpPr>
              <p:cNvPr id="32829" name="Oval 6">
                <a:extLst>
                  <a:ext uri="{FF2B5EF4-FFF2-40B4-BE49-F238E27FC236}">
                    <a16:creationId xmlns:a16="http://schemas.microsoft.com/office/drawing/2014/main" id="{E6145D0A-917E-45EC-BFFA-760BB44D7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4" y="2808"/>
                <a:ext cx="573" cy="859"/>
              </a:xfrm>
              <a:prstGeom prst="ellipse">
                <a:avLst/>
              </a:prstGeom>
              <a:solidFill>
                <a:srgbClr val="00FFFF"/>
              </a:solidFill>
              <a:ln w="1905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30" name="Line 7">
                <a:extLst>
                  <a:ext uri="{FF2B5EF4-FFF2-40B4-BE49-F238E27FC236}">
                    <a16:creationId xmlns:a16="http://schemas.microsoft.com/office/drawing/2014/main" id="{C7683872-4809-4AC8-B005-BC219408D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0" y="2808"/>
                <a:ext cx="1" cy="859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31" name="Line 8">
                <a:extLst>
                  <a:ext uri="{FF2B5EF4-FFF2-40B4-BE49-F238E27FC236}">
                    <a16:creationId xmlns:a16="http://schemas.microsoft.com/office/drawing/2014/main" id="{25C97C3C-22FC-4893-AA49-562B8C9A7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23" y="3072"/>
                <a:ext cx="454" cy="35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32" name="Arc 9">
                <a:extLst>
                  <a:ext uri="{FF2B5EF4-FFF2-40B4-BE49-F238E27FC236}">
                    <a16:creationId xmlns:a16="http://schemas.microsoft.com/office/drawing/2014/main" id="{9B1A4C68-BA7E-4ACF-A1A9-8648D2E1FBD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55" y="3101"/>
                <a:ext cx="107" cy="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33" name="Rectangle 10">
                <a:extLst>
                  <a:ext uri="{FF2B5EF4-FFF2-40B4-BE49-F238E27FC236}">
                    <a16:creationId xmlns:a16="http://schemas.microsoft.com/office/drawing/2014/main" id="{1153A935-F58F-4CE4-8E3A-D2D0819C2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4" y="2770"/>
                <a:ext cx="33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chemeClr val="bg1"/>
                    </a:solidFill>
                  </a:rPr>
                  <a:t>45</a:t>
                </a:r>
                <a:r>
                  <a:rPr lang="en-US" altLang="zh-CN">
                    <a:solidFill>
                      <a:schemeClr val="bg1"/>
                    </a:solidFill>
                    <a:sym typeface="Symbol" panose="05050102010706020507" pitchFamily="18" charset="2"/>
                  </a:rPr>
                  <a:t>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32834" name="Rectangle 11">
                <a:extLst>
                  <a:ext uri="{FF2B5EF4-FFF2-40B4-BE49-F238E27FC236}">
                    <a16:creationId xmlns:a16="http://schemas.microsoft.com/office/drawing/2014/main" id="{A63235D7-D63B-4839-A872-5C760EF0E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354"/>
                <a:ext cx="353" cy="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rgbClr val="FF0000"/>
                    </a:solidFill>
                  </a:rPr>
                  <a:t>P</a:t>
                </a:r>
                <a:r>
                  <a:rPr lang="en-US" altLang="zh-CN" sz="2800" baseline="-25000">
                    <a:solidFill>
                      <a:srgbClr val="FF0000"/>
                    </a:solidFill>
                  </a:rPr>
                  <a:t>2</a:t>
                </a:r>
                <a:endParaRPr lang="en-US" altLang="zh-CN" sz="2800" i="1"/>
              </a:p>
            </p:txBody>
          </p:sp>
        </p:grpSp>
        <p:grpSp>
          <p:nvGrpSpPr>
            <p:cNvPr id="32783" name="Group 13">
              <a:extLst>
                <a:ext uri="{FF2B5EF4-FFF2-40B4-BE49-F238E27FC236}">
                  <a16:creationId xmlns:a16="http://schemas.microsoft.com/office/drawing/2014/main" id="{417106EB-20A5-4051-AF07-52E96E9E8B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7881" y="2201950"/>
              <a:ext cx="3927477" cy="1962235"/>
              <a:chOff x="1719" y="1266"/>
              <a:chExt cx="2474" cy="1236"/>
            </a:xfrm>
          </p:grpSpPr>
          <p:sp>
            <p:nvSpPr>
              <p:cNvPr id="32798" name="Line 14">
                <a:extLst>
                  <a:ext uri="{FF2B5EF4-FFF2-40B4-BE49-F238E27FC236}">
                    <a16:creationId xmlns:a16="http://schemas.microsoft.com/office/drawing/2014/main" id="{FD755A1F-51F8-4A8C-9DD7-CB61D14915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90" y="1658"/>
                <a:ext cx="278" cy="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9" name="Line 15">
                <a:extLst>
                  <a:ext uri="{FF2B5EF4-FFF2-40B4-BE49-F238E27FC236}">
                    <a16:creationId xmlns:a16="http://schemas.microsoft.com/office/drawing/2014/main" id="{7DC93630-7253-40B6-B1A1-7001A215E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0" y="1618"/>
                <a:ext cx="96" cy="102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Line 16">
                <a:extLst>
                  <a:ext uri="{FF2B5EF4-FFF2-40B4-BE49-F238E27FC236}">
                    <a16:creationId xmlns:a16="http://schemas.microsoft.com/office/drawing/2014/main" id="{D3D2A74F-4643-4C8B-9277-F98386754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620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1" name="Line 17">
                <a:extLst>
                  <a:ext uri="{FF2B5EF4-FFF2-40B4-BE49-F238E27FC236}">
                    <a16:creationId xmlns:a16="http://schemas.microsoft.com/office/drawing/2014/main" id="{B1CCADD5-C118-4F4E-9BA3-A11A0D281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5" y="1713"/>
                <a:ext cx="477" cy="9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2" name="Line 18">
                <a:extLst>
                  <a:ext uri="{FF2B5EF4-FFF2-40B4-BE49-F238E27FC236}">
                    <a16:creationId xmlns:a16="http://schemas.microsoft.com/office/drawing/2014/main" id="{1408A710-5294-47EF-820B-0297A9A626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6" y="1626"/>
                <a:ext cx="96" cy="95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3" name="Line 19">
                <a:extLst>
                  <a:ext uri="{FF2B5EF4-FFF2-40B4-BE49-F238E27FC236}">
                    <a16:creationId xmlns:a16="http://schemas.microsoft.com/office/drawing/2014/main" id="{2BFE6E6A-0072-4A16-8956-0DA2A4C19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5" y="1352"/>
                <a:ext cx="1" cy="33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4" name="Line 20">
                <a:extLst>
                  <a:ext uri="{FF2B5EF4-FFF2-40B4-BE49-F238E27FC236}">
                    <a16:creationId xmlns:a16="http://schemas.microsoft.com/office/drawing/2014/main" id="{2C105261-2B1D-4575-A693-37FCC35AF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06" y="1889"/>
                <a:ext cx="96" cy="95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5" name="Line 21">
                <a:extLst>
                  <a:ext uri="{FF2B5EF4-FFF2-40B4-BE49-F238E27FC236}">
                    <a16:creationId xmlns:a16="http://schemas.microsoft.com/office/drawing/2014/main" id="{4950D48C-3F79-48B3-BD7F-CD00F0AA3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8" y="1980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6" name="Line 22">
                <a:extLst>
                  <a:ext uri="{FF2B5EF4-FFF2-40B4-BE49-F238E27FC236}">
                    <a16:creationId xmlns:a16="http://schemas.microsoft.com/office/drawing/2014/main" id="{C60188DA-E005-48DD-ADF4-99AD940F4B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2" y="1890"/>
                <a:ext cx="96" cy="95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7" name="Oval 23">
                <a:extLst>
                  <a:ext uri="{FF2B5EF4-FFF2-40B4-BE49-F238E27FC236}">
                    <a16:creationId xmlns:a16="http://schemas.microsoft.com/office/drawing/2014/main" id="{59441076-AC66-4D6C-B12B-6417BE052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" y="1512"/>
                <a:ext cx="382" cy="575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8" name="Oval 24">
                <a:extLst>
                  <a:ext uri="{FF2B5EF4-FFF2-40B4-BE49-F238E27FC236}">
                    <a16:creationId xmlns:a16="http://schemas.microsoft.com/office/drawing/2014/main" id="{EB611297-2B41-4454-9AE0-5A74252B9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3" y="1512"/>
                <a:ext cx="394" cy="575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9" name="Line 25">
                <a:extLst>
                  <a:ext uri="{FF2B5EF4-FFF2-40B4-BE49-F238E27FC236}">
                    <a16:creationId xmlns:a16="http://schemas.microsoft.com/office/drawing/2014/main" id="{C8CD8034-B951-4670-B8E4-95052CCE4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2" y="1512"/>
                <a:ext cx="101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0" name="Line 26">
                <a:extLst>
                  <a:ext uri="{FF2B5EF4-FFF2-40B4-BE49-F238E27FC236}">
                    <a16:creationId xmlns:a16="http://schemas.microsoft.com/office/drawing/2014/main" id="{E3D165AF-3E72-453C-AD37-D6712CD23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4" y="2087"/>
                <a:ext cx="101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1" name="Line 34">
                <a:extLst>
                  <a:ext uri="{FF2B5EF4-FFF2-40B4-BE49-F238E27FC236}">
                    <a16:creationId xmlns:a16="http://schemas.microsoft.com/office/drawing/2014/main" id="{2F3C20A4-5B83-4D24-A46A-8E9B72977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6" y="1986"/>
                <a:ext cx="1" cy="463"/>
              </a:xfrm>
              <a:prstGeom prst="line">
                <a:avLst/>
              </a:prstGeom>
              <a:noFill/>
              <a:ln w="127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2" name="Line 35">
                <a:extLst>
                  <a:ext uri="{FF2B5EF4-FFF2-40B4-BE49-F238E27FC236}">
                    <a16:creationId xmlns:a16="http://schemas.microsoft.com/office/drawing/2014/main" id="{BF86A9D9-07A6-4CB3-BDAB-35904015C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8" y="1988"/>
                <a:ext cx="0" cy="463"/>
              </a:xfrm>
              <a:prstGeom prst="line">
                <a:avLst/>
              </a:prstGeom>
              <a:noFill/>
              <a:ln w="127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3" name="Line 36">
                <a:extLst>
                  <a:ext uri="{FF2B5EF4-FFF2-40B4-BE49-F238E27FC236}">
                    <a16:creationId xmlns:a16="http://schemas.microsoft.com/office/drawing/2014/main" id="{2614BA34-B36F-459D-A309-0A03352DAF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6" y="2332"/>
                <a:ext cx="501" cy="1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 type="triangl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4" name="Rectangle 37">
                <a:extLst>
                  <a:ext uri="{FF2B5EF4-FFF2-40B4-BE49-F238E27FC236}">
                    <a16:creationId xmlns:a16="http://schemas.microsoft.com/office/drawing/2014/main" id="{AC946648-66E0-466B-B1E9-80AA7F665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4" y="2284"/>
                <a:ext cx="334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rgbClr val="00FF00"/>
                    </a:solidFill>
                  </a:rPr>
                  <a:t>l</a:t>
                </a:r>
              </a:p>
            </p:txBody>
          </p:sp>
          <p:sp>
            <p:nvSpPr>
              <p:cNvPr id="32815" name="Rectangle 38">
                <a:extLst>
                  <a:ext uri="{FF2B5EF4-FFF2-40B4-BE49-F238E27FC236}">
                    <a16:creationId xmlns:a16="http://schemas.microsoft.com/office/drawing/2014/main" id="{FCE24786-CB7A-4BD9-BD0B-0AD2EA4B8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9" y="1266"/>
                <a:ext cx="26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olidFill>
                      <a:srgbClr val="FF00FF"/>
                    </a:solidFill>
                  </a:rPr>
                  <a:t>+</a:t>
                </a:r>
                <a:endParaRPr lang="en-US" altLang="zh-CN" sz="2800"/>
              </a:p>
            </p:txBody>
          </p:sp>
          <p:sp>
            <p:nvSpPr>
              <p:cNvPr id="32816" name="Rectangle 39">
                <a:extLst>
                  <a:ext uri="{FF2B5EF4-FFF2-40B4-BE49-F238E27FC236}">
                    <a16:creationId xmlns:a16="http://schemas.microsoft.com/office/drawing/2014/main" id="{BCF4F5F2-2D4D-471C-BC35-7D12C3C2E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2" y="1941"/>
                <a:ext cx="215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>
                    <a:solidFill>
                      <a:srgbClr val="FF00FF"/>
                    </a:solidFill>
                  </a:rPr>
                  <a:t>-</a:t>
                </a:r>
                <a:endParaRPr lang="en-US" altLang="zh-CN" sz="3600"/>
              </a:p>
            </p:txBody>
          </p:sp>
          <p:sp>
            <p:nvSpPr>
              <p:cNvPr id="32817" name="Rectangle 40">
                <a:extLst>
                  <a:ext uri="{FF2B5EF4-FFF2-40B4-BE49-F238E27FC236}">
                    <a16:creationId xmlns:a16="http://schemas.microsoft.com/office/drawing/2014/main" id="{5D226A8E-5A62-422B-8D6F-F1CF97785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" y="2183"/>
                <a:ext cx="71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chemeClr val="bg1"/>
                    </a:solidFill>
                  </a:rPr>
                  <a:t>克尔盒</a:t>
                </a:r>
              </a:p>
            </p:txBody>
          </p:sp>
          <p:sp>
            <p:nvSpPr>
              <p:cNvPr id="32818" name="Line 41">
                <a:extLst>
                  <a:ext uri="{FF2B5EF4-FFF2-40B4-BE49-F238E27FC236}">
                    <a16:creationId xmlns:a16="http://schemas.microsoft.com/office/drawing/2014/main" id="{DD00C654-8613-4C4C-80F1-37467B625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4" y="1737"/>
                <a:ext cx="778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lgDashDot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9" name="Line 42">
                <a:extLst>
                  <a:ext uri="{FF2B5EF4-FFF2-40B4-BE49-F238E27FC236}">
                    <a16:creationId xmlns:a16="http://schemas.microsoft.com/office/drawing/2014/main" id="{449BFD7C-00FE-42B2-94E5-4DB4CAD4E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8" y="1835"/>
                <a:ext cx="87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lgDashDot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0" name="Line 43">
                <a:extLst>
                  <a:ext uri="{FF2B5EF4-FFF2-40B4-BE49-F238E27FC236}">
                    <a16:creationId xmlns:a16="http://schemas.microsoft.com/office/drawing/2014/main" id="{87721910-5926-4478-B14C-8A07B4A44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3" y="1962"/>
                <a:ext cx="778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lgDashDot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1" name="Line 44">
                <a:extLst>
                  <a:ext uri="{FF2B5EF4-FFF2-40B4-BE49-F238E27FC236}">
                    <a16:creationId xmlns:a16="http://schemas.microsoft.com/office/drawing/2014/main" id="{7B6EADC6-DB7B-4A02-978B-6A9D71148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6" y="1665"/>
                <a:ext cx="224" cy="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2" name="Line 45">
                <a:extLst>
                  <a:ext uri="{FF2B5EF4-FFF2-40B4-BE49-F238E27FC236}">
                    <a16:creationId xmlns:a16="http://schemas.microsoft.com/office/drawing/2014/main" id="{1BDE8471-BF3E-40F5-A891-3711B9AF4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1" y="1948"/>
                <a:ext cx="278" cy="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3" name="Line 46">
                <a:extLst>
                  <a:ext uri="{FF2B5EF4-FFF2-40B4-BE49-F238E27FC236}">
                    <a16:creationId xmlns:a16="http://schemas.microsoft.com/office/drawing/2014/main" id="{03648230-1DE9-444C-8341-494C0AF5F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8" y="1665"/>
                <a:ext cx="0" cy="283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4" name="Line 47">
                <a:extLst>
                  <a:ext uri="{FF2B5EF4-FFF2-40B4-BE49-F238E27FC236}">
                    <a16:creationId xmlns:a16="http://schemas.microsoft.com/office/drawing/2014/main" id="{BA110ED8-86DE-4C90-B1FA-A19486AB5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8" y="1807"/>
                <a:ext cx="483" cy="488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5" name="Text Box 48">
                <a:extLst>
                  <a:ext uri="{FF2B5EF4-FFF2-40B4-BE49-F238E27FC236}">
                    <a16:creationId xmlns:a16="http://schemas.microsoft.com/office/drawing/2014/main" id="{A18786CB-7ABA-4472-A84A-7625E257B2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0" y="2196"/>
                <a:ext cx="553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rgbClr val="00FF00"/>
                    </a:solidFill>
                  </a:rPr>
                  <a:t>d</a:t>
                </a:r>
              </a:p>
            </p:txBody>
          </p:sp>
          <p:sp>
            <p:nvSpPr>
              <p:cNvPr id="32826" name="Line 49">
                <a:extLst>
                  <a:ext uri="{FF2B5EF4-FFF2-40B4-BE49-F238E27FC236}">
                    <a16:creationId xmlns:a16="http://schemas.microsoft.com/office/drawing/2014/main" id="{F3FB92D0-3FCE-4639-A56B-D44726FD9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71" y="1917"/>
                <a:ext cx="270" cy="27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27" name="Line 50">
                <a:extLst>
                  <a:ext uri="{FF2B5EF4-FFF2-40B4-BE49-F238E27FC236}">
                    <a16:creationId xmlns:a16="http://schemas.microsoft.com/office/drawing/2014/main" id="{04513BBF-E1A5-4F92-A2B4-855D9A39A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986"/>
                <a:ext cx="1" cy="33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8" name="Line 51">
                <a:extLst>
                  <a:ext uri="{FF2B5EF4-FFF2-40B4-BE49-F238E27FC236}">
                    <a16:creationId xmlns:a16="http://schemas.microsoft.com/office/drawing/2014/main" id="{B1E45468-CC9E-4F76-8CF9-8C90ACDE7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04" y="1884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84" name="Group 52">
              <a:extLst>
                <a:ext uri="{FF2B5EF4-FFF2-40B4-BE49-F238E27FC236}">
                  <a16:creationId xmlns:a16="http://schemas.microsoft.com/office/drawing/2014/main" id="{3E3826DE-19D9-4B04-951F-F7A145E24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5540" y="2311402"/>
              <a:ext cx="1463676" cy="1433513"/>
              <a:chOff x="953" y="2773"/>
              <a:chExt cx="922" cy="903"/>
            </a:xfrm>
          </p:grpSpPr>
          <p:sp>
            <p:nvSpPr>
              <p:cNvPr id="32792" name="Oval 53">
                <a:extLst>
                  <a:ext uri="{FF2B5EF4-FFF2-40B4-BE49-F238E27FC236}">
                    <a16:creationId xmlns:a16="http://schemas.microsoft.com/office/drawing/2014/main" id="{0974B829-F978-4D7D-AE73-5B8986AB8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" y="2818"/>
                <a:ext cx="573" cy="858"/>
              </a:xfrm>
              <a:prstGeom prst="ellipse">
                <a:avLst/>
              </a:prstGeom>
              <a:solidFill>
                <a:srgbClr val="00FFFF"/>
              </a:solidFill>
              <a:ln w="1905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93" name="Line 54">
                <a:extLst>
                  <a:ext uri="{FF2B5EF4-FFF2-40B4-BE49-F238E27FC236}">
                    <a16:creationId xmlns:a16="http://schemas.microsoft.com/office/drawing/2014/main" id="{686A1CF6-23C4-47CD-BA3D-497C9B722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6" y="2808"/>
                <a:ext cx="1" cy="859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Line 55">
                <a:extLst>
                  <a:ext uri="{FF2B5EF4-FFF2-40B4-BE49-F238E27FC236}">
                    <a16:creationId xmlns:a16="http://schemas.microsoft.com/office/drawing/2014/main" id="{BDBA5636-0F2A-4FC5-8E8C-FC8B06D1F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2" y="3063"/>
                <a:ext cx="453" cy="35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Arc 56">
                <a:extLst>
                  <a:ext uri="{FF2B5EF4-FFF2-40B4-BE49-F238E27FC236}">
                    <a16:creationId xmlns:a16="http://schemas.microsoft.com/office/drawing/2014/main" id="{B102B113-C9A9-4B95-8D88-B6911124D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3101"/>
                <a:ext cx="144" cy="4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6" name="Rectangle 57">
                <a:extLst>
                  <a:ext uri="{FF2B5EF4-FFF2-40B4-BE49-F238E27FC236}">
                    <a16:creationId xmlns:a16="http://schemas.microsoft.com/office/drawing/2014/main" id="{83A289F2-DB8A-443F-B664-442A4D61C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3346"/>
                <a:ext cx="307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rgbClr val="FF0000"/>
                    </a:solidFill>
                  </a:rPr>
                  <a:t>P</a:t>
                </a:r>
                <a:r>
                  <a:rPr lang="en-US" altLang="zh-CN" sz="2800" baseline="-25000">
                    <a:solidFill>
                      <a:srgbClr val="FF0000"/>
                    </a:solidFill>
                  </a:rPr>
                  <a:t>1</a:t>
                </a:r>
                <a:endParaRPr lang="en-US" altLang="zh-CN" sz="2800" i="1"/>
              </a:p>
            </p:txBody>
          </p:sp>
          <p:sp>
            <p:nvSpPr>
              <p:cNvPr id="32797" name="Rectangle 58">
                <a:extLst>
                  <a:ext uri="{FF2B5EF4-FFF2-40B4-BE49-F238E27FC236}">
                    <a16:creationId xmlns:a16="http://schemas.microsoft.com/office/drawing/2014/main" id="{E935351C-7037-4F78-96BD-6E35463C9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" y="2773"/>
                <a:ext cx="394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chemeClr val="bg1"/>
                    </a:solidFill>
                  </a:rPr>
                  <a:t>45</a:t>
                </a:r>
                <a:r>
                  <a:rPr lang="en-US" altLang="zh-CN">
                    <a:solidFill>
                      <a:schemeClr val="bg1"/>
                    </a:solidFill>
                    <a:sym typeface="Symbol" panose="05050102010706020507" pitchFamily="18" charset="2"/>
                  </a:rPr>
                  <a:t>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785" name="Line 59">
              <a:extLst>
                <a:ext uri="{FF2B5EF4-FFF2-40B4-BE49-F238E27FC236}">
                  <a16:creationId xmlns:a16="http://schemas.microsoft.com/office/drawing/2014/main" id="{1B763A37-6334-494E-A0C7-B1922B66A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4525" y="3055938"/>
              <a:ext cx="1058863" cy="0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 type="none" w="med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86" name="Group 60">
              <a:extLst>
                <a:ext uri="{FF2B5EF4-FFF2-40B4-BE49-F238E27FC236}">
                  <a16:creationId xmlns:a16="http://schemas.microsoft.com/office/drawing/2014/main" id="{3A655F7A-7833-4BF7-AF5E-A75E95DB51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613" y="3056840"/>
              <a:ext cx="4543427" cy="15880"/>
              <a:chOff x="876" y="1804"/>
              <a:chExt cx="2862" cy="10"/>
            </a:xfrm>
          </p:grpSpPr>
          <p:sp>
            <p:nvSpPr>
              <p:cNvPr id="32788" name="Line 61">
                <a:extLst>
                  <a:ext uri="{FF2B5EF4-FFF2-40B4-BE49-F238E27FC236}">
                    <a16:creationId xmlns:a16="http://schemas.microsoft.com/office/drawing/2014/main" id="{59806905-6A11-4C58-B742-D43DB9D14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6" y="1804"/>
                <a:ext cx="835" cy="1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 type="none" w="med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9" name="Line 62">
                <a:extLst>
                  <a:ext uri="{FF2B5EF4-FFF2-40B4-BE49-F238E27FC236}">
                    <a16:creationId xmlns:a16="http://schemas.microsoft.com/office/drawing/2014/main" id="{B0A4225F-CEF2-45EB-99FA-B88EE4A67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6" y="1813"/>
                <a:ext cx="442" cy="1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 type="none" w="med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0" name="Line 63">
                <a:extLst>
                  <a:ext uri="{FF2B5EF4-FFF2-40B4-BE49-F238E27FC236}">
                    <a16:creationId xmlns:a16="http://schemas.microsoft.com/office/drawing/2014/main" id="{25432487-2BE1-47A4-92B6-9E5571A9A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4" y="1804"/>
                <a:ext cx="394" cy="1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 type="none" w="med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1" name="Line 64">
                <a:extLst>
                  <a:ext uri="{FF2B5EF4-FFF2-40B4-BE49-F238E27FC236}">
                    <a16:creationId xmlns:a16="http://schemas.microsoft.com/office/drawing/2014/main" id="{E4619B7E-D0B9-4E5C-BA45-1509C2684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3" y="1813"/>
                <a:ext cx="513" cy="1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 type="none" w="med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2787" name="Object 2">
              <a:extLst>
                <a:ext uri="{FF2B5EF4-FFF2-40B4-BE49-F238E27FC236}">
                  <a16:creationId xmlns:a16="http://schemas.microsoft.com/office/drawing/2014/main" id="{B1DB3E0D-0A8F-43EC-BE13-9038844B95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32612" y="2801938"/>
            <a:ext cx="1246188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719" name="公式" r:id="rId3" imgW="494870" imgH="215713" progId="Equation.3">
                    <p:embed/>
                  </p:oleObj>
                </mc:Choice>
                <mc:Fallback>
                  <p:oleObj name="公式" r:id="rId3" imgW="494870" imgH="215713" progId="Equation.3">
                    <p:embed/>
                    <p:pic>
                      <p:nvPicPr>
                        <p:cNvPr id="32787" name="Object 2">
                          <a:extLst>
                            <a:ext uri="{FF2B5EF4-FFF2-40B4-BE49-F238E27FC236}">
                              <a16:creationId xmlns:a16="http://schemas.microsoft.com/office/drawing/2014/main" id="{B1DB3E0D-0A8F-43EC-BE13-9038844B95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2612" y="2801938"/>
                          <a:ext cx="1246188" cy="5429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" name="Text Box 12">
            <a:extLst>
              <a:ext uri="{FF2B5EF4-FFF2-40B4-BE49-F238E27FC236}">
                <a16:creationId xmlns:a16="http://schemas.microsoft.com/office/drawing/2014/main" id="{30AD87E8-EF1A-40EA-8D3C-5A6A13101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3014663"/>
            <a:ext cx="6345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盒内充某种液体，如硝基苯（</a:t>
            </a:r>
            <a:r>
              <a:rPr lang="en-US" altLang="zh-CN">
                <a:solidFill>
                  <a:srgbClr val="FFFF00"/>
                </a:solidFill>
              </a:rPr>
              <a:t>C</a:t>
            </a:r>
            <a:r>
              <a:rPr lang="en-US" altLang="zh-CN" sz="2000">
                <a:solidFill>
                  <a:srgbClr val="FFFF00"/>
                </a:solidFill>
              </a:rPr>
              <a:t>6</a:t>
            </a:r>
            <a:r>
              <a:rPr lang="en-US" altLang="zh-CN">
                <a:solidFill>
                  <a:srgbClr val="FFFF00"/>
                </a:solidFill>
              </a:rPr>
              <a:t>H</a:t>
            </a:r>
            <a:r>
              <a:rPr lang="en-US" altLang="zh-CN" sz="2000">
                <a:solidFill>
                  <a:srgbClr val="FFFF00"/>
                </a:solidFill>
              </a:rPr>
              <a:t>5</a:t>
            </a:r>
            <a:r>
              <a:rPr lang="en-US" altLang="zh-CN">
                <a:solidFill>
                  <a:srgbClr val="FFFF00"/>
                </a:solidFill>
              </a:rPr>
              <a:t>NO</a:t>
            </a:r>
            <a:r>
              <a:rPr lang="en-US" altLang="zh-CN" sz="2000">
                <a:solidFill>
                  <a:srgbClr val="FFFF00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83539715-60FB-49CD-9879-F24089D06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679825"/>
            <a:ext cx="8208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 </a:t>
            </a:r>
            <a:r>
              <a:rPr lang="zh-CN" altLang="en-US">
                <a:solidFill>
                  <a:schemeClr val="bg1"/>
                </a:solidFill>
              </a:rPr>
              <a:t>不加电场 </a:t>
            </a:r>
            <a:r>
              <a:rPr lang="en-US" altLang="zh-CN">
                <a:solidFill>
                  <a:schemeClr val="bg1"/>
                </a:solidFill>
              </a:rPr>
              <a:t>→ </a:t>
            </a:r>
            <a:r>
              <a:rPr lang="zh-CN" altLang="en-US">
                <a:solidFill>
                  <a:schemeClr val="bg1"/>
                </a:solidFill>
              </a:rPr>
              <a:t>液体各向同性 </a:t>
            </a:r>
            <a:r>
              <a:rPr lang="en-US" altLang="zh-CN">
                <a:solidFill>
                  <a:schemeClr val="bg1"/>
                </a:solidFill>
              </a:rPr>
              <a:t>→ </a:t>
            </a:r>
            <a:r>
              <a:rPr lang="en-US" altLang="zh-CN" i="1">
                <a:solidFill>
                  <a:srgbClr val="FFFF00"/>
                </a:solidFill>
              </a:rPr>
              <a:t>P</a:t>
            </a:r>
            <a:r>
              <a:rPr lang="en-US" altLang="zh-CN" baseline="-25000">
                <a:solidFill>
                  <a:srgbClr val="FFFF00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不透光；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367B0941-3C0C-4FC4-8E30-6DA20CEBC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298950"/>
            <a:ext cx="482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 </a:t>
            </a:r>
            <a:r>
              <a:rPr lang="zh-CN" altLang="en-US">
                <a:solidFill>
                  <a:schemeClr val="bg1"/>
                </a:solidFill>
              </a:rPr>
              <a:t>加电场 </a:t>
            </a:r>
            <a:r>
              <a:rPr lang="en-US" altLang="zh-CN">
                <a:solidFill>
                  <a:schemeClr val="bg1"/>
                </a:solidFill>
              </a:rPr>
              <a:t>→ </a:t>
            </a:r>
            <a:r>
              <a:rPr lang="zh-CN" altLang="en-US">
                <a:solidFill>
                  <a:schemeClr val="bg1"/>
                </a:solidFill>
              </a:rPr>
              <a:t>液体呈单轴晶体性质，</a:t>
            </a:r>
          </a:p>
        </p:txBody>
      </p:sp>
      <p:grpSp>
        <p:nvGrpSpPr>
          <p:cNvPr id="8" name="Group 70">
            <a:extLst>
              <a:ext uri="{FF2B5EF4-FFF2-40B4-BE49-F238E27FC236}">
                <a16:creationId xmlns:a16="http://schemas.microsoft.com/office/drawing/2014/main" id="{E4CFF509-2C8F-4C05-A2C3-C70E630C496E}"/>
              </a:ext>
            </a:extLst>
          </p:cNvPr>
          <p:cNvGrpSpPr>
            <a:grpSpLocks/>
          </p:cNvGrpSpPr>
          <p:nvPr/>
        </p:nvGrpSpPr>
        <p:grpSpPr bwMode="auto">
          <a:xfrm>
            <a:off x="896938" y="4992688"/>
            <a:ext cx="4551362" cy="461962"/>
            <a:chOff x="575" y="3708"/>
            <a:chExt cx="3928" cy="291"/>
          </a:xfrm>
        </p:grpSpPr>
        <p:sp>
          <p:nvSpPr>
            <p:cNvPr id="32780" name="Text Box 68">
              <a:extLst>
                <a:ext uri="{FF2B5EF4-FFF2-40B4-BE49-F238E27FC236}">
                  <a16:creationId xmlns:a16="http://schemas.microsoft.com/office/drawing/2014/main" id="{2D2581A9-8DA2-4D52-8694-A97E3436C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" y="3708"/>
              <a:ext cx="39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光轴平行电场强度     </a:t>
              </a:r>
              <a:r>
                <a:rPr lang="zh-CN" altLang="en-US">
                  <a:solidFill>
                    <a:schemeClr val="bg1"/>
                  </a:solidFill>
                  <a:sym typeface="Symbol" panose="05050102010706020507" pitchFamily="18" charset="2"/>
                </a:rPr>
                <a:t> </a:t>
              </a:r>
              <a:r>
                <a:rPr lang="en-US" altLang="zh-CN" i="1">
                  <a:solidFill>
                    <a:srgbClr val="FFFF00"/>
                  </a:solidFill>
                </a:rPr>
                <a:t>P</a:t>
              </a:r>
              <a:r>
                <a:rPr lang="en-US" altLang="zh-CN" baseline="-25000">
                  <a:solidFill>
                    <a:srgbClr val="FFFF00"/>
                  </a:solidFill>
                </a:rPr>
                <a:t>2</a:t>
              </a:r>
              <a:r>
                <a:rPr lang="zh-CN" altLang="en-US">
                  <a:solidFill>
                    <a:schemeClr val="bg1"/>
                  </a:solidFill>
                </a:rPr>
                <a:t>透光。</a:t>
              </a:r>
            </a:p>
          </p:txBody>
        </p:sp>
        <p:graphicFrame>
          <p:nvGraphicFramePr>
            <p:cNvPr id="32781" name="Object 3">
              <a:extLst>
                <a:ext uri="{FF2B5EF4-FFF2-40B4-BE49-F238E27FC236}">
                  <a16:creationId xmlns:a16="http://schemas.microsoft.com/office/drawing/2014/main" id="{2CD484F9-15B9-44CF-95BC-E7A7AA7B20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1" y="3709"/>
            <a:ext cx="243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720" name="Equation" r:id="rId5" imgW="164957" imgH="203024" progId="Equation.3">
                    <p:embed/>
                  </p:oleObj>
                </mc:Choice>
                <mc:Fallback>
                  <p:oleObj name="Equation" r:id="rId5" imgW="164957" imgH="203024" progId="Equation.3">
                    <p:embed/>
                    <p:pic>
                      <p:nvPicPr>
                        <p:cNvPr id="32781" name="Object 3">
                          <a:extLst>
                            <a:ext uri="{FF2B5EF4-FFF2-40B4-BE49-F238E27FC236}">
                              <a16:creationId xmlns:a16="http://schemas.microsoft.com/office/drawing/2014/main" id="{2CD484F9-15B9-44CF-95BC-E7A7AA7B20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1" y="3709"/>
                          <a:ext cx="243" cy="27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9C6A5BBD-D67E-49BF-A729-DA443A534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603875"/>
          <a:ext cx="33782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721" name="公式" r:id="rId7" imgW="1346200" imgH="419100" progId="Equation.3">
                  <p:embed/>
                </p:oleObj>
              </mc:Choice>
              <mc:Fallback>
                <p:oleObj name="公式" r:id="rId7" imgW="1346200" imgH="419100" progId="Equation.3">
                  <p:embed/>
                  <p:pic>
                    <p:nvPicPr>
                      <p:cNvPr id="72708" name="Object 4">
                        <a:extLst>
                          <a:ext uri="{FF2B5EF4-FFF2-40B4-BE49-F238E27FC236}">
                            <a16:creationId xmlns:a16="http://schemas.microsoft.com/office/drawing/2014/main" id="{9C6A5BBD-D67E-49BF-A729-DA443A534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603875"/>
                        <a:ext cx="3378200" cy="10461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4">
            <a:extLst>
              <a:ext uri="{FF2B5EF4-FFF2-40B4-BE49-F238E27FC236}">
                <a16:creationId xmlns:a16="http://schemas.microsoft.com/office/drawing/2014/main" id="{A3A8A468-7668-4AA5-9477-C7A42F5B9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850" y="5715000"/>
            <a:ext cx="2628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k</a:t>
            </a:r>
            <a:r>
              <a:rPr lang="en-US" altLang="zh-CN" i="1"/>
              <a:t> </a:t>
            </a:r>
            <a:r>
              <a:rPr lang="en-US" altLang="zh-CN">
                <a:solidFill>
                  <a:schemeClr val="bg1"/>
                </a:solidFill>
              </a:rPr>
              <a:t>— </a:t>
            </a:r>
            <a:r>
              <a:rPr lang="zh-CN" altLang="en-US">
                <a:solidFill>
                  <a:schemeClr val="bg1"/>
                </a:solidFill>
              </a:rPr>
              <a:t>克尔常数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U</a:t>
            </a:r>
            <a:r>
              <a:rPr lang="en-US" altLang="zh-CN" i="1"/>
              <a:t> </a:t>
            </a:r>
            <a:r>
              <a:rPr lang="en-US" altLang="zh-CN" i="1">
                <a:solidFill>
                  <a:schemeClr val="bg1"/>
                </a:solidFill>
              </a:rPr>
              <a:t>—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zh-CN">
                <a:solidFill>
                  <a:schemeClr val="bg1"/>
                </a:solidFill>
              </a:rPr>
              <a:t>电压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2" name="Text Box 60">
            <a:extLst>
              <a:ext uri="{FF2B5EF4-FFF2-40B4-BE49-F238E27FC236}">
                <a16:creationId xmlns:a16="http://schemas.microsoft.com/office/drawing/2014/main" id="{AAC73E64-A970-4C8D-B3CF-3D8E204A7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5929313"/>
            <a:ext cx="1071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FF00"/>
                </a:solidFill>
                <a:ea typeface="楷体_GB2312" pitchFamily="49" charset="-122"/>
              </a:rPr>
              <a:t>实验：</a:t>
            </a:r>
          </a:p>
        </p:txBody>
      </p:sp>
      <p:sp>
        <p:nvSpPr>
          <p:cNvPr id="32779" name="灯片编号占位符 1">
            <a:extLst>
              <a:ext uri="{FF2B5EF4-FFF2-40B4-BE49-F238E27FC236}">
                <a16:creationId xmlns:a16="http://schemas.microsoft.com/office/drawing/2014/main" id="{78A3AA72-1084-41A6-8482-AE00D08F1E6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217463-0DC2-4CB1-B00A-F9484A1AE0FA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4" grpId="0" autoUpdateAnimBg="0"/>
      <p:bldP spid="65" grpId="0" autoUpdateAnimBg="0"/>
      <p:bldP spid="66" grpId="0" autoUpdateAnimBg="0"/>
      <p:bldP spid="71" grpId="0" autoUpdateAnimBg="0"/>
      <p:bldP spid="7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4A86C3CC-3D0D-475E-9B87-3B24B86AD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38163"/>
            <a:ext cx="5848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克尔效应引起的相位差为：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9E061EC9-0866-43E2-B1FA-92D7489480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5313" y="1192213"/>
          <a:ext cx="48926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14" name="公式" r:id="rId3" imgW="1993900" imgH="419100" progId="Equation.3">
                  <p:embed/>
                </p:oleObj>
              </mc:Choice>
              <mc:Fallback>
                <p:oleObj name="公式" r:id="rId3" imgW="1993900" imgH="419100" progId="Equation.3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9E061EC9-0866-43E2-B1FA-92D7489480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313" y="1192213"/>
                        <a:ext cx="4892675" cy="1022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5">
            <a:extLst>
              <a:ext uri="{FF2B5EF4-FFF2-40B4-BE49-F238E27FC236}">
                <a16:creationId xmlns:a16="http://schemas.microsoft.com/office/drawing/2014/main" id="{FE89940D-84BA-42C6-AB34-5AF2688F335C}"/>
              </a:ext>
            </a:extLst>
          </p:cNvPr>
          <p:cNvGrpSpPr>
            <a:grpSpLocks/>
          </p:cNvGrpSpPr>
          <p:nvPr/>
        </p:nvGrpSpPr>
        <p:grpSpPr bwMode="auto">
          <a:xfrm>
            <a:off x="615950" y="2428875"/>
            <a:ext cx="8313738" cy="484188"/>
            <a:chOff x="309" y="2372"/>
            <a:chExt cx="5237" cy="305"/>
          </a:xfrm>
        </p:grpSpPr>
        <p:sp>
          <p:nvSpPr>
            <p:cNvPr id="33809" name="Text Box 16">
              <a:extLst>
                <a:ext uri="{FF2B5EF4-FFF2-40B4-BE49-F238E27FC236}">
                  <a16:creationId xmlns:a16="http://schemas.microsoft.com/office/drawing/2014/main" id="{55A9368B-9A7C-4D90-9801-AFD575AF9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" y="2386"/>
              <a:ext cx="3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相位差随电压</a:t>
              </a:r>
              <a:r>
                <a:rPr lang="en-US" altLang="zh-CN" i="1">
                  <a:solidFill>
                    <a:srgbClr val="FFFF00"/>
                  </a:solidFill>
                </a:rPr>
                <a:t>U</a:t>
              </a:r>
              <a:r>
                <a:rPr lang="zh-CN" altLang="en-US">
                  <a:solidFill>
                    <a:schemeClr val="bg1"/>
                  </a:solidFill>
                </a:rPr>
                <a:t>变化而变化，透过</a:t>
              </a:r>
            </a:p>
          </p:txBody>
        </p:sp>
        <p:sp>
          <p:nvSpPr>
            <p:cNvPr id="33810" name="Rectangle 19">
              <a:extLst>
                <a:ext uri="{FF2B5EF4-FFF2-40B4-BE49-F238E27FC236}">
                  <a16:creationId xmlns:a16="http://schemas.microsoft.com/office/drawing/2014/main" id="{C3F53768-9762-4661-8E89-653F843EC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2372"/>
              <a:ext cx="23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P</a:t>
              </a:r>
              <a:r>
                <a:rPr lang="en-US" altLang="zh-CN" baseline="-25000">
                  <a:solidFill>
                    <a:srgbClr val="FFFF00"/>
                  </a:solidFill>
                </a:rPr>
                <a:t>2</a:t>
              </a:r>
              <a:r>
                <a:rPr lang="zh-CN" altLang="en-US">
                  <a:solidFill>
                    <a:schemeClr val="bg1"/>
                  </a:solidFill>
                </a:rPr>
                <a:t>光强（干涉）也变化</a:t>
              </a:r>
            </a:p>
          </p:txBody>
        </p:sp>
      </p:grpSp>
      <p:sp>
        <p:nvSpPr>
          <p:cNvPr id="9" name="Text Box 2">
            <a:extLst>
              <a:ext uri="{FF2B5EF4-FFF2-40B4-BE49-F238E27FC236}">
                <a16:creationId xmlns:a16="http://schemas.microsoft.com/office/drawing/2014/main" id="{1485289B-36DE-41E4-9F5E-FEB5D8294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3643313"/>
            <a:ext cx="7081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可作为</a:t>
            </a:r>
            <a:r>
              <a:rPr lang="zh-CN" altLang="en-US">
                <a:solidFill>
                  <a:srgbClr val="FFFF00"/>
                </a:solidFill>
              </a:rPr>
              <a:t>光开关</a:t>
            </a:r>
            <a:r>
              <a:rPr lang="zh-CN" altLang="en-US">
                <a:solidFill>
                  <a:schemeClr val="bg1"/>
                </a:solidFill>
              </a:rPr>
              <a:t>（响应时间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</a:t>
            </a:r>
            <a:r>
              <a:rPr lang="en-US" altLang="zh-CN">
                <a:solidFill>
                  <a:srgbClr val="FFFF00"/>
                </a:solidFill>
              </a:rPr>
              <a:t>10</a:t>
            </a:r>
            <a:r>
              <a:rPr lang="en-US" altLang="zh-CN" baseline="30000">
                <a:solidFill>
                  <a:srgbClr val="FFFF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FFFF00"/>
                </a:solidFill>
              </a:rPr>
              <a:t>9</a:t>
            </a:r>
            <a:r>
              <a:rPr lang="en-US" altLang="zh-CN">
                <a:solidFill>
                  <a:srgbClr val="FFFF00"/>
                </a:solidFill>
              </a:rPr>
              <a:t>s</a:t>
            </a:r>
            <a:r>
              <a:rPr lang="zh-CN" altLang="en-US">
                <a:solidFill>
                  <a:schemeClr val="bg1"/>
                </a:solidFill>
              </a:rPr>
              <a:t>），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D903BF5-FF60-4B2F-BA23-20C563624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3071813"/>
            <a:ext cx="4075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克尔盒的应用：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728940E-5864-479E-9BD9-F0A588875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714875"/>
            <a:ext cx="3868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克尔盒的缺点：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AF63A01E-F490-46C6-918F-78F4D8BB2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4181475"/>
            <a:ext cx="3375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用于高速摄影、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D7123711-FA03-4446-804E-F70290550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4181475"/>
            <a:ext cx="466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脉冲激光系统 </a:t>
            </a:r>
            <a:r>
              <a:rPr lang="zh-CN" altLang="en-US">
                <a:solidFill>
                  <a:schemeClr val="bg1"/>
                </a:solidFill>
                <a:sym typeface="MT Extra" panose="05050102010205020202" pitchFamily="18" charset="2"/>
              </a:rPr>
              <a:t></a:t>
            </a:r>
          </a:p>
        </p:txBody>
      </p:sp>
      <p:grpSp>
        <p:nvGrpSpPr>
          <p:cNvPr id="5" name="组合 18">
            <a:extLst>
              <a:ext uri="{FF2B5EF4-FFF2-40B4-BE49-F238E27FC236}">
                <a16:creationId xmlns:a16="http://schemas.microsoft.com/office/drawing/2014/main" id="{C2E8EB11-868E-40D9-95A3-B783A5B8B5D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5286375"/>
            <a:ext cx="7072313" cy="1000125"/>
            <a:chOff x="1142976" y="4929198"/>
            <a:chExt cx="7072362" cy="1000132"/>
          </a:xfrm>
        </p:grpSpPr>
        <p:sp>
          <p:nvSpPr>
            <p:cNvPr id="33804" name="Rectangle 5">
              <a:extLst>
                <a:ext uri="{FF2B5EF4-FFF2-40B4-BE49-F238E27FC236}">
                  <a16:creationId xmlns:a16="http://schemas.microsoft.com/office/drawing/2014/main" id="{41FCA36C-0868-430A-9E7B-91BB36966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976" y="5467665"/>
              <a:ext cx="48339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和加数万伏的高电压，</a:t>
              </a:r>
            </a:p>
          </p:txBody>
        </p:sp>
        <p:sp>
          <p:nvSpPr>
            <p:cNvPr id="33805" name="Rectangle 10">
              <a:extLst>
                <a:ext uri="{FF2B5EF4-FFF2-40B4-BE49-F238E27FC236}">
                  <a16:creationId xmlns:a16="http://schemas.microsoft.com/office/drawing/2014/main" id="{9BD758FE-CF78-491B-9C8B-35C7ADC01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976" y="4929198"/>
              <a:ext cx="31019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硝基苯有毒，</a:t>
              </a:r>
            </a:p>
          </p:txBody>
        </p:sp>
        <p:sp>
          <p:nvSpPr>
            <p:cNvPr id="33806" name="Rectangle 11">
              <a:extLst>
                <a:ext uri="{FF2B5EF4-FFF2-40B4-BE49-F238E27FC236}">
                  <a16:creationId xmlns:a16="http://schemas.microsoft.com/office/drawing/2014/main" id="{3B716E87-54C0-4F23-AF5F-97B18C858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888" y="4929198"/>
              <a:ext cx="39814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需要极高的纯度</a:t>
              </a:r>
            </a:p>
          </p:txBody>
        </p:sp>
        <p:sp>
          <p:nvSpPr>
            <p:cNvPr id="33807" name="Rectangle 12">
              <a:extLst>
                <a:ext uri="{FF2B5EF4-FFF2-40B4-BE49-F238E27FC236}">
                  <a16:creationId xmlns:a16="http://schemas.microsoft.com/office/drawing/2014/main" id="{489A8D7F-C769-4DE8-9FA3-E9932356C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0" y="5467665"/>
              <a:ext cx="3733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故现在很少用。</a:t>
              </a:r>
            </a:p>
          </p:txBody>
        </p:sp>
        <p:sp>
          <p:nvSpPr>
            <p:cNvPr id="33808" name="Rectangle 13">
              <a:extLst>
                <a:ext uri="{FF2B5EF4-FFF2-40B4-BE49-F238E27FC236}">
                  <a16:creationId xmlns:a16="http://schemas.microsoft.com/office/drawing/2014/main" id="{D60B18B1-81BD-4632-B794-225B32312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364" y="4929198"/>
              <a:ext cx="24701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易爆炸，</a:t>
              </a:r>
            </a:p>
          </p:txBody>
        </p:sp>
      </p:grpSp>
      <p:sp>
        <p:nvSpPr>
          <p:cNvPr id="33803" name="灯片编号占位符 1">
            <a:extLst>
              <a:ext uri="{FF2B5EF4-FFF2-40B4-BE49-F238E27FC236}">
                <a16:creationId xmlns:a16="http://schemas.microsoft.com/office/drawing/2014/main" id="{E93C6124-0801-48B8-997D-A8A97D0EC7A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F1EFE5-87EA-4F06-97A5-6224839C77F0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 build="p" autoUpdateAnimBg="0"/>
      <p:bldP spid="10" grpId="0" autoUpdateAnimBg="0"/>
      <p:bldP spid="11" grpId="0" autoUpdateAnimBg="0"/>
      <p:bldP spid="13" grpId="0" autoUpdateAnimBg="0"/>
      <p:bldP spid="1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1">
            <a:extLst>
              <a:ext uri="{FF2B5EF4-FFF2-40B4-BE49-F238E27FC236}">
                <a16:creationId xmlns:a16="http://schemas.microsoft.com/office/drawing/2014/main" id="{58088622-6B11-4322-8E62-51F1322B7AFB}"/>
              </a:ext>
            </a:extLst>
          </p:cNvPr>
          <p:cNvGrpSpPr>
            <a:grpSpLocks/>
          </p:cNvGrpSpPr>
          <p:nvPr/>
        </p:nvGrpSpPr>
        <p:grpSpPr bwMode="auto">
          <a:xfrm>
            <a:off x="7308850" y="1773238"/>
            <a:ext cx="685800" cy="2514600"/>
            <a:chOff x="4224" y="1152"/>
            <a:chExt cx="432" cy="1584"/>
          </a:xfrm>
        </p:grpSpPr>
        <p:sp>
          <p:nvSpPr>
            <p:cNvPr id="34871" name="Freeform 72">
              <a:extLst>
                <a:ext uri="{FF2B5EF4-FFF2-40B4-BE49-F238E27FC236}">
                  <a16:creationId xmlns:a16="http://schemas.microsoft.com/office/drawing/2014/main" id="{3D607D19-8CEC-4870-AF7A-3DF9A905B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152"/>
              <a:ext cx="384" cy="1584"/>
            </a:xfrm>
            <a:custGeom>
              <a:avLst/>
              <a:gdLst>
                <a:gd name="T0" fmla="*/ 0 w 528"/>
                <a:gd name="T1" fmla="*/ 0 h 1440"/>
                <a:gd name="T2" fmla="*/ 4 w 528"/>
                <a:gd name="T3" fmla="*/ 2422 h 1440"/>
                <a:gd name="T4" fmla="*/ 4 w 528"/>
                <a:gd name="T5" fmla="*/ 6619 h 1440"/>
                <a:gd name="T6" fmla="*/ 0 w 528"/>
                <a:gd name="T7" fmla="*/ 4184 h 1440"/>
                <a:gd name="T8" fmla="*/ 0 w 528"/>
                <a:gd name="T9" fmla="*/ 0 h 1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440"/>
                <a:gd name="T17" fmla="*/ 528 w 528"/>
                <a:gd name="T18" fmla="*/ 1440 h 1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440">
                  <a:moveTo>
                    <a:pt x="0" y="0"/>
                  </a:moveTo>
                  <a:lnTo>
                    <a:pt x="528" y="528"/>
                  </a:lnTo>
                  <a:lnTo>
                    <a:pt x="528" y="1440"/>
                  </a:lnTo>
                  <a:lnTo>
                    <a:pt x="0" y="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72" name="Text Box 73">
              <a:extLst>
                <a:ext uri="{FF2B5EF4-FFF2-40B4-BE49-F238E27FC236}">
                  <a16:creationId xmlns:a16="http://schemas.microsoft.com/office/drawing/2014/main" id="{07F4EEA3-5D34-4395-9446-2D0C68A37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5" y="1681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FFFF00"/>
                  </a:solidFill>
                </a:rPr>
                <a:t>屏</a:t>
              </a:r>
            </a:p>
          </p:txBody>
        </p:sp>
      </p:grpSp>
      <p:grpSp>
        <p:nvGrpSpPr>
          <p:cNvPr id="3" name="Group 71">
            <a:extLst>
              <a:ext uri="{FF2B5EF4-FFF2-40B4-BE49-F238E27FC236}">
                <a16:creationId xmlns:a16="http://schemas.microsoft.com/office/drawing/2014/main" id="{F2604541-9C67-4A78-AC06-6D0E3E1F85BF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1771650"/>
            <a:ext cx="725488" cy="2514600"/>
            <a:chOff x="4224" y="1152"/>
            <a:chExt cx="457" cy="1584"/>
          </a:xfrm>
        </p:grpSpPr>
        <p:sp>
          <p:nvSpPr>
            <p:cNvPr id="55" name="Freeform 72">
              <a:extLst>
                <a:ext uri="{FF2B5EF4-FFF2-40B4-BE49-F238E27FC236}">
                  <a16:creationId xmlns:a16="http://schemas.microsoft.com/office/drawing/2014/main" id="{07091EE5-D7DC-4B78-A5FF-C51888973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152"/>
              <a:ext cx="384" cy="1584"/>
            </a:xfrm>
            <a:custGeom>
              <a:avLst/>
              <a:gdLst>
                <a:gd name="T0" fmla="*/ 0 w 528"/>
                <a:gd name="T1" fmla="*/ 0 h 1440"/>
                <a:gd name="T2" fmla="*/ 528 w 528"/>
                <a:gd name="T3" fmla="*/ 528 h 1440"/>
                <a:gd name="T4" fmla="*/ 528 w 528"/>
                <a:gd name="T5" fmla="*/ 1440 h 1440"/>
                <a:gd name="T6" fmla="*/ 0 w 528"/>
                <a:gd name="T7" fmla="*/ 912 h 1440"/>
                <a:gd name="T8" fmla="*/ 0 w 528"/>
                <a:gd name="T9" fmla="*/ 0 h 1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440"/>
                <a:gd name="T17" fmla="*/ 528 w 528"/>
                <a:gd name="T18" fmla="*/ 1440 h 1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440">
                  <a:moveTo>
                    <a:pt x="0" y="0"/>
                  </a:moveTo>
                  <a:lnTo>
                    <a:pt x="528" y="528"/>
                  </a:lnTo>
                  <a:lnTo>
                    <a:pt x="528" y="1440"/>
                  </a:lnTo>
                  <a:lnTo>
                    <a:pt x="0" y="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4870" name="Text Box 73">
              <a:extLst>
                <a:ext uri="{FF2B5EF4-FFF2-40B4-BE49-F238E27FC236}">
                  <a16:creationId xmlns:a16="http://schemas.microsoft.com/office/drawing/2014/main" id="{194BF985-A46F-4F01-9E4A-36CE0E4C1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" y="1681"/>
              <a:ext cx="31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000FF"/>
                  </a:solidFill>
                </a:rPr>
                <a:t>屏</a:t>
              </a:r>
            </a:p>
          </p:txBody>
        </p:sp>
      </p:grpSp>
      <p:sp>
        <p:nvSpPr>
          <p:cNvPr id="21" name="Oval 53">
            <a:extLst>
              <a:ext uri="{FF2B5EF4-FFF2-40B4-BE49-F238E27FC236}">
                <a16:creationId xmlns:a16="http://schemas.microsoft.com/office/drawing/2014/main" id="{F99B63BE-7AC2-4225-BCE0-EC15311C3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2405063"/>
            <a:ext cx="533400" cy="1295400"/>
          </a:xfrm>
          <a:prstGeom prst="ellipse">
            <a:avLst/>
          </a:prstGeom>
          <a:solidFill>
            <a:srgbClr val="CCECFF"/>
          </a:solidFill>
          <a:ln w="9525">
            <a:round/>
            <a:headEnd/>
            <a:tailEnd/>
          </a:ln>
          <a:scene3d>
            <a:camera prst="legacyPerspectiveFront">
              <a:rot lat="1500000" lon="1799995" rev="0"/>
            </a:camera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0099CC"/>
            </a:extrusionClr>
            <a:contourClr>
              <a:srgbClr val="CCECFF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Oval 54">
            <a:extLst>
              <a:ext uri="{FF2B5EF4-FFF2-40B4-BE49-F238E27FC236}">
                <a16:creationId xmlns:a16="http://schemas.microsoft.com/office/drawing/2014/main" id="{08DB7AAC-8B60-4263-854E-96C754DC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2395538"/>
            <a:ext cx="533400" cy="1295400"/>
          </a:xfrm>
          <a:prstGeom prst="ellipse">
            <a:avLst/>
          </a:prstGeom>
          <a:solidFill>
            <a:srgbClr val="CCECFF"/>
          </a:solidFill>
          <a:ln w="9525">
            <a:round/>
            <a:headEnd/>
            <a:tailEnd/>
          </a:ln>
          <a:scene3d>
            <a:camera prst="legacyPerspectiveFront">
              <a:rot lat="1500000" lon="1799995" rev="0"/>
            </a:camera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0099CC"/>
            </a:extrusionClr>
            <a:contourClr>
              <a:srgbClr val="CCECFF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Line 55">
            <a:extLst>
              <a:ext uri="{FF2B5EF4-FFF2-40B4-BE49-F238E27FC236}">
                <a16:creationId xmlns:a16="http://schemas.microsoft.com/office/drawing/2014/main" id="{532FC815-1758-4A55-82DD-A4B5EA08E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3038475"/>
            <a:ext cx="2160587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Text Box 56">
            <a:extLst>
              <a:ext uri="{FF2B5EF4-FFF2-40B4-BE49-F238E27FC236}">
                <a16:creationId xmlns:a16="http://schemas.microsoft.com/office/drawing/2014/main" id="{EB38039B-6BD8-4230-BA4F-44C9C981D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300" y="332656"/>
            <a:ext cx="5035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66FF33"/>
                </a:solidFill>
              </a:rPr>
              <a:t>§</a:t>
            </a:r>
            <a:r>
              <a:rPr lang="en-US" altLang="zh-CN" sz="3200" dirty="0">
                <a:solidFill>
                  <a:srgbClr val="66FF33"/>
                </a:solidFill>
                <a:ea typeface="黑体" panose="02010609060101010101" pitchFamily="49" charset="-122"/>
              </a:rPr>
              <a:t>14.15</a:t>
            </a:r>
            <a:r>
              <a:rPr lang="en-US" altLang="zh-CN" sz="3200" dirty="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dirty="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旋光效应简介</a:t>
            </a:r>
            <a:endParaRPr lang="zh-CN" altLang="en-US" sz="3200" dirty="0">
              <a:solidFill>
                <a:srgbClr val="66FF33"/>
              </a:solidFill>
              <a:latin typeface="方正书宋简体"/>
            </a:endParaRPr>
          </a:p>
        </p:txBody>
      </p:sp>
      <p:sp>
        <p:nvSpPr>
          <p:cNvPr id="25" name="Text Box 57">
            <a:extLst>
              <a:ext uri="{FF2B5EF4-FFF2-40B4-BE49-F238E27FC236}">
                <a16:creationId xmlns:a16="http://schemas.microsoft.com/office/drawing/2014/main" id="{30A89363-903C-4296-84CD-8EFD7E814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980728"/>
            <a:ext cx="363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dirty="0">
                <a:solidFill>
                  <a:srgbClr val="FFFF00"/>
                </a:solidFill>
                <a:latin typeface="黑体" panose="02010609060101010101" pitchFamily="49" charset="-122"/>
              </a:rPr>
              <a:t>一</a:t>
            </a:r>
            <a:r>
              <a:rPr lang="en-US" altLang="zh-CN" sz="2800" dirty="0">
                <a:solidFill>
                  <a:srgbClr val="FFFF00"/>
                </a:solidFill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</a:rPr>
              <a:t>旋光效应</a:t>
            </a:r>
            <a:r>
              <a:rPr lang="zh-CN" altLang="en-US" sz="2800" dirty="0">
                <a:solidFill>
                  <a:srgbClr val="FFFF00"/>
                </a:solidFill>
                <a:latin typeface="黑体" panose="02010609060101010101" pitchFamily="49" charset="-122"/>
              </a:rPr>
              <a:t>实验</a:t>
            </a:r>
          </a:p>
        </p:txBody>
      </p:sp>
      <p:sp>
        <p:nvSpPr>
          <p:cNvPr id="26" name="Text Box 58">
            <a:extLst>
              <a:ext uri="{FF2B5EF4-FFF2-40B4-BE49-F238E27FC236}">
                <a16:creationId xmlns:a16="http://schemas.microsoft.com/office/drawing/2014/main" id="{853AA5C7-F199-478A-B270-834F2776A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1633538"/>
            <a:ext cx="229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实验装置</a:t>
            </a:r>
          </a:p>
        </p:txBody>
      </p:sp>
      <p:sp>
        <p:nvSpPr>
          <p:cNvPr id="27" name="Text Box 59">
            <a:extLst>
              <a:ext uri="{FF2B5EF4-FFF2-40B4-BE49-F238E27FC236}">
                <a16:creationId xmlns:a16="http://schemas.microsoft.com/office/drawing/2014/main" id="{5949262E-E63F-4859-AA27-172960D4E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729038"/>
            <a:ext cx="170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偏振片</a:t>
            </a:r>
            <a:r>
              <a:rPr lang="en-US" altLang="zh-CN" sz="2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Line 60">
            <a:extLst>
              <a:ext uri="{FF2B5EF4-FFF2-40B4-BE49-F238E27FC236}">
                <a16:creationId xmlns:a16="http://schemas.microsoft.com/office/drawing/2014/main" id="{E9D10695-70D5-458C-A657-95B3E2D50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5963" y="2416175"/>
            <a:ext cx="0" cy="121920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61">
            <a:extLst>
              <a:ext uri="{FF2B5EF4-FFF2-40B4-BE49-F238E27FC236}">
                <a16:creationId xmlns:a16="http://schemas.microsoft.com/office/drawing/2014/main" id="{538B8DE9-A4C5-4DD0-BD59-482AA2AC5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988" y="3795713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偏振片</a:t>
            </a:r>
            <a:r>
              <a:rPr lang="en-US" altLang="zh-CN" sz="200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4" name="Group 62">
            <a:extLst>
              <a:ext uri="{FF2B5EF4-FFF2-40B4-BE49-F238E27FC236}">
                <a16:creationId xmlns:a16="http://schemas.microsoft.com/office/drawing/2014/main" id="{A81AB9E1-8EF1-4056-AC96-E9CAA288ED8C}"/>
              </a:ext>
            </a:extLst>
          </p:cNvPr>
          <p:cNvGrpSpPr>
            <a:grpSpLocks/>
          </p:cNvGrpSpPr>
          <p:nvPr/>
        </p:nvGrpSpPr>
        <p:grpSpPr bwMode="auto">
          <a:xfrm>
            <a:off x="935038" y="2852738"/>
            <a:ext cx="1008062" cy="304800"/>
            <a:chOff x="476" y="1680"/>
            <a:chExt cx="635" cy="192"/>
          </a:xfrm>
        </p:grpSpPr>
        <p:sp>
          <p:nvSpPr>
            <p:cNvPr id="34864" name="Line 63">
              <a:extLst>
                <a:ext uri="{FF2B5EF4-FFF2-40B4-BE49-F238E27FC236}">
                  <a16:creationId xmlns:a16="http://schemas.microsoft.com/office/drawing/2014/main" id="{0CF215C3-37B6-4618-A82B-EEAB9F3B7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1776"/>
              <a:ext cx="635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65" name="Object 12">
              <a:extLst>
                <a:ext uri="{FF2B5EF4-FFF2-40B4-BE49-F238E27FC236}">
                  <a16:creationId xmlns:a16="http://schemas.microsoft.com/office/drawing/2014/main" id="{BE215010-B044-4A31-BF46-0EB362E980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6" y="1709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73" name="Equation" r:id="rId4" imgW="85629" imgH="95216" progId="Equation.3">
                    <p:embed/>
                  </p:oleObj>
                </mc:Choice>
                <mc:Fallback>
                  <p:oleObj name="Equation" r:id="rId4" imgW="85629" imgH="95216" progId="Equation.3">
                    <p:embed/>
                    <p:pic>
                      <p:nvPicPr>
                        <p:cNvPr id="34865" name="Object 12">
                          <a:extLst>
                            <a:ext uri="{FF2B5EF4-FFF2-40B4-BE49-F238E27FC236}">
                              <a16:creationId xmlns:a16="http://schemas.microsoft.com/office/drawing/2014/main" id="{BE215010-B044-4A31-BF46-0EB362E980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" y="1709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6" name="Object 13">
              <a:extLst>
                <a:ext uri="{FF2B5EF4-FFF2-40B4-BE49-F238E27FC236}">
                  <a16:creationId xmlns:a16="http://schemas.microsoft.com/office/drawing/2014/main" id="{60C04F5C-14D5-4E25-8776-A8A2A95FC2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5" y="1709"/>
            <a:ext cx="12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74" name="Equation" r:id="rId6" imgW="85629" imgH="95216" progId="Equation.3">
                    <p:embed/>
                  </p:oleObj>
                </mc:Choice>
                <mc:Fallback>
                  <p:oleObj name="Equation" r:id="rId6" imgW="85629" imgH="95216" progId="Equation.3">
                    <p:embed/>
                    <p:pic>
                      <p:nvPicPr>
                        <p:cNvPr id="34866" name="Object 13">
                          <a:extLst>
                            <a:ext uri="{FF2B5EF4-FFF2-40B4-BE49-F238E27FC236}">
                              <a16:creationId xmlns:a16="http://schemas.microsoft.com/office/drawing/2014/main" id="{60C04F5C-14D5-4E25-8776-A8A2A95FC2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" y="1709"/>
                          <a:ext cx="122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7" name="Line 66">
              <a:extLst>
                <a:ext uri="{FF2B5EF4-FFF2-40B4-BE49-F238E27FC236}">
                  <a16:creationId xmlns:a16="http://schemas.microsoft.com/office/drawing/2014/main" id="{4749CEFA-5EBD-4006-BE1E-DE98EAD3C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" y="1680"/>
              <a:ext cx="0" cy="192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8" name="Line 67">
              <a:extLst>
                <a:ext uri="{FF2B5EF4-FFF2-40B4-BE49-F238E27FC236}">
                  <a16:creationId xmlns:a16="http://schemas.microsoft.com/office/drawing/2014/main" id="{F235C1EC-6B02-4C53-A754-82F3E7465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" y="1680"/>
              <a:ext cx="0" cy="192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Text Box 68">
            <a:extLst>
              <a:ext uri="{FF2B5EF4-FFF2-40B4-BE49-F238E27FC236}">
                <a16:creationId xmlns:a16="http://schemas.microsoft.com/office/drawing/2014/main" id="{78CB37AC-85CE-4413-AE2D-32C04BDA1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4311650"/>
            <a:ext cx="2614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66FFFF"/>
                </a:solidFill>
              </a:rPr>
              <a:t>2. </a:t>
            </a:r>
            <a:r>
              <a:rPr lang="zh-CN" altLang="en-US" dirty="0">
                <a:solidFill>
                  <a:srgbClr val="66FFFF"/>
                </a:solidFill>
              </a:rPr>
              <a:t>实验结果</a:t>
            </a:r>
          </a:p>
        </p:txBody>
      </p:sp>
      <p:sp>
        <p:nvSpPr>
          <p:cNvPr id="37" name="Text Box 69">
            <a:extLst>
              <a:ext uri="{FF2B5EF4-FFF2-40B4-BE49-F238E27FC236}">
                <a16:creationId xmlns:a16="http://schemas.microsoft.com/office/drawing/2014/main" id="{E2B45FA7-7E0D-4CF8-A7AB-9327DBDE6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4781550"/>
            <a:ext cx="82280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从石英晶片出射的是线偏振</a:t>
            </a:r>
            <a:r>
              <a:rPr lang="zh-CN" altLang="en-US">
                <a:solidFill>
                  <a:schemeClr val="bg1"/>
                </a:solidFill>
                <a:sym typeface="Wingdings" panose="05000000000000000000" pitchFamily="2" charset="2"/>
              </a:rPr>
              <a:t>光，振动面旋转了一个角度。</a:t>
            </a:r>
            <a:r>
              <a:rPr lang="zh-CN" altLang="en-US">
                <a:solidFill>
                  <a:schemeClr val="bg1"/>
                </a:solidFill>
              </a:rPr>
              <a:t>石英晶片具有旋光性。</a:t>
            </a:r>
          </a:p>
        </p:txBody>
      </p:sp>
      <p:sp>
        <p:nvSpPr>
          <p:cNvPr id="38" name="Text Box 70">
            <a:extLst>
              <a:ext uri="{FF2B5EF4-FFF2-40B4-BE49-F238E27FC236}">
                <a16:creationId xmlns:a16="http://schemas.microsoft.com/office/drawing/2014/main" id="{B486B95A-FB92-4CB4-9798-430D6A5C0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5834063"/>
            <a:ext cx="8256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两类旋光物质</a:t>
            </a:r>
            <a:r>
              <a:rPr lang="en-US" altLang="zh-CN">
                <a:solidFill>
                  <a:schemeClr val="bg1"/>
                </a:solidFill>
              </a:rPr>
              <a:t>: </a:t>
            </a:r>
            <a:r>
              <a:rPr lang="zh-CN" altLang="en-US">
                <a:solidFill>
                  <a:schemeClr val="bg1"/>
                </a:solidFill>
              </a:rPr>
              <a:t>左旋光物质和右旋光物质（面向光传播方向）</a:t>
            </a:r>
          </a:p>
        </p:txBody>
      </p:sp>
      <p:sp>
        <p:nvSpPr>
          <p:cNvPr id="42" name="AutoShape 74">
            <a:extLst>
              <a:ext uri="{FF2B5EF4-FFF2-40B4-BE49-F238E27FC236}">
                <a16:creationId xmlns:a16="http://schemas.microsoft.com/office/drawing/2014/main" id="{7C19856C-7DE7-450E-B07C-63B324A35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2166938"/>
            <a:ext cx="1143000" cy="733425"/>
          </a:xfrm>
          <a:prstGeom prst="curvedDownArrow">
            <a:avLst>
              <a:gd name="adj1" fmla="val 23810"/>
              <a:gd name="adj2" fmla="val 60173"/>
              <a:gd name="adj3" fmla="val 2619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" name="Line 75">
            <a:extLst>
              <a:ext uri="{FF2B5EF4-FFF2-40B4-BE49-F238E27FC236}">
                <a16:creationId xmlns:a16="http://schemas.microsoft.com/office/drawing/2014/main" id="{5FF10080-3CE7-46A5-BCE5-A4CCFAE5A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5525" y="3028950"/>
            <a:ext cx="14478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Rectangle 76">
            <a:extLst>
              <a:ext uri="{FF2B5EF4-FFF2-40B4-BE49-F238E27FC236}">
                <a16:creationId xmlns:a16="http://schemas.microsoft.com/office/drawing/2014/main" id="{0752B8CC-43AD-47F1-B480-9C00A278A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4724400"/>
            <a:ext cx="3635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>
                <a:solidFill>
                  <a:srgbClr val="FFFF66"/>
                </a:solidFill>
              </a:rPr>
              <a:t>•</a:t>
            </a:r>
          </a:p>
        </p:txBody>
      </p:sp>
      <p:sp>
        <p:nvSpPr>
          <p:cNvPr id="45" name="Rectangle 77">
            <a:extLst>
              <a:ext uri="{FF2B5EF4-FFF2-40B4-BE49-F238E27FC236}">
                <a16:creationId xmlns:a16="http://schemas.microsoft.com/office/drawing/2014/main" id="{E235DEAC-08D0-451D-ADBE-3E1C01048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727700"/>
            <a:ext cx="3635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>
                <a:solidFill>
                  <a:srgbClr val="FFFF66"/>
                </a:solidFill>
              </a:rPr>
              <a:t>•</a:t>
            </a:r>
          </a:p>
        </p:txBody>
      </p:sp>
      <p:sp>
        <p:nvSpPr>
          <p:cNvPr id="46" name="Line 78">
            <a:extLst>
              <a:ext uri="{FF2B5EF4-FFF2-40B4-BE49-F238E27FC236}">
                <a16:creationId xmlns:a16="http://schemas.microsoft.com/office/drawing/2014/main" id="{FDE72BA3-CF8C-4DCB-BB24-8D42D6A6B9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4050" y="3038475"/>
            <a:ext cx="1223963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79">
            <a:extLst>
              <a:ext uri="{FF2B5EF4-FFF2-40B4-BE49-F238E27FC236}">
                <a16:creationId xmlns:a16="http://schemas.microsoft.com/office/drawing/2014/main" id="{986B42D0-D64E-4021-9900-11F8F35F26CB}"/>
              </a:ext>
            </a:extLst>
          </p:cNvPr>
          <p:cNvGrpSpPr>
            <a:grpSpLocks/>
          </p:cNvGrpSpPr>
          <p:nvPr/>
        </p:nvGrpSpPr>
        <p:grpSpPr bwMode="auto">
          <a:xfrm>
            <a:off x="2374900" y="2894013"/>
            <a:ext cx="431800" cy="304800"/>
            <a:chOff x="1383" y="1706"/>
            <a:chExt cx="272" cy="192"/>
          </a:xfrm>
        </p:grpSpPr>
        <p:sp>
          <p:nvSpPr>
            <p:cNvPr id="34861" name="Line 80">
              <a:extLst>
                <a:ext uri="{FF2B5EF4-FFF2-40B4-BE49-F238E27FC236}">
                  <a16:creationId xmlns:a16="http://schemas.microsoft.com/office/drawing/2014/main" id="{FFAAFF7A-6BB0-4498-A835-4FE7FB75B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706"/>
              <a:ext cx="0" cy="192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2" name="Line 81">
              <a:extLst>
                <a:ext uri="{FF2B5EF4-FFF2-40B4-BE49-F238E27FC236}">
                  <a16:creationId xmlns:a16="http://schemas.microsoft.com/office/drawing/2014/main" id="{FF5A50C1-DB3C-4274-AEF0-3DD83364A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1706"/>
              <a:ext cx="0" cy="192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3" name="Line 82">
              <a:extLst>
                <a:ext uri="{FF2B5EF4-FFF2-40B4-BE49-F238E27FC236}">
                  <a16:creationId xmlns:a16="http://schemas.microsoft.com/office/drawing/2014/main" id="{DF24485A-9CDD-4B45-B80A-71DA8FC8F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1706"/>
              <a:ext cx="0" cy="192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89" name="Line 83">
            <a:extLst>
              <a:ext uri="{FF2B5EF4-FFF2-40B4-BE49-F238E27FC236}">
                <a16:creationId xmlns:a16="http://schemas.microsoft.com/office/drawing/2014/main" id="{53622B7C-EB62-4247-B025-97B5C8437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2827338"/>
            <a:ext cx="431800" cy="433387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84">
            <a:extLst>
              <a:ext uri="{FF2B5EF4-FFF2-40B4-BE49-F238E27FC236}">
                <a16:creationId xmlns:a16="http://schemas.microsoft.com/office/drawing/2014/main" id="{D06C66D2-2915-458D-9AE0-73B88C5A1E17}"/>
              </a:ext>
            </a:extLst>
          </p:cNvPr>
          <p:cNvGrpSpPr>
            <a:grpSpLocks/>
          </p:cNvGrpSpPr>
          <p:nvPr/>
        </p:nvGrpSpPr>
        <p:grpSpPr bwMode="auto">
          <a:xfrm>
            <a:off x="2878138" y="2462213"/>
            <a:ext cx="1730375" cy="1079500"/>
            <a:chOff x="1813" y="1434"/>
            <a:chExt cx="1090" cy="680"/>
          </a:xfrm>
        </p:grpSpPr>
        <p:sp>
          <p:nvSpPr>
            <p:cNvPr id="34856" name="AutoShape 85">
              <a:extLst>
                <a:ext uri="{FF2B5EF4-FFF2-40B4-BE49-F238E27FC236}">
                  <a16:creationId xmlns:a16="http://schemas.microsoft.com/office/drawing/2014/main" id="{3A536485-5C3E-4246-8AE7-A4A851534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1434"/>
              <a:ext cx="1089" cy="680"/>
            </a:xfrm>
            <a:prstGeom prst="cube">
              <a:avLst>
                <a:gd name="adj" fmla="val 26667"/>
              </a:avLst>
            </a:prstGeom>
            <a:solidFill>
              <a:srgbClr val="969696">
                <a:alpha val="50980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4857" name="Group 86">
              <a:extLst>
                <a:ext uri="{FF2B5EF4-FFF2-40B4-BE49-F238E27FC236}">
                  <a16:creationId xmlns:a16="http://schemas.microsoft.com/office/drawing/2014/main" id="{D2BE318E-5847-401E-B118-EBC379A70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4" y="1525"/>
              <a:ext cx="1089" cy="454"/>
              <a:chOff x="1701" y="1525"/>
              <a:chExt cx="1089" cy="454"/>
            </a:xfrm>
          </p:grpSpPr>
          <p:sp>
            <p:nvSpPr>
              <p:cNvPr id="34858" name="Line 87">
                <a:extLst>
                  <a:ext uri="{FF2B5EF4-FFF2-40B4-BE49-F238E27FC236}">
                    <a16:creationId xmlns:a16="http://schemas.microsoft.com/office/drawing/2014/main" id="{D7A82AE9-3001-4A10-96F6-F0EA3587B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1979"/>
                <a:ext cx="998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59" name="Line 88">
                <a:extLst>
                  <a:ext uri="{FF2B5EF4-FFF2-40B4-BE49-F238E27FC236}">
                    <a16:creationId xmlns:a16="http://schemas.microsoft.com/office/drawing/2014/main" id="{4A79C711-1AB8-4AA9-AF6E-8857DE555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1525"/>
                <a:ext cx="999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0" name="Line 89">
                <a:extLst>
                  <a:ext uri="{FF2B5EF4-FFF2-40B4-BE49-F238E27FC236}">
                    <a16:creationId xmlns:a16="http://schemas.microsoft.com/office/drawing/2014/main" id="{AFA74F48-5B9A-43A4-8648-00675236B2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1706"/>
                <a:ext cx="1043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90">
            <a:extLst>
              <a:ext uri="{FF2B5EF4-FFF2-40B4-BE49-F238E27FC236}">
                <a16:creationId xmlns:a16="http://schemas.microsoft.com/office/drawing/2014/main" id="{D50EC81F-0A84-469D-95C3-209765E4D393}"/>
              </a:ext>
            </a:extLst>
          </p:cNvPr>
          <p:cNvGrpSpPr>
            <a:grpSpLocks/>
          </p:cNvGrpSpPr>
          <p:nvPr/>
        </p:nvGrpSpPr>
        <p:grpSpPr bwMode="auto">
          <a:xfrm>
            <a:off x="6407154" y="2904431"/>
            <a:ext cx="792163" cy="236537"/>
            <a:chOff x="4040" y="1706"/>
            <a:chExt cx="499" cy="149"/>
          </a:xfrm>
        </p:grpSpPr>
        <p:sp>
          <p:nvSpPr>
            <p:cNvPr id="34853" name="Line 91">
              <a:extLst>
                <a:ext uri="{FF2B5EF4-FFF2-40B4-BE49-F238E27FC236}">
                  <a16:creationId xmlns:a16="http://schemas.microsoft.com/office/drawing/2014/main" id="{F789B50D-DB5C-40DB-9A61-90970844A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0" y="1719"/>
              <a:ext cx="161" cy="136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4" name="Line 92">
              <a:extLst>
                <a:ext uri="{FF2B5EF4-FFF2-40B4-BE49-F238E27FC236}">
                  <a16:creationId xmlns:a16="http://schemas.microsoft.com/office/drawing/2014/main" id="{AC16921D-989C-4440-AD83-22181C094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1706"/>
              <a:ext cx="177" cy="136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5" name="Line 93">
              <a:extLst>
                <a:ext uri="{FF2B5EF4-FFF2-40B4-BE49-F238E27FC236}">
                  <a16:creationId xmlns:a16="http://schemas.microsoft.com/office/drawing/2014/main" id="{9A56582F-56D6-4ACD-9D0F-5374099FB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1706"/>
              <a:ext cx="162" cy="136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94">
            <a:extLst>
              <a:ext uri="{FF2B5EF4-FFF2-40B4-BE49-F238E27FC236}">
                <a16:creationId xmlns:a16="http://schemas.microsoft.com/office/drawing/2014/main" id="{25ED7D51-E67C-42B2-A3C9-2D46EE277D50}"/>
              </a:ext>
            </a:extLst>
          </p:cNvPr>
          <p:cNvGrpSpPr>
            <a:grpSpLocks/>
          </p:cNvGrpSpPr>
          <p:nvPr/>
        </p:nvGrpSpPr>
        <p:grpSpPr bwMode="auto">
          <a:xfrm>
            <a:off x="4732342" y="2890843"/>
            <a:ext cx="571500" cy="296863"/>
            <a:chOff x="2868" y="1704"/>
            <a:chExt cx="360" cy="187"/>
          </a:xfrm>
        </p:grpSpPr>
        <p:sp>
          <p:nvSpPr>
            <p:cNvPr id="34850" name="Line 95">
              <a:extLst>
                <a:ext uri="{FF2B5EF4-FFF2-40B4-BE49-F238E27FC236}">
                  <a16:creationId xmlns:a16="http://schemas.microsoft.com/office/drawing/2014/main" id="{E62E1869-72C0-4D22-B8D0-31A7AB09DE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50180">
              <a:off x="3002" y="1704"/>
              <a:ext cx="85" cy="186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1" name="Line 96">
              <a:extLst>
                <a:ext uri="{FF2B5EF4-FFF2-40B4-BE49-F238E27FC236}">
                  <a16:creationId xmlns:a16="http://schemas.microsoft.com/office/drawing/2014/main" id="{6C992CCD-042E-4782-9A40-7A9E6F06D3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50180">
              <a:off x="2868" y="1704"/>
              <a:ext cx="84" cy="187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2" name="Line 97">
              <a:extLst>
                <a:ext uri="{FF2B5EF4-FFF2-40B4-BE49-F238E27FC236}">
                  <a16:creationId xmlns:a16="http://schemas.microsoft.com/office/drawing/2014/main" id="{A31C92D6-F312-492D-882C-9809B91974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50180">
              <a:off x="3140" y="1704"/>
              <a:ext cx="88" cy="185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" name="Text Box 98">
            <a:extLst>
              <a:ext uri="{FF2B5EF4-FFF2-40B4-BE49-F238E27FC236}">
                <a16:creationId xmlns:a16="http://schemas.microsoft.com/office/drawing/2014/main" id="{8B3B7400-8BE7-4C15-95D3-05985EA24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6263" y="374015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石英晶片</a:t>
            </a:r>
          </a:p>
        </p:txBody>
      </p:sp>
      <p:grpSp>
        <p:nvGrpSpPr>
          <p:cNvPr id="10" name="Group 99">
            <a:extLst>
              <a:ext uri="{FF2B5EF4-FFF2-40B4-BE49-F238E27FC236}">
                <a16:creationId xmlns:a16="http://schemas.microsoft.com/office/drawing/2014/main" id="{8C05FF14-C939-4F01-9EA5-9E33007EDCAF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1958975"/>
            <a:ext cx="1441450" cy="576263"/>
            <a:chOff x="1927" y="1117"/>
            <a:chExt cx="908" cy="363"/>
          </a:xfrm>
        </p:grpSpPr>
        <p:sp>
          <p:nvSpPr>
            <p:cNvPr id="34846" name="Line 100">
              <a:extLst>
                <a:ext uri="{FF2B5EF4-FFF2-40B4-BE49-F238E27FC236}">
                  <a16:creationId xmlns:a16="http://schemas.microsoft.com/office/drawing/2014/main" id="{2EB366F8-CCA0-4EDA-810C-E49CF6568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1253"/>
              <a:ext cx="0" cy="227"/>
            </a:xfrm>
            <a:prstGeom prst="line">
              <a:avLst/>
            </a:prstGeom>
            <a:noFill/>
            <a:ln w="19050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7" name="Line 101">
              <a:extLst>
                <a:ext uri="{FF2B5EF4-FFF2-40B4-BE49-F238E27FC236}">
                  <a16:creationId xmlns:a16="http://schemas.microsoft.com/office/drawing/2014/main" id="{EFF8C0BB-517B-4C06-9D69-8AEE34D6F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53"/>
              <a:ext cx="0" cy="227"/>
            </a:xfrm>
            <a:prstGeom prst="line">
              <a:avLst/>
            </a:prstGeom>
            <a:noFill/>
            <a:ln w="19050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8" name="Line 102">
              <a:extLst>
                <a:ext uri="{FF2B5EF4-FFF2-40B4-BE49-F238E27FC236}">
                  <a16:creationId xmlns:a16="http://schemas.microsoft.com/office/drawing/2014/main" id="{D7D3122C-CE32-48CD-BD3C-B0BFD75A6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1344"/>
              <a:ext cx="908" cy="0"/>
            </a:xfrm>
            <a:prstGeom prst="line">
              <a:avLst/>
            </a:prstGeom>
            <a:noFill/>
            <a:ln w="19050">
              <a:solidFill>
                <a:srgbClr val="00CC99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49" name="Object 14">
              <a:extLst>
                <a:ext uri="{FF2B5EF4-FFF2-40B4-BE49-F238E27FC236}">
                  <a16:creationId xmlns:a16="http://schemas.microsoft.com/office/drawing/2014/main" id="{E5B4A74F-AD1B-4374-B4ED-25728880CD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0" y="1117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75" name="公式" r:id="rId8" imgW="228753" imgH="285648" progId="Equation.3">
                    <p:embed/>
                  </p:oleObj>
                </mc:Choice>
                <mc:Fallback>
                  <p:oleObj name="公式" r:id="rId8" imgW="228753" imgH="285648" progId="Equation.3">
                    <p:embed/>
                    <p:pic>
                      <p:nvPicPr>
                        <p:cNvPr id="34849" name="Object 14">
                          <a:extLst>
                            <a:ext uri="{FF2B5EF4-FFF2-40B4-BE49-F238E27FC236}">
                              <a16:creationId xmlns:a16="http://schemas.microsoft.com/office/drawing/2014/main" id="{E5B4A74F-AD1B-4374-B4ED-25728880CD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117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5" name="灯片编号占位符 1">
            <a:extLst>
              <a:ext uri="{FF2B5EF4-FFF2-40B4-BE49-F238E27FC236}">
                <a16:creationId xmlns:a16="http://schemas.microsoft.com/office/drawing/2014/main" id="{51946425-525C-47C2-9A2E-47CBD8C739E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CE06F6-F4D6-41C1-8286-BD88B9A9E674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utoUpdateAnimBg="0"/>
      <p:bldP spid="25" grpId="0" autoUpdateAnimBg="0"/>
      <p:bldP spid="26" grpId="0" autoUpdateAnimBg="0"/>
      <p:bldP spid="27" grpId="0" autoUpdateAnimBg="0"/>
      <p:bldP spid="29" grpId="0" autoUpdateAnimBg="0"/>
      <p:bldP spid="36" grpId="0" autoUpdateAnimBg="0"/>
      <p:bldP spid="37" grpId="0" autoUpdateAnimBg="0"/>
      <p:bldP spid="38" grpId="0" autoUpdateAnimBg="0"/>
      <p:bldP spid="42" grpId="0" animBg="1"/>
      <p:bldP spid="44" grpId="0"/>
      <p:bldP spid="45" grpId="0"/>
      <p:bldP spid="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5">
            <a:extLst>
              <a:ext uri="{FF2B5EF4-FFF2-40B4-BE49-F238E27FC236}">
                <a16:creationId xmlns:a16="http://schemas.microsoft.com/office/drawing/2014/main" id="{CF7714B1-7B49-4C26-A35A-9058DAD26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215157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dirty="0">
                <a:solidFill>
                  <a:srgbClr val="FFFF66"/>
                </a:solidFill>
              </a:rPr>
              <a:t>•</a:t>
            </a:r>
          </a:p>
        </p:txBody>
      </p:sp>
      <p:sp>
        <p:nvSpPr>
          <p:cNvPr id="36867" name="Rectangle 46">
            <a:extLst>
              <a:ext uri="{FF2B5EF4-FFF2-40B4-BE49-F238E27FC236}">
                <a16:creationId xmlns:a16="http://schemas.microsoft.com/office/drawing/2014/main" id="{922ADBB1-6301-4758-9C59-F84633CF0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07045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dirty="0">
                <a:solidFill>
                  <a:srgbClr val="FFFF66"/>
                </a:solidFill>
              </a:rPr>
              <a:t>•</a:t>
            </a:r>
          </a:p>
        </p:txBody>
      </p:sp>
      <p:sp>
        <p:nvSpPr>
          <p:cNvPr id="36868" name="Text Box 47">
            <a:extLst>
              <a:ext uri="{FF2B5EF4-FFF2-40B4-BE49-F238E27FC236}">
                <a16:creationId xmlns:a16="http://schemas.microsoft.com/office/drawing/2014/main" id="{6B792B47-0055-49D8-A4CA-B7D7D78BF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06115"/>
            <a:ext cx="7569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天然旋光物质中，光的振动面旋转的角度 </a:t>
            </a:r>
            <a:r>
              <a:rPr lang="el-GR" altLang="zh-CN" i="1" dirty="0">
                <a:solidFill>
                  <a:srgbClr val="66FF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i="1" dirty="0">
                <a:solidFill>
                  <a:srgbClr val="66FF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与光经过旋光物质的厚度</a:t>
            </a:r>
            <a:r>
              <a:rPr lang="zh-CN" altLang="en-US" dirty="0">
                <a:solidFill>
                  <a:srgbClr val="66FFFF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d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成正比</a:t>
            </a:r>
          </a:p>
        </p:txBody>
      </p:sp>
      <p:graphicFrame>
        <p:nvGraphicFramePr>
          <p:cNvPr id="36869" name="Object 6">
            <a:extLst>
              <a:ext uri="{FF2B5EF4-FFF2-40B4-BE49-F238E27FC236}">
                <a16:creationId xmlns:a16="http://schemas.microsoft.com/office/drawing/2014/main" id="{16130EF5-1D7A-4D58-AB10-239F3D5E1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042041"/>
              </p:ext>
            </p:extLst>
          </p:nvPr>
        </p:nvGraphicFramePr>
        <p:xfrm>
          <a:off x="4567970" y="856482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4" name="公式" r:id="rId4" imgW="1000029" imgH="361882" progId="Equation.3">
                  <p:embed/>
                </p:oleObj>
              </mc:Choice>
              <mc:Fallback>
                <p:oleObj name="公式" r:id="rId4" imgW="1000029" imgH="361882" progId="Equation.3">
                  <p:embed/>
                  <p:pic>
                    <p:nvPicPr>
                      <p:cNvPr id="36869" name="Object 6">
                        <a:extLst>
                          <a:ext uri="{FF2B5EF4-FFF2-40B4-BE49-F238E27FC236}">
                            <a16:creationId xmlns:a16="http://schemas.microsoft.com/office/drawing/2014/main" id="{16130EF5-1D7A-4D58-AB10-239F3D5E1C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970" y="856482"/>
                        <a:ext cx="1028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Text Box 49">
            <a:extLst>
              <a:ext uri="{FF2B5EF4-FFF2-40B4-BE49-F238E27FC236}">
                <a16:creationId xmlns:a16="http://schemas.microsoft.com/office/drawing/2014/main" id="{1EBA7FEA-22C6-4A51-8B86-10A6E8A47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173" y="1340340"/>
            <a:ext cx="696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对于有旋光性的溶液，</a:t>
            </a:r>
            <a:r>
              <a:rPr lang="el-GR" altLang="zh-CN" i="1" dirty="0">
                <a:solidFill>
                  <a:srgbClr val="66FFFF"/>
                </a:solidFill>
                <a:sym typeface="Symbol" panose="05050102010706020507" pitchFamily="18" charset="2"/>
              </a:rPr>
              <a:t></a:t>
            </a:r>
            <a:r>
              <a:rPr lang="zh-CN" altLang="en-US" i="1" dirty="0">
                <a:solidFill>
                  <a:srgbClr val="66FFFF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还与溶液的浓度</a:t>
            </a:r>
            <a:r>
              <a:rPr lang="zh-CN" altLang="en-US" dirty="0">
                <a:solidFill>
                  <a:srgbClr val="66FFFF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c </a:t>
            </a:r>
            <a:r>
              <a:rPr lang="zh-CN" altLang="en-US" dirty="0">
                <a:solidFill>
                  <a:schemeClr val="bg1"/>
                </a:solidFill>
              </a:rPr>
              <a:t>成正比</a:t>
            </a:r>
          </a:p>
        </p:txBody>
      </p:sp>
      <p:graphicFrame>
        <p:nvGraphicFramePr>
          <p:cNvPr id="36871" name="Object 7">
            <a:extLst>
              <a:ext uri="{FF2B5EF4-FFF2-40B4-BE49-F238E27FC236}">
                <a16:creationId xmlns:a16="http://schemas.microsoft.com/office/drawing/2014/main" id="{1E18EF20-FF36-43DB-8A74-2C6EC30D87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85285"/>
              </p:ext>
            </p:extLst>
          </p:nvPr>
        </p:nvGraphicFramePr>
        <p:xfrm>
          <a:off x="2699792" y="1955180"/>
          <a:ext cx="1358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5" name="公式" r:id="rId6" imgW="1333373" imgH="361882" progId="Equation.3">
                  <p:embed/>
                </p:oleObj>
              </mc:Choice>
              <mc:Fallback>
                <p:oleObj name="公式" r:id="rId6" imgW="1333373" imgH="361882" progId="Equation.3">
                  <p:embed/>
                  <p:pic>
                    <p:nvPicPr>
                      <p:cNvPr id="36871" name="Object 7">
                        <a:extLst>
                          <a:ext uri="{FF2B5EF4-FFF2-40B4-BE49-F238E27FC236}">
                            <a16:creationId xmlns:a16="http://schemas.microsoft.com/office/drawing/2014/main" id="{1E18EF20-FF36-43DB-8A74-2C6EC30D87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955180"/>
                        <a:ext cx="1358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Text Box 51">
            <a:extLst>
              <a:ext uri="{FF2B5EF4-FFF2-40B4-BE49-F238E27FC236}">
                <a16:creationId xmlns:a16="http://schemas.microsoft.com/office/drawing/2014/main" id="{0CED0394-4641-4094-BDD4-E18FAE19C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21" y="1844824"/>
            <a:ext cx="7727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                                                   </a:t>
            </a:r>
            <a:r>
              <a:rPr lang="el-GR" altLang="zh-CN" i="1" dirty="0">
                <a:solidFill>
                  <a:srgbClr val="66FFFF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66FFFF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称为旋光率，与旋光物质的性质、温度及入射光波长有关。</a:t>
            </a:r>
            <a:endParaRPr lang="zh-CN" altLang="el-GR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36873" name="灯片编号占位符 1">
            <a:extLst>
              <a:ext uri="{FF2B5EF4-FFF2-40B4-BE49-F238E27FC236}">
                <a16:creationId xmlns:a16="http://schemas.microsoft.com/office/drawing/2014/main" id="{9FE14FA1-7AF8-4023-A589-2D137FAA929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AE926EB-1183-46FC-B46F-E2A024AD8935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1852AA-F8D8-4446-AF1A-B4BC30FE07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5191" y="3861048"/>
            <a:ext cx="3949059" cy="2270875"/>
          </a:xfrm>
          <a:prstGeom prst="rect">
            <a:avLst/>
          </a:prstGeom>
        </p:spPr>
      </p:pic>
      <p:sp>
        <p:nvSpPr>
          <p:cNvPr id="11" name="Text Box 49">
            <a:extLst>
              <a:ext uri="{FF2B5EF4-FFF2-40B4-BE49-F238E27FC236}">
                <a16:creationId xmlns:a16="http://schemas.microsoft.com/office/drawing/2014/main" id="{CF3E62F5-8735-4A0D-8456-411C10B6A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272" y="6166465"/>
            <a:ext cx="38731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FF00"/>
                </a:solidFill>
              </a:rPr>
              <a:t>菲涅尔对旋光效应的唯象解释</a:t>
            </a:r>
          </a:p>
        </p:txBody>
      </p:sp>
      <p:sp>
        <p:nvSpPr>
          <p:cNvPr id="12" name="Text Box 51">
            <a:extLst>
              <a:ext uri="{FF2B5EF4-FFF2-40B4-BE49-F238E27FC236}">
                <a16:creationId xmlns:a16="http://schemas.microsoft.com/office/drawing/2014/main" id="{D7266012-BBF5-432E-ADA6-4E915567D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893410"/>
            <a:ext cx="7838287" cy="89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solidFill>
                  <a:srgbClr val="FFFF00"/>
                </a:solidFill>
                <a:cs typeface="Times New Roman" panose="02020603050405020304" pitchFamily="18" charset="0"/>
              </a:rPr>
              <a:t>菲涅尔认为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：线偏振光看作两束等振幅、同频率、旋向相反的圆偏振光（左旋 </a:t>
            </a:r>
            <a:r>
              <a:rPr lang="en-US" altLang="zh-CN" sz="220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2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和右旋 </a:t>
            </a:r>
            <a:r>
              <a:rPr lang="en-US" altLang="zh-CN" sz="220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）的叠加</a:t>
            </a:r>
            <a:endParaRPr lang="zh-CN" altLang="el-GR" sz="22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Text Box 51">
            <a:extLst>
              <a:ext uri="{FF2B5EF4-FFF2-40B4-BE49-F238E27FC236}">
                <a16:creationId xmlns:a16="http://schemas.microsoft.com/office/drawing/2014/main" id="{F638DE0D-7848-4921-9F58-498AB527E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005064"/>
            <a:ext cx="3910540" cy="132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solidFill>
                  <a:srgbClr val="FFFF00"/>
                </a:solidFill>
                <a:cs typeface="Times New Roman" panose="02020603050405020304" pitchFamily="18" charset="0"/>
              </a:rPr>
              <a:t>进入旋光介质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20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L 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和 </a:t>
            </a:r>
            <a:r>
              <a:rPr lang="en-US" altLang="zh-CN" sz="2200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R 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圆偏振光的折射率不同，经过厚度为 </a:t>
            </a:r>
            <a:r>
              <a:rPr lang="en-US" altLang="zh-CN" sz="2200" i="1" dirty="0">
                <a:solidFill>
                  <a:schemeClr val="accent1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2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的旋光介质后</a:t>
            </a:r>
            <a:endParaRPr lang="zh-CN" altLang="el-GR" sz="22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8">
                <a:extLst>
                  <a:ext uri="{FF2B5EF4-FFF2-40B4-BE49-F238E27FC236}">
                    <a16:creationId xmlns:a16="http://schemas.microsoft.com/office/drawing/2014/main" id="{85DAD5C6-504E-43A1-821F-C23F10DF7EE3}"/>
                  </a:ext>
                </a:extLst>
              </p:cNvPr>
              <p:cNvSpPr txBox="1"/>
              <p:nvPr/>
            </p:nvSpPr>
            <p:spPr bwMode="auto">
              <a:xfrm>
                <a:off x="1187450" y="5482232"/>
                <a:ext cx="2608263" cy="8270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altLang="zh-CN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FFFF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4" name="Object 8">
                <a:extLst>
                  <a:ext uri="{FF2B5EF4-FFF2-40B4-BE49-F238E27FC236}">
                    <a16:creationId xmlns:a16="http://schemas.microsoft.com/office/drawing/2014/main" id="{85DAD5C6-504E-43A1-821F-C23F10DF7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450" y="5482232"/>
                <a:ext cx="2608263" cy="8270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Text Box 2"/>
          <p:cNvSpPr txBox="1">
            <a:spLocks noChangeArrowheads="1"/>
          </p:cNvSpPr>
          <p:nvPr/>
        </p:nvSpPr>
        <p:spPr bwMode="auto">
          <a:xfrm>
            <a:off x="571500" y="785813"/>
            <a:ext cx="6362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66FFFF"/>
                </a:solidFill>
              </a:rPr>
              <a:t>1. X</a:t>
            </a:r>
            <a:r>
              <a:rPr lang="zh-CN" altLang="en-US" dirty="0">
                <a:solidFill>
                  <a:srgbClr val="66FFFF"/>
                </a:solidFill>
              </a:rPr>
              <a:t>射线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1895</a:t>
            </a:r>
            <a:r>
              <a:rPr lang="zh-CN" altLang="en-US" dirty="0">
                <a:solidFill>
                  <a:schemeClr val="bg1"/>
                </a:solidFill>
              </a:rPr>
              <a:t>年，德国物理学家伦琴）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472067" name="Text Box 3"/>
          <p:cNvSpPr txBox="1">
            <a:spLocks noChangeArrowheads="1"/>
          </p:cNvSpPr>
          <p:nvPr/>
        </p:nvSpPr>
        <p:spPr bwMode="auto">
          <a:xfrm>
            <a:off x="642938" y="1289050"/>
            <a:ext cx="7788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ea typeface="仿宋_GB2312"/>
                <a:cs typeface="仿宋_GB2312"/>
              </a:rPr>
              <a:t>X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射线是波长很短的电磁波，波长范围在 </a:t>
            </a:r>
            <a:r>
              <a:rPr lang="en-US" altLang="zh-CN">
                <a:solidFill>
                  <a:srgbClr val="00FFFF"/>
                </a:solidFill>
                <a:ea typeface="仿宋_GB2312"/>
                <a:cs typeface="仿宋_GB2312"/>
              </a:rPr>
              <a:t>10</a:t>
            </a:r>
            <a:r>
              <a:rPr lang="en-US" altLang="zh-CN" baseline="30000">
                <a:solidFill>
                  <a:srgbClr val="00FFFF"/>
                </a:solidFill>
                <a:ea typeface="仿宋_GB2312"/>
                <a:cs typeface="仿宋_GB2312"/>
              </a:rPr>
              <a:t>-11</a:t>
            </a:r>
            <a:r>
              <a:rPr lang="en-US" altLang="zh-CN">
                <a:solidFill>
                  <a:srgbClr val="00FFFF"/>
                </a:solidFill>
                <a:ea typeface="仿宋_GB2312"/>
                <a:cs typeface="仿宋_GB2312"/>
              </a:rPr>
              <a:t>m~10</a:t>
            </a:r>
            <a:r>
              <a:rPr lang="en-US" altLang="zh-CN" baseline="30000">
                <a:solidFill>
                  <a:srgbClr val="00FFFF"/>
                </a:solidFill>
                <a:ea typeface="仿宋_GB2312"/>
                <a:cs typeface="仿宋_GB2312"/>
              </a:rPr>
              <a:t>-8</a:t>
            </a:r>
            <a:r>
              <a:rPr lang="en-US" altLang="zh-CN">
                <a:solidFill>
                  <a:srgbClr val="00FFFF"/>
                </a:solidFill>
                <a:ea typeface="仿宋_GB2312"/>
                <a:cs typeface="仿宋_GB2312"/>
              </a:rPr>
              <a:t>m </a:t>
            </a:r>
            <a:endParaRPr lang="en-US" altLang="zh-CN">
              <a:latin typeface="仿宋_GB2312"/>
              <a:ea typeface="仿宋_GB2312"/>
              <a:cs typeface="仿宋_GB2312"/>
            </a:endParaRPr>
          </a:p>
        </p:txBody>
      </p:sp>
      <p:sp>
        <p:nvSpPr>
          <p:cNvPr id="472068" name="Text Box 4"/>
          <p:cNvSpPr txBox="1">
            <a:spLocks noChangeArrowheads="1"/>
          </p:cNvSpPr>
          <p:nvPr/>
        </p:nvSpPr>
        <p:spPr bwMode="auto">
          <a:xfrm>
            <a:off x="627063" y="3429000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晶体</a:t>
            </a:r>
            <a:endParaRPr lang="zh-CN" altLang="en-US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pic>
        <p:nvPicPr>
          <p:cNvPr id="472069" name="Picture 5" descr="食盐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786188"/>
            <a:ext cx="2432050" cy="2341562"/>
          </a:xfrm>
          <a:prstGeom prst="rect">
            <a:avLst/>
          </a:prstGeom>
          <a:noFill/>
          <a:ln w="9525">
            <a:solidFill>
              <a:srgbClr val="B2B2B2">
                <a:alpha val="49019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2070" name="Picture 6" descr="pic_41466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929063"/>
            <a:ext cx="2714625" cy="2146300"/>
          </a:xfrm>
          <a:prstGeom prst="rect">
            <a:avLst/>
          </a:prstGeom>
          <a:noFill/>
          <a:ln w="9525">
            <a:solidFill>
              <a:srgbClr val="B2B2B2">
                <a:alpha val="54117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2071" name="Text Box 7"/>
          <p:cNvSpPr txBox="1">
            <a:spLocks noChangeArrowheads="1"/>
          </p:cNvSpPr>
          <p:nvPr/>
        </p:nvSpPr>
        <p:spPr bwMode="auto">
          <a:xfrm>
            <a:off x="4643438" y="6246813"/>
            <a:ext cx="2484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食盐晶体的点阵模型</a:t>
            </a:r>
          </a:p>
        </p:txBody>
      </p:sp>
      <p:sp>
        <p:nvSpPr>
          <p:cNvPr id="472072" name="Text Box 8"/>
          <p:cNvSpPr txBox="1">
            <a:spLocks noChangeArrowheads="1"/>
          </p:cNvSpPr>
          <p:nvPr/>
        </p:nvSpPr>
        <p:spPr bwMode="auto">
          <a:xfrm>
            <a:off x="314325" y="285750"/>
            <a:ext cx="5400675" cy="5191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FFFF00"/>
                </a:solidFill>
                <a:sym typeface="Symbol" panose="05050102010706020507" pitchFamily="18" charset="2"/>
              </a:rPr>
              <a:t>  </a:t>
            </a:r>
            <a:r>
              <a:rPr lang="en-US" altLang="zh-CN" sz="2800" dirty="0">
                <a:solidFill>
                  <a:srgbClr val="FFFF00"/>
                </a:solidFill>
              </a:rPr>
              <a:t>X</a:t>
            </a: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射线在晶体上的衍射</a:t>
            </a:r>
          </a:p>
        </p:txBody>
      </p:sp>
      <p:sp>
        <p:nvSpPr>
          <p:cNvPr id="9" name="AutoShape 16"/>
          <p:cNvSpPr>
            <a:spLocks noChangeArrowheads="1"/>
          </p:cNvSpPr>
          <p:nvPr/>
        </p:nvSpPr>
        <p:spPr bwMode="auto">
          <a:xfrm>
            <a:off x="5810250" y="1928813"/>
            <a:ext cx="762000" cy="457200"/>
          </a:xfrm>
          <a:prstGeom prst="leftRightArrow">
            <a:avLst>
              <a:gd name="adj1" fmla="val 50000"/>
              <a:gd name="adj2" fmla="val 33333"/>
            </a:avLst>
          </a:prstGeom>
          <a:noFill/>
          <a:ln w="22225">
            <a:solidFill>
              <a:srgbClr val="00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642938" y="1857375"/>
            <a:ext cx="54102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用普通光栅观测不到 </a:t>
            </a:r>
            <a:r>
              <a:rPr lang="en-US" altLang="zh-CN" i="1">
                <a:solidFill>
                  <a:srgbClr val="59E2FD"/>
                </a:solidFill>
              </a:rPr>
              <a:t>X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射线衍射效应</a:t>
            </a: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6572250" y="1857375"/>
          <a:ext cx="22621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04" name="Equation" r:id="rId7" imgW="631190" imgH="116205" progId="Equation.3">
                  <p:embed/>
                </p:oleObj>
              </mc:Choice>
              <mc:Fallback>
                <p:oleObj name="Equation" r:id="rId7" imgW="631190" imgH="116205" progId="Equation.3">
                  <p:embed/>
                  <p:pic>
                    <p:nvPicPr>
                      <p:cNvPr id="1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857375"/>
                        <a:ext cx="2262188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642938" y="2357438"/>
            <a:ext cx="7467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9C42D"/>
                </a:solidFill>
              </a:rPr>
              <a:t>1912</a:t>
            </a:r>
            <a:r>
              <a:rPr lang="zh-CN" altLang="en-US">
                <a:solidFill>
                  <a:srgbClr val="F9C42D"/>
                </a:solidFill>
              </a:rPr>
              <a:t>年，德国物理学家劳厄（</a:t>
            </a:r>
            <a:r>
              <a:rPr lang="en-US" altLang="zh-CN">
                <a:solidFill>
                  <a:srgbClr val="F9C42D"/>
                </a:solidFill>
              </a:rPr>
              <a:t>M. Vonlaue</a:t>
            </a:r>
            <a:r>
              <a:rPr lang="zh-CN" altLang="en-US">
                <a:solidFill>
                  <a:srgbClr val="F9C42D"/>
                </a:solidFill>
              </a:rPr>
              <a:t>）提出：</a:t>
            </a:r>
          </a:p>
        </p:txBody>
      </p:sp>
      <p:sp>
        <p:nvSpPr>
          <p:cNvPr id="13" name="Rectangle 21"/>
          <p:cNvSpPr>
            <a:spLocks noChangeArrowheads="1"/>
          </p:cNvSpPr>
          <p:nvPr/>
        </p:nvSpPr>
        <p:spPr bwMode="auto">
          <a:xfrm>
            <a:off x="685800" y="2890838"/>
            <a:ext cx="19050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天然晶体</a:t>
            </a: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>
            <a:off x="2133600" y="2967038"/>
            <a:ext cx="1143000" cy="381000"/>
          </a:xfrm>
          <a:prstGeom prst="leftRightArrow">
            <a:avLst>
              <a:gd name="adj1" fmla="val 50000"/>
              <a:gd name="adj2" fmla="val 60000"/>
            </a:avLst>
          </a:prstGeom>
          <a:noFill/>
          <a:ln w="22225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3352800" y="2890838"/>
            <a:ext cx="31242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三维的立体光栅</a:t>
            </a:r>
          </a:p>
        </p:txBody>
      </p:sp>
      <p:sp>
        <p:nvSpPr>
          <p:cNvPr id="16" name="AutoShape 24"/>
          <p:cNvSpPr>
            <a:spLocks noChangeArrowheads="1"/>
          </p:cNvSpPr>
          <p:nvPr/>
        </p:nvSpPr>
        <p:spPr bwMode="auto">
          <a:xfrm>
            <a:off x="5791200" y="2967038"/>
            <a:ext cx="1143000" cy="381000"/>
          </a:xfrm>
          <a:prstGeom prst="leftRightArrow">
            <a:avLst>
              <a:gd name="adj1" fmla="val 50000"/>
              <a:gd name="adj2" fmla="val 60000"/>
            </a:avLst>
          </a:prstGeom>
          <a:noFill/>
          <a:ln w="22225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Rectangle 25"/>
          <p:cNvSpPr>
            <a:spLocks noChangeArrowheads="1"/>
          </p:cNvSpPr>
          <p:nvPr/>
        </p:nvSpPr>
        <p:spPr bwMode="auto">
          <a:xfrm>
            <a:off x="6997700" y="2890838"/>
            <a:ext cx="214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59E2FD"/>
                </a:solidFill>
              </a:rPr>
              <a:t>X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射线衍射</a:t>
            </a:r>
          </a:p>
        </p:txBody>
      </p:sp>
      <p:sp>
        <p:nvSpPr>
          <p:cNvPr id="923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A39ACF-195A-4D48-9BCA-8DE4D2332640}" type="slidenum">
              <a:rPr lang="en-US" altLang="zh-CN" b="0">
                <a:solidFill>
                  <a:srgbClr val="FF00FF"/>
                </a:solidFill>
              </a:rPr>
              <a:t>21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6" grpId="0" autoUpdateAnimBg="0"/>
      <p:bldP spid="472067" grpId="0"/>
      <p:bldP spid="472068" grpId="0" autoUpdateAnimBg="0"/>
      <p:bldP spid="472071" grpId="0"/>
      <p:bldP spid="472072" grpId="0" autoUpdateAnimBg="0"/>
      <p:bldP spid="9" grpId="0" animBg="1"/>
      <p:bldP spid="10" grpId="0" autoUpdateAnimBg="0"/>
      <p:bldP spid="12" grpId="0" autoUpdateAnimBg="0"/>
      <p:bldP spid="13" grpId="0" autoUpdateAnimBg="0"/>
      <p:bldP spid="14" grpId="0" animBg="1"/>
      <p:bldP spid="15" grpId="0" autoUpdateAnimBg="0"/>
      <p:bldP spid="16" grpId="0" animBg="1"/>
      <p:bldP spid="1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Text Box 2"/>
          <p:cNvSpPr txBox="1">
            <a:spLocks noChangeArrowheads="1"/>
          </p:cNvSpPr>
          <p:nvPr/>
        </p:nvSpPr>
        <p:spPr bwMode="auto">
          <a:xfrm>
            <a:off x="496888" y="333375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3. X</a:t>
            </a:r>
            <a:r>
              <a:rPr lang="zh-CN" altLang="en-US">
                <a:solidFill>
                  <a:srgbClr val="66FFFF"/>
                </a:solidFill>
              </a:rPr>
              <a:t>射线</a:t>
            </a:r>
            <a:r>
              <a:rPr lang="zh-CN" altLang="en-US">
                <a:solidFill>
                  <a:srgbClr val="00FFFF"/>
                </a:solidFill>
              </a:rPr>
              <a:t>衍射实验</a:t>
            </a:r>
            <a:endParaRPr lang="zh-CN" altLang="en-US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473091" name="Rectangle 3"/>
          <p:cNvSpPr>
            <a:spLocks noChangeArrowheads="1"/>
          </p:cNvSpPr>
          <p:nvPr/>
        </p:nvSpPr>
        <p:spPr bwMode="auto">
          <a:xfrm>
            <a:off x="7532688" y="1663700"/>
            <a:ext cx="73025" cy="2016125"/>
          </a:xfrm>
          <a:prstGeom prst="rect">
            <a:avLst/>
          </a:prstGeom>
          <a:solidFill>
            <a:srgbClr val="006699">
              <a:alpha val="43921"/>
            </a:srgbClr>
          </a:solidFill>
          <a:ln w="9525">
            <a:miter lim="800000"/>
          </a:ln>
          <a:scene3d>
            <a:camera prst="legacyPerspectiveTopLeft">
              <a:rot lat="1500000" lon="20099957" rev="0"/>
            </a:camera>
            <a:lightRig rig="legacyFlat4" dir="t"/>
          </a:scene3d>
          <a:sp3d extrusionH="3630600" prstMaterial="legacyMatte">
            <a:bevelT w="13500" h="13500" prst="angle"/>
            <a:bevelB w="13500" h="13500" prst="angle"/>
            <a:extrusionClr>
              <a:srgbClr val="006699"/>
            </a:extrusionClr>
            <a:contourClr>
              <a:srgbClr val="006699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73092" name="Object 2"/>
          <p:cNvGraphicFramePr>
            <a:graphicFrameLocks noChangeAspect="1"/>
          </p:cNvGraphicFramePr>
          <p:nvPr/>
        </p:nvGraphicFramePr>
        <p:xfrm>
          <a:off x="6218238" y="833438"/>
          <a:ext cx="176212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08" name="Equation" r:id="rId4" imgW="45085" imgH="45085" progId="Equation.3">
                  <p:embed/>
                </p:oleObj>
              </mc:Choice>
              <mc:Fallback>
                <p:oleObj name="Equation" r:id="rId4" imgW="45085" imgH="45085" progId="Equation.3">
                  <p:embed/>
                  <p:pic>
                    <p:nvPicPr>
                      <p:cNvPr id="47309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833438"/>
                        <a:ext cx="176212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3" name="Object 3"/>
          <p:cNvGraphicFramePr>
            <a:graphicFrameLocks noChangeAspect="1"/>
          </p:cNvGraphicFramePr>
          <p:nvPr/>
        </p:nvGraphicFramePr>
        <p:xfrm>
          <a:off x="6450013" y="1509713"/>
          <a:ext cx="176212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09" name="Equation" r:id="rId6" imgW="45085" imgH="45085" progId="Equation.3">
                  <p:embed/>
                </p:oleObj>
              </mc:Choice>
              <mc:Fallback>
                <p:oleObj name="Equation" r:id="rId6" imgW="45085" imgH="45085" progId="Equation.3">
                  <p:embed/>
                  <p:pic>
                    <p:nvPicPr>
                      <p:cNvPr id="47309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0013" y="1509713"/>
                        <a:ext cx="176212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4" name="Object 4"/>
          <p:cNvGraphicFramePr>
            <a:graphicFrameLocks noChangeAspect="1"/>
          </p:cNvGraphicFramePr>
          <p:nvPr/>
        </p:nvGraphicFramePr>
        <p:xfrm>
          <a:off x="6564313" y="1082675"/>
          <a:ext cx="176212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10" name="Equation" r:id="rId8" imgW="45085" imgH="45085" progId="Equation.3">
                  <p:embed/>
                </p:oleObj>
              </mc:Choice>
              <mc:Fallback>
                <p:oleObj name="Equation" r:id="rId8" imgW="45085" imgH="45085" progId="Equation.3">
                  <p:embed/>
                  <p:pic>
                    <p:nvPicPr>
                      <p:cNvPr id="4730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3" y="1082675"/>
                        <a:ext cx="176212" cy="20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5" name="Object 5"/>
          <p:cNvGraphicFramePr>
            <a:graphicFrameLocks noChangeAspect="1"/>
          </p:cNvGraphicFramePr>
          <p:nvPr/>
        </p:nvGraphicFramePr>
        <p:xfrm>
          <a:off x="7213600" y="2701925"/>
          <a:ext cx="176213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11" name="Equation" r:id="rId10" imgW="45085" imgH="45085" progId="Equation.3">
                  <p:embed/>
                </p:oleObj>
              </mc:Choice>
              <mc:Fallback>
                <p:oleObj name="Equation" r:id="rId10" imgW="45085" imgH="45085" progId="Equation.3">
                  <p:embed/>
                  <p:pic>
                    <p:nvPicPr>
                      <p:cNvPr id="4730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600" y="2701925"/>
                        <a:ext cx="176213" cy="20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6" name="Object 6"/>
          <p:cNvGraphicFramePr>
            <a:graphicFrameLocks noChangeAspect="1"/>
          </p:cNvGraphicFramePr>
          <p:nvPr/>
        </p:nvGraphicFramePr>
        <p:xfrm>
          <a:off x="6757988" y="2058988"/>
          <a:ext cx="176212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12" name="Equation" r:id="rId12" imgW="45085" imgH="45085" progId="Equation.3">
                  <p:embed/>
                </p:oleObj>
              </mc:Choice>
              <mc:Fallback>
                <p:oleObj name="Equation" r:id="rId12" imgW="45085" imgH="45085" progId="Equation.3">
                  <p:embed/>
                  <p:pic>
                    <p:nvPicPr>
                      <p:cNvPr id="47309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988" y="2058988"/>
                        <a:ext cx="176212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7" name="Object 7"/>
          <p:cNvGraphicFramePr>
            <a:graphicFrameLocks noChangeAspect="1"/>
          </p:cNvGraphicFramePr>
          <p:nvPr/>
        </p:nvGraphicFramePr>
        <p:xfrm>
          <a:off x="6723063" y="1630363"/>
          <a:ext cx="176212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13" name="Equation" r:id="rId14" imgW="45085" imgH="45085" progId="Equation.3">
                  <p:embed/>
                </p:oleObj>
              </mc:Choice>
              <mc:Fallback>
                <p:oleObj name="Equation" r:id="rId14" imgW="45085" imgH="45085" progId="Equation.3">
                  <p:embed/>
                  <p:pic>
                    <p:nvPicPr>
                      <p:cNvPr id="47309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063" y="1630363"/>
                        <a:ext cx="176212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8" name="Object 8"/>
          <p:cNvGraphicFramePr>
            <a:graphicFrameLocks noChangeAspect="1"/>
          </p:cNvGraphicFramePr>
          <p:nvPr/>
        </p:nvGraphicFramePr>
        <p:xfrm>
          <a:off x="6669088" y="2195513"/>
          <a:ext cx="176212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14" name="Equation" r:id="rId16" imgW="45085" imgH="45085" progId="Equation.3">
                  <p:embed/>
                </p:oleObj>
              </mc:Choice>
              <mc:Fallback>
                <p:oleObj name="Equation" r:id="rId16" imgW="45085" imgH="45085" progId="Equation.3">
                  <p:embed/>
                  <p:pic>
                    <p:nvPicPr>
                      <p:cNvPr id="47309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088" y="2195513"/>
                        <a:ext cx="176212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9" name="Object 9"/>
          <p:cNvGraphicFramePr>
            <a:graphicFrameLocks noChangeAspect="1"/>
          </p:cNvGraphicFramePr>
          <p:nvPr/>
        </p:nvGraphicFramePr>
        <p:xfrm>
          <a:off x="7327900" y="2422525"/>
          <a:ext cx="176213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15" name="Equation" r:id="rId18" imgW="45085" imgH="45085" progId="Equation.3">
                  <p:embed/>
                </p:oleObj>
              </mc:Choice>
              <mc:Fallback>
                <p:oleObj name="Equation" r:id="rId18" imgW="45085" imgH="45085" progId="Equation.3">
                  <p:embed/>
                  <p:pic>
                    <p:nvPicPr>
                      <p:cNvPr id="47309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2422525"/>
                        <a:ext cx="176213" cy="20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0" name="Object 10"/>
          <p:cNvGraphicFramePr>
            <a:graphicFrameLocks noChangeAspect="1"/>
          </p:cNvGraphicFramePr>
          <p:nvPr/>
        </p:nvGraphicFramePr>
        <p:xfrm>
          <a:off x="7256463" y="1760538"/>
          <a:ext cx="176212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916" name="Equation" r:id="rId20" imgW="45085" imgH="45085" progId="Equation.3">
                  <p:embed/>
                </p:oleObj>
              </mc:Choice>
              <mc:Fallback>
                <p:oleObj name="Equation" r:id="rId20" imgW="45085" imgH="45085" progId="Equation.3">
                  <p:embed/>
                  <p:pic>
                    <p:nvPicPr>
                      <p:cNvPr id="47310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463" y="1760538"/>
                        <a:ext cx="176212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101" name="Line 13"/>
          <p:cNvSpPr>
            <a:spLocks noChangeShapeType="1"/>
          </p:cNvSpPr>
          <p:nvPr/>
        </p:nvSpPr>
        <p:spPr bwMode="auto">
          <a:xfrm rot="120000" flipV="1">
            <a:off x="5151438" y="1592263"/>
            <a:ext cx="1370012" cy="73183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2" name="Line 14"/>
          <p:cNvSpPr>
            <a:spLocks noChangeShapeType="1"/>
          </p:cNvSpPr>
          <p:nvPr/>
        </p:nvSpPr>
        <p:spPr bwMode="auto">
          <a:xfrm flipV="1">
            <a:off x="5153025" y="928688"/>
            <a:ext cx="1150938" cy="13684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3" name="Line 15"/>
          <p:cNvSpPr>
            <a:spLocks noChangeShapeType="1"/>
          </p:cNvSpPr>
          <p:nvPr/>
        </p:nvSpPr>
        <p:spPr bwMode="auto">
          <a:xfrm flipV="1">
            <a:off x="5157788" y="1158875"/>
            <a:ext cx="1511300" cy="11525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4" name="Line 16"/>
          <p:cNvSpPr>
            <a:spLocks noChangeShapeType="1"/>
          </p:cNvSpPr>
          <p:nvPr/>
        </p:nvSpPr>
        <p:spPr bwMode="auto">
          <a:xfrm flipV="1">
            <a:off x="5157788" y="1725613"/>
            <a:ext cx="1655762" cy="57626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5" name="Line 17"/>
          <p:cNvSpPr>
            <a:spLocks noChangeShapeType="1"/>
          </p:cNvSpPr>
          <p:nvPr/>
        </p:nvSpPr>
        <p:spPr bwMode="auto">
          <a:xfrm flipV="1">
            <a:off x="5153025" y="1874838"/>
            <a:ext cx="2159000" cy="431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6" name="Line 18"/>
          <p:cNvSpPr>
            <a:spLocks noChangeShapeType="1"/>
          </p:cNvSpPr>
          <p:nvPr/>
        </p:nvSpPr>
        <p:spPr bwMode="auto">
          <a:xfrm flipV="1">
            <a:off x="5157788" y="2157413"/>
            <a:ext cx="1655762" cy="14446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7" name="Line 19"/>
          <p:cNvSpPr>
            <a:spLocks noChangeShapeType="1"/>
          </p:cNvSpPr>
          <p:nvPr/>
        </p:nvSpPr>
        <p:spPr bwMode="auto">
          <a:xfrm>
            <a:off x="5157788" y="2297113"/>
            <a:ext cx="2303462" cy="23018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8" name="Line 20"/>
          <p:cNvSpPr>
            <a:spLocks noChangeShapeType="1"/>
          </p:cNvSpPr>
          <p:nvPr/>
        </p:nvSpPr>
        <p:spPr bwMode="auto">
          <a:xfrm>
            <a:off x="5148263" y="2297113"/>
            <a:ext cx="2168525" cy="5191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09" name="Line 21"/>
          <p:cNvSpPr>
            <a:spLocks noChangeShapeType="1"/>
          </p:cNvSpPr>
          <p:nvPr/>
        </p:nvSpPr>
        <p:spPr bwMode="auto">
          <a:xfrm>
            <a:off x="5157788" y="2301875"/>
            <a:ext cx="1582737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0" name="Line 22"/>
          <p:cNvSpPr>
            <a:spLocks noChangeAspect="1" noChangeShapeType="1"/>
          </p:cNvSpPr>
          <p:nvPr/>
        </p:nvSpPr>
        <p:spPr bwMode="auto">
          <a:xfrm>
            <a:off x="4129088" y="2301875"/>
            <a:ext cx="252412" cy="1588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1" name="Text Box 23"/>
          <p:cNvSpPr txBox="1">
            <a:spLocks noChangeArrowheads="1"/>
          </p:cNvSpPr>
          <p:nvPr/>
        </p:nvSpPr>
        <p:spPr bwMode="auto">
          <a:xfrm>
            <a:off x="1448593" y="1772816"/>
            <a:ext cx="1135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bg1"/>
                </a:solidFill>
              </a:rPr>
              <a:t>X</a:t>
            </a:r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射线源</a:t>
            </a:r>
          </a:p>
        </p:txBody>
      </p:sp>
      <p:sp>
        <p:nvSpPr>
          <p:cNvPr id="473112" name="Text Box 24"/>
          <p:cNvSpPr txBox="1">
            <a:spLocks noChangeArrowheads="1"/>
          </p:cNvSpPr>
          <p:nvPr/>
        </p:nvSpPr>
        <p:spPr bwMode="auto">
          <a:xfrm>
            <a:off x="5192713" y="321310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ea typeface="楷体_GB2312" pitchFamily="49" charset="-122"/>
              </a:rPr>
              <a:t>晶体</a:t>
            </a:r>
          </a:p>
        </p:txBody>
      </p:sp>
      <p:sp>
        <p:nvSpPr>
          <p:cNvPr id="473113" name="Text Box 25"/>
          <p:cNvSpPr txBox="1">
            <a:spLocks noChangeArrowheads="1"/>
          </p:cNvSpPr>
          <p:nvPr/>
        </p:nvSpPr>
        <p:spPr bwMode="auto">
          <a:xfrm>
            <a:off x="7513638" y="3227388"/>
            <a:ext cx="874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chemeClr val="bg1"/>
                </a:solidFill>
                <a:ea typeface="楷体_GB2312" pitchFamily="49" charset="-122"/>
              </a:rPr>
              <a:t>感光片</a:t>
            </a:r>
          </a:p>
        </p:txBody>
      </p:sp>
      <p:sp>
        <p:nvSpPr>
          <p:cNvPr id="473114" name="Text Box 26"/>
          <p:cNvSpPr txBox="1">
            <a:spLocks noChangeArrowheads="1"/>
          </p:cNvSpPr>
          <p:nvPr/>
        </p:nvSpPr>
        <p:spPr bwMode="auto">
          <a:xfrm>
            <a:off x="995363" y="3643313"/>
            <a:ext cx="3505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59E2FD"/>
                </a:solidFill>
                <a:ea typeface="仿宋_GB2312"/>
                <a:cs typeface="仿宋_GB2312"/>
              </a:rPr>
              <a:t>X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射线衍射图样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(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劳厄斑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仿宋_GB2312"/>
                <a:cs typeface="仿宋_GB2312"/>
              </a:rPr>
              <a:t>) </a:t>
            </a:r>
          </a:p>
        </p:txBody>
      </p:sp>
      <p:sp>
        <p:nvSpPr>
          <p:cNvPr id="473115" name="Rectangle 27"/>
          <p:cNvSpPr>
            <a:spLocks noChangeArrowheads="1"/>
          </p:cNvSpPr>
          <p:nvPr/>
        </p:nvSpPr>
        <p:spPr bwMode="auto">
          <a:xfrm>
            <a:off x="5589588" y="2238375"/>
            <a:ext cx="142875" cy="1008063"/>
          </a:xfrm>
          <a:prstGeom prst="rect">
            <a:avLst/>
          </a:prstGeom>
          <a:solidFill>
            <a:srgbClr val="CCFFFF">
              <a:alpha val="21176"/>
            </a:srgbClr>
          </a:solidFill>
          <a:ln w="9525">
            <a:miter lim="800000"/>
          </a:ln>
          <a:scene3d>
            <a:camera prst="legacyPerspectiveTopLeft">
              <a:rot lat="1500000" lon="20099957" rev="0"/>
            </a:camera>
            <a:lightRig rig="legacyFlat4" dir="t"/>
          </a:scene3d>
          <a:sp3d extrusionH="1801800" prstMaterial="legacyMatte">
            <a:bevelT w="13500" h="13500" prst="angle"/>
            <a:bevelB w="13500" h="13500" prst="angle"/>
            <a:extrusionClr>
              <a:srgbClr val="CCFFFF"/>
            </a:extrusionClr>
            <a:contourClr>
              <a:srgbClr val="CCFFFF"/>
            </a:contourClr>
          </a:sp3d>
        </p:spPr>
        <p:txBody>
          <a:bodyPr wrap="none" anchor="ctr">
            <a:flatTx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3116" name="Line 28"/>
          <p:cNvSpPr>
            <a:spLocks noChangeShapeType="1"/>
          </p:cNvSpPr>
          <p:nvPr/>
        </p:nvSpPr>
        <p:spPr bwMode="auto">
          <a:xfrm>
            <a:off x="2393950" y="2301875"/>
            <a:ext cx="277177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9"/>
          <p:cNvGrpSpPr/>
          <p:nvPr/>
        </p:nvGrpSpPr>
        <p:grpSpPr bwMode="auto">
          <a:xfrm>
            <a:off x="3098800" y="1193800"/>
            <a:ext cx="695325" cy="1771650"/>
            <a:chOff x="2438" y="754"/>
            <a:chExt cx="438" cy="1116"/>
          </a:xfrm>
        </p:grpSpPr>
        <p:sp>
          <p:nvSpPr>
            <p:cNvPr id="473118" name="Rectangle 30"/>
            <p:cNvSpPr>
              <a:spLocks noChangeArrowheads="1"/>
            </p:cNvSpPr>
            <p:nvPr/>
          </p:nvSpPr>
          <p:spPr bwMode="auto">
            <a:xfrm>
              <a:off x="2562" y="1029"/>
              <a:ext cx="182" cy="363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73119" name="Rectangle 31"/>
            <p:cNvSpPr>
              <a:spLocks noChangeArrowheads="1"/>
            </p:cNvSpPr>
            <p:nvPr/>
          </p:nvSpPr>
          <p:spPr bwMode="auto">
            <a:xfrm rot="10800000">
              <a:off x="2562" y="1507"/>
              <a:ext cx="182" cy="363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01" name="Text Box 32"/>
            <p:cNvSpPr txBox="1">
              <a:spLocks noChangeArrowheads="1"/>
            </p:cNvSpPr>
            <p:nvPr/>
          </p:nvSpPr>
          <p:spPr bwMode="auto">
            <a:xfrm>
              <a:off x="2438" y="754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bg1"/>
                  </a:solidFill>
                  <a:ea typeface="楷体_GB2312" pitchFamily="49" charset="-122"/>
                </a:rPr>
                <a:t>铅屏</a:t>
              </a:r>
            </a:p>
          </p:txBody>
        </p:sp>
      </p:grpSp>
      <p:pic>
        <p:nvPicPr>
          <p:cNvPr id="473121" name="Picture 33" descr="Image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" t="6346" r="50197" b="14575"/>
          <a:stretch>
            <a:fillRect/>
          </a:stretch>
        </p:blipFill>
        <p:spPr bwMode="auto">
          <a:xfrm>
            <a:off x="2339975" y="4292600"/>
            <a:ext cx="1871663" cy="1800225"/>
          </a:xfrm>
          <a:prstGeom prst="rect">
            <a:avLst/>
          </a:prstGeom>
          <a:noFill/>
          <a:ln w="9525">
            <a:solidFill>
              <a:srgbClr val="FF9900">
                <a:alpha val="50195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3122" name="Text Box 34"/>
          <p:cNvSpPr txBox="1">
            <a:spLocks noChangeArrowheads="1"/>
          </p:cNvSpPr>
          <p:nvPr/>
        </p:nvSpPr>
        <p:spPr bwMode="auto">
          <a:xfrm>
            <a:off x="2411413" y="6107113"/>
            <a:ext cx="1590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红宝石晶体 </a:t>
            </a:r>
          </a:p>
        </p:txBody>
      </p:sp>
      <p:pic>
        <p:nvPicPr>
          <p:cNvPr id="473123" name="Picture 35" descr="Image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9" t="6346" r="2158" b="14575"/>
          <a:stretch>
            <a:fillRect/>
          </a:stretch>
        </p:blipFill>
        <p:spPr bwMode="auto">
          <a:xfrm>
            <a:off x="4932363" y="4316413"/>
            <a:ext cx="1873250" cy="1800225"/>
          </a:xfrm>
          <a:prstGeom prst="rect">
            <a:avLst/>
          </a:prstGeom>
          <a:noFill/>
          <a:ln w="9525">
            <a:solidFill>
              <a:srgbClr val="FF9900">
                <a:alpha val="50195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3124" name="Text Box 36"/>
          <p:cNvSpPr txBox="1">
            <a:spLocks noChangeArrowheads="1"/>
          </p:cNvSpPr>
          <p:nvPr/>
        </p:nvSpPr>
        <p:spPr bwMode="auto">
          <a:xfrm>
            <a:off x="5413157" y="6121400"/>
            <a:ext cx="10310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单晶硅 </a:t>
            </a:r>
          </a:p>
        </p:txBody>
      </p:sp>
      <p:sp>
        <p:nvSpPr>
          <p:cNvPr id="11298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199D46-ACF7-49E0-909A-C1F1C82F39E2}" type="slidenum">
              <a:rPr lang="en-US" altLang="zh-CN" b="0">
                <a:solidFill>
                  <a:srgbClr val="FF00FF"/>
                </a:solidFill>
              </a:rPr>
              <a:t>22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cxnSp>
        <p:nvCxnSpPr>
          <p:cNvPr id="4" name="直接箭头连接符 3"/>
          <p:cNvCxnSpPr>
            <a:stCxn id="473116" idx="0"/>
          </p:cNvCxnSpPr>
          <p:nvPr/>
        </p:nvCxnSpPr>
        <p:spPr bwMode="auto">
          <a:xfrm flipV="1">
            <a:off x="2393950" y="2058988"/>
            <a:ext cx="901699" cy="2428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6" name="直接箭头连接符 5"/>
          <p:cNvCxnSpPr>
            <a:stCxn id="473116" idx="0"/>
          </p:cNvCxnSpPr>
          <p:nvPr/>
        </p:nvCxnSpPr>
        <p:spPr bwMode="auto">
          <a:xfrm>
            <a:off x="2393950" y="2301875"/>
            <a:ext cx="901699" cy="22542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" name="爆炸形: 8 pt  2"/>
          <p:cNvSpPr/>
          <p:nvPr/>
        </p:nvSpPr>
        <p:spPr bwMode="auto">
          <a:xfrm>
            <a:off x="2016124" y="2132856"/>
            <a:ext cx="379413" cy="330101"/>
          </a:xfrm>
          <a:prstGeom prst="irregularSeal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070100" y="1443038"/>
            <a:ext cx="3098800" cy="1752600"/>
            <a:chOff x="1544" y="960"/>
            <a:chExt cx="1952" cy="1104"/>
          </a:xfrm>
        </p:grpSpPr>
        <p:sp>
          <p:nvSpPr>
            <p:cNvPr id="13427" name="Line 3"/>
            <p:cNvSpPr>
              <a:spLocks noChangeShapeType="1"/>
            </p:cNvSpPr>
            <p:nvPr/>
          </p:nvSpPr>
          <p:spPr bwMode="auto">
            <a:xfrm flipV="1">
              <a:off x="1544" y="960"/>
              <a:ext cx="1728" cy="1075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8" name="Line 4"/>
            <p:cNvSpPr>
              <a:spLocks noChangeShapeType="1"/>
            </p:cNvSpPr>
            <p:nvPr/>
          </p:nvSpPr>
          <p:spPr bwMode="auto">
            <a:xfrm flipV="1">
              <a:off x="1964" y="1104"/>
              <a:ext cx="1440" cy="916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9" name="Line 5"/>
            <p:cNvSpPr>
              <a:spLocks noChangeShapeType="1"/>
            </p:cNvSpPr>
            <p:nvPr/>
          </p:nvSpPr>
          <p:spPr bwMode="auto">
            <a:xfrm flipV="1">
              <a:off x="2274" y="1291"/>
              <a:ext cx="1222" cy="773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1022350" y="1662113"/>
            <a:ext cx="285750" cy="381000"/>
            <a:chOff x="675" y="999"/>
            <a:chExt cx="180" cy="240"/>
          </a:xfrm>
        </p:grpSpPr>
        <p:sp>
          <p:nvSpPr>
            <p:cNvPr id="13425" name="Line 7"/>
            <p:cNvSpPr>
              <a:spLocks noChangeShapeType="1"/>
            </p:cNvSpPr>
            <p:nvPr/>
          </p:nvSpPr>
          <p:spPr bwMode="auto">
            <a:xfrm>
              <a:off x="855" y="1007"/>
              <a:ext cx="0" cy="23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6" name="Rectangle 8"/>
            <p:cNvSpPr>
              <a:spLocks noChangeArrowheads="1"/>
            </p:cNvSpPr>
            <p:nvPr/>
          </p:nvSpPr>
          <p:spPr bwMode="auto">
            <a:xfrm>
              <a:off x="675" y="999"/>
              <a:ext cx="18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>
                  <a:solidFill>
                    <a:schemeClr val="bg1"/>
                  </a:solidFill>
                </a:rPr>
                <a:t>d</a:t>
              </a:r>
              <a:endParaRPr lang="en-US" altLang="zh-CN" b="0" i="1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9"/>
          <p:cNvGrpSpPr/>
          <p:nvPr/>
        </p:nvGrpSpPr>
        <p:grpSpPr bwMode="auto">
          <a:xfrm>
            <a:off x="1562100" y="3198813"/>
            <a:ext cx="558800" cy="301625"/>
            <a:chOff x="1015" y="1967"/>
            <a:chExt cx="352" cy="190"/>
          </a:xfrm>
        </p:grpSpPr>
        <p:sp>
          <p:nvSpPr>
            <p:cNvPr id="13423" name="Rectangle 10"/>
            <p:cNvSpPr>
              <a:spLocks noChangeArrowheads="1"/>
            </p:cNvSpPr>
            <p:nvPr/>
          </p:nvSpPr>
          <p:spPr bwMode="auto">
            <a:xfrm>
              <a:off x="1102" y="1967"/>
              <a:ext cx="224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>
                  <a:solidFill>
                    <a:schemeClr val="bg1"/>
                  </a:solidFill>
                </a:rPr>
                <a:t>d</a:t>
              </a:r>
              <a:r>
                <a:rPr lang="en-US" altLang="zh-CN" i="1">
                  <a:solidFill>
                    <a:schemeClr val="bg1"/>
                  </a:solidFill>
                  <a:sym typeface="Symbol" panose="05050102010706020507" pitchFamily="18" charset="2"/>
                </a:rPr>
                <a:t></a:t>
              </a:r>
              <a:endParaRPr lang="en-US" altLang="zh-CN" b="0" i="1">
                <a:solidFill>
                  <a:schemeClr val="bg1"/>
                </a:solidFill>
              </a:endParaRPr>
            </a:p>
          </p:txBody>
        </p:sp>
        <p:sp>
          <p:nvSpPr>
            <p:cNvPr id="13424" name="Line 11"/>
            <p:cNvSpPr>
              <a:spLocks noChangeShapeType="1"/>
            </p:cNvSpPr>
            <p:nvPr/>
          </p:nvSpPr>
          <p:spPr bwMode="auto">
            <a:xfrm>
              <a:off x="1015" y="1991"/>
              <a:ext cx="352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2"/>
          <p:cNvGrpSpPr/>
          <p:nvPr/>
        </p:nvGrpSpPr>
        <p:grpSpPr bwMode="auto">
          <a:xfrm>
            <a:off x="4733925" y="1279525"/>
            <a:ext cx="623888" cy="438150"/>
            <a:chOff x="3013" y="758"/>
            <a:chExt cx="393" cy="276"/>
          </a:xfrm>
        </p:grpSpPr>
        <p:sp>
          <p:nvSpPr>
            <p:cNvPr id="13421" name="Line 13"/>
            <p:cNvSpPr>
              <a:spLocks noChangeShapeType="1"/>
            </p:cNvSpPr>
            <p:nvPr/>
          </p:nvSpPr>
          <p:spPr bwMode="auto">
            <a:xfrm>
              <a:off x="3013" y="890"/>
              <a:ext cx="134" cy="13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2" name="Rectangle 14"/>
            <p:cNvSpPr>
              <a:spLocks noChangeArrowheads="1"/>
            </p:cNvSpPr>
            <p:nvPr/>
          </p:nvSpPr>
          <p:spPr bwMode="auto">
            <a:xfrm>
              <a:off x="3117" y="758"/>
              <a:ext cx="289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 dirty="0">
                  <a:solidFill>
                    <a:srgbClr val="00FF00"/>
                  </a:solidFill>
                </a:rPr>
                <a:t>d</a:t>
              </a:r>
              <a:r>
                <a:rPr lang="en-US" altLang="zh-CN" i="1" dirty="0">
                  <a:solidFill>
                    <a:srgbClr val="00FF00"/>
                  </a:solidFill>
                  <a:sym typeface="Symbol" panose="05050102010706020507" pitchFamily="18" charset="2"/>
                </a:rPr>
                <a:t></a:t>
              </a:r>
              <a:endParaRPr lang="en-US" altLang="zh-CN" b="0" i="1" dirty="0">
                <a:solidFill>
                  <a:srgbClr val="00FF00"/>
                </a:solidFill>
              </a:endParaRPr>
            </a:p>
          </p:txBody>
        </p:sp>
      </p:grpSp>
      <p:grpSp>
        <p:nvGrpSpPr>
          <p:cNvPr id="6" name="Group 15"/>
          <p:cNvGrpSpPr/>
          <p:nvPr/>
        </p:nvGrpSpPr>
        <p:grpSpPr bwMode="auto">
          <a:xfrm>
            <a:off x="1409700" y="1062038"/>
            <a:ext cx="1295400" cy="928687"/>
            <a:chOff x="1128" y="96"/>
            <a:chExt cx="816" cy="585"/>
          </a:xfrm>
        </p:grpSpPr>
        <p:sp>
          <p:nvSpPr>
            <p:cNvPr id="13419" name="Line 16"/>
            <p:cNvSpPr>
              <a:spLocks noChangeShapeType="1"/>
            </p:cNvSpPr>
            <p:nvPr/>
          </p:nvSpPr>
          <p:spPr bwMode="auto">
            <a:xfrm>
              <a:off x="1128" y="293"/>
              <a:ext cx="816" cy="388"/>
            </a:xfrm>
            <a:prstGeom prst="line">
              <a:avLst/>
            </a:prstGeom>
            <a:ln>
              <a:headEnd type="none" w="med" len="sm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420" name="Line 17"/>
            <p:cNvSpPr>
              <a:spLocks noChangeShapeType="1"/>
            </p:cNvSpPr>
            <p:nvPr/>
          </p:nvSpPr>
          <p:spPr bwMode="auto">
            <a:xfrm>
              <a:off x="1192" y="96"/>
              <a:ext cx="752" cy="360"/>
            </a:xfrm>
            <a:prstGeom prst="line">
              <a:avLst/>
            </a:prstGeom>
            <a:ln>
              <a:headEnd type="none" w="med" len="sm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2692400" y="1062038"/>
            <a:ext cx="1295400" cy="939800"/>
            <a:chOff x="1936" y="96"/>
            <a:chExt cx="816" cy="592"/>
          </a:xfrm>
        </p:grpSpPr>
        <p:sp>
          <p:nvSpPr>
            <p:cNvPr id="13417" name="Line 19"/>
            <p:cNvSpPr>
              <a:spLocks noChangeShapeType="1"/>
            </p:cNvSpPr>
            <p:nvPr/>
          </p:nvSpPr>
          <p:spPr bwMode="auto">
            <a:xfrm flipH="1">
              <a:off x="1936" y="300"/>
              <a:ext cx="816" cy="388"/>
            </a:xfrm>
            <a:prstGeom prst="line">
              <a:avLst/>
            </a:prstGeom>
            <a:ln>
              <a:headEnd type="triangle" w="sm" len="med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418" name="Line 20"/>
            <p:cNvSpPr>
              <a:spLocks noChangeShapeType="1"/>
            </p:cNvSpPr>
            <p:nvPr/>
          </p:nvSpPr>
          <p:spPr bwMode="auto">
            <a:xfrm flipH="1">
              <a:off x="1944" y="96"/>
              <a:ext cx="752" cy="360"/>
            </a:xfrm>
            <a:prstGeom prst="line">
              <a:avLst/>
            </a:prstGeom>
            <a:ln>
              <a:headEnd type="triangle" w="sm" len="med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1"/>
          <p:cNvGrpSpPr/>
          <p:nvPr/>
        </p:nvGrpSpPr>
        <p:grpSpPr bwMode="auto">
          <a:xfrm>
            <a:off x="3000375" y="1257300"/>
            <a:ext cx="719138" cy="422275"/>
            <a:chOff x="1910" y="744"/>
            <a:chExt cx="453" cy="266"/>
          </a:xfrm>
        </p:grpSpPr>
        <p:sp>
          <p:nvSpPr>
            <p:cNvPr id="13415" name="Arc 22"/>
            <p:cNvSpPr/>
            <p:nvPr/>
          </p:nvSpPr>
          <p:spPr bwMode="auto">
            <a:xfrm rot="473037">
              <a:off x="1910" y="903"/>
              <a:ext cx="61" cy="1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" name="Rectangle 23"/>
            <p:cNvSpPr>
              <a:spLocks noChangeArrowheads="1"/>
            </p:cNvSpPr>
            <p:nvPr/>
          </p:nvSpPr>
          <p:spPr bwMode="auto">
            <a:xfrm>
              <a:off x="1969" y="744"/>
              <a:ext cx="39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i="1">
                  <a:solidFill>
                    <a:srgbClr val="FFFF00"/>
                  </a:solidFill>
                  <a:sym typeface="Symbol" panose="05050102010706020507" pitchFamily="18" charset="2"/>
                </a:rPr>
                <a:t></a:t>
              </a:r>
              <a:endParaRPr lang="zh-CN" altLang="en-US" b="0">
                <a:solidFill>
                  <a:srgbClr val="FFFF00"/>
                </a:solidFill>
              </a:endParaRPr>
            </a:p>
          </p:txBody>
        </p:sp>
      </p:grpSp>
      <p:grpSp>
        <p:nvGrpSpPr>
          <p:cNvPr id="9" name="Group 24"/>
          <p:cNvGrpSpPr/>
          <p:nvPr/>
        </p:nvGrpSpPr>
        <p:grpSpPr bwMode="auto">
          <a:xfrm>
            <a:off x="1935163" y="1257300"/>
            <a:ext cx="444500" cy="404813"/>
            <a:chOff x="1250" y="744"/>
            <a:chExt cx="280" cy="255"/>
          </a:xfrm>
        </p:grpSpPr>
        <p:sp>
          <p:nvSpPr>
            <p:cNvPr id="13413" name="Arc 25"/>
            <p:cNvSpPr/>
            <p:nvPr/>
          </p:nvSpPr>
          <p:spPr bwMode="auto">
            <a:xfrm rot="21122288" flipH="1">
              <a:off x="1446" y="886"/>
              <a:ext cx="75" cy="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4" name="Rectangle 26"/>
            <p:cNvSpPr>
              <a:spLocks noChangeArrowheads="1"/>
            </p:cNvSpPr>
            <p:nvPr/>
          </p:nvSpPr>
          <p:spPr bwMode="auto">
            <a:xfrm>
              <a:off x="1250" y="744"/>
              <a:ext cx="28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i="1">
                  <a:solidFill>
                    <a:srgbClr val="FFFF00"/>
                  </a:solidFill>
                  <a:sym typeface="Symbol" panose="05050102010706020507" pitchFamily="18" charset="2"/>
                </a:rPr>
                <a:t></a:t>
              </a:r>
              <a:endParaRPr lang="zh-CN" altLang="en-US" b="0">
                <a:solidFill>
                  <a:srgbClr val="FFFF00"/>
                </a:solidFill>
              </a:endParaRPr>
            </a:p>
          </p:txBody>
        </p:sp>
      </p:grpSp>
      <p:sp>
        <p:nvSpPr>
          <p:cNvPr id="71707" name="Rectangle 27"/>
          <p:cNvSpPr>
            <a:spLocks noChangeArrowheads="1"/>
          </p:cNvSpPr>
          <p:nvPr/>
        </p:nvSpPr>
        <p:spPr bwMode="auto">
          <a:xfrm>
            <a:off x="1752600" y="2019300"/>
            <a:ext cx="1116013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00FF"/>
                </a:solidFill>
              </a:rPr>
              <a:t>d</a:t>
            </a:r>
            <a:r>
              <a:rPr lang="en-US" altLang="zh-CN">
                <a:solidFill>
                  <a:srgbClr val="FF00FF"/>
                </a:solidFill>
              </a:rPr>
              <a:t>sin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</a:t>
            </a:r>
            <a:endParaRPr lang="en-US" altLang="zh-CN" b="0" i="1">
              <a:solidFill>
                <a:srgbClr val="FF00FF"/>
              </a:solidFill>
            </a:endParaRPr>
          </a:p>
        </p:txBody>
      </p:sp>
      <p:sp>
        <p:nvSpPr>
          <p:cNvPr id="71708" name="Rectangle 28"/>
          <p:cNvSpPr>
            <a:spLocks noChangeArrowheads="1"/>
          </p:cNvSpPr>
          <p:nvPr/>
        </p:nvSpPr>
        <p:spPr bwMode="auto">
          <a:xfrm>
            <a:off x="3962400" y="827088"/>
            <a:ext cx="3048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endParaRPr lang="en-US" altLang="zh-CN" b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709" name="Rectangle 29"/>
          <p:cNvSpPr>
            <a:spLocks noChangeArrowheads="1"/>
          </p:cNvSpPr>
          <p:nvPr/>
        </p:nvSpPr>
        <p:spPr bwMode="auto">
          <a:xfrm>
            <a:off x="4089400" y="1138238"/>
            <a:ext cx="25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endParaRPr lang="en-US" altLang="zh-CN" b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0" name="Group 30"/>
          <p:cNvGrpSpPr/>
          <p:nvPr/>
        </p:nvGrpSpPr>
        <p:grpSpPr bwMode="auto">
          <a:xfrm>
            <a:off x="2486025" y="1604963"/>
            <a:ext cx="434975" cy="371475"/>
            <a:chOff x="1806" y="1073"/>
            <a:chExt cx="274" cy="234"/>
          </a:xfrm>
        </p:grpSpPr>
        <p:sp>
          <p:nvSpPr>
            <p:cNvPr id="13407" name="Line 31"/>
            <p:cNvSpPr>
              <a:spLocks noChangeShapeType="1"/>
            </p:cNvSpPr>
            <p:nvPr/>
          </p:nvSpPr>
          <p:spPr bwMode="auto">
            <a:xfrm flipH="1">
              <a:off x="1824" y="1073"/>
              <a:ext cx="112" cy="169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408" name="Line 32"/>
            <p:cNvSpPr>
              <a:spLocks noChangeShapeType="1"/>
            </p:cNvSpPr>
            <p:nvPr/>
          </p:nvSpPr>
          <p:spPr bwMode="auto">
            <a:xfrm>
              <a:off x="1960" y="1073"/>
              <a:ext cx="112" cy="169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409" name="Line 33"/>
            <p:cNvSpPr>
              <a:spLocks noChangeShapeType="1"/>
            </p:cNvSpPr>
            <p:nvPr/>
          </p:nvSpPr>
          <p:spPr bwMode="auto">
            <a:xfrm>
              <a:off x="1806" y="1258"/>
              <a:ext cx="120" cy="49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0" name="Line 34"/>
            <p:cNvSpPr>
              <a:spLocks noChangeShapeType="1"/>
            </p:cNvSpPr>
            <p:nvPr/>
          </p:nvSpPr>
          <p:spPr bwMode="auto">
            <a:xfrm flipH="1">
              <a:off x="1960" y="1252"/>
              <a:ext cx="120" cy="5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1" name="Arc 35"/>
            <p:cNvSpPr/>
            <p:nvPr/>
          </p:nvSpPr>
          <p:spPr bwMode="auto">
            <a:xfrm rot="1372667" flipV="1">
              <a:off x="1953" y="1170"/>
              <a:ext cx="71" cy="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2" name="Arc 36"/>
            <p:cNvSpPr/>
            <p:nvPr/>
          </p:nvSpPr>
          <p:spPr bwMode="auto">
            <a:xfrm rot="2686142" flipV="1">
              <a:off x="1869" y="1165"/>
              <a:ext cx="71" cy="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17" name="Text Box 37"/>
          <p:cNvSpPr txBox="1">
            <a:spLocks noChangeArrowheads="1"/>
          </p:cNvSpPr>
          <p:nvPr/>
        </p:nvSpPr>
        <p:spPr bwMode="auto">
          <a:xfrm>
            <a:off x="468313" y="2136775"/>
            <a:ext cx="113188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med" len="sm"/>
                <a:tailEnd type="none" w="med" len="sm"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</a:rPr>
              <a:t>晶面</a:t>
            </a:r>
          </a:p>
        </p:txBody>
      </p:sp>
      <p:sp>
        <p:nvSpPr>
          <p:cNvPr id="71718" name="Text Box 38"/>
          <p:cNvSpPr txBox="1">
            <a:spLocks noChangeArrowheads="1"/>
          </p:cNvSpPr>
          <p:nvPr/>
        </p:nvSpPr>
        <p:spPr bwMode="auto">
          <a:xfrm>
            <a:off x="2137247" y="1628800"/>
            <a:ext cx="490537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med" len="sm"/>
                <a:tailEnd type="none" w="med" len="sm"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719" name="Text Box 39"/>
          <p:cNvSpPr txBox="1">
            <a:spLocks noChangeArrowheads="1"/>
          </p:cNvSpPr>
          <p:nvPr/>
        </p:nvSpPr>
        <p:spPr bwMode="auto">
          <a:xfrm>
            <a:off x="2543175" y="1976438"/>
            <a:ext cx="4191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med" len="sm"/>
                <a:tailEnd type="none" w="med" len="sm"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1720" name="Text Box 40"/>
          <p:cNvSpPr txBox="1">
            <a:spLocks noChangeArrowheads="1"/>
          </p:cNvSpPr>
          <p:nvPr/>
        </p:nvSpPr>
        <p:spPr bwMode="auto">
          <a:xfrm>
            <a:off x="2895997" y="1628800"/>
            <a:ext cx="523875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med" len="sm"/>
                <a:tailEnd type="none" w="med" len="sm"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1721" name="Line 41"/>
          <p:cNvSpPr>
            <a:spLocks noChangeShapeType="1"/>
          </p:cNvSpPr>
          <p:nvPr/>
        </p:nvSpPr>
        <p:spPr bwMode="auto">
          <a:xfrm flipH="1">
            <a:off x="2286000" y="1963738"/>
            <a:ext cx="304800" cy="16668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2" name="Text Box 42"/>
          <p:cNvSpPr txBox="1">
            <a:spLocks noChangeArrowheads="1"/>
          </p:cNvSpPr>
          <p:nvPr/>
        </p:nvSpPr>
        <p:spPr bwMode="auto">
          <a:xfrm>
            <a:off x="476250" y="368300"/>
            <a:ext cx="58102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FFFF"/>
                </a:solidFill>
              </a:rPr>
              <a:t>4. X</a:t>
            </a:r>
            <a:r>
              <a:rPr lang="zh-CN" altLang="en-US">
                <a:solidFill>
                  <a:srgbClr val="00FFFF"/>
                </a:solidFill>
              </a:rPr>
              <a:t>射线衍射方程</a:t>
            </a:r>
            <a:endParaRPr lang="zh-CN" altLang="en-US">
              <a:solidFill>
                <a:srgbClr val="00FFFF"/>
              </a:solidFill>
              <a:latin typeface="宋体" panose="02010600030101010101" pitchFamily="2" charset="-122"/>
            </a:endParaRPr>
          </a:p>
        </p:txBody>
      </p:sp>
      <p:sp>
        <p:nvSpPr>
          <p:cNvPr id="71723" name="Text Box 43"/>
          <p:cNvSpPr txBox="1">
            <a:spLocks noChangeArrowheads="1"/>
          </p:cNvSpPr>
          <p:nvPr/>
        </p:nvSpPr>
        <p:spPr bwMode="auto">
          <a:xfrm>
            <a:off x="522288" y="3702050"/>
            <a:ext cx="30289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1) </a:t>
            </a:r>
            <a:r>
              <a:rPr lang="zh-CN" altLang="en-US">
                <a:solidFill>
                  <a:schemeClr val="bg1"/>
                </a:solidFill>
              </a:rPr>
              <a:t>衍射中心：</a:t>
            </a:r>
          </a:p>
        </p:txBody>
      </p:sp>
      <p:grpSp>
        <p:nvGrpSpPr>
          <p:cNvPr id="11" name="Group 44"/>
          <p:cNvGrpSpPr/>
          <p:nvPr/>
        </p:nvGrpSpPr>
        <p:grpSpPr bwMode="auto">
          <a:xfrm>
            <a:off x="5972175" y="2913063"/>
            <a:ext cx="2171700" cy="463550"/>
            <a:chOff x="3816" y="883"/>
            <a:chExt cx="1368" cy="292"/>
          </a:xfrm>
        </p:grpSpPr>
        <p:graphicFrame>
          <p:nvGraphicFramePr>
            <p:cNvPr id="13405" name="Object 3"/>
            <p:cNvGraphicFramePr>
              <a:graphicFrameLocks noChangeAspect="1"/>
            </p:cNvGraphicFramePr>
            <p:nvPr/>
          </p:nvGraphicFramePr>
          <p:xfrm>
            <a:off x="3816" y="938"/>
            <a:ext cx="177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864" name="公式" r:id="rId3" imgW="190500" imgH="228600" progId="Equation.3">
                    <p:embed/>
                  </p:oleObj>
                </mc:Choice>
                <mc:Fallback>
                  <p:oleObj name="公式" r:id="rId3" imgW="190500" imgH="228600" progId="Equation.3">
                    <p:embed/>
                    <p:pic>
                      <p:nvPicPr>
                        <p:cNvPr id="1340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938"/>
                          <a:ext cx="177" cy="2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06" name="Text Box 46"/>
            <p:cNvSpPr txBox="1">
              <a:spLocks noChangeArrowheads="1"/>
            </p:cNvSpPr>
            <p:nvPr/>
          </p:nvSpPr>
          <p:spPr bwMode="auto">
            <a:xfrm>
              <a:off x="4032" y="883"/>
              <a:ext cx="115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</a:rPr>
                <a:t>: </a:t>
              </a:r>
              <a:r>
                <a:rPr lang="zh-CN" altLang="en-US" dirty="0">
                  <a:solidFill>
                    <a:schemeClr val="bg1"/>
                  </a:solidFill>
                </a:rPr>
                <a:t>掠射角</a:t>
              </a:r>
            </a:p>
          </p:txBody>
        </p:sp>
      </p:grpSp>
      <p:sp>
        <p:nvSpPr>
          <p:cNvPr id="71727" name="Text Box 47"/>
          <p:cNvSpPr txBox="1">
            <a:spLocks noChangeArrowheads="1"/>
          </p:cNvSpPr>
          <p:nvPr/>
        </p:nvSpPr>
        <p:spPr bwMode="auto">
          <a:xfrm>
            <a:off x="5778500" y="1019175"/>
            <a:ext cx="2895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d 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 altLang="en-US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晶面间距</a:t>
            </a:r>
            <a:endParaRPr lang="zh-CN" altLang="en-US" b="0">
              <a:solidFill>
                <a:schemeClr val="bg1"/>
              </a:solidFill>
            </a:endParaRPr>
          </a:p>
        </p:txBody>
      </p:sp>
      <p:sp>
        <p:nvSpPr>
          <p:cNvPr id="71728" name="Text Box 48"/>
          <p:cNvSpPr txBox="1">
            <a:spLocks noChangeArrowheads="1"/>
          </p:cNvSpPr>
          <p:nvPr/>
        </p:nvSpPr>
        <p:spPr bwMode="auto">
          <a:xfrm>
            <a:off x="522288" y="4295775"/>
            <a:ext cx="75485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2) </a:t>
            </a:r>
            <a:r>
              <a:rPr lang="zh-CN" altLang="en-US">
                <a:solidFill>
                  <a:schemeClr val="bg1"/>
                </a:solidFill>
              </a:rPr>
              <a:t>同一层晶面上点间散射光的干涉：</a:t>
            </a:r>
          </a:p>
        </p:txBody>
      </p:sp>
      <p:sp>
        <p:nvSpPr>
          <p:cNvPr id="71729" name="Text Box 49"/>
          <p:cNvSpPr txBox="1">
            <a:spLocks noChangeArrowheads="1"/>
          </p:cNvSpPr>
          <p:nvPr/>
        </p:nvSpPr>
        <p:spPr bwMode="auto">
          <a:xfrm>
            <a:off x="3006725" y="3678238"/>
            <a:ext cx="60658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每个原子都是散射子波的波源</a:t>
            </a:r>
          </a:p>
        </p:txBody>
      </p:sp>
      <p:grpSp>
        <p:nvGrpSpPr>
          <p:cNvPr id="12" name="Group 50"/>
          <p:cNvGrpSpPr/>
          <p:nvPr/>
        </p:nvGrpSpPr>
        <p:grpSpPr bwMode="auto">
          <a:xfrm>
            <a:off x="1068388" y="4979988"/>
            <a:ext cx="4421187" cy="950912"/>
            <a:chOff x="1135" y="3075"/>
            <a:chExt cx="2785" cy="599"/>
          </a:xfrm>
        </p:grpSpPr>
        <p:sp>
          <p:nvSpPr>
            <p:cNvPr id="13390" name="Line 51"/>
            <p:cNvSpPr>
              <a:spLocks noChangeShapeType="1"/>
            </p:cNvSpPr>
            <p:nvPr/>
          </p:nvSpPr>
          <p:spPr bwMode="auto">
            <a:xfrm flipV="1">
              <a:off x="2328" y="3147"/>
              <a:ext cx="1080" cy="344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 type="none" w="med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1" name="Line 52"/>
            <p:cNvSpPr>
              <a:spLocks noChangeShapeType="1"/>
            </p:cNvSpPr>
            <p:nvPr/>
          </p:nvSpPr>
          <p:spPr bwMode="auto">
            <a:xfrm flipV="1">
              <a:off x="2712" y="3125"/>
              <a:ext cx="1080" cy="366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 type="none" w="med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2" name="Line 53"/>
            <p:cNvSpPr>
              <a:spLocks noChangeShapeType="1"/>
            </p:cNvSpPr>
            <p:nvPr/>
          </p:nvSpPr>
          <p:spPr bwMode="auto">
            <a:xfrm>
              <a:off x="1263" y="3194"/>
              <a:ext cx="1057" cy="289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 type="none" w="med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3" name="Line 54"/>
            <p:cNvSpPr>
              <a:spLocks noChangeShapeType="1"/>
            </p:cNvSpPr>
            <p:nvPr/>
          </p:nvSpPr>
          <p:spPr bwMode="auto">
            <a:xfrm>
              <a:off x="1252" y="3075"/>
              <a:ext cx="1460" cy="406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 type="none" w="med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4" name="Line 55"/>
            <p:cNvSpPr>
              <a:spLocks noChangeShapeType="1"/>
            </p:cNvSpPr>
            <p:nvPr/>
          </p:nvSpPr>
          <p:spPr bwMode="auto">
            <a:xfrm>
              <a:off x="1135" y="3481"/>
              <a:ext cx="2785" cy="8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5" name="Rectangle 56"/>
            <p:cNvSpPr>
              <a:spLocks noChangeArrowheads="1"/>
            </p:cNvSpPr>
            <p:nvPr/>
          </p:nvSpPr>
          <p:spPr bwMode="auto">
            <a:xfrm>
              <a:off x="1480" y="3367"/>
              <a:ext cx="32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000" b="0"/>
            </a:p>
          </p:txBody>
        </p:sp>
        <p:sp>
          <p:nvSpPr>
            <p:cNvPr id="13396" name="Rectangle 57"/>
            <p:cNvSpPr>
              <a:spLocks noChangeArrowheads="1"/>
            </p:cNvSpPr>
            <p:nvPr/>
          </p:nvSpPr>
          <p:spPr bwMode="auto">
            <a:xfrm>
              <a:off x="1880" y="3367"/>
              <a:ext cx="16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000" b="0"/>
            </a:p>
          </p:txBody>
        </p:sp>
        <p:sp>
          <p:nvSpPr>
            <p:cNvPr id="13397" name="Rectangle 58"/>
            <p:cNvSpPr>
              <a:spLocks noChangeArrowheads="1"/>
            </p:cNvSpPr>
            <p:nvPr/>
          </p:nvSpPr>
          <p:spPr bwMode="auto">
            <a:xfrm>
              <a:off x="2280" y="3359"/>
              <a:ext cx="24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000" b="0"/>
            </a:p>
          </p:txBody>
        </p:sp>
        <p:sp>
          <p:nvSpPr>
            <p:cNvPr id="13398" name="Rectangle 59"/>
            <p:cNvSpPr>
              <a:spLocks noChangeArrowheads="1"/>
            </p:cNvSpPr>
            <p:nvPr/>
          </p:nvSpPr>
          <p:spPr bwMode="auto">
            <a:xfrm>
              <a:off x="2664" y="3367"/>
              <a:ext cx="19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000" b="0"/>
            </a:p>
          </p:txBody>
        </p:sp>
        <p:sp>
          <p:nvSpPr>
            <p:cNvPr id="13399" name="Rectangle 60"/>
            <p:cNvSpPr>
              <a:spLocks noChangeArrowheads="1"/>
            </p:cNvSpPr>
            <p:nvPr/>
          </p:nvSpPr>
          <p:spPr bwMode="auto">
            <a:xfrm>
              <a:off x="3080" y="3367"/>
              <a:ext cx="26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000" b="0"/>
            </a:p>
          </p:txBody>
        </p:sp>
        <p:sp>
          <p:nvSpPr>
            <p:cNvPr id="13400" name="Rectangle 61"/>
            <p:cNvSpPr>
              <a:spLocks noChangeArrowheads="1"/>
            </p:cNvSpPr>
            <p:nvPr/>
          </p:nvSpPr>
          <p:spPr bwMode="auto">
            <a:xfrm>
              <a:off x="3496" y="3367"/>
              <a:ext cx="32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000" b="0"/>
            </a:p>
          </p:txBody>
        </p:sp>
        <p:sp>
          <p:nvSpPr>
            <p:cNvPr id="13401" name="Arc 62"/>
            <p:cNvSpPr/>
            <p:nvPr/>
          </p:nvSpPr>
          <p:spPr bwMode="auto">
            <a:xfrm rot="20102038" flipH="1">
              <a:off x="1768" y="3347"/>
              <a:ext cx="88" cy="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175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2" name="Arc 63"/>
            <p:cNvSpPr/>
            <p:nvPr/>
          </p:nvSpPr>
          <p:spPr bwMode="auto">
            <a:xfrm rot="1543185">
              <a:off x="3173" y="3344"/>
              <a:ext cx="88" cy="1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175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3" name="Rectangle 64"/>
            <p:cNvSpPr>
              <a:spLocks noChangeArrowheads="1"/>
            </p:cNvSpPr>
            <p:nvPr/>
          </p:nvSpPr>
          <p:spPr bwMode="auto">
            <a:xfrm>
              <a:off x="1547" y="3262"/>
              <a:ext cx="390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i="1">
                  <a:solidFill>
                    <a:srgbClr val="FFFF00"/>
                  </a:solidFill>
                  <a:sym typeface="Symbol" panose="05050102010706020507" pitchFamily="18" charset="2"/>
                </a:rPr>
                <a:t></a:t>
              </a:r>
              <a:endParaRPr lang="zh-CN" altLang="en-US" b="0" i="1">
                <a:solidFill>
                  <a:srgbClr val="FFFF00"/>
                </a:solidFill>
              </a:endParaRPr>
            </a:p>
          </p:txBody>
        </p:sp>
        <p:sp>
          <p:nvSpPr>
            <p:cNvPr id="13404" name="Rectangle 65"/>
            <p:cNvSpPr>
              <a:spLocks noChangeArrowheads="1"/>
            </p:cNvSpPr>
            <p:nvPr/>
          </p:nvSpPr>
          <p:spPr bwMode="auto">
            <a:xfrm>
              <a:off x="3259" y="3253"/>
              <a:ext cx="55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i="1">
                  <a:solidFill>
                    <a:srgbClr val="FFFF00"/>
                  </a:solidFill>
                  <a:sym typeface="Symbol" panose="05050102010706020507" pitchFamily="18" charset="2"/>
                </a:rPr>
                <a:t></a:t>
              </a:r>
              <a:endParaRPr lang="zh-CN" altLang="en-US" b="0" i="1">
                <a:solidFill>
                  <a:srgbClr val="FFFF00"/>
                </a:solidFill>
              </a:endParaRPr>
            </a:p>
          </p:txBody>
        </p:sp>
      </p:grpSp>
      <p:sp>
        <p:nvSpPr>
          <p:cNvPr id="71746" name="Text Box 66"/>
          <p:cNvSpPr txBox="1">
            <a:spLocks noChangeArrowheads="1"/>
          </p:cNvSpPr>
          <p:nvPr/>
        </p:nvSpPr>
        <p:spPr bwMode="auto">
          <a:xfrm>
            <a:off x="522288" y="5929313"/>
            <a:ext cx="48196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3) </a:t>
            </a:r>
            <a:r>
              <a:rPr lang="zh-CN" altLang="en-US">
                <a:solidFill>
                  <a:schemeClr val="bg1"/>
                </a:solidFill>
              </a:rPr>
              <a:t>晶面间散射光的干涉：</a:t>
            </a:r>
          </a:p>
        </p:txBody>
      </p:sp>
      <p:graphicFrame>
        <p:nvGraphicFramePr>
          <p:cNvPr id="71747" name="Object 2"/>
          <p:cNvGraphicFramePr>
            <a:graphicFrameLocks noChangeAspect="1"/>
          </p:cNvGraphicFramePr>
          <p:nvPr/>
        </p:nvGraphicFramePr>
        <p:xfrm>
          <a:off x="4500563" y="5926138"/>
          <a:ext cx="3829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865" name="公式" r:id="rId5" imgW="1574165" imgH="215900" progId="Equation.3">
                  <p:embed/>
                </p:oleObj>
              </mc:Choice>
              <mc:Fallback>
                <p:oleObj name="公式" r:id="rId5" imgW="1574165" imgH="215900" progId="Equation.3">
                  <p:embed/>
                  <p:pic>
                    <p:nvPicPr>
                      <p:cNvPr id="7174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926138"/>
                        <a:ext cx="3829050" cy="503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8" name="Text Box 68"/>
          <p:cNvSpPr txBox="1">
            <a:spLocks noChangeArrowheads="1"/>
          </p:cNvSpPr>
          <p:nvPr/>
        </p:nvSpPr>
        <p:spPr bwMode="auto">
          <a:xfrm>
            <a:off x="5457825" y="2252663"/>
            <a:ext cx="34702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NaCl  </a:t>
            </a:r>
            <a:r>
              <a:rPr lang="en-US" altLang="zh-CN" i="1" dirty="0">
                <a:solidFill>
                  <a:schemeClr val="bg1"/>
                </a:solidFill>
              </a:rPr>
              <a:t>d </a:t>
            </a:r>
            <a:r>
              <a:rPr lang="en-US" altLang="zh-CN" dirty="0">
                <a:solidFill>
                  <a:schemeClr val="bg1"/>
                </a:solidFill>
              </a:rPr>
              <a:t>=0. 28nm</a:t>
            </a:r>
          </a:p>
        </p:txBody>
      </p:sp>
      <p:sp>
        <p:nvSpPr>
          <p:cNvPr id="71749" name="Text Box 69"/>
          <p:cNvSpPr txBox="1">
            <a:spLocks noChangeArrowheads="1"/>
          </p:cNvSpPr>
          <p:nvPr/>
        </p:nvSpPr>
        <p:spPr bwMode="auto">
          <a:xfrm>
            <a:off x="5791200" y="4719638"/>
            <a:ext cx="278765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符合反射定律的散射光加强</a:t>
            </a:r>
          </a:p>
        </p:txBody>
      </p:sp>
      <p:sp>
        <p:nvSpPr>
          <p:cNvPr id="71750" name="Rectangle 70"/>
          <p:cNvSpPr>
            <a:spLocks noChangeArrowheads="1"/>
          </p:cNvSpPr>
          <p:nvPr/>
        </p:nvSpPr>
        <p:spPr bwMode="auto">
          <a:xfrm>
            <a:off x="6281738" y="1598613"/>
            <a:ext cx="2041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（晶格常数）</a:t>
            </a:r>
          </a:p>
        </p:txBody>
      </p:sp>
      <p:grpSp>
        <p:nvGrpSpPr>
          <p:cNvPr id="13" name="Group 71"/>
          <p:cNvGrpSpPr/>
          <p:nvPr/>
        </p:nvGrpSpPr>
        <p:grpSpPr bwMode="auto">
          <a:xfrm>
            <a:off x="1231900" y="1447800"/>
            <a:ext cx="3581400" cy="1803400"/>
            <a:chOff x="807" y="1033"/>
            <a:chExt cx="2256" cy="1136"/>
          </a:xfrm>
        </p:grpSpPr>
        <p:sp>
          <p:nvSpPr>
            <p:cNvPr id="13346" name="Line 72"/>
            <p:cNvSpPr>
              <a:spLocks noChangeShapeType="1"/>
            </p:cNvSpPr>
            <p:nvPr/>
          </p:nvSpPr>
          <p:spPr bwMode="auto">
            <a:xfrm>
              <a:off x="1009" y="1041"/>
              <a:ext cx="0" cy="1114"/>
            </a:xfrm>
            <a:prstGeom prst="line">
              <a:avLst/>
            </a:prstGeom>
            <a:noFill/>
            <a:ln w="25400">
              <a:solidFill>
                <a:srgbClr val="80008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Rectangle 73"/>
            <p:cNvSpPr>
              <a:spLocks noChangeArrowheads="1"/>
            </p:cNvSpPr>
            <p:nvPr/>
          </p:nvSpPr>
          <p:spPr bwMode="auto">
            <a:xfrm>
              <a:off x="959" y="1033"/>
              <a:ext cx="22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48" name="Rectangle 74"/>
            <p:cNvSpPr>
              <a:spLocks noChangeArrowheads="1"/>
            </p:cNvSpPr>
            <p:nvPr/>
          </p:nvSpPr>
          <p:spPr bwMode="auto">
            <a:xfrm>
              <a:off x="967" y="1259"/>
              <a:ext cx="18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49" name="Rectangle 75"/>
            <p:cNvSpPr>
              <a:spLocks noChangeArrowheads="1"/>
            </p:cNvSpPr>
            <p:nvPr/>
          </p:nvSpPr>
          <p:spPr bwMode="auto">
            <a:xfrm>
              <a:off x="967" y="1499"/>
              <a:ext cx="18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0" name="Rectangle 76"/>
            <p:cNvSpPr>
              <a:spLocks noChangeArrowheads="1"/>
            </p:cNvSpPr>
            <p:nvPr/>
          </p:nvSpPr>
          <p:spPr bwMode="auto">
            <a:xfrm>
              <a:off x="967" y="1710"/>
              <a:ext cx="2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1" name="Rectangle 77"/>
            <p:cNvSpPr>
              <a:spLocks noChangeArrowheads="1"/>
            </p:cNvSpPr>
            <p:nvPr/>
          </p:nvSpPr>
          <p:spPr bwMode="auto">
            <a:xfrm>
              <a:off x="967" y="1950"/>
              <a:ext cx="216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2" name="Line 78"/>
            <p:cNvSpPr>
              <a:spLocks noChangeShapeType="1"/>
            </p:cNvSpPr>
            <p:nvPr/>
          </p:nvSpPr>
          <p:spPr bwMode="auto">
            <a:xfrm>
              <a:off x="1375" y="1041"/>
              <a:ext cx="0" cy="1114"/>
            </a:xfrm>
            <a:prstGeom prst="line">
              <a:avLst/>
            </a:prstGeom>
            <a:noFill/>
            <a:ln w="25400">
              <a:solidFill>
                <a:srgbClr val="80008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Rectangle 79"/>
            <p:cNvSpPr>
              <a:spLocks noChangeArrowheads="1"/>
            </p:cNvSpPr>
            <p:nvPr/>
          </p:nvSpPr>
          <p:spPr bwMode="auto">
            <a:xfrm>
              <a:off x="1319" y="1033"/>
              <a:ext cx="22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4" name="Rectangle 80"/>
            <p:cNvSpPr>
              <a:spLocks noChangeArrowheads="1"/>
            </p:cNvSpPr>
            <p:nvPr/>
          </p:nvSpPr>
          <p:spPr bwMode="auto">
            <a:xfrm>
              <a:off x="1314" y="1259"/>
              <a:ext cx="18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5" name="Rectangle 81"/>
            <p:cNvSpPr>
              <a:spLocks noChangeArrowheads="1"/>
            </p:cNvSpPr>
            <p:nvPr/>
          </p:nvSpPr>
          <p:spPr bwMode="auto">
            <a:xfrm>
              <a:off x="1327" y="1499"/>
              <a:ext cx="18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6" name="Rectangle 82"/>
            <p:cNvSpPr>
              <a:spLocks noChangeArrowheads="1"/>
            </p:cNvSpPr>
            <p:nvPr/>
          </p:nvSpPr>
          <p:spPr bwMode="auto">
            <a:xfrm>
              <a:off x="1327" y="1710"/>
              <a:ext cx="2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7" name="Rectangle 83"/>
            <p:cNvSpPr>
              <a:spLocks noChangeArrowheads="1"/>
            </p:cNvSpPr>
            <p:nvPr/>
          </p:nvSpPr>
          <p:spPr bwMode="auto">
            <a:xfrm>
              <a:off x="1327" y="1950"/>
              <a:ext cx="216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58" name="Line 84"/>
            <p:cNvSpPr>
              <a:spLocks noChangeShapeType="1"/>
            </p:cNvSpPr>
            <p:nvPr/>
          </p:nvSpPr>
          <p:spPr bwMode="auto">
            <a:xfrm>
              <a:off x="2111" y="1041"/>
              <a:ext cx="0" cy="1114"/>
            </a:xfrm>
            <a:prstGeom prst="line">
              <a:avLst/>
            </a:prstGeom>
            <a:noFill/>
            <a:ln w="25400">
              <a:solidFill>
                <a:srgbClr val="80008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9" name="Rectangle 85"/>
            <p:cNvSpPr>
              <a:spLocks noChangeArrowheads="1"/>
            </p:cNvSpPr>
            <p:nvPr/>
          </p:nvSpPr>
          <p:spPr bwMode="auto">
            <a:xfrm>
              <a:off x="2061" y="1033"/>
              <a:ext cx="22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60" name="Rectangle 86"/>
            <p:cNvSpPr>
              <a:spLocks noChangeArrowheads="1"/>
            </p:cNvSpPr>
            <p:nvPr/>
          </p:nvSpPr>
          <p:spPr bwMode="auto">
            <a:xfrm>
              <a:off x="2063" y="1259"/>
              <a:ext cx="18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61" name="Rectangle 87"/>
            <p:cNvSpPr>
              <a:spLocks noChangeArrowheads="1"/>
            </p:cNvSpPr>
            <p:nvPr/>
          </p:nvSpPr>
          <p:spPr bwMode="auto">
            <a:xfrm>
              <a:off x="2063" y="1493"/>
              <a:ext cx="1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62" name="Rectangle 88"/>
            <p:cNvSpPr>
              <a:spLocks noChangeArrowheads="1"/>
            </p:cNvSpPr>
            <p:nvPr/>
          </p:nvSpPr>
          <p:spPr bwMode="auto">
            <a:xfrm>
              <a:off x="2063" y="1710"/>
              <a:ext cx="2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63" name="Rectangle 89"/>
            <p:cNvSpPr>
              <a:spLocks noChangeArrowheads="1"/>
            </p:cNvSpPr>
            <p:nvPr/>
          </p:nvSpPr>
          <p:spPr bwMode="auto">
            <a:xfrm>
              <a:off x="2063" y="1950"/>
              <a:ext cx="216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</a:t>
              </a:r>
              <a:endParaRPr lang="zh-CN" altLang="en-US" b="0"/>
            </a:p>
          </p:txBody>
        </p:sp>
        <p:sp>
          <p:nvSpPr>
            <p:cNvPr id="13364" name="Line 90"/>
            <p:cNvSpPr>
              <a:spLocks noChangeShapeType="1"/>
            </p:cNvSpPr>
            <p:nvPr/>
          </p:nvSpPr>
          <p:spPr bwMode="auto">
            <a:xfrm>
              <a:off x="2479" y="1041"/>
              <a:ext cx="0" cy="1114"/>
            </a:xfrm>
            <a:prstGeom prst="line">
              <a:avLst/>
            </a:prstGeom>
            <a:noFill/>
            <a:ln w="25400">
              <a:solidFill>
                <a:srgbClr val="80008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65" name="Group 91"/>
            <p:cNvGrpSpPr/>
            <p:nvPr/>
          </p:nvGrpSpPr>
          <p:grpSpPr bwMode="auto">
            <a:xfrm>
              <a:off x="2423" y="1033"/>
              <a:ext cx="224" cy="1136"/>
              <a:chOff x="0" y="0"/>
              <a:chExt cx="20000" cy="20000"/>
            </a:xfrm>
          </p:grpSpPr>
          <p:sp>
            <p:nvSpPr>
              <p:cNvPr id="13385" name="Rectangle 9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3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6" name="Rectangle 93"/>
              <p:cNvSpPr>
                <a:spLocks noChangeArrowheads="1"/>
              </p:cNvSpPr>
              <p:nvPr/>
            </p:nvSpPr>
            <p:spPr bwMode="auto">
              <a:xfrm>
                <a:off x="713" y="3974"/>
                <a:ext cx="16435" cy="2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7" name="Rectangle 94"/>
              <p:cNvSpPr>
                <a:spLocks noChangeArrowheads="1"/>
              </p:cNvSpPr>
              <p:nvPr/>
            </p:nvSpPr>
            <p:spPr bwMode="auto">
              <a:xfrm>
                <a:off x="713" y="8195"/>
                <a:ext cx="16435" cy="3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8" name="Rectangle 95"/>
              <p:cNvSpPr>
                <a:spLocks noChangeArrowheads="1"/>
              </p:cNvSpPr>
              <p:nvPr/>
            </p:nvSpPr>
            <p:spPr bwMode="auto">
              <a:xfrm>
                <a:off x="713" y="11924"/>
                <a:ext cx="18574" cy="3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9" name="Rectangle 96"/>
              <p:cNvSpPr>
                <a:spLocks noChangeArrowheads="1"/>
              </p:cNvSpPr>
              <p:nvPr/>
            </p:nvSpPr>
            <p:spPr bwMode="auto">
              <a:xfrm>
                <a:off x="713" y="16144"/>
                <a:ext cx="19287" cy="3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</p:grpSp>
        <p:sp>
          <p:nvSpPr>
            <p:cNvPr id="13366" name="Line 97"/>
            <p:cNvSpPr>
              <a:spLocks noChangeShapeType="1"/>
            </p:cNvSpPr>
            <p:nvPr/>
          </p:nvSpPr>
          <p:spPr bwMode="auto">
            <a:xfrm>
              <a:off x="2839" y="1041"/>
              <a:ext cx="0" cy="1114"/>
            </a:xfrm>
            <a:prstGeom prst="line">
              <a:avLst/>
            </a:prstGeom>
            <a:noFill/>
            <a:ln w="25400">
              <a:solidFill>
                <a:srgbClr val="80008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67" name="Group 98"/>
            <p:cNvGrpSpPr/>
            <p:nvPr/>
          </p:nvGrpSpPr>
          <p:grpSpPr bwMode="auto">
            <a:xfrm>
              <a:off x="2783" y="1033"/>
              <a:ext cx="224" cy="1136"/>
              <a:chOff x="0" y="0"/>
              <a:chExt cx="20000" cy="20000"/>
            </a:xfrm>
          </p:grpSpPr>
          <p:sp>
            <p:nvSpPr>
              <p:cNvPr id="13380" name="Rectangle 9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3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1" name="Rectangle 100"/>
              <p:cNvSpPr>
                <a:spLocks noChangeArrowheads="1"/>
              </p:cNvSpPr>
              <p:nvPr/>
            </p:nvSpPr>
            <p:spPr bwMode="auto">
              <a:xfrm>
                <a:off x="713" y="3974"/>
                <a:ext cx="16435" cy="2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2" name="Rectangle 101"/>
              <p:cNvSpPr>
                <a:spLocks noChangeArrowheads="1"/>
              </p:cNvSpPr>
              <p:nvPr/>
            </p:nvSpPr>
            <p:spPr bwMode="auto">
              <a:xfrm>
                <a:off x="713" y="8195"/>
                <a:ext cx="16435" cy="3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3" name="Rectangle 102"/>
              <p:cNvSpPr>
                <a:spLocks noChangeArrowheads="1"/>
              </p:cNvSpPr>
              <p:nvPr/>
            </p:nvSpPr>
            <p:spPr bwMode="auto">
              <a:xfrm>
                <a:off x="713" y="11924"/>
                <a:ext cx="18574" cy="3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84" name="Rectangle 103"/>
              <p:cNvSpPr>
                <a:spLocks noChangeArrowheads="1"/>
              </p:cNvSpPr>
              <p:nvPr/>
            </p:nvSpPr>
            <p:spPr bwMode="auto">
              <a:xfrm>
                <a:off x="713" y="16144"/>
                <a:ext cx="19287" cy="3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</p:grpSp>
        <p:sp>
          <p:nvSpPr>
            <p:cNvPr id="13368" name="Line 104"/>
            <p:cNvSpPr>
              <a:spLocks noChangeShapeType="1"/>
            </p:cNvSpPr>
            <p:nvPr/>
          </p:nvSpPr>
          <p:spPr bwMode="auto">
            <a:xfrm>
              <a:off x="823" y="1401"/>
              <a:ext cx="2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9" name="Line 105"/>
            <p:cNvSpPr>
              <a:spLocks noChangeShapeType="1"/>
            </p:cNvSpPr>
            <p:nvPr/>
          </p:nvSpPr>
          <p:spPr bwMode="auto">
            <a:xfrm>
              <a:off x="1743" y="1041"/>
              <a:ext cx="0" cy="1113"/>
            </a:xfrm>
            <a:prstGeom prst="line">
              <a:avLst/>
            </a:prstGeom>
            <a:noFill/>
            <a:ln w="25400">
              <a:solidFill>
                <a:srgbClr val="800080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70" name="Group 106"/>
            <p:cNvGrpSpPr/>
            <p:nvPr/>
          </p:nvGrpSpPr>
          <p:grpSpPr bwMode="auto">
            <a:xfrm>
              <a:off x="1687" y="1033"/>
              <a:ext cx="224" cy="1135"/>
              <a:chOff x="0" y="0"/>
              <a:chExt cx="20000" cy="20000"/>
            </a:xfrm>
          </p:grpSpPr>
          <p:sp>
            <p:nvSpPr>
              <p:cNvPr id="13375" name="Rectangle 10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3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76" name="Rectangle 108"/>
              <p:cNvSpPr>
                <a:spLocks noChangeArrowheads="1"/>
              </p:cNvSpPr>
              <p:nvPr/>
            </p:nvSpPr>
            <p:spPr bwMode="auto">
              <a:xfrm>
                <a:off x="713" y="3974"/>
                <a:ext cx="16435" cy="2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77" name="Rectangle 109"/>
              <p:cNvSpPr>
                <a:spLocks noChangeArrowheads="1"/>
              </p:cNvSpPr>
              <p:nvPr/>
            </p:nvSpPr>
            <p:spPr bwMode="auto">
              <a:xfrm>
                <a:off x="713" y="8195"/>
                <a:ext cx="16435" cy="3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78" name="Rectangle 110"/>
              <p:cNvSpPr>
                <a:spLocks noChangeArrowheads="1"/>
              </p:cNvSpPr>
              <p:nvPr/>
            </p:nvSpPr>
            <p:spPr bwMode="auto">
              <a:xfrm>
                <a:off x="713" y="11924"/>
                <a:ext cx="18574" cy="3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  <p:sp>
            <p:nvSpPr>
              <p:cNvPr id="13379" name="Rectangle 111"/>
              <p:cNvSpPr>
                <a:spLocks noChangeArrowheads="1"/>
              </p:cNvSpPr>
              <p:nvPr/>
            </p:nvSpPr>
            <p:spPr bwMode="auto">
              <a:xfrm>
                <a:off x="713" y="16145"/>
                <a:ext cx="19287" cy="3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>
                    <a:solidFill>
                      <a:srgbClr val="FF0000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b="0"/>
              </a:p>
            </p:txBody>
          </p:sp>
        </p:grpSp>
        <p:sp>
          <p:nvSpPr>
            <p:cNvPr id="13371" name="Line 112"/>
            <p:cNvSpPr>
              <a:spLocks noChangeShapeType="1"/>
            </p:cNvSpPr>
            <p:nvPr/>
          </p:nvSpPr>
          <p:spPr bwMode="auto">
            <a:xfrm>
              <a:off x="807" y="1178"/>
              <a:ext cx="2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2" name="Line 113"/>
            <p:cNvSpPr>
              <a:spLocks noChangeShapeType="1"/>
            </p:cNvSpPr>
            <p:nvPr/>
          </p:nvSpPr>
          <p:spPr bwMode="auto">
            <a:xfrm>
              <a:off x="815" y="1639"/>
              <a:ext cx="2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3" name="Line 114"/>
            <p:cNvSpPr>
              <a:spLocks noChangeShapeType="1"/>
            </p:cNvSpPr>
            <p:nvPr/>
          </p:nvSpPr>
          <p:spPr bwMode="auto">
            <a:xfrm>
              <a:off x="807" y="1866"/>
              <a:ext cx="2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4" name="Line 115"/>
            <p:cNvSpPr>
              <a:spLocks noChangeShapeType="1"/>
            </p:cNvSpPr>
            <p:nvPr/>
          </p:nvSpPr>
          <p:spPr bwMode="auto">
            <a:xfrm>
              <a:off x="823" y="2089"/>
              <a:ext cx="2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1AC2E9-A966-4B67-A045-1819476EBC80}" type="slidenum">
              <a:rPr lang="en-US" altLang="zh-CN" b="0">
                <a:solidFill>
                  <a:srgbClr val="FF00FF"/>
                </a:solidFill>
              </a:rPr>
              <a:t>23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117" name="Text Box 40"/>
          <p:cNvSpPr txBox="1">
            <a:spLocks noChangeArrowheads="1"/>
          </p:cNvSpPr>
          <p:nvPr/>
        </p:nvSpPr>
        <p:spPr bwMode="auto">
          <a:xfrm>
            <a:off x="2547938" y="1206500"/>
            <a:ext cx="523875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med" len="sm"/>
                <a:tailEnd type="none" w="med" len="sm"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chemeClr val="bg1"/>
                </a:solidFill>
              </a:rPr>
              <a:t>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7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7" grpId="0" autoUpdateAnimBg="0"/>
      <p:bldP spid="71708" grpId="0" autoUpdateAnimBg="0"/>
      <p:bldP spid="71709" grpId="0" autoUpdateAnimBg="0"/>
      <p:bldP spid="71717" grpId="0" autoUpdateAnimBg="0"/>
      <p:bldP spid="71718" grpId="0" autoUpdateAnimBg="0"/>
      <p:bldP spid="71719" grpId="0" autoUpdateAnimBg="0"/>
      <p:bldP spid="71720" grpId="0" autoUpdateAnimBg="0"/>
      <p:bldP spid="71722" grpId="0" autoUpdateAnimBg="0"/>
      <p:bldP spid="71723" grpId="0" autoUpdateAnimBg="0"/>
      <p:bldP spid="71727" grpId="0" autoUpdateAnimBg="0"/>
      <p:bldP spid="71728" grpId="0" autoUpdateAnimBg="0"/>
      <p:bldP spid="71729" grpId="0" autoUpdateAnimBg="0"/>
      <p:bldP spid="71746" grpId="0" autoUpdateAnimBg="0"/>
      <p:bldP spid="71748" grpId="0" autoUpdateAnimBg="0"/>
      <p:bldP spid="71749" grpId="0" autoUpdateAnimBg="0"/>
      <p:bldP spid="71750" grpId="0" autoUpdateAnimBg="0"/>
      <p:bldP spid="11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539552" y="157138"/>
            <a:ext cx="53340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散射光干涉加强条件：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graphicFrame>
        <p:nvGraphicFramePr>
          <p:cNvPr id="72707" name="Object 2"/>
          <p:cNvGraphicFramePr>
            <a:graphicFrameLocks noChangeAspect="1"/>
          </p:cNvGraphicFramePr>
          <p:nvPr>
            <p:extLst/>
          </p:nvPr>
        </p:nvGraphicFramePr>
        <p:xfrm>
          <a:off x="780477" y="764704"/>
          <a:ext cx="249537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886" name="公式" r:id="rId3" imgW="791845" imgH="116205" progId="Equation.3">
                  <p:embed/>
                </p:oleObj>
              </mc:Choice>
              <mc:Fallback>
                <p:oleObj name="公式" r:id="rId3" imgW="791845" imgH="116205" progId="Equation.3">
                  <p:embed/>
                  <p:pic>
                    <p:nvPicPr>
                      <p:cNvPr id="7270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477" y="764704"/>
                        <a:ext cx="2495379" cy="50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6228184" y="772114"/>
            <a:ext cx="2642469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</a:rPr>
              <a:t>—— </a:t>
            </a:r>
            <a:r>
              <a:rPr lang="zh-CN" altLang="en-US" dirty="0">
                <a:solidFill>
                  <a:srgbClr val="FFFF00"/>
                </a:solidFill>
              </a:rPr>
              <a:t>布拉格公式</a:t>
            </a: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539552" y="1340768"/>
            <a:ext cx="33528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FFFF"/>
                </a:solidFill>
              </a:rPr>
              <a:t>5. </a:t>
            </a:r>
            <a:r>
              <a:rPr lang="zh-CN" altLang="en-US" dirty="0">
                <a:solidFill>
                  <a:srgbClr val="00FFFF"/>
                </a:solidFill>
              </a:rPr>
              <a:t>应用</a:t>
            </a:r>
            <a:endParaRPr lang="zh-CN" altLang="en-US" dirty="0">
              <a:solidFill>
                <a:srgbClr val="00FFFF"/>
              </a:solidFill>
              <a:latin typeface="宋体" panose="02010600030101010101" pitchFamily="2" charset="-122"/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1475656" y="1801390"/>
            <a:ext cx="42386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已知</a:t>
            </a:r>
            <a:r>
              <a:rPr lang="zh-CN" altLang="en-US" i="1" dirty="0">
                <a:solidFill>
                  <a:srgbClr val="FFFF00"/>
                </a:solidFill>
                <a:sym typeface="Symbol" panose="05050102010706020507" pitchFamily="18" charset="2"/>
              </a:rPr>
              <a:t>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zh-CN" altLang="en-US" i="1" dirty="0">
                <a:solidFill>
                  <a:srgbClr val="FFFF00"/>
                </a:solidFill>
                <a:sym typeface="Symbol" panose="05050102010706020507" pitchFamily="18" charset="2"/>
              </a:rPr>
              <a:t></a:t>
            </a:r>
            <a:r>
              <a:rPr lang="zh-CN" altLang="en-US" i="1" dirty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可测</a:t>
            </a:r>
            <a:r>
              <a:rPr lang="en-US" altLang="zh-CN" i="1" dirty="0">
                <a:solidFill>
                  <a:srgbClr val="FFFF00"/>
                </a:solidFill>
              </a:rPr>
              <a:t>d</a:t>
            </a: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1491711" y="2289031"/>
            <a:ext cx="417671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已知</a:t>
            </a:r>
            <a:r>
              <a:rPr lang="zh-CN" altLang="en-US" i="1" dirty="0">
                <a:solidFill>
                  <a:srgbClr val="FFFF00"/>
                </a:solidFill>
                <a:sym typeface="Symbol" panose="05050102010706020507" pitchFamily="18" charset="2"/>
              </a:rPr>
              <a:t>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i="1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chemeClr val="bg1"/>
                </a:solidFill>
              </a:rPr>
              <a:t>可测</a:t>
            </a:r>
            <a:r>
              <a:rPr lang="zh-CN" altLang="en-US" i="1" dirty="0">
                <a:solidFill>
                  <a:srgbClr val="FFFF00"/>
                </a:solidFill>
                <a:sym typeface="Symbol" panose="05050102010706020507" pitchFamily="18" charset="2"/>
              </a:rPr>
              <a:t>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72712" name="Rectangle 8"/>
          <p:cNvSpPr>
            <a:spLocks noChangeArrowheads="1"/>
          </p:cNvSpPr>
          <p:nvPr/>
        </p:nvSpPr>
        <p:spPr bwMode="auto">
          <a:xfrm>
            <a:off x="3957564" y="1772816"/>
            <a:ext cx="50053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—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FFFF00"/>
                </a:solidFill>
              </a:rPr>
              <a:t>X </a:t>
            </a:r>
            <a:r>
              <a:rPr lang="zh-CN" altLang="en-US" dirty="0">
                <a:solidFill>
                  <a:schemeClr val="bg1"/>
                </a:solidFill>
              </a:rPr>
              <a:t>射线晶体结构分析</a:t>
            </a:r>
          </a:p>
        </p:txBody>
      </p:sp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3973619" y="2281176"/>
            <a:ext cx="4440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— </a:t>
            </a:r>
            <a:r>
              <a:rPr lang="en-US" altLang="zh-CN" i="1" dirty="0">
                <a:solidFill>
                  <a:srgbClr val="FFFF00"/>
                </a:solidFill>
              </a:rPr>
              <a:t>X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射线光谱分析</a:t>
            </a:r>
          </a:p>
        </p:txBody>
      </p:sp>
      <p:graphicFrame>
        <p:nvGraphicFramePr>
          <p:cNvPr id="72714" name="Object 3"/>
          <p:cNvGraphicFramePr>
            <a:graphicFrameLocks noChangeAspect="1"/>
          </p:cNvGraphicFramePr>
          <p:nvPr>
            <p:extLst/>
          </p:nvPr>
        </p:nvGraphicFramePr>
        <p:xfrm>
          <a:off x="3563888" y="764704"/>
          <a:ext cx="2553311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887" name="公式" r:id="rId5" imgW="688975" imgH="116205" progId="Equation.3">
                  <p:embed/>
                </p:oleObj>
              </mc:Choice>
              <mc:Fallback>
                <p:oleObj name="公式" r:id="rId5" imgW="688975" imgH="116205" progId="Equation.3">
                  <p:embed/>
                  <p:pic>
                    <p:nvPicPr>
                      <p:cNvPr id="727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764704"/>
                        <a:ext cx="2553311" cy="50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7" name="Rectangle 13"/>
          <p:cNvSpPr>
            <a:spLocks noChangeArrowheads="1"/>
          </p:cNvSpPr>
          <p:nvPr/>
        </p:nvSpPr>
        <p:spPr bwMode="auto">
          <a:xfrm>
            <a:off x="539552" y="5766355"/>
            <a:ext cx="82089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利用</a:t>
            </a:r>
            <a:r>
              <a:rPr lang="en-US" altLang="zh-CN" dirty="0">
                <a:solidFill>
                  <a:srgbClr val="FFFF00"/>
                </a:solidFill>
              </a:rPr>
              <a:t>X</a:t>
            </a:r>
            <a:r>
              <a:rPr lang="zh-CN" altLang="en-US" dirty="0">
                <a:solidFill>
                  <a:srgbClr val="FFFF00"/>
                </a:solidFill>
              </a:rPr>
              <a:t>射线衍射分析晶体结构</a:t>
            </a:r>
            <a:r>
              <a:rPr lang="zh-CN" altLang="en-US" dirty="0">
                <a:solidFill>
                  <a:schemeClr val="bg1"/>
                </a:solidFill>
              </a:rPr>
              <a:t>的杰出工作，共同获得</a:t>
            </a:r>
            <a:r>
              <a:rPr lang="en-US" altLang="zh-CN" dirty="0">
                <a:solidFill>
                  <a:schemeClr val="bg1"/>
                </a:solidFill>
              </a:rPr>
              <a:t>1915</a:t>
            </a:r>
            <a:r>
              <a:rPr lang="zh-CN" altLang="en-US" dirty="0">
                <a:solidFill>
                  <a:schemeClr val="bg1"/>
                </a:solidFill>
              </a:rPr>
              <a:t>年的诺贝尔物理学奖</a:t>
            </a:r>
          </a:p>
        </p:txBody>
      </p:sp>
      <p:sp>
        <p:nvSpPr>
          <p:cNvPr id="14350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470F9BC-709B-461E-BC9A-44FE1FE2136B}" type="slidenum">
              <a:rPr lang="en-US" altLang="zh-CN" b="0">
                <a:solidFill>
                  <a:srgbClr val="FF00FF"/>
                </a:solidFill>
              </a:rPr>
              <a:t>24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0A3C01D2-5B15-4B56-BA71-C24C7D4A5A10}"/>
              </a:ext>
            </a:extLst>
          </p:cNvPr>
          <p:cNvGrpSpPr/>
          <p:nvPr/>
        </p:nvGrpSpPr>
        <p:grpSpPr bwMode="auto">
          <a:xfrm>
            <a:off x="1691680" y="2852936"/>
            <a:ext cx="6033472" cy="2902051"/>
            <a:chOff x="85" y="281"/>
            <a:chExt cx="7070" cy="3473"/>
          </a:xfrm>
        </p:grpSpPr>
        <p:pic>
          <p:nvPicPr>
            <p:cNvPr id="16" name="Picture 3" descr="W">
              <a:extLst>
                <a:ext uri="{FF2B5EF4-FFF2-40B4-BE49-F238E27FC236}">
                  <a16:creationId xmlns:a16="http://schemas.microsoft.com/office/drawing/2014/main" id="{58FB425C-C549-41EA-9A33-642F584858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" y="303"/>
              <a:ext cx="1963" cy="2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" descr="W">
              <a:extLst>
                <a:ext uri="{FF2B5EF4-FFF2-40B4-BE49-F238E27FC236}">
                  <a16:creationId xmlns:a16="http://schemas.microsoft.com/office/drawing/2014/main" id="{483AA600-AFA0-4A0C-96A7-D90AEE0709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7" y="281"/>
              <a:ext cx="2172" cy="2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2FD1CA8B-D5FE-4536-B90E-6380006FA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" y="2952"/>
              <a:ext cx="327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dirty="0">
                  <a:solidFill>
                    <a:schemeClr val="bg1"/>
                  </a:solidFill>
                </a:rPr>
                <a:t>威廉 </a:t>
              </a:r>
              <a:r>
                <a:rPr lang="en-US" altLang="zh-CN" sz="1800" dirty="0">
                  <a:solidFill>
                    <a:schemeClr val="bg1"/>
                  </a:solidFill>
                </a:rPr>
                <a:t>.</a:t>
              </a:r>
              <a:r>
                <a:rPr lang="zh-CN" altLang="en-US" sz="1800" dirty="0">
                  <a:solidFill>
                    <a:schemeClr val="bg1"/>
                  </a:solidFill>
                </a:rPr>
                <a:t>亨利 </a:t>
              </a:r>
              <a:r>
                <a:rPr lang="en-US" altLang="zh-CN" sz="1800" dirty="0">
                  <a:solidFill>
                    <a:schemeClr val="bg1"/>
                  </a:solidFill>
                </a:rPr>
                <a:t>. </a:t>
              </a:r>
              <a:r>
                <a:rPr lang="zh-CN" altLang="en-US" sz="1800" dirty="0">
                  <a:solidFill>
                    <a:schemeClr val="bg1"/>
                  </a:solidFill>
                </a:rPr>
                <a:t>布拉格（父）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FB0F90C5-466F-438B-964F-25768DE85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2952"/>
              <a:ext cx="361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 dirty="0">
                  <a:solidFill>
                    <a:schemeClr val="bg1"/>
                  </a:solidFill>
                </a:rPr>
                <a:t>威廉 </a:t>
              </a:r>
              <a:r>
                <a:rPr lang="en-US" altLang="zh-CN" sz="1800" dirty="0">
                  <a:solidFill>
                    <a:schemeClr val="bg1"/>
                  </a:solidFill>
                </a:rPr>
                <a:t>. </a:t>
              </a:r>
              <a:r>
                <a:rPr lang="zh-CN" altLang="en-US" sz="1800" dirty="0">
                  <a:solidFill>
                    <a:schemeClr val="bg1"/>
                  </a:solidFill>
                </a:rPr>
                <a:t>劳伦斯 </a:t>
              </a:r>
              <a:r>
                <a:rPr lang="en-US" altLang="zh-CN" sz="1800" dirty="0">
                  <a:solidFill>
                    <a:schemeClr val="bg1"/>
                  </a:solidFill>
                </a:rPr>
                <a:t>. </a:t>
              </a:r>
              <a:r>
                <a:rPr lang="zh-CN" altLang="en-US" sz="1800" dirty="0">
                  <a:solidFill>
                    <a:schemeClr val="bg1"/>
                  </a:solidFill>
                </a:rPr>
                <a:t>布拉格（子）</a:t>
              </a:r>
            </a:p>
          </p:txBody>
        </p:sp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BEB10DA4-73A4-4121-BB2A-4F55A708A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3312"/>
              <a:ext cx="2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bg1"/>
                  </a:solidFill>
                </a:rPr>
                <a:t>1862 — 1942</a:t>
              </a:r>
            </a:p>
          </p:txBody>
        </p:sp>
        <p:sp>
          <p:nvSpPr>
            <p:cNvPr id="21" name="Text Box 8">
              <a:extLst>
                <a:ext uri="{FF2B5EF4-FFF2-40B4-BE49-F238E27FC236}">
                  <a16:creationId xmlns:a16="http://schemas.microsoft.com/office/drawing/2014/main" id="{3FAAEF80-9E8E-4146-AE58-45A78030A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7" y="3300"/>
              <a:ext cx="2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bg1"/>
                  </a:solidFill>
                </a:rPr>
                <a:t>1890 — 1971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8" grpId="0" autoUpdateAnimBg="0"/>
      <p:bldP spid="72709" grpId="0" autoUpdateAnimBg="0"/>
      <p:bldP spid="72710" grpId="0" autoUpdateAnimBg="0"/>
      <p:bldP spid="72711" grpId="0" autoUpdateAnimBg="0"/>
      <p:bldP spid="72712" grpId="0" autoUpdateAnimBg="0"/>
      <p:bldP spid="72713" grpId="0" autoUpdateAnimBg="0"/>
      <p:bldP spid="7271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13842D46-4FCF-4B9F-AD83-A1A6303F7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333375"/>
            <a:ext cx="3168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FFFF00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波动光学小结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80495C29-C9D8-4BDF-ABA1-2D9CFA62B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2020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1. </a:t>
            </a:r>
            <a:r>
              <a:rPr kumimoji="0" lang="zh-CN" altLang="en-US">
                <a:solidFill>
                  <a:srgbClr val="00FFFF"/>
                </a:solidFill>
              </a:rPr>
              <a:t>光是电磁波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5CD1EEDA-CAB0-4D54-9F13-3EBB92972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1743075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电磁波是横波</a:t>
            </a:r>
          </a:p>
        </p:txBody>
      </p:sp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5B4AE9C5-36C8-4E23-8B37-CA0B92A20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2452688"/>
          <a:ext cx="863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59" name="公式" r:id="rId4" imgW="838251" imgH="285648" progId="Equation.3">
                  <p:embed/>
                </p:oleObj>
              </mc:Choice>
              <mc:Fallback>
                <p:oleObj name="公式" r:id="rId4" imgW="838251" imgH="285648" progId="Equation.3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5B4AE9C5-36C8-4E23-8B37-CA0B92A20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452688"/>
                        <a:ext cx="863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>
            <a:extLst>
              <a:ext uri="{FF2B5EF4-FFF2-40B4-BE49-F238E27FC236}">
                <a16:creationId xmlns:a16="http://schemas.microsoft.com/office/drawing/2014/main" id="{ED21AE8E-6BCA-497C-8B11-92A2CADEEE93}"/>
              </a:ext>
            </a:extLst>
          </p:cNvPr>
          <p:cNvGraphicFramePr>
            <a:graphicFrameLocks/>
          </p:cNvGraphicFramePr>
          <p:nvPr/>
        </p:nvGraphicFramePr>
        <p:xfrm>
          <a:off x="3871913" y="2454275"/>
          <a:ext cx="160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60" name="公式" r:id="rId6" imgW="1571606" imgH="380864" progId="Equation.3">
                  <p:embed/>
                </p:oleObj>
              </mc:Choice>
              <mc:Fallback>
                <p:oleObj name="公式" r:id="rId6" imgW="1571606" imgH="380864" progId="Equation.3">
                  <p:embed/>
                  <p:pic>
                    <p:nvPicPr>
                      <p:cNvPr id="38918" name="Object 6">
                        <a:extLst>
                          <a:ext uri="{FF2B5EF4-FFF2-40B4-BE49-F238E27FC236}">
                            <a16:creationId xmlns:a16="http://schemas.microsoft.com/office/drawing/2014/main" id="{ED21AE8E-6BCA-497C-8B11-92A2CADEEE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913" y="2454275"/>
                        <a:ext cx="160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Text Box 7">
            <a:extLst>
              <a:ext uri="{FF2B5EF4-FFF2-40B4-BE49-F238E27FC236}">
                <a16:creationId xmlns:a16="http://schemas.microsoft.com/office/drawing/2014/main" id="{BB7BA4AC-7663-4FB7-96C3-29D1B68C0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068638"/>
            <a:ext cx="368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电磁波的传播速度</a:t>
            </a:r>
            <a:r>
              <a:rPr kumimoji="0" lang="zh-CN" altLang="en-US">
                <a:solidFill>
                  <a:schemeClr val="bg1"/>
                </a:solidFill>
                <a:latin typeface="仿宋_GB2312"/>
                <a:ea typeface="仿宋_GB2312"/>
                <a:cs typeface="仿宋_GB2312"/>
              </a:rPr>
              <a:t>    </a:t>
            </a:r>
          </a:p>
        </p:txBody>
      </p:sp>
      <p:graphicFrame>
        <p:nvGraphicFramePr>
          <p:cNvPr id="38920" name="Object 8">
            <a:extLst>
              <a:ext uri="{FF2B5EF4-FFF2-40B4-BE49-F238E27FC236}">
                <a16:creationId xmlns:a16="http://schemas.microsoft.com/office/drawing/2014/main" id="{6F01FF46-CF2E-428B-9572-FCEC6FF08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713" y="3798888"/>
          <a:ext cx="40243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61" name="Equation" r:id="rId8" imgW="4438663" imgH="1038191" progId="Equation.DSMT4">
                  <p:embed/>
                </p:oleObj>
              </mc:Choice>
              <mc:Fallback>
                <p:oleObj name="Equation" r:id="rId8" imgW="4438663" imgH="1038191" progId="Equation.DSMT4">
                  <p:embed/>
                  <p:pic>
                    <p:nvPicPr>
                      <p:cNvPr id="38920" name="Object 8">
                        <a:extLst>
                          <a:ext uri="{FF2B5EF4-FFF2-40B4-BE49-F238E27FC236}">
                            <a16:creationId xmlns:a16="http://schemas.microsoft.com/office/drawing/2014/main" id="{6F01FF46-CF2E-428B-9572-FCEC6FF08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13" y="3798888"/>
                        <a:ext cx="402431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Rectangle 9">
            <a:extLst>
              <a:ext uri="{FF2B5EF4-FFF2-40B4-BE49-F238E27FC236}">
                <a16:creationId xmlns:a16="http://schemas.microsoft.com/office/drawing/2014/main" id="{860FFAB5-9306-47F5-BBEF-508F0299A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4987925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</a:rPr>
              <a:t>(3) </a:t>
            </a:r>
            <a:r>
              <a:rPr lang="zh-CN" altLang="en-US">
                <a:solidFill>
                  <a:schemeClr val="bg1"/>
                </a:solidFill>
              </a:rPr>
              <a:t>电磁波的能量</a:t>
            </a:r>
          </a:p>
        </p:txBody>
      </p:sp>
      <p:graphicFrame>
        <p:nvGraphicFramePr>
          <p:cNvPr id="38922" name="Object 10">
            <a:extLst>
              <a:ext uri="{FF2B5EF4-FFF2-40B4-BE49-F238E27FC236}">
                <a16:creationId xmlns:a16="http://schemas.microsoft.com/office/drawing/2014/main" id="{3BC125F7-194C-4075-9ED7-F432C30B18B8}"/>
              </a:ext>
            </a:extLst>
          </p:cNvPr>
          <p:cNvGraphicFramePr>
            <a:graphicFrameLocks/>
          </p:cNvGraphicFramePr>
          <p:nvPr/>
        </p:nvGraphicFramePr>
        <p:xfrm>
          <a:off x="2800350" y="5788025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62" name="公式" r:id="rId10" imgW="1228782" imgH="314427" progId="Equation.3">
                  <p:embed/>
                </p:oleObj>
              </mc:Choice>
              <mc:Fallback>
                <p:oleObj name="公式" r:id="rId10" imgW="1228782" imgH="314427" progId="Equation.3">
                  <p:embed/>
                  <p:pic>
                    <p:nvPicPr>
                      <p:cNvPr id="38922" name="Object 10">
                        <a:extLst>
                          <a:ext uri="{FF2B5EF4-FFF2-40B4-BE49-F238E27FC236}">
                            <a16:creationId xmlns:a16="http://schemas.microsoft.com/office/drawing/2014/main" id="{3BC125F7-194C-4075-9ED7-F432C30B18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5788025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11">
            <a:extLst>
              <a:ext uri="{FF2B5EF4-FFF2-40B4-BE49-F238E27FC236}">
                <a16:creationId xmlns:a16="http://schemas.microsoft.com/office/drawing/2014/main" id="{75280A8C-7FAB-4A06-BA11-6A43F9F92D1A}"/>
              </a:ext>
            </a:extLst>
          </p:cNvPr>
          <p:cNvGraphicFramePr>
            <a:graphicFrameLocks/>
          </p:cNvGraphicFramePr>
          <p:nvPr/>
        </p:nvGraphicFramePr>
        <p:xfrm>
          <a:off x="6802438" y="5589588"/>
          <a:ext cx="1460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63" name="公式" r:id="rId12" imgW="1428788" imgH="799998" progId="Equation.3">
                  <p:embed/>
                </p:oleObj>
              </mc:Choice>
              <mc:Fallback>
                <p:oleObj name="公式" r:id="rId12" imgW="1428788" imgH="799998" progId="Equation.3">
                  <p:embed/>
                  <p:pic>
                    <p:nvPicPr>
                      <p:cNvPr id="38923" name="Object 11">
                        <a:extLst>
                          <a:ext uri="{FF2B5EF4-FFF2-40B4-BE49-F238E27FC236}">
                            <a16:creationId xmlns:a16="http://schemas.microsoft.com/office/drawing/2014/main" id="{75280A8C-7FAB-4A06-BA11-6A43F9F92D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438" y="5589588"/>
                        <a:ext cx="1460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4" name="Rectangle 12">
            <a:extLst>
              <a:ext uri="{FF2B5EF4-FFF2-40B4-BE49-F238E27FC236}">
                <a16:creationId xmlns:a16="http://schemas.microsoft.com/office/drawing/2014/main" id="{976723BB-7CFE-4444-AC2A-ADA8C8FCB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694363"/>
            <a:ext cx="171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坡印亭矢量</a:t>
            </a:r>
          </a:p>
        </p:txBody>
      </p:sp>
      <p:sp>
        <p:nvSpPr>
          <p:cNvPr id="38925" name="Rectangle 13">
            <a:extLst>
              <a:ext uri="{FF2B5EF4-FFF2-40B4-BE49-F238E27FC236}">
                <a16:creationId xmlns:a16="http://schemas.microsoft.com/office/drawing/2014/main" id="{D37E9901-B597-4E7B-85C5-E5632667F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213" y="5757863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电磁波的强度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79FDAC71-79FA-48B9-BFC1-4BF63A673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90525"/>
            <a:ext cx="224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2. </a:t>
            </a:r>
            <a:r>
              <a:rPr kumimoji="0" lang="zh-CN" altLang="en-US">
                <a:solidFill>
                  <a:srgbClr val="00FFFF"/>
                </a:solidFill>
              </a:rPr>
              <a:t>光波的叠加</a:t>
            </a:r>
          </a:p>
        </p:txBody>
      </p:sp>
      <p:graphicFrame>
        <p:nvGraphicFramePr>
          <p:cNvPr id="40963" name="Object 3">
            <a:extLst>
              <a:ext uri="{FF2B5EF4-FFF2-40B4-BE49-F238E27FC236}">
                <a16:creationId xmlns:a16="http://schemas.microsoft.com/office/drawing/2014/main" id="{4DD577F8-ABAC-4794-93E6-3345D4490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1484313"/>
          <a:ext cx="31734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28" name="公式" r:id="rId4" imgW="3143212" imgH="380864" progId="Equation.3">
                  <p:embed/>
                </p:oleObj>
              </mc:Choice>
              <mc:Fallback>
                <p:oleObj name="公式" r:id="rId4" imgW="3143212" imgH="380864" progId="Equation.3">
                  <p:embed/>
                  <p:pic>
                    <p:nvPicPr>
                      <p:cNvPr id="40963" name="Object 3">
                        <a:extLst>
                          <a:ext uri="{FF2B5EF4-FFF2-40B4-BE49-F238E27FC236}">
                            <a16:creationId xmlns:a16="http://schemas.microsoft.com/office/drawing/2014/main" id="{4DD577F8-ABAC-4794-93E6-3345D4490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484313"/>
                        <a:ext cx="31734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>
            <a:extLst>
              <a:ext uri="{FF2B5EF4-FFF2-40B4-BE49-F238E27FC236}">
                <a16:creationId xmlns:a16="http://schemas.microsoft.com/office/drawing/2014/main" id="{E9215CB9-8B41-49A2-AA0D-E499CD22D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8" y="884238"/>
            <a:ext cx="5167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两光波在空间一点</a:t>
            </a:r>
            <a:r>
              <a:rPr kumimoji="0" lang="en-US" altLang="zh-CN" i="1">
                <a:solidFill>
                  <a:srgbClr val="00FFFF"/>
                </a:solidFill>
              </a:rPr>
              <a:t>P </a:t>
            </a:r>
            <a:r>
              <a:rPr kumimoji="0" lang="zh-CN" altLang="en-US">
                <a:solidFill>
                  <a:schemeClr val="bg1"/>
                </a:solidFill>
              </a:rPr>
              <a:t>叠加的光强为</a:t>
            </a:r>
          </a:p>
        </p:txBody>
      </p:sp>
      <p:sp>
        <p:nvSpPr>
          <p:cNvPr id="40965" name="AutoShape 5">
            <a:extLst>
              <a:ext uri="{FF2B5EF4-FFF2-40B4-BE49-F238E27FC236}">
                <a16:creationId xmlns:a16="http://schemas.microsoft.com/office/drawing/2014/main" id="{B67B62E9-FC85-4641-BF4A-2F3EBAE4B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1412875"/>
            <a:ext cx="1439862" cy="504825"/>
          </a:xfrm>
          <a:prstGeom prst="wedgeRoundRectCallout">
            <a:avLst>
              <a:gd name="adj1" fmla="val -147796"/>
              <a:gd name="adj2" fmla="val 630"/>
              <a:gd name="adj3" fmla="val 16667"/>
            </a:avLst>
          </a:prstGeom>
          <a:solidFill>
            <a:srgbClr val="006699">
              <a:alpha val="47842"/>
            </a:srgbClr>
          </a:solidFill>
          <a:ln w="9525">
            <a:solidFill>
              <a:srgbClr val="B2B2B2">
                <a:alpha val="49019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干涉项</a:t>
            </a: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D47D5622-3C6D-4EAE-AB23-4C92C967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2043113"/>
            <a:ext cx="755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相干叠加</a:t>
            </a:r>
            <a:r>
              <a:rPr lang="zh-CN" altLang="en-US">
                <a:solidFill>
                  <a:srgbClr val="FFFF00"/>
                </a:solidFill>
              </a:rPr>
              <a:t>（相干条件，干涉相长、相消条件）</a:t>
            </a:r>
            <a:endParaRPr kumimoji="0" lang="zh-CN" altLang="en-US">
              <a:solidFill>
                <a:srgbClr val="FFFF00"/>
              </a:solidFill>
            </a:endParaRP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A147EA1D-8FFA-4106-842E-B8008369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2614613"/>
            <a:ext cx="622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两相干光在空间一点</a:t>
            </a:r>
            <a:r>
              <a:rPr kumimoji="0" lang="en-US" altLang="zh-CN" i="1">
                <a:solidFill>
                  <a:srgbClr val="00FFFF"/>
                </a:solidFill>
              </a:rPr>
              <a:t>P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相遇时</a:t>
            </a:r>
            <a:r>
              <a:rPr kumimoji="0" lang="zh-CN" altLang="en-US">
                <a:solidFill>
                  <a:schemeClr val="bg1"/>
                </a:solidFill>
              </a:rPr>
              <a:t>，</a:t>
            </a:r>
            <a:r>
              <a:rPr kumimoji="0" lang="zh-CN" altLang="en-US">
                <a:solidFill>
                  <a:srgbClr val="00FFFF"/>
                </a:solidFill>
              </a:rPr>
              <a:t> </a:t>
            </a:r>
            <a:r>
              <a:rPr kumimoji="0" lang="en-US" altLang="zh-CN" i="1">
                <a:solidFill>
                  <a:srgbClr val="00FFFF"/>
                </a:solidFill>
              </a:rPr>
              <a:t>P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点的光强为</a:t>
            </a:r>
          </a:p>
        </p:txBody>
      </p:sp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79B73A3C-DDBC-4040-9F0C-B30DD16AFCB5}"/>
              </a:ext>
            </a:extLst>
          </p:cNvPr>
          <p:cNvGraphicFramePr>
            <a:graphicFrameLocks/>
          </p:cNvGraphicFramePr>
          <p:nvPr/>
        </p:nvGraphicFramePr>
        <p:xfrm>
          <a:off x="2925763" y="3201988"/>
          <a:ext cx="3363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29" name="公式" r:id="rId6" imgW="3333737" imgH="380864" progId="Equation.3">
                  <p:embed/>
                </p:oleObj>
              </mc:Choice>
              <mc:Fallback>
                <p:oleObj name="公式" r:id="rId6" imgW="3333737" imgH="380864" progId="Equation.3">
                  <p:embed/>
                  <p:pic>
                    <p:nvPicPr>
                      <p:cNvPr id="40968" name="Object 8">
                        <a:extLst>
                          <a:ext uri="{FF2B5EF4-FFF2-40B4-BE49-F238E27FC236}">
                            <a16:creationId xmlns:a16="http://schemas.microsoft.com/office/drawing/2014/main" id="{79B73A3C-DDBC-4040-9F0C-B30DD16AFC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3201988"/>
                        <a:ext cx="33639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Text Box 9">
            <a:extLst>
              <a:ext uri="{FF2B5EF4-FFF2-40B4-BE49-F238E27FC236}">
                <a16:creationId xmlns:a16="http://schemas.microsoft.com/office/drawing/2014/main" id="{4B98A0DA-007E-4E8E-8F7C-CA2E98E20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3763963"/>
            <a:ext cx="7181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当                                     时，光强最大，为</a:t>
            </a:r>
          </a:p>
        </p:txBody>
      </p:sp>
      <p:graphicFrame>
        <p:nvGraphicFramePr>
          <p:cNvPr id="40970" name="Object 10">
            <a:extLst>
              <a:ext uri="{FF2B5EF4-FFF2-40B4-BE49-F238E27FC236}">
                <a16:creationId xmlns:a16="http://schemas.microsoft.com/office/drawing/2014/main" id="{D26819B1-B334-474C-B127-446D28210B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3827463"/>
          <a:ext cx="3097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0" name="公式" r:id="rId8" imgW="3067063" imgH="342900" progId="Equation.3">
                  <p:embed/>
                </p:oleObj>
              </mc:Choice>
              <mc:Fallback>
                <p:oleObj name="公式" r:id="rId8" imgW="3067063" imgH="342900" progId="Equation.3">
                  <p:embed/>
                  <p:pic>
                    <p:nvPicPr>
                      <p:cNvPr id="40970" name="Object 10">
                        <a:extLst>
                          <a:ext uri="{FF2B5EF4-FFF2-40B4-BE49-F238E27FC236}">
                            <a16:creationId xmlns:a16="http://schemas.microsoft.com/office/drawing/2014/main" id="{D26819B1-B334-474C-B127-446D28210B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827463"/>
                        <a:ext cx="30972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>
            <a:extLst>
              <a:ext uri="{FF2B5EF4-FFF2-40B4-BE49-F238E27FC236}">
                <a16:creationId xmlns:a16="http://schemas.microsoft.com/office/drawing/2014/main" id="{5D71E3EB-85CB-4FCC-8168-7EBA4ECD8F51}"/>
              </a:ext>
            </a:extLst>
          </p:cNvPr>
          <p:cNvGraphicFramePr>
            <a:graphicFrameLocks/>
          </p:cNvGraphicFramePr>
          <p:nvPr/>
        </p:nvGraphicFramePr>
        <p:xfrm>
          <a:off x="1717675" y="4514850"/>
          <a:ext cx="2297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1" name="公式" r:id="rId10" imgW="2267039" imgH="390661" progId="Equation.3">
                  <p:embed/>
                </p:oleObj>
              </mc:Choice>
              <mc:Fallback>
                <p:oleObj name="公式" r:id="rId10" imgW="2267039" imgH="390661" progId="Equation.3">
                  <p:embed/>
                  <p:pic>
                    <p:nvPicPr>
                      <p:cNvPr id="40971" name="Object 11">
                        <a:extLst>
                          <a:ext uri="{FF2B5EF4-FFF2-40B4-BE49-F238E27FC236}">
                            <a16:creationId xmlns:a16="http://schemas.microsoft.com/office/drawing/2014/main" id="{5D71E3EB-85CB-4FCC-8168-7EBA4ECD8F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4514850"/>
                        <a:ext cx="2297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12">
            <a:extLst>
              <a:ext uri="{FF2B5EF4-FFF2-40B4-BE49-F238E27FC236}">
                <a16:creationId xmlns:a16="http://schemas.microsoft.com/office/drawing/2014/main" id="{FDED1C42-525F-49AF-80B1-6AF60EA4A382}"/>
              </a:ext>
            </a:extLst>
          </p:cNvPr>
          <p:cNvGraphicFramePr>
            <a:graphicFrameLocks/>
          </p:cNvGraphicFramePr>
          <p:nvPr/>
        </p:nvGraphicFramePr>
        <p:xfrm>
          <a:off x="4872038" y="4508500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2" name="公式" r:id="rId12" imgW="1314412" imgH="352391" progId="Equation.3">
                  <p:embed/>
                </p:oleObj>
              </mc:Choice>
              <mc:Fallback>
                <p:oleObj name="公式" r:id="rId12" imgW="1314412" imgH="352391" progId="Equation.3">
                  <p:embed/>
                  <p:pic>
                    <p:nvPicPr>
                      <p:cNvPr id="40972" name="Object 12">
                        <a:extLst>
                          <a:ext uri="{FF2B5EF4-FFF2-40B4-BE49-F238E27FC236}">
                            <a16:creationId xmlns:a16="http://schemas.microsoft.com/office/drawing/2014/main" id="{FDED1C42-525F-49AF-80B1-6AF60EA4A38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4508500"/>
                        <a:ext cx="1346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Object 13">
            <a:extLst>
              <a:ext uri="{FF2B5EF4-FFF2-40B4-BE49-F238E27FC236}">
                <a16:creationId xmlns:a16="http://schemas.microsoft.com/office/drawing/2014/main" id="{B88337C5-51CD-4358-B1C9-79847DCBBD61}"/>
              </a:ext>
            </a:extLst>
          </p:cNvPr>
          <p:cNvGraphicFramePr>
            <a:graphicFrameLocks/>
          </p:cNvGraphicFramePr>
          <p:nvPr/>
        </p:nvGraphicFramePr>
        <p:xfrm>
          <a:off x="6742113" y="4514850"/>
          <a:ext cx="120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3" name="公式" r:id="rId14" imgW="1181075" imgH="352391" progId="Equation.3">
                  <p:embed/>
                </p:oleObj>
              </mc:Choice>
              <mc:Fallback>
                <p:oleObj name="公式" r:id="rId14" imgW="1181075" imgH="352391" progId="Equation.3">
                  <p:embed/>
                  <p:pic>
                    <p:nvPicPr>
                      <p:cNvPr id="40973" name="Object 13">
                        <a:extLst>
                          <a:ext uri="{FF2B5EF4-FFF2-40B4-BE49-F238E27FC236}">
                            <a16:creationId xmlns:a16="http://schemas.microsoft.com/office/drawing/2014/main" id="{B88337C5-51CD-4358-B1C9-79847DCBBD6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113" y="4514850"/>
                        <a:ext cx="1206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4" name="Text Box 14">
            <a:extLst>
              <a:ext uri="{FF2B5EF4-FFF2-40B4-BE49-F238E27FC236}">
                <a16:creationId xmlns:a16="http://schemas.microsoft.com/office/drawing/2014/main" id="{D23BA769-A375-4C5E-88BD-7F976D5CC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263" y="4484688"/>
            <a:ext cx="4373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若</a:t>
            </a:r>
            <a:r>
              <a:rPr kumimoji="0" lang="zh-CN" altLang="en-US">
                <a:solidFill>
                  <a:schemeClr val="bg1"/>
                </a:solidFill>
              </a:rPr>
              <a:t>                    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                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0975" name="Text Box 15">
            <a:extLst>
              <a:ext uri="{FF2B5EF4-FFF2-40B4-BE49-F238E27FC236}">
                <a16:creationId xmlns:a16="http://schemas.microsoft.com/office/drawing/2014/main" id="{96B7FC57-CDB3-4772-B3C6-EF31FB3D8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181600"/>
            <a:ext cx="7902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当                                            时，光强最小，为</a:t>
            </a:r>
          </a:p>
        </p:txBody>
      </p:sp>
      <p:graphicFrame>
        <p:nvGraphicFramePr>
          <p:cNvPr id="40976" name="Object 16">
            <a:extLst>
              <a:ext uri="{FF2B5EF4-FFF2-40B4-BE49-F238E27FC236}">
                <a16:creationId xmlns:a16="http://schemas.microsoft.com/office/drawing/2014/main" id="{F085BF3D-CE5D-4F0F-B18D-7EC6963F71AD}"/>
              </a:ext>
            </a:extLst>
          </p:cNvPr>
          <p:cNvGraphicFramePr>
            <a:graphicFrameLocks/>
          </p:cNvGraphicFramePr>
          <p:nvPr/>
        </p:nvGraphicFramePr>
        <p:xfrm>
          <a:off x="1755775" y="5932488"/>
          <a:ext cx="22590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4" name="公式" r:id="rId16" imgW="2228812" imgH="390661" progId="Equation.3">
                  <p:embed/>
                </p:oleObj>
              </mc:Choice>
              <mc:Fallback>
                <p:oleObj name="公式" r:id="rId16" imgW="2228812" imgH="390661" progId="Equation.3">
                  <p:embed/>
                  <p:pic>
                    <p:nvPicPr>
                      <p:cNvPr id="40976" name="Object 16">
                        <a:extLst>
                          <a:ext uri="{FF2B5EF4-FFF2-40B4-BE49-F238E27FC236}">
                            <a16:creationId xmlns:a16="http://schemas.microsoft.com/office/drawing/2014/main" id="{F085BF3D-CE5D-4F0F-B18D-7EC6963F71A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5932488"/>
                        <a:ext cx="22590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7">
            <a:extLst>
              <a:ext uri="{FF2B5EF4-FFF2-40B4-BE49-F238E27FC236}">
                <a16:creationId xmlns:a16="http://schemas.microsoft.com/office/drawing/2014/main" id="{617720C7-C943-4004-A681-6C2EC5421E67}"/>
              </a:ext>
            </a:extLst>
          </p:cNvPr>
          <p:cNvGraphicFramePr>
            <a:graphicFrameLocks/>
          </p:cNvGraphicFramePr>
          <p:nvPr/>
        </p:nvGraphicFramePr>
        <p:xfrm>
          <a:off x="4889500" y="5945188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5" name="公式" r:id="rId18" imgW="1314412" imgH="352391" progId="Equation.3">
                  <p:embed/>
                </p:oleObj>
              </mc:Choice>
              <mc:Fallback>
                <p:oleObj name="公式" r:id="rId18" imgW="1314412" imgH="352391" progId="Equation.3">
                  <p:embed/>
                  <p:pic>
                    <p:nvPicPr>
                      <p:cNvPr id="40977" name="Object 17">
                        <a:extLst>
                          <a:ext uri="{FF2B5EF4-FFF2-40B4-BE49-F238E27FC236}">
                            <a16:creationId xmlns:a16="http://schemas.microsoft.com/office/drawing/2014/main" id="{617720C7-C943-4004-A681-6C2EC5421E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5945188"/>
                        <a:ext cx="1346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Object 18">
            <a:extLst>
              <a:ext uri="{FF2B5EF4-FFF2-40B4-BE49-F238E27FC236}">
                <a16:creationId xmlns:a16="http://schemas.microsoft.com/office/drawing/2014/main" id="{C6CE7D8C-28BD-492C-B6D0-70C00AEBB62E}"/>
              </a:ext>
            </a:extLst>
          </p:cNvPr>
          <p:cNvGraphicFramePr>
            <a:graphicFrameLocks/>
          </p:cNvGraphicFramePr>
          <p:nvPr/>
        </p:nvGraphicFramePr>
        <p:xfrm>
          <a:off x="6861175" y="5940425"/>
          <a:ext cx="93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6" name="公式" r:id="rId20" imgW="914400" imgH="342900" progId="Equation.3">
                  <p:embed/>
                </p:oleObj>
              </mc:Choice>
              <mc:Fallback>
                <p:oleObj name="公式" r:id="rId20" imgW="914400" imgH="342900" progId="Equation.3">
                  <p:embed/>
                  <p:pic>
                    <p:nvPicPr>
                      <p:cNvPr id="40978" name="Object 18">
                        <a:extLst>
                          <a:ext uri="{FF2B5EF4-FFF2-40B4-BE49-F238E27FC236}">
                            <a16:creationId xmlns:a16="http://schemas.microsoft.com/office/drawing/2014/main" id="{C6CE7D8C-28BD-492C-B6D0-70C00AEBB6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175" y="5940425"/>
                        <a:ext cx="939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9" name="Text Box 19">
            <a:extLst>
              <a:ext uri="{FF2B5EF4-FFF2-40B4-BE49-F238E27FC236}">
                <a16:creationId xmlns:a16="http://schemas.microsoft.com/office/drawing/2014/main" id="{869D392D-4D82-42D2-B94D-6DE845F3E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263" y="5902325"/>
            <a:ext cx="4373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若</a:t>
            </a:r>
            <a:r>
              <a:rPr kumimoji="0" lang="zh-CN" altLang="en-US">
                <a:solidFill>
                  <a:schemeClr val="bg1"/>
                </a:solidFill>
              </a:rPr>
              <a:t>                     </a:t>
            </a:r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               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40980" name="Object 20">
            <a:extLst>
              <a:ext uri="{FF2B5EF4-FFF2-40B4-BE49-F238E27FC236}">
                <a16:creationId xmlns:a16="http://schemas.microsoft.com/office/drawing/2014/main" id="{72C8B819-9780-4991-B4DD-AB34CDFB9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463" y="5251450"/>
          <a:ext cx="37957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7" name="公式" r:id="rId22" imgW="3771976" imgH="352391" progId="Equation.3">
                  <p:embed/>
                </p:oleObj>
              </mc:Choice>
              <mc:Fallback>
                <p:oleObj name="公式" r:id="rId22" imgW="3771976" imgH="352391" progId="Equation.3">
                  <p:embed/>
                  <p:pic>
                    <p:nvPicPr>
                      <p:cNvPr id="40980" name="Object 20">
                        <a:extLst>
                          <a:ext uri="{FF2B5EF4-FFF2-40B4-BE49-F238E27FC236}">
                            <a16:creationId xmlns:a16="http://schemas.microsoft.com/office/drawing/2014/main" id="{72C8B819-9780-4991-B4DD-AB34CDFB99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5251450"/>
                        <a:ext cx="37957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E58F45CF-3778-4E88-B163-B45DAB4B9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404813"/>
            <a:ext cx="214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lang="zh-CN" altLang="en-US">
                <a:solidFill>
                  <a:schemeClr val="bg1"/>
                </a:solidFill>
              </a:rPr>
              <a:t>非相干叠加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412243C-87DC-48B7-8017-3D2C56AE1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908050"/>
            <a:ext cx="6529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两非相干光在空间一点</a:t>
            </a:r>
            <a:r>
              <a:rPr kumimoji="0" lang="en-US" altLang="zh-CN" i="1">
                <a:solidFill>
                  <a:srgbClr val="00FFFF"/>
                </a:solidFill>
              </a:rPr>
              <a:t>P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相遇时</a:t>
            </a:r>
            <a:r>
              <a:rPr kumimoji="0" lang="zh-CN" altLang="en-US">
                <a:solidFill>
                  <a:schemeClr val="bg1"/>
                </a:solidFill>
              </a:rPr>
              <a:t>，</a:t>
            </a:r>
            <a:r>
              <a:rPr kumimoji="0" lang="zh-CN" altLang="en-US">
                <a:solidFill>
                  <a:srgbClr val="00FFFF"/>
                </a:solidFill>
              </a:rPr>
              <a:t> </a:t>
            </a:r>
            <a:r>
              <a:rPr kumimoji="0" lang="en-US" altLang="zh-CN" i="1">
                <a:solidFill>
                  <a:srgbClr val="00FFFF"/>
                </a:solidFill>
              </a:rPr>
              <a:t>P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点的光强为</a:t>
            </a: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1198F99F-615B-437F-A017-D1DAD3115ACF}"/>
              </a:ext>
            </a:extLst>
          </p:cNvPr>
          <p:cNvGraphicFramePr>
            <a:graphicFrameLocks/>
          </p:cNvGraphicFramePr>
          <p:nvPr/>
        </p:nvGraphicFramePr>
        <p:xfrm>
          <a:off x="3527425" y="1557338"/>
          <a:ext cx="1346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8" name="公式" r:id="rId4" imgW="1314412" imgH="342900" progId="Equation.3">
                  <p:embed/>
                </p:oleObj>
              </mc:Choice>
              <mc:Fallback>
                <p:oleObj name="公式" r:id="rId4" imgW="1314412" imgH="342900" progId="Equation.3">
                  <p:embed/>
                  <p:pic>
                    <p:nvPicPr>
                      <p:cNvPr id="43012" name="Object 4">
                        <a:extLst>
                          <a:ext uri="{FF2B5EF4-FFF2-40B4-BE49-F238E27FC236}">
                            <a16:creationId xmlns:a16="http://schemas.microsoft.com/office/drawing/2014/main" id="{1198F99F-615B-437F-A017-D1DAD3115AC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1557338"/>
                        <a:ext cx="1346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5">
            <a:extLst>
              <a:ext uri="{FF2B5EF4-FFF2-40B4-BE49-F238E27FC236}">
                <a16:creationId xmlns:a16="http://schemas.microsoft.com/office/drawing/2014/main" id="{B0CE6162-689E-4F6C-91CD-C8973E2B2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2284413"/>
            <a:ext cx="232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3. </a:t>
            </a:r>
            <a:r>
              <a:rPr kumimoji="0" lang="zh-CN" altLang="en-US">
                <a:solidFill>
                  <a:srgbClr val="00FFFF"/>
                </a:solidFill>
              </a:rPr>
              <a:t>杨氏双缝干涉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9C81CE49-E3C8-4373-99A5-BAD488706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2716213"/>
            <a:ext cx="74342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利用分波前法获得相干光产生的干涉，其干涉条纹是</a:t>
            </a:r>
          </a:p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等间距的明暗相间的直条纹，相邻明</a:t>
            </a:r>
            <a:r>
              <a:rPr kumimoji="0" lang="en-US" altLang="zh-CN">
                <a:solidFill>
                  <a:schemeClr val="bg1"/>
                </a:solidFill>
              </a:rPr>
              <a:t>(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暗</a:t>
            </a:r>
            <a:r>
              <a:rPr kumimoji="0" lang="en-US" altLang="zh-CN">
                <a:solidFill>
                  <a:schemeClr val="bg1"/>
                </a:solidFill>
              </a:rPr>
              <a:t>)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条纹的间距为</a:t>
            </a:r>
          </a:p>
        </p:txBody>
      </p:sp>
      <p:graphicFrame>
        <p:nvGraphicFramePr>
          <p:cNvPr id="43015" name="Object 7">
            <a:extLst>
              <a:ext uri="{FF2B5EF4-FFF2-40B4-BE49-F238E27FC236}">
                <a16:creationId xmlns:a16="http://schemas.microsoft.com/office/drawing/2014/main" id="{E0D850C7-C575-4B88-B256-6B34DA385A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5550" y="3860800"/>
          <a:ext cx="1117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9" name="公式" r:id="rId6" imgW="1085965" imgH="695291" progId="Equation.3">
                  <p:embed/>
                </p:oleObj>
              </mc:Choice>
              <mc:Fallback>
                <p:oleObj name="公式" r:id="rId6" imgW="1085965" imgH="695291" progId="Equation.3">
                  <p:embed/>
                  <p:pic>
                    <p:nvPicPr>
                      <p:cNvPr id="43015" name="Object 7">
                        <a:extLst>
                          <a:ext uri="{FF2B5EF4-FFF2-40B4-BE49-F238E27FC236}">
                            <a16:creationId xmlns:a16="http://schemas.microsoft.com/office/drawing/2014/main" id="{E0D850C7-C575-4B88-B256-6B34DA385A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550" y="3860800"/>
                        <a:ext cx="1117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98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B2B2B2">
                                <a:alpha val="49019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Text Box 8">
            <a:extLst>
              <a:ext uri="{FF2B5EF4-FFF2-40B4-BE49-F238E27FC236}">
                <a16:creationId xmlns:a16="http://schemas.microsoft.com/office/drawing/2014/main" id="{9841C327-0A0A-4D57-8425-AB71989DC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4797425"/>
            <a:ext cx="673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4. </a:t>
            </a:r>
            <a:r>
              <a:rPr kumimoji="0" lang="zh-CN" altLang="en-US">
                <a:solidFill>
                  <a:srgbClr val="00FFFF"/>
                </a:solidFill>
              </a:rPr>
              <a:t>两相干光波到达空间一点</a:t>
            </a:r>
            <a:r>
              <a:rPr kumimoji="0" lang="en-US" altLang="zh-CN" i="1">
                <a:solidFill>
                  <a:srgbClr val="FF9900"/>
                </a:solidFill>
              </a:rPr>
              <a:t>P</a:t>
            </a:r>
            <a:r>
              <a:rPr kumimoji="0" lang="en-US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rgbClr val="00FFFF"/>
                </a:solidFill>
              </a:rPr>
              <a:t>的光程差与相位差</a:t>
            </a:r>
          </a:p>
        </p:txBody>
      </p:sp>
      <p:graphicFrame>
        <p:nvGraphicFramePr>
          <p:cNvPr id="43017" name="Object 9">
            <a:extLst>
              <a:ext uri="{FF2B5EF4-FFF2-40B4-BE49-F238E27FC236}">
                <a16:creationId xmlns:a16="http://schemas.microsoft.com/office/drawing/2014/main" id="{4DEE58B9-9F07-4533-91DA-7672D0FB4C64}"/>
              </a:ext>
            </a:extLst>
          </p:cNvPr>
          <p:cNvGraphicFramePr>
            <a:graphicFrameLocks/>
          </p:cNvGraphicFramePr>
          <p:nvPr/>
        </p:nvGraphicFramePr>
        <p:xfrm>
          <a:off x="1733550" y="5797550"/>
          <a:ext cx="1638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0" name="公式" r:id="rId8" imgW="1609833" imgH="342900" progId="Equation.3">
                  <p:embed/>
                </p:oleObj>
              </mc:Choice>
              <mc:Fallback>
                <p:oleObj name="公式" r:id="rId8" imgW="1609833" imgH="342900" progId="Equation.3">
                  <p:embed/>
                  <p:pic>
                    <p:nvPicPr>
                      <p:cNvPr id="43017" name="Object 9">
                        <a:extLst>
                          <a:ext uri="{FF2B5EF4-FFF2-40B4-BE49-F238E27FC236}">
                            <a16:creationId xmlns:a16="http://schemas.microsoft.com/office/drawing/2014/main" id="{4DEE58B9-9F07-4533-91DA-7672D0FB4C6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5797550"/>
                        <a:ext cx="1638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10">
            <a:extLst>
              <a:ext uri="{FF2B5EF4-FFF2-40B4-BE49-F238E27FC236}">
                <a16:creationId xmlns:a16="http://schemas.microsoft.com/office/drawing/2014/main" id="{B222995A-F14F-4DC4-AC66-C1BECABB19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4363" y="5589588"/>
          <a:ext cx="34528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1" name="公式" r:id="rId10" imgW="3429153" imgH="771525" progId="Equation.3">
                  <p:embed/>
                </p:oleObj>
              </mc:Choice>
              <mc:Fallback>
                <p:oleObj name="公式" r:id="rId10" imgW="3429153" imgH="771525" progId="Equation.3">
                  <p:embed/>
                  <p:pic>
                    <p:nvPicPr>
                      <p:cNvPr id="43018" name="Object 10">
                        <a:extLst>
                          <a:ext uri="{FF2B5EF4-FFF2-40B4-BE49-F238E27FC236}">
                            <a16:creationId xmlns:a16="http://schemas.microsoft.com/office/drawing/2014/main" id="{B222995A-F14F-4DC4-AC66-C1BECABB19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3" y="5589588"/>
                        <a:ext cx="34528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500C8B3E-0522-41EE-9C6F-5522AE646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384175"/>
            <a:ext cx="8505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5. </a:t>
            </a:r>
            <a:r>
              <a:rPr kumimoji="0" lang="zh-CN" altLang="en-US">
                <a:solidFill>
                  <a:srgbClr val="00FFFF"/>
                </a:solidFill>
              </a:rPr>
              <a:t>薄膜干涉</a:t>
            </a:r>
            <a:r>
              <a:rPr kumimoji="0" lang="zh-CN" altLang="en-US">
                <a:solidFill>
                  <a:srgbClr val="FFFF00"/>
                </a:solidFill>
              </a:rPr>
              <a:t>（弄清两束干涉光的来源，注意半波损失）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AF34A11D-F347-4CBE-9304-02CAEBD9F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857250"/>
            <a:ext cx="7843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利用分振幅法获得相干光产生干涉，两相干光的光程差为</a:t>
            </a:r>
          </a:p>
        </p:txBody>
      </p:sp>
      <p:graphicFrame>
        <p:nvGraphicFramePr>
          <p:cNvPr id="45060" name="Object 4">
            <a:extLst>
              <a:ext uri="{FF2B5EF4-FFF2-40B4-BE49-F238E27FC236}">
                <a16:creationId xmlns:a16="http://schemas.microsoft.com/office/drawing/2014/main" id="{9BA4A65A-266B-4C0D-954F-0FFCE10BEBCB}"/>
              </a:ext>
            </a:extLst>
          </p:cNvPr>
          <p:cNvGraphicFramePr>
            <a:graphicFrameLocks/>
          </p:cNvGraphicFramePr>
          <p:nvPr/>
        </p:nvGraphicFramePr>
        <p:xfrm>
          <a:off x="1936750" y="1412875"/>
          <a:ext cx="16748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76" name="公式" r:id="rId4" imgW="1647755" imgH="695291" progId="Equation.3">
                  <p:embed/>
                </p:oleObj>
              </mc:Choice>
              <mc:Fallback>
                <p:oleObj name="公式" r:id="rId4" imgW="1647755" imgH="695291" progId="Equation.3">
                  <p:embed/>
                  <p:pic>
                    <p:nvPicPr>
                      <p:cNvPr id="45060" name="Object 4">
                        <a:extLst>
                          <a:ext uri="{FF2B5EF4-FFF2-40B4-BE49-F238E27FC236}">
                            <a16:creationId xmlns:a16="http://schemas.microsoft.com/office/drawing/2014/main" id="{9BA4A65A-266B-4C0D-954F-0FFCE10BEB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1412875"/>
                        <a:ext cx="16748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>
            <a:extLst>
              <a:ext uri="{FF2B5EF4-FFF2-40B4-BE49-F238E27FC236}">
                <a16:creationId xmlns:a16="http://schemas.microsoft.com/office/drawing/2014/main" id="{0892E50E-7356-4EE0-A9DC-F716CF79AD53}"/>
              </a:ext>
            </a:extLst>
          </p:cNvPr>
          <p:cNvGraphicFramePr>
            <a:graphicFrameLocks/>
          </p:cNvGraphicFramePr>
          <p:nvPr/>
        </p:nvGraphicFramePr>
        <p:xfrm>
          <a:off x="4305300" y="1584325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77" name="公式" r:id="rId6" imgW="1371600" imgH="352391" progId="Equation.3">
                  <p:embed/>
                </p:oleObj>
              </mc:Choice>
              <mc:Fallback>
                <p:oleObj name="公式" r:id="rId6" imgW="1371600" imgH="352391" progId="Equation.3">
                  <p:embed/>
                  <p:pic>
                    <p:nvPicPr>
                      <p:cNvPr id="45061" name="Object 5">
                        <a:extLst>
                          <a:ext uri="{FF2B5EF4-FFF2-40B4-BE49-F238E27FC236}">
                            <a16:creationId xmlns:a16="http://schemas.microsoft.com/office/drawing/2014/main" id="{0892E50E-7356-4EE0-A9DC-F716CF79AD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1584325"/>
                        <a:ext cx="1397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>
            <a:extLst>
              <a:ext uri="{FF2B5EF4-FFF2-40B4-BE49-F238E27FC236}">
                <a16:creationId xmlns:a16="http://schemas.microsoft.com/office/drawing/2014/main" id="{F575AA83-BA45-42FE-A9BA-CD4CD57847C7}"/>
              </a:ext>
            </a:extLst>
          </p:cNvPr>
          <p:cNvGraphicFramePr>
            <a:graphicFrameLocks/>
          </p:cNvGraphicFramePr>
          <p:nvPr/>
        </p:nvGraphicFramePr>
        <p:xfrm>
          <a:off x="6653213" y="1584325"/>
          <a:ext cx="1765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78" name="公式" r:id="rId8" imgW="1733690" imgH="352391" progId="Equation.3">
                  <p:embed/>
                </p:oleObj>
              </mc:Choice>
              <mc:Fallback>
                <p:oleObj name="公式" r:id="rId8" imgW="1733690" imgH="352391" progId="Equation.3">
                  <p:embed/>
                  <p:pic>
                    <p:nvPicPr>
                      <p:cNvPr id="45062" name="Object 6">
                        <a:extLst>
                          <a:ext uri="{FF2B5EF4-FFF2-40B4-BE49-F238E27FC236}">
                            <a16:creationId xmlns:a16="http://schemas.microsoft.com/office/drawing/2014/main" id="{F575AA83-BA45-42FE-A9BA-CD4CD57847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13" y="1584325"/>
                        <a:ext cx="1765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>
            <a:extLst>
              <a:ext uri="{FF2B5EF4-FFF2-40B4-BE49-F238E27FC236}">
                <a16:creationId xmlns:a16="http://schemas.microsoft.com/office/drawing/2014/main" id="{B1026B0D-25DB-46ED-B9C7-03D41A0A7822}"/>
              </a:ext>
            </a:extLst>
          </p:cNvPr>
          <p:cNvGraphicFramePr>
            <a:graphicFrameLocks/>
          </p:cNvGraphicFramePr>
          <p:nvPr/>
        </p:nvGraphicFramePr>
        <p:xfrm>
          <a:off x="4305300" y="2305050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79" name="公式" r:id="rId10" imgW="1371600" imgH="352391" progId="Equation.3">
                  <p:embed/>
                </p:oleObj>
              </mc:Choice>
              <mc:Fallback>
                <p:oleObj name="公式" r:id="rId10" imgW="1371600" imgH="352391" progId="Equation.3">
                  <p:embed/>
                  <p:pic>
                    <p:nvPicPr>
                      <p:cNvPr id="45063" name="Object 7">
                        <a:extLst>
                          <a:ext uri="{FF2B5EF4-FFF2-40B4-BE49-F238E27FC236}">
                            <a16:creationId xmlns:a16="http://schemas.microsoft.com/office/drawing/2014/main" id="{B1026B0D-25DB-46ED-B9C7-03D41A0A78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2305050"/>
                        <a:ext cx="1397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>
            <a:extLst>
              <a:ext uri="{FF2B5EF4-FFF2-40B4-BE49-F238E27FC236}">
                <a16:creationId xmlns:a16="http://schemas.microsoft.com/office/drawing/2014/main" id="{09A6D53F-AE98-4612-A6A2-9733EF77FBE7}"/>
              </a:ext>
            </a:extLst>
          </p:cNvPr>
          <p:cNvGraphicFramePr>
            <a:graphicFrameLocks/>
          </p:cNvGraphicFramePr>
          <p:nvPr/>
        </p:nvGraphicFramePr>
        <p:xfrm>
          <a:off x="6605588" y="2305050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0" name="公式" r:id="rId12" imgW="1352639" imgH="352391" progId="Equation.3">
                  <p:embed/>
                </p:oleObj>
              </mc:Choice>
              <mc:Fallback>
                <p:oleObj name="公式" r:id="rId12" imgW="1352639" imgH="352391" progId="Equation.3">
                  <p:embed/>
                  <p:pic>
                    <p:nvPicPr>
                      <p:cNvPr id="45064" name="Object 8">
                        <a:extLst>
                          <a:ext uri="{FF2B5EF4-FFF2-40B4-BE49-F238E27FC236}">
                            <a16:creationId xmlns:a16="http://schemas.microsoft.com/office/drawing/2014/main" id="{09A6D53F-AE98-4612-A6A2-9733EF77FB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588" y="2305050"/>
                        <a:ext cx="1384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Text Box 9">
            <a:extLst>
              <a:ext uri="{FF2B5EF4-FFF2-40B4-BE49-F238E27FC236}">
                <a16:creationId xmlns:a16="http://schemas.microsoft.com/office/drawing/2014/main" id="{A1180F64-DAE5-4851-806E-FA887887F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153193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或</a:t>
            </a:r>
          </a:p>
        </p:txBody>
      </p:sp>
      <p:sp>
        <p:nvSpPr>
          <p:cNvPr id="45066" name="Text Box 10">
            <a:extLst>
              <a:ext uri="{FF2B5EF4-FFF2-40B4-BE49-F238E27FC236}">
                <a16:creationId xmlns:a16="http://schemas.microsoft.com/office/drawing/2014/main" id="{7CFF6EC9-CB09-4B71-9A2D-1C5A3037C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2276475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或</a:t>
            </a:r>
          </a:p>
        </p:txBody>
      </p:sp>
      <p:sp>
        <p:nvSpPr>
          <p:cNvPr id="45067" name="Text Box 11">
            <a:extLst>
              <a:ext uri="{FF2B5EF4-FFF2-40B4-BE49-F238E27FC236}">
                <a16:creationId xmlns:a16="http://schemas.microsoft.com/office/drawing/2014/main" id="{C3C4AB51-9231-41A3-876B-585C84512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000375"/>
            <a:ext cx="772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当          时，干涉相长；当                     时，干涉相消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45068" name="Object 12">
            <a:extLst>
              <a:ext uri="{FF2B5EF4-FFF2-40B4-BE49-F238E27FC236}">
                <a16:creationId xmlns:a16="http://schemas.microsoft.com/office/drawing/2014/main" id="{B868A429-F2BF-48A3-909E-92968BA6D82A}"/>
              </a:ext>
            </a:extLst>
          </p:cNvPr>
          <p:cNvGraphicFramePr>
            <a:graphicFrameLocks/>
          </p:cNvGraphicFramePr>
          <p:nvPr/>
        </p:nvGraphicFramePr>
        <p:xfrm>
          <a:off x="1071563" y="3125788"/>
          <a:ext cx="850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1" name="公式" r:id="rId14" imgW="819290" imgH="247684" progId="Equation.3">
                  <p:embed/>
                </p:oleObj>
              </mc:Choice>
              <mc:Fallback>
                <p:oleObj name="公式" r:id="rId14" imgW="819290" imgH="247684" progId="Equation.3">
                  <p:embed/>
                  <p:pic>
                    <p:nvPicPr>
                      <p:cNvPr id="45068" name="Object 12">
                        <a:extLst>
                          <a:ext uri="{FF2B5EF4-FFF2-40B4-BE49-F238E27FC236}">
                            <a16:creationId xmlns:a16="http://schemas.microsoft.com/office/drawing/2014/main" id="{B868A429-F2BF-48A3-909E-92968BA6D8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125788"/>
                        <a:ext cx="850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13">
            <a:extLst>
              <a:ext uri="{FF2B5EF4-FFF2-40B4-BE49-F238E27FC236}">
                <a16:creationId xmlns:a16="http://schemas.microsoft.com/office/drawing/2014/main" id="{C66D2436-E274-4293-9EB7-4F4C64DE5E29}"/>
              </a:ext>
            </a:extLst>
          </p:cNvPr>
          <p:cNvGraphicFramePr>
            <a:graphicFrameLocks/>
          </p:cNvGraphicFramePr>
          <p:nvPr/>
        </p:nvGraphicFramePr>
        <p:xfrm>
          <a:off x="4456113" y="2911475"/>
          <a:ext cx="175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2" name="公式" r:id="rId16" imgW="1723904" imgH="695291" progId="Equation.3">
                  <p:embed/>
                </p:oleObj>
              </mc:Choice>
              <mc:Fallback>
                <p:oleObj name="公式" r:id="rId16" imgW="1723904" imgH="695291" progId="Equation.3">
                  <p:embed/>
                  <p:pic>
                    <p:nvPicPr>
                      <p:cNvPr id="45069" name="Object 13">
                        <a:extLst>
                          <a:ext uri="{FF2B5EF4-FFF2-40B4-BE49-F238E27FC236}">
                            <a16:creationId xmlns:a16="http://schemas.microsoft.com/office/drawing/2014/main" id="{C66D2436-E274-4293-9EB7-4F4C64DE5E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2911475"/>
                        <a:ext cx="1752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Text Box 14">
            <a:extLst>
              <a:ext uri="{FF2B5EF4-FFF2-40B4-BE49-F238E27FC236}">
                <a16:creationId xmlns:a16="http://schemas.microsoft.com/office/drawing/2014/main" id="{F4D53758-D476-4774-9796-A00C15741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3644900"/>
            <a:ext cx="3246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6. </a:t>
            </a:r>
            <a:r>
              <a:rPr lang="zh-CN" altLang="en-US">
                <a:solidFill>
                  <a:srgbClr val="00FFFF"/>
                </a:solidFill>
              </a:rPr>
              <a:t>惠更斯－菲涅耳原理</a:t>
            </a:r>
            <a:endParaRPr kumimoji="0" lang="zh-CN" altLang="en-US">
              <a:solidFill>
                <a:srgbClr val="00FFFF"/>
              </a:solidFill>
            </a:endParaRPr>
          </a:p>
        </p:txBody>
      </p:sp>
      <p:sp>
        <p:nvSpPr>
          <p:cNvPr id="45071" name="Text Box 15">
            <a:extLst>
              <a:ext uri="{FF2B5EF4-FFF2-40B4-BE49-F238E27FC236}">
                <a16:creationId xmlns:a16="http://schemas.microsoft.com/office/drawing/2014/main" id="{0F18AE86-CA4D-44AD-BDB2-E6042C081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079875"/>
            <a:ext cx="75676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波面上的各面元都可看作是相干的次波波源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它们发出的次波在空间各点相遇时，其各点的强度分布是所有次波相干叠加的结果</a:t>
            </a:r>
            <a:r>
              <a:rPr kumimoji="0" lang="en-US" altLang="zh-CN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45072" name="Object 16">
            <a:extLst>
              <a:ext uri="{FF2B5EF4-FFF2-40B4-BE49-F238E27FC236}">
                <a16:creationId xmlns:a16="http://schemas.microsoft.com/office/drawing/2014/main" id="{867692A0-3FE9-4505-AB92-8CDF6E812C6C}"/>
              </a:ext>
            </a:extLst>
          </p:cNvPr>
          <p:cNvGraphicFramePr>
            <a:graphicFrameLocks/>
          </p:cNvGraphicFramePr>
          <p:nvPr/>
        </p:nvGraphicFramePr>
        <p:xfrm>
          <a:off x="2297113" y="5445125"/>
          <a:ext cx="427831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3" name="公式" r:id="rId18" imgW="4248137" imgH="1038191" progId="Equation.3">
                  <p:embed/>
                </p:oleObj>
              </mc:Choice>
              <mc:Fallback>
                <p:oleObj name="公式" r:id="rId18" imgW="4248137" imgH="1038191" progId="Equation.3">
                  <p:embed/>
                  <p:pic>
                    <p:nvPicPr>
                      <p:cNvPr id="45072" name="Object 16">
                        <a:extLst>
                          <a:ext uri="{FF2B5EF4-FFF2-40B4-BE49-F238E27FC236}">
                            <a16:creationId xmlns:a16="http://schemas.microsoft.com/office/drawing/2014/main" id="{867692A0-3FE9-4505-AB92-8CDF6E812C6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5445125"/>
                        <a:ext cx="427831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Object 17">
            <a:extLst>
              <a:ext uri="{FF2B5EF4-FFF2-40B4-BE49-F238E27FC236}">
                <a16:creationId xmlns:a16="http://schemas.microsoft.com/office/drawing/2014/main" id="{650DBAEF-62F0-454D-AFB2-12AEABFE7D64}"/>
              </a:ext>
            </a:extLst>
          </p:cNvPr>
          <p:cNvGraphicFramePr>
            <a:graphicFrameLocks/>
          </p:cNvGraphicFramePr>
          <p:nvPr/>
        </p:nvGraphicFramePr>
        <p:xfrm>
          <a:off x="1936750" y="2347913"/>
          <a:ext cx="1192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4" name="公式" r:id="rId20" imgW="1162114" imgH="342900" progId="Equation.3">
                  <p:embed/>
                </p:oleObj>
              </mc:Choice>
              <mc:Fallback>
                <p:oleObj name="公式" r:id="rId20" imgW="1162114" imgH="342900" progId="Equation.3">
                  <p:embed/>
                  <p:pic>
                    <p:nvPicPr>
                      <p:cNvPr id="45073" name="Object 17">
                        <a:extLst>
                          <a:ext uri="{FF2B5EF4-FFF2-40B4-BE49-F238E27FC236}">
                            <a16:creationId xmlns:a16="http://schemas.microsoft.com/office/drawing/2014/main" id="{650DBAEF-62F0-454D-AFB2-12AEABFE7D6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2347913"/>
                        <a:ext cx="11922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Object 18">
            <a:extLst>
              <a:ext uri="{FF2B5EF4-FFF2-40B4-BE49-F238E27FC236}">
                <a16:creationId xmlns:a16="http://schemas.microsoft.com/office/drawing/2014/main" id="{F7A417A5-87FC-430C-AFDF-4FDCD0368A38}"/>
              </a:ext>
            </a:extLst>
          </p:cNvPr>
          <p:cNvGraphicFramePr>
            <a:graphicFrameLocks/>
          </p:cNvGraphicFramePr>
          <p:nvPr/>
        </p:nvGraphicFramePr>
        <p:xfrm>
          <a:off x="1136650" y="1989138"/>
          <a:ext cx="457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5" name="公式" r:id="rId22" imgW="428759" imgH="247684" progId="Equation.3">
                  <p:embed/>
                </p:oleObj>
              </mc:Choice>
              <mc:Fallback>
                <p:oleObj name="公式" r:id="rId22" imgW="428759" imgH="247684" progId="Equation.3">
                  <p:embed/>
                  <p:pic>
                    <p:nvPicPr>
                      <p:cNvPr id="45074" name="Object 18">
                        <a:extLst>
                          <a:ext uri="{FF2B5EF4-FFF2-40B4-BE49-F238E27FC236}">
                            <a16:creationId xmlns:a16="http://schemas.microsoft.com/office/drawing/2014/main" id="{F7A417A5-87FC-430C-AFDF-4FDCD0368A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1989138"/>
                        <a:ext cx="457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5" name="AutoShape 19">
            <a:extLst>
              <a:ext uri="{FF2B5EF4-FFF2-40B4-BE49-F238E27FC236}">
                <a16:creationId xmlns:a16="http://schemas.microsoft.com/office/drawing/2014/main" id="{FBC16508-A2D8-4603-BEE7-0303AFBAB6C2}"/>
              </a:ext>
            </a:extLst>
          </p:cNvPr>
          <p:cNvSpPr>
            <a:spLocks/>
          </p:cNvSpPr>
          <p:nvPr/>
        </p:nvSpPr>
        <p:spPr bwMode="auto">
          <a:xfrm flipH="1">
            <a:off x="1639888" y="1771650"/>
            <a:ext cx="225425" cy="792163"/>
          </a:xfrm>
          <a:prstGeom prst="rightBrace">
            <a:avLst>
              <a:gd name="adj1" fmla="val 29284"/>
              <a:gd name="adj2" fmla="val 50000"/>
            </a:avLst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037E3077-622A-4690-9771-19E631077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404813"/>
            <a:ext cx="534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7. </a:t>
            </a:r>
            <a:r>
              <a:rPr kumimoji="0" lang="zh-CN" altLang="en-US">
                <a:solidFill>
                  <a:srgbClr val="00FFFF"/>
                </a:solidFill>
              </a:rPr>
              <a:t>单缝夫琅禾费衍射</a:t>
            </a:r>
            <a:r>
              <a:rPr kumimoji="0" lang="zh-CN" altLang="en-US">
                <a:solidFill>
                  <a:schemeClr val="bg1"/>
                </a:solidFill>
              </a:rPr>
              <a:t>（</a:t>
            </a:r>
            <a:r>
              <a:rPr kumimoji="0" lang="zh-CN" altLang="en-US">
                <a:solidFill>
                  <a:srgbClr val="FFFF00"/>
                </a:solidFill>
              </a:rPr>
              <a:t>半波带法</a:t>
            </a:r>
            <a:r>
              <a:rPr kumimoji="0" lang="zh-CN" altLang="en-US">
                <a:solidFill>
                  <a:schemeClr val="bg1"/>
                </a:solidFill>
              </a:rPr>
              <a:t>）</a:t>
            </a:r>
          </a:p>
        </p:txBody>
      </p:sp>
      <p:graphicFrame>
        <p:nvGraphicFramePr>
          <p:cNvPr id="47107" name="Object 3">
            <a:extLst>
              <a:ext uri="{FF2B5EF4-FFF2-40B4-BE49-F238E27FC236}">
                <a16:creationId xmlns:a16="http://schemas.microsoft.com/office/drawing/2014/main" id="{8A2D0917-F5D4-4E1F-A730-E14A0092AF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5475" y="1290638"/>
          <a:ext cx="407035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55" name="Equation" r:id="rId4" imgW="4505331" imgH="799998" progId="Equation.DSMT4">
                  <p:embed/>
                </p:oleObj>
              </mc:Choice>
              <mc:Fallback>
                <p:oleObj name="Equation" r:id="rId4" imgW="4505331" imgH="799998" progId="Equation.DSMT4">
                  <p:embed/>
                  <p:pic>
                    <p:nvPicPr>
                      <p:cNvPr id="47107" name="Object 3">
                        <a:extLst>
                          <a:ext uri="{FF2B5EF4-FFF2-40B4-BE49-F238E27FC236}">
                            <a16:creationId xmlns:a16="http://schemas.microsoft.com/office/drawing/2014/main" id="{8A2D0917-F5D4-4E1F-A730-E14A0092AF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5" y="1290638"/>
                        <a:ext cx="407035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66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B2B2B2">
                                <a:alpha val="50195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Text Box 4">
            <a:extLst>
              <a:ext uri="{FF2B5EF4-FFF2-40B4-BE49-F238E27FC236}">
                <a16:creationId xmlns:a16="http://schemas.microsoft.com/office/drawing/2014/main" id="{08F5CF46-271C-4540-90C8-D6491F0C9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1006475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暗纹条件</a:t>
            </a:r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B81CBA6B-6812-47A6-A90C-ED06B121C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2133600"/>
            <a:ext cx="3771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明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纹条件</a:t>
            </a:r>
            <a:r>
              <a:rPr lang="zh-CN" altLang="en-US" sz="2000">
                <a:solidFill>
                  <a:schemeClr val="bg1"/>
                </a:solidFill>
                <a:latin typeface="方正书宋简体"/>
              </a:rPr>
              <a:t>（近似条件）</a:t>
            </a:r>
          </a:p>
        </p:txBody>
      </p:sp>
      <p:graphicFrame>
        <p:nvGraphicFramePr>
          <p:cNvPr id="47110" name="Object 6">
            <a:extLst>
              <a:ext uri="{FF2B5EF4-FFF2-40B4-BE49-F238E27FC236}">
                <a16:creationId xmlns:a16="http://schemas.microsoft.com/office/drawing/2014/main" id="{77596006-8D25-41F2-B972-A15133B9AC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1975" y="2509838"/>
          <a:ext cx="463867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56" name="Equation" r:id="rId6" imgW="5143576" imgH="799998" progId="Equation.DSMT4">
                  <p:embed/>
                </p:oleObj>
              </mc:Choice>
              <mc:Fallback>
                <p:oleObj name="Equation" r:id="rId6" imgW="5143576" imgH="799998" progId="Equation.DSMT4">
                  <p:embed/>
                  <p:pic>
                    <p:nvPicPr>
                      <p:cNvPr id="47110" name="Object 6">
                        <a:extLst>
                          <a:ext uri="{FF2B5EF4-FFF2-40B4-BE49-F238E27FC236}">
                            <a16:creationId xmlns:a16="http://schemas.microsoft.com/office/drawing/2014/main" id="{77596006-8D25-41F2-B972-A15133B9A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2509838"/>
                        <a:ext cx="4638675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66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B2B2B2">
                                <a:alpha val="45097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>
            <a:extLst>
              <a:ext uri="{FF2B5EF4-FFF2-40B4-BE49-F238E27FC236}">
                <a16:creationId xmlns:a16="http://schemas.microsoft.com/office/drawing/2014/main" id="{174ADC96-ECE1-4E8B-8F1C-054A8BF8D5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2100" y="4002088"/>
          <a:ext cx="204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57" name="Equation" r:id="rId8" imgW="2247773" imgH="990736" progId="Equation.DSMT4">
                  <p:embed/>
                </p:oleObj>
              </mc:Choice>
              <mc:Fallback>
                <p:oleObj name="Equation" r:id="rId8" imgW="2247773" imgH="990736" progId="Equation.DSMT4">
                  <p:embed/>
                  <p:pic>
                    <p:nvPicPr>
                      <p:cNvPr id="47111" name="Object 7">
                        <a:extLst>
                          <a:ext uri="{FF2B5EF4-FFF2-40B4-BE49-F238E27FC236}">
                            <a16:creationId xmlns:a16="http://schemas.microsoft.com/office/drawing/2014/main" id="{174ADC96-ECE1-4E8B-8F1C-054A8BF8D5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4002088"/>
                        <a:ext cx="2044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98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B2B2B2">
                                <a:alpha val="47842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Text Box 8">
            <a:extLst>
              <a:ext uri="{FF2B5EF4-FFF2-40B4-BE49-F238E27FC236}">
                <a16:creationId xmlns:a16="http://schemas.microsoft.com/office/drawing/2014/main" id="{2A59DBC7-5FBB-4275-8E41-67AE9BD80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3430588"/>
            <a:ext cx="608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kumimoji="0" lang="zh-CN" altLang="en-US">
                <a:solidFill>
                  <a:schemeClr val="bg1"/>
                </a:solidFill>
              </a:rPr>
              <a:t>单缝夫琅禾费衍射的光强公式</a:t>
            </a:r>
            <a:endParaRPr lang="zh-CN" altLang="en-US">
              <a:solidFill>
                <a:schemeClr val="bg1"/>
              </a:solidFill>
              <a:latin typeface="方正书宋简体"/>
            </a:endParaRPr>
          </a:p>
        </p:txBody>
      </p:sp>
      <p:sp>
        <p:nvSpPr>
          <p:cNvPr id="47113" name="Text Box 9">
            <a:extLst>
              <a:ext uri="{FF2B5EF4-FFF2-40B4-BE49-F238E27FC236}">
                <a16:creationId xmlns:a16="http://schemas.microsoft.com/office/drawing/2014/main" id="{2B50BE8B-C53C-40E6-B340-6C7B34675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5097463"/>
            <a:ext cx="508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8. </a:t>
            </a:r>
            <a:r>
              <a:rPr kumimoji="0" lang="zh-CN" altLang="en-US">
                <a:solidFill>
                  <a:srgbClr val="00FFFF"/>
                </a:solidFill>
              </a:rPr>
              <a:t>光学仪器的最小分辨角和分辨本领</a:t>
            </a:r>
          </a:p>
        </p:txBody>
      </p:sp>
      <p:graphicFrame>
        <p:nvGraphicFramePr>
          <p:cNvPr id="47114" name="Object 10">
            <a:extLst>
              <a:ext uri="{FF2B5EF4-FFF2-40B4-BE49-F238E27FC236}">
                <a16:creationId xmlns:a16="http://schemas.microsoft.com/office/drawing/2014/main" id="{0DA5A3E0-7C6B-4588-BF1D-A12D04916AE7}"/>
              </a:ext>
            </a:extLst>
          </p:cNvPr>
          <p:cNvGraphicFramePr>
            <a:graphicFrameLocks/>
          </p:cNvGraphicFramePr>
          <p:nvPr/>
        </p:nvGraphicFramePr>
        <p:xfrm>
          <a:off x="2998788" y="5661025"/>
          <a:ext cx="1600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58" name="公式" r:id="rId10" imgW="1571606" imgH="695291" progId="Equation.3">
                  <p:embed/>
                </p:oleObj>
              </mc:Choice>
              <mc:Fallback>
                <p:oleObj name="公式" r:id="rId10" imgW="1571606" imgH="695291" progId="Equation.3">
                  <p:embed/>
                  <p:pic>
                    <p:nvPicPr>
                      <p:cNvPr id="47114" name="Object 10">
                        <a:extLst>
                          <a:ext uri="{FF2B5EF4-FFF2-40B4-BE49-F238E27FC236}">
                            <a16:creationId xmlns:a16="http://schemas.microsoft.com/office/drawing/2014/main" id="{0DA5A3E0-7C6B-4588-BF1D-A12D04916A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5661025"/>
                        <a:ext cx="1600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B2B2B2">
                                <a:alpha val="50980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Object 11">
            <a:extLst>
              <a:ext uri="{FF2B5EF4-FFF2-40B4-BE49-F238E27FC236}">
                <a16:creationId xmlns:a16="http://schemas.microsoft.com/office/drawing/2014/main" id="{CCC11B76-4F4F-4B1D-84B6-CD71B2032E93}"/>
              </a:ext>
            </a:extLst>
          </p:cNvPr>
          <p:cNvGraphicFramePr>
            <a:graphicFrameLocks/>
          </p:cNvGraphicFramePr>
          <p:nvPr/>
        </p:nvGraphicFramePr>
        <p:xfrm>
          <a:off x="6815138" y="5686425"/>
          <a:ext cx="95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59" name="公式" r:id="rId12" imgW="923880" imgH="809489" progId="Equation.3">
                  <p:embed/>
                </p:oleObj>
              </mc:Choice>
              <mc:Fallback>
                <p:oleObj name="公式" r:id="rId12" imgW="923880" imgH="809489" progId="Equation.3">
                  <p:embed/>
                  <p:pic>
                    <p:nvPicPr>
                      <p:cNvPr id="47115" name="Object 11">
                        <a:extLst>
                          <a:ext uri="{FF2B5EF4-FFF2-40B4-BE49-F238E27FC236}">
                            <a16:creationId xmlns:a16="http://schemas.microsoft.com/office/drawing/2014/main" id="{CCC11B76-4F4F-4B1D-84B6-CD71B2032E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138" y="5686425"/>
                        <a:ext cx="952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Rectangle 12">
            <a:extLst>
              <a:ext uri="{FF2B5EF4-FFF2-40B4-BE49-F238E27FC236}">
                <a16:creationId xmlns:a16="http://schemas.microsoft.com/office/drawing/2014/main" id="{D041DD15-3461-4874-B99E-6A4A3B9F8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813425"/>
            <a:ext cx="171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最小分辨角</a:t>
            </a:r>
          </a:p>
        </p:txBody>
      </p:sp>
      <p:sp>
        <p:nvSpPr>
          <p:cNvPr id="47117" name="Rectangle 13">
            <a:extLst>
              <a:ext uri="{FF2B5EF4-FFF2-40B4-BE49-F238E27FC236}">
                <a16:creationId xmlns:a16="http://schemas.microsoft.com/office/drawing/2014/main" id="{E6A110A8-A041-4E67-9BF8-831257500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5834063"/>
            <a:ext cx="1892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;    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分辨本领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250D8FE7-5BED-4778-A98A-5DAD3147C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61950"/>
            <a:ext cx="171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9. </a:t>
            </a:r>
            <a:r>
              <a:rPr kumimoji="0" lang="zh-CN" altLang="en-US">
                <a:solidFill>
                  <a:srgbClr val="00FFFF"/>
                </a:solidFill>
              </a:rPr>
              <a:t>光栅衍射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215EDD0B-1FF0-4F2C-BAF9-1AAE68672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900113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光栅方程</a:t>
            </a:r>
            <a:endParaRPr lang="zh-CN" altLang="en-US">
              <a:solidFill>
                <a:schemeClr val="bg1"/>
              </a:solidFill>
              <a:latin typeface="方正书宋简体"/>
            </a:endParaRPr>
          </a:p>
        </p:txBody>
      </p:sp>
      <p:graphicFrame>
        <p:nvGraphicFramePr>
          <p:cNvPr id="49156" name="Object 4">
            <a:extLst>
              <a:ext uri="{FF2B5EF4-FFF2-40B4-BE49-F238E27FC236}">
                <a16:creationId xmlns:a16="http://schemas.microsoft.com/office/drawing/2014/main" id="{B62A7BFC-0BDC-440A-A51F-CF3DDA4C4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1385888"/>
          <a:ext cx="1651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88" name="公式" r:id="rId4" imgW="1619314" imgH="314427" progId="Equation.3">
                  <p:embed/>
                </p:oleObj>
              </mc:Choice>
              <mc:Fallback>
                <p:oleObj name="公式" r:id="rId4" imgW="1619314" imgH="314427" progId="Equation.3">
                  <p:embed/>
                  <p:pic>
                    <p:nvPicPr>
                      <p:cNvPr id="49156" name="Object 4">
                        <a:extLst>
                          <a:ext uri="{FF2B5EF4-FFF2-40B4-BE49-F238E27FC236}">
                            <a16:creationId xmlns:a16="http://schemas.microsoft.com/office/drawing/2014/main" id="{B62A7BFC-0BDC-440A-A51F-CF3DDA4C4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385888"/>
                        <a:ext cx="1651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49019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>
                                <a:alpha val="47842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>
            <a:extLst>
              <a:ext uri="{FF2B5EF4-FFF2-40B4-BE49-F238E27FC236}">
                <a16:creationId xmlns:a16="http://schemas.microsoft.com/office/drawing/2014/main" id="{D50CC1BD-5EAF-48C9-A7BF-BE3CCFBA1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1363663"/>
          <a:ext cx="142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89" name="公式" r:id="rId6" imgW="1390561" imgH="304936" progId="Equation.3">
                  <p:embed/>
                </p:oleObj>
              </mc:Choice>
              <mc:Fallback>
                <p:oleObj name="公式" r:id="rId6" imgW="1390561" imgH="304936" progId="Equation.3">
                  <p:embed/>
                  <p:pic>
                    <p:nvPicPr>
                      <p:cNvPr id="49157" name="Object 5">
                        <a:extLst>
                          <a:ext uri="{FF2B5EF4-FFF2-40B4-BE49-F238E27FC236}">
                            <a16:creationId xmlns:a16="http://schemas.microsoft.com/office/drawing/2014/main" id="{D50CC1BD-5EAF-48C9-A7BF-BE3CCFBA1E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1363663"/>
                        <a:ext cx="142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Text Box 6">
            <a:extLst>
              <a:ext uri="{FF2B5EF4-FFF2-40B4-BE49-F238E27FC236}">
                <a16:creationId xmlns:a16="http://schemas.microsoft.com/office/drawing/2014/main" id="{D799239B-EA11-42E6-91F2-74D0AF4EE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1801813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方正书宋简体"/>
              </a:rPr>
              <a:t>暗纹条件</a:t>
            </a:r>
          </a:p>
        </p:txBody>
      </p:sp>
      <p:graphicFrame>
        <p:nvGraphicFramePr>
          <p:cNvPr id="49159" name="Object 7">
            <a:extLst>
              <a:ext uri="{FF2B5EF4-FFF2-40B4-BE49-F238E27FC236}">
                <a16:creationId xmlns:a16="http://schemas.microsoft.com/office/drawing/2014/main" id="{0E86934E-C9AF-48F5-8247-C6DC522681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4525" y="2089150"/>
          <a:ext cx="179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90" name="公式" r:id="rId8" imgW="1762131" imgH="695291" progId="Equation.3">
                  <p:embed/>
                </p:oleObj>
              </mc:Choice>
              <mc:Fallback>
                <p:oleObj name="公式" r:id="rId8" imgW="1762131" imgH="695291" progId="Equation.3">
                  <p:embed/>
                  <p:pic>
                    <p:nvPicPr>
                      <p:cNvPr id="49159" name="Object 7">
                        <a:extLst>
                          <a:ext uri="{FF2B5EF4-FFF2-40B4-BE49-F238E27FC236}">
                            <a16:creationId xmlns:a16="http://schemas.microsoft.com/office/drawing/2014/main" id="{0E86934E-C9AF-48F5-8247-C6DC52268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2089150"/>
                        <a:ext cx="1790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47842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>
                                <a:alpha val="49019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Text Box 8">
            <a:extLst>
              <a:ext uri="{FF2B5EF4-FFF2-40B4-BE49-F238E27FC236}">
                <a16:creationId xmlns:a16="http://schemas.microsoft.com/office/drawing/2014/main" id="{DCB587DC-718D-460D-8164-BD2DFB47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2881313"/>
            <a:ext cx="2697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lang="zh-CN" altLang="en-US">
                <a:solidFill>
                  <a:schemeClr val="bg1"/>
                </a:solidFill>
              </a:rPr>
              <a:t>缺级公式</a:t>
            </a:r>
            <a:endParaRPr lang="zh-CN" altLang="en-US">
              <a:solidFill>
                <a:schemeClr val="bg1"/>
              </a:solidFill>
              <a:latin typeface="方正书宋简体"/>
            </a:endParaRPr>
          </a:p>
        </p:txBody>
      </p:sp>
      <p:graphicFrame>
        <p:nvGraphicFramePr>
          <p:cNvPr id="49161" name="Object 9">
            <a:extLst>
              <a:ext uri="{FF2B5EF4-FFF2-40B4-BE49-F238E27FC236}">
                <a16:creationId xmlns:a16="http://schemas.microsoft.com/office/drawing/2014/main" id="{BF60C5AF-EE3C-411B-8FB9-935517BBB5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8400" y="3406775"/>
          <a:ext cx="1714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91" name="公式" r:id="rId10" imgW="1685982" imgH="323918" progId="Equation.3">
                  <p:embed/>
                </p:oleObj>
              </mc:Choice>
              <mc:Fallback>
                <p:oleObj name="公式" r:id="rId10" imgW="1685982" imgH="323918" progId="Equation.3">
                  <p:embed/>
                  <p:pic>
                    <p:nvPicPr>
                      <p:cNvPr id="49161" name="Object 9">
                        <a:extLst>
                          <a:ext uri="{FF2B5EF4-FFF2-40B4-BE49-F238E27FC236}">
                            <a16:creationId xmlns:a16="http://schemas.microsoft.com/office/drawing/2014/main" id="{BF60C5AF-EE3C-411B-8FB9-935517BBB5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3406775"/>
                        <a:ext cx="1714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>
            <a:extLst>
              <a:ext uri="{FF2B5EF4-FFF2-40B4-BE49-F238E27FC236}">
                <a16:creationId xmlns:a16="http://schemas.microsoft.com/office/drawing/2014/main" id="{6FD8810D-7F29-4485-AC20-8975D931ED3C}"/>
              </a:ext>
            </a:extLst>
          </p:cNvPr>
          <p:cNvGraphicFramePr>
            <a:graphicFrameLocks/>
          </p:cNvGraphicFramePr>
          <p:nvPr/>
        </p:nvGraphicFramePr>
        <p:xfrm>
          <a:off x="3152775" y="3170238"/>
          <a:ext cx="107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92" name="公式" r:id="rId12" imgW="1047737" imgH="695291" progId="Equation.3">
                  <p:embed/>
                </p:oleObj>
              </mc:Choice>
              <mc:Fallback>
                <p:oleObj name="公式" r:id="rId12" imgW="1047737" imgH="695291" progId="Equation.3">
                  <p:embed/>
                  <p:pic>
                    <p:nvPicPr>
                      <p:cNvPr id="49162" name="Object 10">
                        <a:extLst>
                          <a:ext uri="{FF2B5EF4-FFF2-40B4-BE49-F238E27FC236}">
                            <a16:creationId xmlns:a16="http://schemas.microsoft.com/office/drawing/2014/main" id="{6FD8810D-7F29-4485-AC20-8975D931ED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3170238"/>
                        <a:ext cx="1079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3" name="Text Box 11">
            <a:extLst>
              <a:ext uri="{FF2B5EF4-FFF2-40B4-BE49-F238E27FC236}">
                <a16:creationId xmlns:a16="http://schemas.microsoft.com/office/drawing/2014/main" id="{F96BE6F4-8199-4F32-AEA8-F16FEF6D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3962400"/>
            <a:ext cx="7840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其中</a:t>
            </a:r>
            <a:r>
              <a:rPr kumimoji="0" lang="en-US" altLang="zh-CN">
                <a:solidFill>
                  <a:schemeClr val="bg1"/>
                </a:solidFill>
              </a:rPr>
              <a:t>, </a:t>
            </a:r>
            <a:r>
              <a:rPr kumimoji="0" lang="en-US" altLang="zh-CN" i="1">
                <a:solidFill>
                  <a:srgbClr val="00FFFF"/>
                </a:solidFill>
              </a:rPr>
              <a:t>k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是缺级主极大的级次</a:t>
            </a:r>
            <a:r>
              <a:rPr kumimoji="0" lang="en-US" altLang="zh-CN">
                <a:solidFill>
                  <a:schemeClr val="bg1"/>
                </a:solidFill>
              </a:rPr>
              <a:t>, </a:t>
            </a:r>
            <a:r>
              <a:rPr kumimoji="0" lang="en-US" altLang="zh-CN" i="1">
                <a:solidFill>
                  <a:srgbClr val="00FFFF"/>
                </a:solidFill>
              </a:rPr>
              <a:t>k</a:t>
            </a:r>
            <a:r>
              <a:rPr kumimoji="0" lang="en-US" altLang="zh-CN">
                <a:solidFill>
                  <a:srgbClr val="00FFFF"/>
                </a:solidFill>
                <a:cs typeface="Times New Roman" panose="02020603050405020304" pitchFamily="18" charset="0"/>
              </a:rPr>
              <a:t>′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是单缝衍射暗纹的级数。</a:t>
            </a:r>
          </a:p>
        </p:txBody>
      </p:sp>
      <p:sp>
        <p:nvSpPr>
          <p:cNvPr id="49164" name="Text Box 12">
            <a:extLst>
              <a:ext uri="{FF2B5EF4-FFF2-40B4-BE49-F238E27FC236}">
                <a16:creationId xmlns:a16="http://schemas.microsoft.com/office/drawing/2014/main" id="{4F61E87A-5431-47A8-837B-F3C05B2F9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588" y="2252663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00FFFF"/>
                </a:solidFill>
              </a:rPr>
              <a:t>m</a:t>
            </a:r>
            <a:r>
              <a:rPr kumimoji="0" lang="en-US" altLang="zh-CN">
                <a:solidFill>
                  <a:srgbClr val="00FFFF"/>
                </a:solidFill>
                <a:cs typeface="Times New Roman" panose="02020603050405020304" pitchFamily="18" charset="0"/>
              </a:rPr>
              <a:t>≠</a:t>
            </a:r>
            <a:r>
              <a:rPr kumimoji="0" lang="en-US" altLang="zh-CN" i="1">
                <a:solidFill>
                  <a:srgbClr val="00FFFF"/>
                </a:solidFill>
                <a:cs typeface="Times New Roman" panose="02020603050405020304" pitchFamily="18" charset="0"/>
              </a:rPr>
              <a:t>kN</a:t>
            </a:r>
          </a:p>
        </p:txBody>
      </p:sp>
      <p:sp>
        <p:nvSpPr>
          <p:cNvPr id="49165" name="Text Box 13">
            <a:extLst>
              <a:ext uri="{FF2B5EF4-FFF2-40B4-BE49-F238E27FC236}">
                <a16:creationId xmlns:a16="http://schemas.microsoft.com/office/drawing/2014/main" id="{016F7692-8F9B-493A-8632-82DCCD3D6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4556125"/>
            <a:ext cx="435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(4) </a:t>
            </a:r>
            <a:r>
              <a:rPr lang="zh-CN" altLang="en-US">
                <a:solidFill>
                  <a:schemeClr val="bg1"/>
                </a:solidFill>
              </a:rPr>
              <a:t>光栅衍射的光强公式</a:t>
            </a:r>
            <a:endParaRPr lang="zh-CN" altLang="en-US">
              <a:solidFill>
                <a:schemeClr val="bg1"/>
              </a:solidFill>
              <a:latin typeface="方正书宋简体"/>
            </a:endParaRPr>
          </a:p>
        </p:txBody>
      </p:sp>
      <p:graphicFrame>
        <p:nvGraphicFramePr>
          <p:cNvPr id="49166" name="Object 14">
            <a:extLst>
              <a:ext uri="{FF2B5EF4-FFF2-40B4-BE49-F238E27FC236}">
                <a16:creationId xmlns:a16="http://schemas.microsoft.com/office/drawing/2014/main" id="{126C893D-99FD-4799-BBCD-108CFBF973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1325" y="4795838"/>
          <a:ext cx="3630613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93" name="Equation" r:id="rId14" imgW="4009904" imgH="1771752" progId="Equation.DSMT4">
                  <p:embed/>
                </p:oleObj>
              </mc:Choice>
              <mc:Fallback>
                <p:oleObj name="Equation" r:id="rId14" imgW="4009904" imgH="1771752" progId="Equation.DSMT4">
                  <p:embed/>
                  <p:pic>
                    <p:nvPicPr>
                      <p:cNvPr id="49166" name="Object 14">
                        <a:extLst>
                          <a:ext uri="{FF2B5EF4-FFF2-40B4-BE49-F238E27FC236}">
                            <a16:creationId xmlns:a16="http://schemas.microsoft.com/office/drawing/2014/main" id="{126C893D-99FD-4799-BBCD-108CFBF97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4795838"/>
                        <a:ext cx="3630613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C1C1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5">
            <a:extLst>
              <a:ext uri="{FF2B5EF4-FFF2-40B4-BE49-F238E27FC236}">
                <a16:creationId xmlns:a16="http://schemas.microsoft.com/office/drawing/2014/main" id="{ED0F0337-F4C1-4E81-A69F-B915B1ABE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500063"/>
            <a:ext cx="217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10. </a:t>
            </a:r>
            <a:r>
              <a:rPr kumimoji="0" lang="zh-CN" altLang="en-US">
                <a:solidFill>
                  <a:srgbClr val="00FFFF"/>
                </a:solidFill>
              </a:rPr>
              <a:t>马吕斯定律</a:t>
            </a:r>
          </a:p>
        </p:txBody>
      </p:sp>
      <p:graphicFrame>
        <p:nvGraphicFramePr>
          <p:cNvPr id="51203" name="Object 6">
            <a:extLst>
              <a:ext uri="{FF2B5EF4-FFF2-40B4-BE49-F238E27FC236}">
                <a16:creationId xmlns:a16="http://schemas.microsoft.com/office/drawing/2014/main" id="{2DE17EA4-0C8F-442A-8786-D786E265B980}"/>
              </a:ext>
            </a:extLst>
          </p:cNvPr>
          <p:cNvGraphicFramePr>
            <a:graphicFrameLocks/>
          </p:cNvGraphicFramePr>
          <p:nvPr/>
        </p:nvGraphicFramePr>
        <p:xfrm>
          <a:off x="3559175" y="500063"/>
          <a:ext cx="1701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94" name="公式" r:id="rId4" imgW="1676502" imgH="390661" progId="Equation.3">
                  <p:embed/>
                </p:oleObj>
              </mc:Choice>
              <mc:Fallback>
                <p:oleObj name="公式" r:id="rId4" imgW="1676502" imgH="390661" progId="Equation.3">
                  <p:embed/>
                  <p:pic>
                    <p:nvPicPr>
                      <p:cNvPr id="51203" name="Object 6">
                        <a:extLst>
                          <a:ext uri="{FF2B5EF4-FFF2-40B4-BE49-F238E27FC236}">
                            <a16:creationId xmlns:a16="http://schemas.microsoft.com/office/drawing/2014/main" id="{2DE17EA4-0C8F-442A-8786-D786E265B9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75" y="500063"/>
                        <a:ext cx="1701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7">
            <a:extLst>
              <a:ext uri="{FF2B5EF4-FFF2-40B4-BE49-F238E27FC236}">
                <a16:creationId xmlns:a16="http://schemas.microsoft.com/office/drawing/2014/main" id="{A0453054-A1B3-49F5-8082-1077FAA21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150938"/>
            <a:ext cx="2479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11. </a:t>
            </a:r>
            <a:r>
              <a:rPr lang="zh-CN" altLang="en-US">
                <a:solidFill>
                  <a:srgbClr val="00FFFF"/>
                </a:solidFill>
              </a:rPr>
              <a:t>布儒斯特定律</a:t>
            </a:r>
            <a:endParaRPr kumimoji="0" lang="zh-CN" altLang="en-US">
              <a:solidFill>
                <a:srgbClr val="00FFFF"/>
              </a:solidFill>
            </a:endParaRPr>
          </a:p>
        </p:txBody>
      </p:sp>
      <p:graphicFrame>
        <p:nvGraphicFramePr>
          <p:cNvPr id="51205" name="Object 8">
            <a:extLst>
              <a:ext uri="{FF2B5EF4-FFF2-40B4-BE49-F238E27FC236}">
                <a16:creationId xmlns:a16="http://schemas.microsoft.com/office/drawing/2014/main" id="{A4284104-8E95-42F9-9DC0-C18F36F45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1000125"/>
          <a:ext cx="1295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95" name="公式" r:id="rId6" imgW="1266704" imgH="771525" progId="Equation.3">
                  <p:embed/>
                </p:oleObj>
              </mc:Choice>
              <mc:Fallback>
                <p:oleObj name="公式" r:id="rId6" imgW="1266704" imgH="771525" progId="Equation.3">
                  <p:embed/>
                  <p:pic>
                    <p:nvPicPr>
                      <p:cNvPr id="51205" name="Object 8">
                        <a:extLst>
                          <a:ext uri="{FF2B5EF4-FFF2-40B4-BE49-F238E27FC236}">
                            <a16:creationId xmlns:a16="http://schemas.microsoft.com/office/drawing/2014/main" id="{A4284104-8E95-42F9-9DC0-C18F36F459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000125"/>
                        <a:ext cx="1295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Text Box 9">
            <a:extLst>
              <a:ext uri="{FF2B5EF4-FFF2-40B4-BE49-F238E27FC236}">
                <a16:creationId xmlns:a16="http://schemas.microsoft.com/office/drawing/2014/main" id="{66361F66-7FDD-418F-8C7F-A899AB065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4043363"/>
            <a:ext cx="1560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13. </a:t>
            </a:r>
            <a:r>
              <a:rPr lang="zh-CN" altLang="en-US">
                <a:solidFill>
                  <a:srgbClr val="00FFFF"/>
                </a:solidFill>
              </a:rPr>
              <a:t>波晶片</a:t>
            </a:r>
          </a:p>
        </p:txBody>
      </p:sp>
      <p:sp>
        <p:nvSpPr>
          <p:cNvPr id="51207" name="Text Box 10">
            <a:extLst>
              <a:ext uri="{FF2B5EF4-FFF2-40B4-BE49-F238E27FC236}">
                <a16:creationId xmlns:a16="http://schemas.microsoft.com/office/drawing/2014/main" id="{7310D29C-56FE-4A57-9491-A006F2FBE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4537075"/>
            <a:ext cx="7556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光轴平行于晶面的单轴晶片称作波晶片。当一束单色线偏振光垂直入射波晶片时，通过波晶片的</a:t>
            </a:r>
            <a:r>
              <a:rPr kumimoji="0" lang="en-US" altLang="zh-CN">
                <a:solidFill>
                  <a:srgbClr val="00FFFF"/>
                </a:solidFill>
              </a:rPr>
              <a:t>o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光和</a:t>
            </a:r>
            <a:r>
              <a:rPr kumimoji="0" lang="en-US" altLang="zh-CN">
                <a:solidFill>
                  <a:srgbClr val="00FFFF"/>
                </a:solidFill>
              </a:rPr>
              <a:t>e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光的光程差和相位差为</a:t>
            </a:r>
          </a:p>
        </p:txBody>
      </p:sp>
      <p:graphicFrame>
        <p:nvGraphicFramePr>
          <p:cNvPr id="51208" name="Object 11">
            <a:extLst>
              <a:ext uri="{FF2B5EF4-FFF2-40B4-BE49-F238E27FC236}">
                <a16:creationId xmlns:a16="http://schemas.microsoft.com/office/drawing/2014/main" id="{B5B41465-9E99-4007-88DB-DAAEB491A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7438" y="6062663"/>
          <a:ext cx="176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96" name="公式" r:id="rId8" imgW="1733690" imgH="380864" progId="Equation.3">
                  <p:embed/>
                </p:oleObj>
              </mc:Choice>
              <mc:Fallback>
                <p:oleObj name="公式" r:id="rId8" imgW="1733690" imgH="380864" progId="Equation.3">
                  <p:embed/>
                  <p:pic>
                    <p:nvPicPr>
                      <p:cNvPr id="51208" name="Object 11">
                        <a:extLst>
                          <a:ext uri="{FF2B5EF4-FFF2-40B4-BE49-F238E27FC236}">
                            <a16:creationId xmlns:a16="http://schemas.microsoft.com/office/drawing/2014/main" id="{B5B41465-9E99-4007-88DB-DAAEB491AE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6062663"/>
                        <a:ext cx="1765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Object 12">
            <a:extLst>
              <a:ext uri="{FF2B5EF4-FFF2-40B4-BE49-F238E27FC236}">
                <a16:creationId xmlns:a16="http://schemas.microsoft.com/office/drawing/2014/main" id="{F61B87D0-B5CD-4B34-A5E4-31FDEB713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5919788"/>
          <a:ext cx="1968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97" name="公式" r:id="rId10" imgW="1943176" imgH="695291" progId="Equation.3">
                  <p:embed/>
                </p:oleObj>
              </mc:Choice>
              <mc:Fallback>
                <p:oleObj name="公式" r:id="rId10" imgW="1943176" imgH="695291" progId="Equation.3">
                  <p:embed/>
                  <p:pic>
                    <p:nvPicPr>
                      <p:cNvPr id="51209" name="Object 12">
                        <a:extLst>
                          <a:ext uri="{FF2B5EF4-FFF2-40B4-BE49-F238E27FC236}">
                            <a16:creationId xmlns:a16="http://schemas.microsoft.com/office/drawing/2014/main" id="{F61B87D0-B5CD-4B34-A5E4-31FDEB713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5919788"/>
                        <a:ext cx="1968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BB43E44E-B72F-429D-B90E-C46DD342F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785938"/>
            <a:ext cx="6486525" cy="46196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kumimoji="0" lang="en-US" altLang="zh-CN" sz="2400" dirty="0">
                <a:solidFill>
                  <a:srgbClr val="00FFFF"/>
                </a:solidFill>
                <a:latin typeface="+mn-lt"/>
                <a:ea typeface="+mn-ea"/>
              </a:rPr>
              <a:t>12. </a:t>
            </a:r>
            <a:r>
              <a:rPr kumimoji="0" lang="zh-CN" altLang="en-US" sz="2400" dirty="0">
                <a:solidFill>
                  <a:srgbClr val="00FFFF"/>
                </a:solidFill>
                <a:latin typeface="+mn-ea"/>
                <a:ea typeface="+mn-ea"/>
              </a:rPr>
              <a:t>晶体双折射</a:t>
            </a:r>
            <a:endParaRPr kumimoji="0" lang="zh-CN" altLang="en-US" sz="2400" dirty="0">
              <a:latin typeface="+mn-ea"/>
              <a:ea typeface="+mn-ea"/>
            </a:endParaRPr>
          </a:p>
        </p:txBody>
      </p:sp>
      <p:sp>
        <p:nvSpPr>
          <p:cNvPr id="51211" name="Rectangle 5">
            <a:extLst>
              <a:ext uri="{FF2B5EF4-FFF2-40B4-BE49-F238E27FC236}">
                <a16:creationId xmlns:a16="http://schemas.microsoft.com/office/drawing/2014/main" id="{E1D070A3-68C6-4117-8608-D45ABAEBB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57438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EDFE4A"/>
                </a:solidFill>
                <a:latin typeface="宋体" panose="02010600030101010101" pitchFamily="2" charset="-122"/>
              </a:rPr>
              <a:t>① </a:t>
            </a:r>
            <a:r>
              <a:rPr kumimoji="0"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寻常光与非常光的规律（主平面，振动方向）</a:t>
            </a:r>
          </a:p>
        </p:txBody>
      </p:sp>
      <p:sp>
        <p:nvSpPr>
          <p:cNvPr id="51212" name="Rectangle 6">
            <a:extLst>
              <a:ext uri="{FF2B5EF4-FFF2-40B4-BE49-F238E27FC236}">
                <a16:creationId xmlns:a16="http://schemas.microsoft.com/office/drawing/2014/main" id="{E1870931-2018-46C7-A27C-970B91116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928938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EDFE4A"/>
                </a:solidFill>
                <a:latin typeface="宋体" panose="02010600030101010101" pitchFamily="2" charset="-122"/>
              </a:rPr>
              <a:t>② </a:t>
            </a:r>
            <a:r>
              <a:rPr kumimoji="0"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惠更斯作图法（</a:t>
            </a:r>
            <a:r>
              <a:rPr kumimoji="0" lang="zh-CN" altLang="en-US">
                <a:solidFill>
                  <a:srgbClr val="4DEAFB"/>
                </a:solidFill>
                <a:latin typeface="宋体" panose="02010600030101010101" pitchFamily="2" charset="-122"/>
              </a:rPr>
              <a:t>正、负晶体，光轴取向</a:t>
            </a:r>
            <a:r>
              <a:rPr kumimoji="0"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51213" name="Rectangle 8">
            <a:extLst>
              <a:ext uri="{FF2B5EF4-FFF2-40B4-BE49-F238E27FC236}">
                <a16:creationId xmlns:a16="http://schemas.microsoft.com/office/drawing/2014/main" id="{B9ECAF4D-D173-4996-8AB8-B55F5869A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500438"/>
            <a:ext cx="6300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③ 圆偏振、椭圆偏振、线偏振光形成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5A99D6D2-EB13-4AC4-8DA8-1E31EC342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57188"/>
            <a:ext cx="815340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>
                <a:solidFill>
                  <a:srgbClr val="FFFF00"/>
                </a:solidFill>
              </a:rPr>
              <a:t>例</a:t>
            </a:r>
            <a:r>
              <a:rPr lang="en-US" altLang="zh-CN">
                <a:solidFill>
                  <a:srgbClr val="FFFF00"/>
                </a:solidFill>
              </a:rPr>
              <a:t>: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一油轮漏出的油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折射率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1</a:t>
            </a:r>
            <a:r>
              <a:rPr lang="en-US" altLang="zh-CN">
                <a:solidFill>
                  <a:srgbClr val="FFFF00"/>
                </a:solidFill>
              </a:rPr>
              <a:t>=1.20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污染了某海域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, </a:t>
            </a:r>
            <a:r>
              <a:rPr lang="zh-CN" altLang="en-US">
                <a:solidFill>
                  <a:schemeClr val="bg1"/>
                </a:solidFill>
              </a:rPr>
              <a:t>在海水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2</a:t>
            </a:r>
            <a:r>
              <a:rPr lang="en-US" altLang="zh-CN">
                <a:solidFill>
                  <a:srgbClr val="FFFF00"/>
                </a:solidFill>
              </a:rPr>
              <a:t>=1.30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表面形成一层薄薄的油污。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4CA5E54F-D93F-4F9E-B063-1C106B192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1350963"/>
            <a:ext cx="8137525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如果太阳正位于海域上空，一直升飞机的驾驶员从机上向正下方观察，他所正对的油层厚度为</a:t>
            </a:r>
            <a:r>
              <a:rPr lang="en-US" altLang="zh-CN">
                <a:solidFill>
                  <a:srgbClr val="FFFF00"/>
                </a:solidFill>
              </a:rPr>
              <a:t>460 nm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则他将观察到油层呈什么颜色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DCEDC126-5D89-4D4C-B470-694A77C94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786063"/>
            <a:ext cx="807878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如果一潜水员潜入该区域水下，并向正上方观察，又将看到油层呈什么颜色？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07D4F39-9E01-4430-8181-8D199092C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3786188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已知：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90F174A-9770-4B44-A538-D6EE329EF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725" y="3786188"/>
            <a:ext cx="152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1 </a:t>
            </a:r>
            <a:r>
              <a:rPr lang="en-US" altLang="zh-CN">
                <a:solidFill>
                  <a:srgbClr val="FFFF00"/>
                </a:solidFill>
              </a:rPr>
              <a:t>= 1.20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31A6967-671C-4144-8BEF-BD24D3EBF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3803650"/>
            <a:ext cx="1300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2 </a:t>
            </a:r>
            <a:r>
              <a:rPr lang="en-US" altLang="zh-CN">
                <a:solidFill>
                  <a:srgbClr val="FFFF00"/>
                </a:solidFill>
              </a:rPr>
              <a:t>= 1.30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21001AD2-3725-4FF4-9B07-0CE7E8143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325" y="3786188"/>
            <a:ext cx="16335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FFFF00"/>
                </a:solidFill>
              </a:rPr>
              <a:t>d </a:t>
            </a:r>
            <a:r>
              <a:rPr lang="en-US" altLang="zh-CN" dirty="0">
                <a:solidFill>
                  <a:srgbClr val="FFFF00"/>
                </a:solidFill>
              </a:rPr>
              <a:t>= 460 nm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B526CBA-0B68-4E73-9FFA-91079D65CD70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4365567"/>
            <a:ext cx="4081463" cy="522288"/>
            <a:chOff x="288" y="2297"/>
            <a:chExt cx="2670" cy="378"/>
          </a:xfrm>
        </p:grpSpPr>
        <p:sp>
          <p:nvSpPr>
            <p:cNvPr id="53261" name="Text Box 3">
              <a:extLst>
                <a:ext uri="{FF2B5EF4-FFF2-40B4-BE49-F238E27FC236}">
                  <a16:creationId xmlns:a16="http://schemas.microsoft.com/office/drawing/2014/main" id="{395C0747-C4B5-4D11-A640-D1A198982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297"/>
              <a:ext cx="117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solidFill>
                    <a:srgbClr val="FFFF00"/>
                  </a:solidFill>
                </a:rPr>
                <a:t>解</a:t>
              </a:r>
              <a:r>
                <a:rPr lang="en-US" altLang="zh-CN" sz="2800" dirty="0">
                  <a:solidFill>
                    <a:srgbClr val="FFFF00"/>
                  </a:solidFill>
                </a:rPr>
                <a:t>:</a:t>
              </a:r>
              <a:r>
                <a:rPr lang="en-US" altLang="zh-CN" sz="2800" dirty="0">
                  <a:solidFill>
                    <a:srgbClr val="FFFF00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2800" dirty="0">
                  <a:solidFill>
                    <a:srgbClr val="FFFF00"/>
                  </a:solidFill>
                </a:rPr>
                <a:t>1</a:t>
              </a:r>
              <a:r>
                <a:rPr lang="en-US" altLang="zh-CN" sz="2800" dirty="0">
                  <a:solidFill>
                    <a:srgbClr val="FFFF00"/>
                  </a:solidFill>
                  <a:latin typeface="宋体" panose="02010600030101010101" pitchFamily="2" charset="-122"/>
                </a:rPr>
                <a:t>)</a:t>
              </a:r>
            </a:p>
          </p:txBody>
        </p:sp>
        <p:graphicFrame>
          <p:nvGraphicFramePr>
            <p:cNvPr id="53262" name="Object 2">
              <a:extLst>
                <a:ext uri="{FF2B5EF4-FFF2-40B4-BE49-F238E27FC236}">
                  <a16:creationId xmlns:a16="http://schemas.microsoft.com/office/drawing/2014/main" id="{3ED48B39-FFE0-4FE2-9CE4-6E9CBCCB448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86" y="2297"/>
            <a:ext cx="187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109" name="公式" r:id="rId3" imgW="1803400" imgH="368300" progId="Equation.3">
                    <p:embed/>
                  </p:oleObj>
                </mc:Choice>
                <mc:Fallback>
                  <p:oleObj name="公式" r:id="rId3" imgW="1803400" imgH="368300" progId="Equation.3">
                    <p:embed/>
                    <p:pic>
                      <p:nvPicPr>
                        <p:cNvPr id="53262" name="Object 2">
                          <a:extLst>
                            <a:ext uri="{FF2B5EF4-FFF2-40B4-BE49-F238E27FC236}">
                              <a16:creationId xmlns:a16="http://schemas.microsoft.com/office/drawing/2014/main" id="{3ED48B39-FFE0-4FE2-9CE4-6E9CBCCB44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6" y="2297"/>
                          <a:ext cx="1872" cy="36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573BB0FC-76C9-4575-885A-5E58A09E016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91353" y="5056980"/>
          <a:ext cx="31496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110" name="Equation" r:id="rId5" imgW="2349500" imgH="673100" progId="Equation.3">
                  <p:embed/>
                </p:oleObj>
              </mc:Choice>
              <mc:Fallback>
                <p:oleObj name="Equation" r:id="rId5" imgW="2349500" imgH="673100" progId="Equation.3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573BB0FC-76C9-4575-885A-5E58A09E01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1353" y="5056980"/>
                        <a:ext cx="3149600" cy="900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F910E242-3566-41A3-BEFC-41962E22FB7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66416" y="6099528"/>
          <a:ext cx="46418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111" name="公式" r:id="rId7" imgW="1675673" imgH="215806" progId="Equation.3">
                  <p:embed/>
                </p:oleObj>
              </mc:Choice>
              <mc:Fallback>
                <p:oleObj name="公式" r:id="rId7" imgW="1675673" imgH="215806" progId="Equation.3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F910E242-3566-41A3-BEFC-41962E22FB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416" y="6099528"/>
                        <a:ext cx="4641850" cy="571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9">
            <a:extLst>
              <a:ext uri="{FF2B5EF4-FFF2-40B4-BE49-F238E27FC236}">
                <a16:creationId xmlns:a16="http://schemas.microsoft.com/office/drawing/2014/main" id="{A97BDD19-FA9E-4CD1-839A-9B301E68E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263" y="6142390"/>
            <a:ext cx="1219200" cy="528638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绿色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DED961-D6F3-4221-BBB2-500BE159E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789" y="5011238"/>
            <a:ext cx="2890499" cy="54536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" name="下箭头 18">
            <a:extLst>
              <a:ext uri="{FF2B5EF4-FFF2-40B4-BE49-F238E27FC236}">
                <a16:creationId xmlns:a16="http://schemas.microsoft.com/office/drawing/2014/main" id="{48DE2C1B-06C2-43FA-A706-CFD684A60A0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047162" y="4179138"/>
            <a:ext cx="152371" cy="832100"/>
          </a:xfrm>
          <a:prstGeom prst="downArrow">
            <a:avLst>
              <a:gd name="adj1" fmla="val 50000"/>
              <a:gd name="adj2" fmla="val 81593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8" name="下箭头 20">
            <a:extLst>
              <a:ext uri="{FF2B5EF4-FFF2-40B4-BE49-F238E27FC236}">
                <a16:creationId xmlns:a16="http://schemas.microsoft.com/office/drawing/2014/main" id="{50EDA18C-0FD3-4C9D-8AE4-25B2AE2A2CE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15281" y="4164013"/>
            <a:ext cx="152371" cy="1392590"/>
          </a:xfrm>
          <a:prstGeom prst="downArrow">
            <a:avLst>
              <a:gd name="adj1" fmla="val 50000"/>
              <a:gd name="adj2" fmla="val 8784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FBC7AC9-8AD4-4024-A64F-1CE6F32DF83D}"/>
              </a:ext>
            </a:extLst>
          </p:cNvPr>
          <p:cNvGrpSpPr/>
          <p:nvPr/>
        </p:nvGrpSpPr>
        <p:grpSpPr>
          <a:xfrm>
            <a:off x="6894777" y="4179138"/>
            <a:ext cx="155327" cy="1377465"/>
            <a:chOff x="6894777" y="4179138"/>
            <a:chExt cx="155327" cy="1377465"/>
          </a:xfrm>
        </p:grpSpPr>
        <p:sp>
          <p:nvSpPr>
            <p:cNvPr id="16" name="下箭头 17">
              <a:extLst>
                <a:ext uri="{FF2B5EF4-FFF2-40B4-BE49-F238E27FC236}">
                  <a16:creationId xmlns:a16="http://schemas.microsoft.com/office/drawing/2014/main" id="{B11DE225-5F3F-4367-853E-6FF53DA46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7718" y="4179138"/>
              <a:ext cx="152371" cy="1377465"/>
            </a:xfrm>
            <a:prstGeom prst="downArrow">
              <a:avLst>
                <a:gd name="adj1" fmla="val 50000"/>
                <a:gd name="adj2" fmla="val 90784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" name="下箭头 17">
              <a:extLst>
                <a:ext uri="{FF2B5EF4-FFF2-40B4-BE49-F238E27FC236}">
                  <a16:creationId xmlns:a16="http://schemas.microsoft.com/office/drawing/2014/main" id="{5428ACBF-2106-42FE-94F4-1106A5846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4777" y="4292915"/>
              <a:ext cx="155327" cy="725442"/>
            </a:xfrm>
            <a:prstGeom prst="downArrow">
              <a:avLst>
                <a:gd name="adj1" fmla="val 50000"/>
                <a:gd name="adj2" fmla="val 90784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/>
      <p:bldP spid="11268" grpId="0"/>
      <p:bldP spid="5" grpId="0"/>
      <p:bldP spid="6" grpId="0"/>
      <p:bldP spid="7" grpId="0"/>
      <p:bldP spid="8" grpId="0"/>
      <p:bldP spid="14" grpId="0" animBg="1" autoUpdateAnimBg="0"/>
      <p:bldP spid="15" grpId="0" animBg="1"/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743064F3-CDB3-4C18-B6CF-07AF4B086D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7013" y="2457450"/>
          <a:ext cx="471487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69" name="公式" r:id="rId3" imgW="1943100" imgH="393700" progId="Equation.3">
                  <p:embed/>
                </p:oleObj>
              </mc:Choice>
              <mc:Fallback>
                <p:oleObj name="公式" r:id="rId3" imgW="1943100" imgH="393700" progId="Equation.3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743064F3-CDB3-4C18-B6CF-07AF4B086D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2457450"/>
                        <a:ext cx="4714875" cy="900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Text Box 4">
            <a:extLst>
              <a:ext uri="{FF2B5EF4-FFF2-40B4-BE49-F238E27FC236}">
                <a16:creationId xmlns:a16="http://schemas.microsoft.com/office/drawing/2014/main" id="{F5F1730B-33D1-4AEB-9A18-39DC4E0F2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00063"/>
            <a:ext cx="5164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>
                <a:solidFill>
                  <a:srgbClr val="FFFF00"/>
                </a:solidFill>
              </a:rPr>
              <a:t>2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>
                <a:solidFill>
                  <a:schemeClr val="bg1"/>
                </a:solidFill>
              </a:rPr>
              <a:t>透射光的光程差</a:t>
            </a:r>
            <a:r>
              <a:rPr lang="en-US" altLang="zh-CN" sz="2800">
                <a:solidFill>
                  <a:schemeClr val="bg1"/>
                </a:solidFill>
              </a:rPr>
              <a:t>:</a:t>
            </a:r>
            <a:endParaRPr lang="zh-CN" altLang="en-US" sz="2800">
              <a:solidFill>
                <a:schemeClr val="bg1"/>
              </a:solidFill>
            </a:endParaRPr>
          </a:p>
        </p:txBody>
      </p:sp>
      <p:graphicFrame>
        <p:nvGraphicFramePr>
          <p:cNvPr id="9222" name="Object 3">
            <a:extLst>
              <a:ext uri="{FF2B5EF4-FFF2-40B4-BE49-F238E27FC236}">
                <a16:creationId xmlns:a16="http://schemas.microsoft.com/office/drawing/2014/main" id="{5E0BAB5F-129B-4D77-80AD-C36A83209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7688" y="500063"/>
          <a:ext cx="25003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0" name="公式" r:id="rId5" imgW="1943100" imgH="381000" progId="Equation.3">
                  <p:embed/>
                </p:oleObj>
              </mc:Choice>
              <mc:Fallback>
                <p:oleObj name="公式" r:id="rId5" imgW="1943100" imgH="381000" progId="Equation.3">
                  <p:embed/>
                  <p:pic>
                    <p:nvPicPr>
                      <p:cNvPr id="9222" name="Object 3">
                        <a:extLst>
                          <a:ext uri="{FF2B5EF4-FFF2-40B4-BE49-F238E27FC236}">
                            <a16:creationId xmlns:a16="http://schemas.microsoft.com/office/drawing/2014/main" id="{5E0BAB5F-129B-4D77-80AD-C36A832097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500063"/>
                        <a:ext cx="2500312" cy="504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C82D382-A251-4C86-A10A-A00959243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1775" y="5672138"/>
          <a:ext cx="4710113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1" name="公式" r:id="rId7" imgW="2019300" imgH="393700" progId="Equation.3">
                  <p:embed/>
                </p:oleObj>
              </mc:Choice>
              <mc:Fallback>
                <p:oleObj name="公式" r:id="rId7" imgW="2019300" imgH="393700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1C82D382-A251-4C86-A10A-A009592436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5672138"/>
                        <a:ext cx="4710113" cy="900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>
            <a:extLst>
              <a:ext uri="{FF2B5EF4-FFF2-40B4-BE49-F238E27FC236}">
                <a16:creationId xmlns:a16="http://schemas.microsoft.com/office/drawing/2014/main" id="{D9E92DD2-1CEE-42C0-A8FA-CA92B5A5D2E4}"/>
              </a:ext>
            </a:extLst>
          </p:cNvPr>
          <p:cNvGrpSpPr>
            <a:grpSpLocks/>
          </p:cNvGrpSpPr>
          <p:nvPr/>
        </p:nvGrpSpPr>
        <p:grpSpPr bwMode="auto">
          <a:xfrm>
            <a:off x="1508125" y="3529013"/>
            <a:ext cx="6627813" cy="900112"/>
            <a:chOff x="1010" y="1824"/>
            <a:chExt cx="4221" cy="584"/>
          </a:xfrm>
        </p:grpSpPr>
        <p:graphicFrame>
          <p:nvGraphicFramePr>
            <p:cNvPr id="54294" name="Object 5">
              <a:extLst>
                <a:ext uri="{FF2B5EF4-FFF2-40B4-BE49-F238E27FC236}">
                  <a16:creationId xmlns:a16="http://schemas.microsoft.com/office/drawing/2014/main" id="{1C833E4F-1C13-4630-9BE8-FE2E72185D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0" y="1824"/>
            <a:ext cx="2996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172" name="公式" r:id="rId9" imgW="1892300" imgH="393700" progId="Equation.3">
                    <p:embed/>
                  </p:oleObj>
                </mc:Choice>
                <mc:Fallback>
                  <p:oleObj name="公式" r:id="rId9" imgW="1892300" imgH="393700" progId="Equation.3">
                    <p:embed/>
                    <p:pic>
                      <p:nvPicPr>
                        <p:cNvPr id="54294" name="Object 5">
                          <a:extLst>
                            <a:ext uri="{FF2B5EF4-FFF2-40B4-BE49-F238E27FC236}">
                              <a16:creationId xmlns:a16="http://schemas.microsoft.com/office/drawing/2014/main" id="{1C833E4F-1C13-4630-9BE8-FE2E72185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1824"/>
                          <a:ext cx="2996" cy="58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2" name="Text Box 9">
              <a:extLst>
                <a:ext uri="{FF2B5EF4-FFF2-40B4-BE49-F238E27FC236}">
                  <a16:creationId xmlns:a16="http://schemas.microsoft.com/office/drawing/2014/main" id="{36F26D67-7D6B-4F9D-8B37-B80B676DD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1968"/>
              <a:ext cx="816" cy="343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8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红光</a:t>
              </a:r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7BF19AA0-BE16-4516-9D96-660C30D72273}"/>
              </a:ext>
            </a:extLst>
          </p:cNvPr>
          <p:cNvGrpSpPr>
            <a:grpSpLocks/>
          </p:cNvGrpSpPr>
          <p:nvPr/>
        </p:nvGrpSpPr>
        <p:grpSpPr bwMode="auto">
          <a:xfrm>
            <a:off x="1497013" y="4600575"/>
            <a:ext cx="6638925" cy="900113"/>
            <a:chOff x="1003" y="2592"/>
            <a:chExt cx="4228" cy="573"/>
          </a:xfrm>
        </p:grpSpPr>
        <p:graphicFrame>
          <p:nvGraphicFramePr>
            <p:cNvPr id="54292" name="Object 6">
              <a:extLst>
                <a:ext uri="{FF2B5EF4-FFF2-40B4-BE49-F238E27FC236}">
                  <a16:creationId xmlns:a16="http://schemas.microsoft.com/office/drawing/2014/main" id="{F475AF7B-392F-4055-BF7B-95F7FA2F51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3" y="2592"/>
            <a:ext cx="3003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173" name="公式" r:id="rId11" imgW="1993900" imgH="393700" progId="Equation.3">
                    <p:embed/>
                  </p:oleObj>
                </mc:Choice>
                <mc:Fallback>
                  <p:oleObj name="公式" r:id="rId11" imgW="1993900" imgH="393700" progId="Equation.3">
                    <p:embed/>
                    <p:pic>
                      <p:nvPicPr>
                        <p:cNvPr id="54292" name="Object 6">
                          <a:extLst>
                            <a:ext uri="{FF2B5EF4-FFF2-40B4-BE49-F238E27FC236}">
                              <a16:creationId xmlns:a16="http://schemas.microsoft.com/office/drawing/2014/main" id="{F475AF7B-392F-4055-BF7B-95F7FA2F51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3" y="2592"/>
                          <a:ext cx="3003" cy="57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2">
              <a:extLst>
                <a:ext uri="{FF2B5EF4-FFF2-40B4-BE49-F238E27FC236}">
                  <a16:creationId xmlns:a16="http://schemas.microsoft.com/office/drawing/2014/main" id="{4C36F5CF-6A7F-4B50-AEE7-0C46A1FF4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736"/>
              <a:ext cx="816" cy="344"/>
            </a:xfrm>
            <a:prstGeom prst="rect">
              <a:avLst/>
            </a:prstGeom>
            <a:solidFill>
              <a:srgbClr val="7030A0"/>
            </a:solidFill>
            <a:ln w="9525">
              <a:solidFill>
                <a:srgbClr val="7030A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紫光</a:t>
              </a: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296B8367-D4C7-4965-A518-11A597F19639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3686175"/>
            <a:ext cx="996950" cy="1600200"/>
            <a:chOff x="284" y="2016"/>
            <a:chExt cx="628" cy="1008"/>
          </a:xfrm>
        </p:grpSpPr>
        <p:sp>
          <p:nvSpPr>
            <p:cNvPr id="9229" name="Text Box 14">
              <a:extLst>
                <a:ext uri="{FF2B5EF4-FFF2-40B4-BE49-F238E27FC236}">
                  <a16:creationId xmlns:a16="http://schemas.microsoft.com/office/drawing/2014/main" id="{7C4E82B2-BF11-4947-9C20-F8C64F0C4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" y="2016"/>
              <a:ext cx="388" cy="1008"/>
            </a:xfrm>
            <a:prstGeom prst="rect">
              <a:avLst/>
            </a:prstGeom>
            <a:solidFill>
              <a:srgbClr val="BB156C"/>
            </a:solidFill>
            <a:ln w="9525">
              <a:solidFill>
                <a:srgbClr val="CC0066"/>
              </a:solidFill>
              <a:miter lim="800000"/>
              <a:headEnd/>
              <a:tailEnd/>
            </a:ln>
          </p:spPr>
          <p:txBody>
            <a:bodyPr vert="eaVert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8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紫红色</a:t>
              </a:r>
            </a:p>
          </p:txBody>
        </p:sp>
        <p:sp>
          <p:nvSpPr>
            <p:cNvPr id="54291" name="AutoShape 15">
              <a:extLst>
                <a:ext uri="{FF2B5EF4-FFF2-40B4-BE49-F238E27FC236}">
                  <a16:creationId xmlns:a16="http://schemas.microsoft.com/office/drawing/2014/main" id="{D8C12BFC-03B9-4933-B4A8-02B5411ED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2160"/>
              <a:ext cx="192" cy="768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19050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9223" name="Object 16">
            <a:extLst>
              <a:ext uri="{FF2B5EF4-FFF2-40B4-BE49-F238E27FC236}">
                <a16:creationId xmlns:a16="http://schemas.microsoft.com/office/drawing/2014/main" id="{BB6A4E93-2732-4383-96DD-128D641456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500063"/>
          <a:ext cx="9112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4" name="公式" r:id="rId13" imgW="329914" imgH="177646" progId="Equation.3">
                  <p:embed/>
                </p:oleObj>
              </mc:Choice>
              <mc:Fallback>
                <p:oleObj name="公式" r:id="rId13" imgW="329914" imgH="177646" progId="Equation.3">
                  <p:embed/>
                  <p:pic>
                    <p:nvPicPr>
                      <p:cNvPr id="9223" name="Object 16">
                        <a:extLst>
                          <a:ext uri="{FF2B5EF4-FFF2-40B4-BE49-F238E27FC236}">
                            <a16:creationId xmlns:a16="http://schemas.microsoft.com/office/drawing/2014/main" id="{BB6A4E93-2732-4383-96DD-128D64145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00063"/>
                        <a:ext cx="911225" cy="504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7">
            <a:extLst>
              <a:ext uri="{FF2B5EF4-FFF2-40B4-BE49-F238E27FC236}">
                <a16:creationId xmlns:a16="http://schemas.microsoft.com/office/drawing/2014/main" id="{3B5E3FFF-4773-4D39-AE1C-3C3FB8BB8B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9075" y="1285875"/>
          <a:ext cx="40084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5" name="公式" r:id="rId15" imgW="1803400" imgH="393700" progId="Equation.3">
                  <p:embed/>
                </p:oleObj>
              </mc:Choice>
              <mc:Fallback>
                <p:oleObj name="公式" r:id="rId15" imgW="1803400" imgH="393700" progId="Equation.3">
                  <p:embed/>
                  <p:pic>
                    <p:nvPicPr>
                      <p:cNvPr id="9224" name="Object 17">
                        <a:extLst>
                          <a:ext uri="{FF2B5EF4-FFF2-40B4-BE49-F238E27FC236}">
                            <a16:creationId xmlns:a16="http://schemas.microsoft.com/office/drawing/2014/main" id="{3B5E3FFF-4773-4D39-AE1C-3C3FB8BB8B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1285875"/>
                        <a:ext cx="4008438" cy="900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3F5D2B58-7CEE-42E9-9BEF-A690E0852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1785938"/>
            <a:ext cx="2500313" cy="78581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8" name="下箭头 17">
            <a:extLst>
              <a:ext uri="{FF2B5EF4-FFF2-40B4-BE49-F238E27FC236}">
                <a16:creationId xmlns:a16="http://schemas.microsoft.com/office/drawing/2014/main" id="{9FB69A38-90DB-4F94-BF98-3C28D844C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1143000"/>
            <a:ext cx="500063" cy="6429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F497BD9B-AE9A-492D-9EAE-FDEB1D474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1785938"/>
            <a:ext cx="285750" cy="785812"/>
          </a:xfrm>
          <a:prstGeom prst="downArrow">
            <a:avLst>
              <a:gd name="adj1" fmla="val 50000"/>
              <a:gd name="adj2" fmla="val 7409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" name="下箭头 19">
            <a:extLst>
              <a:ext uri="{FF2B5EF4-FFF2-40B4-BE49-F238E27FC236}">
                <a16:creationId xmlns:a16="http://schemas.microsoft.com/office/drawing/2014/main" id="{355C116E-58EC-4EDD-8E68-BC90B4FB0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2571750"/>
            <a:ext cx="142875" cy="785813"/>
          </a:xfrm>
          <a:prstGeom prst="downArrow">
            <a:avLst>
              <a:gd name="adj1" fmla="val 50000"/>
              <a:gd name="adj2" fmla="val 95181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1" name="下箭头 20">
            <a:extLst>
              <a:ext uri="{FF2B5EF4-FFF2-40B4-BE49-F238E27FC236}">
                <a16:creationId xmlns:a16="http://schemas.microsoft.com/office/drawing/2014/main" id="{BF55ED8E-0EDE-44BD-928B-7BB49B50375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358063" y="1785938"/>
            <a:ext cx="142875" cy="785812"/>
          </a:xfrm>
          <a:prstGeom prst="downArrow">
            <a:avLst>
              <a:gd name="adj1" fmla="val 50000"/>
              <a:gd name="adj2" fmla="val 50009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C818D527-C9A6-4CA9-896C-CD324E20B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8" y="1785938"/>
            <a:ext cx="142875" cy="785812"/>
          </a:xfrm>
          <a:prstGeom prst="downArrow">
            <a:avLst>
              <a:gd name="adj1" fmla="val 50000"/>
              <a:gd name="adj2" fmla="val 50009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" name="下箭头 22">
            <a:extLst>
              <a:ext uri="{FF2B5EF4-FFF2-40B4-BE49-F238E27FC236}">
                <a16:creationId xmlns:a16="http://schemas.microsoft.com/office/drawing/2014/main" id="{E8E8ABD3-BF64-45D4-980A-38CCE9D0D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5" y="2571750"/>
            <a:ext cx="71438" cy="785813"/>
          </a:xfrm>
          <a:prstGeom prst="downArrow">
            <a:avLst>
              <a:gd name="adj1" fmla="val 50000"/>
              <a:gd name="adj2" fmla="val 196929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1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9767</TotalTime>
  <Words>2446</Words>
  <Application>Microsoft Office PowerPoint</Application>
  <PresentationFormat>全屏显示(4:3)</PresentationFormat>
  <Paragraphs>414</Paragraphs>
  <Slides>33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等线</vt:lpstr>
      <vt:lpstr>方正书宋简体</vt:lpstr>
      <vt:lpstr>仿宋_GB2312</vt:lpstr>
      <vt:lpstr>黑体</vt:lpstr>
      <vt:lpstr>华文仿宋</vt:lpstr>
      <vt:lpstr>华文中宋</vt:lpstr>
      <vt:lpstr>楷体_GB2312</vt:lpstr>
      <vt:lpstr>LiSu</vt:lpstr>
      <vt:lpstr>宋体</vt:lpstr>
      <vt:lpstr>Arial</vt:lpstr>
      <vt:lpstr>Cambria Math</vt:lpstr>
      <vt:lpstr>MT Extra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1421</cp:revision>
  <cp:lastPrinted>2025-10-29T04:48:08Z</cp:lastPrinted>
  <dcterms:created xsi:type="dcterms:W3CDTF">1998-11-21T01:35:00Z</dcterms:created>
  <dcterms:modified xsi:type="dcterms:W3CDTF">2025-11-04T03:29:19Z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