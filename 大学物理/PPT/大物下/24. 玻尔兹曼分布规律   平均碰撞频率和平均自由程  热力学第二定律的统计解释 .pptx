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439" r:id="rId2"/>
    <p:sldId id="580" r:id="rId3"/>
    <p:sldId id="522" r:id="rId4"/>
    <p:sldId id="523" r:id="rId5"/>
    <p:sldId id="524" r:id="rId6"/>
    <p:sldId id="585" r:id="rId7"/>
    <p:sldId id="525" r:id="rId8"/>
    <p:sldId id="916" r:id="rId9"/>
    <p:sldId id="586" r:id="rId10"/>
    <p:sldId id="587" r:id="rId11"/>
    <p:sldId id="588" r:id="rId12"/>
    <p:sldId id="589" r:id="rId13"/>
    <p:sldId id="590" r:id="rId14"/>
    <p:sldId id="591" r:id="rId15"/>
    <p:sldId id="592" r:id="rId16"/>
    <p:sldId id="564" r:id="rId17"/>
    <p:sldId id="565" r:id="rId18"/>
    <p:sldId id="566" r:id="rId19"/>
    <p:sldId id="567" r:id="rId20"/>
    <p:sldId id="568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578" r:id="rId31"/>
    <p:sldId id="579" r:id="rId32"/>
  </p:sldIdLst>
  <p:sldSz cx="9144000" cy="6858000" type="screen4x3"/>
  <p:notesSz cx="6797675" cy="9928225"/>
  <p:custDataLst>
    <p:tags r:id="rId3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948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4" Type="http://schemas.openxmlformats.org/officeDocument/2006/relationships/image" Target="../media/image3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4" Type="http://schemas.openxmlformats.org/officeDocument/2006/relationships/image" Target="../media/image4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61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10" Type="http://schemas.openxmlformats.org/officeDocument/2006/relationships/image" Target="../media/image71.emf"/><Relationship Id="rId4" Type="http://schemas.openxmlformats.org/officeDocument/2006/relationships/image" Target="../media/image65.emf"/><Relationship Id="rId9" Type="http://schemas.openxmlformats.org/officeDocument/2006/relationships/image" Target="../media/image70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12" Type="http://schemas.openxmlformats.org/officeDocument/2006/relationships/image" Target="../media/image93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11" Type="http://schemas.openxmlformats.org/officeDocument/2006/relationships/image" Target="../media/image92.emf"/><Relationship Id="rId5" Type="http://schemas.openxmlformats.org/officeDocument/2006/relationships/image" Target="../media/image86.emf"/><Relationship Id="rId10" Type="http://schemas.openxmlformats.org/officeDocument/2006/relationships/image" Target="../media/image91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Relationship Id="rId5" Type="http://schemas.openxmlformats.org/officeDocument/2006/relationships/image" Target="../media/image108.emf"/><Relationship Id="rId4" Type="http://schemas.openxmlformats.org/officeDocument/2006/relationships/image" Target="../media/image10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image" Target="../media/image11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7" Type="http://schemas.openxmlformats.org/officeDocument/2006/relationships/image" Target="../media/image124.emf"/><Relationship Id="rId2" Type="http://schemas.openxmlformats.org/officeDocument/2006/relationships/image" Target="../media/image119.emf"/><Relationship Id="rId1" Type="http://schemas.openxmlformats.org/officeDocument/2006/relationships/image" Target="../media/image118.emf"/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4" Type="http://schemas.openxmlformats.org/officeDocument/2006/relationships/image" Target="../media/image121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4" Type="http://schemas.openxmlformats.org/officeDocument/2006/relationships/image" Target="../media/image12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6FBB32E-0522-4698-92D5-609B1695346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CA04C6-898A-4B59-A411-61CB8CEE719D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4E99070-670A-4AC8-8565-20A458616E3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D7C8F63-65C6-4A78-BCB1-D7F88D86C5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A0CC9EB-4BC7-4094-A244-F0CB6AE0A9E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039559-91D6-4F40-A78E-D6277DB453AC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643A98-D0D4-4BC4-848C-6DAAA0338C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21304B8-FFE1-46F0-90F1-3DC33CFD3D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62651B8-529B-4EA7-948A-23A1D5DE6E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3F8EA21-FCA7-4F4B-B881-0AE5419CC0F2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F0622E1-A1F3-4548-A772-3ACB9239E78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65E3B38-703E-4234-819E-CF36D64376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b="1">
              <a:solidFill>
                <a:srgbClr val="FFFF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34D2907-DC12-4F4A-9A05-A74B865440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4A17938-1C25-4A08-B5B9-3268FD726FC5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1B60C44-BFA3-458B-8BAA-87546C8BF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30D448E-DC2B-45BD-B37A-50B77A6DE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90C683E-4410-43D6-8F8B-5FE86AC45EB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261BD7C-7BA2-4011-95ED-EE99A531BB7A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22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5ED2AC6-FCD6-4044-BCBC-348B36349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28AC97E-78D7-43ED-83B8-DD375414A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2C15869-E7B7-44B7-85F8-E8D7FB42E24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4BFD329-5C84-42B2-90B8-3E2BAF99DA6B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25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624BBAF-E097-4B25-8971-89E1C4A3B6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2EB1866-7BEE-41DC-B09C-F5E4DA93C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emf"/><Relationship Id="rId3" Type="http://schemas.openxmlformats.org/officeDocument/2006/relationships/image" Target="../media/image8.png"/><Relationship Id="rId7" Type="http://schemas.openxmlformats.org/officeDocument/2006/relationships/image" Target="../media/image3.e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emf"/><Relationship Id="rId17" Type="http://schemas.openxmlformats.org/officeDocument/2006/relationships/image" Target="../media/image8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9.emf"/><Relationship Id="rId18" Type="http://schemas.openxmlformats.org/officeDocument/2006/relationships/oleObject" Target="../embeddings/oleObject21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3.emf"/><Relationship Id="rId7" Type="http://schemas.openxmlformats.org/officeDocument/2006/relationships/image" Target="../media/image16.e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emf"/><Relationship Id="rId5" Type="http://schemas.openxmlformats.org/officeDocument/2006/relationships/image" Target="../media/image15.emf"/><Relationship Id="rId15" Type="http://schemas.openxmlformats.org/officeDocument/2006/relationships/image" Target="../media/image20.emf"/><Relationship Id="rId23" Type="http://schemas.openxmlformats.org/officeDocument/2006/relationships/image" Target="../media/image24.e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2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image" Target="../media/image29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emf"/><Relationship Id="rId11" Type="http://schemas.openxmlformats.org/officeDocument/2006/relationships/image" Target="../media/image28.emf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25.emf"/><Relationship Id="rId9" Type="http://schemas.openxmlformats.org/officeDocument/2006/relationships/image" Target="../media/image17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8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2.e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9.e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4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e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5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e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58.emf"/><Relationship Id="rId4" Type="http://schemas.openxmlformats.org/officeDocument/2006/relationships/image" Target="../media/image55.e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9.emf"/><Relationship Id="rId3" Type="http://schemas.openxmlformats.org/officeDocument/2006/relationships/oleObject" Target="../embeddings/oleObject61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emf"/><Relationship Id="rId20" Type="http://schemas.openxmlformats.org/officeDocument/2006/relationships/image" Target="../media/image70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65.e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62.e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7.emf"/><Relationship Id="rId22" Type="http://schemas.openxmlformats.org/officeDocument/2006/relationships/image" Target="../media/image7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79.png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8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9.emf"/><Relationship Id="rId26" Type="http://schemas.openxmlformats.org/officeDocument/2006/relationships/image" Target="../media/image93.emf"/><Relationship Id="rId3" Type="http://schemas.openxmlformats.org/officeDocument/2006/relationships/oleObject" Target="../embeddings/oleObject81.bin"/><Relationship Id="rId21" Type="http://schemas.openxmlformats.org/officeDocument/2006/relationships/oleObject" Target="../embeddings/oleObject90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88.bin"/><Relationship Id="rId25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20" Type="http://schemas.openxmlformats.org/officeDocument/2006/relationships/image" Target="../media/image90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85.bin"/><Relationship Id="rId24" Type="http://schemas.openxmlformats.org/officeDocument/2006/relationships/image" Target="../media/image92.emf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1.bin"/><Relationship Id="rId10" Type="http://schemas.openxmlformats.org/officeDocument/2006/relationships/image" Target="../media/image85.emf"/><Relationship Id="rId19" Type="http://schemas.openxmlformats.org/officeDocument/2006/relationships/oleObject" Target="../embeddings/oleObject89.bin"/><Relationship Id="rId4" Type="http://schemas.openxmlformats.org/officeDocument/2006/relationships/image" Target="../media/image82.e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7.emf"/><Relationship Id="rId22" Type="http://schemas.openxmlformats.org/officeDocument/2006/relationships/image" Target="../media/image91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96.emf"/><Relationship Id="rId4" Type="http://schemas.openxmlformats.org/officeDocument/2006/relationships/oleObject" Target="../embeddings/oleObject9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00.emf"/><Relationship Id="rId4" Type="http://schemas.openxmlformats.org/officeDocument/2006/relationships/image" Target="../media/image97.emf"/><Relationship Id="rId9" Type="http://schemas.openxmlformats.org/officeDocument/2006/relationships/oleObject" Target="../embeddings/oleObject9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3.e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2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oleObject" Target="../embeddings/oleObject10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5.emf"/><Relationship Id="rId12" Type="http://schemas.openxmlformats.org/officeDocument/2006/relationships/image" Target="../media/image10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02.bin"/><Relationship Id="rId11" Type="http://schemas.openxmlformats.org/officeDocument/2006/relationships/oleObject" Target="../embeddings/oleObject104.bin"/><Relationship Id="rId5" Type="http://schemas.openxmlformats.org/officeDocument/2006/relationships/image" Target="../media/image104.emf"/><Relationship Id="rId10" Type="http://schemas.openxmlformats.org/officeDocument/2006/relationships/image" Target="../media/image106.emf"/><Relationship Id="rId4" Type="http://schemas.openxmlformats.org/officeDocument/2006/relationships/oleObject" Target="../embeddings/oleObject101.bin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12.emf"/><Relationship Id="rId4" Type="http://schemas.openxmlformats.org/officeDocument/2006/relationships/image" Target="../media/image109.emf"/><Relationship Id="rId9" Type="http://schemas.openxmlformats.org/officeDocument/2006/relationships/oleObject" Target="../embeddings/oleObject10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15.jpeg"/><Relationship Id="rId4" Type="http://schemas.openxmlformats.org/officeDocument/2006/relationships/image" Target="../media/image11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7.e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6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13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2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9.e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21.emf"/><Relationship Id="rId4" Type="http://schemas.openxmlformats.org/officeDocument/2006/relationships/image" Target="../media/image118.e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23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26.emf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8.e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24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Dec. 02,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2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/37</a:t>
            </a:r>
          </a:p>
        </p:txBody>
      </p:sp>
      <p:sp>
        <p:nvSpPr>
          <p:cNvPr id="11266" name="Text Box 2"/>
          <p:cNvSpPr txBox="1"/>
          <p:nvPr/>
        </p:nvSpPr>
        <p:spPr>
          <a:xfrm>
            <a:off x="657009" y="3908737"/>
            <a:ext cx="56118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理想气体内能：</a:t>
            </a:r>
          </a:p>
        </p:txBody>
      </p:sp>
      <p:sp>
        <p:nvSpPr>
          <p:cNvPr id="25" name="Text Box 2"/>
          <p:cNvSpPr txBox="1"/>
          <p:nvPr/>
        </p:nvSpPr>
        <p:spPr>
          <a:xfrm>
            <a:off x="571500" y="290513"/>
            <a:ext cx="67976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回顾：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温度公式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Text Box 9"/>
          <p:cNvSpPr txBox="1"/>
          <p:nvPr/>
        </p:nvSpPr>
        <p:spPr>
          <a:xfrm>
            <a:off x="642938" y="2020770"/>
            <a:ext cx="8072437" cy="1169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42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（大量分子无规则热运动）</a:t>
            </a:r>
            <a:r>
              <a:rPr lang="zh-CN" altLang="en-US" sz="2200" dirty="0">
                <a:solidFill>
                  <a:srgbClr val="FFFF00"/>
                </a:solidFill>
                <a:latin typeface="Times New Roman" panose="02020603050405020304" pitchFamily="18" charset="0"/>
              </a:rPr>
              <a:t>温度为</a:t>
            </a:r>
            <a:r>
              <a:rPr lang="en-US" altLang="zh-CN" sz="2200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200" dirty="0">
                <a:solidFill>
                  <a:srgbClr val="FFFF00"/>
                </a:solidFill>
                <a:latin typeface="Times New Roman" panose="02020603050405020304" pitchFamily="18" charset="0"/>
              </a:rPr>
              <a:t>的平衡态下，分子的每个自由度分配的平均能量为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Object 3"/>
              <p:cNvSpPr txBox="1"/>
              <p:nvPr/>
            </p:nvSpPr>
            <p:spPr>
              <a:xfrm>
                <a:off x="2699792" y="4811636"/>
                <a:ext cx="3357760" cy="802449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1" smtClean="0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altLang="zh-CN" b="0" i="1" smtClean="0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baseline="-25000" smtClean="0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zh-CN" altLang="en-US" dirty="0">
                  <a:solidFill>
                    <a:srgbClr val="FFCC66"/>
                  </a:solidFill>
                </a:endParaRPr>
              </a:p>
            </p:txBody>
          </p:sp>
        </mc:Choice>
        <mc:Fallback xmlns="">
          <p:sp>
            <p:nvSpPr>
              <p:cNvPr id="1638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811636"/>
                <a:ext cx="3357760" cy="8024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653885"/>
              </p:ext>
            </p:extLst>
          </p:nvPr>
        </p:nvGraphicFramePr>
        <p:xfrm>
          <a:off x="5930751" y="5062636"/>
          <a:ext cx="8905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50" r:id="rId4" imgW="523875" imgH="212090" progId="Equation.3">
                  <p:embed/>
                </p:oleObj>
              </mc:Choice>
              <mc:Fallback>
                <p:oleObj r:id="rId4" imgW="523875" imgH="212090" progId="Equation.3">
                  <p:embed/>
                  <p:pic>
                    <p:nvPicPr>
                      <p:cNvPr id="2" name="Object 1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CC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30751" y="5062636"/>
                        <a:ext cx="890587" cy="382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9"/>
          <p:cNvSpPr txBox="1"/>
          <p:nvPr/>
        </p:nvSpPr>
        <p:spPr>
          <a:xfrm>
            <a:off x="678656" y="4321805"/>
            <a:ext cx="7858125" cy="558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42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气体中所有分子</a:t>
            </a:r>
            <a:r>
              <a:rPr lang="zh-CN" altLang="en-US" sz="2200" dirty="0">
                <a:solidFill>
                  <a:srgbClr val="FFFF00"/>
                </a:solidFill>
                <a:latin typeface="Times New Roman" panose="02020603050405020304" pitchFamily="18" charset="0"/>
              </a:rPr>
              <a:t>各种形式动能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和分子内</a:t>
            </a:r>
            <a:r>
              <a:rPr lang="zh-CN" altLang="en-US" sz="2200" dirty="0">
                <a:solidFill>
                  <a:srgbClr val="FFFF00"/>
                </a:solidFill>
                <a:latin typeface="Times New Roman" panose="02020603050405020304" pitchFamily="18" charset="0"/>
              </a:rPr>
              <a:t>原子间振动势能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的总和</a:t>
            </a:r>
          </a:p>
        </p:txBody>
      </p:sp>
      <p:graphicFrame>
        <p:nvGraphicFramePr>
          <p:cNvPr id="1433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238515"/>
              </p:ext>
            </p:extLst>
          </p:nvPr>
        </p:nvGraphicFramePr>
        <p:xfrm>
          <a:off x="3671888" y="2596834"/>
          <a:ext cx="47148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51" r:id="rId6" imgW="769620" imgH="948055" progId="Equation.3">
                  <p:embed/>
                </p:oleObj>
              </mc:Choice>
              <mc:Fallback>
                <p:oleObj r:id="rId6" imgW="769620" imgH="948055" progId="Equation.3">
                  <p:embed/>
                  <p:pic>
                    <p:nvPicPr>
                      <p:cNvPr id="14339" name="Object 1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71888" y="2596834"/>
                        <a:ext cx="471487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3"/>
          <p:cNvSpPr txBox="1"/>
          <p:nvPr/>
        </p:nvSpPr>
        <p:spPr>
          <a:xfrm>
            <a:off x="772319" y="5569793"/>
            <a:ext cx="27860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刚性分子气体：</a:t>
            </a:r>
          </a:p>
        </p:txBody>
      </p:sp>
      <p:graphicFrame>
        <p:nvGraphicFramePr>
          <p:cNvPr id="18" name="Object 19"/>
          <p:cNvGraphicFramePr/>
          <p:nvPr>
            <p:extLst>
              <p:ext uri="{D42A27DB-BD31-4B8C-83A1-F6EECF244321}">
                <p14:modId xmlns:p14="http://schemas.microsoft.com/office/powerpoint/2010/main" val="3559611834"/>
              </p:ext>
            </p:extLst>
          </p:nvPr>
        </p:nvGraphicFramePr>
        <p:xfrm>
          <a:off x="873918" y="6026993"/>
          <a:ext cx="23352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52" r:id="rId8" imgW="1483360" imgH="434975" progId="Equation.3">
                  <p:embed/>
                </p:oleObj>
              </mc:Choice>
              <mc:Fallback>
                <p:oleObj r:id="rId8" imgW="1483360" imgH="434975" progId="Equation.3">
                  <p:embed/>
                  <p:pic>
                    <p:nvPicPr>
                      <p:cNvPr id="18" name="Object 1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CC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73918" y="6026993"/>
                        <a:ext cx="2335213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/>
          <p:nvPr>
            <p:extLst>
              <p:ext uri="{D42A27DB-BD31-4B8C-83A1-F6EECF244321}">
                <p14:modId xmlns:p14="http://schemas.microsoft.com/office/powerpoint/2010/main" val="1012281252"/>
              </p:ext>
            </p:extLst>
          </p:nvPr>
        </p:nvGraphicFramePr>
        <p:xfrm>
          <a:off x="3558381" y="6026993"/>
          <a:ext cx="23352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53" r:id="rId10" imgW="1483360" imgH="434975" progId="Equation.3">
                  <p:embed/>
                </p:oleObj>
              </mc:Choice>
              <mc:Fallback>
                <p:oleObj r:id="rId10" imgW="1483360" imgH="434975" progId="Equation.3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CC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58381" y="6026993"/>
                        <a:ext cx="2335212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/>
          <p:nvPr>
            <p:extLst>
              <p:ext uri="{D42A27DB-BD31-4B8C-83A1-F6EECF244321}">
                <p14:modId xmlns:p14="http://schemas.microsoft.com/office/powerpoint/2010/main" val="41899323"/>
              </p:ext>
            </p:extLst>
          </p:nvPr>
        </p:nvGraphicFramePr>
        <p:xfrm>
          <a:off x="6201568" y="6026993"/>
          <a:ext cx="23352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54" r:id="rId12" imgW="1483360" imgH="434975" progId="Equation.3">
                  <p:embed/>
                </p:oleObj>
              </mc:Choice>
              <mc:Fallback>
                <p:oleObj r:id="rId12" imgW="1483360" imgH="434975" progId="Equation.3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CC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01568" y="6026993"/>
                        <a:ext cx="2335213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">
            <a:extLst>
              <a:ext uri="{FF2B5EF4-FFF2-40B4-BE49-F238E27FC236}">
                <a16:creationId xmlns:a16="http://schemas.microsoft.com/office/drawing/2014/main" id="{CCFDD33B-4B3F-4591-B3FE-28D43D256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1452" y="3298811"/>
            <a:ext cx="4894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每个气体分子的平均总能量</a:t>
            </a:r>
          </a:p>
        </p:txBody>
      </p:sp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F43199EA-5AC1-4903-90AD-335ED0F9CE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126773"/>
              </p:ext>
            </p:extLst>
          </p:nvPr>
        </p:nvGraphicFramePr>
        <p:xfrm>
          <a:off x="6090660" y="3146673"/>
          <a:ext cx="6207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55" r:id="rId14" imgW="666686" imgH="781016" progId="Equation.3">
                  <p:embed/>
                </p:oleObj>
              </mc:Choice>
              <mc:Fallback>
                <p:oleObj r:id="rId14" imgW="666686" imgH="781016" progId="Equation.3">
                  <p:embed/>
                  <p:pic>
                    <p:nvPicPr>
                      <p:cNvPr id="24" name="Object 4">
                        <a:extLst>
                          <a:ext uri="{FF2B5EF4-FFF2-40B4-BE49-F238E27FC236}">
                            <a16:creationId xmlns:a16="http://schemas.microsoft.com/office/drawing/2014/main" id="{F43199EA-5AC1-4903-90AD-335ED0F9CE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660" y="3146673"/>
                        <a:ext cx="6207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">
            <a:extLst>
              <a:ext uri="{FF2B5EF4-FFF2-40B4-BE49-F238E27FC236}">
                <a16:creationId xmlns:a16="http://schemas.microsoft.com/office/drawing/2014/main" id="{FF099695-5A92-48CC-B8E8-9B62BA1CC0E5}"/>
              </a:ext>
            </a:extLst>
          </p:cNvPr>
          <p:cNvSpPr txBox="1"/>
          <p:nvPr/>
        </p:nvSpPr>
        <p:spPr>
          <a:xfrm>
            <a:off x="678656" y="1556792"/>
            <a:ext cx="5040560" cy="4619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能量按照自由度均分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941AB33F-5B7A-4202-BB5A-B8A684B72C50}"/>
                  </a:ext>
                </a:extLst>
              </p:cNvPr>
              <p:cNvSpPr txBox="1"/>
              <p:nvPr/>
            </p:nvSpPr>
            <p:spPr bwMode="auto">
              <a:xfrm>
                <a:off x="3283557" y="131654"/>
                <a:ext cx="2190229" cy="99309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</m:oMath>
                  </m:oMathPara>
                </a14:m>
                <a:endParaRPr lang="zh-CN" altLang="en-US" sz="2200" i="1" dirty="0"/>
              </a:p>
            </p:txBody>
          </p:sp>
        </mc:Choice>
        <mc:Fallback xmlns=""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941AB33F-5B7A-4202-BB5A-B8A684B7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3557" y="131654"/>
                <a:ext cx="2190229" cy="99309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7">
            <a:extLst>
              <a:ext uri="{FF2B5EF4-FFF2-40B4-BE49-F238E27FC236}">
                <a16:creationId xmlns:a16="http://schemas.microsoft.com/office/drawing/2014/main" id="{1571FC38-216B-498A-9296-E485E95BF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86" y="836712"/>
            <a:ext cx="7995519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分子平均平动动能只与温度有关，与气体的种类无关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25" grpId="0"/>
      <p:bldP spid="16" grpId="0"/>
      <p:bldP spid="16389" grpId="0"/>
      <p:bldP spid="14" grpId="0"/>
      <p:bldP spid="23" grpId="0"/>
      <p:bldP spid="26" grpId="0"/>
      <p:bldP spid="2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1A36809E-BAC5-4C6B-AA72-BB57BAE91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285750"/>
            <a:ext cx="6103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12.8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玻耳兹曼分布律</a:t>
            </a:r>
            <a:endParaRPr lang="zh-CN" altLang="en-US" sz="3200">
              <a:solidFill>
                <a:srgbClr val="00FF00"/>
              </a:solidFill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994E73A2-A4CF-42C4-8258-C0CE2A4B4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2478088"/>
            <a:ext cx="6092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一</a:t>
            </a:r>
            <a:r>
              <a:rPr lang="en-US" altLang="zh-CN" sz="2800">
                <a:solidFill>
                  <a:srgbClr val="FFFF00"/>
                </a:solidFill>
                <a:ea typeface="黑体" panose="02010609060101010101" pitchFamily="49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重力场中粒子按高度的分布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D2C062F4-178D-4E9B-A7D5-EDA8ED86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1000125"/>
            <a:ext cx="70739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麦克斯韦速率分布律是关于</a:t>
            </a:r>
            <a:r>
              <a:rPr lang="zh-CN" altLang="en-US" dirty="0">
                <a:solidFill>
                  <a:srgbClr val="FFFF00"/>
                </a:solidFill>
              </a:rPr>
              <a:t>无外力场</a:t>
            </a:r>
            <a:r>
              <a:rPr lang="zh-CN" altLang="en-US" dirty="0">
                <a:solidFill>
                  <a:schemeClr val="bg1"/>
                </a:solidFill>
              </a:rPr>
              <a:t>时，气体分子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的速率分布。此时，分子在空间的分布是</a:t>
            </a:r>
            <a:r>
              <a:rPr lang="zh-CN" altLang="en-US" dirty="0">
                <a:solidFill>
                  <a:srgbClr val="FFFF00"/>
                </a:solidFill>
              </a:rPr>
              <a:t>均匀的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若</a:t>
            </a:r>
            <a:r>
              <a:rPr lang="zh-CN" altLang="en-US" dirty="0">
                <a:solidFill>
                  <a:srgbClr val="FFFF00"/>
                </a:solidFill>
              </a:rPr>
              <a:t>有外力场</a:t>
            </a:r>
            <a:r>
              <a:rPr lang="zh-CN" altLang="en-US" dirty="0">
                <a:solidFill>
                  <a:schemeClr val="bg1"/>
                </a:solidFill>
              </a:rPr>
              <a:t>存在，分子数密度如何分布呢？</a:t>
            </a: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EC2A327B-12E3-4310-8950-523E6F15B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042988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问题：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A3541C37-C8B5-49F2-9E26-5525EDF0C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984" y="2928938"/>
            <a:ext cx="1524000" cy="2895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FF">
                  <a:alpha val="76999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E02646ED-5A6E-4002-9559-7C4ECC7D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671" y="5953125"/>
            <a:ext cx="2470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非均匀的稳定分布</a:t>
            </a:r>
            <a:r>
              <a:rPr lang="en-US" altLang="zh-CN" sz="2000">
                <a:solidFill>
                  <a:schemeClr val="bg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92FFCC33-F1DC-4C4B-83F7-6A02A4989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4429373"/>
            <a:ext cx="35020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平衡态下气体的温度处处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相同，气体的压强为 </a:t>
            </a:r>
          </a:p>
        </p:txBody>
      </p:sp>
      <p:graphicFrame>
        <p:nvGraphicFramePr>
          <p:cNvPr id="20489" name="Object 2">
            <a:extLst>
              <a:ext uri="{FF2B5EF4-FFF2-40B4-BE49-F238E27FC236}">
                <a16:creationId xmlns:a16="http://schemas.microsoft.com/office/drawing/2014/main" id="{E50F67BE-5CA5-4276-BB95-A733A2606E9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908175" y="5508873"/>
          <a:ext cx="12414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3" r:id="rId3" imgW="1171594" imgH="352391" progId="Equation.3">
                  <p:embed/>
                </p:oleObj>
              </mc:Choice>
              <mc:Fallback>
                <p:oleObj r:id="rId3" imgW="1171594" imgH="352391" progId="Equation.3">
                  <p:embed/>
                  <p:pic>
                    <p:nvPicPr>
                      <p:cNvPr id="20489" name="Object 2">
                        <a:extLst>
                          <a:ext uri="{FF2B5EF4-FFF2-40B4-BE49-F238E27FC236}">
                            <a16:creationId xmlns:a16="http://schemas.microsoft.com/office/drawing/2014/main" id="{E50F67BE-5CA5-4276-BB95-A733A2606E9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508873"/>
                        <a:ext cx="12414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0">
            <a:extLst>
              <a:ext uri="{FF2B5EF4-FFF2-40B4-BE49-F238E27FC236}">
                <a16:creationId xmlns:a16="http://schemas.microsoft.com/office/drawing/2014/main" id="{274D8CE9-E3FE-4468-966D-35EAFD20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4359275"/>
            <a:ext cx="1066800" cy="914400"/>
          </a:xfrm>
          <a:prstGeom prst="rect">
            <a:avLst/>
          </a:prstGeom>
          <a:gradFill rotWithShape="0">
            <a:gsLst>
              <a:gs pos="0">
                <a:schemeClr val="bg1">
                  <a:alpha val="67000"/>
                </a:schemeClr>
              </a:gs>
              <a:gs pos="100000">
                <a:srgbClr val="0000FF">
                  <a:alpha val="42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491" name="Line 11">
            <a:extLst>
              <a:ext uri="{FF2B5EF4-FFF2-40B4-BE49-F238E27FC236}">
                <a16:creationId xmlns:a16="http://schemas.microsoft.com/office/drawing/2014/main" id="{357FCB0D-F333-4032-8B56-30818BF22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5440" y="3652838"/>
            <a:ext cx="0" cy="762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492" name="Object 3">
            <a:extLst>
              <a:ext uri="{FF2B5EF4-FFF2-40B4-BE49-F238E27FC236}">
                <a16:creationId xmlns:a16="http://schemas.microsoft.com/office/drawing/2014/main" id="{8D5D7370-951A-47B3-9301-7B068977BDB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043165" y="3284538"/>
          <a:ext cx="9683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4" r:id="rId5" imgW="914400" imgH="352391" progId="Equation.3">
                  <p:embed/>
                </p:oleObj>
              </mc:Choice>
              <mc:Fallback>
                <p:oleObj r:id="rId5" imgW="914400" imgH="352391" progId="Equation.3">
                  <p:embed/>
                  <p:pic>
                    <p:nvPicPr>
                      <p:cNvPr id="20492" name="Object 3">
                        <a:extLst>
                          <a:ext uri="{FF2B5EF4-FFF2-40B4-BE49-F238E27FC236}">
                            <a16:creationId xmlns:a16="http://schemas.microsoft.com/office/drawing/2014/main" id="{8D5D7370-951A-47B3-9301-7B068977BD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165" y="3284538"/>
                        <a:ext cx="9683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Line 13">
            <a:extLst>
              <a:ext uri="{FF2B5EF4-FFF2-40B4-BE49-F238E27FC236}">
                <a16:creationId xmlns:a16="http://schemas.microsoft.com/office/drawing/2014/main" id="{95F428CA-8049-4F2E-BCAF-2F54A21FB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5440" y="5300663"/>
            <a:ext cx="0" cy="5476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494" name="Object 4">
            <a:extLst>
              <a:ext uri="{FF2B5EF4-FFF2-40B4-BE49-F238E27FC236}">
                <a16:creationId xmlns:a16="http://schemas.microsoft.com/office/drawing/2014/main" id="{98486221-2ED6-4936-839E-0249B23E969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363840" y="5902325"/>
          <a:ext cx="2730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5" r:id="rId7" imgW="228753" imgH="266666" progId="Equation.3">
                  <p:embed/>
                </p:oleObj>
              </mc:Choice>
              <mc:Fallback>
                <p:oleObj r:id="rId7" imgW="228753" imgH="266666" progId="Equation.3">
                  <p:embed/>
                  <p:pic>
                    <p:nvPicPr>
                      <p:cNvPr id="20494" name="Object 4">
                        <a:extLst>
                          <a:ext uri="{FF2B5EF4-FFF2-40B4-BE49-F238E27FC236}">
                            <a16:creationId xmlns:a16="http://schemas.microsoft.com/office/drawing/2014/main" id="{98486221-2ED6-4936-839E-0249B23E96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840" y="5902325"/>
                        <a:ext cx="2730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5">
            <a:extLst>
              <a:ext uri="{FF2B5EF4-FFF2-40B4-BE49-F238E27FC236}">
                <a16:creationId xmlns:a16="http://schemas.microsoft.com/office/drawing/2014/main" id="{BD1BE742-10D5-4D36-88EC-C6D37D1AAF0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011540" y="4652963"/>
          <a:ext cx="4000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6" r:id="rId9" imgW="352304" imgH="276157" progId="Equation.3">
                  <p:embed/>
                </p:oleObj>
              </mc:Choice>
              <mc:Fallback>
                <p:oleObj r:id="rId9" imgW="352304" imgH="276157" progId="Equation.3">
                  <p:embed/>
                  <p:pic>
                    <p:nvPicPr>
                      <p:cNvPr id="20495" name="Object 5">
                        <a:extLst>
                          <a:ext uri="{FF2B5EF4-FFF2-40B4-BE49-F238E27FC236}">
                            <a16:creationId xmlns:a16="http://schemas.microsoft.com/office/drawing/2014/main" id="{BD1BE742-10D5-4D36-88EC-C6D37D1AAF0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540" y="4652963"/>
                        <a:ext cx="4000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6">
            <a:extLst>
              <a:ext uri="{FF2B5EF4-FFF2-40B4-BE49-F238E27FC236}">
                <a16:creationId xmlns:a16="http://schemas.microsoft.com/office/drawing/2014/main" id="{4A25D185-A577-4BD1-AA8F-A569782FDBE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820069" y="3185269"/>
          <a:ext cx="18303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7" r:id="rId11" imgW="1743171" imgH="352391" progId="Equation.3">
                  <p:embed/>
                </p:oleObj>
              </mc:Choice>
              <mc:Fallback>
                <p:oleObj r:id="rId11" imgW="1743171" imgH="352391" progId="Equation.3">
                  <p:embed/>
                  <p:pic>
                    <p:nvPicPr>
                      <p:cNvPr id="20496" name="Object 6">
                        <a:extLst>
                          <a:ext uri="{FF2B5EF4-FFF2-40B4-BE49-F238E27FC236}">
                            <a16:creationId xmlns:a16="http://schemas.microsoft.com/office/drawing/2014/main" id="{4A25D185-A577-4BD1-AA8F-A569782FDB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069" y="3185269"/>
                        <a:ext cx="18303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7">
            <a:extLst>
              <a:ext uri="{FF2B5EF4-FFF2-40B4-BE49-F238E27FC236}">
                <a16:creationId xmlns:a16="http://schemas.microsoft.com/office/drawing/2014/main" id="{A0CCC7D0-D116-4C07-9A06-D3F4B14D32A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831975" y="6120060"/>
          <a:ext cx="1516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8" r:id="rId13" imgW="1438269" imgH="352391" progId="Equation.3">
                  <p:embed/>
                </p:oleObj>
              </mc:Choice>
              <mc:Fallback>
                <p:oleObj r:id="rId13" imgW="1438269" imgH="352391" progId="Equation.3">
                  <p:embed/>
                  <p:pic>
                    <p:nvPicPr>
                      <p:cNvPr id="20497" name="Object 7">
                        <a:extLst>
                          <a:ext uri="{FF2B5EF4-FFF2-40B4-BE49-F238E27FC236}">
                            <a16:creationId xmlns:a16="http://schemas.microsoft.com/office/drawing/2014/main" id="{A0CCC7D0-D116-4C07-9A06-D3F4B14D32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6120060"/>
                        <a:ext cx="15160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8">
            <a:extLst>
              <a:ext uri="{FF2B5EF4-FFF2-40B4-BE49-F238E27FC236}">
                <a16:creationId xmlns:a16="http://schemas.microsoft.com/office/drawing/2014/main" id="{1E013A36-EF0A-4506-A479-7D9BE1F0FA0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735138" y="3861048"/>
          <a:ext cx="20002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79" r:id="rId15" imgW="1904949" imgH="352391" progId="Equation.3">
                  <p:embed/>
                </p:oleObj>
              </mc:Choice>
              <mc:Fallback>
                <p:oleObj r:id="rId15" imgW="1904949" imgH="352391" progId="Equation.3">
                  <p:embed/>
                  <p:pic>
                    <p:nvPicPr>
                      <p:cNvPr id="20498" name="Object 8">
                        <a:extLst>
                          <a:ext uri="{FF2B5EF4-FFF2-40B4-BE49-F238E27FC236}">
                            <a16:creationId xmlns:a16="http://schemas.microsoft.com/office/drawing/2014/main" id="{1E013A36-EF0A-4506-A479-7D9BE1F0FA0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861048"/>
                        <a:ext cx="20002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Line 19">
            <a:extLst>
              <a:ext uri="{FF2B5EF4-FFF2-40B4-BE49-F238E27FC236}">
                <a16:creationId xmlns:a16="http://schemas.microsoft.com/office/drawing/2014/main" id="{D9166B25-C1E1-4534-822E-3D78577B6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3984" y="4418013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Line 20">
            <a:extLst>
              <a:ext uri="{FF2B5EF4-FFF2-40B4-BE49-F238E27FC236}">
                <a16:creationId xmlns:a16="http://schemas.microsoft.com/office/drawing/2014/main" id="{F2D5CEF3-1560-47DE-8E81-B48181FF0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3984" y="5281613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Text Box 21">
            <a:extLst>
              <a:ext uri="{FF2B5EF4-FFF2-40B4-BE49-F238E27FC236}">
                <a16:creationId xmlns:a16="http://schemas.microsoft.com/office/drawing/2014/main" id="{5AC3999F-5127-4DB6-8CCA-42F80EE59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659" y="50403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20502" name="Text Box 22">
            <a:extLst>
              <a:ext uri="{FF2B5EF4-FFF2-40B4-BE49-F238E27FC236}">
                <a16:creationId xmlns:a16="http://schemas.microsoft.com/office/drawing/2014/main" id="{00F4B424-E5A5-4E52-86B2-AE4050295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696" y="4130675"/>
            <a:ext cx="81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>
                <a:solidFill>
                  <a:schemeClr val="bg1"/>
                </a:solidFill>
              </a:rPr>
              <a:t>h</a:t>
            </a:r>
            <a:r>
              <a:rPr lang="en-US" altLang="zh-CN" b="0">
                <a:solidFill>
                  <a:schemeClr val="bg1"/>
                </a:solidFill>
              </a:rPr>
              <a:t>+d</a:t>
            </a:r>
            <a:r>
              <a:rPr lang="en-US" altLang="zh-CN" b="0" i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5128497C-F01F-4C74-96EF-1F8300EA3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3992810"/>
            <a:ext cx="1200150" cy="2290763"/>
          </a:xfrm>
          <a:custGeom>
            <a:avLst/>
            <a:gdLst>
              <a:gd name="T0" fmla="*/ 1043925 w 1201024"/>
              <a:gd name="T1" fmla="*/ 0 h 2214693"/>
              <a:gd name="T2" fmla="*/ 276620 w 1201024"/>
              <a:gd name="T3" fmla="*/ 351717 h 2214693"/>
              <a:gd name="T4" fmla="*/ 18072 w 1201024"/>
              <a:gd name="T5" fmla="*/ 1450832 h 2214693"/>
              <a:gd name="T6" fmla="*/ 168195 w 1201024"/>
              <a:gd name="T7" fmla="*/ 2396072 h 2214693"/>
              <a:gd name="T8" fmla="*/ 651932 w 1201024"/>
              <a:gd name="T9" fmla="*/ 2791751 h 2214693"/>
              <a:gd name="T10" fmla="*/ 1194050 w 1201024"/>
              <a:gd name="T11" fmla="*/ 2901662 h 221469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01024"/>
              <a:gd name="T19" fmla="*/ 0 h 2214693"/>
              <a:gd name="T20" fmla="*/ 1201024 w 1201024"/>
              <a:gd name="T21" fmla="*/ 2214693 h 221469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01024" h="2214693">
                <a:moveTo>
                  <a:pt x="1050022" y="0"/>
                </a:moveTo>
                <a:cubicBezTo>
                  <a:pt x="750115" y="41944"/>
                  <a:pt x="450209" y="83889"/>
                  <a:pt x="278235" y="268447"/>
                </a:cubicBezTo>
                <a:cubicBezTo>
                  <a:pt x="106261" y="453005"/>
                  <a:pt x="36352" y="847287"/>
                  <a:pt x="18176" y="1107346"/>
                </a:cubicBezTo>
                <a:cubicBezTo>
                  <a:pt x="0" y="1367405"/>
                  <a:pt x="62917" y="1658224"/>
                  <a:pt x="169178" y="1828800"/>
                </a:cubicBezTo>
                <a:cubicBezTo>
                  <a:pt x="275439" y="1999376"/>
                  <a:pt x="483766" y="2066488"/>
                  <a:pt x="655740" y="2130803"/>
                </a:cubicBezTo>
                <a:cubicBezTo>
                  <a:pt x="827714" y="2195118"/>
                  <a:pt x="1014369" y="2204905"/>
                  <a:pt x="1201024" y="221469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6">
                <a:extLst>
                  <a:ext uri="{FF2B5EF4-FFF2-40B4-BE49-F238E27FC236}">
                    <a16:creationId xmlns:a16="http://schemas.microsoft.com/office/drawing/2014/main" id="{642DD27D-8EDC-4F2A-A1F1-C7BD4F2892D3}"/>
                  </a:ext>
                </a:extLst>
              </p:cNvPr>
              <p:cNvSpPr txBox="1"/>
              <p:nvPr/>
            </p:nvSpPr>
            <p:spPr bwMode="auto">
              <a:xfrm>
                <a:off x="4220512" y="6288087"/>
                <a:ext cx="3629372" cy="3968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altLang="zh-CN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b="0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sty m:val="p"/>
                        </m:rPr>
                        <a:rPr lang="zh-CN" altLang="en-US" b="0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b="0" i="1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5" name="Object 6">
                <a:extLst>
                  <a:ext uri="{FF2B5EF4-FFF2-40B4-BE49-F238E27FC236}">
                    <a16:creationId xmlns:a16="http://schemas.microsoft.com/office/drawing/2014/main" id="{642DD27D-8EDC-4F2A-A1F1-C7BD4F289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0512" y="6288087"/>
                <a:ext cx="3629372" cy="396875"/>
              </a:xfrm>
              <a:prstGeom prst="rect">
                <a:avLst/>
              </a:prstGeom>
              <a:blipFill>
                <a:blip r:embed="rId17"/>
                <a:stretch>
                  <a:fillRect b="-38462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2480184F-56DD-4192-B34B-0DE2189AB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/>
      <p:bldP spid="20484" grpId="0"/>
      <p:bldP spid="20485" grpId="0"/>
      <p:bldP spid="20486" grpId="0" animBg="1"/>
      <p:bldP spid="20487" grpId="0"/>
      <p:bldP spid="20488" grpId="0"/>
      <p:bldP spid="20490" grpId="0" animBg="1"/>
      <p:bldP spid="20501" grpId="0"/>
      <p:bldP spid="20502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C8A05333-1A9B-4396-A673-C74A99D75BF2}"/>
              </a:ext>
            </a:extLst>
          </p:cNvPr>
          <p:cNvGraphicFramePr>
            <a:graphicFrameLocks/>
          </p:cNvGraphicFramePr>
          <p:nvPr/>
        </p:nvGraphicFramePr>
        <p:xfrm>
          <a:off x="1465263" y="476250"/>
          <a:ext cx="23844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2" r:id="rId4" imgW="2276520" imgH="352391" progId="Equation.3">
                  <p:embed/>
                </p:oleObj>
              </mc:Choice>
              <mc:Fallback>
                <p:oleObj r:id="rId4" imgW="2276520" imgH="352391" progId="Equation.3">
                  <p:embed/>
                  <p:pic>
                    <p:nvPicPr>
                      <p:cNvPr id="21506" name="Object 2">
                        <a:extLst>
                          <a:ext uri="{FF2B5EF4-FFF2-40B4-BE49-F238E27FC236}">
                            <a16:creationId xmlns:a16="http://schemas.microsoft.com/office/drawing/2014/main" id="{C8A05333-1A9B-4396-A673-C74A99D75B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476250"/>
                        <a:ext cx="23844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A0B28EC6-BC5F-48D0-A41B-628C621B3C00}"/>
              </a:ext>
            </a:extLst>
          </p:cNvPr>
          <p:cNvGraphicFramePr>
            <a:graphicFrameLocks/>
          </p:cNvGraphicFramePr>
          <p:nvPr/>
        </p:nvGraphicFramePr>
        <p:xfrm>
          <a:off x="1477963" y="1052513"/>
          <a:ext cx="1922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3" r:id="rId6" imgW="1838280" imgH="790507" progId="Equation.3">
                  <p:embed/>
                </p:oleObj>
              </mc:Choice>
              <mc:Fallback>
                <p:oleObj r:id="rId6" imgW="1838280" imgH="790507" progId="Equation.3">
                  <p:embed/>
                  <p:pic>
                    <p:nvPicPr>
                      <p:cNvPr id="21507" name="Object 3">
                        <a:extLst>
                          <a:ext uri="{FF2B5EF4-FFF2-40B4-BE49-F238E27FC236}">
                            <a16:creationId xmlns:a16="http://schemas.microsoft.com/office/drawing/2014/main" id="{A0B28EC6-BC5F-48D0-A41B-628C621B3C0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1052513"/>
                        <a:ext cx="1922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DCA101F3-815C-4AEA-B241-FF3DA58C0F1A}"/>
              </a:ext>
            </a:extLst>
          </p:cNvPr>
          <p:cNvGraphicFramePr>
            <a:graphicFrameLocks/>
          </p:cNvGraphicFramePr>
          <p:nvPr/>
        </p:nvGraphicFramePr>
        <p:xfrm>
          <a:off x="1428750" y="2143125"/>
          <a:ext cx="26431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4" r:id="rId8" imgW="2543194" imgH="790507" progId="Equation.3">
                  <p:embed/>
                </p:oleObj>
              </mc:Choice>
              <mc:Fallback>
                <p:oleObj r:id="rId8" imgW="2543194" imgH="790507" progId="Equation.3">
                  <p:embed/>
                  <p:pic>
                    <p:nvPicPr>
                      <p:cNvPr id="21508" name="Object 4">
                        <a:extLst>
                          <a:ext uri="{FF2B5EF4-FFF2-40B4-BE49-F238E27FC236}">
                            <a16:creationId xmlns:a16="http://schemas.microsoft.com/office/drawing/2014/main" id="{DCA101F3-815C-4AEA-B241-FF3DA58C0F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143125"/>
                        <a:ext cx="26431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00B3F0AF-7ADE-411C-A0D0-A6045C6512CE}"/>
              </a:ext>
            </a:extLst>
          </p:cNvPr>
          <p:cNvGraphicFramePr>
            <a:graphicFrameLocks/>
          </p:cNvGraphicFramePr>
          <p:nvPr/>
        </p:nvGraphicFramePr>
        <p:xfrm>
          <a:off x="1547813" y="3213100"/>
          <a:ext cx="1847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5" r:id="rId10" imgW="1781092" imgH="609566" progId="Equation.3">
                  <p:embed/>
                </p:oleObj>
              </mc:Choice>
              <mc:Fallback>
                <p:oleObj r:id="rId10" imgW="1781092" imgH="609566" progId="Equation.3">
                  <p:embed/>
                  <p:pic>
                    <p:nvPicPr>
                      <p:cNvPr id="21509" name="Object 5">
                        <a:extLst>
                          <a:ext uri="{FF2B5EF4-FFF2-40B4-BE49-F238E27FC236}">
                            <a16:creationId xmlns:a16="http://schemas.microsoft.com/office/drawing/2014/main" id="{00B3F0AF-7ADE-411C-A0D0-A6045C6512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213100"/>
                        <a:ext cx="1847850" cy="644525"/>
                      </a:xfrm>
                      <a:prstGeom prst="rect">
                        <a:avLst/>
                      </a:prstGeom>
                      <a:solidFill>
                        <a:srgbClr val="006699">
                          <a:alpha val="56078"/>
                        </a:srgbClr>
                      </a:solidFill>
                      <a:ln w="9525">
                        <a:solidFill>
                          <a:srgbClr val="B2B2B2">
                            <a:alpha val="56078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40EDE528-DF2C-47EF-9E8D-0FDDEFAF0C57}"/>
              </a:ext>
            </a:extLst>
          </p:cNvPr>
          <p:cNvGraphicFramePr>
            <a:graphicFrameLocks/>
          </p:cNvGraphicFramePr>
          <p:nvPr/>
        </p:nvGraphicFramePr>
        <p:xfrm>
          <a:off x="1181100" y="5357813"/>
          <a:ext cx="122713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6" r:id="rId12" imgW="1171594" imgH="352391" progId="Equation.3">
                  <p:embed/>
                </p:oleObj>
              </mc:Choice>
              <mc:Fallback>
                <p:oleObj r:id="rId12" imgW="1171594" imgH="352391" progId="Equation.3">
                  <p:embed/>
                  <p:pic>
                    <p:nvPicPr>
                      <p:cNvPr id="21510" name="Object 6">
                        <a:extLst>
                          <a:ext uri="{FF2B5EF4-FFF2-40B4-BE49-F238E27FC236}">
                            <a16:creationId xmlns:a16="http://schemas.microsoft.com/office/drawing/2014/main" id="{40EDE528-DF2C-47EF-9E8D-0FDDEFAF0C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5357813"/>
                        <a:ext cx="122713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>
            <a:extLst>
              <a:ext uri="{FF2B5EF4-FFF2-40B4-BE49-F238E27FC236}">
                <a16:creationId xmlns:a16="http://schemas.microsoft.com/office/drawing/2014/main" id="{6F4660B1-7EC9-4C7A-82A5-4FBEBB978B84}"/>
              </a:ext>
            </a:extLst>
          </p:cNvPr>
          <p:cNvGraphicFramePr>
            <a:graphicFrameLocks/>
          </p:cNvGraphicFramePr>
          <p:nvPr/>
        </p:nvGraphicFramePr>
        <p:xfrm>
          <a:off x="4500563" y="5143500"/>
          <a:ext cx="16478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7" r:id="rId14" imgW="1571606" imgH="609566" progId="Equation.3">
                  <p:embed/>
                </p:oleObj>
              </mc:Choice>
              <mc:Fallback>
                <p:oleObj r:id="rId14" imgW="1571606" imgH="609566" progId="Equation.3">
                  <p:embed/>
                  <p:pic>
                    <p:nvPicPr>
                      <p:cNvPr id="21511" name="Object 7">
                        <a:extLst>
                          <a:ext uri="{FF2B5EF4-FFF2-40B4-BE49-F238E27FC236}">
                            <a16:creationId xmlns:a16="http://schemas.microsoft.com/office/drawing/2014/main" id="{6F4660B1-7EC9-4C7A-82A5-4FBEBB978B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143500"/>
                        <a:ext cx="16478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2BCF5FCB-D3EA-471E-8DB0-5CBB9CE2A0E5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642938"/>
            <a:ext cx="3600450" cy="3290887"/>
            <a:chOff x="3243" y="268"/>
            <a:chExt cx="2268" cy="2073"/>
          </a:xfrm>
        </p:grpSpPr>
        <p:sp>
          <p:nvSpPr>
            <p:cNvPr id="18453" name="Line 9">
              <a:extLst>
                <a:ext uri="{FF2B5EF4-FFF2-40B4-BE49-F238E27FC236}">
                  <a16:creationId xmlns:a16="http://schemas.microsoft.com/office/drawing/2014/main" id="{D4EFEED9-310C-4053-8093-33639B260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032"/>
              <a:ext cx="1832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Text Box 10">
              <a:extLst>
                <a:ext uri="{FF2B5EF4-FFF2-40B4-BE49-F238E27FC236}">
                  <a16:creationId xmlns:a16="http://schemas.microsoft.com/office/drawing/2014/main" id="{B7AC61ED-E1D2-403F-95F1-F87DE3D1A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3" y="2053"/>
              <a:ext cx="2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18455" name="Line 11">
              <a:extLst>
                <a:ext uri="{FF2B5EF4-FFF2-40B4-BE49-F238E27FC236}">
                  <a16:creationId xmlns:a16="http://schemas.microsoft.com/office/drawing/2014/main" id="{6AC98F0B-4208-404C-8247-D15892CB4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1" y="410"/>
              <a:ext cx="0" cy="162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Text Box 12">
              <a:extLst>
                <a:ext uri="{FF2B5EF4-FFF2-40B4-BE49-F238E27FC236}">
                  <a16:creationId xmlns:a16="http://schemas.microsoft.com/office/drawing/2014/main" id="{3FD6786B-F367-4807-9F45-0A213266A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1" y="20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18457" name="Text Box 13">
              <a:extLst>
                <a:ext uri="{FF2B5EF4-FFF2-40B4-BE49-F238E27FC236}">
                  <a16:creationId xmlns:a16="http://schemas.microsoft.com/office/drawing/2014/main" id="{9A6018D7-2753-4C72-9643-80DEFE3C2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6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n</a:t>
              </a:r>
            </a:p>
          </p:txBody>
        </p:sp>
      </p:grpSp>
      <p:sp>
        <p:nvSpPr>
          <p:cNvPr id="21518" name="Arc 14">
            <a:extLst>
              <a:ext uri="{FF2B5EF4-FFF2-40B4-BE49-F238E27FC236}">
                <a16:creationId xmlns:a16="http://schemas.microsoft.com/office/drawing/2014/main" id="{E8FCD3B1-3A24-46DC-B4C2-E38D0D0F898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2159453">
            <a:off x="6165850" y="711200"/>
            <a:ext cx="1400175" cy="2647950"/>
          </a:xfrm>
          <a:custGeom>
            <a:avLst/>
            <a:gdLst>
              <a:gd name="T0" fmla="*/ 2147483646 w 21600"/>
              <a:gd name="T1" fmla="*/ 2147483646 h 31043"/>
              <a:gd name="T2" fmla="*/ 0 w 21600"/>
              <a:gd name="T3" fmla="*/ 2147483646 h 31043"/>
              <a:gd name="T4" fmla="*/ 2147483646 w 21600"/>
              <a:gd name="T5" fmla="*/ 0 h 31043"/>
              <a:gd name="T6" fmla="*/ 2147483646 w 21600"/>
              <a:gd name="T7" fmla="*/ 2147483646 h 31043"/>
              <a:gd name="T8" fmla="*/ 0 w 21600"/>
              <a:gd name="T9" fmla="*/ 2147483646 h 31043"/>
              <a:gd name="T10" fmla="*/ 2147483646 w 21600"/>
              <a:gd name="T11" fmla="*/ 0 h 31043"/>
              <a:gd name="T12" fmla="*/ 2147483646 w 21600"/>
              <a:gd name="T13" fmla="*/ 2147483646 h 310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31043"/>
              <a:gd name="T23" fmla="*/ 21600 w 21600"/>
              <a:gd name="T24" fmla="*/ 31043 h 3104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31043" fill="none">
                <a:moveTo>
                  <a:pt x="11344" y="31042"/>
                </a:moveTo>
                <a:cubicBezTo>
                  <a:pt x="4356" y="27272"/>
                  <a:pt x="0" y="19972"/>
                  <a:pt x="0" y="12033"/>
                </a:cubicBezTo>
                <a:cubicBezTo>
                  <a:pt x="-1" y="7747"/>
                  <a:pt x="1274" y="3558"/>
                  <a:pt x="3662" y="0"/>
                </a:cubicBezTo>
              </a:path>
              <a:path w="21600" h="31043" stroke="0">
                <a:moveTo>
                  <a:pt x="11344" y="31042"/>
                </a:moveTo>
                <a:cubicBezTo>
                  <a:pt x="4356" y="27272"/>
                  <a:pt x="0" y="19972"/>
                  <a:pt x="0" y="12033"/>
                </a:cubicBezTo>
                <a:cubicBezTo>
                  <a:pt x="-1" y="7747"/>
                  <a:pt x="1274" y="3558"/>
                  <a:pt x="3662" y="0"/>
                </a:cubicBezTo>
                <a:lnTo>
                  <a:pt x="21600" y="12033"/>
                </a:lnTo>
                <a:lnTo>
                  <a:pt x="11344" y="31042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" name="Arc 15">
            <a:extLst>
              <a:ext uri="{FF2B5EF4-FFF2-40B4-BE49-F238E27FC236}">
                <a16:creationId xmlns:a16="http://schemas.microsoft.com/office/drawing/2014/main" id="{B7FFB57B-6CFC-4603-8E9F-A848E5AD7E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5125" y="1250950"/>
            <a:ext cx="1597025" cy="2035175"/>
          </a:xfrm>
          <a:custGeom>
            <a:avLst/>
            <a:gdLst>
              <a:gd name="T0" fmla="*/ 2147483646 w 22171"/>
              <a:gd name="T1" fmla="*/ 2147483646 h 24029"/>
              <a:gd name="T2" fmla="*/ 2147483646 w 22171"/>
              <a:gd name="T3" fmla="*/ 2147483646 h 24029"/>
              <a:gd name="T4" fmla="*/ 0 w 22171"/>
              <a:gd name="T5" fmla="*/ 2147483646 h 24029"/>
              <a:gd name="T6" fmla="*/ 2147483646 w 22171"/>
              <a:gd name="T7" fmla="*/ 0 h 24029"/>
              <a:gd name="T8" fmla="*/ 2147483646 w 22171"/>
              <a:gd name="T9" fmla="*/ 2147483646 h 24029"/>
              <a:gd name="T10" fmla="*/ 2147483646 w 22171"/>
              <a:gd name="T11" fmla="*/ 2147483646 h 24029"/>
              <a:gd name="T12" fmla="*/ 0 w 22171"/>
              <a:gd name="T13" fmla="*/ 2147483646 h 24029"/>
              <a:gd name="T14" fmla="*/ 2147483646 w 22171"/>
              <a:gd name="T15" fmla="*/ 0 h 24029"/>
              <a:gd name="T16" fmla="*/ 2147483646 w 22171"/>
              <a:gd name="T17" fmla="*/ 2147483646 h 2402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171"/>
              <a:gd name="T28" fmla="*/ 0 h 24029"/>
              <a:gd name="T29" fmla="*/ 22171 w 22171"/>
              <a:gd name="T30" fmla="*/ 24029 h 2402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171" h="24029" fill="none">
                <a:moveTo>
                  <a:pt x="22171" y="24021"/>
                </a:moveTo>
                <a:cubicBezTo>
                  <a:pt x="21980" y="24026"/>
                  <a:pt x="21790" y="24028"/>
                  <a:pt x="21600" y="24029"/>
                </a:cubicBezTo>
                <a:cubicBezTo>
                  <a:pt x="9670" y="24029"/>
                  <a:pt x="0" y="14358"/>
                  <a:pt x="0" y="2429"/>
                </a:cubicBezTo>
                <a:cubicBezTo>
                  <a:pt x="-1" y="1617"/>
                  <a:pt x="45" y="806"/>
                  <a:pt x="137" y="0"/>
                </a:cubicBezTo>
              </a:path>
              <a:path w="22171" h="24029" stroke="0">
                <a:moveTo>
                  <a:pt x="22171" y="24021"/>
                </a:moveTo>
                <a:cubicBezTo>
                  <a:pt x="21980" y="24026"/>
                  <a:pt x="21790" y="24028"/>
                  <a:pt x="21600" y="24029"/>
                </a:cubicBezTo>
                <a:cubicBezTo>
                  <a:pt x="9670" y="24029"/>
                  <a:pt x="0" y="14358"/>
                  <a:pt x="0" y="2429"/>
                </a:cubicBezTo>
                <a:cubicBezTo>
                  <a:pt x="-1" y="1617"/>
                  <a:pt x="45" y="806"/>
                  <a:pt x="137" y="0"/>
                </a:cubicBezTo>
                <a:lnTo>
                  <a:pt x="21600" y="2429"/>
                </a:lnTo>
                <a:lnTo>
                  <a:pt x="22171" y="24021"/>
                </a:lnTo>
                <a:close/>
              </a:path>
            </a:pathLst>
          </a:custGeom>
          <a:noFill/>
          <a:ln w="38100">
            <a:solidFill>
              <a:srgbClr val="FC505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20" name="Object 8">
            <a:extLst>
              <a:ext uri="{FF2B5EF4-FFF2-40B4-BE49-F238E27FC236}">
                <a16:creationId xmlns:a16="http://schemas.microsoft.com/office/drawing/2014/main" id="{B236E848-6AE4-4526-9E32-281FAEE37B59}"/>
              </a:ext>
            </a:extLst>
          </p:cNvPr>
          <p:cNvGraphicFramePr>
            <a:graphicFrameLocks/>
          </p:cNvGraphicFramePr>
          <p:nvPr/>
        </p:nvGraphicFramePr>
        <p:xfrm>
          <a:off x="7461250" y="2422525"/>
          <a:ext cx="4333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8" r:id="rId16" imgW="142818" imgH="180941" progId="Equation.3">
                  <p:embed/>
                </p:oleObj>
              </mc:Choice>
              <mc:Fallback>
                <p:oleObj r:id="rId16" imgW="142818" imgH="180941" progId="Equation.3">
                  <p:embed/>
                  <p:pic>
                    <p:nvPicPr>
                      <p:cNvPr id="21520" name="Object 8">
                        <a:extLst>
                          <a:ext uri="{FF2B5EF4-FFF2-40B4-BE49-F238E27FC236}">
                            <a16:creationId xmlns:a16="http://schemas.microsoft.com/office/drawing/2014/main" id="{B236E848-6AE4-4526-9E32-281FAEE37B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0" y="2422525"/>
                        <a:ext cx="4333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9">
            <a:extLst>
              <a:ext uri="{FF2B5EF4-FFF2-40B4-BE49-F238E27FC236}">
                <a16:creationId xmlns:a16="http://schemas.microsoft.com/office/drawing/2014/main" id="{17F30A89-E306-4D85-850C-A052C877F7A8}"/>
              </a:ext>
            </a:extLst>
          </p:cNvPr>
          <p:cNvGraphicFramePr>
            <a:graphicFrameLocks/>
          </p:cNvGraphicFramePr>
          <p:nvPr/>
        </p:nvGraphicFramePr>
        <p:xfrm>
          <a:off x="5516563" y="2782888"/>
          <a:ext cx="4016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9" r:id="rId18" imgW="123857" imgH="180941" progId="Equation.3">
                  <p:embed/>
                </p:oleObj>
              </mc:Choice>
              <mc:Fallback>
                <p:oleObj r:id="rId18" imgW="123857" imgH="180941" progId="Equation.3">
                  <p:embed/>
                  <p:pic>
                    <p:nvPicPr>
                      <p:cNvPr id="21521" name="Object 9">
                        <a:extLst>
                          <a:ext uri="{FF2B5EF4-FFF2-40B4-BE49-F238E27FC236}">
                            <a16:creationId xmlns:a16="http://schemas.microsoft.com/office/drawing/2014/main" id="{17F30A89-E306-4D85-850C-A052C877F7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2782888"/>
                        <a:ext cx="4016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0">
            <a:extLst>
              <a:ext uri="{FF2B5EF4-FFF2-40B4-BE49-F238E27FC236}">
                <a16:creationId xmlns:a16="http://schemas.microsoft.com/office/drawing/2014/main" id="{55EF9F1F-5608-4A66-A12A-6E86FB8FAF09}"/>
              </a:ext>
            </a:extLst>
          </p:cNvPr>
          <p:cNvGraphicFramePr>
            <a:graphicFrameLocks/>
          </p:cNvGraphicFramePr>
          <p:nvPr/>
        </p:nvGraphicFramePr>
        <p:xfrm>
          <a:off x="6732588" y="1211263"/>
          <a:ext cx="9477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20" r:id="rId20" imgW="885959" imgH="380864" progId="Equation.3">
                  <p:embed/>
                </p:oleObj>
              </mc:Choice>
              <mc:Fallback>
                <p:oleObj r:id="rId20" imgW="885959" imgH="380864" progId="Equation.3">
                  <p:embed/>
                  <p:pic>
                    <p:nvPicPr>
                      <p:cNvPr id="21522" name="Object 10">
                        <a:extLst>
                          <a:ext uri="{FF2B5EF4-FFF2-40B4-BE49-F238E27FC236}">
                            <a16:creationId xmlns:a16="http://schemas.microsoft.com/office/drawing/2014/main" id="{55EF9F1F-5608-4A66-A12A-6E86FB8FAF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211263"/>
                        <a:ext cx="9477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1">
            <a:extLst>
              <a:ext uri="{FF2B5EF4-FFF2-40B4-BE49-F238E27FC236}">
                <a16:creationId xmlns:a16="http://schemas.microsoft.com/office/drawing/2014/main" id="{8254FA91-06D9-45DA-B710-2A55A4B11AC1}"/>
              </a:ext>
            </a:extLst>
          </p:cNvPr>
          <p:cNvGraphicFramePr>
            <a:graphicFrameLocks/>
          </p:cNvGraphicFramePr>
          <p:nvPr/>
        </p:nvGraphicFramePr>
        <p:xfrm>
          <a:off x="2484438" y="5141913"/>
          <a:ext cx="19399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21" r:id="rId22" imgW="1867027" imgH="609566" progId="Equation.3">
                  <p:embed/>
                </p:oleObj>
              </mc:Choice>
              <mc:Fallback>
                <p:oleObj r:id="rId22" imgW="1867027" imgH="609566" progId="Equation.3">
                  <p:embed/>
                  <p:pic>
                    <p:nvPicPr>
                      <p:cNvPr id="21523" name="Object 11">
                        <a:extLst>
                          <a:ext uri="{FF2B5EF4-FFF2-40B4-BE49-F238E27FC236}">
                            <a16:creationId xmlns:a16="http://schemas.microsoft.com/office/drawing/2014/main" id="{8254FA91-06D9-45DA-B710-2A55A4B11A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141913"/>
                        <a:ext cx="19399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Text Box 20">
            <a:extLst>
              <a:ext uri="{FF2B5EF4-FFF2-40B4-BE49-F238E27FC236}">
                <a16:creationId xmlns:a16="http://schemas.microsoft.com/office/drawing/2014/main" id="{03241B00-9864-4FE0-BD53-06B0E7143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92563"/>
            <a:ext cx="6858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在重力场中，分子数密度随高度增大而指数衰减。</a:t>
            </a:r>
          </a:p>
        </p:txBody>
      </p:sp>
      <p:sp>
        <p:nvSpPr>
          <p:cNvPr id="21525" name="Text Box 21">
            <a:extLst>
              <a:ext uri="{FF2B5EF4-FFF2-40B4-BE49-F238E27FC236}">
                <a16:creationId xmlns:a16="http://schemas.microsoft.com/office/drawing/2014/main" id="{64E0C4A7-2ED6-431B-90C8-B6FB975B9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5276850"/>
            <a:ext cx="257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等温气压公式</a:t>
            </a:r>
            <a:endParaRPr lang="en-US" altLang="zh-CN">
              <a:solidFill>
                <a:srgbClr val="66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26" name="Text Box 22">
            <a:extLst>
              <a:ext uri="{FF2B5EF4-FFF2-40B4-BE49-F238E27FC236}">
                <a16:creationId xmlns:a16="http://schemas.microsoft.com/office/drawing/2014/main" id="{F81FA576-7CA0-4CEA-BF47-71AD1B7DC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59293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式中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baseline="-25000">
                <a:solidFill>
                  <a:srgbClr val="66FFFF"/>
                </a:solidFill>
              </a:rPr>
              <a:t>0 </a:t>
            </a:r>
            <a:r>
              <a:rPr lang="zh-CN" altLang="en-US">
                <a:solidFill>
                  <a:schemeClr val="bg1"/>
                </a:solidFill>
              </a:rPr>
              <a:t>是高度为零处的压强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DB50012D-60EA-483A-9C2D-35852BB76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549775"/>
            <a:ext cx="3589338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i="1" dirty="0">
                <a:solidFill>
                  <a:srgbClr val="66FFFF"/>
                </a:solidFill>
                <a:sym typeface="Symbol" panose="05050102010706020507" pitchFamily="18" charset="2"/>
              </a:rPr>
              <a:t>T </a:t>
            </a:r>
            <a:r>
              <a:rPr lang="zh-CN" altLang="en-US" dirty="0">
                <a:solidFill>
                  <a:schemeClr val="bg1"/>
                </a:solidFill>
                <a:sym typeface="Symbol" panose="05050102010706020507" pitchFamily="18" charset="2"/>
              </a:rPr>
              <a:t>越高，</a:t>
            </a:r>
            <a:r>
              <a:rPr lang="en-US" altLang="zh-CN" i="1" dirty="0">
                <a:solidFill>
                  <a:srgbClr val="66FFFF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  <a:sym typeface="Symbol" panose="05050102010706020507" pitchFamily="18" charset="2"/>
              </a:rPr>
              <a:t>减小越缓慢；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Text Box 20">
            <a:extLst>
              <a:ext uri="{FF2B5EF4-FFF2-40B4-BE49-F238E27FC236}">
                <a16:creationId xmlns:a16="http://schemas.microsoft.com/office/drawing/2014/main" id="{F441078E-D72F-4417-AD33-4F5520083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5" y="4549775"/>
            <a:ext cx="41941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>
                <a:solidFill>
                  <a:srgbClr val="66FFFF"/>
                </a:solidFill>
                <a:sym typeface="Symbol" panose="05050102010706020507" pitchFamily="18" charset="2"/>
              </a:rPr>
              <a:t>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越大，</a:t>
            </a:r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n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减小越迅速。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43F17175-F428-401D-A776-39A0DADCA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4" grpId="0"/>
      <p:bldP spid="21525" grpId="0"/>
      <p:bldP spid="21526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5387704-3F21-45AE-86E0-13B914B77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27038"/>
            <a:ext cx="7964488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实验测得常温下距海平面不太高处，每升高 </a:t>
            </a:r>
            <a:r>
              <a:rPr lang="en-US" altLang="zh-CN">
                <a:solidFill>
                  <a:srgbClr val="FFFF00"/>
                </a:solidFill>
              </a:rPr>
              <a:t>10 m</a:t>
            </a:r>
            <a:r>
              <a:rPr lang="zh-CN" altLang="en-US">
                <a:solidFill>
                  <a:schemeClr val="bg1"/>
                </a:solidFill>
              </a:rPr>
              <a:t>大气压约降低</a:t>
            </a:r>
            <a:r>
              <a:rPr lang="en-US" altLang="zh-CN">
                <a:solidFill>
                  <a:srgbClr val="FFFF00"/>
                </a:solidFill>
              </a:rPr>
              <a:t>133.3 Pa</a:t>
            </a:r>
            <a:r>
              <a:rPr lang="zh-CN" altLang="en-US">
                <a:solidFill>
                  <a:schemeClr val="bg1"/>
                </a:solidFill>
              </a:rPr>
              <a:t>。试用恒温气压公式验证此结果（海平面大气压按</a:t>
            </a:r>
            <a:r>
              <a:rPr lang="en-US" altLang="zh-CN">
                <a:solidFill>
                  <a:srgbClr val="FFFF00"/>
                </a:solidFill>
              </a:rPr>
              <a:t>1.013×10</a:t>
            </a:r>
            <a:r>
              <a:rPr lang="en-US" altLang="zh-CN" baseline="40000">
                <a:solidFill>
                  <a:srgbClr val="FFFF00"/>
                </a:solidFill>
              </a:rPr>
              <a:t>5</a:t>
            </a:r>
            <a:r>
              <a:rPr lang="en-US" altLang="zh-CN">
                <a:solidFill>
                  <a:srgbClr val="FFFF00"/>
                </a:solidFill>
              </a:rPr>
              <a:t> Pa </a:t>
            </a:r>
            <a:r>
              <a:rPr lang="zh-CN" altLang="en-US">
                <a:solidFill>
                  <a:schemeClr val="bg1"/>
                </a:solidFill>
              </a:rPr>
              <a:t>计，温度取</a:t>
            </a:r>
            <a:r>
              <a:rPr lang="en-US" altLang="zh-CN">
                <a:solidFill>
                  <a:srgbClr val="FFFF00"/>
                </a:solidFill>
              </a:rPr>
              <a:t>273K</a:t>
            </a:r>
            <a:r>
              <a:rPr lang="zh-CN" altLang="en-US">
                <a:solidFill>
                  <a:schemeClr val="bg1"/>
                </a:solidFill>
              </a:rPr>
              <a:t>，空气分子量</a:t>
            </a:r>
            <a:r>
              <a:rPr lang="en-US" altLang="zh-CN">
                <a:solidFill>
                  <a:srgbClr val="FFFF00"/>
                </a:solidFill>
              </a:rPr>
              <a:t>29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/>
          </a:p>
        </p:txBody>
      </p:sp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7C7CAA05-78C6-464C-9090-2EACC42AE76A}"/>
              </a:ext>
            </a:extLst>
          </p:cNvPr>
          <p:cNvGraphicFramePr>
            <a:graphicFrameLocks/>
          </p:cNvGraphicFramePr>
          <p:nvPr/>
        </p:nvGraphicFramePr>
        <p:xfrm>
          <a:off x="827088" y="5335588"/>
          <a:ext cx="20081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11" r:id="rId3" imgW="1981098" imgH="866741" progId="Equation.3">
                  <p:embed/>
                </p:oleObj>
              </mc:Choice>
              <mc:Fallback>
                <p:oleObj r:id="rId3" imgW="1981098" imgH="866741" progId="Equation.3">
                  <p:embed/>
                  <p:pic>
                    <p:nvPicPr>
                      <p:cNvPr id="22531" name="Object 2">
                        <a:extLst>
                          <a:ext uri="{FF2B5EF4-FFF2-40B4-BE49-F238E27FC236}">
                            <a16:creationId xmlns:a16="http://schemas.microsoft.com/office/drawing/2014/main" id="{7C7CAA05-78C6-464C-9090-2EACC42AE7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35588"/>
                        <a:ext cx="20081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3">
            <a:extLst>
              <a:ext uri="{FF2B5EF4-FFF2-40B4-BE49-F238E27FC236}">
                <a16:creationId xmlns:a16="http://schemas.microsoft.com/office/drawing/2014/main" id="{5739A604-9B1F-444D-9042-2DD4AF87D688}"/>
              </a:ext>
            </a:extLst>
          </p:cNvPr>
          <p:cNvGraphicFramePr>
            <a:graphicFrameLocks/>
          </p:cNvGraphicFramePr>
          <p:nvPr/>
        </p:nvGraphicFramePr>
        <p:xfrm>
          <a:off x="2928938" y="5286375"/>
          <a:ext cx="441166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12" r:id="rId5" imgW="1819320" imgH="352391" progId="Equation.3">
                  <p:embed/>
                </p:oleObj>
              </mc:Choice>
              <mc:Fallback>
                <p:oleObj r:id="rId5" imgW="1819320" imgH="352391" progId="Equation.3">
                  <p:embed/>
                  <p:pic>
                    <p:nvPicPr>
                      <p:cNvPr id="22532" name="Object 3">
                        <a:extLst>
                          <a:ext uri="{FF2B5EF4-FFF2-40B4-BE49-F238E27FC236}">
                            <a16:creationId xmlns:a16="http://schemas.microsoft.com/office/drawing/2014/main" id="{5739A604-9B1F-444D-9042-2DD4AF87D6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5286375"/>
                        <a:ext cx="441166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4">
            <a:extLst>
              <a:ext uri="{FF2B5EF4-FFF2-40B4-BE49-F238E27FC236}">
                <a16:creationId xmlns:a16="http://schemas.microsoft.com/office/drawing/2014/main" id="{756B2BCD-5F81-49B6-A2E4-9087AFD3CD22}"/>
              </a:ext>
            </a:extLst>
          </p:cNvPr>
          <p:cNvGraphicFramePr>
            <a:graphicFrameLocks/>
          </p:cNvGraphicFramePr>
          <p:nvPr/>
        </p:nvGraphicFramePr>
        <p:xfrm>
          <a:off x="7429500" y="5572125"/>
          <a:ext cx="115411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13" r:id="rId7" imgW="1143153" imgH="352391" progId="Equation.3">
                  <p:embed/>
                </p:oleObj>
              </mc:Choice>
              <mc:Fallback>
                <p:oleObj r:id="rId7" imgW="1143153" imgH="352391" progId="Equation.3">
                  <p:embed/>
                  <p:pic>
                    <p:nvPicPr>
                      <p:cNvPr id="22533" name="Object 4">
                        <a:extLst>
                          <a:ext uri="{FF2B5EF4-FFF2-40B4-BE49-F238E27FC236}">
                            <a16:creationId xmlns:a16="http://schemas.microsoft.com/office/drawing/2014/main" id="{756B2BCD-5F81-49B6-A2E4-9087AFD3CD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5572125"/>
                        <a:ext cx="115411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>
            <a:extLst>
              <a:ext uri="{FF2B5EF4-FFF2-40B4-BE49-F238E27FC236}">
                <a16:creationId xmlns:a16="http://schemas.microsoft.com/office/drawing/2014/main" id="{0B1D1B09-9D5E-49FE-8B30-1D4AD8F9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9716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ED2FADB8-4388-49D2-8ED7-054123365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1488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6" name="Object 5">
                <a:extLst>
                  <a:ext uri="{FF2B5EF4-FFF2-40B4-BE49-F238E27FC236}">
                    <a16:creationId xmlns:a16="http://schemas.microsoft.com/office/drawing/2014/main" id="{1BFA6BA2-26A6-480E-9E1F-BDC799305935}"/>
                  </a:ext>
                </a:extLst>
              </p:cNvPr>
              <p:cNvSpPr txBox="1"/>
              <p:nvPr/>
            </p:nvSpPr>
            <p:spPr bwMode="auto">
              <a:xfrm>
                <a:off x="2267744" y="2500313"/>
                <a:ext cx="2790626" cy="5715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𝑔h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2536" name="Object 5">
                <a:extLst>
                  <a:ext uri="{FF2B5EF4-FFF2-40B4-BE49-F238E27FC236}">
                    <a16:creationId xmlns:a16="http://schemas.microsoft.com/office/drawing/2014/main" id="{1BFA6BA2-26A6-480E-9E1F-BDC799305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2500313"/>
                <a:ext cx="2790626" cy="571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537" name="Object 6">
            <a:extLst>
              <a:ext uri="{FF2B5EF4-FFF2-40B4-BE49-F238E27FC236}">
                <a16:creationId xmlns:a16="http://schemas.microsoft.com/office/drawing/2014/main" id="{0B2FD0EF-1FA4-45CA-A688-751205BC3AC8}"/>
              </a:ext>
            </a:extLst>
          </p:cNvPr>
          <p:cNvGraphicFramePr>
            <a:graphicFrameLocks/>
          </p:cNvGraphicFramePr>
          <p:nvPr/>
        </p:nvGraphicFramePr>
        <p:xfrm>
          <a:off x="857250" y="3960813"/>
          <a:ext cx="404653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14" r:id="rId10" imgW="3686041" imgH="790507" progId="Equation.3">
                  <p:embed/>
                </p:oleObj>
              </mc:Choice>
              <mc:Fallback>
                <p:oleObj r:id="rId10" imgW="3686041" imgH="790507" progId="Equation.3">
                  <p:embed/>
                  <p:pic>
                    <p:nvPicPr>
                      <p:cNvPr id="22537" name="Object 6">
                        <a:extLst>
                          <a:ext uri="{FF2B5EF4-FFF2-40B4-BE49-F238E27FC236}">
                            <a16:creationId xmlns:a16="http://schemas.microsoft.com/office/drawing/2014/main" id="{0B2FD0EF-1FA4-45CA-A688-751205BC3A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960813"/>
                        <a:ext cx="4046538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7">
            <a:extLst>
              <a:ext uri="{FF2B5EF4-FFF2-40B4-BE49-F238E27FC236}">
                <a16:creationId xmlns:a16="http://schemas.microsoft.com/office/drawing/2014/main" id="{3CCB0292-9DA8-489E-8A7F-E478E4741C78}"/>
              </a:ext>
            </a:extLst>
          </p:cNvPr>
          <p:cNvGraphicFramePr>
            <a:graphicFrameLocks/>
          </p:cNvGraphicFramePr>
          <p:nvPr/>
        </p:nvGraphicFramePr>
        <p:xfrm>
          <a:off x="6286500" y="3956050"/>
          <a:ext cx="19335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15" r:id="rId12" imgW="1904949" imgH="866741" progId="Equation.3">
                  <p:embed/>
                </p:oleObj>
              </mc:Choice>
              <mc:Fallback>
                <p:oleObj r:id="rId12" imgW="1904949" imgH="866741" progId="Equation.3">
                  <p:embed/>
                  <p:pic>
                    <p:nvPicPr>
                      <p:cNvPr id="22538" name="Object 7">
                        <a:extLst>
                          <a:ext uri="{FF2B5EF4-FFF2-40B4-BE49-F238E27FC236}">
                            <a16:creationId xmlns:a16="http://schemas.microsoft.com/office/drawing/2014/main" id="{3CCB0292-9DA8-489E-8A7F-E478E4741C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3956050"/>
                        <a:ext cx="19335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Text Box 12">
            <a:extLst>
              <a:ext uri="{FF2B5EF4-FFF2-40B4-BE49-F238E27FC236}">
                <a16:creationId xmlns:a16="http://schemas.microsoft.com/office/drawing/2014/main" id="{510E6AA5-2CE0-4415-8A0E-1DA573499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971675"/>
            <a:ext cx="310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等温气压公式</a:t>
            </a:r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82DF3F2D-5C69-4A12-9B1F-8F13DD127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286125"/>
            <a:ext cx="3173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将上式两边微分</a:t>
            </a:r>
          </a:p>
        </p:txBody>
      </p:sp>
      <p:sp>
        <p:nvSpPr>
          <p:cNvPr id="22543" name="AutoShape 15">
            <a:extLst>
              <a:ext uri="{FF2B5EF4-FFF2-40B4-BE49-F238E27FC236}">
                <a16:creationId xmlns:a16="http://schemas.microsoft.com/office/drawing/2014/main" id="{A97FA850-53DB-46D2-99A6-B0A4C025A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4286250"/>
            <a:ext cx="1081087" cy="215900"/>
          </a:xfrm>
          <a:prstGeom prst="rightArrow">
            <a:avLst>
              <a:gd name="adj1" fmla="val 50000"/>
              <a:gd name="adj2" fmla="val 15597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组合 15">
            <a:extLst>
              <a:ext uri="{FF2B5EF4-FFF2-40B4-BE49-F238E27FC236}">
                <a16:creationId xmlns:a16="http://schemas.microsoft.com/office/drawing/2014/main" id="{7D636E8F-93E5-40ED-A586-59F2F7D8AE9C}"/>
              </a:ext>
            </a:extLst>
          </p:cNvPr>
          <p:cNvGrpSpPr>
            <a:grpSpLocks/>
          </p:cNvGrpSpPr>
          <p:nvPr/>
        </p:nvGrpSpPr>
        <p:grpSpPr bwMode="auto">
          <a:xfrm>
            <a:off x="1584325" y="3082598"/>
            <a:ext cx="2123580" cy="1708476"/>
            <a:chOff x="1584705" y="3082282"/>
            <a:chExt cx="2123496" cy="1708322"/>
          </a:xfrm>
        </p:grpSpPr>
        <p:sp>
          <p:nvSpPr>
            <p:cNvPr id="20496" name="椭圆 13">
              <a:extLst>
                <a:ext uri="{FF2B5EF4-FFF2-40B4-BE49-F238E27FC236}">
                  <a16:creationId xmlns:a16="http://schemas.microsoft.com/office/drawing/2014/main" id="{65C763A1-8E0A-491B-8A56-CF7AA02191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79283">
              <a:off x="1584705" y="4004786"/>
              <a:ext cx="1719128" cy="78581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497" name="任意多边形 14">
              <a:extLst>
                <a:ext uri="{FF2B5EF4-FFF2-40B4-BE49-F238E27FC236}">
                  <a16:creationId xmlns:a16="http://schemas.microsoft.com/office/drawing/2014/main" id="{2548222D-9FFE-4E6C-A359-26CDD044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650" y="3082282"/>
              <a:ext cx="545551" cy="1011546"/>
            </a:xfrm>
            <a:custGeom>
              <a:avLst/>
              <a:gdLst>
                <a:gd name="T0" fmla="*/ 0 w 328568"/>
                <a:gd name="T1" fmla="*/ 973123 h 973123"/>
                <a:gd name="T2" fmla="*/ 276836 w 328568"/>
                <a:gd name="T3" fmla="*/ 704675 h 973123"/>
                <a:gd name="T4" fmla="*/ 310392 w 328568"/>
                <a:gd name="T5" fmla="*/ 0 h 973123"/>
                <a:gd name="T6" fmla="*/ 0 60000 65536"/>
                <a:gd name="T7" fmla="*/ 0 60000 65536"/>
                <a:gd name="T8" fmla="*/ 0 60000 65536"/>
                <a:gd name="T9" fmla="*/ 0 w 328568"/>
                <a:gd name="T10" fmla="*/ 0 h 973123"/>
                <a:gd name="T11" fmla="*/ 328568 w 328568"/>
                <a:gd name="T12" fmla="*/ 973123 h 9731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8568" h="973123">
                  <a:moveTo>
                    <a:pt x="0" y="973123"/>
                  </a:moveTo>
                  <a:cubicBezTo>
                    <a:pt x="112552" y="919992"/>
                    <a:pt x="225104" y="866862"/>
                    <a:pt x="276836" y="704675"/>
                  </a:cubicBezTo>
                  <a:cubicBezTo>
                    <a:pt x="328568" y="542488"/>
                    <a:pt x="319480" y="271244"/>
                    <a:pt x="310392" y="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30939D50-B4A7-4FE0-9315-E58BABEFD5F6}"/>
                  </a:ext>
                </a:extLst>
              </p:cNvPr>
              <p:cNvSpPr txBox="1"/>
              <p:nvPr/>
            </p:nvSpPr>
            <p:spPr bwMode="auto">
              <a:xfrm>
                <a:off x="4572000" y="2489527"/>
                <a:ext cx="2625758" cy="5715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𝑀𝑔h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30939D50-B4A7-4FE0-9315-E58BABEFD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2489527"/>
                <a:ext cx="2625758" cy="5715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灯片编号占位符 1">
            <a:extLst>
              <a:ext uri="{FF2B5EF4-FFF2-40B4-BE49-F238E27FC236}">
                <a16:creationId xmlns:a16="http://schemas.microsoft.com/office/drawing/2014/main" id="{B8A84F79-3811-482A-9256-627874FDF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4" grpId="0"/>
      <p:bldP spid="22535" grpId="0"/>
      <p:bldP spid="22536" grpId="0"/>
      <p:bldP spid="22540" grpId="0"/>
      <p:bldP spid="22541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8662FE1F-DCD2-4273-B8A9-DAF5E09FF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28625"/>
            <a:ext cx="80216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拉萨海拔约为</a:t>
            </a:r>
            <a:r>
              <a:rPr lang="en-US" altLang="zh-CN">
                <a:solidFill>
                  <a:srgbClr val="66FFFF"/>
                </a:solidFill>
              </a:rPr>
              <a:t>3600m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 i="1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气温为</a:t>
            </a:r>
            <a:r>
              <a:rPr lang="en-US" altLang="zh-CN">
                <a:solidFill>
                  <a:srgbClr val="66FFFF"/>
                </a:solidFill>
              </a:rPr>
              <a:t>273K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 u="sng">
                <a:solidFill>
                  <a:srgbClr val="FFFF00"/>
                </a:solidFill>
              </a:rPr>
              <a:t>忽略气温随高度的变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u="sng">
                <a:solidFill>
                  <a:srgbClr val="FFFF00"/>
                </a:solidFill>
              </a:rPr>
              <a:t>化</a:t>
            </a:r>
            <a:r>
              <a:rPr lang="zh-CN" altLang="en-US">
                <a:solidFill>
                  <a:schemeClr val="bg1"/>
                </a:solidFill>
              </a:rPr>
              <a:t>，海平面上的气压为</a:t>
            </a:r>
            <a:r>
              <a:rPr lang="en-US" altLang="zh-CN">
                <a:solidFill>
                  <a:srgbClr val="66FFFF"/>
                </a:solidFill>
              </a:rPr>
              <a:t>1.013×10</a:t>
            </a:r>
            <a:r>
              <a:rPr lang="en-US" altLang="zh-CN" baseline="44000">
                <a:solidFill>
                  <a:srgbClr val="66FFFF"/>
                </a:solidFill>
              </a:rPr>
              <a:t>5 </a:t>
            </a:r>
            <a:r>
              <a:rPr lang="en-US" altLang="zh-CN">
                <a:solidFill>
                  <a:srgbClr val="66FFFF"/>
                </a:solidFill>
              </a:rPr>
              <a:t>Pa </a:t>
            </a:r>
            <a:r>
              <a:rPr lang="zh-CN" altLang="en-US">
                <a:solidFill>
                  <a:schemeClr val="bg1"/>
                </a:solidFill>
              </a:rPr>
              <a:t>时</a:t>
            </a:r>
            <a:endParaRPr lang="zh-CN" altLang="en-US">
              <a:solidFill>
                <a:srgbClr val="85FFE0"/>
              </a:solidFill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BC56C0B5-C903-4285-BA44-903A527C8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3071813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等温气压公式</a:t>
            </a:r>
          </a:p>
        </p:txBody>
      </p:sp>
      <p:graphicFrame>
        <p:nvGraphicFramePr>
          <p:cNvPr id="26628" name="Object 2">
            <a:extLst>
              <a:ext uri="{FF2B5EF4-FFF2-40B4-BE49-F238E27FC236}">
                <a16:creationId xmlns:a16="http://schemas.microsoft.com/office/drawing/2014/main" id="{F0136DB6-4E5E-4383-AC34-617A2D8F0CF6}"/>
              </a:ext>
            </a:extLst>
          </p:cNvPr>
          <p:cNvGraphicFramePr>
            <a:graphicFrameLocks/>
          </p:cNvGraphicFramePr>
          <p:nvPr/>
        </p:nvGraphicFramePr>
        <p:xfrm>
          <a:off x="1071563" y="3714750"/>
          <a:ext cx="75025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30" r:id="rId4" imgW="2857576" imgH="295139" progId="Equation.3">
                  <p:embed/>
                </p:oleObj>
              </mc:Choice>
              <mc:Fallback>
                <p:oleObj r:id="rId4" imgW="2857576" imgH="295139" progId="Equation.3">
                  <p:embed/>
                  <p:pic>
                    <p:nvPicPr>
                      <p:cNvPr id="26628" name="Object 2">
                        <a:extLst>
                          <a:ext uri="{FF2B5EF4-FFF2-40B4-BE49-F238E27FC236}">
                            <a16:creationId xmlns:a16="http://schemas.microsoft.com/office/drawing/2014/main" id="{F0136DB6-4E5E-4383-AC34-617A2D8F0C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714750"/>
                        <a:ext cx="75025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>
            <a:extLst>
              <a:ext uri="{FF2B5EF4-FFF2-40B4-BE49-F238E27FC236}">
                <a16:creationId xmlns:a16="http://schemas.microsoft.com/office/drawing/2014/main" id="{6E0A24D5-4B7C-4416-AAEC-3CC63A068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286375"/>
            <a:ext cx="7758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设人每次吸入空气的容积为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baseline="-25000">
                <a:solidFill>
                  <a:srgbClr val="FFFF00"/>
                </a:solidFill>
              </a:rPr>
              <a:t>0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，在拉萨应呼吸</a:t>
            </a:r>
            <a:r>
              <a:rPr lang="en-US" altLang="zh-CN" sz="2800" i="1">
                <a:solidFill>
                  <a:srgbClr val="FFFF00"/>
                </a:solidFill>
              </a:rPr>
              <a:t>x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次            </a:t>
            </a:r>
          </a:p>
        </p:txBody>
      </p:sp>
      <p:graphicFrame>
        <p:nvGraphicFramePr>
          <p:cNvPr id="26630" name="Object 3">
            <a:extLst>
              <a:ext uri="{FF2B5EF4-FFF2-40B4-BE49-F238E27FC236}">
                <a16:creationId xmlns:a16="http://schemas.microsoft.com/office/drawing/2014/main" id="{B4F82349-754E-4A4C-87A0-5571CE72DA72}"/>
              </a:ext>
            </a:extLst>
          </p:cNvPr>
          <p:cNvGraphicFramePr>
            <a:graphicFrameLocks/>
          </p:cNvGraphicFramePr>
          <p:nvPr/>
        </p:nvGraphicFramePr>
        <p:xfrm>
          <a:off x="1785938" y="6000750"/>
          <a:ext cx="27273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31" r:id="rId6" imgW="2619343" imgH="390661" progId="Equation.3">
                  <p:embed/>
                </p:oleObj>
              </mc:Choice>
              <mc:Fallback>
                <p:oleObj r:id="rId6" imgW="2619343" imgH="390661" progId="Equation.3">
                  <p:embed/>
                  <p:pic>
                    <p:nvPicPr>
                      <p:cNvPr id="26630" name="Object 3">
                        <a:extLst>
                          <a:ext uri="{FF2B5EF4-FFF2-40B4-BE49-F238E27FC236}">
                            <a16:creationId xmlns:a16="http://schemas.microsoft.com/office/drawing/2014/main" id="{B4F82349-754E-4A4C-87A0-5571CE72DA7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6000750"/>
                        <a:ext cx="27273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4">
            <a:extLst>
              <a:ext uri="{FF2B5EF4-FFF2-40B4-BE49-F238E27FC236}">
                <a16:creationId xmlns:a16="http://schemas.microsoft.com/office/drawing/2014/main" id="{E620D0B6-B591-479D-8611-7426B0ED1B03}"/>
              </a:ext>
            </a:extLst>
          </p:cNvPr>
          <p:cNvGraphicFramePr>
            <a:graphicFrameLocks/>
          </p:cNvGraphicFramePr>
          <p:nvPr/>
        </p:nvGraphicFramePr>
        <p:xfrm>
          <a:off x="5583238" y="6000750"/>
          <a:ext cx="15938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32" r:id="rId8" imgW="1514418" imgH="352391" progId="Equation.3">
                  <p:embed/>
                </p:oleObj>
              </mc:Choice>
              <mc:Fallback>
                <p:oleObj r:id="rId8" imgW="1514418" imgH="352391" progId="Equation.3">
                  <p:embed/>
                  <p:pic>
                    <p:nvPicPr>
                      <p:cNvPr id="26631" name="Object 4">
                        <a:extLst>
                          <a:ext uri="{FF2B5EF4-FFF2-40B4-BE49-F238E27FC236}">
                            <a16:creationId xmlns:a16="http://schemas.microsoft.com/office/drawing/2014/main" id="{E620D0B6-B591-479D-8611-7426B0ED1B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6000750"/>
                        <a:ext cx="15938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5">
            <a:extLst>
              <a:ext uri="{FF2B5EF4-FFF2-40B4-BE49-F238E27FC236}">
                <a16:creationId xmlns:a16="http://schemas.microsoft.com/office/drawing/2014/main" id="{C6810BA7-3FAD-4B5E-BBA6-92D9DA5F55C0}"/>
              </a:ext>
            </a:extLst>
          </p:cNvPr>
          <p:cNvGraphicFramePr>
            <a:graphicFrameLocks/>
          </p:cNvGraphicFramePr>
          <p:nvPr/>
        </p:nvGraphicFramePr>
        <p:xfrm>
          <a:off x="3286125" y="4714875"/>
          <a:ext cx="24034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033" r:id="rId10" imgW="2295480" imgH="428625" progId="Equation.3">
                  <p:embed/>
                </p:oleObj>
              </mc:Choice>
              <mc:Fallback>
                <p:oleObj r:id="rId10" imgW="2295480" imgH="428625" progId="Equation.3">
                  <p:embed/>
                  <p:pic>
                    <p:nvPicPr>
                      <p:cNvPr id="26632" name="Object 5">
                        <a:extLst>
                          <a:ext uri="{FF2B5EF4-FFF2-40B4-BE49-F238E27FC236}">
                            <a16:creationId xmlns:a16="http://schemas.microsoft.com/office/drawing/2014/main" id="{C6810BA7-3FAD-4B5E-BBA6-92D9DA5F55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714875"/>
                        <a:ext cx="24034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Rectangle 9">
            <a:extLst>
              <a:ext uri="{FF2B5EF4-FFF2-40B4-BE49-F238E27FC236}">
                <a16:creationId xmlns:a16="http://schemas.microsoft.com/office/drawing/2014/main" id="{F987D664-4A7F-4B3D-BC2F-5A0AC05A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500188"/>
            <a:ext cx="81026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拉萨的大气压强；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某人在海平面上每分钟呼吸</a:t>
            </a:r>
            <a:r>
              <a:rPr lang="en-US" altLang="zh-CN">
                <a:solidFill>
                  <a:srgbClr val="66FFFF"/>
                </a:solidFill>
              </a:rPr>
              <a:t>17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次，他在拉萨呼吸多少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次才能吸入同样的质量的空气（</a:t>
            </a:r>
            <a:r>
              <a:rPr lang="en-US" altLang="zh-CN">
                <a:solidFill>
                  <a:srgbClr val="66FFFF"/>
                </a:solidFill>
              </a:rPr>
              <a:t>M = 29×10</a:t>
            </a:r>
            <a:r>
              <a:rPr lang="en-US" altLang="zh-CN" baseline="44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aseline="44000">
                <a:solidFill>
                  <a:srgbClr val="66FFFF"/>
                </a:solidFill>
              </a:rPr>
              <a:t>3  </a:t>
            </a:r>
            <a:r>
              <a:rPr lang="en-US" altLang="zh-CN">
                <a:solidFill>
                  <a:srgbClr val="66FFFF"/>
                </a:solidFill>
              </a:rPr>
              <a:t>kg/mol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D1A83142-E229-4B26-8BC2-D8AC76663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098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8FF55042-AD0A-4B7E-8AC8-9BBBDB6DD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016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6636" name="Text Box 12">
            <a:extLst>
              <a:ext uri="{FF2B5EF4-FFF2-40B4-BE49-F238E27FC236}">
                <a16:creationId xmlns:a16="http://schemas.microsoft.com/office/drawing/2014/main" id="{3A2564F8-AEF6-4E03-A539-FFA8C860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732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B7088A90-09AF-4A93-BAD5-6B4C6596D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29" grpId="0"/>
      <p:bldP spid="26633" grpId="0"/>
      <p:bldP spid="26634" grpId="0"/>
      <p:bldP spid="26635" grpId="0"/>
      <p:bldP spid="266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8DA4D888-8B50-49D1-B287-4BE482328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357188"/>
            <a:ext cx="579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aseline="30000" dirty="0">
                <a:solidFill>
                  <a:srgbClr val="FFFF00"/>
                </a:solidFill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solidFill>
                  <a:srgbClr val="FFFF00"/>
                </a:solidFill>
              </a:rPr>
              <a:t>二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</a:rPr>
              <a:t>玻耳兹曼分布律</a:t>
            </a:r>
          </a:p>
        </p:txBody>
      </p:sp>
      <p:graphicFrame>
        <p:nvGraphicFramePr>
          <p:cNvPr id="23555" name="Object 2">
            <a:extLst>
              <a:ext uri="{FF2B5EF4-FFF2-40B4-BE49-F238E27FC236}">
                <a16:creationId xmlns:a16="http://schemas.microsoft.com/office/drawing/2014/main" id="{FF3D0E53-EEA6-4566-A079-5A2EDC918359}"/>
              </a:ext>
            </a:extLst>
          </p:cNvPr>
          <p:cNvGraphicFramePr>
            <a:graphicFrameLocks/>
          </p:cNvGraphicFramePr>
          <p:nvPr/>
        </p:nvGraphicFramePr>
        <p:xfrm>
          <a:off x="5643563" y="1000125"/>
          <a:ext cx="17018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54" r:id="rId4" imgW="1628794" imgH="647836" progId="Equation.3">
                  <p:embed/>
                </p:oleObj>
              </mc:Choice>
              <mc:Fallback>
                <p:oleObj r:id="rId4" imgW="1628794" imgH="647836" progId="Equation.3">
                  <p:embed/>
                  <p:pic>
                    <p:nvPicPr>
                      <p:cNvPr id="23555" name="Object 2">
                        <a:extLst>
                          <a:ext uri="{FF2B5EF4-FFF2-40B4-BE49-F238E27FC236}">
                            <a16:creationId xmlns:a16="http://schemas.microsoft.com/office/drawing/2014/main" id="{FF3D0E53-EEA6-4566-A079-5A2EDC9183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1000125"/>
                        <a:ext cx="17018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3">
            <a:extLst>
              <a:ext uri="{FF2B5EF4-FFF2-40B4-BE49-F238E27FC236}">
                <a16:creationId xmlns:a16="http://schemas.microsoft.com/office/drawing/2014/main" id="{C5D815C3-ACED-4DCE-984E-93A473D6B619}"/>
              </a:ext>
            </a:extLst>
          </p:cNvPr>
          <p:cNvGraphicFramePr>
            <a:graphicFrameLocks/>
          </p:cNvGraphicFramePr>
          <p:nvPr/>
        </p:nvGraphicFramePr>
        <p:xfrm>
          <a:off x="2555875" y="3789363"/>
          <a:ext cx="39655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55" r:id="rId6" imgW="3981463" imgH="485877" progId="Equation.3">
                  <p:embed/>
                </p:oleObj>
              </mc:Choice>
              <mc:Fallback>
                <p:oleObj r:id="rId6" imgW="3981463" imgH="485877" progId="Equation.3">
                  <p:embed/>
                  <p:pic>
                    <p:nvPicPr>
                      <p:cNvPr id="23556" name="Object 3">
                        <a:extLst>
                          <a:ext uri="{FF2B5EF4-FFF2-40B4-BE49-F238E27FC236}">
                            <a16:creationId xmlns:a16="http://schemas.microsoft.com/office/drawing/2014/main" id="{C5D815C3-ACED-4DCE-984E-93A473D6B6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789363"/>
                        <a:ext cx="39655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id="{7463EED1-EB99-448C-8B94-6DE54DF8C532}"/>
              </a:ext>
            </a:extLst>
          </p:cNvPr>
          <p:cNvGraphicFramePr>
            <a:graphicFrameLocks/>
          </p:cNvGraphicFramePr>
          <p:nvPr/>
        </p:nvGraphicFramePr>
        <p:xfrm>
          <a:off x="3675063" y="1033463"/>
          <a:ext cx="11128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56" r:id="rId8" imgW="1323892" imgH="428625" progId="Equation.3">
                  <p:embed/>
                </p:oleObj>
              </mc:Choice>
              <mc:Fallback>
                <p:oleObj r:id="rId8" imgW="1323892" imgH="428625" progId="Equation.3">
                  <p:embed/>
                  <p:pic>
                    <p:nvPicPr>
                      <p:cNvPr id="23557" name="Object 4">
                        <a:extLst>
                          <a:ext uri="{FF2B5EF4-FFF2-40B4-BE49-F238E27FC236}">
                            <a16:creationId xmlns:a16="http://schemas.microsoft.com/office/drawing/2014/main" id="{7463EED1-EB99-448C-8B94-6DE54DF8C5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063" y="1033463"/>
                        <a:ext cx="11128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>
            <a:extLst>
              <a:ext uri="{FF2B5EF4-FFF2-40B4-BE49-F238E27FC236}">
                <a16:creationId xmlns:a16="http://schemas.microsoft.com/office/drawing/2014/main" id="{B1DAE7EF-7B9C-4CC3-BCEF-33DCB40AA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2638425"/>
            <a:ext cx="82438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平衡态下温度为</a:t>
            </a:r>
            <a:r>
              <a:rPr lang="en-US" altLang="zh-CN" i="1">
                <a:solidFill>
                  <a:srgbClr val="66FFFF"/>
                </a:solidFill>
              </a:rPr>
              <a:t>T </a:t>
            </a:r>
            <a:r>
              <a:rPr lang="zh-CN" altLang="en-US">
                <a:solidFill>
                  <a:schemeClr val="bg1"/>
                </a:solidFill>
              </a:rPr>
              <a:t>的气体中，位于空间某一小区间 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~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+d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zh-CN" altLang="en-US">
                <a:solidFill>
                  <a:srgbClr val="66FFFF"/>
                </a:solidFill>
              </a:rPr>
              <a:t>，</a:t>
            </a:r>
            <a:r>
              <a:rPr lang="zh-CN" altLang="en-US" i="1">
                <a:solidFill>
                  <a:srgbClr val="66FFFF"/>
                </a:solidFill>
              </a:rPr>
              <a:t>      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i="1">
                <a:solidFill>
                  <a:srgbClr val="66FFFF"/>
                </a:solidFill>
              </a:rPr>
              <a:t>y</a:t>
            </a:r>
            <a:r>
              <a:rPr lang="en-US" altLang="zh-CN">
                <a:solidFill>
                  <a:srgbClr val="66FFFF"/>
                </a:solidFill>
              </a:rPr>
              <a:t>~</a:t>
            </a:r>
            <a:r>
              <a:rPr lang="en-US" altLang="zh-CN" i="1">
                <a:solidFill>
                  <a:srgbClr val="66FFFF"/>
                </a:solidFill>
              </a:rPr>
              <a:t>y</a:t>
            </a:r>
            <a:r>
              <a:rPr lang="en-US" altLang="zh-CN">
                <a:solidFill>
                  <a:srgbClr val="66FFFF"/>
                </a:solidFill>
              </a:rPr>
              <a:t>+d</a:t>
            </a:r>
            <a:r>
              <a:rPr lang="en-US" altLang="zh-CN" i="1">
                <a:solidFill>
                  <a:srgbClr val="66FFFF"/>
                </a:solidFill>
              </a:rPr>
              <a:t>y</a:t>
            </a:r>
            <a:r>
              <a:rPr lang="zh-CN" altLang="en-US">
                <a:solidFill>
                  <a:srgbClr val="66FFFF"/>
                </a:solidFill>
              </a:rPr>
              <a:t>， </a:t>
            </a:r>
            <a:r>
              <a:rPr lang="en-US" altLang="zh-CN" i="1">
                <a:solidFill>
                  <a:srgbClr val="66FFFF"/>
                </a:solidFill>
              </a:rPr>
              <a:t>z</a:t>
            </a:r>
            <a:r>
              <a:rPr lang="en-US" altLang="zh-CN">
                <a:solidFill>
                  <a:srgbClr val="66FFFF"/>
                </a:solidFill>
              </a:rPr>
              <a:t>~</a:t>
            </a:r>
            <a:r>
              <a:rPr lang="en-US" altLang="zh-CN" i="1">
                <a:solidFill>
                  <a:srgbClr val="66FFFF"/>
                </a:solidFill>
              </a:rPr>
              <a:t>z</a:t>
            </a:r>
            <a:r>
              <a:rPr lang="en-US" altLang="zh-CN">
                <a:solidFill>
                  <a:srgbClr val="66FFFF"/>
                </a:solidFill>
              </a:rPr>
              <a:t>+d</a:t>
            </a:r>
            <a:r>
              <a:rPr lang="en-US" altLang="zh-CN" i="1">
                <a:solidFill>
                  <a:srgbClr val="66FFFF"/>
                </a:solidFill>
              </a:rPr>
              <a:t>z</a:t>
            </a:r>
            <a:r>
              <a:rPr lang="en-US" altLang="zh-CN" i="1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中的分子数为                                  </a:t>
            </a:r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AEF7D4A4-D737-45C0-B675-1C24C5168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5143500"/>
            <a:ext cx="761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分子在势场中的分布规律，称为</a:t>
            </a:r>
            <a:r>
              <a:rPr lang="zh-CN" altLang="en-US" dirty="0">
                <a:solidFill>
                  <a:srgbClr val="FFFF00"/>
                </a:solidFill>
              </a:rPr>
              <a:t>玻耳兹曼分布律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3561" name="Object 5">
            <a:extLst>
              <a:ext uri="{FF2B5EF4-FFF2-40B4-BE49-F238E27FC236}">
                <a16:creationId xmlns:a16="http://schemas.microsoft.com/office/drawing/2014/main" id="{BE8BBC03-7C9F-4E16-AD10-12EED473B487}"/>
              </a:ext>
            </a:extLst>
          </p:cNvPr>
          <p:cNvGraphicFramePr>
            <a:graphicFrameLocks/>
          </p:cNvGraphicFramePr>
          <p:nvPr/>
        </p:nvGraphicFramePr>
        <p:xfrm>
          <a:off x="1009650" y="1071563"/>
          <a:ext cx="1847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57" r:id="rId10" imgW="1781092" imgH="609566" progId="Equation.3">
                  <p:embed/>
                </p:oleObj>
              </mc:Choice>
              <mc:Fallback>
                <p:oleObj r:id="rId10" imgW="1781092" imgH="609566" progId="Equation.3">
                  <p:embed/>
                  <p:pic>
                    <p:nvPicPr>
                      <p:cNvPr id="23561" name="Object 5">
                        <a:extLst>
                          <a:ext uri="{FF2B5EF4-FFF2-40B4-BE49-F238E27FC236}">
                            <a16:creationId xmlns:a16="http://schemas.microsoft.com/office/drawing/2014/main" id="{BE8BBC03-7C9F-4E16-AD10-12EED473B4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1071563"/>
                        <a:ext cx="18478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Text Box 10">
            <a:extLst>
              <a:ext uri="{FF2B5EF4-FFF2-40B4-BE49-F238E27FC236}">
                <a16:creationId xmlns:a16="http://schemas.microsoft.com/office/drawing/2014/main" id="{34895F57-8510-4F07-BB9A-B4F5990B5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1971675"/>
            <a:ext cx="539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适用于任何形式的保守力场</a:t>
            </a:r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867B81FA-4FEF-42B3-B81E-A6ABA7754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4500563"/>
            <a:ext cx="521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式中</a:t>
            </a:r>
            <a:r>
              <a:rPr lang="el-GR" altLang="zh-CN" i="1">
                <a:solidFill>
                  <a:srgbClr val="66FFFF"/>
                </a:solidFill>
              </a:rPr>
              <a:t>ε</a:t>
            </a:r>
            <a:r>
              <a:rPr lang="en-US" altLang="zh-CN" i="1" baseline="-25000">
                <a:solidFill>
                  <a:srgbClr val="66FFFF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</a:rPr>
              <a:t>是位于</a:t>
            </a:r>
            <a:r>
              <a:rPr lang="en-US" altLang="zh-CN">
                <a:solidFill>
                  <a:srgbClr val="66FFFF"/>
                </a:solidFill>
              </a:rPr>
              <a:t>(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zh-CN" altLang="en-US" i="1">
                <a:solidFill>
                  <a:srgbClr val="66FFFF"/>
                </a:solidFill>
              </a:rPr>
              <a:t>、</a:t>
            </a:r>
            <a:r>
              <a:rPr lang="en-US" altLang="zh-CN" i="1">
                <a:solidFill>
                  <a:srgbClr val="66FFFF"/>
                </a:solidFill>
              </a:rPr>
              <a:t>y</a:t>
            </a:r>
            <a:r>
              <a:rPr lang="zh-CN" altLang="en-US" i="1">
                <a:solidFill>
                  <a:srgbClr val="66FFFF"/>
                </a:solidFill>
              </a:rPr>
              <a:t>、</a:t>
            </a:r>
            <a:r>
              <a:rPr lang="en-US" altLang="zh-CN" i="1">
                <a:solidFill>
                  <a:srgbClr val="66FFFF"/>
                </a:solidFill>
              </a:rPr>
              <a:t>z</a:t>
            </a:r>
            <a:r>
              <a:rPr lang="en-US" altLang="zh-CN">
                <a:solidFill>
                  <a:srgbClr val="66FFFF"/>
                </a:solidFill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处分子的势能</a:t>
            </a:r>
          </a:p>
        </p:txBody>
      </p:sp>
      <p:sp>
        <p:nvSpPr>
          <p:cNvPr id="23564" name="Text Box 12">
            <a:extLst>
              <a:ext uri="{FF2B5EF4-FFF2-40B4-BE49-F238E27FC236}">
                <a16:creationId xmlns:a16="http://schemas.microsoft.com/office/drawing/2014/main" id="{653F883C-2429-4D0D-AE2A-304F5A60B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715000"/>
            <a:ext cx="7286625" cy="4619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表明：势场中的分子总是优先占据势能较低的状态 </a:t>
            </a:r>
          </a:p>
        </p:txBody>
      </p:sp>
      <p:sp>
        <p:nvSpPr>
          <p:cNvPr id="23565" name="AutoShape 13">
            <a:extLst>
              <a:ext uri="{FF2B5EF4-FFF2-40B4-BE49-F238E27FC236}">
                <a16:creationId xmlns:a16="http://schemas.microsoft.com/office/drawing/2014/main" id="{2D1F821A-3BD4-4422-B97C-46AD828CA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1355725"/>
            <a:ext cx="1512888" cy="144463"/>
          </a:xfrm>
          <a:prstGeom prst="rightArrow">
            <a:avLst>
              <a:gd name="adj1" fmla="val 50000"/>
              <a:gd name="adj2" fmla="val 261814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E6D7C825-9E2D-4993-977E-14DA444F0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9" grpId="0"/>
      <p:bldP spid="23560" grpId="0"/>
      <p:bldP spid="23562" grpId="0"/>
      <p:bldP spid="23563" grpId="0"/>
      <p:bldP spid="235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1" name="Text Box 3"/>
          <p:cNvSpPr txBox="1">
            <a:spLocks noChangeArrowheads="1"/>
          </p:cNvSpPr>
          <p:nvPr/>
        </p:nvSpPr>
        <p:spPr bwMode="auto">
          <a:xfrm>
            <a:off x="755650" y="908720"/>
            <a:ext cx="838835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平衡态下温度为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en-US" altLang="zh-CN" sz="24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的气体中，位置在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0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0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+d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0" dirty="0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0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0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+d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b="0" dirty="0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="0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="0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+d</a:t>
            </a:r>
            <a:r>
              <a:rPr lang="en-US" altLang="zh-CN" sz="2400" b="0" i="1" dirty="0" err="1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="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r>
              <a:rPr lang="en-US" altLang="zh-CN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且速度在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400" b="0" i="1" baseline="-2500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lang="en-US" altLang="zh-CN" sz="2400" b="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~ 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+</a:t>
            </a:r>
            <a:r>
              <a:rPr lang="en-US" altLang="zh-CN" sz="2400" b="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d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x</a:t>
            </a:r>
            <a:r>
              <a:rPr lang="en-US" altLang="zh-CN" sz="2400" b="0" i="1" baseline="-2500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, 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400" b="0" i="1" baseline="-2500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lang="en-US" altLang="zh-CN" sz="2400" b="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~ 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+</a:t>
            </a:r>
            <a:r>
              <a:rPr lang="en-US" altLang="zh-CN" sz="2400" b="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d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y</a:t>
            </a:r>
            <a:r>
              <a:rPr lang="en-US" altLang="zh-CN" sz="2400" b="0" i="1" baseline="-2500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, 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z</a:t>
            </a:r>
            <a:r>
              <a:rPr lang="en-US" altLang="zh-CN" sz="2400" b="0" i="1" baseline="-2500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lang="en-US" altLang="zh-CN" sz="2400" b="0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~ 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z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+</a:t>
            </a:r>
            <a:r>
              <a:rPr lang="en-US" altLang="zh-CN" sz="2400" b="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d</a:t>
            </a:r>
            <a:r>
              <a:rPr lang="en-US" altLang="zh-CN" sz="2400" b="0" i="1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lang="en-US" altLang="zh-CN" sz="2400" b="0" i="1" baseline="-25000" dirty="0" err="1">
                <a:solidFill>
                  <a:srgbClr val="66FFFF"/>
                </a:solidFill>
                <a:latin typeface="+mn-lt"/>
                <a:ea typeface="宋体" panose="02010600030101010101" pitchFamily="2" charset="-122"/>
              </a:rPr>
              <a:t>z</a:t>
            </a:r>
            <a:r>
              <a:rPr lang="en-US" altLang="zh-CN" sz="2400" b="0" i="1" baseline="-25000" dirty="0">
                <a:solidFill>
                  <a:srgbClr val="FFFFFF"/>
                </a:solidFill>
                <a:latin typeface="+mn-lt"/>
                <a:ea typeface="宋体" panose="02010600030101010101" pitchFamily="2" charset="-122"/>
              </a:rPr>
              <a:t>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区间的分子数为</a:t>
            </a:r>
          </a:p>
        </p:txBody>
      </p:sp>
      <p:graphicFrame>
        <p:nvGraphicFramePr>
          <p:cNvPr id="918532" name="Object 4"/>
          <p:cNvGraphicFramePr>
            <a:graphicFrameLocks noChangeAspect="1"/>
          </p:cNvGraphicFramePr>
          <p:nvPr>
            <p:extLst/>
          </p:nvPr>
        </p:nvGraphicFramePr>
        <p:xfrm>
          <a:off x="2123728" y="2558231"/>
          <a:ext cx="5270400" cy="63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517" name="Equation" r:id="rId3" imgW="2108160" imgH="253800" progId="Equation.DSMT4">
                  <p:embed/>
                </p:oleObj>
              </mc:Choice>
              <mc:Fallback>
                <p:oleObj name="Equation" r:id="rId3" imgW="2108160" imgH="253800" progId="Equation.DSMT4">
                  <p:embed/>
                  <p:pic>
                    <p:nvPicPr>
                      <p:cNvPr id="918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558231"/>
                        <a:ext cx="5270400" cy="63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33" name="Text Box 5"/>
          <p:cNvSpPr txBox="1">
            <a:spLocks noChangeArrowheads="1"/>
          </p:cNvSpPr>
          <p:nvPr/>
        </p:nvSpPr>
        <p:spPr bwMode="auto">
          <a:xfrm>
            <a:off x="755651" y="3429000"/>
            <a:ext cx="777679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式中 </a:t>
            </a:r>
            <a:r>
              <a:rPr kumimoji="0" lang="zh-CN" altLang="en-US" sz="2400" b="0" i="1" dirty="0">
                <a:solidFill>
                  <a:srgbClr val="66FFFF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kumimoji="0" lang="zh-CN" altLang="en-US" sz="2400" i="1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sz="2400" b="0" i="1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kumimoji="0" lang="en-US" altLang="zh-CN" sz="2400" b="0" i="1" baseline="-25000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0" lang="en-US" altLang="zh-CN" sz="2400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kumimoji="0" lang="en-US" altLang="zh-CN" sz="2400" b="0" i="1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kumimoji="0" lang="en-US" altLang="zh-CN" sz="2400" b="0" i="1" baseline="-25000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kumimoji="0" lang="en-US" altLang="zh-CN" sz="2400" b="0" i="1" baseline="-25000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是分子的总能量</a:t>
            </a:r>
            <a:r>
              <a:rPr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i="1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kumimoji="0"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是与位置坐标和速度无关的比例系数</a:t>
            </a:r>
            <a:r>
              <a:rPr kumimoji="0" lang="zh-CN" altLang="en-US" sz="2400" dirty="0">
                <a:solidFill>
                  <a:srgbClr val="CCCC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918534" name="Text Box 6"/>
          <p:cNvSpPr txBox="1">
            <a:spLocks noChangeArrowheads="1"/>
          </p:cNvSpPr>
          <p:nvPr/>
        </p:nvSpPr>
        <p:spPr bwMode="auto">
          <a:xfrm>
            <a:off x="755649" y="4653136"/>
            <a:ext cx="81375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这一结论，称为</a:t>
            </a:r>
            <a:r>
              <a:rPr kumimoji="0" lang="zh-CN" altLang="en-US" sz="2400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麦克斯韦</a:t>
            </a:r>
            <a:r>
              <a:rPr kumimoji="0" lang="en-US" altLang="zh-CN" sz="2400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–</a:t>
            </a:r>
            <a:r>
              <a:rPr kumimoji="0" lang="zh-CN" altLang="en-US" sz="2400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玻耳兹曼分布定律</a:t>
            </a:r>
            <a:r>
              <a:rPr kumimoji="0"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kumimoji="0" lang="en-US" altLang="zh-CN" sz="2400" dirty="0">
              <a:solidFill>
                <a:srgbClr val="CCCC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kumimoji="0"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它给出了分子数按</a:t>
            </a:r>
            <a:r>
              <a:rPr kumimoji="0" lang="zh-CN" altLang="en-US" sz="2400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能量</a:t>
            </a:r>
            <a:r>
              <a:rPr kumimoji="0"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的分布规律： </a:t>
            </a:r>
            <a:endParaRPr kumimoji="0" lang="en-US" altLang="zh-CN" sz="2400" dirty="0">
              <a:solidFill>
                <a:srgbClr val="CCCC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kumimoji="0" lang="en-US" altLang="zh-CN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——</a:t>
            </a:r>
            <a:r>
              <a:rPr kumimoji="0" lang="zh-CN" altLang="en-US" sz="2400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0" lang="zh-CN" altLang="en-US" sz="2400" dirty="0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分子总是优先占据能量较低的状态</a:t>
            </a:r>
            <a:endParaRPr kumimoji="0" lang="zh-CN" altLang="en-US" sz="2400" dirty="0">
              <a:solidFill>
                <a:srgbClr val="CCCCFF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84EFB0-09C3-4C95-A339-03CA9A62F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>
              <a:defRPr/>
            </a:pPr>
            <a:fld id="{015F03F0-BB4E-444A-A6B7-26D19CFD722D}" type="slidenum">
              <a:rPr lang="en-US" altLang="zh-CN" smtClean="0"/>
              <a:pPr algn="r"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84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1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531" grpId="0"/>
      <p:bldP spid="918533" grpId="0"/>
      <p:bldP spid="9185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4" name="Rectangle 98">
            <a:extLst>
              <a:ext uri="{FF2B5EF4-FFF2-40B4-BE49-F238E27FC236}">
                <a16:creationId xmlns:a16="http://schemas.microsoft.com/office/drawing/2014/main" id="{F8856C72-3868-4A27-951B-F7A1115CA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2500313"/>
            <a:ext cx="4319587" cy="2952750"/>
          </a:xfrm>
          <a:prstGeom prst="rect">
            <a:avLst/>
          </a:prstGeom>
          <a:solidFill>
            <a:srgbClr val="17C2FF">
              <a:alpha val="30196"/>
            </a:srgbClr>
          </a:solidFill>
          <a:ln w="9525">
            <a:solidFill>
              <a:srgbClr val="FFFF00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0191" name="Text Box 15">
            <a:extLst>
              <a:ext uri="{FF2B5EF4-FFF2-40B4-BE49-F238E27FC236}">
                <a16:creationId xmlns:a16="http://schemas.microsoft.com/office/drawing/2014/main" id="{D6119C7A-11D5-4AE9-BA63-60470D0DC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571625"/>
            <a:ext cx="8281987" cy="803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</a:t>
            </a: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气体分子在运动过程中会与其它分子发生频繁的碰撞，每碰撞一</a:t>
            </a:r>
            <a:endParaRPr lang="en-US" altLang="zh-CN" sz="20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/>
              <a:buNone/>
              <a:defRPr/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次，分子速度的大小和方向都改变，</a:t>
            </a:r>
            <a:r>
              <a:rPr lang="zh-CN" altLang="en-US" sz="20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分子运动的轨迹是一迂回的折线</a:t>
            </a:r>
            <a:r>
              <a:rPr lang="en-US" altLang="zh-CN" sz="2000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r>
              <a:rPr lang="en-US" altLang="zh-CN" sz="2000" b="0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2" name="Group 96">
            <a:extLst>
              <a:ext uri="{FF2B5EF4-FFF2-40B4-BE49-F238E27FC236}">
                <a16:creationId xmlns:a16="http://schemas.microsoft.com/office/drawing/2014/main" id="{B85B32E3-114E-497B-8A27-EFA4B12D85A8}"/>
              </a:ext>
            </a:extLst>
          </p:cNvPr>
          <p:cNvGrpSpPr>
            <a:grpSpLocks/>
          </p:cNvGrpSpPr>
          <p:nvPr/>
        </p:nvGrpSpPr>
        <p:grpSpPr bwMode="auto">
          <a:xfrm>
            <a:off x="2643188" y="3005138"/>
            <a:ext cx="3960812" cy="2160587"/>
            <a:chOff x="2925" y="981"/>
            <a:chExt cx="2495" cy="1361"/>
          </a:xfrm>
        </p:grpSpPr>
        <p:sp>
          <p:nvSpPr>
            <p:cNvPr id="6157" name="Oval 54">
              <a:extLst>
                <a:ext uri="{FF2B5EF4-FFF2-40B4-BE49-F238E27FC236}">
                  <a16:creationId xmlns:a16="http://schemas.microsoft.com/office/drawing/2014/main" id="{DEA86D26-6EDB-42D6-96EF-097033BEA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069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58" name="Oval 55">
              <a:extLst>
                <a:ext uri="{FF2B5EF4-FFF2-40B4-BE49-F238E27FC236}">
                  <a16:creationId xmlns:a16="http://schemas.microsoft.com/office/drawing/2014/main" id="{55181F13-C1ED-4CAE-8248-6D59624A2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525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59" name="Oval 56">
              <a:extLst>
                <a:ext uri="{FF2B5EF4-FFF2-40B4-BE49-F238E27FC236}">
                  <a16:creationId xmlns:a16="http://schemas.microsoft.com/office/drawing/2014/main" id="{5A5AD1BB-B34D-416C-9912-3DDBD0002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842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0" name="Oval 57">
              <a:extLst>
                <a:ext uri="{FF2B5EF4-FFF2-40B4-BE49-F238E27FC236}">
                  <a16:creationId xmlns:a16="http://schemas.microsoft.com/office/drawing/2014/main" id="{5F8C6C9E-FDFA-4268-8983-DE0519BB8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98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1" name="Oval 58">
              <a:extLst>
                <a:ext uri="{FF2B5EF4-FFF2-40B4-BE49-F238E27FC236}">
                  <a16:creationId xmlns:a16="http://schemas.microsoft.com/office/drawing/2014/main" id="{7779D4E9-228E-491A-B83A-C13978B6B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07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2" name="Oval 59">
              <a:extLst>
                <a:ext uri="{FF2B5EF4-FFF2-40B4-BE49-F238E27FC236}">
                  <a16:creationId xmlns:a16="http://schemas.microsoft.com/office/drawing/2014/main" id="{A87D7A1B-5CB1-4304-B0A3-3E735B9ED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98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3" name="Oval 60">
              <a:extLst>
                <a:ext uri="{FF2B5EF4-FFF2-40B4-BE49-F238E27FC236}">
                  <a16:creationId xmlns:a16="http://schemas.microsoft.com/office/drawing/2014/main" id="{3B00F88F-AF46-4886-B6EE-F5AA4D48A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117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4" name="Oval 61">
              <a:extLst>
                <a:ext uri="{FF2B5EF4-FFF2-40B4-BE49-F238E27FC236}">
                  <a16:creationId xmlns:a16="http://schemas.microsoft.com/office/drawing/2014/main" id="{69D9C39E-247A-43DA-85BB-57B1D6C14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98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5" name="Oval 62">
              <a:extLst>
                <a:ext uri="{FF2B5EF4-FFF2-40B4-BE49-F238E27FC236}">
                  <a16:creationId xmlns:a16="http://schemas.microsoft.com/office/drawing/2014/main" id="{6F9DEE36-D775-47EF-AEA0-0A64ACD97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207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6" name="Oval 63">
              <a:extLst>
                <a:ext uri="{FF2B5EF4-FFF2-40B4-BE49-F238E27FC236}">
                  <a16:creationId xmlns:a16="http://schemas.microsoft.com/office/drawing/2014/main" id="{79C157D6-5C49-4F39-9152-CC8ED860D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253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7" name="Oval 64">
              <a:extLst>
                <a:ext uri="{FF2B5EF4-FFF2-40B4-BE49-F238E27FC236}">
                  <a16:creationId xmlns:a16="http://schemas.microsoft.com/office/drawing/2014/main" id="{763361B8-B075-43DC-9283-29CEE1BD7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66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8" name="Oval 65">
              <a:extLst>
                <a:ext uri="{FF2B5EF4-FFF2-40B4-BE49-F238E27FC236}">
                  <a16:creationId xmlns:a16="http://schemas.microsoft.com/office/drawing/2014/main" id="{E649EE89-9D4B-4993-A9EF-8C290C879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024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69" name="Oval 66">
              <a:extLst>
                <a:ext uri="{FF2B5EF4-FFF2-40B4-BE49-F238E27FC236}">
                  <a16:creationId xmlns:a16="http://schemas.microsoft.com/office/drawing/2014/main" id="{BB6E40FC-ADB5-40E3-83C6-96C2F38B4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115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0" name="Oval 67">
              <a:extLst>
                <a:ext uri="{FF2B5EF4-FFF2-40B4-BE49-F238E27FC236}">
                  <a16:creationId xmlns:a16="http://schemas.microsoft.com/office/drawing/2014/main" id="{FCA77D9F-A801-431F-9472-599D77F02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15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1" name="Oval 68">
              <a:extLst>
                <a:ext uri="{FF2B5EF4-FFF2-40B4-BE49-F238E27FC236}">
                  <a16:creationId xmlns:a16="http://schemas.microsoft.com/office/drawing/2014/main" id="{2B98AA07-280A-488A-97B6-5856A62F8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225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2" name="Oval 69">
              <a:extLst>
                <a:ext uri="{FF2B5EF4-FFF2-40B4-BE49-F238E27FC236}">
                  <a16:creationId xmlns:a16="http://schemas.microsoft.com/office/drawing/2014/main" id="{F0FBAB8F-72CA-4222-864D-0B600BBEB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25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3" name="Oval 70">
              <a:extLst>
                <a:ext uri="{FF2B5EF4-FFF2-40B4-BE49-F238E27FC236}">
                  <a16:creationId xmlns:a16="http://schemas.microsoft.com/office/drawing/2014/main" id="{9FD30B7A-B92A-4665-A813-5B9705647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8" y="1026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4" name="Oval 71">
              <a:extLst>
                <a:ext uri="{FF2B5EF4-FFF2-40B4-BE49-F238E27FC236}">
                  <a16:creationId xmlns:a16="http://schemas.microsoft.com/office/drawing/2014/main" id="{77A24A50-05B7-490D-AA33-12FE96701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026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5" name="Oval 72">
              <a:extLst>
                <a:ext uri="{FF2B5EF4-FFF2-40B4-BE49-F238E27FC236}">
                  <a16:creationId xmlns:a16="http://schemas.microsoft.com/office/drawing/2014/main" id="{12769424-6DFB-4D30-BE33-FFF597A92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207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6" name="Oval 73">
              <a:extLst>
                <a:ext uri="{FF2B5EF4-FFF2-40B4-BE49-F238E27FC236}">
                  <a16:creationId xmlns:a16="http://schemas.microsoft.com/office/drawing/2014/main" id="{1E5FA22A-A424-48AD-B743-F927DF04B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" y="1162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7" name="Oval 74">
              <a:extLst>
                <a:ext uri="{FF2B5EF4-FFF2-40B4-BE49-F238E27FC236}">
                  <a16:creationId xmlns:a16="http://schemas.microsoft.com/office/drawing/2014/main" id="{B8137A55-244E-4D8E-9DEA-B843E575C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071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8" name="Oval 75">
              <a:extLst>
                <a:ext uri="{FF2B5EF4-FFF2-40B4-BE49-F238E27FC236}">
                  <a16:creationId xmlns:a16="http://schemas.microsoft.com/office/drawing/2014/main" id="{0F88187A-84A5-426B-81B0-4260D457E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1344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79" name="Oval 76">
              <a:extLst>
                <a:ext uri="{FF2B5EF4-FFF2-40B4-BE49-F238E27FC236}">
                  <a16:creationId xmlns:a16="http://schemas.microsoft.com/office/drawing/2014/main" id="{62DB74B7-F2A9-4CC9-A8DB-387892A2F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" y="1434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0" name="Oval 77">
              <a:extLst>
                <a:ext uri="{FF2B5EF4-FFF2-40B4-BE49-F238E27FC236}">
                  <a16:creationId xmlns:a16="http://schemas.microsoft.com/office/drawing/2014/main" id="{4892D408-62E0-43E9-BC18-43ED4BF3E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" y="1616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1" name="Oval 78">
              <a:extLst>
                <a:ext uri="{FF2B5EF4-FFF2-40B4-BE49-F238E27FC236}">
                  <a16:creationId xmlns:a16="http://schemas.microsoft.com/office/drawing/2014/main" id="{E0CD149B-EAF1-4969-8C61-5667427D1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525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2" name="Oval 79">
              <a:extLst>
                <a:ext uri="{FF2B5EF4-FFF2-40B4-BE49-F238E27FC236}">
                  <a16:creationId xmlns:a16="http://schemas.microsoft.com/office/drawing/2014/main" id="{6C42D0C5-E003-45EE-9930-E43E9434D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797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3" name="Oval 80">
              <a:extLst>
                <a:ext uri="{FF2B5EF4-FFF2-40B4-BE49-F238E27FC236}">
                  <a16:creationId xmlns:a16="http://schemas.microsoft.com/office/drawing/2014/main" id="{5E74D92D-A461-427D-8B33-A8BB92E25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2160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4" name="Oval 81">
              <a:extLst>
                <a:ext uri="{FF2B5EF4-FFF2-40B4-BE49-F238E27FC236}">
                  <a16:creationId xmlns:a16="http://schemas.microsoft.com/office/drawing/2014/main" id="{DE514D7B-1919-40F3-A11F-A4612FF68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33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5" name="Oval 82">
              <a:extLst>
                <a:ext uri="{FF2B5EF4-FFF2-40B4-BE49-F238E27FC236}">
                  <a16:creationId xmlns:a16="http://schemas.microsoft.com/office/drawing/2014/main" id="{5FA93E2C-72C1-40EA-8F43-F244CA0E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1752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6" name="Oval 83">
              <a:extLst>
                <a:ext uri="{FF2B5EF4-FFF2-40B4-BE49-F238E27FC236}">
                  <a16:creationId xmlns:a16="http://schemas.microsoft.com/office/drawing/2014/main" id="{E6817EAC-EBE6-4B5D-8864-736475BF9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979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7" name="Oval 84">
              <a:extLst>
                <a:ext uri="{FF2B5EF4-FFF2-40B4-BE49-F238E27FC236}">
                  <a16:creationId xmlns:a16="http://schemas.microsoft.com/office/drawing/2014/main" id="{F4E43E36-AD6A-44E2-B1CF-719FA779C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2069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8" name="Oval 85">
              <a:extLst>
                <a:ext uri="{FF2B5EF4-FFF2-40B4-BE49-F238E27FC236}">
                  <a16:creationId xmlns:a16="http://schemas.microsoft.com/office/drawing/2014/main" id="{A1FA64C4-E5C2-41A8-B9BB-01CE6FDED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1933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89" name="Oval 86">
              <a:extLst>
                <a:ext uri="{FF2B5EF4-FFF2-40B4-BE49-F238E27FC236}">
                  <a16:creationId xmlns:a16="http://schemas.microsoft.com/office/drawing/2014/main" id="{BCF285FA-660B-4A29-A689-319C8CC23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9" y="2115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0" name="Oval 87">
              <a:extLst>
                <a:ext uri="{FF2B5EF4-FFF2-40B4-BE49-F238E27FC236}">
                  <a16:creationId xmlns:a16="http://schemas.microsoft.com/office/drawing/2014/main" id="{4459CEE1-C679-4FA4-8115-B9913A797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1752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1" name="Oval 88">
              <a:extLst>
                <a:ext uri="{FF2B5EF4-FFF2-40B4-BE49-F238E27FC236}">
                  <a16:creationId xmlns:a16="http://schemas.microsoft.com/office/drawing/2014/main" id="{B7DEA0FF-2623-4C82-BD5C-885EC8F76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253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2" name="Oval 89">
              <a:extLst>
                <a:ext uri="{FF2B5EF4-FFF2-40B4-BE49-F238E27FC236}">
                  <a16:creationId xmlns:a16="http://schemas.microsoft.com/office/drawing/2014/main" id="{9ED40DEA-BD0C-4638-8968-64039BD00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253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3" name="Oval 90">
              <a:extLst>
                <a:ext uri="{FF2B5EF4-FFF2-40B4-BE49-F238E27FC236}">
                  <a16:creationId xmlns:a16="http://schemas.microsoft.com/office/drawing/2014/main" id="{988FC150-7D31-4D0E-BB2F-49480B48E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570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4" name="Oval 91">
              <a:extLst>
                <a:ext uri="{FF2B5EF4-FFF2-40B4-BE49-F238E27FC236}">
                  <a16:creationId xmlns:a16="http://schemas.microsoft.com/office/drawing/2014/main" id="{043E9911-2226-49E9-AC8A-DAF86E320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842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5" name="Oval 92">
              <a:extLst>
                <a:ext uri="{FF2B5EF4-FFF2-40B4-BE49-F238E27FC236}">
                  <a16:creationId xmlns:a16="http://schemas.microsoft.com/office/drawing/2014/main" id="{1CFAA2DF-F980-4DCE-9BFD-8AA037C67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978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6" name="Oval 93">
              <a:extLst>
                <a:ext uri="{FF2B5EF4-FFF2-40B4-BE49-F238E27FC236}">
                  <a16:creationId xmlns:a16="http://schemas.microsoft.com/office/drawing/2014/main" id="{EFF8B40A-9697-4FD4-9CDD-82B56BC2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706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97" name="Oval 94">
              <a:extLst>
                <a:ext uri="{FF2B5EF4-FFF2-40B4-BE49-F238E27FC236}">
                  <a16:creationId xmlns:a16="http://schemas.microsoft.com/office/drawing/2014/main" id="{BFA02C6A-1E51-4FE7-AC1D-1850AB898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434"/>
              <a:ext cx="91" cy="91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0271" name="Oval 95">
            <a:extLst>
              <a:ext uri="{FF2B5EF4-FFF2-40B4-BE49-F238E27FC236}">
                <a16:creationId xmlns:a16="http://schemas.microsoft.com/office/drawing/2014/main" id="{1F99E00B-FA6F-48C2-A102-70B76F335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4371975"/>
            <a:ext cx="144463" cy="144463"/>
          </a:xfrm>
          <a:prstGeom prst="ellipse">
            <a:avLst/>
          </a:prstGeom>
          <a:solidFill>
            <a:schemeClr val="bg1"/>
          </a:solidFill>
          <a:ln w="3175">
            <a:solidFill>
              <a:srgbClr val="FFFFFF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0273" name="Line 97">
            <a:extLst>
              <a:ext uri="{FF2B5EF4-FFF2-40B4-BE49-F238E27FC236}">
                <a16:creationId xmlns:a16="http://schemas.microsoft.com/office/drawing/2014/main" id="{180093B0-14DD-4B51-883A-C63CE502AC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76575" y="4516438"/>
            <a:ext cx="215900" cy="57626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75" name="Freeform 99">
            <a:extLst>
              <a:ext uri="{FF2B5EF4-FFF2-40B4-BE49-F238E27FC236}">
                <a16:creationId xmlns:a16="http://schemas.microsoft.com/office/drawing/2014/main" id="{CB29542D-4B72-4E52-ACB9-4C111DC3F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3292475"/>
            <a:ext cx="3384550" cy="1439863"/>
          </a:xfrm>
          <a:custGeom>
            <a:avLst/>
            <a:gdLst>
              <a:gd name="T0" fmla="*/ 2147483646 w 2132"/>
              <a:gd name="T1" fmla="*/ 2147483646 h 907"/>
              <a:gd name="T2" fmla="*/ 2147483646 w 2132"/>
              <a:gd name="T3" fmla="*/ 2147483646 h 907"/>
              <a:gd name="T4" fmla="*/ 0 w 2132"/>
              <a:gd name="T5" fmla="*/ 2147483646 h 907"/>
              <a:gd name="T6" fmla="*/ 2147483646 w 2132"/>
              <a:gd name="T7" fmla="*/ 2147483646 h 907"/>
              <a:gd name="T8" fmla="*/ 2147483646 w 2132"/>
              <a:gd name="T9" fmla="*/ 2147483646 h 907"/>
              <a:gd name="T10" fmla="*/ 2147483646 w 2132"/>
              <a:gd name="T11" fmla="*/ 2147483646 h 907"/>
              <a:gd name="T12" fmla="*/ 2147483646 w 2132"/>
              <a:gd name="T13" fmla="*/ 2147483646 h 907"/>
              <a:gd name="T14" fmla="*/ 2147483646 w 2132"/>
              <a:gd name="T15" fmla="*/ 2147483646 h 907"/>
              <a:gd name="T16" fmla="*/ 2147483646 w 2132"/>
              <a:gd name="T17" fmla="*/ 2147483646 h 907"/>
              <a:gd name="T18" fmla="*/ 2147483646 w 2132"/>
              <a:gd name="T19" fmla="*/ 2147483646 h 907"/>
              <a:gd name="T20" fmla="*/ 2147483646 w 2132"/>
              <a:gd name="T21" fmla="*/ 0 h 907"/>
              <a:gd name="T22" fmla="*/ 2147483646 w 2132"/>
              <a:gd name="T23" fmla="*/ 2147483646 h 907"/>
              <a:gd name="T24" fmla="*/ 2147483646 w 2132"/>
              <a:gd name="T25" fmla="*/ 2147483646 h 907"/>
              <a:gd name="T26" fmla="*/ 2147483646 w 2132"/>
              <a:gd name="T27" fmla="*/ 2147483646 h 907"/>
              <a:gd name="T28" fmla="*/ 2147483646 w 2132"/>
              <a:gd name="T29" fmla="*/ 2147483646 h 907"/>
              <a:gd name="T30" fmla="*/ 2147483646 w 2132"/>
              <a:gd name="T31" fmla="*/ 2147483646 h 907"/>
              <a:gd name="T32" fmla="*/ 2147483646 w 2132"/>
              <a:gd name="T33" fmla="*/ 2147483646 h 907"/>
              <a:gd name="T34" fmla="*/ 2147483646 w 2132"/>
              <a:gd name="T35" fmla="*/ 2147483646 h 907"/>
              <a:gd name="T36" fmla="*/ 2147483646 w 2132"/>
              <a:gd name="T37" fmla="*/ 2147483646 h 907"/>
              <a:gd name="T38" fmla="*/ 2147483646 w 2132"/>
              <a:gd name="T39" fmla="*/ 2147483646 h 907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132"/>
              <a:gd name="T61" fmla="*/ 0 h 907"/>
              <a:gd name="T62" fmla="*/ 2132 w 2132"/>
              <a:gd name="T63" fmla="*/ 907 h 907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132" h="907">
                <a:moveTo>
                  <a:pt x="42" y="716"/>
                </a:moveTo>
                <a:cubicBezTo>
                  <a:pt x="43" y="704"/>
                  <a:pt x="46" y="680"/>
                  <a:pt x="46" y="680"/>
                </a:cubicBezTo>
                <a:lnTo>
                  <a:pt x="0" y="136"/>
                </a:lnTo>
                <a:lnTo>
                  <a:pt x="454" y="408"/>
                </a:lnTo>
                <a:lnTo>
                  <a:pt x="998" y="363"/>
                </a:lnTo>
                <a:lnTo>
                  <a:pt x="998" y="635"/>
                </a:lnTo>
                <a:lnTo>
                  <a:pt x="726" y="816"/>
                </a:lnTo>
                <a:lnTo>
                  <a:pt x="635" y="726"/>
                </a:lnTo>
                <a:lnTo>
                  <a:pt x="545" y="136"/>
                </a:lnTo>
                <a:lnTo>
                  <a:pt x="862" y="544"/>
                </a:lnTo>
                <a:lnTo>
                  <a:pt x="998" y="0"/>
                </a:lnTo>
                <a:lnTo>
                  <a:pt x="1270" y="227"/>
                </a:lnTo>
                <a:lnTo>
                  <a:pt x="1452" y="635"/>
                </a:lnTo>
                <a:lnTo>
                  <a:pt x="1860" y="907"/>
                </a:lnTo>
                <a:lnTo>
                  <a:pt x="2087" y="816"/>
                </a:lnTo>
                <a:lnTo>
                  <a:pt x="1724" y="91"/>
                </a:lnTo>
                <a:lnTo>
                  <a:pt x="2041" y="317"/>
                </a:lnTo>
                <a:lnTo>
                  <a:pt x="1815" y="590"/>
                </a:lnTo>
                <a:lnTo>
                  <a:pt x="1633" y="408"/>
                </a:lnTo>
                <a:lnTo>
                  <a:pt x="2132" y="91"/>
                </a:lnTo>
              </a:path>
            </a:pathLst>
          </a:custGeom>
          <a:noFill/>
          <a:ln w="9525">
            <a:solidFill>
              <a:srgbClr val="00FFFF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" name="Text Box 7">
            <a:extLst>
              <a:ext uri="{FF2B5EF4-FFF2-40B4-BE49-F238E27FC236}">
                <a16:creationId xmlns:a16="http://schemas.microsoft.com/office/drawing/2014/main" id="{B8926FAF-3410-4443-BE0F-5D045526B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643563"/>
            <a:ext cx="5643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个别分子间的碰撞是偶然事件</a:t>
            </a:r>
          </a:p>
        </p:txBody>
      </p:sp>
      <p:sp>
        <p:nvSpPr>
          <p:cNvPr id="53" name="Text Box 24">
            <a:extLst>
              <a:ext uri="{FF2B5EF4-FFF2-40B4-BE49-F238E27FC236}">
                <a16:creationId xmlns:a16="http://schemas.microsoft.com/office/drawing/2014/main" id="{791A3D76-696B-4EF3-8677-31A363824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6075363"/>
            <a:ext cx="704373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000">
                <a:solidFill>
                  <a:schemeClr val="bg1"/>
                </a:solidFill>
                <a:ea typeface="华文中宋" panose="02010600040101010101" pitchFamily="2" charset="-122"/>
              </a:rPr>
              <a:t>大量分子间的碰撞却遵从着</a:t>
            </a:r>
            <a:r>
              <a:rPr lang="zh-CN" altLang="en-US" sz="2000">
                <a:solidFill>
                  <a:srgbClr val="FFFF66"/>
                </a:solidFill>
                <a:ea typeface="华文中宋" panose="02010600040101010101" pitchFamily="2" charset="-122"/>
              </a:rPr>
              <a:t>确定的统计规律</a:t>
            </a:r>
            <a:endParaRPr lang="zh-CN" altLang="en-US" sz="2000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B6DCFC57-2F98-47ED-8F87-7C4CF0A75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0350"/>
            <a:ext cx="6207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FF00"/>
                </a:solidFill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solidFill>
                  <a:srgbClr val="00FF00"/>
                </a:solidFill>
              </a:rPr>
              <a:t>12.10   </a:t>
            </a:r>
            <a:r>
              <a:rPr lang="zh-CN" altLang="en-US" sz="3200" dirty="0">
                <a:solidFill>
                  <a:srgbClr val="00FF00"/>
                </a:solidFill>
                <a:ea typeface="黑体" panose="02010609060101010101" pitchFamily="49" charset="-122"/>
              </a:rPr>
              <a:t>气体分子的</a:t>
            </a:r>
            <a:r>
              <a:rPr lang="zh-CN" altLang="en-US" sz="3200" u="sng" dirty="0">
                <a:solidFill>
                  <a:srgbClr val="00FF00"/>
                </a:solidFill>
                <a:ea typeface="黑体" panose="02010609060101010101" pitchFamily="49" charset="-122"/>
              </a:rPr>
              <a:t>平均自由程</a:t>
            </a: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04A8B7C0-025C-476B-A2B4-1169E4DE7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92868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</a:t>
            </a:r>
            <a:r>
              <a:rPr lang="zh-CN" altLang="en-US" sz="2800">
                <a:solidFill>
                  <a:srgbClr val="FFFF00"/>
                </a:solidFill>
              </a:rPr>
              <a:t>分子的</a:t>
            </a:r>
            <a:r>
              <a:rPr lang="zh-CN" altLang="en-US" sz="2800" u="sng">
                <a:solidFill>
                  <a:srgbClr val="FFFF00"/>
                </a:solidFill>
              </a:rPr>
              <a:t>平均碰撞频率</a:t>
            </a:r>
          </a:p>
        </p:txBody>
      </p:sp>
      <p:sp>
        <p:nvSpPr>
          <p:cNvPr id="56" name="灯片编号占位符 1">
            <a:extLst>
              <a:ext uri="{FF2B5EF4-FFF2-40B4-BE49-F238E27FC236}">
                <a16:creationId xmlns:a16="http://schemas.microsoft.com/office/drawing/2014/main" id="{D7A4A546-EF91-43D7-BB7A-A15740531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5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0" presetClass="pat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018 0.00023 L -0.00781 -0.13618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0" presetClass="path" presetSubtype="0" repeatCount="indefinite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781 -0.13618 L 0.07101 -0.07329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0" presetClass="path" presetSubtype="0" repeatCount="indefinite" fill="hold" grpId="3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7101 -0.07329 L 0.16546 -0.0837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0" presetClass="path" presetSubtype="0" repeatCount="indefinite" fill="hold" grpId="4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6546 -0.0837 L 0.16546 -0.02081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0" presetClass="path" presetSubtype="0" repeatCount="indefinite" fill="hold" grpId="5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6546 -0.0208 L 0.11823 0.02128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0" presetClass="path" presetSubtype="0" repeatCount="indefinite" fill="hold" grpId="6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1823 0.02129 L 0.10244 0.00023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800" y="-1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0" presetClass="pat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44 0.00023 L 0.08664 -0.13635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800" y="-6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2" presetID="0" presetClass="path" presetSubtype="0" repeatCount="indefinite" fill="hold" grpId="8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8664 -0.13618 L 0.14185 -0.04185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2800" y="4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0" presetClass="path" presetSubtype="0" repeatCount="indefinite" fill="hold" grpId="9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4011 -0.02775 L 0.16372 -0.16416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200" y="-6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8" presetID="0" presetClass="path" presetSubtype="0" repeatCount="indefinite" fill="hold" grpId="1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16372 -0.16436 L 0.21094 -0.11181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0" presetClass="path" presetSubtype="0" repeatCount="indefinite" fill="hold" grpId="1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21094 -0.11181 L 0.24254 -0.02778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4" presetID="0" presetClass="path" presetSubtype="0" repeatCount="indefinite" fill="hold" grpId="1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24254 -0.02778 L 0.32118 0.045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7" presetID="0" presetClass="path" presetSubtype="0" repeatCount="indefinite" fill="hold" grpId="13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32118 0.0456 L 0.35278 0.0247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0" presetID="0" presetClass="path" presetSubtype="0" repeatCount="indefinite" fill="hold" grpId="14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35244 0.0155 L 0.29723 -0.13149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2800" y="-7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3" presetID="0" presetClass="path" presetSubtype="0" repeatCount="indefinite" fill="hold" grpId="15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29723 -0.13149 L 0.34445 -0.08959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6" presetID="0" presetClass="path" presetSubtype="0" repeatCount="indefinite" fill="hold" grpId="16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34445 -0.08959 L 0.31303 -0.03704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9" presetID="0" presetClass="path" presetSubtype="0" repeatCount="indefinite" fill="hold" grpId="17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31303 -0.03704 L 0.28143 -0.07917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2" presetID="0" presetClass="path" presetSubtype="0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778 -0.07917 L 0.36441 -0.15255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502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4300" y="-3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4" grpId="0" animBg="1"/>
      <p:bldP spid="50191" grpId="0"/>
      <p:bldP spid="50271" grpId="0" animBg="1"/>
      <p:bldP spid="50271" grpId="1" animBg="1"/>
      <p:bldP spid="50271" grpId="2" animBg="1"/>
      <p:bldP spid="50271" grpId="3" animBg="1"/>
      <p:bldP spid="50271" grpId="4" animBg="1"/>
      <p:bldP spid="50271" grpId="5" animBg="1"/>
      <p:bldP spid="50271" grpId="6" animBg="1"/>
      <p:bldP spid="50271" grpId="7" animBg="1"/>
      <p:bldP spid="50271" grpId="8" animBg="1"/>
      <p:bldP spid="50271" grpId="9" animBg="1"/>
      <p:bldP spid="50271" grpId="10" animBg="1"/>
      <p:bldP spid="50271" grpId="11" animBg="1"/>
      <p:bldP spid="50271" grpId="12" animBg="1"/>
      <p:bldP spid="50271" grpId="13" animBg="1"/>
      <p:bldP spid="50271" grpId="14" animBg="1"/>
      <p:bldP spid="50271" grpId="15" animBg="1"/>
      <p:bldP spid="50271" grpId="16" animBg="1"/>
      <p:bldP spid="50271" grpId="17" animBg="1"/>
      <p:bldP spid="50271" grpId="18" animBg="1"/>
      <p:bldP spid="52" grpId="0"/>
      <p:bldP spid="53" grpId="0"/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05" name="Oval 33">
            <a:extLst>
              <a:ext uri="{FF2B5EF4-FFF2-40B4-BE49-F238E27FC236}">
                <a16:creationId xmlns:a16="http://schemas.microsoft.com/office/drawing/2014/main" id="{74A6AAD5-E5C4-4270-B90F-3183285C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988" y="1474788"/>
            <a:ext cx="273050" cy="27305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277" name="Oval 5">
            <a:extLst>
              <a:ext uri="{FF2B5EF4-FFF2-40B4-BE49-F238E27FC236}">
                <a16:creationId xmlns:a16="http://schemas.microsoft.com/office/drawing/2014/main" id="{EB80E47B-A936-41E8-89D2-9CE1DFD84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1214438"/>
            <a:ext cx="820738" cy="820737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297" name="Text Box 25">
            <a:extLst>
              <a:ext uri="{FF2B5EF4-FFF2-40B4-BE49-F238E27FC236}">
                <a16:creationId xmlns:a16="http://schemas.microsoft.com/office/drawing/2014/main" id="{B5298E08-2CD5-4C33-81BB-5E57EBF03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435475"/>
            <a:ext cx="2514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FFFF"/>
                </a:solidFill>
              </a:rPr>
              <a:t>3. </a:t>
            </a:r>
            <a:r>
              <a:rPr lang="zh-CN" altLang="en-US">
                <a:solidFill>
                  <a:srgbClr val="00FFFF"/>
                </a:solidFill>
              </a:rPr>
              <a:t>平均碰撞频率</a:t>
            </a:r>
          </a:p>
        </p:txBody>
      </p:sp>
      <p:sp>
        <p:nvSpPr>
          <p:cNvPr id="54298" name="Text Box 26">
            <a:extLst>
              <a:ext uri="{FF2B5EF4-FFF2-40B4-BE49-F238E27FC236}">
                <a16:creationId xmlns:a16="http://schemas.microsoft.com/office/drawing/2014/main" id="{BE1663F4-3AD9-47F6-9EB5-1E01856BF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000125"/>
            <a:ext cx="55721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b="0">
                <a:solidFill>
                  <a:schemeClr val="bg1"/>
                </a:solidFill>
                <a:ea typeface="华文中宋" panose="02010600040101010101" pitchFamily="2" charset="-122"/>
              </a:rPr>
              <a:t>分子碰撞模型：分子是直径为     的刚性小球，分子间碰撞为完全弹性碰撞。</a:t>
            </a:r>
          </a:p>
        </p:txBody>
      </p:sp>
      <p:sp>
        <p:nvSpPr>
          <p:cNvPr id="54301" name="Text Box 29">
            <a:extLst>
              <a:ext uri="{FF2B5EF4-FFF2-40B4-BE49-F238E27FC236}">
                <a16:creationId xmlns:a16="http://schemas.microsoft.com/office/drawing/2014/main" id="{4ABA6BD9-7320-41E2-8530-48721EFA2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28625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0FFFF"/>
                </a:solidFill>
              </a:rPr>
              <a:t>. </a:t>
            </a:r>
            <a:r>
              <a:rPr lang="zh-CN" altLang="en-US">
                <a:solidFill>
                  <a:srgbClr val="00FFFF"/>
                </a:solidFill>
                <a:latin typeface="宋体" panose="02010600030101010101" pitchFamily="2" charset="-122"/>
              </a:rPr>
              <a:t>分子的有效直径</a:t>
            </a:r>
          </a:p>
        </p:txBody>
      </p:sp>
      <p:sp>
        <p:nvSpPr>
          <p:cNvPr id="54302" name="Text Box 30">
            <a:extLst>
              <a:ext uri="{FF2B5EF4-FFF2-40B4-BE49-F238E27FC236}">
                <a16:creationId xmlns:a16="http://schemas.microsoft.com/office/drawing/2014/main" id="{B3808641-3E19-4DFC-9B17-1F153C7FC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357563"/>
            <a:ext cx="2633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FFFF"/>
                </a:solidFill>
              </a:rPr>
              <a:t>2. </a:t>
            </a:r>
            <a:r>
              <a:rPr lang="zh-CN" altLang="en-US" dirty="0">
                <a:solidFill>
                  <a:srgbClr val="00FFFF"/>
                </a:solidFill>
              </a:rPr>
              <a:t>分子的碰撞截面</a:t>
            </a:r>
          </a:p>
        </p:txBody>
      </p:sp>
      <p:graphicFrame>
        <p:nvGraphicFramePr>
          <p:cNvPr id="54303" name="Object 3">
            <a:extLst>
              <a:ext uri="{FF2B5EF4-FFF2-40B4-BE49-F238E27FC236}">
                <a16:creationId xmlns:a16="http://schemas.microsoft.com/office/drawing/2014/main" id="{DC7C49E5-6332-4EA0-8060-B1FEB243C92F}"/>
              </a:ext>
            </a:extLst>
          </p:cNvPr>
          <p:cNvGraphicFramePr>
            <a:graphicFrameLocks/>
          </p:cNvGraphicFramePr>
          <p:nvPr/>
        </p:nvGraphicFramePr>
        <p:xfrm>
          <a:off x="2878138" y="425450"/>
          <a:ext cx="3381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7" r:id="rId3" imgW="85629" imgH="123689" progId="Equation.3">
                  <p:embed/>
                </p:oleObj>
              </mc:Choice>
              <mc:Fallback>
                <p:oleObj r:id="rId3" imgW="85629" imgH="123689" progId="Equation.3">
                  <p:embed/>
                  <p:pic>
                    <p:nvPicPr>
                      <p:cNvPr id="54303" name="Object 3">
                        <a:extLst>
                          <a:ext uri="{FF2B5EF4-FFF2-40B4-BE49-F238E27FC236}">
                            <a16:creationId xmlns:a16="http://schemas.microsoft.com/office/drawing/2014/main" id="{DC7C49E5-6332-4EA0-8060-B1FEB243C92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425450"/>
                        <a:ext cx="3381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4" name="Object 4">
            <a:extLst>
              <a:ext uri="{FF2B5EF4-FFF2-40B4-BE49-F238E27FC236}">
                <a16:creationId xmlns:a16="http://schemas.microsoft.com/office/drawing/2014/main" id="{A553DCEE-969E-4945-8EC1-3939B5158C51}"/>
              </a:ext>
            </a:extLst>
          </p:cNvPr>
          <p:cNvGraphicFramePr>
            <a:graphicFrameLocks/>
          </p:cNvGraphicFramePr>
          <p:nvPr/>
        </p:nvGraphicFramePr>
        <p:xfrm>
          <a:off x="4786313" y="1214438"/>
          <a:ext cx="2286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8" r:id="rId5" imgW="171565" imgH="219211" progId="Equation.3">
                  <p:embed/>
                </p:oleObj>
              </mc:Choice>
              <mc:Fallback>
                <p:oleObj r:id="rId5" imgW="171565" imgH="219211" progId="Equation.3">
                  <p:embed/>
                  <p:pic>
                    <p:nvPicPr>
                      <p:cNvPr id="54304" name="Object 4">
                        <a:extLst>
                          <a:ext uri="{FF2B5EF4-FFF2-40B4-BE49-F238E27FC236}">
                            <a16:creationId xmlns:a16="http://schemas.microsoft.com/office/drawing/2014/main" id="{A553DCEE-969E-4945-8EC1-3939B5158C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1214438"/>
                        <a:ext cx="228600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6" name="Oval 34">
            <a:extLst>
              <a:ext uri="{FF2B5EF4-FFF2-40B4-BE49-F238E27FC236}">
                <a16:creationId xmlns:a16="http://schemas.microsoft.com/office/drawing/2014/main" id="{438A820B-57C4-494D-9EE9-47F3B7543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1474788"/>
            <a:ext cx="273050" cy="27305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307" name="Oval 35">
            <a:extLst>
              <a:ext uri="{FF2B5EF4-FFF2-40B4-BE49-F238E27FC236}">
                <a16:creationId xmlns:a16="http://schemas.microsoft.com/office/drawing/2014/main" id="{82EBF7E6-EC61-4CE4-9949-BEFB97612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668338"/>
            <a:ext cx="273050" cy="27305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308" name="Oval 36">
            <a:extLst>
              <a:ext uri="{FF2B5EF4-FFF2-40B4-BE49-F238E27FC236}">
                <a16:creationId xmlns:a16="http://schemas.microsoft.com/office/drawing/2014/main" id="{C30279AD-2E4C-4692-BF8F-DE1C850F9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2312988"/>
            <a:ext cx="273050" cy="27305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309" name="Oval 37">
            <a:extLst>
              <a:ext uri="{FF2B5EF4-FFF2-40B4-BE49-F238E27FC236}">
                <a16:creationId xmlns:a16="http://schemas.microsoft.com/office/drawing/2014/main" id="{B904B617-FA81-46DE-A759-AB40B806B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1474788"/>
            <a:ext cx="273050" cy="27305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310" name="Line 38">
            <a:extLst>
              <a:ext uri="{FF2B5EF4-FFF2-40B4-BE49-F238E27FC236}">
                <a16:creationId xmlns:a16="http://schemas.microsoft.com/office/drawing/2014/main" id="{5C816968-D502-448F-8335-77CCBB714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0450" y="1595438"/>
            <a:ext cx="0" cy="838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4311" name="Object 5">
            <a:extLst>
              <a:ext uri="{FF2B5EF4-FFF2-40B4-BE49-F238E27FC236}">
                <a16:creationId xmlns:a16="http://schemas.microsoft.com/office/drawing/2014/main" id="{5175016A-DA48-4DF2-A612-30339DD7161D}"/>
              </a:ext>
            </a:extLst>
          </p:cNvPr>
          <p:cNvGraphicFramePr>
            <a:graphicFrameLocks/>
          </p:cNvGraphicFramePr>
          <p:nvPr/>
        </p:nvGraphicFramePr>
        <p:xfrm>
          <a:off x="7586663" y="1976438"/>
          <a:ext cx="3381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9" r:id="rId7" imgW="85629" imgH="123689" progId="Equation.3">
                  <p:embed/>
                </p:oleObj>
              </mc:Choice>
              <mc:Fallback>
                <p:oleObj r:id="rId7" imgW="85629" imgH="123689" progId="Equation.3">
                  <p:embed/>
                  <p:pic>
                    <p:nvPicPr>
                      <p:cNvPr id="54311" name="Object 5">
                        <a:extLst>
                          <a:ext uri="{FF2B5EF4-FFF2-40B4-BE49-F238E27FC236}">
                            <a16:creationId xmlns:a16="http://schemas.microsoft.com/office/drawing/2014/main" id="{5175016A-DA48-4DF2-A612-30339DD716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6663" y="1976438"/>
                        <a:ext cx="3381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2" name="Object 6">
            <a:extLst>
              <a:ext uri="{FF2B5EF4-FFF2-40B4-BE49-F238E27FC236}">
                <a16:creationId xmlns:a16="http://schemas.microsoft.com/office/drawing/2014/main" id="{FD2B8974-B105-48A9-B908-D3E03A1F007E}"/>
              </a:ext>
            </a:extLst>
          </p:cNvPr>
          <p:cNvGraphicFramePr>
            <a:graphicFrameLocks/>
          </p:cNvGraphicFramePr>
          <p:nvPr/>
        </p:nvGraphicFramePr>
        <p:xfrm>
          <a:off x="744538" y="2143125"/>
          <a:ext cx="3270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0" r:id="rId9" imgW="171565" imgH="219211" progId="Equation.3">
                  <p:embed/>
                </p:oleObj>
              </mc:Choice>
              <mc:Fallback>
                <p:oleObj r:id="rId9" imgW="171565" imgH="219211" progId="Equation.3">
                  <p:embed/>
                  <p:pic>
                    <p:nvPicPr>
                      <p:cNvPr id="54312" name="Object 6">
                        <a:extLst>
                          <a:ext uri="{FF2B5EF4-FFF2-40B4-BE49-F238E27FC236}">
                            <a16:creationId xmlns:a16="http://schemas.microsoft.com/office/drawing/2014/main" id="{FD2B8974-B105-48A9-B908-D3E03A1F00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2143125"/>
                        <a:ext cx="3270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3" name="Text Box 41">
            <a:extLst>
              <a:ext uri="{FF2B5EF4-FFF2-40B4-BE49-F238E27FC236}">
                <a16:creationId xmlns:a16="http://schemas.microsoft.com/office/drawing/2014/main" id="{8030D4AF-EC3A-4EFA-9980-02DBE45CE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071688"/>
            <a:ext cx="6340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b="0" dirty="0">
                <a:solidFill>
                  <a:schemeClr val="bg1"/>
                </a:solidFill>
                <a:ea typeface="华文中宋" panose="02010600040101010101" pitchFamily="2" charset="-122"/>
              </a:rPr>
              <a:t>定义：</a:t>
            </a:r>
            <a:endParaRPr lang="en-US" altLang="zh-CN" b="0" dirty="0">
              <a:solidFill>
                <a:schemeClr val="bg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 b="0" dirty="0">
                <a:solidFill>
                  <a:schemeClr val="bg1"/>
                </a:solidFill>
                <a:ea typeface="华文中宋" panose="02010600040101010101" pitchFamily="2" charset="-122"/>
              </a:rPr>
              <a:t>碰撞过程中两个分子质心间最小距离的平均值</a:t>
            </a:r>
          </a:p>
        </p:txBody>
      </p:sp>
      <p:graphicFrame>
        <p:nvGraphicFramePr>
          <p:cNvPr id="54314" name="Object 7">
            <a:extLst>
              <a:ext uri="{FF2B5EF4-FFF2-40B4-BE49-F238E27FC236}">
                <a16:creationId xmlns:a16="http://schemas.microsoft.com/office/drawing/2014/main" id="{1729A46A-1A0E-4619-BC1C-5128FEDB6810}"/>
              </a:ext>
            </a:extLst>
          </p:cNvPr>
          <p:cNvGraphicFramePr>
            <a:graphicFrameLocks/>
          </p:cNvGraphicFramePr>
          <p:nvPr/>
        </p:nvGraphicFramePr>
        <p:xfrm>
          <a:off x="2530475" y="3868738"/>
          <a:ext cx="1317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1" r:id="rId11" imgW="485641" imgH="142977" progId="Equation.3">
                  <p:embed/>
                </p:oleObj>
              </mc:Choice>
              <mc:Fallback>
                <p:oleObj r:id="rId11" imgW="485641" imgH="142977" progId="Equation.3">
                  <p:embed/>
                  <p:pic>
                    <p:nvPicPr>
                      <p:cNvPr id="54314" name="Object 7">
                        <a:extLst>
                          <a:ext uri="{FF2B5EF4-FFF2-40B4-BE49-F238E27FC236}">
                            <a16:creationId xmlns:a16="http://schemas.microsoft.com/office/drawing/2014/main" id="{1729A46A-1A0E-4619-BC1C-5128FEDB68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3868738"/>
                        <a:ext cx="13176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5" name="Object 8">
            <a:extLst>
              <a:ext uri="{FF2B5EF4-FFF2-40B4-BE49-F238E27FC236}">
                <a16:creationId xmlns:a16="http://schemas.microsoft.com/office/drawing/2014/main" id="{6D12299C-F39D-4A7B-BB2D-305AAC6E58ED}"/>
              </a:ext>
            </a:extLst>
          </p:cNvPr>
          <p:cNvGraphicFramePr>
            <a:graphicFrameLocks/>
          </p:cNvGraphicFramePr>
          <p:nvPr/>
        </p:nvGraphicFramePr>
        <p:xfrm>
          <a:off x="2603500" y="4429125"/>
          <a:ext cx="3952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2" r:id="rId13" imgW="104896" imgH="133486" progId="Equation.3">
                  <p:embed/>
                </p:oleObj>
              </mc:Choice>
              <mc:Fallback>
                <p:oleObj r:id="rId13" imgW="104896" imgH="133486" progId="Equation.3">
                  <p:embed/>
                  <p:pic>
                    <p:nvPicPr>
                      <p:cNvPr id="54315" name="Object 8">
                        <a:extLst>
                          <a:ext uri="{FF2B5EF4-FFF2-40B4-BE49-F238E27FC236}">
                            <a16:creationId xmlns:a16="http://schemas.microsoft.com/office/drawing/2014/main" id="{6D12299C-F39D-4A7B-BB2D-305AAC6E58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4429125"/>
                        <a:ext cx="3952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7" name="Oval 45">
            <a:extLst>
              <a:ext uri="{FF2B5EF4-FFF2-40B4-BE49-F238E27FC236}">
                <a16:creationId xmlns:a16="http://schemas.microsoft.com/office/drawing/2014/main" id="{6C95FDE8-BDF0-475D-8CB8-491451142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0350" y="1211263"/>
            <a:ext cx="820738" cy="820737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318" name="Oval 46">
            <a:extLst>
              <a:ext uri="{FF2B5EF4-FFF2-40B4-BE49-F238E27FC236}">
                <a16:creationId xmlns:a16="http://schemas.microsoft.com/office/drawing/2014/main" id="{3D88F897-C0C1-4688-9AAE-C3C30DEE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1235075"/>
            <a:ext cx="820738" cy="820738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9900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4319" name="Oval 47">
            <a:extLst>
              <a:ext uri="{FF2B5EF4-FFF2-40B4-BE49-F238E27FC236}">
                <a16:creationId xmlns:a16="http://schemas.microsoft.com/office/drawing/2014/main" id="{5576B75A-EF55-4841-8BA4-0C890B9A9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811213"/>
            <a:ext cx="1727200" cy="1657350"/>
          </a:xfrm>
          <a:prstGeom prst="ellips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6" name="Text Box 42">
            <a:extLst>
              <a:ext uri="{FF2B5EF4-FFF2-40B4-BE49-F238E27FC236}">
                <a16:creationId xmlns:a16="http://schemas.microsoft.com/office/drawing/2014/main" id="{620675DD-7C53-494B-9433-1AE0DCC14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5011738"/>
            <a:ext cx="8113713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155825" indent="-21558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FF00"/>
                </a:solidFill>
              </a:rPr>
              <a:t>平均碰撞频率：</a:t>
            </a:r>
            <a:r>
              <a:rPr lang="zh-CN" altLang="en-US">
                <a:solidFill>
                  <a:schemeClr val="bg1"/>
                </a:solidFill>
              </a:rPr>
              <a:t>分子在单位时间内与其他分子碰撞的平均次数，用     表示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9262" name="Object 46">
            <a:extLst>
              <a:ext uri="{FF2B5EF4-FFF2-40B4-BE49-F238E27FC236}">
                <a16:creationId xmlns:a16="http://schemas.microsoft.com/office/drawing/2014/main" id="{B5E07E18-BCD6-46DD-8228-4215AFD40184}"/>
              </a:ext>
            </a:extLst>
          </p:cNvPr>
          <p:cNvGraphicFramePr>
            <a:graphicFrameLocks/>
          </p:cNvGraphicFramePr>
          <p:nvPr/>
        </p:nvGraphicFramePr>
        <p:xfrm>
          <a:off x="4214813" y="5572125"/>
          <a:ext cx="2428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3" r:id="rId15" imgW="238233" imgH="323918" progId="Equation.3">
                  <p:embed/>
                </p:oleObj>
              </mc:Choice>
              <mc:Fallback>
                <p:oleObj r:id="rId15" imgW="238233" imgH="323918" progId="Equation.3">
                  <p:embed/>
                  <p:pic>
                    <p:nvPicPr>
                      <p:cNvPr id="9262" name="Object 46">
                        <a:extLst>
                          <a:ext uri="{FF2B5EF4-FFF2-40B4-BE49-F238E27FC236}">
                            <a16:creationId xmlns:a16="http://schemas.microsoft.com/office/drawing/2014/main" id="{B5E07E18-BCD6-46DD-8228-4215AFD401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5572125"/>
                        <a:ext cx="242887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3" name="灯片编号占位符 1">
            <a:extLst>
              <a:ext uri="{FF2B5EF4-FFF2-40B4-BE49-F238E27FC236}">
                <a16:creationId xmlns:a16="http://schemas.microsoft.com/office/drawing/2014/main" id="{601F71C7-7501-42A9-9362-B992FDC1F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83A4A9-622E-4ABA-9B17-49616C931D1C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4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4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5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05" grpId="0" animBg="1"/>
      <p:bldP spid="54277" grpId="0" animBg="1"/>
      <p:bldP spid="54297" grpId="0"/>
      <p:bldP spid="54298" grpId="0"/>
      <p:bldP spid="54301" grpId="0"/>
      <p:bldP spid="54302" grpId="0"/>
      <p:bldP spid="54306" grpId="0" animBg="1"/>
      <p:bldP spid="54307" grpId="0" animBg="1"/>
      <p:bldP spid="54308" grpId="0" animBg="1"/>
      <p:bldP spid="54309" grpId="0" animBg="1"/>
      <p:bldP spid="54313" grpId="0"/>
      <p:bldP spid="54317" grpId="0" animBg="1"/>
      <p:bldP spid="54318" grpId="0" animBg="1"/>
      <p:bldP spid="54319" grpId="0" animBg="1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4">
            <a:extLst>
              <a:ext uri="{FF2B5EF4-FFF2-40B4-BE49-F238E27FC236}">
                <a16:creationId xmlns:a16="http://schemas.microsoft.com/office/drawing/2014/main" id="{CA7ABFC4-A300-4401-98BD-49508E536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291138"/>
            <a:ext cx="7889875" cy="106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>
                <a:solidFill>
                  <a:srgbClr val="FFCC66"/>
                </a:solidFill>
                <a:sym typeface="Symbol" panose="05050102010706020507" pitchFamily="18" charset="2"/>
              </a:rPr>
              <a:t></a:t>
            </a:r>
            <a:r>
              <a:rPr lang="en-US" altLang="zh-CN" i="1">
                <a:solidFill>
                  <a:srgbClr val="FFCC66"/>
                </a:solidFill>
                <a:sym typeface="Symbol" panose="05050102010706020507" pitchFamily="18" charset="2"/>
              </a:rPr>
              <a:t>t </a:t>
            </a:r>
            <a:r>
              <a:rPr lang="zh-CN" altLang="en-US">
                <a:solidFill>
                  <a:schemeClr val="bg1"/>
                </a:solidFill>
              </a:rPr>
              <a:t>时间：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分子的碰撞次数在数值上等于落入</a:t>
            </a:r>
            <a:r>
              <a:rPr lang="zh-CN" altLang="en-US">
                <a:solidFill>
                  <a:schemeClr val="bg1"/>
                </a:solidFill>
              </a:rPr>
              <a:t>曲折圆柱体内总分子数：</a:t>
            </a:r>
            <a:endParaRPr lang="zh-CN" altLang="en-US">
              <a:solidFill>
                <a:srgbClr val="00FFFF"/>
              </a:solidFill>
              <a:ea typeface="华文中宋" panose="02010600040101010101" pitchFamily="2" charset="-122"/>
            </a:endParaRPr>
          </a:p>
        </p:txBody>
      </p:sp>
      <p:sp>
        <p:nvSpPr>
          <p:cNvPr id="110679" name="Rectangle 87">
            <a:extLst>
              <a:ext uri="{FF2B5EF4-FFF2-40B4-BE49-F238E27FC236}">
                <a16:creationId xmlns:a16="http://schemas.microsoft.com/office/drawing/2014/main" id="{26E5E15B-A5EF-4641-A382-AB7AB184E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060575"/>
            <a:ext cx="4537075" cy="2447925"/>
          </a:xfrm>
          <a:prstGeom prst="rect">
            <a:avLst/>
          </a:prstGeom>
          <a:solidFill>
            <a:srgbClr val="17C2FF">
              <a:alpha val="20000"/>
            </a:srgbClr>
          </a:solidFill>
          <a:ln w="19050">
            <a:solidFill>
              <a:srgbClr val="FFFFFF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196" name="Rectangle 11">
            <a:extLst>
              <a:ext uri="{FF2B5EF4-FFF2-40B4-BE49-F238E27FC236}">
                <a16:creationId xmlns:a16="http://schemas.microsoft.com/office/drawing/2014/main" id="{5E86F843-7FC9-440B-943C-F4F4B7758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197" name="Rectangle 18">
            <a:extLst>
              <a:ext uri="{FF2B5EF4-FFF2-40B4-BE49-F238E27FC236}">
                <a16:creationId xmlns:a16="http://schemas.microsoft.com/office/drawing/2014/main" id="{5B71C411-10B4-4D37-9FA7-2FD425FD6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0605" name="Text Box 13">
            <a:extLst>
              <a:ext uri="{FF2B5EF4-FFF2-40B4-BE49-F238E27FC236}">
                <a16:creationId xmlns:a16="http://schemas.microsoft.com/office/drawing/2014/main" id="{DD8FF360-1A5E-490D-8770-C6724356F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72025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66"/>
                </a:solidFill>
                <a:sym typeface="Symbol" panose="05050102010706020507" pitchFamily="18" charset="2"/>
              </a:rPr>
              <a:t></a:t>
            </a:r>
            <a:r>
              <a:rPr lang="en-US" altLang="zh-CN" i="1">
                <a:solidFill>
                  <a:srgbClr val="FFCC66"/>
                </a:solidFill>
                <a:sym typeface="Symbol" panose="05050102010706020507" pitchFamily="18" charset="2"/>
              </a:rPr>
              <a:t>t </a:t>
            </a:r>
            <a:r>
              <a:rPr lang="zh-CN" altLang="en-US">
                <a:solidFill>
                  <a:schemeClr val="bg1"/>
                </a:solidFill>
              </a:rPr>
              <a:t>时间内路程：</a:t>
            </a:r>
            <a:r>
              <a:rPr lang="zh-CN" altLang="en-US" b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10609" name="Object 3">
            <a:extLst>
              <a:ext uri="{FF2B5EF4-FFF2-40B4-BE49-F238E27FC236}">
                <a16:creationId xmlns:a16="http://schemas.microsoft.com/office/drawing/2014/main" id="{ADE714A4-A88B-4311-A6C3-D8D07466E9CA}"/>
              </a:ext>
            </a:extLst>
          </p:cNvPr>
          <p:cNvGraphicFramePr>
            <a:graphicFrameLocks/>
          </p:cNvGraphicFramePr>
          <p:nvPr/>
        </p:nvGraphicFramePr>
        <p:xfrm>
          <a:off x="2857500" y="4714875"/>
          <a:ext cx="6286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6" r:id="rId3" imgW="218967" imgH="161959" progId="Equation.3">
                  <p:embed/>
                </p:oleObj>
              </mc:Choice>
              <mc:Fallback>
                <p:oleObj r:id="rId3" imgW="218967" imgH="161959" progId="Equation.3">
                  <p:embed/>
                  <p:pic>
                    <p:nvPicPr>
                      <p:cNvPr id="110609" name="Object 3">
                        <a:extLst>
                          <a:ext uri="{FF2B5EF4-FFF2-40B4-BE49-F238E27FC236}">
                            <a16:creationId xmlns:a16="http://schemas.microsoft.com/office/drawing/2014/main" id="{ADE714A4-A88B-4311-A6C3-D8D07466E9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714875"/>
                        <a:ext cx="6286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Rectangle 22">
            <a:extLst>
              <a:ext uri="{FF2B5EF4-FFF2-40B4-BE49-F238E27FC236}">
                <a16:creationId xmlns:a16="http://schemas.microsoft.com/office/drawing/2014/main" id="{D2AAD144-0EDF-45F9-9B27-CC7253353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0612" name="Text Box 20">
            <a:extLst>
              <a:ext uri="{FF2B5EF4-FFF2-40B4-BE49-F238E27FC236}">
                <a16:creationId xmlns:a16="http://schemas.microsoft.com/office/drawing/2014/main" id="{31B8DA73-89CC-488C-9ACA-BC9DD0351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313" y="4786313"/>
            <a:ext cx="403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曲折圆柱体的体积为：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graphicFrame>
        <p:nvGraphicFramePr>
          <p:cNvPr id="110613" name="Object 4">
            <a:extLst>
              <a:ext uri="{FF2B5EF4-FFF2-40B4-BE49-F238E27FC236}">
                <a16:creationId xmlns:a16="http://schemas.microsoft.com/office/drawing/2014/main" id="{524FFFF1-20C3-45A7-8A9E-5AB16F6A29C2}"/>
              </a:ext>
            </a:extLst>
          </p:cNvPr>
          <p:cNvGraphicFramePr>
            <a:graphicFrameLocks/>
          </p:cNvGraphicFramePr>
          <p:nvPr/>
        </p:nvGraphicFramePr>
        <p:xfrm>
          <a:off x="7023100" y="4740275"/>
          <a:ext cx="11207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7" r:id="rId5" imgW="466680" imgH="161959" progId="Equation.3">
                  <p:embed/>
                </p:oleObj>
              </mc:Choice>
              <mc:Fallback>
                <p:oleObj r:id="rId5" imgW="466680" imgH="161959" progId="Equation.3">
                  <p:embed/>
                  <p:pic>
                    <p:nvPicPr>
                      <p:cNvPr id="110613" name="Object 4">
                        <a:extLst>
                          <a:ext uri="{FF2B5EF4-FFF2-40B4-BE49-F238E27FC236}">
                            <a16:creationId xmlns:a16="http://schemas.microsoft.com/office/drawing/2014/main" id="{524FFFF1-20C3-45A7-8A9E-5AB16F6A29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4740275"/>
                        <a:ext cx="11207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26">
            <a:extLst>
              <a:ext uri="{FF2B5EF4-FFF2-40B4-BE49-F238E27FC236}">
                <a16:creationId xmlns:a16="http://schemas.microsoft.com/office/drawing/2014/main" id="{FF74B213-4F54-485B-AED8-0C51CA5B5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0677" name="Oval 85">
            <a:extLst>
              <a:ext uri="{FF2B5EF4-FFF2-40B4-BE49-F238E27FC236}">
                <a16:creationId xmlns:a16="http://schemas.microsoft.com/office/drawing/2014/main" id="{E830991C-6DAD-41EF-84C3-3E3B7A39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513" y="3171825"/>
            <a:ext cx="287337" cy="287338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FFFF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0684" name="Oval 92">
            <a:extLst>
              <a:ext uri="{FF2B5EF4-FFF2-40B4-BE49-F238E27FC236}">
                <a16:creationId xmlns:a16="http://schemas.microsoft.com/office/drawing/2014/main" id="{EF3B901A-CA0F-48B0-9CFD-CB7EF2AC1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170238"/>
            <a:ext cx="287338" cy="287337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FFFF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86">
            <a:extLst>
              <a:ext uri="{FF2B5EF4-FFF2-40B4-BE49-F238E27FC236}">
                <a16:creationId xmlns:a16="http://schemas.microsoft.com/office/drawing/2014/main" id="{32512740-C838-46CE-8DA6-E8C283200BA2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2133600"/>
            <a:ext cx="4418012" cy="2016125"/>
            <a:chOff x="2829" y="255"/>
            <a:chExt cx="2783" cy="1270"/>
          </a:xfrm>
        </p:grpSpPr>
        <p:grpSp>
          <p:nvGrpSpPr>
            <p:cNvPr id="8212" name="Group 83">
              <a:extLst>
                <a:ext uri="{FF2B5EF4-FFF2-40B4-BE49-F238E27FC236}">
                  <a16:creationId xmlns:a16="http://schemas.microsoft.com/office/drawing/2014/main" id="{9C84A1AA-A921-4E11-9158-6FCD75DF1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567"/>
              <a:ext cx="2414" cy="731"/>
              <a:chOff x="3198" y="567"/>
              <a:chExt cx="2414" cy="731"/>
            </a:xfrm>
          </p:grpSpPr>
          <p:sp>
            <p:nvSpPr>
              <p:cNvPr id="8236" name="Line 64">
                <a:extLst>
                  <a:ext uri="{FF2B5EF4-FFF2-40B4-BE49-F238E27FC236}">
                    <a16:creationId xmlns:a16="http://schemas.microsoft.com/office/drawing/2014/main" id="{EDE8204A-9106-47AF-964B-428594EF8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98" y="567"/>
                <a:ext cx="1088" cy="272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7" name="Line 65">
                <a:extLst>
                  <a:ext uri="{FF2B5EF4-FFF2-40B4-BE49-F238E27FC236}">
                    <a16:creationId xmlns:a16="http://schemas.microsoft.com/office/drawing/2014/main" id="{E8B043B0-16F3-4EAE-AD4D-5A8B0A23E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8" y="890"/>
                <a:ext cx="998" cy="272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8" name="Line 66">
                <a:extLst>
                  <a:ext uri="{FF2B5EF4-FFF2-40B4-BE49-F238E27FC236}">
                    <a16:creationId xmlns:a16="http://schemas.microsoft.com/office/drawing/2014/main" id="{56AA87C2-E09B-4597-81CD-BB5290250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6" y="890"/>
                <a:ext cx="363" cy="408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9" name="Line 67">
                <a:extLst>
                  <a:ext uri="{FF2B5EF4-FFF2-40B4-BE49-F238E27FC236}">
                    <a16:creationId xmlns:a16="http://schemas.microsoft.com/office/drawing/2014/main" id="{6F4678A8-038C-41AB-88BC-43D67E9DE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9" y="1298"/>
                <a:ext cx="953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0" name="Line 68">
                <a:extLst>
                  <a:ext uri="{FF2B5EF4-FFF2-40B4-BE49-F238E27FC236}">
                    <a16:creationId xmlns:a16="http://schemas.microsoft.com/office/drawing/2014/main" id="{B9FBD5C6-FCBA-427B-81DB-0E9320873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572"/>
                <a:ext cx="408" cy="454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1" name="Line 69">
                <a:extLst>
                  <a:ext uri="{FF2B5EF4-FFF2-40B4-BE49-F238E27FC236}">
                    <a16:creationId xmlns:a16="http://schemas.microsoft.com/office/drawing/2014/main" id="{73EA92D5-815A-4422-83D3-1912CE102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026"/>
                <a:ext cx="817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2" name="Line 70">
                <a:extLst>
                  <a:ext uri="{FF2B5EF4-FFF2-40B4-BE49-F238E27FC236}">
                    <a16:creationId xmlns:a16="http://schemas.microsoft.com/office/drawing/2014/main" id="{7EED92F7-8966-4578-B017-2164D08190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8" y="709"/>
                <a:ext cx="1044" cy="272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3" name="Line 71">
                <a:extLst>
                  <a:ext uri="{FF2B5EF4-FFF2-40B4-BE49-F238E27FC236}">
                    <a16:creationId xmlns:a16="http://schemas.microsoft.com/office/drawing/2014/main" id="{8C655ACA-F6A0-48EE-B196-B7BA41214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709"/>
                <a:ext cx="408" cy="453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4" name="Line 72">
                <a:extLst>
                  <a:ext uri="{FF2B5EF4-FFF2-40B4-BE49-F238E27FC236}">
                    <a16:creationId xmlns:a16="http://schemas.microsoft.com/office/drawing/2014/main" id="{F37F3767-EB83-4158-855D-A6AF8AD86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0" y="1162"/>
                <a:ext cx="862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13" name="Oval 51">
              <a:extLst>
                <a:ext uri="{FF2B5EF4-FFF2-40B4-BE49-F238E27FC236}">
                  <a16:creationId xmlns:a16="http://schemas.microsoft.com/office/drawing/2014/main" id="{911A2F34-9BE6-4D19-ADFF-D249BB729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618"/>
              <a:ext cx="181" cy="181"/>
            </a:xfrm>
            <a:prstGeom prst="ellipse">
              <a:avLst/>
            </a:prstGeom>
            <a:solidFill>
              <a:srgbClr val="FF9933">
                <a:alpha val="38039"/>
              </a:srgbClr>
            </a:solidFill>
            <a:ln w="6350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14" name="Oval 52">
              <a:extLst>
                <a:ext uri="{FF2B5EF4-FFF2-40B4-BE49-F238E27FC236}">
                  <a16:creationId xmlns:a16="http://schemas.microsoft.com/office/drawing/2014/main" id="{BCF326B3-8CA3-4D05-86DA-6650D91F4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072"/>
              <a:ext cx="181" cy="181"/>
            </a:xfrm>
            <a:prstGeom prst="ellipse">
              <a:avLst/>
            </a:prstGeom>
            <a:solidFill>
              <a:srgbClr val="FF9933">
                <a:alpha val="38039"/>
              </a:srgbClr>
            </a:solidFill>
            <a:ln w="6350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15" name="Oval 53">
              <a:extLst>
                <a:ext uri="{FF2B5EF4-FFF2-40B4-BE49-F238E27FC236}">
                  <a16:creationId xmlns:a16="http://schemas.microsoft.com/office/drawing/2014/main" id="{C9803D9F-1B1A-47D0-9793-7E7C6B96B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436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16" name="Oval 54">
              <a:extLst>
                <a:ext uri="{FF2B5EF4-FFF2-40B4-BE49-F238E27FC236}">
                  <a16:creationId xmlns:a16="http://schemas.microsoft.com/office/drawing/2014/main" id="{A3048AB9-5A27-48E1-83FF-4B187A89F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436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17" name="Oval 55">
              <a:extLst>
                <a:ext uri="{FF2B5EF4-FFF2-40B4-BE49-F238E27FC236}">
                  <a16:creationId xmlns:a16="http://schemas.microsoft.com/office/drawing/2014/main" id="{94FD91B0-1989-4B58-B9FE-2704903FC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981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18" name="Oval 56">
              <a:extLst>
                <a:ext uri="{FF2B5EF4-FFF2-40B4-BE49-F238E27FC236}">
                  <a16:creationId xmlns:a16="http://schemas.microsoft.com/office/drawing/2014/main" id="{403BB834-8AAF-42D1-987D-29BE431B1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482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19" name="Oval 57">
              <a:extLst>
                <a:ext uri="{FF2B5EF4-FFF2-40B4-BE49-F238E27FC236}">
                  <a16:creationId xmlns:a16="http://schemas.microsoft.com/office/drawing/2014/main" id="{CA64FC0F-9EF8-43B1-B74F-E91C49469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55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0" name="Oval 58">
              <a:extLst>
                <a:ext uri="{FF2B5EF4-FFF2-40B4-BE49-F238E27FC236}">
                  <a16:creationId xmlns:a16="http://schemas.microsoft.com/office/drawing/2014/main" id="{C48C3EBB-DB4D-4A1A-9A24-004E17470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207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1" name="Oval 59">
              <a:extLst>
                <a:ext uri="{FF2B5EF4-FFF2-40B4-BE49-F238E27FC236}">
                  <a16:creationId xmlns:a16="http://schemas.microsoft.com/office/drawing/2014/main" id="{28F48753-CDC6-4C78-B1F1-67CBBF3D1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026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2" name="Oval 60">
              <a:extLst>
                <a:ext uri="{FF2B5EF4-FFF2-40B4-BE49-F238E27FC236}">
                  <a16:creationId xmlns:a16="http://schemas.microsoft.com/office/drawing/2014/main" id="{17E2FACB-7C90-406E-934B-456577A18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208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3" name="Oval 61">
              <a:extLst>
                <a:ext uri="{FF2B5EF4-FFF2-40B4-BE49-F238E27FC236}">
                  <a16:creationId xmlns:a16="http://schemas.microsoft.com/office/drawing/2014/main" id="{3EA8473E-26C4-4C13-AD20-8CAD544E4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344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4" name="Oval 62">
              <a:extLst>
                <a:ext uri="{FF2B5EF4-FFF2-40B4-BE49-F238E27FC236}">
                  <a16:creationId xmlns:a16="http://schemas.microsoft.com/office/drawing/2014/main" id="{56BF5A41-4366-4ECA-8CF7-7C2D5B55D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3" y="799"/>
              <a:ext cx="181" cy="1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rgbClr val="FFFF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5" name="Oval 63">
              <a:extLst>
                <a:ext uri="{FF2B5EF4-FFF2-40B4-BE49-F238E27FC236}">
                  <a16:creationId xmlns:a16="http://schemas.microsoft.com/office/drawing/2014/main" id="{95A46569-2CC6-419D-88F1-BB5DD5279C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67447">
              <a:off x="3175" y="831"/>
              <a:ext cx="126" cy="342"/>
            </a:xfrm>
            <a:prstGeom prst="ellips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226" name="Line 73">
              <a:extLst>
                <a:ext uri="{FF2B5EF4-FFF2-40B4-BE49-F238E27FC236}">
                  <a16:creationId xmlns:a16="http://schemas.microsoft.com/office/drawing/2014/main" id="{D972870F-7BEB-4F36-9B35-79872D3B7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" y="845"/>
              <a:ext cx="181" cy="4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74">
              <a:extLst>
                <a:ext uri="{FF2B5EF4-FFF2-40B4-BE49-F238E27FC236}">
                  <a16:creationId xmlns:a16="http://schemas.microsoft.com/office/drawing/2014/main" id="{08CDE264-92A0-4ECE-9CCF-C70D4C7532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1" y="1177"/>
              <a:ext cx="192" cy="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75">
              <a:extLst>
                <a:ext uri="{FF2B5EF4-FFF2-40B4-BE49-F238E27FC236}">
                  <a16:creationId xmlns:a16="http://schemas.microsoft.com/office/drawing/2014/main" id="{98552231-168D-451B-A47D-743009BD2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1106"/>
              <a:ext cx="45" cy="18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Line 76">
              <a:extLst>
                <a:ext uri="{FF2B5EF4-FFF2-40B4-BE49-F238E27FC236}">
                  <a16:creationId xmlns:a16="http://schemas.microsoft.com/office/drawing/2014/main" id="{23BE1301-ADFF-4E6E-B22A-DA56C394D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1026"/>
              <a:ext cx="61" cy="22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Line 78">
              <a:extLst>
                <a:ext uri="{FF2B5EF4-FFF2-40B4-BE49-F238E27FC236}">
                  <a16:creationId xmlns:a16="http://schemas.microsoft.com/office/drawing/2014/main" id="{48818031-D46C-4BA3-928E-C5AF7A390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850"/>
              <a:ext cx="91" cy="36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Line 79">
              <a:extLst>
                <a:ext uri="{FF2B5EF4-FFF2-40B4-BE49-F238E27FC236}">
                  <a16:creationId xmlns:a16="http://schemas.microsoft.com/office/drawing/2014/main" id="{A3C6B2FC-894E-497C-B825-03D886B29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1207"/>
              <a:ext cx="136" cy="4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80">
              <a:extLst>
                <a:ext uri="{FF2B5EF4-FFF2-40B4-BE49-F238E27FC236}">
                  <a16:creationId xmlns:a16="http://schemas.microsoft.com/office/drawing/2014/main" id="{6D8583F8-FA69-4728-9B78-3A701D319A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9" y="1117"/>
              <a:ext cx="136" cy="4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Text Box 81">
              <a:extLst>
                <a:ext uri="{FF2B5EF4-FFF2-40B4-BE49-F238E27FC236}">
                  <a16:creationId xmlns:a16="http://schemas.microsoft.com/office/drawing/2014/main" id="{DBD92EDF-E62F-4342-99F1-A0ED0F005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" y="1071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>
                  <a:solidFill>
                    <a:srgbClr val="FF9933"/>
                  </a:solidFill>
                </a:rPr>
                <a:t>d</a:t>
              </a:r>
            </a:p>
          </p:txBody>
        </p:sp>
        <p:sp>
          <p:nvSpPr>
            <p:cNvPr id="8234" name="Text Box 82">
              <a:extLst>
                <a:ext uri="{FF2B5EF4-FFF2-40B4-BE49-F238E27FC236}">
                  <a16:creationId xmlns:a16="http://schemas.microsoft.com/office/drawing/2014/main" id="{99025305-0137-4A3D-8321-C14A101BF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91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>
                  <a:solidFill>
                    <a:srgbClr val="FF9933"/>
                  </a:solidFill>
                </a:rPr>
                <a:t>2d</a:t>
              </a:r>
            </a:p>
          </p:txBody>
        </p:sp>
        <p:sp>
          <p:nvSpPr>
            <p:cNvPr id="8235" name="Text Box 84">
              <a:extLst>
                <a:ext uri="{FF2B5EF4-FFF2-40B4-BE49-F238E27FC236}">
                  <a16:creationId xmlns:a16="http://schemas.microsoft.com/office/drawing/2014/main" id="{906D95BE-D3B0-41B4-B574-D1E12A254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699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>
                  <a:solidFill>
                    <a:srgbClr val="FF9933"/>
                  </a:solidFill>
                  <a:latin typeface="Bookman Old Style" panose="02050604050505020204" pitchFamily="18" charset="0"/>
                </a:rPr>
                <a:t>u</a:t>
              </a:r>
            </a:p>
          </p:txBody>
        </p:sp>
      </p:grpSp>
      <p:sp>
        <p:nvSpPr>
          <p:cNvPr id="110680" name="Rectangle 88">
            <a:extLst>
              <a:ext uri="{FF2B5EF4-FFF2-40B4-BE49-F238E27FC236}">
                <a16:creationId xmlns:a16="http://schemas.microsoft.com/office/drawing/2014/main" id="{408378DB-A306-4AE7-99AA-C886AC973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877888"/>
            <a:ext cx="72866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</a:rPr>
              <a:t>假定被考察的分子以平均速率    运动，而其它分子是静止不动的                                                                        </a:t>
            </a:r>
          </a:p>
        </p:txBody>
      </p:sp>
      <p:sp>
        <p:nvSpPr>
          <p:cNvPr id="110681" name="Text Box 89">
            <a:extLst>
              <a:ext uri="{FF2B5EF4-FFF2-40B4-BE49-F238E27FC236}">
                <a16:creationId xmlns:a16="http://schemas.microsoft.com/office/drawing/2014/main" id="{B5AC50BD-CAC5-4E8A-8420-5C5661E19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28613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FFFF"/>
              </a:buClr>
              <a:buSzPct val="80000"/>
            </a:pPr>
            <a:r>
              <a:rPr lang="zh-CN" altLang="en-US">
                <a:solidFill>
                  <a:srgbClr val="FFFF00"/>
                </a:solidFill>
              </a:rPr>
              <a:t>平均碰撞频率的推导</a:t>
            </a:r>
          </a:p>
        </p:txBody>
      </p:sp>
      <p:graphicFrame>
        <p:nvGraphicFramePr>
          <p:cNvPr id="110683" name="Object 5">
            <a:extLst>
              <a:ext uri="{FF2B5EF4-FFF2-40B4-BE49-F238E27FC236}">
                <a16:creationId xmlns:a16="http://schemas.microsoft.com/office/drawing/2014/main" id="{113218C7-848F-4415-818D-9DD73023D283}"/>
              </a:ext>
            </a:extLst>
          </p:cNvPr>
          <p:cNvGraphicFramePr>
            <a:graphicFrameLocks/>
          </p:cNvGraphicFramePr>
          <p:nvPr/>
        </p:nvGraphicFramePr>
        <p:xfrm>
          <a:off x="2484438" y="5857875"/>
          <a:ext cx="130016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8" r:id="rId7" imgW="542829" imgH="161959" progId="Equation.3">
                  <p:embed/>
                </p:oleObj>
              </mc:Choice>
              <mc:Fallback>
                <p:oleObj r:id="rId7" imgW="542829" imgH="161959" progId="Equation.3">
                  <p:embed/>
                  <p:pic>
                    <p:nvPicPr>
                      <p:cNvPr id="110683" name="Object 5">
                        <a:extLst>
                          <a:ext uri="{FF2B5EF4-FFF2-40B4-BE49-F238E27FC236}">
                            <a16:creationId xmlns:a16="http://schemas.microsoft.com/office/drawing/2014/main" id="{113218C7-848F-4415-818D-9DD73023D2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857875"/>
                        <a:ext cx="130016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47" name="Object 31">
            <a:extLst>
              <a:ext uri="{FF2B5EF4-FFF2-40B4-BE49-F238E27FC236}">
                <a16:creationId xmlns:a16="http://schemas.microsoft.com/office/drawing/2014/main" id="{E7FD792E-576E-41CA-B857-4498D7D41DEF}"/>
              </a:ext>
            </a:extLst>
          </p:cNvPr>
          <p:cNvGraphicFramePr>
            <a:graphicFrameLocks/>
          </p:cNvGraphicFramePr>
          <p:nvPr/>
        </p:nvGraphicFramePr>
        <p:xfrm>
          <a:off x="4857750" y="1031875"/>
          <a:ext cx="204788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29" r:id="rId9" imgW="181045" imgH="199923" progId="Equation.3">
                  <p:embed/>
                </p:oleObj>
              </mc:Choice>
              <mc:Fallback>
                <p:oleObj r:id="rId9" imgW="181045" imgH="199923" progId="Equation.3">
                  <p:embed/>
                  <p:pic>
                    <p:nvPicPr>
                      <p:cNvPr id="521247" name="Object 31">
                        <a:extLst>
                          <a:ext uri="{FF2B5EF4-FFF2-40B4-BE49-F238E27FC236}">
                            <a16:creationId xmlns:a16="http://schemas.microsoft.com/office/drawing/2014/main" id="{E7FD792E-576E-41CA-B857-4498D7D41D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1031875"/>
                        <a:ext cx="204788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灯片编号占位符 1">
            <a:extLst>
              <a:ext uri="{FF2B5EF4-FFF2-40B4-BE49-F238E27FC236}">
                <a16:creationId xmlns:a16="http://schemas.microsoft.com/office/drawing/2014/main" id="{F0A096F2-CD00-4152-9DC4-C1F536771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9.24855E-7 L 0.18125 -0.06289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0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25 -0.06289 L 0.25209 0.04185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0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08 0.04185 L 0.48733 0.04185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118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110679" grpId="0" animBg="1"/>
      <p:bldP spid="110612" grpId="0"/>
      <p:bldP spid="110677" grpId="0" animBg="1"/>
      <p:bldP spid="110677" grpId="1" animBg="1"/>
      <p:bldP spid="110677" grpId="2" animBg="1"/>
      <p:bldP spid="110677" grpId="3" animBg="1"/>
      <p:bldP spid="110677" grpId="4" animBg="1"/>
      <p:bldP spid="110684" grpId="0" animBg="1"/>
      <p:bldP spid="110680" grpId="0"/>
      <p:bldP spid="1106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7" name="Rectangle 7">
            <a:extLst>
              <a:ext uri="{FF2B5EF4-FFF2-40B4-BE49-F238E27FC236}">
                <a16:creationId xmlns:a16="http://schemas.microsoft.com/office/drawing/2014/main" id="{6431F914-B103-40CC-8263-2707301A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214438"/>
            <a:ext cx="735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考虑其他分子在运动，气体分子的平均相对速率：</a:t>
            </a:r>
          </a:p>
        </p:txBody>
      </p:sp>
      <p:sp>
        <p:nvSpPr>
          <p:cNvPr id="168971" name="Rectangle 11">
            <a:extLst>
              <a:ext uri="{FF2B5EF4-FFF2-40B4-BE49-F238E27FC236}">
                <a16:creationId xmlns:a16="http://schemas.microsoft.com/office/drawing/2014/main" id="{35496B04-C810-4E37-8DDA-CB520C8FB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0850"/>
            <a:ext cx="2532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平均碰撞频率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graphicFrame>
        <p:nvGraphicFramePr>
          <p:cNvPr id="168972" name="Object 2">
            <a:extLst>
              <a:ext uri="{FF2B5EF4-FFF2-40B4-BE49-F238E27FC236}">
                <a16:creationId xmlns:a16="http://schemas.microsoft.com/office/drawing/2014/main" id="{44FE0EA1-E42D-4E00-9435-6E95EC1BD0B8}"/>
              </a:ext>
            </a:extLst>
          </p:cNvPr>
          <p:cNvGraphicFramePr>
            <a:graphicFrameLocks/>
          </p:cNvGraphicFramePr>
          <p:nvPr/>
        </p:nvGraphicFramePr>
        <p:xfrm>
          <a:off x="2795588" y="214313"/>
          <a:ext cx="29908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55" r:id="rId3" imgW="1390561" imgH="361882" progId="Equation.3">
                  <p:embed/>
                </p:oleObj>
              </mc:Choice>
              <mc:Fallback>
                <p:oleObj r:id="rId3" imgW="1390561" imgH="361882" progId="Equation.3">
                  <p:embed/>
                  <p:pic>
                    <p:nvPicPr>
                      <p:cNvPr id="168972" name="Object 2">
                        <a:extLst>
                          <a:ext uri="{FF2B5EF4-FFF2-40B4-BE49-F238E27FC236}">
                            <a16:creationId xmlns:a16="http://schemas.microsoft.com/office/drawing/2014/main" id="{44FE0EA1-E42D-4E00-9435-6E95EC1BD0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14313"/>
                        <a:ext cx="29908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8" name="Object 3">
            <a:extLst>
              <a:ext uri="{FF2B5EF4-FFF2-40B4-BE49-F238E27FC236}">
                <a16:creationId xmlns:a16="http://schemas.microsoft.com/office/drawing/2014/main" id="{2424DAAF-C4D3-4F0C-B871-E223C3258E62}"/>
              </a:ext>
            </a:extLst>
          </p:cNvPr>
          <p:cNvGraphicFramePr>
            <a:graphicFrameLocks/>
          </p:cNvGraphicFramePr>
          <p:nvPr/>
        </p:nvGraphicFramePr>
        <p:xfrm>
          <a:off x="7429500" y="1214438"/>
          <a:ext cx="1308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56" r:id="rId5" imgW="1247743" imgH="333409" progId="Equation.3">
                  <p:embed/>
                </p:oleObj>
              </mc:Choice>
              <mc:Fallback>
                <p:oleObj r:id="rId5" imgW="1247743" imgH="333409" progId="Equation.3">
                  <p:embed/>
                  <p:pic>
                    <p:nvPicPr>
                      <p:cNvPr id="168978" name="Object 3">
                        <a:extLst>
                          <a:ext uri="{FF2B5EF4-FFF2-40B4-BE49-F238E27FC236}">
                            <a16:creationId xmlns:a16="http://schemas.microsoft.com/office/drawing/2014/main" id="{2424DAAF-C4D3-4F0C-B871-E223C3258E6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1214438"/>
                        <a:ext cx="13081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0" name="Rectangle 20">
            <a:extLst>
              <a:ext uri="{FF2B5EF4-FFF2-40B4-BE49-F238E27FC236}">
                <a16:creationId xmlns:a16="http://schemas.microsoft.com/office/drawing/2014/main" id="{7527A84D-ABBC-4585-BA5F-37FEF383A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928813"/>
            <a:ext cx="242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平均碰撞频率：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graphicFrame>
        <p:nvGraphicFramePr>
          <p:cNvPr id="168981" name="Object 4">
            <a:extLst>
              <a:ext uri="{FF2B5EF4-FFF2-40B4-BE49-F238E27FC236}">
                <a16:creationId xmlns:a16="http://schemas.microsoft.com/office/drawing/2014/main" id="{44481FB5-1663-49A4-8A96-4B85C97D7A0E}"/>
              </a:ext>
            </a:extLst>
          </p:cNvPr>
          <p:cNvGraphicFramePr>
            <a:graphicFrameLocks/>
          </p:cNvGraphicFramePr>
          <p:nvPr/>
        </p:nvGraphicFramePr>
        <p:xfrm>
          <a:off x="3175000" y="1931988"/>
          <a:ext cx="18716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57" r:id="rId7" imgW="1923910" imgH="352391" progId="Equation.3">
                  <p:embed/>
                </p:oleObj>
              </mc:Choice>
              <mc:Fallback>
                <p:oleObj r:id="rId7" imgW="1923910" imgH="352391" progId="Equation.3">
                  <p:embed/>
                  <p:pic>
                    <p:nvPicPr>
                      <p:cNvPr id="168981" name="Object 4">
                        <a:extLst>
                          <a:ext uri="{FF2B5EF4-FFF2-40B4-BE49-F238E27FC236}">
                            <a16:creationId xmlns:a16="http://schemas.microsoft.com/office/drawing/2014/main" id="{44481FB5-1663-49A4-8A96-4B85C97D7A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1931988"/>
                        <a:ext cx="1871663" cy="381000"/>
                      </a:xfrm>
                      <a:prstGeom prst="rect">
                        <a:avLst/>
                      </a:prstGeom>
                      <a:solidFill>
                        <a:srgbClr val="00FFFF">
                          <a:alpha val="20000"/>
                        </a:srgbClr>
                      </a:solidFill>
                      <a:ln w="19050">
                        <a:solidFill>
                          <a:srgbClr val="FFFFFF">
                            <a:alpha val="50195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2" name="Text Box 22">
            <a:extLst>
              <a:ext uri="{FF2B5EF4-FFF2-40B4-BE49-F238E27FC236}">
                <a16:creationId xmlns:a16="http://schemas.microsoft.com/office/drawing/2014/main" id="{4105ABAB-D0FB-4C89-950D-C156234A1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2539156"/>
            <a:ext cx="1225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accent1"/>
                </a:solidFill>
                <a:sym typeface="Wingdings" panose="05000000000000000000" pitchFamily="2" charset="2"/>
              </a:rPr>
              <a:t></a:t>
            </a:r>
            <a:r>
              <a:rPr lang="en-US" altLang="zh-CN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68983" name="Rectangle 23">
            <a:extLst>
              <a:ext uri="{FF2B5EF4-FFF2-40B4-BE49-F238E27FC236}">
                <a16:creationId xmlns:a16="http://schemas.microsoft.com/office/drawing/2014/main" id="{81A8A86F-7F04-4A6A-A30E-245386FB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069381"/>
            <a:ext cx="803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FF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</a:rPr>
              <a:t>气体单位体积中的分子数越多，分子间的碰撞越频繁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68984" name="Rectangle 24">
            <a:extLst>
              <a:ext uri="{FF2B5EF4-FFF2-40B4-BE49-F238E27FC236}">
                <a16:creationId xmlns:a16="http://schemas.microsoft.com/office/drawing/2014/main" id="{62A36C0B-DA53-4D75-92DB-BD0EEA75A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267944"/>
            <a:ext cx="763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FF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</a:rPr>
              <a:t>气体分子平均速率越大，分子间的碰撞越频繁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68985" name="Rectangle 25">
            <a:extLst>
              <a:ext uri="{FF2B5EF4-FFF2-40B4-BE49-F238E27FC236}">
                <a16:creationId xmlns:a16="http://schemas.microsoft.com/office/drawing/2014/main" id="{374E5A1F-2FB3-4EA7-9FC0-F73580FD4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691681"/>
            <a:ext cx="7316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FF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</a:rPr>
              <a:t>气体分子有效直径越大，分子间的碰撞越频繁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3FD4B7EC-785C-4142-998E-675967C2941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31888" y="5582518"/>
          <a:ext cx="25114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58" r:id="rId9" imgW="2733720" imgH="819286" progId="Equation.3">
                  <p:embed/>
                </p:oleObj>
              </mc:Choice>
              <mc:Fallback>
                <p:oleObj r:id="rId9" imgW="2733720" imgH="819286" progId="Equation.3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3FD4B7EC-785C-4142-998E-675967C294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5582518"/>
                        <a:ext cx="25114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>
            <a:extLst>
              <a:ext uri="{FF2B5EF4-FFF2-40B4-BE49-F238E27FC236}">
                <a16:creationId xmlns:a16="http://schemas.microsoft.com/office/drawing/2014/main" id="{CF5A8B61-BFC4-4364-A5D0-BAE14220B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941168"/>
            <a:ext cx="6072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用宏观量 </a:t>
            </a:r>
            <a:r>
              <a:rPr lang="en-US" altLang="zh-CN" i="1" dirty="0">
                <a:solidFill>
                  <a:srgbClr val="66FFFF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i="1" dirty="0">
                <a:solidFill>
                  <a:srgbClr val="66FFFF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i="1" dirty="0">
                <a:solidFill>
                  <a:srgbClr val="66FFFF"/>
                </a:solidFill>
                <a:ea typeface="华文中宋" panose="02010600040101010101" pitchFamily="2" charset="-122"/>
              </a:rPr>
              <a:t>T  </a:t>
            </a:r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表示的平均碰撞频率为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6B01E3F6-7783-462C-9052-50718C3EA1A7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5506318"/>
            <a:ext cx="5000625" cy="1006475"/>
            <a:chOff x="2610" y="2013"/>
            <a:chExt cx="3150" cy="634"/>
          </a:xfrm>
        </p:grpSpPr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210BD79-1342-4B77-BA06-DB86EBEBB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2013"/>
              <a:ext cx="3150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b="0">
                  <a:solidFill>
                    <a:srgbClr val="FF0000"/>
                  </a:solidFill>
                </a:rPr>
                <a:t>问题：</a:t>
              </a:r>
              <a:r>
                <a:rPr lang="zh-CN" altLang="en-US" b="0">
                  <a:solidFill>
                    <a:schemeClr val="bg1"/>
                  </a:solidFill>
                </a:rPr>
                <a:t>确定的理想气体，</a:t>
              </a:r>
              <a:r>
                <a:rPr lang="en-US" altLang="zh-CN" b="0" i="1">
                  <a:solidFill>
                    <a:srgbClr val="FFFF00"/>
                  </a:solidFill>
                </a:rPr>
                <a:t>n </a:t>
              </a:r>
              <a:r>
                <a:rPr lang="zh-CN" altLang="en-US" b="0">
                  <a:solidFill>
                    <a:schemeClr val="bg1"/>
                  </a:solidFill>
                </a:rPr>
                <a:t>一定，</a:t>
              </a:r>
              <a:endParaRPr lang="en-US" altLang="zh-CN" b="0">
                <a:solidFill>
                  <a:schemeClr val="bg1"/>
                </a:solidFill>
              </a:endParaRPr>
            </a:p>
            <a:p>
              <a:pPr eaLnBrk="1" hangingPunct="1">
                <a:lnSpc>
                  <a:spcPts val="3600"/>
                </a:lnSpc>
              </a:pPr>
              <a:r>
                <a:rPr lang="zh-CN" altLang="en-US" b="0">
                  <a:solidFill>
                    <a:schemeClr val="bg1"/>
                  </a:solidFill>
                </a:rPr>
                <a:t>压强增大时，    </a:t>
              </a:r>
              <a:r>
                <a:rPr lang="zh-CN" altLang="en-US" b="0">
                  <a:solidFill>
                    <a:srgbClr val="FF0000"/>
                  </a:solidFill>
                </a:rPr>
                <a:t>？</a:t>
              </a:r>
            </a:p>
          </p:txBody>
        </p:sp>
        <p:graphicFrame>
          <p:nvGraphicFramePr>
            <p:cNvPr id="9233" name="Object 8">
              <a:extLst>
                <a:ext uri="{FF2B5EF4-FFF2-40B4-BE49-F238E27FC236}">
                  <a16:creationId xmlns:a16="http://schemas.microsoft.com/office/drawing/2014/main" id="{98E72095-B919-43C6-BE92-E32DFC0BC11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35" y="2340"/>
            <a:ext cx="21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59" r:id="rId11" imgW="104896" imgH="133486" progId="Equation.3">
                    <p:embed/>
                  </p:oleObj>
                </mc:Choice>
                <mc:Fallback>
                  <p:oleObj r:id="rId11" imgW="104896" imgH="133486" progId="Equation.3">
                    <p:embed/>
                    <p:pic>
                      <p:nvPicPr>
                        <p:cNvPr id="9233" name="Object 8">
                          <a:extLst>
                            <a:ext uri="{FF2B5EF4-FFF2-40B4-BE49-F238E27FC236}">
                              <a16:creationId xmlns:a16="http://schemas.microsoft.com/office/drawing/2014/main" id="{98E72095-B919-43C6-BE92-E32DFC0BC11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2340"/>
                          <a:ext cx="21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14ED90D-6BE8-4FB4-BCE3-190CC5E4D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7" grpId="0"/>
      <p:bldP spid="168971" grpId="0"/>
      <p:bldP spid="168980" grpId="0"/>
      <p:bldP spid="168982" grpId="0"/>
      <p:bldP spid="168983" grpId="0"/>
      <p:bldP spid="168984" grpId="0"/>
      <p:bldP spid="168985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FF44268C-2134-4CF7-8405-FDF000188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858838"/>
            <a:ext cx="76438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00FFFF"/>
                </a:solidFill>
              </a:rPr>
              <a:t>平均自由程：</a:t>
            </a:r>
            <a:r>
              <a:rPr lang="zh-CN" altLang="en-US">
                <a:solidFill>
                  <a:schemeClr val="bg1"/>
                </a:solidFill>
              </a:rPr>
              <a:t>气体分子在连续两次碰撞之间自由运动的平均路程</a:t>
            </a:r>
          </a:p>
        </p:txBody>
      </p:sp>
      <p:graphicFrame>
        <p:nvGraphicFramePr>
          <p:cNvPr id="12291" name="Object 2">
            <a:extLst>
              <a:ext uri="{FF2B5EF4-FFF2-40B4-BE49-F238E27FC236}">
                <a16:creationId xmlns:a16="http://schemas.microsoft.com/office/drawing/2014/main" id="{DB1AC7A6-FC02-49B0-81B4-1A664A5424EF}"/>
              </a:ext>
            </a:extLst>
          </p:cNvPr>
          <p:cNvGraphicFramePr>
            <a:graphicFrameLocks/>
          </p:cNvGraphicFramePr>
          <p:nvPr/>
        </p:nvGraphicFramePr>
        <p:xfrm>
          <a:off x="1785938" y="2857500"/>
          <a:ext cx="190658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89" r:id="rId3" imgW="809504" imgH="333409" progId="Equation.3">
                  <p:embed/>
                </p:oleObj>
              </mc:Choice>
              <mc:Fallback>
                <p:oleObj r:id="rId3" imgW="809504" imgH="333409" progId="Equation.3">
                  <p:embed/>
                  <p:pic>
                    <p:nvPicPr>
                      <p:cNvPr id="12291" name="Object 2">
                        <a:extLst>
                          <a:ext uri="{FF2B5EF4-FFF2-40B4-BE49-F238E27FC236}">
                            <a16:creationId xmlns:a16="http://schemas.microsoft.com/office/drawing/2014/main" id="{DB1AC7A6-FC02-49B0-81B4-1A664A5424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857500"/>
                        <a:ext cx="190658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0">
            <a:extLst>
              <a:ext uri="{FF2B5EF4-FFF2-40B4-BE49-F238E27FC236}">
                <a16:creationId xmlns:a16="http://schemas.microsoft.com/office/drawing/2014/main" id="{46EA77E0-7871-4904-9780-56197F28C108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285750"/>
            <a:ext cx="4643438" cy="519113"/>
            <a:chOff x="428625" y="285750"/>
            <a:chExt cx="4643441" cy="519113"/>
          </a:xfrm>
        </p:grpSpPr>
        <p:sp>
          <p:nvSpPr>
            <p:cNvPr id="10259" name="Text Box 4">
              <a:extLst>
                <a:ext uri="{FF2B5EF4-FFF2-40B4-BE49-F238E27FC236}">
                  <a16:creationId xmlns:a16="http://schemas.microsoft.com/office/drawing/2014/main" id="{0032B558-AE5A-4711-8E08-62F006D79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5" y="285750"/>
              <a:ext cx="4643441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FF00"/>
                  </a:solidFill>
                </a:rPr>
                <a:t>二</a:t>
              </a:r>
              <a:r>
                <a:rPr lang="en-US" altLang="zh-CN" sz="2800">
                  <a:solidFill>
                    <a:srgbClr val="FFFF00"/>
                  </a:solidFill>
                </a:rPr>
                <a:t>. </a:t>
              </a:r>
              <a:r>
                <a:rPr lang="zh-CN" altLang="en-US" sz="2800">
                  <a:solidFill>
                    <a:srgbClr val="FFFF00"/>
                  </a:solidFill>
                </a:rPr>
                <a:t>分子的平均自由程 </a:t>
              </a:r>
            </a:p>
          </p:txBody>
        </p:sp>
        <p:graphicFrame>
          <p:nvGraphicFramePr>
            <p:cNvPr id="10260" name="Object 3">
              <a:extLst>
                <a:ext uri="{FF2B5EF4-FFF2-40B4-BE49-F238E27FC236}">
                  <a16:creationId xmlns:a16="http://schemas.microsoft.com/office/drawing/2014/main" id="{AC53383F-FA10-471E-A8EC-80B4D9F35EE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00496" y="300038"/>
            <a:ext cx="400050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190" r:id="rId5" imgW="104896" imgH="142977" progId="Equation.3">
                    <p:embed/>
                  </p:oleObj>
                </mc:Choice>
                <mc:Fallback>
                  <p:oleObj r:id="rId5" imgW="104896" imgH="142977" progId="Equation.3">
                    <p:embed/>
                    <p:pic>
                      <p:nvPicPr>
                        <p:cNvPr id="10260" name="Object 3">
                          <a:extLst>
                            <a:ext uri="{FF2B5EF4-FFF2-40B4-BE49-F238E27FC236}">
                              <a16:creationId xmlns:a16="http://schemas.microsoft.com/office/drawing/2014/main" id="{AC53383F-FA10-471E-A8EC-80B4D9F35EE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0496" y="300038"/>
                          <a:ext cx="400050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4" name="Object 4">
            <a:extLst>
              <a:ext uri="{FF2B5EF4-FFF2-40B4-BE49-F238E27FC236}">
                <a16:creationId xmlns:a16="http://schemas.microsoft.com/office/drawing/2014/main" id="{1B4788EC-C00E-4C22-9E83-EA46D21C7C88}"/>
              </a:ext>
            </a:extLst>
          </p:cNvPr>
          <p:cNvGraphicFramePr>
            <a:graphicFrameLocks/>
          </p:cNvGraphicFramePr>
          <p:nvPr/>
        </p:nvGraphicFramePr>
        <p:xfrm>
          <a:off x="6223000" y="3643313"/>
          <a:ext cx="18494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91" r:id="rId7" imgW="1771612" imgH="847759" progId="Equation.3">
                  <p:embed/>
                </p:oleObj>
              </mc:Choice>
              <mc:Fallback>
                <p:oleObj r:id="rId7" imgW="1771612" imgH="847759" progId="Equation.3">
                  <p:embed/>
                  <p:pic>
                    <p:nvPicPr>
                      <p:cNvPr id="12294" name="Object 4">
                        <a:extLst>
                          <a:ext uri="{FF2B5EF4-FFF2-40B4-BE49-F238E27FC236}">
                            <a16:creationId xmlns:a16="http://schemas.microsoft.com/office/drawing/2014/main" id="{1B4788EC-C00E-4C22-9E83-EA46D21C7C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643313"/>
                        <a:ext cx="184943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 Box 7">
            <a:extLst>
              <a:ext uri="{FF2B5EF4-FFF2-40B4-BE49-F238E27FC236}">
                <a16:creationId xmlns:a16="http://schemas.microsoft.com/office/drawing/2014/main" id="{875030C4-0DD6-4E06-98CF-CB4DCECDA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786188"/>
            <a:ext cx="721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用宏观量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zh-CN" altLang="en-US" i="1">
                <a:solidFill>
                  <a:srgbClr val="66FFFF"/>
                </a:solidFill>
              </a:rPr>
              <a:t>、</a:t>
            </a:r>
            <a:r>
              <a:rPr lang="en-US" altLang="zh-CN" i="1">
                <a:solidFill>
                  <a:srgbClr val="66FFFF"/>
                </a:solidFill>
              </a:rPr>
              <a:t>T </a:t>
            </a:r>
            <a:r>
              <a:rPr lang="zh-CN" altLang="en-US">
                <a:solidFill>
                  <a:schemeClr val="bg1"/>
                </a:solidFill>
              </a:rPr>
              <a:t>表示的分子平均自由程</a:t>
            </a:r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B668839E-F1B5-4FE7-A622-EB75C614C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5064125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2297" name="AutoShape 9">
            <a:extLst>
              <a:ext uri="{FF2B5EF4-FFF2-40B4-BE49-F238E27FC236}">
                <a16:creationId xmlns:a16="http://schemas.microsoft.com/office/drawing/2014/main" id="{CE768B5D-949D-4F61-9DBF-57FD7D225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9586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298" name="Text Box 10">
            <a:extLst>
              <a:ext uri="{FF2B5EF4-FFF2-40B4-BE49-F238E27FC236}">
                <a16:creationId xmlns:a16="http://schemas.microsoft.com/office/drawing/2014/main" id="{77578EB5-BDEE-4B4A-A59D-106A26863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5556250"/>
            <a:ext cx="7848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在标准状态下，各种气体分子的平均碰撞频率的数量级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</a:rPr>
              <a:t>约为 </a:t>
            </a:r>
            <a:r>
              <a:rPr lang="en-US" altLang="zh-CN">
                <a:solidFill>
                  <a:srgbClr val="66FFFF"/>
                </a:solidFill>
              </a:rPr>
              <a:t>10</a:t>
            </a:r>
            <a:r>
              <a:rPr lang="en-US" altLang="zh-CN" baseline="30000">
                <a:solidFill>
                  <a:srgbClr val="66FFFF"/>
                </a:solidFill>
              </a:rPr>
              <a:t>9 </a:t>
            </a:r>
            <a:r>
              <a:rPr lang="en-US" altLang="zh-CN">
                <a:solidFill>
                  <a:srgbClr val="66FFFF"/>
                </a:solidFill>
              </a:rPr>
              <a:t>s</a:t>
            </a:r>
            <a:r>
              <a:rPr lang="en-US" altLang="zh-CN" sz="2800" baseline="30000">
                <a:solidFill>
                  <a:srgbClr val="66FFFF"/>
                </a:solidFill>
              </a:rPr>
              <a:t>-</a:t>
            </a:r>
            <a:r>
              <a:rPr lang="en-US" altLang="zh-CN" baseline="30000">
                <a:solidFill>
                  <a:srgbClr val="66FFFF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，平均自由程的数量级约</a:t>
            </a:r>
            <a:r>
              <a:rPr lang="en-US" altLang="zh-CN">
                <a:solidFill>
                  <a:srgbClr val="66FFFF"/>
                </a:solidFill>
              </a:rPr>
              <a:t>10</a:t>
            </a:r>
            <a:r>
              <a:rPr lang="en-US" altLang="zh-CN" sz="2800" baseline="30000">
                <a:solidFill>
                  <a:srgbClr val="66FFFF"/>
                </a:solidFill>
              </a:rPr>
              <a:t>-</a:t>
            </a:r>
            <a:r>
              <a:rPr lang="en-US" altLang="zh-CN" baseline="30000">
                <a:solidFill>
                  <a:srgbClr val="66FFFF"/>
                </a:solidFill>
              </a:rPr>
              <a:t>7 </a:t>
            </a:r>
            <a:r>
              <a:rPr lang="en-US" altLang="zh-CN">
                <a:solidFill>
                  <a:srgbClr val="66FFFF"/>
                </a:solidFill>
              </a:rPr>
              <a:t>~ 10</a:t>
            </a:r>
            <a:r>
              <a:rPr lang="en-US" altLang="zh-CN" sz="2800" baseline="30000">
                <a:solidFill>
                  <a:srgbClr val="66FFFF"/>
                </a:solidFill>
              </a:rPr>
              <a:t>-</a:t>
            </a:r>
            <a:r>
              <a:rPr lang="en-US" altLang="zh-CN" baseline="30000">
                <a:solidFill>
                  <a:srgbClr val="66FFFF"/>
                </a:solidFill>
              </a:rPr>
              <a:t>8 </a:t>
            </a:r>
            <a:r>
              <a:rPr lang="en-US" altLang="zh-CN">
                <a:solidFill>
                  <a:srgbClr val="66FFFF"/>
                </a:solidFill>
              </a:rPr>
              <a:t>m</a:t>
            </a:r>
            <a:r>
              <a:rPr lang="zh-CN" altLang="en-US">
                <a:solidFill>
                  <a:srgbClr val="66FFFF"/>
                </a:solidFill>
              </a:rPr>
              <a:t>。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300" name="Object 5">
            <a:extLst>
              <a:ext uri="{FF2B5EF4-FFF2-40B4-BE49-F238E27FC236}">
                <a16:creationId xmlns:a16="http://schemas.microsoft.com/office/drawing/2014/main" id="{DBDEDDDA-2A48-4C80-8367-B724BBCCBA74}"/>
              </a:ext>
            </a:extLst>
          </p:cNvPr>
          <p:cNvGraphicFramePr>
            <a:graphicFrameLocks/>
          </p:cNvGraphicFramePr>
          <p:nvPr/>
        </p:nvGraphicFramePr>
        <p:xfrm>
          <a:off x="852488" y="1889125"/>
          <a:ext cx="3714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92" r:id="rId9" imgW="314382" imgH="247684" progId="Equation.3">
                  <p:embed/>
                </p:oleObj>
              </mc:Choice>
              <mc:Fallback>
                <p:oleObj r:id="rId9" imgW="314382" imgH="247684" progId="Equation.3">
                  <p:embed/>
                  <p:pic>
                    <p:nvPicPr>
                      <p:cNvPr id="12300" name="Object 5">
                        <a:extLst>
                          <a:ext uri="{FF2B5EF4-FFF2-40B4-BE49-F238E27FC236}">
                            <a16:creationId xmlns:a16="http://schemas.microsoft.com/office/drawing/2014/main" id="{DBDEDDDA-2A48-4C80-8367-B724BBCCBA7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1889125"/>
                        <a:ext cx="3714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Text Box 13">
            <a:extLst>
              <a:ext uri="{FF2B5EF4-FFF2-40B4-BE49-F238E27FC236}">
                <a16:creationId xmlns:a16="http://schemas.microsoft.com/office/drawing/2014/main" id="{48BB0797-1FDD-4277-9244-A4DC4F3C3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1817688"/>
            <a:ext cx="755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时间内，一个分子所经过平均路程         ，  </a:t>
            </a:r>
          </a:p>
        </p:txBody>
      </p:sp>
      <p:graphicFrame>
        <p:nvGraphicFramePr>
          <p:cNvPr id="12302" name="Object 6">
            <a:extLst>
              <a:ext uri="{FF2B5EF4-FFF2-40B4-BE49-F238E27FC236}">
                <a16:creationId xmlns:a16="http://schemas.microsoft.com/office/drawing/2014/main" id="{9988FA3D-5245-4114-B016-59C2537171AE}"/>
              </a:ext>
            </a:extLst>
          </p:cNvPr>
          <p:cNvGraphicFramePr>
            <a:graphicFrameLocks/>
          </p:cNvGraphicFramePr>
          <p:nvPr/>
        </p:nvGraphicFramePr>
        <p:xfrm>
          <a:off x="5900738" y="1857375"/>
          <a:ext cx="6715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93" r:id="rId11" imgW="218967" imgH="123689" progId="Equation.3">
                  <p:embed/>
                </p:oleObj>
              </mc:Choice>
              <mc:Fallback>
                <p:oleObj r:id="rId11" imgW="218967" imgH="123689" progId="Equation.3">
                  <p:embed/>
                  <p:pic>
                    <p:nvPicPr>
                      <p:cNvPr id="12302" name="Object 6">
                        <a:extLst>
                          <a:ext uri="{FF2B5EF4-FFF2-40B4-BE49-F238E27FC236}">
                            <a16:creationId xmlns:a16="http://schemas.microsoft.com/office/drawing/2014/main" id="{9988FA3D-5245-4114-B016-59C2537171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1857375"/>
                        <a:ext cx="6715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Text Box 15">
            <a:extLst>
              <a:ext uri="{FF2B5EF4-FFF2-40B4-BE49-F238E27FC236}">
                <a16:creationId xmlns:a16="http://schemas.microsoft.com/office/drawing/2014/main" id="{03C23A73-82C6-48BF-8AE4-A679F5EBC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240" y="1857375"/>
            <a:ext cx="216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与其它分子</a:t>
            </a:r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9C906DCD-D8E2-4AC1-847B-41CD3E809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2371725"/>
            <a:ext cx="346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碰撞的平均次数       </a:t>
            </a:r>
          </a:p>
        </p:txBody>
      </p:sp>
      <p:graphicFrame>
        <p:nvGraphicFramePr>
          <p:cNvPr id="12305" name="Object 7">
            <a:extLst>
              <a:ext uri="{FF2B5EF4-FFF2-40B4-BE49-F238E27FC236}">
                <a16:creationId xmlns:a16="http://schemas.microsoft.com/office/drawing/2014/main" id="{B37AE1BA-4649-411D-855C-CCD8CCCCDB9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397244" y="2437606"/>
          <a:ext cx="6032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94" r:id="rId13" imgW="542829" imgH="285648" progId="Equation.3">
                  <p:embed/>
                </p:oleObj>
              </mc:Choice>
              <mc:Fallback>
                <p:oleObj r:id="rId13" imgW="542829" imgH="285648" progId="Equation.3">
                  <p:embed/>
                  <p:pic>
                    <p:nvPicPr>
                      <p:cNvPr id="12305" name="Object 7">
                        <a:extLst>
                          <a:ext uri="{FF2B5EF4-FFF2-40B4-BE49-F238E27FC236}">
                            <a16:creationId xmlns:a16="http://schemas.microsoft.com/office/drawing/2014/main" id="{B37AE1BA-4649-411D-855C-CCD8CCCCDB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44" y="2437606"/>
                        <a:ext cx="6032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8">
            <a:extLst>
              <a:ext uri="{FF2B5EF4-FFF2-40B4-BE49-F238E27FC236}">
                <a16:creationId xmlns:a16="http://schemas.microsoft.com/office/drawing/2014/main" id="{6DF8B0B3-C062-41AC-9A46-3D24A8D56F58}"/>
              </a:ext>
            </a:extLst>
          </p:cNvPr>
          <p:cNvGraphicFramePr>
            <a:graphicFrameLocks/>
          </p:cNvGraphicFramePr>
          <p:nvPr/>
        </p:nvGraphicFramePr>
        <p:xfrm>
          <a:off x="3786188" y="2914650"/>
          <a:ext cx="1403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95" r:id="rId15" imgW="1400041" imgH="781016" progId="Equation.3">
                  <p:embed/>
                </p:oleObj>
              </mc:Choice>
              <mc:Fallback>
                <p:oleObj r:id="rId15" imgW="1400041" imgH="781016" progId="Equation.3">
                  <p:embed/>
                  <p:pic>
                    <p:nvPicPr>
                      <p:cNvPr id="12307" name="Object 8">
                        <a:extLst>
                          <a:ext uri="{FF2B5EF4-FFF2-40B4-BE49-F238E27FC236}">
                            <a16:creationId xmlns:a16="http://schemas.microsoft.com/office/drawing/2014/main" id="{6DF8B0B3-C062-41AC-9A46-3D24A8D56F5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914650"/>
                        <a:ext cx="1403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">
            <a:extLst>
              <a:ext uri="{FF2B5EF4-FFF2-40B4-BE49-F238E27FC236}">
                <a16:creationId xmlns:a16="http://schemas.microsoft.com/office/drawing/2014/main" id="{6D438774-4839-4A06-AAF3-5BF63881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572000"/>
            <a:ext cx="7786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温度一定时，分子的平均自由程与气体的压强成反比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DEDB021C-63F9-4B5B-879D-B8D1D78E9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5" grpId="0"/>
      <p:bldP spid="12296" grpId="0"/>
      <p:bldP spid="12297" grpId="0" animBg="1"/>
      <p:bldP spid="12298" grpId="0"/>
      <p:bldP spid="12301" grpId="0"/>
      <p:bldP spid="12303" grpId="0"/>
      <p:bldP spid="12304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Text Box 4"/>
          <p:cNvSpPr txBox="1"/>
          <p:nvPr/>
        </p:nvSpPr>
        <p:spPr>
          <a:xfrm>
            <a:off x="539750" y="765175"/>
            <a:ext cx="86042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氢分子在标准状态下平均速率，平均自由程及平均碰撞频率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797" name="Rectangle 5"/>
          <p:cNvSpPr/>
          <p:nvPr/>
        </p:nvSpPr>
        <p:spPr>
          <a:xfrm>
            <a:off x="179388" y="260350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161799" name="Rectangle 7"/>
          <p:cNvSpPr/>
          <p:nvPr/>
        </p:nvSpPr>
        <p:spPr>
          <a:xfrm>
            <a:off x="179388" y="1333500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161801" name="Rectangle 9"/>
          <p:cNvSpPr/>
          <p:nvPr/>
        </p:nvSpPr>
        <p:spPr>
          <a:xfrm>
            <a:off x="539750" y="285750"/>
            <a:ext cx="5246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已知氢气分子的有效直径是</a:t>
            </a:r>
            <a:r>
              <a:rPr lang="en-US" altLang="zh-CN" dirty="0">
                <a:solidFill>
                  <a:srgbClr val="FFCC00"/>
                </a:solidFill>
                <a:latin typeface="Times New Roman" panose="02020603050405020304" pitchFamily="18" charset="0"/>
              </a:rPr>
              <a:t>2×10</a:t>
            </a:r>
            <a:r>
              <a:rPr lang="en-US" altLang="zh-CN" baseline="30000" dirty="0">
                <a:solidFill>
                  <a:srgbClr val="FFCC00"/>
                </a:solidFill>
                <a:latin typeface="Times New Roman" panose="02020603050405020304" pitchFamily="18" charset="0"/>
              </a:rPr>
              <a:t>-10</a:t>
            </a:r>
            <a:r>
              <a:rPr lang="en-US" altLang="zh-CN" dirty="0">
                <a:solidFill>
                  <a:srgbClr val="FFCC00"/>
                </a:solidFill>
                <a:latin typeface="Times New Roman" panose="02020603050405020304" pitchFamily="18" charset="0"/>
              </a:rPr>
              <a:t>m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2" name="Rectangle 10"/>
          <p:cNvSpPr/>
          <p:nvPr/>
        </p:nvSpPr>
        <p:spPr>
          <a:xfrm>
            <a:off x="179388" y="765175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11271" name="Rectangle 12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03" name="Object 2"/>
          <p:cNvGraphicFramePr/>
          <p:nvPr/>
        </p:nvGraphicFramePr>
        <p:xfrm>
          <a:off x="2203450" y="1357313"/>
          <a:ext cx="27971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28" r:id="rId3" imgW="1784350" imgH="222885" progId="Equation.3">
                  <p:embed/>
                </p:oleObj>
              </mc:Choice>
              <mc:Fallback>
                <p:oleObj r:id="rId3" imgW="1784350" imgH="222885" progId="Equation.3">
                  <p:embed/>
                  <p:pic>
                    <p:nvPicPr>
                      <p:cNvPr id="161803" name="Object 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03450" y="1357313"/>
                        <a:ext cx="279717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14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05" name="Object 3"/>
          <p:cNvGraphicFramePr/>
          <p:nvPr/>
        </p:nvGraphicFramePr>
        <p:xfrm>
          <a:off x="5370513" y="1460500"/>
          <a:ext cx="157638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29" r:id="rId5" imgW="2263775" imgH="334645" progId="Equation.3">
                  <p:embed/>
                </p:oleObj>
              </mc:Choice>
              <mc:Fallback>
                <p:oleObj r:id="rId5" imgW="2263775" imgH="334645" progId="Equation.3">
                  <p:embed/>
                  <p:pic>
                    <p:nvPicPr>
                      <p:cNvPr id="161805" name="Object 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70513" y="1460500"/>
                        <a:ext cx="1576387" cy="26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07" name="Object 4"/>
          <p:cNvGraphicFramePr/>
          <p:nvPr/>
        </p:nvGraphicFramePr>
        <p:xfrm>
          <a:off x="2605088" y="1895475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0" r:id="rId7" imgW="2464435" imgH="423545" progId="Equation.3">
                  <p:embed/>
                </p:oleObj>
              </mc:Choice>
              <mc:Fallback>
                <p:oleObj r:id="rId7" imgW="2464435" imgH="423545" progId="Equation.3">
                  <p:embed/>
                  <p:pic>
                    <p:nvPicPr>
                      <p:cNvPr id="161807" name="Object 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5088" y="1895475"/>
                        <a:ext cx="2159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Rectangle 18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09" name="Object 5"/>
          <p:cNvGraphicFramePr/>
          <p:nvPr/>
        </p:nvGraphicFramePr>
        <p:xfrm>
          <a:off x="5357813" y="1876425"/>
          <a:ext cx="17399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1" r:id="rId9" imgW="1985010" imgH="345440" progId="Equation.3">
                  <p:embed/>
                </p:oleObj>
              </mc:Choice>
              <mc:Fallback>
                <p:oleObj r:id="rId9" imgW="1985010" imgH="345440" progId="Equation.3">
                  <p:embed/>
                  <p:pic>
                    <p:nvPicPr>
                      <p:cNvPr id="161809" name="Object 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57813" y="1876425"/>
                        <a:ext cx="1739900" cy="338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11" name="Rectangle 19"/>
          <p:cNvSpPr/>
          <p:nvPr/>
        </p:nvSpPr>
        <p:spPr>
          <a:xfrm>
            <a:off x="539750" y="2395538"/>
            <a:ext cx="33893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氢分子的</a:t>
            </a:r>
            <a:r>
              <a:rPr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平均速率</a:t>
            </a:r>
            <a:r>
              <a:rPr lang="zh-CN" altLang="en-US" b="0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280" name="Rectangle 21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12" name="Object 6"/>
          <p:cNvGraphicFramePr/>
          <p:nvPr/>
        </p:nvGraphicFramePr>
        <p:xfrm>
          <a:off x="1143000" y="2857500"/>
          <a:ext cx="50038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2" r:id="rId11" imgW="2977515" imgH="513080" progId="Equation.3">
                  <p:embed/>
                </p:oleObj>
              </mc:Choice>
              <mc:Fallback>
                <p:oleObj r:id="rId11" imgW="2977515" imgH="513080" progId="Equation.3">
                  <p:embed/>
                  <p:pic>
                    <p:nvPicPr>
                      <p:cNvPr id="161812" name="Object 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2857500"/>
                        <a:ext cx="5003800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14" name="Rectangle 22"/>
          <p:cNvSpPr/>
          <p:nvPr/>
        </p:nvSpPr>
        <p:spPr>
          <a:xfrm>
            <a:off x="539750" y="3716338"/>
            <a:ext cx="374650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分子的</a:t>
            </a:r>
            <a:r>
              <a:rPr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平均自由程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3" name="Rectangle 24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15" name="Object 7"/>
          <p:cNvGraphicFramePr/>
          <p:nvPr/>
        </p:nvGraphicFramePr>
        <p:xfrm>
          <a:off x="857250" y="4221163"/>
          <a:ext cx="15621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3" r:id="rId13" imgW="1772920" imgH="869950" progId="Equation.3">
                  <p:embed/>
                </p:oleObj>
              </mc:Choice>
              <mc:Fallback>
                <p:oleObj r:id="rId13" imgW="1772920" imgH="869950" progId="Equation.3">
                  <p:embed/>
                  <p:pic>
                    <p:nvPicPr>
                      <p:cNvPr id="161815" name="Object 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7250" y="4221163"/>
                        <a:ext cx="1562100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5" name="Rectangle 26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17" name="Object 8"/>
          <p:cNvGraphicFramePr/>
          <p:nvPr/>
        </p:nvGraphicFramePr>
        <p:xfrm>
          <a:off x="2500313" y="4214813"/>
          <a:ext cx="60848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4" r:id="rId15" imgW="9232900" imgH="1003300" progId="Equation.DSMT4">
                  <p:embed/>
                </p:oleObj>
              </mc:Choice>
              <mc:Fallback>
                <p:oleObj r:id="rId15" imgW="9232900" imgH="1003300" progId="Equation.DSMT4">
                  <p:embed/>
                  <p:pic>
                    <p:nvPicPr>
                      <p:cNvPr id="161817" name="Object 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00313" y="4214813"/>
                        <a:ext cx="6084887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0" name="Object 10"/>
          <p:cNvGraphicFramePr/>
          <p:nvPr/>
        </p:nvGraphicFramePr>
        <p:xfrm>
          <a:off x="6243638" y="3095625"/>
          <a:ext cx="204311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5" r:id="rId17" imgW="2397760" imgH="345440" progId="Equation.DSMT4">
                  <p:embed/>
                </p:oleObj>
              </mc:Choice>
              <mc:Fallback>
                <p:oleObj r:id="rId17" imgW="2397760" imgH="345440" progId="Equation.DSMT4">
                  <p:embed/>
                  <p:pic>
                    <p:nvPicPr>
                      <p:cNvPr id="161820" name="Object 1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43638" y="3095625"/>
                        <a:ext cx="2043112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21" name="Rectangle 29"/>
          <p:cNvSpPr/>
          <p:nvPr/>
        </p:nvSpPr>
        <p:spPr>
          <a:xfrm>
            <a:off x="500063" y="5214938"/>
            <a:ext cx="3357562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分子的</a:t>
            </a:r>
            <a:r>
              <a:rPr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平均碰撞频率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1822" name="Object 11"/>
          <p:cNvGraphicFramePr/>
          <p:nvPr/>
        </p:nvGraphicFramePr>
        <p:xfrm>
          <a:off x="3571875" y="5103813"/>
          <a:ext cx="7350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6" r:id="rId19" imgW="802640" imgH="825500" progId="Equation.3">
                  <p:embed/>
                </p:oleObj>
              </mc:Choice>
              <mc:Fallback>
                <p:oleObj r:id="rId19" imgW="802640" imgH="825500" progId="Equation.3">
                  <p:embed/>
                  <p:pic>
                    <p:nvPicPr>
                      <p:cNvPr id="161822" name="Object 1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71875" y="5103813"/>
                        <a:ext cx="735013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3" name="Object 12"/>
          <p:cNvGraphicFramePr/>
          <p:nvPr/>
        </p:nvGraphicFramePr>
        <p:xfrm>
          <a:off x="4429125" y="5118100"/>
          <a:ext cx="34290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7" r:id="rId21" imgW="4806315" imgH="1003300" progId="Equation.DSMT4">
                  <p:embed/>
                </p:oleObj>
              </mc:Choice>
              <mc:Fallback>
                <p:oleObj r:id="rId21" imgW="4806315" imgH="1003300" progId="Equation.DSMT4">
                  <p:embed/>
                  <p:pic>
                    <p:nvPicPr>
                      <p:cNvPr id="161823" name="Object 1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CC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9125" y="5118100"/>
                        <a:ext cx="3429000" cy="73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24" name="Rectangle 32"/>
          <p:cNvSpPr/>
          <p:nvPr/>
        </p:nvSpPr>
        <p:spPr>
          <a:xfrm>
            <a:off x="509588" y="5929313"/>
            <a:ext cx="7991475" cy="528637"/>
          </a:xfrm>
          <a:prstGeom prst="rect">
            <a:avLst/>
          </a:prstGeom>
          <a:solidFill>
            <a:srgbClr val="33CCCC">
              <a:alpha val="10196"/>
            </a:srgbClr>
          </a:solidFill>
          <a:ln w="9525" cap="flat" cmpd="sng">
            <a:solidFill>
              <a:srgbClr val="B2B2B2">
                <a:alpha val="50195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标准状态下，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秒钟内，一个氢分子平均要与周围分子碰撞</a:t>
            </a:r>
            <a:r>
              <a:rPr lang="zh-CN" altLang="en-US" sz="2000" dirty="0">
                <a:solidFill>
                  <a:srgbClr val="00FFFF"/>
                </a:solidFill>
                <a:latin typeface="Times New Roman" panose="02020603050405020304" pitchFamily="18" charset="0"/>
              </a:rPr>
              <a:t>八十亿次 </a:t>
            </a:r>
          </a:p>
        </p:txBody>
      </p:sp>
      <p:sp>
        <p:nvSpPr>
          <p:cNvPr id="29" name="Rectangle 19"/>
          <p:cNvSpPr/>
          <p:nvPr/>
        </p:nvSpPr>
        <p:spPr>
          <a:xfrm>
            <a:off x="692150" y="1328738"/>
            <a:ext cx="33893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由题知</a:t>
            </a:r>
          </a:p>
        </p:txBody>
      </p:sp>
      <p:sp>
        <p:nvSpPr>
          <p:cNvPr id="30" name="灯片编号占位符 1">
            <a:extLst>
              <a:ext uri="{FF2B5EF4-FFF2-40B4-BE49-F238E27FC236}">
                <a16:creationId xmlns:a16="http://schemas.microsoft.com/office/drawing/2014/main" id="{7910AEB8-70B4-4F2A-9719-7D400B829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/>
      <p:bldP spid="161797" grpId="0"/>
      <p:bldP spid="161799" grpId="0"/>
      <p:bldP spid="161801" grpId="0"/>
      <p:bldP spid="161802" grpId="0"/>
      <p:bldP spid="161811" grpId="0"/>
      <p:bldP spid="161814" grpId="0"/>
      <p:bldP spid="161821" grpId="0"/>
      <p:bldP spid="161824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Text Box 14">
            <a:extLst>
              <a:ext uri="{FF2B5EF4-FFF2-40B4-BE49-F238E27FC236}">
                <a16:creationId xmlns:a16="http://schemas.microsoft.com/office/drawing/2014/main" id="{C4CE2A58-934A-40DA-A3D4-3AE94D0F6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4022725"/>
            <a:ext cx="81311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在这种情况下气体分子相互之间很少发生碰撞，只是不断地来回碰撞真空管壁，因此</a:t>
            </a:r>
            <a:r>
              <a:rPr lang="zh-CN" altLang="en-US">
                <a:solidFill>
                  <a:srgbClr val="FFCC00"/>
                </a:solidFill>
                <a:ea typeface="华文中宋" panose="02010600040101010101" pitchFamily="2" charset="-122"/>
              </a:rPr>
              <a:t>气体分子的平均自由程就应该是容器的线度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。   即</a:t>
            </a:r>
          </a:p>
        </p:txBody>
      </p:sp>
      <p:graphicFrame>
        <p:nvGraphicFramePr>
          <p:cNvPr id="57348" name="Object 2">
            <a:extLst>
              <a:ext uri="{FF2B5EF4-FFF2-40B4-BE49-F238E27FC236}">
                <a16:creationId xmlns:a16="http://schemas.microsoft.com/office/drawing/2014/main" id="{77CB51DD-97C1-4AFA-B723-002BB7474720}"/>
              </a:ext>
            </a:extLst>
          </p:cNvPr>
          <p:cNvGraphicFramePr>
            <a:graphicFrameLocks/>
          </p:cNvGraphicFramePr>
          <p:nvPr/>
        </p:nvGraphicFramePr>
        <p:xfrm>
          <a:off x="2786063" y="3070225"/>
          <a:ext cx="52863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32" r:id="rId3" imgW="2752680" imgH="438116" progId="Equation.3">
                  <p:embed/>
                </p:oleObj>
              </mc:Choice>
              <mc:Fallback>
                <p:oleObj r:id="rId3" imgW="2752680" imgH="438116" progId="Equation.3">
                  <p:embed/>
                  <p:pic>
                    <p:nvPicPr>
                      <p:cNvPr id="57348" name="Object 2">
                        <a:extLst>
                          <a:ext uri="{FF2B5EF4-FFF2-40B4-BE49-F238E27FC236}">
                            <a16:creationId xmlns:a16="http://schemas.microsoft.com/office/drawing/2014/main" id="{77CB51DD-97C1-4AFA-B723-002BB74747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070225"/>
                        <a:ext cx="52863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3">
            <a:extLst>
              <a:ext uri="{FF2B5EF4-FFF2-40B4-BE49-F238E27FC236}">
                <a16:creationId xmlns:a16="http://schemas.microsoft.com/office/drawing/2014/main" id="{F1123E77-A12B-4C84-A572-D96666268D26}"/>
              </a:ext>
            </a:extLst>
          </p:cNvPr>
          <p:cNvGraphicFramePr>
            <a:graphicFrameLocks/>
          </p:cNvGraphicFramePr>
          <p:nvPr/>
        </p:nvGraphicFramePr>
        <p:xfrm>
          <a:off x="1092200" y="2071688"/>
          <a:ext cx="58372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33" r:id="rId5" imgW="2790908" imgH="361882" progId="Equation.3">
                  <p:embed/>
                </p:oleObj>
              </mc:Choice>
              <mc:Fallback>
                <p:oleObj r:id="rId5" imgW="2790908" imgH="361882" progId="Equation.3">
                  <p:embed/>
                  <p:pic>
                    <p:nvPicPr>
                      <p:cNvPr id="57349" name="Object 3">
                        <a:extLst>
                          <a:ext uri="{FF2B5EF4-FFF2-40B4-BE49-F238E27FC236}">
                            <a16:creationId xmlns:a16="http://schemas.microsoft.com/office/drawing/2014/main" id="{F1123E77-A12B-4C84-A572-D96666268D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071688"/>
                        <a:ext cx="58372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>
            <a:extLst>
              <a:ext uri="{FF2B5EF4-FFF2-40B4-BE49-F238E27FC236}">
                <a16:creationId xmlns:a16="http://schemas.microsoft.com/office/drawing/2014/main" id="{5902DEE0-374C-49FA-B2A7-893ABB7D0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42875"/>
            <a:ext cx="7989888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真空管的线度为 </a:t>
            </a:r>
            <a:r>
              <a:rPr lang="en-US" altLang="zh-CN">
                <a:solidFill>
                  <a:srgbClr val="66FFFF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baseline="44000">
                <a:solidFill>
                  <a:srgbClr val="66FFFF"/>
                </a:solidFill>
                <a:ea typeface="华文中宋" panose="02010600040101010101" pitchFamily="2" charset="-122"/>
              </a:rPr>
              <a:t>-2 </a:t>
            </a:r>
            <a:r>
              <a:rPr lang="en-US" altLang="zh-CN">
                <a:solidFill>
                  <a:srgbClr val="66FFFF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，其中真空度为 </a:t>
            </a:r>
            <a:r>
              <a:rPr lang="en-US" altLang="zh-CN">
                <a:solidFill>
                  <a:srgbClr val="66FFFF"/>
                </a:solidFill>
                <a:ea typeface="华文中宋" panose="02010600040101010101" pitchFamily="2" charset="-122"/>
              </a:rPr>
              <a:t>1.33× 10</a:t>
            </a:r>
            <a:r>
              <a:rPr lang="en-US" altLang="zh-CN" baseline="44000">
                <a:solidFill>
                  <a:srgbClr val="66FFFF"/>
                </a:solidFill>
                <a:ea typeface="华文中宋" panose="02010600040101010101" pitchFamily="2" charset="-122"/>
              </a:rPr>
              <a:t>-3 </a:t>
            </a:r>
            <a:r>
              <a:rPr lang="en-US" altLang="zh-CN">
                <a:solidFill>
                  <a:srgbClr val="66FFFF"/>
                </a:solidFill>
                <a:ea typeface="华文中宋" panose="02010600040101010101" pitchFamily="2" charset="-122"/>
              </a:rPr>
              <a:t>Pa </a:t>
            </a:r>
            <a:r>
              <a:rPr lang="zh-CN" altLang="en-US">
                <a:solidFill>
                  <a:srgbClr val="66FFFF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设空气分子的有效直径为 </a:t>
            </a:r>
            <a:r>
              <a:rPr lang="en-US" altLang="zh-CN">
                <a:solidFill>
                  <a:srgbClr val="66FFFF"/>
                </a:solidFill>
                <a:ea typeface="华文中宋" panose="02010600040101010101" pitchFamily="2" charset="-122"/>
              </a:rPr>
              <a:t>3×10</a:t>
            </a:r>
            <a:r>
              <a:rPr lang="en-US" altLang="zh-CN" baseline="44000">
                <a:solidFill>
                  <a:srgbClr val="66FFFF"/>
                </a:solidFill>
                <a:ea typeface="华文中宋" panose="02010600040101010101" pitchFamily="2" charset="-122"/>
              </a:rPr>
              <a:t>-10 </a:t>
            </a:r>
            <a:r>
              <a:rPr lang="en-US" altLang="zh-CN">
                <a:solidFill>
                  <a:srgbClr val="66FFFF"/>
                </a:solidFill>
                <a:ea typeface="华文中宋" panose="02010600040101010101" pitchFamily="2" charset="-122"/>
              </a:rPr>
              <a:t>m </a:t>
            </a:r>
            <a:r>
              <a:rPr lang="en-US" altLang="zh-CN">
                <a:solidFill>
                  <a:schemeClr val="bg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B272DCC6-56AC-4821-A4F8-9840BC80C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000125"/>
            <a:ext cx="7858125" cy="5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rgbClr val="66FFFF"/>
                </a:solidFill>
                <a:ea typeface="华文中宋" panose="02010600040101010101" pitchFamily="2" charset="-122"/>
              </a:rPr>
              <a:t>27℃</a:t>
            </a:r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时</a:t>
            </a:r>
            <a:r>
              <a:rPr lang="zh-CN" altLang="en-US" dirty="0">
                <a:solidFill>
                  <a:srgbClr val="00FFFF"/>
                </a:solidFill>
                <a:ea typeface="华文中宋" panose="02010600040101010101" pitchFamily="2" charset="-122"/>
              </a:rPr>
              <a:t>空气分子数密度</a:t>
            </a:r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dirty="0">
                <a:solidFill>
                  <a:srgbClr val="00FFFF"/>
                </a:solidFill>
                <a:ea typeface="华文中宋" panose="02010600040101010101" pitchFamily="2" charset="-122"/>
              </a:rPr>
              <a:t>平均碰撞频率</a:t>
            </a:r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dirty="0">
                <a:solidFill>
                  <a:srgbClr val="00FFFF"/>
                </a:solidFill>
                <a:ea typeface="华文中宋" panose="02010600040101010101" pitchFamily="2" charset="-122"/>
              </a:rPr>
              <a:t>平均自由程？</a:t>
            </a:r>
            <a:endParaRPr lang="zh-CN" altLang="en-US" dirty="0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sp>
        <p:nvSpPr>
          <p:cNvPr id="57352" name="Text Box 8">
            <a:extLst>
              <a:ext uri="{FF2B5EF4-FFF2-40B4-BE49-F238E27FC236}">
                <a16:creationId xmlns:a16="http://schemas.microsoft.com/office/drawing/2014/main" id="{3CF95C06-7845-4FE8-9BC7-AE3DC5719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811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57353" name="Text Box 9">
            <a:extLst>
              <a:ext uri="{FF2B5EF4-FFF2-40B4-BE49-F238E27FC236}">
                <a16:creationId xmlns:a16="http://schemas.microsoft.com/office/drawing/2014/main" id="{D268D321-46FE-4B1C-A9CB-8EA395CA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43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57354" name="Text Box 10">
            <a:extLst>
              <a:ext uri="{FF2B5EF4-FFF2-40B4-BE49-F238E27FC236}">
                <a16:creationId xmlns:a16="http://schemas.microsoft.com/office/drawing/2014/main" id="{068CCAD6-E6AF-4D0E-BA78-BC9CE817C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429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graphicFrame>
        <p:nvGraphicFramePr>
          <p:cNvPr id="57355" name="Object 4">
            <a:extLst>
              <a:ext uri="{FF2B5EF4-FFF2-40B4-BE49-F238E27FC236}">
                <a16:creationId xmlns:a16="http://schemas.microsoft.com/office/drawing/2014/main" id="{7A46FFF1-F9C4-44BF-861E-87011FB065A0}"/>
              </a:ext>
            </a:extLst>
          </p:cNvPr>
          <p:cNvGraphicFramePr>
            <a:graphicFrameLocks/>
          </p:cNvGraphicFramePr>
          <p:nvPr/>
        </p:nvGraphicFramePr>
        <p:xfrm>
          <a:off x="1000125" y="3095625"/>
          <a:ext cx="178593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34" r:id="rId7" imgW="1704943" imgH="847759" progId="Equation.3">
                  <p:embed/>
                </p:oleObj>
              </mc:Choice>
              <mc:Fallback>
                <p:oleObj r:id="rId7" imgW="1704943" imgH="847759" progId="Equation.3">
                  <p:embed/>
                  <p:pic>
                    <p:nvPicPr>
                      <p:cNvPr id="57355" name="Object 4">
                        <a:extLst>
                          <a:ext uri="{FF2B5EF4-FFF2-40B4-BE49-F238E27FC236}">
                            <a16:creationId xmlns:a16="http://schemas.microsoft.com/office/drawing/2014/main" id="{7A46FFF1-F9C4-44BF-861E-87011FB065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095625"/>
                        <a:ext cx="178593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6" name="Text Box 12">
            <a:extLst>
              <a:ext uri="{FF2B5EF4-FFF2-40B4-BE49-F238E27FC236}">
                <a16:creationId xmlns:a16="http://schemas.microsoft.com/office/drawing/2014/main" id="{EE0653AD-F71F-4E43-A33C-6480E419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1581150"/>
            <a:ext cx="3765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由气体的状态方程</a:t>
            </a:r>
          </a:p>
        </p:txBody>
      </p:sp>
      <p:graphicFrame>
        <p:nvGraphicFramePr>
          <p:cNvPr id="57357" name="Object 5">
            <a:extLst>
              <a:ext uri="{FF2B5EF4-FFF2-40B4-BE49-F238E27FC236}">
                <a16:creationId xmlns:a16="http://schemas.microsoft.com/office/drawing/2014/main" id="{2BBE3E26-C10C-4119-996B-EA530A800966}"/>
              </a:ext>
            </a:extLst>
          </p:cNvPr>
          <p:cNvGraphicFramePr>
            <a:graphicFrameLocks/>
          </p:cNvGraphicFramePr>
          <p:nvPr/>
        </p:nvGraphicFramePr>
        <p:xfrm>
          <a:off x="3000375" y="5035550"/>
          <a:ext cx="15001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35" r:id="rId9" imgW="1438269" imgH="333409" progId="Equation.3">
                  <p:embed/>
                </p:oleObj>
              </mc:Choice>
              <mc:Fallback>
                <p:oleObj r:id="rId9" imgW="1438269" imgH="333409" progId="Equation.3">
                  <p:embed/>
                  <p:pic>
                    <p:nvPicPr>
                      <p:cNvPr id="57357" name="Object 5">
                        <a:extLst>
                          <a:ext uri="{FF2B5EF4-FFF2-40B4-BE49-F238E27FC236}">
                            <a16:creationId xmlns:a16="http://schemas.microsoft.com/office/drawing/2014/main" id="{2BBE3E26-C10C-4119-996B-EA530A8009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035550"/>
                        <a:ext cx="15001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9" name="Object 6">
            <a:extLst>
              <a:ext uri="{FF2B5EF4-FFF2-40B4-BE49-F238E27FC236}">
                <a16:creationId xmlns:a16="http://schemas.microsoft.com/office/drawing/2014/main" id="{6556332C-1192-449A-8D19-8E6367F44554}"/>
              </a:ext>
            </a:extLst>
          </p:cNvPr>
          <p:cNvGraphicFramePr>
            <a:graphicFrameLocks/>
          </p:cNvGraphicFramePr>
          <p:nvPr/>
        </p:nvGraphicFramePr>
        <p:xfrm>
          <a:off x="5124450" y="5643563"/>
          <a:ext cx="27336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36" r:id="rId11" imgW="2981433" imgH="771525" progId="Equation.3">
                  <p:embed/>
                </p:oleObj>
              </mc:Choice>
              <mc:Fallback>
                <p:oleObj r:id="rId11" imgW="2981433" imgH="771525" progId="Equation.3">
                  <p:embed/>
                  <p:pic>
                    <p:nvPicPr>
                      <p:cNvPr id="57359" name="Object 6">
                        <a:extLst>
                          <a:ext uri="{FF2B5EF4-FFF2-40B4-BE49-F238E27FC236}">
                            <a16:creationId xmlns:a16="http://schemas.microsoft.com/office/drawing/2014/main" id="{6556332C-1192-449A-8D19-8E6367F4455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0" y="5643563"/>
                        <a:ext cx="27336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7">
            <a:extLst>
              <a:ext uri="{FF2B5EF4-FFF2-40B4-BE49-F238E27FC236}">
                <a16:creationId xmlns:a16="http://schemas.microsoft.com/office/drawing/2014/main" id="{394B04B2-D796-4444-93A9-F6AF2390F99D}"/>
              </a:ext>
            </a:extLst>
          </p:cNvPr>
          <p:cNvGraphicFramePr>
            <a:graphicFrameLocks/>
          </p:cNvGraphicFramePr>
          <p:nvPr/>
        </p:nvGraphicFramePr>
        <p:xfrm>
          <a:off x="1143000" y="5643563"/>
          <a:ext cx="28114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37" r:id="rId13" imgW="3067063" imgH="895214" progId="Equation.3">
                  <p:embed/>
                </p:oleObj>
              </mc:Choice>
              <mc:Fallback>
                <p:oleObj r:id="rId13" imgW="3067063" imgH="895214" progId="Equation.3">
                  <p:embed/>
                  <p:pic>
                    <p:nvPicPr>
                      <p:cNvPr id="57360" name="Object 7">
                        <a:extLst>
                          <a:ext uri="{FF2B5EF4-FFF2-40B4-BE49-F238E27FC236}">
                            <a16:creationId xmlns:a16="http://schemas.microsoft.com/office/drawing/2014/main" id="{394B04B2-D796-4444-93A9-F6AF2390F9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643563"/>
                        <a:ext cx="28114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59D1C771-9F7D-468C-8BA5-1B6C9713F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/>
      <p:bldP spid="57351" grpId="0"/>
      <p:bldP spid="57352" grpId="0"/>
      <p:bldP spid="57353" grpId="0"/>
      <p:bldP spid="57354" grpId="0"/>
      <p:bldP spid="573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7" name="Rectangle 27">
            <a:extLst>
              <a:ext uri="{FF2B5EF4-FFF2-40B4-BE49-F238E27FC236}">
                <a16:creationId xmlns:a16="http://schemas.microsoft.com/office/drawing/2014/main" id="{F53F902D-0F4D-449C-9F95-85D1D5AA8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1228725"/>
            <a:ext cx="3048000" cy="1219200"/>
          </a:xfrm>
          <a:prstGeom prst="rect">
            <a:avLst/>
          </a:prstGeom>
          <a:gradFill rotWithShape="1">
            <a:gsLst>
              <a:gs pos="0">
                <a:srgbClr val="762525"/>
              </a:gs>
              <a:gs pos="50000">
                <a:srgbClr val="FF5050"/>
              </a:gs>
              <a:gs pos="100000">
                <a:srgbClr val="762525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4F84A8F3-38B0-44AE-AFED-E2A7EB9F1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85750"/>
            <a:ext cx="8858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cs typeface="Times New Roman" panose="02020603050405020304" pitchFamily="18" charset="0"/>
              </a:rPr>
              <a:t>12.11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热力学第二定律的统计意义和熵的概念</a:t>
            </a:r>
            <a:endParaRPr lang="zh-CN" altLang="en-US" sz="3200">
              <a:solidFill>
                <a:srgbClr val="00FF00"/>
              </a:solidFill>
            </a:endParaRP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A369E40A-E5B2-476F-8D62-42931E831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981075"/>
            <a:ext cx="5451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热力学第二定律的统计意义</a:t>
            </a:r>
            <a:r>
              <a:rPr lang="zh-CN" altLang="en-US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9293A829-2B70-4E53-80BB-82EBF397A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1676400"/>
            <a:ext cx="4856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气体分子位置的分布规律</a:t>
            </a:r>
          </a:p>
        </p:txBody>
      </p:sp>
      <p:sp>
        <p:nvSpPr>
          <p:cNvPr id="35869" name="Rectangle 29">
            <a:extLst>
              <a:ext uri="{FF2B5EF4-FFF2-40B4-BE49-F238E27FC236}">
                <a16:creationId xmlns:a16="http://schemas.microsoft.com/office/drawing/2014/main" id="{A1D1A898-2F7D-4388-A0F1-D3CEA31AA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1333500"/>
            <a:ext cx="2879725" cy="1009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0" name="Rectangle 30" descr="20%">
            <a:extLst>
              <a:ext uri="{FF2B5EF4-FFF2-40B4-BE49-F238E27FC236}">
                <a16:creationId xmlns:a16="http://schemas.microsoft.com/office/drawing/2014/main" id="{E0BE9062-4992-4F21-824B-C4A3A21E386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981700" y="1138238"/>
            <a:ext cx="1014413" cy="138588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762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1" name="Rectangle 31">
            <a:extLst>
              <a:ext uri="{FF2B5EF4-FFF2-40B4-BE49-F238E27FC236}">
                <a16:creationId xmlns:a16="http://schemas.microsoft.com/office/drawing/2014/main" id="{0B7D9F54-91D0-4851-97A0-10A5B2AB6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788" y="1273175"/>
            <a:ext cx="77787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2" name="Text Box 32">
            <a:extLst>
              <a:ext uri="{FF2B5EF4-FFF2-40B4-BE49-F238E27FC236}">
                <a16:creationId xmlns:a16="http://schemas.microsoft.com/office/drawing/2014/main" id="{B8249728-8441-4626-BB78-779821E91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050" y="2500313"/>
            <a:ext cx="1973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气体的自由膨胀</a:t>
            </a:r>
          </a:p>
        </p:txBody>
      </p:sp>
      <p:sp>
        <p:nvSpPr>
          <p:cNvPr id="35876" name="Rectangle 36" descr="5%">
            <a:extLst>
              <a:ext uri="{FF2B5EF4-FFF2-40B4-BE49-F238E27FC236}">
                <a16:creationId xmlns:a16="http://schemas.microsoft.com/office/drawing/2014/main" id="{DE4D206E-6E97-43A5-92B8-59FD0A011A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710362" y="396876"/>
            <a:ext cx="1025525" cy="28829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762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912" name="Text Box 72">
            <a:extLst>
              <a:ext uri="{FF2B5EF4-FFF2-40B4-BE49-F238E27FC236}">
                <a16:creationId xmlns:a16="http://schemas.microsoft.com/office/drawing/2014/main" id="{BEF023D7-AF99-4112-9ED1-E8859C0BB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400300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3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个分子的分配方式</a:t>
            </a:r>
          </a:p>
        </p:txBody>
      </p:sp>
      <p:sp>
        <p:nvSpPr>
          <p:cNvPr id="35913" name="Rectangle 73">
            <a:extLst>
              <a:ext uri="{FF2B5EF4-FFF2-40B4-BE49-F238E27FC236}">
                <a16:creationId xmlns:a16="http://schemas.microsoft.com/office/drawing/2014/main" id="{1EA02824-DA60-47C6-87C8-0A3FA17E9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339850"/>
            <a:ext cx="2879725" cy="1009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914" name="Rectangle 74">
            <a:extLst>
              <a:ext uri="{FF2B5EF4-FFF2-40B4-BE49-F238E27FC236}">
                <a16:creationId xmlns:a16="http://schemas.microsoft.com/office/drawing/2014/main" id="{747FF449-9B40-4C22-89E4-9ED904F9D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488" y="1225550"/>
            <a:ext cx="77787" cy="11477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95">
            <a:extLst>
              <a:ext uri="{FF2B5EF4-FFF2-40B4-BE49-F238E27FC236}">
                <a16:creationId xmlns:a16="http://schemas.microsoft.com/office/drawing/2014/main" id="{34562954-D909-48EE-8B4A-DB53E2A45C4E}"/>
              </a:ext>
            </a:extLst>
          </p:cNvPr>
          <p:cNvGrpSpPr>
            <a:grpSpLocks/>
          </p:cNvGrpSpPr>
          <p:nvPr/>
        </p:nvGrpSpPr>
        <p:grpSpPr bwMode="auto">
          <a:xfrm>
            <a:off x="5976938" y="1514475"/>
            <a:ext cx="488950" cy="457200"/>
            <a:chOff x="3744" y="2064"/>
            <a:chExt cx="308" cy="288"/>
          </a:xfrm>
        </p:grpSpPr>
        <p:graphicFrame>
          <p:nvGraphicFramePr>
            <p:cNvPr id="13360" name="Object 4">
              <a:extLst>
                <a:ext uri="{FF2B5EF4-FFF2-40B4-BE49-F238E27FC236}">
                  <a16:creationId xmlns:a16="http://schemas.microsoft.com/office/drawing/2014/main" id="{9CC62D7A-AF62-4042-9435-86CEB655B3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216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241" name="Equation" r:id="rId5" imgW="114102" imgH="114102" progId="Equation.3">
                    <p:embed/>
                  </p:oleObj>
                </mc:Choice>
                <mc:Fallback>
                  <p:oleObj name="Equation" r:id="rId5" imgW="114102" imgH="114102" progId="Equation.3">
                    <p:embed/>
                    <p:pic>
                      <p:nvPicPr>
                        <p:cNvPr id="13360" name="Object 4">
                          <a:extLst>
                            <a:ext uri="{FF2B5EF4-FFF2-40B4-BE49-F238E27FC236}">
                              <a16:creationId xmlns:a16="http://schemas.microsoft.com/office/drawing/2014/main" id="{9CC62D7A-AF62-4042-9435-86CEB655B3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60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1" name="Text Box 97">
              <a:extLst>
                <a:ext uri="{FF2B5EF4-FFF2-40B4-BE49-F238E27FC236}">
                  <a16:creationId xmlns:a16="http://schemas.microsoft.com/office/drawing/2014/main" id="{2EA83BE5-12CD-4D7F-99BD-92C9A186D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0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a</a:t>
              </a:r>
            </a:p>
          </p:txBody>
        </p:sp>
      </p:grpSp>
      <p:grpSp>
        <p:nvGrpSpPr>
          <p:cNvPr id="3" name="Group 98">
            <a:extLst>
              <a:ext uri="{FF2B5EF4-FFF2-40B4-BE49-F238E27FC236}">
                <a16:creationId xmlns:a16="http://schemas.microsoft.com/office/drawing/2014/main" id="{C20A802F-8429-4A5C-9406-AD61F505D419}"/>
              </a:ext>
            </a:extLst>
          </p:cNvPr>
          <p:cNvGrpSpPr>
            <a:grpSpLocks/>
          </p:cNvGrpSpPr>
          <p:nvPr/>
        </p:nvGrpSpPr>
        <p:grpSpPr bwMode="auto">
          <a:xfrm>
            <a:off x="6586538" y="1458913"/>
            <a:ext cx="506412" cy="457200"/>
            <a:chOff x="4128" y="2064"/>
            <a:chExt cx="319" cy="288"/>
          </a:xfrm>
        </p:grpSpPr>
        <p:graphicFrame>
          <p:nvGraphicFramePr>
            <p:cNvPr id="13358" name="Object 3">
              <a:extLst>
                <a:ext uri="{FF2B5EF4-FFF2-40B4-BE49-F238E27FC236}">
                  <a16:creationId xmlns:a16="http://schemas.microsoft.com/office/drawing/2014/main" id="{7FBEA4BB-1902-4FAE-9D8E-2AD9358D30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216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242" name="Equation" r:id="rId7" imgW="114102" imgH="114102" progId="Equation.3">
                    <p:embed/>
                  </p:oleObj>
                </mc:Choice>
                <mc:Fallback>
                  <p:oleObj name="Equation" r:id="rId7" imgW="114102" imgH="114102" progId="Equation.3">
                    <p:embed/>
                    <p:pic>
                      <p:nvPicPr>
                        <p:cNvPr id="13358" name="Object 3">
                          <a:extLst>
                            <a:ext uri="{FF2B5EF4-FFF2-40B4-BE49-F238E27FC236}">
                              <a16:creationId xmlns:a16="http://schemas.microsoft.com/office/drawing/2014/main" id="{7FBEA4BB-1902-4FAE-9D8E-2AD9358D30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160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9" name="Text Box 100">
              <a:extLst>
                <a:ext uri="{FF2B5EF4-FFF2-40B4-BE49-F238E27FC236}">
                  <a16:creationId xmlns:a16="http://schemas.microsoft.com/office/drawing/2014/main" id="{63A01BE6-BE8E-4C36-A369-52C5C48B9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06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b</a:t>
              </a:r>
            </a:p>
          </p:txBody>
        </p:sp>
      </p:grpSp>
      <p:grpSp>
        <p:nvGrpSpPr>
          <p:cNvPr id="4" name="Group 101">
            <a:extLst>
              <a:ext uri="{FF2B5EF4-FFF2-40B4-BE49-F238E27FC236}">
                <a16:creationId xmlns:a16="http://schemas.microsoft.com/office/drawing/2014/main" id="{10D75600-8B36-4522-8C04-0455BF48E35E}"/>
              </a:ext>
            </a:extLst>
          </p:cNvPr>
          <p:cNvGrpSpPr>
            <a:grpSpLocks/>
          </p:cNvGrpSpPr>
          <p:nvPr/>
        </p:nvGrpSpPr>
        <p:grpSpPr bwMode="auto">
          <a:xfrm>
            <a:off x="6281738" y="1819275"/>
            <a:ext cx="471487" cy="457200"/>
            <a:chOff x="3936" y="2256"/>
            <a:chExt cx="297" cy="288"/>
          </a:xfrm>
        </p:grpSpPr>
        <p:graphicFrame>
          <p:nvGraphicFramePr>
            <p:cNvPr id="13356" name="Object 2">
              <a:extLst>
                <a:ext uri="{FF2B5EF4-FFF2-40B4-BE49-F238E27FC236}">
                  <a16:creationId xmlns:a16="http://schemas.microsoft.com/office/drawing/2014/main" id="{7B396E36-34A8-41B6-A8B5-3A07EDD3B4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6" y="2352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6243" name="Equation" r:id="rId8" imgW="114102" imgH="114102" progId="Equation.3">
                    <p:embed/>
                  </p:oleObj>
                </mc:Choice>
                <mc:Fallback>
                  <p:oleObj name="Equation" r:id="rId8" imgW="114102" imgH="114102" progId="Equation.3">
                    <p:embed/>
                    <p:pic>
                      <p:nvPicPr>
                        <p:cNvPr id="13356" name="Object 2">
                          <a:extLst>
                            <a:ext uri="{FF2B5EF4-FFF2-40B4-BE49-F238E27FC236}">
                              <a16:creationId xmlns:a16="http://schemas.microsoft.com/office/drawing/2014/main" id="{7B396E36-34A8-41B6-A8B5-3A07EDD3B4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352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7" name="Text Box 103">
              <a:extLst>
                <a:ext uri="{FF2B5EF4-FFF2-40B4-BE49-F238E27FC236}">
                  <a16:creationId xmlns:a16="http://schemas.microsoft.com/office/drawing/2014/main" id="{EC818A23-676E-4594-A352-F4598E8D5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c</a:t>
              </a:r>
            </a:p>
          </p:txBody>
        </p:sp>
      </p:grpSp>
      <p:sp>
        <p:nvSpPr>
          <p:cNvPr id="35972" name="Rectangle 132">
            <a:extLst>
              <a:ext uri="{FF2B5EF4-FFF2-40B4-BE49-F238E27FC236}">
                <a16:creationId xmlns:a16="http://schemas.microsoft.com/office/drawing/2014/main" id="{1C77D048-9CA5-4E91-89C3-C0A968234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2995613"/>
            <a:ext cx="1066800" cy="6858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左半边</a:t>
            </a:r>
            <a:endParaRPr lang="zh-CN" altLang="en-US" sz="2000" i="1">
              <a:solidFill>
                <a:schemeClr val="bg1"/>
              </a:solidFill>
            </a:endParaRPr>
          </a:p>
        </p:txBody>
      </p:sp>
      <p:sp>
        <p:nvSpPr>
          <p:cNvPr id="35973" name="Rectangle 133">
            <a:extLst>
              <a:ext uri="{FF2B5EF4-FFF2-40B4-BE49-F238E27FC236}">
                <a16:creationId xmlns:a16="http://schemas.microsoft.com/office/drawing/2014/main" id="{971F6067-9808-4851-BFE0-449D20549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3681413"/>
            <a:ext cx="1066800" cy="6858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右半边</a:t>
            </a:r>
            <a:endParaRPr lang="zh-CN" altLang="en-US" sz="2000" i="1">
              <a:solidFill>
                <a:schemeClr val="bg1"/>
              </a:solidFill>
            </a:endParaRPr>
          </a:p>
        </p:txBody>
      </p:sp>
      <p:sp>
        <p:nvSpPr>
          <p:cNvPr id="35974" name="Rectangle 134">
            <a:extLst>
              <a:ext uri="{FF2B5EF4-FFF2-40B4-BE49-F238E27FC236}">
                <a16:creationId xmlns:a16="http://schemas.microsoft.com/office/drawing/2014/main" id="{F323B7FE-A6E2-4031-9D8A-1908DD1F0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995613"/>
            <a:ext cx="838200" cy="685800"/>
          </a:xfrm>
          <a:prstGeom prst="rect">
            <a:avLst/>
          </a:prstGeom>
          <a:solidFill>
            <a:srgbClr val="66CCFF">
              <a:alpha val="76862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bg1"/>
                </a:solidFill>
              </a:rPr>
              <a:t>abc</a:t>
            </a:r>
          </a:p>
        </p:txBody>
      </p:sp>
      <p:sp>
        <p:nvSpPr>
          <p:cNvPr id="35975" name="Rectangle 135">
            <a:extLst>
              <a:ext uri="{FF2B5EF4-FFF2-40B4-BE49-F238E27FC236}">
                <a16:creationId xmlns:a16="http://schemas.microsoft.com/office/drawing/2014/main" id="{FC931F2D-59CC-4744-B19E-2A20A3A3B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3681413"/>
            <a:ext cx="838200" cy="685800"/>
          </a:xfrm>
          <a:prstGeom prst="rect">
            <a:avLst/>
          </a:prstGeom>
          <a:solidFill>
            <a:srgbClr val="66CCFF">
              <a:alpha val="76862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bg1"/>
                </a:solidFill>
              </a:rPr>
              <a:t>0</a:t>
            </a:r>
          </a:p>
        </p:txBody>
      </p:sp>
      <p:grpSp>
        <p:nvGrpSpPr>
          <p:cNvPr id="5" name="Group 136">
            <a:extLst>
              <a:ext uri="{FF2B5EF4-FFF2-40B4-BE49-F238E27FC236}">
                <a16:creationId xmlns:a16="http://schemas.microsoft.com/office/drawing/2014/main" id="{35FC768E-3E4C-4859-B9D6-237505FA2079}"/>
              </a:ext>
            </a:extLst>
          </p:cNvPr>
          <p:cNvGrpSpPr>
            <a:grpSpLocks/>
          </p:cNvGrpSpPr>
          <p:nvPr/>
        </p:nvGrpSpPr>
        <p:grpSpPr bwMode="auto">
          <a:xfrm>
            <a:off x="2736850" y="2995613"/>
            <a:ext cx="2514600" cy="685800"/>
            <a:chOff x="1584" y="2928"/>
            <a:chExt cx="1584" cy="432"/>
          </a:xfrm>
        </p:grpSpPr>
        <p:sp>
          <p:nvSpPr>
            <p:cNvPr id="13353" name="Rectangle 137">
              <a:extLst>
                <a:ext uri="{FF2B5EF4-FFF2-40B4-BE49-F238E27FC236}">
                  <a16:creationId xmlns:a16="http://schemas.microsoft.com/office/drawing/2014/main" id="{699FA26F-488B-4F3D-8BCB-CA584E3F0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8"/>
              <a:ext cx="528" cy="432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ab</a:t>
              </a:r>
            </a:p>
          </p:txBody>
        </p:sp>
        <p:sp>
          <p:nvSpPr>
            <p:cNvPr id="13354" name="Rectangle 138">
              <a:extLst>
                <a:ext uri="{FF2B5EF4-FFF2-40B4-BE49-F238E27FC236}">
                  <a16:creationId xmlns:a16="http://schemas.microsoft.com/office/drawing/2014/main" id="{91DDB556-6887-4F9A-BE46-F80C7D019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928"/>
              <a:ext cx="528" cy="432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bc</a:t>
              </a:r>
            </a:p>
          </p:txBody>
        </p:sp>
        <p:sp>
          <p:nvSpPr>
            <p:cNvPr id="13355" name="Rectangle 139">
              <a:extLst>
                <a:ext uri="{FF2B5EF4-FFF2-40B4-BE49-F238E27FC236}">
                  <a16:creationId xmlns:a16="http://schemas.microsoft.com/office/drawing/2014/main" id="{37350697-A81B-43A7-8730-A97C5C4F9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928"/>
              <a:ext cx="528" cy="432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ac</a:t>
              </a:r>
            </a:p>
          </p:txBody>
        </p:sp>
      </p:grpSp>
      <p:grpSp>
        <p:nvGrpSpPr>
          <p:cNvPr id="6" name="Group 140">
            <a:extLst>
              <a:ext uri="{FF2B5EF4-FFF2-40B4-BE49-F238E27FC236}">
                <a16:creationId xmlns:a16="http://schemas.microsoft.com/office/drawing/2014/main" id="{6AEBDF94-AB84-4742-BBEA-0668B54B6059}"/>
              </a:ext>
            </a:extLst>
          </p:cNvPr>
          <p:cNvGrpSpPr>
            <a:grpSpLocks/>
          </p:cNvGrpSpPr>
          <p:nvPr/>
        </p:nvGrpSpPr>
        <p:grpSpPr bwMode="auto">
          <a:xfrm>
            <a:off x="2736850" y="3681413"/>
            <a:ext cx="2514600" cy="685800"/>
            <a:chOff x="1584" y="3360"/>
            <a:chExt cx="1584" cy="432"/>
          </a:xfrm>
        </p:grpSpPr>
        <p:sp>
          <p:nvSpPr>
            <p:cNvPr id="13350" name="Rectangle 141">
              <a:extLst>
                <a:ext uri="{FF2B5EF4-FFF2-40B4-BE49-F238E27FC236}">
                  <a16:creationId xmlns:a16="http://schemas.microsoft.com/office/drawing/2014/main" id="{32624E8F-06C5-44B2-B466-574CE5285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60"/>
              <a:ext cx="528" cy="432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3351" name="Rectangle 142">
              <a:extLst>
                <a:ext uri="{FF2B5EF4-FFF2-40B4-BE49-F238E27FC236}">
                  <a16:creationId xmlns:a16="http://schemas.microsoft.com/office/drawing/2014/main" id="{DD8F38C4-DEA4-4567-8DA0-CA50464B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360"/>
              <a:ext cx="528" cy="432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3352" name="Rectangle 143">
              <a:extLst>
                <a:ext uri="{FF2B5EF4-FFF2-40B4-BE49-F238E27FC236}">
                  <a16:creationId xmlns:a16="http://schemas.microsoft.com/office/drawing/2014/main" id="{10CFEA0C-3CE3-4BC8-8552-E9C7F35AB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360"/>
              <a:ext cx="528" cy="432"/>
            </a:xfrm>
            <a:prstGeom prst="rect">
              <a:avLst/>
            </a:prstGeom>
            <a:solidFill>
              <a:srgbClr val="CC99FF">
                <a:alpha val="3294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7" name="Group 144">
            <a:extLst>
              <a:ext uri="{FF2B5EF4-FFF2-40B4-BE49-F238E27FC236}">
                <a16:creationId xmlns:a16="http://schemas.microsoft.com/office/drawing/2014/main" id="{3B62C13C-7B22-4815-852E-3E0B5E9270FD}"/>
              </a:ext>
            </a:extLst>
          </p:cNvPr>
          <p:cNvGrpSpPr>
            <a:grpSpLocks/>
          </p:cNvGrpSpPr>
          <p:nvPr/>
        </p:nvGrpSpPr>
        <p:grpSpPr bwMode="auto">
          <a:xfrm>
            <a:off x="5251450" y="2995613"/>
            <a:ext cx="2514600" cy="685800"/>
            <a:chOff x="3168" y="2928"/>
            <a:chExt cx="1584" cy="432"/>
          </a:xfrm>
        </p:grpSpPr>
        <p:sp>
          <p:nvSpPr>
            <p:cNvPr id="13347" name="Rectangle 145">
              <a:extLst>
                <a:ext uri="{FF2B5EF4-FFF2-40B4-BE49-F238E27FC236}">
                  <a16:creationId xmlns:a16="http://schemas.microsoft.com/office/drawing/2014/main" id="{FF8849AB-7982-494B-B0A1-9243DD89D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28"/>
              <a:ext cx="528" cy="432"/>
            </a:xfrm>
            <a:prstGeom prst="rect">
              <a:avLst/>
            </a:prstGeom>
            <a:solidFill>
              <a:srgbClr val="00CC99">
                <a:alpha val="4392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3348" name="Rectangle 146">
              <a:extLst>
                <a:ext uri="{FF2B5EF4-FFF2-40B4-BE49-F238E27FC236}">
                  <a16:creationId xmlns:a16="http://schemas.microsoft.com/office/drawing/2014/main" id="{B3573CCA-649B-47B5-A943-3D3D5A20D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28"/>
              <a:ext cx="528" cy="432"/>
            </a:xfrm>
            <a:prstGeom prst="rect">
              <a:avLst/>
            </a:prstGeom>
            <a:solidFill>
              <a:srgbClr val="00CC99">
                <a:alpha val="4392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3349" name="Rectangle 147">
              <a:extLst>
                <a:ext uri="{FF2B5EF4-FFF2-40B4-BE49-F238E27FC236}">
                  <a16:creationId xmlns:a16="http://schemas.microsoft.com/office/drawing/2014/main" id="{E3FEE491-EBA1-4A73-9CC6-18A433E4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28"/>
              <a:ext cx="528" cy="432"/>
            </a:xfrm>
            <a:prstGeom prst="rect">
              <a:avLst/>
            </a:prstGeom>
            <a:solidFill>
              <a:srgbClr val="00CC99">
                <a:alpha val="4392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8" name="Group 148">
            <a:extLst>
              <a:ext uri="{FF2B5EF4-FFF2-40B4-BE49-F238E27FC236}">
                <a16:creationId xmlns:a16="http://schemas.microsoft.com/office/drawing/2014/main" id="{95893D08-1A1E-47DC-8476-E56C49254B22}"/>
              </a:ext>
            </a:extLst>
          </p:cNvPr>
          <p:cNvGrpSpPr>
            <a:grpSpLocks/>
          </p:cNvGrpSpPr>
          <p:nvPr/>
        </p:nvGrpSpPr>
        <p:grpSpPr bwMode="auto">
          <a:xfrm>
            <a:off x="5251450" y="3681413"/>
            <a:ext cx="2514600" cy="685800"/>
            <a:chOff x="3168" y="3360"/>
            <a:chExt cx="1584" cy="432"/>
          </a:xfrm>
        </p:grpSpPr>
        <p:sp>
          <p:nvSpPr>
            <p:cNvPr id="13344" name="Rectangle 149">
              <a:extLst>
                <a:ext uri="{FF2B5EF4-FFF2-40B4-BE49-F238E27FC236}">
                  <a16:creationId xmlns:a16="http://schemas.microsoft.com/office/drawing/2014/main" id="{6C2A464F-92C4-460A-A0F2-5BA74EAC3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360"/>
              <a:ext cx="528" cy="432"/>
            </a:xfrm>
            <a:prstGeom prst="rect">
              <a:avLst/>
            </a:prstGeom>
            <a:solidFill>
              <a:srgbClr val="00CC99">
                <a:alpha val="4392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bc</a:t>
              </a:r>
            </a:p>
          </p:txBody>
        </p:sp>
        <p:sp>
          <p:nvSpPr>
            <p:cNvPr id="13345" name="Rectangle 150">
              <a:extLst>
                <a:ext uri="{FF2B5EF4-FFF2-40B4-BE49-F238E27FC236}">
                  <a16:creationId xmlns:a16="http://schemas.microsoft.com/office/drawing/2014/main" id="{E2E0992B-A0FA-48D1-A3FB-8DF65E744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360"/>
              <a:ext cx="528" cy="432"/>
            </a:xfrm>
            <a:prstGeom prst="rect">
              <a:avLst/>
            </a:prstGeom>
            <a:solidFill>
              <a:srgbClr val="00CC99">
                <a:alpha val="4392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ac</a:t>
              </a:r>
            </a:p>
          </p:txBody>
        </p:sp>
        <p:sp>
          <p:nvSpPr>
            <p:cNvPr id="13346" name="Rectangle 151">
              <a:extLst>
                <a:ext uri="{FF2B5EF4-FFF2-40B4-BE49-F238E27FC236}">
                  <a16:creationId xmlns:a16="http://schemas.microsoft.com/office/drawing/2014/main" id="{CF177E8B-791A-4D67-A747-DC4503783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360"/>
              <a:ext cx="528" cy="432"/>
            </a:xfrm>
            <a:prstGeom prst="rect">
              <a:avLst/>
            </a:prstGeom>
            <a:solidFill>
              <a:srgbClr val="00CC99">
                <a:alpha val="4392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ab</a:t>
              </a:r>
            </a:p>
          </p:txBody>
        </p:sp>
      </p:grpSp>
      <p:sp>
        <p:nvSpPr>
          <p:cNvPr id="35992" name="Rectangle 152">
            <a:extLst>
              <a:ext uri="{FF2B5EF4-FFF2-40B4-BE49-F238E27FC236}">
                <a16:creationId xmlns:a16="http://schemas.microsoft.com/office/drawing/2014/main" id="{582E53AC-476C-4C0A-B647-7E2D9CE1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50" y="2995613"/>
            <a:ext cx="838200" cy="685800"/>
          </a:xfrm>
          <a:prstGeom prst="rect">
            <a:avLst/>
          </a:prstGeom>
          <a:solidFill>
            <a:srgbClr val="FFCCFF">
              <a:alpha val="70195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5993" name="Rectangle 153">
            <a:extLst>
              <a:ext uri="{FF2B5EF4-FFF2-40B4-BE49-F238E27FC236}">
                <a16:creationId xmlns:a16="http://schemas.microsoft.com/office/drawing/2014/main" id="{9FA7A9B3-3ACD-4DE3-A0CA-A4E4F33D4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50" y="3681413"/>
            <a:ext cx="838200" cy="685800"/>
          </a:xfrm>
          <a:prstGeom prst="rect">
            <a:avLst/>
          </a:prstGeom>
          <a:solidFill>
            <a:srgbClr val="FFCCFF">
              <a:alpha val="70195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bg1"/>
                </a:solidFill>
              </a:rPr>
              <a:t>abc</a:t>
            </a:r>
          </a:p>
        </p:txBody>
      </p:sp>
      <p:sp>
        <p:nvSpPr>
          <p:cNvPr id="35994" name="Rectangle 154">
            <a:extLst>
              <a:ext uri="{FF2B5EF4-FFF2-40B4-BE49-F238E27FC236}">
                <a16:creationId xmlns:a16="http://schemas.microsoft.com/office/drawing/2014/main" id="{074EDB82-078D-4279-A031-52BDED59E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429125"/>
            <a:ext cx="659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微观态数</a:t>
            </a:r>
            <a:r>
              <a:rPr lang="en-US" altLang="zh-CN" sz="2800">
                <a:solidFill>
                  <a:srgbClr val="FFFF00"/>
                </a:solidFill>
              </a:rPr>
              <a:t>2</a:t>
            </a:r>
            <a:r>
              <a:rPr lang="en-US" altLang="zh-CN" sz="2800" baseline="30000">
                <a:solidFill>
                  <a:srgbClr val="FFFF00"/>
                </a:solidFill>
              </a:rPr>
              <a:t>3</a:t>
            </a:r>
            <a:r>
              <a:rPr lang="en-US" altLang="zh-CN" sz="2800">
                <a:solidFill>
                  <a:schemeClr val="bg1"/>
                </a:solidFill>
              </a:rPr>
              <a:t>,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宏观态数</a:t>
            </a:r>
            <a:r>
              <a:rPr lang="en-US" altLang="zh-CN" sz="2800">
                <a:solidFill>
                  <a:srgbClr val="FFFF00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每一种</a:t>
            </a:r>
            <a:r>
              <a:rPr lang="zh-CN" altLang="en-US" sz="2000">
                <a:solidFill>
                  <a:srgbClr val="FFCC00"/>
                </a:solidFill>
                <a:ea typeface="楷体_GB2312" pitchFamily="49" charset="-122"/>
              </a:rPr>
              <a:t>微观态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概率</a:t>
            </a:r>
            <a:r>
              <a:rPr lang="en-US" altLang="zh-CN" sz="2800">
                <a:solidFill>
                  <a:srgbClr val="FFFF00"/>
                </a:solidFill>
              </a:rPr>
              <a:t>1/2</a:t>
            </a:r>
            <a:r>
              <a:rPr lang="en-US" altLang="zh-CN" sz="2800" baseline="30000">
                <a:solidFill>
                  <a:srgbClr val="FFFF00"/>
                </a:solidFill>
              </a:rPr>
              <a:t>3</a:t>
            </a:r>
            <a:r>
              <a:rPr lang="en-US" altLang="zh-CN" sz="2000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35995" name="Text Box 155">
            <a:extLst>
              <a:ext uri="{FF2B5EF4-FFF2-40B4-BE49-F238E27FC236}">
                <a16:creationId xmlns:a16="http://schemas.microsoft.com/office/drawing/2014/main" id="{01B060C3-D2DC-46E9-B5DB-CB7DE72C8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38725"/>
            <a:ext cx="810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微观态</a:t>
            </a:r>
            <a:r>
              <a:rPr lang="en-US" altLang="zh-CN">
                <a:solidFill>
                  <a:srgbClr val="FFFF00"/>
                </a:solidFill>
              </a:rPr>
              <a:t>:  </a:t>
            </a:r>
            <a:r>
              <a:rPr lang="zh-CN" altLang="en-US">
                <a:solidFill>
                  <a:schemeClr val="bg1"/>
                </a:solidFill>
              </a:rPr>
              <a:t>在微观上能够加以区别的每一种</a:t>
            </a:r>
            <a:r>
              <a:rPr lang="zh-CN" altLang="en-US">
                <a:solidFill>
                  <a:srgbClr val="FFFF00"/>
                </a:solidFill>
              </a:rPr>
              <a:t>分配方式   </a:t>
            </a:r>
          </a:p>
        </p:txBody>
      </p:sp>
      <p:sp>
        <p:nvSpPr>
          <p:cNvPr id="35996" name="Text Box 156">
            <a:extLst>
              <a:ext uri="{FF2B5EF4-FFF2-40B4-BE49-F238E27FC236}">
                <a16:creationId xmlns:a16="http://schemas.microsoft.com/office/drawing/2014/main" id="{29D897D4-7DA0-47E3-B7A0-58FBE24C5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543550"/>
            <a:ext cx="7777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宏观态</a:t>
            </a:r>
            <a:r>
              <a:rPr lang="en-US" altLang="zh-CN">
                <a:solidFill>
                  <a:srgbClr val="FFFF00"/>
                </a:solidFill>
              </a:rPr>
              <a:t>:  </a:t>
            </a:r>
            <a:r>
              <a:rPr lang="zh-CN" altLang="en-US">
                <a:solidFill>
                  <a:schemeClr val="bg1"/>
                </a:solidFill>
              </a:rPr>
              <a:t>宏观上能够加以区分的每一种</a:t>
            </a:r>
            <a:r>
              <a:rPr lang="zh-CN" altLang="en-US">
                <a:solidFill>
                  <a:srgbClr val="FFFF00"/>
                </a:solidFill>
              </a:rPr>
              <a:t>分布方式</a:t>
            </a:r>
          </a:p>
        </p:txBody>
      </p:sp>
      <p:sp>
        <p:nvSpPr>
          <p:cNvPr id="35997" name="Text Box 157">
            <a:extLst>
              <a:ext uri="{FF2B5EF4-FFF2-40B4-BE49-F238E27FC236}">
                <a16:creationId xmlns:a16="http://schemas.microsoft.com/office/drawing/2014/main" id="{2FDB0A0E-9AB4-4034-A4D9-708027C94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072188"/>
            <a:ext cx="7745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对于孤立系统，各个微观态出现的概率是相同的</a:t>
            </a:r>
          </a:p>
        </p:txBody>
      </p:sp>
      <p:sp>
        <p:nvSpPr>
          <p:cNvPr id="13343" name="灯片编号占位符 1">
            <a:extLst>
              <a:ext uri="{FF2B5EF4-FFF2-40B4-BE49-F238E27FC236}">
                <a16:creationId xmlns:a16="http://schemas.microsoft.com/office/drawing/2014/main" id="{18472E01-FAC7-4893-AF5F-325A36845CF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479404-4829-41F1-A246-E74754A4EE81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5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5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0" presetClass="emph" presetSubtype="0" repeatCount="indefinite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32" dur="250" autoRev="1" fill="hold"/>
                                        <p:tgtEl>
                                          <p:spTgt spid="3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3" dur="250" autoRev="1" fill="hold"/>
                                        <p:tgtEl>
                                          <p:spTgt spid="35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4" dur="250" autoRev="1" fill="hold"/>
                                        <p:tgtEl>
                                          <p:spTgt spid="35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7" grpId="0" animBg="1"/>
      <p:bldP spid="35844" grpId="0" autoUpdateAnimBg="0"/>
      <p:bldP spid="35845" grpId="0" autoUpdateAnimBg="0"/>
      <p:bldP spid="35846" grpId="0" autoUpdateAnimBg="0"/>
      <p:bldP spid="35869" grpId="0" animBg="1"/>
      <p:bldP spid="35870" grpId="0" animBg="1"/>
      <p:bldP spid="35871" grpId="0" animBg="1"/>
      <p:bldP spid="35871" grpId="1" animBg="1"/>
      <p:bldP spid="35872" grpId="0"/>
      <p:bldP spid="35872" grpId="1"/>
      <p:bldP spid="35876" grpId="0" animBg="1"/>
      <p:bldP spid="35912" grpId="0"/>
      <p:bldP spid="35913" grpId="0" animBg="1"/>
      <p:bldP spid="35914" grpId="0" animBg="1"/>
      <p:bldP spid="35972" grpId="0" animBg="1" autoUpdateAnimBg="0"/>
      <p:bldP spid="35973" grpId="0" animBg="1" autoUpdateAnimBg="0"/>
      <p:bldP spid="35974" grpId="0" animBg="1" autoUpdateAnimBg="0"/>
      <p:bldP spid="35975" grpId="0" animBg="1" autoUpdateAnimBg="0"/>
      <p:bldP spid="35992" grpId="0" animBg="1" autoUpdateAnimBg="0"/>
      <p:bldP spid="35993" grpId="0" animBg="1" autoUpdateAnimBg="0"/>
      <p:bldP spid="35994" grpId="0"/>
      <p:bldP spid="35994" grpId="1"/>
      <p:bldP spid="35995" grpId="0" autoUpdateAnimBg="0"/>
      <p:bldP spid="35996" grpId="0"/>
      <p:bldP spid="3599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8" name="Text Box 68">
            <a:extLst>
              <a:ext uri="{FF2B5EF4-FFF2-40B4-BE49-F238E27FC236}">
                <a16:creationId xmlns:a16="http://schemas.microsoft.com/office/drawing/2014/main" id="{6E3653C8-FDBC-4713-B147-5EE1225BD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714375"/>
            <a:ext cx="5157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个分子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 b c d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的分配方式</a:t>
            </a:r>
          </a:p>
        </p:txBody>
      </p:sp>
      <p:grpSp>
        <p:nvGrpSpPr>
          <p:cNvPr id="2" name="Group 72">
            <a:extLst>
              <a:ext uri="{FF2B5EF4-FFF2-40B4-BE49-F238E27FC236}">
                <a16:creationId xmlns:a16="http://schemas.microsoft.com/office/drawing/2014/main" id="{C8D51B20-A40E-41D8-A0FE-3BD648B38D94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1384300"/>
            <a:ext cx="1066800" cy="1371600"/>
            <a:chOff x="240" y="2208"/>
            <a:chExt cx="672" cy="864"/>
          </a:xfrm>
        </p:grpSpPr>
        <p:sp>
          <p:nvSpPr>
            <p:cNvPr id="14385" name="Rectangle 73">
              <a:extLst>
                <a:ext uri="{FF2B5EF4-FFF2-40B4-BE49-F238E27FC236}">
                  <a16:creationId xmlns:a16="http://schemas.microsoft.com/office/drawing/2014/main" id="{3D1F1D48-417A-4E06-8FC1-B4B99CDF9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208"/>
              <a:ext cx="672" cy="43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左半边</a:t>
              </a:r>
              <a:endParaRPr lang="zh-CN" altLang="en-US" sz="2000" i="1">
                <a:solidFill>
                  <a:schemeClr val="bg1"/>
                </a:solidFill>
              </a:endParaRPr>
            </a:p>
          </p:txBody>
        </p:sp>
        <p:sp>
          <p:nvSpPr>
            <p:cNvPr id="14386" name="Rectangle 74">
              <a:extLst>
                <a:ext uri="{FF2B5EF4-FFF2-40B4-BE49-F238E27FC236}">
                  <a16:creationId xmlns:a16="http://schemas.microsoft.com/office/drawing/2014/main" id="{70182107-7F44-4AD3-801D-61189637A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640"/>
              <a:ext cx="672" cy="43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右半边</a:t>
              </a:r>
              <a:endParaRPr lang="zh-CN" altLang="en-US" sz="2000" i="1">
                <a:solidFill>
                  <a:schemeClr val="bg1"/>
                </a:solidFill>
              </a:endParaRPr>
            </a:p>
          </p:txBody>
        </p:sp>
      </p:grpSp>
      <p:sp>
        <p:nvSpPr>
          <p:cNvPr id="20555" name="Rectangle 75">
            <a:extLst>
              <a:ext uri="{FF2B5EF4-FFF2-40B4-BE49-F238E27FC236}">
                <a16:creationId xmlns:a16="http://schemas.microsoft.com/office/drawing/2014/main" id="{D412514C-CD49-4A59-9664-072298DD5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1384300"/>
            <a:ext cx="838200" cy="685800"/>
          </a:xfrm>
          <a:prstGeom prst="rect">
            <a:avLst/>
          </a:prstGeom>
          <a:solidFill>
            <a:srgbClr val="00CC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bg1"/>
                </a:solidFill>
              </a:rPr>
              <a:t>abcd</a:t>
            </a:r>
          </a:p>
        </p:txBody>
      </p:sp>
      <p:sp>
        <p:nvSpPr>
          <p:cNvPr id="20556" name="Rectangle 76">
            <a:extLst>
              <a:ext uri="{FF2B5EF4-FFF2-40B4-BE49-F238E27FC236}">
                <a16:creationId xmlns:a16="http://schemas.microsoft.com/office/drawing/2014/main" id="{2919DFAC-808E-4E88-B13F-C6ABC7BF4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2070100"/>
            <a:ext cx="838200" cy="685800"/>
          </a:xfrm>
          <a:prstGeom prst="rect">
            <a:avLst/>
          </a:prstGeom>
          <a:solidFill>
            <a:srgbClr val="00CC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bg1"/>
                </a:solidFill>
              </a:rPr>
              <a:t>0</a:t>
            </a:r>
          </a:p>
        </p:txBody>
      </p:sp>
      <p:grpSp>
        <p:nvGrpSpPr>
          <p:cNvPr id="3" name="Group 77">
            <a:extLst>
              <a:ext uri="{FF2B5EF4-FFF2-40B4-BE49-F238E27FC236}">
                <a16:creationId xmlns:a16="http://schemas.microsoft.com/office/drawing/2014/main" id="{23962345-0D33-4757-A973-510199B160B7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1384300"/>
            <a:ext cx="3352800" cy="685800"/>
            <a:chOff x="1440" y="2208"/>
            <a:chExt cx="2112" cy="432"/>
          </a:xfrm>
        </p:grpSpPr>
        <p:sp>
          <p:nvSpPr>
            <p:cNvPr id="14381" name="Rectangle 78">
              <a:extLst>
                <a:ext uri="{FF2B5EF4-FFF2-40B4-BE49-F238E27FC236}">
                  <a16:creationId xmlns:a16="http://schemas.microsoft.com/office/drawing/2014/main" id="{CD511211-E2D4-4DA4-A208-E6873FEF9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208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abc</a:t>
              </a:r>
            </a:p>
          </p:txBody>
        </p:sp>
        <p:sp>
          <p:nvSpPr>
            <p:cNvPr id="14382" name="Rectangle 79">
              <a:extLst>
                <a:ext uri="{FF2B5EF4-FFF2-40B4-BE49-F238E27FC236}">
                  <a16:creationId xmlns:a16="http://schemas.microsoft.com/office/drawing/2014/main" id="{0707FBBD-E220-44AF-920E-375321506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08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bcd</a:t>
              </a:r>
            </a:p>
          </p:txBody>
        </p:sp>
        <p:sp>
          <p:nvSpPr>
            <p:cNvPr id="14383" name="Rectangle 80">
              <a:extLst>
                <a:ext uri="{FF2B5EF4-FFF2-40B4-BE49-F238E27FC236}">
                  <a16:creationId xmlns:a16="http://schemas.microsoft.com/office/drawing/2014/main" id="{335D634E-CCAE-456E-9078-24B7A8FB1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208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cda</a:t>
              </a:r>
            </a:p>
          </p:txBody>
        </p:sp>
        <p:sp>
          <p:nvSpPr>
            <p:cNvPr id="14384" name="Rectangle 81">
              <a:extLst>
                <a:ext uri="{FF2B5EF4-FFF2-40B4-BE49-F238E27FC236}">
                  <a16:creationId xmlns:a16="http://schemas.microsoft.com/office/drawing/2014/main" id="{541F969B-E1D8-4BBF-B24E-B2281B007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208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dab</a:t>
              </a:r>
            </a:p>
          </p:txBody>
        </p:sp>
      </p:grpSp>
      <p:grpSp>
        <p:nvGrpSpPr>
          <p:cNvPr id="4" name="Group 82">
            <a:extLst>
              <a:ext uri="{FF2B5EF4-FFF2-40B4-BE49-F238E27FC236}">
                <a16:creationId xmlns:a16="http://schemas.microsoft.com/office/drawing/2014/main" id="{C231FD95-42B3-4AEA-BE9D-A5C7C5B68AAE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070100"/>
            <a:ext cx="3352800" cy="685800"/>
            <a:chOff x="1440" y="2640"/>
            <a:chExt cx="2112" cy="432"/>
          </a:xfrm>
        </p:grpSpPr>
        <p:sp>
          <p:nvSpPr>
            <p:cNvPr id="14377" name="Rectangle 83">
              <a:extLst>
                <a:ext uri="{FF2B5EF4-FFF2-40B4-BE49-F238E27FC236}">
                  <a16:creationId xmlns:a16="http://schemas.microsoft.com/office/drawing/2014/main" id="{C6BE3D70-F715-4891-A6AE-7D8D59147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0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4378" name="Rectangle 84">
              <a:extLst>
                <a:ext uri="{FF2B5EF4-FFF2-40B4-BE49-F238E27FC236}">
                  <a16:creationId xmlns:a16="http://schemas.microsoft.com/office/drawing/2014/main" id="{44137C84-8137-4FC2-B592-D229EAA28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640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4379" name="Rectangle 85">
              <a:extLst>
                <a:ext uri="{FF2B5EF4-FFF2-40B4-BE49-F238E27FC236}">
                  <a16:creationId xmlns:a16="http://schemas.microsoft.com/office/drawing/2014/main" id="{367D5AA2-0975-471A-8A5D-39B37F7ED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640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4380" name="Rectangle 86">
              <a:extLst>
                <a:ext uri="{FF2B5EF4-FFF2-40B4-BE49-F238E27FC236}">
                  <a16:creationId xmlns:a16="http://schemas.microsoft.com/office/drawing/2014/main" id="{8E781CDF-2274-4224-8D89-516B63630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40"/>
              <a:ext cx="528" cy="432"/>
            </a:xfrm>
            <a:prstGeom prst="rect">
              <a:avLst/>
            </a:prstGeom>
            <a:solidFill>
              <a:srgbClr val="0099CC">
                <a:alpha val="49019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20567" name="Rectangle 87">
            <a:extLst>
              <a:ext uri="{FF2B5EF4-FFF2-40B4-BE49-F238E27FC236}">
                <a16:creationId xmlns:a16="http://schemas.microsoft.com/office/drawing/2014/main" id="{A28F1AC4-F085-4734-AB25-BACDCCA0C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963" y="2751138"/>
            <a:ext cx="838200" cy="685800"/>
          </a:xfrm>
          <a:prstGeom prst="rect">
            <a:avLst/>
          </a:prstGeom>
          <a:solidFill>
            <a:srgbClr val="FF7C80">
              <a:alpha val="50980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0568" name="Rectangle 88">
            <a:extLst>
              <a:ext uri="{FF2B5EF4-FFF2-40B4-BE49-F238E27FC236}">
                <a16:creationId xmlns:a16="http://schemas.microsoft.com/office/drawing/2014/main" id="{794273D1-ECC0-4A4A-8CBB-B95C966AF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1138" y="3441700"/>
            <a:ext cx="838200" cy="685800"/>
          </a:xfrm>
          <a:prstGeom prst="rect">
            <a:avLst/>
          </a:prstGeom>
          <a:solidFill>
            <a:srgbClr val="FF7C80">
              <a:alpha val="50980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bg1"/>
                </a:solidFill>
              </a:rPr>
              <a:t>abcd</a:t>
            </a:r>
          </a:p>
        </p:txBody>
      </p:sp>
      <p:grpSp>
        <p:nvGrpSpPr>
          <p:cNvPr id="5" name="Group 89">
            <a:extLst>
              <a:ext uri="{FF2B5EF4-FFF2-40B4-BE49-F238E27FC236}">
                <a16:creationId xmlns:a16="http://schemas.microsoft.com/office/drawing/2014/main" id="{EA475936-A42B-422A-9981-6DD12A503DEB}"/>
              </a:ext>
            </a:extLst>
          </p:cNvPr>
          <p:cNvGrpSpPr>
            <a:grpSpLocks/>
          </p:cNvGrpSpPr>
          <p:nvPr/>
        </p:nvGrpSpPr>
        <p:grpSpPr bwMode="auto">
          <a:xfrm>
            <a:off x="4486275" y="3429000"/>
            <a:ext cx="3352800" cy="698500"/>
            <a:chOff x="2780" y="1498"/>
            <a:chExt cx="2112" cy="440"/>
          </a:xfrm>
        </p:grpSpPr>
        <p:sp>
          <p:nvSpPr>
            <p:cNvPr id="14373" name="Rectangle 90">
              <a:extLst>
                <a:ext uri="{FF2B5EF4-FFF2-40B4-BE49-F238E27FC236}">
                  <a16:creationId xmlns:a16="http://schemas.microsoft.com/office/drawing/2014/main" id="{E6541CEC-E985-447B-98ED-BCF0C5FD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4" y="1498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abc</a:t>
              </a:r>
            </a:p>
          </p:txBody>
        </p:sp>
        <p:sp>
          <p:nvSpPr>
            <p:cNvPr id="14374" name="Rectangle 91">
              <a:extLst>
                <a:ext uri="{FF2B5EF4-FFF2-40B4-BE49-F238E27FC236}">
                  <a16:creationId xmlns:a16="http://schemas.microsoft.com/office/drawing/2014/main" id="{7E64DE5E-E2E4-4E45-B967-3B57C0FD4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1506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bcd</a:t>
              </a:r>
            </a:p>
          </p:txBody>
        </p:sp>
        <p:sp>
          <p:nvSpPr>
            <p:cNvPr id="14375" name="Rectangle 92">
              <a:extLst>
                <a:ext uri="{FF2B5EF4-FFF2-40B4-BE49-F238E27FC236}">
                  <a16:creationId xmlns:a16="http://schemas.microsoft.com/office/drawing/2014/main" id="{8555FE79-7AF8-4C8B-8896-7024679F1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8" y="1506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cda</a:t>
              </a:r>
            </a:p>
          </p:txBody>
        </p:sp>
        <p:sp>
          <p:nvSpPr>
            <p:cNvPr id="14376" name="Rectangle 93">
              <a:extLst>
                <a:ext uri="{FF2B5EF4-FFF2-40B4-BE49-F238E27FC236}">
                  <a16:creationId xmlns:a16="http://schemas.microsoft.com/office/drawing/2014/main" id="{0E16606E-491D-409E-A1FC-DDF11871C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506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dab</a:t>
              </a:r>
            </a:p>
          </p:txBody>
        </p:sp>
      </p:grpSp>
      <p:grpSp>
        <p:nvGrpSpPr>
          <p:cNvPr id="6" name="Group 94">
            <a:extLst>
              <a:ext uri="{FF2B5EF4-FFF2-40B4-BE49-F238E27FC236}">
                <a16:creationId xmlns:a16="http://schemas.microsoft.com/office/drawing/2014/main" id="{9264337F-B685-4ACE-915B-6A2E865562BE}"/>
              </a:ext>
            </a:extLst>
          </p:cNvPr>
          <p:cNvGrpSpPr>
            <a:grpSpLocks/>
          </p:cNvGrpSpPr>
          <p:nvPr/>
        </p:nvGrpSpPr>
        <p:grpSpPr bwMode="auto">
          <a:xfrm>
            <a:off x="4486275" y="2747963"/>
            <a:ext cx="3352800" cy="685800"/>
            <a:chOff x="1968" y="3067"/>
            <a:chExt cx="2112" cy="432"/>
          </a:xfrm>
        </p:grpSpPr>
        <p:sp>
          <p:nvSpPr>
            <p:cNvPr id="14369" name="Rectangle 95">
              <a:extLst>
                <a:ext uri="{FF2B5EF4-FFF2-40B4-BE49-F238E27FC236}">
                  <a16:creationId xmlns:a16="http://schemas.microsoft.com/office/drawing/2014/main" id="{CFD2322D-5B32-4775-98EA-62B02C34C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067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4370" name="Rectangle 96">
              <a:extLst>
                <a:ext uri="{FF2B5EF4-FFF2-40B4-BE49-F238E27FC236}">
                  <a16:creationId xmlns:a16="http://schemas.microsoft.com/office/drawing/2014/main" id="{7C3A4BD9-8DC8-4D69-A974-00751A9FC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67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4371" name="Rectangle 97">
              <a:extLst>
                <a:ext uri="{FF2B5EF4-FFF2-40B4-BE49-F238E27FC236}">
                  <a16:creationId xmlns:a16="http://schemas.microsoft.com/office/drawing/2014/main" id="{0082EBE8-B6B4-4207-8BD4-687817DF1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67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4372" name="Rectangle 98">
              <a:extLst>
                <a:ext uri="{FF2B5EF4-FFF2-40B4-BE49-F238E27FC236}">
                  <a16:creationId xmlns:a16="http://schemas.microsoft.com/office/drawing/2014/main" id="{D40B9316-45B8-4410-BC07-1B85BFF33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067"/>
              <a:ext cx="528" cy="432"/>
            </a:xfrm>
            <a:prstGeom prst="rect">
              <a:avLst/>
            </a:prstGeom>
            <a:solidFill>
              <a:srgbClr val="339966">
                <a:alpha val="65881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7" name="Group 99">
            <a:extLst>
              <a:ext uri="{FF2B5EF4-FFF2-40B4-BE49-F238E27FC236}">
                <a16:creationId xmlns:a16="http://schemas.microsoft.com/office/drawing/2014/main" id="{A4557670-351E-4C24-B96F-6CCE9C09AF9F}"/>
              </a:ext>
            </a:extLst>
          </p:cNvPr>
          <p:cNvGrpSpPr>
            <a:grpSpLocks/>
          </p:cNvGrpSpPr>
          <p:nvPr/>
        </p:nvGrpSpPr>
        <p:grpSpPr bwMode="auto">
          <a:xfrm>
            <a:off x="1971675" y="2071688"/>
            <a:ext cx="6692900" cy="2057400"/>
            <a:chOff x="1196" y="643"/>
            <a:chExt cx="4216" cy="1296"/>
          </a:xfrm>
        </p:grpSpPr>
        <p:grpSp>
          <p:nvGrpSpPr>
            <p:cNvPr id="14361" name="Group 100">
              <a:extLst>
                <a:ext uri="{FF2B5EF4-FFF2-40B4-BE49-F238E27FC236}">
                  <a16:creationId xmlns:a16="http://schemas.microsoft.com/office/drawing/2014/main" id="{D0061340-2BBB-4F3C-93BD-F0AA0C3D98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8" y="643"/>
              <a:ext cx="1584" cy="432"/>
              <a:chOff x="3552" y="3087"/>
              <a:chExt cx="1584" cy="432"/>
            </a:xfrm>
          </p:grpSpPr>
          <p:sp>
            <p:nvSpPr>
              <p:cNvPr id="14366" name="Rectangle 101">
                <a:extLst>
                  <a:ext uri="{FF2B5EF4-FFF2-40B4-BE49-F238E27FC236}">
                    <a16:creationId xmlns:a16="http://schemas.microsoft.com/office/drawing/2014/main" id="{90A76EC2-08B9-49C2-894B-1F6A135A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3087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cd</a:t>
                </a:r>
              </a:p>
            </p:txBody>
          </p:sp>
          <p:sp>
            <p:nvSpPr>
              <p:cNvPr id="14367" name="Rectangle 102">
                <a:extLst>
                  <a:ext uri="{FF2B5EF4-FFF2-40B4-BE49-F238E27FC236}">
                    <a16:creationId xmlns:a16="http://schemas.microsoft.com/office/drawing/2014/main" id="{8E940AC3-4A03-4C1E-9161-333C7074C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087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ad</a:t>
                </a:r>
              </a:p>
            </p:txBody>
          </p:sp>
          <p:sp>
            <p:nvSpPr>
              <p:cNvPr id="14368" name="Rectangle 103">
                <a:extLst>
                  <a:ext uri="{FF2B5EF4-FFF2-40B4-BE49-F238E27FC236}">
                    <a16:creationId xmlns:a16="http://schemas.microsoft.com/office/drawing/2014/main" id="{15F3DECC-C1FB-4FAB-9EF6-F706B2883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3087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ab</a:t>
                </a:r>
              </a:p>
            </p:txBody>
          </p:sp>
        </p:grpSp>
        <p:grpSp>
          <p:nvGrpSpPr>
            <p:cNvPr id="14362" name="Group 104">
              <a:extLst>
                <a:ext uri="{FF2B5EF4-FFF2-40B4-BE49-F238E27FC236}">
                  <a16:creationId xmlns:a16="http://schemas.microsoft.com/office/drawing/2014/main" id="{C2C04764-21FE-42F6-B27B-8FC2D5A70E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" y="1507"/>
              <a:ext cx="1587" cy="432"/>
              <a:chOff x="1202" y="1507"/>
              <a:chExt cx="1587" cy="432"/>
            </a:xfrm>
          </p:grpSpPr>
          <p:sp>
            <p:nvSpPr>
              <p:cNvPr id="14363" name="Rectangle 105">
                <a:extLst>
                  <a:ext uri="{FF2B5EF4-FFF2-40B4-BE49-F238E27FC236}">
                    <a16:creationId xmlns:a16="http://schemas.microsoft.com/office/drawing/2014/main" id="{701434A2-F2AC-4BD9-AB8D-0750BA74A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1507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bc</a:t>
                </a:r>
              </a:p>
            </p:txBody>
          </p:sp>
          <p:sp>
            <p:nvSpPr>
              <p:cNvPr id="14364" name="Rectangle 106">
                <a:extLst>
                  <a:ext uri="{FF2B5EF4-FFF2-40B4-BE49-F238E27FC236}">
                    <a16:creationId xmlns:a16="http://schemas.microsoft.com/office/drawing/2014/main" id="{E05B871C-F723-4DC2-8020-653C00408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1" y="1507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ac</a:t>
                </a:r>
              </a:p>
            </p:txBody>
          </p:sp>
          <p:sp>
            <p:nvSpPr>
              <p:cNvPr id="14365" name="Rectangle 107">
                <a:extLst>
                  <a:ext uri="{FF2B5EF4-FFF2-40B4-BE49-F238E27FC236}">
                    <a16:creationId xmlns:a16="http://schemas.microsoft.com/office/drawing/2014/main" id="{D2E14CD5-CC82-403A-AE1A-6B8E72685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507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db</a:t>
                </a:r>
              </a:p>
            </p:txBody>
          </p:sp>
        </p:grpSp>
      </p:grpSp>
      <p:grpSp>
        <p:nvGrpSpPr>
          <p:cNvPr id="10" name="Group 108">
            <a:extLst>
              <a:ext uri="{FF2B5EF4-FFF2-40B4-BE49-F238E27FC236}">
                <a16:creationId xmlns:a16="http://schemas.microsoft.com/office/drawing/2014/main" id="{82D9588C-DEC0-40F4-86B2-3E7AD214E77E}"/>
              </a:ext>
            </a:extLst>
          </p:cNvPr>
          <p:cNvGrpSpPr>
            <a:grpSpLocks/>
          </p:cNvGrpSpPr>
          <p:nvPr/>
        </p:nvGrpSpPr>
        <p:grpSpPr bwMode="auto">
          <a:xfrm>
            <a:off x="1976438" y="1384300"/>
            <a:ext cx="6696075" cy="2051050"/>
            <a:chOff x="1199" y="210"/>
            <a:chExt cx="4218" cy="1292"/>
          </a:xfrm>
        </p:grpSpPr>
        <p:grpSp>
          <p:nvGrpSpPr>
            <p:cNvPr id="14353" name="Group 109">
              <a:extLst>
                <a:ext uri="{FF2B5EF4-FFF2-40B4-BE49-F238E27FC236}">
                  <a16:creationId xmlns:a16="http://schemas.microsoft.com/office/drawing/2014/main" id="{0BF918B0-C63F-4700-A0D9-BE3235BA7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3" y="210"/>
              <a:ext cx="1584" cy="432"/>
              <a:chOff x="3561" y="2588"/>
              <a:chExt cx="1584" cy="432"/>
            </a:xfrm>
          </p:grpSpPr>
          <p:sp>
            <p:nvSpPr>
              <p:cNvPr id="14358" name="Rectangle 110">
                <a:extLst>
                  <a:ext uri="{FF2B5EF4-FFF2-40B4-BE49-F238E27FC236}">
                    <a16:creationId xmlns:a16="http://schemas.microsoft.com/office/drawing/2014/main" id="{AAE75664-59C9-41C1-A87C-7F2993E08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1" y="2588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ab</a:t>
                </a:r>
              </a:p>
            </p:txBody>
          </p:sp>
          <p:sp>
            <p:nvSpPr>
              <p:cNvPr id="14359" name="Rectangle 111">
                <a:extLst>
                  <a:ext uri="{FF2B5EF4-FFF2-40B4-BE49-F238E27FC236}">
                    <a16:creationId xmlns:a16="http://schemas.microsoft.com/office/drawing/2014/main" id="{39B6B487-641C-4742-A5B9-353CE75C1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9" y="2588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bc</a:t>
                </a:r>
              </a:p>
            </p:txBody>
          </p:sp>
          <p:sp>
            <p:nvSpPr>
              <p:cNvPr id="14360" name="Rectangle 112">
                <a:extLst>
                  <a:ext uri="{FF2B5EF4-FFF2-40B4-BE49-F238E27FC236}">
                    <a16:creationId xmlns:a16="http://schemas.microsoft.com/office/drawing/2014/main" id="{510F209D-CB86-4A41-98FE-EF7BC0F9BE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7" y="2588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cd</a:t>
                </a:r>
              </a:p>
            </p:txBody>
          </p:sp>
        </p:grpSp>
        <p:grpSp>
          <p:nvGrpSpPr>
            <p:cNvPr id="14354" name="Group 113">
              <a:extLst>
                <a:ext uri="{FF2B5EF4-FFF2-40B4-BE49-F238E27FC236}">
                  <a16:creationId xmlns:a16="http://schemas.microsoft.com/office/drawing/2014/main" id="{DA33C238-D389-409B-A7F8-48D44D3B3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9" y="1070"/>
              <a:ext cx="1575" cy="432"/>
              <a:chOff x="1199" y="1070"/>
              <a:chExt cx="1575" cy="432"/>
            </a:xfrm>
          </p:grpSpPr>
          <p:sp>
            <p:nvSpPr>
              <p:cNvPr id="14355" name="Rectangle 114">
                <a:extLst>
                  <a:ext uri="{FF2B5EF4-FFF2-40B4-BE49-F238E27FC236}">
                    <a16:creationId xmlns:a16="http://schemas.microsoft.com/office/drawing/2014/main" id="{2D905E3A-95D3-4FD9-A897-EEC325D06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9" y="1070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da</a:t>
                </a:r>
              </a:p>
            </p:txBody>
          </p:sp>
          <p:sp>
            <p:nvSpPr>
              <p:cNvPr id="14356" name="Rectangle 115">
                <a:extLst>
                  <a:ext uri="{FF2B5EF4-FFF2-40B4-BE49-F238E27FC236}">
                    <a16:creationId xmlns:a16="http://schemas.microsoft.com/office/drawing/2014/main" id="{DE9D0C6B-6295-4B4D-8A8F-EEB3B563C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6" y="1070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bd</a:t>
                </a:r>
              </a:p>
            </p:txBody>
          </p:sp>
          <p:sp>
            <p:nvSpPr>
              <p:cNvPr id="14357" name="Rectangle 116">
                <a:extLst>
                  <a:ext uri="{FF2B5EF4-FFF2-40B4-BE49-F238E27FC236}">
                    <a16:creationId xmlns:a16="http://schemas.microsoft.com/office/drawing/2014/main" id="{C556388C-00C4-458E-ACD5-61272FB9B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8" y="1070"/>
                <a:ext cx="528" cy="432"/>
              </a:xfrm>
              <a:prstGeom prst="rect">
                <a:avLst/>
              </a:prstGeom>
              <a:solidFill>
                <a:srgbClr val="FFCCFF">
                  <a:alpha val="63136"/>
                </a:srgb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ac</a:t>
                </a:r>
              </a:p>
            </p:txBody>
          </p:sp>
        </p:grpSp>
      </p:grpSp>
      <p:sp>
        <p:nvSpPr>
          <p:cNvPr id="20613" name="Rectangle 133">
            <a:extLst>
              <a:ext uri="{FF2B5EF4-FFF2-40B4-BE49-F238E27FC236}">
                <a16:creationId xmlns:a16="http://schemas.microsoft.com/office/drawing/2014/main" id="{61CA192E-FE72-4D15-85BE-0F6F64BE7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340225"/>
            <a:ext cx="7027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微观态数</a:t>
            </a:r>
            <a:r>
              <a:rPr lang="en-US" altLang="zh-CN" sz="2800">
                <a:solidFill>
                  <a:srgbClr val="FFFF00"/>
                </a:solidFill>
              </a:rPr>
              <a:t>2</a:t>
            </a:r>
            <a:r>
              <a:rPr lang="en-US" altLang="zh-CN" sz="2800" baseline="30000">
                <a:solidFill>
                  <a:srgbClr val="FFFF00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宏观态数</a:t>
            </a:r>
            <a:r>
              <a:rPr lang="en-US" altLang="zh-CN" sz="2800">
                <a:solidFill>
                  <a:srgbClr val="FFFF00"/>
                </a:solidFill>
              </a:rPr>
              <a:t>5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每一种微观态概率</a:t>
            </a:r>
            <a:r>
              <a:rPr lang="en-US" altLang="zh-CN" sz="2800">
                <a:solidFill>
                  <a:srgbClr val="FFFF00"/>
                </a:solidFill>
              </a:rPr>
              <a:t>1/2</a:t>
            </a:r>
            <a:r>
              <a:rPr lang="en-US" altLang="zh-CN" sz="2800" baseline="30000">
                <a:solidFill>
                  <a:srgbClr val="FFFF00"/>
                </a:solidFill>
              </a:rPr>
              <a:t>4</a:t>
            </a:r>
            <a:endParaRPr lang="en-US" altLang="zh-CN" sz="2800">
              <a:solidFill>
                <a:srgbClr val="FFFF00"/>
              </a:solidFill>
            </a:endParaRPr>
          </a:p>
        </p:txBody>
      </p:sp>
      <p:sp>
        <p:nvSpPr>
          <p:cNvPr id="20615" name="Text Box 135">
            <a:extLst>
              <a:ext uri="{FF2B5EF4-FFF2-40B4-BE49-F238E27FC236}">
                <a16:creationId xmlns:a16="http://schemas.microsoft.com/office/drawing/2014/main" id="{7393E428-1267-40EB-9EC1-A1F862675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5154613"/>
            <a:ext cx="78486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可以推知， 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个分子，分子的总微观态数</a:t>
            </a:r>
            <a:r>
              <a:rPr lang="en-US" altLang="zh-CN" sz="2800">
                <a:solidFill>
                  <a:srgbClr val="FFFF00"/>
                </a:solidFill>
              </a:rPr>
              <a:t>2</a:t>
            </a:r>
            <a:r>
              <a:rPr lang="en-US" altLang="zh-CN" sz="2800" baseline="30000">
                <a:solidFill>
                  <a:srgbClr val="FFFF00"/>
                </a:solidFill>
              </a:rPr>
              <a:t>N </a:t>
            </a:r>
            <a:r>
              <a:rPr lang="zh-CN" altLang="en-US">
                <a:solidFill>
                  <a:schemeClr val="bg1"/>
                </a:solidFill>
              </a:rPr>
              <a:t>，总宏观态数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>
                <a:solidFill>
                  <a:srgbClr val="FFFF00"/>
                </a:solidFill>
              </a:rPr>
              <a:t>+1</a:t>
            </a:r>
            <a:r>
              <a:rPr lang="en-US" altLang="zh-CN">
                <a:solidFill>
                  <a:schemeClr val="bg1"/>
                </a:solidFill>
              </a:rPr>
              <a:t>) </a:t>
            </a:r>
            <a:r>
              <a:rPr lang="zh-CN" altLang="en-US">
                <a:solidFill>
                  <a:schemeClr val="bg1"/>
                </a:solidFill>
              </a:rPr>
              <a:t>，每一种微观态概率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>
                <a:solidFill>
                  <a:srgbClr val="FFFF00"/>
                </a:solidFill>
              </a:rPr>
              <a:t>1/2</a:t>
            </a:r>
            <a:r>
              <a:rPr lang="en-US" altLang="zh-CN" baseline="30000">
                <a:solidFill>
                  <a:srgbClr val="FFFF00"/>
                </a:solidFill>
              </a:rPr>
              <a:t>N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r>
              <a:rPr lang="en-US" altLang="zh-CN" sz="20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352" name="灯片编号占位符 1">
            <a:extLst>
              <a:ext uri="{FF2B5EF4-FFF2-40B4-BE49-F238E27FC236}">
                <a16:creationId xmlns:a16="http://schemas.microsoft.com/office/drawing/2014/main" id="{3FF8782F-4EA0-42B2-B89E-9772DBE12F2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22FE0E-1763-4A7C-9100-E73F25E0E3ED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0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1" dur="1000" autoRev="1" fill="hold"/>
                                        <p:tgtEl>
                                          <p:spTgt spid="20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1000" autoRev="1" fill="hold"/>
                                        <p:tgtEl>
                                          <p:spTgt spid="20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1000" autoRev="1" fill="hold"/>
                                        <p:tgtEl>
                                          <p:spTgt spid="20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8" grpId="0"/>
      <p:bldP spid="20555" grpId="0" animBg="1" autoUpdateAnimBg="0"/>
      <p:bldP spid="20556" grpId="0" animBg="1" autoUpdateAnimBg="0"/>
      <p:bldP spid="20567" grpId="0" animBg="1" autoUpdateAnimBg="0"/>
      <p:bldP spid="20568" grpId="0" animBg="1" autoUpdateAnimBg="0"/>
      <p:bldP spid="20613" grpId="0"/>
      <p:bldP spid="20613" grpId="1"/>
      <p:bldP spid="206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313DF68A-7818-488D-BE4E-D578BA53E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285750"/>
            <a:ext cx="3513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20</a:t>
            </a:r>
            <a:r>
              <a:rPr lang="zh-CN" altLang="en-US">
                <a:solidFill>
                  <a:schemeClr val="bg1"/>
                </a:solidFill>
              </a:rPr>
              <a:t>个分子的位置分布</a:t>
            </a:r>
          </a:p>
        </p:txBody>
      </p:sp>
      <p:graphicFrame>
        <p:nvGraphicFramePr>
          <p:cNvPr id="33087" name="Group 319">
            <a:extLst>
              <a:ext uri="{FF2B5EF4-FFF2-40B4-BE49-F238E27FC236}">
                <a16:creationId xmlns:a16="http://schemas.microsoft.com/office/drawing/2014/main" id="{3CA461E6-B47B-47C0-825F-71FA6F677B3D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882650"/>
          <a:ext cx="8066088" cy="4886327"/>
        </p:xfrm>
        <a:graphic>
          <a:graphicData uri="http://schemas.openxmlformats.org/drawingml/2006/table">
            <a:tbl>
              <a:tblPr/>
              <a:tblGrid>
                <a:gridCol w="302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宏观状态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一种宏观状态对应的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微观状态数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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66FFFF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      190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  15504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167960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6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184756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67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167960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  15504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      190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右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 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>
                        <a:alpha val="21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073" name="Text Box 305">
            <a:extLst>
              <a:ext uri="{FF2B5EF4-FFF2-40B4-BE49-F238E27FC236}">
                <a16:creationId xmlns:a16="http://schemas.microsoft.com/office/drawing/2014/main" id="{8D9F904D-4382-4F4B-B160-F223C613F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5857875"/>
            <a:ext cx="8607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平衡态：微观状态数最多的宏观状态，是出现概率最大的状态</a:t>
            </a:r>
          </a:p>
        </p:txBody>
      </p:sp>
      <p:sp>
        <p:nvSpPr>
          <p:cNvPr id="5" name="Rectangle 99">
            <a:extLst>
              <a:ext uri="{FF2B5EF4-FFF2-40B4-BE49-F238E27FC236}">
                <a16:creationId xmlns:a16="http://schemas.microsoft.com/office/drawing/2014/main" id="{D89330A9-5C89-487F-A2BD-E05CFD14D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241300"/>
            <a:ext cx="2592388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分子的总微观态数</a:t>
            </a:r>
          </a:p>
        </p:txBody>
      </p:sp>
      <p:graphicFrame>
        <p:nvGraphicFramePr>
          <p:cNvPr id="6" name="Object 100">
            <a:extLst>
              <a:ext uri="{FF2B5EF4-FFF2-40B4-BE49-F238E27FC236}">
                <a16:creationId xmlns:a16="http://schemas.microsoft.com/office/drawing/2014/main" id="{A3ADC3A5-90EF-4076-A37D-669A3312F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2250" y="285750"/>
          <a:ext cx="1762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255" name="公式" r:id="rId3" imgW="781063" imgH="161959" progId="Equation.3">
                  <p:embed/>
                </p:oleObj>
              </mc:Choice>
              <mc:Fallback>
                <p:oleObj name="公式" r:id="rId3" imgW="781063" imgH="161959" progId="Equation.3">
                  <p:embed/>
                  <p:pic>
                    <p:nvPicPr>
                      <p:cNvPr id="6" name="Object 100">
                        <a:extLst>
                          <a:ext uri="{FF2B5EF4-FFF2-40B4-BE49-F238E27FC236}">
                            <a16:creationId xmlns:a16="http://schemas.microsoft.com/office/drawing/2014/main" id="{A3ADC3A5-90EF-4076-A37D-669A3312F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285750"/>
                        <a:ext cx="1762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1" name="灯片编号占位符 1">
            <a:extLst>
              <a:ext uri="{FF2B5EF4-FFF2-40B4-BE49-F238E27FC236}">
                <a16:creationId xmlns:a16="http://schemas.microsoft.com/office/drawing/2014/main" id="{ADEDE9CD-2C9A-475B-BFD6-C9AA226CDED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007363-3DCD-4332-A1A6-0D560E04CC76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BB87E94-D402-4103-94EE-8FC7170E0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1447800"/>
            <a:ext cx="1071562" cy="42862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较有序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7C58A8F-99D5-43EF-A322-5478618BE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3376613"/>
            <a:ext cx="1071562" cy="42862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无序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F326616-9893-4170-9CE0-BBF3AE8BF49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680201" y="2606675"/>
            <a:ext cx="1357312" cy="1587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3" grpId="0"/>
      <p:bldP spid="5" grpId="0" autoUpdateAnimBg="0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5">
            <a:extLst>
              <a:ext uri="{FF2B5EF4-FFF2-40B4-BE49-F238E27FC236}">
                <a16:creationId xmlns:a16="http://schemas.microsoft.com/office/drawing/2014/main" id="{98CC2563-2852-4401-966F-9C32963A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65325"/>
            <a:ext cx="5040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每个分子在左、右两边概率相等</a:t>
            </a:r>
          </a:p>
        </p:txBody>
      </p:sp>
      <p:sp>
        <p:nvSpPr>
          <p:cNvPr id="3" name="Rectangle 216">
            <a:extLst>
              <a:ext uri="{FF2B5EF4-FFF2-40B4-BE49-F238E27FC236}">
                <a16:creationId xmlns:a16="http://schemas.microsoft.com/office/drawing/2014/main" id="{3C6EE21C-4303-4094-A293-20AF5B72A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42900"/>
            <a:ext cx="6337300" cy="959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每个宏观态包含一定的微观态数，用    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表示左边有   个分子宏观态对应的微观态数</a:t>
            </a:r>
          </a:p>
        </p:txBody>
      </p:sp>
      <p:graphicFrame>
        <p:nvGraphicFramePr>
          <p:cNvPr id="4" name="Object 217">
            <a:extLst>
              <a:ext uri="{FF2B5EF4-FFF2-40B4-BE49-F238E27FC236}">
                <a16:creationId xmlns:a16="http://schemas.microsoft.com/office/drawing/2014/main" id="{CDC2B1C4-BCE7-4B09-B447-89218D753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0813" y="417513"/>
          <a:ext cx="2076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34" name="公式" r:id="rId3" imgW="1009510" imgH="171450" progId="Equation.3">
                  <p:embed/>
                </p:oleObj>
              </mc:Choice>
              <mc:Fallback>
                <p:oleObj name="公式" r:id="rId3" imgW="1009510" imgH="171450" progId="Equation.3">
                  <p:embed/>
                  <p:pic>
                    <p:nvPicPr>
                      <p:cNvPr id="4" name="Object 217">
                        <a:extLst>
                          <a:ext uri="{FF2B5EF4-FFF2-40B4-BE49-F238E27FC236}">
                            <a16:creationId xmlns:a16="http://schemas.microsoft.com/office/drawing/2014/main" id="{CDC2B1C4-BCE7-4B09-B447-89218D753C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417513"/>
                        <a:ext cx="20764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8">
            <a:extLst>
              <a:ext uri="{FF2B5EF4-FFF2-40B4-BE49-F238E27FC236}">
                <a16:creationId xmlns:a16="http://schemas.microsoft.com/office/drawing/2014/main" id="{57BB96C7-24EC-4484-BF63-9BD64674E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5100" y="901700"/>
          <a:ext cx="20478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35" name="公式" r:id="rId5" imgW="1000029" imgH="171450" progId="Equation.3">
                  <p:embed/>
                </p:oleObj>
              </mc:Choice>
              <mc:Fallback>
                <p:oleObj name="公式" r:id="rId5" imgW="1000029" imgH="171450" progId="Equation.3">
                  <p:embed/>
                  <p:pic>
                    <p:nvPicPr>
                      <p:cNvPr id="5" name="Object 218">
                        <a:extLst>
                          <a:ext uri="{FF2B5EF4-FFF2-40B4-BE49-F238E27FC236}">
                            <a16:creationId xmlns:a16="http://schemas.microsoft.com/office/drawing/2014/main" id="{57BB96C7-24EC-4484-BF63-9BD64674E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901700"/>
                        <a:ext cx="20478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19">
            <a:extLst>
              <a:ext uri="{FF2B5EF4-FFF2-40B4-BE49-F238E27FC236}">
                <a16:creationId xmlns:a16="http://schemas.microsoft.com/office/drawing/2014/main" id="{BFB978E6-C127-4706-AFB9-1B2DF1635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7325" y="1377950"/>
          <a:ext cx="11414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36" name="公式" r:id="rId7" imgW="542829" imgH="171450" progId="Equation.3">
                  <p:embed/>
                </p:oleObj>
              </mc:Choice>
              <mc:Fallback>
                <p:oleObj name="公式" r:id="rId7" imgW="542829" imgH="171450" progId="Equation.3">
                  <p:embed/>
                  <p:pic>
                    <p:nvPicPr>
                      <p:cNvPr id="6" name="Object 219">
                        <a:extLst>
                          <a:ext uri="{FF2B5EF4-FFF2-40B4-BE49-F238E27FC236}">
                            <a16:creationId xmlns:a16="http://schemas.microsoft.com/office/drawing/2014/main" id="{BFB978E6-C127-4706-AFB9-1B2DF1635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325" y="1377950"/>
                        <a:ext cx="11414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0">
            <a:extLst>
              <a:ext uri="{FF2B5EF4-FFF2-40B4-BE49-F238E27FC236}">
                <a16:creationId xmlns:a16="http://schemas.microsoft.com/office/drawing/2014/main" id="{7266E12A-ECC4-483A-B9BB-211E0222013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32040" y="468412"/>
          <a:ext cx="6413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37" name="公式" r:id="rId9" imgW="323863" imgH="171450" progId="Equation.3">
                  <p:embed/>
                </p:oleObj>
              </mc:Choice>
              <mc:Fallback>
                <p:oleObj name="公式" r:id="rId9" imgW="323863" imgH="171450" progId="Equation.3">
                  <p:embed/>
                  <p:pic>
                    <p:nvPicPr>
                      <p:cNvPr id="7" name="Object 220">
                        <a:extLst>
                          <a:ext uri="{FF2B5EF4-FFF2-40B4-BE49-F238E27FC236}">
                            <a16:creationId xmlns:a16="http://schemas.microsoft.com/office/drawing/2014/main" id="{7266E12A-ECC4-483A-B9BB-211E022201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68412"/>
                        <a:ext cx="64135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1">
            <a:extLst>
              <a:ext uri="{FF2B5EF4-FFF2-40B4-BE49-F238E27FC236}">
                <a16:creationId xmlns:a16="http://schemas.microsoft.com/office/drawing/2014/main" id="{3F4AB566-3B96-46EA-9DE1-847AF16D3BFD}"/>
              </a:ext>
            </a:extLst>
          </p:cNvPr>
          <p:cNvGraphicFramePr>
            <a:graphicFrameLocks/>
          </p:cNvGraphicFramePr>
          <p:nvPr/>
        </p:nvGraphicFramePr>
        <p:xfrm>
          <a:off x="1714500" y="928688"/>
          <a:ext cx="3016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38" name="公式" r:id="rId11" imgW="95110" imgH="114198" progId="Equation.3">
                  <p:embed/>
                </p:oleObj>
              </mc:Choice>
              <mc:Fallback>
                <p:oleObj name="公式" r:id="rId11" imgW="95110" imgH="114198" progId="Equation.3">
                  <p:embed/>
                  <p:pic>
                    <p:nvPicPr>
                      <p:cNvPr id="8" name="Object 221">
                        <a:extLst>
                          <a:ext uri="{FF2B5EF4-FFF2-40B4-BE49-F238E27FC236}">
                            <a16:creationId xmlns:a16="http://schemas.microsoft.com/office/drawing/2014/main" id="{3F4AB566-3B96-46EA-9DE1-847AF16D3B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928688"/>
                        <a:ext cx="3016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222">
            <a:extLst>
              <a:ext uri="{FF2B5EF4-FFF2-40B4-BE49-F238E27FC236}">
                <a16:creationId xmlns:a16="http://schemas.microsoft.com/office/drawing/2014/main" id="{6F9A4CD2-0A26-4210-B784-068BAAAC92D1}"/>
              </a:ext>
            </a:extLst>
          </p:cNvPr>
          <p:cNvSpPr>
            <a:spLocks/>
          </p:cNvSpPr>
          <p:nvPr/>
        </p:nvSpPr>
        <p:spPr bwMode="auto">
          <a:xfrm>
            <a:off x="6072188" y="584200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1905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223">
            <a:extLst>
              <a:ext uri="{FF2B5EF4-FFF2-40B4-BE49-F238E27FC236}">
                <a16:creationId xmlns:a16="http://schemas.microsoft.com/office/drawing/2014/main" id="{AE56E3C1-F360-4A05-B458-0CD8B87CE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95413"/>
            <a:ext cx="4478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2. 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等几率概念</a:t>
            </a:r>
          </a:p>
        </p:txBody>
      </p:sp>
      <p:graphicFrame>
        <p:nvGraphicFramePr>
          <p:cNvPr id="11" name="Object 224">
            <a:extLst>
              <a:ext uri="{FF2B5EF4-FFF2-40B4-BE49-F238E27FC236}">
                <a16:creationId xmlns:a16="http://schemas.microsoft.com/office/drawing/2014/main" id="{8CC43859-865C-49F0-B846-62A7E57AC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1676400"/>
          <a:ext cx="9366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39" name="公式" r:id="rId13" imgW="381051" imgH="361882" progId="Equation.3">
                  <p:embed/>
                </p:oleObj>
              </mc:Choice>
              <mc:Fallback>
                <p:oleObj name="公式" r:id="rId13" imgW="381051" imgH="361882" progId="Equation.3">
                  <p:embed/>
                  <p:pic>
                    <p:nvPicPr>
                      <p:cNvPr id="11" name="Object 224">
                        <a:extLst>
                          <a:ext uri="{FF2B5EF4-FFF2-40B4-BE49-F238E27FC236}">
                            <a16:creationId xmlns:a16="http://schemas.microsoft.com/office/drawing/2014/main" id="{8CC43859-865C-49F0-B846-62A7E57AC6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1676400"/>
                        <a:ext cx="9366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25">
            <a:extLst>
              <a:ext uri="{FF2B5EF4-FFF2-40B4-BE49-F238E27FC236}">
                <a16:creationId xmlns:a16="http://schemas.microsoft.com/office/drawing/2014/main" id="{E69E911A-44E4-4563-A822-72880E4F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533650"/>
            <a:ext cx="61928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(2)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每个微观态出现的概率相等；</a:t>
            </a:r>
          </a:p>
        </p:txBody>
      </p:sp>
      <p:graphicFrame>
        <p:nvGraphicFramePr>
          <p:cNvPr id="13" name="Object 226">
            <a:extLst>
              <a:ext uri="{FF2B5EF4-FFF2-40B4-BE49-F238E27FC236}">
                <a16:creationId xmlns:a16="http://schemas.microsoft.com/office/drawing/2014/main" id="{5EA648EC-66D4-45C0-A718-9EBBD39B91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7188" y="2906713"/>
          <a:ext cx="10080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40" name="公式" r:id="rId15" imgW="533349" imgH="361882" progId="Equation.3">
                  <p:embed/>
                </p:oleObj>
              </mc:Choice>
              <mc:Fallback>
                <p:oleObj name="公式" r:id="rId15" imgW="533349" imgH="361882" progId="Equation.3">
                  <p:embed/>
                  <p:pic>
                    <p:nvPicPr>
                      <p:cNvPr id="13" name="Object 226">
                        <a:extLst>
                          <a:ext uri="{FF2B5EF4-FFF2-40B4-BE49-F238E27FC236}">
                            <a16:creationId xmlns:a16="http://schemas.microsoft.com/office/drawing/2014/main" id="{5EA648EC-66D4-45C0-A718-9EBBD39B91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2906713"/>
                        <a:ext cx="100806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7">
            <a:extLst>
              <a:ext uri="{FF2B5EF4-FFF2-40B4-BE49-F238E27FC236}">
                <a16:creationId xmlns:a16="http://schemas.microsoft.com/office/drawing/2014/main" id="{58D9C1E0-62A1-4A7A-AF0D-B1C780B09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4413" y="3568700"/>
          <a:ext cx="12382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41" name="公式" r:id="rId17" imgW="571576" imgH="361882" progId="Equation.3">
                  <p:embed/>
                </p:oleObj>
              </mc:Choice>
              <mc:Fallback>
                <p:oleObj name="公式" r:id="rId17" imgW="571576" imgH="361882" progId="Equation.3">
                  <p:embed/>
                  <p:pic>
                    <p:nvPicPr>
                      <p:cNvPr id="14" name="Object 227">
                        <a:extLst>
                          <a:ext uri="{FF2B5EF4-FFF2-40B4-BE49-F238E27FC236}">
                            <a16:creationId xmlns:a16="http://schemas.microsoft.com/office/drawing/2014/main" id="{58D9C1E0-62A1-4A7A-AF0D-B1C780B09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4413" y="3568700"/>
                        <a:ext cx="12382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29">
            <a:extLst>
              <a:ext uri="{FF2B5EF4-FFF2-40B4-BE49-F238E27FC236}">
                <a16:creationId xmlns:a16="http://schemas.microsoft.com/office/drawing/2014/main" id="{F7DC3838-8A5C-45D4-9581-296F68062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808538"/>
          <a:ext cx="251936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42" name="公式" r:id="rId19" imgW="971588" imgH="171450" progId="Equation.3">
                  <p:embed/>
                </p:oleObj>
              </mc:Choice>
              <mc:Fallback>
                <p:oleObj name="公式" r:id="rId19" imgW="971588" imgH="171450" progId="Equation.3">
                  <p:embed/>
                  <p:pic>
                    <p:nvPicPr>
                      <p:cNvPr id="15" name="Object 229">
                        <a:extLst>
                          <a:ext uri="{FF2B5EF4-FFF2-40B4-BE49-F238E27FC236}">
                            <a16:creationId xmlns:a16="http://schemas.microsoft.com/office/drawing/2014/main" id="{F7DC3838-8A5C-45D4-9581-296F68062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08538"/>
                        <a:ext cx="2519363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0">
            <a:extLst>
              <a:ext uri="{FF2B5EF4-FFF2-40B4-BE49-F238E27FC236}">
                <a16:creationId xmlns:a16="http://schemas.microsoft.com/office/drawing/2014/main" id="{40595F90-689F-4289-900B-83073C988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9063" y="4643438"/>
          <a:ext cx="209073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43" name="公式" r:id="rId21" imgW="1085965" imgH="361882" progId="Equation.3">
                  <p:embed/>
                </p:oleObj>
              </mc:Choice>
              <mc:Fallback>
                <p:oleObj name="公式" r:id="rId21" imgW="1085965" imgH="361882" progId="Equation.3">
                  <p:embed/>
                  <p:pic>
                    <p:nvPicPr>
                      <p:cNvPr id="16" name="Object 230">
                        <a:extLst>
                          <a:ext uri="{FF2B5EF4-FFF2-40B4-BE49-F238E27FC236}">
                            <a16:creationId xmlns:a16="http://schemas.microsoft.com/office/drawing/2014/main" id="{40595F90-689F-4289-900B-83073C9880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4643438"/>
                        <a:ext cx="209073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1">
            <a:extLst>
              <a:ext uri="{FF2B5EF4-FFF2-40B4-BE49-F238E27FC236}">
                <a16:creationId xmlns:a16="http://schemas.microsoft.com/office/drawing/2014/main" id="{8A212E5C-46FF-40C3-99F3-ECBFCD953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4113" y="4643438"/>
          <a:ext cx="20161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44" name="公式" r:id="rId23" imgW="1047737" imgH="361882" progId="Equation.3">
                  <p:embed/>
                </p:oleObj>
              </mc:Choice>
              <mc:Fallback>
                <p:oleObj name="公式" r:id="rId23" imgW="1047737" imgH="361882" progId="Equation.3">
                  <p:embed/>
                  <p:pic>
                    <p:nvPicPr>
                      <p:cNvPr id="17" name="Object 231">
                        <a:extLst>
                          <a:ext uri="{FF2B5EF4-FFF2-40B4-BE49-F238E27FC236}">
                            <a16:creationId xmlns:a16="http://schemas.microsoft.com/office/drawing/2014/main" id="{8A212E5C-46FF-40C3-99F3-ECBFCD953E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113" y="4643438"/>
                        <a:ext cx="201612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47">
            <a:extLst>
              <a:ext uri="{FF2B5EF4-FFF2-40B4-BE49-F238E27FC236}">
                <a16:creationId xmlns:a16="http://schemas.microsoft.com/office/drawing/2014/main" id="{BC47093D-E891-4357-91A0-AF164641E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3717925"/>
            <a:ext cx="73152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 i="1">
                <a:solidFill>
                  <a:srgbClr val="66FFFF"/>
                </a:solidFill>
                <a:ea typeface="楷体_GB2312" pitchFamily="49" charset="-122"/>
              </a:rPr>
              <a:t>N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个分子系统，微观态数有</a:t>
            </a:r>
            <a:r>
              <a:rPr lang="en-US" altLang="zh-CN" sz="2200">
                <a:solidFill>
                  <a:srgbClr val="66FFFF"/>
                </a:solidFill>
                <a:ea typeface="楷体_GB2312" pitchFamily="49" charset="-122"/>
              </a:rPr>
              <a:t>2</a:t>
            </a:r>
            <a:r>
              <a:rPr lang="en-US" altLang="zh-CN" sz="2200" baseline="30000">
                <a:solidFill>
                  <a:srgbClr val="66FFFF"/>
                </a:solidFill>
                <a:ea typeface="楷体_GB2312" pitchFamily="49" charset="-122"/>
              </a:rPr>
              <a:t>N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，各微观态的概率</a:t>
            </a:r>
          </a:p>
        </p:txBody>
      </p:sp>
      <p:sp>
        <p:nvSpPr>
          <p:cNvPr id="19" name="Rectangle 248">
            <a:extLst>
              <a:ext uri="{FF2B5EF4-FFF2-40B4-BE49-F238E27FC236}">
                <a16:creationId xmlns:a16="http://schemas.microsoft.com/office/drawing/2014/main" id="{EA537694-47BD-443A-AFDC-8BD43A70A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3128963"/>
            <a:ext cx="59039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例：</a:t>
            </a:r>
            <a:r>
              <a:rPr lang="en-US" altLang="zh-CN" sz="2200">
                <a:solidFill>
                  <a:srgbClr val="66FFFF"/>
                </a:solidFill>
                <a:ea typeface="楷体_GB2312" pitchFamily="49" charset="-122"/>
              </a:rPr>
              <a:t>4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分子系统，微观态有 </a:t>
            </a:r>
            <a:r>
              <a:rPr lang="en-US" altLang="zh-CN" sz="2200">
                <a:solidFill>
                  <a:srgbClr val="66FFFF"/>
                </a:solidFill>
                <a:ea typeface="楷体_GB2312" pitchFamily="49" charset="-122"/>
              </a:rPr>
              <a:t>2</a:t>
            </a:r>
            <a:r>
              <a:rPr lang="en-US" altLang="zh-CN" sz="2200" baseline="30000">
                <a:solidFill>
                  <a:srgbClr val="66FFFF"/>
                </a:solidFill>
                <a:ea typeface="楷体_GB2312" pitchFamily="49" charset="-122"/>
              </a:rPr>
              <a:t>4 </a:t>
            </a:r>
          </a:p>
        </p:txBody>
      </p:sp>
      <p:sp>
        <p:nvSpPr>
          <p:cNvPr id="20" name="Rectangle 249">
            <a:extLst>
              <a:ext uri="{FF2B5EF4-FFF2-40B4-BE49-F238E27FC236}">
                <a16:creationId xmlns:a16="http://schemas.microsoft.com/office/drawing/2014/main" id="{EC9F5D40-3AC8-4506-8E57-E76CFDE06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0" y="3111500"/>
            <a:ext cx="38893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，各微观态的概率</a:t>
            </a:r>
          </a:p>
        </p:txBody>
      </p:sp>
      <p:sp>
        <p:nvSpPr>
          <p:cNvPr id="21" name="Rectangle 250">
            <a:extLst>
              <a:ext uri="{FF2B5EF4-FFF2-40B4-BE49-F238E27FC236}">
                <a16:creationId xmlns:a16="http://schemas.microsoft.com/office/drawing/2014/main" id="{53AAE069-782B-4137-AFF7-AF3DA7799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14813"/>
            <a:ext cx="7747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(3)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一宏观态出现的概率与该宏观态对应的微观态数成正比</a:t>
            </a:r>
          </a:p>
        </p:txBody>
      </p:sp>
      <p:sp>
        <p:nvSpPr>
          <p:cNvPr id="16406" name="灯片编号占位符 1">
            <a:extLst>
              <a:ext uri="{FF2B5EF4-FFF2-40B4-BE49-F238E27FC236}">
                <a16:creationId xmlns:a16="http://schemas.microsoft.com/office/drawing/2014/main" id="{6DBDA694-5252-4E5C-8A44-F24C32EB2F1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707CD4-6758-40C8-9B3A-DF6F46F3E8A5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  <p:sp>
        <p:nvSpPr>
          <p:cNvPr id="23" name="Rectangle 225">
            <a:extLst>
              <a:ext uri="{FF2B5EF4-FFF2-40B4-BE49-F238E27FC236}">
                <a16:creationId xmlns:a16="http://schemas.microsoft.com/office/drawing/2014/main" id="{3A351B1D-5A02-4BBC-A61C-C2F8038F2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5429250"/>
            <a:ext cx="61928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(4)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系统的微观态数满足乘法法则</a:t>
            </a:r>
          </a:p>
        </p:txBody>
      </p:sp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A82AF541-4F72-4EA6-8F82-DD0D513F4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3" y="5929313"/>
          <a:ext cx="22463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345" name="公式" r:id="rId25" imgW="923880" imgH="199923" progId="Equation.3">
                  <p:embed/>
                </p:oleObj>
              </mc:Choice>
              <mc:Fallback>
                <p:oleObj name="公式" r:id="rId25" imgW="923880" imgH="199923" progId="Equation.3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A82AF541-4F72-4EA6-8F82-DD0D513F41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5929313"/>
                        <a:ext cx="22463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8">
            <a:extLst>
              <a:ext uri="{FF2B5EF4-FFF2-40B4-BE49-F238E27FC236}">
                <a16:creationId xmlns:a16="http://schemas.microsoft.com/office/drawing/2014/main" id="{6BFBD72A-EE7B-4510-AB43-0732C86F7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5357813"/>
            <a:ext cx="7904163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800"/>
              </a:lnSpc>
            </a:pP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                                                                 例：</a:t>
            </a:r>
            <a:r>
              <a:rPr lang="en-US" altLang="zh-CN" sz="2200">
                <a:solidFill>
                  <a:srgbClr val="66FFFF"/>
                </a:solidFill>
                <a:ea typeface="楷体_GB2312" pitchFamily="49" charset="-122"/>
              </a:rPr>
              <a:t>20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分子容器左右位置分布，每</a:t>
            </a:r>
            <a:r>
              <a:rPr lang="en-US" altLang="zh-CN" sz="2200">
                <a:solidFill>
                  <a:srgbClr val="66FFFF"/>
                </a:solidFill>
                <a:ea typeface="楷体_GB2312" pitchFamily="49" charset="-122"/>
              </a:rPr>
              <a:t>4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个一组（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5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组）</a:t>
            </a:r>
            <a:endParaRPr lang="en-US" altLang="zh-CN" sz="2200" baseline="30000">
              <a:solidFill>
                <a:srgbClr val="66FFFF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9" grpId="0" animBg="1"/>
      <p:bldP spid="10" grpId="0" autoUpdateAnimBg="0"/>
      <p:bldP spid="12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3" grpId="0" autoUpdateAnimBg="0"/>
      <p:bldP spid="2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72719F05-2D27-4AA4-89A7-00C35A27C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836613"/>
            <a:ext cx="35290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系统某宏观态出现的概率与该宏观态对应的微观态数成正比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2E5B03B4-9BA3-43C0-9E2A-405CE9A7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339975"/>
            <a:ext cx="35718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en-US" altLang="zh-CN" i="1">
                <a:solidFill>
                  <a:srgbClr val="66FFFF"/>
                </a:solidFill>
              </a:rPr>
              <a:t>N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个分子全部聚于容器一侧的概率</a:t>
            </a:r>
            <a:r>
              <a:rPr kumimoji="0" lang="en-US" altLang="zh-CN">
                <a:solidFill>
                  <a:srgbClr val="66FFFF"/>
                </a:solidFill>
              </a:rPr>
              <a:t>1/2</a:t>
            </a:r>
            <a:r>
              <a:rPr kumimoji="0" lang="en-US" altLang="zh-CN" baseline="30000">
                <a:solidFill>
                  <a:srgbClr val="66FFFF"/>
                </a:solidFill>
              </a:rPr>
              <a:t>N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28517815-91F7-4000-A509-8B6A36F18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333750"/>
            <a:ext cx="362426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平衡态是概率最大的宏观态，对应的微观态数目最多</a:t>
            </a: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684FA444-E373-4B92-9897-032EBDA8D8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4319588"/>
            <a:ext cx="3300413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F51745DC-51FD-4B1B-B7BD-DDFE7B21D5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1223963"/>
            <a:ext cx="12700" cy="30956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5C8EE192-E96E-4303-A99A-B919000B0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784350"/>
            <a:ext cx="0" cy="2497138"/>
          </a:xfrm>
          <a:prstGeom prst="line">
            <a:avLst/>
          </a:prstGeom>
          <a:noFill/>
          <a:ln w="28575" cap="rnd">
            <a:solidFill>
              <a:srgbClr val="FF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A98A0E9E-5409-436D-AECF-E0F64A9A4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25" y="4437063"/>
            <a:ext cx="642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1"/>
                </a:solidFill>
              </a:rPr>
              <a:t>N/2</a:t>
            </a:r>
          </a:p>
        </p:txBody>
      </p:sp>
      <p:sp>
        <p:nvSpPr>
          <p:cNvPr id="19465" name="Oval 9">
            <a:extLst>
              <a:ext uri="{FF2B5EF4-FFF2-40B4-BE49-F238E27FC236}">
                <a16:creationId xmlns:a16="http://schemas.microsoft.com/office/drawing/2014/main" id="{592983B7-8863-450E-AED7-1365545B68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3650" y="4279900"/>
            <a:ext cx="107950" cy="10795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66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BC07F461-7278-4261-95D7-0D7D01AE3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04813"/>
            <a:ext cx="208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结论</a:t>
            </a:r>
          </a:p>
        </p:txBody>
      </p:sp>
      <p:sp>
        <p:nvSpPr>
          <p:cNvPr id="19468" name="AutoShape 12">
            <a:extLst>
              <a:ext uri="{FF2B5EF4-FFF2-40B4-BE49-F238E27FC236}">
                <a16:creationId xmlns:a16="http://schemas.microsoft.com/office/drawing/2014/main" id="{AF3D3241-262D-4D74-9C7C-69FB6A1AC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33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69" name="Text Box 13">
            <a:extLst>
              <a:ext uri="{FF2B5EF4-FFF2-40B4-BE49-F238E27FC236}">
                <a16:creationId xmlns:a16="http://schemas.microsoft.com/office/drawing/2014/main" id="{6FA75D2A-93BB-47A7-B6E1-E23D96638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5" y="3889375"/>
            <a:ext cx="199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chemeClr val="bg1"/>
                </a:solidFill>
              </a:rPr>
              <a:t>左侧分子数 </a:t>
            </a:r>
            <a:r>
              <a:rPr kumimoji="0" lang="en-US" altLang="zh-CN" sz="2000" i="1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19470" name="Text Box 14">
            <a:extLst>
              <a:ext uri="{FF2B5EF4-FFF2-40B4-BE49-F238E27FC236}">
                <a16:creationId xmlns:a16="http://schemas.microsoft.com/office/drawing/2014/main" id="{2D637834-FBED-472E-A29F-271CB25AE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1125538"/>
            <a:ext cx="798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sym typeface="Symbol" panose="05050102010706020507" pitchFamily="18" charset="2"/>
              </a:rPr>
              <a:t>(</a:t>
            </a:r>
            <a:r>
              <a:rPr kumimoji="0"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n</a:t>
            </a:r>
            <a:r>
              <a:rPr kumimoji="0" lang="en-US" altLang="zh-CN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3FC27969-E116-4501-A544-4CCE698DE038}"/>
              </a:ext>
            </a:extLst>
          </p:cNvPr>
          <p:cNvGrpSpPr>
            <a:grpSpLocks/>
          </p:cNvGrpSpPr>
          <p:nvPr/>
        </p:nvGrpSpPr>
        <p:grpSpPr bwMode="auto">
          <a:xfrm>
            <a:off x="5368925" y="1582738"/>
            <a:ext cx="2060575" cy="2628900"/>
            <a:chOff x="3372" y="1147"/>
            <a:chExt cx="1298" cy="1656"/>
          </a:xfrm>
        </p:grpSpPr>
        <p:sp>
          <p:nvSpPr>
            <p:cNvPr id="17425" name="Freeform 17">
              <a:extLst>
                <a:ext uri="{FF2B5EF4-FFF2-40B4-BE49-F238E27FC236}">
                  <a16:creationId xmlns:a16="http://schemas.microsoft.com/office/drawing/2014/main" id="{320AF2BE-52E3-4354-9D9E-05A7B4543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147"/>
              <a:ext cx="144" cy="1572"/>
            </a:xfrm>
            <a:custGeom>
              <a:avLst/>
              <a:gdLst>
                <a:gd name="T0" fmla="*/ 0 w 144"/>
                <a:gd name="T1" fmla="*/ 1572 h 1572"/>
                <a:gd name="T2" fmla="*/ 24 w 144"/>
                <a:gd name="T3" fmla="*/ 317 h 1572"/>
                <a:gd name="T4" fmla="*/ 78 w 144"/>
                <a:gd name="T5" fmla="*/ 209 h 1572"/>
                <a:gd name="T6" fmla="*/ 144 w 144"/>
                <a:gd name="T7" fmla="*/ 1571 h 15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1572"/>
                <a:gd name="T14" fmla="*/ 144 w 144"/>
                <a:gd name="T15" fmla="*/ 1572 h 15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1572">
                  <a:moveTo>
                    <a:pt x="0" y="1572"/>
                  </a:moveTo>
                  <a:cubicBezTo>
                    <a:pt x="4" y="1363"/>
                    <a:pt x="11" y="544"/>
                    <a:pt x="24" y="317"/>
                  </a:cubicBezTo>
                  <a:cubicBezTo>
                    <a:pt x="37" y="90"/>
                    <a:pt x="58" y="0"/>
                    <a:pt x="78" y="209"/>
                  </a:cubicBezTo>
                  <a:cubicBezTo>
                    <a:pt x="98" y="418"/>
                    <a:pt x="130" y="1287"/>
                    <a:pt x="144" y="1571"/>
                  </a:cubicBezTo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Arc 18">
              <a:extLst>
                <a:ext uri="{FF2B5EF4-FFF2-40B4-BE49-F238E27FC236}">
                  <a16:creationId xmlns:a16="http://schemas.microsoft.com/office/drawing/2014/main" id="{691B30FD-AA98-4A7F-8DF2-C859FCDAD040}"/>
                </a:ext>
              </a:extLst>
            </p:cNvPr>
            <p:cNvSpPr>
              <a:spLocks/>
            </p:cNvSpPr>
            <p:nvPr/>
          </p:nvSpPr>
          <p:spPr bwMode="auto">
            <a:xfrm rot="6330617">
              <a:off x="3577" y="2432"/>
              <a:ext cx="166" cy="576"/>
            </a:xfrm>
            <a:custGeom>
              <a:avLst/>
              <a:gdLst>
                <a:gd name="T0" fmla="*/ 0 w 6207"/>
                <a:gd name="T1" fmla="*/ 0 h 21600"/>
                <a:gd name="T2" fmla="*/ 0 w 6207"/>
                <a:gd name="T3" fmla="*/ 0 h 21600"/>
                <a:gd name="T4" fmla="*/ 0 w 6207"/>
                <a:gd name="T5" fmla="*/ 0 h 21600"/>
                <a:gd name="T6" fmla="*/ 0 60000 65536"/>
                <a:gd name="T7" fmla="*/ 0 60000 65536"/>
                <a:gd name="T8" fmla="*/ 0 60000 65536"/>
                <a:gd name="T9" fmla="*/ 0 w 6207"/>
                <a:gd name="T10" fmla="*/ 0 h 21600"/>
                <a:gd name="T11" fmla="*/ 6207 w 62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07" h="21600" fill="none" extrusionOk="0">
                  <a:moveTo>
                    <a:pt x="-1" y="0"/>
                  </a:moveTo>
                  <a:cubicBezTo>
                    <a:pt x="2102" y="0"/>
                    <a:pt x="4193" y="306"/>
                    <a:pt x="6206" y="911"/>
                  </a:cubicBezTo>
                </a:path>
                <a:path w="6207" h="21600" stroke="0" extrusionOk="0">
                  <a:moveTo>
                    <a:pt x="-1" y="0"/>
                  </a:moveTo>
                  <a:cubicBezTo>
                    <a:pt x="2102" y="0"/>
                    <a:pt x="4193" y="306"/>
                    <a:pt x="6206" y="91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Arc 19">
              <a:extLst>
                <a:ext uri="{FF2B5EF4-FFF2-40B4-BE49-F238E27FC236}">
                  <a16:creationId xmlns:a16="http://schemas.microsoft.com/office/drawing/2014/main" id="{E30AB4E5-AEBE-4766-AAA8-72A2F21ED4A2}"/>
                </a:ext>
              </a:extLst>
            </p:cNvPr>
            <p:cNvSpPr>
              <a:spLocks/>
            </p:cNvSpPr>
            <p:nvPr/>
          </p:nvSpPr>
          <p:spPr bwMode="auto">
            <a:xfrm rot="-6849858">
              <a:off x="4299" y="2396"/>
              <a:ext cx="166" cy="576"/>
            </a:xfrm>
            <a:custGeom>
              <a:avLst/>
              <a:gdLst>
                <a:gd name="T0" fmla="*/ 0 w 6207"/>
                <a:gd name="T1" fmla="*/ 0 h 21600"/>
                <a:gd name="T2" fmla="*/ 0 w 6207"/>
                <a:gd name="T3" fmla="*/ 0 h 21600"/>
                <a:gd name="T4" fmla="*/ 0 w 6207"/>
                <a:gd name="T5" fmla="*/ 0 h 21600"/>
                <a:gd name="T6" fmla="*/ 0 60000 65536"/>
                <a:gd name="T7" fmla="*/ 0 60000 65536"/>
                <a:gd name="T8" fmla="*/ 0 60000 65536"/>
                <a:gd name="T9" fmla="*/ 0 w 6207"/>
                <a:gd name="T10" fmla="*/ 0 h 21600"/>
                <a:gd name="T11" fmla="*/ 6207 w 62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07" h="21600" fill="none" extrusionOk="0">
                  <a:moveTo>
                    <a:pt x="-1" y="0"/>
                  </a:moveTo>
                  <a:cubicBezTo>
                    <a:pt x="2102" y="0"/>
                    <a:pt x="4193" y="306"/>
                    <a:pt x="6206" y="911"/>
                  </a:cubicBezTo>
                </a:path>
                <a:path w="6207" h="21600" stroke="0" extrusionOk="0">
                  <a:moveTo>
                    <a:pt x="-1" y="0"/>
                  </a:moveTo>
                  <a:cubicBezTo>
                    <a:pt x="2102" y="0"/>
                    <a:pt x="4193" y="306"/>
                    <a:pt x="6206" y="91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Text Box 15">
            <a:extLst>
              <a:ext uri="{FF2B5EF4-FFF2-40B4-BE49-F238E27FC236}">
                <a16:creationId xmlns:a16="http://schemas.microsoft.com/office/drawing/2014/main" id="{09B82928-CDD6-40B8-98BF-80D10AD4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4857750"/>
            <a:ext cx="799147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4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(4) 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热力学第二定律的统计意义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热力学系统的自发过程，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ts val="34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总是从微观态数少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概率小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的宏观态向微观态数多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概</a:t>
            </a:r>
            <a:endParaRPr lang="en-US" altLang="zh-CN" dirty="0">
              <a:solidFill>
                <a:srgbClr val="FFFF00"/>
              </a:solidFill>
              <a:latin typeface="+mn-ea"/>
              <a:ea typeface="+mn-ea"/>
            </a:endParaRPr>
          </a:p>
          <a:p>
            <a:pPr>
              <a:lnSpc>
                <a:spcPts val="3400"/>
              </a:lnSpc>
              <a:defRPr/>
            </a:pPr>
            <a:r>
              <a:rPr lang="en-US" altLang="zh-CN" dirty="0">
                <a:solidFill>
                  <a:srgbClr val="FFFF00"/>
                </a:solidFill>
                <a:latin typeface="+mn-ea"/>
                <a:ea typeface="+mn-ea"/>
              </a:rPr>
              <a:t>   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率大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的宏观态进行 </a:t>
            </a:r>
            <a:r>
              <a:rPr lang="en-US" altLang="zh-CN" dirty="0">
                <a:solidFill>
                  <a:srgbClr val="59E2FD"/>
                </a:solidFill>
                <a:latin typeface="+mn-lt"/>
                <a:ea typeface="+mn-ea"/>
              </a:rPr>
              <a:t>—— </a:t>
            </a:r>
            <a:r>
              <a:rPr lang="zh-CN" altLang="en-US" dirty="0">
                <a:solidFill>
                  <a:srgbClr val="59E2FD"/>
                </a:solidFill>
                <a:latin typeface="+mn-ea"/>
                <a:ea typeface="+mn-ea"/>
              </a:rPr>
              <a:t>有序向无序</a:t>
            </a:r>
          </a:p>
        </p:txBody>
      </p:sp>
      <p:sp>
        <p:nvSpPr>
          <p:cNvPr id="17424" name="灯片编号占位符 1">
            <a:extLst>
              <a:ext uri="{FF2B5EF4-FFF2-40B4-BE49-F238E27FC236}">
                <a16:creationId xmlns:a16="http://schemas.microsoft.com/office/drawing/2014/main" id="{37AB93B7-88DA-4FDD-A5B4-7AE100C24ED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9F33DD-4C38-4A92-A76D-A144550C430B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9" grpId="0" autoUpdateAnimBg="0"/>
      <p:bldP spid="19460" grpId="0"/>
      <p:bldP spid="19464" grpId="0" autoUpdateAnimBg="0"/>
      <p:bldP spid="19465" grpId="0" animBg="1"/>
      <p:bldP spid="19466" grpId="0"/>
      <p:bldP spid="19468" grpId="0" animBg="1"/>
      <p:bldP spid="19469" grpId="0"/>
      <p:bldP spid="1947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80" name="Text Box 4">
            <a:extLst>
              <a:ext uri="{FF2B5EF4-FFF2-40B4-BE49-F238E27FC236}">
                <a16:creationId xmlns:a16="http://schemas.microsoft.com/office/drawing/2014/main" id="{3DD5C611-7487-489A-8870-982F0C22A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28875"/>
            <a:ext cx="3824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 </a:t>
            </a:r>
            <a:r>
              <a:rPr lang="zh-CN" altLang="en-US">
                <a:solidFill>
                  <a:srgbClr val="FFFF00"/>
                </a:solidFill>
              </a:rPr>
              <a:t>熵    熵增原理</a:t>
            </a:r>
          </a:p>
        </p:txBody>
      </p:sp>
      <p:sp>
        <p:nvSpPr>
          <p:cNvPr id="536583" name="Text Box 7">
            <a:extLst>
              <a:ext uri="{FF2B5EF4-FFF2-40B4-BE49-F238E27FC236}">
                <a16:creationId xmlns:a16="http://schemas.microsoft.com/office/drawing/2014/main" id="{341149A9-22B6-4901-BF46-11544C433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900363"/>
            <a:ext cx="230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1. 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熵</a:t>
            </a:r>
          </a:p>
        </p:txBody>
      </p:sp>
      <p:sp>
        <p:nvSpPr>
          <p:cNvPr id="536584" name="Oval 8">
            <a:extLst>
              <a:ext uri="{FF2B5EF4-FFF2-40B4-BE49-F238E27FC236}">
                <a16:creationId xmlns:a16="http://schemas.microsoft.com/office/drawing/2014/main" id="{F2057CED-8ED9-4E8F-B3A7-FF5771F1B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4479925"/>
            <a:ext cx="914400" cy="838200"/>
          </a:xfrm>
          <a:prstGeom prst="ellipse">
            <a:avLst/>
          </a:prstGeom>
          <a:gradFill rotWithShape="1">
            <a:gsLst>
              <a:gs pos="0">
                <a:schemeClr val="accent1">
                  <a:alpha val="62000"/>
                </a:schemeClr>
              </a:gs>
              <a:gs pos="100000">
                <a:schemeClr val="accent1">
                  <a:gamma/>
                  <a:shade val="46275"/>
                  <a:invGamma/>
                  <a:alpha val="63000"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000" dirty="0">
                <a:solidFill>
                  <a:srgbClr val="FFFF00"/>
                </a:solidFill>
                <a:ea typeface="楷体_GB2312" pitchFamily="49" charset="-122"/>
              </a:rPr>
              <a:t>状态</a:t>
            </a:r>
            <a:r>
              <a:rPr lang="en-US" altLang="zh-CN" sz="2000" dirty="0">
                <a:solidFill>
                  <a:srgbClr val="FFFF00"/>
                </a:solidFill>
                <a:ea typeface="楷体_GB2312" pitchFamily="49" charset="-122"/>
              </a:rPr>
              <a:t>(1)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536585" name="Line 9">
            <a:extLst>
              <a:ext uri="{FF2B5EF4-FFF2-40B4-BE49-F238E27FC236}">
                <a16:creationId xmlns:a16="http://schemas.microsoft.com/office/drawing/2014/main" id="{E95B9FC3-D3F1-44F2-8FC3-68B19209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350" y="4937125"/>
            <a:ext cx="2411413" cy="3175"/>
          </a:xfrm>
          <a:prstGeom prst="line">
            <a:avLst/>
          </a:prstGeom>
          <a:noFill/>
          <a:ln w="5715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6586" name="Oval 10">
            <a:extLst>
              <a:ext uri="{FF2B5EF4-FFF2-40B4-BE49-F238E27FC236}">
                <a16:creationId xmlns:a16="http://schemas.microsoft.com/office/drawing/2014/main" id="{3861DC64-8178-4050-A5F5-915C99822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25" y="4518025"/>
            <a:ext cx="914400" cy="838200"/>
          </a:xfrm>
          <a:prstGeom prst="ellipse">
            <a:avLst/>
          </a:prstGeom>
          <a:gradFill rotWithShape="1">
            <a:gsLst>
              <a:gs pos="0">
                <a:srgbClr val="FF99FF">
                  <a:alpha val="57999"/>
                </a:srgbClr>
              </a:gs>
              <a:gs pos="100000">
                <a:srgbClr val="764776">
                  <a:alpha val="48000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FFFF00"/>
                </a:solidFill>
                <a:ea typeface="楷体_GB2312" pitchFamily="49" charset="-122"/>
              </a:rPr>
              <a:t>状态</a:t>
            </a:r>
            <a:r>
              <a:rPr lang="en-US" altLang="zh-CN" sz="2000">
                <a:solidFill>
                  <a:srgbClr val="FFFF00"/>
                </a:solidFill>
                <a:ea typeface="楷体_GB2312" pitchFamily="49" charset="-122"/>
              </a:rPr>
              <a:t>(</a:t>
            </a:r>
            <a:r>
              <a:rPr lang="en-US" altLang="zh-CN" sz="2000">
                <a:solidFill>
                  <a:srgbClr val="FFFF00"/>
                </a:solidFill>
              </a:rPr>
              <a:t>2)</a:t>
            </a:r>
          </a:p>
        </p:txBody>
      </p:sp>
      <p:sp>
        <p:nvSpPr>
          <p:cNvPr id="536587" name="Rectangle 11">
            <a:extLst>
              <a:ext uri="{FF2B5EF4-FFF2-40B4-BE49-F238E27FC236}">
                <a16:creationId xmlns:a16="http://schemas.microsoft.com/office/drawing/2014/main" id="{4DA82FD5-2320-4AE5-8F8E-0F2F82527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713" y="4675188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孤立系统</a:t>
            </a:r>
          </a:p>
        </p:txBody>
      </p:sp>
      <p:sp>
        <p:nvSpPr>
          <p:cNvPr id="536588" name="Rectangle 12">
            <a:extLst>
              <a:ext uri="{FF2B5EF4-FFF2-40B4-BE49-F238E27FC236}">
                <a16:creationId xmlns:a16="http://schemas.microsoft.com/office/drawing/2014/main" id="{D5EE1C8B-3834-4D06-A38E-5545FED9E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4429125"/>
            <a:ext cx="2043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能否自发进行</a:t>
            </a:r>
            <a:r>
              <a:rPr lang="zh-CN" altLang="en-US">
                <a:solidFill>
                  <a:schemeClr val="bg1"/>
                </a:solidFill>
              </a:rPr>
              <a:t>？</a:t>
            </a:r>
          </a:p>
        </p:txBody>
      </p:sp>
      <p:sp>
        <p:nvSpPr>
          <p:cNvPr id="536589" name="Rectangle 13">
            <a:extLst>
              <a:ext uri="{FF2B5EF4-FFF2-40B4-BE49-F238E27FC236}">
                <a16:creationId xmlns:a16="http://schemas.microsoft.com/office/drawing/2014/main" id="{2801E033-6A48-4461-88EA-4373615E0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4940300"/>
            <a:ext cx="203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判据是什么</a:t>
            </a:r>
            <a:r>
              <a:rPr lang="zh-CN" altLang="en-US">
                <a:solidFill>
                  <a:schemeClr val="bg1"/>
                </a:solidFill>
              </a:rPr>
              <a:t>？</a:t>
            </a:r>
          </a:p>
        </p:txBody>
      </p:sp>
      <p:sp>
        <p:nvSpPr>
          <p:cNvPr id="536590" name="Rectangle 14">
            <a:extLst>
              <a:ext uri="{FF2B5EF4-FFF2-40B4-BE49-F238E27FC236}">
                <a16:creationId xmlns:a16="http://schemas.microsoft.com/office/drawing/2014/main" id="{07619E65-7DBB-4D98-8F29-BC627997A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5743575"/>
            <a:ext cx="336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微观态数少的宏观态</a:t>
            </a:r>
          </a:p>
        </p:txBody>
      </p:sp>
      <p:sp>
        <p:nvSpPr>
          <p:cNvPr id="536591" name="Rectangle 15">
            <a:extLst>
              <a:ext uri="{FF2B5EF4-FFF2-40B4-BE49-F238E27FC236}">
                <a16:creationId xmlns:a16="http://schemas.microsoft.com/office/drawing/2014/main" id="{3269DCE4-ECA5-438F-AACD-CC083136E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5757863"/>
            <a:ext cx="298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微观态数多的宏观态</a:t>
            </a:r>
          </a:p>
        </p:txBody>
      </p:sp>
      <p:sp>
        <p:nvSpPr>
          <p:cNvPr id="536592" name="AutoShape 16">
            <a:extLst>
              <a:ext uri="{FF2B5EF4-FFF2-40B4-BE49-F238E27FC236}">
                <a16:creationId xmlns:a16="http://schemas.microsoft.com/office/drawing/2014/main" id="{3CB21047-E0BB-462B-A58B-7D1E66A6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5886450"/>
            <a:ext cx="1008063" cy="215900"/>
          </a:xfrm>
          <a:prstGeom prst="rightArrow">
            <a:avLst>
              <a:gd name="adj1" fmla="val 50000"/>
              <a:gd name="adj2" fmla="val 116728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36593" name="Text Box 17">
            <a:extLst>
              <a:ext uri="{FF2B5EF4-FFF2-40B4-BE49-F238E27FC236}">
                <a16:creationId xmlns:a16="http://schemas.microsoft.com/office/drawing/2014/main" id="{C3607408-40E6-4F66-83FC-71DB699D9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357563"/>
            <a:ext cx="83534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为了</a:t>
            </a:r>
            <a:r>
              <a:rPr kumimoji="0" lang="zh-CN" altLang="en-US" dirty="0">
                <a:solidFill>
                  <a:srgbClr val="66FFFF"/>
                </a:solidFill>
                <a:ea typeface="楷体_GB2312" pitchFamily="49" charset="-122"/>
              </a:rPr>
              <a:t>定量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的表示系统状态的性质，从而定量说明自发过程进行的方向</a:t>
            </a:r>
            <a:endParaRPr kumimoji="0" lang="zh-CN" altLang="zh-CN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23" name="Text Box 2">
            <a:extLst>
              <a:ext uri="{FF2B5EF4-FFF2-40B4-BE49-F238E27FC236}">
                <a16:creationId xmlns:a16="http://schemas.microsoft.com/office/drawing/2014/main" id="{E02E872D-9BEC-4BBA-B435-7C0D230E5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357188"/>
            <a:ext cx="6283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例：</a:t>
            </a:r>
            <a:r>
              <a:rPr lang="zh-CN" altLang="en-US">
                <a:solidFill>
                  <a:schemeClr val="bg1"/>
                </a:solidFill>
              </a:rPr>
              <a:t>分析气体的自由膨胀是不可逆过程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07E25957-7810-4661-A1FA-15C0A0679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785813"/>
            <a:ext cx="7358063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rgbClr val="FFCC00"/>
                </a:solidFill>
              </a:rPr>
              <a:t>气体可以向真空自由膨胀，但不能自动收缩</a:t>
            </a:r>
          </a:p>
        </p:txBody>
      </p:sp>
      <p:grpSp>
        <p:nvGrpSpPr>
          <p:cNvPr id="19474" name="Group 62">
            <a:extLst>
              <a:ext uri="{FF2B5EF4-FFF2-40B4-BE49-F238E27FC236}">
                <a16:creationId xmlns:a16="http://schemas.microsoft.com/office/drawing/2014/main" id="{8664B960-E42A-4E16-B995-47B469F6302C}"/>
              </a:ext>
            </a:extLst>
          </p:cNvPr>
          <p:cNvGrpSpPr>
            <a:grpSpLocks/>
          </p:cNvGrpSpPr>
          <p:nvPr/>
        </p:nvGrpSpPr>
        <p:grpSpPr bwMode="auto">
          <a:xfrm>
            <a:off x="3491880" y="2001838"/>
            <a:ext cx="4357687" cy="835025"/>
            <a:chOff x="1440" y="1356"/>
            <a:chExt cx="2745" cy="526"/>
          </a:xfrm>
        </p:grpSpPr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B76EACA0-FAEB-4DEB-B7CB-C598E09BB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58"/>
              <a:ext cx="1350" cy="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defTabSz="762000"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rgbClr val="FFFF00"/>
                  </a:solidFill>
                  <a:latin typeface="+mn-ea"/>
                  <a:ea typeface="+mn-ea"/>
                </a:rPr>
                <a:t>初态：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  <a:ea typeface="+mn-ea"/>
                </a:rPr>
                <a:t>位置的分布较有序</a:t>
              </a: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8E4471BE-955E-4074-A1D5-EDF9F4F8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1356"/>
              <a:ext cx="1120" cy="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 defTabSz="762000"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rgbClr val="FFFF00"/>
                  </a:solidFill>
                  <a:latin typeface="+mn-ea"/>
                  <a:ea typeface="+mn-ea"/>
                </a:rPr>
                <a:t>末态：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  <a:ea typeface="+mn-ea"/>
                </a:rPr>
                <a:t>更无序</a:t>
              </a:r>
            </a:p>
          </p:txBody>
        </p:sp>
      </p:grpSp>
      <p:grpSp>
        <p:nvGrpSpPr>
          <p:cNvPr id="19475" name="Group 61">
            <a:extLst>
              <a:ext uri="{FF2B5EF4-FFF2-40B4-BE49-F238E27FC236}">
                <a16:creationId xmlns:a16="http://schemas.microsoft.com/office/drawing/2014/main" id="{F0C8F9D1-9F9B-453F-9272-C00B93147198}"/>
              </a:ext>
            </a:extLst>
          </p:cNvPr>
          <p:cNvGrpSpPr>
            <a:grpSpLocks/>
          </p:cNvGrpSpPr>
          <p:nvPr/>
        </p:nvGrpSpPr>
        <p:grpSpPr bwMode="auto">
          <a:xfrm>
            <a:off x="3650630" y="1374775"/>
            <a:ext cx="4178300" cy="612775"/>
            <a:chOff x="1540" y="961"/>
            <a:chExt cx="2632" cy="386"/>
          </a:xfrm>
        </p:grpSpPr>
        <p:sp>
          <p:nvSpPr>
            <p:cNvPr id="19476" name="Rectangle 60" descr="25%">
              <a:extLst>
                <a:ext uri="{FF2B5EF4-FFF2-40B4-BE49-F238E27FC236}">
                  <a16:creationId xmlns:a16="http://schemas.microsoft.com/office/drawing/2014/main" id="{428644C1-5442-41E7-A8C5-C986F71BF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" y="1006"/>
              <a:ext cx="568" cy="32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7" name="Rectangle 33" descr="5%">
              <a:extLst>
                <a:ext uri="{FF2B5EF4-FFF2-40B4-BE49-F238E27FC236}">
                  <a16:creationId xmlns:a16="http://schemas.microsoft.com/office/drawing/2014/main" id="{E17121C1-5813-45CA-AB21-F8C236A54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2" y="995"/>
              <a:ext cx="1120" cy="35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508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78" name="Text Box 41">
              <a:extLst>
                <a:ext uri="{FF2B5EF4-FFF2-40B4-BE49-F238E27FC236}">
                  <a16:creationId xmlns:a16="http://schemas.microsoft.com/office/drawing/2014/main" id="{2F4DFB12-CDD1-4F6A-AA0B-98FDB7B355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961"/>
              <a:ext cx="627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/>
                <a:buNone/>
              </a:pPr>
              <a:r>
                <a:rPr lang="en-US" altLang="zh-CN" sz="3000" dirty="0">
                  <a:solidFill>
                    <a:srgbClr val="FFFF00"/>
                  </a:solidFill>
                  <a:sym typeface="Symbol" panose="05050102010706020507" pitchFamily="18" charset="2"/>
                </a:rPr>
                <a:t></a:t>
              </a:r>
              <a:endParaRPr lang="en-US" altLang="zh-CN" sz="3000" dirty="0">
                <a:solidFill>
                  <a:srgbClr val="FFFF00"/>
                </a:solidFill>
              </a:endParaRPr>
            </a:p>
          </p:txBody>
        </p:sp>
        <p:sp>
          <p:nvSpPr>
            <p:cNvPr id="19479" name="Rectangle 58" descr="5%">
              <a:extLst>
                <a:ext uri="{FF2B5EF4-FFF2-40B4-BE49-F238E27FC236}">
                  <a16:creationId xmlns:a16="http://schemas.microsoft.com/office/drawing/2014/main" id="{1571B5F5-4AE3-421C-8091-95F92872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990"/>
              <a:ext cx="1120" cy="352"/>
            </a:xfrm>
            <a:prstGeom prst="rect">
              <a:avLst/>
            </a:prstGeom>
            <a:noFill/>
            <a:ln w="508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80" name="Line 59">
              <a:extLst>
                <a:ext uri="{FF2B5EF4-FFF2-40B4-BE49-F238E27FC236}">
                  <a16:creationId xmlns:a16="http://schemas.microsoft.com/office/drawing/2014/main" id="{E0B65494-CF25-44D7-940A-A56C78F1F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8" y="979"/>
              <a:ext cx="0" cy="3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73" name="灯片编号占位符 1">
            <a:extLst>
              <a:ext uri="{FF2B5EF4-FFF2-40B4-BE49-F238E27FC236}">
                <a16:creationId xmlns:a16="http://schemas.microsoft.com/office/drawing/2014/main" id="{20C80498-DF33-4E93-9AC6-0BA6AF307EB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378CF3-2F47-4176-980E-8212FEF24C0C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3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3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3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36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3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0" grpId="0" autoUpdateAnimBg="0"/>
      <p:bldP spid="536583" grpId="0" autoUpdateAnimBg="0"/>
      <p:bldP spid="536584" grpId="0" animBg="1" autoUpdateAnimBg="0"/>
      <p:bldP spid="536586" grpId="0" animBg="1" autoUpdateAnimBg="0"/>
      <p:bldP spid="536587" grpId="0" autoUpdateAnimBg="0"/>
      <p:bldP spid="536588" grpId="0" autoUpdateAnimBg="0"/>
      <p:bldP spid="536589" grpId="0" autoUpdateAnimBg="0"/>
      <p:bldP spid="536590" grpId="0"/>
      <p:bldP spid="536591" grpId="0"/>
      <p:bldP spid="536592" grpId="0" animBg="1"/>
      <p:bldP spid="536593" grpId="0"/>
      <p:bldP spid="23" grpId="0" autoUpdateAnimBg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B9D4BD4-6913-4F42-9450-1824D504F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3119438"/>
            <a:ext cx="80073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AutoNum type="arabicParenBoth"/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熵是系统状态的函数</a:t>
            </a:r>
          </a:p>
        </p:txBody>
      </p:sp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26B8E3E7-A461-4DD4-A81B-D384E2A781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143000"/>
          <a:ext cx="2209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303" name="公式" r:id="rId4" imgW="1409827" imgH="285648" progId="Equation.3">
                  <p:embed/>
                </p:oleObj>
              </mc:Choice>
              <mc:Fallback>
                <p:oleObj name="公式" r:id="rId4" imgW="1409827" imgH="285648" progId="Equation.3">
                  <p:embed/>
                  <p:pic>
                    <p:nvPicPr>
                      <p:cNvPr id="22531" name="Object 2">
                        <a:extLst>
                          <a:ext uri="{FF2B5EF4-FFF2-40B4-BE49-F238E27FC236}">
                            <a16:creationId xmlns:a16="http://schemas.microsoft.com/office/drawing/2014/main" id="{26B8E3E7-A461-4DD4-A81B-D384E2A781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43000"/>
                        <a:ext cx="2209800" cy="500063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4">
            <a:extLst>
              <a:ext uri="{FF2B5EF4-FFF2-40B4-BE49-F238E27FC236}">
                <a16:creationId xmlns:a16="http://schemas.microsoft.com/office/drawing/2014/main" id="{50651226-2B3C-4F4A-9F56-59A15E5B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8625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玻耳兹曼熵公式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B54FE193-8328-424C-88F8-E78599219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74925"/>
            <a:ext cx="288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297EDA00-2782-4EBF-AC96-82D941C61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928813"/>
            <a:ext cx="750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k </a:t>
            </a:r>
            <a:r>
              <a:rPr lang="zh-CN" altLang="en-US">
                <a:solidFill>
                  <a:schemeClr val="bg1"/>
                </a:solidFill>
              </a:rPr>
              <a:t>为玻耳兹曼常数，熵的单位 </a:t>
            </a:r>
            <a:r>
              <a:rPr lang="en-US" altLang="zh-CN">
                <a:solidFill>
                  <a:schemeClr val="bg1"/>
                </a:solidFill>
              </a:rPr>
              <a:t>( </a:t>
            </a:r>
            <a:r>
              <a:rPr lang="en-US" altLang="zh-CN">
                <a:solidFill>
                  <a:srgbClr val="FFFF00"/>
                </a:solidFill>
              </a:rPr>
              <a:t>J/K</a:t>
            </a:r>
            <a:r>
              <a:rPr lang="en-US" altLang="zh-CN">
                <a:solidFill>
                  <a:schemeClr val="bg1"/>
                </a:solidFill>
              </a:rPr>
              <a:t> )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A8D927C3-E2F5-4A72-806C-012D47618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786188"/>
            <a:ext cx="81438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一个系统的熵是该系统的</a:t>
            </a:r>
            <a:r>
              <a:rPr lang="zh-CN" altLang="en-US">
                <a:solidFill>
                  <a:srgbClr val="FFCC00"/>
                </a:solidFill>
                <a:ea typeface="楷体_GB2312" pitchFamily="49" charset="-122"/>
              </a:rPr>
              <a:t>微观态数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的量度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是系统内分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子热运动的</a:t>
            </a:r>
            <a:r>
              <a:rPr lang="zh-CN" altLang="en-US">
                <a:solidFill>
                  <a:srgbClr val="FFCC00"/>
                </a:solidFill>
                <a:ea typeface="楷体_GB2312" pitchFamily="49" charset="-122"/>
              </a:rPr>
              <a:t>无序程度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的一种量度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22537" name="AutoShape 9">
            <a:extLst>
              <a:ext uri="{FF2B5EF4-FFF2-40B4-BE49-F238E27FC236}">
                <a16:creationId xmlns:a16="http://schemas.microsoft.com/office/drawing/2014/main" id="{62069B96-ABE0-4C69-82C1-69E31201D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254476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6A60E815-12AE-4EA5-869C-0539FD51D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1431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22549" name="Text Box 21">
            <a:extLst>
              <a:ext uri="{FF2B5EF4-FFF2-40B4-BE49-F238E27FC236}">
                <a16:creationId xmlns:a16="http://schemas.microsoft.com/office/drawing/2014/main" id="{E95D1B92-0F72-4F2C-BEE8-804F8896A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4932363"/>
            <a:ext cx="837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热力学参量：熵，具有相加性</a:t>
            </a:r>
            <a:endParaRPr kumimoji="0" lang="zh-CN" altLang="en-US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22550" name="Text Box 22">
            <a:extLst>
              <a:ext uri="{FF2B5EF4-FFF2-40B4-BE49-F238E27FC236}">
                <a16:creationId xmlns:a16="http://schemas.microsoft.com/office/drawing/2014/main" id="{FA16CD9B-548E-4E6D-B82E-0C43A003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5429250"/>
            <a:ext cx="796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处于平衡态系统的熵等于系统各个组成部分熵之和</a:t>
            </a:r>
            <a:r>
              <a:rPr kumimoji="0"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20492" name="灯片编号占位符 1">
            <a:extLst>
              <a:ext uri="{FF2B5EF4-FFF2-40B4-BE49-F238E27FC236}">
                <a16:creationId xmlns:a16="http://schemas.microsoft.com/office/drawing/2014/main" id="{54101E31-5FDF-4647-9172-B3CBC2E2BBF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DA3CE0-EF28-4AA9-B05C-60271E126DC3}" type="slidenum">
              <a:rPr lang="en-US" altLang="zh-CN" b="0">
                <a:solidFill>
                  <a:srgbClr val="FF00FF"/>
                </a:solidFill>
              </a:rPr>
              <a:pPr eaLnBrk="1" hangingPunct="1"/>
              <a:t>22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2" grpId="0" autoUpdateAnimBg="0"/>
      <p:bldP spid="22533" grpId="0"/>
      <p:bldP spid="22535" grpId="0"/>
      <p:bldP spid="22536" grpId="0"/>
      <p:bldP spid="22537" grpId="0" animBg="1"/>
      <p:bldP spid="22538" grpId="0"/>
      <p:bldP spid="22549" grpId="0"/>
      <p:bldP spid="225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4">
            <a:extLst>
              <a:ext uri="{FF2B5EF4-FFF2-40B4-BE49-F238E27FC236}">
                <a16:creationId xmlns:a16="http://schemas.microsoft.com/office/drawing/2014/main" id="{96AB1E1A-CF60-4A41-AD83-B61AA4E41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42875"/>
            <a:ext cx="2873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熵增原理</a:t>
            </a:r>
          </a:p>
        </p:txBody>
      </p:sp>
      <p:sp>
        <p:nvSpPr>
          <p:cNvPr id="36869" name="Oval 5">
            <a:extLst>
              <a:ext uri="{FF2B5EF4-FFF2-40B4-BE49-F238E27FC236}">
                <a16:creationId xmlns:a16="http://schemas.microsoft.com/office/drawing/2014/main" id="{53E25502-E8C4-4E90-AAA3-DD5C8D1CA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775" y="550863"/>
            <a:ext cx="914400" cy="838200"/>
          </a:xfrm>
          <a:prstGeom prst="ellipse">
            <a:avLst/>
          </a:prstGeom>
          <a:gradFill rotWithShape="1">
            <a:gsLst>
              <a:gs pos="0">
                <a:srgbClr val="003B00"/>
              </a:gs>
              <a:gs pos="50000">
                <a:srgbClr val="008000"/>
              </a:gs>
              <a:gs pos="100000">
                <a:srgbClr val="003B00"/>
              </a:gs>
            </a:gsLst>
            <a:lin ang="5400000" scaled="1"/>
          </a:gra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Ω</a:t>
            </a:r>
            <a:r>
              <a:rPr lang="en-US" altLang="zh-CN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6870" name="Oval 6">
            <a:extLst>
              <a:ext uri="{FF2B5EF4-FFF2-40B4-BE49-F238E27FC236}">
                <a16:creationId xmlns:a16="http://schemas.microsoft.com/office/drawing/2014/main" id="{090E7DDC-94E2-4CD9-99CA-AC39A844A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558800"/>
            <a:ext cx="914400" cy="838200"/>
          </a:xfrm>
          <a:prstGeom prst="ellipse">
            <a:avLst/>
          </a:prstGeom>
          <a:gradFill rotWithShape="1">
            <a:gsLst>
              <a:gs pos="0">
                <a:srgbClr val="47182F"/>
              </a:gs>
              <a:gs pos="50000">
                <a:srgbClr val="993366"/>
              </a:gs>
              <a:gs pos="100000">
                <a:srgbClr val="47182F"/>
              </a:gs>
            </a:gsLst>
            <a:lin ang="5400000" scaled="1"/>
          </a:gradFill>
          <a:ln w="9525">
            <a:solidFill>
              <a:srgbClr val="993366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Ω</a:t>
            </a:r>
            <a:r>
              <a:rPr lang="en-US" altLang="zh-CN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1B52D3D7-10EA-4A03-8DCF-2F5431EA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075" y="550863"/>
            <a:ext cx="3313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1"/>
                </a:solidFill>
              </a:rPr>
              <a:t>Ω</a:t>
            </a:r>
            <a:r>
              <a:rPr lang="en-US" altLang="zh-CN" sz="2000" baseline="-25000">
                <a:solidFill>
                  <a:schemeClr val="bg1"/>
                </a:solidFill>
              </a:rPr>
              <a:t>2 </a:t>
            </a: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</a:rPr>
              <a:t>&gt; </a:t>
            </a:r>
            <a:r>
              <a:rPr lang="en-US" altLang="zh-CN" sz="2000">
                <a:solidFill>
                  <a:schemeClr val="bg1"/>
                </a:solidFill>
              </a:rPr>
              <a:t>Ω</a:t>
            </a:r>
            <a:r>
              <a:rPr lang="en-US" altLang="zh-CN" sz="2000" baseline="-25000">
                <a:solidFill>
                  <a:schemeClr val="bg1"/>
                </a:solidFill>
              </a:rPr>
              <a:t>1 </a:t>
            </a:r>
            <a:r>
              <a:rPr lang="en-US" altLang="zh-CN" sz="200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自动进行</a:t>
            </a:r>
            <a:r>
              <a:rPr lang="en-US" altLang="zh-CN" sz="2000">
                <a:solidFill>
                  <a:schemeClr val="bg1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4CE75D1B-22D1-4F2D-BA3E-61B804D5A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766763"/>
            <a:ext cx="2360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孤立系统</a:t>
            </a:r>
          </a:p>
        </p:txBody>
      </p:sp>
      <p:graphicFrame>
        <p:nvGraphicFramePr>
          <p:cNvPr id="36873" name="Object 2">
            <a:extLst>
              <a:ext uri="{FF2B5EF4-FFF2-40B4-BE49-F238E27FC236}">
                <a16:creationId xmlns:a16="http://schemas.microsoft.com/office/drawing/2014/main" id="{FFAF677A-F6A4-4A82-8C75-24AAC24D4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7875" y="1500188"/>
          <a:ext cx="15843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7" name="公式" r:id="rId3" imgW="1562125" imgH="390661" progId="Equation.3">
                  <p:embed/>
                </p:oleObj>
              </mc:Choice>
              <mc:Fallback>
                <p:oleObj name="公式" r:id="rId3" imgW="1562125" imgH="390661" progId="Equation.3">
                  <p:embed/>
                  <p:pic>
                    <p:nvPicPr>
                      <p:cNvPr id="36873" name="Object 2">
                        <a:extLst>
                          <a:ext uri="{FF2B5EF4-FFF2-40B4-BE49-F238E27FC236}">
                            <a16:creationId xmlns:a16="http://schemas.microsoft.com/office/drawing/2014/main" id="{FFAF677A-F6A4-4A82-8C75-24AAC24D4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500188"/>
                        <a:ext cx="15843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3">
            <a:extLst>
              <a:ext uri="{FF2B5EF4-FFF2-40B4-BE49-F238E27FC236}">
                <a16:creationId xmlns:a16="http://schemas.microsoft.com/office/drawing/2014/main" id="{8E3FFB04-74E7-44C0-BA51-568398919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7600" y="1500188"/>
          <a:ext cx="16827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8" name="公式" r:id="rId5" imgW="1647755" imgH="390661" progId="Equation.3">
                  <p:embed/>
                </p:oleObj>
              </mc:Choice>
              <mc:Fallback>
                <p:oleObj name="公式" r:id="rId5" imgW="1647755" imgH="390661" progId="Equation.3">
                  <p:embed/>
                  <p:pic>
                    <p:nvPicPr>
                      <p:cNvPr id="36874" name="Object 3">
                        <a:extLst>
                          <a:ext uri="{FF2B5EF4-FFF2-40B4-BE49-F238E27FC236}">
                            <a16:creationId xmlns:a16="http://schemas.microsoft.com/office/drawing/2014/main" id="{8E3FFB04-74E7-44C0-BA51-568398919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1500188"/>
                        <a:ext cx="16827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AutoShape 11">
            <a:extLst>
              <a:ext uri="{FF2B5EF4-FFF2-40B4-BE49-F238E27FC236}">
                <a16:creationId xmlns:a16="http://schemas.microsoft.com/office/drawing/2014/main" id="{1BEBAE02-88FF-48E5-B5C7-FBC914E1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42" y="941384"/>
            <a:ext cx="2663825" cy="144462"/>
          </a:xfrm>
          <a:prstGeom prst="rightArrow">
            <a:avLst>
              <a:gd name="adj1" fmla="val 50000"/>
              <a:gd name="adj2" fmla="val 460991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6876" name="Object 4">
            <a:extLst>
              <a:ext uri="{FF2B5EF4-FFF2-40B4-BE49-F238E27FC236}">
                <a16:creationId xmlns:a16="http://schemas.microsoft.com/office/drawing/2014/main" id="{2BEFA81B-FA5E-4F21-832F-F4D7E252F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7875" y="2859088"/>
          <a:ext cx="9683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9" name="公式" r:id="rId7" imgW="933361" imgH="390661" progId="Equation.3">
                  <p:embed/>
                </p:oleObj>
              </mc:Choice>
              <mc:Fallback>
                <p:oleObj name="公式" r:id="rId7" imgW="933361" imgH="390661" progId="Equation.3">
                  <p:embed/>
                  <p:pic>
                    <p:nvPicPr>
                      <p:cNvPr id="36876" name="Object 4">
                        <a:extLst>
                          <a:ext uri="{FF2B5EF4-FFF2-40B4-BE49-F238E27FC236}">
                            <a16:creationId xmlns:a16="http://schemas.microsoft.com/office/drawing/2014/main" id="{2BEFA81B-FA5E-4F21-832F-F4D7E252F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2859088"/>
                        <a:ext cx="9683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7" name="Text Box 13">
            <a:extLst>
              <a:ext uri="{FF2B5EF4-FFF2-40B4-BE49-F238E27FC236}">
                <a16:creationId xmlns:a16="http://schemas.microsoft.com/office/drawing/2014/main" id="{14CD6A35-0564-4158-9D46-F73126CA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2790825"/>
            <a:ext cx="357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等号仅适用于</a:t>
            </a:r>
            <a:r>
              <a:rPr lang="zh-CN" altLang="en-US" sz="2000">
                <a:solidFill>
                  <a:srgbClr val="FFCC00"/>
                </a:solidFill>
                <a:ea typeface="楷体_GB2312" pitchFamily="49" charset="-122"/>
              </a:rPr>
              <a:t>可逆过程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878" name="Rectangle 14">
            <a:extLst>
              <a:ext uri="{FF2B5EF4-FFF2-40B4-BE49-F238E27FC236}">
                <a16:creationId xmlns:a16="http://schemas.microsoft.com/office/drawing/2014/main" id="{24334BFF-C457-4496-B754-C2709C206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3451225"/>
            <a:ext cx="7951787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</a:rPr>
              <a:t>孤立系统的熵永不减少</a:t>
            </a:r>
            <a:r>
              <a:rPr lang="zh-CN" altLang="en-US">
                <a:solidFill>
                  <a:schemeClr val="bg1"/>
                </a:solidFill>
              </a:rPr>
              <a:t>，这一结论称为</a:t>
            </a:r>
            <a:r>
              <a:rPr lang="zh-CN" altLang="en-US">
                <a:solidFill>
                  <a:srgbClr val="66FFFF"/>
                </a:solidFill>
              </a:rPr>
              <a:t>熵增原理</a:t>
            </a:r>
          </a:p>
        </p:txBody>
      </p:sp>
      <p:sp>
        <p:nvSpPr>
          <p:cNvPr id="36879" name="Text Box 15">
            <a:extLst>
              <a:ext uri="{FF2B5EF4-FFF2-40B4-BE49-F238E27FC236}">
                <a16:creationId xmlns:a16="http://schemas.microsoft.com/office/drawing/2014/main" id="{980F8370-748E-46C3-ACF1-44EBB0E50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714875"/>
            <a:ext cx="2239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36880" name="Text Box 16">
            <a:extLst>
              <a:ext uri="{FF2B5EF4-FFF2-40B4-BE49-F238E27FC236}">
                <a16:creationId xmlns:a16="http://schemas.microsoft.com/office/drawing/2014/main" id="{C13D3F38-875F-450F-9EB3-F6F087E06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4643438"/>
            <a:ext cx="70723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熵增原理只能应用于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孤立系统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对于开放系统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熵是可以减少的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36881" name="AutoShape 17">
            <a:extLst>
              <a:ext uri="{FF2B5EF4-FFF2-40B4-BE49-F238E27FC236}">
                <a16:creationId xmlns:a16="http://schemas.microsoft.com/office/drawing/2014/main" id="{92D9DC0C-8955-4D76-9EE0-C5BE8CC59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467042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6882" name="Text Box 18">
            <a:extLst>
              <a:ext uri="{FF2B5EF4-FFF2-40B4-BE49-F238E27FC236}">
                <a16:creationId xmlns:a16="http://schemas.microsoft.com/office/drawing/2014/main" id="{8E33FB5C-DE5D-4CA5-87E1-77BE19900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2114550"/>
            <a:ext cx="739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从</a:t>
            </a:r>
            <a:r>
              <a:rPr kumimoji="0" lang="zh-CN" altLang="en-US">
                <a:solidFill>
                  <a:srgbClr val="66FFFF"/>
                </a:solidFill>
              </a:rPr>
              <a:t>状态</a:t>
            </a:r>
            <a:r>
              <a:rPr lang="en-US" altLang="zh-CN">
                <a:solidFill>
                  <a:srgbClr val="66FFFF"/>
                </a:solidFill>
              </a:rPr>
              <a:t>(1)</a:t>
            </a:r>
            <a:r>
              <a:rPr kumimoji="0" lang="zh-CN" altLang="en-US">
                <a:solidFill>
                  <a:schemeClr val="bg1"/>
                </a:solidFill>
              </a:rPr>
              <a:t>变化到</a:t>
            </a:r>
            <a:r>
              <a:rPr kumimoji="0" lang="zh-CN" altLang="en-US">
                <a:solidFill>
                  <a:srgbClr val="66FFFF"/>
                </a:solidFill>
              </a:rPr>
              <a:t>状态</a:t>
            </a:r>
            <a:r>
              <a:rPr lang="en-US" altLang="zh-CN">
                <a:solidFill>
                  <a:srgbClr val="66FFFF"/>
                </a:solidFill>
              </a:rPr>
              <a:t>(2)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的过程中，</a:t>
            </a:r>
            <a:r>
              <a:rPr lang="zh-CN" altLang="en-US">
                <a:solidFill>
                  <a:schemeClr val="bg1"/>
                </a:solidFill>
              </a:rPr>
              <a:t>熵</a:t>
            </a:r>
            <a:r>
              <a:rPr kumimoji="0" lang="zh-CN" altLang="en-US">
                <a:solidFill>
                  <a:schemeClr val="bg1"/>
                </a:solidFill>
              </a:rPr>
              <a:t>的增量</a:t>
            </a:r>
          </a:p>
        </p:txBody>
      </p:sp>
      <p:graphicFrame>
        <p:nvGraphicFramePr>
          <p:cNvPr id="36883" name="Object 5">
            <a:extLst>
              <a:ext uri="{FF2B5EF4-FFF2-40B4-BE49-F238E27FC236}">
                <a16:creationId xmlns:a16="http://schemas.microsoft.com/office/drawing/2014/main" id="{0A5EA510-9AD5-4407-87EE-DACFC2A75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5938" y="2643188"/>
          <a:ext cx="13128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0" name="公式" r:id="rId9" imgW="1276490" imgH="885723" progId="Equation.3">
                  <p:embed/>
                </p:oleObj>
              </mc:Choice>
              <mc:Fallback>
                <p:oleObj name="公式" r:id="rId9" imgW="1276490" imgH="885723" progId="Equation.3">
                  <p:embed/>
                  <p:pic>
                    <p:nvPicPr>
                      <p:cNvPr id="36883" name="Object 5">
                        <a:extLst>
                          <a:ext uri="{FF2B5EF4-FFF2-40B4-BE49-F238E27FC236}">
                            <a16:creationId xmlns:a16="http://schemas.microsoft.com/office/drawing/2014/main" id="{0A5EA510-9AD5-4407-87EE-DACFC2A75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2643188"/>
                        <a:ext cx="13128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6">
            <a:extLst>
              <a:ext uri="{FF2B5EF4-FFF2-40B4-BE49-F238E27FC236}">
                <a16:creationId xmlns:a16="http://schemas.microsoft.com/office/drawing/2014/main" id="{21549442-FB46-4307-9AA1-9250DCF75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4363" y="2882900"/>
          <a:ext cx="484187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1" name="公式" r:id="rId11" imgW="457200" imgH="285648" progId="Equation.3">
                  <p:embed/>
                </p:oleObj>
              </mc:Choice>
              <mc:Fallback>
                <p:oleObj name="公式" r:id="rId11" imgW="457200" imgH="285648" progId="Equation.3">
                  <p:embed/>
                  <p:pic>
                    <p:nvPicPr>
                      <p:cNvPr id="36884" name="Object 6">
                        <a:extLst>
                          <a:ext uri="{FF2B5EF4-FFF2-40B4-BE49-F238E27FC236}">
                            <a16:creationId xmlns:a16="http://schemas.microsoft.com/office/drawing/2014/main" id="{21549442-FB46-4307-9AA1-9250DCF75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3" y="2882900"/>
                        <a:ext cx="484187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7">
            <a:extLst>
              <a:ext uri="{FF2B5EF4-FFF2-40B4-BE49-F238E27FC236}">
                <a16:creationId xmlns:a16="http://schemas.microsoft.com/office/drawing/2014/main" id="{9DD8757C-C177-4564-9418-00A15465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5572125"/>
            <a:ext cx="80645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00FFFF"/>
                </a:solidFill>
                <a:ea typeface="楷体_GB2312" pitchFamily="49" charset="-122"/>
              </a:rPr>
              <a:t>例如：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某溶液在冷却过程中的结晶的现象。其内的分子从溶液中无序的运动转变为晶体的有规则排列，熵是减少的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AC5EA940-EB21-43FF-B1AA-E40EBBE7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4071938"/>
            <a:ext cx="5857875" cy="461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CC00"/>
                </a:solidFill>
              </a:rPr>
              <a:t>提供了热力学过程自动发生的判定依据</a:t>
            </a:r>
          </a:p>
        </p:txBody>
      </p:sp>
      <p:sp>
        <p:nvSpPr>
          <p:cNvPr id="22551" name="灯片编号占位符 1">
            <a:extLst>
              <a:ext uri="{FF2B5EF4-FFF2-40B4-BE49-F238E27FC236}">
                <a16:creationId xmlns:a16="http://schemas.microsoft.com/office/drawing/2014/main" id="{322AD422-D543-4110-ADDD-5C492CF10AD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F8E1EB-F6C0-4B55-8D81-BB795A683CE9}" type="slidenum">
              <a:rPr lang="en-US" altLang="zh-CN" b="0">
                <a:solidFill>
                  <a:srgbClr val="FF00FF"/>
                </a:solidFill>
              </a:rPr>
              <a:pPr eaLnBrk="1" hangingPunct="1"/>
              <a:t>23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utoUpdateAnimBg="0"/>
      <p:bldP spid="36869" grpId="0" animBg="1" autoUpdateAnimBg="0"/>
      <p:bldP spid="36870" grpId="0" animBg="1" autoUpdateAnimBg="0"/>
      <p:bldP spid="36871" grpId="0" autoUpdateAnimBg="0"/>
      <p:bldP spid="36872" grpId="0" autoUpdateAnimBg="0"/>
      <p:bldP spid="36877" grpId="0"/>
      <p:bldP spid="36878" grpId="0"/>
      <p:bldP spid="36879" grpId="0"/>
      <p:bldP spid="36880" grpId="0"/>
      <p:bldP spid="36881" grpId="0" animBg="1"/>
      <p:bldP spid="36882" grpId="0"/>
      <p:bldP spid="19" grpId="0" autoUpdateAnimBg="0"/>
      <p:bldP spid="2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9650" name="Object 2">
            <a:extLst>
              <a:ext uri="{FF2B5EF4-FFF2-40B4-BE49-F238E27FC236}">
                <a16:creationId xmlns:a16="http://schemas.microsoft.com/office/drawing/2014/main" id="{6F4FAB89-CE91-40C5-8056-E408519C62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389063"/>
          <a:ext cx="1247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56" name="公式" r:id="rId3" imgW="1219302" imgH="799998" progId="Equation.3">
                  <p:embed/>
                </p:oleObj>
              </mc:Choice>
              <mc:Fallback>
                <p:oleObj name="公式" r:id="rId3" imgW="1219302" imgH="799998" progId="Equation.3">
                  <p:embed/>
                  <p:pic>
                    <p:nvPicPr>
                      <p:cNvPr id="539650" name="Object 2">
                        <a:extLst>
                          <a:ext uri="{FF2B5EF4-FFF2-40B4-BE49-F238E27FC236}">
                            <a16:creationId xmlns:a16="http://schemas.microsoft.com/office/drawing/2014/main" id="{6F4FAB89-CE91-40C5-8056-E408519C62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389063"/>
                        <a:ext cx="1247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1" name="Text Box 3">
            <a:extLst>
              <a:ext uri="{FF2B5EF4-FFF2-40B4-BE49-F238E27FC236}">
                <a16:creationId xmlns:a16="http://schemas.microsoft.com/office/drawing/2014/main" id="{1E4B955C-99E1-49EB-950E-F5D217C62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73288"/>
            <a:ext cx="80645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对于系统从</a:t>
            </a:r>
            <a:r>
              <a:rPr kumimoji="0" lang="zh-CN" altLang="en-US">
                <a:solidFill>
                  <a:srgbClr val="66FFFF"/>
                </a:solidFill>
                <a:ea typeface="楷体_GB2312" pitchFamily="49" charset="-122"/>
              </a:rPr>
              <a:t>状态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(1)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变化到</a:t>
            </a:r>
            <a:r>
              <a:rPr kumimoji="0" lang="zh-CN" altLang="en-US">
                <a:solidFill>
                  <a:srgbClr val="66FFFF"/>
                </a:solidFill>
                <a:ea typeface="楷体_GB2312" pitchFamily="49" charset="-122"/>
              </a:rPr>
              <a:t>状态</a:t>
            </a:r>
            <a:r>
              <a:rPr kumimoji="0" lang="en-US" altLang="zh-CN">
                <a:solidFill>
                  <a:srgbClr val="66FFFF"/>
                </a:solidFill>
                <a:ea typeface="楷体_GB2312" pitchFamily="49" charset="-122"/>
              </a:rPr>
              <a:t>(2)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的有限可逆过程来说，则熵的增量为 </a:t>
            </a:r>
          </a:p>
        </p:txBody>
      </p:sp>
      <p:graphicFrame>
        <p:nvGraphicFramePr>
          <p:cNvPr id="539652" name="Object 4">
            <a:extLst>
              <a:ext uri="{FF2B5EF4-FFF2-40B4-BE49-F238E27FC236}">
                <a16:creationId xmlns:a16="http://schemas.microsoft.com/office/drawing/2014/main" id="{7EBBE888-14FD-484D-81AA-581285950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148013"/>
          <a:ext cx="3222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57" name="公式" r:id="rId5" imgW="3162173" imgH="799998" progId="Equation.3">
                  <p:embed/>
                </p:oleObj>
              </mc:Choice>
              <mc:Fallback>
                <p:oleObj name="公式" r:id="rId5" imgW="3162173" imgH="799998" progId="Equation.3">
                  <p:embed/>
                  <p:pic>
                    <p:nvPicPr>
                      <p:cNvPr id="539652" name="Object 4">
                        <a:extLst>
                          <a:ext uri="{FF2B5EF4-FFF2-40B4-BE49-F238E27FC236}">
                            <a16:creationId xmlns:a16="http://schemas.microsoft.com/office/drawing/2014/main" id="{7EBBE888-14FD-484D-81AA-581285950D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148013"/>
                        <a:ext cx="32226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3" name="Text Box 5">
            <a:extLst>
              <a:ext uri="{FF2B5EF4-FFF2-40B4-BE49-F238E27FC236}">
                <a16:creationId xmlns:a16="http://schemas.microsoft.com/office/drawing/2014/main" id="{BEE5FE0B-4EA6-470D-90B0-145B1EBF5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4143375"/>
            <a:ext cx="187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66FFFF"/>
              </a:buClr>
              <a:buFont typeface="Wingdings" panose="05000000000000000000" pitchFamily="2" charset="2"/>
              <a:buChar char="p"/>
            </a:pPr>
            <a:r>
              <a:rPr kumimoji="0"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539655" name="Text Box 7">
            <a:extLst>
              <a:ext uri="{FF2B5EF4-FFF2-40B4-BE49-F238E27FC236}">
                <a16:creationId xmlns:a16="http://schemas.microsoft.com/office/drawing/2014/main" id="{91823E86-B2DA-4834-9028-094D0BBCC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4772025"/>
            <a:ext cx="741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对于可逆过程可以直接使用上式计算熵变</a:t>
            </a:r>
          </a:p>
        </p:txBody>
      </p:sp>
      <p:sp>
        <p:nvSpPr>
          <p:cNvPr id="539656" name="Text Box 8">
            <a:extLst>
              <a:ext uri="{FF2B5EF4-FFF2-40B4-BE49-F238E27FC236}">
                <a16:creationId xmlns:a16="http://schemas.microsoft.com/office/drawing/2014/main" id="{4B4334E3-DAE9-4CB2-A53F-A6DCD2403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286375"/>
            <a:ext cx="8032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0850" indent="-4508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对于不可逆过程</a:t>
            </a:r>
            <a:r>
              <a:rPr kumimoji="0" lang="zh-CN" altLang="en-US">
                <a:solidFill>
                  <a:schemeClr val="bg1"/>
                </a:solidFill>
              </a:rPr>
              <a:t>，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欲计算熵变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必须设计一条连接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状态</a:t>
            </a:r>
            <a:r>
              <a:rPr lang="en-US" altLang="zh-CN">
                <a:solidFill>
                  <a:srgbClr val="66FFFF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与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状态</a:t>
            </a:r>
            <a:r>
              <a:rPr lang="en-US" altLang="zh-CN">
                <a:solidFill>
                  <a:srgbClr val="66FFFF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的可逆过程。</a:t>
            </a:r>
          </a:p>
        </p:txBody>
      </p:sp>
      <p:sp>
        <p:nvSpPr>
          <p:cNvPr id="539659" name="Text Box 11">
            <a:extLst>
              <a:ext uri="{FF2B5EF4-FFF2-40B4-BE49-F238E27FC236}">
                <a16:creationId xmlns:a16="http://schemas.microsoft.com/office/drawing/2014/main" id="{7ABCA5BA-F69E-40A9-8135-03C4F85B5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28613"/>
            <a:ext cx="7072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3. 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熵的宏观表示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（</a:t>
            </a:r>
            <a:r>
              <a:rPr lang="zh-CN" altLang="en-US">
                <a:solidFill>
                  <a:schemeClr val="bg1"/>
                </a:solidFill>
              </a:rPr>
              <a:t>克劳修斯熵，</a:t>
            </a:r>
            <a:r>
              <a:rPr lang="en-US" altLang="zh-CN">
                <a:solidFill>
                  <a:schemeClr val="bg1"/>
                </a:solidFill>
              </a:rPr>
              <a:t>1850</a:t>
            </a:r>
            <a:r>
              <a:rPr lang="zh-CN" altLang="en-US">
                <a:solidFill>
                  <a:schemeClr val="bg1"/>
                </a:solidFill>
              </a:rPr>
              <a:t>年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539660" name="Text Box 12">
            <a:extLst>
              <a:ext uri="{FF2B5EF4-FFF2-40B4-BE49-F238E27FC236}">
                <a16:creationId xmlns:a16="http://schemas.microsoft.com/office/drawing/2014/main" id="{92D33009-3443-4A80-86D1-2A0890AF1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828675"/>
            <a:ext cx="80724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无限小的热力学可逆过程，系统熵的元增量等于其热温比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即 </a:t>
            </a:r>
          </a:p>
        </p:txBody>
      </p:sp>
      <p:sp>
        <p:nvSpPr>
          <p:cNvPr id="23562" name="灯片编号占位符 1">
            <a:extLst>
              <a:ext uri="{FF2B5EF4-FFF2-40B4-BE49-F238E27FC236}">
                <a16:creationId xmlns:a16="http://schemas.microsoft.com/office/drawing/2014/main" id="{958CF6F4-9BFE-4053-B071-914AF8C9B7C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8748D8-06F1-42AD-BFC9-0EEDA01CE6C4}" type="slidenum">
              <a:rPr lang="en-US" altLang="zh-CN" b="0">
                <a:solidFill>
                  <a:srgbClr val="FF00FF"/>
                </a:solidFill>
              </a:rPr>
              <a:pPr eaLnBrk="1" hangingPunct="1"/>
              <a:t>24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1" grpId="0"/>
      <p:bldP spid="539653" grpId="0"/>
      <p:bldP spid="539655" grpId="0"/>
      <p:bldP spid="539656" grpId="0"/>
      <p:bldP spid="539659" grpId="0"/>
      <p:bldP spid="5396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CA04B07D-8F75-49E9-B646-F0B1E7154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404813"/>
            <a:ext cx="806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用熵增原理证明理想气体的自由膨胀是不可逆过程。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B998DE77-0AC6-434A-9108-16E42044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D608B12D-2BA3-4E91-AFDD-A92EC482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1144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证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38ADC2C3-70F7-42D4-B6A2-474C914B6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14425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设膨胀前系统的状态参数</a:t>
            </a: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097AED87-4437-461C-AFEF-F6642CA74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349500"/>
            <a:ext cx="4351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膨胀后系统的状态参数</a:t>
            </a:r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2F68C4CE-D4BA-463D-A8DB-CC9AD3CF4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716338"/>
            <a:ext cx="7316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设想一可逆等温膨胀过程</a:t>
            </a:r>
            <a:r>
              <a:rPr lang="en-US" altLang="zh-CN">
                <a:solidFill>
                  <a:srgbClr val="66FFFF"/>
                </a:solidFill>
              </a:rPr>
              <a:t>,  </a:t>
            </a:r>
            <a:r>
              <a:rPr lang="zh-CN" altLang="en-US">
                <a:solidFill>
                  <a:schemeClr val="bg1"/>
                </a:solidFill>
              </a:rPr>
              <a:t>在此过程中系统吸热   </a:t>
            </a:r>
          </a:p>
        </p:txBody>
      </p:sp>
      <p:graphicFrame>
        <p:nvGraphicFramePr>
          <p:cNvPr id="25608" name="Object 2">
            <a:extLst>
              <a:ext uri="{FF2B5EF4-FFF2-40B4-BE49-F238E27FC236}">
                <a16:creationId xmlns:a16="http://schemas.microsoft.com/office/drawing/2014/main" id="{94607AD5-DB89-449B-8BF5-A4BAF19A7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437063"/>
          <a:ext cx="10191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5" name="公式" r:id="rId4" imgW="990549" imgH="361882" progId="Equation.3">
                  <p:embed/>
                </p:oleObj>
              </mc:Choice>
              <mc:Fallback>
                <p:oleObj name="公式" r:id="rId4" imgW="990549" imgH="361882" progId="Equation.3">
                  <p:embed/>
                  <p:pic>
                    <p:nvPicPr>
                      <p:cNvPr id="25608" name="Object 2">
                        <a:extLst>
                          <a:ext uri="{FF2B5EF4-FFF2-40B4-BE49-F238E27FC236}">
                            <a16:creationId xmlns:a16="http://schemas.microsoft.com/office/drawing/2014/main" id="{94607AD5-DB89-449B-8BF5-A4BAF19A7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437063"/>
                        <a:ext cx="10191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3">
            <a:extLst>
              <a:ext uri="{FF2B5EF4-FFF2-40B4-BE49-F238E27FC236}">
                <a16:creationId xmlns:a16="http://schemas.microsoft.com/office/drawing/2014/main" id="{0452BC7E-51CB-47A0-8C90-4854693B8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221163"/>
          <a:ext cx="18113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6" name="公式" r:id="rId6" imgW="1762131" imgH="799998" progId="Equation.3">
                  <p:embed/>
                </p:oleObj>
              </mc:Choice>
              <mc:Fallback>
                <p:oleObj name="公式" r:id="rId6" imgW="1762131" imgH="799998" progId="Equation.3">
                  <p:embed/>
                  <p:pic>
                    <p:nvPicPr>
                      <p:cNvPr id="25609" name="Object 3">
                        <a:extLst>
                          <a:ext uri="{FF2B5EF4-FFF2-40B4-BE49-F238E27FC236}">
                            <a16:creationId xmlns:a16="http://schemas.microsoft.com/office/drawing/2014/main" id="{0452BC7E-51CB-47A0-8C90-4854693B8B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221163"/>
                        <a:ext cx="18113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Text Box 10">
            <a:extLst>
              <a:ext uri="{FF2B5EF4-FFF2-40B4-BE49-F238E27FC236}">
                <a16:creationId xmlns:a16="http://schemas.microsoft.com/office/drawing/2014/main" id="{0F82F54A-9BCB-4DB6-8A2D-2B98919EA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13325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熵增加的过程是一个不可逆过程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7A7273DB-A025-495F-85D7-1ED16EF70FBC}"/>
              </a:ext>
            </a:extLst>
          </p:cNvPr>
          <p:cNvGrpSpPr>
            <a:grpSpLocks/>
          </p:cNvGrpSpPr>
          <p:nvPr/>
        </p:nvGrpSpPr>
        <p:grpSpPr bwMode="auto">
          <a:xfrm>
            <a:off x="5700713" y="2349500"/>
            <a:ext cx="3048000" cy="1371600"/>
            <a:chOff x="3408" y="1570"/>
            <a:chExt cx="1920" cy="864"/>
          </a:xfrm>
        </p:grpSpPr>
        <p:sp>
          <p:nvSpPr>
            <p:cNvPr id="24603" name="Rectangle 12">
              <a:extLst>
                <a:ext uri="{FF2B5EF4-FFF2-40B4-BE49-F238E27FC236}">
                  <a16:creationId xmlns:a16="http://schemas.microsoft.com/office/drawing/2014/main" id="{1E169992-C01C-4117-AE0E-029C400C8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666"/>
              <a:ext cx="1920" cy="768"/>
            </a:xfrm>
            <a:prstGeom prst="rect">
              <a:avLst/>
            </a:prstGeom>
            <a:gradFill rotWithShape="1">
              <a:gsLst>
                <a:gs pos="0">
                  <a:srgbClr val="762525"/>
                </a:gs>
                <a:gs pos="50000">
                  <a:srgbClr val="FF5050"/>
                </a:gs>
                <a:gs pos="100000">
                  <a:srgbClr val="762525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604" name="Rectangle 13">
              <a:extLst>
                <a:ext uri="{FF2B5EF4-FFF2-40B4-BE49-F238E27FC236}">
                  <a16:creationId xmlns:a16="http://schemas.microsoft.com/office/drawing/2014/main" id="{F5B1D61C-31B6-4A34-A8AB-B70E4764C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732"/>
              <a:ext cx="1814" cy="6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4605" name="Group 14">
              <a:extLst>
                <a:ext uri="{FF2B5EF4-FFF2-40B4-BE49-F238E27FC236}">
                  <a16:creationId xmlns:a16="http://schemas.microsoft.com/office/drawing/2014/main" id="{0E06A0C3-1F27-4F17-9FEC-57C6D2DDB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570"/>
              <a:ext cx="196" cy="798"/>
              <a:chOff x="2160" y="2688"/>
              <a:chExt cx="192" cy="742"/>
            </a:xfrm>
          </p:grpSpPr>
          <p:sp>
            <p:nvSpPr>
              <p:cNvPr id="24607" name="Rectangle 15">
                <a:extLst>
                  <a:ext uri="{FF2B5EF4-FFF2-40B4-BE49-F238E27FC236}">
                    <a16:creationId xmlns:a16="http://schemas.microsoft.com/office/drawing/2014/main" id="{45B6E62C-4432-4435-8209-48A547197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" y="2758"/>
                <a:ext cx="48" cy="67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608" name="Rectangle 16">
                <a:extLst>
                  <a:ext uri="{FF2B5EF4-FFF2-40B4-BE49-F238E27FC236}">
                    <a16:creationId xmlns:a16="http://schemas.microsoft.com/office/drawing/2014/main" id="{9A036BB3-4798-4070-94AB-79480DE6A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88"/>
                <a:ext cx="192" cy="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606" name="Rectangle 17" descr="5%">
              <a:extLst>
                <a:ext uri="{FF2B5EF4-FFF2-40B4-BE49-F238E27FC236}">
                  <a16:creationId xmlns:a16="http://schemas.microsoft.com/office/drawing/2014/main" id="{98A1C534-5FEF-408D-BCE6-A3A65AA85C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86" y="1622"/>
              <a:ext cx="630" cy="862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762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3935EDD1-69CA-4C32-9E61-6BF4B5D4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601913"/>
            <a:ext cx="1509712" cy="1009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19" name="Rectangle 19" descr="5%">
            <a:extLst>
              <a:ext uri="{FF2B5EF4-FFF2-40B4-BE49-F238E27FC236}">
                <a16:creationId xmlns:a16="http://schemas.microsoft.com/office/drawing/2014/main" id="{6C482F1A-B125-4173-8221-0A7BB7C8763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423150" y="2352676"/>
            <a:ext cx="1000125" cy="1511300"/>
          </a:xfrm>
          <a:prstGeom prst="rect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762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20" name="Rectangle 20">
            <a:extLst>
              <a:ext uri="{FF2B5EF4-FFF2-40B4-BE49-F238E27FC236}">
                <a16:creationId xmlns:a16="http://schemas.microsoft.com/office/drawing/2014/main" id="{DB7017E0-147B-490F-BB2A-A0115B835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1062038"/>
            <a:ext cx="3048000" cy="1219200"/>
          </a:xfrm>
          <a:prstGeom prst="rect">
            <a:avLst/>
          </a:prstGeom>
          <a:gradFill rotWithShape="1">
            <a:gsLst>
              <a:gs pos="0">
                <a:srgbClr val="762525"/>
              </a:gs>
              <a:gs pos="50000">
                <a:srgbClr val="FF5050"/>
              </a:gs>
              <a:gs pos="100000">
                <a:srgbClr val="762525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21" name="Rectangle 21">
            <a:extLst>
              <a:ext uri="{FF2B5EF4-FFF2-40B4-BE49-F238E27FC236}">
                <a16:creationId xmlns:a16="http://schemas.microsoft.com/office/drawing/2014/main" id="{0CF44D0B-C093-4FE4-8DF2-9B121C0F8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1166813"/>
            <a:ext cx="2879725" cy="1009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E1BF6802-8482-4E48-8A32-640BC787F01A}"/>
              </a:ext>
            </a:extLst>
          </p:cNvPr>
          <p:cNvGrpSpPr>
            <a:grpSpLocks/>
          </p:cNvGrpSpPr>
          <p:nvPr/>
        </p:nvGrpSpPr>
        <p:grpSpPr bwMode="auto">
          <a:xfrm>
            <a:off x="7072313" y="909638"/>
            <a:ext cx="311150" cy="1266825"/>
            <a:chOff x="2160" y="2688"/>
            <a:chExt cx="192" cy="742"/>
          </a:xfrm>
        </p:grpSpPr>
        <p:sp>
          <p:nvSpPr>
            <p:cNvPr id="24601" name="Rectangle 23">
              <a:extLst>
                <a:ext uri="{FF2B5EF4-FFF2-40B4-BE49-F238E27FC236}">
                  <a16:creationId xmlns:a16="http://schemas.microsoft.com/office/drawing/2014/main" id="{0C35591E-798C-44FB-B5CC-DA599E9BC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2758"/>
              <a:ext cx="48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602" name="Rectangle 24">
              <a:extLst>
                <a:ext uri="{FF2B5EF4-FFF2-40B4-BE49-F238E27FC236}">
                  <a16:creationId xmlns:a16="http://schemas.microsoft.com/office/drawing/2014/main" id="{1DA36069-CFB1-4B72-8A7A-A419DC008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88"/>
              <a:ext cx="192" cy="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5625" name="Rectangle 25" descr="5%">
            <a:extLst>
              <a:ext uri="{FF2B5EF4-FFF2-40B4-BE49-F238E27FC236}">
                <a16:creationId xmlns:a16="http://schemas.microsoft.com/office/drawing/2014/main" id="{E4DA6724-7AE3-4920-8DE8-03B6B1D90B5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007100" y="1016001"/>
            <a:ext cx="1000125" cy="1320800"/>
          </a:xfrm>
          <a:prstGeom prst="rect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762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26" name="Text Box 26">
            <a:extLst>
              <a:ext uri="{FF2B5EF4-FFF2-40B4-BE49-F238E27FC236}">
                <a16:creationId xmlns:a16="http://schemas.microsoft.com/office/drawing/2014/main" id="{FB0C1131-6D57-460C-9FEC-4AD7B2BE4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805488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另解：</a:t>
            </a:r>
          </a:p>
        </p:txBody>
      </p:sp>
      <p:graphicFrame>
        <p:nvGraphicFramePr>
          <p:cNvPr id="25627" name="Object 4">
            <a:extLst>
              <a:ext uri="{FF2B5EF4-FFF2-40B4-BE49-F238E27FC236}">
                <a16:creationId xmlns:a16="http://schemas.microsoft.com/office/drawing/2014/main" id="{523A60AD-1AFE-4F38-9C36-9EF56C8B0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3550" y="5707063"/>
          <a:ext cx="175895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7" name="公式" r:id="rId9" imgW="1714424" imgH="704782" progId="Equation.3">
                  <p:embed/>
                </p:oleObj>
              </mc:Choice>
              <mc:Fallback>
                <p:oleObj name="公式" r:id="rId9" imgW="1714424" imgH="704782" progId="Equation.3">
                  <p:embed/>
                  <p:pic>
                    <p:nvPicPr>
                      <p:cNvPr id="25627" name="Object 4">
                        <a:extLst>
                          <a:ext uri="{FF2B5EF4-FFF2-40B4-BE49-F238E27FC236}">
                            <a16:creationId xmlns:a16="http://schemas.microsoft.com/office/drawing/2014/main" id="{523A60AD-1AFE-4F38-9C36-9EF56C8B0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5707063"/>
                        <a:ext cx="175895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Object 5">
            <a:extLst>
              <a:ext uri="{FF2B5EF4-FFF2-40B4-BE49-F238E27FC236}">
                <a16:creationId xmlns:a16="http://schemas.microsoft.com/office/drawing/2014/main" id="{6B047880-67D6-47D7-BF7C-F6D6B9D34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9013" y="5627688"/>
          <a:ext cx="31305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8" name="公式" r:id="rId11" imgW="3067063" imgH="799998" progId="Equation.3">
                  <p:embed/>
                </p:oleObj>
              </mc:Choice>
              <mc:Fallback>
                <p:oleObj name="公式" r:id="rId11" imgW="3067063" imgH="799998" progId="Equation.3">
                  <p:embed/>
                  <p:pic>
                    <p:nvPicPr>
                      <p:cNvPr id="25628" name="Object 5">
                        <a:extLst>
                          <a:ext uri="{FF2B5EF4-FFF2-40B4-BE49-F238E27FC236}">
                            <a16:creationId xmlns:a16="http://schemas.microsoft.com/office/drawing/2014/main" id="{6B047880-67D6-47D7-BF7C-F6D6B9D34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5627688"/>
                        <a:ext cx="31305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6">
            <a:extLst>
              <a:ext uri="{FF2B5EF4-FFF2-40B4-BE49-F238E27FC236}">
                <a16:creationId xmlns:a16="http://schemas.microsoft.com/office/drawing/2014/main" id="{A1EF86D5-9365-4097-998B-25224FC67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8775" y="5613400"/>
          <a:ext cx="19669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9" name="公式" r:id="rId13" imgW="1923910" imgH="885723" progId="Equation.3">
                  <p:embed/>
                </p:oleObj>
              </mc:Choice>
              <mc:Fallback>
                <p:oleObj name="公式" r:id="rId13" imgW="1923910" imgH="885723" progId="Equation.3">
                  <p:embed/>
                  <p:pic>
                    <p:nvPicPr>
                      <p:cNvPr id="25629" name="Object 6">
                        <a:extLst>
                          <a:ext uri="{FF2B5EF4-FFF2-40B4-BE49-F238E27FC236}">
                            <a16:creationId xmlns:a16="http://schemas.microsoft.com/office/drawing/2014/main" id="{A1EF86D5-9365-4097-998B-25224FC67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775" y="5613400"/>
                        <a:ext cx="19669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Text Box 30">
            <a:extLst>
              <a:ext uri="{FF2B5EF4-FFF2-40B4-BE49-F238E27FC236}">
                <a16:creationId xmlns:a16="http://schemas.microsoft.com/office/drawing/2014/main" id="{9FD2409E-AF7E-4443-BF21-C2BB36D99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720850"/>
            <a:ext cx="304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66FFFF"/>
                </a:solidFill>
              </a:rPr>
              <a:t>( </a:t>
            </a:r>
            <a:r>
              <a:rPr kumimoji="0" lang="en-US" altLang="zh-CN" i="1">
                <a:solidFill>
                  <a:srgbClr val="66FFFF"/>
                </a:solidFill>
              </a:rPr>
              <a:t>V</a:t>
            </a:r>
            <a:r>
              <a:rPr kumimoji="0" lang="en-US" altLang="zh-CN" baseline="-25000">
                <a:solidFill>
                  <a:srgbClr val="66FFFF"/>
                </a:solidFill>
              </a:rPr>
              <a:t>1  </a:t>
            </a:r>
            <a:r>
              <a:rPr kumimoji="0" lang="zh-CN" altLang="en-US">
                <a:solidFill>
                  <a:srgbClr val="66FFFF"/>
                </a:solidFill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p</a:t>
            </a:r>
            <a:r>
              <a:rPr kumimoji="0" lang="en-US" altLang="zh-CN" baseline="-25000">
                <a:solidFill>
                  <a:srgbClr val="66FFFF"/>
                </a:solidFill>
              </a:rPr>
              <a:t>1</a:t>
            </a:r>
            <a:r>
              <a:rPr kumimoji="0" lang="en-US" altLang="zh-CN">
                <a:solidFill>
                  <a:srgbClr val="66FFFF"/>
                </a:solidFill>
              </a:rPr>
              <a:t> </a:t>
            </a:r>
            <a:r>
              <a:rPr kumimoji="0" lang="zh-CN" altLang="en-US">
                <a:solidFill>
                  <a:srgbClr val="66FFFF"/>
                </a:solidFill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T</a:t>
            </a:r>
            <a:r>
              <a:rPr kumimoji="0" lang="en-US" altLang="zh-CN" baseline="-25000">
                <a:solidFill>
                  <a:srgbClr val="66FFFF"/>
                </a:solidFill>
              </a:rPr>
              <a:t> </a:t>
            </a:r>
            <a:r>
              <a:rPr kumimoji="0" lang="zh-CN" altLang="en-US">
                <a:solidFill>
                  <a:srgbClr val="66FFFF"/>
                </a:solidFill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S</a:t>
            </a:r>
            <a:r>
              <a:rPr kumimoji="0" lang="en-US" altLang="zh-CN" baseline="-25000">
                <a:solidFill>
                  <a:srgbClr val="66FFFF"/>
                </a:solidFill>
              </a:rPr>
              <a:t>1 </a:t>
            </a:r>
            <a:r>
              <a:rPr kumimoji="0"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41401A6D-0001-4E66-8D94-096F9C9B8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043238"/>
            <a:ext cx="419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66FFFF"/>
                </a:solidFill>
              </a:rPr>
              <a:t>( </a:t>
            </a:r>
            <a:r>
              <a:rPr kumimoji="0" lang="en-US" altLang="zh-CN" i="1">
                <a:solidFill>
                  <a:srgbClr val="66FFFF"/>
                </a:solidFill>
              </a:rPr>
              <a:t>V</a:t>
            </a:r>
            <a:r>
              <a:rPr kumimoji="0" lang="en-US" altLang="zh-CN" baseline="-25000">
                <a:solidFill>
                  <a:srgbClr val="66FFFF"/>
                </a:solidFill>
              </a:rPr>
              <a:t>2  </a:t>
            </a:r>
            <a:r>
              <a:rPr kumimoji="0" lang="zh-CN" altLang="en-US">
                <a:solidFill>
                  <a:srgbClr val="66FFFF"/>
                </a:solidFill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p</a:t>
            </a:r>
            <a:r>
              <a:rPr kumimoji="0" lang="en-US" altLang="zh-CN" baseline="-25000">
                <a:solidFill>
                  <a:srgbClr val="66FFFF"/>
                </a:solidFill>
              </a:rPr>
              <a:t>2</a:t>
            </a:r>
            <a:r>
              <a:rPr kumimoji="0" lang="en-US" altLang="zh-CN">
                <a:solidFill>
                  <a:srgbClr val="66FFFF"/>
                </a:solidFill>
              </a:rPr>
              <a:t> </a:t>
            </a:r>
            <a:r>
              <a:rPr kumimoji="0" lang="zh-CN" altLang="en-US">
                <a:solidFill>
                  <a:srgbClr val="66FFFF"/>
                </a:solidFill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T</a:t>
            </a:r>
            <a:r>
              <a:rPr kumimoji="0" lang="en-US" altLang="zh-CN" baseline="-25000">
                <a:solidFill>
                  <a:srgbClr val="66FFFF"/>
                </a:solidFill>
              </a:rPr>
              <a:t> </a:t>
            </a:r>
            <a:r>
              <a:rPr kumimoji="0" lang="zh-CN" altLang="en-US">
                <a:solidFill>
                  <a:srgbClr val="66FFFF"/>
                </a:solidFill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S</a:t>
            </a:r>
            <a:r>
              <a:rPr kumimoji="0" lang="en-US" altLang="zh-CN" baseline="-25000">
                <a:solidFill>
                  <a:srgbClr val="66FFFF"/>
                </a:solidFill>
              </a:rPr>
              <a:t>2 </a:t>
            </a:r>
            <a:r>
              <a:rPr kumimoji="0"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24600" name="灯片编号占位符 1">
            <a:extLst>
              <a:ext uri="{FF2B5EF4-FFF2-40B4-BE49-F238E27FC236}">
                <a16:creationId xmlns:a16="http://schemas.microsoft.com/office/drawing/2014/main" id="{B43FB205-B034-4C1D-A785-BD5931C8C56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C5F1EE-0C74-494C-BCC4-89B7861A5DA8}" type="slidenum">
              <a:rPr lang="en-US" altLang="zh-CN" b="0">
                <a:solidFill>
                  <a:srgbClr val="FF00FF"/>
                </a:solidFill>
              </a:rPr>
              <a:pPr eaLnBrk="1" hangingPunct="1"/>
              <a:t>25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/>
      <p:bldP spid="25604" grpId="0" autoUpdateAnimBg="0"/>
      <p:bldP spid="25605" grpId="0" autoUpdateAnimBg="0"/>
      <p:bldP spid="25606" grpId="0" autoUpdateAnimBg="0"/>
      <p:bldP spid="25607" grpId="0" autoUpdateAnimBg="0"/>
      <p:bldP spid="25610" grpId="0" autoUpdateAnimBg="0"/>
      <p:bldP spid="25618" grpId="0" animBg="1"/>
      <p:bldP spid="25619" grpId="0" animBg="1"/>
      <p:bldP spid="25620" grpId="0" animBg="1"/>
      <p:bldP spid="25621" grpId="0" animBg="1"/>
      <p:bldP spid="25625" grpId="0" animBg="1"/>
      <p:bldP spid="25626" grpId="0" autoUpdateAnimBg="0"/>
      <p:bldP spid="25630" grpId="0"/>
      <p:bldP spid="256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BD0B0AC-F017-41EC-B450-8306AF1BB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307975"/>
            <a:ext cx="393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求理想气体的熵函数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5C56BC9-DEC3-4A80-81BF-285851EDE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908050"/>
            <a:ext cx="7607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设系统的初始状态参量        </a:t>
            </a:r>
            <a:r>
              <a:rPr lang="en-US" altLang="zh-CN" sz="2800">
                <a:solidFill>
                  <a:srgbClr val="66FFFF"/>
                </a:solidFill>
              </a:rPr>
              <a:t>( </a:t>
            </a:r>
            <a:r>
              <a:rPr lang="en-US" altLang="zh-CN" i="1">
                <a:solidFill>
                  <a:srgbClr val="66FFFF"/>
                </a:solidFill>
              </a:rPr>
              <a:t>p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</a:rPr>
              <a:t>, </a:t>
            </a:r>
            <a:r>
              <a:rPr lang="en-US" altLang="zh-CN" i="1">
                <a:solidFill>
                  <a:srgbClr val="66FFFF"/>
                </a:solidFill>
              </a:rPr>
              <a:t>V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</a:rPr>
              <a:t>, </a:t>
            </a:r>
            <a:r>
              <a:rPr lang="en-US" altLang="zh-CN" i="1">
                <a:solidFill>
                  <a:srgbClr val="66FFFF"/>
                </a:solidFill>
              </a:rPr>
              <a:t>T</a:t>
            </a:r>
            <a:r>
              <a:rPr lang="en-US" altLang="zh-CN" baseline="-25000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rgbClr val="66FFFF"/>
                </a:solidFill>
              </a:rPr>
              <a:t>, </a:t>
            </a:r>
            <a:r>
              <a:rPr lang="en-US" altLang="zh-CN" i="1">
                <a:solidFill>
                  <a:srgbClr val="66FFFF"/>
                </a:solidFill>
              </a:rPr>
              <a:t>S</a:t>
            </a:r>
            <a:r>
              <a:rPr lang="en-US" altLang="zh-CN" baseline="-25000">
                <a:solidFill>
                  <a:srgbClr val="66FFFF"/>
                </a:solidFill>
              </a:rPr>
              <a:t>0  </a:t>
            </a:r>
            <a:r>
              <a:rPr lang="en-US" altLang="zh-CN" sz="2800">
                <a:solidFill>
                  <a:srgbClr val="66FFFF"/>
                </a:solidFill>
              </a:rPr>
              <a:t>)</a:t>
            </a:r>
            <a:r>
              <a:rPr lang="en-US" altLang="zh-CN">
                <a:solidFill>
                  <a:srgbClr val="66FFFF"/>
                </a:solidFill>
              </a:rPr>
              <a:t>  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1C033229-DFE0-4A7E-B8E1-49B03DC60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614488"/>
            <a:ext cx="7777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末状态参量             </a:t>
            </a:r>
            <a:r>
              <a:rPr lang="en-US" altLang="zh-CN" sz="2800">
                <a:solidFill>
                  <a:srgbClr val="66FFFF"/>
                </a:solidFill>
              </a:rPr>
              <a:t>( </a:t>
            </a:r>
            <a:r>
              <a:rPr lang="en-US" altLang="zh-CN" i="1">
                <a:solidFill>
                  <a:srgbClr val="66FFFF"/>
                </a:solidFill>
              </a:rPr>
              <a:t>p </a:t>
            </a:r>
            <a:r>
              <a:rPr lang="en-US" altLang="zh-CN">
                <a:solidFill>
                  <a:srgbClr val="66FFFF"/>
                </a:solidFill>
              </a:rPr>
              <a:t>, </a:t>
            </a:r>
            <a:r>
              <a:rPr lang="en-US" altLang="zh-CN" i="1">
                <a:solidFill>
                  <a:srgbClr val="66FFFF"/>
                </a:solidFill>
              </a:rPr>
              <a:t>V </a:t>
            </a:r>
            <a:r>
              <a:rPr lang="en-US" altLang="zh-CN">
                <a:solidFill>
                  <a:srgbClr val="66FFFF"/>
                </a:solidFill>
              </a:rPr>
              <a:t>, </a:t>
            </a:r>
            <a:r>
              <a:rPr lang="en-US" altLang="zh-CN" i="1">
                <a:solidFill>
                  <a:srgbClr val="66FFFF"/>
                </a:solidFill>
              </a:rPr>
              <a:t>T , S  </a:t>
            </a:r>
            <a:r>
              <a:rPr lang="en-US" altLang="zh-CN">
                <a:solidFill>
                  <a:srgbClr val="66FFFF"/>
                </a:solidFill>
              </a:rPr>
              <a:t>)   </a:t>
            </a:r>
          </a:p>
        </p:txBody>
      </p:sp>
      <p:graphicFrame>
        <p:nvGraphicFramePr>
          <p:cNvPr id="26629" name="Object 2">
            <a:extLst>
              <a:ext uri="{FF2B5EF4-FFF2-40B4-BE49-F238E27FC236}">
                <a16:creationId xmlns:a16="http://schemas.microsoft.com/office/drawing/2014/main" id="{EB32F4FE-0D74-4309-A490-5A7A09637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000375"/>
          <a:ext cx="24098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19" name="公式" r:id="rId3" imgW="1076178" imgH="361882" progId="Equation.3">
                  <p:embed/>
                </p:oleObj>
              </mc:Choice>
              <mc:Fallback>
                <p:oleObj name="公式" r:id="rId3" imgW="1076178" imgH="361882" progId="Equation.3">
                  <p:embed/>
                  <p:pic>
                    <p:nvPicPr>
                      <p:cNvPr id="26629" name="Object 2">
                        <a:extLst>
                          <a:ext uri="{FF2B5EF4-FFF2-40B4-BE49-F238E27FC236}">
                            <a16:creationId xmlns:a16="http://schemas.microsoft.com/office/drawing/2014/main" id="{EB32F4FE-0D74-4309-A490-5A7A096370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000375"/>
                        <a:ext cx="240982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3">
            <a:extLst>
              <a:ext uri="{FF2B5EF4-FFF2-40B4-BE49-F238E27FC236}">
                <a16:creationId xmlns:a16="http://schemas.microsoft.com/office/drawing/2014/main" id="{EA42B9CE-0058-4EF8-B63B-EEE1307C9C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5005388"/>
          <a:ext cx="31432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20" name="公式" r:id="rId5" imgW="3286029" imgH="799998" progId="Equation.3">
                  <p:embed/>
                </p:oleObj>
              </mc:Choice>
              <mc:Fallback>
                <p:oleObj name="公式" r:id="rId5" imgW="3286029" imgH="799998" progId="Equation.3">
                  <p:embed/>
                  <p:pic>
                    <p:nvPicPr>
                      <p:cNvPr id="26630" name="Object 3">
                        <a:extLst>
                          <a:ext uri="{FF2B5EF4-FFF2-40B4-BE49-F238E27FC236}">
                            <a16:creationId xmlns:a16="http://schemas.microsoft.com/office/drawing/2014/main" id="{EA42B9CE-0058-4EF8-B63B-EEE1307C9C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005388"/>
                        <a:ext cx="31432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4">
            <a:extLst>
              <a:ext uri="{FF2B5EF4-FFF2-40B4-BE49-F238E27FC236}">
                <a16:creationId xmlns:a16="http://schemas.microsoft.com/office/drawing/2014/main" id="{B6D12BBA-FBFF-4539-A065-1628B09283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1213" y="5875338"/>
          <a:ext cx="42195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21" name="公式" r:id="rId7" imgW="4248137" imgH="885723" progId="Equation.3">
                  <p:embed/>
                </p:oleObj>
              </mc:Choice>
              <mc:Fallback>
                <p:oleObj name="公式" r:id="rId7" imgW="4248137" imgH="885723" progId="Equation.3">
                  <p:embed/>
                  <p:pic>
                    <p:nvPicPr>
                      <p:cNvPr id="26631" name="Object 4">
                        <a:extLst>
                          <a:ext uri="{FF2B5EF4-FFF2-40B4-BE49-F238E27FC236}">
                            <a16:creationId xmlns:a16="http://schemas.microsoft.com/office/drawing/2014/main" id="{B6D12BBA-FBFF-4539-A065-1628B09283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5875338"/>
                        <a:ext cx="42195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8">
            <a:extLst>
              <a:ext uri="{FF2B5EF4-FFF2-40B4-BE49-F238E27FC236}">
                <a16:creationId xmlns:a16="http://schemas.microsoft.com/office/drawing/2014/main" id="{13DA48C9-12C9-4F70-A909-BC888090E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285750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186519A1-DA24-447A-9ADE-8F38479E9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9286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8A7C33AA-A86F-46B1-BC5E-1563DDF57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2349500"/>
            <a:ext cx="7678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选任一</a:t>
            </a:r>
            <a:r>
              <a:rPr lang="zh-CN" altLang="en-US">
                <a:solidFill>
                  <a:srgbClr val="66FFFF"/>
                </a:solidFill>
              </a:rPr>
              <a:t>可逆过程</a:t>
            </a:r>
            <a:r>
              <a:rPr kumimoji="0"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则末、始两状态的熵增量</a:t>
            </a:r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570711F2-EE79-4724-8D33-9A519BF2EC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14688"/>
          <a:ext cx="40005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22" name="公式" r:id="rId9" imgW="1847761" imgH="199923" progId="Equation.3">
                  <p:embed/>
                </p:oleObj>
              </mc:Choice>
              <mc:Fallback>
                <p:oleObj name="公式" r:id="rId9" imgW="1847761" imgH="199923" progId="Equation.3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570711F2-EE79-4724-8D33-9A519BF2EC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14688"/>
                        <a:ext cx="40005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CF3FC4FC-F622-4E76-B6F5-9338D800A0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3981450"/>
          <a:ext cx="3017838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23" name="公式" r:id="rId11" imgW="1447749" imgH="361882" progId="Equation.3">
                  <p:embed/>
                </p:oleObj>
              </mc:Choice>
              <mc:Fallback>
                <p:oleObj name="公式" r:id="rId11" imgW="1447749" imgH="361882" progId="Equation.3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CF3FC4FC-F622-4E76-B6F5-9338D800A0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981450"/>
                        <a:ext cx="3017838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灯片编号占位符 1">
            <a:extLst>
              <a:ext uri="{FF2B5EF4-FFF2-40B4-BE49-F238E27FC236}">
                <a16:creationId xmlns:a16="http://schemas.microsoft.com/office/drawing/2014/main" id="{C51B25FD-72D8-4D69-897C-9D76C3A9322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6D77AD-2E39-49CC-91F7-68227720E311}" type="slidenum">
              <a:rPr lang="en-US" altLang="zh-CN" b="0">
                <a:solidFill>
                  <a:srgbClr val="FF00FF"/>
                </a:solidFill>
              </a:rPr>
              <a:pPr eaLnBrk="1" hangingPunct="1"/>
              <a:t>26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autoUpdateAnimBg="0"/>
      <p:bldP spid="26628" grpId="0" autoUpdateAnimBg="0"/>
      <p:bldP spid="26632" grpId="0"/>
      <p:bldP spid="266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Text Box 2">
            <a:extLst>
              <a:ext uri="{FF2B5EF4-FFF2-40B4-BE49-F238E27FC236}">
                <a16:creationId xmlns:a16="http://schemas.microsoft.com/office/drawing/2014/main" id="{4E7FC1A8-B447-4F68-8816-D3021E0C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5725" y="285750"/>
            <a:ext cx="4946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aseline="30000" dirty="0">
                <a:solidFill>
                  <a:srgbClr val="00FF00"/>
                </a:solidFill>
                <a:sym typeface="Symbol" pitchFamily="18" charset="2"/>
              </a:rPr>
              <a:t></a:t>
            </a:r>
            <a:r>
              <a:rPr lang="zh-CN" altLang="en-US" sz="3200" dirty="0">
                <a:solidFill>
                  <a:srgbClr val="00FF00"/>
                </a:solidFill>
                <a:latin typeface="+mj-ea"/>
                <a:ea typeface="+mj-ea"/>
              </a:rPr>
              <a:t>实际气体的性质</a:t>
            </a:r>
          </a:p>
        </p:txBody>
      </p:sp>
      <p:sp>
        <p:nvSpPr>
          <p:cNvPr id="946179" name="Text Box 3">
            <a:extLst>
              <a:ext uri="{FF2B5EF4-FFF2-40B4-BE49-F238E27FC236}">
                <a16:creationId xmlns:a16="http://schemas.microsoft.com/office/drawing/2014/main" id="{E51965A1-D14B-4293-8740-AFC57052C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928688"/>
            <a:ext cx="353695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600" dirty="0">
                <a:solidFill>
                  <a:srgbClr val="FFFF00"/>
                </a:solidFill>
                <a:latin typeface="+mn-ea"/>
                <a:ea typeface="+mn-ea"/>
              </a:rPr>
              <a:t>一</a:t>
            </a:r>
            <a:r>
              <a:rPr lang="en-US" altLang="zh-CN" sz="2600" dirty="0">
                <a:solidFill>
                  <a:srgbClr val="FFFF00"/>
                </a:solidFill>
                <a:latin typeface="+mn-ea"/>
                <a:ea typeface="+mn-ea"/>
              </a:rPr>
              <a:t>. </a:t>
            </a:r>
            <a:r>
              <a:rPr lang="zh-CN" altLang="en-US" sz="2600" dirty="0">
                <a:solidFill>
                  <a:srgbClr val="FFFF00"/>
                </a:solidFill>
                <a:latin typeface="+mn-ea"/>
                <a:ea typeface="+mn-ea"/>
              </a:rPr>
              <a:t>实际气体的等温线</a:t>
            </a:r>
          </a:p>
        </p:txBody>
      </p:sp>
      <p:sp>
        <p:nvSpPr>
          <p:cNvPr id="946180" name="Text Box 4">
            <a:extLst>
              <a:ext uri="{FF2B5EF4-FFF2-40B4-BE49-F238E27FC236}">
                <a16:creationId xmlns:a16="http://schemas.microsoft.com/office/drawing/2014/main" id="{F5B989C1-C315-4D07-B355-003EAB1C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8" y="1773238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等温线</a:t>
            </a:r>
          </a:p>
        </p:txBody>
      </p:sp>
      <p:graphicFrame>
        <p:nvGraphicFramePr>
          <p:cNvPr id="946181" name="Object 2">
            <a:extLst>
              <a:ext uri="{FF2B5EF4-FFF2-40B4-BE49-F238E27FC236}">
                <a16:creationId xmlns:a16="http://schemas.microsoft.com/office/drawing/2014/main" id="{90E6597C-C379-44B2-8D42-A5FB9E3038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1800225"/>
          <a:ext cx="5175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423" name="公式" r:id="rId3" imgW="618978" imgH="390661" progId="Equation.3">
                  <p:embed/>
                </p:oleObj>
              </mc:Choice>
              <mc:Fallback>
                <p:oleObj name="公式" r:id="rId3" imgW="618978" imgH="390661" progId="Equation.3">
                  <p:embed/>
                  <p:pic>
                    <p:nvPicPr>
                      <p:cNvPr id="946181" name="Object 2">
                        <a:extLst>
                          <a:ext uri="{FF2B5EF4-FFF2-40B4-BE49-F238E27FC236}">
                            <a16:creationId xmlns:a16="http://schemas.microsoft.com/office/drawing/2014/main" id="{90E6597C-C379-44B2-8D42-A5FB9E303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800225"/>
                        <a:ext cx="5175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2" name="Text Box 6">
            <a:extLst>
              <a:ext uri="{FF2B5EF4-FFF2-40B4-BE49-F238E27FC236}">
                <a16:creationId xmlns:a16="http://schemas.microsoft.com/office/drawing/2014/main" id="{8D13D61B-55B8-4221-A2AB-BB546CD22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484438"/>
            <a:ext cx="3352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汽态区</a:t>
            </a:r>
            <a:r>
              <a:rPr lang="en-US" altLang="zh-CN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能液化</a:t>
            </a:r>
            <a:r>
              <a:rPr lang="en-US" altLang="zh-CN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汽液共存区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液态区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气态区</a:t>
            </a:r>
            <a:r>
              <a:rPr lang="en-US" altLang="zh-CN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不能液化</a:t>
            </a:r>
            <a:r>
              <a:rPr lang="en-US" altLang="zh-CN" sz="23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946183" name="Text Box 7">
            <a:extLst>
              <a:ext uri="{FF2B5EF4-FFF2-40B4-BE49-F238E27FC236}">
                <a16:creationId xmlns:a16="http://schemas.microsoft.com/office/drawing/2014/main" id="{5FC4E220-D809-42BD-BD54-937F7B038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500188"/>
            <a:ext cx="2674937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实际气体的等温线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3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可以分成四个区域</a:t>
            </a:r>
          </a:p>
        </p:txBody>
      </p:sp>
      <p:sp>
        <p:nvSpPr>
          <p:cNvPr id="946184" name="Rectangle 8">
            <a:extLst>
              <a:ext uri="{FF2B5EF4-FFF2-40B4-BE49-F238E27FC236}">
                <a16:creationId xmlns:a16="http://schemas.microsoft.com/office/drawing/2014/main" id="{3E9D1A3A-4CB6-44D6-8813-DE821BD7F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357688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300">
                <a:solidFill>
                  <a:srgbClr val="66FFFF"/>
                </a:solidFill>
                <a:ea typeface="华文中宋" panose="02010600040101010101" pitchFamily="2" charset="-122"/>
              </a:rPr>
              <a:t>从图中的曲线可知</a:t>
            </a:r>
          </a:p>
        </p:txBody>
      </p:sp>
      <p:sp>
        <p:nvSpPr>
          <p:cNvPr id="946185" name="Text Box 9">
            <a:extLst>
              <a:ext uri="{FF2B5EF4-FFF2-40B4-BE49-F238E27FC236}">
                <a16:creationId xmlns:a16="http://schemas.microsoft.com/office/drawing/2014/main" id="{AB48F735-912E-481E-826E-22C8FEA45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857750"/>
            <a:ext cx="3455988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sz="23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只有在较高温度或低的压强时</a:t>
            </a:r>
            <a:r>
              <a:rPr kumimoji="0" lang="en-US" altLang="zh-CN" sz="23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en-US" altLang="zh-CN" sz="2300">
                <a:solidFill>
                  <a:schemeClr val="bg1"/>
                </a:solidFill>
              </a:rPr>
              <a:t> CO</a:t>
            </a:r>
            <a:r>
              <a:rPr lang="en-US" altLang="zh-CN" sz="2300" baseline="-25000">
                <a:solidFill>
                  <a:schemeClr val="bg1"/>
                </a:solidFill>
              </a:rPr>
              <a:t>2</a:t>
            </a:r>
            <a:r>
              <a:rPr lang="zh-CN" altLang="en-US" sz="2300">
                <a:solidFill>
                  <a:schemeClr val="bg1"/>
                </a:solidFill>
                <a:ea typeface="华文中宋" panose="02010600040101010101" pitchFamily="2" charset="-122"/>
              </a:rPr>
              <a:t>气体</a:t>
            </a:r>
            <a:r>
              <a:rPr kumimoji="0" lang="zh-CN" altLang="en-US" sz="2300">
                <a:solidFill>
                  <a:schemeClr val="bg1"/>
                </a:solidFill>
                <a:ea typeface="华文中宋" panose="02010600040101010101" pitchFamily="2" charset="-122"/>
              </a:rPr>
              <a:t>的性质才和</a:t>
            </a:r>
            <a:r>
              <a:rPr lang="zh-CN" altLang="en-US" sz="2300">
                <a:solidFill>
                  <a:schemeClr val="bg1"/>
                </a:solidFill>
                <a:ea typeface="华文中宋" panose="02010600040101010101" pitchFamily="2" charset="-122"/>
              </a:rPr>
              <a:t>理想气体相近</a:t>
            </a:r>
            <a:r>
              <a:rPr lang="zh-CN" altLang="en-US" sz="230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946186" name="Picture 10" descr="实气等温线">
            <a:extLst>
              <a:ext uri="{FF2B5EF4-FFF2-40B4-BE49-F238E27FC236}">
                <a16:creationId xmlns:a16="http://schemas.microsoft.com/office/drawing/2014/main" id="{D8D38885-12BB-4814-81F5-70CAD55FB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t="7156" r="11765" b="2649"/>
          <a:stretch>
            <a:fillRect/>
          </a:stretch>
        </p:blipFill>
        <p:spPr bwMode="auto">
          <a:xfrm>
            <a:off x="4067175" y="1125538"/>
            <a:ext cx="4829175" cy="518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9" name="灯片编号占位符 1">
            <a:extLst>
              <a:ext uri="{FF2B5EF4-FFF2-40B4-BE49-F238E27FC236}">
                <a16:creationId xmlns:a16="http://schemas.microsoft.com/office/drawing/2014/main" id="{8D0C648A-6744-485F-8192-FB367372DEC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22FF6E-B9B8-4F02-B8F3-76F5A7E1C40E}" type="slidenum">
              <a:rPr lang="en-US" altLang="zh-CN" b="0">
                <a:solidFill>
                  <a:srgbClr val="FF00FF"/>
                </a:solidFill>
              </a:rPr>
              <a:pPr eaLnBrk="1" hangingPunct="1"/>
              <a:t>27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4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4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4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8" grpId="0" autoUpdateAnimBg="0"/>
      <p:bldP spid="946179" grpId="0" autoUpdateAnimBg="0"/>
      <p:bldP spid="946180" grpId="0"/>
      <p:bldP spid="946182" grpId="0" autoUpdateAnimBg="0"/>
      <p:bldP spid="946183" grpId="0" autoUpdateAnimBg="0"/>
      <p:bldP spid="946184" grpId="0"/>
      <p:bldP spid="9461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Text Box 2">
            <a:extLst>
              <a:ext uri="{FF2B5EF4-FFF2-40B4-BE49-F238E27FC236}">
                <a16:creationId xmlns:a16="http://schemas.microsoft.com/office/drawing/2014/main" id="{F44CD648-D2CB-47B3-9CBD-06BA8CF84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285750"/>
            <a:ext cx="5278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范德瓦尔斯方程</a:t>
            </a:r>
          </a:p>
        </p:txBody>
      </p:sp>
      <p:sp>
        <p:nvSpPr>
          <p:cNvPr id="947203" name="Text Box 3">
            <a:extLst>
              <a:ext uri="{FF2B5EF4-FFF2-40B4-BE49-F238E27FC236}">
                <a16:creationId xmlns:a16="http://schemas.microsoft.com/office/drawing/2014/main" id="{9A6AF551-B39B-4264-971E-0C9ADC8FA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52738"/>
            <a:ext cx="482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ea typeface="华文中宋" panose="02010600040101010101" pitchFamily="2" charset="-122"/>
              </a:rPr>
              <a:t>分子体积所引起的修正</a:t>
            </a:r>
          </a:p>
        </p:txBody>
      </p:sp>
      <p:sp>
        <p:nvSpPr>
          <p:cNvPr id="947204" name="Text Box 4">
            <a:extLst>
              <a:ext uri="{FF2B5EF4-FFF2-40B4-BE49-F238E27FC236}">
                <a16:creationId xmlns:a16="http://schemas.microsoft.com/office/drawing/2014/main" id="{9F595F20-89A8-4071-BA5F-F0CE248F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4608513"/>
            <a:ext cx="8029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考虑气体分子本身有大小，</a:t>
            </a:r>
            <a:r>
              <a:rPr kumimoji="0"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将上式修改为</a:t>
            </a:r>
            <a:endParaRPr lang="zh-CN" altLang="en-US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947205" name="Object 2">
            <a:extLst>
              <a:ext uri="{FF2B5EF4-FFF2-40B4-BE49-F238E27FC236}">
                <a16:creationId xmlns:a16="http://schemas.microsoft.com/office/drawing/2014/main" id="{A63EF579-33CB-4783-8A2D-B581C54CB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343525"/>
          <a:ext cx="19954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452" name="公式" r:id="rId3" imgW="2000365" imgH="361882" progId="Equation.3">
                  <p:embed/>
                </p:oleObj>
              </mc:Choice>
              <mc:Fallback>
                <p:oleObj name="公式" r:id="rId3" imgW="2000365" imgH="361882" progId="Equation.3">
                  <p:embed/>
                  <p:pic>
                    <p:nvPicPr>
                      <p:cNvPr id="947205" name="Object 2">
                        <a:extLst>
                          <a:ext uri="{FF2B5EF4-FFF2-40B4-BE49-F238E27FC236}">
                            <a16:creationId xmlns:a16="http://schemas.microsoft.com/office/drawing/2014/main" id="{A63EF579-33CB-4783-8A2D-B581C54CB5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343525"/>
                        <a:ext cx="19954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6" name="Object 3">
            <a:extLst>
              <a:ext uri="{FF2B5EF4-FFF2-40B4-BE49-F238E27FC236}">
                <a16:creationId xmlns:a16="http://schemas.microsoft.com/office/drawing/2014/main" id="{4EF734C9-D9FA-4032-BFA1-F9F3B5FEE6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4130675"/>
          <a:ext cx="130016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453" name="公式" r:id="rId5" imgW="1295451" imgH="352391" progId="Equation.3">
                  <p:embed/>
                </p:oleObj>
              </mc:Choice>
              <mc:Fallback>
                <p:oleObj name="公式" r:id="rId5" imgW="1295451" imgH="352391" progId="Equation.3">
                  <p:embed/>
                  <p:pic>
                    <p:nvPicPr>
                      <p:cNvPr id="947206" name="Object 3">
                        <a:extLst>
                          <a:ext uri="{FF2B5EF4-FFF2-40B4-BE49-F238E27FC236}">
                            <a16:creationId xmlns:a16="http://schemas.microsoft.com/office/drawing/2014/main" id="{4EF734C9-D9FA-4032-BFA1-F9F3B5FEE6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130675"/>
                        <a:ext cx="130016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7207" name="Rectangle 7">
            <a:extLst>
              <a:ext uri="{FF2B5EF4-FFF2-40B4-BE49-F238E27FC236}">
                <a16:creationId xmlns:a16="http://schemas.microsoft.com/office/drawing/2014/main" id="{3F57AE24-DB31-48C9-A07E-81C3D6BA7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476625"/>
            <a:ext cx="4049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00"/>
                </a:solidFill>
              </a:rPr>
              <a:t>1mol</a:t>
            </a:r>
            <a:r>
              <a:rPr kumimoji="0" lang="en-US" altLang="zh-CN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理想气体的状态方程为 </a:t>
            </a:r>
          </a:p>
        </p:txBody>
      </p:sp>
      <p:sp>
        <p:nvSpPr>
          <p:cNvPr id="947208" name="Text Box 8">
            <a:extLst>
              <a:ext uri="{FF2B5EF4-FFF2-40B4-BE49-F238E27FC236}">
                <a16:creationId xmlns:a16="http://schemas.microsoft.com/office/drawing/2014/main" id="{71C80622-6CA7-4FE2-9900-6A77E9C74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924550"/>
            <a:ext cx="8316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b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为常数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，可由实验测定或理论估计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。</a:t>
            </a:r>
            <a:endParaRPr lang="zh-CN" altLang="en-US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sp>
        <p:nvSpPr>
          <p:cNvPr id="947209" name="Text Box 9">
            <a:extLst>
              <a:ext uri="{FF2B5EF4-FFF2-40B4-BE49-F238E27FC236}">
                <a16:creationId xmlns:a16="http://schemas.microsoft.com/office/drawing/2014/main" id="{693431B4-3121-484F-A439-120F2CE58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836613"/>
            <a:ext cx="8402637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由于实际气体分子有大小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并且分子之间存在有相互作用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使得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理想气体状态方程不完全符合实际气体的状态变化规律</a:t>
            </a:r>
            <a:r>
              <a:rPr kumimoji="0" lang="zh-CN" altLang="en-US">
                <a:solidFill>
                  <a:schemeClr val="bg1"/>
                </a:solidFill>
              </a:rPr>
              <a:t>。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通过对理想气体状态方程的修正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可以得出更接近实际气体性质的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状态方程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  <a:r>
              <a:rPr kumimoji="0"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8682" name="灯片编号占位符 1">
            <a:extLst>
              <a:ext uri="{FF2B5EF4-FFF2-40B4-BE49-F238E27FC236}">
                <a16:creationId xmlns:a16="http://schemas.microsoft.com/office/drawing/2014/main" id="{9D39F8F9-4BBB-47E7-A2DF-08D4A8A2300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15D3D6-032F-4C04-9CC6-E1A6294C36FE}" type="slidenum">
              <a:rPr lang="en-US" altLang="zh-CN" b="0">
                <a:solidFill>
                  <a:srgbClr val="FF00FF"/>
                </a:solidFill>
              </a:rPr>
              <a:pPr eaLnBrk="1" hangingPunct="1"/>
              <a:t>28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4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4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2" grpId="0" autoUpdateAnimBg="0"/>
      <p:bldP spid="947203" grpId="0" autoUpdateAnimBg="0"/>
      <p:bldP spid="947204" grpId="0" autoUpdateAnimBg="0"/>
      <p:bldP spid="947207" grpId="0"/>
      <p:bldP spid="947208" grpId="0" autoUpdateAnimBg="0"/>
      <p:bldP spid="94720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>
            <a:extLst>
              <a:ext uri="{FF2B5EF4-FFF2-40B4-BE49-F238E27FC236}">
                <a16:creationId xmlns:a16="http://schemas.microsoft.com/office/drawing/2014/main" id="{11DE9926-D355-48BE-A653-584AE6474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6250"/>
            <a:ext cx="5338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  <a:ea typeface="华文中宋" panose="02010600040101010101" pitchFamily="2" charset="-122"/>
              </a:rPr>
              <a:t>分子间引力引起的修正</a:t>
            </a:r>
          </a:p>
        </p:txBody>
      </p:sp>
      <p:sp>
        <p:nvSpPr>
          <p:cNvPr id="948227" name="Text Box 3">
            <a:extLst>
              <a:ext uri="{FF2B5EF4-FFF2-40B4-BE49-F238E27FC236}">
                <a16:creationId xmlns:a16="http://schemas.microsoft.com/office/drawing/2014/main" id="{683528EF-B293-4F85-8B8F-96A0E89CE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052513"/>
            <a:ext cx="79216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当分子间距离大于某一值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r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时，引力可忽略不计。该距离 </a:t>
            </a:r>
            <a:r>
              <a:rPr lang="en-US" altLang="zh-CN" i="1">
                <a:solidFill>
                  <a:srgbClr val="FFFF00"/>
                </a:solidFill>
              </a:rPr>
              <a:t>r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称为分子引力的有效作用距离；对</a:t>
            </a:r>
            <a:r>
              <a:rPr lang="zh-CN" altLang="en-US">
                <a:solidFill>
                  <a:srgbClr val="FFC000"/>
                </a:solidFill>
                <a:ea typeface="华文中宋" panose="02010600040101010101" pitchFamily="2" charset="-122"/>
              </a:rPr>
              <a:t>每个分子来说对它有作用力的分子分布在一个半径为 </a:t>
            </a:r>
            <a:r>
              <a:rPr lang="en-US" altLang="zh-CN" i="1">
                <a:solidFill>
                  <a:srgbClr val="FFC000"/>
                </a:solidFill>
              </a:rPr>
              <a:t>r</a:t>
            </a:r>
            <a:r>
              <a:rPr lang="en-US" altLang="zh-CN">
                <a:solidFill>
                  <a:srgbClr val="FFC000"/>
                </a:solidFill>
              </a:rPr>
              <a:t> </a:t>
            </a:r>
            <a:r>
              <a:rPr lang="zh-CN" altLang="en-US">
                <a:solidFill>
                  <a:srgbClr val="FFC000"/>
                </a:solidFill>
                <a:ea typeface="华文中宋" panose="02010600040101010101" pitchFamily="2" charset="-122"/>
              </a:rPr>
              <a:t>的球体内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分子作用</a:t>
            </a:r>
            <a:r>
              <a:rPr lang="en-US" altLang="zh-CN">
                <a:solidFill>
                  <a:schemeClr val="bg1"/>
                </a:solidFill>
              </a:rPr>
              <a:t>) 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948228" name="Rectangle 4">
            <a:extLst>
              <a:ext uri="{FF2B5EF4-FFF2-40B4-BE49-F238E27FC236}">
                <a16:creationId xmlns:a16="http://schemas.microsoft.com/office/drawing/2014/main" id="{F70315F9-3F69-4D1A-A472-79CD75F67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213100"/>
            <a:ext cx="3446463" cy="2438400"/>
          </a:xfrm>
          <a:prstGeom prst="rect">
            <a:avLst/>
          </a:prstGeom>
          <a:solidFill>
            <a:schemeClr val="tx1"/>
          </a:solidFill>
          <a:ln w="5715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8229" name="Oval 5">
            <a:extLst>
              <a:ext uri="{FF2B5EF4-FFF2-40B4-BE49-F238E27FC236}">
                <a16:creationId xmlns:a16="http://schemas.microsoft.com/office/drawing/2014/main" id="{583740BD-68D1-4D3A-AC07-A4433EEF8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3810000"/>
            <a:ext cx="914400" cy="914400"/>
          </a:xfrm>
          <a:prstGeom prst="ellipse">
            <a:avLst/>
          </a:prstGeom>
          <a:noFill/>
          <a:ln w="28575">
            <a:solidFill>
              <a:srgbClr val="FFCC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8A3FC682-F7EB-46EF-A243-F1612BE51685}"/>
              </a:ext>
            </a:extLst>
          </p:cNvPr>
          <p:cNvGrpSpPr>
            <a:grpSpLocks/>
          </p:cNvGrpSpPr>
          <p:nvPr/>
        </p:nvGrpSpPr>
        <p:grpSpPr bwMode="auto">
          <a:xfrm>
            <a:off x="5386388" y="3810000"/>
            <a:ext cx="914400" cy="914400"/>
            <a:chOff x="1920" y="1152"/>
            <a:chExt cx="576" cy="576"/>
          </a:xfrm>
        </p:grpSpPr>
        <p:sp>
          <p:nvSpPr>
            <p:cNvPr id="29730" name="Line 7">
              <a:extLst>
                <a:ext uri="{FF2B5EF4-FFF2-40B4-BE49-F238E27FC236}">
                  <a16:creationId xmlns:a16="http://schemas.microsoft.com/office/drawing/2014/main" id="{4D5AC94A-1D29-4163-A1DF-D775DAF283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72020">
              <a:off x="1920" y="1344"/>
              <a:ext cx="576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8">
              <a:extLst>
                <a:ext uri="{FF2B5EF4-FFF2-40B4-BE49-F238E27FC236}">
                  <a16:creationId xmlns:a16="http://schemas.microsoft.com/office/drawing/2014/main" id="{600A4A51-E6CE-45F0-928D-918E4DB997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64510">
              <a:off x="1920" y="1344"/>
              <a:ext cx="576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9">
              <a:extLst>
                <a:ext uri="{FF2B5EF4-FFF2-40B4-BE49-F238E27FC236}">
                  <a16:creationId xmlns:a16="http://schemas.microsoft.com/office/drawing/2014/main" id="{D49C3184-7B25-448D-A608-12D8E63548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4330472">
              <a:off x="1920" y="1344"/>
              <a:ext cx="576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Line 10">
              <a:extLst>
                <a:ext uri="{FF2B5EF4-FFF2-40B4-BE49-F238E27FC236}">
                  <a16:creationId xmlns:a16="http://schemas.microsoft.com/office/drawing/2014/main" id="{3231F75F-C7CD-4A52-84E6-F02399DAC5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6897682">
              <a:off x="1920" y="1344"/>
              <a:ext cx="576" cy="19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48235" name="Object 2">
            <a:extLst>
              <a:ext uri="{FF2B5EF4-FFF2-40B4-BE49-F238E27FC236}">
                <a16:creationId xmlns:a16="http://schemas.microsoft.com/office/drawing/2014/main" id="{32B3694C-81C8-4F75-961E-4907CC510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0713" y="4124325"/>
          <a:ext cx="28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501" name="Equation" r:id="rId3" imgW="85629" imgH="85725" progId="Equation.DSMT4">
                  <p:embed/>
                </p:oleObj>
              </mc:Choice>
              <mc:Fallback>
                <p:oleObj name="Equation" r:id="rId3" imgW="85629" imgH="85725" progId="Equation.DSMT4">
                  <p:embed/>
                  <p:pic>
                    <p:nvPicPr>
                      <p:cNvPr id="948235" name="Object 2">
                        <a:extLst>
                          <a:ext uri="{FF2B5EF4-FFF2-40B4-BE49-F238E27FC236}">
                            <a16:creationId xmlns:a16="http://schemas.microsoft.com/office/drawing/2014/main" id="{32B3694C-81C8-4F75-961E-4907CC5104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713" y="4124325"/>
                        <a:ext cx="2857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8236" name="Object 3">
            <a:extLst>
              <a:ext uri="{FF2B5EF4-FFF2-40B4-BE49-F238E27FC236}">
                <a16:creationId xmlns:a16="http://schemas.microsoft.com/office/drawing/2014/main" id="{4CCF62BA-4FFA-435F-AA45-8F23A7441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5038" y="3522663"/>
          <a:ext cx="27305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502" name="Equation" r:id="rId5" imgW="85629" imgH="95216" progId="Equation.3">
                  <p:embed/>
                </p:oleObj>
              </mc:Choice>
              <mc:Fallback>
                <p:oleObj name="Equation" r:id="rId5" imgW="85629" imgH="95216" progId="Equation.3">
                  <p:embed/>
                  <p:pic>
                    <p:nvPicPr>
                      <p:cNvPr id="948236" name="Object 3">
                        <a:extLst>
                          <a:ext uri="{FF2B5EF4-FFF2-40B4-BE49-F238E27FC236}">
                            <a16:creationId xmlns:a16="http://schemas.microsoft.com/office/drawing/2014/main" id="{4CCF62BA-4FFA-435F-AA45-8F23A7441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038" y="3522663"/>
                        <a:ext cx="273050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8237" name="Text Box 13">
            <a:extLst>
              <a:ext uri="{FF2B5EF4-FFF2-40B4-BE49-F238E27FC236}">
                <a16:creationId xmlns:a16="http://schemas.microsoft.com/office/drawing/2014/main" id="{1E252DB7-6090-4729-ABCF-E60FA98C6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782888"/>
            <a:ext cx="35290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远离器壁的分子受其它分子的平均作用力为零 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B5F07D49-585A-48FD-8620-E8B362052070}"/>
              </a:ext>
            </a:extLst>
          </p:cNvPr>
          <p:cNvGrpSpPr>
            <a:grpSpLocks/>
          </p:cNvGrpSpPr>
          <p:nvPr/>
        </p:nvGrpSpPr>
        <p:grpSpPr bwMode="auto">
          <a:xfrm>
            <a:off x="6729413" y="3771900"/>
            <a:ext cx="1390650" cy="485775"/>
            <a:chOff x="4176" y="1008"/>
            <a:chExt cx="1056" cy="306"/>
          </a:xfrm>
        </p:grpSpPr>
        <p:sp>
          <p:nvSpPr>
            <p:cNvPr id="29728" name="Line 15">
              <a:extLst>
                <a:ext uri="{FF2B5EF4-FFF2-40B4-BE49-F238E27FC236}">
                  <a16:creationId xmlns:a16="http://schemas.microsoft.com/office/drawing/2014/main" id="{7F7FD877-12CA-413E-8AE1-8B01B9D2D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167"/>
              <a:ext cx="768" cy="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29" name="Object 8">
              <a:extLst>
                <a:ext uri="{FF2B5EF4-FFF2-40B4-BE49-F238E27FC236}">
                  <a16:creationId xmlns:a16="http://schemas.microsoft.com/office/drawing/2014/main" id="{AD2FA3AB-2F5A-4C82-A728-97F8C7CCA4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1008"/>
            <a:ext cx="249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503" name="Equation" r:id="rId7" imgW="133337" imgH="171450" progId="Equation.3">
                    <p:embed/>
                  </p:oleObj>
                </mc:Choice>
                <mc:Fallback>
                  <p:oleObj name="Equation" r:id="rId7" imgW="133337" imgH="171450" progId="Equation.3">
                    <p:embed/>
                    <p:pic>
                      <p:nvPicPr>
                        <p:cNvPr id="29729" name="Object 8">
                          <a:extLst>
                            <a:ext uri="{FF2B5EF4-FFF2-40B4-BE49-F238E27FC236}">
                              <a16:creationId xmlns:a16="http://schemas.microsoft.com/office/drawing/2014/main" id="{AD2FA3AB-2F5A-4C82-A728-97F8C7CCA4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008"/>
                          <a:ext cx="249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8241" name="Oval 17">
            <a:extLst>
              <a:ext uri="{FF2B5EF4-FFF2-40B4-BE49-F238E27FC236}">
                <a16:creationId xmlns:a16="http://schemas.microsoft.com/office/drawing/2014/main" id="{75C9D988-0748-43E0-97FD-84596914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3" y="3543300"/>
            <a:ext cx="914400" cy="914400"/>
          </a:xfrm>
          <a:prstGeom prst="ellipse">
            <a:avLst/>
          </a:prstGeom>
          <a:noFill/>
          <a:ln w="28575">
            <a:solidFill>
              <a:srgbClr val="FFCC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8258738D-0007-49DF-ABE1-404408747FAC}"/>
              </a:ext>
            </a:extLst>
          </p:cNvPr>
          <p:cNvGrpSpPr>
            <a:grpSpLocks/>
          </p:cNvGrpSpPr>
          <p:nvPr/>
        </p:nvGrpSpPr>
        <p:grpSpPr bwMode="auto">
          <a:xfrm>
            <a:off x="7734300" y="3619500"/>
            <a:ext cx="495300" cy="722313"/>
            <a:chOff x="2925" y="1200"/>
            <a:chExt cx="312" cy="455"/>
          </a:xfrm>
        </p:grpSpPr>
        <p:sp>
          <p:nvSpPr>
            <p:cNvPr id="29725" name="Line 19">
              <a:extLst>
                <a:ext uri="{FF2B5EF4-FFF2-40B4-BE49-F238E27FC236}">
                  <a16:creationId xmlns:a16="http://schemas.microsoft.com/office/drawing/2014/main" id="{BA8B7D33-E52C-4A0B-A652-E6CB891BF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00"/>
              <a:ext cx="192" cy="24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20">
              <a:extLst>
                <a:ext uri="{FF2B5EF4-FFF2-40B4-BE49-F238E27FC236}">
                  <a16:creationId xmlns:a16="http://schemas.microsoft.com/office/drawing/2014/main" id="{9DDC4309-C6E0-41DC-8443-86708816D5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6017666">
              <a:off x="3021" y="1439"/>
              <a:ext cx="192" cy="24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21">
              <a:extLst>
                <a:ext uri="{FF2B5EF4-FFF2-40B4-BE49-F238E27FC236}">
                  <a16:creationId xmlns:a16="http://schemas.microsoft.com/office/drawing/2014/main" id="{A86B8CAB-72A6-473B-B03E-03C3A92789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372103">
              <a:off x="2964" y="1314"/>
              <a:ext cx="171" cy="249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8246" name="Oval 22">
            <a:extLst>
              <a:ext uri="{FF2B5EF4-FFF2-40B4-BE49-F238E27FC236}">
                <a16:creationId xmlns:a16="http://schemas.microsoft.com/office/drawing/2014/main" id="{FDFDB2E7-029E-4C26-9135-4EFBCFE61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4610100"/>
            <a:ext cx="914400" cy="914400"/>
          </a:xfrm>
          <a:prstGeom prst="ellipse">
            <a:avLst/>
          </a:prstGeom>
          <a:noFill/>
          <a:ln w="28575">
            <a:solidFill>
              <a:srgbClr val="FFCC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8247" name="Line 23">
            <a:extLst>
              <a:ext uri="{FF2B5EF4-FFF2-40B4-BE49-F238E27FC236}">
                <a16:creationId xmlns:a16="http://schemas.microsoft.com/office/drawing/2014/main" id="{526737A4-56B9-4DA7-B44E-141E86B98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5067300"/>
            <a:ext cx="625475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48248" name="Object 4">
            <a:extLst>
              <a:ext uri="{FF2B5EF4-FFF2-40B4-BE49-F238E27FC236}">
                <a16:creationId xmlns:a16="http://schemas.microsoft.com/office/drawing/2014/main" id="{2C22A691-B626-494C-B1EA-3772BAB79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1800" y="3851275"/>
          <a:ext cx="28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504" name="Equation" r:id="rId9" imgW="85629" imgH="85725" progId="Equation.3">
                  <p:embed/>
                </p:oleObj>
              </mc:Choice>
              <mc:Fallback>
                <p:oleObj name="Equation" r:id="rId9" imgW="85629" imgH="85725" progId="Equation.3">
                  <p:embed/>
                  <p:pic>
                    <p:nvPicPr>
                      <p:cNvPr id="948248" name="Object 4">
                        <a:extLst>
                          <a:ext uri="{FF2B5EF4-FFF2-40B4-BE49-F238E27FC236}">
                            <a16:creationId xmlns:a16="http://schemas.microsoft.com/office/drawing/2014/main" id="{2C22A691-B626-494C-B1EA-3772BAB799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1800" y="3851275"/>
                        <a:ext cx="2857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>
            <a:extLst>
              <a:ext uri="{FF2B5EF4-FFF2-40B4-BE49-F238E27FC236}">
                <a16:creationId xmlns:a16="http://schemas.microsoft.com/office/drawing/2014/main" id="{B55EB8E5-1045-4B42-A386-0FE45E0E7249}"/>
              </a:ext>
            </a:extLst>
          </p:cNvPr>
          <p:cNvGrpSpPr>
            <a:grpSpLocks/>
          </p:cNvGrpSpPr>
          <p:nvPr/>
        </p:nvGrpSpPr>
        <p:grpSpPr bwMode="auto">
          <a:xfrm>
            <a:off x="7735888" y="3238500"/>
            <a:ext cx="498475" cy="2819400"/>
            <a:chOff x="4966" y="672"/>
            <a:chExt cx="314" cy="1776"/>
          </a:xfrm>
        </p:grpSpPr>
        <p:sp>
          <p:nvSpPr>
            <p:cNvPr id="29719" name="Line 26">
              <a:extLst>
                <a:ext uri="{FF2B5EF4-FFF2-40B4-BE49-F238E27FC236}">
                  <a16:creationId xmlns:a16="http://schemas.microsoft.com/office/drawing/2014/main" id="{E383745A-902D-4F1B-89D1-C0A0747A4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" y="672"/>
              <a:ext cx="0" cy="153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20" name="Group 27">
              <a:extLst>
                <a:ext uri="{FF2B5EF4-FFF2-40B4-BE49-F238E27FC236}">
                  <a16:creationId xmlns:a16="http://schemas.microsoft.com/office/drawing/2014/main" id="{28E6A5C0-DBFB-4AA0-ACAE-CB11A347B4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6" y="2208"/>
              <a:ext cx="314" cy="240"/>
              <a:chOff x="4966" y="2208"/>
              <a:chExt cx="314" cy="240"/>
            </a:xfrm>
          </p:grpSpPr>
          <p:sp>
            <p:nvSpPr>
              <p:cNvPr id="29721" name="Line 28">
                <a:extLst>
                  <a:ext uri="{FF2B5EF4-FFF2-40B4-BE49-F238E27FC236}">
                    <a16:creationId xmlns:a16="http://schemas.microsoft.com/office/drawing/2014/main" id="{8BF421CC-8373-4AD8-BD4E-C9A374263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2208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2" name="Line 29">
                <a:extLst>
                  <a:ext uri="{FF2B5EF4-FFF2-40B4-BE49-F238E27FC236}">
                    <a16:creationId xmlns:a16="http://schemas.microsoft.com/office/drawing/2014/main" id="{58A7838D-B6AB-4D2D-805A-3AF1F32BD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8" y="2208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23" name="Line 30">
                <a:extLst>
                  <a:ext uri="{FF2B5EF4-FFF2-40B4-BE49-F238E27FC236}">
                    <a16:creationId xmlns:a16="http://schemas.microsoft.com/office/drawing/2014/main" id="{CC77CE7F-DDFC-4B87-AA34-239C31F39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6" y="2400"/>
                <a:ext cx="313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24" name="Object 7">
                <a:extLst>
                  <a:ext uri="{FF2B5EF4-FFF2-40B4-BE49-F238E27FC236}">
                    <a16:creationId xmlns:a16="http://schemas.microsoft.com/office/drawing/2014/main" id="{26E0E44D-4472-459D-B696-1AEB54BA7A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40" y="2208"/>
              <a:ext cx="172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6505" name="Equation" r:id="rId11" imgW="85629" imgH="95216" progId="Equation.DSMT4">
                      <p:embed/>
                    </p:oleObj>
                  </mc:Choice>
                  <mc:Fallback>
                    <p:oleObj name="Equation" r:id="rId11" imgW="85629" imgH="95216" progId="Equation.DSMT4">
                      <p:embed/>
                      <p:pic>
                        <p:nvPicPr>
                          <p:cNvPr id="29724" name="Object 7">
                            <a:extLst>
                              <a:ext uri="{FF2B5EF4-FFF2-40B4-BE49-F238E27FC236}">
                                <a16:creationId xmlns:a16="http://schemas.microsoft.com/office/drawing/2014/main" id="{26E0E44D-4472-459D-B696-1AEB54BA7AB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2208"/>
                            <a:ext cx="172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48256" name="Text Box 32">
            <a:extLst>
              <a:ext uri="{FF2B5EF4-FFF2-40B4-BE49-F238E27FC236}">
                <a16:creationId xmlns:a16="http://schemas.microsoft.com/office/drawing/2014/main" id="{A365C24F-504B-43B1-8CAB-BF00B5D4E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994150"/>
            <a:ext cx="316865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靠近器壁而位于厚度为</a:t>
            </a:r>
            <a:r>
              <a:rPr lang="en-US" altLang="zh-CN" sz="2800" i="1">
                <a:solidFill>
                  <a:srgbClr val="FFFF00"/>
                </a:solidFill>
              </a:rPr>
              <a:t>r 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的表面层内的任一分子，将受到一个指向气体内部的分子引力的合力。</a:t>
            </a:r>
            <a:r>
              <a:rPr lang="zh-CN" altLang="en-US" sz="2800" i="1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948257" name="Object 5">
            <a:extLst>
              <a:ext uri="{FF2B5EF4-FFF2-40B4-BE49-F238E27FC236}">
                <a16:creationId xmlns:a16="http://schemas.microsoft.com/office/drawing/2014/main" id="{F8E60A0B-A580-4C51-A184-67555B1D4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0350" y="4897438"/>
          <a:ext cx="2857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506" name="Equation" r:id="rId13" imgW="85629" imgH="85725" progId="Equation.3">
                  <p:embed/>
                </p:oleObj>
              </mc:Choice>
              <mc:Fallback>
                <p:oleObj name="Equation" r:id="rId13" imgW="85629" imgH="85725" progId="Equation.3">
                  <p:embed/>
                  <p:pic>
                    <p:nvPicPr>
                      <p:cNvPr id="948257" name="Object 5">
                        <a:extLst>
                          <a:ext uri="{FF2B5EF4-FFF2-40B4-BE49-F238E27FC236}">
                            <a16:creationId xmlns:a16="http://schemas.microsoft.com/office/drawing/2014/main" id="{F8E60A0B-A580-4C51-A184-67555B1D44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0350" y="4897438"/>
                        <a:ext cx="2857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8258" name="Object 6">
            <a:extLst>
              <a:ext uri="{FF2B5EF4-FFF2-40B4-BE49-F238E27FC236}">
                <a16:creationId xmlns:a16="http://schemas.microsoft.com/office/drawing/2014/main" id="{8BB7B108-4170-4473-B579-227A56D8D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1813" y="4729163"/>
          <a:ext cx="4857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507" name="Equation" r:id="rId15" imgW="171565" imgH="171450" progId="Equation.DSMT4">
                  <p:embed/>
                </p:oleObj>
              </mc:Choice>
              <mc:Fallback>
                <p:oleObj name="Equation" r:id="rId15" imgW="171565" imgH="171450" progId="Equation.DSMT4">
                  <p:embed/>
                  <p:pic>
                    <p:nvPicPr>
                      <p:cNvPr id="948258" name="Object 6">
                        <a:extLst>
                          <a:ext uri="{FF2B5EF4-FFF2-40B4-BE49-F238E27FC236}">
                            <a16:creationId xmlns:a16="http://schemas.microsoft.com/office/drawing/2014/main" id="{8BB7B108-4170-4473-B579-227A56D8D5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3" y="4729163"/>
                        <a:ext cx="4857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8259" name="Rectangle 35">
            <a:extLst>
              <a:ext uri="{FF2B5EF4-FFF2-40B4-BE49-F238E27FC236}">
                <a16:creationId xmlns:a16="http://schemas.microsoft.com/office/drawing/2014/main" id="{61FE28A4-27C7-4A2C-97A9-DC9F1A12D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566988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948260" name="Rectangle 36">
            <a:extLst>
              <a:ext uri="{FF2B5EF4-FFF2-40B4-BE49-F238E27FC236}">
                <a16:creationId xmlns:a16="http://schemas.microsoft.com/office/drawing/2014/main" id="{68A3B4EF-E0ED-454C-94F6-62E0E05FC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8147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29718" name="灯片编号占位符 1">
            <a:extLst>
              <a:ext uri="{FF2B5EF4-FFF2-40B4-BE49-F238E27FC236}">
                <a16:creationId xmlns:a16="http://schemas.microsoft.com/office/drawing/2014/main" id="{1A2CA29C-E91F-4C5D-BB00-426FF6AEA29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B75E9B-8BAB-4ED9-817C-9218E8CAE215}" type="slidenum">
              <a:rPr lang="en-US" altLang="zh-CN" b="0">
                <a:solidFill>
                  <a:srgbClr val="FF00FF"/>
                </a:solidFill>
              </a:rPr>
              <a:pPr eaLnBrk="1" hangingPunct="1"/>
              <a:t>29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4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4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4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4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4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48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4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4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4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4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4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94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6" grpId="0" autoUpdateAnimBg="0"/>
      <p:bldP spid="948227" grpId="0" autoUpdateAnimBg="0"/>
      <p:bldP spid="948228" grpId="0" animBg="1"/>
      <p:bldP spid="948229" grpId="0" animBg="1"/>
      <p:bldP spid="948237" grpId="0"/>
      <p:bldP spid="948241" grpId="0" animBg="1"/>
      <p:bldP spid="948246" grpId="0" animBg="1"/>
      <p:bldP spid="948256" grpId="0"/>
      <p:bldP spid="948259" grpId="0"/>
      <p:bldP spid="94826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Text Box 2">
            <a:extLst>
              <a:ext uri="{FF2B5EF4-FFF2-40B4-BE49-F238E27FC236}">
                <a16:creationId xmlns:a16="http://schemas.microsoft.com/office/drawing/2014/main" id="{A8507AA3-2ECA-4D76-A892-9491EDC8B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31825"/>
            <a:ext cx="810101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考虑到分子间的引力，压强应</a:t>
            </a:r>
            <a:r>
              <a:rPr kumimoji="0"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修改为</a:t>
            </a:r>
            <a:endParaRPr lang="zh-CN" altLang="en-US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949251" name="Object 2">
            <a:extLst>
              <a:ext uri="{FF2B5EF4-FFF2-40B4-BE49-F238E27FC236}">
                <a16:creationId xmlns:a16="http://schemas.microsoft.com/office/drawing/2014/main" id="{B82B4445-C6C8-48F9-A774-0BE27E1A9D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7100" y="500063"/>
          <a:ext cx="19224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510" name="公式" r:id="rId3" imgW="847731" imgH="361882" progId="Equation.3">
                  <p:embed/>
                </p:oleObj>
              </mc:Choice>
              <mc:Fallback>
                <p:oleObj name="公式" r:id="rId3" imgW="847731" imgH="361882" progId="Equation.3">
                  <p:embed/>
                  <p:pic>
                    <p:nvPicPr>
                      <p:cNvPr id="949251" name="Object 2">
                        <a:extLst>
                          <a:ext uri="{FF2B5EF4-FFF2-40B4-BE49-F238E27FC236}">
                            <a16:creationId xmlns:a16="http://schemas.microsoft.com/office/drawing/2014/main" id="{B82B4445-C6C8-48F9-A774-0BE27E1A9D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500063"/>
                        <a:ext cx="19224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">
            <a:extLst>
              <a:ext uri="{FF2B5EF4-FFF2-40B4-BE49-F238E27FC236}">
                <a16:creationId xmlns:a16="http://schemas.microsoft.com/office/drawing/2014/main" id="{666822DA-04B8-4B4F-A5C5-6E413A9E8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9253" name="Text Box 5">
            <a:extLst>
              <a:ext uri="{FF2B5EF4-FFF2-40B4-BE49-F238E27FC236}">
                <a16:creationId xmlns:a16="http://schemas.microsoft.com/office/drawing/2014/main" id="{12B806CA-17A7-4121-9A98-3C44B8204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825" y="2170113"/>
            <a:ext cx="453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kumimoji="0" lang="en-US" altLang="zh-CN" i="1">
                <a:solidFill>
                  <a:srgbClr val="FFFF00"/>
                </a:solidFill>
              </a:rPr>
              <a:t>a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为常数</a:t>
            </a:r>
            <a:r>
              <a:rPr kumimoji="0" lang="en-US" altLang="zh-CN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949254" name="Object 3">
            <a:extLst>
              <a:ext uri="{FF2B5EF4-FFF2-40B4-BE49-F238E27FC236}">
                <a16:creationId xmlns:a16="http://schemas.microsoft.com/office/drawing/2014/main" id="{6E0BC70D-CC4E-42FB-A6E4-235DE6267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989138"/>
          <a:ext cx="10842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511" name="公式" r:id="rId5" imgW="1047737" imgH="799998" progId="Equation.3">
                  <p:embed/>
                </p:oleObj>
              </mc:Choice>
              <mc:Fallback>
                <p:oleObj name="公式" r:id="rId5" imgW="1047737" imgH="799998" progId="Equation.3">
                  <p:embed/>
                  <p:pic>
                    <p:nvPicPr>
                      <p:cNvPr id="949254" name="Object 3">
                        <a:extLst>
                          <a:ext uri="{FF2B5EF4-FFF2-40B4-BE49-F238E27FC236}">
                            <a16:creationId xmlns:a16="http://schemas.microsoft.com/office/drawing/2014/main" id="{6E0BC70D-CC4E-42FB-A6E4-235DE62678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989138"/>
                        <a:ext cx="10842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5" name="Object 4">
            <a:extLst>
              <a:ext uri="{FF2B5EF4-FFF2-40B4-BE49-F238E27FC236}">
                <a16:creationId xmlns:a16="http://schemas.microsoft.com/office/drawing/2014/main" id="{21DF1F4B-5065-48EB-9DB3-54511652D2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644900"/>
          <a:ext cx="30019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512" name="公式" r:id="rId7" imgW="2952686" imgH="799998" progId="Equation.3">
                  <p:embed/>
                </p:oleObj>
              </mc:Choice>
              <mc:Fallback>
                <p:oleObj name="公式" r:id="rId7" imgW="2952686" imgH="799998" progId="Equation.3">
                  <p:embed/>
                  <p:pic>
                    <p:nvPicPr>
                      <p:cNvPr id="949255" name="Object 4">
                        <a:extLst>
                          <a:ext uri="{FF2B5EF4-FFF2-40B4-BE49-F238E27FC236}">
                            <a16:creationId xmlns:a16="http://schemas.microsoft.com/office/drawing/2014/main" id="{21DF1F4B-5065-48EB-9DB3-54511652D2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644900"/>
                        <a:ext cx="30019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6" name="Text Box 8">
            <a:extLst>
              <a:ext uri="{FF2B5EF4-FFF2-40B4-BE49-F238E27FC236}">
                <a16:creationId xmlns:a16="http://schemas.microsoft.com/office/drawing/2014/main" id="{8940504D-E256-40ED-A873-7EDC8243A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2971800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考虑两种修正后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en-US" altLang="zh-CN">
                <a:solidFill>
                  <a:srgbClr val="FFFF00"/>
                </a:solidFill>
              </a:rPr>
              <a:t>1mol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气体的范德瓦尔斯方程为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949257" name="Object 5">
            <a:extLst>
              <a:ext uri="{FF2B5EF4-FFF2-40B4-BE49-F238E27FC236}">
                <a16:creationId xmlns:a16="http://schemas.microsoft.com/office/drawing/2014/main" id="{568BEFEF-5A62-4E57-90B1-9EA77C99C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5364163"/>
          <a:ext cx="44783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513" name="公式" r:id="rId9" imgW="4467104" imgH="847759" progId="Equation.3">
                  <p:embed/>
                </p:oleObj>
              </mc:Choice>
              <mc:Fallback>
                <p:oleObj name="公式" r:id="rId9" imgW="4467104" imgH="847759" progId="Equation.3">
                  <p:embed/>
                  <p:pic>
                    <p:nvPicPr>
                      <p:cNvPr id="949257" name="Object 5">
                        <a:extLst>
                          <a:ext uri="{FF2B5EF4-FFF2-40B4-BE49-F238E27FC236}">
                            <a16:creationId xmlns:a16="http://schemas.microsoft.com/office/drawing/2014/main" id="{568BEFEF-5A62-4E57-90B1-9EA77C99C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364163"/>
                        <a:ext cx="4478337" cy="873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>
                                <a:alpha val="43921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8" name="Text Box 10">
            <a:extLst>
              <a:ext uri="{FF2B5EF4-FFF2-40B4-BE49-F238E27FC236}">
                <a16:creationId xmlns:a16="http://schemas.microsoft.com/office/drawing/2014/main" id="{857AFB2F-9402-44E0-92B4-4F24F6259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643438"/>
            <a:ext cx="662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任意质量气体的范德瓦尔斯方程为 </a:t>
            </a:r>
          </a:p>
        </p:txBody>
      </p:sp>
      <p:sp>
        <p:nvSpPr>
          <p:cNvPr id="949259" name="Rectangle 11">
            <a:extLst>
              <a:ext uri="{FF2B5EF4-FFF2-40B4-BE49-F238E27FC236}">
                <a16:creationId xmlns:a16="http://schemas.microsoft.com/office/drawing/2014/main" id="{47EDF650-56BC-4B18-8AEC-E66E5F8C4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1428750"/>
            <a:ext cx="3165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其中，内压强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p</a:t>
            </a:r>
            <a:r>
              <a:rPr lang="en-US" altLang="zh-CN" baseline="-25000">
                <a:solidFill>
                  <a:srgbClr val="FFFF00"/>
                </a:solidFill>
              </a:rPr>
              <a:t>i </a:t>
            </a:r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为</a:t>
            </a:r>
          </a:p>
        </p:txBody>
      </p:sp>
      <p:sp>
        <p:nvSpPr>
          <p:cNvPr id="30732" name="灯片编号占位符 1">
            <a:extLst>
              <a:ext uri="{FF2B5EF4-FFF2-40B4-BE49-F238E27FC236}">
                <a16:creationId xmlns:a16="http://schemas.microsoft.com/office/drawing/2014/main" id="{70CA664B-EB7A-4FBB-8E42-5A170526503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513E0B-8C52-4727-9548-3EFBBEAB147A}" type="slidenum">
              <a:rPr lang="en-US" altLang="zh-CN" b="0">
                <a:solidFill>
                  <a:srgbClr val="FF00FF"/>
                </a:solidFill>
              </a:rPr>
              <a:pPr eaLnBrk="1" hangingPunct="1"/>
              <a:t>30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4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4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4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4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0" grpId="0"/>
      <p:bldP spid="949253" grpId="0"/>
      <p:bldP spid="949256" grpId="0" autoUpdateAnimBg="0"/>
      <p:bldP spid="949258" grpId="0" autoUpdateAnimBg="0"/>
      <p:bldP spid="9492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274" name="Text Box 2">
            <a:extLst>
              <a:ext uri="{FF2B5EF4-FFF2-40B4-BE49-F238E27FC236}">
                <a16:creationId xmlns:a16="http://schemas.microsoft.com/office/drawing/2014/main" id="{25A4FC65-B4E7-458E-B12E-8A7B51C8A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4" y="227014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</a:t>
            </a:r>
            <a:r>
              <a:rPr lang="zh-CN" altLang="en-US" sz="2800" dirty="0">
                <a:solidFill>
                  <a:srgbClr val="FFCC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范德瓦尔斯等温线</a:t>
            </a:r>
          </a:p>
        </p:txBody>
      </p:sp>
      <p:sp>
        <p:nvSpPr>
          <p:cNvPr id="950275" name="Rectangle 3">
            <a:extLst>
              <a:ext uri="{FF2B5EF4-FFF2-40B4-BE49-F238E27FC236}">
                <a16:creationId xmlns:a16="http://schemas.microsoft.com/office/drawing/2014/main" id="{FAD19789-E084-44E8-AF34-E8187ECA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548680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 dirty="0">
                <a:solidFill>
                  <a:srgbClr val="FFFF66"/>
                </a:solidFill>
              </a:rPr>
              <a:t>·</a:t>
            </a:r>
            <a:endParaRPr kumimoji="0" lang="en-US" altLang="zh-CN" dirty="0">
              <a:solidFill>
                <a:srgbClr val="FFFF66"/>
              </a:solidFill>
            </a:endParaRPr>
          </a:p>
        </p:txBody>
      </p:sp>
      <p:sp>
        <p:nvSpPr>
          <p:cNvPr id="950276" name="Text Box 4">
            <a:extLst>
              <a:ext uri="{FF2B5EF4-FFF2-40B4-BE49-F238E27FC236}">
                <a16:creationId xmlns:a16="http://schemas.microsoft.com/office/drawing/2014/main" id="{EE58061F-8235-487D-992F-3A45BC16F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78" y="762992"/>
            <a:ext cx="4199954" cy="973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从图中看出范德瓦尔斯等温线与实际气体等温线颇为相似。 </a:t>
            </a:r>
          </a:p>
        </p:txBody>
      </p:sp>
      <p:sp>
        <p:nvSpPr>
          <p:cNvPr id="950277" name="Text Box 5">
            <a:extLst>
              <a:ext uri="{FF2B5EF4-FFF2-40B4-BE49-F238E27FC236}">
                <a16:creationId xmlns:a16="http://schemas.microsoft.com/office/drawing/2014/main" id="{C521A344-2EF3-4D09-9DEE-982A59F50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02" y="1806600"/>
            <a:ext cx="4177729" cy="189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在临界等温线以上，二者很接近，并且温度愈高二者愈趋于一致。但在临界等温线以下，二者却有明显的区别。  </a:t>
            </a:r>
          </a:p>
        </p:txBody>
      </p:sp>
      <p:sp>
        <p:nvSpPr>
          <p:cNvPr id="950278" name="Text Box 6">
            <a:extLst>
              <a:ext uri="{FF2B5EF4-FFF2-40B4-BE49-F238E27FC236}">
                <a16:creationId xmlns:a16="http://schemas.microsoft.com/office/drawing/2014/main" id="{FD27F3B6-2186-4A5A-8311-6FAC359CA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73" y="3837111"/>
            <a:ext cx="4177157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尽管范德瓦尔斯方程能较好地反映实际气体的性质，但其仍不完善。 </a:t>
            </a:r>
          </a:p>
        </p:txBody>
      </p:sp>
      <p:sp>
        <p:nvSpPr>
          <p:cNvPr id="950279" name="Rectangle 7">
            <a:extLst>
              <a:ext uri="{FF2B5EF4-FFF2-40B4-BE49-F238E27FC236}">
                <a16:creationId xmlns:a16="http://schemas.microsoft.com/office/drawing/2014/main" id="{48C1E9F1-A8A0-4807-B437-E8A1792ED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3" y="1628800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 dirty="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950280" name="Rectangle 8">
            <a:extLst>
              <a:ext uri="{FF2B5EF4-FFF2-40B4-BE49-F238E27FC236}">
                <a16:creationId xmlns:a16="http://schemas.microsoft.com/office/drawing/2014/main" id="{B7CC7DF6-23A5-4256-B0D7-596A0555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3645024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 dirty="0">
                <a:solidFill>
                  <a:srgbClr val="FFFF66"/>
                </a:solidFill>
              </a:rPr>
              <a:t>·</a:t>
            </a:r>
          </a:p>
        </p:txBody>
      </p:sp>
      <p:pic>
        <p:nvPicPr>
          <p:cNvPr id="950281" name="Picture 9" descr="范等温线">
            <a:extLst>
              <a:ext uri="{FF2B5EF4-FFF2-40B4-BE49-F238E27FC236}">
                <a16:creationId xmlns:a16="http://schemas.microsoft.com/office/drawing/2014/main" id="{C8CFF8FB-542F-44E3-AEEE-3F8611DDA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lum bright="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7" t="4247" r="7593" b="4247"/>
          <a:stretch>
            <a:fillRect/>
          </a:stretch>
        </p:blipFill>
        <p:spPr bwMode="auto">
          <a:xfrm>
            <a:off x="4572000" y="188640"/>
            <a:ext cx="4537075" cy="547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4" name="灯片编号占位符 1">
            <a:extLst>
              <a:ext uri="{FF2B5EF4-FFF2-40B4-BE49-F238E27FC236}">
                <a16:creationId xmlns:a16="http://schemas.microsoft.com/office/drawing/2014/main" id="{A3DFE15D-7799-4DC5-B545-1EB8AF89B11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7537F7-1B5F-44B7-8585-1128E2261C0C}" type="slidenum">
              <a:rPr lang="en-US" altLang="zh-CN" b="0">
                <a:solidFill>
                  <a:srgbClr val="FF00FF"/>
                </a:solidFill>
              </a:rPr>
              <a:pPr eaLnBrk="1" hangingPunct="1"/>
              <a:t>31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4AC7C606-6139-4B60-959D-5C5EB9251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45" y="5445224"/>
            <a:ext cx="8248635" cy="973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1901</a:t>
            </a:r>
            <a:r>
              <a:rPr kumimoji="0"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年，昂内斯提出多项式经验表达式，与实验结果得到了很好的符合，但是表达式的物理意义不明确。 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9A071EA-33CC-442D-A9EF-7D865234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5250904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5400" dirty="0">
                <a:solidFill>
                  <a:srgbClr val="FFFF66"/>
                </a:solidFill>
              </a:rPr>
              <a:t>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5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5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5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5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5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5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5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4" grpId="0"/>
      <p:bldP spid="950275" grpId="0"/>
      <p:bldP spid="950276" grpId="0"/>
      <p:bldP spid="950277" grpId="0"/>
      <p:bldP spid="950278" grpId="0"/>
      <p:bldP spid="950279" grpId="0"/>
      <p:bldP spid="950280" grpId="0"/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21060</TotalTime>
  <Words>2503</Words>
  <Application>Microsoft Office PowerPoint</Application>
  <PresentationFormat>全屏显示(4:3)</PresentationFormat>
  <Paragraphs>368</Paragraphs>
  <Slides>31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9" baseType="lpstr">
      <vt:lpstr>Monotype Sorts</vt:lpstr>
      <vt:lpstr>黑体</vt:lpstr>
      <vt:lpstr>华文仿宋</vt:lpstr>
      <vt:lpstr>华文中宋</vt:lpstr>
      <vt:lpstr>楷体_GB2312</vt:lpstr>
      <vt:lpstr>宋体</vt:lpstr>
      <vt:lpstr>微软雅黑</vt:lpstr>
      <vt:lpstr>Arial</vt:lpstr>
      <vt:lpstr>Bookman Old Style</vt:lpstr>
      <vt:lpstr>Cambria Math</vt:lpstr>
      <vt:lpstr>Symbol</vt:lpstr>
      <vt:lpstr>Times New Roman</vt:lpstr>
      <vt:lpstr>Wingdings</vt:lpstr>
      <vt:lpstr>默认设计模板</vt:lpstr>
      <vt:lpstr>Equation.3</vt:lpstr>
      <vt:lpstr>Equation.DSMT4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1494</cp:revision>
  <cp:lastPrinted>2025-12-01T02:49:05Z</cp:lastPrinted>
  <dcterms:created xsi:type="dcterms:W3CDTF">1998-11-21T01:35:00Z</dcterms:created>
  <dcterms:modified xsi:type="dcterms:W3CDTF">2025-12-01T14:27:03Z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