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439" r:id="rId2"/>
    <p:sldId id="640" r:id="rId3"/>
    <p:sldId id="670" r:id="rId4"/>
    <p:sldId id="658" r:id="rId5"/>
    <p:sldId id="659" r:id="rId6"/>
    <p:sldId id="674" r:id="rId7"/>
    <p:sldId id="675" r:id="rId8"/>
    <p:sldId id="671" r:id="rId9"/>
    <p:sldId id="672" r:id="rId10"/>
    <p:sldId id="676" r:id="rId11"/>
    <p:sldId id="653" r:id="rId12"/>
    <p:sldId id="644" r:id="rId13"/>
    <p:sldId id="645" r:id="rId14"/>
    <p:sldId id="646" r:id="rId15"/>
    <p:sldId id="647" r:id="rId16"/>
    <p:sldId id="654" r:id="rId17"/>
  </p:sldIdLst>
  <p:sldSz cx="9144000" cy="6858000" type="screen4x3"/>
  <p:notesSz cx="6797675" cy="9928225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image" Target="../media/image55.emf"/><Relationship Id="rId5" Type="http://schemas.openxmlformats.org/officeDocument/2006/relationships/image" Target="../media/image59.emf"/><Relationship Id="rId4" Type="http://schemas.openxmlformats.org/officeDocument/2006/relationships/image" Target="../media/image5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13" Type="http://schemas.openxmlformats.org/officeDocument/2006/relationships/image" Target="../media/image74.emf"/><Relationship Id="rId3" Type="http://schemas.openxmlformats.org/officeDocument/2006/relationships/image" Target="../media/image64.emf"/><Relationship Id="rId7" Type="http://schemas.openxmlformats.org/officeDocument/2006/relationships/image" Target="../media/image68.emf"/><Relationship Id="rId12" Type="http://schemas.openxmlformats.org/officeDocument/2006/relationships/image" Target="../media/image73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Relationship Id="rId6" Type="http://schemas.openxmlformats.org/officeDocument/2006/relationships/image" Target="../media/image67.emf"/><Relationship Id="rId11" Type="http://schemas.openxmlformats.org/officeDocument/2006/relationships/image" Target="../media/image72.emf"/><Relationship Id="rId5" Type="http://schemas.openxmlformats.org/officeDocument/2006/relationships/image" Target="../media/image66.emf"/><Relationship Id="rId10" Type="http://schemas.openxmlformats.org/officeDocument/2006/relationships/image" Target="../media/image71.emf"/><Relationship Id="rId4" Type="http://schemas.openxmlformats.org/officeDocument/2006/relationships/image" Target="../media/image65.emf"/><Relationship Id="rId9" Type="http://schemas.openxmlformats.org/officeDocument/2006/relationships/image" Target="../media/image70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image" Target="../media/image75.emf"/><Relationship Id="rId4" Type="http://schemas.openxmlformats.org/officeDocument/2006/relationships/image" Target="../media/image7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3" Type="http://schemas.openxmlformats.org/officeDocument/2006/relationships/image" Target="../media/image82.emf"/><Relationship Id="rId7" Type="http://schemas.openxmlformats.org/officeDocument/2006/relationships/image" Target="../media/image86.emf"/><Relationship Id="rId2" Type="http://schemas.openxmlformats.org/officeDocument/2006/relationships/image" Target="../media/image81.emf"/><Relationship Id="rId1" Type="http://schemas.openxmlformats.org/officeDocument/2006/relationships/image" Target="../media/image58.wmf"/><Relationship Id="rId6" Type="http://schemas.openxmlformats.org/officeDocument/2006/relationships/image" Target="../media/image85.emf"/><Relationship Id="rId11" Type="http://schemas.openxmlformats.org/officeDocument/2006/relationships/image" Target="../media/image90.emf"/><Relationship Id="rId5" Type="http://schemas.openxmlformats.org/officeDocument/2006/relationships/image" Target="../media/image84.emf"/><Relationship Id="rId10" Type="http://schemas.openxmlformats.org/officeDocument/2006/relationships/image" Target="../media/image89.emf"/><Relationship Id="rId4" Type="http://schemas.openxmlformats.org/officeDocument/2006/relationships/image" Target="../media/image83.emf"/><Relationship Id="rId9" Type="http://schemas.openxmlformats.org/officeDocument/2006/relationships/image" Target="../media/image8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8582E537-AEEE-4062-B332-084443FA93C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B2FBE41-AD71-413A-9C9E-22D877A8A676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12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ED77D103-CADE-4F20-A314-8552CA4A98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081E71E-F68A-4AAB-ABF6-128CE09746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image" Target="../media/image13.emf"/><Relationship Id="rId18" Type="http://schemas.openxmlformats.org/officeDocument/2006/relationships/oleObject" Target="../embeddings/oleObject15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emf"/><Relationship Id="rId11" Type="http://schemas.openxmlformats.org/officeDocument/2006/relationships/image" Target="../media/image12.emf"/><Relationship Id="rId5" Type="http://schemas.openxmlformats.org/officeDocument/2006/relationships/oleObject" Target="../embeddings/oleObject9.bin"/><Relationship Id="rId15" Type="http://schemas.openxmlformats.org/officeDocument/2006/relationships/image" Target="../media/image14.emf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16.emf"/><Relationship Id="rId4" Type="http://schemas.openxmlformats.org/officeDocument/2006/relationships/image" Target="../media/image9.emf"/><Relationship Id="rId9" Type="http://schemas.openxmlformats.org/officeDocument/2006/relationships/image" Target="../media/image17.png"/><Relationship Id="rId14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4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1.e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.emf"/><Relationship Id="rId20" Type="http://schemas.openxmlformats.org/officeDocument/2006/relationships/image" Target="../media/image25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7.png"/><Relationship Id="rId11" Type="http://schemas.openxmlformats.org/officeDocument/2006/relationships/oleObject" Target="../embeddings/oleObject19.bin"/><Relationship Id="rId5" Type="http://schemas.openxmlformats.org/officeDocument/2006/relationships/image" Target="../media/image26.png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0.emf"/><Relationship Id="rId19" Type="http://schemas.openxmlformats.org/officeDocument/2006/relationships/oleObject" Target="../embeddings/oleObject23.bin"/><Relationship Id="rId4" Type="http://schemas.openxmlformats.org/officeDocument/2006/relationships/image" Target="../media/image18.e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29.emf"/><Relationship Id="rId12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14.png"/><Relationship Id="rId5" Type="http://schemas.openxmlformats.org/officeDocument/2006/relationships/image" Target="../media/image28.emf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0.emf"/><Relationship Id="rId14" Type="http://schemas.openxmlformats.org/officeDocument/2006/relationships/image" Target="../media/image17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5.emf"/><Relationship Id="rId3" Type="http://schemas.openxmlformats.org/officeDocument/2006/relationships/image" Target="../media/image26.png"/><Relationship Id="rId7" Type="http://schemas.openxmlformats.org/officeDocument/2006/relationships/image" Target="../media/image32.emf"/><Relationship Id="rId12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4.emf"/><Relationship Id="rId5" Type="http://schemas.openxmlformats.org/officeDocument/2006/relationships/image" Target="../media/image31.emf"/><Relationship Id="rId15" Type="http://schemas.openxmlformats.org/officeDocument/2006/relationships/image" Target="../media/image36.e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3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e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40.emf"/><Relationship Id="rId4" Type="http://schemas.openxmlformats.org/officeDocument/2006/relationships/image" Target="../media/image37.emf"/><Relationship Id="rId9" Type="http://schemas.openxmlformats.org/officeDocument/2006/relationships/oleObject" Target="../embeddings/oleObject3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oleObject" Target="../embeddings/oleObject43.bin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3.e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5.emf"/><Relationship Id="rId4" Type="http://schemas.openxmlformats.org/officeDocument/2006/relationships/image" Target="../media/image42.e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52.wmf"/><Relationship Id="rId3" Type="http://schemas.openxmlformats.org/officeDocument/2006/relationships/image" Target="../media/image54.png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5" Type="http://schemas.openxmlformats.org/officeDocument/2006/relationships/image" Target="../media/image53.w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50.wmf"/><Relationship Id="rId14" Type="http://schemas.openxmlformats.org/officeDocument/2006/relationships/oleObject" Target="../embeddings/oleObject4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oleObject" Target="../embeddings/oleObject54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6.emf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51.bin"/><Relationship Id="rId11" Type="http://schemas.openxmlformats.org/officeDocument/2006/relationships/oleObject" Target="../embeddings/oleObject53.bin"/><Relationship Id="rId5" Type="http://schemas.openxmlformats.org/officeDocument/2006/relationships/image" Target="../media/image55.emf"/><Relationship Id="rId15" Type="http://schemas.openxmlformats.org/officeDocument/2006/relationships/image" Target="../media/image61.png"/><Relationship Id="rId10" Type="http://schemas.openxmlformats.org/officeDocument/2006/relationships/image" Target="../media/image60.jpeg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7.emf"/><Relationship Id="rId14" Type="http://schemas.openxmlformats.org/officeDocument/2006/relationships/image" Target="../media/image59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69.emf"/><Relationship Id="rId26" Type="http://schemas.openxmlformats.org/officeDocument/2006/relationships/image" Target="../media/image73.emf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6.emf"/><Relationship Id="rId17" Type="http://schemas.openxmlformats.org/officeDocument/2006/relationships/oleObject" Target="../embeddings/oleObject62.bin"/><Relationship Id="rId25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.emf"/><Relationship Id="rId20" Type="http://schemas.openxmlformats.org/officeDocument/2006/relationships/image" Target="../media/image70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3.emf"/><Relationship Id="rId11" Type="http://schemas.openxmlformats.org/officeDocument/2006/relationships/oleObject" Target="../embeddings/oleObject59.bin"/><Relationship Id="rId24" Type="http://schemas.openxmlformats.org/officeDocument/2006/relationships/image" Target="../media/image72.emf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23" Type="http://schemas.openxmlformats.org/officeDocument/2006/relationships/oleObject" Target="../embeddings/oleObject65.bin"/><Relationship Id="rId28" Type="http://schemas.openxmlformats.org/officeDocument/2006/relationships/image" Target="../media/image74.emf"/><Relationship Id="rId10" Type="http://schemas.openxmlformats.org/officeDocument/2006/relationships/image" Target="../media/image65.emf"/><Relationship Id="rId19" Type="http://schemas.openxmlformats.org/officeDocument/2006/relationships/oleObject" Target="../embeddings/oleObject63.bin"/><Relationship Id="rId4" Type="http://schemas.openxmlformats.org/officeDocument/2006/relationships/image" Target="../media/image62.e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7.emf"/><Relationship Id="rId22" Type="http://schemas.openxmlformats.org/officeDocument/2006/relationships/image" Target="../media/image71.emf"/><Relationship Id="rId27" Type="http://schemas.openxmlformats.org/officeDocument/2006/relationships/oleObject" Target="../embeddings/oleObject6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3" Type="http://schemas.openxmlformats.org/officeDocument/2006/relationships/image" Target="../media/image79.png"/><Relationship Id="rId7" Type="http://schemas.openxmlformats.org/officeDocument/2006/relationships/image" Target="../media/image7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78.emf"/><Relationship Id="rId5" Type="http://schemas.openxmlformats.org/officeDocument/2006/relationships/image" Target="../media/image75.e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7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80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87.emf"/><Relationship Id="rId3" Type="http://schemas.openxmlformats.org/officeDocument/2006/relationships/oleObject" Target="../embeddings/oleObject73.bin"/><Relationship Id="rId21" Type="http://schemas.openxmlformats.org/officeDocument/2006/relationships/oleObject" Target="../embeddings/oleObject82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84.emf"/><Relationship Id="rId17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6.emf"/><Relationship Id="rId20" Type="http://schemas.openxmlformats.org/officeDocument/2006/relationships/image" Target="../media/image88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1.emf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90.emf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23" Type="http://schemas.openxmlformats.org/officeDocument/2006/relationships/oleObject" Target="../embeddings/oleObject83.bin"/><Relationship Id="rId10" Type="http://schemas.openxmlformats.org/officeDocument/2006/relationships/image" Target="../media/image83.e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85.emf"/><Relationship Id="rId22" Type="http://schemas.openxmlformats.org/officeDocument/2006/relationships/image" Target="../media/image8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Sep. 23,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741A2E8A-597A-40AE-8DAB-5EF85FC08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395288"/>
            <a:ext cx="67484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zh-CN" altLang="en-US" dirty="0">
                <a:solidFill>
                  <a:srgbClr val="FFFF00"/>
                </a:solidFill>
                <a:latin typeface="宋体" pitchFamily="2" charset="-122"/>
              </a:rPr>
              <a:t>回顾：平面简谐波的波函数</a:t>
            </a:r>
            <a:r>
              <a:rPr lang="en-US" altLang="zh-CN" dirty="0">
                <a:solidFill>
                  <a:schemeClr val="bg1"/>
                </a:solidFill>
                <a:latin typeface="宋体" pitchFamily="2" charset="-122"/>
              </a:rPr>
              <a:t>( </a:t>
            </a:r>
            <a:r>
              <a:rPr lang="en-US" altLang="zh-CN" i="1" dirty="0">
                <a:solidFill>
                  <a:srgbClr val="FFFF00"/>
                </a:solidFill>
                <a:latin typeface="+mn-lt"/>
              </a:rPr>
              <a:t>x </a:t>
            </a:r>
            <a:r>
              <a:rPr lang="zh-CN" altLang="en-US" dirty="0">
                <a:solidFill>
                  <a:srgbClr val="FFFF00"/>
                </a:solidFill>
                <a:latin typeface="宋体" pitchFamily="2" charset="-122"/>
              </a:rPr>
              <a:t>轴正方向</a:t>
            </a:r>
            <a:r>
              <a:rPr lang="en-US" altLang="zh-CN" dirty="0">
                <a:solidFill>
                  <a:schemeClr val="bg1"/>
                </a:solidFill>
                <a:latin typeface="宋体" pitchFamily="2" charset="-122"/>
              </a:rPr>
              <a:t>)</a:t>
            </a:r>
            <a:endParaRPr lang="zh-CN" altLang="en-US" dirty="0">
              <a:solidFill>
                <a:schemeClr val="bg1"/>
              </a:solidFill>
              <a:latin typeface="宋体" pitchFamily="2" charset="-122"/>
            </a:endParaRPr>
          </a:p>
        </p:txBody>
      </p:sp>
      <p:graphicFrame>
        <p:nvGraphicFramePr>
          <p:cNvPr id="172063" name="Object 9">
            <a:extLst>
              <a:ext uri="{FF2B5EF4-FFF2-40B4-BE49-F238E27FC236}">
                <a16:creationId xmlns:a16="http://schemas.microsoft.com/office/drawing/2014/main" id="{B3C686BE-2DDC-493A-94C0-CDEE4BF4545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84700" y="1857375"/>
          <a:ext cx="35591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9" name="公式" r:id="rId3" imgW="4038651" imgH="790507" progId="Equation.3">
                  <p:embed/>
                </p:oleObj>
              </mc:Choice>
              <mc:Fallback>
                <p:oleObj name="公式" r:id="rId3" imgW="4038651" imgH="790507" progId="Equation.3">
                  <p:embed/>
                  <p:pic>
                    <p:nvPicPr>
                      <p:cNvPr id="172063" name="Object 9">
                        <a:extLst>
                          <a:ext uri="{FF2B5EF4-FFF2-40B4-BE49-F238E27FC236}">
                            <a16:creationId xmlns:a16="http://schemas.microsoft.com/office/drawing/2014/main" id="{B3C686BE-2DDC-493A-94C0-CDEE4BF454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1857375"/>
                        <a:ext cx="355917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">
            <a:extLst>
              <a:ext uri="{FF2B5EF4-FFF2-40B4-BE49-F238E27FC236}">
                <a16:creationId xmlns:a16="http://schemas.microsoft.com/office/drawing/2014/main" id="{72D41B32-5EB7-4E57-A73F-08E28FFED4E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93963" y="4352925"/>
          <a:ext cx="378618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0" name="公式" r:id="rId5" imgW="4229176" imgH="619057" progId="Equation.3">
                  <p:embed/>
                </p:oleObj>
              </mc:Choice>
              <mc:Fallback>
                <p:oleObj name="公式" r:id="rId5" imgW="4229176" imgH="619057" progId="Equation.3">
                  <p:embed/>
                  <p:pic>
                    <p:nvPicPr>
                      <p:cNvPr id="34" name="Object 2">
                        <a:extLst>
                          <a:ext uri="{FF2B5EF4-FFF2-40B4-BE49-F238E27FC236}">
                            <a16:creationId xmlns:a16="http://schemas.microsoft.com/office/drawing/2014/main" id="{72D41B32-5EB7-4E57-A73F-08E28FFED4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4352925"/>
                        <a:ext cx="378618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">
            <a:extLst>
              <a:ext uri="{FF2B5EF4-FFF2-40B4-BE49-F238E27FC236}">
                <a16:creationId xmlns:a16="http://schemas.microsoft.com/office/drawing/2014/main" id="{95FE1622-54A0-44F8-B13D-DD709FCFD1D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93963" y="2928938"/>
          <a:ext cx="379253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1" name="公式" r:id="rId7" imgW="4276578" imgH="619057" progId="Equation.3">
                  <p:embed/>
                </p:oleObj>
              </mc:Choice>
              <mc:Fallback>
                <p:oleObj name="公式" r:id="rId7" imgW="4276578" imgH="619057" progId="Equation.3">
                  <p:embed/>
                  <p:pic>
                    <p:nvPicPr>
                      <p:cNvPr id="35" name="Object 3">
                        <a:extLst>
                          <a:ext uri="{FF2B5EF4-FFF2-40B4-BE49-F238E27FC236}">
                            <a16:creationId xmlns:a16="http://schemas.microsoft.com/office/drawing/2014/main" id="{95FE1622-54A0-44F8-B13D-DD709FCFD1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2928938"/>
                        <a:ext cx="379253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4">
            <a:extLst>
              <a:ext uri="{FF2B5EF4-FFF2-40B4-BE49-F238E27FC236}">
                <a16:creationId xmlns:a16="http://schemas.microsoft.com/office/drawing/2014/main" id="{5E674E30-0AEE-4BD1-B66D-EF049CB070D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93963" y="3603625"/>
          <a:ext cx="37147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2" name="公式" r:id="rId9" imgW="4200429" imgH="619057" progId="Equation.3">
                  <p:embed/>
                </p:oleObj>
              </mc:Choice>
              <mc:Fallback>
                <p:oleObj name="公式" r:id="rId9" imgW="4200429" imgH="619057" progId="Equation.3">
                  <p:embed/>
                  <p:pic>
                    <p:nvPicPr>
                      <p:cNvPr id="36" name="Object 4">
                        <a:extLst>
                          <a:ext uri="{FF2B5EF4-FFF2-40B4-BE49-F238E27FC236}">
                            <a16:creationId xmlns:a16="http://schemas.microsoft.com/office/drawing/2014/main" id="{5E674E30-0AEE-4BD1-B66D-EF049CB070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3603625"/>
                        <a:ext cx="37147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AutoShape 5">
            <a:extLst>
              <a:ext uri="{FF2B5EF4-FFF2-40B4-BE49-F238E27FC236}">
                <a16:creationId xmlns:a16="http://schemas.microsoft.com/office/drawing/2014/main" id="{3FBE40B8-5C29-46F9-81EF-23573118DB3D}"/>
              </a:ext>
            </a:extLst>
          </p:cNvPr>
          <p:cNvSpPr>
            <a:spLocks/>
          </p:cNvSpPr>
          <p:nvPr/>
        </p:nvSpPr>
        <p:spPr bwMode="auto">
          <a:xfrm>
            <a:off x="2065338" y="3201988"/>
            <a:ext cx="285750" cy="1584325"/>
          </a:xfrm>
          <a:prstGeom prst="leftBrace">
            <a:avLst>
              <a:gd name="adj1" fmla="val 33164"/>
              <a:gd name="adj2" fmla="val 50000"/>
            </a:avLst>
          </a:prstGeom>
          <a:noFill/>
          <a:ln w="25400">
            <a:solidFill>
              <a:srgbClr val="FF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66FFFF"/>
              </a:solidFill>
              <a:ea typeface="仿宋_GB2312" pitchFamily="49" charset="-122"/>
            </a:endParaRPr>
          </a:p>
        </p:txBody>
      </p:sp>
      <p:sp>
        <p:nvSpPr>
          <p:cNvPr id="38" name="Text Box 6" descr="绿色大理石">
            <a:extLst>
              <a:ext uri="{FF2B5EF4-FFF2-40B4-BE49-F238E27FC236}">
                <a16:creationId xmlns:a16="http://schemas.microsoft.com/office/drawing/2014/main" id="{8C9E10B6-13CA-480C-A653-F03C9BD9F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38" y="3313113"/>
            <a:ext cx="16557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波函数的其它形式</a:t>
            </a:r>
          </a:p>
        </p:txBody>
      </p:sp>
      <p:sp>
        <p:nvSpPr>
          <p:cNvPr id="39" name="Text Box 8" descr="绿色大理石">
            <a:extLst>
              <a:ext uri="{FF2B5EF4-FFF2-40B4-BE49-F238E27FC236}">
                <a16:creationId xmlns:a16="http://schemas.microsoft.com/office/drawing/2014/main" id="{9620162E-89B3-4118-A478-EB097020F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5114205"/>
            <a:ext cx="4286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 dirty="0">
                <a:solidFill>
                  <a:srgbClr val="FFFF00"/>
                </a:solidFill>
              </a:rPr>
              <a:t>x </a:t>
            </a:r>
            <a:r>
              <a:rPr lang="zh-CN" altLang="en-US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轴负方向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传播的波函数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40" name="Object 37">
            <a:extLst>
              <a:ext uri="{FF2B5EF4-FFF2-40B4-BE49-F238E27FC236}">
                <a16:creationId xmlns:a16="http://schemas.microsoft.com/office/drawing/2014/main" id="{FA537080-5382-4058-BC53-CCC85534A9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341837"/>
              </p:ext>
            </p:extLst>
          </p:nvPr>
        </p:nvGraphicFramePr>
        <p:xfrm>
          <a:off x="4284663" y="4941168"/>
          <a:ext cx="354488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3" name="公式" r:id="rId11" imgW="4009904" imgH="790507" progId="Equation.3">
                  <p:embed/>
                </p:oleObj>
              </mc:Choice>
              <mc:Fallback>
                <p:oleObj name="公式" r:id="rId11" imgW="4009904" imgH="790507" progId="Equation.3">
                  <p:embed/>
                  <p:pic>
                    <p:nvPicPr>
                      <p:cNvPr id="40" name="Object 37">
                        <a:extLst>
                          <a:ext uri="{FF2B5EF4-FFF2-40B4-BE49-F238E27FC236}">
                            <a16:creationId xmlns:a16="http://schemas.microsoft.com/office/drawing/2014/main" id="{FA537080-5382-4058-BC53-CCC85534A9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4941168"/>
                        <a:ext cx="3544887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5" name="灯片编号占位符 1">
            <a:extLst>
              <a:ext uri="{FF2B5EF4-FFF2-40B4-BE49-F238E27FC236}">
                <a16:creationId xmlns:a16="http://schemas.microsoft.com/office/drawing/2014/main" id="{5A37E3C4-030B-4E33-936B-30993DCB119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C67FB2-6378-4111-86D3-E2E475FBCC9C}" type="slidenum">
              <a:rPr lang="en-US" altLang="zh-CN" b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  <p:graphicFrame>
        <p:nvGraphicFramePr>
          <p:cNvPr id="172035" name="Object 13">
            <a:extLst>
              <a:ext uri="{FF2B5EF4-FFF2-40B4-BE49-F238E27FC236}">
                <a16:creationId xmlns:a16="http://schemas.microsoft.com/office/drawing/2014/main" id="{D2E1D162-9C04-43D8-93D6-9EE04CF9ADA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715125" y="3143250"/>
          <a:ext cx="1690688" cy="15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4" name="公式" r:id="rId13" imgW="866692" imgH="762034" progId="Equation.3">
                  <p:embed/>
                </p:oleObj>
              </mc:Choice>
              <mc:Fallback>
                <p:oleObj name="公式" r:id="rId13" imgW="866692" imgH="762034" progId="Equation.3">
                  <p:embed/>
                  <p:pic>
                    <p:nvPicPr>
                      <p:cNvPr id="172035" name="Object 13">
                        <a:extLst>
                          <a:ext uri="{FF2B5EF4-FFF2-40B4-BE49-F238E27FC236}">
                            <a16:creationId xmlns:a16="http://schemas.microsoft.com/office/drawing/2014/main" id="{D2E1D162-9C04-43D8-93D6-9EE04CF9AD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25" y="3143250"/>
                        <a:ext cx="1690688" cy="150971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8" descr="绿色大理石">
            <a:extLst>
              <a:ext uri="{FF2B5EF4-FFF2-40B4-BE49-F238E27FC236}">
                <a16:creationId xmlns:a16="http://schemas.microsoft.com/office/drawing/2014/main" id="{CFF7B055-CA94-4840-86EA-D0E00EF06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071563"/>
            <a:ext cx="7643813" cy="461962"/>
          </a:xfrm>
          <a:prstGeom prst="rect">
            <a:avLst/>
          </a:prstGeom>
          <a:solidFill>
            <a:schemeClr val="tx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沿着波的传播方向上，介质中各质点的相位依次落后</a:t>
            </a:r>
            <a:endParaRPr lang="en-US" altLang="zh-CN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2CDD2C9D-C594-4022-814E-B3E8D0D7889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2625" y="2284413"/>
          <a:ext cx="274637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5" name="公式" r:id="rId15" imgW="2695492" imgH="380864" progId="Equation.3">
                  <p:embed/>
                </p:oleObj>
              </mc:Choice>
              <mc:Fallback>
                <p:oleObj name="公式" r:id="rId15" imgW="2695492" imgH="380864" progId="Equation.3">
                  <p:embed/>
                  <p:pic>
                    <p:nvPicPr>
                      <p:cNvPr id="14" name="Object 14">
                        <a:extLst>
                          <a:ext uri="{FF2B5EF4-FFF2-40B4-BE49-F238E27FC236}">
                            <a16:creationId xmlns:a16="http://schemas.microsoft.com/office/drawing/2014/main" id="{2CDD2C9D-C594-4022-814E-B3E8D0D788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2284413"/>
                        <a:ext cx="2746375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0">
            <a:extLst>
              <a:ext uri="{FF2B5EF4-FFF2-40B4-BE49-F238E27FC236}">
                <a16:creationId xmlns:a16="http://schemas.microsoft.com/office/drawing/2014/main" id="{21259582-D8B6-4BF5-9F1D-66BDFC175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714500"/>
            <a:ext cx="29289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原点的质点振动：</a:t>
            </a:r>
          </a:p>
        </p:txBody>
      </p:sp>
      <p:sp>
        <p:nvSpPr>
          <p:cNvPr id="16" name="AutoShape 23">
            <a:extLst>
              <a:ext uri="{FF2B5EF4-FFF2-40B4-BE49-F238E27FC236}">
                <a16:creationId xmlns:a16="http://schemas.microsoft.com/office/drawing/2014/main" id="{6E1D400C-13A2-4EA0-9BE5-1A524519F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2143125"/>
            <a:ext cx="885825" cy="228600"/>
          </a:xfrm>
          <a:prstGeom prst="rightArrow">
            <a:avLst>
              <a:gd name="adj1" fmla="val 50000"/>
              <a:gd name="adj2" fmla="val 75024"/>
            </a:avLst>
          </a:prstGeom>
          <a:solidFill>
            <a:srgbClr val="59E2FD"/>
          </a:solidFill>
          <a:ln w="9525">
            <a:solidFill>
              <a:srgbClr val="59E2FD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F81A2597-B5EA-4461-9813-678B16E40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5775349"/>
            <a:ext cx="13573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dirty="0">
                <a:solidFill>
                  <a:srgbClr val="FFFF00"/>
                </a:solidFill>
                <a:latin typeface="+mn-ea"/>
                <a:ea typeface="+mn-ea"/>
              </a:rPr>
              <a:t>思路</a:t>
            </a:r>
            <a:r>
              <a:rPr kumimoji="0" lang="en-US" altLang="zh-CN" dirty="0">
                <a:solidFill>
                  <a:srgbClr val="FFFF00"/>
                </a:solidFill>
                <a:latin typeface="+mn-ea"/>
                <a:ea typeface="+mn-ea"/>
              </a:rPr>
              <a:t>: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766CE83-9759-43CF-9B85-B6FE842F7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5775349"/>
            <a:ext cx="1928813" cy="428625"/>
          </a:xfrm>
          <a:prstGeom prst="rect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已知点的振动</a:t>
            </a:r>
          </a:p>
        </p:txBody>
      </p:sp>
      <p:sp>
        <p:nvSpPr>
          <p:cNvPr id="19" name="右箭头 43">
            <a:extLst>
              <a:ext uri="{FF2B5EF4-FFF2-40B4-BE49-F238E27FC236}">
                <a16:creationId xmlns:a16="http://schemas.microsoft.com/office/drawing/2014/main" id="{49B56C6D-DA4D-4917-AA27-A5F881745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918224"/>
            <a:ext cx="1291778" cy="214313"/>
          </a:xfrm>
          <a:prstGeom prst="rightArrow">
            <a:avLst>
              <a:gd name="adj1" fmla="val 50000"/>
              <a:gd name="adj2" fmla="val 10088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004B93-8BBE-4CAF-BF6D-33F3E2235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1716" y="5775349"/>
            <a:ext cx="1714500" cy="428625"/>
          </a:xfrm>
          <a:prstGeom prst="rect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原点的振动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DE69EA0-AC76-4B2E-B654-0A85F8F38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0" y="5799162"/>
            <a:ext cx="1071563" cy="428625"/>
          </a:xfrm>
          <a:prstGeom prst="rect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波函数</a:t>
            </a:r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DFC5C060-2E17-4AE3-A8A2-7FEAF2EEB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808" y="6237312"/>
            <a:ext cx="34472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dirty="0">
                <a:solidFill>
                  <a:srgbClr val="FFFF00"/>
                </a:solidFill>
              </a:rPr>
              <a:t>传播方向相位依次落后</a:t>
            </a:r>
            <a:endParaRPr kumimoji="0" lang="en-US" altLang="zh-CN" sz="2000" dirty="0">
              <a:solidFill>
                <a:srgbClr val="FFFF00"/>
              </a:solidFill>
            </a:endParaRPr>
          </a:p>
        </p:txBody>
      </p:sp>
      <p:sp>
        <p:nvSpPr>
          <p:cNvPr id="23" name="右箭头 46">
            <a:extLst>
              <a:ext uri="{FF2B5EF4-FFF2-40B4-BE49-F238E27FC236}">
                <a16:creationId xmlns:a16="http://schemas.microsoft.com/office/drawing/2014/main" id="{9E99E656-4ECD-4C1D-9ED2-361514A8D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385" y="5918224"/>
            <a:ext cx="802927" cy="214313"/>
          </a:xfrm>
          <a:prstGeom prst="rightArrow">
            <a:avLst>
              <a:gd name="adj1" fmla="val 50000"/>
              <a:gd name="adj2" fmla="val 10089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utoUpdateAnimBg="0"/>
      <p:bldP spid="37" grpId="0" animBg="1"/>
      <p:bldP spid="38" grpId="0"/>
      <p:bldP spid="39" grpId="0"/>
      <p:bldP spid="24" grpId="0" animBg="1"/>
      <p:bldP spid="15" grpId="0"/>
      <p:bldP spid="17" grpId="0"/>
      <p:bldP spid="18" grpId="0" animBg="1"/>
      <p:bldP spid="19" grpId="0" animBg="1"/>
      <p:bldP spid="20" grpId="0" animBg="1"/>
      <p:bldP spid="21" grpId="0" animBg="1"/>
      <p:bldP spid="22" grpId="0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6" name="Text Box 4" descr="绿色大理石">
            <a:extLst>
              <a:ext uri="{FF2B5EF4-FFF2-40B4-BE49-F238E27FC236}">
                <a16:creationId xmlns:a16="http://schemas.microsoft.com/office/drawing/2014/main" id="{EB82CD96-1701-4D27-B946-7F5DABC00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538163"/>
            <a:ext cx="4679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四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</a:rPr>
              <a:t>波函数的物理意义</a:t>
            </a:r>
          </a:p>
        </p:txBody>
      </p:sp>
      <p:sp>
        <p:nvSpPr>
          <p:cNvPr id="131077" name="Text Box 5" descr="绿色大理石">
            <a:extLst>
              <a:ext uri="{FF2B5EF4-FFF2-40B4-BE49-F238E27FC236}">
                <a16:creationId xmlns:a16="http://schemas.microsoft.com/office/drawing/2014/main" id="{2670F862-0F16-4221-B3A1-ADA4B941E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1379538"/>
            <a:ext cx="1903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当</a:t>
            </a:r>
          </a:p>
        </p:txBody>
      </p:sp>
      <p:graphicFrame>
        <p:nvGraphicFramePr>
          <p:cNvPr id="131080" name="Object 2">
            <a:extLst>
              <a:ext uri="{FF2B5EF4-FFF2-40B4-BE49-F238E27FC236}">
                <a16:creationId xmlns:a16="http://schemas.microsoft.com/office/drawing/2014/main" id="{7F43E3A6-4650-4AED-9A8C-D90B3A54B32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944938" y="350838"/>
          <a:ext cx="39116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38" name="公式" r:id="rId3" imgW="4019690" imgH="771525" progId="Equation.3">
                  <p:embed/>
                </p:oleObj>
              </mc:Choice>
              <mc:Fallback>
                <p:oleObj name="公式" r:id="rId3" imgW="4019690" imgH="771525" progId="Equation.3">
                  <p:embed/>
                  <p:pic>
                    <p:nvPicPr>
                      <p:cNvPr id="131080" name="Object 2">
                        <a:extLst>
                          <a:ext uri="{FF2B5EF4-FFF2-40B4-BE49-F238E27FC236}">
                            <a16:creationId xmlns:a16="http://schemas.microsoft.com/office/drawing/2014/main" id="{7F43E3A6-4650-4AED-9A8C-D90B3A54B3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4938" y="350838"/>
                        <a:ext cx="391160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81" name="Object 3">
            <a:extLst>
              <a:ext uri="{FF2B5EF4-FFF2-40B4-BE49-F238E27FC236}">
                <a16:creationId xmlns:a16="http://schemas.microsoft.com/office/drawing/2014/main" id="{452FF6D5-1C6F-4669-9737-A0A736613CD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14813" y="1143000"/>
          <a:ext cx="3836987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39" name="公式" r:id="rId5" imgW="1657235" imgH="333409" progId="Equation.3">
                  <p:embed/>
                </p:oleObj>
              </mc:Choice>
              <mc:Fallback>
                <p:oleObj name="公式" r:id="rId5" imgW="1657235" imgH="333409" progId="Equation.3">
                  <p:embed/>
                  <p:pic>
                    <p:nvPicPr>
                      <p:cNvPr id="131081" name="Object 3">
                        <a:extLst>
                          <a:ext uri="{FF2B5EF4-FFF2-40B4-BE49-F238E27FC236}">
                            <a16:creationId xmlns:a16="http://schemas.microsoft.com/office/drawing/2014/main" id="{452FF6D5-1C6F-4669-9737-A0A736613C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1143000"/>
                        <a:ext cx="3836987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82" name="Object 4">
            <a:extLst>
              <a:ext uri="{FF2B5EF4-FFF2-40B4-BE49-F238E27FC236}">
                <a16:creationId xmlns:a16="http://schemas.microsoft.com/office/drawing/2014/main" id="{44AB29DC-0510-445F-ACB4-5DCF9B035D1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579563" y="1414463"/>
          <a:ext cx="85883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40" name="公式" r:id="rId7" imgW="809504" imgH="371373" progId="Equation.3">
                  <p:embed/>
                </p:oleObj>
              </mc:Choice>
              <mc:Fallback>
                <p:oleObj name="公式" r:id="rId7" imgW="809504" imgH="371373" progId="Equation.3">
                  <p:embed/>
                  <p:pic>
                    <p:nvPicPr>
                      <p:cNvPr id="131082" name="Object 4">
                        <a:extLst>
                          <a:ext uri="{FF2B5EF4-FFF2-40B4-BE49-F238E27FC236}">
                            <a16:creationId xmlns:a16="http://schemas.microsoft.com/office/drawing/2014/main" id="{44AB29DC-0510-445F-ACB4-5DCF9B035D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563" y="1414463"/>
                        <a:ext cx="858837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83" name="AutoShape 11">
            <a:extLst>
              <a:ext uri="{FF2B5EF4-FFF2-40B4-BE49-F238E27FC236}">
                <a16:creationId xmlns:a16="http://schemas.microsoft.com/office/drawing/2014/main" id="{11CBB3F7-0E76-4D24-A987-7D9746DE2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1543050"/>
            <a:ext cx="1192212" cy="144463"/>
          </a:xfrm>
          <a:prstGeom prst="rightArrow">
            <a:avLst>
              <a:gd name="adj1" fmla="val 50000"/>
              <a:gd name="adj2" fmla="val 206318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pic>
        <p:nvPicPr>
          <p:cNvPr id="131084" name="Picture 12" descr="图形2">
            <a:extLst>
              <a:ext uri="{FF2B5EF4-FFF2-40B4-BE49-F238E27FC236}">
                <a16:creationId xmlns:a16="http://schemas.microsoft.com/office/drawing/2014/main" id="{4FC8D016-5D8F-4F8E-BA10-36F6530A6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3175000"/>
            <a:ext cx="3198813" cy="1176338"/>
          </a:xfrm>
          <a:prstGeom prst="rect">
            <a:avLst/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26">
            <a:extLst>
              <a:ext uri="{FF2B5EF4-FFF2-40B4-BE49-F238E27FC236}">
                <a16:creationId xmlns:a16="http://schemas.microsoft.com/office/drawing/2014/main" id="{4E394D5B-12EF-450F-84D5-3CECEB4558C1}"/>
              </a:ext>
            </a:extLst>
          </p:cNvPr>
          <p:cNvGrpSpPr>
            <a:grpSpLocks/>
          </p:cNvGrpSpPr>
          <p:nvPr/>
        </p:nvGrpSpPr>
        <p:grpSpPr bwMode="auto">
          <a:xfrm>
            <a:off x="987425" y="3754438"/>
            <a:ext cx="3910013" cy="457200"/>
            <a:chOff x="622" y="2465"/>
            <a:chExt cx="2463" cy="288"/>
          </a:xfrm>
        </p:grpSpPr>
        <p:sp>
          <p:nvSpPr>
            <p:cNvPr id="7205" name="Text Box 14">
              <a:extLst>
                <a:ext uri="{FF2B5EF4-FFF2-40B4-BE49-F238E27FC236}">
                  <a16:creationId xmlns:a16="http://schemas.microsoft.com/office/drawing/2014/main" id="{CF980298-808D-475F-9046-BA8BCE812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2465"/>
              <a:ext cx="296" cy="288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>
                  <a:solidFill>
                    <a:schemeClr val="bg1"/>
                  </a:solidFill>
                  <a:ea typeface="仿宋_GB2312" pitchFamily="49" charset="-122"/>
                </a:rPr>
                <a:t>t</a:t>
              </a:r>
            </a:p>
          </p:txBody>
        </p:sp>
        <p:sp>
          <p:nvSpPr>
            <p:cNvPr id="7206" name="Line 15">
              <a:extLst>
                <a:ext uri="{FF2B5EF4-FFF2-40B4-BE49-F238E27FC236}">
                  <a16:creationId xmlns:a16="http://schemas.microsoft.com/office/drawing/2014/main" id="{6C57B6D1-2403-4103-B8DD-D421FE444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" y="2478"/>
              <a:ext cx="2303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5">
            <a:extLst>
              <a:ext uri="{FF2B5EF4-FFF2-40B4-BE49-F238E27FC236}">
                <a16:creationId xmlns:a16="http://schemas.microsoft.com/office/drawing/2014/main" id="{9E2A601B-7EC8-4FC2-A1E8-E18402898AD7}"/>
              </a:ext>
            </a:extLst>
          </p:cNvPr>
          <p:cNvGrpSpPr>
            <a:grpSpLocks/>
          </p:cNvGrpSpPr>
          <p:nvPr/>
        </p:nvGrpSpPr>
        <p:grpSpPr bwMode="auto">
          <a:xfrm>
            <a:off x="1539875" y="2459038"/>
            <a:ext cx="328613" cy="1963737"/>
            <a:chOff x="2058" y="1816"/>
            <a:chExt cx="207" cy="1237"/>
          </a:xfrm>
        </p:grpSpPr>
        <p:sp>
          <p:nvSpPr>
            <p:cNvPr id="7203" name="Text Box 17">
              <a:extLst>
                <a:ext uri="{FF2B5EF4-FFF2-40B4-BE49-F238E27FC236}">
                  <a16:creationId xmlns:a16="http://schemas.microsoft.com/office/drawing/2014/main" id="{049F2FB6-0DF2-4356-9C8C-76F1E0F201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8" y="1816"/>
              <a:ext cx="187" cy="288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>
                  <a:solidFill>
                    <a:schemeClr val="bg1"/>
                  </a:solidFill>
                  <a:ea typeface="仿宋_GB2312" pitchFamily="49" charset="-122"/>
                </a:rPr>
                <a:t>y</a:t>
              </a:r>
            </a:p>
          </p:txBody>
        </p:sp>
        <p:sp>
          <p:nvSpPr>
            <p:cNvPr id="7204" name="Line 18">
              <a:extLst>
                <a:ext uri="{FF2B5EF4-FFF2-40B4-BE49-F238E27FC236}">
                  <a16:creationId xmlns:a16="http://schemas.microsoft.com/office/drawing/2014/main" id="{482D025A-4D0E-4CD1-8277-1BECB847A0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8" y="1947"/>
              <a:ext cx="0" cy="110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1091" name="Text Box 19">
            <a:extLst>
              <a:ext uri="{FF2B5EF4-FFF2-40B4-BE49-F238E27FC236}">
                <a16:creationId xmlns:a16="http://schemas.microsoft.com/office/drawing/2014/main" id="{EB2DC8A0-648F-4E28-A596-1ABE74F34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371475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00" i="1">
                <a:solidFill>
                  <a:schemeClr val="bg1"/>
                </a:solidFill>
              </a:rPr>
              <a:t>O</a:t>
            </a:r>
          </a:p>
        </p:txBody>
      </p:sp>
      <p:sp>
        <p:nvSpPr>
          <p:cNvPr id="131092" name="Text Box 20" descr="绿色大理石">
            <a:extLst>
              <a:ext uri="{FF2B5EF4-FFF2-40B4-BE49-F238E27FC236}">
                <a16:creationId xmlns:a16="http://schemas.microsoft.com/office/drawing/2014/main" id="{3BB74E55-1939-4F59-A4A0-19CD82F2C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4459288"/>
            <a:ext cx="247332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当</a:t>
            </a:r>
          </a:p>
        </p:txBody>
      </p:sp>
      <p:sp>
        <p:nvSpPr>
          <p:cNvPr id="131093" name="Rectangle 21">
            <a:extLst>
              <a:ext uri="{FF2B5EF4-FFF2-40B4-BE49-F238E27FC236}">
                <a16:creationId xmlns:a16="http://schemas.microsoft.com/office/drawing/2014/main" id="{7FB9F6D6-D6D6-471E-BFA0-51022EE01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700" y="5067300"/>
            <a:ext cx="513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表示 </a:t>
            </a:r>
            <a:r>
              <a:rPr lang="en-US" altLang="zh-CN" sz="2800" i="1">
                <a:solidFill>
                  <a:srgbClr val="FFCC00"/>
                </a:solidFill>
              </a:rPr>
              <a:t>t</a:t>
            </a:r>
            <a:r>
              <a:rPr lang="en-US" altLang="zh-CN" sz="2800" baseline="-25000">
                <a:solidFill>
                  <a:srgbClr val="FFCC00"/>
                </a:solidFill>
              </a:rPr>
              <a:t>0</a:t>
            </a:r>
            <a:r>
              <a:rPr lang="en-US" altLang="zh-CN" sz="2800">
                <a:solidFill>
                  <a:srgbClr val="FFCC00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时刻的波形曲线</a:t>
            </a:r>
          </a:p>
        </p:txBody>
      </p:sp>
      <p:graphicFrame>
        <p:nvGraphicFramePr>
          <p:cNvPr id="131094" name="Object 5">
            <a:extLst>
              <a:ext uri="{FF2B5EF4-FFF2-40B4-BE49-F238E27FC236}">
                <a16:creationId xmlns:a16="http://schemas.microsoft.com/office/drawing/2014/main" id="{9B3271C7-650D-4D7C-B584-A9D3ABC4C8A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273550" y="4405313"/>
          <a:ext cx="3941763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41" name="公式" r:id="rId10" imgW="3905314" imgH="771525" progId="Equation.3">
                  <p:embed/>
                </p:oleObj>
              </mc:Choice>
              <mc:Fallback>
                <p:oleObj name="公式" r:id="rId10" imgW="3905314" imgH="771525" progId="Equation.3">
                  <p:embed/>
                  <p:pic>
                    <p:nvPicPr>
                      <p:cNvPr id="131094" name="Object 5">
                        <a:extLst>
                          <a:ext uri="{FF2B5EF4-FFF2-40B4-BE49-F238E27FC236}">
                            <a16:creationId xmlns:a16="http://schemas.microsoft.com/office/drawing/2014/main" id="{9B3271C7-650D-4D7C-B584-A9D3ABC4C8A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3550" y="4405313"/>
                        <a:ext cx="3941763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95" name="Object 6">
            <a:extLst>
              <a:ext uri="{FF2B5EF4-FFF2-40B4-BE49-F238E27FC236}">
                <a16:creationId xmlns:a16="http://schemas.microsoft.com/office/drawing/2014/main" id="{4E04C0B4-EEB9-4549-AEA0-F7967E759F5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603375" y="4621213"/>
          <a:ext cx="70802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42" name="公式" r:id="rId12" imgW="657206" imgH="371373" progId="Equation.3">
                  <p:embed/>
                </p:oleObj>
              </mc:Choice>
              <mc:Fallback>
                <p:oleObj name="公式" r:id="rId12" imgW="657206" imgH="371373" progId="Equation.3">
                  <p:embed/>
                  <p:pic>
                    <p:nvPicPr>
                      <p:cNvPr id="131095" name="Object 6">
                        <a:extLst>
                          <a:ext uri="{FF2B5EF4-FFF2-40B4-BE49-F238E27FC236}">
                            <a16:creationId xmlns:a16="http://schemas.microsoft.com/office/drawing/2014/main" id="{4E04C0B4-EEB9-4549-AEA0-F7967E759F5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5" y="4621213"/>
                        <a:ext cx="708025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96" name="AutoShape 24">
            <a:extLst>
              <a:ext uri="{FF2B5EF4-FFF2-40B4-BE49-F238E27FC236}">
                <a16:creationId xmlns:a16="http://schemas.microsoft.com/office/drawing/2014/main" id="{63F4D106-ED56-4475-A7DF-81369C629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4784725"/>
            <a:ext cx="1192212" cy="144463"/>
          </a:xfrm>
          <a:prstGeom prst="rightArrow">
            <a:avLst>
              <a:gd name="adj1" fmla="val 50000"/>
              <a:gd name="adj2" fmla="val 206318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31079" name="Rectangle 7">
            <a:extLst>
              <a:ext uri="{FF2B5EF4-FFF2-40B4-BE49-F238E27FC236}">
                <a16:creationId xmlns:a16="http://schemas.microsoft.com/office/drawing/2014/main" id="{8E4434B6-4A13-45FD-9FD0-87E8B76D1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50" y="1981200"/>
            <a:ext cx="5233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表示位于</a:t>
            </a:r>
            <a:r>
              <a:rPr lang="zh-CN" altLang="en-US">
                <a:solidFill>
                  <a:srgbClr val="FFCC66"/>
                </a:solidFill>
              </a:rPr>
              <a:t> </a:t>
            </a:r>
            <a:r>
              <a:rPr lang="en-US" altLang="zh-CN" sz="2800" i="1">
                <a:solidFill>
                  <a:srgbClr val="FFCC00"/>
                </a:solidFill>
              </a:rPr>
              <a:t>x</a:t>
            </a:r>
            <a:r>
              <a:rPr lang="en-US" altLang="zh-CN" i="1">
                <a:solidFill>
                  <a:srgbClr val="FFCC00"/>
                </a:solidFill>
              </a:rPr>
              <a:t> </a:t>
            </a:r>
            <a:r>
              <a:rPr lang="en-US" altLang="zh-CN" baseline="-25000">
                <a:solidFill>
                  <a:srgbClr val="FFCC00"/>
                </a:solidFill>
              </a:rPr>
              <a:t>0</a:t>
            </a:r>
            <a:r>
              <a:rPr lang="zh-CN" altLang="en-US">
                <a:solidFill>
                  <a:schemeClr val="bg1"/>
                </a:solidFill>
              </a:rPr>
              <a:t>处质点的振动方程</a:t>
            </a:r>
          </a:p>
        </p:txBody>
      </p:sp>
      <p:pic>
        <p:nvPicPr>
          <p:cNvPr id="131099" name="Picture 27" descr="图形2">
            <a:extLst>
              <a:ext uri="{FF2B5EF4-FFF2-40B4-BE49-F238E27FC236}">
                <a16:creationId xmlns:a16="http://schemas.microsoft.com/office/drawing/2014/main" id="{E5D31025-40FF-444D-95CB-0ABC06EB0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538" y="3168650"/>
            <a:ext cx="3198812" cy="1176338"/>
          </a:xfrm>
          <a:prstGeom prst="rect">
            <a:avLst/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28">
            <a:extLst>
              <a:ext uri="{FF2B5EF4-FFF2-40B4-BE49-F238E27FC236}">
                <a16:creationId xmlns:a16="http://schemas.microsoft.com/office/drawing/2014/main" id="{CA52135F-D279-4AE1-9D63-63E122188951}"/>
              </a:ext>
            </a:extLst>
          </p:cNvPr>
          <p:cNvGrpSpPr>
            <a:grpSpLocks/>
          </p:cNvGrpSpPr>
          <p:nvPr/>
        </p:nvGrpSpPr>
        <p:grpSpPr bwMode="auto">
          <a:xfrm>
            <a:off x="5026025" y="3748088"/>
            <a:ext cx="3794125" cy="457200"/>
            <a:chOff x="3166" y="955"/>
            <a:chExt cx="2390" cy="288"/>
          </a:xfrm>
        </p:grpSpPr>
        <p:sp>
          <p:nvSpPr>
            <p:cNvPr id="7201" name="Text Box 29">
              <a:extLst>
                <a:ext uri="{FF2B5EF4-FFF2-40B4-BE49-F238E27FC236}">
                  <a16:creationId xmlns:a16="http://schemas.microsoft.com/office/drawing/2014/main" id="{38FC9C21-FBE9-489B-9FD3-1ED7451E1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0" y="955"/>
              <a:ext cx="296" cy="288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zh-CN" i="1">
                  <a:solidFill>
                    <a:schemeClr val="bg1"/>
                  </a:solidFill>
                  <a:ea typeface="仿宋_GB2312" pitchFamily="49" charset="-122"/>
                </a:rPr>
                <a:t>x</a:t>
              </a:r>
              <a:endParaRPr lang="en-US" altLang="zh-CN" i="1">
                <a:solidFill>
                  <a:schemeClr val="bg1"/>
                </a:solidFill>
                <a:ea typeface="仿宋_GB2312" pitchFamily="49" charset="-122"/>
              </a:endParaRPr>
            </a:p>
          </p:txBody>
        </p:sp>
        <p:sp>
          <p:nvSpPr>
            <p:cNvPr id="7202" name="Line 30">
              <a:extLst>
                <a:ext uri="{FF2B5EF4-FFF2-40B4-BE49-F238E27FC236}">
                  <a16:creationId xmlns:a16="http://schemas.microsoft.com/office/drawing/2014/main" id="{EF7577FE-1153-4186-9FE5-FC3F8651F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6" y="968"/>
              <a:ext cx="224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31">
            <a:extLst>
              <a:ext uri="{FF2B5EF4-FFF2-40B4-BE49-F238E27FC236}">
                <a16:creationId xmlns:a16="http://schemas.microsoft.com/office/drawing/2014/main" id="{F92BCF9D-E65A-4B4C-BE36-BCFDA2FEC44F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2452688"/>
            <a:ext cx="344488" cy="1984375"/>
            <a:chOff x="2043" y="139"/>
            <a:chExt cx="217" cy="1250"/>
          </a:xfrm>
        </p:grpSpPr>
        <p:sp>
          <p:nvSpPr>
            <p:cNvPr id="7199" name="Text Box 32">
              <a:extLst>
                <a:ext uri="{FF2B5EF4-FFF2-40B4-BE49-F238E27FC236}">
                  <a16:creationId xmlns:a16="http://schemas.microsoft.com/office/drawing/2014/main" id="{DB7323AA-29F9-4DFC-A04D-D82EC7BFB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3" y="139"/>
              <a:ext cx="187" cy="288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>
                  <a:solidFill>
                    <a:schemeClr val="bg1"/>
                  </a:solidFill>
                  <a:ea typeface="仿宋_GB2312" pitchFamily="49" charset="-122"/>
                </a:rPr>
                <a:t>y</a:t>
              </a:r>
            </a:p>
          </p:txBody>
        </p:sp>
        <p:sp>
          <p:nvSpPr>
            <p:cNvPr id="7200" name="Line 33">
              <a:extLst>
                <a:ext uri="{FF2B5EF4-FFF2-40B4-BE49-F238E27FC236}">
                  <a16:creationId xmlns:a16="http://schemas.microsoft.com/office/drawing/2014/main" id="{CB7D5504-F345-41F6-9966-D43C539204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3" y="260"/>
              <a:ext cx="0" cy="1129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1106" name="Text Box 34">
            <a:extLst>
              <a:ext uri="{FF2B5EF4-FFF2-40B4-BE49-F238E27FC236}">
                <a16:creationId xmlns:a16="http://schemas.microsoft.com/office/drawing/2014/main" id="{98980F3D-2415-4749-B852-E9FF8BC23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0938" y="370840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00" i="1">
                <a:solidFill>
                  <a:schemeClr val="bg1"/>
                </a:solidFill>
              </a:rPr>
              <a:t>O</a:t>
            </a:r>
          </a:p>
        </p:txBody>
      </p:sp>
      <p:grpSp>
        <p:nvGrpSpPr>
          <p:cNvPr id="6" name="Group 35">
            <a:extLst>
              <a:ext uri="{FF2B5EF4-FFF2-40B4-BE49-F238E27FC236}">
                <a16:creationId xmlns:a16="http://schemas.microsoft.com/office/drawing/2014/main" id="{2063F630-73F8-47EB-B4E3-1AC7DC7DBC8A}"/>
              </a:ext>
            </a:extLst>
          </p:cNvPr>
          <p:cNvGrpSpPr>
            <a:grpSpLocks/>
          </p:cNvGrpSpPr>
          <p:nvPr/>
        </p:nvGrpSpPr>
        <p:grpSpPr bwMode="auto">
          <a:xfrm>
            <a:off x="6516688" y="2492375"/>
            <a:ext cx="522287" cy="400050"/>
            <a:chOff x="4116" y="875"/>
            <a:chExt cx="329" cy="252"/>
          </a:xfrm>
        </p:grpSpPr>
        <p:sp>
          <p:nvSpPr>
            <p:cNvPr id="7197" name="Line 36">
              <a:extLst>
                <a:ext uri="{FF2B5EF4-FFF2-40B4-BE49-F238E27FC236}">
                  <a16:creationId xmlns:a16="http://schemas.microsoft.com/office/drawing/2014/main" id="{05A5C972-7EC1-43B9-9E3B-C13960AFBAD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116" y="1126"/>
              <a:ext cx="329" cy="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198" name="Object 8">
              <a:extLst>
                <a:ext uri="{FF2B5EF4-FFF2-40B4-BE49-F238E27FC236}">
                  <a16:creationId xmlns:a16="http://schemas.microsoft.com/office/drawing/2014/main" id="{C174EB08-E4E2-4045-BC09-30798855BAD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165" y="875"/>
            <a:ext cx="163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43" name="公式" r:id="rId14" imgW="104896" imgH="123689" progId="Equation.3">
                    <p:embed/>
                  </p:oleObj>
                </mc:Choice>
                <mc:Fallback>
                  <p:oleObj name="公式" r:id="rId14" imgW="104896" imgH="123689" progId="Equation.3">
                    <p:embed/>
                    <p:pic>
                      <p:nvPicPr>
                        <p:cNvPr id="7198" name="Object 8">
                          <a:extLst>
                            <a:ext uri="{FF2B5EF4-FFF2-40B4-BE49-F238E27FC236}">
                              <a16:creationId xmlns:a16="http://schemas.microsoft.com/office/drawing/2014/main" id="{C174EB08-E4E2-4045-BC09-30798855BA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5" y="875"/>
                          <a:ext cx="163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1110" name="Text Box 38" descr="绿色大理石">
            <a:extLst>
              <a:ext uri="{FF2B5EF4-FFF2-40B4-BE49-F238E27FC236}">
                <a16:creationId xmlns:a16="http://schemas.microsoft.com/office/drawing/2014/main" id="{D2E9CFC1-2777-4DF2-940F-9276085FE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5418138"/>
            <a:ext cx="4133850" cy="66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>
                <a:solidFill>
                  <a:schemeClr val="bg1"/>
                </a:solidFill>
              </a:rPr>
              <a:t>(3)  </a:t>
            </a:r>
            <a:r>
              <a:rPr lang="en-US" altLang="zh-CN" sz="2800" i="1">
                <a:solidFill>
                  <a:srgbClr val="FFCC00"/>
                </a:solidFill>
              </a:rPr>
              <a:t>x </a:t>
            </a:r>
            <a:r>
              <a:rPr lang="zh-CN" altLang="en-US">
                <a:solidFill>
                  <a:schemeClr val="bg1"/>
                </a:solidFill>
              </a:rPr>
              <a:t>和 </a:t>
            </a:r>
            <a:r>
              <a:rPr lang="en-US" altLang="zh-CN" sz="2800" i="1">
                <a:solidFill>
                  <a:srgbClr val="FFCC00"/>
                </a:solidFill>
              </a:rPr>
              <a:t>t</a:t>
            </a:r>
            <a:r>
              <a:rPr lang="en-US" altLang="zh-CN">
                <a:solidFill>
                  <a:srgbClr val="FFCC00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都变化，</a:t>
            </a:r>
          </a:p>
        </p:txBody>
      </p:sp>
      <p:sp>
        <p:nvSpPr>
          <p:cNvPr id="131111" name="Text Box 39">
            <a:extLst>
              <a:ext uri="{FF2B5EF4-FFF2-40B4-BE49-F238E27FC236}">
                <a16:creationId xmlns:a16="http://schemas.microsoft.com/office/drawing/2014/main" id="{75A13841-AB61-4F2E-A02F-938E8DA8F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4538" y="5572125"/>
            <a:ext cx="5573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波函数表示的是沿波的传播方向上的</a:t>
            </a:r>
          </a:p>
        </p:txBody>
      </p:sp>
      <p:sp>
        <p:nvSpPr>
          <p:cNvPr id="131112" name="Rectangle 40">
            <a:extLst>
              <a:ext uri="{FF2B5EF4-FFF2-40B4-BE49-F238E27FC236}">
                <a16:creationId xmlns:a16="http://schemas.microsoft.com/office/drawing/2014/main" id="{84AA7A70-61A2-43F5-BA0A-BEF9B5A28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5388" y="6115050"/>
            <a:ext cx="6697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任意质点在任意时刻位移分布情况</a:t>
            </a:r>
          </a:p>
        </p:txBody>
      </p:sp>
      <p:graphicFrame>
        <p:nvGraphicFramePr>
          <p:cNvPr id="131113" name="Object 7">
            <a:extLst>
              <a:ext uri="{FF2B5EF4-FFF2-40B4-BE49-F238E27FC236}">
                <a16:creationId xmlns:a16="http://schemas.microsoft.com/office/drawing/2014/main" id="{7B1E5A39-D273-4A79-996F-EB03D1FFFDE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7451725" y="2565400"/>
          <a:ext cx="7080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44" name="公式" r:id="rId16" imgW="657206" imgH="371373" progId="Equation.3">
                  <p:embed/>
                </p:oleObj>
              </mc:Choice>
              <mc:Fallback>
                <p:oleObj name="公式" r:id="rId16" imgW="657206" imgH="371373" progId="Equation.3">
                  <p:embed/>
                  <p:pic>
                    <p:nvPicPr>
                      <p:cNvPr id="131113" name="Object 7">
                        <a:extLst>
                          <a:ext uri="{FF2B5EF4-FFF2-40B4-BE49-F238E27FC236}">
                            <a16:creationId xmlns:a16="http://schemas.microsoft.com/office/drawing/2014/main" id="{7B1E5A39-D273-4A79-996F-EB03D1FFFDE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2565400"/>
                        <a:ext cx="70802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5" name="灯片编号占位符 1">
            <a:extLst>
              <a:ext uri="{FF2B5EF4-FFF2-40B4-BE49-F238E27FC236}">
                <a16:creationId xmlns:a16="http://schemas.microsoft.com/office/drawing/2014/main" id="{4DF0E6DA-4EA6-4C52-ADBA-E038DE55253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92AFAB0-CE0B-44AD-965F-D25C3EDDB591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graphicFrame>
        <p:nvGraphicFramePr>
          <p:cNvPr id="7" name="Object 39">
            <a:extLst>
              <a:ext uri="{FF2B5EF4-FFF2-40B4-BE49-F238E27FC236}">
                <a16:creationId xmlns:a16="http://schemas.microsoft.com/office/drawing/2014/main" id="{270ED350-E9EC-44F3-9240-54B8876C600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28875" y="2528888"/>
          <a:ext cx="9318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45" name="公式" r:id="rId18" imgW="333343" imgH="171450" progId="Equation.3">
                  <p:embed/>
                </p:oleObj>
              </mc:Choice>
              <mc:Fallback>
                <p:oleObj name="公式" r:id="rId18" imgW="333343" imgH="171450" progId="Equation.3">
                  <p:embed/>
                  <p:pic>
                    <p:nvPicPr>
                      <p:cNvPr id="7" name="Object 39">
                        <a:extLst>
                          <a:ext uri="{FF2B5EF4-FFF2-40B4-BE49-F238E27FC236}">
                            <a16:creationId xmlns:a16="http://schemas.microsoft.com/office/drawing/2014/main" id="{270ED350-E9EC-44F3-9240-54B8876C60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2528888"/>
                        <a:ext cx="93186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3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3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3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3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3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3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3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6" grpId="0" autoUpdateAnimBg="0"/>
      <p:bldP spid="131077" grpId="0" autoUpdateAnimBg="0"/>
      <p:bldP spid="131091" grpId="0"/>
      <p:bldP spid="131092" grpId="0" autoUpdateAnimBg="0"/>
      <p:bldP spid="131093" grpId="0"/>
      <p:bldP spid="131079" grpId="0"/>
      <p:bldP spid="131106" grpId="0"/>
      <p:bldP spid="131110" grpId="0" autoUpdateAnimBg="0"/>
      <p:bldP spid="131111" grpId="0"/>
      <p:bldP spid="1311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9" name="Rectangle 2">
            <a:extLst>
              <a:ext uri="{FF2B5EF4-FFF2-40B4-BE49-F238E27FC236}">
                <a16:creationId xmlns:a16="http://schemas.microsoft.com/office/drawing/2014/main" id="{D8606ACE-5F2F-4878-8CB6-CF709DA05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188913"/>
            <a:ext cx="6696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 sz="2800" i="1">
                <a:solidFill>
                  <a:srgbClr val="FFCC00"/>
                </a:solidFill>
              </a:rPr>
              <a:t>t</a:t>
            </a:r>
            <a:r>
              <a:rPr lang="en-US" altLang="zh-CN" sz="2800">
                <a:solidFill>
                  <a:srgbClr val="FFCC00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时刻位于</a:t>
            </a:r>
            <a:r>
              <a:rPr lang="en-GB" altLang="zh-CN" i="1">
                <a:solidFill>
                  <a:srgbClr val="FFCC00"/>
                </a:solidFill>
              </a:rPr>
              <a:t>x</a:t>
            </a:r>
            <a:r>
              <a:rPr lang="zh-CN" altLang="en-GB">
                <a:solidFill>
                  <a:schemeClr val="bg1"/>
                </a:solidFill>
              </a:rPr>
              <a:t>处质点的位移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0482" name="Object 2">
            <a:extLst>
              <a:ext uri="{FF2B5EF4-FFF2-40B4-BE49-F238E27FC236}">
                <a16:creationId xmlns:a16="http://schemas.microsoft.com/office/drawing/2014/main" id="{1AAB96DE-36B9-4FE2-BA79-A9755BC306F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565400" y="658813"/>
          <a:ext cx="4056063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2" name="公式" r:id="rId3" imgW="4019690" imgH="771525" progId="Equation.3">
                  <p:embed/>
                </p:oleObj>
              </mc:Choice>
              <mc:Fallback>
                <p:oleObj name="公式" r:id="rId3" imgW="4019690" imgH="771525" progId="Equation.3">
                  <p:embed/>
                  <p:pic>
                    <p:nvPicPr>
                      <p:cNvPr id="20482" name="Object 2">
                        <a:extLst>
                          <a:ext uri="{FF2B5EF4-FFF2-40B4-BE49-F238E27FC236}">
                            <a16:creationId xmlns:a16="http://schemas.microsoft.com/office/drawing/2014/main" id="{1AAB96DE-36B9-4FE2-BA79-A9755BC306F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658813"/>
                        <a:ext cx="4056063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3" name="Text Box 14">
            <a:extLst>
              <a:ext uri="{FF2B5EF4-FFF2-40B4-BE49-F238E27FC236}">
                <a16:creationId xmlns:a16="http://schemas.microsoft.com/office/drawing/2014/main" id="{5A289DA7-DB8A-4C1F-B4E9-BBB21BB79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9350" y="1589088"/>
            <a:ext cx="675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CC00"/>
                </a:solidFill>
              </a:rPr>
              <a:t>t +</a:t>
            </a:r>
            <a:r>
              <a:rPr lang="el-GR" altLang="zh-CN">
                <a:solidFill>
                  <a:srgbClr val="FFCC00"/>
                </a:solidFill>
              </a:rPr>
              <a:t>Δ</a:t>
            </a:r>
            <a:r>
              <a:rPr lang="en-US" altLang="zh-CN" i="1">
                <a:solidFill>
                  <a:srgbClr val="FFCC00"/>
                </a:solidFill>
              </a:rPr>
              <a:t>t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时刻，位于</a:t>
            </a:r>
            <a:r>
              <a:rPr lang="zh-CN" altLang="en-US" i="1">
                <a:solidFill>
                  <a:srgbClr val="FFCC00"/>
                </a:solidFill>
              </a:rPr>
              <a:t> </a:t>
            </a:r>
            <a:r>
              <a:rPr lang="en-GB" altLang="zh-CN" i="1">
                <a:solidFill>
                  <a:srgbClr val="FFCC00"/>
                </a:solidFill>
              </a:rPr>
              <a:t>x</a:t>
            </a:r>
            <a:r>
              <a:rPr lang="en-US" altLang="zh-CN" i="1">
                <a:solidFill>
                  <a:srgbClr val="FFCC00"/>
                </a:solidFill>
              </a:rPr>
              <a:t>+</a:t>
            </a:r>
            <a:r>
              <a:rPr lang="el-GR" altLang="zh-CN">
                <a:solidFill>
                  <a:srgbClr val="FFCC00"/>
                </a:solidFill>
              </a:rPr>
              <a:t>Δ</a:t>
            </a:r>
            <a:r>
              <a:rPr lang="en-GB" altLang="zh-CN" i="1">
                <a:solidFill>
                  <a:srgbClr val="FFCC00"/>
                </a:solidFill>
              </a:rPr>
              <a:t>x</a:t>
            </a:r>
            <a:r>
              <a:rPr lang="zh-CN" altLang="en-GB">
                <a:solidFill>
                  <a:schemeClr val="bg1"/>
                </a:solidFill>
              </a:rPr>
              <a:t>处质点的位移</a:t>
            </a: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" name="组合 41">
            <a:extLst>
              <a:ext uri="{FF2B5EF4-FFF2-40B4-BE49-F238E27FC236}">
                <a16:creationId xmlns:a16="http://schemas.microsoft.com/office/drawing/2014/main" id="{5798B81A-ED4C-4F86-BB24-26164E0C5550}"/>
              </a:ext>
            </a:extLst>
          </p:cNvPr>
          <p:cNvGrpSpPr>
            <a:grpSpLocks/>
          </p:cNvGrpSpPr>
          <p:nvPr/>
        </p:nvGrpSpPr>
        <p:grpSpPr bwMode="auto">
          <a:xfrm>
            <a:off x="865188" y="4429125"/>
            <a:ext cx="3913187" cy="1485900"/>
            <a:chOff x="865188" y="4429128"/>
            <a:chExt cx="3913188" cy="1485897"/>
          </a:xfrm>
        </p:grpSpPr>
        <p:pic>
          <p:nvPicPr>
            <p:cNvPr id="8230" name="Picture 13" descr="图形3">
              <a:extLst>
                <a:ext uri="{FF2B5EF4-FFF2-40B4-BE49-F238E27FC236}">
                  <a16:creationId xmlns:a16="http://schemas.microsoft.com/office/drawing/2014/main" id="{8D0BBC9C-5A18-48D6-8760-50F9988C62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4552" y="4970463"/>
              <a:ext cx="2663824" cy="944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231" name="Group 10">
              <a:extLst>
                <a:ext uri="{FF2B5EF4-FFF2-40B4-BE49-F238E27FC236}">
                  <a16:creationId xmlns:a16="http://schemas.microsoft.com/office/drawing/2014/main" id="{240AF543-654B-4E65-BDD4-7D27D329F8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5188" y="4429128"/>
              <a:ext cx="3024186" cy="919163"/>
              <a:chOff x="1321" y="2917"/>
              <a:chExt cx="1905" cy="579"/>
            </a:xfrm>
          </p:grpSpPr>
          <p:sp>
            <p:nvSpPr>
              <p:cNvPr id="8232" name="Text Box 11">
                <a:extLst>
                  <a:ext uri="{FF2B5EF4-FFF2-40B4-BE49-F238E27FC236}">
                    <a16:creationId xmlns:a16="http://schemas.microsoft.com/office/drawing/2014/main" id="{A6FFBA64-BE27-406D-82D2-3EA8B03609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1" y="2917"/>
                <a:ext cx="190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i="1">
                    <a:solidFill>
                      <a:srgbClr val="00FFFF"/>
                    </a:solidFill>
                  </a:rPr>
                  <a:t>t </a:t>
                </a:r>
                <a:r>
                  <a:rPr lang="zh-CN" altLang="en-US" sz="2000">
                    <a:solidFill>
                      <a:schemeClr val="bg1"/>
                    </a:solidFill>
                  </a:rPr>
                  <a:t>时刻的波形图</a:t>
                </a:r>
              </a:p>
            </p:txBody>
          </p:sp>
          <p:sp>
            <p:nvSpPr>
              <p:cNvPr id="8233" name="Line 12">
                <a:extLst>
                  <a:ext uri="{FF2B5EF4-FFF2-40B4-BE49-F238E27FC236}">
                    <a16:creationId xmlns:a16="http://schemas.microsoft.com/office/drawing/2014/main" id="{DDE092C6-7D5B-4F9E-89B7-EA49E5F501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391609" flipH="1" flipV="1">
                <a:off x="2018" y="3193"/>
                <a:ext cx="125" cy="303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组合 43">
            <a:extLst>
              <a:ext uri="{FF2B5EF4-FFF2-40B4-BE49-F238E27FC236}">
                <a16:creationId xmlns:a16="http://schemas.microsoft.com/office/drawing/2014/main" id="{C689A859-9200-4A0F-BAA3-8F804BC3D1BB}"/>
              </a:ext>
            </a:extLst>
          </p:cNvPr>
          <p:cNvGrpSpPr>
            <a:grpSpLocks/>
          </p:cNvGrpSpPr>
          <p:nvPr/>
        </p:nvGrpSpPr>
        <p:grpSpPr bwMode="auto">
          <a:xfrm>
            <a:off x="2413000" y="4411663"/>
            <a:ext cx="4025900" cy="1508125"/>
            <a:chOff x="2413001" y="4411661"/>
            <a:chExt cx="4025899" cy="1508127"/>
          </a:xfrm>
        </p:grpSpPr>
        <p:grpSp>
          <p:nvGrpSpPr>
            <p:cNvPr id="8226" name="Group 16">
              <a:extLst>
                <a:ext uri="{FF2B5EF4-FFF2-40B4-BE49-F238E27FC236}">
                  <a16:creationId xmlns:a16="http://schemas.microsoft.com/office/drawing/2014/main" id="{E6A5F5DC-7E59-477D-8DC4-EA47BCBCFE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1539" y="4411661"/>
              <a:ext cx="3027361" cy="803274"/>
              <a:chOff x="2926" y="2898"/>
              <a:chExt cx="1907" cy="506"/>
            </a:xfrm>
          </p:grpSpPr>
          <p:sp>
            <p:nvSpPr>
              <p:cNvPr id="8228" name="Line 17">
                <a:extLst>
                  <a:ext uri="{FF2B5EF4-FFF2-40B4-BE49-F238E27FC236}">
                    <a16:creationId xmlns:a16="http://schemas.microsoft.com/office/drawing/2014/main" id="{943A7A0B-8A47-4202-9841-F6F8A306CB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42" y="3134"/>
                <a:ext cx="45" cy="27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9" name="Text Box 18" descr="绿色大理石">
                <a:extLst>
                  <a:ext uri="{FF2B5EF4-FFF2-40B4-BE49-F238E27FC236}">
                    <a16:creationId xmlns:a16="http://schemas.microsoft.com/office/drawing/2014/main" id="{3EFC6DE1-D157-45BE-BA21-6FB5226C64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6" y="2898"/>
                <a:ext cx="190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i="1">
                    <a:solidFill>
                      <a:srgbClr val="00FFFF"/>
                    </a:solidFill>
                  </a:rPr>
                  <a:t>t+</a:t>
                </a:r>
                <a:r>
                  <a:rPr lang="el-GR" altLang="zh-CN" sz="2000" i="1">
                    <a:solidFill>
                      <a:srgbClr val="00FFFF"/>
                    </a:solidFill>
                  </a:rPr>
                  <a:t>Δ</a:t>
                </a:r>
                <a:r>
                  <a:rPr lang="en-US" altLang="zh-CN" sz="2000" i="1">
                    <a:solidFill>
                      <a:srgbClr val="00FFFF"/>
                    </a:solidFill>
                  </a:rPr>
                  <a:t>t </a:t>
                </a:r>
                <a:r>
                  <a:rPr lang="zh-CN" altLang="en-US" sz="2000">
                    <a:solidFill>
                      <a:schemeClr val="bg1"/>
                    </a:solidFill>
                  </a:rPr>
                  <a:t>时刻的波形图</a:t>
                </a:r>
              </a:p>
            </p:txBody>
          </p:sp>
        </p:grpSp>
        <p:pic>
          <p:nvPicPr>
            <p:cNvPr id="8227" name="Picture 19" descr="图形4">
              <a:extLst>
                <a:ext uri="{FF2B5EF4-FFF2-40B4-BE49-F238E27FC236}">
                  <a16:creationId xmlns:a16="http://schemas.microsoft.com/office/drawing/2014/main" id="{82DEAD67-1A91-4D9B-96A7-CC031B7B6B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3001" y="4983163"/>
              <a:ext cx="2678112" cy="936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38260" name="Object 3">
            <a:extLst>
              <a:ext uri="{FF2B5EF4-FFF2-40B4-BE49-F238E27FC236}">
                <a16:creationId xmlns:a16="http://schemas.microsoft.com/office/drawing/2014/main" id="{A8ECF2E1-92B6-4E7E-8284-2D8925CB22D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76338" y="2079625"/>
          <a:ext cx="741838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3" name="公式" r:id="rId7" imgW="7334161" imgH="771525" progId="Equation.3">
                  <p:embed/>
                </p:oleObj>
              </mc:Choice>
              <mc:Fallback>
                <p:oleObj name="公式" r:id="rId7" imgW="7334161" imgH="771525" progId="Equation.3">
                  <p:embed/>
                  <p:pic>
                    <p:nvPicPr>
                      <p:cNvPr id="138260" name="Object 3">
                        <a:extLst>
                          <a:ext uri="{FF2B5EF4-FFF2-40B4-BE49-F238E27FC236}">
                            <a16:creationId xmlns:a16="http://schemas.microsoft.com/office/drawing/2014/main" id="{A8ECF2E1-92B6-4E7E-8284-2D8925CB22D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38" y="2079625"/>
                        <a:ext cx="7418387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61" name="Text Box 21">
            <a:extLst>
              <a:ext uri="{FF2B5EF4-FFF2-40B4-BE49-F238E27FC236}">
                <a16:creationId xmlns:a16="http://schemas.microsoft.com/office/drawing/2014/main" id="{68320D27-EA6F-478A-9341-9560F68DB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914650"/>
            <a:ext cx="1389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如果</a:t>
            </a:r>
          </a:p>
        </p:txBody>
      </p:sp>
      <p:graphicFrame>
        <p:nvGraphicFramePr>
          <p:cNvPr id="138262" name="Object 4">
            <a:extLst>
              <a:ext uri="{FF2B5EF4-FFF2-40B4-BE49-F238E27FC236}">
                <a16:creationId xmlns:a16="http://schemas.microsoft.com/office/drawing/2014/main" id="{17E08772-1209-4AF8-90AF-E6C84F021C7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652588" y="3003550"/>
          <a:ext cx="128905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4" name="公式" r:id="rId9" imgW="1228782" imgH="247684" progId="Equation.3">
                  <p:embed/>
                </p:oleObj>
              </mc:Choice>
              <mc:Fallback>
                <p:oleObj name="公式" r:id="rId9" imgW="1228782" imgH="247684" progId="Equation.3">
                  <p:embed/>
                  <p:pic>
                    <p:nvPicPr>
                      <p:cNvPr id="138262" name="Object 4">
                        <a:extLst>
                          <a:ext uri="{FF2B5EF4-FFF2-40B4-BE49-F238E27FC236}">
                            <a16:creationId xmlns:a16="http://schemas.microsoft.com/office/drawing/2014/main" id="{17E08772-1209-4AF8-90AF-E6C84F021C7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588" y="3003550"/>
                        <a:ext cx="1289050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4" name="Object 5">
            <a:extLst>
              <a:ext uri="{FF2B5EF4-FFF2-40B4-BE49-F238E27FC236}">
                <a16:creationId xmlns:a16="http://schemas.microsoft.com/office/drawing/2014/main" id="{F8327587-5002-4806-8F7D-C096FEF54EB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74750" y="3427413"/>
          <a:ext cx="55086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5" name="公式" r:id="rId11" imgW="5429212" imgH="771525" progId="Equation.3">
                  <p:embed/>
                </p:oleObj>
              </mc:Choice>
              <mc:Fallback>
                <p:oleObj name="公式" r:id="rId11" imgW="5429212" imgH="771525" progId="Equation.3">
                  <p:embed/>
                  <p:pic>
                    <p:nvPicPr>
                      <p:cNvPr id="138264" name="Object 5">
                        <a:extLst>
                          <a:ext uri="{FF2B5EF4-FFF2-40B4-BE49-F238E27FC236}">
                            <a16:creationId xmlns:a16="http://schemas.microsoft.com/office/drawing/2014/main" id="{F8327587-5002-4806-8F7D-C096FEF54E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0" y="3427413"/>
                        <a:ext cx="550862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5" name="Object 6">
            <a:extLst>
              <a:ext uri="{FF2B5EF4-FFF2-40B4-BE49-F238E27FC236}">
                <a16:creationId xmlns:a16="http://schemas.microsoft.com/office/drawing/2014/main" id="{BD7F77D8-91CE-4610-ACF0-04745061C68C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721475" y="3665538"/>
          <a:ext cx="118586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6" name="公式" r:id="rId13" imgW="1123886" imgH="333409" progId="Equation.3">
                  <p:embed/>
                </p:oleObj>
              </mc:Choice>
              <mc:Fallback>
                <p:oleObj name="公式" r:id="rId13" imgW="1123886" imgH="333409" progId="Equation.3">
                  <p:embed/>
                  <p:pic>
                    <p:nvPicPr>
                      <p:cNvPr id="138265" name="Object 6">
                        <a:extLst>
                          <a:ext uri="{FF2B5EF4-FFF2-40B4-BE49-F238E27FC236}">
                            <a16:creationId xmlns:a16="http://schemas.microsoft.com/office/drawing/2014/main" id="{BD7F77D8-91CE-4610-ACF0-04745061C68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1475" y="3665538"/>
                        <a:ext cx="118586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9">
            <a:extLst>
              <a:ext uri="{FF2B5EF4-FFF2-40B4-BE49-F238E27FC236}">
                <a16:creationId xmlns:a16="http://schemas.microsoft.com/office/drawing/2014/main" id="{67C59DC1-BB39-43F2-B0AA-6E4484D251E1}"/>
              </a:ext>
            </a:extLst>
          </p:cNvPr>
          <p:cNvGrpSpPr>
            <a:grpSpLocks/>
          </p:cNvGrpSpPr>
          <p:nvPr/>
        </p:nvGrpSpPr>
        <p:grpSpPr bwMode="auto">
          <a:xfrm>
            <a:off x="2967038" y="4954588"/>
            <a:ext cx="515937" cy="1260475"/>
            <a:chOff x="2645" y="3248"/>
            <a:chExt cx="325" cy="794"/>
          </a:xfrm>
        </p:grpSpPr>
        <p:sp>
          <p:nvSpPr>
            <p:cNvPr id="8223" name="Line 26">
              <a:extLst>
                <a:ext uri="{FF2B5EF4-FFF2-40B4-BE49-F238E27FC236}">
                  <a16:creationId xmlns:a16="http://schemas.microsoft.com/office/drawing/2014/main" id="{10C8BA60-9DB7-49C2-A562-9E95F6386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3952"/>
              <a:ext cx="29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Text Box 27">
              <a:extLst>
                <a:ext uri="{FF2B5EF4-FFF2-40B4-BE49-F238E27FC236}">
                  <a16:creationId xmlns:a16="http://schemas.microsoft.com/office/drawing/2014/main" id="{E52C6081-3CFA-4797-8B53-F91D17E3F0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3709"/>
              <a:ext cx="31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i="1">
                  <a:solidFill>
                    <a:schemeClr val="bg1"/>
                  </a:solidFill>
                </a:rPr>
                <a:t>x</a:t>
              </a:r>
              <a:endParaRPr lang="en-US" altLang="zh-CN" baseline="-25000">
                <a:solidFill>
                  <a:schemeClr val="bg1"/>
                </a:solidFill>
              </a:endParaRPr>
            </a:p>
          </p:txBody>
        </p:sp>
        <p:sp>
          <p:nvSpPr>
            <p:cNvPr id="8225" name="Line 28">
              <a:extLst>
                <a:ext uri="{FF2B5EF4-FFF2-40B4-BE49-F238E27FC236}">
                  <a16:creationId xmlns:a16="http://schemas.microsoft.com/office/drawing/2014/main" id="{C6F923C7-2DA8-4A1F-9E38-0A531C83EF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3248"/>
              <a:ext cx="0" cy="794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33">
            <a:extLst>
              <a:ext uri="{FF2B5EF4-FFF2-40B4-BE49-F238E27FC236}">
                <a16:creationId xmlns:a16="http://schemas.microsoft.com/office/drawing/2014/main" id="{2AAE7343-AEC6-49CC-A9C2-245D31906D41}"/>
              </a:ext>
            </a:extLst>
          </p:cNvPr>
          <p:cNvGrpSpPr>
            <a:grpSpLocks/>
          </p:cNvGrpSpPr>
          <p:nvPr/>
        </p:nvGrpSpPr>
        <p:grpSpPr bwMode="auto">
          <a:xfrm>
            <a:off x="2989263" y="5000625"/>
            <a:ext cx="903287" cy="1571625"/>
            <a:chOff x="2659" y="3277"/>
            <a:chExt cx="569" cy="990"/>
          </a:xfrm>
        </p:grpSpPr>
        <p:sp>
          <p:nvSpPr>
            <p:cNvPr id="8220" name="Line 30">
              <a:extLst>
                <a:ext uri="{FF2B5EF4-FFF2-40B4-BE49-F238E27FC236}">
                  <a16:creationId xmlns:a16="http://schemas.microsoft.com/office/drawing/2014/main" id="{21446165-2643-40EE-98FD-114B192DE9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9" y="4087"/>
              <a:ext cx="454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1" name="Line 31">
              <a:extLst>
                <a:ext uri="{FF2B5EF4-FFF2-40B4-BE49-F238E27FC236}">
                  <a16:creationId xmlns:a16="http://schemas.microsoft.com/office/drawing/2014/main" id="{F5087C53-4D1C-4432-A20D-E63D2F259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5" y="3277"/>
              <a:ext cx="0" cy="884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22" name="Object 8">
              <a:extLst>
                <a:ext uri="{FF2B5EF4-FFF2-40B4-BE49-F238E27FC236}">
                  <a16:creationId xmlns:a16="http://schemas.microsoft.com/office/drawing/2014/main" id="{34552FA9-0E9D-439E-86E9-9A209D42F1F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700" y="4117"/>
            <a:ext cx="528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67" name="公式" r:id="rId15" imgW="885959" imgH="247684" progId="Equation.3">
                    <p:embed/>
                  </p:oleObj>
                </mc:Choice>
                <mc:Fallback>
                  <p:oleObj name="公式" r:id="rId15" imgW="885959" imgH="247684" progId="Equation.3">
                    <p:embed/>
                    <p:pic>
                      <p:nvPicPr>
                        <p:cNvPr id="8222" name="Object 8">
                          <a:extLst>
                            <a:ext uri="{FF2B5EF4-FFF2-40B4-BE49-F238E27FC236}">
                              <a16:creationId xmlns:a16="http://schemas.microsoft.com/office/drawing/2014/main" id="{34552FA9-0E9D-439E-86E9-9A209D42F1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0" y="4117"/>
                          <a:ext cx="528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8274" name="Object 7">
            <a:extLst>
              <a:ext uri="{FF2B5EF4-FFF2-40B4-BE49-F238E27FC236}">
                <a16:creationId xmlns:a16="http://schemas.microsoft.com/office/drawing/2014/main" id="{73E2D42F-7956-4361-8641-559CA5756C0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83100" y="6072188"/>
          <a:ext cx="11953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8" name="公式" r:id="rId17" imgW="523869" imgH="123689" progId="Equation.3">
                  <p:embed/>
                </p:oleObj>
              </mc:Choice>
              <mc:Fallback>
                <p:oleObj name="公式" r:id="rId17" imgW="523869" imgH="123689" progId="Equation.3">
                  <p:embed/>
                  <p:pic>
                    <p:nvPicPr>
                      <p:cNvPr id="138274" name="Object 7">
                        <a:extLst>
                          <a:ext uri="{FF2B5EF4-FFF2-40B4-BE49-F238E27FC236}">
                            <a16:creationId xmlns:a16="http://schemas.microsoft.com/office/drawing/2014/main" id="{73E2D42F-7956-4361-8641-559CA5756C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6072188"/>
                        <a:ext cx="1195388" cy="3587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182F47">
                              <a:alpha val="71001"/>
                            </a:srgbClr>
                          </a:gs>
                          <a:gs pos="50000">
                            <a:srgbClr val="336699">
                              <a:alpha val="60999"/>
                            </a:srgbClr>
                          </a:gs>
                          <a:gs pos="100000">
                            <a:srgbClr val="182F47">
                              <a:alpha val="71001"/>
                            </a:srgb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7" name="灯片编号占位符 1">
            <a:extLst>
              <a:ext uri="{FF2B5EF4-FFF2-40B4-BE49-F238E27FC236}">
                <a16:creationId xmlns:a16="http://schemas.microsoft.com/office/drawing/2014/main" id="{19E8F2E9-83A5-4014-B993-92A5C494F7B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D1BE4E-F68A-4904-AC14-03335BFBE1BA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36" name="下箭头 35">
            <a:extLst>
              <a:ext uri="{FF2B5EF4-FFF2-40B4-BE49-F238E27FC236}">
                <a16:creationId xmlns:a16="http://schemas.microsoft.com/office/drawing/2014/main" id="{FBB4E996-BD65-482E-AA59-98B8F9F26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5063" y="2786063"/>
            <a:ext cx="285750" cy="85725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E0C22248-306E-4F4F-BB3B-60581CE9C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063" y="4462463"/>
            <a:ext cx="2428875" cy="2136775"/>
          </a:xfrm>
          <a:prstGeom prst="rect">
            <a:avLst/>
          </a:prstGeom>
          <a:noFill/>
          <a:ln w="127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>
                <a:solidFill>
                  <a:srgbClr val="FFFF00"/>
                </a:solidFill>
              </a:rPr>
              <a:t>结论：</a:t>
            </a:r>
            <a:endParaRPr lang="en-US" altLang="zh-CN">
              <a:solidFill>
                <a:srgbClr val="FFFF00"/>
              </a:solidFill>
            </a:endParaRPr>
          </a:p>
          <a:p>
            <a:pPr eaLnBrk="1" hangingPunct="1">
              <a:lnSpc>
                <a:spcPts val="3200"/>
              </a:lnSpc>
            </a:pPr>
            <a:r>
              <a:rPr lang="en-US" altLang="zh-CN">
                <a:solidFill>
                  <a:schemeClr val="bg1"/>
                </a:solidFill>
              </a:rPr>
              <a:t>        </a:t>
            </a:r>
            <a:r>
              <a:rPr lang="zh-CN" altLang="en-US">
                <a:solidFill>
                  <a:schemeClr val="bg1"/>
                </a:solidFill>
              </a:rPr>
              <a:t>任一振动状态，经过</a:t>
            </a:r>
            <a:r>
              <a:rPr lang="el-GR" altLang="zh-CN">
                <a:solidFill>
                  <a:srgbClr val="FFFF00"/>
                </a:solidFill>
                <a:cs typeface="Times New Roman" panose="02020603050405020304" pitchFamily="18" charset="0"/>
              </a:rPr>
              <a:t>Δ</a:t>
            </a:r>
            <a:r>
              <a:rPr lang="en-US" altLang="zh-CN" i="1">
                <a:solidFill>
                  <a:srgbClr val="FFFF00"/>
                </a:solidFill>
                <a:cs typeface="Times New Roman" panose="02020603050405020304" pitchFamily="18" charset="0"/>
              </a:rPr>
              <a:t>t </a:t>
            </a:r>
            <a:r>
              <a:rPr lang="zh-CN" altLang="en-US">
                <a:solidFill>
                  <a:schemeClr val="bg1"/>
                </a:solidFill>
              </a:rPr>
              <a:t>时间，就会向前传播</a:t>
            </a:r>
            <a:r>
              <a:rPr lang="el-GR" altLang="zh-CN">
                <a:solidFill>
                  <a:srgbClr val="FFFF00"/>
                </a:solidFill>
                <a:cs typeface="Times New Roman" panose="02020603050405020304" pitchFamily="18" charset="0"/>
              </a:rPr>
              <a:t>Δ</a:t>
            </a:r>
            <a:r>
              <a:rPr lang="en-US" altLang="zh-CN" i="1">
                <a:solidFill>
                  <a:srgbClr val="FFFF00"/>
                </a:solidFill>
                <a:cs typeface="Times New Roman" panose="02020603050405020304" pitchFamily="18" charset="0"/>
              </a:rPr>
              <a:t>x </a:t>
            </a:r>
            <a:r>
              <a:rPr lang="zh-CN" altLang="en-US">
                <a:solidFill>
                  <a:schemeClr val="bg1"/>
                </a:solidFill>
              </a:rPr>
              <a:t>的距离</a:t>
            </a:r>
          </a:p>
        </p:txBody>
      </p:sp>
      <p:grpSp>
        <p:nvGrpSpPr>
          <p:cNvPr id="8" name="组合 42">
            <a:extLst>
              <a:ext uri="{FF2B5EF4-FFF2-40B4-BE49-F238E27FC236}">
                <a16:creationId xmlns:a16="http://schemas.microsoft.com/office/drawing/2014/main" id="{081C2C0E-44CC-41D8-AF8C-B565EC1CC047}"/>
              </a:ext>
            </a:extLst>
          </p:cNvPr>
          <p:cNvGrpSpPr>
            <a:grpSpLocks/>
          </p:cNvGrpSpPr>
          <p:nvPr/>
        </p:nvGrpSpPr>
        <p:grpSpPr bwMode="auto">
          <a:xfrm>
            <a:off x="1643063" y="4257675"/>
            <a:ext cx="3989387" cy="2266950"/>
            <a:chOff x="1643063" y="4257675"/>
            <a:chExt cx="3989388" cy="2266950"/>
          </a:xfrm>
        </p:grpSpPr>
        <p:grpSp>
          <p:nvGrpSpPr>
            <p:cNvPr id="8211" name="Group 4">
              <a:extLst>
                <a:ext uri="{FF2B5EF4-FFF2-40B4-BE49-F238E27FC236}">
                  <a16:creationId xmlns:a16="http://schemas.microsoft.com/office/drawing/2014/main" id="{76C388BB-E511-4596-8A6A-16A54F1FBF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9452" y="4257675"/>
              <a:ext cx="3682999" cy="2266950"/>
              <a:chOff x="2004" y="2809"/>
              <a:chExt cx="2320" cy="1428"/>
            </a:xfrm>
          </p:grpSpPr>
          <p:sp>
            <p:nvSpPr>
              <p:cNvPr id="8215" name="Line 5">
                <a:extLst>
                  <a:ext uri="{FF2B5EF4-FFF2-40B4-BE49-F238E27FC236}">
                    <a16:creationId xmlns:a16="http://schemas.microsoft.com/office/drawing/2014/main" id="{40511B26-89BD-4F8A-B75B-63C88DFFDB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4" y="3555"/>
                <a:ext cx="227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6" name="Line 6">
                <a:extLst>
                  <a:ext uri="{FF2B5EF4-FFF2-40B4-BE49-F238E27FC236}">
                    <a16:creationId xmlns:a16="http://schemas.microsoft.com/office/drawing/2014/main" id="{1A235C53-3F06-4FB5-A562-373FEB9BB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59" y="2913"/>
                <a:ext cx="0" cy="1324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7" name="Text Box 7">
                <a:extLst>
                  <a:ext uri="{FF2B5EF4-FFF2-40B4-BE49-F238E27FC236}">
                    <a16:creationId xmlns:a16="http://schemas.microsoft.com/office/drawing/2014/main" id="{BE9982DF-0E84-4274-BFCC-C682782011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46" y="3307"/>
                <a:ext cx="6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bg1"/>
                    </a:solidFill>
                  </a:rPr>
                  <a:t>O</a:t>
                </a:r>
              </a:p>
            </p:txBody>
          </p:sp>
          <p:sp>
            <p:nvSpPr>
              <p:cNvPr id="8218" name="Text Box 8" descr="绿色大理石">
                <a:extLst>
                  <a:ext uri="{FF2B5EF4-FFF2-40B4-BE49-F238E27FC236}">
                    <a16:creationId xmlns:a16="http://schemas.microsoft.com/office/drawing/2014/main" id="{E3030710-D38B-4F19-8B53-B16BABBA90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8" y="2809"/>
                <a:ext cx="21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bg1"/>
                    </a:solidFill>
                  </a:rPr>
                  <a:t>y</a:t>
                </a:r>
              </a:p>
            </p:txBody>
          </p:sp>
          <p:sp>
            <p:nvSpPr>
              <p:cNvPr id="8219" name="Text Box 9">
                <a:extLst>
                  <a:ext uri="{FF2B5EF4-FFF2-40B4-BE49-F238E27FC236}">
                    <a16:creationId xmlns:a16="http://schemas.microsoft.com/office/drawing/2014/main" id="{D2188490-2774-4B73-860A-80F6870718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6" y="3494"/>
                <a:ext cx="21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bg1"/>
                    </a:solidFill>
                  </a:rPr>
                  <a:t>x</a:t>
                </a:r>
              </a:p>
            </p:txBody>
          </p:sp>
        </p:grpSp>
        <p:grpSp>
          <p:nvGrpSpPr>
            <p:cNvPr id="8212" name="Group 35">
              <a:extLst>
                <a:ext uri="{FF2B5EF4-FFF2-40B4-BE49-F238E27FC236}">
                  <a16:creationId xmlns:a16="http://schemas.microsoft.com/office/drawing/2014/main" id="{790A558A-DD8F-41F1-BE49-C48C687731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3063" y="5743575"/>
              <a:ext cx="522287" cy="400050"/>
              <a:chOff x="4116" y="875"/>
              <a:chExt cx="329" cy="252"/>
            </a:xfrm>
          </p:grpSpPr>
          <p:sp>
            <p:nvSpPr>
              <p:cNvPr id="8213" name="Line 36">
                <a:extLst>
                  <a:ext uri="{FF2B5EF4-FFF2-40B4-BE49-F238E27FC236}">
                    <a16:creationId xmlns:a16="http://schemas.microsoft.com/office/drawing/2014/main" id="{8D855EF4-D3FA-4C54-9F6E-3966FF09DA0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16" y="1126"/>
                <a:ext cx="329" cy="1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8214" name="Object 38">
                <a:extLst>
                  <a:ext uri="{FF2B5EF4-FFF2-40B4-BE49-F238E27FC236}">
                    <a16:creationId xmlns:a16="http://schemas.microsoft.com/office/drawing/2014/main" id="{2056581D-E3FB-4603-A479-26E606E5DDE0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165" y="875"/>
              <a:ext cx="163" cy="2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569" name="公式" r:id="rId19" imgW="104896" imgH="123689" progId="Equation.3">
                      <p:embed/>
                    </p:oleObj>
                  </mc:Choice>
                  <mc:Fallback>
                    <p:oleObj name="公式" r:id="rId19" imgW="104896" imgH="123689" progId="Equation.3">
                      <p:embed/>
                      <p:pic>
                        <p:nvPicPr>
                          <p:cNvPr id="8214" name="Object 38">
                            <a:extLst>
                              <a:ext uri="{FF2B5EF4-FFF2-40B4-BE49-F238E27FC236}">
                                <a16:creationId xmlns:a16="http://schemas.microsoft.com/office/drawing/2014/main" id="{2056581D-E3FB-4603-A479-26E606E5DDE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65" y="875"/>
                            <a:ext cx="163" cy="2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8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8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3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9" grpId="0"/>
      <p:bldP spid="20493" grpId="0"/>
      <p:bldP spid="138261" grpId="0"/>
      <p:bldP spid="36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>
            <a:extLst>
              <a:ext uri="{FF2B5EF4-FFF2-40B4-BE49-F238E27FC236}">
                <a16:creationId xmlns:a16="http://schemas.microsoft.com/office/drawing/2014/main" id="{46E28D6C-5B48-46D5-8716-6D1C46D5EC1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831D7FE-D4FC-4F57-89B3-264121FB90AD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24E096B6-E7EA-48F0-9311-2912DC355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188913"/>
            <a:ext cx="82772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lnSpc>
                <a:spcPct val="130000"/>
              </a:lnSpc>
              <a:defRPr/>
            </a:pP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波动图像与振动图像的比较</a:t>
            </a:r>
            <a:r>
              <a:rPr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</a:p>
        </p:txBody>
      </p:sp>
      <p:graphicFrame>
        <p:nvGraphicFramePr>
          <p:cNvPr id="13" name="Group 84">
            <a:extLst>
              <a:ext uri="{FF2B5EF4-FFF2-40B4-BE49-F238E27FC236}">
                <a16:creationId xmlns:a16="http://schemas.microsoft.com/office/drawing/2014/main" id="{4120F16A-B6E3-4A8B-A04D-635BC446515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39738" y="836613"/>
          <a:ext cx="8280400" cy="5719764"/>
        </p:xfrm>
        <a:graphic>
          <a:graphicData uri="http://schemas.openxmlformats.org/drawingml/2006/table">
            <a:tbl>
              <a:tblPr/>
              <a:tblGrid>
                <a:gridCol w="1395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itchFamily="2" charset="-122"/>
                          <a:ea typeface="宋体" pitchFamily="2" charset="-122"/>
                        </a:rPr>
                        <a:t>振动图像</a:t>
                      </a: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itchFamily="2" charset="-122"/>
                          <a:ea typeface="宋体" pitchFamily="2" charset="-122"/>
                        </a:rPr>
                        <a:t>波动图像</a:t>
                      </a: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itchFamily="2" charset="-122"/>
                          <a:ea typeface="宋体" pitchFamily="2" charset="-122"/>
                        </a:rPr>
                        <a:t>图像</a:t>
                      </a: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itchFamily="2" charset="-122"/>
                          <a:ea typeface="宋体" pitchFamily="2" charset="-122"/>
                        </a:rPr>
                        <a:t>横坐标</a:t>
                      </a: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itchFamily="2" charset="-122"/>
                          <a:ea typeface="宋体" pitchFamily="2" charset="-122"/>
                        </a:rPr>
                        <a:t>研究对象</a:t>
                      </a: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itchFamily="2" charset="-122"/>
                          <a:ea typeface="宋体" pitchFamily="2" charset="-122"/>
                        </a:rPr>
                        <a:t>物理意义</a:t>
                      </a: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itchFamily="2" charset="-122"/>
                          <a:ea typeface="宋体" pitchFamily="2" charset="-122"/>
                        </a:rPr>
                        <a:t>提供的物理信息</a:t>
                      </a: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7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itchFamily="2" charset="-122"/>
                          <a:ea typeface="宋体" pitchFamily="2" charset="-122"/>
                        </a:rPr>
                        <a:t>图像变化</a:t>
                      </a: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itchFamily="2" charset="-122"/>
                          <a:ea typeface="宋体" pitchFamily="2" charset="-122"/>
                        </a:rPr>
                        <a:t>形象比喻</a:t>
                      </a: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" name="Group 41">
            <a:extLst>
              <a:ext uri="{FF2B5EF4-FFF2-40B4-BE49-F238E27FC236}">
                <a16:creationId xmlns:a16="http://schemas.microsoft.com/office/drawing/2014/main" id="{1D62167B-12BE-4913-B59E-EB789CFE4382}"/>
              </a:ext>
            </a:extLst>
          </p:cNvPr>
          <p:cNvGrpSpPr>
            <a:grpSpLocks/>
          </p:cNvGrpSpPr>
          <p:nvPr/>
        </p:nvGrpSpPr>
        <p:grpSpPr bwMode="auto">
          <a:xfrm>
            <a:off x="5802313" y="1341438"/>
            <a:ext cx="2514600" cy="815975"/>
            <a:chOff x="3424" y="898"/>
            <a:chExt cx="1584" cy="514"/>
          </a:xfrm>
        </p:grpSpPr>
        <p:sp>
          <p:nvSpPr>
            <p:cNvPr id="9289" name="Rectangle 42">
              <a:extLst>
                <a:ext uri="{FF2B5EF4-FFF2-40B4-BE49-F238E27FC236}">
                  <a16:creationId xmlns:a16="http://schemas.microsoft.com/office/drawing/2014/main" id="{0354D331-EADF-45FB-BF63-BBEB861D0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8" y="916"/>
              <a:ext cx="1451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90" name="Line 43">
              <a:extLst>
                <a:ext uri="{FF2B5EF4-FFF2-40B4-BE49-F238E27FC236}">
                  <a16:creationId xmlns:a16="http://schemas.microsoft.com/office/drawing/2014/main" id="{68948B0F-2772-492C-97C0-4074F7B9A1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" y="1039"/>
              <a:ext cx="326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1" name="Line 44">
              <a:extLst>
                <a:ext uri="{FF2B5EF4-FFF2-40B4-BE49-F238E27FC236}">
                  <a16:creationId xmlns:a16="http://schemas.microsoft.com/office/drawing/2014/main" id="{1166F95F-51AD-4EFA-982E-138FAB3B7A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2" y="903"/>
              <a:ext cx="0" cy="41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2" name="Line 45">
              <a:extLst>
                <a:ext uri="{FF2B5EF4-FFF2-40B4-BE49-F238E27FC236}">
                  <a16:creationId xmlns:a16="http://schemas.microsoft.com/office/drawing/2014/main" id="{57829EFF-36FE-4D4C-B74C-F9C1013AD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4" y="1200"/>
              <a:ext cx="112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3" name="Rectangle 46">
              <a:extLst>
                <a:ext uri="{FF2B5EF4-FFF2-40B4-BE49-F238E27FC236}">
                  <a16:creationId xmlns:a16="http://schemas.microsoft.com/office/drawing/2014/main" id="{F6CBCC28-945F-4DDE-A0CD-5EB1C040A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6" y="1127"/>
              <a:ext cx="19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>
                  <a:solidFill>
                    <a:schemeClr val="bg1"/>
                  </a:solidFill>
                  <a:ea typeface="楷体_GB2312" pitchFamily="49" charset="-122"/>
                </a:rPr>
                <a:t>0</a:t>
              </a:r>
            </a:p>
          </p:txBody>
        </p:sp>
        <p:sp>
          <p:nvSpPr>
            <p:cNvPr id="9294" name="Freeform 47">
              <a:extLst>
                <a:ext uri="{FF2B5EF4-FFF2-40B4-BE49-F238E27FC236}">
                  <a16:creationId xmlns:a16="http://schemas.microsoft.com/office/drawing/2014/main" id="{8D18D30B-EB37-4320-94E8-2AF9D2BA1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1058"/>
              <a:ext cx="833" cy="305"/>
            </a:xfrm>
            <a:custGeom>
              <a:avLst/>
              <a:gdLst>
                <a:gd name="T0" fmla="*/ 0 w 7233"/>
                <a:gd name="T1" fmla="*/ 0 h 4000"/>
                <a:gd name="T2" fmla="*/ 0 w 7233"/>
                <a:gd name="T3" fmla="*/ 0 h 4000"/>
                <a:gd name="T4" fmla="*/ 0 w 7233"/>
                <a:gd name="T5" fmla="*/ 0 h 4000"/>
                <a:gd name="T6" fmla="*/ 0 w 7233"/>
                <a:gd name="T7" fmla="*/ 0 h 4000"/>
                <a:gd name="T8" fmla="*/ 0 w 7233"/>
                <a:gd name="T9" fmla="*/ 0 h 4000"/>
                <a:gd name="T10" fmla="*/ 0 w 7233"/>
                <a:gd name="T11" fmla="*/ 0 h 4000"/>
                <a:gd name="T12" fmla="*/ 0 w 7233"/>
                <a:gd name="T13" fmla="*/ 0 h 4000"/>
                <a:gd name="T14" fmla="*/ 0 w 7233"/>
                <a:gd name="T15" fmla="*/ 0 h 4000"/>
                <a:gd name="T16" fmla="*/ 0 w 7233"/>
                <a:gd name="T17" fmla="*/ 0 h 4000"/>
                <a:gd name="T18" fmla="*/ 0 w 7233"/>
                <a:gd name="T19" fmla="*/ 0 h 4000"/>
                <a:gd name="T20" fmla="*/ 0 w 7233"/>
                <a:gd name="T21" fmla="*/ 0 h 4000"/>
                <a:gd name="T22" fmla="*/ 0 w 7233"/>
                <a:gd name="T23" fmla="*/ 0 h 4000"/>
                <a:gd name="T24" fmla="*/ 0 w 7233"/>
                <a:gd name="T25" fmla="*/ 0 h 4000"/>
                <a:gd name="T26" fmla="*/ 0 w 7233"/>
                <a:gd name="T27" fmla="*/ 0 h 4000"/>
                <a:gd name="T28" fmla="*/ 0 w 7233"/>
                <a:gd name="T29" fmla="*/ 0 h 4000"/>
                <a:gd name="T30" fmla="*/ 0 w 7233"/>
                <a:gd name="T31" fmla="*/ 0 h 4000"/>
                <a:gd name="T32" fmla="*/ 0 w 7233"/>
                <a:gd name="T33" fmla="*/ 0 h 4000"/>
                <a:gd name="T34" fmla="*/ 0 w 7233"/>
                <a:gd name="T35" fmla="*/ 0 h 4000"/>
                <a:gd name="T36" fmla="*/ 0 w 7233"/>
                <a:gd name="T37" fmla="*/ 0 h 4000"/>
                <a:gd name="T38" fmla="*/ 0 w 7233"/>
                <a:gd name="T39" fmla="*/ 0 h 4000"/>
                <a:gd name="T40" fmla="*/ 0 w 7233"/>
                <a:gd name="T41" fmla="*/ 0 h 4000"/>
                <a:gd name="T42" fmla="*/ 0 w 7233"/>
                <a:gd name="T43" fmla="*/ 0 h 4000"/>
                <a:gd name="T44" fmla="*/ 0 w 7233"/>
                <a:gd name="T45" fmla="*/ 0 h 4000"/>
                <a:gd name="T46" fmla="*/ 0 w 7233"/>
                <a:gd name="T47" fmla="*/ 0 h 4000"/>
                <a:gd name="T48" fmla="*/ 0 w 7233"/>
                <a:gd name="T49" fmla="*/ 0 h 4000"/>
                <a:gd name="T50" fmla="*/ 0 w 7233"/>
                <a:gd name="T51" fmla="*/ 0 h 4000"/>
                <a:gd name="T52" fmla="*/ 0 w 7233"/>
                <a:gd name="T53" fmla="*/ 0 h 4000"/>
                <a:gd name="T54" fmla="*/ 0 w 7233"/>
                <a:gd name="T55" fmla="*/ 0 h 4000"/>
                <a:gd name="T56" fmla="*/ 0 w 7233"/>
                <a:gd name="T57" fmla="*/ 0 h 4000"/>
                <a:gd name="T58" fmla="*/ 0 w 7233"/>
                <a:gd name="T59" fmla="*/ 0 h 4000"/>
                <a:gd name="T60" fmla="*/ 0 w 7233"/>
                <a:gd name="T61" fmla="*/ 0 h 4000"/>
                <a:gd name="T62" fmla="*/ 0 w 7233"/>
                <a:gd name="T63" fmla="*/ 0 h 4000"/>
                <a:gd name="T64" fmla="*/ 0 w 7233"/>
                <a:gd name="T65" fmla="*/ 0 h 4000"/>
                <a:gd name="T66" fmla="*/ 0 w 7233"/>
                <a:gd name="T67" fmla="*/ 0 h 4000"/>
                <a:gd name="T68" fmla="*/ 0 w 7233"/>
                <a:gd name="T69" fmla="*/ 0 h 4000"/>
                <a:gd name="T70" fmla="*/ 0 w 7233"/>
                <a:gd name="T71" fmla="*/ 0 h 4000"/>
                <a:gd name="T72" fmla="*/ 0 w 7233"/>
                <a:gd name="T73" fmla="*/ 0 h 4000"/>
                <a:gd name="T74" fmla="*/ 0 w 7233"/>
                <a:gd name="T75" fmla="*/ 0 h 400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7233"/>
                <a:gd name="T115" fmla="*/ 0 h 4000"/>
                <a:gd name="T116" fmla="*/ 7233 w 7233"/>
                <a:gd name="T117" fmla="*/ 4000 h 400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7233" h="4000">
                  <a:moveTo>
                    <a:pt x="0" y="2000"/>
                  </a:moveTo>
                  <a:cubicBezTo>
                    <a:pt x="66" y="1883"/>
                    <a:pt x="133" y="1767"/>
                    <a:pt x="200" y="1653"/>
                  </a:cubicBezTo>
                  <a:cubicBezTo>
                    <a:pt x="267" y="1539"/>
                    <a:pt x="333" y="1425"/>
                    <a:pt x="400" y="1316"/>
                  </a:cubicBezTo>
                  <a:cubicBezTo>
                    <a:pt x="467" y="1207"/>
                    <a:pt x="533" y="1100"/>
                    <a:pt x="600" y="1000"/>
                  </a:cubicBezTo>
                  <a:cubicBezTo>
                    <a:pt x="667" y="900"/>
                    <a:pt x="733" y="803"/>
                    <a:pt x="800" y="714"/>
                  </a:cubicBezTo>
                  <a:cubicBezTo>
                    <a:pt x="867" y="625"/>
                    <a:pt x="933" y="542"/>
                    <a:pt x="1000" y="468"/>
                  </a:cubicBezTo>
                  <a:cubicBezTo>
                    <a:pt x="1067" y="394"/>
                    <a:pt x="1133" y="326"/>
                    <a:pt x="1200" y="268"/>
                  </a:cubicBezTo>
                  <a:cubicBezTo>
                    <a:pt x="1267" y="210"/>
                    <a:pt x="1333" y="161"/>
                    <a:pt x="1400" y="121"/>
                  </a:cubicBezTo>
                  <a:cubicBezTo>
                    <a:pt x="1467" y="81"/>
                    <a:pt x="1533" y="50"/>
                    <a:pt x="1600" y="30"/>
                  </a:cubicBezTo>
                  <a:cubicBezTo>
                    <a:pt x="1667" y="10"/>
                    <a:pt x="1733" y="0"/>
                    <a:pt x="1800" y="0"/>
                  </a:cubicBezTo>
                  <a:cubicBezTo>
                    <a:pt x="1867" y="0"/>
                    <a:pt x="1933" y="10"/>
                    <a:pt x="2000" y="30"/>
                  </a:cubicBezTo>
                  <a:cubicBezTo>
                    <a:pt x="2067" y="50"/>
                    <a:pt x="2133" y="81"/>
                    <a:pt x="2200" y="121"/>
                  </a:cubicBezTo>
                  <a:cubicBezTo>
                    <a:pt x="2267" y="161"/>
                    <a:pt x="2333" y="210"/>
                    <a:pt x="2400" y="268"/>
                  </a:cubicBezTo>
                  <a:cubicBezTo>
                    <a:pt x="2467" y="326"/>
                    <a:pt x="2533" y="394"/>
                    <a:pt x="2600" y="468"/>
                  </a:cubicBezTo>
                  <a:cubicBezTo>
                    <a:pt x="2667" y="542"/>
                    <a:pt x="2733" y="625"/>
                    <a:pt x="2800" y="714"/>
                  </a:cubicBezTo>
                  <a:cubicBezTo>
                    <a:pt x="2867" y="803"/>
                    <a:pt x="2933" y="900"/>
                    <a:pt x="3000" y="1000"/>
                  </a:cubicBezTo>
                  <a:cubicBezTo>
                    <a:pt x="3067" y="1100"/>
                    <a:pt x="3133" y="1207"/>
                    <a:pt x="3200" y="1316"/>
                  </a:cubicBezTo>
                  <a:cubicBezTo>
                    <a:pt x="3267" y="1425"/>
                    <a:pt x="3333" y="1539"/>
                    <a:pt x="3400" y="1653"/>
                  </a:cubicBezTo>
                  <a:cubicBezTo>
                    <a:pt x="3467" y="1767"/>
                    <a:pt x="3533" y="1884"/>
                    <a:pt x="3600" y="2000"/>
                  </a:cubicBezTo>
                  <a:cubicBezTo>
                    <a:pt x="3667" y="2116"/>
                    <a:pt x="3733" y="2233"/>
                    <a:pt x="3800" y="2347"/>
                  </a:cubicBezTo>
                  <a:cubicBezTo>
                    <a:pt x="3867" y="2461"/>
                    <a:pt x="3933" y="2575"/>
                    <a:pt x="4000" y="2684"/>
                  </a:cubicBezTo>
                  <a:cubicBezTo>
                    <a:pt x="4067" y="2793"/>
                    <a:pt x="4133" y="2900"/>
                    <a:pt x="4200" y="3000"/>
                  </a:cubicBezTo>
                  <a:cubicBezTo>
                    <a:pt x="4267" y="3100"/>
                    <a:pt x="4333" y="3196"/>
                    <a:pt x="4400" y="3285"/>
                  </a:cubicBezTo>
                  <a:cubicBezTo>
                    <a:pt x="4467" y="3374"/>
                    <a:pt x="4533" y="3458"/>
                    <a:pt x="4600" y="3532"/>
                  </a:cubicBezTo>
                  <a:cubicBezTo>
                    <a:pt x="4667" y="3606"/>
                    <a:pt x="4733" y="3674"/>
                    <a:pt x="4800" y="3732"/>
                  </a:cubicBezTo>
                  <a:cubicBezTo>
                    <a:pt x="4867" y="3790"/>
                    <a:pt x="4933" y="3839"/>
                    <a:pt x="5000" y="3879"/>
                  </a:cubicBezTo>
                  <a:cubicBezTo>
                    <a:pt x="5067" y="3919"/>
                    <a:pt x="5133" y="3950"/>
                    <a:pt x="5200" y="3970"/>
                  </a:cubicBezTo>
                  <a:cubicBezTo>
                    <a:pt x="5267" y="3990"/>
                    <a:pt x="5333" y="4000"/>
                    <a:pt x="5400" y="4000"/>
                  </a:cubicBezTo>
                  <a:cubicBezTo>
                    <a:pt x="5467" y="4000"/>
                    <a:pt x="5533" y="3990"/>
                    <a:pt x="5600" y="3970"/>
                  </a:cubicBezTo>
                  <a:cubicBezTo>
                    <a:pt x="5667" y="3950"/>
                    <a:pt x="5733" y="3919"/>
                    <a:pt x="5800" y="3879"/>
                  </a:cubicBezTo>
                  <a:cubicBezTo>
                    <a:pt x="5867" y="3839"/>
                    <a:pt x="5933" y="3790"/>
                    <a:pt x="6000" y="3732"/>
                  </a:cubicBezTo>
                  <a:cubicBezTo>
                    <a:pt x="6067" y="3674"/>
                    <a:pt x="6133" y="3606"/>
                    <a:pt x="6200" y="3532"/>
                  </a:cubicBezTo>
                  <a:cubicBezTo>
                    <a:pt x="6267" y="3458"/>
                    <a:pt x="6333" y="3375"/>
                    <a:pt x="6400" y="3286"/>
                  </a:cubicBezTo>
                  <a:cubicBezTo>
                    <a:pt x="6467" y="3197"/>
                    <a:pt x="6533" y="3100"/>
                    <a:pt x="6600" y="3000"/>
                  </a:cubicBezTo>
                  <a:cubicBezTo>
                    <a:pt x="6667" y="2900"/>
                    <a:pt x="6733" y="2793"/>
                    <a:pt x="6800" y="2684"/>
                  </a:cubicBezTo>
                  <a:cubicBezTo>
                    <a:pt x="6867" y="2575"/>
                    <a:pt x="6933" y="2462"/>
                    <a:pt x="7000" y="2348"/>
                  </a:cubicBezTo>
                  <a:cubicBezTo>
                    <a:pt x="7067" y="2234"/>
                    <a:pt x="7167" y="2058"/>
                    <a:pt x="7200" y="2000"/>
                  </a:cubicBezTo>
                  <a:cubicBezTo>
                    <a:pt x="7233" y="1942"/>
                    <a:pt x="7216" y="1971"/>
                    <a:pt x="7200" y="200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5" name="Rectangle 48">
              <a:extLst>
                <a:ext uri="{FF2B5EF4-FFF2-40B4-BE49-F238E27FC236}">
                  <a16:creationId xmlns:a16="http://schemas.microsoft.com/office/drawing/2014/main" id="{84B567A2-958D-45CE-B486-97672F700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8" y="1120"/>
              <a:ext cx="2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 i="1">
                  <a:solidFill>
                    <a:schemeClr val="bg1"/>
                  </a:solidFill>
                  <a:ea typeface="楷体_GB2312" pitchFamily="49" charset="-122"/>
                </a:rPr>
                <a:t>x</a:t>
              </a:r>
            </a:p>
          </p:txBody>
        </p:sp>
        <p:sp>
          <p:nvSpPr>
            <p:cNvPr id="9296" name="Rectangle 49">
              <a:extLst>
                <a:ext uri="{FF2B5EF4-FFF2-40B4-BE49-F238E27FC236}">
                  <a16:creationId xmlns:a16="http://schemas.microsoft.com/office/drawing/2014/main" id="{AAA4D6C7-46F3-498C-AF9D-8F2276D5C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898"/>
              <a:ext cx="18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 i="1">
                  <a:solidFill>
                    <a:schemeClr val="bg1"/>
                  </a:solidFill>
                  <a:ea typeface="楷体_GB2312" pitchFamily="49" charset="-122"/>
                </a:rPr>
                <a:t>y</a:t>
              </a:r>
            </a:p>
          </p:txBody>
        </p:sp>
        <p:sp>
          <p:nvSpPr>
            <p:cNvPr id="9297" name="Rectangle 50">
              <a:extLst>
                <a:ext uri="{FF2B5EF4-FFF2-40B4-BE49-F238E27FC236}">
                  <a16:creationId xmlns:a16="http://schemas.microsoft.com/office/drawing/2014/main" id="{03CD0B64-DA5F-4E8E-B77D-C30FFCF1D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" y="927"/>
              <a:ext cx="19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 i="1">
                  <a:solidFill>
                    <a:schemeClr val="bg1"/>
                  </a:solidFill>
                  <a:ea typeface="楷体_GB2312" pitchFamily="49" charset="-122"/>
                </a:rPr>
                <a:t>u</a:t>
              </a:r>
            </a:p>
          </p:txBody>
        </p:sp>
      </p:grpSp>
      <p:grpSp>
        <p:nvGrpSpPr>
          <p:cNvPr id="3" name="Group 51">
            <a:extLst>
              <a:ext uri="{FF2B5EF4-FFF2-40B4-BE49-F238E27FC236}">
                <a16:creationId xmlns:a16="http://schemas.microsoft.com/office/drawing/2014/main" id="{8BCBCF1F-41FA-4702-BE97-B13320DCF1FD}"/>
              </a:ext>
            </a:extLst>
          </p:cNvPr>
          <p:cNvGrpSpPr>
            <a:grpSpLocks/>
          </p:cNvGrpSpPr>
          <p:nvPr/>
        </p:nvGrpSpPr>
        <p:grpSpPr bwMode="auto">
          <a:xfrm>
            <a:off x="2265363" y="1312863"/>
            <a:ext cx="2522537" cy="796925"/>
            <a:chOff x="1332" y="898"/>
            <a:chExt cx="1589" cy="502"/>
          </a:xfrm>
        </p:grpSpPr>
        <p:sp>
          <p:nvSpPr>
            <p:cNvPr id="9282" name="Rectangle 52">
              <a:extLst>
                <a:ext uri="{FF2B5EF4-FFF2-40B4-BE49-F238E27FC236}">
                  <a16:creationId xmlns:a16="http://schemas.microsoft.com/office/drawing/2014/main" id="{06A46D24-23FC-4CDB-B616-101354489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" y="919"/>
              <a:ext cx="1407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19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  <p:sp>
          <p:nvSpPr>
            <p:cNvPr id="9283" name="Line 53">
              <a:extLst>
                <a:ext uri="{FF2B5EF4-FFF2-40B4-BE49-F238E27FC236}">
                  <a16:creationId xmlns:a16="http://schemas.microsoft.com/office/drawing/2014/main" id="{7EE47C2C-A2CD-4FC8-87B7-A5631E414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5" y="904"/>
              <a:ext cx="0" cy="431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4" name="Line 54">
              <a:extLst>
                <a:ext uri="{FF2B5EF4-FFF2-40B4-BE49-F238E27FC236}">
                  <a16:creationId xmlns:a16="http://schemas.microsoft.com/office/drawing/2014/main" id="{03EAA260-EA68-4DA0-A857-0EA8AE23F7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7" y="1215"/>
              <a:ext cx="1124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5" name="Rectangle 55">
              <a:extLst>
                <a:ext uri="{FF2B5EF4-FFF2-40B4-BE49-F238E27FC236}">
                  <a16:creationId xmlns:a16="http://schemas.microsoft.com/office/drawing/2014/main" id="{A2F4C6E9-F574-4801-A0A3-45A5BAB8D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9" y="1137"/>
              <a:ext cx="19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>
                  <a:solidFill>
                    <a:schemeClr val="bg1"/>
                  </a:solidFill>
                  <a:ea typeface="楷体_GB2312" pitchFamily="49" charset="-122"/>
                </a:rPr>
                <a:t>0</a:t>
              </a:r>
            </a:p>
          </p:txBody>
        </p:sp>
        <p:sp>
          <p:nvSpPr>
            <p:cNvPr id="9286" name="Freeform 56">
              <a:extLst>
                <a:ext uri="{FF2B5EF4-FFF2-40B4-BE49-F238E27FC236}">
                  <a16:creationId xmlns:a16="http://schemas.microsoft.com/office/drawing/2014/main" id="{6249DEFD-5B42-41BB-9DF1-CDBCD2E7E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066"/>
              <a:ext cx="833" cy="319"/>
            </a:xfrm>
            <a:custGeom>
              <a:avLst/>
              <a:gdLst>
                <a:gd name="T0" fmla="*/ 0 w 7233"/>
                <a:gd name="T1" fmla="*/ 0 h 4000"/>
                <a:gd name="T2" fmla="*/ 0 w 7233"/>
                <a:gd name="T3" fmla="*/ 0 h 4000"/>
                <a:gd name="T4" fmla="*/ 0 w 7233"/>
                <a:gd name="T5" fmla="*/ 0 h 4000"/>
                <a:gd name="T6" fmla="*/ 0 w 7233"/>
                <a:gd name="T7" fmla="*/ 0 h 4000"/>
                <a:gd name="T8" fmla="*/ 0 w 7233"/>
                <a:gd name="T9" fmla="*/ 0 h 4000"/>
                <a:gd name="T10" fmla="*/ 0 w 7233"/>
                <a:gd name="T11" fmla="*/ 0 h 4000"/>
                <a:gd name="T12" fmla="*/ 0 w 7233"/>
                <a:gd name="T13" fmla="*/ 0 h 4000"/>
                <a:gd name="T14" fmla="*/ 0 w 7233"/>
                <a:gd name="T15" fmla="*/ 0 h 4000"/>
                <a:gd name="T16" fmla="*/ 0 w 7233"/>
                <a:gd name="T17" fmla="*/ 0 h 4000"/>
                <a:gd name="T18" fmla="*/ 0 w 7233"/>
                <a:gd name="T19" fmla="*/ 0 h 4000"/>
                <a:gd name="T20" fmla="*/ 0 w 7233"/>
                <a:gd name="T21" fmla="*/ 0 h 4000"/>
                <a:gd name="T22" fmla="*/ 0 w 7233"/>
                <a:gd name="T23" fmla="*/ 0 h 4000"/>
                <a:gd name="T24" fmla="*/ 0 w 7233"/>
                <a:gd name="T25" fmla="*/ 0 h 4000"/>
                <a:gd name="T26" fmla="*/ 0 w 7233"/>
                <a:gd name="T27" fmla="*/ 0 h 4000"/>
                <a:gd name="T28" fmla="*/ 0 w 7233"/>
                <a:gd name="T29" fmla="*/ 0 h 4000"/>
                <a:gd name="T30" fmla="*/ 0 w 7233"/>
                <a:gd name="T31" fmla="*/ 0 h 4000"/>
                <a:gd name="T32" fmla="*/ 0 w 7233"/>
                <a:gd name="T33" fmla="*/ 0 h 4000"/>
                <a:gd name="T34" fmla="*/ 0 w 7233"/>
                <a:gd name="T35" fmla="*/ 0 h 4000"/>
                <a:gd name="T36" fmla="*/ 0 w 7233"/>
                <a:gd name="T37" fmla="*/ 0 h 4000"/>
                <a:gd name="T38" fmla="*/ 0 w 7233"/>
                <a:gd name="T39" fmla="*/ 0 h 4000"/>
                <a:gd name="T40" fmla="*/ 0 w 7233"/>
                <a:gd name="T41" fmla="*/ 0 h 4000"/>
                <a:gd name="T42" fmla="*/ 0 w 7233"/>
                <a:gd name="T43" fmla="*/ 0 h 4000"/>
                <a:gd name="T44" fmla="*/ 0 w 7233"/>
                <a:gd name="T45" fmla="*/ 0 h 4000"/>
                <a:gd name="T46" fmla="*/ 0 w 7233"/>
                <a:gd name="T47" fmla="*/ 0 h 4000"/>
                <a:gd name="T48" fmla="*/ 0 w 7233"/>
                <a:gd name="T49" fmla="*/ 0 h 4000"/>
                <a:gd name="T50" fmla="*/ 0 w 7233"/>
                <a:gd name="T51" fmla="*/ 0 h 4000"/>
                <a:gd name="T52" fmla="*/ 0 w 7233"/>
                <a:gd name="T53" fmla="*/ 0 h 4000"/>
                <a:gd name="T54" fmla="*/ 0 w 7233"/>
                <a:gd name="T55" fmla="*/ 0 h 4000"/>
                <a:gd name="T56" fmla="*/ 0 w 7233"/>
                <a:gd name="T57" fmla="*/ 0 h 4000"/>
                <a:gd name="T58" fmla="*/ 0 w 7233"/>
                <a:gd name="T59" fmla="*/ 0 h 4000"/>
                <a:gd name="T60" fmla="*/ 0 w 7233"/>
                <a:gd name="T61" fmla="*/ 0 h 4000"/>
                <a:gd name="T62" fmla="*/ 0 w 7233"/>
                <a:gd name="T63" fmla="*/ 0 h 4000"/>
                <a:gd name="T64" fmla="*/ 0 w 7233"/>
                <a:gd name="T65" fmla="*/ 0 h 4000"/>
                <a:gd name="T66" fmla="*/ 0 w 7233"/>
                <a:gd name="T67" fmla="*/ 0 h 4000"/>
                <a:gd name="T68" fmla="*/ 0 w 7233"/>
                <a:gd name="T69" fmla="*/ 0 h 4000"/>
                <a:gd name="T70" fmla="*/ 0 w 7233"/>
                <a:gd name="T71" fmla="*/ 0 h 4000"/>
                <a:gd name="T72" fmla="*/ 0 w 7233"/>
                <a:gd name="T73" fmla="*/ 0 h 4000"/>
                <a:gd name="T74" fmla="*/ 0 w 7233"/>
                <a:gd name="T75" fmla="*/ 0 h 400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7233"/>
                <a:gd name="T115" fmla="*/ 0 h 4000"/>
                <a:gd name="T116" fmla="*/ 7233 w 7233"/>
                <a:gd name="T117" fmla="*/ 4000 h 400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7233" h="4000">
                  <a:moveTo>
                    <a:pt x="0" y="2000"/>
                  </a:moveTo>
                  <a:cubicBezTo>
                    <a:pt x="66" y="1883"/>
                    <a:pt x="133" y="1767"/>
                    <a:pt x="200" y="1653"/>
                  </a:cubicBezTo>
                  <a:cubicBezTo>
                    <a:pt x="267" y="1539"/>
                    <a:pt x="333" y="1425"/>
                    <a:pt x="400" y="1316"/>
                  </a:cubicBezTo>
                  <a:cubicBezTo>
                    <a:pt x="467" y="1207"/>
                    <a:pt x="533" y="1100"/>
                    <a:pt x="600" y="1000"/>
                  </a:cubicBezTo>
                  <a:cubicBezTo>
                    <a:pt x="667" y="900"/>
                    <a:pt x="733" y="803"/>
                    <a:pt x="800" y="714"/>
                  </a:cubicBezTo>
                  <a:cubicBezTo>
                    <a:pt x="867" y="625"/>
                    <a:pt x="933" y="542"/>
                    <a:pt x="1000" y="468"/>
                  </a:cubicBezTo>
                  <a:cubicBezTo>
                    <a:pt x="1067" y="394"/>
                    <a:pt x="1133" y="326"/>
                    <a:pt x="1200" y="268"/>
                  </a:cubicBezTo>
                  <a:cubicBezTo>
                    <a:pt x="1267" y="210"/>
                    <a:pt x="1333" y="161"/>
                    <a:pt x="1400" y="121"/>
                  </a:cubicBezTo>
                  <a:cubicBezTo>
                    <a:pt x="1467" y="81"/>
                    <a:pt x="1533" y="50"/>
                    <a:pt x="1600" y="30"/>
                  </a:cubicBezTo>
                  <a:cubicBezTo>
                    <a:pt x="1667" y="10"/>
                    <a:pt x="1733" y="0"/>
                    <a:pt x="1800" y="0"/>
                  </a:cubicBezTo>
                  <a:cubicBezTo>
                    <a:pt x="1867" y="0"/>
                    <a:pt x="1933" y="10"/>
                    <a:pt x="2000" y="30"/>
                  </a:cubicBezTo>
                  <a:cubicBezTo>
                    <a:pt x="2067" y="50"/>
                    <a:pt x="2133" y="81"/>
                    <a:pt x="2200" y="121"/>
                  </a:cubicBezTo>
                  <a:cubicBezTo>
                    <a:pt x="2267" y="161"/>
                    <a:pt x="2333" y="210"/>
                    <a:pt x="2400" y="268"/>
                  </a:cubicBezTo>
                  <a:cubicBezTo>
                    <a:pt x="2467" y="326"/>
                    <a:pt x="2533" y="394"/>
                    <a:pt x="2600" y="468"/>
                  </a:cubicBezTo>
                  <a:cubicBezTo>
                    <a:pt x="2667" y="542"/>
                    <a:pt x="2733" y="625"/>
                    <a:pt x="2800" y="714"/>
                  </a:cubicBezTo>
                  <a:cubicBezTo>
                    <a:pt x="2867" y="803"/>
                    <a:pt x="2933" y="900"/>
                    <a:pt x="3000" y="1000"/>
                  </a:cubicBezTo>
                  <a:cubicBezTo>
                    <a:pt x="3067" y="1100"/>
                    <a:pt x="3133" y="1207"/>
                    <a:pt x="3200" y="1316"/>
                  </a:cubicBezTo>
                  <a:cubicBezTo>
                    <a:pt x="3267" y="1425"/>
                    <a:pt x="3333" y="1539"/>
                    <a:pt x="3400" y="1653"/>
                  </a:cubicBezTo>
                  <a:cubicBezTo>
                    <a:pt x="3467" y="1767"/>
                    <a:pt x="3533" y="1884"/>
                    <a:pt x="3600" y="2000"/>
                  </a:cubicBezTo>
                  <a:cubicBezTo>
                    <a:pt x="3667" y="2116"/>
                    <a:pt x="3733" y="2233"/>
                    <a:pt x="3800" y="2347"/>
                  </a:cubicBezTo>
                  <a:cubicBezTo>
                    <a:pt x="3867" y="2461"/>
                    <a:pt x="3933" y="2575"/>
                    <a:pt x="4000" y="2684"/>
                  </a:cubicBezTo>
                  <a:cubicBezTo>
                    <a:pt x="4067" y="2793"/>
                    <a:pt x="4133" y="2900"/>
                    <a:pt x="4200" y="3000"/>
                  </a:cubicBezTo>
                  <a:cubicBezTo>
                    <a:pt x="4267" y="3100"/>
                    <a:pt x="4333" y="3196"/>
                    <a:pt x="4400" y="3285"/>
                  </a:cubicBezTo>
                  <a:cubicBezTo>
                    <a:pt x="4467" y="3374"/>
                    <a:pt x="4533" y="3458"/>
                    <a:pt x="4600" y="3532"/>
                  </a:cubicBezTo>
                  <a:cubicBezTo>
                    <a:pt x="4667" y="3606"/>
                    <a:pt x="4733" y="3674"/>
                    <a:pt x="4800" y="3732"/>
                  </a:cubicBezTo>
                  <a:cubicBezTo>
                    <a:pt x="4867" y="3790"/>
                    <a:pt x="4933" y="3839"/>
                    <a:pt x="5000" y="3879"/>
                  </a:cubicBezTo>
                  <a:cubicBezTo>
                    <a:pt x="5067" y="3919"/>
                    <a:pt x="5133" y="3950"/>
                    <a:pt x="5200" y="3970"/>
                  </a:cubicBezTo>
                  <a:cubicBezTo>
                    <a:pt x="5267" y="3990"/>
                    <a:pt x="5333" y="4000"/>
                    <a:pt x="5400" y="4000"/>
                  </a:cubicBezTo>
                  <a:cubicBezTo>
                    <a:pt x="5467" y="4000"/>
                    <a:pt x="5533" y="3990"/>
                    <a:pt x="5600" y="3970"/>
                  </a:cubicBezTo>
                  <a:cubicBezTo>
                    <a:pt x="5667" y="3950"/>
                    <a:pt x="5733" y="3919"/>
                    <a:pt x="5800" y="3879"/>
                  </a:cubicBezTo>
                  <a:cubicBezTo>
                    <a:pt x="5867" y="3839"/>
                    <a:pt x="5933" y="3790"/>
                    <a:pt x="6000" y="3732"/>
                  </a:cubicBezTo>
                  <a:cubicBezTo>
                    <a:pt x="6067" y="3674"/>
                    <a:pt x="6133" y="3606"/>
                    <a:pt x="6200" y="3532"/>
                  </a:cubicBezTo>
                  <a:cubicBezTo>
                    <a:pt x="6267" y="3458"/>
                    <a:pt x="6333" y="3375"/>
                    <a:pt x="6400" y="3286"/>
                  </a:cubicBezTo>
                  <a:cubicBezTo>
                    <a:pt x="6467" y="3197"/>
                    <a:pt x="6533" y="3100"/>
                    <a:pt x="6600" y="3000"/>
                  </a:cubicBezTo>
                  <a:cubicBezTo>
                    <a:pt x="6667" y="2900"/>
                    <a:pt x="6733" y="2793"/>
                    <a:pt x="6800" y="2684"/>
                  </a:cubicBezTo>
                  <a:cubicBezTo>
                    <a:pt x="6867" y="2575"/>
                    <a:pt x="6933" y="2462"/>
                    <a:pt x="7000" y="2348"/>
                  </a:cubicBezTo>
                  <a:cubicBezTo>
                    <a:pt x="7067" y="2234"/>
                    <a:pt x="7167" y="2058"/>
                    <a:pt x="7200" y="2000"/>
                  </a:cubicBezTo>
                  <a:cubicBezTo>
                    <a:pt x="7233" y="1942"/>
                    <a:pt x="7216" y="1971"/>
                    <a:pt x="7200" y="200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7" name="Rectangle 57">
              <a:extLst>
                <a:ext uri="{FF2B5EF4-FFF2-40B4-BE49-F238E27FC236}">
                  <a16:creationId xmlns:a16="http://schemas.microsoft.com/office/drawing/2014/main" id="{016C7860-B170-47DE-935E-B89D48158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1" y="1131"/>
              <a:ext cx="2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 i="1">
                  <a:solidFill>
                    <a:schemeClr val="bg1"/>
                  </a:solidFill>
                  <a:ea typeface="楷体_GB2312" pitchFamily="49" charset="-122"/>
                </a:rPr>
                <a:t>t</a:t>
              </a:r>
            </a:p>
          </p:txBody>
        </p:sp>
        <p:sp>
          <p:nvSpPr>
            <p:cNvPr id="9288" name="Rectangle 58">
              <a:extLst>
                <a:ext uri="{FF2B5EF4-FFF2-40B4-BE49-F238E27FC236}">
                  <a16:creationId xmlns:a16="http://schemas.microsoft.com/office/drawing/2014/main" id="{4D2E527F-81C4-491A-BBE5-4D56FD0BB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898"/>
              <a:ext cx="18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 i="1">
                  <a:solidFill>
                    <a:schemeClr val="bg1"/>
                  </a:solidFill>
                  <a:ea typeface="楷体_GB2312" pitchFamily="49" charset="-122"/>
                </a:rPr>
                <a:t>y</a:t>
              </a:r>
            </a:p>
          </p:txBody>
        </p:sp>
      </p:grpSp>
      <p:grpSp>
        <p:nvGrpSpPr>
          <p:cNvPr id="4" name="Group 59">
            <a:extLst>
              <a:ext uri="{FF2B5EF4-FFF2-40B4-BE49-F238E27FC236}">
                <a16:creationId xmlns:a16="http://schemas.microsoft.com/office/drawing/2014/main" id="{7C966182-2F20-4866-8C95-A84BFF992A69}"/>
              </a:ext>
            </a:extLst>
          </p:cNvPr>
          <p:cNvGrpSpPr>
            <a:grpSpLocks/>
          </p:cNvGrpSpPr>
          <p:nvPr/>
        </p:nvGrpSpPr>
        <p:grpSpPr bwMode="auto">
          <a:xfrm>
            <a:off x="5802313" y="5094288"/>
            <a:ext cx="2586037" cy="806450"/>
            <a:chOff x="3379" y="3257"/>
            <a:chExt cx="1629" cy="508"/>
          </a:xfrm>
        </p:grpSpPr>
        <p:sp>
          <p:nvSpPr>
            <p:cNvPr id="9271" name="Rectangle 60">
              <a:extLst>
                <a:ext uri="{FF2B5EF4-FFF2-40B4-BE49-F238E27FC236}">
                  <a16:creationId xmlns:a16="http://schemas.microsoft.com/office/drawing/2014/main" id="{26C2E82A-4B2B-4253-B69B-8AB7C402B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5" y="3285"/>
              <a:ext cx="140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72" name="Line 61">
              <a:extLst>
                <a:ext uri="{FF2B5EF4-FFF2-40B4-BE49-F238E27FC236}">
                  <a16:creationId xmlns:a16="http://schemas.microsoft.com/office/drawing/2014/main" id="{953E94CB-4A6C-45A6-8731-78B6AC904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" y="3405"/>
              <a:ext cx="32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3" name="Line 62">
              <a:extLst>
                <a:ext uri="{FF2B5EF4-FFF2-40B4-BE49-F238E27FC236}">
                  <a16:creationId xmlns:a16="http://schemas.microsoft.com/office/drawing/2014/main" id="{2E03397C-6EBD-4B64-9694-92A54545D8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2" y="3263"/>
              <a:ext cx="0" cy="43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4" name="Line 63">
              <a:extLst>
                <a:ext uri="{FF2B5EF4-FFF2-40B4-BE49-F238E27FC236}">
                  <a16:creationId xmlns:a16="http://schemas.microsoft.com/office/drawing/2014/main" id="{F0BA6E3D-ECE9-48FA-AA41-68B8856ED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4" y="3574"/>
              <a:ext cx="112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5" name="Rectangle 64">
              <a:extLst>
                <a:ext uri="{FF2B5EF4-FFF2-40B4-BE49-F238E27FC236}">
                  <a16:creationId xmlns:a16="http://schemas.microsoft.com/office/drawing/2014/main" id="{F0986984-F43A-4B48-B7F1-8BFA2D3EC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6" y="3498"/>
              <a:ext cx="19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>
                  <a:solidFill>
                    <a:schemeClr val="bg1"/>
                  </a:solidFill>
                  <a:ea typeface="楷体_GB2312" pitchFamily="49" charset="-122"/>
                </a:rPr>
                <a:t>0</a:t>
              </a:r>
            </a:p>
          </p:txBody>
        </p:sp>
        <p:sp>
          <p:nvSpPr>
            <p:cNvPr id="9276" name="Freeform 65">
              <a:extLst>
                <a:ext uri="{FF2B5EF4-FFF2-40B4-BE49-F238E27FC236}">
                  <a16:creationId xmlns:a16="http://schemas.microsoft.com/office/drawing/2014/main" id="{E6EA5570-ECC0-4E86-8F72-69CEA76E9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3425"/>
              <a:ext cx="833" cy="319"/>
            </a:xfrm>
            <a:custGeom>
              <a:avLst/>
              <a:gdLst>
                <a:gd name="T0" fmla="*/ 0 w 7233"/>
                <a:gd name="T1" fmla="*/ 0 h 4000"/>
                <a:gd name="T2" fmla="*/ 0 w 7233"/>
                <a:gd name="T3" fmla="*/ 0 h 4000"/>
                <a:gd name="T4" fmla="*/ 0 w 7233"/>
                <a:gd name="T5" fmla="*/ 0 h 4000"/>
                <a:gd name="T6" fmla="*/ 0 w 7233"/>
                <a:gd name="T7" fmla="*/ 0 h 4000"/>
                <a:gd name="T8" fmla="*/ 0 w 7233"/>
                <a:gd name="T9" fmla="*/ 0 h 4000"/>
                <a:gd name="T10" fmla="*/ 0 w 7233"/>
                <a:gd name="T11" fmla="*/ 0 h 4000"/>
                <a:gd name="T12" fmla="*/ 0 w 7233"/>
                <a:gd name="T13" fmla="*/ 0 h 4000"/>
                <a:gd name="T14" fmla="*/ 0 w 7233"/>
                <a:gd name="T15" fmla="*/ 0 h 4000"/>
                <a:gd name="T16" fmla="*/ 0 w 7233"/>
                <a:gd name="T17" fmla="*/ 0 h 4000"/>
                <a:gd name="T18" fmla="*/ 0 w 7233"/>
                <a:gd name="T19" fmla="*/ 0 h 4000"/>
                <a:gd name="T20" fmla="*/ 0 w 7233"/>
                <a:gd name="T21" fmla="*/ 0 h 4000"/>
                <a:gd name="T22" fmla="*/ 0 w 7233"/>
                <a:gd name="T23" fmla="*/ 0 h 4000"/>
                <a:gd name="T24" fmla="*/ 0 w 7233"/>
                <a:gd name="T25" fmla="*/ 0 h 4000"/>
                <a:gd name="T26" fmla="*/ 0 w 7233"/>
                <a:gd name="T27" fmla="*/ 0 h 4000"/>
                <a:gd name="T28" fmla="*/ 0 w 7233"/>
                <a:gd name="T29" fmla="*/ 0 h 4000"/>
                <a:gd name="T30" fmla="*/ 0 w 7233"/>
                <a:gd name="T31" fmla="*/ 0 h 4000"/>
                <a:gd name="T32" fmla="*/ 0 w 7233"/>
                <a:gd name="T33" fmla="*/ 0 h 4000"/>
                <a:gd name="T34" fmla="*/ 0 w 7233"/>
                <a:gd name="T35" fmla="*/ 0 h 4000"/>
                <a:gd name="T36" fmla="*/ 0 w 7233"/>
                <a:gd name="T37" fmla="*/ 0 h 4000"/>
                <a:gd name="T38" fmla="*/ 0 w 7233"/>
                <a:gd name="T39" fmla="*/ 0 h 4000"/>
                <a:gd name="T40" fmla="*/ 0 w 7233"/>
                <a:gd name="T41" fmla="*/ 0 h 4000"/>
                <a:gd name="T42" fmla="*/ 0 w 7233"/>
                <a:gd name="T43" fmla="*/ 0 h 4000"/>
                <a:gd name="T44" fmla="*/ 0 w 7233"/>
                <a:gd name="T45" fmla="*/ 0 h 4000"/>
                <a:gd name="T46" fmla="*/ 0 w 7233"/>
                <a:gd name="T47" fmla="*/ 0 h 4000"/>
                <a:gd name="T48" fmla="*/ 0 w 7233"/>
                <a:gd name="T49" fmla="*/ 0 h 4000"/>
                <a:gd name="T50" fmla="*/ 0 w 7233"/>
                <a:gd name="T51" fmla="*/ 0 h 4000"/>
                <a:gd name="T52" fmla="*/ 0 w 7233"/>
                <a:gd name="T53" fmla="*/ 0 h 4000"/>
                <a:gd name="T54" fmla="*/ 0 w 7233"/>
                <a:gd name="T55" fmla="*/ 0 h 4000"/>
                <a:gd name="T56" fmla="*/ 0 w 7233"/>
                <a:gd name="T57" fmla="*/ 0 h 4000"/>
                <a:gd name="T58" fmla="*/ 0 w 7233"/>
                <a:gd name="T59" fmla="*/ 0 h 4000"/>
                <a:gd name="T60" fmla="*/ 0 w 7233"/>
                <a:gd name="T61" fmla="*/ 0 h 4000"/>
                <a:gd name="T62" fmla="*/ 0 w 7233"/>
                <a:gd name="T63" fmla="*/ 0 h 4000"/>
                <a:gd name="T64" fmla="*/ 0 w 7233"/>
                <a:gd name="T65" fmla="*/ 0 h 4000"/>
                <a:gd name="T66" fmla="*/ 0 w 7233"/>
                <a:gd name="T67" fmla="*/ 0 h 4000"/>
                <a:gd name="T68" fmla="*/ 0 w 7233"/>
                <a:gd name="T69" fmla="*/ 0 h 4000"/>
                <a:gd name="T70" fmla="*/ 0 w 7233"/>
                <a:gd name="T71" fmla="*/ 0 h 4000"/>
                <a:gd name="T72" fmla="*/ 0 w 7233"/>
                <a:gd name="T73" fmla="*/ 0 h 4000"/>
                <a:gd name="T74" fmla="*/ 0 w 7233"/>
                <a:gd name="T75" fmla="*/ 0 h 400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7233"/>
                <a:gd name="T115" fmla="*/ 0 h 4000"/>
                <a:gd name="T116" fmla="*/ 7233 w 7233"/>
                <a:gd name="T117" fmla="*/ 4000 h 400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7233" h="4000">
                  <a:moveTo>
                    <a:pt x="0" y="2000"/>
                  </a:moveTo>
                  <a:cubicBezTo>
                    <a:pt x="66" y="1883"/>
                    <a:pt x="133" y="1767"/>
                    <a:pt x="200" y="1653"/>
                  </a:cubicBezTo>
                  <a:cubicBezTo>
                    <a:pt x="267" y="1539"/>
                    <a:pt x="333" y="1425"/>
                    <a:pt x="400" y="1316"/>
                  </a:cubicBezTo>
                  <a:cubicBezTo>
                    <a:pt x="467" y="1207"/>
                    <a:pt x="533" y="1100"/>
                    <a:pt x="600" y="1000"/>
                  </a:cubicBezTo>
                  <a:cubicBezTo>
                    <a:pt x="667" y="900"/>
                    <a:pt x="733" y="803"/>
                    <a:pt x="800" y="714"/>
                  </a:cubicBezTo>
                  <a:cubicBezTo>
                    <a:pt x="867" y="625"/>
                    <a:pt x="933" y="542"/>
                    <a:pt x="1000" y="468"/>
                  </a:cubicBezTo>
                  <a:cubicBezTo>
                    <a:pt x="1067" y="394"/>
                    <a:pt x="1133" y="326"/>
                    <a:pt x="1200" y="268"/>
                  </a:cubicBezTo>
                  <a:cubicBezTo>
                    <a:pt x="1267" y="210"/>
                    <a:pt x="1333" y="161"/>
                    <a:pt x="1400" y="121"/>
                  </a:cubicBezTo>
                  <a:cubicBezTo>
                    <a:pt x="1467" y="81"/>
                    <a:pt x="1533" y="50"/>
                    <a:pt x="1600" y="30"/>
                  </a:cubicBezTo>
                  <a:cubicBezTo>
                    <a:pt x="1667" y="10"/>
                    <a:pt x="1733" y="0"/>
                    <a:pt x="1800" y="0"/>
                  </a:cubicBezTo>
                  <a:cubicBezTo>
                    <a:pt x="1867" y="0"/>
                    <a:pt x="1933" y="10"/>
                    <a:pt x="2000" y="30"/>
                  </a:cubicBezTo>
                  <a:cubicBezTo>
                    <a:pt x="2067" y="50"/>
                    <a:pt x="2133" y="81"/>
                    <a:pt x="2200" y="121"/>
                  </a:cubicBezTo>
                  <a:cubicBezTo>
                    <a:pt x="2267" y="161"/>
                    <a:pt x="2333" y="210"/>
                    <a:pt x="2400" y="268"/>
                  </a:cubicBezTo>
                  <a:cubicBezTo>
                    <a:pt x="2467" y="326"/>
                    <a:pt x="2533" y="394"/>
                    <a:pt x="2600" y="468"/>
                  </a:cubicBezTo>
                  <a:cubicBezTo>
                    <a:pt x="2667" y="542"/>
                    <a:pt x="2733" y="625"/>
                    <a:pt x="2800" y="714"/>
                  </a:cubicBezTo>
                  <a:cubicBezTo>
                    <a:pt x="2867" y="803"/>
                    <a:pt x="2933" y="900"/>
                    <a:pt x="3000" y="1000"/>
                  </a:cubicBezTo>
                  <a:cubicBezTo>
                    <a:pt x="3067" y="1100"/>
                    <a:pt x="3133" y="1207"/>
                    <a:pt x="3200" y="1316"/>
                  </a:cubicBezTo>
                  <a:cubicBezTo>
                    <a:pt x="3267" y="1425"/>
                    <a:pt x="3333" y="1539"/>
                    <a:pt x="3400" y="1653"/>
                  </a:cubicBezTo>
                  <a:cubicBezTo>
                    <a:pt x="3467" y="1767"/>
                    <a:pt x="3533" y="1884"/>
                    <a:pt x="3600" y="2000"/>
                  </a:cubicBezTo>
                  <a:cubicBezTo>
                    <a:pt x="3667" y="2116"/>
                    <a:pt x="3733" y="2233"/>
                    <a:pt x="3800" y="2347"/>
                  </a:cubicBezTo>
                  <a:cubicBezTo>
                    <a:pt x="3867" y="2461"/>
                    <a:pt x="3933" y="2575"/>
                    <a:pt x="4000" y="2684"/>
                  </a:cubicBezTo>
                  <a:cubicBezTo>
                    <a:pt x="4067" y="2793"/>
                    <a:pt x="4133" y="2900"/>
                    <a:pt x="4200" y="3000"/>
                  </a:cubicBezTo>
                  <a:cubicBezTo>
                    <a:pt x="4267" y="3100"/>
                    <a:pt x="4333" y="3196"/>
                    <a:pt x="4400" y="3285"/>
                  </a:cubicBezTo>
                  <a:cubicBezTo>
                    <a:pt x="4467" y="3374"/>
                    <a:pt x="4533" y="3458"/>
                    <a:pt x="4600" y="3532"/>
                  </a:cubicBezTo>
                  <a:cubicBezTo>
                    <a:pt x="4667" y="3606"/>
                    <a:pt x="4733" y="3674"/>
                    <a:pt x="4800" y="3732"/>
                  </a:cubicBezTo>
                  <a:cubicBezTo>
                    <a:pt x="4867" y="3790"/>
                    <a:pt x="4933" y="3839"/>
                    <a:pt x="5000" y="3879"/>
                  </a:cubicBezTo>
                  <a:cubicBezTo>
                    <a:pt x="5067" y="3919"/>
                    <a:pt x="5133" y="3950"/>
                    <a:pt x="5200" y="3970"/>
                  </a:cubicBezTo>
                  <a:cubicBezTo>
                    <a:pt x="5267" y="3990"/>
                    <a:pt x="5333" y="4000"/>
                    <a:pt x="5400" y="4000"/>
                  </a:cubicBezTo>
                  <a:cubicBezTo>
                    <a:pt x="5467" y="4000"/>
                    <a:pt x="5533" y="3990"/>
                    <a:pt x="5600" y="3970"/>
                  </a:cubicBezTo>
                  <a:cubicBezTo>
                    <a:pt x="5667" y="3950"/>
                    <a:pt x="5733" y="3919"/>
                    <a:pt x="5800" y="3879"/>
                  </a:cubicBezTo>
                  <a:cubicBezTo>
                    <a:pt x="5867" y="3839"/>
                    <a:pt x="5933" y="3790"/>
                    <a:pt x="6000" y="3732"/>
                  </a:cubicBezTo>
                  <a:cubicBezTo>
                    <a:pt x="6067" y="3674"/>
                    <a:pt x="6133" y="3606"/>
                    <a:pt x="6200" y="3532"/>
                  </a:cubicBezTo>
                  <a:cubicBezTo>
                    <a:pt x="6267" y="3458"/>
                    <a:pt x="6333" y="3375"/>
                    <a:pt x="6400" y="3286"/>
                  </a:cubicBezTo>
                  <a:cubicBezTo>
                    <a:pt x="6467" y="3197"/>
                    <a:pt x="6533" y="3100"/>
                    <a:pt x="6600" y="3000"/>
                  </a:cubicBezTo>
                  <a:cubicBezTo>
                    <a:pt x="6667" y="2900"/>
                    <a:pt x="6733" y="2793"/>
                    <a:pt x="6800" y="2684"/>
                  </a:cubicBezTo>
                  <a:cubicBezTo>
                    <a:pt x="6867" y="2575"/>
                    <a:pt x="6933" y="2462"/>
                    <a:pt x="7000" y="2348"/>
                  </a:cubicBezTo>
                  <a:cubicBezTo>
                    <a:pt x="7067" y="2234"/>
                    <a:pt x="7167" y="2058"/>
                    <a:pt x="7200" y="2000"/>
                  </a:cubicBezTo>
                  <a:cubicBezTo>
                    <a:pt x="7233" y="1942"/>
                    <a:pt x="7216" y="1971"/>
                    <a:pt x="7200" y="200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7" name="Rectangle 66">
              <a:extLst>
                <a:ext uri="{FF2B5EF4-FFF2-40B4-BE49-F238E27FC236}">
                  <a16:creationId xmlns:a16="http://schemas.microsoft.com/office/drawing/2014/main" id="{388902E7-A8C0-40A3-A2E7-F79A4E817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8" y="3489"/>
              <a:ext cx="2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 i="1">
                  <a:solidFill>
                    <a:schemeClr val="bg1"/>
                  </a:solidFill>
                  <a:ea typeface="楷体_GB2312" pitchFamily="49" charset="-122"/>
                </a:rPr>
                <a:t>x</a:t>
              </a:r>
            </a:p>
          </p:txBody>
        </p:sp>
        <p:sp>
          <p:nvSpPr>
            <p:cNvPr id="9278" name="Rectangle 67">
              <a:extLst>
                <a:ext uri="{FF2B5EF4-FFF2-40B4-BE49-F238E27FC236}">
                  <a16:creationId xmlns:a16="http://schemas.microsoft.com/office/drawing/2014/main" id="{ED98F510-AB08-4F42-92A7-396B8F668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3257"/>
              <a:ext cx="18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 i="1">
                  <a:solidFill>
                    <a:schemeClr val="bg1"/>
                  </a:solidFill>
                  <a:ea typeface="楷体_GB2312" pitchFamily="49" charset="-122"/>
                </a:rPr>
                <a:t>y</a:t>
              </a:r>
            </a:p>
          </p:txBody>
        </p:sp>
        <p:sp>
          <p:nvSpPr>
            <p:cNvPr id="9279" name="Rectangle 68">
              <a:extLst>
                <a:ext uri="{FF2B5EF4-FFF2-40B4-BE49-F238E27FC236}">
                  <a16:creationId xmlns:a16="http://schemas.microsoft.com/office/drawing/2014/main" id="{FB5F0ED8-3000-4962-BFEB-0706D1764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" y="3286"/>
              <a:ext cx="19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 i="1">
                  <a:solidFill>
                    <a:schemeClr val="bg1"/>
                  </a:solidFill>
                  <a:ea typeface="楷体_GB2312" pitchFamily="49" charset="-122"/>
                </a:rPr>
                <a:t>u</a:t>
              </a:r>
            </a:p>
          </p:txBody>
        </p:sp>
        <p:sp>
          <p:nvSpPr>
            <p:cNvPr id="9280" name="Freeform 69">
              <a:extLst>
                <a:ext uri="{FF2B5EF4-FFF2-40B4-BE49-F238E27FC236}">
                  <a16:creationId xmlns:a16="http://schemas.microsoft.com/office/drawing/2014/main" id="{1BB4A8F9-8CDF-4522-A88C-105FB5DE4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3425"/>
              <a:ext cx="833" cy="319"/>
            </a:xfrm>
            <a:custGeom>
              <a:avLst/>
              <a:gdLst>
                <a:gd name="T0" fmla="*/ 0 w 7233"/>
                <a:gd name="T1" fmla="*/ 0 h 4000"/>
                <a:gd name="T2" fmla="*/ 0 w 7233"/>
                <a:gd name="T3" fmla="*/ 0 h 4000"/>
                <a:gd name="T4" fmla="*/ 0 w 7233"/>
                <a:gd name="T5" fmla="*/ 0 h 4000"/>
                <a:gd name="T6" fmla="*/ 0 w 7233"/>
                <a:gd name="T7" fmla="*/ 0 h 4000"/>
                <a:gd name="T8" fmla="*/ 0 w 7233"/>
                <a:gd name="T9" fmla="*/ 0 h 4000"/>
                <a:gd name="T10" fmla="*/ 0 w 7233"/>
                <a:gd name="T11" fmla="*/ 0 h 4000"/>
                <a:gd name="T12" fmla="*/ 0 w 7233"/>
                <a:gd name="T13" fmla="*/ 0 h 4000"/>
                <a:gd name="T14" fmla="*/ 0 w 7233"/>
                <a:gd name="T15" fmla="*/ 0 h 4000"/>
                <a:gd name="T16" fmla="*/ 0 w 7233"/>
                <a:gd name="T17" fmla="*/ 0 h 4000"/>
                <a:gd name="T18" fmla="*/ 0 w 7233"/>
                <a:gd name="T19" fmla="*/ 0 h 4000"/>
                <a:gd name="T20" fmla="*/ 0 w 7233"/>
                <a:gd name="T21" fmla="*/ 0 h 4000"/>
                <a:gd name="T22" fmla="*/ 0 w 7233"/>
                <a:gd name="T23" fmla="*/ 0 h 4000"/>
                <a:gd name="T24" fmla="*/ 0 w 7233"/>
                <a:gd name="T25" fmla="*/ 0 h 4000"/>
                <a:gd name="T26" fmla="*/ 0 w 7233"/>
                <a:gd name="T27" fmla="*/ 0 h 4000"/>
                <a:gd name="T28" fmla="*/ 0 w 7233"/>
                <a:gd name="T29" fmla="*/ 0 h 4000"/>
                <a:gd name="T30" fmla="*/ 0 w 7233"/>
                <a:gd name="T31" fmla="*/ 0 h 4000"/>
                <a:gd name="T32" fmla="*/ 0 w 7233"/>
                <a:gd name="T33" fmla="*/ 0 h 4000"/>
                <a:gd name="T34" fmla="*/ 0 w 7233"/>
                <a:gd name="T35" fmla="*/ 0 h 4000"/>
                <a:gd name="T36" fmla="*/ 0 w 7233"/>
                <a:gd name="T37" fmla="*/ 0 h 4000"/>
                <a:gd name="T38" fmla="*/ 0 w 7233"/>
                <a:gd name="T39" fmla="*/ 0 h 4000"/>
                <a:gd name="T40" fmla="*/ 0 w 7233"/>
                <a:gd name="T41" fmla="*/ 0 h 4000"/>
                <a:gd name="T42" fmla="*/ 0 w 7233"/>
                <a:gd name="T43" fmla="*/ 0 h 4000"/>
                <a:gd name="T44" fmla="*/ 0 w 7233"/>
                <a:gd name="T45" fmla="*/ 0 h 4000"/>
                <a:gd name="T46" fmla="*/ 0 w 7233"/>
                <a:gd name="T47" fmla="*/ 0 h 4000"/>
                <a:gd name="T48" fmla="*/ 0 w 7233"/>
                <a:gd name="T49" fmla="*/ 0 h 4000"/>
                <a:gd name="T50" fmla="*/ 0 w 7233"/>
                <a:gd name="T51" fmla="*/ 0 h 4000"/>
                <a:gd name="T52" fmla="*/ 0 w 7233"/>
                <a:gd name="T53" fmla="*/ 0 h 4000"/>
                <a:gd name="T54" fmla="*/ 0 w 7233"/>
                <a:gd name="T55" fmla="*/ 0 h 4000"/>
                <a:gd name="T56" fmla="*/ 0 w 7233"/>
                <a:gd name="T57" fmla="*/ 0 h 4000"/>
                <a:gd name="T58" fmla="*/ 0 w 7233"/>
                <a:gd name="T59" fmla="*/ 0 h 4000"/>
                <a:gd name="T60" fmla="*/ 0 w 7233"/>
                <a:gd name="T61" fmla="*/ 0 h 4000"/>
                <a:gd name="T62" fmla="*/ 0 w 7233"/>
                <a:gd name="T63" fmla="*/ 0 h 4000"/>
                <a:gd name="T64" fmla="*/ 0 w 7233"/>
                <a:gd name="T65" fmla="*/ 0 h 4000"/>
                <a:gd name="T66" fmla="*/ 0 w 7233"/>
                <a:gd name="T67" fmla="*/ 0 h 4000"/>
                <a:gd name="T68" fmla="*/ 0 w 7233"/>
                <a:gd name="T69" fmla="*/ 0 h 4000"/>
                <a:gd name="T70" fmla="*/ 0 w 7233"/>
                <a:gd name="T71" fmla="*/ 0 h 4000"/>
                <a:gd name="T72" fmla="*/ 0 w 7233"/>
                <a:gd name="T73" fmla="*/ 0 h 4000"/>
                <a:gd name="T74" fmla="*/ 0 w 7233"/>
                <a:gd name="T75" fmla="*/ 0 h 400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7233"/>
                <a:gd name="T115" fmla="*/ 0 h 4000"/>
                <a:gd name="T116" fmla="*/ 7233 w 7233"/>
                <a:gd name="T117" fmla="*/ 4000 h 400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7233" h="4000">
                  <a:moveTo>
                    <a:pt x="0" y="2000"/>
                  </a:moveTo>
                  <a:cubicBezTo>
                    <a:pt x="66" y="1883"/>
                    <a:pt x="133" y="1767"/>
                    <a:pt x="200" y="1653"/>
                  </a:cubicBezTo>
                  <a:cubicBezTo>
                    <a:pt x="267" y="1539"/>
                    <a:pt x="333" y="1425"/>
                    <a:pt x="400" y="1316"/>
                  </a:cubicBezTo>
                  <a:cubicBezTo>
                    <a:pt x="467" y="1207"/>
                    <a:pt x="533" y="1100"/>
                    <a:pt x="600" y="1000"/>
                  </a:cubicBezTo>
                  <a:cubicBezTo>
                    <a:pt x="667" y="900"/>
                    <a:pt x="733" y="803"/>
                    <a:pt x="800" y="714"/>
                  </a:cubicBezTo>
                  <a:cubicBezTo>
                    <a:pt x="867" y="625"/>
                    <a:pt x="933" y="542"/>
                    <a:pt x="1000" y="468"/>
                  </a:cubicBezTo>
                  <a:cubicBezTo>
                    <a:pt x="1067" y="394"/>
                    <a:pt x="1133" y="326"/>
                    <a:pt x="1200" y="268"/>
                  </a:cubicBezTo>
                  <a:cubicBezTo>
                    <a:pt x="1267" y="210"/>
                    <a:pt x="1333" y="161"/>
                    <a:pt x="1400" y="121"/>
                  </a:cubicBezTo>
                  <a:cubicBezTo>
                    <a:pt x="1467" y="81"/>
                    <a:pt x="1533" y="50"/>
                    <a:pt x="1600" y="30"/>
                  </a:cubicBezTo>
                  <a:cubicBezTo>
                    <a:pt x="1667" y="10"/>
                    <a:pt x="1733" y="0"/>
                    <a:pt x="1800" y="0"/>
                  </a:cubicBezTo>
                  <a:cubicBezTo>
                    <a:pt x="1867" y="0"/>
                    <a:pt x="1933" y="10"/>
                    <a:pt x="2000" y="30"/>
                  </a:cubicBezTo>
                  <a:cubicBezTo>
                    <a:pt x="2067" y="50"/>
                    <a:pt x="2133" y="81"/>
                    <a:pt x="2200" y="121"/>
                  </a:cubicBezTo>
                  <a:cubicBezTo>
                    <a:pt x="2267" y="161"/>
                    <a:pt x="2333" y="210"/>
                    <a:pt x="2400" y="268"/>
                  </a:cubicBezTo>
                  <a:cubicBezTo>
                    <a:pt x="2467" y="326"/>
                    <a:pt x="2533" y="394"/>
                    <a:pt x="2600" y="468"/>
                  </a:cubicBezTo>
                  <a:cubicBezTo>
                    <a:pt x="2667" y="542"/>
                    <a:pt x="2733" y="625"/>
                    <a:pt x="2800" y="714"/>
                  </a:cubicBezTo>
                  <a:cubicBezTo>
                    <a:pt x="2867" y="803"/>
                    <a:pt x="2933" y="900"/>
                    <a:pt x="3000" y="1000"/>
                  </a:cubicBezTo>
                  <a:cubicBezTo>
                    <a:pt x="3067" y="1100"/>
                    <a:pt x="3133" y="1207"/>
                    <a:pt x="3200" y="1316"/>
                  </a:cubicBezTo>
                  <a:cubicBezTo>
                    <a:pt x="3267" y="1425"/>
                    <a:pt x="3333" y="1539"/>
                    <a:pt x="3400" y="1653"/>
                  </a:cubicBezTo>
                  <a:cubicBezTo>
                    <a:pt x="3467" y="1767"/>
                    <a:pt x="3533" y="1884"/>
                    <a:pt x="3600" y="2000"/>
                  </a:cubicBezTo>
                  <a:cubicBezTo>
                    <a:pt x="3667" y="2116"/>
                    <a:pt x="3733" y="2233"/>
                    <a:pt x="3800" y="2347"/>
                  </a:cubicBezTo>
                  <a:cubicBezTo>
                    <a:pt x="3867" y="2461"/>
                    <a:pt x="3933" y="2575"/>
                    <a:pt x="4000" y="2684"/>
                  </a:cubicBezTo>
                  <a:cubicBezTo>
                    <a:pt x="4067" y="2793"/>
                    <a:pt x="4133" y="2900"/>
                    <a:pt x="4200" y="3000"/>
                  </a:cubicBezTo>
                  <a:cubicBezTo>
                    <a:pt x="4267" y="3100"/>
                    <a:pt x="4333" y="3196"/>
                    <a:pt x="4400" y="3285"/>
                  </a:cubicBezTo>
                  <a:cubicBezTo>
                    <a:pt x="4467" y="3374"/>
                    <a:pt x="4533" y="3458"/>
                    <a:pt x="4600" y="3532"/>
                  </a:cubicBezTo>
                  <a:cubicBezTo>
                    <a:pt x="4667" y="3606"/>
                    <a:pt x="4733" y="3674"/>
                    <a:pt x="4800" y="3732"/>
                  </a:cubicBezTo>
                  <a:cubicBezTo>
                    <a:pt x="4867" y="3790"/>
                    <a:pt x="4933" y="3839"/>
                    <a:pt x="5000" y="3879"/>
                  </a:cubicBezTo>
                  <a:cubicBezTo>
                    <a:pt x="5067" y="3919"/>
                    <a:pt x="5133" y="3950"/>
                    <a:pt x="5200" y="3970"/>
                  </a:cubicBezTo>
                  <a:cubicBezTo>
                    <a:pt x="5267" y="3990"/>
                    <a:pt x="5333" y="4000"/>
                    <a:pt x="5400" y="4000"/>
                  </a:cubicBezTo>
                  <a:cubicBezTo>
                    <a:pt x="5467" y="4000"/>
                    <a:pt x="5533" y="3990"/>
                    <a:pt x="5600" y="3970"/>
                  </a:cubicBezTo>
                  <a:cubicBezTo>
                    <a:pt x="5667" y="3950"/>
                    <a:pt x="5733" y="3919"/>
                    <a:pt x="5800" y="3879"/>
                  </a:cubicBezTo>
                  <a:cubicBezTo>
                    <a:pt x="5867" y="3839"/>
                    <a:pt x="5933" y="3790"/>
                    <a:pt x="6000" y="3732"/>
                  </a:cubicBezTo>
                  <a:cubicBezTo>
                    <a:pt x="6067" y="3674"/>
                    <a:pt x="6133" y="3606"/>
                    <a:pt x="6200" y="3532"/>
                  </a:cubicBezTo>
                  <a:cubicBezTo>
                    <a:pt x="6267" y="3458"/>
                    <a:pt x="6333" y="3375"/>
                    <a:pt x="6400" y="3286"/>
                  </a:cubicBezTo>
                  <a:cubicBezTo>
                    <a:pt x="6467" y="3197"/>
                    <a:pt x="6533" y="3100"/>
                    <a:pt x="6600" y="3000"/>
                  </a:cubicBezTo>
                  <a:cubicBezTo>
                    <a:pt x="6667" y="2900"/>
                    <a:pt x="6733" y="2793"/>
                    <a:pt x="6800" y="2684"/>
                  </a:cubicBezTo>
                  <a:cubicBezTo>
                    <a:pt x="6867" y="2575"/>
                    <a:pt x="6933" y="2462"/>
                    <a:pt x="7000" y="2348"/>
                  </a:cubicBezTo>
                  <a:cubicBezTo>
                    <a:pt x="7067" y="2234"/>
                    <a:pt x="7167" y="2058"/>
                    <a:pt x="7200" y="2000"/>
                  </a:cubicBezTo>
                  <a:cubicBezTo>
                    <a:pt x="7233" y="1942"/>
                    <a:pt x="7216" y="1971"/>
                    <a:pt x="7200" y="200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1" name="Freeform 70">
              <a:extLst>
                <a:ext uri="{FF2B5EF4-FFF2-40B4-BE49-F238E27FC236}">
                  <a16:creationId xmlns:a16="http://schemas.microsoft.com/office/drawing/2014/main" id="{0D825194-7BFF-4DAE-804B-CC2EC4630D34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612" y="3553"/>
              <a:ext cx="230" cy="162"/>
            </a:xfrm>
            <a:custGeom>
              <a:avLst/>
              <a:gdLst>
                <a:gd name="T0" fmla="*/ 0 w 1833"/>
                <a:gd name="T1" fmla="*/ 0 h 2005"/>
                <a:gd name="T2" fmla="*/ 0 w 1833"/>
                <a:gd name="T3" fmla="*/ 0 h 2005"/>
                <a:gd name="T4" fmla="*/ 0 w 1833"/>
                <a:gd name="T5" fmla="*/ 0 h 2005"/>
                <a:gd name="T6" fmla="*/ 0 w 1833"/>
                <a:gd name="T7" fmla="*/ 0 h 2005"/>
                <a:gd name="T8" fmla="*/ 0 w 1833"/>
                <a:gd name="T9" fmla="*/ 0 h 2005"/>
                <a:gd name="T10" fmla="*/ 0 w 1833"/>
                <a:gd name="T11" fmla="*/ 0 h 2005"/>
                <a:gd name="T12" fmla="*/ 0 w 1833"/>
                <a:gd name="T13" fmla="*/ 0 h 2005"/>
                <a:gd name="T14" fmla="*/ 0 w 1833"/>
                <a:gd name="T15" fmla="*/ 0 h 2005"/>
                <a:gd name="T16" fmla="*/ 0 w 1833"/>
                <a:gd name="T17" fmla="*/ 0 h 2005"/>
                <a:gd name="T18" fmla="*/ 0 w 1833"/>
                <a:gd name="T19" fmla="*/ 0 h 2005"/>
                <a:gd name="T20" fmla="*/ 0 w 1833"/>
                <a:gd name="T21" fmla="*/ 0 h 200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33"/>
                <a:gd name="T34" fmla="*/ 0 h 2005"/>
                <a:gd name="T35" fmla="*/ 1833 w 1833"/>
                <a:gd name="T36" fmla="*/ 2005 h 200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33" h="2005">
                  <a:moveTo>
                    <a:pt x="0" y="2005"/>
                  </a:moveTo>
                  <a:cubicBezTo>
                    <a:pt x="66" y="1888"/>
                    <a:pt x="133" y="1772"/>
                    <a:pt x="200" y="1658"/>
                  </a:cubicBezTo>
                  <a:cubicBezTo>
                    <a:pt x="267" y="1544"/>
                    <a:pt x="333" y="1430"/>
                    <a:pt x="400" y="1321"/>
                  </a:cubicBezTo>
                  <a:cubicBezTo>
                    <a:pt x="467" y="1212"/>
                    <a:pt x="533" y="1105"/>
                    <a:pt x="600" y="1005"/>
                  </a:cubicBezTo>
                  <a:cubicBezTo>
                    <a:pt x="667" y="905"/>
                    <a:pt x="733" y="808"/>
                    <a:pt x="800" y="719"/>
                  </a:cubicBezTo>
                  <a:cubicBezTo>
                    <a:pt x="867" y="630"/>
                    <a:pt x="933" y="547"/>
                    <a:pt x="1000" y="473"/>
                  </a:cubicBezTo>
                  <a:cubicBezTo>
                    <a:pt x="1067" y="399"/>
                    <a:pt x="1133" y="331"/>
                    <a:pt x="1200" y="273"/>
                  </a:cubicBezTo>
                  <a:cubicBezTo>
                    <a:pt x="1267" y="215"/>
                    <a:pt x="1333" y="166"/>
                    <a:pt x="1400" y="126"/>
                  </a:cubicBezTo>
                  <a:cubicBezTo>
                    <a:pt x="1467" y="86"/>
                    <a:pt x="1533" y="55"/>
                    <a:pt x="1600" y="35"/>
                  </a:cubicBezTo>
                  <a:cubicBezTo>
                    <a:pt x="1667" y="15"/>
                    <a:pt x="1767" y="10"/>
                    <a:pt x="1800" y="5"/>
                  </a:cubicBezTo>
                  <a:cubicBezTo>
                    <a:pt x="1833" y="0"/>
                    <a:pt x="1816" y="2"/>
                    <a:pt x="1800" y="5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71">
            <a:extLst>
              <a:ext uri="{FF2B5EF4-FFF2-40B4-BE49-F238E27FC236}">
                <a16:creationId xmlns:a16="http://schemas.microsoft.com/office/drawing/2014/main" id="{BACDCCC2-2738-4843-9648-3AC4D95EDA50}"/>
              </a:ext>
            </a:extLst>
          </p:cNvPr>
          <p:cNvGrpSpPr>
            <a:grpSpLocks/>
          </p:cNvGrpSpPr>
          <p:nvPr/>
        </p:nvGrpSpPr>
        <p:grpSpPr bwMode="auto">
          <a:xfrm>
            <a:off x="2276475" y="5084763"/>
            <a:ext cx="2520950" cy="857250"/>
            <a:chOff x="1519" y="3251"/>
            <a:chExt cx="1588" cy="540"/>
          </a:xfrm>
        </p:grpSpPr>
        <p:sp>
          <p:nvSpPr>
            <p:cNvPr id="9262" name="Rectangle 72">
              <a:extLst>
                <a:ext uri="{FF2B5EF4-FFF2-40B4-BE49-F238E27FC236}">
                  <a16:creationId xmlns:a16="http://schemas.microsoft.com/office/drawing/2014/main" id="{309FA624-E6EC-47CC-8566-DB35101F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1" y="3251"/>
              <a:ext cx="1450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63" name="Line 73">
              <a:extLst>
                <a:ext uri="{FF2B5EF4-FFF2-40B4-BE49-F238E27FC236}">
                  <a16:creationId xmlns:a16="http://schemas.microsoft.com/office/drawing/2014/main" id="{1319AA33-B758-48D5-B27E-0CCF471683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31" y="3259"/>
              <a:ext cx="0" cy="43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4" name="Line 74">
              <a:extLst>
                <a:ext uri="{FF2B5EF4-FFF2-40B4-BE49-F238E27FC236}">
                  <a16:creationId xmlns:a16="http://schemas.microsoft.com/office/drawing/2014/main" id="{8ED3AA47-9757-4240-9977-A3753FBC1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3" y="3569"/>
              <a:ext cx="112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5" name="Rectangle 75">
              <a:extLst>
                <a:ext uri="{FF2B5EF4-FFF2-40B4-BE49-F238E27FC236}">
                  <a16:creationId xmlns:a16="http://schemas.microsoft.com/office/drawing/2014/main" id="{42A3F17E-3486-44AF-B566-CC9F8F06E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5" y="3493"/>
              <a:ext cx="19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>
                  <a:solidFill>
                    <a:schemeClr val="bg1"/>
                  </a:solidFill>
                  <a:ea typeface="楷体_GB2312" pitchFamily="49" charset="-122"/>
                </a:rPr>
                <a:t>0</a:t>
              </a:r>
            </a:p>
          </p:txBody>
        </p:sp>
        <p:sp>
          <p:nvSpPr>
            <p:cNvPr id="9266" name="Freeform 76">
              <a:extLst>
                <a:ext uri="{FF2B5EF4-FFF2-40B4-BE49-F238E27FC236}">
                  <a16:creationId xmlns:a16="http://schemas.microsoft.com/office/drawing/2014/main" id="{A7473187-10CD-4ED3-9CFA-BA7216A56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3420"/>
              <a:ext cx="833" cy="319"/>
            </a:xfrm>
            <a:custGeom>
              <a:avLst/>
              <a:gdLst>
                <a:gd name="T0" fmla="*/ 0 w 7233"/>
                <a:gd name="T1" fmla="*/ 0 h 4000"/>
                <a:gd name="T2" fmla="*/ 0 w 7233"/>
                <a:gd name="T3" fmla="*/ 0 h 4000"/>
                <a:gd name="T4" fmla="*/ 0 w 7233"/>
                <a:gd name="T5" fmla="*/ 0 h 4000"/>
                <a:gd name="T6" fmla="*/ 0 w 7233"/>
                <a:gd name="T7" fmla="*/ 0 h 4000"/>
                <a:gd name="T8" fmla="*/ 0 w 7233"/>
                <a:gd name="T9" fmla="*/ 0 h 4000"/>
                <a:gd name="T10" fmla="*/ 0 w 7233"/>
                <a:gd name="T11" fmla="*/ 0 h 4000"/>
                <a:gd name="T12" fmla="*/ 0 w 7233"/>
                <a:gd name="T13" fmla="*/ 0 h 4000"/>
                <a:gd name="T14" fmla="*/ 0 w 7233"/>
                <a:gd name="T15" fmla="*/ 0 h 4000"/>
                <a:gd name="T16" fmla="*/ 0 w 7233"/>
                <a:gd name="T17" fmla="*/ 0 h 4000"/>
                <a:gd name="T18" fmla="*/ 0 w 7233"/>
                <a:gd name="T19" fmla="*/ 0 h 4000"/>
                <a:gd name="T20" fmla="*/ 0 w 7233"/>
                <a:gd name="T21" fmla="*/ 0 h 4000"/>
                <a:gd name="T22" fmla="*/ 0 w 7233"/>
                <a:gd name="T23" fmla="*/ 0 h 4000"/>
                <a:gd name="T24" fmla="*/ 0 w 7233"/>
                <a:gd name="T25" fmla="*/ 0 h 4000"/>
                <a:gd name="T26" fmla="*/ 0 w 7233"/>
                <a:gd name="T27" fmla="*/ 0 h 4000"/>
                <a:gd name="T28" fmla="*/ 0 w 7233"/>
                <a:gd name="T29" fmla="*/ 0 h 4000"/>
                <a:gd name="T30" fmla="*/ 0 w 7233"/>
                <a:gd name="T31" fmla="*/ 0 h 4000"/>
                <a:gd name="T32" fmla="*/ 0 w 7233"/>
                <a:gd name="T33" fmla="*/ 0 h 4000"/>
                <a:gd name="T34" fmla="*/ 0 w 7233"/>
                <a:gd name="T35" fmla="*/ 0 h 4000"/>
                <a:gd name="T36" fmla="*/ 0 w 7233"/>
                <a:gd name="T37" fmla="*/ 0 h 4000"/>
                <a:gd name="T38" fmla="*/ 0 w 7233"/>
                <a:gd name="T39" fmla="*/ 0 h 4000"/>
                <a:gd name="T40" fmla="*/ 0 w 7233"/>
                <a:gd name="T41" fmla="*/ 0 h 4000"/>
                <a:gd name="T42" fmla="*/ 0 w 7233"/>
                <a:gd name="T43" fmla="*/ 0 h 4000"/>
                <a:gd name="T44" fmla="*/ 0 w 7233"/>
                <a:gd name="T45" fmla="*/ 0 h 4000"/>
                <a:gd name="T46" fmla="*/ 0 w 7233"/>
                <a:gd name="T47" fmla="*/ 0 h 4000"/>
                <a:gd name="T48" fmla="*/ 0 w 7233"/>
                <a:gd name="T49" fmla="*/ 0 h 4000"/>
                <a:gd name="T50" fmla="*/ 0 w 7233"/>
                <a:gd name="T51" fmla="*/ 0 h 4000"/>
                <a:gd name="T52" fmla="*/ 0 w 7233"/>
                <a:gd name="T53" fmla="*/ 0 h 4000"/>
                <a:gd name="T54" fmla="*/ 0 w 7233"/>
                <a:gd name="T55" fmla="*/ 0 h 4000"/>
                <a:gd name="T56" fmla="*/ 0 w 7233"/>
                <a:gd name="T57" fmla="*/ 0 h 4000"/>
                <a:gd name="T58" fmla="*/ 0 w 7233"/>
                <a:gd name="T59" fmla="*/ 0 h 4000"/>
                <a:gd name="T60" fmla="*/ 0 w 7233"/>
                <a:gd name="T61" fmla="*/ 0 h 4000"/>
                <a:gd name="T62" fmla="*/ 0 w 7233"/>
                <a:gd name="T63" fmla="*/ 0 h 4000"/>
                <a:gd name="T64" fmla="*/ 0 w 7233"/>
                <a:gd name="T65" fmla="*/ 0 h 4000"/>
                <a:gd name="T66" fmla="*/ 0 w 7233"/>
                <a:gd name="T67" fmla="*/ 0 h 4000"/>
                <a:gd name="T68" fmla="*/ 0 w 7233"/>
                <a:gd name="T69" fmla="*/ 0 h 4000"/>
                <a:gd name="T70" fmla="*/ 0 w 7233"/>
                <a:gd name="T71" fmla="*/ 0 h 4000"/>
                <a:gd name="T72" fmla="*/ 0 w 7233"/>
                <a:gd name="T73" fmla="*/ 0 h 4000"/>
                <a:gd name="T74" fmla="*/ 0 w 7233"/>
                <a:gd name="T75" fmla="*/ 0 h 400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7233"/>
                <a:gd name="T115" fmla="*/ 0 h 4000"/>
                <a:gd name="T116" fmla="*/ 7233 w 7233"/>
                <a:gd name="T117" fmla="*/ 4000 h 400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7233" h="4000">
                  <a:moveTo>
                    <a:pt x="0" y="2000"/>
                  </a:moveTo>
                  <a:cubicBezTo>
                    <a:pt x="66" y="1883"/>
                    <a:pt x="133" y="1767"/>
                    <a:pt x="200" y="1653"/>
                  </a:cubicBezTo>
                  <a:cubicBezTo>
                    <a:pt x="267" y="1539"/>
                    <a:pt x="333" y="1425"/>
                    <a:pt x="400" y="1316"/>
                  </a:cubicBezTo>
                  <a:cubicBezTo>
                    <a:pt x="467" y="1207"/>
                    <a:pt x="533" y="1100"/>
                    <a:pt x="600" y="1000"/>
                  </a:cubicBezTo>
                  <a:cubicBezTo>
                    <a:pt x="667" y="900"/>
                    <a:pt x="733" y="803"/>
                    <a:pt x="800" y="714"/>
                  </a:cubicBezTo>
                  <a:cubicBezTo>
                    <a:pt x="867" y="625"/>
                    <a:pt x="933" y="542"/>
                    <a:pt x="1000" y="468"/>
                  </a:cubicBezTo>
                  <a:cubicBezTo>
                    <a:pt x="1067" y="394"/>
                    <a:pt x="1133" y="326"/>
                    <a:pt x="1200" y="268"/>
                  </a:cubicBezTo>
                  <a:cubicBezTo>
                    <a:pt x="1267" y="210"/>
                    <a:pt x="1333" y="161"/>
                    <a:pt x="1400" y="121"/>
                  </a:cubicBezTo>
                  <a:cubicBezTo>
                    <a:pt x="1467" y="81"/>
                    <a:pt x="1533" y="50"/>
                    <a:pt x="1600" y="30"/>
                  </a:cubicBezTo>
                  <a:cubicBezTo>
                    <a:pt x="1667" y="10"/>
                    <a:pt x="1733" y="0"/>
                    <a:pt x="1800" y="0"/>
                  </a:cubicBezTo>
                  <a:cubicBezTo>
                    <a:pt x="1867" y="0"/>
                    <a:pt x="1933" y="10"/>
                    <a:pt x="2000" y="30"/>
                  </a:cubicBezTo>
                  <a:cubicBezTo>
                    <a:pt x="2067" y="50"/>
                    <a:pt x="2133" y="81"/>
                    <a:pt x="2200" y="121"/>
                  </a:cubicBezTo>
                  <a:cubicBezTo>
                    <a:pt x="2267" y="161"/>
                    <a:pt x="2333" y="210"/>
                    <a:pt x="2400" y="268"/>
                  </a:cubicBezTo>
                  <a:cubicBezTo>
                    <a:pt x="2467" y="326"/>
                    <a:pt x="2533" y="394"/>
                    <a:pt x="2600" y="468"/>
                  </a:cubicBezTo>
                  <a:cubicBezTo>
                    <a:pt x="2667" y="542"/>
                    <a:pt x="2733" y="625"/>
                    <a:pt x="2800" y="714"/>
                  </a:cubicBezTo>
                  <a:cubicBezTo>
                    <a:pt x="2867" y="803"/>
                    <a:pt x="2933" y="900"/>
                    <a:pt x="3000" y="1000"/>
                  </a:cubicBezTo>
                  <a:cubicBezTo>
                    <a:pt x="3067" y="1100"/>
                    <a:pt x="3133" y="1207"/>
                    <a:pt x="3200" y="1316"/>
                  </a:cubicBezTo>
                  <a:cubicBezTo>
                    <a:pt x="3267" y="1425"/>
                    <a:pt x="3333" y="1539"/>
                    <a:pt x="3400" y="1653"/>
                  </a:cubicBezTo>
                  <a:cubicBezTo>
                    <a:pt x="3467" y="1767"/>
                    <a:pt x="3533" y="1884"/>
                    <a:pt x="3600" y="2000"/>
                  </a:cubicBezTo>
                  <a:cubicBezTo>
                    <a:pt x="3667" y="2116"/>
                    <a:pt x="3733" y="2233"/>
                    <a:pt x="3800" y="2347"/>
                  </a:cubicBezTo>
                  <a:cubicBezTo>
                    <a:pt x="3867" y="2461"/>
                    <a:pt x="3933" y="2575"/>
                    <a:pt x="4000" y="2684"/>
                  </a:cubicBezTo>
                  <a:cubicBezTo>
                    <a:pt x="4067" y="2793"/>
                    <a:pt x="4133" y="2900"/>
                    <a:pt x="4200" y="3000"/>
                  </a:cubicBezTo>
                  <a:cubicBezTo>
                    <a:pt x="4267" y="3100"/>
                    <a:pt x="4333" y="3196"/>
                    <a:pt x="4400" y="3285"/>
                  </a:cubicBezTo>
                  <a:cubicBezTo>
                    <a:pt x="4467" y="3374"/>
                    <a:pt x="4533" y="3458"/>
                    <a:pt x="4600" y="3532"/>
                  </a:cubicBezTo>
                  <a:cubicBezTo>
                    <a:pt x="4667" y="3606"/>
                    <a:pt x="4733" y="3674"/>
                    <a:pt x="4800" y="3732"/>
                  </a:cubicBezTo>
                  <a:cubicBezTo>
                    <a:pt x="4867" y="3790"/>
                    <a:pt x="4933" y="3839"/>
                    <a:pt x="5000" y="3879"/>
                  </a:cubicBezTo>
                  <a:cubicBezTo>
                    <a:pt x="5067" y="3919"/>
                    <a:pt x="5133" y="3950"/>
                    <a:pt x="5200" y="3970"/>
                  </a:cubicBezTo>
                  <a:cubicBezTo>
                    <a:pt x="5267" y="3990"/>
                    <a:pt x="5333" y="4000"/>
                    <a:pt x="5400" y="4000"/>
                  </a:cubicBezTo>
                  <a:cubicBezTo>
                    <a:pt x="5467" y="4000"/>
                    <a:pt x="5533" y="3990"/>
                    <a:pt x="5600" y="3970"/>
                  </a:cubicBezTo>
                  <a:cubicBezTo>
                    <a:pt x="5667" y="3950"/>
                    <a:pt x="5733" y="3919"/>
                    <a:pt x="5800" y="3879"/>
                  </a:cubicBezTo>
                  <a:cubicBezTo>
                    <a:pt x="5867" y="3839"/>
                    <a:pt x="5933" y="3790"/>
                    <a:pt x="6000" y="3732"/>
                  </a:cubicBezTo>
                  <a:cubicBezTo>
                    <a:pt x="6067" y="3674"/>
                    <a:pt x="6133" y="3606"/>
                    <a:pt x="6200" y="3532"/>
                  </a:cubicBezTo>
                  <a:cubicBezTo>
                    <a:pt x="6267" y="3458"/>
                    <a:pt x="6333" y="3375"/>
                    <a:pt x="6400" y="3286"/>
                  </a:cubicBezTo>
                  <a:cubicBezTo>
                    <a:pt x="6467" y="3197"/>
                    <a:pt x="6533" y="3100"/>
                    <a:pt x="6600" y="3000"/>
                  </a:cubicBezTo>
                  <a:cubicBezTo>
                    <a:pt x="6667" y="2900"/>
                    <a:pt x="6733" y="2793"/>
                    <a:pt x="6800" y="2684"/>
                  </a:cubicBezTo>
                  <a:cubicBezTo>
                    <a:pt x="6867" y="2575"/>
                    <a:pt x="6933" y="2462"/>
                    <a:pt x="7000" y="2348"/>
                  </a:cubicBezTo>
                  <a:cubicBezTo>
                    <a:pt x="7067" y="2234"/>
                    <a:pt x="7167" y="2058"/>
                    <a:pt x="7200" y="2000"/>
                  </a:cubicBezTo>
                  <a:cubicBezTo>
                    <a:pt x="7233" y="1942"/>
                    <a:pt x="7216" y="1971"/>
                    <a:pt x="7200" y="200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7" name="Rectangle 77">
              <a:extLst>
                <a:ext uri="{FF2B5EF4-FFF2-40B4-BE49-F238E27FC236}">
                  <a16:creationId xmlns:a16="http://schemas.microsoft.com/office/drawing/2014/main" id="{4B16116D-E8C4-4C46-9E14-45F4B2BD7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3485"/>
              <a:ext cx="2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 i="1">
                  <a:solidFill>
                    <a:schemeClr val="bg1"/>
                  </a:solidFill>
                  <a:ea typeface="楷体_GB2312" pitchFamily="49" charset="-122"/>
                </a:rPr>
                <a:t>t</a:t>
              </a:r>
            </a:p>
          </p:txBody>
        </p:sp>
        <p:sp>
          <p:nvSpPr>
            <p:cNvPr id="9268" name="Rectangle 78">
              <a:extLst>
                <a:ext uri="{FF2B5EF4-FFF2-40B4-BE49-F238E27FC236}">
                  <a16:creationId xmlns:a16="http://schemas.microsoft.com/office/drawing/2014/main" id="{0FF6A142-FE20-46B0-82F7-E47B61485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3253"/>
              <a:ext cx="18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 i="1">
                  <a:solidFill>
                    <a:schemeClr val="bg1"/>
                  </a:solidFill>
                  <a:ea typeface="楷体_GB2312" pitchFamily="49" charset="-122"/>
                </a:rPr>
                <a:t>y</a:t>
              </a:r>
            </a:p>
          </p:txBody>
        </p:sp>
        <p:sp>
          <p:nvSpPr>
            <p:cNvPr id="9269" name="Freeform 79">
              <a:extLst>
                <a:ext uri="{FF2B5EF4-FFF2-40B4-BE49-F238E27FC236}">
                  <a16:creationId xmlns:a16="http://schemas.microsoft.com/office/drawing/2014/main" id="{CEF7F3CF-A123-4654-B2DD-535467A22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9" y="3415"/>
              <a:ext cx="230" cy="162"/>
            </a:xfrm>
            <a:custGeom>
              <a:avLst/>
              <a:gdLst>
                <a:gd name="T0" fmla="*/ 0 w 1833"/>
                <a:gd name="T1" fmla="*/ 0 h 2005"/>
                <a:gd name="T2" fmla="*/ 0 w 1833"/>
                <a:gd name="T3" fmla="*/ 0 h 2005"/>
                <a:gd name="T4" fmla="*/ 0 w 1833"/>
                <a:gd name="T5" fmla="*/ 0 h 2005"/>
                <a:gd name="T6" fmla="*/ 0 w 1833"/>
                <a:gd name="T7" fmla="*/ 0 h 2005"/>
                <a:gd name="T8" fmla="*/ 0 w 1833"/>
                <a:gd name="T9" fmla="*/ 0 h 2005"/>
                <a:gd name="T10" fmla="*/ 0 w 1833"/>
                <a:gd name="T11" fmla="*/ 0 h 2005"/>
                <a:gd name="T12" fmla="*/ 0 w 1833"/>
                <a:gd name="T13" fmla="*/ 0 h 2005"/>
                <a:gd name="T14" fmla="*/ 0 w 1833"/>
                <a:gd name="T15" fmla="*/ 0 h 2005"/>
                <a:gd name="T16" fmla="*/ 0 w 1833"/>
                <a:gd name="T17" fmla="*/ 0 h 2005"/>
                <a:gd name="T18" fmla="*/ 0 w 1833"/>
                <a:gd name="T19" fmla="*/ 0 h 2005"/>
                <a:gd name="T20" fmla="*/ 0 w 1833"/>
                <a:gd name="T21" fmla="*/ 0 h 200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33"/>
                <a:gd name="T34" fmla="*/ 0 h 2005"/>
                <a:gd name="T35" fmla="*/ 1833 w 1833"/>
                <a:gd name="T36" fmla="*/ 2005 h 200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33" h="2005">
                  <a:moveTo>
                    <a:pt x="0" y="2005"/>
                  </a:moveTo>
                  <a:cubicBezTo>
                    <a:pt x="66" y="1888"/>
                    <a:pt x="133" y="1772"/>
                    <a:pt x="200" y="1658"/>
                  </a:cubicBezTo>
                  <a:cubicBezTo>
                    <a:pt x="267" y="1544"/>
                    <a:pt x="333" y="1430"/>
                    <a:pt x="400" y="1321"/>
                  </a:cubicBezTo>
                  <a:cubicBezTo>
                    <a:pt x="467" y="1212"/>
                    <a:pt x="533" y="1105"/>
                    <a:pt x="600" y="1005"/>
                  </a:cubicBezTo>
                  <a:cubicBezTo>
                    <a:pt x="667" y="905"/>
                    <a:pt x="733" y="808"/>
                    <a:pt x="800" y="719"/>
                  </a:cubicBezTo>
                  <a:cubicBezTo>
                    <a:pt x="867" y="630"/>
                    <a:pt x="933" y="547"/>
                    <a:pt x="1000" y="473"/>
                  </a:cubicBezTo>
                  <a:cubicBezTo>
                    <a:pt x="1067" y="399"/>
                    <a:pt x="1133" y="331"/>
                    <a:pt x="1200" y="273"/>
                  </a:cubicBezTo>
                  <a:cubicBezTo>
                    <a:pt x="1267" y="215"/>
                    <a:pt x="1333" y="166"/>
                    <a:pt x="1400" y="126"/>
                  </a:cubicBezTo>
                  <a:cubicBezTo>
                    <a:pt x="1467" y="86"/>
                    <a:pt x="1533" y="55"/>
                    <a:pt x="1600" y="35"/>
                  </a:cubicBezTo>
                  <a:cubicBezTo>
                    <a:pt x="1667" y="15"/>
                    <a:pt x="1767" y="10"/>
                    <a:pt x="1800" y="5"/>
                  </a:cubicBezTo>
                  <a:cubicBezTo>
                    <a:pt x="1833" y="0"/>
                    <a:pt x="1816" y="2"/>
                    <a:pt x="1800" y="5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0" name="Rectangle 80">
              <a:extLst>
                <a:ext uri="{FF2B5EF4-FFF2-40B4-BE49-F238E27FC236}">
                  <a16:creationId xmlns:a16="http://schemas.microsoft.com/office/drawing/2014/main" id="{A69C5837-8A67-40CC-8C85-35512AA0E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9" y="3551"/>
              <a:ext cx="20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900" i="1">
                  <a:solidFill>
                    <a:schemeClr val="bg1"/>
                  </a:solidFill>
                  <a:ea typeface="楷体_GB2312" pitchFamily="49" charset="-122"/>
                </a:rPr>
                <a:t>T</a:t>
              </a:r>
            </a:p>
          </p:txBody>
        </p:sp>
      </p:grp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0DF0904-B2FB-40A7-AC07-04CBED08CAB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834951" y="2128018"/>
          <a:ext cx="3313113" cy="796926"/>
        </p:xfrm>
        <a:graphic>
          <a:graphicData uri="http://schemas.openxmlformats.org/drawingml/2006/table">
            <a:tbl>
              <a:tblPr/>
              <a:tblGrid>
                <a:gridCol w="3313113">
                  <a:extLst>
                    <a:ext uri="{9D8B030D-6E8A-4147-A177-3AD203B41FA5}">
                      <a16:colId xmlns:a16="http://schemas.microsoft.com/office/drawing/2014/main" val="744140198"/>
                    </a:ext>
                  </a:extLst>
                </a:gridCol>
              </a:tblGrid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itchFamily="2" charset="-122"/>
                          <a:ea typeface="宋体" pitchFamily="2" charset="-122"/>
                        </a:rPr>
                        <a:t>时 间</a:t>
                      </a: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222686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itchFamily="2" charset="-122"/>
                          <a:ea typeface="宋体" pitchFamily="2" charset="-122"/>
                        </a:rPr>
                        <a:t>一个质点</a:t>
                      </a: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239707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8B3D3EE-9CF9-42C7-9F04-31AC1F9D129C}"/>
              </a:ext>
            </a:extLst>
          </p:cNvPr>
          <p:cNvSpPr/>
          <p:nvPr/>
        </p:nvSpPr>
        <p:spPr>
          <a:xfrm>
            <a:off x="1835696" y="2924944"/>
            <a:ext cx="34381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zh-CN" altLang="en-U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反映一个质点相对平衡位置的位移随时间的变化规律</a:t>
            </a:r>
            <a:endParaRPr lang="zh-CN" altLang="en-US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B7B4E3-FDF5-40FE-BA77-CD2E30E573F2}"/>
              </a:ext>
            </a:extLst>
          </p:cNvPr>
          <p:cNvSpPr/>
          <p:nvPr/>
        </p:nvSpPr>
        <p:spPr>
          <a:xfrm>
            <a:off x="1835696" y="3945250"/>
            <a:ext cx="33123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zh-CN" altLang="en-U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振幅、周期；任一时刻质点的位移、加速度、振动方向</a:t>
            </a:r>
            <a:endParaRPr lang="zh-CN" altLang="en-US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1C7A32-75C1-43DF-BBC5-0B6B802049EB}"/>
              </a:ext>
            </a:extLst>
          </p:cNvPr>
          <p:cNvSpPr/>
          <p:nvPr/>
        </p:nvSpPr>
        <p:spPr>
          <a:xfrm>
            <a:off x="2133600" y="6085355"/>
            <a:ext cx="25074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zh-CN" altLang="en-US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拍一个人跳舞的录像</a:t>
            </a:r>
            <a:endParaRPr lang="zh-CN" altLang="en-US" sz="20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22D589C-975F-4E41-A95E-9B9B10A0F00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48064" y="2128018"/>
          <a:ext cx="3571875" cy="796926"/>
        </p:xfrm>
        <a:graphic>
          <a:graphicData uri="http://schemas.openxmlformats.org/drawingml/2006/table">
            <a:tbl>
              <a:tblPr/>
              <a:tblGrid>
                <a:gridCol w="3571875">
                  <a:extLst>
                    <a:ext uri="{9D8B030D-6E8A-4147-A177-3AD203B41FA5}">
                      <a16:colId xmlns:a16="http://schemas.microsoft.com/office/drawing/2014/main" val="339218868"/>
                    </a:ext>
                  </a:extLst>
                </a:gridCol>
              </a:tblGrid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itchFamily="2" charset="-122"/>
                          <a:ea typeface="宋体" pitchFamily="2" charset="-122"/>
                        </a:rPr>
                        <a:t>质点的平衡位置</a:t>
                      </a: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550456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itchFamily="2" charset="-122"/>
                          <a:ea typeface="宋体" pitchFamily="2" charset="-122"/>
                        </a:rPr>
                        <a:t>介质中的各个质点</a:t>
                      </a: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073513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DFA24685-83DF-4843-8957-F0F7BD79F273}"/>
              </a:ext>
            </a:extLst>
          </p:cNvPr>
          <p:cNvSpPr/>
          <p:nvPr/>
        </p:nvSpPr>
        <p:spPr>
          <a:xfrm>
            <a:off x="5157663" y="2924944"/>
            <a:ext cx="35465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反映某时刻介质中各质点相对平衡位置的位移的波形</a:t>
            </a:r>
            <a:endParaRPr lang="zh-CN" altLang="en-US" sz="20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8C287DC-CF81-4A89-8C8C-656584C2361A}"/>
              </a:ext>
            </a:extLst>
          </p:cNvPr>
          <p:cNvSpPr/>
          <p:nvPr/>
        </p:nvSpPr>
        <p:spPr>
          <a:xfrm>
            <a:off x="5164138" y="3650622"/>
            <a:ext cx="354012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振幅、波长；该时刻各质点的位移、速度、加速度；已知波的传播方向确定该时刻各质点的振动方向，反之亦然</a:t>
            </a:r>
            <a:endParaRPr lang="zh-CN" altLang="en-US" sz="20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142B8D-78FB-438F-BE03-FC5373545F39}"/>
              </a:ext>
            </a:extLst>
          </p:cNvPr>
          <p:cNvSpPr/>
          <p:nvPr/>
        </p:nvSpPr>
        <p:spPr>
          <a:xfrm>
            <a:off x="5364839" y="6093296"/>
            <a:ext cx="30235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拍许多人跳舞的一张照片</a:t>
            </a:r>
            <a:endParaRPr lang="zh-CN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8" grpId="0"/>
      <p:bldP spid="9" grpId="0"/>
      <p:bldP spid="11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741A2E8A-597A-40AE-8DAB-5EF85FC08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16632"/>
            <a:ext cx="835292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zh-CN" altLang="en-US" dirty="0">
                <a:solidFill>
                  <a:srgbClr val="FFFF00"/>
                </a:solidFill>
                <a:latin typeface="宋体" pitchFamily="2" charset="-122"/>
              </a:rPr>
              <a:t>波函数的一般求解过程：  </a:t>
            </a:r>
            <a:r>
              <a:rPr lang="zh-CN" altLang="en-US" dirty="0">
                <a:solidFill>
                  <a:schemeClr val="bg1"/>
                </a:solidFill>
                <a:latin typeface="宋体" pitchFamily="2" charset="-122"/>
              </a:rPr>
              <a:t>物理解法</a:t>
            </a:r>
            <a:r>
              <a:rPr lang="en-US" altLang="zh-CN" dirty="0">
                <a:solidFill>
                  <a:schemeClr val="bg1"/>
                </a:solidFill>
                <a:latin typeface="宋体" pitchFamily="2" charset="-122"/>
              </a:rPr>
              <a:t>—</a:t>
            </a:r>
            <a:r>
              <a:rPr lang="zh-CN" altLang="en-US" dirty="0">
                <a:solidFill>
                  <a:schemeClr val="bg1"/>
                </a:solidFill>
                <a:latin typeface="宋体" pitchFamily="2" charset="-122"/>
              </a:rPr>
              <a:t>相位落后</a:t>
            </a:r>
          </a:p>
        </p:txBody>
      </p:sp>
      <p:sp>
        <p:nvSpPr>
          <p:cNvPr id="38" name="Text Box 6" descr="绿色大理石">
            <a:extLst>
              <a:ext uri="{FF2B5EF4-FFF2-40B4-BE49-F238E27FC236}">
                <a16:creationId xmlns:a16="http://schemas.microsoft.com/office/drawing/2014/main" id="{8C9E10B6-13CA-480C-A653-F03C9BD9F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014" y="3085255"/>
            <a:ext cx="1655762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波函数</a:t>
            </a:r>
            <a:r>
              <a:rPr lang="en-US" altLang="zh-CN" dirty="0">
                <a:solidFill>
                  <a:srgbClr val="FFFF00"/>
                </a:solidFill>
                <a:latin typeface="宋体" panose="02010600030101010101" pitchFamily="2" charset="-122"/>
              </a:rPr>
              <a:t>:</a:t>
            </a:r>
            <a:endParaRPr lang="zh-CN" altLang="en-US" dirty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6155" name="灯片编号占位符 1">
            <a:extLst>
              <a:ext uri="{FF2B5EF4-FFF2-40B4-BE49-F238E27FC236}">
                <a16:creationId xmlns:a16="http://schemas.microsoft.com/office/drawing/2014/main" id="{5A37E3C4-030B-4E33-936B-30993DCB119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C67FB2-6378-4111-86D3-E2E475FBCC9C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2CDD2C9D-C594-4022-814E-B3E8D0D78893}"/>
                  </a:ext>
                </a:extLst>
              </p:cNvPr>
              <p:cNvSpPr txBox="1"/>
              <p:nvPr/>
            </p:nvSpPr>
            <p:spPr bwMode="auto">
              <a:xfrm>
                <a:off x="4427984" y="620688"/>
                <a:ext cx="3214688" cy="47148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2CDD2C9D-C594-4022-814E-B3E8D0D78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7984" y="620688"/>
                <a:ext cx="3214688" cy="471488"/>
              </a:xfrm>
              <a:prstGeom prst="rect">
                <a:avLst/>
              </a:prstGeom>
              <a:blipFill>
                <a:blip r:embed="rId3"/>
                <a:stretch>
                  <a:fillRect b="-7792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30">
            <a:extLst>
              <a:ext uri="{FF2B5EF4-FFF2-40B4-BE49-F238E27FC236}">
                <a16:creationId xmlns:a16="http://schemas.microsoft.com/office/drawing/2014/main" id="{21259582-D8B6-4BF5-9F1D-66BDFC175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162" y="662781"/>
            <a:ext cx="510962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已知位于</a:t>
            </a:r>
            <a:r>
              <a:rPr lang="en-US" altLang="zh-CN" i="1" dirty="0">
                <a:solidFill>
                  <a:srgbClr val="FFC00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solidFill>
                  <a:srgbClr val="FFC000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质点</a:t>
            </a:r>
            <a:r>
              <a:rPr lang="en-US" altLang="zh-CN" dirty="0">
                <a:solidFill>
                  <a:srgbClr val="FFC00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振动方程：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32F3504-69EE-4583-BE67-5A4C1C7EE775}"/>
              </a:ext>
            </a:extLst>
          </p:cNvPr>
          <p:cNvGrpSpPr/>
          <p:nvPr/>
        </p:nvGrpSpPr>
        <p:grpSpPr>
          <a:xfrm>
            <a:off x="7668518" y="1025600"/>
            <a:ext cx="969601" cy="957966"/>
            <a:chOff x="7668518" y="1025600"/>
            <a:chExt cx="969601" cy="957966"/>
          </a:xfrm>
        </p:grpSpPr>
        <p:graphicFrame>
          <p:nvGraphicFramePr>
            <p:cNvPr id="52" name="Object 5">
              <a:extLst>
                <a:ext uri="{FF2B5EF4-FFF2-40B4-BE49-F238E27FC236}">
                  <a16:creationId xmlns:a16="http://schemas.microsoft.com/office/drawing/2014/main" id="{293033E8-5E96-4E49-AF9E-B8972D8C1965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276406" y="1025600"/>
            <a:ext cx="361713" cy="387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74" name="Equation" r:id="rId4" imgW="76149" imgH="114198" progId="Equation.3">
                    <p:embed/>
                  </p:oleObj>
                </mc:Choice>
                <mc:Fallback>
                  <p:oleObj name="Equation" r:id="rId4" imgW="76149" imgH="114198" progId="Equation.3">
                    <p:embed/>
                    <p:pic>
                      <p:nvPicPr>
                        <p:cNvPr id="52" name="Object 5">
                          <a:extLst>
                            <a:ext uri="{FF2B5EF4-FFF2-40B4-BE49-F238E27FC236}">
                              <a16:creationId xmlns:a16="http://schemas.microsoft.com/office/drawing/2014/main" id="{293033E8-5E96-4E49-AF9E-B8972D8C19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6406" y="1025600"/>
                          <a:ext cx="361713" cy="387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Line 21">
              <a:extLst>
                <a:ext uri="{FF2B5EF4-FFF2-40B4-BE49-F238E27FC236}">
                  <a16:creationId xmlns:a16="http://schemas.microsoft.com/office/drawing/2014/main" id="{D777A9B3-143D-4E00-BA00-D2FCADB0C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39831" y="1241499"/>
              <a:ext cx="457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 Box 27">
              <a:extLst>
                <a:ext uri="{FF2B5EF4-FFF2-40B4-BE49-F238E27FC236}">
                  <a16:creationId xmlns:a16="http://schemas.microsoft.com/office/drawing/2014/main" id="{F5853260-8223-4510-9FA7-37D17FF6B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8518" y="1583456"/>
              <a:ext cx="6096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sz="2000" i="1">
                  <a:solidFill>
                    <a:srgbClr val="FFFF00"/>
                  </a:solidFill>
                </a:rPr>
                <a:t>P</a:t>
              </a:r>
            </a:p>
          </p:txBody>
        </p:sp>
      </p:grpSp>
      <p:grpSp>
        <p:nvGrpSpPr>
          <p:cNvPr id="56" name="Group 29">
            <a:extLst>
              <a:ext uri="{FF2B5EF4-FFF2-40B4-BE49-F238E27FC236}">
                <a16:creationId xmlns:a16="http://schemas.microsoft.com/office/drawing/2014/main" id="{5A42233A-DD9F-4D60-B3BD-8696AC2ED438}"/>
              </a:ext>
            </a:extLst>
          </p:cNvPr>
          <p:cNvGrpSpPr>
            <a:grpSpLocks/>
          </p:cNvGrpSpPr>
          <p:nvPr/>
        </p:nvGrpSpPr>
        <p:grpSpPr bwMode="auto">
          <a:xfrm>
            <a:off x="5176143" y="965473"/>
            <a:ext cx="3716337" cy="1038226"/>
            <a:chOff x="3334" y="487"/>
            <a:chExt cx="2341" cy="654"/>
          </a:xfrm>
        </p:grpSpPr>
        <p:graphicFrame>
          <p:nvGraphicFramePr>
            <p:cNvPr id="57" name="Object 8">
              <a:extLst>
                <a:ext uri="{FF2B5EF4-FFF2-40B4-BE49-F238E27FC236}">
                  <a16:creationId xmlns:a16="http://schemas.microsoft.com/office/drawing/2014/main" id="{F6E44E62-3F92-4EF7-A892-CD3944E6BCD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032" y="487"/>
            <a:ext cx="217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75" name="Equation" r:id="rId6" imgW="104896" imgH="171450" progId="Equation.3">
                    <p:embed/>
                  </p:oleObj>
                </mc:Choice>
                <mc:Fallback>
                  <p:oleObj name="Equation" r:id="rId6" imgW="104896" imgH="171450" progId="Equation.3">
                    <p:embed/>
                    <p:pic>
                      <p:nvPicPr>
                        <p:cNvPr id="57" name="Object 8">
                          <a:extLst>
                            <a:ext uri="{FF2B5EF4-FFF2-40B4-BE49-F238E27FC236}">
                              <a16:creationId xmlns:a16="http://schemas.microsoft.com/office/drawing/2014/main" id="{F6E44E62-3F92-4EF7-A892-CD3944E6BC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487"/>
                          <a:ext cx="217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Line 31">
              <a:extLst>
                <a:ext uri="{FF2B5EF4-FFF2-40B4-BE49-F238E27FC236}">
                  <a16:creationId xmlns:a16="http://schemas.microsoft.com/office/drawing/2014/main" id="{8DBE7E56-DEB2-4786-923E-8906088DE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874"/>
              <a:ext cx="216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Box 32">
              <a:extLst>
                <a:ext uri="{FF2B5EF4-FFF2-40B4-BE49-F238E27FC236}">
                  <a16:creationId xmlns:a16="http://schemas.microsoft.com/office/drawing/2014/main" id="{5C83C05B-C80F-49E9-A681-F2A35B3B95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2" y="889"/>
              <a:ext cx="4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sz="2000" i="1" dirty="0">
                  <a:solidFill>
                    <a:srgbClr val="FFFF00"/>
                  </a:solidFill>
                </a:rPr>
                <a:t>O</a:t>
              </a:r>
            </a:p>
          </p:txBody>
        </p:sp>
        <p:sp>
          <p:nvSpPr>
            <p:cNvPr id="60" name="Text Box 33">
              <a:extLst>
                <a:ext uri="{FF2B5EF4-FFF2-40B4-BE49-F238E27FC236}">
                  <a16:creationId xmlns:a16="http://schemas.microsoft.com/office/drawing/2014/main" id="{1070A1DA-5DA2-4F07-BB44-15B4490895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8" y="889"/>
              <a:ext cx="3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sz="2000" i="1">
                  <a:solidFill>
                    <a:srgbClr val="FFFF00"/>
                  </a:solidFill>
                </a:rPr>
                <a:t>A</a:t>
              </a:r>
            </a:p>
          </p:txBody>
        </p:sp>
        <p:sp>
          <p:nvSpPr>
            <p:cNvPr id="61" name="Line 34">
              <a:extLst>
                <a:ext uri="{FF2B5EF4-FFF2-40B4-BE49-F238E27FC236}">
                  <a16:creationId xmlns:a16="http://schemas.microsoft.com/office/drawing/2014/main" id="{61724256-7A23-479E-8C8B-CEA29DBBE6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8" y="618"/>
              <a:ext cx="0" cy="24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35">
              <a:extLst>
                <a:ext uri="{FF2B5EF4-FFF2-40B4-BE49-F238E27FC236}">
                  <a16:creationId xmlns:a16="http://schemas.microsoft.com/office/drawing/2014/main" id="{61390AD0-2F35-4F84-8BBB-91F05CD5A5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4" y="618"/>
              <a:ext cx="0" cy="24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36">
              <a:extLst>
                <a:ext uri="{FF2B5EF4-FFF2-40B4-BE49-F238E27FC236}">
                  <a16:creationId xmlns:a16="http://schemas.microsoft.com/office/drawing/2014/main" id="{BECEC29C-ACC9-4D91-AE7A-5183E63E3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" y="750"/>
              <a:ext cx="561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4" name="Object 9">
              <a:extLst>
                <a:ext uri="{FF2B5EF4-FFF2-40B4-BE49-F238E27FC236}">
                  <a16:creationId xmlns:a16="http://schemas.microsoft.com/office/drawing/2014/main" id="{4206AA9A-655F-4273-9B83-60DDCF6956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94" y="784"/>
            <a:ext cx="18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76" name="Equation" r:id="rId8" imgW="76149" imgH="95216" progId="Equation.3">
                    <p:embed/>
                  </p:oleObj>
                </mc:Choice>
                <mc:Fallback>
                  <p:oleObj name="Equation" r:id="rId8" imgW="76149" imgH="95216" progId="Equation.3">
                    <p:embed/>
                    <p:pic>
                      <p:nvPicPr>
                        <p:cNvPr id="64" name="Object 9">
                          <a:extLst>
                            <a:ext uri="{FF2B5EF4-FFF2-40B4-BE49-F238E27FC236}">
                              <a16:creationId xmlns:a16="http://schemas.microsoft.com/office/drawing/2014/main" id="{4206AA9A-655F-4273-9B83-60DDCF6956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4" y="784"/>
                          <a:ext cx="18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" name="Text Box 38">
              <a:extLst>
                <a:ext uri="{FF2B5EF4-FFF2-40B4-BE49-F238E27FC236}">
                  <a16:creationId xmlns:a16="http://schemas.microsoft.com/office/drawing/2014/main" id="{9373ECB0-EAA4-438A-93DC-EE292B8C27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" y="488"/>
              <a:ext cx="182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4800">
                  <a:solidFill>
                    <a:srgbClr val="66FF33"/>
                  </a:solidFill>
                  <a:latin typeface="Bookman Old Style" panose="02050604050505020204" pitchFamily="18" charset="0"/>
                  <a:ea typeface="仿宋_GB2312" pitchFamily="49" charset="-122"/>
                  <a:sym typeface="Symbol" panose="05050102010706020507" pitchFamily="18" charset="2"/>
                </a:rPr>
                <a:t></a:t>
              </a:r>
            </a:p>
          </p:txBody>
        </p:sp>
        <p:sp>
          <p:nvSpPr>
            <p:cNvPr id="66" name="Text Box 39">
              <a:extLst>
                <a:ext uri="{FF2B5EF4-FFF2-40B4-BE49-F238E27FC236}">
                  <a16:creationId xmlns:a16="http://schemas.microsoft.com/office/drawing/2014/main" id="{D03D20FE-966E-4C6E-BECE-21A2E7F01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8" y="488"/>
              <a:ext cx="156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4800">
                  <a:solidFill>
                    <a:srgbClr val="66FF33"/>
                  </a:solidFill>
                  <a:latin typeface="Bookman Old Style" panose="02050604050505020204" pitchFamily="18" charset="0"/>
                  <a:ea typeface="仿宋_GB2312" pitchFamily="49" charset="-122"/>
                  <a:sym typeface="Symbol" panose="05050102010706020507" pitchFamily="18" charset="2"/>
                </a:rPr>
                <a:t></a:t>
              </a:r>
            </a:p>
          </p:txBody>
        </p:sp>
        <p:sp>
          <p:nvSpPr>
            <p:cNvPr id="67" name="Rectangle 40">
              <a:extLst>
                <a:ext uri="{FF2B5EF4-FFF2-40B4-BE49-F238E27FC236}">
                  <a16:creationId xmlns:a16="http://schemas.microsoft.com/office/drawing/2014/main" id="{04F1F827-270D-4E06-BA05-6CD90AFB3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3" y="487"/>
              <a:ext cx="212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4800" dirty="0">
                  <a:solidFill>
                    <a:srgbClr val="66FF33"/>
                  </a:solidFill>
                  <a:latin typeface="Bookman Old Style" panose="02050604050505020204" pitchFamily="18" charset="0"/>
                  <a:ea typeface="仿宋_GB2312" pitchFamily="49" charset="-122"/>
                  <a:sym typeface="Symbol" panose="05050102010706020507" pitchFamily="18" charset="2"/>
                </a:rPr>
                <a:t></a:t>
              </a:r>
            </a:p>
          </p:txBody>
        </p:sp>
      </p:grpSp>
      <p:sp>
        <p:nvSpPr>
          <p:cNvPr id="68" name="Text Box 6" descr="绿色大理石">
            <a:extLst>
              <a:ext uri="{FF2B5EF4-FFF2-40B4-BE49-F238E27FC236}">
                <a16:creationId xmlns:a16="http://schemas.microsoft.com/office/drawing/2014/main" id="{EA8B84FC-C07C-49CF-A82F-B4AC6DD96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423" y="1268760"/>
            <a:ext cx="2466385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i="1" dirty="0">
                <a:solidFill>
                  <a:srgbClr val="FFFF00"/>
                </a:solidFill>
                <a:cs typeface="Times New Roman" panose="02020603050405020304" pitchFamily="18" charset="0"/>
              </a:rPr>
              <a:t>x 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轴正向传播：</a:t>
            </a:r>
          </a:p>
        </p:txBody>
      </p:sp>
      <p:sp>
        <p:nvSpPr>
          <p:cNvPr id="69" name="AutoShape 5">
            <a:extLst>
              <a:ext uri="{FF2B5EF4-FFF2-40B4-BE49-F238E27FC236}">
                <a16:creationId xmlns:a16="http://schemas.microsoft.com/office/drawing/2014/main" id="{2A77C334-07B0-4281-8010-BBE7C2DDFB11}"/>
              </a:ext>
            </a:extLst>
          </p:cNvPr>
          <p:cNvSpPr>
            <a:spLocks/>
          </p:cNvSpPr>
          <p:nvPr/>
        </p:nvSpPr>
        <p:spPr bwMode="auto">
          <a:xfrm>
            <a:off x="611560" y="2149151"/>
            <a:ext cx="285750" cy="775793"/>
          </a:xfrm>
          <a:prstGeom prst="leftBrace">
            <a:avLst>
              <a:gd name="adj1" fmla="val 60593"/>
              <a:gd name="adj2" fmla="val 50000"/>
            </a:avLst>
          </a:prstGeom>
          <a:noFill/>
          <a:ln w="25400">
            <a:solidFill>
              <a:srgbClr val="FF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66FFFF"/>
              </a:solidFill>
              <a:ea typeface="仿宋_GB2312" pitchFamily="49" charset="-122"/>
            </a:endParaRPr>
          </a:p>
        </p:txBody>
      </p:sp>
      <p:sp>
        <p:nvSpPr>
          <p:cNvPr id="70" name="Text Box 6" descr="绿色大理石">
            <a:extLst>
              <a:ext uri="{FF2B5EF4-FFF2-40B4-BE49-F238E27FC236}">
                <a16:creationId xmlns:a16="http://schemas.microsoft.com/office/drawing/2014/main" id="{7351ACE0-5189-49BE-8714-E0BB09C63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917016"/>
            <a:ext cx="2466385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时间：</a:t>
            </a:r>
          </a:p>
        </p:txBody>
      </p:sp>
      <p:sp>
        <p:nvSpPr>
          <p:cNvPr id="71" name="Text Box 19" descr="绿色大理石">
            <a:extLst>
              <a:ext uri="{FF2B5EF4-FFF2-40B4-BE49-F238E27FC236}">
                <a16:creationId xmlns:a16="http://schemas.microsoft.com/office/drawing/2014/main" id="{68D6166D-598C-43E0-8067-9101417A6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1916832"/>
            <a:ext cx="5284093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i="1" dirty="0">
                <a:solidFill>
                  <a:srgbClr val="FFFF00"/>
                </a:solidFill>
              </a:rPr>
              <a:t>P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点在</a:t>
            </a:r>
            <a:r>
              <a:rPr lang="en-US" altLang="zh-CN" i="1" dirty="0">
                <a:solidFill>
                  <a:srgbClr val="FFFF00"/>
                </a:solidFill>
              </a:rPr>
              <a:t>t</a:t>
            </a:r>
            <a:r>
              <a:rPr lang="en-US" altLang="zh-CN" i="1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时刻振动状态与</a:t>
            </a:r>
            <a:r>
              <a:rPr lang="en-US" altLang="zh-CN" dirty="0">
                <a:solidFill>
                  <a:srgbClr val="FFFF00"/>
                </a:solidFill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点在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bject 5">
                <a:extLst>
                  <a:ext uri="{FF2B5EF4-FFF2-40B4-BE49-F238E27FC236}">
                    <a16:creationId xmlns:a16="http://schemas.microsoft.com/office/drawing/2014/main" id="{D4A631D2-E026-4FB8-B21B-395B00FEF733}"/>
                  </a:ext>
                </a:extLst>
              </p:cNvPr>
              <p:cNvSpPr txBox="1"/>
              <p:nvPr/>
            </p:nvSpPr>
            <p:spPr bwMode="auto">
              <a:xfrm>
                <a:off x="5752207" y="1953270"/>
                <a:ext cx="1483320" cy="75565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0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1" i="1" baseline="-2500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72" name="Object 5">
                <a:extLst>
                  <a:ext uri="{FF2B5EF4-FFF2-40B4-BE49-F238E27FC236}">
                    <a16:creationId xmlns:a16="http://schemas.microsoft.com/office/drawing/2014/main" id="{D4A631D2-E026-4FB8-B21B-395B00FEF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52207" y="1953270"/>
                <a:ext cx="1483320" cy="7556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25">
            <a:extLst>
              <a:ext uri="{FF2B5EF4-FFF2-40B4-BE49-F238E27FC236}">
                <a16:creationId xmlns:a16="http://schemas.microsoft.com/office/drawing/2014/main" id="{EA7E6563-C4F6-4D06-909E-E245EE4BC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0359" y="2031415"/>
            <a:ext cx="22041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状态相同</a:t>
            </a:r>
            <a:endParaRPr lang="en-US" altLang="zh-CN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74" name="Text Box 6" descr="绿色大理石">
            <a:extLst>
              <a:ext uri="{FF2B5EF4-FFF2-40B4-BE49-F238E27FC236}">
                <a16:creationId xmlns:a16="http://schemas.microsoft.com/office/drawing/2014/main" id="{B8C9E69B-FF57-4E50-B082-BDE0C493E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2493080"/>
            <a:ext cx="2466385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相位：</a:t>
            </a:r>
          </a:p>
        </p:txBody>
      </p:sp>
      <p:sp>
        <p:nvSpPr>
          <p:cNvPr id="75" name="Text Box 19" descr="绿色大理石">
            <a:extLst>
              <a:ext uri="{FF2B5EF4-FFF2-40B4-BE49-F238E27FC236}">
                <a16:creationId xmlns:a16="http://schemas.microsoft.com/office/drawing/2014/main" id="{A1DAF290-248C-4350-97FE-B3BED3EE3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2492896"/>
            <a:ext cx="5284093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i="1" dirty="0">
                <a:solidFill>
                  <a:srgbClr val="FFFF00"/>
                </a:solidFill>
              </a:rPr>
              <a:t>P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点相位落后</a:t>
            </a:r>
            <a:r>
              <a:rPr lang="en-US" altLang="zh-CN" dirty="0">
                <a:solidFill>
                  <a:srgbClr val="FFFF00"/>
                </a:solidFill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点的相位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bject 5">
                <a:extLst>
                  <a:ext uri="{FF2B5EF4-FFF2-40B4-BE49-F238E27FC236}">
                    <a16:creationId xmlns:a16="http://schemas.microsoft.com/office/drawing/2014/main" id="{C88A975C-7244-407F-98D2-B73DD5722959}"/>
                  </a:ext>
                </a:extLst>
              </p:cNvPr>
              <p:cNvSpPr txBox="1"/>
              <p:nvPr/>
            </p:nvSpPr>
            <p:spPr bwMode="auto">
              <a:xfrm>
                <a:off x="4834270" y="2492896"/>
                <a:ext cx="1537930" cy="719137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 baseline="-250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76" name="Object 5">
                <a:extLst>
                  <a:ext uri="{FF2B5EF4-FFF2-40B4-BE49-F238E27FC236}">
                    <a16:creationId xmlns:a16="http://schemas.microsoft.com/office/drawing/2014/main" id="{C88A975C-7244-407F-98D2-B73DD5722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4270" y="2492896"/>
                <a:ext cx="1537930" cy="7191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Object 14">
                <a:extLst>
                  <a:ext uri="{FF2B5EF4-FFF2-40B4-BE49-F238E27FC236}">
                    <a16:creationId xmlns:a16="http://schemas.microsoft.com/office/drawing/2014/main" id="{DBD24C7B-52AF-42CC-B722-76B12E2AA1B8}"/>
                  </a:ext>
                </a:extLst>
              </p:cNvPr>
              <p:cNvSpPr txBox="1"/>
              <p:nvPr/>
            </p:nvSpPr>
            <p:spPr bwMode="auto">
              <a:xfrm>
                <a:off x="1763688" y="3069904"/>
                <a:ext cx="5284093" cy="719136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200" i="1" baseline="-2500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den>
                          </m:f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sz="22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zh-CN" altLang="en-US" sz="22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77" name="Object 14">
                <a:extLst>
                  <a:ext uri="{FF2B5EF4-FFF2-40B4-BE49-F238E27FC236}">
                    <a16:creationId xmlns:a16="http://schemas.microsoft.com/office/drawing/2014/main" id="{DBD24C7B-52AF-42CC-B722-76B12E2AA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688" y="3069904"/>
                <a:ext cx="5284093" cy="71913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 Box 6" descr="绿色大理石">
            <a:extLst>
              <a:ext uri="{FF2B5EF4-FFF2-40B4-BE49-F238E27FC236}">
                <a16:creationId xmlns:a16="http://schemas.microsoft.com/office/drawing/2014/main" id="{BCD37353-1D39-4551-A47F-E7B23B8D0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3861048"/>
            <a:ext cx="2466385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i="1" dirty="0">
                <a:solidFill>
                  <a:srgbClr val="FFFF00"/>
                </a:solidFill>
                <a:cs typeface="Times New Roman" panose="02020603050405020304" pitchFamily="18" charset="0"/>
              </a:rPr>
              <a:t>x 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轴负向传播：</a:t>
            </a: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110C8BB7-4A0C-4F7E-A2FD-6151382E0073}"/>
              </a:ext>
            </a:extLst>
          </p:cNvPr>
          <p:cNvGrpSpPr/>
          <p:nvPr/>
        </p:nvGrpSpPr>
        <p:grpSpPr>
          <a:xfrm>
            <a:off x="5292080" y="3568873"/>
            <a:ext cx="3716337" cy="1084263"/>
            <a:chOff x="5176143" y="1268190"/>
            <a:chExt cx="3716337" cy="1084263"/>
          </a:xfrm>
        </p:grpSpPr>
        <p:graphicFrame>
          <p:nvGraphicFramePr>
            <p:cNvPr id="80" name="Object 5">
              <a:extLst>
                <a:ext uri="{FF2B5EF4-FFF2-40B4-BE49-F238E27FC236}">
                  <a16:creationId xmlns:a16="http://schemas.microsoft.com/office/drawing/2014/main" id="{E1212B0D-BD0B-49E1-AF83-5A7CFFBF4736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276406" y="1340768"/>
            <a:ext cx="358981" cy="384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77" name="Equation" r:id="rId4" imgW="76149" imgH="114198" progId="Equation.3">
                    <p:embed/>
                  </p:oleObj>
                </mc:Choice>
                <mc:Fallback>
                  <p:oleObj name="Equation" r:id="rId4" imgW="76149" imgH="114198" progId="Equation.3">
                    <p:embed/>
                    <p:pic>
                      <p:nvPicPr>
                        <p:cNvPr id="80" name="Object 5">
                          <a:extLst>
                            <a:ext uri="{FF2B5EF4-FFF2-40B4-BE49-F238E27FC236}">
                              <a16:creationId xmlns:a16="http://schemas.microsoft.com/office/drawing/2014/main" id="{E1212B0D-BD0B-49E1-AF83-5A7CFFBF47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6406" y="1340768"/>
                          <a:ext cx="358981" cy="3846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01011D26-2FAD-42D9-B08C-EE4E5EB752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39831" y="1556668"/>
              <a:ext cx="45720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 Box 27">
              <a:extLst>
                <a:ext uri="{FF2B5EF4-FFF2-40B4-BE49-F238E27FC236}">
                  <a16:creationId xmlns:a16="http://schemas.microsoft.com/office/drawing/2014/main" id="{90C9208D-34ED-4D8D-A4C3-70683148DE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8518" y="1902048"/>
              <a:ext cx="60960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en-US" altLang="zh-CN" sz="2200" i="1">
                  <a:solidFill>
                    <a:srgbClr val="FFFF00"/>
                  </a:solidFill>
                </a:rPr>
                <a:t>P</a:t>
              </a:r>
            </a:p>
          </p:txBody>
        </p:sp>
        <p:grpSp>
          <p:nvGrpSpPr>
            <p:cNvPr id="83" name="Group 29">
              <a:extLst>
                <a:ext uri="{FF2B5EF4-FFF2-40B4-BE49-F238E27FC236}">
                  <a16:creationId xmlns:a16="http://schemas.microsoft.com/office/drawing/2014/main" id="{855EC5E4-7E00-4158-A10C-63DB0A1088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76143" y="1268190"/>
              <a:ext cx="3716337" cy="1084263"/>
              <a:chOff x="3334" y="477"/>
              <a:chExt cx="2341" cy="683"/>
            </a:xfrm>
          </p:grpSpPr>
          <p:graphicFrame>
            <p:nvGraphicFramePr>
              <p:cNvPr id="84" name="Object 8">
                <a:extLst>
                  <a:ext uri="{FF2B5EF4-FFF2-40B4-BE49-F238E27FC236}">
                    <a16:creationId xmlns:a16="http://schemas.microsoft.com/office/drawing/2014/main" id="{3383F0E4-C4B0-462F-A857-76924D6D3F90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032" y="477"/>
              <a:ext cx="217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578" name="Equation" r:id="rId6" imgW="104896" imgH="171450" progId="Equation.3">
                      <p:embed/>
                    </p:oleObj>
                  </mc:Choice>
                  <mc:Fallback>
                    <p:oleObj name="Equation" r:id="rId6" imgW="104896" imgH="171450" progId="Equation.3">
                      <p:embed/>
                      <p:pic>
                        <p:nvPicPr>
                          <p:cNvPr id="84" name="Object 8">
                            <a:extLst>
                              <a:ext uri="{FF2B5EF4-FFF2-40B4-BE49-F238E27FC236}">
                                <a16:creationId xmlns:a16="http://schemas.microsoft.com/office/drawing/2014/main" id="{3383F0E4-C4B0-462F-A857-76924D6D3F9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32" y="477"/>
                            <a:ext cx="217" cy="3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5" name="Line 31">
                <a:extLst>
                  <a:ext uri="{FF2B5EF4-FFF2-40B4-BE49-F238E27FC236}">
                    <a16:creationId xmlns:a16="http://schemas.microsoft.com/office/drawing/2014/main" id="{FA058B1A-211A-4381-BB4D-F0F8DC0C3B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4" y="874"/>
                <a:ext cx="2160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Text Box 32">
                <a:extLst>
                  <a:ext uri="{FF2B5EF4-FFF2-40B4-BE49-F238E27FC236}">
                    <a16:creationId xmlns:a16="http://schemas.microsoft.com/office/drawing/2014/main" id="{289C643F-29C2-417D-ADCD-6A486498AF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2" y="889"/>
                <a:ext cx="48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0" lang="en-US" altLang="zh-CN" sz="2200" i="1" dirty="0">
                    <a:solidFill>
                      <a:srgbClr val="FFFF00"/>
                    </a:solidFill>
                  </a:rPr>
                  <a:t>O</a:t>
                </a:r>
              </a:p>
            </p:txBody>
          </p:sp>
          <p:sp>
            <p:nvSpPr>
              <p:cNvPr id="87" name="Text Box 33">
                <a:extLst>
                  <a:ext uri="{FF2B5EF4-FFF2-40B4-BE49-F238E27FC236}">
                    <a16:creationId xmlns:a16="http://schemas.microsoft.com/office/drawing/2014/main" id="{FF7F6C03-4B93-4F5C-B648-7E49F3D03B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8" y="889"/>
                <a:ext cx="38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0" lang="en-US" altLang="zh-CN" sz="2200" i="1">
                    <a:solidFill>
                      <a:srgbClr val="FFFF00"/>
                    </a:solidFill>
                  </a:rPr>
                  <a:t>A</a:t>
                </a:r>
              </a:p>
            </p:txBody>
          </p:sp>
          <p:sp>
            <p:nvSpPr>
              <p:cNvPr id="88" name="Line 34">
                <a:extLst>
                  <a:ext uri="{FF2B5EF4-FFF2-40B4-BE49-F238E27FC236}">
                    <a16:creationId xmlns:a16="http://schemas.microsoft.com/office/drawing/2014/main" id="{03A2149B-B78B-4B88-8A0C-7718632AB1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78" y="618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35">
                <a:extLst>
                  <a:ext uri="{FF2B5EF4-FFF2-40B4-BE49-F238E27FC236}">
                    <a16:creationId xmlns:a16="http://schemas.microsoft.com/office/drawing/2014/main" id="{C63FCF7A-6862-4187-AD8E-0766D67282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4" y="618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36">
                <a:extLst>
                  <a:ext uri="{FF2B5EF4-FFF2-40B4-BE49-F238E27FC236}">
                    <a16:creationId xmlns:a16="http://schemas.microsoft.com/office/drawing/2014/main" id="{224E7535-D272-4BC3-BF8B-10FACF4848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2" y="750"/>
                <a:ext cx="561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91" name="Object 9">
                <a:extLst>
                  <a:ext uri="{FF2B5EF4-FFF2-40B4-BE49-F238E27FC236}">
                    <a16:creationId xmlns:a16="http://schemas.microsoft.com/office/drawing/2014/main" id="{028F805E-3841-467A-A1B1-D5D06257204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494" y="784"/>
              <a:ext cx="181" cy="1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579" name="Equation" r:id="rId8" imgW="76149" imgH="95216" progId="Equation.3">
                      <p:embed/>
                    </p:oleObj>
                  </mc:Choice>
                  <mc:Fallback>
                    <p:oleObj name="Equation" r:id="rId8" imgW="76149" imgH="95216" progId="Equation.3">
                      <p:embed/>
                      <p:pic>
                        <p:nvPicPr>
                          <p:cNvPr id="91" name="Object 9">
                            <a:extLst>
                              <a:ext uri="{FF2B5EF4-FFF2-40B4-BE49-F238E27FC236}">
                                <a16:creationId xmlns:a16="http://schemas.microsoft.com/office/drawing/2014/main" id="{028F805E-3841-467A-A1B1-D5D06257204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94" y="784"/>
                            <a:ext cx="181" cy="1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" name="Text Box 38">
                <a:extLst>
                  <a:ext uri="{FF2B5EF4-FFF2-40B4-BE49-F238E27FC236}">
                    <a16:creationId xmlns:a16="http://schemas.microsoft.com/office/drawing/2014/main" id="{C948D1A2-9FCD-414B-A70D-9EEBAFF987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8" y="488"/>
                <a:ext cx="182" cy="5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4800">
                    <a:solidFill>
                      <a:srgbClr val="66FF33"/>
                    </a:solidFill>
                    <a:latin typeface="Bookman Old Style" panose="02050604050505020204" pitchFamily="18" charset="0"/>
                    <a:ea typeface="仿宋_GB2312" pitchFamily="49" charset="-122"/>
                    <a:sym typeface="Symbol" panose="05050102010706020507" pitchFamily="18" charset="2"/>
                  </a:rPr>
                  <a:t></a:t>
                </a:r>
              </a:p>
            </p:txBody>
          </p:sp>
          <p:sp>
            <p:nvSpPr>
              <p:cNvPr id="93" name="Text Box 39">
                <a:extLst>
                  <a:ext uri="{FF2B5EF4-FFF2-40B4-BE49-F238E27FC236}">
                    <a16:creationId xmlns:a16="http://schemas.microsoft.com/office/drawing/2014/main" id="{8903C51B-90D2-4C54-8D6C-7452F4666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8" y="488"/>
                <a:ext cx="156" cy="5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4800">
                    <a:solidFill>
                      <a:srgbClr val="66FF33"/>
                    </a:solidFill>
                    <a:latin typeface="Bookman Old Style" panose="02050604050505020204" pitchFamily="18" charset="0"/>
                    <a:ea typeface="仿宋_GB2312" pitchFamily="49" charset="-122"/>
                    <a:sym typeface="Symbol" panose="05050102010706020507" pitchFamily="18" charset="2"/>
                  </a:rPr>
                  <a:t></a:t>
                </a:r>
              </a:p>
            </p:txBody>
          </p:sp>
          <p:sp>
            <p:nvSpPr>
              <p:cNvPr id="94" name="Rectangle 40">
                <a:extLst>
                  <a:ext uri="{FF2B5EF4-FFF2-40B4-BE49-F238E27FC236}">
                    <a16:creationId xmlns:a16="http://schemas.microsoft.com/office/drawing/2014/main" id="{CFF6B45E-D71A-4357-A675-4CCF944AF0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3" y="487"/>
                <a:ext cx="212" cy="5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4800" dirty="0">
                    <a:solidFill>
                      <a:srgbClr val="66FF33"/>
                    </a:solidFill>
                    <a:latin typeface="Bookman Old Style" panose="02050604050505020204" pitchFamily="18" charset="0"/>
                    <a:ea typeface="仿宋_GB2312" pitchFamily="49" charset="-122"/>
                    <a:sym typeface="Symbol" panose="05050102010706020507" pitchFamily="18" charset="2"/>
                  </a:rPr>
                  <a:t></a:t>
                </a:r>
              </a:p>
            </p:txBody>
          </p:sp>
        </p:grpSp>
      </p:grpSp>
      <p:sp>
        <p:nvSpPr>
          <p:cNvPr id="103" name="AutoShape 5">
            <a:extLst>
              <a:ext uri="{FF2B5EF4-FFF2-40B4-BE49-F238E27FC236}">
                <a16:creationId xmlns:a16="http://schemas.microsoft.com/office/drawing/2014/main" id="{E783EA61-FC2B-45F3-A008-3CC0F4826E97}"/>
              </a:ext>
            </a:extLst>
          </p:cNvPr>
          <p:cNvSpPr>
            <a:spLocks/>
          </p:cNvSpPr>
          <p:nvPr/>
        </p:nvSpPr>
        <p:spPr bwMode="auto">
          <a:xfrm>
            <a:off x="611560" y="4814390"/>
            <a:ext cx="285750" cy="775793"/>
          </a:xfrm>
          <a:prstGeom prst="leftBrace">
            <a:avLst>
              <a:gd name="adj1" fmla="val 60593"/>
              <a:gd name="adj2" fmla="val 50000"/>
            </a:avLst>
          </a:prstGeom>
          <a:noFill/>
          <a:ln w="25400">
            <a:solidFill>
              <a:srgbClr val="FF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66FFFF"/>
              </a:solidFill>
              <a:ea typeface="仿宋_GB2312" pitchFamily="49" charset="-122"/>
            </a:endParaRPr>
          </a:p>
        </p:txBody>
      </p:sp>
      <p:sp>
        <p:nvSpPr>
          <p:cNvPr id="104" name="Text Box 6" descr="绿色大理石">
            <a:extLst>
              <a:ext uri="{FF2B5EF4-FFF2-40B4-BE49-F238E27FC236}">
                <a16:creationId xmlns:a16="http://schemas.microsoft.com/office/drawing/2014/main" id="{4EB2A6A3-AB65-48A5-A621-4D279D247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4582255"/>
            <a:ext cx="2466385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时间：</a:t>
            </a:r>
          </a:p>
        </p:txBody>
      </p:sp>
      <p:sp>
        <p:nvSpPr>
          <p:cNvPr id="105" name="Text Box 19" descr="绿色大理石">
            <a:extLst>
              <a:ext uri="{FF2B5EF4-FFF2-40B4-BE49-F238E27FC236}">
                <a16:creationId xmlns:a16="http://schemas.microsoft.com/office/drawing/2014/main" id="{C4FFDC91-E04B-4572-9C63-B97D13AB7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4582071"/>
            <a:ext cx="5284093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i="1" dirty="0">
                <a:solidFill>
                  <a:srgbClr val="FFFF00"/>
                </a:solidFill>
              </a:rPr>
              <a:t>P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点在</a:t>
            </a:r>
            <a:r>
              <a:rPr lang="en-US" altLang="zh-CN" i="1" dirty="0">
                <a:solidFill>
                  <a:srgbClr val="FFFF00"/>
                </a:solidFill>
              </a:rPr>
              <a:t>t</a:t>
            </a:r>
            <a:r>
              <a:rPr lang="en-US" altLang="zh-CN" i="1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时刻振动状态与</a:t>
            </a:r>
            <a:r>
              <a:rPr lang="en-US" altLang="zh-CN" dirty="0">
                <a:solidFill>
                  <a:srgbClr val="FFFF00"/>
                </a:solidFill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点在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Object 5">
                <a:extLst>
                  <a:ext uri="{FF2B5EF4-FFF2-40B4-BE49-F238E27FC236}">
                    <a16:creationId xmlns:a16="http://schemas.microsoft.com/office/drawing/2014/main" id="{E60935CF-763D-44BE-9DAF-5C348B6DE22D}"/>
                  </a:ext>
                </a:extLst>
              </p:cNvPr>
              <p:cNvSpPr txBox="1"/>
              <p:nvPr/>
            </p:nvSpPr>
            <p:spPr bwMode="auto">
              <a:xfrm>
                <a:off x="5752207" y="4618509"/>
                <a:ext cx="1483320" cy="75565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1" i="1" baseline="-2500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06" name="Object 5">
                <a:extLst>
                  <a:ext uri="{FF2B5EF4-FFF2-40B4-BE49-F238E27FC236}">
                    <a16:creationId xmlns:a16="http://schemas.microsoft.com/office/drawing/2014/main" id="{E60935CF-763D-44BE-9DAF-5C348B6DE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52207" y="4618509"/>
                <a:ext cx="1483320" cy="75565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Rectangle 25">
            <a:extLst>
              <a:ext uri="{FF2B5EF4-FFF2-40B4-BE49-F238E27FC236}">
                <a16:creationId xmlns:a16="http://schemas.microsoft.com/office/drawing/2014/main" id="{E33F5ED1-70B2-4578-A1DE-A51C1EC50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0359" y="4696654"/>
            <a:ext cx="22041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状态相同</a:t>
            </a:r>
            <a:endParaRPr lang="en-US" altLang="zh-CN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08" name="Text Box 6" descr="绿色大理石">
            <a:extLst>
              <a:ext uri="{FF2B5EF4-FFF2-40B4-BE49-F238E27FC236}">
                <a16:creationId xmlns:a16="http://schemas.microsoft.com/office/drawing/2014/main" id="{5FC8A0E1-8908-4B8D-B834-EE443D671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5158319"/>
            <a:ext cx="2466385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相位：</a:t>
            </a:r>
          </a:p>
        </p:txBody>
      </p:sp>
      <p:sp>
        <p:nvSpPr>
          <p:cNvPr id="109" name="Text Box 19" descr="绿色大理石">
            <a:extLst>
              <a:ext uri="{FF2B5EF4-FFF2-40B4-BE49-F238E27FC236}">
                <a16:creationId xmlns:a16="http://schemas.microsoft.com/office/drawing/2014/main" id="{CCDE47EE-2642-47B0-BB58-0C6F75185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5158135"/>
            <a:ext cx="5284093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i="1" dirty="0">
                <a:solidFill>
                  <a:srgbClr val="FFFF00"/>
                </a:solidFill>
              </a:rPr>
              <a:t>P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点相位超前</a:t>
            </a:r>
            <a:r>
              <a:rPr lang="en-US" altLang="zh-CN" dirty="0">
                <a:solidFill>
                  <a:srgbClr val="FFFF00"/>
                </a:solidFill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点的相位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Object 5">
                <a:extLst>
                  <a:ext uri="{FF2B5EF4-FFF2-40B4-BE49-F238E27FC236}">
                    <a16:creationId xmlns:a16="http://schemas.microsoft.com/office/drawing/2014/main" id="{C7A0D634-77B5-4B4C-8643-941B90573EA5}"/>
                  </a:ext>
                </a:extLst>
              </p:cNvPr>
              <p:cNvSpPr txBox="1"/>
              <p:nvPr/>
            </p:nvSpPr>
            <p:spPr bwMode="auto">
              <a:xfrm>
                <a:off x="4834270" y="5158135"/>
                <a:ext cx="1537930" cy="719137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 baseline="-250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10" name="Object 5">
                <a:extLst>
                  <a:ext uri="{FF2B5EF4-FFF2-40B4-BE49-F238E27FC236}">
                    <a16:creationId xmlns:a16="http://schemas.microsoft.com/office/drawing/2014/main" id="{C7A0D634-77B5-4B4C-8643-941B90573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4270" y="5158135"/>
                <a:ext cx="1537930" cy="71913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Text Box 6" descr="绿色大理石">
            <a:extLst>
              <a:ext uri="{FF2B5EF4-FFF2-40B4-BE49-F238E27FC236}">
                <a16:creationId xmlns:a16="http://schemas.microsoft.com/office/drawing/2014/main" id="{E384A699-8825-4AFD-B3F6-8B63894DA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5965575"/>
            <a:ext cx="1655762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波函数</a:t>
            </a:r>
            <a:r>
              <a:rPr lang="en-US" altLang="zh-CN" dirty="0">
                <a:solidFill>
                  <a:srgbClr val="FFFF00"/>
                </a:solidFill>
                <a:latin typeface="宋体" panose="02010600030101010101" pitchFamily="2" charset="-122"/>
              </a:rPr>
              <a:t>:</a:t>
            </a:r>
            <a:endParaRPr lang="zh-CN" altLang="en-US" dirty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Object 14">
                <a:extLst>
                  <a:ext uri="{FF2B5EF4-FFF2-40B4-BE49-F238E27FC236}">
                    <a16:creationId xmlns:a16="http://schemas.microsoft.com/office/drawing/2014/main" id="{C6384E28-CBF2-46B8-8A52-9CD1738F62BB}"/>
                  </a:ext>
                </a:extLst>
              </p:cNvPr>
              <p:cNvSpPr txBox="1"/>
              <p:nvPr/>
            </p:nvSpPr>
            <p:spPr bwMode="auto">
              <a:xfrm>
                <a:off x="1763266" y="5950224"/>
                <a:ext cx="5284093" cy="719136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200" i="1" baseline="-2500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den>
                          </m:f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sz="22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zh-CN" altLang="en-US" sz="22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12" name="Object 14">
                <a:extLst>
                  <a:ext uri="{FF2B5EF4-FFF2-40B4-BE49-F238E27FC236}">
                    <a16:creationId xmlns:a16="http://schemas.microsoft.com/office/drawing/2014/main" id="{C6384E28-CBF2-46B8-8A52-9CD1738F6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266" y="5950224"/>
                <a:ext cx="5284093" cy="71913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星形: 五角 1">
            <a:extLst>
              <a:ext uri="{FF2B5EF4-FFF2-40B4-BE49-F238E27FC236}">
                <a16:creationId xmlns:a16="http://schemas.microsoft.com/office/drawing/2014/main" id="{3235C365-86F1-4FD5-BCC9-B0FA90FDB782}"/>
              </a:ext>
            </a:extLst>
          </p:cNvPr>
          <p:cNvSpPr/>
          <p:nvPr/>
        </p:nvSpPr>
        <p:spPr bwMode="auto">
          <a:xfrm>
            <a:off x="7536908" y="70477"/>
            <a:ext cx="475456" cy="471488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35051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utoUpdateAnimBg="0"/>
      <p:bldP spid="38" grpId="0"/>
      <p:bldP spid="14" grpId="0"/>
      <p:bldP spid="15" grpId="0"/>
      <p:bldP spid="68" grpId="0"/>
      <p:bldP spid="69" grpId="0" animBg="1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103" grpId="0" animBg="1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741A2E8A-597A-40AE-8DAB-5EF85FC08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29" y="692696"/>
            <a:ext cx="67484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zh-CN" altLang="en-US" dirty="0">
                <a:solidFill>
                  <a:srgbClr val="FFFF00"/>
                </a:solidFill>
                <a:latin typeface="宋体" pitchFamily="2" charset="-122"/>
              </a:rPr>
              <a:t>波函数的一般求解过程：   </a:t>
            </a:r>
            <a:r>
              <a:rPr lang="zh-CN" altLang="en-US" dirty="0">
                <a:solidFill>
                  <a:schemeClr val="bg1"/>
                </a:solidFill>
                <a:latin typeface="宋体" pitchFamily="2" charset="-122"/>
              </a:rPr>
              <a:t>代数解法</a:t>
            </a:r>
          </a:p>
        </p:txBody>
      </p:sp>
      <p:sp>
        <p:nvSpPr>
          <p:cNvPr id="38" name="Text Box 6" descr="绿色大理石">
            <a:extLst>
              <a:ext uri="{FF2B5EF4-FFF2-40B4-BE49-F238E27FC236}">
                <a16:creationId xmlns:a16="http://schemas.microsoft.com/office/drawing/2014/main" id="{8C9E10B6-13CA-480C-A653-F03C9BD9F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53" y="2509191"/>
            <a:ext cx="2133599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设波函数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6155" name="灯片编号占位符 1">
            <a:extLst>
              <a:ext uri="{FF2B5EF4-FFF2-40B4-BE49-F238E27FC236}">
                <a16:creationId xmlns:a16="http://schemas.microsoft.com/office/drawing/2014/main" id="{5A37E3C4-030B-4E33-936B-30993DCB119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C67FB2-6378-4111-86D3-E2E475FBCC9C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2CDD2C9D-C594-4022-814E-B3E8D0D78893}"/>
                  </a:ext>
                </a:extLst>
              </p:cNvPr>
              <p:cNvSpPr txBox="1"/>
              <p:nvPr/>
            </p:nvSpPr>
            <p:spPr bwMode="auto">
              <a:xfrm>
                <a:off x="4601060" y="1916832"/>
                <a:ext cx="3214688" cy="47148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2CDD2C9D-C594-4022-814E-B3E8D0D78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1060" y="1916832"/>
                <a:ext cx="3214688" cy="471488"/>
              </a:xfrm>
              <a:prstGeom prst="rect">
                <a:avLst/>
              </a:prstGeom>
              <a:blipFill>
                <a:blip r:embed="rId2"/>
                <a:stretch>
                  <a:fillRect b="-6410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30">
            <a:extLst>
              <a:ext uri="{FF2B5EF4-FFF2-40B4-BE49-F238E27FC236}">
                <a16:creationId xmlns:a16="http://schemas.microsoft.com/office/drawing/2014/main" id="{21259582-D8B6-4BF5-9F1D-66BDFC175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794" y="1926357"/>
            <a:ext cx="510962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已知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FFC00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i="1" baseline="-25000" dirty="0" err="1">
                <a:solidFill>
                  <a:srgbClr val="FFC000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solidFill>
                  <a:srgbClr val="FFC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处质点</a:t>
            </a:r>
            <a:r>
              <a:rPr lang="zh-CN" alt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振动方程：</a:t>
            </a:r>
          </a:p>
        </p:txBody>
      </p:sp>
      <p:sp>
        <p:nvSpPr>
          <p:cNvPr id="68" name="Text Box 6" descr="绿色大理石">
            <a:extLst>
              <a:ext uri="{FF2B5EF4-FFF2-40B4-BE49-F238E27FC236}">
                <a16:creationId xmlns:a16="http://schemas.microsoft.com/office/drawing/2014/main" id="{EA8B84FC-C07C-49CF-A82F-B4AC6DD96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07" y="1196568"/>
            <a:ext cx="5545757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cs typeface="Times New Roman" panose="02020603050405020304" pitchFamily="18" charset="0"/>
              </a:rPr>
              <a:t>例：</a:t>
            </a:r>
            <a:r>
              <a:rPr lang="en-US" altLang="zh-CN" i="1" dirty="0">
                <a:solidFill>
                  <a:srgbClr val="FFFF00"/>
                </a:solidFill>
                <a:cs typeface="Times New Roman" panose="02020603050405020304" pitchFamily="18" charset="0"/>
              </a:rPr>
              <a:t>x 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轴正向传播，波速</a:t>
            </a:r>
            <a:r>
              <a:rPr lang="zh-CN" altLang="en-US" i="1" dirty="0">
                <a:solidFill>
                  <a:srgbClr val="FFFF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cs typeface="Times New Roman" panose="02020603050405020304" pitchFamily="18" charset="0"/>
              </a:rPr>
              <a:t>u </a:t>
            </a:r>
            <a:endParaRPr lang="zh-CN" altLang="en-US" i="1" dirty="0">
              <a:solidFill>
                <a:srgbClr val="FFFF00"/>
              </a:solidFill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Object 14">
                <a:extLst>
                  <a:ext uri="{FF2B5EF4-FFF2-40B4-BE49-F238E27FC236}">
                    <a16:creationId xmlns:a16="http://schemas.microsoft.com/office/drawing/2014/main" id="{DBD24C7B-52AF-42CC-B722-76B12E2AA1B8}"/>
                  </a:ext>
                </a:extLst>
              </p:cNvPr>
              <p:cNvSpPr txBox="1"/>
              <p:nvPr/>
            </p:nvSpPr>
            <p:spPr bwMode="auto">
              <a:xfrm>
                <a:off x="2243623" y="2493840"/>
                <a:ext cx="4708029" cy="719136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den>
                          </m:f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sz="22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zh-CN" altLang="en-US" sz="22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77" name="Object 14">
                <a:extLst>
                  <a:ext uri="{FF2B5EF4-FFF2-40B4-BE49-F238E27FC236}">
                    <a16:creationId xmlns:a16="http://schemas.microsoft.com/office/drawing/2014/main" id="{DBD24C7B-52AF-42CC-B722-76B12E2AA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3623" y="2493840"/>
                <a:ext cx="4708029" cy="719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Text Box 6" descr="绿色大理石">
            <a:extLst>
              <a:ext uri="{FF2B5EF4-FFF2-40B4-BE49-F238E27FC236}">
                <a16:creationId xmlns:a16="http://schemas.microsoft.com/office/drawing/2014/main" id="{4F56C4C4-64D8-4853-91D2-2326A96D4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48" y="3212976"/>
            <a:ext cx="3657922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波函数的意义</a:t>
            </a:r>
            <a:r>
              <a:rPr lang="en-US" altLang="zh-CN" dirty="0">
                <a:solidFill>
                  <a:srgbClr val="FFFF00"/>
                </a:solidFill>
                <a:latin typeface="宋体" panose="02010600030101010101" pitchFamily="2" charset="-122"/>
              </a:rPr>
              <a:t>:</a:t>
            </a:r>
            <a:endParaRPr lang="zh-CN" altLang="en-US" dirty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96" name="Text Box 6" descr="绿色大理石">
            <a:extLst>
              <a:ext uri="{FF2B5EF4-FFF2-40B4-BE49-F238E27FC236}">
                <a16:creationId xmlns:a16="http://schemas.microsoft.com/office/drawing/2014/main" id="{10349700-268A-4FA2-9B91-D78C5CB09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069" y="3214864"/>
            <a:ext cx="5283225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所有的介质质点的振动规律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Object 14">
                <a:extLst>
                  <a:ext uri="{FF2B5EF4-FFF2-40B4-BE49-F238E27FC236}">
                    <a16:creationId xmlns:a16="http://schemas.microsoft.com/office/drawing/2014/main" id="{66B8670A-FABC-45A0-BDE9-E1D65111F535}"/>
                  </a:ext>
                </a:extLst>
              </p:cNvPr>
              <p:cNvSpPr txBox="1"/>
              <p:nvPr/>
            </p:nvSpPr>
            <p:spPr bwMode="auto">
              <a:xfrm>
                <a:off x="3251735" y="3933056"/>
                <a:ext cx="4708029" cy="719136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𝒙𝑨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200" b="1" i="1" baseline="-25000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den>
                          </m:f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sz="22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zh-CN" altLang="en-US" sz="22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97" name="Object 14">
                <a:extLst>
                  <a:ext uri="{FF2B5EF4-FFF2-40B4-BE49-F238E27FC236}">
                    <a16:creationId xmlns:a16="http://schemas.microsoft.com/office/drawing/2014/main" id="{66B8670A-FABC-45A0-BDE9-E1D65111F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1735" y="3933056"/>
                <a:ext cx="4708029" cy="7191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 Box 6" descr="绿色大理石">
            <a:extLst>
              <a:ext uri="{FF2B5EF4-FFF2-40B4-BE49-F238E27FC236}">
                <a16:creationId xmlns:a16="http://schemas.microsoft.com/office/drawing/2014/main" id="{2E9D2C43-A6A1-4CEF-ADEB-AF6193991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805" y="3945185"/>
            <a:ext cx="3238143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i="1" dirty="0" err="1">
                <a:solidFill>
                  <a:srgbClr val="FFC00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i="1" baseline="-25000" dirty="0" err="1">
                <a:solidFill>
                  <a:srgbClr val="FFC000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solidFill>
                  <a:srgbClr val="FFC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处质点代入波函数</a:t>
            </a:r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931433BE-CD66-4712-85B7-6CD86BB29471}"/>
              </a:ext>
            </a:extLst>
          </p:cNvPr>
          <p:cNvSpPr/>
          <p:nvPr/>
        </p:nvSpPr>
        <p:spPr bwMode="auto">
          <a:xfrm flipH="1">
            <a:off x="7599724" y="2219846"/>
            <a:ext cx="360040" cy="2001242"/>
          </a:xfrm>
          <a:prstGeom prst="leftBrace">
            <a:avLst>
              <a:gd name="adj1" fmla="val 68802"/>
              <a:gd name="adj2" fmla="val 50000"/>
            </a:avLst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" name="Text Box 6" descr="绿色大理石">
            <a:extLst>
              <a:ext uri="{FF2B5EF4-FFF2-40B4-BE49-F238E27FC236}">
                <a16:creationId xmlns:a16="http://schemas.microsoft.com/office/drawing/2014/main" id="{99307737-1249-4090-848B-8C442714E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427" y="2884854"/>
            <a:ext cx="946061" cy="559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对比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Object 14">
                <a:extLst>
                  <a:ext uri="{FF2B5EF4-FFF2-40B4-BE49-F238E27FC236}">
                    <a16:creationId xmlns:a16="http://schemas.microsoft.com/office/drawing/2014/main" id="{0413217D-D950-4C81-A2BF-0CCAD7136D28}"/>
                  </a:ext>
                </a:extLst>
              </p:cNvPr>
              <p:cNvSpPr txBox="1"/>
              <p:nvPr/>
            </p:nvSpPr>
            <p:spPr bwMode="auto">
              <a:xfrm>
                <a:off x="5611010" y="4798096"/>
                <a:ext cx="2304256" cy="719136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2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2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CN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altLang="zh-CN" sz="22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200" i="1" baseline="-2500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zh-CN" altLang="en-US" sz="22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00" name="Object 14">
                <a:extLst>
                  <a:ext uri="{FF2B5EF4-FFF2-40B4-BE49-F238E27FC236}">
                    <a16:creationId xmlns:a16="http://schemas.microsoft.com/office/drawing/2014/main" id="{0413217D-D950-4C81-A2BF-0CCAD7136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1010" y="4798096"/>
                <a:ext cx="2304256" cy="7191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29E8B9D-58F1-4300-AD7B-E2C7E229E2CC}"/>
              </a:ext>
            </a:extLst>
          </p:cNvPr>
          <p:cNvCxnSpPr>
            <a:stCxn id="100" idx="1"/>
          </p:cNvCxnSpPr>
          <p:nvPr/>
        </p:nvCxnSpPr>
        <p:spPr bwMode="auto">
          <a:xfrm flipH="1">
            <a:off x="5034946" y="5157664"/>
            <a:ext cx="576064" cy="47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Object 14">
                <a:extLst>
                  <a:ext uri="{FF2B5EF4-FFF2-40B4-BE49-F238E27FC236}">
                    <a16:creationId xmlns:a16="http://schemas.microsoft.com/office/drawing/2014/main" id="{5EDD627E-3628-4A8D-BCFA-F92255201E49}"/>
                  </a:ext>
                </a:extLst>
              </p:cNvPr>
              <p:cNvSpPr txBox="1"/>
              <p:nvPr/>
            </p:nvSpPr>
            <p:spPr bwMode="auto">
              <a:xfrm>
                <a:off x="470932" y="4797152"/>
                <a:ext cx="4708030" cy="719136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200" b="1" i="1" baseline="-25000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den>
                          </m:f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sz="22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en-US" altLang="zh-CN" sz="2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zh-CN" altLang="en-US" sz="22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02" name="Object 14">
                <a:extLst>
                  <a:ext uri="{FF2B5EF4-FFF2-40B4-BE49-F238E27FC236}">
                    <a16:creationId xmlns:a16="http://schemas.microsoft.com/office/drawing/2014/main" id="{5EDD627E-3628-4A8D-BCFA-F92255201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932" y="4797152"/>
                <a:ext cx="4708030" cy="7191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3E476B2-8280-4D2F-964D-F8013929838A}"/>
              </a:ext>
            </a:extLst>
          </p:cNvPr>
          <p:cNvSpPr/>
          <p:nvPr/>
        </p:nvSpPr>
        <p:spPr bwMode="auto">
          <a:xfrm>
            <a:off x="7915267" y="3501008"/>
            <a:ext cx="548554" cy="1656656"/>
          </a:xfrm>
          <a:custGeom>
            <a:avLst/>
            <a:gdLst>
              <a:gd name="connsiteX0" fmla="*/ 217714 w 220227"/>
              <a:gd name="connsiteY0" fmla="*/ 0 h 1402080"/>
              <a:gd name="connsiteX1" fmla="*/ 217714 w 220227"/>
              <a:gd name="connsiteY1" fmla="*/ 696686 h 1402080"/>
              <a:gd name="connsiteX2" fmla="*/ 191589 w 220227"/>
              <a:gd name="connsiteY2" fmla="*/ 1053737 h 1402080"/>
              <a:gd name="connsiteX3" fmla="*/ 0 w 220227"/>
              <a:gd name="connsiteY3" fmla="*/ 1402080 h 140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227" h="1402080">
                <a:moveTo>
                  <a:pt x="217714" y="0"/>
                </a:moveTo>
                <a:cubicBezTo>
                  <a:pt x="219891" y="260531"/>
                  <a:pt x="222068" y="521063"/>
                  <a:pt x="217714" y="696686"/>
                </a:cubicBezTo>
                <a:cubicBezTo>
                  <a:pt x="213360" y="872309"/>
                  <a:pt x="227875" y="936171"/>
                  <a:pt x="191589" y="1053737"/>
                </a:cubicBezTo>
                <a:cubicBezTo>
                  <a:pt x="155303" y="1171303"/>
                  <a:pt x="77651" y="1286691"/>
                  <a:pt x="0" y="1402080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53383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utoUpdateAnimBg="0"/>
      <p:bldP spid="38" grpId="0"/>
      <p:bldP spid="14" grpId="0"/>
      <p:bldP spid="15" grpId="0"/>
      <p:bldP spid="68" grpId="0"/>
      <p:bldP spid="77" grpId="0"/>
      <p:bldP spid="95" grpId="0"/>
      <p:bldP spid="96" grpId="0"/>
      <p:bldP spid="97" grpId="0"/>
      <p:bldP spid="98" grpId="0"/>
      <p:bldP spid="7" grpId="0" animBg="1"/>
      <p:bldP spid="99" grpId="0"/>
      <p:bldP spid="100" grpId="0"/>
      <p:bldP spid="102" grpId="0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4">
            <a:extLst>
              <a:ext uri="{FF2B5EF4-FFF2-40B4-BE49-F238E27FC236}">
                <a16:creationId xmlns:a16="http://schemas.microsoft.com/office/drawing/2014/main" id="{F73FE44D-3203-4621-998D-0490E87A6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354013"/>
            <a:ext cx="80168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如图所示为一平面简谐波在</a:t>
            </a:r>
            <a:r>
              <a:rPr lang="en-US" altLang="zh-CN" i="1">
                <a:solidFill>
                  <a:srgbClr val="FFFF00"/>
                </a:solidFill>
              </a:rPr>
              <a:t>t</a:t>
            </a:r>
            <a:r>
              <a:rPr lang="en-US" altLang="zh-CN">
                <a:solidFill>
                  <a:srgbClr val="FFFF00"/>
                </a:solidFill>
              </a:rPr>
              <a:t>=0</a:t>
            </a:r>
            <a:r>
              <a:rPr lang="zh-CN" altLang="en-US">
                <a:solidFill>
                  <a:schemeClr val="bg1"/>
                </a:solidFill>
              </a:rPr>
              <a:t>时刻的波形图，设此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简谐波的频率为</a:t>
            </a:r>
            <a:r>
              <a:rPr lang="en-US" altLang="zh-CN">
                <a:solidFill>
                  <a:srgbClr val="FFFF00"/>
                </a:solidFill>
              </a:rPr>
              <a:t>250 H</a:t>
            </a:r>
            <a:r>
              <a:rPr lang="en-GB" altLang="zh-CN">
                <a:solidFill>
                  <a:srgbClr val="FFFF00"/>
                </a:solidFill>
              </a:rPr>
              <a:t>z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，且此时质点</a:t>
            </a:r>
            <a:r>
              <a:rPr lang="en-US" altLang="zh-CN" i="1">
                <a:solidFill>
                  <a:srgbClr val="FFFF00"/>
                </a:solidFill>
              </a:rPr>
              <a:t>P 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的运动方向向下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0965" name="Text Box 5">
            <a:extLst>
              <a:ext uri="{FF2B5EF4-FFF2-40B4-BE49-F238E27FC236}">
                <a16:creationId xmlns:a16="http://schemas.microsoft.com/office/drawing/2014/main" id="{354A729F-41D5-4F86-9127-1948E90AB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8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40966" name="Text Box 6">
            <a:extLst>
              <a:ext uri="{FF2B5EF4-FFF2-40B4-BE49-F238E27FC236}">
                <a16:creationId xmlns:a16="http://schemas.microsoft.com/office/drawing/2014/main" id="{FA82BB28-E145-489D-9602-C4295A4A6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70192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B99B024A-5FE7-49FC-8C2E-6318B1468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1368425"/>
            <a:ext cx="8269287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27075" indent="-727075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</a:rPr>
              <a:t>(1) </a:t>
            </a:r>
            <a:r>
              <a:rPr lang="zh-CN" altLang="en-US" dirty="0">
                <a:solidFill>
                  <a:schemeClr val="bg1"/>
                </a:solidFill>
              </a:rPr>
              <a:t>该波的波函数；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</a:rPr>
              <a:t>(2) </a:t>
            </a:r>
            <a:r>
              <a:rPr lang="zh-CN" altLang="en-US" dirty="0">
                <a:solidFill>
                  <a:schemeClr val="bg1"/>
                </a:solidFill>
              </a:rPr>
              <a:t>距原点</a:t>
            </a:r>
            <a:r>
              <a:rPr lang="en-US" altLang="zh-CN" i="1" dirty="0">
                <a:solidFill>
                  <a:srgbClr val="FFFF00"/>
                </a:solidFill>
              </a:rPr>
              <a:t>O</a:t>
            </a:r>
            <a:r>
              <a:rPr lang="zh-CN" altLang="en-US" dirty="0">
                <a:solidFill>
                  <a:schemeClr val="bg1"/>
                </a:solidFill>
              </a:rPr>
              <a:t>为</a:t>
            </a:r>
            <a:r>
              <a:rPr lang="en-US" altLang="zh-CN" dirty="0">
                <a:solidFill>
                  <a:srgbClr val="FFFF00"/>
                </a:solidFill>
              </a:rPr>
              <a:t>100 m</a:t>
            </a:r>
            <a:r>
              <a:rPr lang="zh-CN" altLang="en-US" dirty="0">
                <a:solidFill>
                  <a:schemeClr val="bg1"/>
                </a:solidFill>
              </a:rPr>
              <a:t>处质点的振动方程与振动速度表达式</a:t>
            </a:r>
            <a:r>
              <a:rPr lang="en-US" altLang="zh-CN" dirty="0">
                <a:solidFill>
                  <a:schemeClr val="bg1"/>
                </a:solidFill>
              </a:rPr>
              <a:t>?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0968" name="Rectangle 8">
            <a:extLst>
              <a:ext uri="{FF2B5EF4-FFF2-40B4-BE49-F238E27FC236}">
                <a16:creationId xmlns:a16="http://schemas.microsoft.com/office/drawing/2014/main" id="{FCB5BD2C-0C43-484A-9FAB-D35EEF755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4525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求</a:t>
            </a:r>
          </a:p>
        </p:txBody>
      </p:sp>
      <p:grpSp>
        <p:nvGrpSpPr>
          <p:cNvPr id="2" name="Group 24">
            <a:extLst>
              <a:ext uri="{FF2B5EF4-FFF2-40B4-BE49-F238E27FC236}">
                <a16:creationId xmlns:a16="http://schemas.microsoft.com/office/drawing/2014/main" id="{74409899-1E05-402B-993E-CEEB1533E28F}"/>
              </a:ext>
            </a:extLst>
          </p:cNvPr>
          <p:cNvGrpSpPr>
            <a:grpSpLocks/>
          </p:cNvGrpSpPr>
          <p:nvPr/>
        </p:nvGrpSpPr>
        <p:grpSpPr bwMode="auto">
          <a:xfrm>
            <a:off x="4545013" y="2636838"/>
            <a:ext cx="4635500" cy="2016125"/>
            <a:chOff x="2608" y="2713"/>
            <a:chExt cx="2920" cy="1270"/>
          </a:xfrm>
        </p:grpSpPr>
        <p:sp>
          <p:nvSpPr>
            <p:cNvPr id="13332" name="Line 9">
              <a:extLst>
                <a:ext uri="{FF2B5EF4-FFF2-40B4-BE49-F238E27FC236}">
                  <a16:creationId xmlns:a16="http://schemas.microsoft.com/office/drawing/2014/main" id="{4C2D81F9-905C-43A6-9780-87C6FB3B5C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8" y="3490"/>
              <a:ext cx="271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3" name="Text Box 10" descr="绿色大理石">
              <a:extLst>
                <a:ext uri="{FF2B5EF4-FFF2-40B4-BE49-F238E27FC236}">
                  <a16:creationId xmlns:a16="http://schemas.microsoft.com/office/drawing/2014/main" id="{E7C3BB29-4EE0-4DCE-AE9A-7D338423E2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2" y="2713"/>
              <a:ext cx="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i="1">
                  <a:solidFill>
                    <a:schemeClr val="bg1"/>
                  </a:solidFill>
                </a:rPr>
                <a:t>y</a:t>
              </a:r>
            </a:p>
          </p:txBody>
        </p:sp>
        <p:sp>
          <p:nvSpPr>
            <p:cNvPr id="13334" name="Text Box 11">
              <a:extLst>
                <a:ext uri="{FF2B5EF4-FFF2-40B4-BE49-F238E27FC236}">
                  <a16:creationId xmlns:a16="http://schemas.microsoft.com/office/drawing/2014/main" id="{1B12CFAC-F422-481C-8753-E1FB1D339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0" y="3333"/>
              <a:ext cx="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i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3335" name="Line 13">
              <a:extLst>
                <a:ext uri="{FF2B5EF4-FFF2-40B4-BE49-F238E27FC236}">
                  <a16:creationId xmlns:a16="http://schemas.microsoft.com/office/drawing/2014/main" id="{D726F7FA-57FD-49DF-AA5A-6F93C4ED01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3" y="2953"/>
              <a:ext cx="0" cy="103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36" name="Group 15">
              <a:extLst>
                <a:ext uri="{FF2B5EF4-FFF2-40B4-BE49-F238E27FC236}">
                  <a16:creationId xmlns:a16="http://schemas.microsoft.com/office/drawing/2014/main" id="{1CCC5C14-55AB-414D-A33D-F1BE13704F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9" y="3178"/>
              <a:ext cx="2142" cy="615"/>
              <a:chOff x="2779" y="3178"/>
              <a:chExt cx="2142" cy="615"/>
            </a:xfrm>
          </p:grpSpPr>
          <p:pic>
            <p:nvPicPr>
              <p:cNvPr id="13345" name="Picture 12" descr="图形3">
                <a:extLst>
                  <a:ext uri="{FF2B5EF4-FFF2-40B4-BE49-F238E27FC236}">
                    <a16:creationId xmlns:a16="http://schemas.microsoft.com/office/drawing/2014/main" id="{CB10671F-790E-45EA-B099-484F75DBFC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9" y="3178"/>
                <a:ext cx="1678" cy="5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346" name="Picture 14" descr="图形3">
                <a:extLst>
                  <a:ext uri="{FF2B5EF4-FFF2-40B4-BE49-F238E27FC236}">
                    <a16:creationId xmlns:a16="http://schemas.microsoft.com/office/drawing/2014/main" id="{43952F8A-6DC3-4EF5-9242-71BBF0A055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6388"/>
              <a:stretch>
                <a:fillRect/>
              </a:stretch>
            </p:blipFill>
            <p:spPr bwMode="auto">
              <a:xfrm flipV="1">
                <a:off x="4357" y="3198"/>
                <a:ext cx="564" cy="5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3337" name="Text Box 16">
              <a:extLst>
                <a:ext uri="{FF2B5EF4-FFF2-40B4-BE49-F238E27FC236}">
                  <a16:creationId xmlns:a16="http://schemas.microsoft.com/office/drawing/2014/main" id="{B9D74375-7043-47E3-94CB-2FCCDF4BA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4" y="344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  <p:graphicFrame>
          <p:nvGraphicFramePr>
            <p:cNvPr id="13338" name="Object 7" descr="绿色大理石">
              <a:extLst>
                <a:ext uri="{FF2B5EF4-FFF2-40B4-BE49-F238E27FC236}">
                  <a16:creationId xmlns:a16="http://schemas.microsoft.com/office/drawing/2014/main" id="{E4DA863A-65C8-4DA0-A2AC-2D43CAF49FB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705" y="3032"/>
            <a:ext cx="589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98" name="公式" r:id="rId4" imgW="418973" imgH="190432" progId="Equation.3">
                    <p:embed/>
                  </p:oleObj>
                </mc:Choice>
                <mc:Fallback>
                  <p:oleObj name="公式" r:id="rId4" imgW="418973" imgH="190432" progId="Equation.3">
                    <p:embed/>
                    <p:pic>
                      <p:nvPicPr>
                        <p:cNvPr id="13338" name="Object 7" descr="绿色大理石">
                          <a:extLst>
                            <a:ext uri="{FF2B5EF4-FFF2-40B4-BE49-F238E27FC236}">
                              <a16:creationId xmlns:a16="http://schemas.microsoft.com/office/drawing/2014/main" id="{E4DA863A-65C8-4DA0-A2AC-2D43CAF49F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5" y="3032"/>
                          <a:ext cx="589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68686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9" name="Line 18">
              <a:extLst>
                <a:ext uri="{FF2B5EF4-FFF2-40B4-BE49-F238E27FC236}">
                  <a16:creationId xmlns:a16="http://schemas.microsoft.com/office/drawing/2014/main" id="{917E6905-2058-42F0-84BF-406A010BAD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3763"/>
              <a:ext cx="409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Text Box 19">
              <a:extLst>
                <a:ext uri="{FF2B5EF4-FFF2-40B4-BE49-F238E27FC236}">
                  <a16:creationId xmlns:a16="http://schemas.microsoft.com/office/drawing/2014/main" id="{5FE22DE4-6827-43E7-9938-082601276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0" y="366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chemeClr val="bg1"/>
                  </a:solidFill>
                </a:rPr>
                <a:t>-</a:t>
              </a:r>
              <a:r>
                <a:rPr kumimoji="0" lang="en-US" altLang="zh-CN" i="1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13341" name="Line 20">
              <a:extLst>
                <a:ext uri="{FF2B5EF4-FFF2-40B4-BE49-F238E27FC236}">
                  <a16:creationId xmlns:a16="http://schemas.microsoft.com/office/drawing/2014/main" id="{3A885AD6-EEE0-45C7-AF1F-FBCD4FC067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3179"/>
              <a:ext cx="0" cy="317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2" name="Line 21">
              <a:extLst>
                <a:ext uri="{FF2B5EF4-FFF2-40B4-BE49-F238E27FC236}">
                  <a16:creationId xmlns:a16="http://schemas.microsoft.com/office/drawing/2014/main" id="{CA28CEC8-3A71-4D3E-B25B-8033C6D831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4" y="3175"/>
              <a:ext cx="0" cy="317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3" name="Line 22">
              <a:extLst>
                <a:ext uri="{FF2B5EF4-FFF2-40B4-BE49-F238E27FC236}">
                  <a16:creationId xmlns:a16="http://schemas.microsoft.com/office/drawing/2014/main" id="{CB53FC60-113D-43E8-9187-50F463D47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9" y="3249"/>
              <a:ext cx="54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Text Box 23">
              <a:extLst>
                <a:ext uri="{FF2B5EF4-FFF2-40B4-BE49-F238E27FC236}">
                  <a16:creationId xmlns:a16="http://schemas.microsoft.com/office/drawing/2014/main" id="{3659ECB7-ECFE-46E7-A51F-C38744417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0" y="2942"/>
              <a:ext cx="7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chemeClr val="bg1"/>
                  </a:solidFill>
                </a:rPr>
                <a:t>100 m</a:t>
              </a:r>
            </a:p>
          </p:txBody>
        </p:sp>
      </p:grpSp>
      <p:graphicFrame>
        <p:nvGraphicFramePr>
          <p:cNvPr id="40985" name="Object 2" descr="绿色大理石">
            <a:extLst>
              <a:ext uri="{FF2B5EF4-FFF2-40B4-BE49-F238E27FC236}">
                <a16:creationId xmlns:a16="http://schemas.microsoft.com/office/drawing/2014/main" id="{CCF08632-E7FD-4B35-86C6-4B1EB5E1286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858125" y="3444875"/>
          <a:ext cx="227013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9" name="公式" r:id="rId6" imgW="66669" imgH="66743" progId="Equation.3">
                  <p:embed/>
                </p:oleObj>
              </mc:Choice>
              <mc:Fallback>
                <p:oleObj name="公式" r:id="rId6" imgW="66669" imgH="66743" progId="Equation.3">
                  <p:embed/>
                  <p:pic>
                    <p:nvPicPr>
                      <p:cNvPr id="40985" name="Object 2" descr="绿色大理石">
                        <a:extLst>
                          <a:ext uri="{FF2B5EF4-FFF2-40B4-BE49-F238E27FC236}">
                            <a16:creationId xmlns:a16="http://schemas.microsoft.com/office/drawing/2014/main" id="{CCF08632-E7FD-4B35-86C6-4B1EB5E128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25" y="3444875"/>
                        <a:ext cx="227013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68686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6" name="Rectangle 26">
            <a:extLst>
              <a:ext uri="{FF2B5EF4-FFF2-40B4-BE49-F238E27FC236}">
                <a16:creationId xmlns:a16="http://schemas.microsoft.com/office/drawing/2014/main" id="{CEE3EA7C-1392-4397-BB68-A86705D53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8463" y="3186113"/>
            <a:ext cx="369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00FFFF"/>
                </a:solidFill>
              </a:rPr>
              <a:t>P</a:t>
            </a:r>
          </a:p>
        </p:txBody>
      </p:sp>
      <p:sp>
        <p:nvSpPr>
          <p:cNvPr id="40987" name="Line 27">
            <a:extLst>
              <a:ext uri="{FF2B5EF4-FFF2-40B4-BE49-F238E27FC236}">
                <a16:creationId xmlns:a16="http://schemas.microsoft.com/office/drawing/2014/main" id="{E713A675-7A87-46BD-9E09-79E15B642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713" y="3557588"/>
            <a:ext cx="0" cy="576262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9" name="Text Box 29">
            <a:extLst>
              <a:ext uri="{FF2B5EF4-FFF2-40B4-BE49-F238E27FC236}">
                <a16:creationId xmlns:a16="http://schemas.microsoft.com/office/drawing/2014/main" id="{907C88AB-313A-48AD-8B67-4780B6F5F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0" y="5124450"/>
            <a:ext cx="333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FF00"/>
                </a:solidFill>
              </a:rPr>
              <a:t>O</a:t>
            </a:r>
            <a:r>
              <a:rPr kumimoji="0" lang="zh-CN" altLang="en-US">
                <a:solidFill>
                  <a:schemeClr val="bg1"/>
                </a:solidFill>
              </a:rPr>
              <a:t>点的振动方程</a:t>
            </a:r>
          </a:p>
        </p:txBody>
      </p:sp>
      <p:sp>
        <p:nvSpPr>
          <p:cNvPr id="40990" name="Rectangle 30">
            <a:extLst>
              <a:ext uri="{FF2B5EF4-FFF2-40B4-BE49-F238E27FC236}">
                <a16:creationId xmlns:a16="http://schemas.microsoft.com/office/drawing/2014/main" id="{109E97F8-08EF-46E8-AB71-406ED298D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38" y="2678113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</a:t>
            </a:r>
          </a:p>
        </p:txBody>
      </p:sp>
      <p:graphicFrame>
        <p:nvGraphicFramePr>
          <p:cNvPr id="40991" name="Object 3">
            <a:extLst>
              <a:ext uri="{FF2B5EF4-FFF2-40B4-BE49-F238E27FC236}">
                <a16:creationId xmlns:a16="http://schemas.microsoft.com/office/drawing/2014/main" id="{8D854BD2-9D73-4063-B81A-37ACD658ED0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05263" y="4830763"/>
          <a:ext cx="329882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0" name="公式" r:id="rId8" imgW="1323892" imgH="342900" progId="Equation.3">
                  <p:embed/>
                </p:oleObj>
              </mc:Choice>
              <mc:Fallback>
                <p:oleObj name="公式" r:id="rId8" imgW="1323892" imgH="342900" progId="Equation.3">
                  <p:embed/>
                  <p:pic>
                    <p:nvPicPr>
                      <p:cNvPr id="40991" name="Object 3">
                        <a:extLst>
                          <a:ext uri="{FF2B5EF4-FFF2-40B4-BE49-F238E27FC236}">
                            <a16:creationId xmlns:a16="http://schemas.microsoft.com/office/drawing/2014/main" id="{8D854BD2-9D73-4063-B81A-37ACD658ED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4830763"/>
                        <a:ext cx="329882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2" name="Object 4">
            <a:extLst>
              <a:ext uri="{FF2B5EF4-FFF2-40B4-BE49-F238E27FC236}">
                <a16:creationId xmlns:a16="http://schemas.microsoft.com/office/drawing/2014/main" id="{8AD34A0E-DADC-4D6A-AD05-08B467A3EFD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86250" y="5708650"/>
          <a:ext cx="30257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1" name="公式" r:id="rId10" imgW="1209822" imgH="342900" progId="Equation.3">
                  <p:embed/>
                </p:oleObj>
              </mc:Choice>
              <mc:Fallback>
                <p:oleObj name="公式" r:id="rId10" imgW="1209822" imgH="342900" progId="Equation.3">
                  <p:embed/>
                  <p:pic>
                    <p:nvPicPr>
                      <p:cNvPr id="40992" name="Object 4">
                        <a:extLst>
                          <a:ext uri="{FF2B5EF4-FFF2-40B4-BE49-F238E27FC236}">
                            <a16:creationId xmlns:a16="http://schemas.microsoft.com/office/drawing/2014/main" id="{8AD34A0E-DADC-4D6A-AD05-08B467A3EF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5708650"/>
                        <a:ext cx="30257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5" name="Text Box 35">
            <a:extLst>
              <a:ext uri="{FF2B5EF4-FFF2-40B4-BE49-F238E27FC236}">
                <a16:creationId xmlns:a16="http://schemas.microsoft.com/office/drawing/2014/main" id="{927D228E-7FAF-4F3F-A073-520155127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14613"/>
            <a:ext cx="3529012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en-US" altLang="zh-CN" i="1">
                <a:solidFill>
                  <a:srgbClr val="FFFF00"/>
                </a:solidFill>
              </a:rPr>
              <a:t>P</a:t>
            </a:r>
            <a:r>
              <a:rPr kumimoji="0" lang="zh-CN" altLang="en-US">
                <a:solidFill>
                  <a:schemeClr val="bg1"/>
                </a:solidFill>
              </a:rPr>
              <a:t>点振动方向向下，</a:t>
            </a:r>
          </a:p>
        </p:txBody>
      </p:sp>
      <p:graphicFrame>
        <p:nvGraphicFramePr>
          <p:cNvPr id="40996" name="Object 5">
            <a:extLst>
              <a:ext uri="{FF2B5EF4-FFF2-40B4-BE49-F238E27FC236}">
                <a16:creationId xmlns:a16="http://schemas.microsoft.com/office/drawing/2014/main" id="{44EED572-8B2A-491D-BDBA-8930E13A85A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39850" y="3771900"/>
          <a:ext cx="223202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2" name="公式" r:id="rId12" imgW="952627" imgH="380864" progId="Equation.3">
                  <p:embed/>
                </p:oleObj>
              </mc:Choice>
              <mc:Fallback>
                <p:oleObj name="公式" r:id="rId12" imgW="952627" imgH="380864" progId="Equation.3">
                  <p:embed/>
                  <p:pic>
                    <p:nvPicPr>
                      <p:cNvPr id="40996" name="Object 5">
                        <a:extLst>
                          <a:ext uri="{FF2B5EF4-FFF2-40B4-BE49-F238E27FC236}">
                            <a16:creationId xmlns:a16="http://schemas.microsoft.com/office/drawing/2014/main" id="{44EED572-8B2A-491D-BDBA-8930E13A85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3771900"/>
                        <a:ext cx="2232025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7" name="Object 6">
            <a:extLst>
              <a:ext uri="{FF2B5EF4-FFF2-40B4-BE49-F238E27FC236}">
                <a16:creationId xmlns:a16="http://schemas.microsoft.com/office/drawing/2014/main" id="{961783EA-A887-4531-8DC9-1775A17BF08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14750" y="4143375"/>
          <a:ext cx="331788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3" name="公式" r:id="rId14" imgW="114376" imgH="342900" progId="Equation.3">
                  <p:embed/>
                </p:oleObj>
              </mc:Choice>
              <mc:Fallback>
                <p:oleObj name="公式" r:id="rId14" imgW="114376" imgH="342900" progId="Equation.3">
                  <p:embed/>
                  <p:pic>
                    <p:nvPicPr>
                      <p:cNvPr id="40997" name="Object 6">
                        <a:extLst>
                          <a:ext uri="{FF2B5EF4-FFF2-40B4-BE49-F238E27FC236}">
                            <a16:creationId xmlns:a16="http://schemas.microsoft.com/office/drawing/2014/main" id="{961783EA-A887-4531-8DC9-1775A17BF0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4143375"/>
                        <a:ext cx="331788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0" name="灯片编号占位符 1">
            <a:extLst>
              <a:ext uri="{FF2B5EF4-FFF2-40B4-BE49-F238E27FC236}">
                <a16:creationId xmlns:a16="http://schemas.microsoft.com/office/drawing/2014/main" id="{BEBF09A3-2679-462A-A643-08F140CBA58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F0046ED-99C5-45B7-8B9B-8EED2CFF00B4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E3D804B9-7DFA-4C6C-9BBA-8F0C7BE5A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3143250"/>
            <a:ext cx="3529012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</a:rPr>
              <a:t>说明波沿</a:t>
            </a:r>
            <a:r>
              <a:rPr kumimoji="0" lang="en-US" altLang="zh-CN">
                <a:solidFill>
                  <a:srgbClr val="FFFF00"/>
                </a:solidFill>
              </a:rPr>
              <a:t>-</a:t>
            </a:r>
            <a:r>
              <a:rPr kumimoji="0" lang="en-GB" altLang="zh-CN" i="1">
                <a:solidFill>
                  <a:srgbClr val="FFFF00"/>
                </a:solidFill>
              </a:rPr>
              <a:t>x</a:t>
            </a:r>
            <a:r>
              <a:rPr kumimoji="0" lang="en-GB" altLang="zh-CN" i="1">
                <a:solidFill>
                  <a:srgbClr val="00FFFF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轴传播</a:t>
            </a:r>
            <a:endParaRPr kumimoji="0"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autoUpdateAnimBg="0"/>
      <p:bldP spid="40965" grpId="0" autoUpdateAnimBg="0"/>
      <p:bldP spid="40966" grpId="0" autoUpdateAnimBg="0"/>
      <p:bldP spid="40967" grpId="0" autoUpdateAnimBg="0"/>
      <p:bldP spid="40968" grpId="0" autoUpdateAnimBg="0"/>
      <p:bldP spid="40986" grpId="0"/>
      <p:bldP spid="40989" grpId="0"/>
      <p:bldP spid="40990" grpId="0"/>
      <p:bldP spid="40995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Text Box 4">
            <a:extLst>
              <a:ext uri="{FF2B5EF4-FFF2-40B4-BE49-F238E27FC236}">
                <a16:creationId xmlns:a16="http://schemas.microsoft.com/office/drawing/2014/main" id="{B5FB417C-0987-456B-B59D-497628961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0" y="1830388"/>
            <a:ext cx="736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在距原点</a:t>
            </a:r>
            <a:r>
              <a:rPr lang="en-US" altLang="zh-CN" i="1">
                <a:solidFill>
                  <a:srgbClr val="FFFF00"/>
                </a:solidFill>
              </a:rPr>
              <a:t>O</a:t>
            </a:r>
            <a:r>
              <a:rPr lang="zh-CN" altLang="en-US">
                <a:solidFill>
                  <a:schemeClr val="bg1"/>
                </a:solidFill>
              </a:rPr>
              <a:t>为</a:t>
            </a:r>
            <a:r>
              <a:rPr lang="en-US" altLang="zh-CN">
                <a:solidFill>
                  <a:srgbClr val="FFFF00"/>
                </a:solidFill>
              </a:rPr>
              <a:t>100 m</a:t>
            </a:r>
            <a:r>
              <a:rPr lang="zh-CN" altLang="en-US">
                <a:solidFill>
                  <a:schemeClr val="bg1"/>
                </a:solidFill>
              </a:rPr>
              <a:t>处质点的</a:t>
            </a:r>
            <a:r>
              <a:rPr kumimoji="0" lang="zh-CN" altLang="en-US">
                <a:solidFill>
                  <a:schemeClr val="bg1"/>
                </a:solidFill>
              </a:rPr>
              <a:t>振动方程</a:t>
            </a: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2AF03084-7339-4C5E-9448-228DFC6C9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38" y="1795463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</a:t>
            </a:r>
          </a:p>
        </p:txBody>
      </p:sp>
      <p:graphicFrame>
        <p:nvGraphicFramePr>
          <p:cNvPr id="45062" name="Object 2">
            <a:extLst>
              <a:ext uri="{FF2B5EF4-FFF2-40B4-BE49-F238E27FC236}">
                <a16:creationId xmlns:a16="http://schemas.microsoft.com/office/drawing/2014/main" id="{A4247427-CDBA-4F96-8EA9-1B723E4B64F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06650" y="2424113"/>
          <a:ext cx="48291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6" name="公式" r:id="rId3" imgW="1962137" imgH="342900" progId="Equation.3">
                  <p:embed/>
                </p:oleObj>
              </mc:Choice>
              <mc:Fallback>
                <p:oleObj name="公式" r:id="rId3" imgW="1962137" imgH="342900" progId="Equation.3">
                  <p:embed/>
                  <p:pic>
                    <p:nvPicPr>
                      <p:cNvPr id="45062" name="Object 2">
                        <a:extLst>
                          <a:ext uri="{FF2B5EF4-FFF2-40B4-BE49-F238E27FC236}">
                            <a16:creationId xmlns:a16="http://schemas.microsoft.com/office/drawing/2014/main" id="{A4247427-CDBA-4F96-8EA9-1B723E4B64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2424113"/>
                        <a:ext cx="48291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3">
            <a:extLst>
              <a:ext uri="{FF2B5EF4-FFF2-40B4-BE49-F238E27FC236}">
                <a16:creationId xmlns:a16="http://schemas.microsoft.com/office/drawing/2014/main" id="{A0457478-7FB5-4FF6-B590-053C600AE35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67013" y="3511550"/>
          <a:ext cx="3148012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7" name="公式" r:id="rId5" imgW="1257224" imgH="342900" progId="Equation.3">
                  <p:embed/>
                </p:oleObj>
              </mc:Choice>
              <mc:Fallback>
                <p:oleObj name="公式" r:id="rId5" imgW="1257224" imgH="342900" progId="Equation.3">
                  <p:embed/>
                  <p:pic>
                    <p:nvPicPr>
                      <p:cNvPr id="45063" name="Object 3">
                        <a:extLst>
                          <a:ext uri="{FF2B5EF4-FFF2-40B4-BE49-F238E27FC236}">
                            <a16:creationId xmlns:a16="http://schemas.microsoft.com/office/drawing/2014/main" id="{A0457478-7FB5-4FF6-B590-053C600AE3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3" y="3511550"/>
                        <a:ext cx="3148012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4">
            <a:extLst>
              <a:ext uri="{FF2B5EF4-FFF2-40B4-BE49-F238E27FC236}">
                <a16:creationId xmlns:a16="http://schemas.microsoft.com/office/drawing/2014/main" id="{3C093F74-A27D-40F8-99F7-06AB46998D0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20975" y="5414963"/>
          <a:ext cx="38512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8" name="公式" r:id="rId7" imgW="1552645" imgH="342900" progId="Equation.3">
                  <p:embed/>
                </p:oleObj>
              </mc:Choice>
              <mc:Fallback>
                <p:oleObj name="公式" r:id="rId7" imgW="1552645" imgH="342900" progId="Equation.3">
                  <p:embed/>
                  <p:pic>
                    <p:nvPicPr>
                      <p:cNvPr id="45064" name="Object 4">
                        <a:extLst>
                          <a:ext uri="{FF2B5EF4-FFF2-40B4-BE49-F238E27FC236}">
                            <a16:creationId xmlns:a16="http://schemas.microsoft.com/office/drawing/2014/main" id="{3C093F74-A27D-40F8-99F7-06AB46998D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5" y="5414963"/>
                        <a:ext cx="38512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Rectangle 9">
            <a:extLst>
              <a:ext uri="{FF2B5EF4-FFF2-40B4-BE49-F238E27FC236}">
                <a16:creationId xmlns:a16="http://schemas.microsoft.com/office/drawing/2014/main" id="{597EB200-FA06-40EF-B6F5-4B5A21C6B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738" y="333375"/>
            <a:ext cx="5870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波函数（波沿着 </a:t>
            </a:r>
            <a:r>
              <a:rPr kumimoji="0" lang="en-US" altLang="zh-CN" i="1">
                <a:solidFill>
                  <a:srgbClr val="FFFF00"/>
                </a:solidFill>
              </a:rPr>
              <a:t>-x </a:t>
            </a:r>
            <a:r>
              <a:rPr kumimoji="0" lang="zh-CN" altLang="en-US">
                <a:solidFill>
                  <a:schemeClr val="bg1"/>
                </a:solidFill>
              </a:rPr>
              <a:t>轴传播）</a:t>
            </a:r>
          </a:p>
        </p:txBody>
      </p:sp>
      <p:graphicFrame>
        <p:nvGraphicFramePr>
          <p:cNvPr id="45066" name="Object 5">
            <a:extLst>
              <a:ext uri="{FF2B5EF4-FFF2-40B4-BE49-F238E27FC236}">
                <a16:creationId xmlns:a16="http://schemas.microsoft.com/office/drawing/2014/main" id="{A1D0BCF2-BA4F-41D6-A67A-F976AD2D097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411413" y="733425"/>
          <a:ext cx="48291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9" name="公式" r:id="rId9" imgW="1962137" imgH="342900" progId="Equation.3">
                  <p:embed/>
                </p:oleObj>
              </mc:Choice>
              <mc:Fallback>
                <p:oleObj name="公式" r:id="rId9" imgW="1962137" imgH="342900" progId="Equation.3">
                  <p:embed/>
                  <p:pic>
                    <p:nvPicPr>
                      <p:cNvPr id="45066" name="Object 5">
                        <a:extLst>
                          <a:ext uri="{FF2B5EF4-FFF2-40B4-BE49-F238E27FC236}">
                            <a16:creationId xmlns:a16="http://schemas.microsoft.com/office/drawing/2014/main" id="{A1D0BCF2-BA4F-41D6-A67A-F976AD2D09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733425"/>
                        <a:ext cx="48291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0">
            <a:extLst>
              <a:ext uri="{FF2B5EF4-FFF2-40B4-BE49-F238E27FC236}">
                <a16:creationId xmlns:a16="http://schemas.microsoft.com/office/drawing/2014/main" id="{8CBA17A0-A3C5-4D45-93CE-402CBF57B96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501900" y="4429125"/>
          <a:ext cx="10699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20" name="公式" r:id="rId11" imgW="400012" imgH="342900" progId="Equation.3">
                  <p:embed/>
                </p:oleObj>
              </mc:Choice>
              <mc:Fallback>
                <p:oleObj name="公式" r:id="rId11" imgW="400012" imgH="342900" progId="Equation.3">
                  <p:embed/>
                  <p:pic>
                    <p:nvPicPr>
                      <p:cNvPr id="2" name="Object 10">
                        <a:extLst>
                          <a:ext uri="{FF2B5EF4-FFF2-40B4-BE49-F238E27FC236}">
                            <a16:creationId xmlns:a16="http://schemas.microsoft.com/office/drawing/2014/main" id="{8CBA17A0-A3C5-4D45-93CE-402CBF57B9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4429125"/>
                        <a:ext cx="10699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079DE8B0-5D8C-48CE-A124-C218ED844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681538"/>
            <a:ext cx="23574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振动速度</a:t>
            </a:r>
          </a:p>
        </p:txBody>
      </p:sp>
      <p:sp>
        <p:nvSpPr>
          <p:cNvPr id="14347" name="灯片编号占位符 1">
            <a:extLst>
              <a:ext uri="{FF2B5EF4-FFF2-40B4-BE49-F238E27FC236}">
                <a16:creationId xmlns:a16="http://schemas.microsoft.com/office/drawing/2014/main" id="{2FF20616-F02A-476E-A9F9-B311F80A7AF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9C558A9-7B90-401F-9B93-B05BC19B0BE1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/>
      <p:bldP spid="45061" grpId="0"/>
      <p:bldP spid="45065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 descr="绿色大理石">
            <a:extLst>
              <a:ext uri="{FF2B5EF4-FFF2-40B4-BE49-F238E27FC236}">
                <a16:creationId xmlns:a16="http://schemas.microsoft.com/office/drawing/2014/main" id="{8B92ACA9-4466-45B4-BBCA-06C7D7874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" y="260350"/>
            <a:ext cx="4748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五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</a:rPr>
              <a:t>平面波的波动微分方程</a:t>
            </a:r>
          </a:p>
        </p:txBody>
      </p:sp>
      <p:graphicFrame>
        <p:nvGraphicFramePr>
          <p:cNvPr id="180227" name="Object 2" descr="绿色大理石">
            <a:extLst>
              <a:ext uri="{FF2B5EF4-FFF2-40B4-BE49-F238E27FC236}">
                <a16:creationId xmlns:a16="http://schemas.microsoft.com/office/drawing/2014/main" id="{8F3421F7-6196-4A01-99FC-6111FA04178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071688" y="642938"/>
          <a:ext cx="4071937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6" name="公式" r:id="rId3" imgW="1733690" imgH="342900" progId="Equation.3">
                  <p:embed/>
                </p:oleObj>
              </mc:Choice>
              <mc:Fallback>
                <p:oleObj name="公式" r:id="rId3" imgW="1733690" imgH="342900" progId="Equation.3">
                  <p:embed/>
                  <p:pic>
                    <p:nvPicPr>
                      <p:cNvPr id="180227" name="Object 2" descr="绿色大理石">
                        <a:extLst>
                          <a:ext uri="{FF2B5EF4-FFF2-40B4-BE49-F238E27FC236}">
                            <a16:creationId xmlns:a16="http://schemas.microsoft.com/office/drawing/2014/main" id="{8F3421F7-6196-4A01-99FC-6111FA04178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642938"/>
                        <a:ext cx="4071937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68686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8" name="Object 3" descr="绿色大理石">
            <a:extLst>
              <a:ext uri="{FF2B5EF4-FFF2-40B4-BE49-F238E27FC236}">
                <a16:creationId xmlns:a16="http://schemas.microsoft.com/office/drawing/2014/main" id="{2EF71CCA-A36A-41D8-A007-BDD0E6241FD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63713" y="1341438"/>
          <a:ext cx="4008437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7" name="公式" r:id="rId5" imgW="4305325" imgH="905011" progId="Equation.3">
                  <p:embed/>
                </p:oleObj>
              </mc:Choice>
              <mc:Fallback>
                <p:oleObj name="公式" r:id="rId5" imgW="4305325" imgH="905011" progId="Equation.3">
                  <p:embed/>
                  <p:pic>
                    <p:nvPicPr>
                      <p:cNvPr id="180228" name="Object 3" descr="绿色大理石">
                        <a:extLst>
                          <a:ext uri="{FF2B5EF4-FFF2-40B4-BE49-F238E27FC236}">
                            <a16:creationId xmlns:a16="http://schemas.microsoft.com/office/drawing/2014/main" id="{2EF71CCA-A36A-41D8-A007-BDD0E6241F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341438"/>
                        <a:ext cx="4008437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68686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9" name="Object 4" descr="绿色大理石">
            <a:extLst>
              <a:ext uri="{FF2B5EF4-FFF2-40B4-BE49-F238E27FC236}">
                <a16:creationId xmlns:a16="http://schemas.microsoft.com/office/drawing/2014/main" id="{F61B5BC0-379E-4E6E-9945-9A74EED0A3F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63713" y="2314575"/>
          <a:ext cx="40227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8" name="公式" r:id="rId7" imgW="4371994" imgH="905011" progId="Equation.3">
                  <p:embed/>
                </p:oleObj>
              </mc:Choice>
              <mc:Fallback>
                <p:oleObj name="公式" r:id="rId7" imgW="4371994" imgH="905011" progId="Equation.3">
                  <p:embed/>
                  <p:pic>
                    <p:nvPicPr>
                      <p:cNvPr id="180229" name="Object 4" descr="绿色大理石">
                        <a:extLst>
                          <a:ext uri="{FF2B5EF4-FFF2-40B4-BE49-F238E27FC236}">
                            <a16:creationId xmlns:a16="http://schemas.microsoft.com/office/drawing/2014/main" id="{F61B5BC0-379E-4E6E-9945-9A74EED0A3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314575"/>
                        <a:ext cx="402272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68686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0" name="Object 5" descr="绿色大理石">
            <a:extLst>
              <a:ext uri="{FF2B5EF4-FFF2-40B4-BE49-F238E27FC236}">
                <a16:creationId xmlns:a16="http://schemas.microsoft.com/office/drawing/2014/main" id="{86EE1B5A-98BC-4FA1-8C41-8A37149F494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529388" y="1763713"/>
          <a:ext cx="1900237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9" name="公式" r:id="rId9" imgW="1857241" imgH="905011" progId="Equation.3">
                  <p:embed/>
                </p:oleObj>
              </mc:Choice>
              <mc:Fallback>
                <p:oleObj name="公式" r:id="rId9" imgW="1857241" imgH="905011" progId="Equation.3">
                  <p:embed/>
                  <p:pic>
                    <p:nvPicPr>
                      <p:cNvPr id="180230" name="Object 5" descr="绿色大理石">
                        <a:extLst>
                          <a:ext uri="{FF2B5EF4-FFF2-40B4-BE49-F238E27FC236}">
                            <a16:creationId xmlns:a16="http://schemas.microsoft.com/office/drawing/2014/main" id="{86EE1B5A-98BC-4FA1-8C41-8A37149F49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9388" y="1763713"/>
                        <a:ext cx="1900237" cy="9509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68686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1" name="Text Box 7" descr="绿色大理石">
            <a:extLst>
              <a:ext uri="{FF2B5EF4-FFF2-40B4-BE49-F238E27FC236}">
                <a16:creationId xmlns:a16="http://schemas.microsoft.com/office/drawing/2014/main" id="{6A0EE060-35BA-4BA7-8988-D50F0B089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828675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波函数</a:t>
            </a:r>
          </a:p>
        </p:txBody>
      </p:sp>
      <p:sp>
        <p:nvSpPr>
          <p:cNvPr id="180233" name="AutoShape 9">
            <a:extLst>
              <a:ext uri="{FF2B5EF4-FFF2-40B4-BE49-F238E27FC236}">
                <a16:creationId xmlns:a16="http://schemas.microsoft.com/office/drawing/2014/main" id="{6A14BCEE-8E6E-4A31-AE77-F035193605B7}"/>
              </a:ext>
            </a:extLst>
          </p:cNvPr>
          <p:cNvSpPr>
            <a:spLocks/>
          </p:cNvSpPr>
          <p:nvPr/>
        </p:nvSpPr>
        <p:spPr bwMode="auto">
          <a:xfrm>
            <a:off x="6000750" y="1714500"/>
            <a:ext cx="287338" cy="1079500"/>
          </a:xfrm>
          <a:prstGeom prst="rightBrace">
            <a:avLst>
              <a:gd name="adj1" fmla="val 42978"/>
              <a:gd name="adj2" fmla="val 50000"/>
            </a:avLst>
          </a:prstGeom>
          <a:noFill/>
          <a:ln w="38100">
            <a:solidFill>
              <a:srgbClr val="FF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80234" name="Rectangle 10">
            <a:extLst>
              <a:ext uri="{FF2B5EF4-FFF2-40B4-BE49-F238E27FC236}">
                <a16:creationId xmlns:a16="http://schemas.microsoft.com/office/drawing/2014/main" id="{74DF43CF-0BBF-470D-BAE8-FBE63FE3C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4084638"/>
            <a:ext cx="8207375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6575" indent="-536575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(2) </a:t>
            </a:r>
            <a:r>
              <a:rPr lang="zh-CN" altLang="en-US">
                <a:solidFill>
                  <a:schemeClr val="bg1"/>
                </a:solidFill>
              </a:rPr>
              <a:t>不仅适用于机械波，也广泛地适用于电磁波、热传导、化学中的扩散等过程；（具有普遍性）</a:t>
            </a:r>
            <a:endParaRPr lang="zh-CN" altLang="en-US">
              <a:solidFill>
                <a:srgbClr val="66FFFF"/>
              </a:solidFill>
              <a:ea typeface="楷体_GB2312" pitchFamily="49" charset="-122"/>
            </a:endParaRPr>
          </a:p>
        </p:txBody>
      </p:sp>
      <p:sp>
        <p:nvSpPr>
          <p:cNvPr id="180235" name="Rectangle 11">
            <a:extLst>
              <a:ext uri="{FF2B5EF4-FFF2-40B4-BE49-F238E27FC236}">
                <a16:creationId xmlns:a16="http://schemas.microsoft.com/office/drawing/2014/main" id="{E68A1738-8403-4637-AF6F-55934068C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14" y="3552825"/>
            <a:ext cx="8207375" cy="5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一切平面波满足的微分方程</a:t>
            </a:r>
            <a:r>
              <a:rPr lang="zh-CN" altLang="en-US" dirty="0">
                <a:solidFill>
                  <a:srgbClr val="66FFFF"/>
                </a:solidFill>
                <a:ea typeface="楷体_GB2312" pitchFamily="49" charset="-122"/>
              </a:rPr>
              <a:t>（横、纵波；正、反传播）</a:t>
            </a:r>
            <a:endParaRPr lang="zh-CN" altLang="en-US" dirty="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180236" name="Rectangle 12" descr="绿色大理石">
            <a:extLst>
              <a:ext uri="{FF2B5EF4-FFF2-40B4-BE49-F238E27FC236}">
                <a16:creationId xmlns:a16="http://schemas.microsoft.com/office/drawing/2014/main" id="{0FF4E14D-5976-46D7-911A-56862FD16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989" y="5143500"/>
            <a:ext cx="78581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(3)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若物理量是在</a:t>
            </a:r>
            <a:r>
              <a:rPr lang="zh-CN" altLang="en-US">
                <a:solidFill>
                  <a:srgbClr val="66FFFF"/>
                </a:solidFill>
                <a:ea typeface="楷体_GB2312" pitchFamily="49" charset="-122"/>
              </a:rPr>
              <a:t>三维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空间中以波的形式传播，波动方程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:</a:t>
            </a:r>
            <a:endParaRPr lang="zh-CN" altLang="en-US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180237" name="Object 6" descr="绿色大理石">
            <a:extLst>
              <a:ext uri="{FF2B5EF4-FFF2-40B4-BE49-F238E27FC236}">
                <a16:creationId xmlns:a16="http://schemas.microsoft.com/office/drawing/2014/main" id="{F226CB54-A9BD-4A6E-AF67-149BCF5265C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43063" y="5834063"/>
          <a:ext cx="324326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0" name="公式" r:id="rId11" imgW="3657600" imgH="905011" progId="Equation.3">
                  <p:embed/>
                </p:oleObj>
              </mc:Choice>
              <mc:Fallback>
                <p:oleObj name="公式" r:id="rId11" imgW="3657600" imgH="905011" progId="Equation.3">
                  <p:embed/>
                  <p:pic>
                    <p:nvPicPr>
                      <p:cNvPr id="180237" name="Object 6" descr="绿色大理石">
                        <a:extLst>
                          <a:ext uri="{FF2B5EF4-FFF2-40B4-BE49-F238E27FC236}">
                            <a16:creationId xmlns:a16="http://schemas.microsoft.com/office/drawing/2014/main" id="{F226CB54-A9BD-4A6E-AF67-149BCF5265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5834063"/>
                        <a:ext cx="3243262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68686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8" name="Text Box 14">
            <a:extLst>
              <a:ext uri="{FF2B5EF4-FFF2-40B4-BE49-F238E27FC236}">
                <a16:creationId xmlns:a16="http://schemas.microsoft.com/office/drawing/2014/main" id="{C19BA458-E923-4A3B-B74B-286DEFD66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3076575"/>
            <a:ext cx="1439862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rgbClr val="FFFF00"/>
                </a:solidFill>
              </a:rPr>
              <a:t>说明</a:t>
            </a:r>
          </a:p>
        </p:txBody>
      </p:sp>
      <p:sp>
        <p:nvSpPr>
          <p:cNvPr id="180239" name="AutoShape 15">
            <a:extLst>
              <a:ext uri="{FF2B5EF4-FFF2-40B4-BE49-F238E27FC236}">
                <a16:creationId xmlns:a16="http://schemas.microsoft.com/office/drawing/2014/main" id="{8224B647-72A7-497E-A9FD-FE7DDE58D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3143250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" name="Object 16" descr="绿色大理石">
            <a:extLst>
              <a:ext uri="{FF2B5EF4-FFF2-40B4-BE49-F238E27FC236}">
                <a16:creationId xmlns:a16="http://schemas.microsoft.com/office/drawing/2014/main" id="{F682CB67-6C6D-4B24-ABE6-B2291851CD4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884863" y="5851525"/>
          <a:ext cx="16160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1" name="公式" r:id="rId13" imgW="838251" imgH="409643" progId="Equation.3">
                  <p:embed/>
                </p:oleObj>
              </mc:Choice>
              <mc:Fallback>
                <p:oleObj name="公式" r:id="rId13" imgW="838251" imgH="409643" progId="Equation.3">
                  <p:embed/>
                  <p:pic>
                    <p:nvPicPr>
                      <p:cNvPr id="2" name="Object 16" descr="绿色大理石">
                        <a:extLst>
                          <a:ext uri="{FF2B5EF4-FFF2-40B4-BE49-F238E27FC236}">
                            <a16:creationId xmlns:a16="http://schemas.microsoft.com/office/drawing/2014/main" id="{F682CB67-6C6D-4B24-ABE6-B2291851CD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863" y="5851525"/>
                        <a:ext cx="161607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68686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右箭头 16">
            <a:extLst>
              <a:ext uri="{FF2B5EF4-FFF2-40B4-BE49-F238E27FC236}">
                <a16:creationId xmlns:a16="http://schemas.microsoft.com/office/drawing/2014/main" id="{6EB12165-6BAB-45C1-8971-0E46215FD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6072188"/>
            <a:ext cx="714375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377" name="灯片编号占位符 1">
            <a:extLst>
              <a:ext uri="{FF2B5EF4-FFF2-40B4-BE49-F238E27FC236}">
                <a16:creationId xmlns:a16="http://schemas.microsoft.com/office/drawing/2014/main" id="{A0A6FE42-811F-4E78-910B-5AC6EDFF924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B2A531-29EE-4028-86EF-E5631BC9B690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  <p:sp>
        <p:nvSpPr>
          <p:cNvPr id="19" name="Text Box 7" descr="绿色大理石">
            <a:extLst>
              <a:ext uri="{FF2B5EF4-FFF2-40B4-BE49-F238E27FC236}">
                <a16:creationId xmlns:a16="http://schemas.microsoft.com/office/drawing/2014/main" id="{77C0EDE0-1588-4094-9016-D89886BC5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3688" y="2743200"/>
            <a:ext cx="22145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波动微分方程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8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0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0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0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 autoUpdateAnimBg="0"/>
      <p:bldP spid="180231" grpId="0" autoUpdateAnimBg="0"/>
      <p:bldP spid="180233" grpId="0" animBg="1"/>
      <p:bldP spid="180234" grpId="0"/>
      <p:bldP spid="180235" grpId="0"/>
      <p:bldP spid="180236" grpId="0" build="p" autoUpdateAnimBg="0"/>
      <p:bldP spid="180238" grpId="0"/>
      <p:bldP spid="180239" grpId="0" animBg="1"/>
      <p:bldP spid="17" grpId="0" animBg="1"/>
      <p:bldP spid="1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绿色大理石">
            <a:extLst>
              <a:ext uri="{FF2B5EF4-FFF2-40B4-BE49-F238E27FC236}">
                <a16:creationId xmlns:a16="http://schemas.microsoft.com/office/drawing/2014/main" id="{5534A7B6-F435-4130-A04B-67CE2CA50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23850"/>
            <a:ext cx="77485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FF0000"/>
                </a:solidFill>
                <a:latin typeface="+mj-ea"/>
              </a:rPr>
              <a:t>拓展：</a:t>
            </a:r>
            <a:r>
              <a:rPr lang="zh-CN" altLang="en-US" dirty="0">
                <a:solidFill>
                  <a:srgbClr val="FFFF00"/>
                </a:solidFill>
                <a:latin typeface="+mj-ea"/>
                <a:ea typeface="+mj-ea"/>
              </a:rPr>
              <a:t>动力学微分方程的推导</a:t>
            </a:r>
            <a:endParaRPr lang="zh-CN" altLang="en-US" dirty="0">
              <a:solidFill>
                <a:srgbClr val="66FFFF"/>
              </a:solidFill>
              <a:latin typeface="+mj-ea"/>
              <a:ea typeface="+mj-ea"/>
            </a:endParaRPr>
          </a:p>
        </p:txBody>
      </p:sp>
      <p:grpSp>
        <p:nvGrpSpPr>
          <p:cNvPr id="3" name="组合 38">
            <a:extLst>
              <a:ext uri="{FF2B5EF4-FFF2-40B4-BE49-F238E27FC236}">
                <a16:creationId xmlns:a16="http://schemas.microsoft.com/office/drawing/2014/main" id="{638EEE00-3193-4BCD-AE9E-C95002E7C619}"/>
              </a:ext>
            </a:extLst>
          </p:cNvPr>
          <p:cNvGrpSpPr>
            <a:grpSpLocks/>
          </p:cNvGrpSpPr>
          <p:nvPr/>
        </p:nvGrpSpPr>
        <p:grpSpPr bwMode="auto">
          <a:xfrm>
            <a:off x="5924724" y="2395191"/>
            <a:ext cx="2374900" cy="360362"/>
            <a:chOff x="6084168" y="2276872"/>
            <a:chExt cx="2376264" cy="360040"/>
          </a:xfrm>
        </p:grpSpPr>
        <p:cxnSp>
          <p:nvCxnSpPr>
            <p:cNvPr id="16427" name="直接连接符 7">
              <a:extLst>
                <a:ext uri="{FF2B5EF4-FFF2-40B4-BE49-F238E27FC236}">
                  <a16:creationId xmlns:a16="http://schemas.microsoft.com/office/drawing/2014/main" id="{531ED499-F61B-41F1-AAB8-CE3FFDC0C6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84168" y="2276872"/>
              <a:ext cx="2376264" cy="0"/>
            </a:xfrm>
            <a:prstGeom prst="line">
              <a:avLst/>
            </a:prstGeom>
            <a:noFill/>
            <a:ln w="19050" algn="ctr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8" name="直接连接符 8">
              <a:extLst>
                <a:ext uri="{FF2B5EF4-FFF2-40B4-BE49-F238E27FC236}">
                  <a16:creationId xmlns:a16="http://schemas.microsoft.com/office/drawing/2014/main" id="{1ED87F79-4B6E-485F-910D-295BF8903B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84168" y="2636912"/>
              <a:ext cx="2376264" cy="0"/>
            </a:xfrm>
            <a:prstGeom prst="line">
              <a:avLst/>
            </a:prstGeom>
            <a:noFill/>
            <a:ln w="19050" algn="ctr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29" name="矩形 9">
              <a:extLst>
                <a:ext uri="{FF2B5EF4-FFF2-40B4-BE49-F238E27FC236}">
                  <a16:creationId xmlns:a16="http://schemas.microsoft.com/office/drawing/2014/main" id="{9763953E-3CFC-43D1-AB08-9F40FB17A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248" y="2276872"/>
              <a:ext cx="1008112" cy="360040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9050">
              <a:solidFill>
                <a:srgbClr val="FFFF00"/>
              </a:solidFill>
              <a:round/>
              <a:headEnd/>
              <a:tailEnd type="stealth" w="lg" len="lg"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grpSp>
        <p:nvGrpSpPr>
          <p:cNvPr id="4" name="组合 37">
            <a:extLst>
              <a:ext uri="{FF2B5EF4-FFF2-40B4-BE49-F238E27FC236}">
                <a16:creationId xmlns:a16="http://schemas.microsoft.com/office/drawing/2014/main" id="{9EFE6732-EA90-4231-BBEE-90EDD2DF2530}"/>
              </a:ext>
            </a:extLst>
          </p:cNvPr>
          <p:cNvGrpSpPr>
            <a:grpSpLocks/>
          </p:cNvGrpSpPr>
          <p:nvPr/>
        </p:nvGrpSpPr>
        <p:grpSpPr bwMode="auto">
          <a:xfrm>
            <a:off x="5924724" y="980728"/>
            <a:ext cx="2374900" cy="766763"/>
            <a:chOff x="6084168" y="861650"/>
            <a:chExt cx="2376264" cy="767150"/>
          </a:xfrm>
        </p:grpSpPr>
        <p:cxnSp>
          <p:nvCxnSpPr>
            <p:cNvPr id="16422" name="直接连接符 4">
              <a:extLst>
                <a:ext uri="{FF2B5EF4-FFF2-40B4-BE49-F238E27FC236}">
                  <a16:creationId xmlns:a16="http://schemas.microsoft.com/office/drawing/2014/main" id="{5977063B-C6FF-47DE-9419-372A3CECCE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84168" y="1268760"/>
              <a:ext cx="2376264" cy="0"/>
            </a:xfrm>
            <a:prstGeom prst="line">
              <a:avLst/>
            </a:prstGeom>
            <a:noFill/>
            <a:ln w="19050" algn="ctr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3" name="直接连接符 5">
              <a:extLst>
                <a:ext uri="{FF2B5EF4-FFF2-40B4-BE49-F238E27FC236}">
                  <a16:creationId xmlns:a16="http://schemas.microsoft.com/office/drawing/2014/main" id="{88625D07-FB83-4B99-8B9D-BD7BFE4EC5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84168" y="1628800"/>
              <a:ext cx="2376264" cy="0"/>
            </a:xfrm>
            <a:prstGeom prst="line">
              <a:avLst/>
            </a:prstGeom>
            <a:noFill/>
            <a:ln w="19050" algn="ctr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24" name="矩形 6">
              <a:extLst>
                <a:ext uri="{FF2B5EF4-FFF2-40B4-BE49-F238E27FC236}">
                  <a16:creationId xmlns:a16="http://schemas.microsoft.com/office/drawing/2014/main" id="{8C05E3AA-5F54-4B98-A2E0-605E94988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8224" y="1268760"/>
              <a:ext cx="864096" cy="360040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9050">
              <a:solidFill>
                <a:srgbClr val="FFFF00"/>
              </a:solidFill>
              <a:round/>
              <a:headEnd/>
              <a:tailEnd type="stealth" w="lg" len="lg"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6425" name="Text Box 33">
              <a:extLst>
                <a:ext uri="{FF2B5EF4-FFF2-40B4-BE49-F238E27FC236}">
                  <a16:creationId xmlns:a16="http://schemas.microsoft.com/office/drawing/2014/main" id="{7990FB47-19D6-4256-A747-05DF77692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6769" y="870220"/>
              <a:ext cx="3600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66FFFF"/>
                  </a:solidFill>
                </a:rPr>
                <a:t>x</a:t>
              </a:r>
              <a:endParaRPr lang="en-US" altLang="zh-CN" sz="2000" baseline="-25000">
                <a:solidFill>
                  <a:srgbClr val="66FFFF"/>
                </a:solidFill>
              </a:endParaRPr>
            </a:p>
          </p:txBody>
        </p:sp>
        <p:sp>
          <p:nvSpPr>
            <p:cNvPr id="16426" name="Text Box 33">
              <a:extLst>
                <a:ext uri="{FF2B5EF4-FFF2-40B4-BE49-F238E27FC236}">
                  <a16:creationId xmlns:a16="http://schemas.microsoft.com/office/drawing/2014/main" id="{2226C90F-61AF-436E-B32B-55EF2F90E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4288" y="861650"/>
              <a:ext cx="7714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66FFFF"/>
                  </a:solidFill>
                </a:rPr>
                <a:t>x+∆x</a:t>
              </a:r>
              <a:endParaRPr lang="en-US" altLang="zh-CN" sz="2000" baseline="-25000">
                <a:solidFill>
                  <a:srgbClr val="66FFFF"/>
                </a:solidFill>
              </a:endParaRPr>
            </a:p>
          </p:txBody>
        </p:sp>
      </p:grpSp>
      <p:grpSp>
        <p:nvGrpSpPr>
          <p:cNvPr id="5" name="组合 39">
            <a:extLst>
              <a:ext uri="{FF2B5EF4-FFF2-40B4-BE49-F238E27FC236}">
                <a16:creationId xmlns:a16="http://schemas.microsoft.com/office/drawing/2014/main" id="{77103D5B-2F27-4C46-A83C-EF73CD992D01}"/>
              </a:ext>
            </a:extLst>
          </p:cNvPr>
          <p:cNvGrpSpPr>
            <a:grpSpLocks/>
          </p:cNvGrpSpPr>
          <p:nvPr/>
        </p:nvGrpSpPr>
        <p:grpSpPr bwMode="auto">
          <a:xfrm>
            <a:off x="6385099" y="1747491"/>
            <a:ext cx="1635125" cy="647700"/>
            <a:chOff x="6544724" y="1628800"/>
            <a:chExt cx="1635559" cy="648072"/>
          </a:xfrm>
        </p:grpSpPr>
        <p:cxnSp>
          <p:nvCxnSpPr>
            <p:cNvPr id="16414" name="直接连接符 13">
              <a:extLst>
                <a:ext uri="{FF2B5EF4-FFF2-40B4-BE49-F238E27FC236}">
                  <a16:creationId xmlns:a16="http://schemas.microsoft.com/office/drawing/2014/main" id="{B95947F5-5B82-4B32-93AA-9B36F17EDFC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88224" y="1628800"/>
              <a:ext cx="0" cy="648072"/>
            </a:xfrm>
            <a:prstGeom prst="line">
              <a:avLst/>
            </a:prstGeom>
            <a:noFill/>
            <a:ln w="19050" algn="ctr">
              <a:solidFill>
                <a:srgbClr val="66FFFF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15" name="直接连接符 14">
              <a:extLst>
                <a:ext uri="{FF2B5EF4-FFF2-40B4-BE49-F238E27FC236}">
                  <a16:creationId xmlns:a16="http://schemas.microsoft.com/office/drawing/2014/main" id="{0BCC66C8-0D90-4918-AB82-386D9993F9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04248" y="2024872"/>
              <a:ext cx="0" cy="252000"/>
            </a:xfrm>
            <a:prstGeom prst="line">
              <a:avLst/>
            </a:prstGeom>
            <a:noFill/>
            <a:ln w="19050" algn="ctr">
              <a:solidFill>
                <a:srgbClr val="66FFFF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16" name="直接连接符 15">
              <a:extLst>
                <a:ext uri="{FF2B5EF4-FFF2-40B4-BE49-F238E27FC236}">
                  <a16:creationId xmlns:a16="http://schemas.microsoft.com/office/drawing/2014/main" id="{DD9669A1-C3F4-4590-A0CF-78E43666DDB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52320" y="1628800"/>
              <a:ext cx="0" cy="648072"/>
            </a:xfrm>
            <a:prstGeom prst="line">
              <a:avLst/>
            </a:prstGeom>
            <a:noFill/>
            <a:ln w="19050" algn="ctr">
              <a:solidFill>
                <a:srgbClr val="66FFFF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17" name="直接连接符 16">
              <a:extLst>
                <a:ext uri="{FF2B5EF4-FFF2-40B4-BE49-F238E27FC236}">
                  <a16:creationId xmlns:a16="http://schemas.microsoft.com/office/drawing/2014/main" id="{D617CB2E-B202-4B4E-986E-A71F790447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12360" y="2024872"/>
              <a:ext cx="0" cy="252000"/>
            </a:xfrm>
            <a:prstGeom prst="line">
              <a:avLst/>
            </a:prstGeom>
            <a:noFill/>
            <a:ln w="19050" algn="ctr">
              <a:solidFill>
                <a:srgbClr val="66FFFF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18" name="Text Box 33">
              <a:extLst>
                <a:ext uri="{FF2B5EF4-FFF2-40B4-BE49-F238E27FC236}">
                  <a16:creationId xmlns:a16="http://schemas.microsoft.com/office/drawing/2014/main" id="{560759AF-EDF1-405C-96DF-E1EDF4ABE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4724" y="1716777"/>
              <a:ext cx="3600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66FFFF"/>
                  </a:solidFill>
                </a:rPr>
                <a:t>y</a:t>
              </a:r>
              <a:endParaRPr lang="en-US" altLang="zh-CN" sz="2000" baseline="-25000">
                <a:solidFill>
                  <a:srgbClr val="66FFFF"/>
                </a:solidFill>
              </a:endParaRPr>
            </a:p>
          </p:txBody>
        </p:sp>
        <p:sp>
          <p:nvSpPr>
            <p:cNvPr id="16419" name="Text Box 33">
              <a:extLst>
                <a:ext uri="{FF2B5EF4-FFF2-40B4-BE49-F238E27FC236}">
                  <a16:creationId xmlns:a16="http://schemas.microsoft.com/office/drawing/2014/main" id="{239309D8-B0A3-4573-8304-A619CEE3C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8820" y="1696743"/>
              <a:ext cx="7714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66FFFF"/>
                  </a:solidFill>
                </a:rPr>
                <a:t>y+∆y</a:t>
              </a:r>
              <a:endParaRPr lang="en-US" altLang="zh-CN" sz="2000" baseline="-25000">
                <a:solidFill>
                  <a:srgbClr val="66FFFF"/>
                </a:solidFill>
              </a:endParaRPr>
            </a:p>
          </p:txBody>
        </p:sp>
        <p:cxnSp>
          <p:nvCxnSpPr>
            <p:cNvPr id="16420" name="直接箭头连接符 24">
              <a:extLst>
                <a:ext uri="{FF2B5EF4-FFF2-40B4-BE49-F238E27FC236}">
                  <a16:creationId xmlns:a16="http://schemas.microsoft.com/office/drawing/2014/main" id="{DFCACF07-DF57-4A0C-AAC2-56186B26C6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52320" y="2150872"/>
              <a:ext cx="360040" cy="0"/>
            </a:xfrm>
            <a:prstGeom prst="straightConnector1">
              <a:avLst/>
            </a:prstGeom>
            <a:noFill/>
            <a:ln w="19050" algn="ctr">
              <a:solidFill>
                <a:srgbClr val="66FFFF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1" name="直接箭头连接符 25">
              <a:extLst>
                <a:ext uri="{FF2B5EF4-FFF2-40B4-BE49-F238E27FC236}">
                  <a16:creationId xmlns:a16="http://schemas.microsoft.com/office/drawing/2014/main" id="{B22EF9B5-8AA5-463C-AE6E-1DE2CE7B60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88224" y="2163617"/>
              <a:ext cx="216000" cy="9215"/>
            </a:xfrm>
            <a:prstGeom prst="straightConnector1">
              <a:avLst/>
            </a:prstGeom>
            <a:noFill/>
            <a:ln w="19050" algn="ctr">
              <a:solidFill>
                <a:srgbClr val="66FFFF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组合 40">
            <a:extLst>
              <a:ext uri="{FF2B5EF4-FFF2-40B4-BE49-F238E27FC236}">
                <a16:creationId xmlns:a16="http://schemas.microsoft.com/office/drawing/2014/main" id="{05C36F2B-960F-4585-ACFE-596FE653E458}"/>
              </a:ext>
            </a:extLst>
          </p:cNvPr>
          <p:cNvGrpSpPr>
            <a:grpSpLocks/>
          </p:cNvGrpSpPr>
          <p:nvPr/>
        </p:nvGrpSpPr>
        <p:grpSpPr bwMode="auto">
          <a:xfrm>
            <a:off x="6096174" y="2322166"/>
            <a:ext cx="547687" cy="400050"/>
            <a:chOff x="6256306" y="2204004"/>
            <a:chExt cx="547942" cy="400110"/>
          </a:xfrm>
        </p:grpSpPr>
        <p:cxnSp>
          <p:nvCxnSpPr>
            <p:cNvPr id="16412" name="直接箭头连接符 30">
              <a:extLst>
                <a:ext uri="{FF2B5EF4-FFF2-40B4-BE49-F238E27FC236}">
                  <a16:creationId xmlns:a16="http://schemas.microsoft.com/office/drawing/2014/main" id="{815C4532-FA73-4747-8956-7121553518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536602" y="2456315"/>
              <a:ext cx="267646" cy="3403"/>
            </a:xfrm>
            <a:prstGeom prst="straightConnector1">
              <a:avLst/>
            </a:prstGeom>
            <a:noFill/>
            <a:ln w="19050" algn="ctr">
              <a:solidFill>
                <a:srgbClr val="00FF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13" name="Text Box 33">
              <a:extLst>
                <a:ext uri="{FF2B5EF4-FFF2-40B4-BE49-F238E27FC236}">
                  <a16:creationId xmlns:a16="http://schemas.microsoft.com/office/drawing/2014/main" id="{750508CC-517D-4020-B767-D13CBD5AC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6306" y="2204004"/>
              <a:ext cx="3600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FF00"/>
                  </a:solidFill>
                </a:rPr>
                <a:t>f</a:t>
              </a:r>
              <a:r>
                <a:rPr lang="en-US" altLang="zh-CN" sz="2000" baseline="-25000">
                  <a:solidFill>
                    <a:srgbClr val="00FF00"/>
                  </a:solidFill>
                </a:rPr>
                <a:t>1</a:t>
              </a:r>
            </a:p>
          </p:txBody>
        </p:sp>
      </p:grpSp>
      <p:grpSp>
        <p:nvGrpSpPr>
          <p:cNvPr id="7" name="组合 41">
            <a:extLst>
              <a:ext uri="{FF2B5EF4-FFF2-40B4-BE49-F238E27FC236}">
                <a16:creationId xmlns:a16="http://schemas.microsoft.com/office/drawing/2014/main" id="{72002624-1832-4D60-9A58-5C0270831EAE}"/>
              </a:ext>
            </a:extLst>
          </p:cNvPr>
          <p:cNvGrpSpPr>
            <a:grpSpLocks/>
          </p:cNvGrpSpPr>
          <p:nvPr/>
        </p:nvGrpSpPr>
        <p:grpSpPr bwMode="auto">
          <a:xfrm>
            <a:off x="7661449" y="2339628"/>
            <a:ext cx="674687" cy="400050"/>
            <a:chOff x="7821413" y="2220403"/>
            <a:chExt cx="675022" cy="400110"/>
          </a:xfrm>
        </p:grpSpPr>
        <p:cxnSp>
          <p:nvCxnSpPr>
            <p:cNvPr id="16410" name="直接箭头连接符 32">
              <a:extLst>
                <a:ext uri="{FF2B5EF4-FFF2-40B4-BE49-F238E27FC236}">
                  <a16:creationId xmlns:a16="http://schemas.microsoft.com/office/drawing/2014/main" id="{E77A7672-AB65-427C-A14F-68F915FB21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21413" y="2455404"/>
              <a:ext cx="364022" cy="5224"/>
            </a:xfrm>
            <a:prstGeom prst="straightConnector1">
              <a:avLst/>
            </a:prstGeom>
            <a:noFill/>
            <a:ln w="19050" algn="ctr">
              <a:solidFill>
                <a:srgbClr val="00FF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11" name="Text Box 33">
              <a:extLst>
                <a:ext uri="{FF2B5EF4-FFF2-40B4-BE49-F238E27FC236}">
                  <a16:creationId xmlns:a16="http://schemas.microsoft.com/office/drawing/2014/main" id="{98C9F5C3-BB0E-4615-9456-0B64925E1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6395" y="2220403"/>
              <a:ext cx="3600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FF00"/>
                  </a:solidFill>
                </a:rPr>
                <a:t>f</a:t>
              </a:r>
              <a:r>
                <a:rPr lang="en-US" altLang="zh-CN" sz="2000" baseline="-25000">
                  <a:solidFill>
                    <a:srgbClr val="00FF00"/>
                  </a:solidFill>
                </a:rPr>
                <a:t>2</a:t>
              </a:r>
            </a:p>
          </p:txBody>
        </p:sp>
      </p:grpSp>
      <p:sp>
        <p:nvSpPr>
          <p:cNvPr id="28" name="Text Box 14">
            <a:extLst>
              <a:ext uri="{FF2B5EF4-FFF2-40B4-BE49-F238E27FC236}">
                <a16:creationId xmlns:a16="http://schemas.microsoft.com/office/drawing/2014/main" id="{B0294A7A-2CE0-4E33-8362-D10779B60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317500"/>
            <a:ext cx="4522341" cy="460375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defRPr/>
            </a:pPr>
            <a:r>
              <a:rPr kumimoji="0" lang="en-US" altLang="zh-CN" b="0" dirty="0">
                <a:solidFill>
                  <a:schemeClr val="bg1"/>
                </a:solidFill>
                <a:latin typeface="+mn-lt"/>
              </a:rPr>
              <a:t>—</a:t>
            </a:r>
            <a:r>
              <a:rPr kumimoji="0" lang="zh-CN" altLang="en-US" b="0" dirty="0">
                <a:solidFill>
                  <a:schemeClr val="bg1"/>
                </a:solidFill>
                <a:latin typeface="+mn-lt"/>
              </a:rPr>
              <a:t>以细棒上传递的纵波为例</a:t>
            </a:r>
          </a:p>
        </p:txBody>
      </p:sp>
      <p:graphicFrame>
        <p:nvGraphicFramePr>
          <p:cNvPr id="29" name="Object 2">
            <a:extLst>
              <a:ext uri="{FF2B5EF4-FFF2-40B4-BE49-F238E27FC236}">
                <a16:creationId xmlns:a16="http://schemas.microsoft.com/office/drawing/2014/main" id="{2C5D6F9F-9A28-45A7-AA24-5D0D30121C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1688" y="2636838"/>
          <a:ext cx="1927225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0" name="Equation" r:id="rId4" imgW="875920" imgH="444307" progId="">
                  <p:embed/>
                </p:oleObj>
              </mc:Choice>
              <mc:Fallback>
                <p:oleObj name="Equation" r:id="rId4" imgW="875920" imgH="444307" progId="">
                  <p:embed/>
                  <p:pic>
                    <p:nvPicPr>
                      <p:cNvPr id="29" name="Object 2">
                        <a:extLst>
                          <a:ext uri="{FF2B5EF4-FFF2-40B4-BE49-F238E27FC236}">
                            <a16:creationId xmlns:a16="http://schemas.microsoft.com/office/drawing/2014/main" id="{2C5D6F9F-9A28-45A7-AA24-5D0D30121C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8" y="2636838"/>
                        <a:ext cx="1927225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">
            <a:extLst>
              <a:ext uri="{FF2B5EF4-FFF2-40B4-BE49-F238E27FC236}">
                <a16:creationId xmlns:a16="http://schemas.microsoft.com/office/drawing/2014/main" id="{F5CDC4FF-61F5-473E-82BE-5A9A1F11AA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2636838"/>
          <a:ext cx="2290763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1" name="Equation" r:id="rId6" imgW="1040948" imgH="444307" progId="">
                  <p:embed/>
                </p:oleObj>
              </mc:Choice>
              <mc:Fallback>
                <p:oleObj name="Equation" r:id="rId6" imgW="1040948" imgH="444307" progId="">
                  <p:embed/>
                  <p:pic>
                    <p:nvPicPr>
                      <p:cNvPr id="30" name="Object 3">
                        <a:extLst>
                          <a:ext uri="{FF2B5EF4-FFF2-40B4-BE49-F238E27FC236}">
                            <a16:creationId xmlns:a16="http://schemas.microsoft.com/office/drawing/2014/main" id="{F5CDC4FF-61F5-473E-82BE-5A9A1F11AA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2636838"/>
                        <a:ext cx="2290763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8F4F4A92-19EE-4A72-9FE7-98DA5A10E91C}"/>
              </a:ext>
            </a:extLst>
          </p:cNvPr>
          <p:cNvSpPr/>
          <p:nvPr/>
        </p:nvSpPr>
        <p:spPr>
          <a:xfrm>
            <a:off x="587375" y="946150"/>
            <a:ext cx="42771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dirty="0">
                <a:solidFill>
                  <a:schemeClr val="bg1"/>
                </a:solidFill>
                <a:latin typeface="+mn-lt"/>
              </a:rPr>
              <a:t>取线元</a:t>
            </a:r>
            <a:r>
              <a:rPr lang="en-US" altLang="zh-CN" i="1" dirty="0">
                <a:solidFill>
                  <a:srgbClr val="FFFF00"/>
                </a:solidFill>
              </a:rPr>
              <a:t>∆x</a:t>
            </a:r>
            <a:r>
              <a:rPr lang="en-US" altLang="zh-CN" dirty="0">
                <a:solidFill>
                  <a:schemeClr val="bg1"/>
                </a:solidFill>
              </a:rPr>
              <a:t>, 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</a:rPr>
              <a:t>设波函数为 </a:t>
            </a:r>
            <a:r>
              <a:rPr kumimoji="0" lang="en-US" altLang="zh-CN" i="1" dirty="0">
                <a:solidFill>
                  <a:srgbClr val="FFFF00"/>
                </a:solidFill>
                <a:latin typeface="+mn-lt"/>
              </a:rPr>
              <a:t>y</a:t>
            </a:r>
            <a:r>
              <a:rPr kumimoji="0" lang="en-US" altLang="zh-CN" dirty="0">
                <a:solidFill>
                  <a:srgbClr val="FFFF00"/>
                </a:solidFill>
                <a:latin typeface="+mn-lt"/>
              </a:rPr>
              <a:t>=</a:t>
            </a:r>
            <a:r>
              <a:rPr kumimoji="0" lang="en-US" altLang="zh-CN" i="1" dirty="0">
                <a:solidFill>
                  <a:srgbClr val="FFFF00"/>
                </a:solidFill>
                <a:latin typeface="+mn-lt"/>
              </a:rPr>
              <a:t>y</a:t>
            </a:r>
            <a:r>
              <a:rPr kumimoji="0" lang="en-US" altLang="zh-CN" dirty="0">
                <a:solidFill>
                  <a:srgbClr val="FFFF00"/>
                </a:solidFill>
                <a:latin typeface="+mn-lt"/>
              </a:rPr>
              <a:t>(</a:t>
            </a:r>
            <a:r>
              <a:rPr kumimoji="0" lang="en-US" altLang="zh-CN" i="1" dirty="0">
                <a:solidFill>
                  <a:srgbClr val="FFFF00"/>
                </a:solidFill>
                <a:latin typeface="+mn-lt"/>
              </a:rPr>
              <a:t>x</a:t>
            </a:r>
            <a:r>
              <a:rPr kumimoji="0" lang="en-US" altLang="zh-CN" dirty="0">
                <a:solidFill>
                  <a:srgbClr val="FFFF00"/>
                </a:solidFill>
                <a:latin typeface="+mn-lt"/>
              </a:rPr>
              <a:t>, </a:t>
            </a:r>
            <a:r>
              <a:rPr kumimoji="0" lang="en-US" altLang="zh-CN" i="1" dirty="0">
                <a:solidFill>
                  <a:srgbClr val="FFFF00"/>
                </a:solidFill>
                <a:latin typeface="+mn-lt"/>
              </a:rPr>
              <a:t>t</a:t>
            </a:r>
            <a:r>
              <a:rPr kumimoji="0" lang="en-US" altLang="zh-CN" dirty="0">
                <a:solidFill>
                  <a:srgbClr val="FFFF00"/>
                </a:solidFill>
                <a:latin typeface="+mn-lt"/>
              </a:rPr>
              <a:t>)</a:t>
            </a:r>
            <a:endParaRPr kumimoji="0" lang="zh-CN" altLang="en-US" dirty="0">
              <a:solidFill>
                <a:srgbClr val="FFFF00"/>
              </a:solidFill>
              <a:latin typeface="+mn-lt"/>
            </a:endParaRPr>
          </a:p>
        </p:txBody>
      </p:sp>
      <p:graphicFrame>
        <p:nvGraphicFramePr>
          <p:cNvPr id="32" name="Object 4">
            <a:extLst>
              <a:ext uri="{FF2B5EF4-FFF2-40B4-BE49-F238E27FC236}">
                <a16:creationId xmlns:a16="http://schemas.microsoft.com/office/drawing/2014/main" id="{61BBCC86-E410-421C-B740-73CBFB00319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39155" y="1484313"/>
          <a:ext cx="4106862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2" name="Equation" r:id="rId8" imgW="1866900" imgH="419100" progId="">
                  <p:embed/>
                </p:oleObj>
              </mc:Choice>
              <mc:Fallback>
                <p:oleObj name="Equation" r:id="rId8" imgW="1866900" imgH="419100" progId="">
                  <p:embed/>
                  <p:pic>
                    <p:nvPicPr>
                      <p:cNvPr id="32" name="Object 4">
                        <a:extLst>
                          <a:ext uri="{FF2B5EF4-FFF2-40B4-BE49-F238E27FC236}">
                            <a16:creationId xmlns:a16="http://schemas.microsoft.com/office/drawing/2014/main" id="{61BBCC86-E410-421C-B740-73CBFB0031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55" y="1484313"/>
                        <a:ext cx="4106862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肘形连接符 48">
            <a:extLst>
              <a:ext uri="{FF2B5EF4-FFF2-40B4-BE49-F238E27FC236}">
                <a16:creationId xmlns:a16="http://schemas.microsoft.com/office/drawing/2014/main" id="{22164A98-576A-4101-8E6D-88730A417DC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-516558" y="3170238"/>
            <a:ext cx="2546350" cy="114300"/>
          </a:xfrm>
          <a:prstGeom prst="bentConnector4">
            <a:avLst>
              <a:gd name="adj1" fmla="val -231"/>
              <a:gd name="adj2" fmla="val 498755"/>
            </a:avLst>
          </a:prstGeom>
          <a:noFill/>
          <a:ln w="25400" algn="ctr">
            <a:solidFill>
              <a:srgbClr val="FF99FF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Object 6">
            <a:extLst>
              <a:ext uri="{FF2B5EF4-FFF2-40B4-BE49-F238E27FC236}">
                <a16:creationId xmlns:a16="http://schemas.microsoft.com/office/drawing/2014/main" id="{6CB7605E-5A7C-45A8-B877-8B391C1505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675" y="5324475"/>
          <a:ext cx="86296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3" name="Equation" r:id="rId10" imgW="3924300" imgH="419100" progId="">
                  <p:embed/>
                </p:oleObj>
              </mc:Choice>
              <mc:Fallback>
                <p:oleObj name="Equation" r:id="rId10" imgW="3924300" imgH="419100" progId="">
                  <p:embed/>
                  <p:pic>
                    <p:nvPicPr>
                      <p:cNvPr id="34" name="Object 6">
                        <a:extLst>
                          <a:ext uri="{FF2B5EF4-FFF2-40B4-BE49-F238E27FC236}">
                            <a16:creationId xmlns:a16="http://schemas.microsoft.com/office/drawing/2014/main" id="{6CB7605E-5A7C-45A8-B877-8B391C1505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" y="5324475"/>
                        <a:ext cx="862965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>
            <a:extLst>
              <a:ext uri="{FF2B5EF4-FFF2-40B4-BE49-F238E27FC236}">
                <a16:creationId xmlns:a16="http://schemas.microsoft.com/office/drawing/2014/main" id="{451617D6-0DEF-4E53-AF62-56472DCC0372}"/>
              </a:ext>
            </a:extLst>
          </p:cNvPr>
          <p:cNvSpPr/>
          <p:nvPr/>
        </p:nvSpPr>
        <p:spPr>
          <a:xfrm>
            <a:off x="4790455" y="1741488"/>
            <a:ext cx="1357312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dirty="0">
                <a:solidFill>
                  <a:schemeClr val="bg1"/>
                </a:solidFill>
                <a:latin typeface="+mn-ea"/>
                <a:ea typeface="+mn-ea"/>
              </a:rPr>
              <a:t>… ①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94EB16D-B672-4142-B75F-51D9D12E09F8}"/>
              </a:ext>
            </a:extLst>
          </p:cNvPr>
          <p:cNvSpPr/>
          <p:nvPr/>
        </p:nvSpPr>
        <p:spPr>
          <a:xfrm>
            <a:off x="6743080" y="4233863"/>
            <a:ext cx="1357312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dirty="0">
                <a:solidFill>
                  <a:schemeClr val="bg1"/>
                </a:solidFill>
                <a:latin typeface="+mn-ea"/>
                <a:ea typeface="+mn-ea"/>
              </a:rPr>
              <a:t>… ②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8" name="组合 49">
            <a:extLst>
              <a:ext uri="{FF2B5EF4-FFF2-40B4-BE49-F238E27FC236}">
                <a16:creationId xmlns:a16="http://schemas.microsoft.com/office/drawing/2014/main" id="{01E4F5FE-B848-4163-B8EF-B2E41E03AA1C}"/>
              </a:ext>
            </a:extLst>
          </p:cNvPr>
          <p:cNvGrpSpPr>
            <a:grpSpLocks/>
          </p:cNvGrpSpPr>
          <p:nvPr/>
        </p:nvGrpSpPr>
        <p:grpSpPr bwMode="auto">
          <a:xfrm>
            <a:off x="5796136" y="3068291"/>
            <a:ext cx="2503488" cy="461962"/>
            <a:chOff x="5970968" y="3287711"/>
            <a:chExt cx="2504132" cy="461665"/>
          </a:xfrm>
        </p:grpSpPr>
        <p:graphicFrame>
          <p:nvGraphicFramePr>
            <p:cNvPr id="16408" name="Object 7">
              <a:extLst>
                <a:ext uri="{FF2B5EF4-FFF2-40B4-BE49-F238E27FC236}">
                  <a16:creationId xmlns:a16="http://schemas.microsoft.com/office/drawing/2014/main" id="{5167E401-F1B7-4D75-958D-614DD6FE18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70968" y="3335445"/>
            <a:ext cx="306388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74" name="Equation" r:id="rId12" imgW="139579" imgH="164957" progId="">
                    <p:embed/>
                  </p:oleObj>
                </mc:Choice>
                <mc:Fallback>
                  <p:oleObj name="Equation" r:id="rId12" imgW="139579" imgH="164957" progId="">
                    <p:embed/>
                    <p:pic>
                      <p:nvPicPr>
                        <p:cNvPr id="16408" name="Object 7">
                          <a:extLst>
                            <a:ext uri="{FF2B5EF4-FFF2-40B4-BE49-F238E27FC236}">
                              <a16:creationId xmlns:a16="http://schemas.microsoft.com/office/drawing/2014/main" id="{5167E401-F1B7-4D75-958D-614DD6FE18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0968" y="3335445"/>
                          <a:ext cx="306388" cy="363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Text Box 14">
              <a:extLst>
                <a:ext uri="{FF2B5EF4-FFF2-40B4-BE49-F238E27FC236}">
                  <a16:creationId xmlns:a16="http://schemas.microsoft.com/office/drawing/2014/main" id="{61998B3D-449A-4D28-98D2-F8331A07A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7737" y="3287711"/>
              <a:ext cx="2237363" cy="461665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defRPr/>
              </a:pPr>
              <a:r>
                <a:rPr kumimoji="0" lang="en-US" altLang="zh-CN" dirty="0">
                  <a:solidFill>
                    <a:schemeClr val="bg1"/>
                  </a:solidFill>
                  <a:latin typeface="+mj-ea"/>
                  <a:ea typeface="+mj-ea"/>
                </a:rPr>
                <a:t>—</a:t>
              </a:r>
              <a:r>
                <a:rPr kumimoji="0" lang="zh-CN" altLang="en-US" dirty="0">
                  <a:solidFill>
                    <a:schemeClr val="bg1"/>
                  </a:solidFill>
                  <a:latin typeface="+mj-ea"/>
                  <a:ea typeface="+mj-ea"/>
                </a:rPr>
                <a:t>杨氏模量</a:t>
              </a:r>
            </a:p>
          </p:txBody>
        </p:sp>
      </p:grpSp>
      <p:graphicFrame>
        <p:nvGraphicFramePr>
          <p:cNvPr id="40" name="Object 42">
            <a:extLst>
              <a:ext uri="{FF2B5EF4-FFF2-40B4-BE49-F238E27FC236}">
                <a16:creationId xmlns:a16="http://schemas.microsoft.com/office/drawing/2014/main" id="{530CEBE6-6F8E-4E89-8E9A-FBCF7D00F29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02655" y="4000500"/>
          <a:ext cx="591185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5" name="Equation" r:id="rId14" imgW="2730500" imgH="482600" progId="Equation.DSMT4">
                  <p:embed/>
                </p:oleObj>
              </mc:Choice>
              <mc:Fallback>
                <p:oleObj name="Equation" r:id="rId14" imgW="2730500" imgH="482600" progId="Equation.DSMT4">
                  <p:embed/>
                  <p:pic>
                    <p:nvPicPr>
                      <p:cNvPr id="40" name="Object 42">
                        <a:extLst>
                          <a:ext uri="{FF2B5EF4-FFF2-40B4-BE49-F238E27FC236}">
                            <a16:creationId xmlns:a16="http://schemas.microsoft.com/office/drawing/2014/main" id="{530CEBE6-6F8E-4E89-8E9A-FBCF7D00F2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655" y="4000500"/>
                        <a:ext cx="5911850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3" name="灯片编号占位符 1">
            <a:extLst>
              <a:ext uri="{FF2B5EF4-FFF2-40B4-BE49-F238E27FC236}">
                <a16:creationId xmlns:a16="http://schemas.microsoft.com/office/drawing/2014/main" id="{3E2AE8CF-C857-4252-B9CE-B1B23DE806F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EB294E5-640A-421C-974E-742BE27F33C8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7C9AB93-AA63-4312-A766-3C50BD528EDD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549275"/>
            <a:ext cx="3325812" cy="792163"/>
            <a:chOff x="5364088" y="548680"/>
            <a:chExt cx="3326134" cy="792088"/>
          </a:xfrm>
        </p:grpSpPr>
        <p:cxnSp>
          <p:nvCxnSpPr>
            <p:cNvPr id="16405" name="直接箭头连接符 9">
              <a:extLst>
                <a:ext uri="{FF2B5EF4-FFF2-40B4-BE49-F238E27FC236}">
                  <a16:creationId xmlns:a16="http://schemas.microsoft.com/office/drawing/2014/main" id="{8F741676-1B6E-4A5C-A908-1344C09604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64088" y="980728"/>
              <a:ext cx="3326134" cy="0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06" name="Text Box 33">
              <a:extLst>
                <a:ext uri="{FF2B5EF4-FFF2-40B4-BE49-F238E27FC236}">
                  <a16:creationId xmlns:a16="http://schemas.microsoft.com/office/drawing/2014/main" id="{0DFA0A97-4606-48C6-A83A-C0388F8FF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6416" y="548680"/>
              <a:ext cx="359833" cy="3999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FF0000"/>
                  </a:solidFill>
                </a:rPr>
                <a:t>x</a:t>
              </a:r>
              <a:endParaRPr lang="en-US" altLang="zh-CN" sz="2000" baseline="-25000">
                <a:solidFill>
                  <a:srgbClr val="FF0000"/>
                </a:solidFill>
              </a:endParaRPr>
            </a:p>
          </p:txBody>
        </p:sp>
        <p:sp>
          <p:nvSpPr>
            <p:cNvPr id="16407" name="Text Box 33">
              <a:extLst>
                <a:ext uri="{FF2B5EF4-FFF2-40B4-BE49-F238E27FC236}">
                  <a16:creationId xmlns:a16="http://schemas.microsoft.com/office/drawing/2014/main" id="{D2992030-A6E9-4E75-B7C1-E2234E871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0112" y="940860"/>
              <a:ext cx="359833" cy="3999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FF0000"/>
                  </a:solidFill>
                </a:rPr>
                <a:t>O</a:t>
              </a:r>
              <a:endParaRPr lang="en-US" altLang="zh-CN" sz="2000" baseline="-25000">
                <a:solidFill>
                  <a:srgbClr val="FF0000"/>
                </a:solidFill>
              </a:endParaRPr>
            </a:p>
          </p:txBody>
        </p:sp>
      </p:grpSp>
      <p:grpSp>
        <p:nvGrpSpPr>
          <p:cNvPr id="46" name="Group 62">
            <a:extLst>
              <a:ext uri="{FF2B5EF4-FFF2-40B4-BE49-F238E27FC236}">
                <a16:creationId xmlns:a16="http://schemas.microsoft.com/office/drawing/2014/main" id="{D3289D62-D178-4BA3-8674-537827563990}"/>
              </a:ext>
            </a:extLst>
          </p:cNvPr>
          <p:cNvGrpSpPr>
            <a:grpSpLocks/>
          </p:cNvGrpSpPr>
          <p:nvPr/>
        </p:nvGrpSpPr>
        <p:grpSpPr bwMode="auto">
          <a:xfrm>
            <a:off x="8343112" y="1412348"/>
            <a:ext cx="722313" cy="819149"/>
            <a:chOff x="4922" y="1326"/>
            <a:chExt cx="455" cy="516"/>
          </a:xfrm>
        </p:grpSpPr>
        <p:sp>
          <p:nvSpPr>
            <p:cNvPr id="47" name="Oval 63">
              <a:extLst>
                <a:ext uri="{FF2B5EF4-FFF2-40B4-BE49-F238E27FC236}">
                  <a16:creationId xmlns:a16="http://schemas.microsoft.com/office/drawing/2014/main" id="{B6949A06-C75E-4B06-BE2C-C60AAC86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326"/>
              <a:ext cx="227" cy="227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48" name="Rectangle 64">
              <a:extLst>
                <a:ext uri="{FF2B5EF4-FFF2-40B4-BE49-F238E27FC236}">
                  <a16:creationId xmlns:a16="http://schemas.microsoft.com/office/drawing/2014/main" id="{4B289B90-3C28-4011-86E8-AFB95814A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" y="1628"/>
              <a:ext cx="455" cy="214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defRPr/>
              </a:pPr>
              <a:r>
                <a:rPr lang="zh-CN" altLang="en-US" sz="1600" dirty="0">
                  <a:solidFill>
                    <a:srgbClr val="FF9900"/>
                  </a:solidFill>
                  <a:latin typeface="+mn-lt"/>
                  <a:ea typeface="+mn-ea"/>
                </a:rPr>
                <a:t>截面 </a:t>
              </a:r>
              <a:r>
                <a:rPr lang="en-US" altLang="zh-CN" sz="1600" i="1" dirty="0">
                  <a:solidFill>
                    <a:schemeClr val="bg1"/>
                  </a:solidFill>
                  <a:latin typeface="+mn-lt"/>
                  <a:ea typeface="+mn-ea"/>
                </a:rPr>
                <a:t>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28" grpId="0"/>
      <p:bldP spid="31" grpId="0"/>
      <p:bldP spid="35" grpId="0"/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00602E7-8CED-4A61-99FD-0CC6144D7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3" y="333375"/>
            <a:ext cx="4375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zh-CN" sz="2800">
                <a:solidFill>
                  <a:srgbClr val="00FF00"/>
                </a:solidFill>
                <a:ea typeface="黑体" panose="02010609060101010101" pitchFamily="49" charset="-122"/>
              </a:rPr>
              <a:t>§13.3  </a:t>
            </a:r>
            <a:r>
              <a:rPr lang="zh-CN" altLang="en-US" sz="2800">
                <a:solidFill>
                  <a:srgbClr val="00FF00"/>
                </a:solidFill>
                <a:ea typeface="黑体" panose="02010609060101010101" pitchFamily="49" charset="-122"/>
              </a:rPr>
              <a:t>波的能量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46B3A00-A353-445F-B335-D42C8F99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1928813"/>
            <a:ext cx="4643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FFFF00"/>
                </a:solidFill>
              </a:rPr>
              <a:t>一</a:t>
            </a:r>
            <a:r>
              <a:rPr lang="en-US" altLang="zh-CN" dirty="0">
                <a:solidFill>
                  <a:srgbClr val="FFFF00"/>
                </a:solidFill>
              </a:rPr>
              <a:t>. </a:t>
            </a:r>
            <a:r>
              <a:rPr lang="zh-CN" altLang="en-US" dirty="0">
                <a:solidFill>
                  <a:srgbClr val="FFFF00"/>
                </a:solidFill>
              </a:rPr>
              <a:t>波的能量和能量密度</a:t>
            </a:r>
          </a:p>
        </p:txBody>
      </p:sp>
      <p:graphicFrame>
        <p:nvGraphicFramePr>
          <p:cNvPr id="22532" name="Object 2">
            <a:extLst>
              <a:ext uri="{FF2B5EF4-FFF2-40B4-BE49-F238E27FC236}">
                <a16:creationId xmlns:a16="http://schemas.microsoft.com/office/drawing/2014/main" id="{9117AF5F-71FD-426C-9663-B643E976294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397500" y="3143250"/>
          <a:ext cx="1460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7" name="公式" r:id="rId4" imgW="1419308" imgH="342900" progId="Equation.3">
                  <p:embed/>
                </p:oleObj>
              </mc:Choice>
              <mc:Fallback>
                <p:oleObj name="公式" r:id="rId4" imgW="1419308" imgH="342900" progId="Equation.3">
                  <p:embed/>
                  <p:pic>
                    <p:nvPicPr>
                      <p:cNvPr id="22532" name="Object 2">
                        <a:extLst>
                          <a:ext uri="{FF2B5EF4-FFF2-40B4-BE49-F238E27FC236}">
                            <a16:creationId xmlns:a16="http://schemas.microsoft.com/office/drawing/2014/main" id="{9117AF5F-71FD-426C-9663-B643E97629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0" y="3143250"/>
                        <a:ext cx="1460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3">
            <a:extLst>
              <a:ext uri="{FF2B5EF4-FFF2-40B4-BE49-F238E27FC236}">
                <a16:creationId xmlns:a16="http://schemas.microsoft.com/office/drawing/2014/main" id="{A188830B-05D0-4431-80B8-F715928FA493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808163" y="5981700"/>
          <a:ext cx="233203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8" name="公式" r:id="rId6" imgW="2286000" imgH="428625" progId="Equation.3">
                  <p:embed/>
                </p:oleObj>
              </mc:Choice>
              <mc:Fallback>
                <p:oleObj name="公式" r:id="rId6" imgW="2286000" imgH="428625" progId="Equation.3">
                  <p:embed/>
                  <p:pic>
                    <p:nvPicPr>
                      <p:cNvPr id="22533" name="Object 3">
                        <a:extLst>
                          <a:ext uri="{FF2B5EF4-FFF2-40B4-BE49-F238E27FC236}">
                            <a16:creationId xmlns:a16="http://schemas.microsoft.com/office/drawing/2014/main" id="{A188830B-05D0-4431-80B8-F715928FA49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5981700"/>
                        <a:ext cx="2332037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Line 6">
            <a:extLst>
              <a:ext uri="{FF2B5EF4-FFF2-40B4-BE49-F238E27FC236}">
                <a16:creationId xmlns:a16="http://schemas.microsoft.com/office/drawing/2014/main" id="{7BEF5FB1-1ADA-4A87-8CA6-BA22D1E5C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1863" y="5302250"/>
            <a:ext cx="2668587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5" name="Line 7">
            <a:extLst>
              <a:ext uri="{FF2B5EF4-FFF2-40B4-BE49-F238E27FC236}">
                <a16:creationId xmlns:a16="http://schemas.microsoft.com/office/drawing/2014/main" id="{776D7156-272E-4A4F-B5E0-96F252E76C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1863" y="3917950"/>
            <a:ext cx="0" cy="13843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6" name="Line 8">
            <a:extLst>
              <a:ext uri="{FF2B5EF4-FFF2-40B4-BE49-F238E27FC236}">
                <a16:creationId xmlns:a16="http://schemas.microsoft.com/office/drawing/2014/main" id="{7EAFAEB1-2E9B-4A57-AA55-C64349576C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0813" y="4459288"/>
            <a:ext cx="0" cy="1323975"/>
          </a:xfrm>
          <a:prstGeom prst="line">
            <a:avLst/>
          </a:prstGeom>
          <a:noFill/>
          <a:ln w="28575">
            <a:solidFill>
              <a:srgbClr val="00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7" name="Line 9">
            <a:extLst>
              <a:ext uri="{FF2B5EF4-FFF2-40B4-BE49-F238E27FC236}">
                <a16:creationId xmlns:a16="http://schemas.microsoft.com/office/drawing/2014/main" id="{F5AEB92F-5FE7-477E-BDE2-F45DA213D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2763" y="4700588"/>
            <a:ext cx="0" cy="962025"/>
          </a:xfrm>
          <a:prstGeom prst="line">
            <a:avLst/>
          </a:prstGeom>
          <a:noFill/>
          <a:ln w="28575">
            <a:solidFill>
              <a:srgbClr val="00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56">
            <a:extLst>
              <a:ext uri="{FF2B5EF4-FFF2-40B4-BE49-F238E27FC236}">
                <a16:creationId xmlns:a16="http://schemas.microsoft.com/office/drawing/2014/main" id="{7A7EEEA1-F53C-41E2-8592-C026FDD05081}"/>
              </a:ext>
            </a:extLst>
          </p:cNvPr>
          <p:cNvGrpSpPr>
            <a:grpSpLocks/>
          </p:cNvGrpSpPr>
          <p:nvPr/>
        </p:nvGrpSpPr>
        <p:grpSpPr bwMode="auto">
          <a:xfrm>
            <a:off x="6899275" y="4459288"/>
            <a:ext cx="1477963" cy="301625"/>
            <a:chOff x="4358" y="2809"/>
            <a:chExt cx="931" cy="190"/>
          </a:xfrm>
        </p:grpSpPr>
        <p:sp>
          <p:nvSpPr>
            <p:cNvPr id="17456" name="Line 11">
              <a:extLst>
                <a:ext uri="{FF2B5EF4-FFF2-40B4-BE49-F238E27FC236}">
                  <a16:creationId xmlns:a16="http://schemas.microsoft.com/office/drawing/2014/main" id="{903D2664-77D8-4078-93C1-0FE1B40AD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" y="2809"/>
              <a:ext cx="358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7" name="Line 12">
              <a:extLst>
                <a:ext uri="{FF2B5EF4-FFF2-40B4-BE49-F238E27FC236}">
                  <a16:creationId xmlns:a16="http://schemas.microsoft.com/office/drawing/2014/main" id="{91E70679-C384-4874-A6BE-78995B318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8" y="2999"/>
              <a:ext cx="931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8" name="Line 13">
              <a:extLst>
                <a:ext uri="{FF2B5EF4-FFF2-40B4-BE49-F238E27FC236}">
                  <a16:creationId xmlns:a16="http://schemas.microsoft.com/office/drawing/2014/main" id="{3BAD843C-81A8-466A-9CEF-9EDE307C7F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7" y="2815"/>
              <a:ext cx="3" cy="175"/>
            </a:xfrm>
            <a:prstGeom prst="line">
              <a:avLst/>
            </a:prstGeom>
            <a:noFill/>
            <a:ln w="3175">
              <a:solidFill>
                <a:srgbClr val="00FF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42" name="Line 14">
            <a:extLst>
              <a:ext uri="{FF2B5EF4-FFF2-40B4-BE49-F238E27FC236}">
                <a16:creationId xmlns:a16="http://schemas.microsoft.com/office/drawing/2014/main" id="{6C87C720-25C2-4C9F-8567-CBC2AA657A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40650" y="4318000"/>
            <a:ext cx="511175" cy="119063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Line 15">
            <a:extLst>
              <a:ext uri="{FF2B5EF4-FFF2-40B4-BE49-F238E27FC236}">
                <a16:creationId xmlns:a16="http://schemas.microsoft.com/office/drawing/2014/main" id="{672589FB-BC25-4390-B76A-17269DB728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50000" y="4700588"/>
            <a:ext cx="512763" cy="180975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Text Box 16">
            <a:extLst>
              <a:ext uri="{FF2B5EF4-FFF2-40B4-BE49-F238E27FC236}">
                <a16:creationId xmlns:a16="http://schemas.microsoft.com/office/drawing/2014/main" id="{6A15B287-A981-4280-9D0B-59CC41F7F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9300" y="5207000"/>
            <a:ext cx="471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i="1">
                <a:solidFill>
                  <a:schemeClr val="bg1"/>
                </a:solidFill>
              </a:rPr>
              <a:t>O</a:t>
            </a:r>
          </a:p>
        </p:txBody>
      </p:sp>
      <p:sp>
        <p:nvSpPr>
          <p:cNvPr id="22545" name="Text Box 17">
            <a:extLst>
              <a:ext uri="{FF2B5EF4-FFF2-40B4-BE49-F238E27FC236}">
                <a16:creationId xmlns:a16="http://schemas.microsoft.com/office/drawing/2014/main" id="{7A16DD1D-DF9B-4C77-8DF5-352E63011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888" y="5121275"/>
            <a:ext cx="33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2546" name="Text Box 18">
            <a:extLst>
              <a:ext uri="{FF2B5EF4-FFF2-40B4-BE49-F238E27FC236}">
                <a16:creationId xmlns:a16="http://schemas.microsoft.com/office/drawing/2014/main" id="{D340CA74-D97A-40AB-9C79-A7504D5D8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3573463"/>
            <a:ext cx="341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y</a:t>
            </a:r>
          </a:p>
        </p:txBody>
      </p:sp>
      <p:graphicFrame>
        <p:nvGraphicFramePr>
          <p:cNvPr id="22547" name="Object 4">
            <a:extLst>
              <a:ext uri="{FF2B5EF4-FFF2-40B4-BE49-F238E27FC236}">
                <a16:creationId xmlns:a16="http://schemas.microsoft.com/office/drawing/2014/main" id="{E4E1A003-E2EF-4025-8BF1-1895228644B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27088" y="4267200"/>
          <a:ext cx="3678237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9" name="公式" r:id="rId8" imgW="3657600" imgH="790507" progId="Equation.3">
                  <p:embed/>
                </p:oleObj>
              </mc:Choice>
              <mc:Fallback>
                <p:oleObj name="公式" r:id="rId8" imgW="3657600" imgH="790507" progId="Equation.3">
                  <p:embed/>
                  <p:pic>
                    <p:nvPicPr>
                      <p:cNvPr id="22547" name="Object 4">
                        <a:extLst>
                          <a:ext uri="{FF2B5EF4-FFF2-40B4-BE49-F238E27FC236}">
                            <a16:creationId xmlns:a16="http://schemas.microsoft.com/office/drawing/2014/main" id="{E4E1A003-E2EF-4025-8BF1-1895228644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267200"/>
                        <a:ext cx="3678237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8" name="Text Box 20">
            <a:extLst>
              <a:ext uri="{FF2B5EF4-FFF2-40B4-BE49-F238E27FC236}">
                <a16:creationId xmlns:a16="http://schemas.microsoft.com/office/drawing/2014/main" id="{5269D461-E72F-46C8-B45A-09B7CACF7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692525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线元的动能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22549" name="Rectangle 21">
            <a:extLst>
              <a:ext uri="{FF2B5EF4-FFF2-40B4-BE49-F238E27FC236}">
                <a16:creationId xmlns:a16="http://schemas.microsoft.com/office/drawing/2014/main" id="{4E0C86C4-3959-4D96-847E-BDC01DCF8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276850"/>
            <a:ext cx="5030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线元的</a:t>
            </a:r>
            <a:r>
              <a:rPr lang="zh-CN" altLang="en-US">
                <a:solidFill>
                  <a:srgbClr val="FFFF00"/>
                </a:solidFill>
              </a:rPr>
              <a:t>势能</a:t>
            </a: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原长为势能零点）</a:t>
            </a:r>
          </a:p>
        </p:txBody>
      </p:sp>
      <p:sp>
        <p:nvSpPr>
          <p:cNvPr id="22550" name="Rectangle 22">
            <a:extLst>
              <a:ext uri="{FF2B5EF4-FFF2-40B4-BE49-F238E27FC236}">
                <a16:creationId xmlns:a16="http://schemas.microsoft.com/office/drawing/2014/main" id="{8E069A3C-DA1D-4EFF-95E9-57243919B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471988"/>
            <a:ext cx="48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①</a:t>
            </a:r>
          </a:p>
        </p:txBody>
      </p:sp>
      <p:pic>
        <p:nvPicPr>
          <p:cNvPr id="22551" name="Picture 23" descr="enegy">
            <a:extLst>
              <a:ext uri="{FF2B5EF4-FFF2-40B4-BE49-F238E27FC236}">
                <a16:creationId xmlns:a16="http://schemas.microsoft.com/office/drawing/2014/main" id="{432EA243-62C1-4638-A6A4-E072DBA6D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336598"/>
              </a:clrFrom>
              <a:clrTo>
                <a:srgbClr val="33659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65" t="12688" r="20845" b="20804"/>
          <a:stretch>
            <a:fillRect/>
          </a:stretch>
        </p:blipFill>
        <p:spPr bwMode="auto">
          <a:xfrm>
            <a:off x="6332538" y="4183063"/>
            <a:ext cx="16764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52" name="Rectangle 24">
            <a:extLst>
              <a:ext uri="{FF2B5EF4-FFF2-40B4-BE49-F238E27FC236}">
                <a16:creationId xmlns:a16="http://schemas.microsoft.com/office/drawing/2014/main" id="{FCA6EDC6-BBE8-450F-A31C-870AD5953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" y="857250"/>
            <a:ext cx="10287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波动过程</a:t>
            </a:r>
          </a:p>
        </p:txBody>
      </p:sp>
      <p:sp>
        <p:nvSpPr>
          <p:cNvPr id="22553" name="Rectangle 25">
            <a:extLst>
              <a:ext uri="{FF2B5EF4-FFF2-40B4-BE49-F238E27FC236}">
                <a16:creationId xmlns:a16="http://schemas.microsoft.com/office/drawing/2014/main" id="{D7703A68-FC78-41A8-B6BD-7D7B6CEC2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930275"/>
            <a:ext cx="3816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质元在各自平衡位置振动</a:t>
            </a:r>
          </a:p>
        </p:txBody>
      </p:sp>
      <p:sp>
        <p:nvSpPr>
          <p:cNvPr id="22554" name="Rectangle 26">
            <a:extLst>
              <a:ext uri="{FF2B5EF4-FFF2-40B4-BE49-F238E27FC236}">
                <a16:creationId xmlns:a16="http://schemas.microsoft.com/office/drawing/2014/main" id="{55A6D510-9B04-403E-99E2-B33F49BE2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1384300"/>
            <a:ext cx="2813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质元也发生形变</a:t>
            </a:r>
          </a:p>
        </p:txBody>
      </p:sp>
      <p:sp>
        <p:nvSpPr>
          <p:cNvPr id="22555" name="Rectangle 27">
            <a:extLst>
              <a:ext uri="{FF2B5EF4-FFF2-40B4-BE49-F238E27FC236}">
                <a16:creationId xmlns:a16="http://schemas.microsoft.com/office/drawing/2014/main" id="{702E42EC-D822-47F0-B49C-B5B177075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213" y="928688"/>
            <a:ext cx="2205037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波动过程是能量的传播过程</a:t>
            </a:r>
          </a:p>
        </p:txBody>
      </p:sp>
      <p:sp>
        <p:nvSpPr>
          <p:cNvPr id="22556" name="AutoShape 28">
            <a:extLst>
              <a:ext uri="{FF2B5EF4-FFF2-40B4-BE49-F238E27FC236}">
                <a16:creationId xmlns:a16="http://schemas.microsoft.com/office/drawing/2014/main" id="{278D8602-C331-41EF-9187-585ABCE3C4DA}"/>
              </a:ext>
            </a:extLst>
          </p:cNvPr>
          <p:cNvSpPr>
            <a:spLocks/>
          </p:cNvSpPr>
          <p:nvPr/>
        </p:nvSpPr>
        <p:spPr bwMode="auto">
          <a:xfrm>
            <a:off x="2357438" y="1054100"/>
            <a:ext cx="228600" cy="685800"/>
          </a:xfrm>
          <a:prstGeom prst="leftBrace">
            <a:avLst>
              <a:gd name="adj1" fmla="val 25000"/>
              <a:gd name="adj2" fmla="val 50000"/>
            </a:avLst>
          </a:prstGeom>
          <a:noFill/>
          <a:ln w="381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2558" name="Rectangle 30">
            <a:extLst>
              <a:ext uri="{FF2B5EF4-FFF2-40B4-BE49-F238E27FC236}">
                <a16:creationId xmlns:a16="http://schemas.microsoft.com/office/drawing/2014/main" id="{0889FD91-19AD-40A0-9CD7-E2AC56379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2500313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绳子上传播的横波为例：</a:t>
            </a:r>
          </a:p>
        </p:txBody>
      </p:sp>
      <p:sp>
        <p:nvSpPr>
          <p:cNvPr id="22559" name="Rectangle 31">
            <a:extLst>
              <a:ext uri="{FF2B5EF4-FFF2-40B4-BE49-F238E27FC236}">
                <a16:creationId xmlns:a16="http://schemas.microsoft.com/office/drawing/2014/main" id="{5B3DC127-9A32-46A6-B806-16E77DB74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3071813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设波沿</a:t>
            </a:r>
            <a:r>
              <a:rPr lang="en-US" altLang="zh-CN" i="1">
                <a:solidFill>
                  <a:srgbClr val="00FFFF"/>
                </a:solidFill>
              </a:rPr>
              <a:t>x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方向传播，取线元</a:t>
            </a:r>
          </a:p>
        </p:txBody>
      </p:sp>
      <p:graphicFrame>
        <p:nvGraphicFramePr>
          <p:cNvPr id="17436" name="Object 5">
            <a:extLst>
              <a:ext uri="{FF2B5EF4-FFF2-40B4-BE49-F238E27FC236}">
                <a16:creationId xmlns:a16="http://schemas.microsoft.com/office/drawing/2014/main" id="{6104772F-96E7-4A8E-9116-F6FF2A50006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97375" y="344170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0" name="Equation" r:id="rId11" imgW="190500" imgH="419100" progId="Equation.3">
                  <p:embed/>
                </p:oleObj>
              </mc:Choice>
              <mc:Fallback>
                <p:oleObj name="Equation" r:id="rId11" imgW="190500" imgH="419100" progId="Equation.3">
                  <p:embed/>
                  <p:pic>
                    <p:nvPicPr>
                      <p:cNvPr id="17436" name="Object 5">
                        <a:extLst>
                          <a:ext uri="{FF2B5EF4-FFF2-40B4-BE49-F238E27FC236}">
                            <a16:creationId xmlns:a16="http://schemas.microsoft.com/office/drawing/2014/main" id="{6104772F-96E7-4A8E-9116-F6FF2A5000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75" y="344170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4" name="Text Box 36">
            <a:extLst>
              <a:ext uri="{FF2B5EF4-FFF2-40B4-BE49-F238E27FC236}">
                <a16:creationId xmlns:a16="http://schemas.microsoft.com/office/drawing/2014/main" id="{3E9E4EBC-C74F-4848-B803-3E9D2451B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0900" y="4640263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rgbClr val="FFFF66"/>
                </a:solidFill>
              </a:rPr>
              <a:t>T</a:t>
            </a:r>
            <a:r>
              <a:rPr lang="en-US" altLang="zh-CN" baseline="-25000">
                <a:solidFill>
                  <a:srgbClr val="FFFF66"/>
                </a:solidFill>
              </a:rPr>
              <a:t>2</a:t>
            </a:r>
          </a:p>
        </p:txBody>
      </p:sp>
      <p:sp>
        <p:nvSpPr>
          <p:cNvPr id="22565" name="Text Box 37">
            <a:extLst>
              <a:ext uri="{FF2B5EF4-FFF2-40B4-BE49-F238E27FC236}">
                <a16:creationId xmlns:a16="http://schemas.microsoft.com/office/drawing/2014/main" id="{20FB6090-87A2-4F78-BB1B-40F338FBC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0700" y="3954463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rgbClr val="FFFF66"/>
                </a:solidFill>
              </a:rPr>
              <a:t>T</a:t>
            </a:r>
            <a:r>
              <a:rPr lang="en-US" altLang="zh-CN" baseline="-25000">
                <a:solidFill>
                  <a:srgbClr val="FFFF66"/>
                </a:solidFill>
              </a:rPr>
              <a:t>1</a:t>
            </a:r>
          </a:p>
        </p:txBody>
      </p:sp>
      <p:grpSp>
        <p:nvGrpSpPr>
          <p:cNvPr id="3" name="Group 38">
            <a:extLst>
              <a:ext uri="{FF2B5EF4-FFF2-40B4-BE49-F238E27FC236}">
                <a16:creationId xmlns:a16="http://schemas.microsoft.com/office/drawing/2014/main" id="{7FF0EF78-C2AC-49C9-BBBC-3CF6A1CDC0F2}"/>
              </a:ext>
            </a:extLst>
          </p:cNvPr>
          <p:cNvGrpSpPr>
            <a:grpSpLocks/>
          </p:cNvGrpSpPr>
          <p:nvPr/>
        </p:nvGrpSpPr>
        <p:grpSpPr bwMode="auto">
          <a:xfrm>
            <a:off x="6748463" y="3998913"/>
            <a:ext cx="965200" cy="641350"/>
            <a:chOff x="4115" y="2092"/>
            <a:chExt cx="608" cy="404"/>
          </a:xfrm>
        </p:grpSpPr>
        <p:sp>
          <p:nvSpPr>
            <p:cNvPr id="17452" name="Line 39">
              <a:extLst>
                <a:ext uri="{FF2B5EF4-FFF2-40B4-BE49-F238E27FC236}">
                  <a16:creationId xmlns:a16="http://schemas.microsoft.com/office/drawing/2014/main" id="{AEAB3E50-D0C2-4CEA-86BD-C82582669D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52" y="2155"/>
              <a:ext cx="71" cy="189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3" name="Line 40">
              <a:extLst>
                <a:ext uri="{FF2B5EF4-FFF2-40B4-BE49-F238E27FC236}">
                  <a16:creationId xmlns:a16="http://schemas.microsoft.com/office/drawing/2014/main" id="{9933F923-B50C-4CA8-A762-5A4E241603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0356" flipH="1" flipV="1">
              <a:off x="4115" y="2344"/>
              <a:ext cx="72" cy="15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4" name="Line 41">
              <a:extLst>
                <a:ext uri="{FF2B5EF4-FFF2-40B4-BE49-F238E27FC236}">
                  <a16:creationId xmlns:a16="http://schemas.microsoft.com/office/drawing/2014/main" id="{D45122EA-AC1D-4491-9885-04D7A3DFA4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1" y="2231"/>
              <a:ext cx="537" cy="189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5" name="Text Box 42">
              <a:extLst>
                <a:ext uri="{FF2B5EF4-FFF2-40B4-BE49-F238E27FC236}">
                  <a16:creationId xmlns:a16="http://schemas.microsoft.com/office/drawing/2014/main" id="{E97274CF-5A28-4A63-96BD-714BA380D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092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aseline="-25000">
                  <a:solidFill>
                    <a:srgbClr val="FFFF66"/>
                  </a:solidFill>
                </a:rPr>
                <a:t>△</a:t>
              </a:r>
              <a:r>
                <a:rPr lang="en-US" altLang="zh-CN" i="1" baseline="-25000">
                  <a:solidFill>
                    <a:srgbClr val="FFFF66"/>
                  </a:solidFill>
                </a:rPr>
                <a:t>l</a:t>
              </a:r>
            </a:p>
          </p:txBody>
        </p:sp>
      </p:grpSp>
      <p:sp>
        <p:nvSpPr>
          <p:cNvPr id="22571" name="Text Box 43">
            <a:extLst>
              <a:ext uri="{FF2B5EF4-FFF2-40B4-BE49-F238E27FC236}">
                <a16:creationId xmlns:a16="http://schemas.microsoft.com/office/drawing/2014/main" id="{4D7D1CEA-AA30-4BD0-BAD4-176902CB4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5288" y="4378325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-25000">
                <a:solidFill>
                  <a:srgbClr val="FFFF66"/>
                </a:solidFill>
              </a:rPr>
              <a:t>△</a:t>
            </a:r>
            <a:r>
              <a:rPr lang="en-US" altLang="zh-CN" i="1" baseline="-25000">
                <a:solidFill>
                  <a:srgbClr val="FFFF66"/>
                </a:solidFill>
              </a:rPr>
              <a:t>y</a:t>
            </a:r>
          </a:p>
        </p:txBody>
      </p:sp>
      <p:grpSp>
        <p:nvGrpSpPr>
          <p:cNvPr id="4" name="Group 44">
            <a:extLst>
              <a:ext uri="{FF2B5EF4-FFF2-40B4-BE49-F238E27FC236}">
                <a16:creationId xmlns:a16="http://schemas.microsoft.com/office/drawing/2014/main" id="{BC93E841-2EA5-47D5-A5E7-F15C43AE68FA}"/>
              </a:ext>
            </a:extLst>
          </p:cNvPr>
          <p:cNvGrpSpPr>
            <a:grpSpLocks/>
          </p:cNvGrpSpPr>
          <p:nvPr/>
        </p:nvGrpSpPr>
        <p:grpSpPr bwMode="auto">
          <a:xfrm>
            <a:off x="6862763" y="5302250"/>
            <a:ext cx="911225" cy="360363"/>
            <a:chOff x="4187" y="2913"/>
            <a:chExt cx="574" cy="227"/>
          </a:xfrm>
        </p:grpSpPr>
        <p:sp>
          <p:nvSpPr>
            <p:cNvPr id="17449" name="Line 45">
              <a:extLst>
                <a:ext uri="{FF2B5EF4-FFF2-40B4-BE49-F238E27FC236}">
                  <a16:creationId xmlns:a16="http://schemas.microsoft.com/office/drawing/2014/main" id="{25F24E29-696B-4C8E-8828-4D1B3665C4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2" y="2913"/>
              <a:ext cx="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0" name="Line 46">
              <a:extLst>
                <a:ext uri="{FF2B5EF4-FFF2-40B4-BE49-F238E27FC236}">
                  <a16:creationId xmlns:a16="http://schemas.microsoft.com/office/drawing/2014/main" id="{388A4937-96DF-4460-A271-F2A979C3E5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87" y="2989"/>
              <a:ext cx="574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1" name="Text Box 47">
              <a:extLst>
                <a:ext uri="{FF2B5EF4-FFF2-40B4-BE49-F238E27FC236}">
                  <a16:creationId xmlns:a16="http://schemas.microsoft.com/office/drawing/2014/main" id="{FF165AD9-BDA2-4B24-95A3-9ABF19516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928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aseline="-25000">
                  <a:solidFill>
                    <a:srgbClr val="FFFF66"/>
                  </a:solidFill>
                </a:rPr>
                <a:t>△</a:t>
              </a:r>
              <a:r>
                <a:rPr lang="en-US" altLang="zh-CN" i="1" baseline="-25000">
                  <a:solidFill>
                    <a:srgbClr val="FFFF66"/>
                  </a:solidFill>
                </a:rPr>
                <a:t>x</a:t>
              </a:r>
            </a:p>
          </p:txBody>
        </p:sp>
      </p:grpSp>
      <p:graphicFrame>
        <p:nvGraphicFramePr>
          <p:cNvPr id="22576" name="Object 6">
            <a:extLst>
              <a:ext uri="{FF2B5EF4-FFF2-40B4-BE49-F238E27FC236}">
                <a16:creationId xmlns:a16="http://schemas.microsoft.com/office/drawing/2014/main" id="{EE8B3901-E4C0-4B43-8136-331BA0F7C53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96113" y="3649663"/>
          <a:ext cx="4572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1" name="Equation" r:id="rId13" imgW="85629" imgH="123689" progId="Equation.3">
                  <p:embed/>
                </p:oleObj>
              </mc:Choice>
              <mc:Fallback>
                <p:oleObj name="Equation" r:id="rId13" imgW="85629" imgH="123689" progId="Equation.3">
                  <p:embed/>
                  <p:pic>
                    <p:nvPicPr>
                      <p:cNvPr id="22576" name="Object 6">
                        <a:extLst>
                          <a:ext uri="{FF2B5EF4-FFF2-40B4-BE49-F238E27FC236}">
                            <a16:creationId xmlns:a16="http://schemas.microsoft.com/office/drawing/2014/main" id="{EE8B3901-E4C0-4B43-8136-331BA0F7C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6113" y="3649663"/>
                        <a:ext cx="45720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77" name="Line 49">
            <a:extLst>
              <a:ext uri="{FF2B5EF4-FFF2-40B4-BE49-F238E27FC236}">
                <a16:creationId xmlns:a16="http://schemas.microsoft.com/office/drawing/2014/main" id="{9481F5A3-F5C7-4CF6-B1A4-19DA594FC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7475" y="3873500"/>
            <a:ext cx="528638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85" name="AutoShape 57">
            <a:extLst>
              <a:ext uri="{FF2B5EF4-FFF2-40B4-BE49-F238E27FC236}">
                <a16:creationId xmlns:a16="http://schemas.microsoft.com/office/drawing/2014/main" id="{C7C042E0-C46A-43C9-99C8-9CD9ED3CC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188" y="1228725"/>
            <a:ext cx="819150" cy="342900"/>
          </a:xfrm>
          <a:prstGeom prst="rightArrow">
            <a:avLst>
              <a:gd name="adj1" fmla="val 50000"/>
              <a:gd name="adj2" fmla="val 6467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2586" name="AutoShape 58">
            <a:extLst>
              <a:ext uri="{FF2B5EF4-FFF2-40B4-BE49-F238E27FC236}">
                <a16:creationId xmlns:a16="http://schemas.microsoft.com/office/drawing/2014/main" id="{42E0997C-BA94-4E1D-95A4-F9FCC50B2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438" y="1246188"/>
            <a:ext cx="847725" cy="396875"/>
          </a:xfrm>
          <a:prstGeom prst="rightArrow">
            <a:avLst>
              <a:gd name="adj1" fmla="val 50000"/>
              <a:gd name="adj2" fmla="val 49998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8" name="Rectangle 21">
            <a:extLst>
              <a:ext uri="{FF2B5EF4-FFF2-40B4-BE49-F238E27FC236}">
                <a16:creationId xmlns:a16="http://schemas.microsoft.com/office/drawing/2014/main" id="{69D3516A-915A-4550-AE50-5828EA222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5900738"/>
            <a:ext cx="40306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bg1"/>
                </a:solidFill>
                <a:latin typeface="宋体" pitchFamily="2" charset="-122"/>
              </a:rPr>
              <a:t>{</a:t>
            </a:r>
            <a:r>
              <a:rPr lang="en-US" altLang="zh-CN" dirty="0">
                <a:solidFill>
                  <a:schemeClr val="bg1"/>
                </a:solidFill>
                <a:latin typeface="+mn-lt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宋体" pitchFamily="2" charset="-122"/>
              </a:rPr>
              <a:t>形变很小时，</a:t>
            </a:r>
            <a:r>
              <a:rPr lang="en-US" altLang="zh-CN" dirty="0">
                <a:solidFill>
                  <a:srgbClr val="FFFF00"/>
                </a:solidFill>
                <a:latin typeface="+mn-lt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latin typeface="+mn-lt"/>
              </a:rPr>
              <a:t>1</a:t>
            </a:r>
            <a:r>
              <a:rPr lang="en-US" altLang="zh-CN" dirty="0">
                <a:solidFill>
                  <a:srgbClr val="FFFF00"/>
                </a:solidFill>
                <a:latin typeface="+mn-lt"/>
              </a:rPr>
              <a:t>=T</a:t>
            </a:r>
            <a:r>
              <a:rPr lang="en-US" altLang="zh-CN" baseline="-25000" dirty="0">
                <a:solidFill>
                  <a:srgbClr val="FFFF00"/>
                </a:solidFill>
                <a:latin typeface="+mn-lt"/>
              </a:rPr>
              <a:t>2</a:t>
            </a:r>
            <a:r>
              <a:rPr lang="en-US" altLang="zh-CN" dirty="0">
                <a:solidFill>
                  <a:srgbClr val="FFFF00"/>
                </a:solidFill>
                <a:latin typeface="+mn-lt"/>
              </a:rPr>
              <a:t>=T 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}</a:t>
            </a:r>
            <a:endParaRPr lang="zh-CN" altLang="en-US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447" name="灯片编号占位符 1">
            <a:extLst>
              <a:ext uri="{FF2B5EF4-FFF2-40B4-BE49-F238E27FC236}">
                <a16:creationId xmlns:a16="http://schemas.microsoft.com/office/drawing/2014/main" id="{8130C380-14C1-4065-BCDD-2EE9D8F3018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1F2292B-30E7-44D6-B600-80928177FA2A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  <p:pic>
        <p:nvPicPr>
          <p:cNvPr id="10293" name="Picture 53" descr="H:\下册\2013年\素材\绳波.gif">
            <a:extLst>
              <a:ext uri="{FF2B5EF4-FFF2-40B4-BE49-F238E27FC236}">
                <a16:creationId xmlns:a16="http://schemas.microsoft.com/office/drawing/2014/main" id="{2B70F52B-7C7B-40A3-B974-9A1E48FFF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71688"/>
            <a:ext cx="37147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0" dur="500"/>
                                        <p:tgtEl>
                                          <p:spTgt spid="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  <p:bldP spid="22531" grpId="0" autoUpdateAnimBg="0"/>
      <p:bldP spid="22544" grpId="0" autoUpdateAnimBg="0"/>
      <p:bldP spid="22545" grpId="0" autoUpdateAnimBg="0"/>
      <p:bldP spid="22546" grpId="0" autoUpdateAnimBg="0"/>
      <p:bldP spid="22548" grpId="0" autoUpdateAnimBg="0"/>
      <p:bldP spid="22549" grpId="0" autoUpdateAnimBg="0"/>
      <p:bldP spid="22550" grpId="0" autoUpdateAnimBg="0"/>
      <p:bldP spid="22552" grpId="0" autoUpdateAnimBg="0"/>
      <p:bldP spid="22553" grpId="0" autoUpdateAnimBg="0"/>
      <p:bldP spid="22554" grpId="0" autoUpdateAnimBg="0"/>
      <p:bldP spid="22556" grpId="0" animBg="1"/>
      <p:bldP spid="22558" grpId="0" autoUpdateAnimBg="0"/>
      <p:bldP spid="22559" grpId="0" autoUpdateAnimBg="0"/>
      <p:bldP spid="22564" grpId="0" autoUpdateAnimBg="0"/>
      <p:bldP spid="22565" grpId="0" autoUpdateAnimBg="0"/>
      <p:bldP spid="22571" grpId="0" autoUpdateAnimBg="0"/>
      <p:bldP spid="22585" grpId="0" animBg="1"/>
      <p:bldP spid="22586" grpId="0" animBg="1"/>
      <p:bldP spid="4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>
            <a:extLst>
              <a:ext uri="{FF2B5EF4-FFF2-40B4-BE49-F238E27FC236}">
                <a16:creationId xmlns:a16="http://schemas.microsoft.com/office/drawing/2014/main" id="{7FD56B5D-CDB7-481E-8D02-591A28A42BC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746500" y="4786313"/>
          <a:ext cx="450215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5" name="公式" r:id="rId3" imgW="4467104" imgH="790507" progId="Equation.3">
                  <p:embed/>
                </p:oleObj>
              </mc:Choice>
              <mc:Fallback>
                <p:oleObj name="公式" r:id="rId3" imgW="4467104" imgH="790507" progId="Equation.3">
                  <p:embed/>
                  <p:pic>
                    <p:nvPicPr>
                      <p:cNvPr id="23554" name="Object 2">
                        <a:extLst>
                          <a:ext uri="{FF2B5EF4-FFF2-40B4-BE49-F238E27FC236}">
                            <a16:creationId xmlns:a16="http://schemas.microsoft.com/office/drawing/2014/main" id="{7FD56B5D-CDB7-481E-8D02-591A28A42BC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0" y="4786313"/>
                        <a:ext cx="4502150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3">
            <a:extLst>
              <a:ext uri="{FF2B5EF4-FFF2-40B4-BE49-F238E27FC236}">
                <a16:creationId xmlns:a16="http://schemas.microsoft.com/office/drawing/2014/main" id="{D68EF119-C3B6-4B0A-B725-E5789226C15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744913" y="5689600"/>
          <a:ext cx="449897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6" name="公式" r:id="rId5" imgW="4467104" imgH="790507" progId="Equation.3">
                  <p:embed/>
                </p:oleObj>
              </mc:Choice>
              <mc:Fallback>
                <p:oleObj name="公式" r:id="rId5" imgW="4467104" imgH="790507" progId="Equation.3">
                  <p:embed/>
                  <p:pic>
                    <p:nvPicPr>
                      <p:cNvPr id="23555" name="Object 3">
                        <a:extLst>
                          <a:ext uri="{FF2B5EF4-FFF2-40B4-BE49-F238E27FC236}">
                            <a16:creationId xmlns:a16="http://schemas.microsoft.com/office/drawing/2014/main" id="{D68EF119-C3B6-4B0A-B725-E5789226C15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4913" y="5689600"/>
                        <a:ext cx="4498975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>
            <a:extLst>
              <a:ext uri="{FF2B5EF4-FFF2-40B4-BE49-F238E27FC236}">
                <a16:creationId xmlns:a16="http://schemas.microsoft.com/office/drawing/2014/main" id="{6A10389C-700D-4071-BE89-2D87D31CBA7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295400" y="4813300"/>
          <a:ext cx="2360613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7" name="公式" r:id="rId7" imgW="2324227" imgH="790507" progId="Equation.3">
                  <p:embed/>
                </p:oleObj>
              </mc:Choice>
              <mc:Fallback>
                <p:oleObj name="公式" r:id="rId7" imgW="2324227" imgH="790507" progId="Equation.3">
                  <p:embed/>
                  <p:pic>
                    <p:nvPicPr>
                      <p:cNvPr id="23556" name="Object 4">
                        <a:extLst>
                          <a:ext uri="{FF2B5EF4-FFF2-40B4-BE49-F238E27FC236}">
                            <a16:creationId xmlns:a16="http://schemas.microsoft.com/office/drawing/2014/main" id="{6A10389C-700D-4071-BE89-2D87D31CBA7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813300"/>
                        <a:ext cx="2360613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>
            <a:extLst>
              <a:ext uri="{FF2B5EF4-FFF2-40B4-BE49-F238E27FC236}">
                <a16:creationId xmlns:a16="http://schemas.microsoft.com/office/drawing/2014/main" id="{0A3998DE-6C69-444B-849E-7C0358D388C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258888" y="5721350"/>
          <a:ext cx="2354262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8" name="公式" r:id="rId9" imgW="2314441" imgH="790507" progId="Equation.3">
                  <p:embed/>
                </p:oleObj>
              </mc:Choice>
              <mc:Fallback>
                <p:oleObj name="公式" r:id="rId9" imgW="2314441" imgH="790507" progId="Equation.3">
                  <p:embed/>
                  <p:pic>
                    <p:nvPicPr>
                      <p:cNvPr id="23557" name="Object 5">
                        <a:extLst>
                          <a:ext uri="{FF2B5EF4-FFF2-40B4-BE49-F238E27FC236}">
                            <a16:creationId xmlns:a16="http://schemas.microsoft.com/office/drawing/2014/main" id="{0A3998DE-6C69-444B-849E-7C0358D388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721350"/>
                        <a:ext cx="2354262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>
            <a:extLst>
              <a:ext uri="{FF2B5EF4-FFF2-40B4-BE49-F238E27FC236}">
                <a16:creationId xmlns:a16="http://schemas.microsoft.com/office/drawing/2014/main" id="{4C883DAC-D36A-4648-B90D-482957DC4A4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71775" y="3887788"/>
          <a:ext cx="3490913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9" name="公式" r:id="rId11" imgW="3343218" imgH="790507" progId="Equation.3">
                  <p:embed/>
                </p:oleObj>
              </mc:Choice>
              <mc:Fallback>
                <p:oleObj name="公式" r:id="rId11" imgW="3343218" imgH="790507" progId="Equation.3">
                  <p:embed/>
                  <p:pic>
                    <p:nvPicPr>
                      <p:cNvPr id="23558" name="Object 6">
                        <a:extLst>
                          <a:ext uri="{FF2B5EF4-FFF2-40B4-BE49-F238E27FC236}">
                            <a16:creationId xmlns:a16="http://schemas.microsoft.com/office/drawing/2014/main" id="{4C883DAC-D36A-4648-B90D-482957DC4A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887788"/>
                        <a:ext cx="3490913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7">
            <a:extLst>
              <a:ext uri="{FF2B5EF4-FFF2-40B4-BE49-F238E27FC236}">
                <a16:creationId xmlns:a16="http://schemas.microsoft.com/office/drawing/2014/main" id="{FE62712F-DF05-44D0-A2AD-72F2A4DE7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075113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将</a:t>
            </a:r>
          </a:p>
        </p:txBody>
      </p:sp>
      <p:sp>
        <p:nvSpPr>
          <p:cNvPr id="23560" name="Text Box 8">
            <a:extLst>
              <a:ext uri="{FF2B5EF4-FFF2-40B4-BE49-F238E27FC236}">
                <a16:creationId xmlns:a16="http://schemas.microsoft.com/office/drawing/2014/main" id="{501FFD22-3452-4DA7-AD7E-56B95FA75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6975" y="4110038"/>
            <a:ext cx="272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代入①、②、③</a:t>
            </a:r>
          </a:p>
        </p:txBody>
      </p:sp>
      <p:graphicFrame>
        <p:nvGraphicFramePr>
          <p:cNvPr id="23561" name="Object 7">
            <a:extLst>
              <a:ext uri="{FF2B5EF4-FFF2-40B4-BE49-F238E27FC236}">
                <a16:creationId xmlns:a16="http://schemas.microsoft.com/office/drawing/2014/main" id="{E76C6F02-05FA-45B2-A50D-8F2B89C2480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71575" y="4075113"/>
          <a:ext cx="117316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0" name="公式" r:id="rId13" imgW="1133367" imgH="428625" progId="Equation.3">
                  <p:embed/>
                </p:oleObj>
              </mc:Choice>
              <mc:Fallback>
                <p:oleObj name="公式" r:id="rId13" imgW="1133367" imgH="428625" progId="Equation.3">
                  <p:embed/>
                  <p:pic>
                    <p:nvPicPr>
                      <p:cNvPr id="23561" name="Object 7">
                        <a:extLst>
                          <a:ext uri="{FF2B5EF4-FFF2-40B4-BE49-F238E27FC236}">
                            <a16:creationId xmlns:a16="http://schemas.microsoft.com/office/drawing/2014/main" id="{E76C6F02-05FA-45B2-A50D-8F2B89C248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4075113"/>
                        <a:ext cx="1173163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8">
            <a:extLst>
              <a:ext uri="{FF2B5EF4-FFF2-40B4-BE49-F238E27FC236}">
                <a16:creationId xmlns:a16="http://schemas.microsoft.com/office/drawing/2014/main" id="{887CFD56-6AAE-482A-9E28-4D74C9287FE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785938" y="404813"/>
          <a:ext cx="34734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1" name="公式" r:id="rId15" imgW="2857576" imgH="485877" progId="Equation.3">
                  <p:embed/>
                </p:oleObj>
              </mc:Choice>
              <mc:Fallback>
                <p:oleObj name="公式" r:id="rId15" imgW="2857576" imgH="485877" progId="Equation.3">
                  <p:embed/>
                  <p:pic>
                    <p:nvPicPr>
                      <p:cNvPr id="23562" name="Object 8">
                        <a:extLst>
                          <a:ext uri="{FF2B5EF4-FFF2-40B4-BE49-F238E27FC236}">
                            <a16:creationId xmlns:a16="http://schemas.microsoft.com/office/drawing/2014/main" id="{887CFD56-6AAE-482A-9E28-4D74C9287F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404813"/>
                        <a:ext cx="34734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3" name="Rectangle 11">
            <a:extLst>
              <a:ext uri="{FF2B5EF4-FFF2-40B4-BE49-F238E27FC236}">
                <a16:creationId xmlns:a16="http://schemas.microsoft.com/office/drawing/2014/main" id="{BEF17BA2-B118-4884-BB05-32AD07BA1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28625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其中</a:t>
            </a:r>
          </a:p>
        </p:txBody>
      </p:sp>
      <p:sp>
        <p:nvSpPr>
          <p:cNvPr id="23564" name="Rectangle 12">
            <a:extLst>
              <a:ext uri="{FF2B5EF4-FFF2-40B4-BE49-F238E27FC236}">
                <a16:creationId xmlns:a16="http://schemas.microsoft.com/office/drawing/2014/main" id="{B48F0F8B-3EF8-483E-8A70-E5A0CCA6B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200400"/>
            <a:ext cx="2744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线元的机械能：</a:t>
            </a:r>
          </a:p>
        </p:txBody>
      </p:sp>
      <p:sp>
        <p:nvSpPr>
          <p:cNvPr id="23565" name="Text Box 13">
            <a:extLst>
              <a:ext uri="{FF2B5EF4-FFF2-40B4-BE49-F238E27FC236}">
                <a16:creationId xmlns:a16="http://schemas.microsoft.com/office/drawing/2014/main" id="{A5D724EE-8C22-474C-B41A-ADC8B71A6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575" y="4075113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和</a:t>
            </a:r>
          </a:p>
        </p:txBody>
      </p:sp>
      <p:sp>
        <p:nvSpPr>
          <p:cNvPr id="23566" name="Rectangle 14">
            <a:extLst>
              <a:ext uri="{FF2B5EF4-FFF2-40B4-BE49-F238E27FC236}">
                <a16:creationId xmlns:a16="http://schemas.microsoft.com/office/drawing/2014/main" id="{F915098C-9388-4370-8654-7FBE54756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4563" y="32385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③</a:t>
            </a:r>
          </a:p>
        </p:txBody>
      </p:sp>
      <p:graphicFrame>
        <p:nvGraphicFramePr>
          <p:cNvPr id="23567" name="Object 9">
            <a:extLst>
              <a:ext uri="{FF2B5EF4-FFF2-40B4-BE49-F238E27FC236}">
                <a16:creationId xmlns:a16="http://schemas.microsoft.com/office/drawing/2014/main" id="{CFBA7B5D-F432-4EC5-9D8D-A349B5AFC68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736975" y="3279775"/>
          <a:ext cx="19780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2" name="公式" r:id="rId17" imgW="1800359" imgH="428625" progId="Equation.3">
                  <p:embed/>
                </p:oleObj>
              </mc:Choice>
              <mc:Fallback>
                <p:oleObj name="公式" r:id="rId17" imgW="1800359" imgH="428625" progId="Equation.3">
                  <p:embed/>
                  <p:pic>
                    <p:nvPicPr>
                      <p:cNvPr id="23567" name="Object 9">
                        <a:extLst>
                          <a:ext uri="{FF2B5EF4-FFF2-40B4-BE49-F238E27FC236}">
                            <a16:creationId xmlns:a16="http://schemas.microsoft.com/office/drawing/2014/main" id="{CFBA7B5D-F432-4EC5-9D8D-A349B5AFC68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6975" y="3279775"/>
                        <a:ext cx="19780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2" name="Object 10">
            <a:extLst>
              <a:ext uri="{FF2B5EF4-FFF2-40B4-BE49-F238E27FC236}">
                <a16:creationId xmlns:a16="http://schemas.microsoft.com/office/drawing/2014/main" id="{AA5E11CE-B7E7-45A2-9E0F-4A975D3A7F9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571750" y="2214563"/>
          <a:ext cx="43180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3" name="公式" r:id="rId19" imgW="1838280" imgH="352391" progId="Equation.3">
                  <p:embed/>
                </p:oleObj>
              </mc:Choice>
              <mc:Fallback>
                <p:oleObj name="公式" r:id="rId19" imgW="1838280" imgH="352391" progId="Equation.3">
                  <p:embed/>
                  <p:pic>
                    <p:nvPicPr>
                      <p:cNvPr id="23572" name="Object 10">
                        <a:extLst>
                          <a:ext uri="{FF2B5EF4-FFF2-40B4-BE49-F238E27FC236}">
                            <a16:creationId xmlns:a16="http://schemas.microsoft.com/office/drawing/2014/main" id="{AA5E11CE-B7E7-45A2-9E0F-4A975D3A7F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2214563"/>
                        <a:ext cx="431800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3" name="Rectangle 21">
            <a:extLst>
              <a:ext uri="{FF2B5EF4-FFF2-40B4-BE49-F238E27FC236}">
                <a16:creationId xmlns:a16="http://schemas.microsoft.com/office/drawing/2014/main" id="{75FD0052-1387-49C6-9471-240FC404E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4563" y="23955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②</a:t>
            </a:r>
          </a:p>
        </p:txBody>
      </p:sp>
      <p:graphicFrame>
        <p:nvGraphicFramePr>
          <p:cNvPr id="23575" name="Object 11">
            <a:extLst>
              <a:ext uri="{FF2B5EF4-FFF2-40B4-BE49-F238E27FC236}">
                <a16:creationId xmlns:a16="http://schemas.microsoft.com/office/drawing/2014/main" id="{B906C3CB-63A8-420F-B90F-B8202B8CF67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292725" y="260350"/>
          <a:ext cx="292258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4" name="公式" r:id="rId21" imgW="2438298" imgH="790507" progId="Equation.3">
                  <p:embed/>
                </p:oleObj>
              </mc:Choice>
              <mc:Fallback>
                <p:oleObj name="公式" r:id="rId21" imgW="2438298" imgH="790507" progId="Equation.3">
                  <p:embed/>
                  <p:pic>
                    <p:nvPicPr>
                      <p:cNvPr id="23575" name="Object 11">
                        <a:extLst>
                          <a:ext uri="{FF2B5EF4-FFF2-40B4-BE49-F238E27FC236}">
                            <a16:creationId xmlns:a16="http://schemas.microsoft.com/office/drawing/2014/main" id="{B906C3CB-63A8-420F-B90F-B8202B8CF67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60350"/>
                        <a:ext cx="2922588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6" name="Object 12">
            <a:extLst>
              <a:ext uri="{FF2B5EF4-FFF2-40B4-BE49-F238E27FC236}">
                <a16:creationId xmlns:a16="http://schemas.microsoft.com/office/drawing/2014/main" id="{EA642167-7902-424B-BD84-7937DB9483D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214563" y="1312863"/>
          <a:ext cx="31448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5" name="公式" r:id="rId23" imgW="2476525" imgH="866741" progId="Equation.3">
                  <p:embed/>
                </p:oleObj>
              </mc:Choice>
              <mc:Fallback>
                <p:oleObj name="公式" r:id="rId23" imgW="2476525" imgH="866741" progId="Equation.3">
                  <p:embed/>
                  <p:pic>
                    <p:nvPicPr>
                      <p:cNvPr id="23576" name="Object 12">
                        <a:extLst>
                          <a:ext uri="{FF2B5EF4-FFF2-40B4-BE49-F238E27FC236}">
                            <a16:creationId xmlns:a16="http://schemas.microsoft.com/office/drawing/2014/main" id="{EA642167-7902-424B-BD84-7937DB9483D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1312863"/>
                        <a:ext cx="314483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7" name="Object 13">
            <a:extLst>
              <a:ext uri="{FF2B5EF4-FFF2-40B4-BE49-F238E27FC236}">
                <a16:creationId xmlns:a16="http://schemas.microsoft.com/office/drawing/2014/main" id="{C3F9C0A7-BF3F-41AE-B86B-12834453D4B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367338" y="1279525"/>
          <a:ext cx="30495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6" name="公式" r:id="rId25" imgW="2400376" imgH="866741" progId="Equation.3">
                  <p:embed/>
                </p:oleObj>
              </mc:Choice>
              <mc:Fallback>
                <p:oleObj name="公式" r:id="rId25" imgW="2400376" imgH="866741" progId="Equation.3">
                  <p:embed/>
                  <p:pic>
                    <p:nvPicPr>
                      <p:cNvPr id="23577" name="Object 13">
                        <a:extLst>
                          <a:ext uri="{FF2B5EF4-FFF2-40B4-BE49-F238E27FC236}">
                            <a16:creationId xmlns:a16="http://schemas.microsoft.com/office/drawing/2014/main" id="{C3F9C0A7-BF3F-41AE-B86B-12834453D4B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7338" y="1279525"/>
                        <a:ext cx="304958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等于号 20">
            <a:extLst>
              <a:ext uri="{FF2B5EF4-FFF2-40B4-BE49-F238E27FC236}">
                <a16:creationId xmlns:a16="http://schemas.microsoft.com/office/drawing/2014/main" id="{F36A3406-3328-4703-AA2C-7AF9F23D1569}"/>
              </a:ext>
            </a:extLst>
          </p:cNvPr>
          <p:cNvSpPr/>
          <p:nvPr/>
        </p:nvSpPr>
        <p:spPr bwMode="auto">
          <a:xfrm rot="5400000">
            <a:off x="1268413" y="5554663"/>
            <a:ext cx="463550" cy="285750"/>
          </a:xfrm>
          <a:prstGeom prst="mathEqual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478" name="灯片编号占位符 1">
            <a:extLst>
              <a:ext uri="{FF2B5EF4-FFF2-40B4-BE49-F238E27FC236}">
                <a16:creationId xmlns:a16="http://schemas.microsoft.com/office/drawing/2014/main" id="{A52DAA84-5002-41EE-9CC2-03DB62FD3B2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DF3C081-3533-41B8-9A2D-CE73A0B93BDA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  <p:graphicFrame>
        <p:nvGraphicFramePr>
          <p:cNvPr id="2" name="Object 24">
            <a:extLst>
              <a:ext uri="{FF2B5EF4-FFF2-40B4-BE49-F238E27FC236}">
                <a16:creationId xmlns:a16="http://schemas.microsoft.com/office/drawing/2014/main" id="{ED45AC72-522B-4ADA-AC6D-240DA3B35EF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38200" y="1033463"/>
          <a:ext cx="10906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7" name="公式" r:id="rId27" imgW="495427" imgH="161959" progId="Equation.3">
                  <p:embed/>
                </p:oleObj>
              </mc:Choice>
              <mc:Fallback>
                <p:oleObj name="公式" r:id="rId27" imgW="495427" imgH="161959" progId="Equation.3">
                  <p:embed/>
                  <p:pic>
                    <p:nvPicPr>
                      <p:cNvPr id="2" name="Object 24">
                        <a:extLst>
                          <a:ext uri="{FF2B5EF4-FFF2-40B4-BE49-F238E27FC236}">
                            <a16:creationId xmlns:a16="http://schemas.microsoft.com/office/drawing/2014/main" id="{ED45AC72-522B-4ADA-AC6D-240DA3B35E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033463"/>
                        <a:ext cx="109061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 autoUpdateAnimBg="0"/>
      <p:bldP spid="23560" grpId="0" autoUpdateAnimBg="0"/>
      <p:bldP spid="23563" grpId="0" autoUpdateAnimBg="0"/>
      <p:bldP spid="23564" grpId="0" autoUpdateAnimBg="0"/>
      <p:bldP spid="23565" grpId="0" autoUpdateAnimBg="0"/>
      <p:bldP spid="23566" grpId="0" autoUpdateAnimBg="0"/>
      <p:bldP spid="2357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F412A6AC-DD99-43D9-89D5-A06A41DA98C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495800"/>
            <a:ext cx="4343400" cy="1350963"/>
            <a:chOff x="288" y="2832"/>
            <a:chExt cx="2736" cy="851"/>
          </a:xfrm>
        </p:grpSpPr>
        <p:pic>
          <p:nvPicPr>
            <p:cNvPr id="20505" name="Picture 3" descr="图形3">
              <a:extLst>
                <a:ext uri="{FF2B5EF4-FFF2-40B4-BE49-F238E27FC236}">
                  <a16:creationId xmlns:a16="http://schemas.microsoft.com/office/drawing/2014/main" id="{009147D2-BAB9-4992-B2AF-14C66BBB5B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" y="2832"/>
              <a:ext cx="2684" cy="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6" name="Rectangle 4">
              <a:extLst>
                <a:ext uri="{FF2B5EF4-FFF2-40B4-BE49-F238E27FC236}">
                  <a16:creationId xmlns:a16="http://schemas.microsoft.com/office/drawing/2014/main" id="{46471992-46E3-4B70-8275-7981CA7DE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72"/>
              <a:ext cx="878" cy="511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4581" name="Object 2">
            <a:extLst>
              <a:ext uri="{FF2B5EF4-FFF2-40B4-BE49-F238E27FC236}">
                <a16:creationId xmlns:a16="http://schemas.microsoft.com/office/drawing/2014/main" id="{D614F8A7-48D4-48F0-B7A3-11B0D4CCF9E3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173288" y="242888"/>
          <a:ext cx="62150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2" name="Equation" r:id="rId4" imgW="6172353" imgH="790507" progId="Equation.3">
                  <p:embed/>
                </p:oleObj>
              </mc:Choice>
              <mc:Fallback>
                <p:oleObj name="Equation" r:id="rId4" imgW="6172353" imgH="790507" progId="Equation.3">
                  <p:embed/>
                  <p:pic>
                    <p:nvPicPr>
                      <p:cNvPr id="24581" name="Object 2">
                        <a:extLst>
                          <a:ext uri="{FF2B5EF4-FFF2-40B4-BE49-F238E27FC236}">
                            <a16:creationId xmlns:a16="http://schemas.microsoft.com/office/drawing/2014/main" id="{D614F8A7-48D4-48F0-B7A3-11B0D4CCF9E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242888"/>
                        <a:ext cx="6215062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Text Box 6">
            <a:extLst>
              <a:ext uri="{FF2B5EF4-FFF2-40B4-BE49-F238E27FC236}">
                <a16:creationId xmlns:a16="http://schemas.microsoft.com/office/drawing/2014/main" id="{94C66514-FD33-4B65-BE33-C17D89DBA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1447800"/>
            <a:ext cx="8012112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在波的传播过程中，介质中任一质元的</a:t>
            </a:r>
            <a:r>
              <a:rPr lang="zh-CN" altLang="en-US" dirty="0">
                <a:solidFill>
                  <a:srgbClr val="FF0000"/>
                </a:solidFill>
                <a:latin typeface="Bookman Old Style" panose="02050604050505020204" pitchFamily="18" charset="0"/>
                <a:ea typeface="楷体_GB2312" pitchFamily="49" charset="-122"/>
              </a:rPr>
              <a:t>动能和势能是同步变化的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，即</a:t>
            </a:r>
            <a:r>
              <a:rPr lang="en-US" altLang="zh-CN" b="0" i="1" dirty="0" err="1">
                <a:solidFill>
                  <a:srgbClr val="66FFFF"/>
                </a:solidFill>
                <a:ea typeface="仿宋_GB2312" pitchFamily="49" charset="-122"/>
              </a:rPr>
              <a:t>W</a:t>
            </a:r>
            <a:r>
              <a:rPr lang="en-US" altLang="zh-CN" b="0" i="1" baseline="-25000" dirty="0" err="1">
                <a:solidFill>
                  <a:srgbClr val="66FFFF"/>
                </a:solidFill>
                <a:latin typeface="Bookman Old Style" panose="02050604050505020204" pitchFamily="18" charset="0"/>
                <a:ea typeface="仿宋_GB2312" pitchFamily="49" charset="-122"/>
              </a:rPr>
              <a:t>k</a:t>
            </a:r>
            <a:r>
              <a:rPr lang="en-US" altLang="zh-CN" b="0" i="1" dirty="0">
                <a:solidFill>
                  <a:srgbClr val="66FFFF"/>
                </a:solidFill>
                <a:latin typeface="Bookman Old Style" panose="02050604050505020204" pitchFamily="18" charset="0"/>
                <a:ea typeface="仿宋_GB2312" pitchFamily="49" charset="-122"/>
              </a:rPr>
              <a:t>=</a:t>
            </a:r>
            <a:r>
              <a:rPr lang="en-US" altLang="zh-CN" b="0" i="1" dirty="0">
                <a:solidFill>
                  <a:srgbClr val="66FFFF"/>
                </a:solidFill>
                <a:ea typeface="仿宋_GB2312" pitchFamily="49" charset="-122"/>
              </a:rPr>
              <a:t>W</a:t>
            </a:r>
            <a:r>
              <a:rPr lang="en-US" altLang="zh-CN" b="0" i="1" baseline="-25000" dirty="0">
                <a:solidFill>
                  <a:srgbClr val="66FFFF"/>
                </a:solidFill>
                <a:latin typeface="Bookman Old Style" panose="02050604050505020204" pitchFamily="18" charset="0"/>
                <a:ea typeface="仿宋_GB2312" pitchFamily="49" charset="-122"/>
              </a:rPr>
              <a:t>p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  <a:ea typeface="仿宋_GB2312" pitchFamily="49" charset="-122"/>
              </a:rPr>
              <a:t>，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与</a:t>
            </a:r>
            <a:r>
              <a:rPr lang="zh-CN" altLang="en-US" dirty="0">
                <a:solidFill>
                  <a:srgbClr val="FF0000"/>
                </a:solidFill>
                <a:latin typeface="Bookman Old Style" panose="02050604050505020204" pitchFamily="18" charset="0"/>
                <a:ea typeface="楷体_GB2312" pitchFamily="49" charset="-122"/>
              </a:rPr>
              <a:t>简谐弹簧振子的振动能量变化规律是不同的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；如图所示</a:t>
            </a:r>
          </a:p>
        </p:txBody>
      </p:sp>
      <p:sp>
        <p:nvSpPr>
          <p:cNvPr id="24583" name="Text Box 7">
            <a:extLst>
              <a:ext uri="{FF2B5EF4-FFF2-40B4-BE49-F238E27FC236}">
                <a16:creationId xmlns:a16="http://schemas.microsoft.com/office/drawing/2014/main" id="{C15B366B-FAB0-4DDC-A95A-214D33B66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1027113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</a:p>
        </p:txBody>
      </p:sp>
      <p:sp>
        <p:nvSpPr>
          <p:cNvPr id="24584" name="Line 8">
            <a:extLst>
              <a:ext uri="{FF2B5EF4-FFF2-40B4-BE49-F238E27FC236}">
                <a16:creationId xmlns:a16="http://schemas.microsoft.com/office/drawing/2014/main" id="{E3000231-CA32-44A4-BC2C-4912F371AA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4925" y="5181600"/>
            <a:ext cx="4029075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5" name="Line 9">
            <a:extLst>
              <a:ext uri="{FF2B5EF4-FFF2-40B4-BE49-F238E27FC236}">
                <a16:creationId xmlns:a16="http://schemas.microsoft.com/office/drawing/2014/main" id="{196DE0EB-4854-4D79-B4C9-3B974EC29C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38325" y="3733800"/>
            <a:ext cx="0" cy="2590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6" name="Line 10">
            <a:extLst>
              <a:ext uri="{FF2B5EF4-FFF2-40B4-BE49-F238E27FC236}">
                <a16:creationId xmlns:a16="http://schemas.microsoft.com/office/drawing/2014/main" id="{CB22741C-2DBE-4514-BC21-2925925EC9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5238" y="3810000"/>
            <a:ext cx="88265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7" name="Oval 11">
            <a:extLst>
              <a:ext uri="{FF2B5EF4-FFF2-40B4-BE49-F238E27FC236}">
                <a16:creationId xmlns:a16="http://schemas.microsoft.com/office/drawing/2014/main" id="{91283226-AC96-4A10-B088-9B8B8E1DC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4419600"/>
            <a:ext cx="152400" cy="1524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4588" name="Oval 12">
            <a:extLst>
              <a:ext uri="{FF2B5EF4-FFF2-40B4-BE49-F238E27FC236}">
                <a16:creationId xmlns:a16="http://schemas.microsoft.com/office/drawing/2014/main" id="{AF67A056-826C-4E7C-8D4A-84258268E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038" y="5126038"/>
            <a:ext cx="152400" cy="1524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4589" name="Text Box 13">
            <a:extLst>
              <a:ext uri="{FF2B5EF4-FFF2-40B4-BE49-F238E27FC236}">
                <a16:creationId xmlns:a16="http://schemas.microsoft.com/office/drawing/2014/main" id="{04520A43-C3D3-4BFE-B9EA-3D2B5E9F6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4916488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4590" name="Text Box 14">
            <a:extLst>
              <a:ext uri="{FF2B5EF4-FFF2-40B4-BE49-F238E27FC236}">
                <a16:creationId xmlns:a16="http://schemas.microsoft.com/office/drawing/2014/main" id="{77A27FA2-98C3-4EBF-9843-9C1CB8D1A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8" y="3276600"/>
            <a:ext cx="341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y</a:t>
            </a:r>
          </a:p>
        </p:txBody>
      </p:sp>
      <p:graphicFrame>
        <p:nvGraphicFramePr>
          <p:cNvPr id="24591" name="Object 3">
            <a:extLst>
              <a:ext uri="{FF2B5EF4-FFF2-40B4-BE49-F238E27FC236}">
                <a16:creationId xmlns:a16="http://schemas.microsoft.com/office/drawing/2014/main" id="{0143EDA4-E5C4-482C-8AB3-CF814C78CF0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602038" y="3581400"/>
          <a:ext cx="51276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3" name="Equation" r:id="rId6" imgW="85629" imgH="123689" progId="Equation.3">
                  <p:embed/>
                </p:oleObj>
              </mc:Choice>
              <mc:Fallback>
                <p:oleObj name="Equation" r:id="rId6" imgW="85629" imgH="123689" progId="Equation.3">
                  <p:embed/>
                  <p:pic>
                    <p:nvPicPr>
                      <p:cNvPr id="24591" name="Object 3">
                        <a:extLst>
                          <a:ext uri="{FF2B5EF4-FFF2-40B4-BE49-F238E27FC236}">
                            <a16:creationId xmlns:a16="http://schemas.microsoft.com/office/drawing/2014/main" id="{0143EDA4-E5C4-482C-8AB3-CF814C78CF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2038" y="3581400"/>
                        <a:ext cx="512762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2" name="Text Box 16">
            <a:extLst>
              <a:ext uri="{FF2B5EF4-FFF2-40B4-BE49-F238E27FC236}">
                <a16:creationId xmlns:a16="http://schemas.microsoft.com/office/drawing/2014/main" id="{8D317F32-439E-4964-821A-2FF3E9FAD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075" y="4957763"/>
            <a:ext cx="49212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O</a:t>
            </a:r>
          </a:p>
        </p:txBody>
      </p:sp>
      <p:sp>
        <p:nvSpPr>
          <p:cNvPr id="24594" name="AutoShape 18">
            <a:extLst>
              <a:ext uri="{FF2B5EF4-FFF2-40B4-BE49-F238E27FC236}">
                <a16:creationId xmlns:a16="http://schemas.microsoft.com/office/drawing/2014/main" id="{4CDACB89-2736-438B-995A-293B3B9A2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3886200"/>
            <a:ext cx="2495550" cy="685800"/>
          </a:xfrm>
          <a:prstGeom prst="wedgeRectCallout">
            <a:avLst>
              <a:gd name="adj1" fmla="val -147880"/>
              <a:gd name="adj2" fmla="val 33435"/>
            </a:avLst>
          </a:prstGeom>
          <a:solidFill>
            <a:srgbClr val="666699">
              <a:alpha val="72940"/>
            </a:srgbClr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0">
              <a:solidFill>
                <a:srgbClr val="FFFF00"/>
              </a:solidFill>
              <a:latin typeface="Bookman Old Style" panose="02050604050505020204" pitchFamily="18" charset="0"/>
              <a:ea typeface="黑体" panose="02010609060101010101" pitchFamily="49" charset="-122"/>
            </a:endParaRPr>
          </a:p>
        </p:txBody>
      </p:sp>
      <p:sp>
        <p:nvSpPr>
          <p:cNvPr id="24596" name="AutoShape 20">
            <a:extLst>
              <a:ext uri="{FF2B5EF4-FFF2-40B4-BE49-F238E27FC236}">
                <a16:creationId xmlns:a16="http://schemas.microsoft.com/office/drawing/2014/main" id="{6E089D83-3821-4BE5-82C9-12580C224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450" y="5480050"/>
            <a:ext cx="2336800" cy="685800"/>
          </a:xfrm>
          <a:prstGeom prst="wedgeRectCallout">
            <a:avLst>
              <a:gd name="adj1" fmla="val -133792"/>
              <a:gd name="adj2" fmla="val -84028"/>
            </a:avLst>
          </a:prstGeom>
          <a:solidFill>
            <a:srgbClr val="666699">
              <a:alpha val="69019"/>
            </a:srgbClr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0">
              <a:solidFill>
                <a:srgbClr val="FFFF00"/>
              </a:solidFill>
              <a:latin typeface="Bookman Old Style" panose="02050604050505020204" pitchFamily="18" charset="0"/>
              <a:ea typeface="黑体" panose="02010609060101010101" pitchFamily="49" charset="-122"/>
            </a:endParaRPr>
          </a:p>
        </p:txBody>
      </p:sp>
      <p:sp>
        <p:nvSpPr>
          <p:cNvPr id="24597" name="Text Box 21">
            <a:extLst>
              <a:ext uri="{FF2B5EF4-FFF2-40B4-BE49-F238E27FC236}">
                <a16:creationId xmlns:a16="http://schemas.microsoft.com/office/drawing/2014/main" id="{AFA443E2-142A-4BD3-BC03-9D1A9B73A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038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4598" name="Text Box 22">
            <a:extLst>
              <a:ext uri="{FF2B5EF4-FFF2-40B4-BE49-F238E27FC236}">
                <a16:creationId xmlns:a16="http://schemas.microsoft.com/office/drawing/2014/main" id="{10429C7C-29B5-46FD-B0B7-39F4734D7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724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4599" name="Rectangle 23">
            <a:extLst>
              <a:ext uri="{FF2B5EF4-FFF2-40B4-BE49-F238E27FC236}">
                <a16:creationId xmlns:a16="http://schemas.microsoft.com/office/drawing/2014/main" id="{CCFA9126-EFF6-42BC-9946-5078B716A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2349500"/>
            <a:ext cx="79914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96863" indent="-296863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i="1" dirty="0">
                <a:solidFill>
                  <a:srgbClr val="66FFFF"/>
                </a:solidFill>
                <a:ea typeface="仿宋_GB2312" pitchFamily="49" charset="-122"/>
              </a:rPr>
              <a:t>                                                  , A </a:t>
            </a:r>
            <a:r>
              <a:rPr lang="zh-CN" altLang="en-US" dirty="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点质元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的动能、势能同时 达到最小；</a:t>
            </a:r>
            <a:r>
              <a:rPr lang="en-US" altLang="zh-CN" i="1" dirty="0">
                <a:solidFill>
                  <a:srgbClr val="66FFFF"/>
                </a:solidFill>
                <a:ea typeface="楷体_GB2312" pitchFamily="49" charset="-122"/>
              </a:rPr>
              <a:t>B </a:t>
            </a:r>
            <a:r>
              <a:rPr lang="zh-CN" altLang="en-US" dirty="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点质元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的动能、势能同时达到最大；</a:t>
            </a:r>
          </a:p>
        </p:txBody>
      </p:sp>
      <p:sp>
        <p:nvSpPr>
          <p:cNvPr id="24604" name="Rectangle 28">
            <a:extLst>
              <a:ext uri="{FF2B5EF4-FFF2-40B4-BE49-F238E27FC236}">
                <a16:creationId xmlns:a16="http://schemas.microsoft.com/office/drawing/2014/main" id="{8A1D3E74-4EDF-4A81-ADA7-3EA426F94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77825"/>
            <a:ext cx="172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机械能</a:t>
            </a:r>
          </a:p>
        </p:txBody>
      </p:sp>
      <p:sp>
        <p:nvSpPr>
          <p:cNvPr id="24605" name="AutoShape 29">
            <a:extLst>
              <a:ext uri="{FF2B5EF4-FFF2-40B4-BE49-F238E27FC236}">
                <a16:creationId xmlns:a16="http://schemas.microsoft.com/office/drawing/2014/main" id="{A685CF39-7ABC-416E-9B9E-CD04D6D23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81075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4593" name="Object 4">
            <a:extLst>
              <a:ext uri="{FF2B5EF4-FFF2-40B4-BE49-F238E27FC236}">
                <a16:creationId xmlns:a16="http://schemas.microsoft.com/office/drawing/2014/main" id="{D72E89A1-8D0F-4A8C-BA5F-A72E4338826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343525" y="3929063"/>
          <a:ext cx="2300288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4" name="公式" r:id="rId8" imgW="1219302" imgH="352391" progId="Equation.3">
                  <p:embed/>
                </p:oleObj>
              </mc:Choice>
              <mc:Fallback>
                <p:oleObj name="公式" r:id="rId8" imgW="1219302" imgH="352391" progId="Equation.3">
                  <p:embed/>
                  <p:pic>
                    <p:nvPicPr>
                      <p:cNvPr id="24593" name="Object 4">
                        <a:extLst>
                          <a:ext uri="{FF2B5EF4-FFF2-40B4-BE49-F238E27FC236}">
                            <a16:creationId xmlns:a16="http://schemas.microsoft.com/office/drawing/2014/main" id="{D72E89A1-8D0F-4A8C-BA5F-A72E433882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3525" y="3929063"/>
                        <a:ext cx="2300288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5" name="Object 5">
            <a:extLst>
              <a:ext uri="{FF2B5EF4-FFF2-40B4-BE49-F238E27FC236}">
                <a16:creationId xmlns:a16="http://schemas.microsoft.com/office/drawing/2014/main" id="{92283806-D365-406E-9AFE-AC1D50994E7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429250" y="5500688"/>
          <a:ext cx="2224088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5" name="公式" r:id="rId10" imgW="1228782" imgH="352391" progId="Equation.3">
                  <p:embed/>
                </p:oleObj>
              </mc:Choice>
              <mc:Fallback>
                <p:oleObj name="公式" r:id="rId10" imgW="1228782" imgH="352391" progId="Equation.3">
                  <p:embed/>
                  <p:pic>
                    <p:nvPicPr>
                      <p:cNvPr id="24595" name="Object 5">
                        <a:extLst>
                          <a:ext uri="{FF2B5EF4-FFF2-40B4-BE49-F238E27FC236}">
                            <a16:creationId xmlns:a16="http://schemas.microsoft.com/office/drawing/2014/main" id="{92283806-D365-406E-9AFE-AC1D50994E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5500688"/>
                        <a:ext cx="2224088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4" name="灯片编号占位符 1">
            <a:extLst>
              <a:ext uri="{FF2B5EF4-FFF2-40B4-BE49-F238E27FC236}">
                <a16:creationId xmlns:a16="http://schemas.microsoft.com/office/drawing/2014/main" id="{BD183AA5-80AB-44D6-BEFF-83F44F7C9F93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308FC81-21C6-4072-AE84-D03FF71D6859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6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autoUpdateAnimBg="0"/>
      <p:bldP spid="24583" grpId="0" autoUpdateAnimBg="0"/>
      <p:bldP spid="24587" grpId="0" animBg="1"/>
      <p:bldP spid="24588" grpId="0" animBg="1"/>
      <p:bldP spid="24589" grpId="0" autoUpdateAnimBg="0"/>
      <p:bldP spid="24590" grpId="0" autoUpdateAnimBg="0"/>
      <p:bldP spid="24592" grpId="0" autoUpdateAnimBg="0"/>
      <p:bldP spid="24594" grpId="0" animBg="1" autoUpdateAnimBg="0"/>
      <p:bldP spid="24596" grpId="0" animBg="1" autoUpdateAnimBg="0"/>
      <p:bldP spid="24597" grpId="0" autoUpdateAnimBg="0"/>
      <p:bldP spid="24598" grpId="0" autoUpdateAnimBg="0"/>
      <p:bldP spid="24599" grpId="0" autoUpdateAnimBg="0"/>
      <p:bldP spid="24604" grpId="0" autoUpdateAnimBg="0"/>
      <p:bldP spid="2460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6D3CF7-BF81-4569-9E85-D0C0F3877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677988"/>
            <a:ext cx="82804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质元机械能随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时空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周期性变化，表明任一质元在波传播过程中都在不断吸收和放出能量；</a:t>
            </a:r>
            <a:r>
              <a:rPr lang="zh-CN" altLang="en-US">
                <a:solidFill>
                  <a:schemeClr val="bg1"/>
                </a:solidFill>
                <a:latin typeface="仿宋_GB2312" pitchFamily="49" charset="-122"/>
                <a:ea typeface="楷体_GB2312" pitchFamily="49" charset="-122"/>
              </a:rPr>
              <a:t>因此，</a:t>
            </a:r>
            <a:r>
              <a:rPr lang="zh-CN" altLang="en-US">
                <a:solidFill>
                  <a:srgbClr val="FFFF00"/>
                </a:solidFill>
                <a:latin typeface="仿宋_GB2312" pitchFamily="49" charset="-122"/>
                <a:ea typeface="楷体_GB2312" pitchFamily="49" charset="-122"/>
              </a:rPr>
              <a:t>波动过程是能量的传播过程</a:t>
            </a:r>
            <a:r>
              <a:rPr lang="zh-CN" altLang="en-US">
                <a:solidFill>
                  <a:schemeClr val="bg1"/>
                </a:solidFill>
                <a:latin typeface="仿宋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21507" name="灯片编号占位符 1">
            <a:extLst>
              <a:ext uri="{FF2B5EF4-FFF2-40B4-BE49-F238E27FC236}">
                <a16:creationId xmlns:a16="http://schemas.microsoft.com/office/drawing/2014/main" id="{4844358A-F1D7-433F-8123-14A3126EB02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3E8086-B15D-4506-BB65-6758C00EEB6E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FCDBDF27-B3BB-4D6D-BD65-4AC35118B40A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195513" y="692150"/>
          <a:ext cx="62150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7" name="Equation" r:id="rId3" imgW="6172353" imgH="790507" progId="Equation.3">
                  <p:embed/>
                </p:oleObj>
              </mc:Choice>
              <mc:Fallback>
                <p:oleObj name="Equation" r:id="rId3" imgW="6172353" imgH="790507" progId="Equation.3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FCDBDF27-B3BB-4D6D-BD65-4AC35118B40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692150"/>
                        <a:ext cx="6215062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8">
            <a:extLst>
              <a:ext uri="{FF2B5EF4-FFF2-40B4-BE49-F238E27FC236}">
                <a16:creationId xmlns:a16="http://schemas.microsoft.com/office/drawing/2014/main" id="{E90815B6-84AD-4F72-9AAF-9499BB739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827088"/>
            <a:ext cx="172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机械能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  <p:bldP spid="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9CD56EFA-99A2-462F-8508-CAA8D7506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33375"/>
            <a:ext cx="8528050" cy="4619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拓展：</a:t>
            </a:r>
            <a:r>
              <a:rPr lang="zh-CN" altLang="en-US" dirty="0">
                <a:solidFill>
                  <a:srgbClr val="FFFF00"/>
                </a:solidFill>
                <a:latin typeface="+mj-ea"/>
                <a:ea typeface="+mj-ea"/>
              </a:rPr>
              <a:t>以匀质细杆中简谐纵波为例</a:t>
            </a:r>
          </a:p>
        </p:txBody>
      </p:sp>
      <p:graphicFrame>
        <p:nvGraphicFramePr>
          <p:cNvPr id="22531" name="Object 2">
            <a:extLst>
              <a:ext uri="{FF2B5EF4-FFF2-40B4-BE49-F238E27FC236}">
                <a16:creationId xmlns:a16="http://schemas.microsoft.com/office/drawing/2014/main" id="{56F258EA-E8EA-40D3-A305-9CC31B69912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97375" y="989013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1" name="Equation" r:id="rId3" imgW="190500" imgH="419100" progId="Equation.3">
                  <p:embed/>
                </p:oleObj>
              </mc:Choice>
              <mc:Fallback>
                <p:oleObj name="Equation" r:id="rId3" imgW="190500" imgH="419100" progId="Equation.3">
                  <p:embed/>
                  <p:pic>
                    <p:nvPicPr>
                      <p:cNvPr id="22531" name="Object 2">
                        <a:extLst>
                          <a:ext uri="{FF2B5EF4-FFF2-40B4-BE49-F238E27FC236}">
                            <a16:creationId xmlns:a16="http://schemas.microsoft.com/office/drawing/2014/main" id="{56F258EA-E8EA-40D3-A305-9CC31B6991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75" y="989013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Line 4">
            <a:extLst>
              <a:ext uri="{FF2B5EF4-FFF2-40B4-BE49-F238E27FC236}">
                <a16:creationId xmlns:a16="http://schemas.microsoft.com/office/drawing/2014/main" id="{B51A2B64-FCEC-438A-9751-323B803E69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0650" y="1346200"/>
            <a:ext cx="1211263" cy="1588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3" name="Line 5">
            <a:extLst>
              <a:ext uri="{FF2B5EF4-FFF2-40B4-BE49-F238E27FC236}">
                <a16:creationId xmlns:a16="http://schemas.microsoft.com/office/drawing/2014/main" id="{8C9AC835-E96E-4A8E-8F0B-8DF2ED6388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0225" y="1157288"/>
            <a:ext cx="6372225" cy="158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none" w="med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34" name="Group 6">
            <a:extLst>
              <a:ext uri="{FF2B5EF4-FFF2-40B4-BE49-F238E27FC236}">
                <a16:creationId xmlns:a16="http://schemas.microsoft.com/office/drawing/2014/main" id="{C87221F5-DC29-4C7E-87AC-AE66B804C989}"/>
              </a:ext>
            </a:extLst>
          </p:cNvPr>
          <p:cNvGrpSpPr>
            <a:grpSpLocks/>
          </p:cNvGrpSpPr>
          <p:nvPr/>
        </p:nvGrpSpPr>
        <p:grpSpPr bwMode="auto">
          <a:xfrm>
            <a:off x="2236788" y="1481138"/>
            <a:ext cx="5472112" cy="268287"/>
            <a:chOff x="1450" y="1401"/>
            <a:chExt cx="3447" cy="169"/>
          </a:xfrm>
        </p:grpSpPr>
        <p:sp>
          <p:nvSpPr>
            <p:cNvPr id="22594" name="Line 7">
              <a:extLst>
                <a:ext uri="{FF2B5EF4-FFF2-40B4-BE49-F238E27FC236}">
                  <a16:creationId xmlns:a16="http://schemas.microsoft.com/office/drawing/2014/main" id="{48C82AB4-D574-4F28-AE04-3368DCD4D7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5" y="1401"/>
              <a:ext cx="3326" cy="1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95" name="Line 8">
              <a:extLst>
                <a:ext uri="{FF2B5EF4-FFF2-40B4-BE49-F238E27FC236}">
                  <a16:creationId xmlns:a16="http://schemas.microsoft.com/office/drawing/2014/main" id="{DD68BF4A-F1F1-46FC-BA7E-BF0C978BC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1" y="1569"/>
              <a:ext cx="3325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96" name="Arc 9">
              <a:extLst>
                <a:ext uri="{FF2B5EF4-FFF2-40B4-BE49-F238E27FC236}">
                  <a16:creationId xmlns:a16="http://schemas.microsoft.com/office/drawing/2014/main" id="{CE4530DD-A511-447F-AD31-6FEDD099776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486" y="1524"/>
              <a:ext cx="66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97" name="Arc 10">
              <a:extLst>
                <a:ext uri="{FF2B5EF4-FFF2-40B4-BE49-F238E27FC236}">
                  <a16:creationId xmlns:a16="http://schemas.microsoft.com/office/drawing/2014/main" id="{D604FDD7-215E-4CCC-9F6B-3DF43C7B2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" y="1483"/>
              <a:ext cx="66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98" name="Arc 11">
              <a:extLst>
                <a:ext uri="{FF2B5EF4-FFF2-40B4-BE49-F238E27FC236}">
                  <a16:creationId xmlns:a16="http://schemas.microsoft.com/office/drawing/2014/main" id="{BEB51F51-7AAF-4FEB-8F4C-1E9A29169BA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453" y="1524"/>
              <a:ext cx="67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99" name="Arc 12">
              <a:extLst>
                <a:ext uri="{FF2B5EF4-FFF2-40B4-BE49-F238E27FC236}">
                  <a16:creationId xmlns:a16="http://schemas.microsoft.com/office/drawing/2014/main" id="{9A041BFC-91C2-41E6-8DB7-ECDBB611754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450" y="1483"/>
              <a:ext cx="66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0" name="Arc 13">
              <a:extLst>
                <a:ext uri="{FF2B5EF4-FFF2-40B4-BE49-F238E27FC236}">
                  <a16:creationId xmlns:a16="http://schemas.microsoft.com/office/drawing/2014/main" id="{B3EB065D-0A84-4751-83F1-14F2E9B1603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453" y="1442"/>
              <a:ext cx="67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1" name="Arc 14">
              <a:extLst>
                <a:ext uri="{FF2B5EF4-FFF2-40B4-BE49-F238E27FC236}">
                  <a16:creationId xmlns:a16="http://schemas.microsoft.com/office/drawing/2014/main" id="{4DABABB7-AFBA-48A6-82F5-779A92E222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450" y="1401"/>
              <a:ext cx="66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2" name="Arc 15">
              <a:extLst>
                <a:ext uri="{FF2B5EF4-FFF2-40B4-BE49-F238E27FC236}">
                  <a16:creationId xmlns:a16="http://schemas.microsoft.com/office/drawing/2014/main" id="{5D4E7A15-EDFA-4CFB-8376-F90DA6770DE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792" y="1401"/>
              <a:ext cx="67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3" name="Arc 16">
              <a:extLst>
                <a:ext uri="{FF2B5EF4-FFF2-40B4-BE49-F238E27FC236}">
                  <a16:creationId xmlns:a16="http://schemas.microsoft.com/office/drawing/2014/main" id="{DFC861D2-F7F9-4439-8254-72456CC17534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788" y="1442"/>
              <a:ext cx="67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4" name="Arc 17">
              <a:extLst>
                <a:ext uri="{FF2B5EF4-FFF2-40B4-BE49-F238E27FC236}">
                  <a16:creationId xmlns:a16="http://schemas.microsoft.com/office/drawing/2014/main" id="{C46444D0-8046-4CA8-8F21-1E8792DA7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6" y="1401"/>
              <a:ext cx="67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5" name="Arc 18">
              <a:extLst>
                <a:ext uri="{FF2B5EF4-FFF2-40B4-BE49-F238E27FC236}">
                  <a16:creationId xmlns:a16="http://schemas.microsoft.com/office/drawing/2014/main" id="{616E8E5C-686C-4C73-B393-601F95C0C15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30" y="1442"/>
              <a:ext cx="67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6" name="Arc 19">
              <a:extLst>
                <a:ext uri="{FF2B5EF4-FFF2-40B4-BE49-F238E27FC236}">
                  <a16:creationId xmlns:a16="http://schemas.microsoft.com/office/drawing/2014/main" id="{95B324EB-D825-4955-8DA7-5B0CCE089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6" y="1483"/>
              <a:ext cx="67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7" name="Arc 20">
              <a:extLst>
                <a:ext uri="{FF2B5EF4-FFF2-40B4-BE49-F238E27FC236}">
                  <a16:creationId xmlns:a16="http://schemas.microsoft.com/office/drawing/2014/main" id="{023D8097-A607-42C6-83C8-00E0D99EF34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30" y="1524"/>
              <a:ext cx="67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35" name="Rectangle 21">
            <a:extLst>
              <a:ext uri="{FF2B5EF4-FFF2-40B4-BE49-F238E27FC236}">
                <a16:creationId xmlns:a16="http://schemas.microsoft.com/office/drawing/2014/main" id="{12FA6050-65CD-4301-B913-6D0F634F1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2550" y="1487488"/>
            <a:ext cx="1235075" cy="241300"/>
          </a:xfrm>
          <a:prstGeom prst="rect">
            <a:avLst/>
          </a:prstGeom>
          <a:solidFill>
            <a:srgbClr val="FFFF00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grpSp>
        <p:nvGrpSpPr>
          <p:cNvPr id="22536" name="Group 22">
            <a:extLst>
              <a:ext uri="{FF2B5EF4-FFF2-40B4-BE49-F238E27FC236}">
                <a16:creationId xmlns:a16="http://schemas.microsoft.com/office/drawing/2014/main" id="{15A4621D-8870-45D3-801A-AFC29A752A24}"/>
              </a:ext>
            </a:extLst>
          </p:cNvPr>
          <p:cNvGrpSpPr>
            <a:grpSpLocks/>
          </p:cNvGrpSpPr>
          <p:nvPr/>
        </p:nvGrpSpPr>
        <p:grpSpPr bwMode="auto">
          <a:xfrm>
            <a:off x="2233613" y="2112963"/>
            <a:ext cx="5499100" cy="273050"/>
            <a:chOff x="1448" y="1799"/>
            <a:chExt cx="3464" cy="172"/>
          </a:xfrm>
        </p:grpSpPr>
        <p:sp>
          <p:nvSpPr>
            <p:cNvPr id="22580" name="Line 23">
              <a:extLst>
                <a:ext uri="{FF2B5EF4-FFF2-40B4-BE49-F238E27FC236}">
                  <a16:creationId xmlns:a16="http://schemas.microsoft.com/office/drawing/2014/main" id="{4E63D575-C981-4DDD-818D-B19D493E3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1" y="1801"/>
              <a:ext cx="3325" cy="1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1" name="Line 24">
              <a:extLst>
                <a:ext uri="{FF2B5EF4-FFF2-40B4-BE49-F238E27FC236}">
                  <a16:creationId xmlns:a16="http://schemas.microsoft.com/office/drawing/2014/main" id="{B301C4FC-BE72-439F-886B-2954F793D8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6" y="1970"/>
              <a:ext cx="3325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2" name="Arc 25">
              <a:extLst>
                <a:ext uri="{FF2B5EF4-FFF2-40B4-BE49-F238E27FC236}">
                  <a16:creationId xmlns:a16="http://schemas.microsoft.com/office/drawing/2014/main" id="{FE7E8FBC-F026-4BAA-BAD2-BD1C1761C03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01" y="1925"/>
              <a:ext cx="65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3" name="Arc 26">
              <a:extLst>
                <a:ext uri="{FF2B5EF4-FFF2-40B4-BE49-F238E27FC236}">
                  <a16:creationId xmlns:a16="http://schemas.microsoft.com/office/drawing/2014/main" id="{995B7183-DF42-40CE-97F0-8035F066E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" y="1883"/>
              <a:ext cx="67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4" name="Arc 27">
              <a:extLst>
                <a:ext uri="{FF2B5EF4-FFF2-40B4-BE49-F238E27FC236}">
                  <a16:creationId xmlns:a16="http://schemas.microsoft.com/office/drawing/2014/main" id="{DDAAB5CE-D99C-4E6A-8143-E95B151E0E21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469" y="1925"/>
              <a:ext cx="66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5" name="Arc 28">
              <a:extLst>
                <a:ext uri="{FF2B5EF4-FFF2-40B4-BE49-F238E27FC236}">
                  <a16:creationId xmlns:a16="http://schemas.microsoft.com/office/drawing/2014/main" id="{3D6089B0-8C61-45E8-A894-05A6FFE3A8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465" y="1883"/>
              <a:ext cx="67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6" name="Arc 29">
              <a:extLst>
                <a:ext uri="{FF2B5EF4-FFF2-40B4-BE49-F238E27FC236}">
                  <a16:creationId xmlns:a16="http://schemas.microsoft.com/office/drawing/2014/main" id="{87AF24D5-7B0C-424E-A48E-BB5F9C44A82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448" y="1856"/>
              <a:ext cx="67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7" name="Arc 30">
              <a:extLst>
                <a:ext uri="{FF2B5EF4-FFF2-40B4-BE49-F238E27FC236}">
                  <a16:creationId xmlns:a16="http://schemas.microsoft.com/office/drawing/2014/main" id="{F9F92B10-A455-4C02-B8EB-A1AF8D7ABAB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465" y="1801"/>
              <a:ext cx="67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8" name="Arc 31">
              <a:extLst>
                <a:ext uri="{FF2B5EF4-FFF2-40B4-BE49-F238E27FC236}">
                  <a16:creationId xmlns:a16="http://schemas.microsoft.com/office/drawing/2014/main" id="{116D6296-BC56-4EC5-9098-2FC5578399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809" y="1801"/>
              <a:ext cx="67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9" name="Arc 32">
              <a:extLst>
                <a:ext uri="{FF2B5EF4-FFF2-40B4-BE49-F238E27FC236}">
                  <a16:creationId xmlns:a16="http://schemas.microsoft.com/office/drawing/2014/main" id="{DDC26225-5EB3-42D5-9C2A-BE1B87D3BA6F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821" y="1847"/>
              <a:ext cx="66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90" name="Arc 33">
              <a:extLst>
                <a:ext uri="{FF2B5EF4-FFF2-40B4-BE49-F238E27FC236}">
                  <a16:creationId xmlns:a16="http://schemas.microsoft.com/office/drawing/2014/main" id="{4D023C30-9B5C-4979-BD71-108945A76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1799"/>
              <a:ext cx="66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91" name="Arc 34">
              <a:extLst>
                <a:ext uri="{FF2B5EF4-FFF2-40B4-BE49-F238E27FC236}">
                  <a16:creationId xmlns:a16="http://schemas.microsoft.com/office/drawing/2014/main" id="{DA89F49C-8360-44E2-91AC-41278170200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45" y="1843"/>
              <a:ext cx="67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92" name="Arc 35">
              <a:extLst>
                <a:ext uri="{FF2B5EF4-FFF2-40B4-BE49-F238E27FC236}">
                  <a16:creationId xmlns:a16="http://schemas.microsoft.com/office/drawing/2014/main" id="{8322CC85-6584-468B-A60E-757D2F177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2" y="1883"/>
              <a:ext cx="66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93" name="Arc 36">
              <a:extLst>
                <a:ext uri="{FF2B5EF4-FFF2-40B4-BE49-F238E27FC236}">
                  <a16:creationId xmlns:a16="http://schemas.microsoft.com/office/drawing/2014/main" id="{E8B46156-CDEF-44CD-8B64-0EE8401B89F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26" y="1902"/>
              <a:ext cx="66" cy="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37" name="Rectangle 37">
            <a:extLst>
              <a:ext uri="{FF2B5EF4-FFF2-40B4-BE49-F238E27FC236}">
                <a16:creationId xmlns:a16="http://schemas.microsoft.com/office/drawing/2014/main" id="{7D3352C9-E50A-4632-AA55-977E86B27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2138363"/>
            <a:ext cx="1452563" cy="242887"/>
          </a:xfrm>
          <a:prstGeom prst="rect">
            <a:avLst/>
          </a:prstGeom>
          <a:solidFill>
            <a:srgbClr val="FFFF00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2538" name="Line 38">
            <a:extLst>
              <a:ext uri="{FF2B5EF4-FFF2-40B4-BE49-F238E27FC236}">
                <a16:creationId xmlns:a16="http://schemas.microsoft.com/office/drawing/2014/main" id="{B55FA005-8579-4BDC-ABEB-E5F8A3219B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6838" y="1174750"/>
            <a:ext cx="0" cy="293688"/>
          </a:xfrm>
          <a:prstGeom prst="line">
            <a:avLst/>
          </a:prstGeom>
          <a:noFill/>
          <a:ln w="1270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9" name="Line 39">
            <a:extLst>
              <a:ext uri="{FF2B5EF4-FFF2-40B4-BE49-F238E27FC236}">
                <a16:creationId xmlns:a16="http://schemas.microsoft.com/office/drawing/2014/main" id="{3BFFD5BD-281C-424E-9B1B-BD6203BA31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1913" y="1174750"/>
            <a:ext cx="0" cy="293688"/>
          </a:xfrm>
          <a:prstGeom prst="line">
            <a:avLst/>
          </a:prstGeom>
          <a:noFill/>
          <a:ln w="1270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0" name="Line 40">
            <a:extLst>
              <a:ext uri="{FF2B5EF4-FFF2-40B4-BE49-F238E27FC236}">
                <a16:creationId xmlns:a16="http://schemas.microsoft.com/office/drawing/2014/main" id="{5D763B37-29B4-4F18-84CF-58D3FC08DF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6838" y="1722438"/>
            <a:ext cx="0" cy="915987"/>
          </a:xfrm>
          <a:prstGeom prst="line">
            <a:avLst/>
          </a:prstGeom>
          <a:noFill/>
          <a:ln w="1270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1" name="Line 41">
            <a:extLst>
              <a:ext uri="{FF2B5EF4-FFF2-40B4-BE49-F238E27FC236}">
                <a16:creationId xmlns:a16="http://schemas.microsoft.com/office/drawing/2014/main" id="{A767E350-56EC-4C59-9451-F4098B778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1913" y="1722438"/>
            <a:ext cx="0" cy="915987"/>
          </a:xfrm>
          <a:prstGeom prst="line">
            <a:avLst/>
          </a:prstGeom>
          <a:noFill/>
          <a:ln w="1270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2" name="Line 42">
            <a:extLst>
              <a:ext uri="{FF2B5EF4-FFF2-40B4-BE49-F238E27FC236}">
                <a16:creationId xmlns:a16="http://schemas.microsoft.com/office/drawing/2014/main" id="{E05E6068-59EA-440E-A027-3A1B709D82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3538" y="2357438"/>
            <a:ext cx="0" cy="268287"/>
          </a:xfrm>
          <a:prstGeom prst="line">
            <a:avLst/>
          </a:prstGeom>
          <a:noFill/>
          <a:ln w="1270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Line 43">
            <a:extLst>
              <a:ext uri="{FF2B5EF4-FFF2-40B4-BE49-F238E27FC236}">
                <a16:creationId xmlns:a16="http://schemas.microsoft.com/office/drawing/2014/main" id="{46FB2041-580D-4A15-870A-50FB4BC868E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9913" y="2357438"/>
            <a:ext cx="0" cy="280987"/>
          </a:xfrm>
          <a:prstGeom prst="line">
            <a:avLst/>
          </a:prstGeom>
          <a:noFill/>
          <a:ln w="12700">
            <a:solidFill>
              <a:srgbClr val="FFFF6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Rectangle 44">
            <a:extLst>
              <a:ext uri="{FF2B5EF4-FFF2-40B4-BE49-F238E27FC236}">
                <a16:creationId xmlns:a16="http://schemas.microsoft.com/office/drawing/2014/main" id="{2D6F1C21-F200-468F-B4DF-40D0ABBC8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1073150"/>
            <a:ext cx="38735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>
                <a:solidFill>
                  <a:srgbClr val="FF9900"/>
                </a:solidFill>
                <a:ea typeface="仿宋_GB2312" pitchFamily="49" charset="-122"/>
              </a:rPr>
              <a:t>o</a:t>
            </a:r>
            <a:endParaRPr lang="en-US" altLang="zh-CN" i="1">
              <a:ea typeface="仿宋_GB2312" pitchFamily="49" charset="-122"/>
            </a:endParaRPr>
          </a:p>
        </p:txBody>
      </p:sp>
      <p:sp>
        <p:nvSpPr>
          <p:cNvPr id="22545" name="Rectangle 45">
            <a:extLst>
              <a:ext uri="{FF2B5EF4-FFF2-40B4-BE49-F238E27FC236}">
                <a16:creationId xmlns:a16="http://schemas.microsoft.com/office/drawing/2014/main" id="{5B8E1183-A138-4A58-9889-0C9FE50DE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3" y="774700"/>
            <a:ext cx="557212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i="1">
                <a:solidFill>
                  <a:srgbClr val="FF9900"/>
                </a:solidFill>
                <a:ea typeface="仿宋_GB2312" pitchFamily="49" charset="-122"/>
              </a:rPr>
              <a:t>x</a:t>
            </a:r>
          </a:p>
        </p:txBody>
      </p:sp>
      <p:sp>
        <p:nvSpPr>
          <p:cNvPr id="22546" name="Rectangle 46">
            <a:extLst>
              <a:ext uri="{FF2B5EF4-FFF2-40B4-BE49-F238E27FC236}">
                <a16:creationId xmlns:a16="http://schemas.microsoft.com/office/drawing/2014/main" id="{80B60F2A-3F7C-42D9-AA45-B1687EED4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450" y="765175"/>
            <a:ext cx="15748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i="1">
                <a:solidFill>
                  <a:srgbClr val="FF9900"/>
                </a:solidFill>
                <a:ea typeface="仿宋_GB2312" pitchFamily="49" charset="-122"/>
              </a:rPr>
              <a:t>x + </a:t>
            </a:r>
            <a:r>
              <a:rPr lang="en-US" altLang="zh-CN" sz="2000">
                <a:solidFill>
                  <a:srgbClr val="FF9900"/>
                </a:solidFill>
                <a:ea typeface="仿宋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2000" i="1">
                <a:solidFill>
                  <a:srgbClr val="FF9900"/>
                </a:solidFill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000" i="1">
                <a:solidFill>
                  <a:srgbClr val="FF9900"/>
                </a:solidFill>
                <a:ea typeface="仿宋_GB2312" pitchFamily="49" charset="-122"/>
              </a:rPr>
              <a:t>x</a:t>
            </a:r>
          </a:p>
        </p:txBody>
      </p:sp>
      <p:sp>
        <p:nvSpPr>
          <p:cNvPr id="22547" name="Rectangle 47">
            <a:extLst>
              <a:ext uri="{FF2B5EF4-FFF2-40B4-BE49-F238E27FC236}">
                <a16:creationId xmlns:a16="http://schemas.microsoft.com/office/drawing/2014/main" id="{8FEDDD9E-CAD4-4AD8-B548-6BC4AF297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3388" y="1098550"/>
            <a:ext cx="5175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>
                <a:solidFill>
                  <a:srgbClr val="FF9900"/>
                </a:solidFill>
                <a:ea typeface="仿宋_GB2312" pitchFamily="49" charset="-122"/>
              </a:rPr>
              <a:t>x</a:t>
            </a:r>
            <a:endParaRPr lang="en-US" altLang="zh-CN" i="1">
              <a:ea typeface="仿宋_GB2312" pitchFamily="49" charset="-122"/>
            </a:endParaRPr>
          </a:p>
        </p:txBody>
      </p:sp>
      <p:sp>
        <p:nvSpPr>
          <p:cNvPr id="22548" name="Rectangle 48">
            <a:extLst>
              <a:ext uri="{FF2B5EF4-FFF2-40B4-BE49-F238E27FC236}">
                <a16:creationId xmlns:a16="http://schemas.microsoft.com/office/drawing/2014/main" id="{BD25E9FC-3399-4A17-8A43-E1920E15A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88" y="1458913"/>
            <a:ext cx="164623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自由状态</a:t>
            </a:r>
            <a:endParaRPr lang="zh-CN" altLang="en-US" sz="2000" i="1">
              <a:solidFill>
                <a:srgbClr val="66FF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549" name="Rectangle 49">
            <a:extLst>
              <a:ext uri="{FF2B5EF4-FFF2-40B4-BE49-F238E27FC236}">
                <a16:creationId xmlns:a16="http://schemas.microsoft.com/office/drawing/2014/main" id="{2F4EEBF8-3777-4D58-88FA-6235808E0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2081213"/>
            <a:ext cx="12604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 i="1">
                <a:solidFill>
                  <a:srgbClr val="66FFFF"/>
                </a:solidFill>
                <a:ea typeface="仿宋_GB2312" pitchFamily="49" charset="-122"/>
              </a:rPr>
              <a:t>t  </a:t>
            </a:r>
            <a:r>
              <a:rPr lang="zh-CN" altLang="en-US" sz="200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时刻</a:t>
            </a:r>
          </a:p>
        </p:txBody>
      </p:sp>
      <p:sp>
        <p:nvSpPr>
          <p:cNvPr id="22550" name="Line 50">
            <a:extLst>
              <a:ext uri="{FF2B5EF4-FFF2-40B4-BE49-F238E27FC236}">
                <a16:creationId xmlns:a16="http://schemas.microsoft.com/office/drawing/2014/main" id="{1D1A6C5F-8ED7-4417-88E2-DCD0A2E66A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0650" y="2530475"/>
            <a:ext cx="242888" cy="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1" name="Line 51">
            <a:extLst>
              <a:ext uri="{FF2B5EF4-FFF2-40B4-BE49-F238E27FC236}">
                <a16:creationId xmlns:a16="http://schemas.microsoft.com/office/drawing/2014/main" id="{76E82FF8-73A8-44B1-8F51-1A0FC1D787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5725" y="2530475"/>
            <a:ext cx="484188" cy="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636" name="Rectangle 52">
            <a:extLst>
              <a:ext uri="{FF2B5EF4-FFF2-40B4-BE49-F238E27FC236}">
                <a16:creationId xmlns:a16="http://schemas.microsoft.com/office/drawing/2014/main" id="{01007DFB-A33E-4838-B691-9A4E0B8E8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1771650"/>
            <a:ext cx="942975" cy="254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defRPr/>
            </a:pPr>
            <a:r>
              <a:rPr lang="en-US" altLang="zh-CN" sz="2000" i="1" dirty="0">
                <a:solidFill>
                  <a:srgbClr val="FFFF99"/>
                </a:solidFill>
                <a:latin typeface="+mn-lt"/>
                <a:ea typeface="+mn-ea"/>
              </a:rPr>
              <a:t>x </a:t>
            </a:r>
            <a:r>
              <a:rPr lang="zh-CN" altLang="en-US" sz="2000" dirty="0">
                <a:solidFill>
                  <a:srgbClr val="FFFF99"/>
                </a:solidFill>
                <a:latin typeface="+mn-lt"/>
                <a:ea typeface="+mn-ea"/>
              </a:rPr>
              <a:t>截面</a:t>
            </a:r>
            <a:endParaRPr lang="zh-CN" altLang="en-US" sz="2000" dirty="0">
              <a:latin typeface="+mn-lt"/>
              <a:ea typeface="+mn-ea"/>
            </a:endParaRPr>
          </a:p>
        </p:txBody>
      </p:sp>
      <p:sp>
        <p:nvSpPr>
          <p:cNvPr id="22553" name="Line 53">
            <a:extLst>
              <a:ext uri="{FF2B5EF4-FFF2-40B4-BE49-F238E27FC236}">
                <a16:creationId xmlns:a16="http://schemas.microsoft.com/office/drawing/2014/main" id="{23B1AE61-1D24-46F9-9518-7DB967B0F3A6}"/>
              </a:ext>
            </a:extLst>
          </p:cNvPr>
          <p:cNvSpPr>
            <a:spLocks noChangeShapeType="1"/>
          </p:cNvSpPr>
          <p:nvPr/>
        </p:nvSpPr>
        <p:spPr bwMode="auto">
          <a:xfrm rot="-5400000" flipH="1" flipV="1">
            <a:off x="3567906" y="1629569"/>
            <a:ext cx="242888" cy="19050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4" name="Line 54">
            <a:extLst>
              <a:ext uri="{FF2B5EF4-FFF2-40B4-BE49-F238E27FC236}">
                <a16:creationId xmlns:a16="http://schemas.microsoft.com/office/drawing/2014/main" id="{51BAC591-3A5A-4505-8AFB-57EA18C1D669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567113" y="1960563"/>
            <a:ext cx="485775" cy="25400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639" name="Rectangle 55">
            <a:extLst>
              <a:ext uri="{FF2B5EF4-FFF2-40B4-BE49-F238E27FC236}">
                <a16:creationId xmlns:a16="http://schemas.microsoft.com/office/drawing/2014/main" id="{A62B2EB7-F5BC-4F1F-96FF-9EEFD5272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1771650"/>
            <a:ext cx="1666875" cy="2413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defRPr/>
            </a:pPr>
            <a:r>
              <a:rPr lang="en-US" altLang="zh-CN" sz="2000" i="1" dirty="0">
                <a:solidFill>
                  <a:srgbClr val="FFFF99"/>
                </a:solidFill>
                <a:latin typeface="+mn-lt"/>
                <a:ea typeface="+mn-ea"/>
              </a:rPr>
              <a:t> x+</a:t>
            </a:r>
            <a:r>
              <a:rPr lang="en-US" altLang="zh-CN" sz="2000" dirty="0">
                <a:solidFill>
                  <a:srgbClr val="FFFF99"/>
                </a:solidFill>
                <a:latin typeface="+mn-lt"/>
                <a:ea typeface="+mn-ea"/>
                <a:sym typeface="Symbol" panose="05050102010706020507" pitchFamily="18" charset="2"/>
              </a:rPr>
              <a:t></a:t>
            </a:r>
            <a:r>
              <a:rPr lang="en-US" altLang="zh-CN" sz="2000" i="1" dirty="0">
                <a:solidFill>
                  <a:srgbClr val="FFFF99"/>
                </a:solidFill>
                <a:latin typeface="+mn-lt"/>
                <a:ea typeface="+mn-ea"/>
              </a:rPr>
              <a:t>x </a:t>
            </a:r>
            <a:r>
              <a:rPr lang="zh-CN" altLang="en-US" sz="2000" dirty="0">
                <a:solidFill>
                  <a:srgbClr val="FFFF99"/>
                </a:solidFill>
                <a:latin typeface="+mn-lt"/>
                <a:ea typeface="+mn-ea"/>
              </a:rPr>
              <a:t>截面</a:t>
            </a:r>
            <a:endParaRPr lang="zh-CN" altLang="en-US" sz="2000" dirty="0">
              <a:latin typeface="+mn-lt"/>
              <a:ea typeface="+mn-ea"/>
            </a:endParaRPr>
          </a:p>
        </p:txBody>
      </p:sp>
      <p:sp>
        <p:nvSpPr>
          <p:cNvPr id="22556" name="Line 56">
            <a:extLst>
              <a:ext uri="{FF2B5EF4-FFF2-40B4-BE49-F238E27FC236}">
                <a16:creationId xmlns:a16="http://schemas.microsoft.com/office/drawing/2014/main" id="{346D24F2-DC57-498C-9F16-C79804FC5073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311775" y="1616075"/>
            <a:ext cx="484188" cy="242888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  <a:headEnd type="triangl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7" name="Line 57">
            <a:extLst>
              <a:ext uri="{FF2B5EF4-FFF2-40B4-BE49-F238E27FC236}">
                <a16:creationId xmlns:a16="http://schemas.microsoft.com/office/drawing/2014/main" id="{D7DD85D6-1232-47AD-813F-FA151AE8225D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5726113" y="2009775"/>
            <a:ext cx="193675" cy="204788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  <a:headEnd type="triangl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8" name="Rectangle 58">
            <a:extLst>
              <a:ext uri="{FF2B5EF4-FFF2-40B4-BE49-F238E27FC236}">
                <a16:creationId xmlns:a16="http://schemas.microsoft.com/office/drawing/2014/main" id="{5F87E98D-2020-4977-875F-D12A0C615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425" y="1239838"/>
            <a:ext cx="504825" cy="2159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2559" name="Rectangle 59">
            <a:extLst>
              <a:ext uri="{FF2B5EF4-FFF2-40B4-BE49-F238E27FC236}">
                <a16:creationId xmlns:a16="http://schemas.microsoft.com/office/drawing/2014/main" id="{683A0994-6120-4F5F-A6E3-607FE859B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150" y="1143000"/>
            <a:ext cx="55721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000">
                <a:solidFill>
                  <a:srgbClr val="FF9900"/>
                </a:solidFill>
                <a:ea typeface="仿宋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2000" i="1">
                <a:solidFill>
                  <a:srgbClr val="FF9900"/>
                </a:solidFill>
                <a:ea typeface="仿宋_GB2312" pitchFamily="49" charset="-122"/>
              </a:rPr>
              <a:t>x</a:t>
            </a:r>
            <a:endParaRPr lang="en-US" altLang="zh-CN" sz="2000" i="1">
              <a:ea typeface="仿宋_GB2312" pitchFamily="49" charset="-122"/>
            </a:endParaRPr>
          </a:p>
        </p:txBody>
      </p:sp>
      <p:graphicFrame>
        <p:nvGraphicFramePr>
          <p:cNvPr id="22560" name="Object 3">
            <a:extLst>
              <a:ext uri="{FF2B5EF4-FFF2-40B4-BE49-F238E27FC236}">
                <a16:creationId xmlns:a16="http://schemas.microsoft.com/office/drawing/2014/main" id="{785BDCB7-7D52-44DC-9375-E00ED46839F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221288" y="2708275"/>
          <a:ext cx="111760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2" name="公式" r:id="rId5" imgW="1614600" imgH="369720" progId="Equation.3">
                  <p:embed/>
                </p:oleObj>
              </mc:Choice>
              <mc:Fallback>
                <p:oleObj name="公式" r:id="rId5" imgW="1614600" imgH="369720" progId="Equation.3">
                  <p:embed/>
                  <p:pic>
                    <p:nvPicPr>
                      <p:cNvPr id="22560" name="Object 3">
                        <a:extLst>
                          <a:ext uri="{FF2B5EF4-FFF2-40B4-BE49-F238E27FC236}">
                            <a16:creationId xmlns:a16="http://schemas.microsoft.com/office/drawing/2014/main" id="{785BDCB7-7D52-44DC-9375-E00ED46839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1288" y="2708275"/>
                        <a:ext cx="1117600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1" name="Object 4">
            <a:extLst>
              <a:ext uri="{FF2B5EF4-FFF2-40B4-BE49-F238E27FC236}">
                <a16:creationId xmlns:a16="http://schemas.microsoft.com/office/drawing/2014/main" id="{4C528AC5-A2FF-4022-AF06-06863576D58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924300" y="2708275"/>
          <a:ext cx="63023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3" name="公式" r:id="rId7" imgW="897120" imgH="369720" progId="Equation.3">
                  <p:embed/>
                </p:oleObj>
              </mc:Choice>
              <mc:Fallback>
                <p:oleObj name="公式" r:id="rId7" imgW="897120" imgH="369720" progId="Equation.3">
                  <p:embed/>
                  <p:pic>
                    <p:nvPicPr>
                      <p:cNvPr id="22561" name="Object 4">
                        <a:extLst>
                          <a:ext uri="{FF2B5EF4-FFF2-40B4-BE49-F238E27FC236}">
                            <a16:creationId xmlns:a16="http://schemas.microsoft.com/office/drawing/2014/main" id="{4C528AC5-A2FF-4022-AF06-06863576D5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708275"/>
                        <a:ext cx="630238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62" name="Group 62">
            <a:extLst>
              <a:ext uri="{FF2B5EF4-FFF2-40B4-BE49-F238E27FC236}">
                <a16:creationId xmlns:a16="http://schemas.microsoft.com/office/drawing/2014/main" id="{EA2EEAE3-6937-420C-9686-E7AF5E5A8C18}"/>
              </a:ext>
            </a:extLst>
          </p:cNvPr>
          <p:cNvGrpSpPr>
            <a:grpSpLocks/>
          </p:cNvGrpSpPr>
          <p:nvPr/>
        </p:nvGrpSpPr>
        <p:grpSpPr bwMode="auto">
          <a:xfrm>
            <a:off x="7813675" y="2132013"/>
            <a:ext cx="722313" cy="792162"/>
            <a:chOff x="4922" y="1343"/>
            <a:chExt cx="455" cy="499"/>
          </a:xfrm>
        </p:grpSpPr>
        <p:sp>
          <p:nvSpPr>
            <p:cNvPr id="22578" name="Oval 63">
              <a:extLst>
                <a:ext uri="{FF2B5EF4-FFF2-40B4-BE49-F238E27FC236}">
                  <a16:creationId xmlns:a16="http://schemas.microsoft.com/office/drawing/2014/main" id="{7F8C2704-A16F-4760-AA59-C9C768BE7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343"/>
              <a:ext cx="179" cy="178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27703" name="Rectangle 64">
              <a:extLst>
                <a:ext uri="{FF2B5EF4-FFF2-40B4-BE49-F238E27FC236}">
                  <a16:creationId xmlns:a16="http://schemas.microsoft.com/office/drawing/2014/main" id="{A3A22F1F-C276-4042-9FF9-EDF430AC4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" y="1628"/>
              <a:ext cx="455" cy="214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lIns="12700" tIns="12700" rIns="12700" bIns="127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defRPr/>
              </a:pPr>
              <a:r>
                <a:rPr lang="zh-CN" altLang="en-US" sz="1600" dirty="0">
                  <a:solidFill>
                    <a:srgbClr val="FF9900"/>
                  </a:solidFill>
                  <a:latin typeface="+mn-lt"/>
                  <a:ea typeface="+mn-ea"/>
                </a:rPr>
                <a:t>截面 </a:t>
              </a:r>
              <a:r>
                <a:rPr lang="en-US" altLang="zh-CN" sz="1600" i="1" dirty="0">
                  <a:solidFill>
                    <a:schemeClr val="bg1"/>
                  </a:solidFill>
                  <a:latin typeface="+mn-lt"/>
                  <a:ea typeface="+mn-ea"/>
                </a:rPr>
                <a:t>S</a:t>
              </a:r>
            </a:p>
          </p:txBody>
        </p:sp>
      </p:grpSp>
      <p:graphicFrame>
        <p:nvGraphicFramePr>
          <p:cNvPr id="22563" name="Object 5">
            <a:extLst>
              <a:ext uri="{FF2B5EF4-FFF2-40B4-BE49-F238E27FC236}">
                <a16:creationId xmlns:a16="http://schemas.microsoft.com/office/drawing/2014/main" id="{0D8F1509-69F3-4A11-9418-7F4497814F7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105650" y="3144838"/>
          <a:ext cx="1422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4" name="公式" r:id="rId9" imgW="1636920" imgH="358560" progId="Equation.3">
                  <p:embed/>
                </p:oleObj>
              </mc:Choice>
              <mc:Fallback>
                <p:oleObj name="公式" r:id="rId9" imgW="1636920" imgH="358560" progId="Equation.3">
                  <p:embed/>
                  <p:pic>
                    <p:nvPicPr>
                      <p:cNvPr id="22563" name="Object 5">
                        <a:extLst>
                          <a:ext uri="{FF2B5EF4-FFF2-40B4-BE49-F238E27FC236}">
                            <a16:creationId xmlns:a16="http://schemas.microsoft.com/office/drawing/2014/main" id="{0D8F1509-69F3-4A11-9418-7F4497814F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5650" y="3144838"/>
                        <a:ext cx="1422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4" name="Text Box 67">
            <a:extLst>
              <a:ext uri="{FF2B5EF4-FFF2-40B4-BE49-F238E27FC236}">
                <a16:creationId xmlns:a16="http://schemas.microsoft.com/office/drawing/2014/main" id="{9BB237CC-AA83-465B-81E6-F3872F979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75" y="36068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则微元的动能</a:t>
            </a:r>
          </a:p>
        </p:txBody>
      </p:sp>
      <p:sp>
        <p:nvSpPr>
          <p:cNvPr id="195652" name="Rectangle 68">
            <a:extLst>
              <a:ext uri="{FF2B5EF4-FFF2-40B4-BE49-F238E27FC236}">
                <a16:creationId xmlns:a16="http://schemas.microsoft.com/office/drawing/2014/main" id="{BDACFE6D-B74E-4604-BFD9-78E78E897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13" y="3043238"/>
            <a:ext cx="6540500" cy="4619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</a:rPr>
              <a:t>设纵波                              沿 </a:t>
            </a:r>
            <a:r>
              <a:rPr lang="en-US" altLang="zh-CN" i="1" dirty="0">
                <a:solidFill>
                  <a:srgbClr val="00FFFF"/>
                </a:solidFill>
                <a:latin typeface="+mn-lt"/>
                <a:ea typeface="+mn-ea"/>
              </a:rPr>
              <a:t>x 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</a:rPr>
              <a:t>方向传播，取微元</a:t>
            </a:r>
          </a:p>
        </p:txBody>
      </p:sp>
      <p:sp>
        <p:nvSpPr>
          <p:cNvPr id="22566" name="Text Box 70">
            <a:extLst>
              <a:ext uri="{FF2B5EF4-FFF2-40B4-BE49-F238E27FC236}">
                <a16:creationId xmlns:a16="http://schemas.microsoft.com/office/drawing/2014/main" id="{D1391898-786D-45E5-88D1-E42DB548C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4302125"/>
            <a:ext cx="741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由杨氏模量的定义和胡克定律</a:t>
            </a:r>
          </a:p>
        </p:txBody>
      </p:sp>
      <p:graphicFrame>
        <p:nvGraphicFramePr>
          <p:cNvPr id="22567" name="Object 8">
            <a:extLst>
              <a:ext uri="{FF2B5EF4-FFF2-40B4-BE49-F238E27FC236}">
                <a16:creationId xmlns:a16="http://schemas.microsoft.com/office/drawing/2014/main" id="{61B45ACE-6829-4137-A57D-B5FAE6F50A5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846638" y="4230688"/>
          <a:ext cx="167640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5" name="公式" r:id="rId11" imgW="2433240" imgH="896040" progId="Equation.3">
                  <p:embed/>
                </p:oleObj>
              </mc:Choice>
              <mc:Fallback>
                <p:oleObj name="公式" r:id="rId11" imgW="2433240" imgH="896040" progId="Equation.3">
                  <p:embed/>
                  <p:pic>
                    <p:nvPicPr>
                      <p:cNvPr id="22567" name="Object 8">
                        <a:extLst>
                          <a:ext uri="{FF2B5EF4-FFF2-40B4-BE49-F238E27FC236}">
                            <a16:creationId xmlns:a16="http://schemas.microsoft.com/office/drawing/2014/main" id="{61B45ACE-6829-4137-A57D-B5FAE6F50A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638" y="4230688"/>
                        <a:ext cx="1676400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8" name="Text Box 72">
            <a:extLst>
              <a:ext uri="{FF2B5EF4-FFF2-40B4-BE49-F238E27FC236}">
                <a16:creationId xmlns:a16="http://schemas.microsoft.com/office/drawing/2014/main" id="{916D88C1-CA5A-4128-B66B-3EE6E0473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" y="4941888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微元的势能</a:t>
            </a:r>
          </a:p>
        </p:txBody>
      </p:sp>
      <p:grpSp>
        <p:nvGrpSpPr>
          <p:cNvPr id="22569" name="Group 79">
            <a:extLst>
              <a:ext uri="{FF2B5EF4-FFF2-40B4-BE49-F238E27FC236}">
                <a16:creationId xmlns:a16="http://schemas.microsoft.com/office/drawing/2014/main" id="{414F1079-EBD2-40B5-9AFB-05E17C8DD184}"/>
              </a:ext>
            </a:extLst>
          </p:cNvPr>
          <p:cNvGrpSpPr>
            <a:grpSpLocks/>
          </p:cNvGrpSpPr>
          <p:nvPr/>
        </p:nvGrpSpPr>
        <p:grpSpPr bwMode="auto">
          <a:xfrm>
            <a:off x="642938" y="5567363"/>
            <a:ext cx="1944687" cy="792162"/>
            <a:chOff x="476" y="3507"/>
            <a:chExt cx="1225" cy="499"/>
          </a:xfrm>
        </p:grpSpPr>
        <p:sp>
          <p:nvSpPr>
            <p:cNvPr id="22576" name="Rectangle 80">
              <a:extLst>
                <a:ext uri="{FF2B5EF4-FFF2-40B4-BE49-F238E27FC236}">
                  <a16:creationId xmlns:a16="http://schemas.microsoft.com/office/drawing/2014/main" id="{629AE7BB-82EE-4C37-B76E-4373DB1AD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507"/>
              <a:ext cx="1225" cy="499"/>
            </a:xfrm>
            <a:prstGeom prst="rect">
              <a:avLst/>
            </a:prstGeom>
            <a:solidFill>
              <a:srgbClr val="3399FF">
                <a:alpha val="20000"/>
              </a:srgbClr>
            </a:solidFill>
            <a:ln w="9525">
              <a:solidFill>
                <a:srgbClr val="00FFFF">
                  <a:alpha val="50195"/>
                </a:srgb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Arial" panose="020B0604020202020204" pitchFamily="34" charset="0"/>
              </a:endParaRPr>
            </a:p>
          </p:txBody>
        </p:sp>
        <p:graphicFrame>
          <p:nvGraphicFramePr>
            <p:cNvPr id="22577" name="Object 15">
              <a:extLst>
                <a:ext uri="{FF2B5EF4-FFF2-40B4-BE49-F238E27FC236}">
                  <a16:creationId xmlns:a16="http://schemas.microsoft.com/office/drawing/2014/main" id="{E3C9903A-6E22-4488-A46C-7677D21ACA7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21" y="3566"/>
            <a:ext cx="483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816" name="公式" r:id="rId13" imgW="1087560" imgH="940680" progId="Equation.3">
                    <p:embed/>
                  </p:oleObj>
                </mc:Choice>
                <mc:Fallback>
                  <p:oleObj name="公式" r:id="rId13" imgW="1087560" imgH="940680" progId="Equation.3">
                    <p:embed/>
                    <p:pic>
                      <p:nvPicPr>
                        <p:cNvPr id="22577" name="Object 15">
                          <a:extLst>
                            <a:ext uri="{FF2B5EF4-FFF2-40B4-BE49-F238E27FC236}">
                              <a16:creationId xmlns:a16="http://schemas.microsoft.com/office/drawing/2014/main" id="{E3C9903A-6E22-4488-A46C-7677D21ACA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3566"/>
                          <a:ext cx="483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70" name="灯片编号占位符 1">
            <a:extLst>
              <a:ext uri="{FF2B5EF4-FFF2-40B4-BE49-F238E27FC236}">
                <a16:creationId xmlns:a16="http://schemas.microsoft.com/office/drawing/2014/main" id="{66966C46-9ED1-4CA4-AF1C-A3C2B95F567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3BF63FF-9288-4D82-9D54-B37BE3072A06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  <p:graphicFrame>
        <p:nvGraphicFramePr>
          <p:cNvPr id="22571" name="Object 85">
            <a:extLst>
              <a:ext uri="{FF2B5EF4-FFF2-40B4-BE49-F238E27FC236}">
                <a16:creationId xmlns:a16="http://schemas.microsoft.com/office/drawing/2014/main" id="{0FE7C1AA-01F5-480D-9826-1109AEB815E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43063" y="3105150"/>
          <a:ext cx="22352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7" name="公式" r:id="rId15" imgW="1104925" imgH="161959" progId="Equation.3">
                  <p:embed/>
                </p:oleObj>
              </mc:Choice>
              <mc:Fallback>
                <p:oleObj name="公式" r:id="rId15" imgW="1104925" imgH="161959" progId="Equation.3">
                  <p:embed/>
                  <p:pic>
                    <p:nvPicPr>
                      <p:cNvPr id="22571" name="Object 85">
                        <a:extLst>
                          <a:ext uri="{FF2B5EF4-FFF2-40B4-BE49-F238E27FC236}">
                            <a16:creationId xmlns:a16="http://schemas.microsoft.com/office/drawing/2014/main" id="{0FE7C1AA-01F5-480D-9826-1109AEB815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3105150"/>
                        <a:ext cx="22352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72" name="Object 87">
            <a:extLst>
              <a:ext uri="{FF2B5EF4-FFF2-40B4-BE49-F238E27FC236}">
                <a16:creationId xmlns:a16="http://schemas.microsoft.com/office/drawing/2014/main" id="{4037675B-2958-4901-A91D-E6BF506ADEB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86063" y="3571875"/>
          <a:ext cx="58578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8" name="公式" r:id="rId17" imgW="3324257" imgH="352391" progId="Equation.3">
                  <p:embed/>
                </p:oleObj>
              </mc:Choice>
              <mc:Fallback>
                <p:oleObj name="公式" r:id="rId17" imgW="3324257" imgH="352391" progId="Equation.3">
                  <p:embed/>
                  <p:pic>
                    <p:nvPicPr>
                      <p:cNvPr id="22572" name="Object 87">
                        <a:extLst>
                          <a:ext uri="{FF2B5EF4-FFF2-40B4-BE49-F238E27FC236}">
                            <a16:creationId xmlns:a16="http://schemas.microsoft.com/office/drawing/2014/main" id="{4037675B-2958-4901-A91D-E6BF506ADE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3571875"/>
                        <a:ext cx="585787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73" name="Object 88">
            <a:extLst>
              <a:ext uri="{FF2B5EF4-FFF2-40B4-BE49-F238E27FC236}">
                <a16:creationId xmlns:a16="http://schemas.microsoft.com/office/drawing/2014/main" id="{A4438355-D904-474E-9798-4627B9E9957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57438" y="4941888"/>
          <a:ext cx="662622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9" name="公式" r:id="rId19" imgW="3876567" imgH="352391" progId="Equation.3">
                  <p:embed/>
                </p:oleObj>
              </mc:Choice>
              <mc:Fallback>
                <p:oleObj name="公式" r:id="rId19" imgW="3876567" imgH="352391" progId="Equation.3">
                  <p:embed/>
                  <p:pic>
                    <p:nvPicPr>
                      <p:cNvPr id="22573" name="Object 88">
                        <a:extLst>
                          <a:ext uri="{FF2B5EF4-FFF2-40B4-BE49-F238E27FC236}">
                            <a16:creationId xmlns:a16="http://schemas.microsoft.com/office/drawing/2014/main" id="{A4438355-D904-474E-9798-4627B9E995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4941888"/>
                        <a:ext cx="6626225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74" name="Object 89">
            <a:extLst>
              <a:ext uri="{FF2B5EF4-FFF2-40B4-BE49-F238E27FC236}">
                <a16:creationId xmlns:a16="http://schemas.microsoft.com/office/drawing/2014/main" id="{801E9600-F2EA-451F-9368-6D346A38EF5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71625" y="5634038"/>
          <a:ext cx="86360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0" name="公式" r:id="rId21" imgW="466680" imgH="352391" progId="Equation.3">
                  <p:embed/>
                </p:oleObj>
              </mc:Choice>
              <mc:Fallback>
                <p:oleObj name="公式" r:id="rId21" imgW="466680" imgH="352391" progId="Equation.3">
                  <p:embed/>
                  <p:pic>
                    <p:nvPicPr>
                      <p:cNvPr id="22574" name="Object 89">
                        <a:extLst>
                          <a:ext uri="{FF2B5EF4-FFF2-40B4-BE49-F238E27FC236}">
                            <a16:creationId xmlns:a16="http://schemas.microsoft.com/office/drawing/2014/main" id="{801E9600-F2EA-451F-9368-6D346A38EF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5634038"/>
                        <a:ext cx="863600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75" name="Object 91">
            <a:extLst>
              <a:ext uri="{FF2B5EF4-FFF2-40B4-BE49-F238E27FC236}">
                <a16:creationId xmlns:a16="http://schemas.microsoft.com/office/drawing/2014/main" id="{7667712F-0E1B-4616-9EC5-BF013188166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14625" y="5715000"/>
          <a:ext cx="60356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1" name="公式" r:id="rId23" imgW="3686041" imgH="352391" progId="Equation.3">
                  <p:embed/>
                </p:oleObj>
              </mc:Choice>
              <mc:Fallback>
                <p:oleObj name="公式" r:id="rId23" imgW="3686041" imgH="352391" progId="Equation.3">
                  <p:embed/>
                  <p:pic>
                    <p:nvPicPr>
                      <p:cNvPr id="22575" name="Object 91">
                        <a:extLst>
                          <a:ext uri="{FF2B5EF4-FFF2-40B4-BE49-F238E27FC236}">
                            <a16:creationId xmlns:a16="http://schemas.microsoft.com/office/drawing/2014/main" id="{7667712F-0E1B-4616-9EC5-BF01318816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5715000"/>
                        <a:ext cx="603567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5068</TotalTime>
  <Words>1075</Words>
  <Application>Microsoft Office PowerPoint</Application>
  <PresentationFormat>全屏显示(4:3)</PresentationFormat>
  <Paragraphs>235</Paragraphs>
  <Slides>16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仿宋_GB2312</vt:lpstr>
      <vt:lpstr>黑体</vt:lpstr>
      <vt:lpstr>华文仿宋</vt:lpstr>
      <vt:lpstr>华文中宋</vt:lpstr>
      <vt:lpstr>楷体_GB2312</vt:lpstr>
      <vt:lpstr>宋体</vt:lpstr>
      <vt:lpstr>Arial</vt:lpstr>
      <vt:lpstr>Bookman Old Style</vt:lpstr>
      <vt:lpstr>Cambria Math</vt:lpstr>
      <vt:lpstr>Symbol</vt:lpstr>
      <vt:lpstr>Times New Roman</vt:lpstr>
      <vt:lpstr>Wingdings</vt:lpstr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1300</cp:revision>
  <cp:lastPrinted>2025-09-17T08:04:51Z</cp:lastPrinted>
  <dcterms:created xsi:type="dcterms:W3CDTF">1998-11-21T01:35:00Z</dcterms:created>
  <dcterms:modified xsi:type="dcterms:W3CDTF">2025-09-23T02:30:05Z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